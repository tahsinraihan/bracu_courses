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3"/>
  </p:notesMasterIdLst>
  <p:sldIdLst>
    <p:sldId id="886" r:id="rId2"/>
    <p:sldId id="818" r:id="rId3"/>
    <p:sldId id="779" r:id="rId4"/>
    <p:sldId id="834" r:id="rId5"/>
    <p:sldId id="835" r:id="rId6"/>
    <p:sldId id="535" r:id="rId7"/>
    <p:sldId id="889" r:id="rId8"/>
    <p:sldId id="888" r:id="rId9"/>
    <p:sldId id="838" r:id="rId10"/>
    <p:sldId id="839" r:id="rId11"/>
    <p:sldId id="840" r:id="rId12"/>
    <p:sldId id="890" r:id="rId13"/>
    <p:sldId id="891" r:id="rId14"/>
    <p:sldId id="841" r:id="rId15"/>
    <p:sldId id="842" r:id="rId16"/>
    <p:sldId id="892" r:id="rId17"/>
    <p:sldId id="844" r:id="rId18"/>
    <p:sldId id="893" r:id="rId19"/>
    <p:sldId id="845" r:id="rId20"/>
    <p:sldId id="895" r:id="rId21"/>
    <p:sldId id="847" r:id="rId22"/>
    <p:sldId id="848" r:id="rId23"/>
    <p:sldId id="896" r:id="rId24"/>
    <p:sldId id="880" r:id="rId25"/>
    <p:sldId id="849" r:id="rId26"/>
    <p:sldId id="850" r:id="rId27"/>
    <p:sldId id="897" r:id="rId28"/>
    <p:sldId id="851" r:id="rId29"/>
    <p:sldId id="867" r:id="rId30"/>
    <p:sldId id="868" r:id="rId31"/>
    <p:sldId id="852" r:id="rId32"/>
    <p:sldId id="899" r:id="rId33"/>
    <p:sldId id="902" r:id="rId34"/>
    <p:sldId id="900" r:id="rId35"/>
    <p:sldId id="903" r:id="rId36"/>
    <p:sldId id="828" r:id="rId37"/>
    <p:sldId id="830" r:id="rId38"/>
    <p:sldId id="831" r:id="rId39"/>
    <p:sldId id="887" r:id="rId40"/>
    <p:sldId id="855" r:id="rId41"/>
    <p:sldId id="856" r:id="rId4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3A3A"/>
    <a:srgbClr val="FF3300"/>
    <a:srgbClr val="660066"/>
    <a:srgbClr val="00CC00"/>
    <a:srgbClr val="996633"/>
    <a:srgbClr val="6666FF"/>
    <a:srgbClr val="3366FF"/>
    <a:srgbClr val="CCFF99"/>
    <a:srgbClr val="99FF33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80" autoAdjust="0"/>
  </p:normalViewPr>
  <p:slideViewPr>
    <p:cSldViewPr>
      <p:cViewPr varScale="1">
        <p:scale>
          <a:sx n="85" d="100"/>
          <a:sy n="85" d="100"/>
        </p:scale>
        <p:origin x="140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926E0E-CE5B-494B-88BD-BBA1AE447BFB}" type="doc">
      <dgm:prSet loTypeId="urn:microsoft.com/office/officeart/2008/layout/HorizontalMultiLevelHierarchy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E6A0195-6A3F-EC48-875F-B295975AFCA8}">
      <dgm:prSet phldrT="[Text]"/>
      <dgm:spPr/>
      <dgm:t>
        <a:bodyPr/>
        <a:lstStyle/>
        <a:p>
          <a:r>
            <a:rPr lang="en-GB" dirty="0"/>
            <a:t>MAC Protocols</a:t>
          </a:r>
        </a:p>
      </dgm:t>
    </dgm:pt>
    <dgm:pt modelId="{89D9B045-88AF-6347-BF27-554958008CA7}" type="parTrans" cxnId="{9D488C02-64CE-5B40-BE4A-C36285EFF81C}">
      <dgm:prSet/>
      <dgm:spPr/>
      <dgm:t>
        <a:bodyPr/>
        <a:lstStyle/>
        <a:p>
          <a:endParaRPr lang="en-GB"/>
        </a:p>
      </dgm:t>
    </dgm:pt>
    <dgm:pt modelId="{8ED03571-9F15-BE4E-BAB0-CC8194F23112}" type="sibTrans" cxnId="{9D488C02-64CE-5B40-BE4A-C36285EFF81C}">
      <dgm:prSet/>
      <dgm:spPr/>
      <dgm:t>
        <a:bodyPr/>
        <a:lstStyle/>
        <a:p>
          <a:endParaRPr lang="en-GB"/>
        </a:p>
      </dgm:t>
    </dgm:pt>
    <dgm:pt modelId="{6AE6A83C-47B6-EE4F-8E58-2F37FE4284CE}">
      <dgm:prSet phldrT="[Text]"/>
      <dgm:spPr>
        <a:solidFill>
          <a:srgbClr val="92D050"/>
        </a:solidFill>
      </dgm:spPr>
      <dgm:t>
        <a:bodyPr/>
        <a:lstStyle/>
        <a:p>
          <a:r>
            <a:rPr lang="en-GB" dirty="0"/>
            <a:t>Channel Partitioning</a:t>
          </a:r>
        </a:p>
      </dgm:t>
    </dgm:pt>
    <dgm:pt modelId="{92E76C9F-80FD-9740-86DC-F63A6511995C}" type="parTrans" cxnId="{72768151-56ED-D642-9202-66C55CD11F2E}">
      <dgm:prSet/>
      <dgm:spPr/>
      <dgm:t>
        <a:bodyPr/>
        <a:lstStyle/>
        <a:p>
          <a:endParaRPr lang="en-GB"/>
        </a:p>
      </dgm:t>
    </dgm:pt>
    <dgm:pt modelId="{F59612CC-5668-6B49-A679-CD1684C2FC6B}" type="sibTrans" cxnId="{72768151-56ED-D642-9202-66C55CD11F2E}">
      <dgm:prSet/>
      <dgm:spPr/>
      <dgm:t>
        <a:bodyPr/>
        <a:lstStyle/>
        <a:p>
          <a:endParaRPr lang="en-GB"/>
        </a:p>
      </dgm:t>
    </dgm:pt>
    <dgm:pt modelId="{428A11DC-650E-A04A-8440-C1166DFE23C5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GB" dirty="0"/>
            <a:t>Random Access</a:t>
          </a:r>
        </a:p>
      </dgm:t>
    </dgm:pt>
    <dgm:pt modelId="{2E94560C-1305-4D47-9760-2E04AE756467}" type="parTrans" cxnId="{2800CD90-02AF-AB47-B39D-3A8120E0B646}">
      <dgm:prSet/>
      <dgm:spPr/>
      <dgm:t>
        <a:bodyPr/>
        <a:lstStyle/>
        <a:p>
          <a:endParaRPr lang="en-GB"/>
        </a:p>
      </dgm:t>
    </dgm:pt>
    <dgm:pt modelId="{E4FDAE42-EC96-DD40-B016-1D806794B979}" type="sibTrans" cxnId="{2800CD90-02AF-AB47-B39D-3A8120E0B646}">
      <dgm:prSet/>
      <dgm:spPr/>
      <dgm:t>
        <a:bodyPr/>
        <a:lstStyle/>
        <a:p>
          <a:endParaRPr lang="en-GB"/>
        </a:p>
      </dgm:t>
    </dgm:pt>
    <dgm:pt modelId="{48590F9A-F13A-FA4B-8AE1-93C9418CF1C5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GB" dirty="0"/>
            <a:t>Taking Turns </a:t>
          </a:r>
        </a:p>
      </dgm:t>
    </dgm:pt>
    <dgm:pt modelId="{2A93DE02-C164-F44C-8DAD-D704847BBC8A}" type="parTrans" cxnId="{D48BF48B-C527-7F46-A6AE-FAE92AABEE17}">
      <dgm:prSet/>
      <dgm:spPr/>
      <dgm:t>
        <a:bodyPr/>
        <a:lstStyle/>
        <a:p>
          <a:endParaRPr lang="en-GB"/>
        </a:p>
      </dgm:t>
    </dgm:pt>
    <dgm:pt modelId="{30B8C33E-D9BC-E842-839F-5791B8DFCE08}" type="sibTrans" cxnId="{D48BF48B-C527-7F46-A6AE-FAE92AABEE17}">
      <dgm:prSet/>
      <dgm:spPr/>
      <dgm:t>
        <a:bodyPr/>
        <a:lstStyle/>
        <a:p>
          <a:endParaRPr lang="en-GB"/>
        </a:p>
      </dgm:t>
    </dgm:pt>
    <dgm:pt modelId="{C8C986BB-E433-8241-886B-0816AA3750F8}" type="pres">
      <dgm:prSet presAssocID="{0B926E0E-CE5B-494B-88BD-BBA1AE447BFB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4E739AE-C26A-284C-AE7A-BE99DB70F3D4}" type="pres">
      <dgm:prSet presAssocID="{2E6A0195-6A3F-EC48-875F-B295975AFCA8}" presName="root1" presStyleCnt="0"/>
      <dgm:spPr/>
    </dgm:pt>
    <dgm:pt modelId="{2BF54907-F8C3-C34C-82D1-C3A78916E445}" type="pres">
      <dgm:prSet presAssocID="{2E6A0195-6A3F-EC48-875F-B295975AFCA8}" presName="LevelOneTextNode" presStyleLbl="node0" presStyleIdx="0" presStyleCnt="1">
        <dgm:presLayoutVars>
          <dgm:chPref val="3"/>
        </dgm:presLayoutVars>
      </dgm:prSet>
      <dgm:spPr/>
    </dgm:pt>
    <dgm:pt modelId="{F6DDF50B-19B2-B64C-B409-143CDA335E34}" type="pres">
      <dgm:prSet presAssocID="{2E6A0195-6A3F-EC48-875F-B295975AFCA8}" presName="level2hierChild" presStyleCnt="0"/>
      <dgm:spPr/>
    </dgm:pt>
    <dgm:pt modelId="{DD77253B-1152-2C42-B890-9FC8A001B7BC}" type="pres">
      <dgm:prSet presAssocID="{92E76C9F-80FD-9740-86DC-F63A6511995C}" presName="conn2-1" presStyleLbl="parChTrans1D2" presStyleIdx="0" presStyleCnt="3"/>
      <dgm:spPr/>
    </dgm:pt>
    <dgm:pt modelId="{88D0CD9B-54F2-F046-9DD6-EE6516272C26}" type="pres">
      <dgm:prSet presAssocID="{92E76C9F-80FD-9740-86DC-F63A6511995C}" presName="connTx" presStyleLbl="parChTrans1D2" presStyleIdx="0" presStyleCnt="3"/>
      <dgm:spPr/>
    </dgm:pt>
    <dgm:pt modelId="{FB5AEE2D-D230-5D4E-913B-9739DCA0888C}" type="pres">
      <dgm:prSet presAssocID="{6AE6A83C-47B6-EE4F-8E58-2F37FE4284CE}" presName="root2" presStyleCnt="0"/>
      <dgm:spPr/>
    </dgm:pt>
    <dgm:pt modelId="{DDF1DE5D-8CFB-A24C-A39C-ED69D873CC05}" type="pres">
      <dgm:prSet presAssocID="{6AE6A83C-47B6-EE4F-8E58-2F37FE4284CE}" presName="LevelTwoTextNode" presStyleLbl="node2" presStyleIdx="0" presStyleCnt="3">
        <dgm:presLayoutVars>
          <dgm:chPref val="3"/>
        </dgm:presLayoutVars>
      </dgm:prSet>
      <dgm:spPr/>
    </dgm:pt>
    <dgm:pt modelId="{6D7347C9-3816-6C41-A7D7-554D4E892C78}" type="pres">
      <dgm:prSet presAssocID="{6AE6A83C-47B6-EE4F-8E58-2F37FE4284CE}" presName="level3hierChild" presStyleCnt="0"/>
      <dgm:spPr/>
    </dgm:pt>
    <dgm:pt modelId="{01C00B4C-FEEC-E643-BA9F-B9D59A8FF059}" type="pres">
      <dgm:prSet presAssocID="{2E94560C-1305-4D47-9760-2E04AE756467}" presName="conn2-1" presStyleLbl="parChTrans1D2" presStyleIdx="1" presStyleCnt="3"/>
      <dgm:spPr/>
    </dgm:pt>
    <dgm:pt modelId="{39DF3E79-8A39-1A43-AFAB-326203F2565B}" type="pres">
      <dgm:prSet presAssocID="{2E94560C-1305-4D47-9760-2E04AE756467}" presName="connTx" presStyleLbl="parChTrans1D2" presStyleIdx="1" presStyleCnt="3"/>
      <dgm:spPr/>
    </dgm:pt>
    <dgm:pt modelId="{F0F29B3F-C491-7047-AF3D-B3CB12FC0823}" type="pres">
      <dgm:prSet presAssocID="{428A11DC-650E-A04A-8440-C1166DFE23C5}" presName="root2" presStyleCnt="0"/>
      <dgm:spPr/>
    </dgm:pt>
    <dgm:pt modelId="{3F1EA533-3C7C-6C46-BDC4-FA7974A81ABA}" type="pres">
      <dgm:prSet presAssocID="{428A11DC-650E-A04A-8440-C1166DFE23C5}" presName="LevelTwoTextNode" presStyleLbl="node2" presStyleIdx="1" presStyleCnt="3">
        <dgm:presLayoutVars>
          <dgm:chPref val="3"/>
        </dgm:presLayoutVars>
      </dgm:prSet>
      <dgm:spPr/>
    </dgm:pt>
    <dgm:pt modelId="{CF66B979-9A72-E740-882A-936FEC0C83DF}" type="pres">
      <dgm:prSet presAssocID="{428A11DC-650E-A04A-8440-C1166DFE23C5}" presName="level3hierChild" presStyleCnt="0"/>
      <dgm:spPr/>
    </dgm:pt>
    <dgm:pt modelId="{61AE6B28-EC0A-ED41-BF3D-D3469A137F30}" type="pres">
      <dgm:prSet presAssocID="{2A93DE02-C164-F44C-8DAD-D704847BBC8A}" presName="conn2-1" presStyleLbl="parChTrans1D2" presStyleIdx="2" presStyleCnt="3"/>
      <dgm:spPr/>
    </dgm:pt>
    <dgm:pt modelId="{859275F5-34F1-E74D-972D-6E2E413AB889}" type="pres">
      <dgm:prSet presAssocID="{2A93DE02-C164-F44C-8DAD-D704847BBC8A}" presName="connTx" presStyleLbl="parChTrans1D2" presStyleIdx="2" presStyleCnt="3"/>
      <dgm:spPr/>
    </dgm:pt>
    <dgm:pt modelId="{BB8CC883-4EC6-2B49-9FFF-78D18D471814}" type="pres">
      <dgm:prSet presAssocID="{48590F9A-F13A-FA4B-8AE1-93C9418CF1C5}" presName="root2" presStyleCnt="0"/>
      <dgm:spPr/>
    </dgm:pt>
    <dgm:pt modelId="{D85C3D52-369B-8746-9E06-08ECA4155F6C}" type="pres">
      <dgm:prSet presAssocID="{48590F9A-F13A-FA4B-8AE1-93C9418CF1C5}" presName="LevelTwoTextNode" presStyleLbl="node2" presStyleIdx="2" presStyleCnt="3">
        <dgm:presLayoutVars>
          <dgm:chPref val="3"/>
        </dgm:presLayoutVars>
      </dgm:prSet>
      <dgm:spPr/>
    </dgm:pt>
    <dgm:pt modelId="{119C3E07-BB1A-8842-9435-FFDCD74656FF}" type="pres">
      <dgm:prSet presAssocID="{48590F9A-F13A-FA4B-8AE1-93C9418CF1C5}" presName="level3hierChild" presStyleCnt="0"/>
      <dgm:spPr/>
    </dgm:pt>
  </dgm:ptLst>
  <dgm:cxnLst>
    <dgm:cxn modelId="{9D488C02-64CE-5B40-BE4A-C36285EFF81C}" srcId="{0B926E0E-CE5B-494B-88BD-BBA1AE447BFB}" destId="{2E6A0195-6A3F-EC48-875F-B295975AFCA8}" srcOrd="0" destOrd="0" parTransId="{89D9B045-88AF-6347-BF27-554958008CA7}" sibTransId="{8ED03571-9F15-BE4E-BAB0-CC8194F23112}"/>
    <dgm:cxn modelId="{030F2419-AFCC-A94B-93DE-585E18DC5673}" type="presOf" srcId="{92E76C9F-80FD-9740-86DC-F63A6511995C}" destId="{88D0CD9B-54F2-F046-9DD6-EE6516272C26}" srcOrd="1" destOrd="0" presId="urn:microsoft.com/office/officeart/2008/layout/HorizontalMultiLevelHierarchy"/>
    <dgm:cxn modelId="{BAC5AE33-A937-7E4B-B248-400BE56AAC29}" type="presOf" srcId="{48590F9A-F13A-FA4B-8AE1-93C9418CF1C5}" destId="{D85C3D52-369B-8746-9E06-08ECA4155F6C}" srcOrd="0" destOrd="0" presId="urn:microsoft.com/office/officeart/2008/layout/HorizontalMultiLevelHierarchy"/>
    <dgm:cxn modelId="{15C4BB35-D4F5-4B4D-BD18-1A1B8DBB307C}" type="presOf" srcId="{2A93DE02-C164-F44C-8DAD-D704847BBC8A}" destId="{859275F5-34F1-E74D-972D-6E2E413AB889}" srcOrd="1" destOrd="0" presId="urn:microsoft.com/office/officeart/2008/layout/HorizontalMultiLevelHierarchy"/>
    <dgm:cxn modelId="{2DBA8639-8CFE-0143-A1F7-AB6C3F5793C9}" type="presOf" srcId="{2E94560C-1305-4D47-9760-2E04AE756467}" destId="{01C00B4C-FEEC-E643-BA9F-B9D59A8FF059}" srcOrd="0" destOrd="0" presId="urn:microsoft.com/office/officeart/2008/layout/HorizontalMultiLevelHierarchy"/>
    <dgm:cxn modelId="{4B0D9866-816E-C84F-BE75-04A7485A58A4}" type="presOf" srcId="{2E6A0195-6A3F-EC48-875F-B295975AFCA8}" destId="{2BF54907-F8C3-C34C-82D1-C3A78916E445}" srcOrd="0" destOrd="0" presId="urn:microsoft.com/office/officeart/2008/layout/HorizontalMultiLevelHierarchy"/>
    <dgm:cxn modelId="{A0B9EB47-5B9F-CD41-BE8A-7DE90082BFAD}" type="presOf" srcId="{92E76C9F-80FD-9740-86DC-F63A6511995C}" destId="{DD77253B-1152-2C42-B890-9FC8A001B7BC}" srcOrd="0" destOrd="0" presId="urn:microsoft.com/office/officeart/2008/layout/HorizontalMultiLevelHierarchy"/>
    <dgm:cxn modelId="{65BFFB47-1247-F84D-80B0-0ED345A30A18}" type="presOf" srcId="{428A11DC-650E-A04A-8440-C1166DFE23C5}" destId="{3F1EA533-3C7C-6C46-BDC4-FA7974A81ABA}" srcOrd="0" destOrd="0" presId="urn:microsoft.com/office/officeart/2008/layout/HorizontalMultiLevelHierarchy"/>
    <dgm:cxn modelId="{72768151-56ED-D642-9202-66C55CD11F2E}" srcId="{2E6A0195-6A3F-EC48-875F-B295975AFCA8}" destId="{6AE6A83C-47B6-EE4F-8E58-2F37FE4284CE}" srcOrd="0" destOrd="0" parTransId="{92E76C9F-80FD-9740-86DC-F63A6511995C}" sibTransId="{F59612CC-5668-6B49-A679-CD1684C2FC6B}"/>
    <dgm:cxn modelId="{AC8D4854-07E9-3B45-BD33-68A0CB97F651}" type="presOf" srcId="{0B926E0E-CE5B-494B-88BD-BBA1AE447BFB}" destId="{C8C986BB-E433-8241-886B-0816AA3750F8}" srcOrd="0" destOrd="0" presId="urn:microsoft.com/office/officeart/2008/layout/HorizontalMultiLevelHierarchy"/>
    <dgm:cxn modelId="{58E04685-D1A9-5B43-97E4-6DB5D6F5D5F8}" type="presOf" srcId="{2A93DE02-C164-F44C-8DAD-D704847BBC8A}" destId="{61AE6B28-EC0A-ED41-BF3D-D3469A137F30}" srcOrd="0" destOrd="0" presId="urn:microsoft.com/office/officeart/2008/layout/HorizontalMultiLevelHierarchy"/>
    <dgm:cxn modelId="{D48BF48B-C527-7F46-A6AE-FAE92AABEE17}" srcId="{2E6A0195-6A3F-EC48-875F-B295975AFCA8}" destId="{48590F9A-F13A-FA4B-8AE1-93C9418CF1C5}" srcOrd="2" destOrd="0" parTransId="{2A93DE02-C164-F44C-8DAD-D704847BBC8A}" sibTransId="{30B8C33E-D9BC-E842-839F-5791B8DFCE08}"/>
    <dgm:cxn modelId="{2800CD90-02AF-AB47-B39D-3A8120E0B646}" srcId="{2E6A0195-6A3F-EC48-875F-B295975AFCA8}" destId="{428A11DC-650E-A04A-8440-C1166DFE23C5}" srcOrd="1" destOrd="0" parTransId="{2E94560C-1305-4D47-9760-2E04AE756467}" sibTransId="{E4FDAE42-EC96-DD40-B016-1D806794B979}"/>
    <dgm:cxn modelId="{499A2DBA-1B81-124C-BA79-526CCEB2669E}" type="presOf" srcId="{6AE6A83C-47B6-EE4F-8E58-2F37FE4284CE}" destId="{DDF1DE5D-8CFB-A24C-A39C-ED69D873CC05}" srcOrd="0" destOrd="0" presId="urn:microsoft.com/office/officeart/2008/layout/HorizontalMultiLevelHierarchy"/>
    <dgm:cxn modelId="{1D2435DD-A33E-BD49-B7E9-22CB4CEE81E4}" type="presOf" srcId="{2E94560C-1305-4D47-9760-2E04AE756467}" destId="{39DF3E79-8A39-1A43-AFAB-326203F2565B}" srcOrd="1" destOrd="0" presId="urn:microsoft.com/office/officeart/2008/layout/HorizontalMultiLevelHierarchy"/>
    <dgm:cxn modelId="{CFF79C7E-7883-0245-8626-0BD13BE26354}" type="presParOf" srcId="{C8C986BB-E433-8241-886B-0816AA3750F8}" destId="{34E739AE-C26A-284C-AE7A-BE99DB70F3D4}" srcOrd="0" destOrd="0" presId="urn:microsoft.com/office/officeart/2008/layout/HorizontalMultiLevelHierarchy"/>
    <dgm:cxn modelId="{3EAD09AF-53F6-1D4E-9909-9145FC86D654}" type="presParOf" srcId="{34E739AE-C26A-284C-AE7A-BE99DB70F3D4}" destId="{2BF54907-F8C3-C34C-82D1-C3A78916E445}" srcOrd="0" destOrd="0" presId="urn:microsoft.com/office/officeart/2008/layout/HorizontalMultiLevelHierarchy"/>
    <dgm:cxn modelId="{FE5BDF6E-CA2B-A74F-908A-EC7F5D04D7E4}" type="presParOf" srcId="{34E739AE-C26A-284C-AE7A-BE99DB70F3D4}" destId="{F6DDF50B-19B2-B64C-B409-143CDA335E34}" srcOrd="1" destOrd="0" presId="urn:microsoft.com/office/officeart/2008/layout/HorizontalMultiLevelHierarchy"/>
    <dgm:cxn modelId="{042EBCAC-B84E-A64B-9A90-F60498AC13B5}" type="presParOf" srcId="{F6DDF50B-19B2-B64C-B409-143CDA335E34}" destId="{DD77253B-1152-2C42-B890-9FC8A001B7BC}" srcOrd="0" destOrd="0" presId="urn:microsoft.com/office/officeart/2008/layout/HorizontalMultiLevelHierarchy"/>
    <dgm:cxn modelId="{3B79CA85-7318-C844-9FEB-85FF401CF0FB}" type="presParOf" srcId="{DD77253B-1152-2C42-B890-9FC8A001B7BC}" destId="{88D0CD9B-54F2-F046-9DD6-EE6516272C26}" srcOrd="0" destOrd="0" presId="urn:microsoft.com/office/officeart/2008/layout/HorizontalMultiLevelHierarchy"/>
    <dgm:cxn modelId="{8B4B1604-95F2-4B49-BDBB-6128DC054786}" type="presParOf" srcId="{F6DDF50B-19B2-B64C-B409-143CDA335E34}" destId="{FB5AEE2D-D230-5D4E-913B-9739DCA0888C}" srcOrd="1" destOrd="0" presId="urn:microsoft.com/office/officeart/2008/layout/HorizontalMultiLevelHierarchy"/>
    <dgm:cxn modelId="{5C7AE3D4-AB90-6A4D-A019-DCCA92419279}" type="presParOf" srcId="{FB5AEE2D-D230-5D4E-913B-9739DCA0888C}" destId="{DDF1DE5D-8CFB-A24C-A39C-ED69D873CC05}" srcOrd="0" destOrd="0" presId="urn:microsoft.com/office/officeart/2008/layout/HorizontalMultiLevelHierarchy"/>
    <dgm:cxn modelId="{0B56F575-4DEC-C047-AF17-0BCBF0D76D7B}" type="presParOf" srcId="{FB5AEE2D-D230-5D4E-913B-9739DCA0888C}" destId="{6D7347C9-3816-6C41-A7D7-554D4E892C78}" srcOrd="1" destOrd="0" presId="urn:microsoft.com/office/officeart/2008/layout/HorizontalMultiLevelHierarchy"/>
    <dgm:cxn modelId="{EF3FA543-EA22-FC42-8CDE-1DC11575D9C5}" type="presParOf" srcId="{F6DDF50B-19B2-B64C-B409-143CDA335E34}" destId="{01C00B4C-FEEC-E643-BA9F-B9D59A8FF059}" srcOrd="2" destOrd="0" presId="urn:microsoft.com/office/officeart/2008/layout/HorizontalMultiLevelHierarchy"/>
    <dgm:cxn modelId="{250E15C5-10C8-F74C-B57A-0A1C77A6BB0C}" type="presParOf" srcId="{01C00B4C-FEEC-E643-BA9F-B9D59A8FF059}" destId="{39DF3E79-8A39-1A43-AFAB-326203F2565B}" srcOrd="0" destOrd="0" presId="urn:microsoft.com/office/officeart/2008/layout/HorizontalMultiLevelHierarchy"/>
    <dgm:cxn modelId="{F8C3E3F1-6C01-C849-BF32-CD62AC811238}" type="presParOf" srcId="{F6DDF50B-19B2-B64C-B409-143CDA335E34}" destId="{F0F29B3F-C491-7047-AF3D-B3CB12FC0823}" srcOrd="3" destOrd="0" presId="urn:microsoft.com/office/officeart/2008/layout/HorizontalMultiLevelHierarchy"/>
    <dgm:cxn modelId="{7ED08854-AC61-5443-A208-7222DF845D86}" type="presParOf" srcId="{F0F29B3F-C491-7047-AF3D-B3CB12FC0823}" destId="{3F1EA533-3C7C-6C46-BDC4-FA7974A81ABA}" srcOrd="0" destOrd="0" presId="urn:microsoft.com/office/officeart/2008/layout/HorizontalMultiLevelHierarchy"/>
    <dgm:cxn modelId="{432E2AC9-1001-DC4F-BCF6-D00F7145D37B}" type="presParOf" srcId="{F0F29B3F-C491-7047-AF3D-B3CB12FC0823}" destId="{CF66B979-9A72-E740-882A-936FEC0C83DF}" srcOrd="1" destOrd="0" presId="urn:microsoft.com/office/officeart/2008/layout/HorizontalMultiLevelHierarchy"/>
    <dgm:cxn modelId="{3A6C3102-9B4C-9748-A94F-08200B8DC717}" type="presParOf" srcId="{F6DDF50B-19B2-B64C-B409-143CDA335E34}" destId="{61AE6B28-EC0A-ED41-BF3D-D3469A137F30}" srcOrd="4" destOrd="0" presId="urn:microsoft.com/office/officeart/2008/layout/HorizontalMultiLevelHierarchy"/>
    <dgm:cxn modelId="{81F2B76F-822C-D94B-9FBB-4FD3871B0397}" type="presParOf" srcId="{61AE6B28-EC0A-ED41-BF3D-D3469A137F30}" destId="{859275F5-34F1-E74D-972D-6E2E413AB889}" srcOrd="0" destOrd="0" presId="urn:microsoft.com/office/officeart/2008/layout/HorizontalMultiLevelHierarchy"/>
    <dgm:cxn modelId="{A609F5B3-2F39-2448-BAF1-8C47534F4FCA}" type="presParOf" srcId="{F6DDF50B-19B2-B64C-B409-143CDA335E34}" destId="{BB8CC883-4EC6-2B49-9FFF-78D18D471814}" srcOrd="5" destOrd="0" presId="urn:microsoft.com/office/officeart/2008/layout/HorizontalMultiLevelHierarchy"/>
    <dgm:cxn modelId="{D05588D0-E2BF-BE40-BA12-6C7B7274B701}" type="presParOf" srcId="{BB8CC883-4EC6-2B49-9FFF-78D18D471814}" destId="{D85C3D52-369B-8746-9E06-08ECA4155F6C}" srcOrd="0" destOrd="0" presId="urn:microsoft.com/office/officeart/2008/layout/HorizontalMultiLevelHierarchy"/>
    <dgm:cxn modelId="{80D0AC91-D8E6-5541-A467-C74CE03ED639}" type="presParOf" srcId="{BB8CC883-4EC6-2B49-9FFF-78D18D471814}" destId="{119C3E07-BB1A-8842-9435-FFDCD74656F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AE6B28-EC0A-ED41-BF3D-D3469A137F30}">
      <dsp:nvSpPr>
        <dsp:cNvPr id="0" name=""/>
        <dsp:cNvSpPr/>
      </dsp:nvSpPr>
      <dsp:spPr>
        <a:xfrm>
          <a:off x="1758014" y="1939924"/>
          <a:ext cx="483584" cy="9214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1792" y="0"/>
              </a:lnTo>
              <a:lnTo>
                <a:pt x="241792" y="921463"/>
              </a:lnTo>
              <a:lnTo>
                <a:pt x="483584" y="92146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1973790" y="2374639"/>
        <a:ext cx="52032" cy="52032"/>
      </dsp:txXfrm>
    </dsp:sp>
    <dsp:sp modelId="{01C00B4C-FEEC-E643-BA9F-B9D59A8FF059}">
      <dsp:nvSpPr>
        <dsp:cNvPr id="0" name=""/>
        <dsp:cNvSpPr/>
      </dsp:nvSpPr>
      <dsp:spPr>
        <a:xfrm>
          <a:off x="1758014" y="1894204"/>
          <a:ext cx="4835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3584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1987717" y="1927834"/>
        <a:ext cx="24179" cy="24179"/>
      </dsp:txXfrm>
    </dsp:sp>
    <dsp:sp modelId="{DD77253B-1152-2C42-B890-9FC8A001B7BC}">
      <dsp:nvSpPr>
        <dsp:cNvPr id="0" name=""/>
        <dsp:cNvSpPr/>
      </dsp:nvSpPr>
      <dsp:spPr>
        <a:xfrm>
          <a:off x="1758014" y="1018460"/>
          <a:ext cx="483584" cy="921463"/>
        </a:xfrm>
        <a:custGeom>
          <a:avLst/>
          <a:gdLst/>
          <a:ahLst/>
          <a:cxnLst/>
          <a:rect l="0" t="0" r="0" b="0"/>
          <a:pathLst>
            <a:path>
              <a:moveTo>
                <a:pt x="0" y="921463"/>
              </a:moveTo>
              <a:lnTo>
                <a:pt x="241792" y="921463"/>
              </a:lnTo>
              <a:lnTo>
                <a:pt x="241792" y="0"/>
              </a:lnTo>
              <a:lnTo>
                <a:pt x="483584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1973790" y="1453175"/>
        <a:ext cx="52032" cy="52032"/>
      </dsp:txXfrm>
    </dsp:sp>
    <dsp:sp modelId="{2BF54907-F8C3-C34C-82D1-C3A78916E445}">
      <dsp:nvSpPr>
        <dsp:cNvPr id="0" name=""/>
        <dsp:cNvSpPr/>
      </dsp:nvSpPr>
      <dsp:spPr>
        <a:xfrm rot="16200000">
          <a:off x="-550494" y="1571338"/>
          <a:ext cx="3879848" cy="7371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700" kern="1200" dirty="0"/>
            <a:t>MAC Protocols</a:t>
          </a:r>
        </a:p>
      </dsp:txBody>
      <dsp:txXfrm>
        <a:off x="-550494" y="1571338"/>
        <a:ext cx="3879848" cy="737171"/>
      </dsp:txXfrm>
    </dsp:sp>
    <dsp:sp modelId="{DDF1DE5D-8CFB-A24C-A39C-ED69D873CC05}">
      <dsp:nvSpPr>
        <dsp:cNvPr id="0" name=""/>
        <dsp:cNvSpPr/>
      </dsp:nvSpPr>
      <dsp:spPr>
        <a:xfrm>
          <a:off x="2241599" y="649874"/>
          <a:ext cx="2417921" cy="737171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Channel Partitioning</a:t>
          </a:r>
        </a:p>
      </dsp:txBody>
      <dsp:txXfrm>
        <a:off x="2241599" y="649874"/>
        <a:ext cx="2417921" cy="737171"/>
      </dsp:txXfrm>
    </dsp:sp>
    <dsp:sp modelId="{3F1EA533-3C7C-6C46-BDC4-FA7974A81ABA}">
      <dsp:nvSpPr>
        <dsp:cNvPr id="0" name=""/>
        <dsp:cNvSpPr/>
      </dsp:nvSpPr>
      <dsp:spPr>
        <a:xfrm>
          <a:off x="2241599" y="1571338"/>
          <a:ext cx="2417921" cy="737171"/>
        </a:xfrm>
        <a:prstGeom prst="rect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Random Access</a:t>
          </a:r>
        </a:p>
      </dsp:txBody>
      <dsp:txXfrm>
        <a:off x="2241599" y="1571338"/>
        <a:ext cx="2417921" cy="737171"/>
      </dsp:txXfrm>
    </dsp:sp>
    <dsp:sp modelId="{D85C3D52-369B-8746-9E06-08ECA4155F6C}">
      <dsp:nvSpPr>
        <dsp:cNvPr id="0" name=""/>
        <dsp:cNvSpPr/>
      </dsp:nvSpPr>
      <dsp:spPr>
        <a:xfrm>
          <a:off x="2241599" y="2492802"/>
          <a:ext cx="2417921" cy="737171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Taking Turns </a:t>
          </a:r>
        </a:p>
      </dsp:txBody>
      <dsp:txXfrm>
        <a:off x="2241599" y="2492802"/>
        <a:ext cx="2417921" cy="7371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62" name="Rectangle 2">
            <a:extLst>
              <a:ext uri="{FF2B5EF4-FFF2-40B4-BE49-F238E27FC236}">
                <a16:creationId xmlns:a16="http://schemas.microsoft.com/office/drawing/2014/main" id="{B76C87A6-9C6A-D096-E180-392836C227B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i="0" baseline="0"/>
            </a:lvl1pPr>
          </a:lstStyle>
          <a:p>
            <a:endParaRPr lang="en-US" altLang="en-US"/>
          </a:p>
        </p:txBody>
      </p:sp>
      <p:sp>
        <p:nvSpPr>
          <p:cNvPr id="962563" name="Rectangle 3">
            <a:extLst>
              <a:ext uri="{FF2B5EF4-FFF2-40B4-BE49-F238E27FC236}">
                <a16:creationId xmlns:a16="http://schemas.microsoft.com/office/drawing/2014/main" id="{E0F4949B-C913-7987-44D9-66A5EC639CB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 baseline="0"/>
            </a:lvl1pPr>
          </a:lstStyle>
          <a:p>
            <a:endParaRPr lang="en-US" altLang="en-US"/>
          </a:p>
        </p:txBody>
      </p:sp>
      <p:sp>
        <p:nvSpPr>
          <p:cNvPr id="962564" name="Rectangle 4">
            <a:extLst>
              <a:ext uri="{FF2B5EF4-FFF2-40B4-BE49-F238E27FC236}">
                <a16:creationId xmlns:a16="http://schemas.microsoft.com/office/drawing/2014/main" id="{8FD13D79-FF60-F32E-68A8-1FC614A6866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62565" name="Rectangle 5">
            <a:extLst>
              <a:ext uri="{FF2B5EF4-FFF2-40B4-BE49-F238E27FC236}">
                <a16:creationId xmlns:a16="http://schemas.microsoft.com/office/drawing/2014/main" id="{5B90896E-3D83-0AC0-5C20-9C2DC0A3601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62566" name="Rectangle 6">
            <a:extLst>
              <a:ext uri="{FF2B5EF4-FFF2-40B4-BE49-F238E27FC236}">
                <a16:creationId xmlns:a16="http://schemas.microsoft.com/office/drawing/2014/main" id="{8DF37F78-C520-D7B7-D54B-64B3BA9D236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i="0" baseline="0"/>
            </a:lvl1pPr>
          </a:lstStyle>
          <a:p>
            <a:endParaRPr lang="en-US" altLang="en-US"/>
          </a:p>
        </p:txBody>
      </p:sp>
      <p:sp>
        <p:nvSpPr>
          <p:cNvPr id="962567" name="Rectangle 7">
            <a:extLst>
              <a:ext uri="{FF2B5EF4-FFF2-40B4-BE49-F238E27FC236}">
                <a16:creationId xmlns:a16="http://schemas.microsoft.com/office/drawing/2014/main" id="{9FAB5F09-2968-879C-E995-CC14AF3DA5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 baseline="0"/>
            </a:lvl1pPr>
          </a:lstStyle>
          <a:p>
            <a:fld id="{FEDE26C9-9FF9-4011-973F-0D925ACDE3E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8E658A7-1F89-BA63-28A0-371D4584BD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4ED4EC-0D78-4B65-9E87-358B80E91B3F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183746" name="Rectangle 2">
            <a:extLst>
              <a:ext uri="{FF2B5EF4-FFF2-40B4-BE49-F238E27FC236}">
                <a16:creationId xmlns:a16="http://schemas.microsoft.com/office/drawing/2014/main" id="{0FFE78B1-0B30-B242-22B1-5B71C35871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3747" name="Rectangle 3">
            <a:extLst>
              <a:ext uri="{FF2B5EF4-FFF2-40B4-BE49-F238E27FC236}">
                <a16:creationId xmlns:a16="http://schemas.microsoft.com/office/drawing/2014/main" id="{40454951-6F2E-E562-7B5C-52495A6364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9228B-866F-4A7C-96F1-B92B4EE73A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43C97A68-011F-3241-A5A6-6EAD0C86B7D6}" type="slidenum">
              <a:rPr lang="en-US" i="0" smtClean="0">
                <a:latin typeface="Times New Roman" charset="0"/>
              </a:rPr>
              <a:pPr>
                <a:defRPr/>
              </a:pPr>
              <a:t>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046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DA091A2-45B2-1B55-0D77-1E6FE68BA7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FE23C5-77F1-4B98-A390-95A66ECB9986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077250" name="Rectangle 2">
            <a:extLst>
              <a:ext uri="{FF2B5EF4-FFF2-40B4-BE49-F238E27FC236}">
                <a16:creationId xmlns:a16="http://schemas.microsoft.com/office/drawing/2014/main" id="{3D837E55-7CCB-89E2-B208-FF2D7EEB2E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7251" name="Rectangle 3">
            <a:extLst>
              <a:ext uri="{FF2B5EF4-FFF2-40B4-BE49-F238E27FC236}">
                <a16:creationId xmlns:a16="http://schemas.microsoft.com/office/drawing/2014/main" id="{7DD5115E-81E2-1095-A9D4-9AFB4977B1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766CD16-0AFC-B6D7-25FD-3F42C915F4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4C667E-E9B3-463D-B66F-74678FB1DD54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079298" name="Rectangle 2">
            <a:extLst>
              <a:ext uri="{FF2B5EF4-FFF2-40B4-BE49-F238E27FC236}">
                <a16:creationId xmlns:a16="http://schemas.microsoft.com/office/drawing/2014/main" id="{7980E98F-23B4-B2DB-A509-2E7B81C799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9299" name="Rectangle 3">
            <a:extLst>
              <a:ext uri="{FF2B5EF4-FFF2-40B4-BE49-F238E27FC236}">
                <a16:creationId xmlns:a16="http://schemas.microsoft.com/office/drawing/2014/main" id="{21D2FB98-5EF6-7412-B0B0-B06CF49A1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13D9D26-B944-F04C-EE07-60E79A3991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04265-A934-4596-B6AF-D1D35E4C0562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964610" name="Rectangle 2">
            <a:extLst>
              <a:ext uri="{FF2B5EF4-FFF2-40B4-BE49-F238E27FC236}">
                <a16:creationId xmlns:a16="http://schemas.microsoft.com/office/drawing/2014/main" id="{AE34D46A-459C-838F-D773-498D325003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4611" name="Rectangle 3">
            <a:extLst>
              <a:ext uri="{FF2B5EF4-FFF2-40B4-BE49-F238E27FC236}">
                <a16:creationId xmlns:a16="http://schemas.microsoft.com/office/drawing/2014/main" id="{FF374CE8-7E64-B058-C01C-B58B621B4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13D9D26-B944-F04C-EE07-60E79A3991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04265-A934-4596-B6AF-D1D35E4C0562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964610" name="Rectangle 2">
            <a:extLst>
              <a:ext uri="{FF2B5EF4-FFF2-40B4-BE49-F238E27FC236}">
                <a16:creationId xmlns:a16="http://schemas.microsoft.com/office/drawing/2014/main" id="{AE34D46A-459C-838F-D773-498D325003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4611" name="Rectangle 3">
            <a:extLst>
              <a:ext uri="{FF2B5EF4-FFF2-40B4-BE49-F238E27FC236}">
                <a16:creationId xmlns:a16="http://schemas.microsoft.com/office/drawing/2014/main" id="{FF374CE8-7E64-B058-C01C-B58B621B4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1151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13D9D26-B944-F04C-EE07-60E79A3991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04265-A934-4596-B6AF-D1D35E4C0562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964610" name="Rectangle 2">
            <a:extLst>
              <a:ext uri="{FF2B5EF4-FFF2-40B4-BE49-F238E27FC236}">
                <a16:creationId xmlns:a16="http://schemas.microsoft.com/office/drawing/2014/main" id="{AE34D46A-459C-838F-D773-498D325003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4611" name="Rectangle 3">
            <a:extLst>
              <a:ext uri="{FF2B5EF4-FFF2-40B4-BE49-F238E27FC236}">
                <a16:creationId xmlns:a16="http://schemas.microsoft.com/office/drawing/2014/main" id="{FF374CE8-7E64-B058-C01C-B58B621B4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3072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D589728-7C46-A28A-9CAF-65542C098E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AE01C1-E541-4FFA-A0BA-E6789FAA5E0F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085442" name="Rectangle 2">
            <a:extLst>
              <a:ext uri="{FF2B5EF4-FFF2-40B4-BE49-F238E27FC236}">
                <a16:creationId xmlns:a16="http://schemas.microsoft.com/office/drawing/2014/main" id="{2EA09091-2298-DEAD-763A-A31126D084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43" name="Rectangle 3">
            <a:extLst>
              <a:ext uri="{FF2B5EF4-FFF2-40B4-BE49-F238E27FC236}">
                <a16:creationId xmlns:a16="http://schemas.microsoft.com/office/drawing/2014/main" id="{8CD43F93-0AF3-0EBA-9118-C6176C6ED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4B86F23-D16E-FA01-C2D5-DE6CA2CABE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DE2484-A4A7-41F7-A553-624C75CC7BC9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087490" name="Rectangle 2">
            <a:extLst>
              <a:ext uri="{FF2B5EF4-FFF2-40B4-BE49-F238E27FC236}">
                <a16:creationId xmlns:a16="http://schemas.microsoft.com/office/drawing/2014/main" id="{74B8D49D-151F-F805-91B2-D087277F9E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7491" name="Rectangle 3">
            <a:extLst>
              <a:ext uri="{FF2B5EF4-FFF2-40B4-BE49-F238E27FC236}">
                <a16:creationId xmlns:a16="http://schemas.microsoft.com/office/drawing/2014/main" id="{0DD37FDF-FB45-4646-65D6-56542ED52F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EC5CD46-BE49-CFAE-3345-00877E1024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D8B45F-5EDE-4304-ADC7-F17AEBBA46F8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089538" name="Rectangle 2">
            <a:extLst>
              <a:ext uri="{FF2B5EF4-FFF2-40B4-BE49-F238E27FC236}">
                <a16:creationId xmlns:a16="http://schemas.microsoft.com/office/drawing/2014/main" id="{47FEF822-4101-9E59-4BF9-8EEAB7833E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9539" name="Rectangle 3">
            <a:extLst>
              <a:ext uri="{FF2B5EF4-FFF2-40B4-BE49-F238E27FC236}">
                <a16:creationId xmlns:a16="http://schemas.microsoft.com/office/drawing/2014/main" id="{85509580-EAFC-11F8-760B-321D6B1697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EC5CD46-BE49-CFAE-3345-00877E1024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D8B45F-5EDE-4304-ADC7-F17AEBBA46F8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089538" name="Rectangle 2">
            <a:extLst>
              <a:ext uri="{FF2B5EF4-FFF2-40B4-BE49-F238E27FC236}">
                <a16:creationId xmlns:a16="http://schemas.microsoft.com/office/drawing/2014/main" id="{47FEF822-4101-9E59-4BF9-8EEAB7833E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9539" name="Rectangle 3">
            <a:extLst>
              <a:ext uri="{FF2B5EF4-FFF2-40B4-BE49-F238E27FC236}">
                <a16:creationId xmlns:a16="http://schemas.microsoft.com/office/drawing/2014/main" id="{85509580-EAFC-11F8-760B-321D6B1697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42840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13D9D26-B944-F04C-EE07-60E79A3991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04265-A934-4596-B6AF-D1D35E4C0562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964610" name="Rectangle 2">
            <a:extLst>
              <a:ext uri="{FF2B5EF4-FFF2-40B4-BE49-F238E27FC236}">
                <a16:creationId xmlns:a16="http://schemas.microsoft.com/office/drawing/2014/main" id="{AE34D46A-459C-838F-D773-498D325003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4611" name="Rectangle 3">
            <a:extLst>
              <a:ext uri="{FF2B5EF4-FFF2-40B4-BE49-F238E27FC236}">
                <a16:creationId xmlns:a16="http://schemas.microsoft.com/office/drawing/2014/main" id="{FF374CE8-7E64-B058-C01C-B58B621B4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8808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570F7E3-0B1A-27A9-CD43-ED7B1A0990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45FBF9-AEA7-4168-81F1-06E2CFBAAD92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091586" name="Rectangle 2">
            <a:extLst>
              <a:ext uri="{FF2B5EF4-FFF2-40B4-BE49-F238E27FC236}">
                <a16:creationId xmlns:a16="http://schemas.microsoft.com/office/drawing/2014/main" id="{78DA8E34-FEE2-4E40-CAA6-A6AE8C723F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1587" name="Rectangle 3">
            <a:extLst>
              <a:ext uri="{FF2B5EF4-FFF2-40B4-BE49-F238E27FC236}">
                <a16:creationId xmlns:a16="http://schemas.microsoft.com/office/drawing/2014/main" id="{7EAC7F66-A5A1-F4DE-C70A-51820AD0E9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2005153-2906-93C8-378A-2EC5F2EC05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80D5AE-9D5D-4F27-AC3F-9E4678B70993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093634" name="Rectangle 2">
            <a:extLst>
              <a:ext uri="{FF2B5EF4-FFF2-40B4-BE49-F238E27FC236}">
                <a16:creationId xmlns:a16="http://schemas.microsoft.com/office/drawing/2014/main" id="{5C84BA6D-968F-64B9-3E3C-CCCDED52D6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3635" name="Rectangle 3">
            <a:extLst>
              <a:ext uri="{FF2B5EF4-FFF2-40B4-BE49-F238E27FC236}">
                <a16:creationId xmlns:a16="http://schemas.microsoft.com/office/drawing/2014/main" id="{9AC5B175-D94F-61E9-3658-30111D1D32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13D9D26-B944-F04C-EE07-60E79A3991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04265-A934-4596-B6AF-D1D35E4C0562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964610" name="Rectangle 2">
            <a:extLst>
              <a:ext uri="{FF2B5EF4-FFF2-40B4-BE49-F238E27FC236}">
                <a16:creationId xmlns:a16="http://schemas.microsoft.com/office/drawing/2014/main" id="{AE34D46A-459C-838F-D773-498D325003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4611" name="Rectangle 3">
            <a:extLst>
              <a:ext uri="{FF2B5EF4-FFF2-40B4-BE49-F238E27FC236}">
                <a16:creationId xmlns:a16="http://schemas.microsoft.com/office/drawing/2014/main" id="{FF374CE8-7E64-B058-C01C-B58B621B4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4782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D556D83-2AFF-E6F7-900F-C1F6F76746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D542C2-6EEA-480B-9F7D-7856EEA21E3F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097730" name="Rectangle 2">
            <a:extLst>
              <a:ext uri="{FF2B5EF4-FFF2-40B4-BE49-F238E27FC236}">
                <a16:creationId xmlns:a16="http://schemas.microsoft.com/office/drawing/2014/main" id="{B28518E2-6D92-1FBC-63CA-97B3DD4F23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7731" name="Rectangle 3">
            <a:extLst>
              <a:ext uri="{FF2B5EF4-FFF2-40B4-BE49-F238E27FC236}">
                <a16:creationId xmlns:a16="http://schemas.microsoft.com/office/drawing/2014/main" id="{F38DE503-1164-EA1E-2AA5-2CAA616ECD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D556D83-2AFF-E6F7-900F-C1F6F76746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D542C2-6EEA-480B-9F7D-7856EEA21E3F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097730" name="Rectangle 2">
            <a:extLst>
              <a:ext uri="{FF2B5EF4-FFF2-40B4-BE49-F238E27FC236}">
                <a16:creationId xmlns:a16="http://schemas.microsoft.com/office/drawing/2014/main" id="{B28518E2-6D92-1FBC-63CA-97B3DD4F23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7731" name="Rectangle 3">
            <a:extLst>
              <a:ext uri="{FF2B5EF4-FFF2-40B4-BE49-F238E27FC236}">
                <a16:creationId xmlns:a16="http://schemas.microsoft.com/office/drawing/2014/main" id="{F38DE503-1164-EA1E-2AA5-2CAA616ECD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00168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DBA7269-AFA6-629A-E57A-389AD01E80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80331D-A0A0-47FA-8F23-F787B5737281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099778" name="Rectangle 2">
            <a:extLst>
              <a:ext uri="{FF2B5EF4-FFF2-40B4-BE49-F238E27FC236}">
                <a16:creationId xmlns:a16="http://schemas.microsoft.com/office/drawing/2014/main" id="{13295574-076E-DE17-2138-EBE4A2313F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9779" name="Rectangle 3">
            <a:extLst>
              <a:ext uri="{FF2B5EF4-FFF2-40B4-BE49-F238E27FC236}">
                <a16:creationId xmlns:a16="http://schemas.microsoft.com/office/drawing/2014/main" id="{4BDB4136-0E16-90E9-0993-B63E6CE175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13D9D26-B944-F04C-EE07-60E79A3991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04265-A934-4596-B6AF-D1D35E4C0562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964610" name="Rectangle 2">
            <a:extLst>
              <a:ext uri="{FF2B5EF4-FFF2-40B4-BE49-F238E27FC236}">
                <a16:creationId xmlns:a16="http://schemas.microsoft.com/office/drawing/2014/main" id="{AE34D46A-459C-838F-D773-498D325003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4611" name="Rectangle 3">
            <a:extLst>
              <a:ext uri="{FF2B5EF4-FFF2-40B4-BE49-F238E27FC236}">
                <a16:creationId xmlns:a16="http://schemas.microsoft.com/office/drawing/2014/main" id="{FF374CE8-7E64-B058-C01C-B58B621B4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61182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F6D71C7-7313-F821-9D87-A2BAE93405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5E6AF5-F8EB-4370-AB7F-B781C08491D4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1103874" name="Rectangle 2">
            <a:extLst>
              <a:ext uri="{FF2B5EF4-FFF2-40B4-BE49-F238E27FC236}">
                <a16:creationId xmlns:a16="http://schemas.microsoft.com/office/drawing/2014/main" id="{4362ED95-1816-2B73-E03C-07DEBD4EB4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3875" name="Rectangle 3">
            <a:extLst>
              <a:ext uri="{FF2B5EF4-FFF2-40B4-BE49-F238E27FC236}">
                <a16:creationId xmlns:a16="http://schemas.microsoft.com/office/drawing/2014/main" id="{2092C8AF-07BD-7F3C-3424-0FE368241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925FBBC-8DB9-9E24-2533-29C279853B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3C2C74-ED06-4CE3-A86E-77CFBF326A10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105922" name="Rectangle 2">
            <a:extLst>
              <a:ext uri="{FF2B5EF4-FFF2-40B4-BE49-F238E27FC236}">
                <a16:creationId xmlns:a16="http://schemas.microsoft.com/office/drawing/2014/main" id="{B3CD3136-5822-275F-4C37-E2BCBF51B2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23" name="Rectangle 3">
            <a:extLst>
              <a:ext uri="{FF2B5EF4-FFF2-40B4-BE49-F238E27FC236}">
                <a16:creationId xmlns:a16="http://schemas.microsoft.com/office/drawing/2014/main" id="{01D64CD3-BFAD-E6E2-9566-2A548AC917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925FBBC-8DB9-9E24-2533-29C279853B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3C2C74-ED06-4CE3-A86E-77CFBF326A10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105922" name="Rectangle 2">
            <a:extLst>
              <a:ext uri="{FF2B5EF4-FFF2-40B4-BE49-F238E27FC236}">
                <a16:creationId xmlns:a16="http://schemas.microsoft.com/office/drawing/2014/main" id="{B3CD3136-5822-275F-4C37-E2BCBF51B2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23" name="Rectangle 3">
            <a:extLst>
              <a:ext uri="{FF2B5EF4-FFF2-40B4-BE49-F238E27FC236}">
                <a16:creationId xmlns:a16="http://schemas.microsoft.com/office/drawing/2014/main" id="{01D64CD3-BFAD-E6E2-9566-2A548AC917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67801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54CF414-9C46-8FBE-5AF1-2C6FC07F53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A7CC5E-DA41-4FA1-A3A8-05F4BE5CA032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1171458" name="Rectangle 2">
            <a:extLst>
              <a:ext uri="{FF2B5EF4-FFF2-40B4-BE49-F238E27FC236}">
                <a16:creationId xmlns:a16="http://schemas.microsoft.com/office/drawing/2014/main" id="{313272E3-1340-5077-B747-616AC66120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1459" name="Rectangle 3">
            <a:extLst>
              <a:ext uri="{FF2B5EF4-FFF2-40B4-BE49-F238E27FC236}">
                <a16:creationId xmlns:a16="http://schemas.microsoft.com/office/drawing/2014/main" id="{47E4FB94-9DBE-7F19-EF87-9361774CEB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CD84A91-848A-8AAE-B465-EA52022699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561C3C-9742-41F4-B6DD-0F1BE70F132B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1107970" name="Rectangle 2">
            <a:extLst>
              <a:ext uri="{FF2B5EF4-FFF2-40B4-BE49-F238E27FC236}">
                <a16:creationId xmlns:a16="http://schemas.microsoft.com/office/drawing/2014/main" id="{3C39E163-9A14-CF73-DAB3-C48BED2237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7971" name="Rectangle 3">
            <a:extLst>
              <a:ext uri="{FF2B5EF4-FFF2-40B4-BE49-F238E27FC236}">
                <a16:creationId xmlns:a16="http://schemas.microsoft.com/office/drawing/2014/main" id="{FDD321D4-6DB7-27B5-184B-343EEB2F38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969BE7E-C12E-D92F-CC16-152F31B9B6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B9F6EA-7821-4975-BF00-345A787711D7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1110018" name="Rectangle 2">
            <a:extLst>
              <a:ext uri="{FF2B5EF4-FFF2-40B4-BE49-F238E27FC236}">
                <a16:creationId xmlns:a16="http://schemas.microsoft.com/office/drawing/2014/main" id="{5BD52518-BC2E-0E8B-DB29-370E5B976F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0019" name="Rectangle 3">
            <a:extLst>
              <a:ext uri="{FF2B5EF4-FFF2-40B4-BE49-F238E27FC236}">
                <a16:creationId xmlns:a16="http://schemas.microsoft.com/office/drawing/2014/main" id="{4AF744A2-B33B-D012-B08D-3233331655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13D9D26-B944-F04C-EE07-60E79A3991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04265-A934-4596-B6AF-D1D35E4C0562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964610" name="Rectangle 2">
            <a:extLst>
              <a:ext uri="{FF2B5EF4-FFF2-40B4-BE49-F238E27FC236}">
                <a16:creationId xmlns:a16="http://schemas.microsoft.com/office/drawing/2014/main" id="{AE34D46A-459C-838F-D773-498D325003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4611" name="Rectangle 3">
            <a:extLst>
              <a:ext uri="{FF2B5EF4-FFF2-40B4-BE49-F238E27FC236}">
                <a16:creationId xmlns:a16="http://schemas.microsoft.com/office/drawing/2014/main" id="{FF374CE8-7E64-B058-C01C-B58B621B4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41391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C9D590B-3C54-D797-D98A-7C41FFB8B4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17FA5F-F7EB-4CCD-ACD4-F07EC8F7A2A1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112066" name="Rectangle 2">
            <a:extLst>
              <a:ext uri="{FF2B5EF4-FFF2-40B4-BE49-F238E27FC236}">
                <a16:creationId xmlns:a16="http://schemas.microsoft.com/office/drawing/2014/main" id="{C644C8C3-86E4-D227-6B7E-D655C66E61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2067" name="Rectangle 3">
            <a:extLst>
              <a:ext uri="{FF2B5EF4-FFF2-40B4-BE49-F238E27FC236}">
                <a16:creationId xmlns:a16="http://schemas.microsoft.com/office/drawing/2014/main" id="{F6872FE6-A44F-D009-4F72-35315B1493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C954328-7E7B-ADB4-C3DE-08167A1791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3948FF-1231-4F8C-AA5A-6E4EB46E5FF7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1144834" name="Rectangle 2">
            <a:extLst>
              <a:ext uri="{FF2B5EF4-FFF2-40B4-BE49-F238E27FC236}">
                <a16:creationId xmlns:a16="http://schemas.microsoft.com/office/drawing/2014/main" id="{DDA9CB56-ECA7-9BE5-C40A-ED20318006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4835" name="Rectangle 3">
            <a:extLst>
              <a:ext uri="{FF2B5EF4-FFF2-40B4-BE49-F238E27FC236}">
                <a16:creationId xmlns:a16="http://schemas.microsoft.com/office/drawing/2014/main" id="{94375CF1-8BB6-936D-F686-053ECE8DC1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A8E7662-F902-41E5-11A3-44C11419EF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99451A-44EA-4C3B-94F2-828000E90B8B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1146882" name="Rectangle 2">
            <a:extLst>
              <a:ext uri="{FF2B5EF4-FFF2-40B4-BE49-F238E27FC236}">
                <a16:creationId xmlns:a16="http://schemas.microsoft.com/office/drawing/2014/main" id="{D876AC12-1C31-FD40-8451-8378721C88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883" name="Rectangle 3">
            <a:extLst>
              <a:ext uri="{FF2B5EF4-FFF2-40B4-BE49-F238E27FC236}">
                <a16:creationId xmlns:a16="http://schemas.microsoft.com/office/drawing/2014/main" id="{BEA6F515-54B2-82C2-4A59-156E2D4A53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6E4EC33-3587-91B3-8B73-474DF9FE7B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8D64A2-F1B3-4262-BD86-D4D496493409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1114114" name="Rectangle 2">
            <a:extLst>
              <a:ext uri="{FF2B5EF4-FFF2-40B4-BE49-F238E27FC236}">
                <a16:creationId xmlns:a16="http://schemas.microsoft.com/office/drawing/2014/main" id="{5095AFA2-259A-6118-E5AD-160532BE0D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4115" name="Rectangle 3">
            <a:extLst>
              <a:ext uri="{FF2B5EF4-FFF2-40B4-BE49-F238E27FC236}">
                <a16:creationId xmlns:a16="http://schemas.microsoft.com/office/drawing/2014/main" id="{C3A99797-A65F-8FFA-AC34-FB9A0E26D5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13D9D26-B944-F04C-EE07-60E79A3991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04265-A934-4596-B6AF-D1D35E4C0562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964610" name="Rectangle 2">
            <a:extLst>
              <a:ext uri="{FF2B5EF4-FFF2-40B4-BE49-F238E27FC236}">
                <a16:creationId xmlns:a16="http://schemas.microsoft.com/office/drawing/2014/main" id="{AE34D46A-459C-838F-D773-498D325003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4611" name="Rectangle 3">
            <a:extLst>
              <a:ext uri="{FF2B5EF4-FFF2-40B4-BE49-F238E27FC236}">
                <a16:creationId xmlns:a16="http://schemas.microsoft.com/office/drawing/2014/main" id="{FF374CE8-7E64-B058-C01C-B58B621B4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99671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13D9D26-B944-F04C-EE07-60E79A3991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04265-A934-4596-B6AF-D1D35E4C0562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964610" name="Rectangle 2">
            <a:extLst>
              <a:ext uri="{FF2B5EF4-FFF2-40B4-BE49-F238E27FC236}">
                <a16:creationId xmlns:a16="http://schemas.microsoft.com/office/drawing/2014/main" id="{AE34D46A-459C-838F-D773-498D325003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4611" name="Rectangle 3">
            <a:extLst>
              <a:ext uri="{FF2B5EF4-FFF2-40B4-BE49-F238E27FC236}">
                <a16:creationId xmlns:a16="http://schemas.microsoft.com/office/drawing/2014/main" id="{FF374CE8-7E64-B058-C01C-B58B621B4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67016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13D9D26-B944-F04C-EE07-60E79A3991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04265-A934-4596-B6AF-D1D35E4C0562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964610" name="Rectangle 2">
            <a:extLst>
              <a:ext uri="{FF2B5EF4-FFF2-40B4-BE49-F238E27FC236}">
                <a16:creationId xmlns:a16="http://schemas.microsoft.com/office/drawing/2014/main" id="{AE34D46A-459C-838F-D773-498D325003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4611" name="Rectangle 3">
            <a:extLst>
              <a:ext uri="{FF2B5EF4-FFF2-40B4-BE49-F238E27FC236}">
                <a16:creationId xmlns:a16="http://schemas.microsoft.com/office/drawing/2014/main" id="{FF374CE8-7E64-B058-C01C-B58B621B4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71683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13D9D26-B944-F04C-EE07-60E79A3991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04265-A934-4596-B6AF-D1D35E4C0562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964610" name="Rectangle 2">
            <a:extLst>
              <a:ext uri="{FF2B5EF4-FFF2-40B4-BE49-F238E27FC236}">
                <a16:creationId xmlns:a16="http://schemas.microsoft.com/office/drawing/2014/main" id="{AE34D46A-459C-838F-D773-498D325003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4611" name="Rectangle 3">
            <a:extLst>
              <a:ext uri="{FF2B5EF4-FFF2-40B4-BE49-F238E27FC236}">
                <a16:creationId xmlns:a16="http://schemas.microsoft.com/office/drawing/2014/main" id="{FF374CE8-7E64-B058-C01C-B58B621B4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76116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1DFFBCA-CF51-8C4C-90C0-C10013314852}" type="slidenum">
              <a:rPr lang="en-US" i="0" smtClean="0">
                <a:latin typeface="Times New Roman" charset="0"/>
              </a:rPr>
              <a:pPr>
                <a:defRPr/>
              </a:pPr>
              <a:t>39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57997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70DB9EFD-2C56-304B-9FF9-80BAF6A94A18}" type="slidenum">
              <a:rPr lang="en-US" i="0" smtClean="0">
                <a:latin typeface="Times New Roman" charset="0"/>
              </a:rPr>
              <a:pPr>
                <a:defRPr/>
              </a:pPr>
              <a:t>40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442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946" name="Group 2">
            <a:extLst>
              <a:ext uri="{FF2B5EF4-FFF2-40B4-BE49-F238E27FC236}">
                <a16:creationId xmlns:a16="http://schemas.microsoft.com/office/drawing/2014/main" id="{9DF30908-64AB-F1EA-613B-652F5F12A6FC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10947" name="Group 3">
              <a:extLst>
                <a:ext uri="{FF2B5EF4-FFF2-40B4-BE49-F238E27FC236}">
                  <a16:creationId xmlns:a16="http://schemas.microsoft.com/office/drawing/2014/main" id="{B194542B-44CE-5B3C-7A92-A32C93D56E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10948" name="Rectangle 4">
                <a:extLst>
                  <a:ext uri="{FF2B5EF4-FFF2-40B4-BE49-F238E27FC236}">
                    <a16:creationId xmlns:a16="http://schemas.microsoft.com/office/drawing/2014/main" id="{B3B424DF-A176-CC63-605D-C0CAD9CFE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949" name="Rectangle 5">
                <a:extLst>
                  <a:ext uri="{FF2B5EF4-FFF2-40B4-BE49-F238E27FC236}">
                    <a16:creationId xmlns:a16="http://schemas.microsoft.com/office/drawing/2014/main" id="{B39A6F7D-3C3F-02C9-5568-E0B8039784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0950" name="Group 6">
              <a:extLst>
                <a:ext uri="{FF2B5EF4-FFF2-40B4-BE49-F238E27FC236}">
                  <a16:creationId xmlns:a16="http://schemas.microsoft.com/office/drawing/2014/main" id="{19E6C834-1D4A-7668-8D3C-20A953D6F0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10951" name="Rectangle 7">
                <a:extLst>
                  <a:ext uri="{FF2B5EF4-FFF2-40B4-BE49-F238E27FC236}">
                    <a16:creationId xmlns:a16="http://schemas.microsoft.com/office/drawing/2014/main" id="{D598FCDB-0BFD-A5B1-2866-1E74EC4B81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952" name="Rectangle 8">
                <a:extLst>
                  <a:ext uri="{FF2B5EF4-FFF2-40B4-BE49-F238E27FC236}">
                    <a16:creationId xmlns:a16="http://schemas.microsoft.com/office/drawing/2014/main" id="{864A9DDE-F43E-2111-73EA-5A80C87D72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0953" name="Rectangle 9">
              <a:extLst>
                <a:ext uri="{FF2B5EF4-FFF2-40B4-BE49-F238E27FC236}">
                  <a16:creationId xmlns:a16="http://schemas.microsoft.com/office/drawing/2014/main" id="{21996BA7-1CAD-F7E6-B53D-4B968B351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54" name="Rectangle 10">
              <a:extLst>
                <a:ext uri="{FF2B5EF4-FFF2-40B4-BE49-F238E27FC236}">
                  <a16:creationId xmlns:a16="http://schemas.microsoft.com/office/drawing/2014/main" id="{E5508F3B-7200-0763-FFC0-69A80A667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55" name="Rectangle 11">
              <a:extLst>
                <a:ext uri="{FF2B5EF4-FFF2-40B4-BE49-F238E27FC236}">
                  <a16:creationId xmlns:a16="http://schemas.microsoft.com/office/drawing/2014/main" id="{1379E672-53CE-0544-4093-21A16DEA077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0956" name="Rectangle 12">
            <a:extLst>
              <a:ext uri="{FF2B5EF4-FFF2-40B4-BE49-F238E27FC236}">
                <a16:creationId xmlns:a16="http://schemas.microsoft.com/office/drawing/2014/main" id="{5A8E1309-9E37-A426-0F90-D15470EAB2F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10957" name="Rectangle 13">
            <a:extLst>
              <a:ext uri="{FF2B5EF4-FFF2-40B4-BE49-F238E27FC236}">
                <a16:creationId xmlns:a16="http://schemas.microsoft.com/office/drawing/2014/main" id="{C0AC193B-E3B8-3A26-6C88-8BDF0D465EC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10958" name="Rectangle 14">
            <a:extLst>
              <a:ext uri="{FF2B5EF4-FFF2-40B4-BE49-F238E27FC236}">
                <a16:creationId xmlns:a16="http://schemas.microsoft.com/office/drawing/2014/main" id="{4EEA5CF6-86F0-2B06-9CB1-02E1A5DD106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 i="0" baseline="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210959" name="Rectangle 15">
            <a:extLst>
              <a:ext uri="{FF2B5EF4-FFF2-40B4-BE49-F238E27FC236}">
                <a16:creationId xmlns:a16="http://schemas.microsoft.com/office/drawing/2014/main" id="{044F8A55-4574-350D-9777-C62382C0801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 i="0" baseline="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210960" name="Rectangle 16">
            <a:extLst>
              <a:ext uri="{FF2B5EF4-FFF2-40B4-BE49-F238E27FC236}">
                <a16:creationId xmlns:a16="http://schemas.microsoft.com/office/drawing/2014/main" id="{AD5AD467-CFA2-C5DB-46A6-24E3B508A8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>
                <a:latin typeface="+mn-lt"/>
              </a:defRPr>
            </a:lvl1pPr>
          </a:lstStyle>
          <a:p>
            <a:fld id="{E29FFF74-E10E-4C8C-BD0B-AC2E60849DC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0961" name="Text Box 17">
            <a:extLst>
              <a:ext uri="{FF2B5EF4-FFF2-40B4-BE49-F238E27FC236}">
                <a16:creationId xmlns:a16="http://schemas.microsoft.com/office/drawing/2014/main" id="{B3EA024A-A4F9-E2C3-1098-8274A81943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400" b="0" i="0" baseline="0">
                <a:latin typeface="McGrawHill-Italic" pitchFamily="2" charset="0"/>
              </a:rPr>
              <a:t>McGraw-Hill</a:t>
            </a:r>
            <a:endParaRPr lang="en-US" altLang="en-US" sz="2400" b="0" i="0" baseline="0"/>
          </a:p>
        </p:txBody>
      </p:sp>
      <p:sp>
        <p:nvSpPr>
          <p:cNvPr id="210962" name="Text Box 18">
            <a:extLst>
              <a:ext uri="{FF2B5EF4-FFF2-40B4-BE49-F238E27FC236}">
                <a16:creationId xmlns:a16="http://schemas.microsoft.com/office/drawing/2014/main" id="{6B82945F-186B-32A0-BB11-07B49FE51C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Tx/>
              <a:buChar char="©"/>
            </a:pPr>
            <a:r>
              <a:rPr lang="en-US" altLang="en-US" sz="1400" b="0" i="0" baseline="0">
                <a:latin typeface="McGrawHill-Italic" pitchFamily="2" charset="0"/>
              </a:rPr>
              <a:t>The McGraw-Hill Companies, Inc., 2000</a:t>
            </a:r>
            <a:endParaRPr lang="en-US" altLang="en-US" sz="2400" b="0" i="0" baseline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18A76-E29C-2C1E-B868-3FB0CED62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D678D-06FE-46C5-46F3-E11BE71EF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C3242-229D-294E-0CB6-1B70D9B303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12.</a:t>
            </a:r>
            <a:fld id="{4B0576E5-AB4E-4BEE-81B3-209C838344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225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6BD3C-FA5F-708F-6136-80FE2B3FA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EB386-7B5B-C8A5-7F42-322F2B40B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EDAA7-99A2-F6E6-3F77-F0799A32BF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12.</a:t>
            </a:r>
            <a:fld id="{5DF7BC57-95FF-4F32-82AF-E26991599B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123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6587C-3409-CFF3-E8A4-A4F2A6BB9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1CCE1-F8B0-D8CC-10E6-FE1FEAA46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1726AE-5C03-7321-AB5D-A994BEECF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28D9C1-4030-EBD2-E8A4-E2B6C529FF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12.</a:t>
            </a:r>
            <a:fld id="{CE2A15CC-BC2E-45F6-8D57-067A0A2F9C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1550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67CAF-598E-AC04-9E52-E6DB83EE0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23521-CD89-0E81-9105-A5AC18B8A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08349-A132-9AAD-1051-D6B4616E0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7CB2C-C7C9-114F-C876-2BAEC13E32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D0758B-C1C6-B466-00BF-FA4810D350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EB587-01AA-0041-0906-6BAB2C92D0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12.</a:t>
            </a:r>
            <a:fld id="{D4599015-6908-44CC-B176-11A4F09A7A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7441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EEB65-C9F4-EE46-CEFB-C00D3DBB0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A08072-7EA6-4B0F-E651-D96B599A24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12.</a:t>
            </a:r>
            <a:fld id="{690A88A1-F4E6-420F-92ED-ADD65BB09A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7733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CE0029-CCEF-DC6A-CEF2-75ED91ED56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12.</a:t>
            </a:r>
            <a:fld id="{00BEFEF3-DEB1-4089-A65B-6B474A00F4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1551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D6EA-9E13-F919-44A9-9821D11E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FE3FA-8A40-ECDE-5CA7-1A1AE1363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3EC29B-C84F-E8DF-73CA-9E6A840DE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09E0AA-0DB2-EB1E-8F60-5E7D7FA6F3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12.</a:t>
            </a:r>
            <a:fld id="{2608B080-1404-4420-ACF8-80D07748C4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5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C549E-A7F6-1F0E-B61F-FA6ADC3D2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81E1E-5A39-4400-563E-FC21E9ADCE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D2437-09DA-55DA-46FF-16DED79CA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9C925-2FF8-3666-124F-636C5993AA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12.</a:t>
            </a:r>
            <a:fld id="{4DB5AC12-23F5-4B99-AF9E-062200AB75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6079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DE745-0D94-A793-FD3B-BBFC0635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5DD028-FDA5-F5AD-0DD2-3D8D8272D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6CB1F-71AE-9D7C-32D9-678B981C19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12.</a:t>
            </a:r>
            <a:fld id="{584DD42E-AD21-4871-ADA6-DEBC9CE129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0994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DF3ECA-4C03-BF8B-3C79-64C2C1120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E351B8-8A2E-64E8-4E19-E9300EF3E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04F08-A4F0-A37D-4331-DB648B55E2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12.</a:t>
            </a:r>
            <a:fld id="{5758FA4F-BF78-4A86-9F05-A1AAC76F62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2582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03D3BF-68BB-7690-DDD7-F105F552FE6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B2AC59-F1F3-635C-D22F-9C185D492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12.</a:t>
            </a:r>
            <a:fld id="{7BBE979B-6ADB-45CF-8091-49266AA895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9564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6" name="Rectangle 16">
            <a:extLst>
              <a:ext uri="{FF2B5EF4-FFF2-40B4-BE49-F238E27FC236}">
                <a16:creationId xmlns:a16="http://schemas.microsoft.com/office/drawing/2014/main" id="{F6EDEFF5-0952-59A4-423E-90F8472EB1C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 i="0" baseline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altLang="en-US"/>
              <a:t>12.</a:t>
            </a:r>
            <a:fld id="{3AE3C104-A919-48B9-B9C4-9BAC102B804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0BFA7DB-6148-C03A-ADCC-B7D33E0E90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67A64118-718C-4A55-85AA-2BA569C80B36}" type="slidenum">
              <a:rPr lang="en-US" altLang="en-US"/>
              <a:pPr/>
              <a:t>1</a:t>
            </a:fld>
            <a:endParaRPr lang="en-US" altLang="en-US"/>
          </a:p>
        </p:txBody>
      </p:sp>
      <p:pic>
        <p:nvPicPr>
          <p:cNvPr id="1182722" name="Picture 2">
            <a:extLst>
              <a:ext uri="{FF2B5EF4-FFF2-40B4-BE49-F238E27FC236}">
                <a16:creationId xmlns:a16="http://schemas.microsoft.com/office/drawing/2014/main" id="{CCDB66FF-645F-A106-F55C-DE9525AC9A94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82723" name="Rectangle 3">
            <a:extLst>
              <a:ext uri="{FF2B5EF4-FFF2-40B4-BE49-F238E27FC236}">
                <a16:creationId xmlns:a16="http://schemas.microsoft.com/office/drawing/2014/main" id="{22F55FE2-57ED-2740-EC4B-AC1A7CCBC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6858000" cy="173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4400" i="0" baseline="0">
                <a:solidFill>
                  <a:schemeClr val="tx2"/>
                </a:solidFill>
                <a:latin typeface="Arial" panose="020B0604020202020204" pitchFamily="34" charset="0"/>
              </a:rPr>
              <a:t>Chapter 12</a:t>
            </a:r>
          </a:p>
          <a:p>
            <a:pPr algn="ctr"/>
            <a:endParaRPr lang="en-US" altLang="en-US" sz="2000" i="0" baseline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en-US" sz="4400" i="0" baseline="0">
                <a:latin typeface="Arial" panose="020B0604020202020204" pitchFamily="34" charset="0"/>
              </a:rPr>
              <a:t>Multiple Access</a:t>
            </a:r>
          </a:p>
        </p:txBody>
      </p:sp>
      <p:sp>
        <p:nvSpPr>
          <p:cNvPr id="1182724" name="Text Box 4">
            <a:extLst>
              <a:ext uri="{FF2B5EF4-FFF2-40B4-BE49-F238E27FC236}">
                <a16:creationId xmlns:a16="http://schemas.microsoft.com/office/drawing/2014/main" id="{CEDD3446-A0C8-C6A3-DD6B-9DCD79415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7163"/>
            <a:ext cx="9144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en-US" sz="1200" b="0" i="0" baseline="0" dirty="0"/>
              <a:t>Copyright © The McGraw-Hill Companies, Inc. Permission required for reproduction or display.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E7EC9-6DEA-7C44-817B-C8F469E8A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BD" dirty="0"/>
              <a:t>Link Layer Terminology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0BE6B7-65A7-3C44-84E6-75D6344ECF03}"/>
              </a:ext>
            </a:extLst>
          </p:cNvPr>
          <p:cNvSpPr txBox="1">
            <a:spLocks noChangeArrowheads="1"/>
          </p:cNvSpPr>
          <p:nvPr/>
        </p:nvSpPr>
        <p:spPr>
          <a:xfrm>
            <a:off x="1058021" y="1690688"/>
            <a:ext cx="4123579" cy="387191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rgbClr val="FF9300"/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2"/>
              </a:buClr>
              <a:buSzPct val="110000"/>
              <a:defRPr/>
            </a:pPr>
            <a:r>
              <a:rPr lang="en-US" sz="3200" dirty="0">
                <a:solidFill>
                  <a:srgbClr val="CC0000"/>
                </a:solidFill>
                <a:latin typeface="Gill Sans MT" charset="0"/>
              </a:rPr>
              <a:t>Nodes : </a:t>
            </a:r>
            <a:r>
              <a:rPr lang="en-US" sz="3200" dirty="0">
                <a:latin typeface="Gill Sans MT" charset="0"/>
              </a:rPr>
              <a:t>hosts and routers</a:t>
            </a:r>
            <a:endParaRPr lang="en-US" sz="3200" dirty="0">
              <a:solidFill>
                <a:srgbClr val="CC0000"/>
              </a:solidFill>
              <a:latin typeface="Gill Sans MT" charset="0"/>
            </a:endParaRPr>
          </a:p>
          <a:p>
            <a:pPr>
              <a:buClr>
                <a:schemeClr val="tx2"/>
              </a:buClr>
              <a:buSzPct val="110000"/>
              <a:defRPr/>
            </a:pPr>
            <a:r>
              <a:rPr lang="en-US" sz="3200" dirty="0">
                <a:solidFill>
                  <a:srgbClr val="CC0000"/>
                </a:solidFill>
                <a:latin typeface="Gill Sans MT" charset="0"/>
              </a:rPr>
              <a:t>Links:</a:t>
            </a:r>
          </a:p>
          <a:p>
            <a:pPr lvl="1">
              <a:buClr>
                <a:schemeClr val="tx2"/>
              </a:buClr>
              <a:buSzPct val="110000"/>
              <a:defRPr/>
            </a:pPr>
            <a:r>
              <a:rPr lang="en-US" sz="3200" dirty="0">
                <a:latin typeface="Gill Sans MT" charset="0"/>
              </a:rPr>
              <a:t>wired links</a:t>
            </a:r>
          </a:p>
          <a:p>
            <a:pPr lvl="1">
              <a:buClr>
                <a:schemeClr val="tx2"/>
              </a:buClr>
              <a:buSzPct val="110000"/>
              <a:defRPr/>
            </a:pPr>
            <a:r>
              <a:rPr lang="en-US" sz="3200" dirty="0">
                <a:latin typeface="Gill Sans MT" charset="0"/>
              </a:rPr>
              <a:t>wireless links</a:t>
            </a:r>
            <a:endParaRPr lang="en-US" sz="3200" dirty="0">
              <a:solidFill>
                <a:srgbClr val="FF0000"/>
              </a:solidFill>
              <a:latin typeface="Gill Sans MT" charset="0"/>
            </a:endParaRPr>
          </a:p>
          <a:p>
            <a:pPr>
              <a:buClr>
                <a:schemeClr val="tx2"/>
              </a:buClr>
              <a:buSzPct val="110000"/>
              <a:defRPr/>
            </a:pPr>
            <a:r>
              <a:rPr lang="en-US" sz="3200" dirty="0">
                <a:solidFill>
                  <a:srgbClr val="CC0000"/>
                </a:solidFill>
                <a:latin typeface="Gill Sans MT" charset="0"/>
              </a:rPr>
              <a:t>Frame : </a:t>
            </a:r>
            <a:r>
              <a:rPr lang="en-US" sz="3200" dirty="0">
                <a:latin typeface="Gill Sans MT" charset="0"/>
              </a:rPr>
              <a:t>layer-2 packet</a:t>
            </a:r>
          </a:p>
          <a:p>
            <a:pPr>
              <a:buFont typeface="Wingdings" charset="0"/>
              <a:buNone/>
              <a:defRPr/>
            </a:pPr>
            <a:endParaRPr lang="en-US" sz="2100" dirty="0">
              <a:latin typeface="Gill Sans MT" charset="0"/>
            </a:endParaRPr>
          </a:p>
          <a:p>
            <a:pPr>
              <a:defRPr/>
            </a:pPr>
            <a:endParaRPr lang="en-US" sz="1800" dirty="0">
              <a:latin typeface="Gill Sans MT" charset="0"/>
            </a:endParaRPr>
          </a:p>
        </p:txBody>
      </p:sp>
      <p:sp>
        <p:nvSpPr>
          <p:cNvPr id="8" name="Text Box 467">
            <a:extLst>
              <a:ext uri="{FF2B5EF4-FFF2-40B4-BE49-F238E27FC236}">
                <a16:creationId xmlns:a16="http://schemas.microsoft.com/office/drawing/2014/main" id="{3117A2A1-813F-2343-9A77-AD7E340B6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653" y="5124018"/>
            <a:ext cx="4686899" cy="87716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3000" dirty="0">
                <a:solidFill>
                  <a:srgbClr val="CC0000"/>
                </a:solidFill>
                <a:latin typeface="Gill Sans MT" charset="0"/>
              </a:rPr>
              <a:t>data-link layer</a:t>
            </a:r>
            <a:r>
              <a:rPr lang="en-US" sz="3000" i="0" dirty="0">
                <a:latin typeface="Gill Sans MT" charset="0"/>
              </a:rPr>
              <a:t> has the responsibility of transferring datagram from one node to </a:t>
            </a:r>
            <a:r>
              <a:rPr lang="en-US" sz="3000" dirty="0">
                <a:solidFill>
                  <a:srgbClr val="CC0000"/>
                </a:solidFill>
                <a:latin typeface="Gill Sans MT" charset="0"/>
              </a:rPr>
              <a:t>physically adjacent</a:t>
            </a:r>
            <a:r>
              <a:rPr lang="en-US" sz="3000" i="0" dirty="0">
                <a:latin typeface="Gill Sans MT" charset="0"/>
              </a:rPr>
              <a:t> node over a link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0D7AB8-1841-8249-99D9-22E4B7823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414" y="1447800"/>
            <a:ext cx="3622131" cy="473027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6159A-40BF-A442-9E1B-383F2D60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72912A-1472-F840-B781-695E12560F6A}" type="slidenum">
              <a:rPr lang="en-US" smtClean="0"/>
              <a:pPr/>
              <a:t>2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589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74128-3C29-3A72-668C-BD31C95DA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1037"/>
            <a:ext cx="7886700" cy="1009651"/>
          </a:xfrm>
        </p:spPr>
        <p:txBody>
          <a:bodyPr/>
          <a:lstStyle/>
          <a:p>
            <a:r>
              <a:rPr lang="en-US" dirty="0"/>
              <a:t>Link Layer and LANs</a:t>
            </a:r>
          </a:p>
        </p:txBody>
      </p:sp>
      <p:sp>
        <p:nvSpPr>
          <p:cNvPr id="2054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597025"/>
            <a:ext cx="78867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600" dirty="0">
                <a:latin typeface="Gill Sans MT" charset="0"/>
              </a:rPr>
              <a:t>Link layer services:</a:t>
            </a:r>
          </a:p>
          <a:p>
            <a:pPr lvl="1">
              <a:defRPr/>
            </a:pPr>
            <a:r>
              <a:rPr lang="en-US" sz="2100" dirty="0">
                <a:latin typeface="Gill Sans MT" charset="0"/>
              </a:rPr>
              <a:t>Error detection </a:t>
            </a:r>
          </a:p>
          <a:p>
            <a:pPr lvl="2">
              <a:defRPr/>
            </a:pPr>
            <a:r>
              <a:rPr lang="en-GB" sz="1800" dirty="0">
                <a:latin typeface="Gill Sans MT" charset="0"/>
              </a:rPr>
              <a:t>errors caused by signal attenuation, noise. </a:t>
            </a:r>
          </a:p>
          <a:p>
            <a:pPr lvl="2">
              <a:defRPr/>
            </a:pPr>
            <a:r>
              <a:rPr lang="en-GB" sz="1800" dirty="0">
                <a:latin typeface="Gill Sans MT" charset="0"/>
              </a:rPr>
              <a:t>receiver detects presence of errors    signals sender for retransmission or drops frame </a:t>
            </a:r>
          </a:p>
          <a:p>
            <a:pPr lvl="1">
              <a:defRPr/>
            </a:pPr>
            <a:r>
              <a:rPr lang="en-GB" sz="2100" dirty="0">
                <a:latin typeface="Gill Sans MT" charset="0"/>
              </a:rPr>
              <a:t>Error correction</a:t>
            </a:r>
          </a:p>
          <a:p>
            <a:pPr lvl="2">
              <a:defRPr/>
            </a:pPr>
            <a:r>
              <a:rPr lang="en-US" sz="1800" dirty="0">
                <a:latin typeface="Gill Sans MT" charset="0"/>
              </a:rPr>
              <a:t>receiver identifies </a:t>
            </a:r>
            <a:r>
              <a:rPr lang="en-US" sz="1800" i="1" dirty="0">
                <a:solidFill>
                  <a:srgbClr val="A03A3A"/>
                </a:solidFill>
                <a:latin typeface="Gill Sans MT" charset="0"/>
              </a:rPr>
              <a:t>and corrects</a:t>
            </a:r>
            <a:r>
              <a:rPr lang="en-US" sz="1800" dirty="0">
                <a:solidFill>
                  <a:srgbClr val="A03A3A"/>
                </a:solidFill>
                <a:latin typeface="Gill Sans MT" charset="0"/>
              </a:rPr>
              <a:t> </a:t>
            </a:r>
            <a:r>
              <a:rPr lang="en-US" sz="1800" dirty="0">
                <a:latin typeface="Gill Sans MT" charset="0"/>
              </a:rPr>
              <a:t>bit error(s) without resorting to retransmission</a:t>
            </a:r>
            <a:endParaRPr lang="en-GB" sz="1800" dirty="0">
              <a:latin typeface="Gill Sans MT" charset="0"/>
            </a:endParaRPr>
          </a:p>
          <a:p>
            <a:pPr lvl="1">
              <a:defRPr/>
            </a:pPr>
            <a:r>
              <a:rPr lang="en-GB" sz="2100" dirty="0">
                <a:latin typeface="Gill Sans MT" charset="0"/>
              </a:rPr>
              <a:t>Flow control</a:t>
            </a:r>
          </a:p>
          <a:p>
            <a:pPr lvl="2">
              <a:defRPr/>
            </a:pPr>
            <a:r>
              <a:rPr lang="en-US" sz="1800" dirty="0">
                <a:latin typeface="Gill Sans MT" charset="0"/>
              </a:rPr>
              <a:t>pacing between adjacent sending and receiving nodes</a:t>
            </a:r>
            <a:endParaRPr lang="en-GB" sz="1800" dirty="0">
              <a:latin typeface="Gill Sans MT" charset="0"/>
            </a:endParaRPr>
          </a:p>
          <a:p>
            <a:pPr lvl="1">
              <a:defRPr/>
            </a:pPr>
            <a:r>
              <a:rPr lang="en-US" sz="2100" dirty="0">
                <a:latin typeface="Gill Sans MT" charset="0"/>
              </a:rPr>
              <a:t>Framing - link layer addressing</a:t>
            </a:r>
            <a:endParaRPr lang="en-US" sz="2100" dirty="0">
              <a:solidFill>
                <a:srgbClr val="0070C0"/>
              </a:solidFill>
              <a:latin typeface="Gill Sans MT" charset="0"/>
            </a:endParaRPr>
          </a:p>
          <a:p>
            <a:pPr lvl="1">
              <a:defRPr/>
            </a:pPr>
            <a:r>
              <a:rPr lang="en-US" sz="2100" dirty="0">
                <a:latin typeface="Gill Sans MT" charset="0"/>
              </a:rPr>
              <a:t>Sharing a </a:t>
            </a:r>
            <a:r>
              <a:rPr lang="en-US" sz="2100" b="1" dirty="0">
                <a:latin typeface="Gill Sans MT" charset="0"/>
              </a:rPr>
              <a:t>broadcast/multipoint</a:t>
            </a:r>
            <a:r>
              <a:rPr lang="en-US" sz="2100" dirty="0">
                <a:latin typeface="Gill Sans MT" charset="0"/>
              </a:rPr>
              <a:t> link : </a:t>
            </a:r>
            <a:r>
              <a:rPr lang="en-US" sz="2100" b="1" dirty="0">
                <a:solidFill>
                  <a:srgbClr val="A03A3A"/>
                </a:solidFill>
                <a:latin typeface="Gill Sans MT" charset="0"/>
              </a:rPr>
              <a:t>Multiple access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DF5B2E0-1299-4673-B658-57FABF9D7F95}"/>
              </a:ext>
            </a:extLst>
          </p:cNvPr>
          <p:cNvSpPr/>
          <p:nvPr/>
        </p:nvSpPr>
        <p:spPr bwMode="auto">
          <a:xfrm flipV="1">
            <a:off x="5181600" y="2926080"/>
            <a:ext cx="165847" cy="76200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1" u="none" strike="noStrike" cap="none" normalizeH="0" baseline="-1000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4879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BBFF3D-6097-4248-44F3-F632ADA7B5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8B6D8528-B848-428A-BE5C-24ED1A1313FC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076226" name="Line 2">
            <a:extLst>
              <a:ext uri="{FF2B5EF4-FFF2-40B4-BE49-F238E27FC236}">
                <a16:creationId xmlns:a16="http://schemas.microsoft.com/office/drawing/2014/main" id="{A64C287A-59A2-C8C3-7C84-288C8C8852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6227" name="Line 3">
            <a:extLst>
              <a:ext uri="{FF2B5EF4-FFF2-40B4-BE49-F238E27FC236}">
                <a16:creationId xmlns:a16="http://schemas.microsoft.com/office/drawing/2014/main" id="{4FE4B5E7-426A-E51A-AD63-C2F51DA763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6228" name="Text Box 4">
            <a:extLst>
              <a:ext uri="{FF2B5EF4-FFF2-40B4-BE49-F238E27FC236}">
                <a16:creationId xmlns:a16="http://schemas.microsoft.com/office/drawing/2014/main" id="{B49D02A9-D728-9635-47D3-B2A30BA7D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475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0" baseline="0">
                <a:solidFill>
                  <a:schemeClr val="folHlink"/>
                </a:solidFill>
              </a:rPr>
              <a:t>Figure 12.1  </a:t>
            </a:r>
            <a:r>
              <a:rPr lang="en-US" altLang="en-US" sz="2000" baseline="0"/>
              <a:t>Data link layer divided into two functionality-oriented sublayers</a:t>
            </a:r>
          </a:p>
        </p:txBody>
      </p:sp>
      <p:sp>
        <p:nvSpPr>
          <p:cNvPr id="1076229" name="Line 5">
            <a:extLst>
              <a:ext uri="{FF2B5EF4-FFF2-40B4-BE49-F238E27FC236}">
                <a16:creationId xmlns:a16="http://schemas.microsoft.com/office/drawing/2014/main" id="{2FEE77F5-05FA-7A7A-DEDB-792C78BEC7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76231" name="Picture 7">
            <a:extLst>
              <a:ext uri="{FF2B5EF4-FFF2-40B4-BE49-F238E27FC236}">
                <a16:creationId xmlns:a16="http://schemas.microsoft.com/office/drawing/2014/main" id="{297A2854-909A-10E1-63EB-94089697B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25" y="2038350"/>
            <a:ext cx="5375275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ADEA9A-7ADF-F283-BCD8-E84B046918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9203EF71-14F3-41DF-8C34-B3A552DA0E74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078274" name="Line 2">
            <a:extLst>
              <a:ext uri="{FF2B5EF4-FFF2-40B4-BE49-F238E27FC236}">
                <a16:creationId xmlns:a16="http://schemas.microsoft.com/office/drawing/2014/main" id="{4B0AB59B-5B26-CA19-99A4-5563945CEA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8275" name="Line 3">
            <a:extLst>
              <a:ext uri="{FF2B5EF4-FFF2-40B4-BE49-F238E27FC236}">
                <a16:creationId xmlns:a16="http://schemas.microsoft.com/office/drawing/2014/main" id="{39209893-C38E-AE83-67C2-8846306E2B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8276" name="Text Box 4">
            <a:extLst>
              <a:ext uri="{FF2B5EF4-FFF2-40B4-BE49-F238E27FC236}">
                <a16:creationId xmlns:a16="http://schemas.microsoft.com/office/drawing/2014/main" id="{20448726-F2E5-0431-2142-8B313979E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504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0" baseline="0">
                <a:solidFill>
                  <a:schemeClr val="folHlink"/>
                </a:solidFill>
              </a:rPr>
              <a:t>Figure 12.2  </a:t>
            </a:r>
            <a:r>
              <a:rPr lang="en-US" altLang="en-US" sz="2000" baseline="0"/>
              <a:t>Taxonomy of multiple-access protocols discussed in this chapter</a:t>
            </a:r>
          </a:p>
        </p:txBody>
      </p:sp>
      <p:sp>
        <p:nvSpPr>
          <p:cNvPr id="1078277" name="Line 5">
            <a:extLst>
              <a:ext uri="{FF2B5EF4-FFF2-40B4-BE49-F238E27FC236}">
                <a16:creationId xmlns:a16="http://schemas.microsoft.com/office/drawing/2014/main" id="{CD0BFC63-55D6-8FE7-B734-4F90C68AF0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78279" name="Picture 7">
            <a:extLst>
              <a:ext uri="{FF2B5EF4-FFF2-40B4-BE49-F238E27FC236}">
                <a16:creationId xmlns:a16="http://schemas.microsoft.com/office/drawing/2014/main" id="{CEEB37C1-EF4F-5F27-6002-4EBD0C21C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897063"/>
            <a:ext cx="6554788" cy="3284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21C94C-29C7-2E03-3A22-24320EF4AE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E7447BEB-0F4B-4A9A-B35D-969C55CDA675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891AD708-C834-7B2B-947E-70143172C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3200" i="0" baseline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CE78716E-9AC6-F80B-33EA-6EB861531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4813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i="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12-1   RANDOM ACCESS</a:t>
            </a:r>
          </a:p>
        </p:txBody>
      </p:sp>
      <p:sp>
        <p:nvSpPr>
          <p:cNvPr id="565252" name="Text Box 4">
            <a:extLst>
              <a:ext uri="{FF2B5EF4-FFF2-40B4-BE49-F238E27FC236}">
                <a16:creationId xmlns:a16="http://schemas.microsoft.com/office/drawing/2014/main" id="{9E07A26E-E7B9-F6B8-AEF2-5CE69A46C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 sz="1800" i="0" baseline="0"/>
          </a:p>
        </p:txBody>
      </p:sp>
      <p:sp>
        <p:nvSpPr>
          <p:cNvPr id="565253" name="Rectangle 5">
            <a:extLst>
              <a:ext uri="{FF2B5EF4-FFF2-40B4-BE49-F238E27FC236}">
                <a16:creationId xmlns:a16="http://schemas.microsoft.com/office/drawing/2014/main" id="{F0681056-0919-4D23-3B3C-97A850EBF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143000"/>
            <a:ext cx="82296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altLang="en-US" baseline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 </a:t>
            </a:r>
            <a:r>
              <a:rPr lang="en-US" altLang="en-US" baseline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random access</a:t>
            </a:r>
            <a:r>
              <a:rPr lang="en-US" altLang="en-US" baseline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or </a:t>
            </a:r>
            <a:r>
              <a:rPr lang="en-US" altLang="en-US" baseline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contention</a:t>
            </a:r>
            <a:r>
              <a:rPr lang="en-US" altLang="en-US" baseline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methods, no station is superior to another station and none is assigned the control over another. No station permits, or does not permit, another station to send. At each instance, a station that has data to send uses a procedure defined by the protocol to make a decision on whether or not to send. </a:t>
            </a:r>
          </a:p>
        </p:txBody>
      </p:sp>
      <p:sp>
        <p:nvSpPr>
          <p:cNvPr id="565277" name="Rectangle 29">
            <a:extLst>
              <a:ext uri="{FF2B5EF4-FFF2-40B4-BE49-F238E27FC236}">
                <a16:creationId xmlns:a16="http://schemas.microsoft.com/office/drawing/2014/main" id="{E88B39C8-0D68-8055-DDD5-1AD191592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743450"/>
            <a:ext cx="79248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en-US" sz="2400" i="0" baseline="0" dirty="0">
                <a:solidFill>
                  <a:srgbClr val="0033CC"/>
                </a:solidFill>
              </a:rPr>
              <a:t>ALOHA</a:t>
            </a:r>
            <a:br>
              <a:rPr lang="fr-FR" altLang="en-US" sz="2400" i="0" baseline="0" dirty="0">
                <a:solidFill>
                  <a:srgbClr val="0033CC"/>
                </a:solidFill>
              </a:rPr>
            </a:br>
            <a:r>
              <a:rPr lang="en-US" altLang="en-US" sz="2400" i="0" baseline="0" dirty="0">
                <a:solidFill>
                  <a:srgbClr val="0033CC"/>
                </a:solidFill>
              </a:rPr>
              <a:t>Carrier Sense Multiple Access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en-US" sz="2400" i="0" baseline="0" dirty="0">
                <a:solidFill>
                  <a:srgbClr val="0033CC"/>
                </a:solidFill>
              </a:rPr>
              <a:t>Carrier Sense Multiple Access with Collision Detection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en-US" sz="2400" i="0" baseline="0" dirty="0">
                <a:solidFill>
                  <a:srgbClr val="0033CC"/>
                </a:solidFill>
              </a:rPr>
              <a:t>Carrier Sense Multiple Access with Collision Avoidance</a:t>
            </a:r>
          </a:p>
        </p:txBody>
      </p:sp>
      <p:sp>
        <p:nvSpPr>
          <p:cNvPr id="565278" name="Text Box 30">
            <a:extLst>
              <a:ext uri="{FF2B5EF4-FFF2-40B4-BE49-F238E27FC236}">
                <a16:creationId xmlns:a16="http://schemas.microsoft.com/office/drawing/2014/main" id="{ED4D33BB-AE90-1353-1053-8FA4465DE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" y="42672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u="sng" baseline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21C94C-29C7-2E03-3A22-24320EF4AE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E7447BEB-0F4B-4A9A-B35D-969C55CDA675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891AD708-C834-7B2B-947E-70143172C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en-US" sz="3200" i="0" baseline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CE78716E-9AC6-F80B-33EA-6EB861531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30682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i="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12-1-1   ALOHA</a:t>
            </a:r>
          </a:p>
        </p:txBody>
      </p:sp>
      <p:sp>
        <p:nvSpPr>
          <p:cNvPr id="565252" name="Text Box 4">
            <a:extLst>
              <a:ext uri="{FF2B5EF4-FFF2-40B4-BE49-F238E27FC236}">
                <a16:creationId xmlns:a16="http://schemas.microsoft.com/office/drawing/2014/main" id="{9E07A26E-E7B9-F6B8-AEF2-5CE69A46C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 sz="1800" i="0" baseline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A25EBD-C76E-46DE-9470-4BABB9B55B0C}"/>
              </a:ext>
            </a:extLst>
          </p:cNvPr>
          <p:cNvSpPr txBox="1"/>
          <p:nvPr/>
        </p:nvSpPr>
        <p:spPr>
          <a:xfrm>
            <a:off x="457200" y="1676400"/>
            <a:ext cx="8032750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b="0" i="0" baseline="0" dirty="0">
                <a:cs typeface="Times New Roman" panose="02020603050405020304" pitchFamily="18" charset="0"/>
              </a:rPr>
              <a:t>The earliest random access method</a:t>
            </a:r>
            <a:endParaRPr lang="en-GB" sz="2400" b="0" i="0" u="none" strike="noStrike" baseline="0" dirty="0"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b="0" i="0" u="none" strike="noStrike" baseline="0" dirty="0">
                <a:cs typeface="Times New Roman" panose="02020603050405020304" pitchFamily="18" charset="0"/>
              </a:rPr>
              <a:t>Was developed at the </a:t>
            </a:r>
            <a:r>
              <a:rPr lang="en-GB" sz="2400" i="0" u="none" strike="noStrike" baseline="0" dirty="0">
                <a:cs typeface="Times New Roman" panose="02020603050405020304" pitchFamily="18" charset="0"/>
              </a:rPr>
              <a:t>University of Hawaii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b="0" i="0" baseline="0" dirty="0">
                <a:cs typeface="Times New Roman" panose="02020603050405020304" pitchFamily="18" charset="0"/>
              </a:rPr>
              <a:t>Has two variants: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i="0" u="none" strike="noStrike" baseline="0" dirty="0">
                <a:solidFill>
                  <a:srgbClr val="A03A3A"/>
                </a:solidFill>
                <a:cs typeface="Times New Roman" panose="02020603050405020304" pitchFamily="18" charset="0"/>
              </a:rPr>
              <a:t>Pure ALOHA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i="0" baseline="0" dirty="0">
                <a:solidFill>
                  <a:srgbClr val="A03A3A"/>
                </a:solidFill>
                <a:cs typeface="Times New Roman" panose="02020603050405020304" pitchFamily="18" charset="0"/>
              </a:rPr>
              <a:t>Slotted ALOHA</a:t>
            </a:r>
            <a:endParaRPr lang="en-GB" sz="2400" i="0" u="none" strike="noStrike" baseline="0" dirty="0">
              <a:solidFill>
                <a:srgbClr val="A03A3A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860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21C94C-29C7-2E03-3A22-24320EF4AE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E7447BEB-0F4B-4A9A-B35D-969C55CDA675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891AD708-C834-7B2B-947E-70143172C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en-US" sz="3200" i="0" baseline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CE78716E-9AC6-F80B-33EA-6EB861531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288713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i="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PURE ALOHA</a:t>
            </a:r>
          </a:p>
        </p:txBody>
      </p:sp>
      <p:sp>
        <p:nvSpPr>
          <p:cNvPr id="565252" name="Text Box 4">
            <a:extLst>
              <a:ext uri="{FF2B5EF4-FFF2-40B4-BE49-F238E27FC236}">
                <a16:creationId xmlns:a16="http://schemas.microsoft.com/office/drawing/2014/main" id="{9E07A26E-E7B9-F6B8-AEF2-5CE69A46C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 sz="1800" i="0" baseline="0"/>
          </a:p>
        </p:txBody>
      </p:sp>
      <p:sp>
        <p:nvSpPr>
          <p:cNvPr id="565253" name="Rectangle 5">
            <a:extLst>
              <a:ext uri="{FF2B5EF4-FFF2-40B4-BE49-F238E27FC236}">
                <a16:creationId xmlns:a16="http://schemas.microsoft.com/office/drawing/2014/main" id="{F0681056-0919-4D23-3B3C-97A850EBF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90465"/>
            <a:ext cx="8229600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57200" indent="-457200" algn="just" eaLnBrk="1" hangingPunct="1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GB" altLang="en-US" sz="2400" b="0" i="0" baseline="0" dirty="0"/>
              <a:t>The original ALOHA protocol</a:t>
            </a:r>
          </a:p>
          <a:p>
            <a:pPr marL="457200" indent="-457200" algn="just" eaLnBrk="1" hangingPunct="1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GB" altLang="en-US" sz="2400" b="0" i="0" baseline="0" dirty="0"/>
              <a:t>Each station sends a frame whenever it has a frame to send </a:t>
            </a:r>
          </a:p>
          <a:p>
            <a:pPr marL="457200" indent="-457200" algn="just" eaLnBrk="1" hangingPunct="1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GB" altLang="en-US" sz="2400" b="0" i="0" baseline="0" dirty="0"/>
              <a:t>Since there is only one channel to share, there is the possibility of </a:t>
            </a:r>
            <a:r>
              <a:rPr lang="en-GB" altLang="en-US" sz="2400" i="0" baseline="0" dirty="0"/>
              <a:t>collision</a:t>
            </a:r>
            <a:r>
              <a:rPr lang="en-GB" altLang="en-US" sz="2400" b="0" i="0" baseline="0" dirty="0"/>
              <a:t> between frames from different stations</a:t>
            </a:r>
            <a:endParaRPr lang="en-US" altLang="en-US" sz="2400" b="0" i="0" baseline="0" dirty="0"/>
          </a:p>
        </p:txBody>
      </p:sp>
    </p:spTree>
    <p:extLst>
      <p:ext uri="{BB962C8B-B14F-4D97-AF65-F5344CB8AC3E}">
        <p14:creationId xmlns:p14="http://schemas.microsoft.com/office/powerpoint/2010/main" val="2817197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54D9E6-00CB-812F-70F7-0F07B7C208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A281A123-4531-4958-A5AE-973C2E33BD2F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084418" name="Line 2">
            <a:extLst>
              <a:ext uri="{FF2B5EF4-FFF2-40B4-BE49-F238E27FC236}">
                <a16:creationId xmlns:a16="http://schemas.microsoft.com/office/drawing/2014/main" id="{6B171F22-65C6-A921-88D0-26398C62C2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4419" name="Line 3">
            <a:extLst>
              <a:ext uri="{FF2B5EF4-FFF2-40B4-BE49-F238E27FC236}">
                <a16:creationId xmlns:a16="http://schemas.microsoft.com/office/drawing/2014/main" id="{0E7E010E-5664-66A1-198A-EB23093C23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4420" name="Text Box 4">
            <a:extLst>
              <a:ext uri="{FF2B5EF4-FFF2-40B4-BE49-F238E27FC236}">
                <a16:creationId xmlns:a16="http://schemas.microsoft.com/office/drawing/2014/main" id="{C0645656-45B9-6F96-291F-28A07847C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468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0" baseline="0">
                <a:solidFill>
                  <a:schemeClr val="folHlink"/>
                </a:solidFill>
              </a:rPr>
              <a:t>Figure 12.3  </a:t>
            </a:r>
            <a:r>
              <a:rPr lang="en-US" altLang="en-US" sz="2000" baseline="0"/>
              <a:t>Frames in a pure ALOHA network</a:t>
            </a:r>
          </a:p>
        </p:txBody>
      </p:sp>
      <p:sp>
        <p:nvSpPr>
          <p:cNvPr id="1084421" name="Line 5">
            <a:extLst>
              <a:ext uri="{FF2B5EF4-FFF2-40B4-BE49-F238E27FC236}">
                <a16:creationId xmlns:a16="http://schemas.microsoft.com/office/drawing/2014/main" id="{91CB50D3-761A-8E0C-5C7B-F72F9C9A18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84423" name="Picture 7">
            <a:extLst>
              <a:ext uri="{FF2B5EF4-FFF2-40B4-BE49-F238E27FC236}">
                <a16:creationId xmlns:a16="http://schemas.microsoft.com/office/drawing/2014/main" id="{071C9A6B-B849-123F-1BCC-5F2003413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1600200"/>
            <a:ext cx="8620125" cy="406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AE5165-7B34-DD06-CA4E-FE7551F78F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4335E615-8222-445F-B678-F295A272327B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086466" name="Line 2">
            <a:extLst>
              <a:ext uri="{FF2B5EF4-FFF2-40B4-BE49-F238E27FC236}">
                <a16:creationId xmlns:a16="http://schemas.microsoft.com/office/drawing/2014/main" id="{13DC7C4B-01B8-7C27-C51F-383D5B8BB0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6467" name="Line 3">
            <a:extLst>
              <a:ext uri="{FF2B5EF4-FFF2-40B4-BE49-F238E27FC236}">
                <a16:creationId xmlns:a16="http://schemas.microsoft.com/office/drawing/2014/main" id="{F83BF9FB-08FA-CC02-A799-3399808C72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6468" name="Text Box 4">
            <a:extLst>
              <a:ext uri="{FF2B5EF4-FFF2-40B4-BE49-F238E27FC236}">
                <a16:creationId xmlns:a16="http://schemas.microsoft.com/office/drawing/2014/main" id="{6D788BCF-0B45-31BD-049B-D8E68C865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672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0" baseline="0">
                <a:solidFill>
                  <a:schemeClr val="folHlink"/>
                </a:solidFill>
              </a:rPr>
              <a:t>Figure 12.4  </a:t>
            </a:r>
            <a:r>
              <a:rPr lang="it-IT" altLang="en-US" sz="2000" baseline="0"/>
              <a:t>Procedure for pure ALOHA protocol</a:t>
            </a:r>
            <a:endParaRPr lang="en-US" altLang="en-US" sz="2000" baseline="0"/>
          </a:p>
        </p:txBody>
      </p:sp>
      <p:sp>
        <p:nvSpPr>
          <p:cNvPr id="1086469" name="Line 5">
            <a:extLst>
              <a:ext uri="{FF2B5EF4-FFF2-40B4-BE49-F238E27FC236}">
                <a16:creationId xmlns:a16="http://schemas.microsoft.com/office/drawing/2014/main" id="{B50C3CC9-956C-8203-0CA1-57BD9FA0F4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86472" name="Picture 8">
            <a:extLst>
              <a:ext uri="{FF2B5EF4-FFF2-40B4-BE49-F238E27FC236}">
                <a16:creationId xmlns:a16="http://schemas.microsoft.com/office/drawing/2014/main" id="{DC53467E-E96B-3620-5286-E196D27EB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1206500"/>
            <a:ext cx="6088062" cy="473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587CE7-F41C-BF7A-EF23-2D6B74FE28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A261238F-D9B2-4A93-BEA4-F85D5E5DC414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088514" name="Line 2">
            <a:extLst>
              <a:ext uri="{FF2B5EF4-FFF2-40B4-BE49-F238E27FC236}">
                <a16:creationId xmlns:a16="http://schemas.microsoft.com/office/drawing/2014/main" id="{107E447E-585F-FE9F-0A1B-25C4B7CE6C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8515" name="Line 3">
            <a:extLst>
              <a:ext uri="{FF2B5EF4-FFF2-40B4-BE49-F238E27FC236}">
                <a16:creationId xmlns:a16="http://schemas.microsoft.com/office/drawing/2014/main" id="{1A5A36FA-F038-1D0E-55F0-6B38754BD5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8516" name="Text Box 4">
            <a:extLst>
              <a:ext uri="{FF2B5EF4-FFF2-40B4-BE49-F238E27FC236}">
                <a16:creationId xmlns:a16="http://schemas.microsoft.com/office/drawing/2014/main" id="{E0DFB117-D60E-7DD9-88D6-1E0F94710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269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0" baseline="0">
                <a:solidFill>
                  <a:schemeClr val="folHlink"/>
                </a:solidFill>
              </a:rPr>
              <a:t>Figure 12.5  </a:t>
            </a:r>
            <a:r>
              <a:rPr lang="en-US" altLang="en-US" sz="2000" baseline="0"/>
              <a:t>Vulnerable time for pure ALOHA protocol</a:t>
            </a:r>
          </a:p>
        </p:txBody>
      </p:sp>
      <p:sp>
        <p:nvSpPr>
          <p:cNvPr id="1088517" name="Line 5">
            <a:extLst>
              <a:ext uri="{FF2B5EF4-FFF2-40B4-BE49-F238E27FC236}">
                <a16:creationId xmlns:a16="http://schemas.microsoft.com/office/drawing/2014/main" id="{E8258293-CA3F-EF3D-07A6-5413B0244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88520" name="Picture 8">
            <a:extLst>
              <a:ext uri="{FF2B5EF4-FFF2-40B4-BE49-F238E27FC236}">
                <a16:creationId xmlns:a16="http://schemas.microsoft.com/office/drawing/2014/main" id="{E331A452-18BF-5E67-C598-137258470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63" y="1376363"/>
            <a:ext cx="6992937" cy="4491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587CE7-F41C-BF7A-EF23-2D6B74FE28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A261238F-D9B2-4A93-BEA4-F85D5E5DC414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088514" name="Line 2">
            <a:extLst>
              <a:ext uri="{FF2B5EF4-FFF2-40B4-BE49-F238E27FC236}">
                <a16:creationId xmlns:a16="http://schemas.microsoft.com/office/drawing/2014/main" id="{107E447E-585F-FE9F-0A1B-25C4B7CE6C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8515" name="Line 3">
            <a:extLst>
              <a:ext uri="{FF2B5EF4-FFF2-40B4-BE49-F238E27FC236}">
                <a16:creationId xmlns:a16="http://schemas.microsoft.com/office/drawing/2014/main" id="{1A5A36FA-F038-1D0E-55F0-6B38754BD5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8516" name="Text Box 4">
            <a:extLst>
              <a:ext uri="{FF2B5EF4-FFF2-40B4-BE49-F238E27FC236}">
                <a16:creationId xmlns:a16="http://schemas.microsoft.com/office/drawing/2014/main" id="{E0DFB117-D60E-7DD9-88D6-1E0F94710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4335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aseline="0" dirty="0"/>
              <a:t>Math : Vulnerable time for pure ALOHA protocol</a:t>
            </a:r>
          </a:p>
        </p:txBody>
      </p:sp>
      <p:sp>
        <p:nvSpPr>
          <p:cNvPr id="1088517" name="Line 5">
            <a:extLst>
              <a:ext uri="{FF2B5EF4-FFF2-40B4-BE49-F238E27FC236}">
                <a16:creationId xmlns:a16="http://schemas.microsoft.com/office/drawing/2014/main" id="{E8258293-CA3F-EF3D-07A6-5413B0244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7FA212-8A76-4CFF-A2CA-293204724274}"/>
              </a:ext>
            </a:extLst>
          </p:cNvPr>
          <p:cNvSpPr txBox="1"/>
          <p:nvPr/>
        </p:nvSpPr>
        <p:spPr>
          <a:xfrm>
            <a:off x="152400" y="1323426"/>
            <a:ext cx="8763000" cy="4239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A03A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Bold"/>
              </a:rPr>
              <a:t>Example 12.2</a:t>
            </a:r>
          </a:p>
          <a:p>
            <a:pPr algn="l"/>
            <a:r>
              <a:rPr lang="en-GB" sz="2400" u="none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A pure ALOHA network transmits 200-bit frames on a shared channel of 200 kbps. What is the requirement to make this frame collision-free?</a:t>
            </a:r>
          </a:p>
          <a:p>
            <a:pPr algn="l"/>
            <a:endParaRPr lang="en-GB" sz="2400" u="none" strike="noStrike" baseline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-Roman"/>
            </a:endParaRPr>
          </a:p>
          <a:p>
            <a:pPr algn="l"/>
            <a:r>
              <a:rPr lang="en-US" sz="2400" b="1" i="0" u="none" strike="noStrike" baseline="0" dirty="0">
                <a:solidFill>
                  <a:srgbClr val="000000"/>
                </a:solidFill>
                <a:latin typeface="Times-Bold"/>
              </a:rPr>
              <a:t>Solution</a:t>
            </a:r>
          </a:p>
          <a:p>
            <a:pPr algn="l"/>
            <a:r>
              <a:rPr lang="en-GB" sz="2400" b="0" i="0" u="none" strike="noStrike" baseline="0" dirty="0">
                <a:solidFill>
                  <a:srgbClr val="000000"/>
                </a:solidFill>
                <a:latin typeface="Times-Roman"/>
              </a:rPr>
              <a:t>Average frame transmission time </a:t>
            </a:r>
            <a:r>
              <a:rPr lang="en-US" altLang="en-US" sz="2400" baseline="0" dirty="0" err="1"/>
              <a:t>T</a:t>
            </a:r>
            <a:r>
              <a:rPr lang="en-US" altLang="en-US" sz="2400" baseline="-16000" dirty="0" err="1"/>
              <a:t>fr</a:t>
            </a:r>
            <a:r>
              <a:rPr lang="en-US" altLang="en-US" sz="2400" baseline="-16000" dirty="0"/>
              <a:t>  </a:t>
            </a:r>
            <a:r>
              <a:rPr lang="en-GB" sz="2400" b="0" i="0" u="none" strike="noStrike" baseline="0" dirty="0">
                <a:solidFill>
                  <a:srgbClr val="000000"/>
                </a:solidFill>
                <a:latin typeface="Times-Roman"/>
              </a:rPr>
              <a:t>is 200 bits</a:t>
            </a:r>
            <a:r>
              <a:rPr lang="en-GB" sz="2400" b="0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</a:rPr>
              <a:t>/</a:t>
            </a:r>
            <a:r>
              <a:rPr lang="en-GB" sz="2400" b="0" i="0" u="none" strike="noStrike" baseline="0" dirty="0">
                <a:solidFill>
                  <a:srgbClr val="000000"/>
                </a:solidFill>
                <a:latin typeface="Times-Roman"/>
              </a:rPr>
              <a:t>200 kbps or 1 </a:t>
            </a:r>
            <a:r>
              <a:rPr lang="en-GB" sz="2400" b="0" i="0" u="none" strike="noStrike" baseline="0" dirty="0" err="1">
                <a:solidFill>
                  <a:srgbClr val="000000"/>
                </a:solidFill>
                <a:latin typeface="Times-Roman"/>
              </a:rPr>
              <a:t>ms</a:t>
            </a:r>
            <a:r>
              <a:rPr lang="en-GB" sz="2400" b="0" i="0" u="none" strike="noStrike" baseline="0" dirty="0">
                <a:solidFill>
                  <a:srgbClr val="000000"/>
                </a:solidFill>
                <a:latin typeface="Times-Roman"/>
              </a:rPr>
              <a:t>. The vulnerable time is 2 </a:t>
            </a:r>
            <a:r>
              <a:rPr lang="en-GB" sz="2400" b="0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</a:rPr>
              <a:t>× </a:t>
            </a:r>
            <a:r>
              <a:rPr lang="en-GB" sz="2400" b="0" i="0" u="none" strike="noStrike" baseline="0" dirty="0">
                <a:solidFill>
                  <a:srgbClr val="000000"/>
                </a:solidFill>
                <a:latin typeface="Times-Roman"/>
              </a:rPr>
              <a:t>1 </a:t>
            </a:r>
            <a:r>
              <a:rPr lang="en-GB" sz="2400" b="0" i="0" u="none" strike="noStrike" baseline="0" dirty="0" err="1">
                <a:solidFill>
                  <a:srgbClr val="000000"/>
                </a:solidFill>
                <a:latin typeface="Times-Roman"/>
              </a:rPr>
              <a:t>ms</a:t>
            </a:r>
            <a:r>
              <a:rPr lang="en-GB" sz="2400" b="0" i="0" u="none" strike="noStrike" baseline="0" dirty="0">
                <a:solidFill>
                  <a:srgbClr val="000000"/>
                </a:solidFill>
                <a:latin typeface="Times-Roman"/>
              </a:rPr>
              <a:t> </a:t>
            </a:r>
            <a:r>
              <a:rPr lang="en-GB" sz="2400" b="0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</a:rPr>
              <a:t>= </a:t>
            </a:r>
            <a:r>
              <a:rPr lang="en-GB" sz="2400" b="0" i="0" u="none" strike="noStrike" baseline="0" dirty="0">
                <a:solidFill>
                  <a:srgbClr val="000000"/>
                </a:solidFill>
                <a:latin typeface="Times-Roman"/>
              </a:rPr>
              <a:t>2 </a:t>
            </a:r>
            <a:r>
              <a:rPr lang="en-GB" sz="2400" b="0" i="0" u="none" strike="noStrike" baseline="0" dirty="0" err="1">
                <a:solidFill>
                  <a:srgbClr val="000000"/>
                </a:solidFill>
                <a:latin typeface="Times-Roman"/>
              </a:rPr>
              <a:t>ms</a:t>
            </a:r>
            <a:r>
              <a:rPr lang="en-GB" sz="2400" b="0" i="0" u="none" strike="noStrike" baseline="0" dirty="0">
                <a:solidFill>
                  <a:srgbClr val="000000"/>
                </a:solidFill>
                <a:latin typeface="Times-Roman"/>
              </a:rPr>
              <a:t>. This means no station should send later than 1 </a:t>
            </a:r>
            <a:r>
              <a:rPr lang="en-GB" sz="2400" b="0" i="0" u="none" strike="noStrike" baseline="0" dirty="0" err="1">
                <a:solidFill>
                  <a:srgbClr val="000000"/>
                </a:solidFill>
                <a:latin typeface="Times-Roman"/>
              </a:rPr>
              <a:t>ms</a:t>
            </a:r>
            <a:r>
              <a:rPr lang="en-GB" sz="2400" b="0" i="0" u="none" strike="noStrike" baseline="0" dirty="0">
                <a:solidFill>
                  <a:srgbClr val="000000"/>
                </a:solidFill>
                <a:latin typeface="Times-Roman"/>
              </a:rPr>
              <a:t> before this station starts transmission and</a:t>
            </a:r>
          </a:p>
          <a:p>
            <a:pPr algn="l"/>
            <a:r>
              <a:rPr lang="en-GB" sz="2400" b="0" i="0" u="none" strike="noStrike" baseline="0" dirty="0">
                <a:solidFill>
                  <a:srgbClr val="000000"/>
                </a:solidFill>
                <a:latin typeface="Times-Roman"/>
              </a:rPr>
              <a:t>no station should start sending during the period (1 </a:t>
            </a:r>
            <a:r>
              <a:rPr lang="en-GB" sz="2400" b="0" i="0" u="none" strike="noStrike" baseline="0" dirty="0" err="1">
                <a:solidFill>
                  <a:srgbClr val="000000"/>
                </a:solidFill>
                <a:latin typeface="Times-Roman"/>
              </a:rPr>
              <a:t>ms</a:t>
            </a:r>
            <a:r>
              <a:rPr lang="en-GB" sz="2400" b="0" i="0" u="none" strike="noStrike" baseline="0" dirty="0">
                <a:solidFill>
                  <a:srgbClr val="000000"/>
                </a:solidFill>
                <a:latin typeface="Times-Roman"/>
              </a:rPr>
              <a:t>) that this station is sending.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20524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21C94C-29C7-2E03-3A22-24320EF4AE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E7447BEB-0F4B-4A9A-B35D-969C55CDA675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891AD708-C834-7B2B-947E-70143172C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en-US" sz="3200" i="0" baseline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CE78716E-9AC6-F80B-33EA-6EB861531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37094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i="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SLOTTED ALOHA</a:t>
            </a:r>
          </a:p>
        </p:txBody>
      </p:sp>
      <p:sp>
        <p:nvSpPr>
          <p:cNvPr id="565252" name="Text Box 4">
            <a:extLst>
              <a:ext uri="{FF2B5EF4-FFF2-40B4-BE49-F238E27FC236}">
                <a16:creationId xmlns:a16="http://schemas.microsoft.com/office/drawing/2014/main" id="{9E07A26E-E7B9-F6B8-AEF2-5CE69A46C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 sz="1800" i="0" baseline="0"/>
          </a:p>
        </p:txBody>
      </p:sp>
      <p:sp>
        <p:nvSpPr>
          <p:cNvPr id="565253" name="Rectangle 5">
            <a:extLst>
              <a:ext uri="{FF2B5EF4-FFF2-40B4-BE49-F238E27FC236}">
                <a16:creationId xmlns:a16="http://schemas.microsoft.com/office/drawing/2014/main" id="{F0681056-0919-4D23-3B3C-97A850EBF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90465"/>
            <a:ext cx="8229600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57200" indent="-457200" algn="just" eaLnBrk="1" hangingPunct="1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GB" altLang="en-US" sz="2400" b="0" i="0" baseline="0" dirty="0"/>
              <a:t>In slotted ALOHA the time is divided into slots of </a:t>
            </a:r>
            <a:r>
              <a:rPr lang="en-US" altLang="en-US" sz="2400" baseline="0" dirty="0" err="1"/>
              <a:t>T</a:t>
            </a:r>
            <a:r>
              <a:rPr lang="en-US" altLang="en-US" sz="2400" baseline="-16000" dirty="0" err="1"/>
              <a:t>fr</a:t>
            </a:r>
            <a:r>
              <a:rPr lang="en-GB" altLang="en-US" sz="2400" b="0" i="0" baseline="0" dirty="0"/>
              <a:t> seconds </a:t>
            </a:r>
          </a:p>
          <a:p>
            <a:pPr marL="457200" indent="-457200" algn="just" eaLnBrk="1" hangingPunct="1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GB" altLang="en-US" sz="2400" b="0" i="0" baseline="0" dirty="0"/>
              <a:t>Stations can send frames </a:t>
            </a:r>
            <a:r>
              <a:rPr lang="en-GB" altLang="en-US" sz="2400" i="0" baseline="0" dirty="0">
                <a:solidFill>
                  <a:srgbClr val="A03A3A"/>
                </a:solidFill>
              </a:rPr>
              <a:t>only at the beginning of the time slot</a:t>
            </a:r>
          </a:p>
          <a:p>
            <a:pPr marL="457200" indent="-457200" algn="just" eaLnBrk="1" hangingPunct="1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GB" altLang="en-US" sz="2400" b="0" i="0" baseline="0" dirty="0"/>
              <a:t>Improves the efficiency of pure ALOHA</a:t>
            </a:r>
          </a:p>
        </p:txBody>
      </p:sp>
    </p:spTree>
    <p:extLst>
      <p:ext uri="{BB962C8B-B14F-4D97-AF65-F5344CB8AC3E}">
        <p14:creationId xmlns:p14="http://schemas.microsoft.com/office/powerpoint/2010/main" val="2137763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58B529-75D8-2694-F825-3829E76355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8507D277-2D23-4BAE-8878-9C1AA2B220C8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090562" name="Line 2">
            <a:extLst>
              <a:ext uri="{FF2B5EF4-FFF2-40B4-BE49-F238E27FC236}">
                <a16:creationId xmlns:a16="http://schemas.microsoft.com/office/drawing/2014/main" id="{5A292031-D39B-B43F-72F1-87E0741F9A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0563" name="Line 3">
            <a:extLst>
              <a:ext uri="{FF2B5EF4-FFF2-40B4-BE49-F238E27FC236}">
                <a16:creationId xmlns:a16="http://schemas.microsoft.com/office/drawing/2014/main" id="{E764AD44-B490-96A8-1628-6B189CEC12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0564" name="Text Box 4">
            <a:extLst>
              <a:ext uri="{FF2B5EF4-FFF2-40B4-BE49-F238E27FC236}">
                <a16:creationId xmlns:a16="http://schemas.microsoft.com/office/drawing/2014/main" id="{C47AACEA-0049-EB7F-7C3E-AED37D981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66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0" baseline="0">
                <a:solidFill>
                  <a:schemeClr val="folHlink"/>
                </a:solidFill>
              </a:rPr>
              <a:t>Figure 12.6  </a:t>
            </a:r>
            <a:r>
              <a:rPr lang="en-US" altLang="en-US" sz="2000" baseline="0"/>
              <a:t>Frames in a slotted ALOHA network</a:t>
            </a:r>
          </a:p>
        </p:txBody>
      </p:sp>
      <p:sp>
        <p:nvSpPr>
          <p:cNvPr id="1090565" name="Line 5">
            <a:extLst>
              <a:ext uri="{FF2B5EF4-FFF2-40B4-BE49-F238E27FC236}">
                <a16:creationId xmlns:a16="http://schemas.microsoft.com/office/drawing/2014/main" id="{7E7A0935-C282-7A6B-77B6-CE90F9E507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90567" name="Picture 7">
            <a:extLst>
              <a:ext uri="{FF2B5EF4-FFF2-40B4-BE49-F238E27FC236}">
                <a16:creationId xmlns:a16="http://schemas.microsoft.com/office/drawing/2014/main" id="{498E8F96-0B38-8EB6-D6A3-F80E86203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1433513"/>
            <a:ext cx="8501062" cy="3976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3DE495-687C-D93B-FA93-F37B94896E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4A7518B4-1FED-4E41-A4CA-88881B7A6586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092610" name="Line 2">
            <a:extLst>
              <a:ext uri="{FF2B5EF4-FFF2-40B4-BE49-F238E27FC236}">
                <a16:creationId xmlns:a16="http://schemas.microsoft.com/office/drawing/2014/main" id="{44E534C2-84D5-CC96-EA92-DE2CBE0713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2611" name="Line 3">
            <a:extLst>
              <a:ext uri="{FF2B5EF4-FFF2-40B4-BE49-F238E27FC236}">
                <a16:creationId xmlns:a16="http://schemas.microsoft.com/office/drawing/2014/main" id="{FBA4A947-C3D0-893A-683E-D5BC29F52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2612" name="Text Box 4">
            <a:extLst>
              <a:ext uri="{FF2B5EF4-FFF2-40B4-BE49-F238E27FC236}">
                <a16:creationId xmlns:a16="http://schemas.microsoft.com/office/drawing/2014/main" id="{94877907-133A-EA13-ED45-BE21A30D6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464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0" baseline="0">
                <a:solidFill>
                  <a:schemeClr val="folHlink"/>
                </a:solidFill>
              </a:rPr>
              <a:t>Figure 12.7  </a:t>
            </a:r>
            <a:r>
              <a:rPr lang="en-US" altLang="en-US" sz="2000" baseline="0"/>
              <a:t>Vulnerable time for slotted ALOHA protocol</a:t>
            </a:r>
          </a:p>
        </p:txBody>
      </p:sp>
      <p:sp>
        <p:nvSpPr>
          <p:cNvPr id="1092613" name="Line 5">
            <a:extLst>
              <a:ext uri="{FF2B5EF4-FFF2-40B4-BE49-F238E27FC236}">
                <a16:creationId xmlns:a16="http://schemas.microsoft.com/office/drawing/2014/main" id="{FE77B6B8-D96F-FDD5-52B0-9F22A8DAD7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92615" name="Picture 7">
            <a:extLst>
              <a:ext uri="{FF2B5EF4-FFF2-40B4-BE49-F238E27FC236}">
                <a16:creationId xmlns:a16="http://schemas.microsoft.com/office/drawing/2014/main" id="{66EE0AA7-4EF6-52B2-7449-DE552A989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" y="1430338"/>
            <a:ext cx="7632700" cy="436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21C94C-29C7-2E03-3A22-24320EF4AE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E7447BEB-0F4B-4A9A-B35D-969C55CDA675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891AD708-C834-7B2B-947E-70143172C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76200"/>
            <a:ext cx="9144000" cy="990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en-US" sz="3200" i="0" baseline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CE78716E-9AC6-F80B-33EA-6EB861531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279435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i="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12-1-2   CSMA</a:t>
            </a:r>
          </a:p>
        </p:txBody>
      </p:sp>
      <p:sp>
        <p:nvSpPr>
          <p:cNvPr id="565252" name="Text Box 4">
            <a:extLst>
              <a:ext uri="{FF2B5EF4-FFF2-40B4-BE49-F238E27FC236}">
                <a16:creationId xmlns:a16="http://schemas.microsoft.com/office/drawing/2014/main" id="{9E07A26E-E7B9-F6B8-AEF2-5CE69A46C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 sz="1800" i="0" baseline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A25EBD-C76E-46DE-9470-4BABB9B55B0C}"/>
              </a:ext>
            </a:extLst>
          </p:cNvPr>
          <p:cNvSpPr txBox="1"/>
          <p:nvPr/>
        </p:nvSpPr>
        <p:spPr>
          <a:xfrm>
            <a:off x="390525" y="2336393"/>
            <a:ext cx="803275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GB" sz="2400" i="0" baseline="0" dirty="0">
                <a:cs typeface="Times New Roman" panose="02020603050405020304" pitchFamily="18" charset="0"/>
              </a:rPr>
              <a:t>Carrier Sense Multiple Access</a:t>
            </a:r>
            <a:r>
              <a:rPr lang="en-GB" sz="2400" b="0" i="0" baseline="0" dirty="0">
                <a:cs typeface="Times New Roman" panose="02020603050405020304" pitchFamily="18" charset="0"/>
              </a:rPr>
              <a:t> </a:t>
            </a:r>
          </a:p>
          <a:p>
            <a:pPr marL="457200" indent="-457200" algn="l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GB" sz="2400" b="0" i="0" baseline="0" dirty="0">
                <a:cs typeface="Times New Roman" panose="02020603050405020304" pitchFamily="18" charset="0"/>
              </a:rPr>
              <a:t>Senses the medium before sending frame</a:t>
            </a:r>
          </a:p>
          <a:p>
            <a:pPr marL="457200" indent="-457200" algn="l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GB" sz="2400" b="0" i="0" baseline="0" dirty="0">
                <a:cs typeface="Times New Roman" panose="02020603050405020304" pitchFamily="18" charset="0"/>
              </a:rPr>
              <a:t>Reduce the possibility of collision, but it cannot eliminate it due to </a:t>
            </a:r>
            <a:r>
              <a:rPr lang="en-GB" sz="2400" i="0" baseline="0" dirty="0">
                <a:cs typeface="Times New Roman" panose="02020603050405020304" pitchFamily="18" charset="0"/>
              </a:rPr>
              <a:t>propagation delay</a:t>
            </a:r>
          </a:p>
        </p:txBody>
      </p:sp>
    </p:spTree>
    <p:extLst>
      <p:ext uri="{BB962C8B-B14F-4D97-AF65-F5344CB8AC3E}">
        <p14:creationId xmlns:p14="http://schemas.microsoft.com/office/powerpoint/2010/main" val="3062860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9CE013-9F5E-685A-425D-E273282E8A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C07B643F-9499-4948-B1B5-2DF3FF02D861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096706" name="Line 2">
            <a:extLst>
              <a:ext uri="{FF2B5EF4-FFF2-40B4-BE49-F238E27FC236}">
                <a16:creationId xmlns:a16="http://schemas.microsoft.com/office/drawing/2014/main" id="{CC2FA0C6-350F-53B2-08FA-7335DAE648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6707" name="Line 3">
            <a:extLst>
              <a:ext uri="{FF2B5EF4-FFF2-40B4-BE49-F238E27FC236}">
                <a16:creationId xmlns:a16="http://schemas.microsoft.com/office/drawing/2014/main" id="{59EB4175-6820-CAC4-8E1A-86E492A536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6708" name="Text Box 4">
            <a:extLst>
              <a:ext uri="{FF2B5EF4-FFF2-40B4-BE49-F238E27FC236}">
                <a16:creationId xmlns:a16="http://schemas.microsoft.com/office/drawing/2014/main" id="{8706A6A8-3BA3-7AFA-04CE-E8CAB626B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1566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0" baseline="0" dirty="0">
                <a:solidFill>
                  <a:schemeClr val="folHlink"/>
                </a:solidFill>
              </a:rPr>
              <a:t>Figure 12.8  </a:t>
            </a:r>
            <a:r>
              <a:rPr lang="en-GB" altLang="en-US" sz="2000" baseline="0" dirty="0"/>
              <a:t>Space/time model of a collision in CSMA</a:t>
            </a:r>
            <a:endParaRPr lang="en-US" altLang="en-US" sz="2000" baseline="0" dirty="0"/>
          </a:p>
        </p:txBody>
      </p:sp>
      <p:sp>
        <p:nvSpPr>
          <p:cNvPr id="1096709" name="Line 5">
            <a:extLst>
              <a:ext uri="{FF2B5EF4-FFF2-40B4-BE49-F238E27FC236}">
                <a16:creationId xmlns:a16="http://schemas.microsoft.com/office/drawing/2014/main" id="{73561A27-4E30-23F3-3822-E3EA9639E1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1EDB1F-0832-4003-877C-6249C176B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89674"/>
            <a:ext cx="7171804" cy="347865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9CE013-9F5E-685A-425D-E273282E8A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C07B643F-9499-4948-B1B5-2DF3FF02D861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096706" name="Line 2">
            <a:extLst>
              <a:ext uri="{FF2B5EF4-FFF2-40B4-BE49-F238E27FC236}">
                <a16:creationId xmlns:a16="http://schemas.microsoft.com/office/drawing/2014/main" id="{CC2FA0C6-350F-53B2-08FA-7335DAE648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6707" name="Line 3">
            <a:extLst>
              <a:ext uri="{FF2B5EF4-FFF2-40B4-BE49-F238E27FC236}">
                <a16:creationId xmlns:a16="http://schemas.microsoft.com/office/drawing/2014/main" id="{59EB4175-6820-CAC4-8E1A-86E492A536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6708" name="Text Box 4">
            <a:extLst>
              <a:ext uri="{FF2B5EF4-FFF2-40B4-BE49-F238E27FC236}">
                <a16:creationId xmlns:a16="http://schemas.microsoft.com/office/drawing/2014/main" id="{8706A6A8-3BA3-7AFA-04CE-E8CAB626B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535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0" baseline="0">
                <a:solidFill>
                  <a:schemeClr val="folHlink"/>
                </a:solidFill>
              </a:rPr>
              <a:t>Figure 12.9  </a:t>
            </a:r>
            <a:r>
              <a:rPr lang="en-US" altLang="en-US" sz="2000" baseline="0"/>
              <a:t>Vulnerable time in CSMA</a:t>
            </a:r>
          </a:p>
        </p:txBody>
      </p:sp>
      <p:sp>
        <p:nvSpPr>
          <p:cNvPr id="1096709" name="Line 5">
            <a:extLst>
              <a:ext uri="{FF2B5EF4-FFF2-40B4-BE49-F238E27FC236}">
                <a16:creationId xmlns:a16="http://schemas.microsoft.com/office/drawing/2014/main" id="{73561A27-4E30-23F3-3822-E3EA9639E1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96711" name="Picture 7">
            <a:extLst>
              <a:ext uri="{FF2B5EF4-FFF2-40B4-BE49-F238E27FC236}">
                <a16:creationId xmlns:a16="http://schemas.microsoft.com/office/drawing/2014/main" id="{93939E4A-6AE5-C5CB-DB6E-3E38E8327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057400"/>
            <a:ext cx="8839200" cy="329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9389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A73F91-19BC-6BE2-4339-44FA6B05FA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8641B2B3-BFFD-4C8D-A184-46FC297C1D7E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098754" name="Line 2">
            <a:extLst>
              <a:ext uri="{FF2B5EF4-FFF2-40B4-BE49-F238E27FC236}">
                <a16:creationId xmlns:a16="http://schemas.microsoft.com/office/drawing/2014/main" id="{8C0AC21D-C267-E0CE-E5AA-D88BF938E3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8755" name="Line 3">
            <a:extLst>
              <a:ext uri="{FF2B5EF4-FFF2-40B4-BE49-F238E27FC236}">
                <a16:creationId xmlns:a16="http://schemas.microsoft.com/office/drawing/2014/main" id="{0A95F3A6-5899-1435-D7EF-72CA864186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8756" name="Text Box 4">
            <a:extLst>
              <a:ext uri="{FF2B5EF4-FFF2-40B4-BE49-F238E27FC236}">
                <a16:creationId xmlns:a16="http://schemas.microsoft.com/office/drawing/2014/main" id="{0C6E9FCC-F6CB-C123-9525-2FC1F6ACF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599"/>
            <a:ext cx="70527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0" baseline="0" dirty="0">
                <a:solidFill>
                  <a:schemeClr val="folHlink"/>
                </a:solidFill>
              </a:rPr>
              <a:t>Figure 12.10  </a:t>
            </a:r>
            <a:r>
              <a:rPr lang="en-US" altLang="en-US" sz="2000" baseline="0" dirty="0"/>
              <a:t>Behavior of three persistence methods of CSMA</a:t>
            </a:r>
          </a:p>
        </p:txBody>
      </p:sp>
      <p:sp>
        <p:nvSpPr>
          <p:cNvPr id="1098757" name="Line 5">
            <a:extLst>
              <a:ext uri="{FF2B5EF4-FFF2-40B4-BE49-F238E27FC236}">
                <a16:creationId xmlns:a16="http://schemas.microsoft.com/office/drawing/2014/main" id="{7ECDE900-28B7-ACE1-BA60-54BB805052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3C0159-47E5-4508-8A25-39273AEA6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96" y="1710627"/>
            <a:ext cx="7647208" cy="343674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21C94C-29C7-2E03-3A22-24320EF4AE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E7447BEB-0F4B-4A9A-B35D-969C55CDA675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891AD708-C834-7B2B-947E-70143172C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76200"/>
            <a:ext cx="9144000" cy="990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en-US" sz="3200" i="0" baseline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CE78716E-9AC6-F80B-33EA-6EB861531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35012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i="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12-1-3   CSMA/CD</a:t>
            </a:r>
          </a:p>
        </p:txBody>
      </p:sp>
      <p:sp>
        <p:nvSpPr>
          <p:cNvPr id="565252" name="Text Box 4">
            <a:extLst>
              <a:ext uri="{FF2B5EF4-FFF2-40B4-BE49-F238E27FC236}">
                <a16:creationId xmlns:a16="http://schemas.microsoft.com/office/drawing/2014/main" id="{9E07A26E-E7B9-F6B8-AEF2-5CE69A46C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 sz="1800" i="0" baseline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A25EBD-C76E-46DE-9470-4BABB9B55B0C}"/>
              </a:ext>
            </a:extLst>
          </p:cNvPr>
          <p:cNvSpPr txBox="1"/>
          <p:nvPr/>
        </p:nvSpPr>
        <p:spPr>
          <a:xfrm>
            <a:off x="390525" y="1295400"/>
            <a:ext cx="803275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GB" sz="2400" i="0" baseline="0" dirty="0">
                <a:cs typeface="Times New Roman" panose="02020603050405020304" pitchFamily="18" charset="0"/>
              </a:rPr>
              <a:t>Carrier Sense Multiple Access with Collision Detection </a:t>
            </a:r>
          </a:p>
          <a:p>
            <a:pPr marL="457200" indent="-457200" algn="l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GB" sz="2400" b="0" i="0" baseline="0" dirty="0">
                <a:cs typeface="Times New Roman" panose="02020603050405020304" pitchFamily="18" charset="0"/>
              </a:rPr>
              <a:t>The CSMA method does not specify the procedure following a collision</a:t>
            </a:r>
          </a:p>
          <a:p>
            <a:pPr marL="457200" indent="-457200" algn="l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GB" sz="2400" b="0" i="0" baseline="0" dirty="0">
                <a:cs typeface="Times New Roman" panose="02020603050405020304" pitchFamily="18" charset="0"/>
              </a:rPr>
              <a:t>CSMA/CD augments the algorithm to handle the collision</a:t>
            </a:r>
          </a:p>
          <a:p>
            <a:pPr marL="457200" indent="-457200" algn="l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GB" sz="2400" b="0" i="0" baseline="0" dirty="0">
                <a:cs typeface="Times New Roman" panose="02020603050405020304" pitchFamily="18" charset="0"/>
              </a:rPr>
              <a:t>The medium is monitored continuously by each station</a:t>
            </a:r>
          </a:p>
          <a:p>
            <a:pPr marL="457200" indent="-457200" algn="l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GB" sz="2400" b="0" i="0" baseline="0" dirty="0">
                <a:cs typeface="Times New Roman" panose="02020603050405020304" pitchFamily="18" charset="0"/>
              </a:rPr>
              <a:t>If there is a collision,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GB" sz="2400" i="0" baseline="0" dirty="0">
                <a:cs typeface="Times New Roman" panose="02020603050405020304" pitchFamily="18" charset="0"/>
              </a:rPr>
              <a:t>Immediately aborts transmission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GB" sz="2400" i="0" baseline="0" dirty="0">
                <a:cs typeface="Times New Roman" panose="02020603050405020304" pitchFamily="18" charset="0"/>
              </a:rPr>
              <a:t>The frame is sent again</a:t>
            </a:r>
          </a:p>
        </p:txBody>
      </p:sp>
    </p:spTree>
    <p:extLst>
      <p:ext uri="{BB962C8B-B14F-4D97-AF65-F5344CB8AC3E}">
        <p14:creationId xmlns:p14="http://schemas.microsoft.com/office/powerpoint/2010/main" val="109831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98FAB1-D415-001E-8676-9FCD8BD590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C17ABCB1-A245-4D95-84A2-68FE7A89A4EE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1102850" name="Line 2">
            <a:extLst>
              <a:ext uri="{FF2B5EF4-FFF2-40B4-BE49-F238E27FC236}">
                <a16:creationId xmlns:a16="http://schemas.microsoft.com/office/drawing/2014/main" id="{03F6CC5F-DA9F-E582-6650-0A5AF27999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2851" name="Line 3">
            <a:extLst>
              <a:ext uri="{FF2B5EF4-FFF2-40B4-BE49-F238E27FC236}">
                <a16:creationId xmlns:a16="http://schemas.microsoft.com/office/drawing/2014/main" id="{891834DD-1DD5-B4B8-2405-F4183BEA9B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2852" name="Text Box 4">
            <a:extLst>
              <a:ext uri="{FF2B5EF4-FFF2-40B4-BE49-F238E27FC236}">
                <a16:creationId xmlns:a16="http://schemas.microsoft.com/office/drawing/2014/main" id="{6E1CEAAD-59DD-5DB7-2076-DAD871E85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848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0" baseline="0">
                <a:solidFill>
                  <a:schemeClr val="folHlink"/>
                </a:solidFill>
              </a:rPr>
              <a:t>Figure 12.12  </a:t>
            </a:r>
            <a:r>
              <a:rPr lang="en-US" altLang="en-US" sz="2000" baseline="0"/>
              <a:t>Collision of the first bit in CSMA/CD</a:t>
            </a:r>
          </a:p>
        </p:txBody>
      </p:sp>
      <p:sp>
        <p:nvSpPr>
          <p:cNvPr id="1102853" name="Line 5">
            <a:extLst>
              <a:ext uri="{FF2B5EF4-FFF2-40B4-BE49-F238E27FC236}">
                <a16:creationId xmlns:a16="http://schemas.microsoft.com/office/drawing/2014/main" id="{8CE00E19-B6F5-DC19-30EB-C3F3402CA5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02855" name="Picture 7">
            <a:extLst>
              <a:ext uri="{FF2B5EF4-FFF2-40B4-BE49-F238E27FC236}">
                <a16:creationId xmlns:a16="http://schemas.microsoft.com/office/drawing/2014/main" id="{9DB6E2DB-AD84-82F7-7A56-3E7323E75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2033588"/>
            <a:ext cx="9058275" cy="2614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2285E6-2E6A-C959-2554-5FAFEE19CA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FF0A4A83-0E16-4ED7-A985-9883C801B1AC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104898" name="Line 2">
            <a:extLst>
              <a:ext uri="{FF2B5EF4-FFF2-40B4-BE49-F238E27FC236}">
                <a16:creationId xmlns:a16="http://schemas.microsoft.com/office/drawing/2014/main" id="{F4B50304-4326-781B-F491-4FF467CA70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4899" name="Line 3">
            <a:extLst>
              <a:ext uri="{FF2B5EF4-FFF2-40B4-BE49-F238E27FC236}">
                <a16:creationId xmlns:a16="http://schemas.microsoft.com/office/drawing/2014/main" id="{0A95BB4D-91C3-C824-3862-20B85936E0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4900" name="Text Box 4">
            <a:extLst>
              <a:ext uri="{FF2B5EF4-FFF2-40B4-BE49-F238E27FC236}">
                <a16:creationId xmlns:a16="http://schemas.microsoft.com/office/drawing/2014/main" id="{BAE3A34C-41CF-490F-96D9-9996FEE8F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7054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0" baseline="0">
                <a:solidFill>
                  <a:schemeClr val="folHlink"/>
                </a:solidFill>
              </a:rPr>
              <a:t>Figure 12.13 </a:t>
            </a:r>
            <a:r>
              <a:rPr lang="en-US" altLang="en-US" sz="2000" baseline="0"/>
              <a:t>Collision and abortion in CSMA/CD</a:t>
            </a:r>
            <a:endParaRPr lang="en-US" altLang="en-US" sz="3200" b="0" i="0" baseline="-18000">
              <a:latin typeface="Arial" panose="020B0604020202020204" pitchFamily="34" charset="0"/>
            </a:endParaRPr>
          </a:p>
          <a:p>
            <a:endParaRPr lang="en-US" altLang="en-US" sz="2000" baseline="0"/>
          </a:p>
        </p:txBody>
      </p:sp>
      <p:sp>
        <p:nvSpPr>
          <p:cNvPr id="1104901" name="Line 5">
            <a:extLst>
              <a:ext uri="{FF2B5EF4-FFF2-40B4-BE49-F238E27FC236}">
                <a16:creationId xmlns:a16="http://schemas.microsoft.com/office/drawing/2014/main" id="{FCCB028E-047E-60B0-6613-AFAC5827A3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04903" name="Picture 7">
            <a:extLst>
              <a:ext uri="{FF2B5EF4-FFF2-40B4-BE49-F238E27FC236}">
                <a16:creationId xmlns:a16="http://schemas.microsoft.com/office/drawing/2014/main" id="{F00C638A-9F05-489E-9C22-EE340FF93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" y="2081213"/>
            <a:ext cx="8994775" cy="2947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2285E6-2E6A-C959-2554-5FAFEE19CA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FF0A4A83-0E16-4ED7-A985-9883C801B1AC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104898" name="Line 2">
            <a:extLst>
              <a:ext uri="{FF2B5EF4-FFF2-40B4-BE49-F238E27FC236}">
                <a16:creationId xmlns:a16="http://schemas.microsoft.com/office/drawing/2014/main" id="{F4B50304-4326-781B-F491-4FF467CA70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4899" name="Line 3">
            <a:extLst>
              <a:ext uri="{FF2B5EF4-FFF2-40B4-BE49-F238E27FC236}">
                <a16:creationId xmlns:a16="http://schemas.microsoft.com/office/drawing/2014/main" id="{0A95BB4D-91C3-C824-3862-20B85936E0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4900" name="Text Box 4">
            <a:extLst>
              <a:ext uri="{FF2B5EF4-FFF2-40B4-BE49-F238E27FC236}">
                <a16:creationId xmlns:a16="http://schemas.microsoft.com/office/drawing/2014/main" id="{BAE3A34C-41CF-490F-96D9-9996FEE8F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05404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0" baseline="0" dirty="0"/>
              <a:t>Minimum Frame Size</a:t>
            </a:r>
            <a:endParaRPr lang="en-US" altLang="en-US" sz="3200" i="0" baseline="-18000" dirty="0">
              <a:latin typeface="Arial" panose="020B0604020202020204" pitchFamily="34" charset="0"/>
            </a:endParaRPr>
          </a:p>
          <a:p>
            <a:endParaRPr lang="en-US" altLang="en-US" sz="2000" baseline="0" dirty="0"/>
          </a:p>
        </p:txBody>
      </p:sp>
      <p:sp>
        <p:nvSpPr>
          <p:cNvPr id="1104901" name="Line 5">
            <a:extLst>
              <a:ext uri="{FF2B5EF4-FFF2-40B4-BE49-F238E27FC236}">
                <a16:creationId xmlns:a16="http://schemas.microsoft.com/office/drawing/2014/main" id="{FCCB028E-047E-60B0-6613-AFAC5827A3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F5D853-33F8-460E-85CB-155FD92965BD}"/>
              </a:ext>
            </a:extLst>
          </p:cNvPr>
          <p:cNvSpPr/>
          <p:nvPr/>
        </p:nvSpPr>
        <p:spPr bwMode="auto">
          <a:xfrm>
            <a:off x="304800" y="2605687"/>
            <a:ext cx="8458200" cy="11736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000" i="0" u="none" strike="noStrike" baseline="0" dirty="0">
                <a:cs typeface="Times New Roman" panose="02020603050405020304" pitchFamily="18" charset="0"/>
              </a:rPr>
              <a:t>The frame transmission </a:t>
            </a:r>
            <a:r>
              <a:rPr lang="en-GB" sz="3000" i="0" u="none" strike="noStrike" baseline="0" dirty="0">
                <a:cs typeface="Times New Roman" panose="02020603050405020304" pitchFamily="18" charset="0"/>
              </a:rPr>
              <a:t>time </a:t>
            </a:r>
            <a:r>
              <a:rPr lang="en-US" altLang="en-US" sz="3000" baseline="0" dirty="0" err="1"/>
              <a:t>T</a:t>
            </a:r>
            <a:r>
              <a:rPr lang="en-US" altLang="en-US" sz="3000" baseline="-16000" dirty="0" err="1"/>
              <a:t>fr</a:t>
            </a:r>
            <a:r>
              <a:rPr lang="en-GB" sz="3000" i="1" u="none" strike="noStrike" baseline="0" dirty="0">
                <a:cs typeface="Times New Roman" panose="02020603050405020304" pitchFamily="18" charset="0"/>
              </a:rPr>
              <a:t> </a:t>
            </a:r>
            <a:r>
              <a:rPr lang="en-GB" sz="3000" i="0" u="none" strike="noStrike" baseline="0" dirty="0">
                <a:cs typeface="Times New Roman" panose="02020603050405020304" pitchFamily="18" charset="0"/>
              </a:rPr>
              <a:t>must be at least two times the maximum propagation time </a:t>
            </a:r>
            <a:r>
              <a:rPr lang="en-US" altLang="en-US" sz="3000" baseline="0" dirty="0" err="1"/>
              <a:t>T</a:t>
            </a:r>
            <a:r>
              <a:rPr lang="en-US" altLang="en-US" sz="3000" baseline="-16000" dirty="0" err="1"/>
              <a:t>p</a:t>
            </a:r>
            <a:endParaRPr kumimoji="0" lang="en-US" sz="3000" i="1" u="none" strike="noStrike" cap="none" normalizeH="0" baseline="-1000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681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72A0C4-D7EE-613B-AED1-64B9F25F32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164402A7-8592-4E6C-AF88-5D6B201E3BFC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1170434" name="Rectangle 2">
            <a:extLst>
              <a:ext uri="{FF2B5EF4-FFF2-40B4-BE49-F238E27FC236}">
                <a16:creationId xmlns:a16="http://schemas.microsoft.com/office/drawing/2014/main" id="{5B537090-5AE1-AE80-DD42-FFD4618F6A8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70435" name="Rectangle 3">
            <a:extLst>
              <a:ext uri="{FF2B5EF4-FFF2-40B4-BE49-F238E27FC236}">
                <a16:creationId xmlns:a16="http://schemas.microsoft.com/office/drawing/2014/main" id="{0B71418C-AF75-F6A1-BB19-95BF75F3326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70436" name="Rectangle 4">
            <a:extLst>
              <a:ext uri="{FF2B5EF4-FFF2-40B4-BE49-F238E27FC236}">
                <a16:creationId xmlns:a16="http://schemas.microsoft.com/office/drawing/2014/main" id="{7594A092-079A-FA6C-F7D7-BBEEE3B2C34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70437" name="Rectangle 5">
            <a:extLst>
              <a:ext uri="{FF2B5EF4-FFF2-40B4-BE49-F238E27FC236}">
                <a16:creationId xmlns:a16="http://schemas.microsoft.com/office/drawing/2014/main" id="{C27F0478-9640-27EB-F05C-15D63B36067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70438" name="Rectangle 6">
            <a:extLst>
              <a:ext uri="{FF2B5EF4-FFF2-40B4-BE49-F238E27FC236}">
                <a16:creationId xmlns:a16="http://schemas.microsoft.com/office/drawing/2014/main" id="{6AA8761D-C310-0F86-B351-51DA9992107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70439" name="Rectangle 7">
            <a:extLst>
              <a:ext uri="{FF2B5EF4-FFF2-40B4-BE49-F238E27FC236}">
                <a16:creationId xmlns:a16="http://schemas.microsoft.com/office/drawing/2014/main" id="{CB3760B5-E114-C524-F9B0-70C73254BB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70440" name="Rectangle 8">
            <a:extLst>
              <a:ext uri="{FF2B5EF4-FFF2-40B4-BE49-F238E27FC236}">
                <a16:creationId xmlns:a16="http://schemas.microsoft.com/office/drawing/2014/main" id="{62F087F1-6160-B804-F3A0-CA2EED4E6AC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70441" name="Rectangle 9">
            <a:extLst>
              <a:ext uri="{FF2B5EF4-FFF2-40B4-BE49-F238E27FC236}">
                <a16:creationId xmlns:a16="http://schemas.microsoft.com/office/drawing/2014/main" id="{B766FD48-F5F7-3603-BB0E-60DFA924C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73138"/>
            <a:ext cx="8686800" cy="2227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 baseline="0"/>
              <a:t>A network using CSMA/CD has a bandwidth of 10 Mbps. If the maximum propagation time (including the delays in the devices and ignoring the time needed to send a jamming signal, as we see later) is 25.6 μs, what is the minimum size of the frame?</a:t>
            </a:r>
          </a:p>
        </p:txBody>
      </p:sp>
      <p:sp>
        <p:nvSpPr>
          <p:cNvPr id="1170442" name="Text Box 10">
            <a:extLst>
              <a:ext uri="{FF2B5EF4-FFF2-40B4-BE49-F238E27FC236}">
                <a16:creationId xmlns:a16="http://schemas.microsoft.com/office/drawing/2014/main" id="{D3727EEF-6883-FF72-B034-99AEE2999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baseline="0" dirty="0">
                <a:solidFill>
                  <a:schemeClr val="hlink"/>
                </a:solidFill>
              </a:rPr>
              <a:t>Example 12.5</a:t>
            </a:r>
          </a:p>
        </p:txBody>
      </p:sp>
      <p:sp>
        <p:nvSpPr>
          <p:cNvPr id="1170443" name="Rectangle 11">
            <a:extLst>
              <a:ext uri="{FF2B5EF4-FFF2-40B4-BE49-F238E27FC236}">
                <a16:creationId xmlns:a16="http://schemas.microsoft.com/office/drawing/2014/main" id="{BBBCE4FA-F9E1-87A9-0F82-BEE51969B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276600"/>
            <a:ext cx="8686800" cy="3081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 baseline="0" dirty="0">
                <a:solidFill>
                  <a:schemeClr val="hlink"/>
                </a:solidFill>
              </a:rPr>
              <a:t>Solution</a:t>
            </a:r>
          </a:p>
          <a:p>
            <a:pPr algn="just"/>
            <a:r>
              <a:rPr lang="en-US" altLang="en-US" baseline="0" dirty="0"/>
              <a:t>The frame transmission time is </a:t>
            </a:r>
            <a:r>
              <a:rPr lang="en-US" altLang="en-US" baseline="0" dirty="0" err="1"/>
              <a:t>T</a:t>
            </a:r>
            <a:r>
              <a:rPr lang="en-US" altLang="en-US" baseline="-16000" dirty="0" err="1"/>
              <a:t>fr</a:t>
            </a:r>
            <a:r>
              <a:rPr lang="en-US" altLang="en-US" baseline="0" dirty="0"/>
              <a:t> = 2 × </a:t>
            </a:r>
            <a:r>
              <a:rPr lang="en-US" altLang="en-US" baseline="0" dirty="0" err="1"/>
              <a:t>T</a:t>
            </a:r>
            <a:r>
              <a:rPr lang="en-US" altLang="en-US" baseline="-14000" dirty="0" err="1"/>
              <a:t>p</a:t>
            </a:r>
            <a:r>
              <a:rPr lang="en-US" altLang="en-US" baseline="0" dirty="0"/>
              <a:t> = 51.2 </a:t>
            </a:r>
            <a:r>
              <a:rPr lang="en-US" altLang="en-US" baseline="0" dirty="0" err="1"/>
              <a:t>μs</a:t>
            </a:r>
            <a:r>
              <a:rPr lang="en-US" altLang="en-US" baseline="0" dirty="0"/>
              <a:t>. This means, in the worst case, a station needs to transmit for a period of 51.2 </a:t>
            </a:r>
            <a:r>
              <a:rPr lang="en-US" altLang="en-US" baseline="0" dirty="0" err="1"/>
              <a:t>μs</a:t>
            </a:r>
            <a:r>
              <a:rPr lang="en-US" altLang="en-US" baseline="0" dirty="0"/>
              <a:t> to detect the collision. The minimum size of the frame is 10 Mbps × 51.2 </a:t>
            </a:r>
            <a:r>
              <a:rPr lang="en-US" altLang="en-US" baseline="0" dirty="0" err="1"/>
              <a:t>μs</a:t>
            </a:r>
            <a:r>
              <a:rPr lang="en-US" altLang="en-US" baseline="0" dirty="0"/>
              <a:t> = 512 bits or 64 bytes. This is actually the minimum size of the frame for Standard Ethernet.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BB8F32-ACC7-98A7-8311-B1430CD26B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CC2F1CF1-F76B-4665-8FF6-D43645069FDC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1106946" name="Line 2">
            <a:extLst>
              <a:ext uri="{FF2B5EF4-FFF2-40B4-BE49-F238E27FC236}">
                <a16:creationId xmlns:a16="http://schemas.microsoft.com/office/drawing/2014/main" id="{E749B8EE-D09F-BDF6-CEA8-C2C1DDBC41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947" name="Line 3">
            <a:extLst>
              <a:ext uri="{FF2B5EF4-FFF2-40B4-BE49-F238E27FC236}">
                <a16:creationId xmlns:a16="http://schemas.microsoft.com/office/drawing/2014/main" id="{AE7FB787-3232-FDF3-CCD7-DC4798FBBA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948" name="Text Box 4">
            <a:extLst>
              <a:ext uri="{FF2B5EF4-FFF2-40B4-BE49-F238E27FC236}">
                <a16:creationId xmlns:a16="http://schemas.microsoft.com/office/drawing/2014/main" id="{C47387D5-FE3B-87B3-6AF5-0CB89C71B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387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0" baseline="0">
                <a:solidFill>
                  <a:schemeClr val="folHlink"/>
                </a:solidFill>
              </a:rPr>
              <a:t>Figure 12.14  </a:t>
            </a:r>
            <a:r>
              <a:rPr lang="en-US" altLang="en-US" sz="2000" baseline="0"/>
              <a:t>Flow diagram for the CSMA/CD</a:t>
            </a:r>
          </a:p>
        </p:txBody>
      </p:sp>
      <p:sp>
        <p:nvSpPr>
          <p:cNvPr id="1106949" name="Line 5">
            <a:extLst>
              <a:ext uri="{FF2B5EF4-FFF2-40B4-BE49-F238E27FC236}">
                <a16:creationId xmlns:a16="http://schemas.microsoft.com/office/drawing/2014/main" id="{AF1CC30A-E4B3-A658-B3F9-D71B26E8A6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06951" name="Picture 7">
            <a:extLst>
              <a:ext uri="{FF2B5EF4-FFF2-40B4-BE49-F238E27FC236}">
                <a16:creationId xmlns:a16="http://schemas.microsoft.com/office/drawing/2014/main" id="{B7A4E594-4CCC-27EA-6C89-F3A51B7A6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813" y="1012825"/>
            <a:ext cx="6297612" cy="508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5A54BF-F2F8-247B-7799-DBD2866BC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7DFC2257-596C-4799-98CC-5F7D77CF2790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1108994" name="Line 2">
            <a:extLst>
              <a:ext uri="{FF2B5EF4-FFF2-40B4-BE49-F238E27FC236}">
                <a16:creationId xmlns:a16="http://schemas.microsoft.com/office/drawing/2014/main" id="{89D35550-D032-8829-AE27-24647AA124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8995" name="Line 3">
            <a:extLst>
              <a:ext uri="{FF2B5EF4-FFF2-40B4-BE49-F238E27FC236}">
                <a16:creationId xmlns:a16="http://schemas.microsoft.com/office/drawing/2014/main" id="{D77FFECC-7583-898B-30E0-E40EA8A0AA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8996" name="Text Box 4">
            <a:extLst>
              <a:ext uri="{FF2B5EF4-FFF2-40B4-BE49-F238E27FC236}">
                <a16:creationId xmlns:a16="http://schemas.microsoft.com/office/drawing/2014/main" id="{1DF14BD5-191D-C32B-501C-AC62E8683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7691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0" baseline="0">
                <a:solidFill>
                  <a:schemeClr val="folHlink"/>
                </a:solidFill>
              </a:rPr>
              <a:t>Figure 12.15  </a:t>
            </a:r>
            <a:r>
              <a:rPr lang="en-US" altLang="en-US" sz="2000" baseline="0"/>
              <a:t>Energy level during transmission, idleness, or collision</a:t>
            </a:r>
          </a:p>
        </p:txBody>
      </p:sp>
      <p:sp>
        <p:nvSpPr>
          <p:cNvPr id="1108997" name="Line 5">
            <a:extLst>
              <a:ext uri="{FF2B5EF4-FFF2-40B4-BE49-F238E27FC236}">
                <a16:creationId xmlns:a16="http://schemas.microsoft.com/office/drawing/2014/main" id="{9E41BEB9-144B-3BE6-5FD3-A99784287C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08999" name="Picture 7">
            <a:extLst>
              <a:ext uri="{FF2B5EF4-FFF2-40B4-BE49-F238E27FC236}">
                <a16:creationId xmlns:a16="http://schemas.microsoft.com/office/drawing/2014/main" id="{EDCD695C-1B37-22F0-A6CE-E3709360E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388" y="2378075"/>
            <a:ext cx="7212012" cy="227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21C94C-29C7-2E03-3A22-24320EF4AE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E7447BEB-0F4B-4A9A-B35D-969C55CDA675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891AD708-C834-7B2B-947E-70143172C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76200"/>
            <a:ext cx="9144000" cy="990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en-US" sz="3200" i="0" baseline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CE78716E-9AC6-F80B-33EA-6EB861531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35012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i="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12-1-4   CSMA/CA</a:t>
            </a:r>
          </a:p>
        </p:txBody>
      </p:sp>
      <p:sp>
        <p:nvSpPr>
          <p:cNvPr id="565252" name="Text Box 4">
            <a:extLst>
              <a:ext uri="{FF2B5EF4-FFF2-40B4-BE49-F238E27FC236}">
                <a16:creationId xmlns:a16="http://schemas.microsoft.com/office/drawing/2014/main" id="{9E07A26E-E7B9-F6B8-AEF2-5CE69A46C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 sz="1800" i="0" baseline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A25EBD-C76E-46DE-9470-4BABB9B55B0C}"/>
              </a:ext>
            </a:extLst>
          </p:cNvPr>
          <p:cNvSpPr txBox="1"/>
          <p:nvPr/>
        </p:nvSpPr>
        <p:spPr>
          <a:xfrm>
            <a:off x="361950" y="2209800"/>
            <a:ext cx="803275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GB" sz="2400" i="0" baseline="0" dirty="0">
                <a:cs typeface="Times New Roman" panose="02020603050405020304" pitchFamily="18" charset="0"/>
              </a:rPr>
              <a:t>Carrier Sense Multiple Access with Collision Avoidance </a:t>
            </a:r>
          </a:p>
          <a:p>
            <a:pPr marL="457200" indent="-457200" algn="l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GB" sz="2400" b="0" i="0" baseline="0" dirty="0">
                <a:cs typeface="Times New Roman" panose="02020603050405020304" pitchFamily="18" charset="0"/>
              </a:rPr>
              <a:t>Collisions are avoided using three strategies: 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GB" sz="2400" i="0" baseline="0" dirty="0">
                <a:cs typeface="Times New Roman" panose="02020603050405020304" pitchFamily="18" charset="0"/>
              </a:rPr>
              <a:t>The interframe space (IFS)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GB" sz="2400" i="0" baseline="0" dirty="0">
                <a:cs typeface="Times New Roman" panose="02020603050405020304" pitchFamily="18" charset="0"/>
              </a:rPr>
              <a:t>The contention window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GB" sz="2400" i="0" baseline="0" dirty="0">
                <a:cs typeface="Times New Roman" panose="02020603050405020304" pitchFamily="18" charset="0"/>
              </a:rPr>
              <a:t>Acknowledgment</a:t>
            </a:r>
          </a:p>
        </p:txBody>
      </p:sp>
    </p:spTree>
    <p:extLst>
      <p:ext uri="{BB962C8B-B14F-4D97-AF65-F5344CB8AC3E}">
        <p14:creationId xmlns:p14="http://schemas.microsoft.com/office/powerpoint/2010/main" val="7917214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D3A631-A094-6776-63D4-930023A547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A1221741-94CD-4544-A576-F995C032D3B1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111042" name="Line 2">
            <a:extLst>
              <a:ext uri="{FF2B5EF4-FFF2-40B4-BE49-F238E27FC236}">
                <a16:creationId xmlns:a16="http://schemas.microsoft.com/office/drawing/2014/main" id="{C6798AF4-673F-9389-59C1-B5CD0E525C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43" name="Line 3">
            <a:extLst>
              <a:ext uri="{FF2B5EF4-FFF2-40B4-BE49-F238E27FC236}">
                <a16:creationId xmlns:a16="http://schemas.microsoft.com/office/drawing/2014/main" id="{ABD4448B-EE99-128E-8790-C84C039A38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44" name="Text Box 4">
            <a:extLst>
              <a:ext uri="{FF2B5EF4-FFF2-40B4-BE49-F238E27FC236}">
                <a16:creationId xmlns:a16="http://schemas.microsoft.com/office/drawing/2014/main" id="{460989C1-6221-74A3-BD3E-234AA6259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175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0" baseline="0">
                <a:solidFill>
                  <a:schemeClr val="folHlink"/>
                </a:solidFill>
              </a:rPr>
              <a:t>Figure 12.16  </a:t>
            </a:r>
            <a:r>
              <a:rPr lang="en-US" altLang="en-US" sz="2000" baseline="0"/>
              <a:t>Timing in CSMA/CA</a:t>
            </a:r>
          </a:p>
        </p:txBody>
      </p:sp>
      <p:sp>
        <p:nvSpPr>
          <p:cNvPr id="1111045" name="Line 5">
            <a:extLst>
              <a:ext uri="{FF2B5EF4-FFF2-40B4-BE49-F238E27FC236}">
                <a16:creationId xmlns:a16="http://schemas.microsoft.com/office/drawing/2014/main" id="{E8889331-573A-939F-14A7-4F261DB2D1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11047" name="Picture 7">
            <a:extLst>
              <a:ext uri="{FF2B5EF4-FFF2-40B4-BE49-F238E27FC236}">
                <a16:creationId xmlns:a16="http://schemas.microsoft.com/office/drawing/2014/main" id="{7553D244-D83C-4CDE-23C2-6AB5DED65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2438400"/>
            <a:ext cx="8510587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AAB1BD-BA74-F34C-7FCB-5E9F57B77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54E17571-D987-4F7F-8477-94491532D708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1143810" name="Rectangle 2">
            <a:extLst>
              <a:ext uri="{FF2B5EF4-FFF2-40B4-BE49-F238E27FC236}">
                <a16:creationId xmlns:a16="http://schemas.microsoft.com/office/drawing/2014/main" id="{53D2C829-508E-8437-ADB8-178381F5EC4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43811" name="Rectangle 3">
            <a:extLst>
              <a:ext uri="{FF2B5EF4-FFF2-40B4-BE49-F238E27FC236}">
                <a16:creationId xmlns:a16="http://schemas.microsoft.com/office/drawing/2014/main" id="{2974B33A-6C25-E997-2309-951DC828895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43812" name="Rectangle 4">
            <a:extLst>
              <a:ext uri="{FF2B5EF4-FFF2-40B4-BE49-F238E27FC236}">
                <a16:creationId xmlns:a16="http://schemas.microsoft.com/office/drawing/2014/main" id="{9024B3E0-E6A9-E51A-AA25-110527EFFE7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43813" name="Rectangle 5">
            <a:extLst>
              <a:ext uri="{FF2B5EF4-FFF2-40B4-BE49-F238E27FC236}">
                <a16:creationId xmlns:a16="http://schemas.microsoft.com/office/drawing/2014/main" id="{663B1172-33C4-184D-CFD3-E777BF09DAC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43814" name="Rectangle 6">
            <a:extLst>
              <a:ext uri="{FF2B5EF4-FFF2-40B4-BE49-F238E27FC236}">
                <a16:creationId xmlns:a16="http://schemas.microsoft.com/office/drawing/2014/main" id="{06F9608F-046C-FDA1-CAC4-8C80EE7BF9B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43815" name="Rectangle 7">
            <a:extLst>
              <a:ext uri="{FF2B5EF4-FFF2-40B4-BE49-F238E27FC236}">
                <a16:creationId xmlns:a16="http://schemas.microsoft.com/office/drawing/2014/main" id="{8F1311A8-3EC8-A90E-4409-B80D5B8A529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43816" name="Rectangle 8">
            <a:extLst>
              <a:ext uri="{FF2B5EF4-FFF2-40B4-BE49-F238E27FC236}">
                <a16:creationId xmlns:a16="http://schemas.microsoft.com/office/drawing/2014/main" id="{78D576A2-2EA7-4B99-3051-322CB1EABFC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43817" name="Line 9">
            <a:extLst>
              <a:ext uri="{FF2B5EF4-FFF2-40B4-BE49-F238E27FC236}">
                <a16:creationId xmlns:a16="http://schemas.microsoft.com/office/drawing/2014/main" id="{683F7363-BBF2-4F59-E779-C28CBF14F2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3818" name="Line 10">
            <a:extLst>
              <a:ext uri="{FF2B5EF4-FFF2-40B4-BE49-F238E27FC236}">
                <a16:creationId xmlns:a16="http://schemas.microsoft.com/office/drawing/2014/main" id="{608A2129-3DBA-1DB5-DC38-04205BF37A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3819" name="Rectangle 11">
            <a:extLst>
              <a:ext uri="{FF2B5EF4-FFF2-40B4-BE49-F238E27FC236}">
                <a16:creationId xmlns:a16="http://schemas.microsoft.com/office/drawing/2014/main" id="{A273FE6E-3D98-A3D0-8216-781B0A336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3200" i="0" baseline="0">
                <a:latin typeface="Arial" panose="020B0604020202020204" pitchFamily="34" charset="0"/>
              </a:rPr>
              <a:t>In CSMA/CA, the IFS can also be used to define the priority of a station or a frame.</a:t>
            </a:r>
          </a:p>
        </p:txBody>
      </p:sp>
      <p:grpSp>
        <p:nvGrpSpPr>
          <p:cNvPr id="1143820" name="Group 12">
            <a:extLst>
              <a:ext uri="{FF2B5EF4-FFF2-40B4-BE49-F238E27FC236}">
                <a16:creationId xmlns:a16="http://schemas.microsoft.com/office/drawing/2014/main" id="{DDDCF521-ABD9-D2EC-B9A1-66813267BB7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1143821" name="Picture 13">
              <a:extLst>
                <a:ext uri="{FF2B5EF4-FFF2-40B4-BE49-F238E27FC236}">
                  <a16:creationId xmlns:a16="http://schemas.microsoft.com/office/drawing/2014/main" id="{375AE409-0978-176E-766D-15E21BCC0B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43822" name="Text Box 14">
              <a:extLst>
                <a:ext uri="{FF2B5EF4-FFF2-40B4-BE49-F238E27FC236}">
                  <a16:creationId xmlns:a16="http://schemas.microsoft.com/office/drawing/2014/main" id="{072646DA-09E3-1756-7BFB-9B53A4C3B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aseline="0">
                  <a:solidFill>
                    <a:schemeClr val="hlink"/>
                  </a:solidFill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71EA56-0863-925A-0157-9C596FEB15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914F7539-3A5A-4959-A07D-C0BDC9DA8570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1145858" name="Rectangle 2">
            <a:extLst>
              <a:ext uri="{FF2B5EF4-FFF2-40B4-BE49-F238E27FC236}">
                <a16:creationId xmlns:a16="http://schemas.microsoft.com/office/drawing/2014/main" id="{AAA9FD33-EDD4-ABDF-3C56-5C1B839D255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45859" name="Rectangle 3">
            <a:extLst>
              <a:ext uri="{FF2B5EF4-FFF2-40B4-BE49-F238E27FC236}">
                <a16:creationId xmlns:a16="http://schemas.microsoft.com/office/drawing/2014/main" id="{8B8AAE21-C170-86BE-C63C-FC8D6858355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45860" name="Rectangle 4">
            <a:extLst>
              <a:ext uri="{FF2B5EF4-FFF2-40B4-BE49-F238E27FC236}">
                <a16:creationId xmlns:a16="http://schemas.microsoft.com/office/drawing/2014/main" id="{C4A613B5-89FD-1DD1-79A8-8AC353FA053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45861" name="Rectangle 5">
            <a:extLst>
              <a:ext uri="{FF2B5EF4-FFF2-40B4-BE49-F238E27FC236}">
                <a16:creationId xmlns:a16="http://schemas.microsoft.com/office/drawing/2014/main" id="{ACC306AB-8074-7740-25F7-5331C881239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45862" name="Rectangle 6">
            <a:extLst>
              <a:ext uri="{FF2B5EF4-FFF2-40B4-BE49-F238E27FC236}">
                <a16:creationId xmlns:a16="http://schemas.microsoft.com/office/drawing/2014/main" id="{F547EA76-923E-2E7A-F62B-7958BA9442C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45863" name="Rectangle 7">
            <a:extLst>
              <a:ext uri="{FF2B5EF4-FFF2-40B4-BE49-F238E27FC236}">
                <a16:creationId xmlns:a16="http://schemas.microsoft.com/office/drawing/2014/main" id="{70298C54-AC21-9D4E-DAEA-6D75E8BF301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45864" name="Rectangle 8">
            <a:extLst>
              <a:ext uri="{FF2B5EF4-FFF2-40B4-BE49-F238E27FC236}">
                <a16:creationId xmlns:a16="http://schemas.microsoft.com/office/drawing/2014/main" id="{4D2BFA88-D6E5-5A43-FF37-D5721461FE0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145865" name="Line 9">
            <a:extLst>
              <a:ext uri="{FF2B5EF4-FFF2-40B4-BE49-F238E27FC236}">
                <a16:creationId xmlns:a16="http://schemas.microsoft.com/office/drawing/2014/main" id="{6B174392-1A8E-4532-8CB3-EF0F66FEF9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5866" name="Line 10">
            <a:extLst>
              <a:ext uri="{FF2B5EF4-FFF2-40B4-BE49-F238E27FC236}">
                <a16:creationId xmlns:a16="http://schemas.microsoft.com/office/drawing/2014/main" id="{70EB5A6C-03A0-482F-327B-4F55D32D4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410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5867" name="Rectangle 11">
            <a:extLst>
              <a:ext uri="{FF2B5EF4-FFF2-40B4-BE49-F238E27FC236}">
                <a16:creationId xmlns:a16="http://schemas.microsoft.com/office/drawing/2014/main" id="{6A00E32C-6B89-893D-9617-C4A452CDB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252888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3200" i="0" baseline="0">
                <a:latin typeface="Arial" panose="020B0604020202020204" pitchFamily="34" charset="0"/>
              </a:rPr>
              <a:t>In CSMA/CA, if the station finds the channel busy, it does not restart the timer of the contention window;</a:t>
            </a:r>
          </a:p>
          <a:p>
            <a:pPr algn="ctr"/>
            <a:r>
              <a:rPr lang="en-US" altLang="en-US" sz="3200" i="0" baseline="0">
                <a:latin typeface="Arial" panose="020B0604020202020204" pitchFamily="34" charset="0"/>
              </a:rPr>
              <a:t>it stops the timer and restarts it when the channel becomes idle.</a:t>
            </a:r>
          </a:p>
        </p:txBody>
      </p:sp>
      <p:grpSp>
        <p:nvGrpSpPr>
          <p:cNvPr id="1145868" name="Group 12">
            <a:extLst>
              <a:ext uri="{FF2B5EF4-FFF2-40B4-BE49-F238E27FC236}">
                <a16:creationId xmlns:a16="http://schemas.microsoft.com/office/drawing/2014/main" id="{D84E7349-CEDE-9390-C926-F00B3525AA7F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1145869" name="Picture 13">
              <a:extLst>
                <a:ext uri="{FF2B5EF4-FFF2-40B4-BE49-F238E27FC236}">
                  <a16:creationId xmlns:a16="http://schemas.microsoft.com/office/drawing/2014/main" id="{3B97C99C-75E6-E70F-FB2C-B75D495197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45870" name="Text Box 14">
              <a:extLst>
                <a:ext uri="{FF2B5EF4-FFF2-40B4-BE49-F238E27FC236}">
                  <a16:creationId xmlns:a16="http://schemas.microsoft.com/office/drawing/2014/main" id="{04F8DF89-F590-8582-1A7F-C536269220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aseline="0" dirty="0">
                  <a:solidFill>
                    <a:schemeClr val="hlink"/>
                  </a:solidFill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995112-CABB-459E-3665-3C358DAC1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6EDF5341-1618-4552-B5B5-20D4FF0D2A4F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1113090" name="Line 2">
            <a:extLst>
              <a:ext uri="{FF2B5EF4-FFF2-40B4-BE49-F238E27FC236}">
                <a16:creationId xmlns:a16="http://schemas.microsoft.com/office/drawing/2014/main" id="{B0C7F3A3-01E1-FA41-8921-BD16E6AE91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3091" name="Line 3">
            <a:extLst>
              <a:ext uri="{FF2B5EF4-FFF2-40B4-BE49-F238E27FC236}">
                <a16:creationId xmlns:a16="http://schemas.microsoft.com/office/drawing/2014/main" id="{4A067B4A-C1C5-318E-7A3D-79D6B9E62D7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3092" name="Text Box 4">
            <a:extLst>
              <a:ext uri="{FF2B5EF4-FFF2-40B4-BE49-F238E27FC236}">
                <a16:creationId xmlns:a16="http://schemas.microsoft.com/office/drawing/2014/main" id="{BD5926FC-C279-5F60-B52F-5031EDDFC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986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0" baseline="0">
                <a:solidFill>
                  <a:schemeClr val="folHlink"/>
                </a:solidFill>
              </a:rPr>
              <a:t>Figure 12.17  </a:t>
            </a:r>
            <a:r>
              <a:rPr lang="en-US" altLang="en-US" sz="2000" baseline="0"/>
              <a:t>Flow diagram for CSMA/CA</a:t>
            </a:r>
          </a:p>
        </p:txBody>
      </p:sp>
      <p:sp>
        <p:nvSpPr>
          <p:cNvPr id="1113093" name="Line 5">
            <a:extLst>
              <a:ext uri="{FF2B5EF4-FFF2-40B4-BE49-F238E27FC236}">
                <a16:creationId xmlns:a16="http://schemas.microsoft.com/office/drawing/2014/main" id="{2F3A335B-63B3-C27B-AE10-4F9154E6FA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13095" name="Picture 7">
            <a:extLst>
              <a:ext uri="{FF2B5EF4-FFF2-40B4-BE49-F238E27FC236}">
                <a16:creationId xmlns:a16="http://schemas.microsoft.com/office/drawing/2014/main" id="{9D372D73-9AA9-6DF6-FD12-130D1C42D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092200"/>
            <a:ext cx="3025775" cy="485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21C94C-29C7-2E03-3A22-24320EF4AE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E7447BEB-0F4B-4A9A-B35D-969C55CDA675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891AD708-C834-7B2B-947E-70143172C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3200" i="0" baseline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CE78716E-9AC6-F80B-33EA-6EB861531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586391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i="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12-2   CONTROLLED ACCESS</a:t>
            </a:r>
          </a:p>
        </p:txBody>
      </p:sp>
      <p:sp>
        <p:nvSpPr>
          <p:cNvPr id="565252" name="Text Box 4">
            <a:extLst>
              <a:ext uri="{FF2B5EF4-FFF2-40B4-BE49-F238E27FC236}">
                <a16:creationId xmlns:a16="http://schemas.microsoft.com/office/drawing/2014/main" id="{9E07A26E-E7B9-F6B8-AEF2-5CE69A46C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 sz="1800" i="0" baseline="0"/>
          </a:p>
        </p:txBody>
      </p:sp>
      <p:sp>
        <p:nvSpPr>
          <p:cNvPr id="565253" name="Rectangle 5">
            <a:extLst>
              <a:ext uri="{FF2B5EF4-FFF2-40B4-BE49-F238E27FC236}">
                <a16:creationId xmlns:a16="http://schemas.microsoft.com/office/drawing/2014/main" id="{F0681056-0919-4D23-3B3C-97A850EBF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438400"/>
            <a:ext cx="82296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en-US" baseline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 </a:t>
            </a:r>
            <a:r>
              <a:rPr lang="en-US" altLang="en-US" baseline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controlled access</a:t>
            </a:r>
            <a:r>
              <a:rPr lang="en-US" altLang="en-US" baseline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methods, </a:t>
            </a:r>
            <a:r>
              <a:rPr lang="en-GB" altLang="en-US" baseline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stations consult one another to find which station has the right to send. A station cannot send unless it has been authorized by other stations.</a:t>
            </a:r>
            <a:endParaRPr lang="en-US" altLang="en-US" baseline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717378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21C94C-29C7-2E03-3A22-24320EF4AE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E7447BEB-0F4B-4A9A-B35D-969C55CDA675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891AD708-C834-7B2B-947E-70143172C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en-US" sz="3200" i="0" baseline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CE78716E-9AC6-F80B-33EA-6EB861531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700525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i="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CONTROLLED ACCESS METHODS</a:t>
            </a:r>
          </a:p>
        </p:txBody>
      </p:sp>
      <p:sp>
        <p:nvSpPr>
          <p:cNvPr id="565252" name="Text Box 4">
            <a:extLst>
              <a:ext uri="{FF2B5EF4-FFF2-40B4-BE49-F238E27FC236}">
                <a16:creationId xmlns:a16="http://schemas.microsoft.com/office/drawing/2014/main" id="{9E07A26E-E7B9-F6B8-AEF2-5CE69A46C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 sz="1800" i="0" baseline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A25EBD-C76E-46DE-9470-4BABB9B55B0C}"/>
              </a:ext>
            </a:extLst>
          </p:cNvPr>
          <p:cNvSpPr txBox="1"/>
          <p:nvPr/>
        </p:nvSpPr>
        <p:spPr>
          <a:xfrm>
            <a:off x="288925" y="1219200"/>
            <a:ext cx="8032750" cy="5550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200" i="0" u="none" strike="noStrike" baseline="0" dirty="0">
                <a:solidFill>
                  <a:srgbClr val="FF0000"/>
                </a:solidFill>
                <a:cs typeface="Times New Roman" panose="02020603050405020304" pitchFamily="18" charset="0"/>
              </a:rPr>
              <a:t>Reservation: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GB" sz="2000" b="0" i="0" u="none" strike="noStrike" baseline="0" dirty="0">
                <a:cs typeface="Times New Roman" panose="02020603050405020304" pitchFamily="18" charset="0"/>
              </a:rPr>
              <a:t>Time is divided into intervals 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GB" sz="2000" b="0" i="0" baseline="0" dirty="0">
                <a:cs typeface="Times New Roman" panose="02020603050405020304" pitchFamily="18" charset="0"/>
              </a:rPr>
              <a:t>A </a:t>
            </a:r>
            <a:r>
              <a:rPr lang="en-GB" sz="2000" b="0" i="0" u="none" strike="noStrike" baseline="0" dirty="0">
                <a:cs typeface="Times New Roman" panose="02020603050405020304" pitchFamily="18" charset="0"/>
              </a:rPr>
              <a:t>station needs to make a reservation before sending data</a:t>
            </a:r>
            <a:endParaRPr lang="en-GB" sz="2000" b="0" i="0" baseline="0" dirty="0"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2200" i="0" u="none" strike="noStrike" baseline="0" dirty="0">
                <a:solidFill>
                  <a:srgbClr val="FF0000"/>
                </a:solidFill>
                <a:cs typeface="Times New Roman" panose="02020603050405020304" pitchFamily="18" charset="0"/>
              </a:rPr>
              <a:t>Polling: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GB" sz="2000" b="0" i="0" u="none" strike="noStrike" baseline="0" dirty="0">
                <a:cs typeface="Times New Roman" panose="02020603050405020304" pitchFamily="18" charset="0"/>
              </a:rPr>
              <a:t>One device is designated as a primary station (</a:t>
            </a:r>
            <a:r>
              <a:rPr lang="en-GB" sz="2000" i="0" u="none" strike="noStrike" baseline="0" dirty="0">
                <a:cs typeface="Times New Roman" panose="02020603050405020304" pitchFamily="18" charset="0"/>
              </a:rPr>
              <a:t>master</a:t>
            </a:r>
            <a:r>
              <a:rPr lang="en-GB" sz="2000" b="0" i="0" u="none" strike="noStrike" baseline="0" dirty="0">
                <a:cs typeface="Times New Roman" panose="02020603050405020304" pitchFamily="18" charset="0"/>
              </a:rPr>
              <a:t>) and the other devices are secondary stations (</a:t>
            </a:r>
            <a:r>
              <a:rPr lang="en-GB" sz="2000" i="0" u="none" strike="noStrike" baseline="0" dirty="0">
                <a:cs typeface="Times New Roman" panose="02020603050405020304" pitchFamily="18" charset="0"/>
              </a:rPr>
              <a:t>slave</a:t>
            </a:r>
            <a:r>
              <a:rPr lang="en-GB" sz="2000" b="0" i="0" u="none" strike="noStrike" baseline="0" dirty="0"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GB" sz="2000" b="0" i="0" u="none" strike="noStrike" baseline="0" dirty="0">
                <a:cs typeface="Times New Roman" panose="02020603050405020304" pitchFamily="18" charset="0"/>
              </a:rPr>
              <a:t>Master node “invites” slave nodes to transmit in turn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GB" sz="2000" b="0" i="0" u="none" strike="noStrike" baseline="0" dirty="0">
                <a:cs typeface="Times New Roman" panose="02020603050405020304" pitchFamily="18" charset="0"/>
              </a:rPr>
              <a:t>Typically used with “dumb” slave devices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i="0" u="none" strike="noStrike" baseline="0" dirty="0">
                <a:cs typeface="Times New Roman" panose="02020603050405020304" pitchFamily="18" charset="0"/>
              </a:rPr>
              <a:t>Concerns: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GB" sz="2000" b="0" i="0" u="none" strike="noStrike" baseline="0" dirty="0">
                <a:cs typeface="Times New Roman" panose="02020603050405020304" pitchFamily="18" charset="0"/>
              </a:rPr>
              <a:t>polling overhead 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GB" sz="2000" b="0" i="0" u="none" strike="noStrike" baseline="0" dirty="0">
                <a:cs typeface="Times New Roman" panose="02020603050405020304" pitchFamily="18" charset="0"/>
              </a:rPr>
              <a:t>latency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GB" sz="2000" b="0" i="0" u="none" strike="noStrike" baseline="0" dirty="0">
                <a:cs typeface="Times New Roman" panose="02020603050405020304" pitchFamily="18" charset="0"/>
              </a:rPr>
              <a:t>single point of failure (master)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sz="2400" b="0" i="0" u="none" strike="noStrike" baseline="0" dirty="0">
              <a:solidFill>
                <a:srgbClr val="A03A3A"/>
              </a:solidFill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sz="2400" b="0" i="0" u="none" strike="noStrike" baseline="0" dirty="0">
              <a:solidFill>
                <a:srgbClr val="A03A3A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41" name="Group 55">
            <a:extLst>
              <a:ext uri="{FF2B5EF4-FFF2-40B4-BE49-F238E27FC236}">
                <a16:creationId xmlns:a16="http://schemas.microsoft.com/office/drawing/2014/main" id="{F5B925B0-0502-468C-A7FA-5E55E55D38E8}"/>
              </a:ext>
            </a:extLst>
          </p:cNvPr>
          <p:cNvGrpSpPr>
            <a:grpSpLocks/>
          </p:cNvGrpSpPr>
          <p:nvPr/>
        </p:nvGrpSpPr>
        <p:grpSpPr bwMode="auto">
          <a:xfrm>
            <a:off x="6235303" y="5170882"/>
            <a:ext cx="585788" cy="510778"/>
            <a:chOff x="-44" y="1473"/>
            <a:chExt cx="981" cy="1105"/>
          </a:xfrm>
        </p:grpSpPr>
        <p:pic>
          <p:nvPicPr>
            <p:cNvPr id="42" name="Picture 56" descr="desktop_computer_stylized_medium">
              <a:extLst>
                <a:ext uri="{FF2B5EF4-FFF2-40B4-BE49-F238E27FC236}">
                  <a16:creationId xmlns:a16="http://schemas.microsoft.com/office/drawing/2014/main" id="{AEE8CF78-0B2D-4A7F-9B09-BBFF2AE590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Freeform 57">
              <a:extLst>
                <a:ext uri="{FF2B5EF4-FFF2-40B4-BE49-F238E27FC236}">
                  <a16:creationId xmlns:a16="http://schemas.microsoft.com/office/drawing/2014/main" id="{864DB83B-A73B-4DC0-8418-6181890EFF5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100" dirty="0"/>
            </a:p>
          </p:txBody>
        </p:sp>
      </p:grpSp>
      <p:grpSp>
        <p:nvGrpSpPr>
          <p:cNvPr id="44" name="Group 58">
            <a:extLst>
              <a:ext uri="{FF2B5EF4-FFF2-40B4-BE49-F238E27FC236}">
                <a16:creationId xmlns:a16="http://schemas.microsoft.com/office/drawing/2014/main" id="{4C9F6951-2755-42D7-AC98-BE60D99CA3BD}"/>
              </a:ext>
            </a:extLst>
          </p:cNvPr>
          <p:cNvGrpSpPr>
            <a:grpSpLocks/>
          </p:cNvGrpSpPr>
          <p:nvPr/>
        </p:nvGrpSpPr>
        <p:grpSpPr bwMode="auto">
          <a:xfrm>
            <a:off x="6454378" y="4717252"/>
            <a:ext cx="585788" cy="510779"/>
            <a:chOff x="-44" y="1473"/>
            <a:chExt cx="981" cy="1105"/>
          </a:xfrm>
        </p:grpSpPr>
        <p:pic>
          <p:nvPicPr>
            <p:cNvPr id="45" name="Picture 59" descr="desktop_computer_stylized_medium">
              <a:extLst>
                <a:ext uri="{FF2B5EF4-FFF2-40B4-BE49-F238E27FC236}">
                  <a16:creationId xmlns:a16="http://schemas.microsoft.com/office/drawing/2014/main" id="{E4D791D9-F66D-42D5-BBD9-94B794E546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" name="Freeform 60">
              <a:extLst>
                <a:ext uri="{FF2B5EF4-FFF2-40B4-BE49-F238E27FC236}">
                  <a16:creationId xmlns:a16="http://schemas.microsoft.com/office/drawing/2014/main" id="{8863ECD8-CD3D-42D1-9298-FB7147A8A7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100" dirty="0"/>
            </a:p>
          </p:txBody>
        </p:sp>
      </p:grpSp>
      <p:grpSp>
        <p:nvGrpSpPr>
          <p:cNvPr id="47" name="Group 61">
            <a:extLst>
              <a:ext uri="{FF2B5EF4-FFF2-40B4-BE49-F238E27FC236}">
                <a16:creationId xmlns:a16="http://schemas.microsoft.com/office/drawing/2014/main" id="{49BAD2A1-3BF7-48CD-BD29-183502B2752C}"/>
              </a:ext>
            </a:extLst>
          </p:cNvPr>
          <p:cNvGrpSpPr>
            <a:grpSpLocks/>
          </p:cNvGrpSpPr>
          <p:nvPr/>
        </p:nvGrpSpPr>
        <p:grpSpPr bwMode="auto">
          <a:xfrm>
            <a:off x="6665118" y="4256482"/>
            <a:ext cx="585788" cy="510778"/>
            <a:chOff x="-44" y="1473"/>
            <a:chExt cx="981" cy="1105"/>
          </a:xfrm>
        </p:grpSpPr>
        <p:pic>
          <p:nvPicPr>
            <p:cNvPr id="48" name="Picture 62" descr="desktop_computer_stylized_medium">
              <a:extLst>
                <a:ext uri="{FF2B5EF4-FFF2-40B4-BE49-F238E27FC236}">
                  <a16:creationId xmlns:a16="http://schemas.microsoft.com/office/drawing/2014/main" id="{F8A492ED-0E02-437D-B84C-7C74313D75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" name="Freeform 63">
              <a:extLst>
                <a:ext uri="{FF2B5EF4-FFF2-40B4-BE49-F238E27FC236}">
                  <a16:creationId xmlns:a16="http://schemas.microsoft.com/office/drawing/2014/main" id="{66B8D1E2-CBE9-4E23-B932-5D6262EFAD8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100" dirty="0"/>
            </a:p>
          </p:txBody>
        </p:sp>
      </p:grpSp>
      <p:grpSp>
        <p:nvGrpSpPr>
          <p:cNvPr id="50" name="Group 64">
            <a:extLst>
              <a:ext uri="{FF2B5EF4-FFF2-40B4-BE49-F238E27FC236}">
                <a16:creationId xmlns:a16="http://schemas.microsoft.com/office/drawing/2014/main" id="{E6C8F3F0-9062-42C1-8EAC-6BB5ACF3A428}"/>
              </a:ext>
            </a:extLst>
          </p:cNvPr>
          <p:cNvGrpSpPr>
            <a:grpSpLocks/>
          </p:cNvGrpSpPr>
          <p:nvPr/>
        </p:nvGrpSpPr>
        <p:grpSpPr bwMode="auto">
          <a:xfrm>
            <a:off x="6891337" y="3820713"/>
            <a:ext cx="585788" cy="510778"/>
            <a:chOff x="-44" y="1473"/>
            <a:chExt cx="981" cy="1105"/>
          </a:xfrm>
        </p:grpSpPr>
        <p:pic>
          <p:nvPicPr>
            <p:cNvPr id="51" name="Picture 65" descr="desktop_computer_stylized_medium">
              <a:extLst>
                <a:ext uri="{FF2B5EF4-FFF2-40B4-BE49-F238E27FC236}">
                  <a16:creationId xmlns:a16="http://schemas.microsoft.com/office/drawing/2014/main" id="{069B1DE9-03DD-4ED9-A1BE-1AEFB0B912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" name="Freeform 66">
              <a:extLst>
                <a:ext uri="{FF2B5EF4-FFF2-40B4-BE49-F238E27FC236}">
                  <a16:creationId xmlns:a16="http://schemas.microsoft.com/office/drawing/2014/main" id="{7CA688C5-B7BA-43EE-BDA4-3587C08E4E4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100" dirty="0"/>
            </a:p>
          </p:txBody>
        </p:sp>
      </p:grpSp>
      <p:grpSp>
        <p:nvGrpSpPr>
          <p:cNvPr id="53" name="Group 67">
            <a:extLst>
              <a:ext uri="{FF2B5EF4-FFF2-40B4-BE49-F238E27FC236}">
                <a16:creationId xmlns:a16="http://schemas.microsoft.com/office/drawing/2014/main" id="{92637BC9-D713-4741-8952-A9A1D19A380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043862" y="4005259"/>
            <a:ext cx="585788" cy="510779"/>
            <a:chOff x="-44" y="1473"/>
            <a:chExt cx="981" cy="1105"/>
          </a:xfrm>
        </p:grpSpPr>
        <p:pic>
          <p:nvPicPr>
            <p:cNvPr id="54" name="Picture 68" descr="desktop_computer_stylized_medium">
              <a:extLst>
                <a:ext uri="{FF2B5EF4-FFF2-40B4-BE49-F238E27FC236}">
                  <a16:creationId xmlns:a16="http://schemas.microsoft.com/office/drawing/2014/main" id="{3168D576-6066-40E7-969E-DB4B2DBEF9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Freeform 69">
              <a:extLst>
                <a:ext uri="{FF2B5EF4-FFF2-40B4-BE49-F238E27FC236}">
                  <a16:creationId xmlns:a16="http://schemas.microsoft.com/office/drawing/2014/main" id="{4E0DB83D-0069-4175-BBDC-6C3E293CBAD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100" dirty="0"/>
            </a:p>
          </p:txBody>
        </p:sp>
      </p:grpSp>
      <p:sp>
        <p:nvSpPr>
          <p:cNvPr id="56" name="Line 24">
            <a:extLst>
              <a:ext uri="{FF2B5EF4-FFF2-40B4-BE49-F238E27FC236}">
                <a16:creationId xmlns:a16="http://schemas.microsoft.com/office/drawing/2014/main" id="{F929C5DE-7AC1-4AD7-A58A-0733D34FAA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00862" y="4093365"/>
            <a:ext cx="695325" cy="13299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100" dirty="0"/>
          </a:p>
        </p:txBody>
      </p:sp>
      <p:sp>
        <p:nvSpPr>
          <p:cNvPr id="57" name="Line 25">
            <a:extLst>
              <a:ext uri="{FF2B5EF4-FFF2-40B4-BE49-F238E27FC236}">
                <a16:creationId xmlns:a16="http://schemas.microsoft.com/office/drawing/2014/main" id="{F7DC90AB-C8BA-4B71-93D7-7F89DA4572E9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1875" y="4131465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100" dirty="0"/>
          </a:p>
        </p:txBody>
      </p:sp>
      <p:sp>
        <p:nvSpPr>
          <p:cNvPr id="58" name="Line 31">
            <a:extLst>
              <a:ext uri="{FF2B5EF4-FFF2-40B4-BE49-F238E27FC236}">
                <a16:creationId xmlns:a16="http://schemas.microsoft.com/office/drawing/2014/main" id="{B15CBE16-7586-4C80-9D02-CE9426FB68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3793" y="4292200"/>
            <a:ext cx="644129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100" dirty="0"/>
          </a:p>
        </p:txBody>
      </p:sp>
      <p:sp>
        <p:nvSpPr>
          <p:cNvPr id="59" name="Line 35">
            <a:extLst>
              <a:ext uri="{FF2B5EF4-FFF2-40B4-BE49-F238E27FC236}">
                <a16:creationId xmlns:a16="http://schemas.microsoft.com/office/drawing/2014/main" id="{8472B328-B3C6-4B0C-A8CF-DA0A10B923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8278" y="4527944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100" dirty="0"/>
          </a:p>
        </p:txBody>
      </p:sp>
      <p:sp>
        <p:nvSpPr>
          <p:cNvPr id="60" name="Line 37">
            <a:extLst>
              <a:ext uri="{FF2B5EF4-FFF2-40B4-BE49-F238E27FC236}">
                <a16:creationId xmlns:a16="http://schemas.microsoft.com/office/drawing/2014/main" id="{32FFFB03-7FF1-42C0-90E4-B46C75C080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4681" y="4924421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100" dirty="0"/>
          </a:p>
        </p:txBody>
      </p:sp>
      <p:sp>
        <p:nvSpPr>
          <p:cNvPr id="61" name="Line 39">
            <a:extLst>
              <a:ext uri="{FF2B5EF4-FFF2-40B4-BE49-F238E27FC236}">
                <a16:creationId xmlns:a16="http://schemas.microsoft.com/office/drawing/2014/main" id="{DCB4E713-FEE7-4964-A610-470EFCBDB9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1085" y="5320900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100" dirty="0"/>
          </a:p>
        </p:txBody>
      </p:sp>
      <p:sp>
        <p:nvSpPr>
          <p:cNvPr id="62" name="Text Box 40">
            <a:extLst>
              <a:ext uri="{FF2B5EF4-FFF2-40B4-BE49-F238E27FC236}">
                <a16:creationId xmlns:a16="http://schemas.microsoft.com/office/drawing/2014/main" id="{236C80AA-C65C-4379-818E-9AEC6F551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5275" y="4471985"/>
            <a:ext cx="6030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500" i="0" dirty="0">
                <a:latin typeface="Arial" charset="0"/>
              </a:rPr>
              <a:t>master</a:t>
            </a:r>
          </a:p>
        </p:txBody>
      </p:sp>
      <p:sp>
        <p:nvSpPr>
          <p:cNvPr id="63" name="Text Box 41">
            <a:extLst>
              <a:ext uri="{FF2B5EF4-FFF2-40B4-BE49-F238E27FC236}">
                <a16:creationId xmlns:a16="http://schemas.microsoft.com/office/drawing/2014/main" id="{9472AFC0-1676-4762-8EF7-BB764716D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4120" y="5661420"/>
            <a:ext cx="57259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500" i="0" dirty="0">
                <a:latin typeface="Arial" charset="0"/>
              </a:rPr>
              <a:t>slaves</a:t>
            </a:r>
          </a:p>
        </p:txBody>
      </p:sp>
      <p:grpSp>
        <p:nvGrpSpPr>
          <p:cNvPr id="64" name="Group 44">
            <a:extLst>
              <a:ext uri="{FF2B5EF4-FFF2-40B4-BE49-F238E27FC236}">
                <a16:creationId xmlns:a16="http://schemas.microsoft.com/office/drawing/2014/main" id="{F526E6CE-B821-4D78-AF5F-832908A0F9A6}"/>
              </a:ext>
            </a:extLst>
          </p:cNvPr>
          <p:cNvGrpSpPr>
            <a:grpSpLocks/>
          </p:cNvGrpSpPr>
          <p:nvPr/>
        </p:nvGrpSpPr>
        <p:grpSpPr bwMode="auto">
          <a:xfrm>
            <a:off x="8053387" y="4032649"/>
            <a:ext cx="420291" cy="225029"/>
            <a:chOff x="4212" y="2864"/>
            <a:chExt cx="353" cy="189"/>
          </a:xfrm>
        </p:grpSpPr>
        <p:sp>
          <p:nvSpPr>
            <p:cNvPr id="65" name="Rectangle 42">
              <a:extLst>
                <a:ext uri="{FF2B5EF4-FFF2-40B4-BE49-F238E27FC236}">
                  <a16:creationId xmlns:a16="http://schemas.microsoft.com/office/drawing/2014/main" id="{3B6886F0-3548-42BF-910E-45F198E41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2916"/>
              <a:ext cx="353" cy="137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100" dirty="0"/>
            </a:p>
          </p:txBody>
        </p:sp>
        <p:sp>
          <p:nvSpPr>
            <p:cNvPr id="66" name="Text Box 43">
              <a:extLst>
                <a:ext uri="{FF2B5EF4-FFF2-40B4-BE49-F238E27FC236}">
                  <a16:creationId xmlns:a16="http://schemas.microsoft.com/office/drawing/2014/main" id="{B30A2973-608A-4ED1-AF12-C1E502464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7" y="2864"/>
              <a:ext cx="309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solidFill>
                    <a:schemeClr val="bg1"/>
                  </a:solidFill>
                  <a:latin typeface="Arial" charset="0"/>
                </a:rPr>
                <a:t>poll</a:t>
              </a:r>
            </a:p>
          </p:txBody>
        </p:sp>
      </p:grpSp>
      <p:grpSp>
        <p:nvGrpSpPr>
          <p:cNvPr id="67" name="Group 48">
            <a:extLst>
              <a:ext uri="{FF2B5EF4-FFF2-40B4-BE49-F238E27FC236}">
                <a16:creationId xmlns:a16="http://schemas.microsoft.com/office/drawing/2014/main" id="{2865DAE5-3C1A-49B2-B62A-EA362FBED2A7}"/>
              </a:ext>
            </a:extLst>
          </p:cNvPr>
          <p:cNvGrpSpPr>
            <a:grpSpLocks/>
          </p:cNvGrpSpPr>
          <p:nvPr/>
        </p:nvGrpSpPr>
        <p:grpSpPr bwMode="auto">
          <a:xfrm>
            <a:off x="6590110" y="4724400"/>
            <a:ext cx="446484" cy="215504"/>
            <a:chOff x="4415" y="2364"/>
            <a:chExt cx="375" cy="181"/>
          </a:xfrm>
        </p:grpSpPr>
        <p:sp>
          <p:nvSpPr>
            <p:cNvPr id="68" name="Rectangle 46">
              <a:extLst>
                <a:ext uri="{FF2B5EF4-FFF2-40B4-BE49-F238E27FC236}">
                  <a16:creationId xmlns:a16="http://schemas.microsoft.com/office/drawing/2014/main" id="{43CB8716-5FD4-438D-9F6E-ED0C1B299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100" dirty="0"/>
            </a:p>
          </p:txBody>
        </p:sp>
        <p:sp>
          <p:nvSpPr>
            <p:cNvPr id="69" name="Text Box 47">
              <a:extLst>
                <a:ext uri="{FF2B5EF4-FFF2-40B4-BE49-F238E27FC236}">
                  <a16:creationId xmlns:a16="http://schemas.microsoft.com/office/drawing/2014/main" id="{1DFD6AD3-E016-480B-BBB8-12905E787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5" y="2364"/>
              <a:ext cx="333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solidFill>
                    <a:schemeClr val="bg1"/>
                  </a:solidFill>
                  <a:latin typeface="Arial" charset="0"/>
                </a:rPr>
                <a:t>data</a:t>
              </a:r>
            </a:p>
          </p:txBody>
        </p:sp>
      </p:grpSp>
      <p:grpSp>
        <p:nvGrpSpPr>
          <p:cNvPr id="70" name="Group 49">
            <a:extLst>
              <a:ext uri="{FF2B5EF4-FFF2-40B4-BE49-F238E27FC236}">
                <a16:creationId xmlns:a16="http://schemas.microsoft.com/office/drawing/2014/main" id="{C3612759-9D0E-44E4-936B-214E80428521}"/>
              </a:ext>
            </a:extLst>
          </p:cNvPr>
          <p:cNvGrpSpPr>
            <a:grpSpLocks/>
          </p:cNvGrpSpPr>
          <p:nvPr/>
        </p:nvGrpSpPr>
        <p:grpSpPr bwMode="auto">
          <a:xfrm>
            <a:off x="6969920" y="3886200"/>
            <a:ext cx="446485" cy="215504"/>
            <a:chOff x="4415" y="2364"/>
            <a:chExt cx="375" cy="181"/>
          </a:xfrm>
        </p:grpSpPr>
        <p:sp>
          <p:nvSpPr>
            <p:cNvPr id="71" name="Rectangle 50">
              <a:extLst>
                <a:ext uri="{FF2B5EF4-FFF2-40B4-BE49-F238E27FC236}">
                  <a16:creationId xmlns:a16="http://schemas.microsoft.com/office/drawing/2014/main" id="{7ACBB0DB-5F83-4B01-A2EB-E4D750A53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100" dirty="0"/>
            </a:p>
          </p:txBody>
        </p:sp>
        <p:sp>
          <p:nvSpPr>
            <p:cNvPr id="72" name="Text Box 51">
              <a:extLst>
                <a:ext uri="{FF2B5EF4-FFF2-40B4-BE49-F238E27FC236}">
                  <a16:creationId xmlns:a16="http://schemas.microsoft.com/office/drawing/2014/main" id="{21B61925-346D-4FF0-845C-BA4826CB3A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5" y="2364"/>
              <a:ext cx="333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solidFill>
                    <a:schemeClr val="bg1"/>
                  </a:solidFill>
                  <a:latin typeface="Arial" charset="0"/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8002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85185E-6 L -0.09254 1.85185E-6 L -0.07882 -0.03496 L -0.15261 -0.03496 " pathEditMode="relative" rAng="0" ptsTypes="AAAA">
                                      <p:cBhvr>
                                        <p:cTn id="9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39" y="-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2.59259E-6 L 0.07118 -0.00162 L 0.0599 0.03171 L 0.15122 0.03009 " pathEditMode="relative" rAng="0" ptsTypes="AAAA">
                                      <p:cBhvr>
                                        <p:cTn id="18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2" y="1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85185E-6 L -0.08872 1.85185E-6 L -0.14375 0.14166 L -0.21754 0.14166 " pathEditMode="relative" rAng="0" ptsTypes="AAAA">
                                      <p:cBhvr>
                                        <p:cTn id="28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85" y="7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0.07135 -0.00162 L 0.11753 -0.13171 L 0.21128 -0.13333 " pathEditMode="relative" rAng="0" ptsTypes="AAAA">
                                      <p:cBhvr>
                                        <p:cTn id="37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56" y="-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21C94C-29C7-2E03-3A22-24320EF4AE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E7447BEB-0F4B-4A9A-B35D-969C55CDA675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891AD708-C834-7B2B-947E-70143172C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en-US" sz="3200" i="0" baseline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CE78716E-9AC6-F80B-33EA-6EB861531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700525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i="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CONTROLLED ACCESS METHODS</a:t>
            </a:r>
          </a:p>
        </p:txBody>
      </p:sp>
      <p:sp>
        <p:nvSpPr>
          <p:cNvPr id="565252" name="Text Box 4">
            <a:extLst>
              <a:ext uri="{FF2B5EF4-FFF2-40B4-BE49-F238E27FC236}">
                <a16:creationId xmlns:a16="http://schemas.microsoft.com/office/drawing/2014/main" id="{9E07A26E-E7B9-F6B8-AEF2-5CE69A46C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9275" y="6297323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 sz="1800" i="0" baseline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A25EBD-C76E-46DE-9470-4BABB9B55B0C}"/>
              </a:ext>
            </a:extLst>
          </p:cNvPr>
          <p:cNvSpPr txBox="1"/>
          <p:nvPr/>
        </p:nvSpPr>
        <p:spPr>
          <a:xfrm>
            <a:off x="228600" y="892361"/>
            <a:ext cx="8032750" cy="488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2200" i="0" u="none" strike="noStrike" baseline="0" dirty="0">
                <a:solidFill>
                  <a:srgbClr val="FF0000"/>
                </a:solidFill>
                <a:cs typeface="Times New Roman" panose="02020603050405020304" pitchFamily="18" charset="0"/>
              </a:rPr>
              <a:t>Token Passing: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GB" sz="2000" b="0" i="0" u="none" strike="noStrike" baseline="0" dirty="0">
                <a:cs typeface="Times New Roman" panose="02020603050405020304" pitchFamily="18" charset="0"/>
              </a:rPr>
              <a:t>Token message (a special packet)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GB" sz="2000" b="0" i="0" u="none" strike="noStrike" baseline="0" dirty="0">
                <a:cs typeface="Times New Roman" panose="02020603050405020304" pitchFamily="18" charset="0"/>
              </a:rPr>
              <a:t>The stations in a network are organized in a logical ring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GB" sz="2000" b="0" i="0" u="none" strike="noStrike" baseline="0" dirty="0">
                <a:cs typeface="Times New Roman" panose="02020603050405020304" pitchFamily="18" charset="0"/>
              </a:rPr>
              <a:t>Control token passed from one node to next sequentially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GB" sz="2000" b="0" i="0" u="none" strike="noStrike" baseline="0" dirty="0">
                <a:cs typeface="Times New Roman" panose="02020603050405020304" pitchFamily="18" charset="0"/>
              </a:rPr>
              <a:t>The possession of the token gives the station the right to access the channel and send its data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2000" i="0" u="none" strike="noStrike" baseline="0" dirty="0">
                <a:cs typeface="Times New Roman" panose="02020603050405020304" pitchFamily="18" charset="0"/>
              </a:rPr>
              <a:t>Concerns: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GB" sz="2000" b="0" i="0" u="none" strike="noStrike" baseline="0" dirty="0">
                <a:cs typeface="Times New Roman" panose="02020603050405020304" pitchFamily="18" charset="0"/>
              </a:rPr>
              <a:t>token overhead 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GB" sz="2000" b="0" i="0" u="none" strike="noStrike" baseline="0" dirty="0">
                <a:cs typeface="Times New Roman" panose="02020603050405020304" pitchFamily="18" charset="0"/>
              </a:rPr>
              <a:t>latency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GB" sz="2000" b="0" i="0" u="none" strike="noStrike" baseline="0" dirty="0">
                <a:cs typeface="Times New Roman" panose="02020603050405020304" pitchFamily="18" charset="0"/>
              </a:rPr>
              <a:t>single point of failure (token)</a:t>
            </a:r>
          </a:p>
          <a:p>
            <a:pPr lvl="1">
              <a:lnSpc>
                <a:spcPct val="150000"/>
              </a:lnSpc>
            </a:pPr>
            <a:endParaRPr lang="en-GB" sz="2400" b="0" i="0" u="none" strike="noStrike" baseline="0" dirty="0">
              <a:solidFill>
                <a:srgbClr val="A03A3A"/>
              </a:solidFill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sz="2400" b="0" i="0" u="none" strike="noStrike" baseline="0" dirty="0">
              <a:solidFill>
                <a:srgbClr val="A03A3A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73" name="Group 21">
            <a:extLst>
              <a:ext uri="{FF2B5EF4-FFF2-40B4-BE49-F238E27FC236}">
                <a16:creationId xmlns:a16="http://schemas.microsoft.com/office/drawing/2014/main" id="{99AD50B3-0DBA-40D8-82CF-489D4EBC33AF}"/>
              </a:ext>
            </a:extLst>
          </p:cNvPr>
          <p:cNvGrpSpPr>
            <a:grpSpLocks/>
          </p:cNvGrpSpPr>
          <p:nvPr/>
        </p:nvGrpSpPr>
        <p:grpSpPr bwMode="auto">
          <a:xfrm>
            <a:off x="7968456" y="4510194"/>
            <a:ext cx="585788" cy="510779"/>
            <a:chOff x="-44" y="1473"/>
            <a:chExt cx="981" cy="1105"/>
          </a:xfrm>
        </p:grpSpPr>
        <p:pic>
          <p:nvPicPr>
            <p:cNvPr id="74" name="Picture 22" descr="desktop_computer_stylized_medium">
              <a:extLst>
                <a:ext uri="{FF2B5EF4-FFF2-40B4-BE49-F238E27FC236}">
                  <a16:creationId xmlns:a16="http://schemas.microsoft.com/office/drawing/2014/main" id="{9B038E60-20C7-4D41-A1F5-D25731EEC4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Freeform 23">
              <a:extLst>
                <a:ext uri="{FF2B5EF4-FFF2-40B4-BE49-F238E27FC236}">
                  <a16:creationId xmlns:a16="http://schemas.microsoft.com/office/drawing/2014/main" id="{4DE27E51-5994-4784-9993-6CFEAC42E63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100" dirty="0"/>
            </a:p>
          </p:txBody>
        </p:sp>
      </p:grpSp>
      <p:grpSp>
        <p:nvGrpSpPr>
          <p:cNvPr id="76" name="Group 24">
            <a:extLst>
              <a:ext uri="{FF2B5EF4-FFF2-40B4-BE49-F238E27FC236}">
                <a16:creationId xmlns:a16="http://schemas.microsoft.com/office/drawing/2014/main" id="{3D0DF436-8FD2-4DE4-85E2-A86B0DE0D497}"/>
              </a:ext>
            </a:extLst>
          </p:cNvPr>
          <p:cNvGrpSpPr>
            <a:grpSpLocks/>
          </p:cNvGrpSpPr>
          <p:nvPr/>
        </p:nvGrpSpPr>
        <p:grpSpPr bwMode="auto">
          <a:xfrm>
            <a:off x="5932487" y="4478048"/>
            <a:ext cx="585788" cy="510778"/>
            <a:chOff x="-44" y="1473"/>
            <a:chExt cx="981" cy="1105"/>
          </a:xfrm>
        </p:grpSpPr>
        <p:pic>
          <p:nvPicPr>
            <p:cNvPr id="77" name="Picture 25" descr="desktop_computer_stylized_medium">
              <a:extLst>
                <a:ext uri="{FF2B5EF4-FFF2-40B4-BE49-F238E27FC236}">
                  <a16:creationId xmlns:a16="http://schemas.microsoft.com/office/drawing/2014/main" id="{4E195273-3A18-4F1C-8C2B-0279226C0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" name="Freeform 26">
              <a:extLst>
                <a:ext uri="{FF2B5EF4-FFF2-40B4-BE49-F238E27FC236}">
                  <a16:creationId xmlns:a16="http://schemas.microsoft.com/office/drawing/2014/main" id="{28ACDD4C-D876-481E-A502-D00C5838D06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100" dirty="0"/>
            </a:p>
          </p:txBody>
        </p:sp>
      </p:grpSp>
      <p:grpSp>
        <p:nvGrpSpPr>
          <p:cNvPr id="79" name="Group 27">
            <a:extLst>
              <a:ext uri="{FF2B5EF4-FFF2-40B4-BE49-F238E27FC236}">
                <a16:creationId xmlns:a16="http://schemas.microsoft.com/office/drawing/2014/main" id="{404EF00D-EE1F-4D48-A792-3D234BBF5A0C}"/>
              </a:ext>
            </a:extLst>
          </p:cNvPr>
          <p:cNvGrpSpPr>
            <a:grpSpLocks/>
          </p:cNvGrpSpPr>
          <p:nvPr/>
        </p:nvGrpSpPr>
        <p:grpSpPr bwMode="auto">
          <a:xfrm>
            <a:off x="6920706" y="3230273"/>
            <a:ext cx="585788" cy="510778"/>
            <a:chOff x="-44" y="1473"/>
            <a:chExt cx="981" cy="1105"/>
          </a:xfrm>
        </p:grpSpPr>
        <p:pic>
          <p:nvPicPr>
            <p:cNvPr id="80" name="Picture 28" descr="desktop_computer_stylized_medium">
              <a:extLst>
                <a:ext uri="{FF2B5EF4-FFF2-40B4-BE49-F238E27FC236}">
                  <a16:creationId xmlns:a16="http://schemas.microsoft.com/office/drawing/2014/main" id="{EBB93630-EEBA-48A4-829D-CB81F47C2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Freeform 29">
              <a:extLst>
                <a:ext uri="{FF2B5EF4-FFF2-40B4-BE49-F238E27FC236}">
                  <a16:creationId xmlns:a16="http://schemas.microsoft.com/office/drawing/2014/main" id="{8D7B704E-4E93-49D6-B2BB-846B94C4F2D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100" dirty="0"/>
            </a:p>
          </p:txBody>
        </p:sp>
      </p:grpSp>
      <p:grpSp>
        <p:nvGrpSpPr>
          <p:cNvPr id="82" name="Group 30">
            <a:extLst>
              <a:ext uri="{FF2B5EF4-FFF2-40B4-BE49-F238E27FC236}">
                <a16:creationId xmlns:a16="http://schemas.microsoft.com/office/drawing/2014/main" id="{71FEF1C3-8352-4147-BC9D-7DCDB02D9FD3}"/>
              </a:ext>
            </a:extLst>
          </p:cNvPr>
          <p:cNvGrpSpPr>
            <a:grpSpLocks/>
          </p:cNvGrpSpPr>
          <p:nvPr/>
        </p:nvGrpSpPr>
        <p:grpSpPr bwMode="auto">
          <a:xfrm>
            <a:off x="6961187" y="5816311"/>
            <a:ext cx="585788" cy="510778"/>
            <a:chOff x="-44" y="1473"/>
            <a:chExt cx="981" cy="1105"/>
          </a:xfrm>
        </p:grpSpPr>
        <p:pic>
          <p:nvPicPr>
            <p:cNvPr id="83" name="Picture 31" descr="desktop_computer_stylized_medium">
              <a:extLst>
                <a:ext uri="{FF2B5EF4-FFF2-40B4-BE49-F238E27FC236}">
                  <a16:creationId xmlns:a16="http://schemas.microsoft.com/office/drawing/2014/main" id="{BE014E6C-A574-4FB9-9BC5-359A516025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4" name="Freeform 32">
              <a:extLst>
                <a:ext uri="{FF2B5EF4-FFF2-40B4-BE49-F238E27FC236}">
                  <a16:creationId xmlns:a16="http://schemas.microsoft.com/office/drawing/2014/main" id="{9B3034C9-8F5B-4595-BB71-921721E6DC9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100" dirty="0"/>
            </a:p>
          </p:txBody>
        </p:sp>
      </p:grpSp>
      <p:sp>
        <p:nvSpPr>
          <p:cNvPr id="85" name="Oval 8">
            <a:extLst>
              <a:ext uri="{FF2B5EF4-FFF2-40B4-BE49-F238E27FC236}">
                <a16:creationId xmlns:a16="http://schemas.microsoft.com/office/drawing/2014/main" id="{371F1C3D-7E54-4BB8-AC19-F1DC8907F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7092" y="3723192"/>
            <a:ext cx="1534715" cy="2083594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100" dirty="0"/>
          </a:p>
        </p:txBody>
      </p:sp>
      <p:sp>
        <p:nvSpPr>
          <p:cNvPr id="86" name="Rectangle 12">
            <a:extLst>
              <a:ext uri="{FF2B5EF4-FFF2-40B4-BE49-F238E27FC236}">
                <a16:creationId xmlns:a16="http://schemas.microsoft.com/office/drawing/2014/main" id="{AD368D39-15ED-473F-AAFF-383609E5A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505" y="3054061"/>
            <a:ext cx="205978" cy="240506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sz="2100" dirty="0">
                <a:solidFill>
                  <a:schemeClr val="bg1"/>
                </a:solidFill>
                <a:latin typeface="Arial" charset="0"/>
              </a:rPr>
              <a:t>T</a:t>
            </a:r>
          </a:p>
        </p:txBody>
      </p:sp>
      <p:sp>
        <p:nvSpPr>
          <p:cNvPr id="87" name="Rectangle 15">
            <a:extLst>
              <a:ext uri="{FF2B5EF4-FFF2-40B4-BE49-F238E27FC236}">
                <a16:creationId xmlns:a16="http://schemas.microsoft.com/office/drawing/2014/main" id="{ACBD168E-A112-467D-95C0-A845DEFE2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8814" y="6266367"/>
            <a:ext cx="608410" cy="240506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sz="2100" dirty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88" name="Text Box 16">
            <a:extLst>
              <a:ext uri="{FF2B5EF4-FFF2-40B4-BE49-F238E27FC236}">
                <a16:creationId xmlns:a16="http://schemas.microsoft.com/office/drawing/2014/main" id="{92707437-C0EA-4B3E-9366-A48F7AC94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2710" y="4069663"/>
            <a:ext cx="89800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100" i="0" dirty="0">
                <a:latin typeface="Arial" charset="0"/>
              </a:rPr>
              <a:t>(nothing</a:t>
            </a:r>
          </a:p>
          <a:p>
            <a:pPr>
              <a:defRPr/>
            </a:pPr>
            <a:r>
              <a:rPr lang="en-US" sz="2100" i="0" dirty="0">
                <a:latin typeface="Arial" charset="0"/>
              </a:rPr>
              <a:t>to send)</a:t>
            </a:r>
          </a:p>
        </p:txBody>
      </p:sp>
      <p:sp>
        <p:nvSpPr>
          <p:cNvPr id="89" name="Rectangle 17">
            <a:extLst>
              <a:ext uri="{FF2B5EF4-FFF2-40B4-BE49-F238E27FC236}">
                <a16:creationId xmlns:a16="http://schemas.microsoft.com/office/drawing/2014/main" id="{FB4D2310-CE78-477D-87DE-D4189DADF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75" y="4567345"/>
            <a:ext cx="205979" cy="240506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sz="2100" dirty="0">
                <a:solidFill>
                  <a:schemeClr val="bg1"/>
                </a:solidFill>
                <a:latin typeface="Arial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832590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3658 C 0.00695 0.06435 0.00122 0.09283 0.00139 0.10509 C 0.00157 0.11736 0.0066 0.10695 0.00018 0.10996 C -0.00625 0.11296 -0.02361 0.11273 -0.03732 0.12338 C -0.05104 0.13403 -0.06944 0.14445 -0.08229 0.17338 C -0.09513 0.20232 -0.10329 0.27847 -0.11475 0.29676 C -0.12621 0.31505 -0.1434 0.28611 -0.15104 0.28333 " pathEditMode="relative" rAng="0" ptsTypes="AAAAAAA">
                                      <p:cBhvr>
                                        <p:cTn id="6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2" y="13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4.81481E-6 C 0.01354 -0.00439 0.02709 -0.00879 0.03507 0.00672 C 0.04306 0.02223 0.04236 0.06875 0.04757 0.09329 C 0.05278 0.11783 0.05538 0.13403 0.06632 0.15348 C 0.07726 0.17292 0.09983 0.19862 0.11372 0.20996 C 0.12761 0.2213 0.1434 0.20926 0.15 0.22176 C 0.1566 0.23426 0.15521 0.2595 0.15382 0.28496 " pathEditMode="relative" rAng="0" ptsTypes="AAAAAAA">
                                      <p:cBhvr>
                                        <p:cTn id="19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43" y="14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875 -0.02431 C 0.0132 -0.0581 0.00764 -0.09167 0.01372 -0.10926 C 0.01979 -0.12685 0.04115 -0.11273 0.05504 -0.1294 C 0.06893 -0.14606 0.0875 -0.1794 0.09757 -0.20926 C 0.10764 -0.23912 0.11372 -0.27824 0.11511 -0.30926 C 0.1165 -0.34028 0.11372 -0.36782 0.10625 -0.39606 C 0.09879 -0.42431 0.08455 -0.45949 0.06997 -0.4794 C 0.05538 -0.49931 0.03143 -0.50995 0.01875 -0.51597 C 0.00608 -0.52199 0.00521 -0.51875 -0.00625 -0.51597 C -0.01771 -0.51319 -0.03698 -0.51134 -0.05 -0.49931 C -0.06302 -0.48727 -0.07604 -0.46343 -0.08489 -0.44421 C -0.09375 -0.425 -0.10017 -0.4044 -0.10364 -0.38426 C -0.10712 -0.36412 -0.10555 -0.34375 -0.10625 -0.32269 C -0.10694 -0.30162 -0.11024 -0.27801 -0.10746 -0.25764 C -0.10468 -0.23727 -0.09705 -0.21852 -0.08993 -0.20093 C -0.08281 -0.18333 -0.07552 -0.1669 -0.06493 -0.15255 C -0.05434 -0.13819 -0.03767 -0.12106 -0.02621 -0.11435 C -0.01475 -0.10764 -0.00173 -0.11806 0.00382 -0.11273 C 0.00938 -0.10741 0.00677 -0.09931 0.00747 -0.08264 C 0.00816 -0.06597 0.00782 -0.03935 0.00747 -0.01273 " pathEditMode="relative" rAng="0" ptsTypes="AAAAAAAAAAAAAAAAAAAA">
                                      <p:cBhvr>
                                        <p:cTn id="23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5" y="-2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6" grpId="1" animBg="1"/>
      <p:bldP spid="87" grpId="0" animBg="1"/>
      <p:bldP spid="87" grpId="1" animBg="1"/>
      <p:bldP spid="88" grpId="0"/>
      <p:bldP spid="89" grpId="0" animBg="1"/>
      <p:bldP spid="89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21C94C-29C7-2E03-3A22-24320EF4AE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12.</a:t>
            </a:r>
            <a:fld id="{E7447BEB-0F4B-4A9A-B35D-969C55CDA675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891AD708-C834-7B2B-947E-70143172C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3200" i="0" baseline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CE78716E-9AC6-F80B-33EA-6EB861531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50481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i="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12-3   CHANNELIZATION</a:t>
            </a:r>
          </a:p>
        </p:txBody>
      </p:sp>
      <p:sp>
        <p:nvSpPr>
          <p:cNvPr id="565252" name="Text Box 4">
            <a:extLst>
              <a:ext uri="{FF2B5EF4-FFF2-40B4-BE49-F238E27FC236}">
                <a16:creationId xmlns:a16="http://schemas.microsoft.com/office/drawing/2014/main" id="{9E07A26E-E7B9-F6B8-AEF2-5CE69A46C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 sz="1800" i="0" baseline="0"/>
          </a:p>
        </p:txBody>
      </p:sp>
      <p:sp>
        <p:nvSpPr>
          <p:cNvPr id="565253" name="Rectangle 5">
            <a:extLst>
              <a:ext uri="{FF2B5EF4-FFF2-40B4-BE49-F238E27FC236}">
                <a16:creationId xmlns:a16="http://schemas.microsoft.com/office/drawing/2014/main" id="{F0681056-0919-4D23-3B3C-97A850EBF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485900"/>
            <a:ext cx="82296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GB" altLang="en-US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Channelization</a:t>
            </a:r>
            <a:r>
              <a:rPr lang="en-GB" altLang="en-US" baseline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(or channel partition, as it is sometimes called) is a multiple-access method in which the available bandwidth of a link is shared in time, frequency, or through code, among different stations.</a:t>
            </a:r>
            <a:endParaRPr lang="en-US" altLang="en-US" baseline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277" name="Rectangle 29">
            <a:extLst>
              <a:ext uri="{FF2B5EF4-FFF2-40B4-BE49-F238E27FC236}">
                <a16:creationId xmlns:a16="http://schemas.microsoft.com/office/drawing/2014/main" id="{E88B39C8-0D68-8055-DDD5-1AD191592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819650"/>
            <a:ext cx="7924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en-US" sz="2400" i="0" baseline="0" dirty="0">
                <a:solidFill>
                  <a:srgbClr val="0033CC"/>
                </a:solidFill>
              </a:rPr>
              <a:t>TDMA (Time Division Multiple Access)</a:t>
            </a:r>
            <a:br>
              <a:rPr lang="fr-FR" altLang="en-US" sz="2400" i="0" baseline="0" dirty="0">
                <a:solidFill>
                  <a:srgbClr val="0033CC"/>
                </a:solidFill>
              </a:rPr>
            </a:br>
            <a:r>
              <a:rPr lang="en-US" altLang="en-US" sz="2400" i="0" baseline="0" dirty="0">
                <a:solidFill>
                  <a:srgbClr val="0033CC"/>
                </a:solidFill>
              </a:rPr>
              <a:t>FDMA (Frequency Division Multiple Access)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en-US" sz="2400" i="0" baseline="0" dirty="0">
                <a:solidFill>
                  <a:srgbClr val="0033CC"/>
                </a:solidFill>
              </a:rPr>
              <a:t>CDMA (Code Division Multiple Access)</a:t>
            </a:r>
          </a:p>
        </p:txBody>
      </p:sp>
      <p:sp>
        <p:nvSpPr>
          <p:cNvPr id="565278" name="Text Box 30">
            <a:extLst>
              <a:ext uri="{FF2B5EF4-FFF2-40B4-BE49-F238E27FC236}">
                <a16:creationId xmlns:a16="http://schemas.microsoft.com/office/drawing/2014/main" id="{ED4D33BB-AE90-1353-1053-8FA4465DE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" y="43434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u="sng" baseline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Topics discussed in this section:</a:t>
            </a:r>
          </a:p>
        </p:txBody>
      </p:sp>
    </p:spTree>
    <p:extLst>
      <p:ext uri="{BB962C8B-B14F-4D97-AF65-F5344CB8AC3E}">
        <p14:creationId xmlns:p14="http://schemas.microsoft.com/office/powerpoint/2010/main" val="4265963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F47C0-CB69-174B-94AF-EE923C2BA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434" y="1883299"/>
            <a:ext cx="7514035" cy="1431131"/>
          </a:xfrm>
        </p:spPr>
        <p:txBody>
          <a:bodyPr>
            <a:normAutofit fontScale="70000" lnSpcReduction="20000"/>
          </a:bodyPr>
          <a:lstStyle/>
          <a:p>
            <a:r>
              <a:rPr lang="en-BD" dirty="0"/>
              <a:t>TDMA divides divides the time frames into time slots.</a:t>
            </a:r>
          </a:p>
          <a:p>
            <a:r>
              <a:rPr lang="en-BD" dirty="0"/>
              <a:t>Each slot is assigned to one of the nodes.</a:t>
            </a:r>
          </a:p>
          <a:p>
            <a:r>
              <a:rPr lang="en-BD" dirty="0"/>
              <a:t>S</a:t>
            </a:r>
            <a:r>
              <a:rPr lang="en-GB" dirty="0"/>
              <a:t>l</a:t>
            </a:r>
            <a:r>
              <a:rPr lang="en-BD" dirty="0"/>
              <a:t>ots sizes are usually the same as the packet (frame) size of node.</a:t>
            </a:r>
          </a:p>
          <a:p>
            <a:pPr marL="0" indent="0">
              <a:buNone/>
            </a:pPr>
            <a:endParaRPr lang="en-BD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6D6CCEE-1BB4-794E-9E13-EC67C7B3D253}"/>
              </a:ext>
            </a:extLst>
          </p:cNvPr>
          <p:cNvSpPr txBox="1">
            <a:spLocks/>
          </p:cNvSpPr>
          <p:nvPr/>
        </p:nvSpPr>
        <p:spPr>
          <a:xfrm>
            <a:off x="1103434" y="3886200"/>
            <a:ext cx="3974850" cy="270856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rgbClr val="FF9300"/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BD" sz="3200" dirty="0">
                <a:solidFill>
                  <a:srgbClr val="FF0000"/>
                </a:solidFill>
              </a:rPr>
              <a:t>Advantages</a:t>
            </a:r>
          </a:p>
          <a:p>
            <a:pPr lvl="1"/>
            <a:r>
              <a:rPr lang="en-BD" sz="2800" dirty="0"/>
              <a:t>Eliminates collision</a:t>
            </a:r>
          </a:p>
          <a:p>
            <a:pPr lvl="1"/>
            <a:r>
              <a:rPr lang="en-US" sz="2800" dirty="0"/>
              <a:t>Each node gets dedicated R/N bps during frame time</a:t>
            </a:r>
            <a:r>
              <a:rPr lang="en-BD" sz="2800" dirty="0"/>
              <a:t>.</a:t>
            </a:r>
          </a:p>
          <a:p>
            <a:pPr marL="0" indent="0">
              <a:buNone/>
            </a:pPr>
            <a:endParaRPr lang="en-BD" sz="21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36F84B6-D51A-0048-8D0D-69944DB84C04}"/>
              </a:ext>
            </a:extLst>
          </p:cNvPr>
          <p:cNvSpPr txBox="1">
            <a:spLocks noChangeArrowheads="1"/>
          </p:cNvSpPr>
          <p:nvPr/>
        </p:nvSpPr>
        <p:spPr>
          <a:xfrm>
            <a:off x="1335881" y="911479"/>
            <a:ext cx="6472238" cy="857250"/>
          </a:xfrm>
          <a:prstGeom prst="rect">
            <a:avLst/>
          </a:prstGeom>
          <a:effectLst/>
        </p:spPr>
        <p:txBody>
          <a:bodyPr vert="horz" lIns="68580" tIns="34290" rIns="68580" bIns="3429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4400" dirty="0">
                <a:latin typeface="Gill Sans MT" charset="0"/>
              </a:rPr>
              <a:t>TDMA: Time Division Multiple Access</a:t>
            </a:r>
            <a:endParaRPr lang="en-US" sz="4800" dirty="0">
              <a:latin typeface="Gill Sans MT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76F0EE-C39A-6943-858D-FFF960789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72912A-1472-F840-B781-695E12560F6A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3AFBFB-AD7D-1341-9479-492DE98A5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726" y="3381289"/>
            <a:ext cx="4427234" cy="11737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8908E4-B333-6B44-BBD4-E9E00F4ACDC9}"/>
              </a:ext>
            </a:extLst>
          </p:cNvPr>
          <p:cNvSpPr txBox="1"/>
          <p:nvPr/>
        </p:nvSpPr>
        <p:spPr>
          <a:xfrm rot="16200000">
            <a:off x="3684204" y="3542580"/>
            <a:ext cx="14755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D" sz="1500" dirty="0"/>
              <a:t>Frequency</a:t>
            </a:r>
          </a:p>
        </p:txBody>
      </p:sp>
    </p:spTree>
    <p:extLst>
      <p:ext uri="{BB962C8B-B14F-4D97-AF65-F5344CB8AC3E}">
        <p14:creationId xmlns:p14="http://schemas.microsoft.com/office/powerpoint/2010/main" val="1427122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553D4EAB-44CA-D04D-A51B-C327E8DF3C3C}"/>
              </a:ext>
            </a:extLst>
          </p:cNvPr>
          <p:cNvSpPr txBox="1">
            <a:spLocks noChangeArrowheads="1"/>
          </p:cNvSpPr>
          <p:nvPr/>
        </p:nvSpPr>
        <p:spPr>
          <a:xfrm>
            <a:off x="1466850" y="1739470"/>
            <a:ext cx="6167438" cy="123593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rgbClr val="FF9300"/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spectrum divided into frequency bands</a:t>
            </a:r>
          </a:p>
          <a:p>
            <a:pP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station assigned fixed frequency band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1424E9-A67B-BD4A-9D66-5E06AF2FE662}"/>
              </a:ext>
            </a:extLst>
          </p:cNvPr>
          <p:cNvSpPr/>
          <p:nvPr/>
        </p:nvSpPr>
        <p:spPr>
          <a:xfrm>
            <a:off x="875211" y="3105149"/>
            <a:ext cx="3878865" cy="3164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600" dirty="0">
                <a:solidFill>
                  <a:srgbClr val="FF0000"/>
                </a:solidFill>
                <a:latin typeface="Gill Sans MT" charset="0"/>
              </a:rPr>
              <a:t>Disadvantage</a:t>
            </a:r>
          </a:p>
          <a:p>
            <a:pPr marL="257175" indent="-257175">
              <a:spcBef>
                <a:spcPts val="1800"/>
              </a:spcBef>
              <a:buClr>
                <a:srgbClr val="FF0000"/>
              </a:buClr>
              <a:buSzPct val="90000"/>
              <a:buFont typeface="Wingdings" pitchFamily="2" charset="2"/>
              <a:buChar char="§"/>
              <a:defRPr/>
            </a:pPr>
            <a:r>
              <a:rPr lang="en-US" dirty="0">
                <a:latin typeface="Gill Sans MT" charset="0"/>
              </a:rPr>
              <a:t>unused transmission time in frequency bands go idle </a:t>
            </a:r>
          </a:p>
          <a:p>
            <a:pPr marL="600075" lvl="1" indent="-257175">
              <a:spcBef>
                <a:spcPts val="1800"/>
              </a:spcBef>
              <a:buClr>
                <a:srgbClr val="00B050"/>
              </a:buClr>
              <a:buSzPct val="90000"/>
              <a:buFont typeface="Wingdings" pitchFamily="2" charset="2"/>
              <a:buChar char="§"/>
              <a:defRPr/>
            </a:pPr>
            <a:r>
              <a:rPr lang="en-US" dirty="0">
                <a:latin typeface="Gill Sans MT" charset="0"/>
              </a:rPr>
              <a:t>example: only band 1 have packet to send, frequency bands 2 &amp; 3 remains idle </a:t>
            </a:r>
          </a:p>
          <a:p>
            <a:pPr marL="257175" indent="-257175">
              <a:spcBef>
                <a:spcPts val="1800"/>
              </a:spcBef>
              <a:buClr>
                <a:srgbClr val="FF0000"/>
              </a:buClr>
              <a:buSzPct val="90000"/>
              <a:buFont typeface="Wingdings" pitchFamily="2" charset="2"/>
              <a:buChar char="§"/>
              <a:defRPr/>
            </a:pPr>
            <a:r>
              <a:rPr lang="en-US" dirty="0">
                <a:latin typeface="Gill Sans MT" charset="0"/>
              </a:rPr>
              <a:t>Limited bandwidth of R/N for each node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B96D8B-E3FF-8042-BE04-6C5E6831C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72912A-1472-F840-B781-695E12560F6A}" type="slidenum">
              <a:rPr lang="en-US" smtClean="0"/>
              <a:pPr/>
              <a:t>37</a:t>
            </a:fld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A01950-5F64-1E46-81B9-A11FB7678131}"/>
              </a:ext>
            </a:extLst>
          </p:cNvPr>
          <p:cNvCxnSpPr>
            <a:cxnSpLocks/>
          </p:cNvCxnSpPr>
          <p:nvPr/>
        </p:nvCxnSpPr>
        <p:spPr>
          <a:xfrm flipV="1">
            <a:off x="5313218" y="4945068"/>
            <a:ext cx="3599198" cy="8799"/>
          </a:xfrm>
          <a:prstGeom prst="straightConnector1">
            <a:avLst/>
          </a:prstGeom>
          <a:ln w="508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A23F49-0394-4E42-A2F1-5CBFFF7B3BF5}"/>
              </a:ext>
            </a:extLst>
          </p:cNvPr>
          <p:cNvCxnSpPr>
            <a:cxnSpLocks/>
          </p:cNvCxnSpPr>
          <p:nvPr/>
        </p:nvCxnSpPr>
        <p:spPr>
          <a:xfrm flipV="1">
            <a:off x="5313218" y="3658419"/>
            <a:ext cx="0" cy="1286650"/>
          </a:xfrm>
          <a:prstGeom prst="straightConnector1">
            <a:avLst/>
          </a:prstGeom>
          <a:ln w="508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1853F-B28A-714B-9407-A935E5078279}"/>
              </a:ext>
            </a:extLst>
          </p:cNvPr>
          <p:cNvSpPr/>
          <p:nvPr/>
        </p:nvSpPr>
        <p:spPr>
          <a:xfrm>
            <a:off x="5334000" y="4592008"/>
            <a:ext cx="3283527" cy="32666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 sz="21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7F6988-C226-844B-9F5A-3A2C16D74A19}"/>
              </a:ext>
            </a:extLst>
          </p:cNvPr>
          <p:cNvSpPr/>
          <p:nvPr/>
        </p:nvSpPr>
        <p:spPr>
          <a:xfrm>
            <a:off x="5334000" y="4287488"/>
            <a:ext cx="3283527" cy="3266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 sz="21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7F5835-38CC-8243-990E-9846946AD4A9}"/>
              </a:ext>
            </a:extLst>
          </p:cNvPr>
          <p:cNvSpPr/>
          <p:nvPr/>
        </p:nvSpPr>
        <p:spPr>
          <a:xfrm>
            <a:off x="5334000" y="3946895"/>
            <a:ext cx="3283527" cy="32666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 sz="21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83CE37-6CAF-2645-8F69-2D7DB07F576B}"/>
              </a:ext>
            </a:extLst>
          </p:cNvPr>
          <p:cNvSpPr txBox="1"/>
          <p:nvPr/>
        </p:nvSpPr>
        <p:spPr>
          <a:xfrm>
            <a:off x="6560127" y="3946895"/>
            <a:ext cx="4156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D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7BBDCE-599C-704D-AD2A-256CF00C2744}"/>
              </a:ext>
            </a:extLst>
          </p:cNvPr>
          <p:cNvSpPr txBox="1"/>
          <p:nvPr/>
        </p:nvSpPr>
        <p:spPr>
          <a:xfrm>
            <a:off x="6580906" y="4310578"/>
            <a:ext cx="4156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D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C72F58-850F-AA47-A50A-F37F7DD6264D}"/>
              </a:ext>
            </a:extLst>
          </p:cNvPr>
          <p:cNvSpPr txBox="1"/>
          <p:nvPr/>
        </p:nvSpPr>
        <p:spPr>
          <a:xfrm>
            <a:off x="6580905" y="4633002"/>
            <a:ext cx="4156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D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29FC18-58E6-334E-9EAC-0461FC02E662}"/>
              </a:ext>
            </a:extLst>
          </p:cNvPr>
          <p:cNvSpPr txBox="1"/>
          <p:nvPr/>
        </p:nvSpPr>
        <p:spPr>
          <a:xfrm rot="16200000">
            <a:off x="4279278" y="4072219"/>
            <a:ext cx="14755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D" sz="1500" dirty="0"/>
              <a:t>Frequency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57B9A1-117E-1142-9A26-C7D7527072DB}"/>
              </a:ext>
            </a:extLst>
          </p:cNvPr>
          <p:cNvSpPr txBox="1"/>
          <p:nvPr/>
        </p:nvSpPr>
        <p:spPr>
          <a:xfrm>
            <a:off x="6375062" y="4976333"/>
            <a:ext cx="14755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D" sz="1500" dirty="0"/>
              <a:t>Time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CC36074A-F588-49DC-95A3-A11D845242A1}"/>
              </a:ext>
            </a:extLst>
          </p:cNvPr>
          <p:cNvSpPr txBox="1">
            <a:spLocks noChangeArrowheads="1"/>
          </p:cNvSpPr>
          <p:nvPr/>
        </p:nvSpPr>
        <p:spPr>
          <a:xfrm>
            <a:off x="1335880" y="911479"/>
            <a:ext cx="6665119" cy="857250"/>
          </a:xfrm>
          <a:prstGeom prst="rect">
            <a:avLst/>
          </a:prstGeom>
          <a:effectLst/>
        </p:spPr>
        <p:txBody>
          <a:bodyPr vert="horz" lIns="68580" tIns="34290" rIns="68580" bIns="3429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4400" dirty="0">
                <a:latin typeface="Gill Sans MT" charset="0"/>
              </a:rPr>
              <a:t>FDMA: Frequency Division Multiple Access</a:t>
            </a:r>
            <a:endParaRPr lang="en-US" sz="4800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74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FA40E-6763-1E40-B012-41AADE0B1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231" y="1842251"/>
            <a:ext cx="7514035" cy="1229154"/>
          </a:xfrm>
        </p:spPr>
        <p:txBody>
          <a:bodyPr/>
          <a:lstStyle/>
          <a:p>
            <a:r>
              <a:rPr lang="en-GB" sz="2400" dirty="0"/>
              <a:t>Assigns a different code to each node. </a:t>
            </a:r>
          </a:p>
          <a:p>
            <a:r>
              <a:rPr lang="en-GB" sz="2400" dirty="0"/>
              <a:t>Each node then uses its unique code to encode the data bits it sends. </a:t>
            </a:r>
          </a:p>
          <a:p>
            <a:endParaRPr lang="en-BD" sz="2400" dirty="0"/>
          </a:p>
        </p:txBody>
      </p:sp>
      <p:sp>
        <p:nvSpPr>
          <p:cNvPr id="4" name="Rectangle 74">
            <a:extLst>
              <a:ext uri="{FF2B5EF4-FFF2-40B4-BE49-F238E27FC236}">
                <a16:creationId xmlns:a16="http://schemas.microsoft.com/office/drawing/2014/main" id="{C217BDA2-53BD-7B4F-B903-E4DE1BC41F2A}"/>
              </a:ext>
            </a:extLst>
          </p:cNvPr>
          <p:cNvSpPr txBox="1">
            <a:spLocks noChangeArrowheads="1"/>
          </p:cNvSpPr>
          <p:nvPr/>
        </p:nvSpPr>
        <p:spPr>
          <a:xfrm>
            <a:off x="1219200" y="763476"/>
            <a:ext cx="6472238" cy="857250"/>
          </a:xfrm>
          <a:prstGeom prst="rect">
            <a:avLst/>
          </a:prstGeom>
          <a:effectLst/>
        </p:spPr>
        <p:txBody>
          <a:bodyPr vert="horz" lIns="68580" tIns="34290" rIns="68580" bIns="3429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4400" dirty="0">
                <a:latin typeface="Gill Sans MT" charset="0"/>
              </a:rPr>
              <a:t>CDMA: Code Division Multiple Access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C5E0DF-0D73-AF44-AEC7-5AE0E2DE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72912A-1472-F840-B781-695E12560F6A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08C4D1-FBBB-0F4D-B2E6-56A11A958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4600575"/>
            <a:ext cx="5343525" cy="14954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D23A19E-BCEB-5F49-979E-2D70BE52E261}"/>
              </a:ext>
            </a:extLst>
          </p:cNvPr>
          <p:cNvSpPr/>
          <p:nvPr/>
        </p:nvSpPr>
        <p:spPr>
          <a:xfrm>
            <a:off x="1113231" y="3292930"/>
            <a:ext cx="4752975" cy="759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latin typeface="Gill Sans MT" charset="0"/>
              </a:rPr>
              <a:t>Disadvantage</a:t>
            </a:r>
          </a:p>
          <a:p>
            <a:pPr marL="257175" indent="-257175">
              <a:lnSpc>
                <a:spcPct val="150000"/>
              </a:lnSpc>
              <a:buClr>
                <a:srgbClr val="FF0000"/>
              </a:buClr>
              <a:buSzPct val="100000"/>
              <a:buFont typeface="Wingdings" pitchFamily="2" charset="2"/>
              <a:buChar char="§"/>
              <a:defRPr/>
            </a:pPr>
            <a:r>
              <a:rPr lang="en-BD" dirty="0"/>
              <a:t>Total frequency band is used inefficiently.</a:t>
            </a:r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58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604511"/>
            <a:ext cx="6075760" cy="85725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</a:rPr>
              <a:t>MAC protocols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AC8EA9F-C44C-CF46-87B3-6BDE4BB44EE6}"/>
              </a:ext>
            </a:extLst>
          </p:cNvPr>
          <p:cNvGraphicFramePr/>
          <p:nvPr/>
        </p:nvGraphicFramePr>
        <p:xfrm>
          <a:off x="360093" y="1728073"/>
          <a:ext cx="5680364" cy="38798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B0CE95E-2AB6-1D42-AF20-B932F8218A69}"/>
              </a:ext>
            </a:extLst>
          </p:cNvPr>
          <p:cNvSpPr/>
          <p:nvPr/>
        </p:nvSpPr>
        <p:spPr>
          <a:xfrm>
            <a:off x="5299363" y="2463863"/>
            <a:ext cx="3484544" cy="584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Gill Sans MT" charset="0"/>
              </a:rPr>
              <a:t>Efficient and fair at 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</a:rPr>
              <a:t>High load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Gill Sans MT" charset="0"/>
              </a:rPr>
              <a:t>Inefficient at low load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C20757-91DC-A548-BE3B-5771FBE97ED9}"/>
              </a:ext>
            </a:extLst>
          </p:cNvPr>
          <p:cNvSpPr/>
          <p:nvPr/>
        </p:nvSpPr>
        <p:spPr>
          <a:xfrm>
            <a:off x="5299363" y="3375609"/>
            <a:ext cx="3072443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Gill Sans MT" charset="0"/>
              </a:rPr>
              <a:t>Efficient at 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</a:rPr>
              <a:t>Low Load</a:t>
            </a:r>
          </a:p>
          <a:p>
            <a:pPr marL="214313" indent="-214313">
              <a:buFont typeface="Arial" panose="020B0604020202020204" pitchFamily="34" charset="0"/>
              <a:buChar char="•"/>
              <a:defRPr/>
            </a:pPr>
            <a:r>
              <a:rPr lang="en-US" altLang="ja-JP" sz="2400" dirty="0">
                <a:latin typeface="Gill Sans MT" charset="0"/>
              </a:rPr>
              <a:t>Inefficient at high load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DC9552-9252-0749-A9A8-14A1DEFC9415}"/>
              </a:ext>
            </a:extLst>
          </p:cNvPr>
          <p:cNvSpPr/>
          <p:nvPr/>
        </p:nvSpPr>
        <p:spPr>
          <a:xfrm>
            <a:off x="5299364" y="4357621"/>
            <a:ext cx="2857500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400" dirty="0">
                <a:latin typeface="Gill Sans MT" charset="0"/>
              </a:rPr>
              <a:t>Best of both worlds?</a:t>
            </a:r>
            <a:endParaRPr lang="en-BD" sz="2400" dirty="0"/>
          </a:p>
        </p:txBody>
      </p:sp>
    </p:spTree>
    <p:extLst>
      <p:ext uri="{BB962C8B-B14F-4D97-AF65-F5344CB8AC3E}">
        <p14:creationId xmlns:p14="http://schemas.microsoft.com/office/powerpoint/2010/main" val="238911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 Summary of </a:t>
            </a:r>
            <a:r>
              <a:rPr lang="en-US" dirty="0">
                <a:latin typeface="Gill Sans MT" charset="0"/>
              </a:rPr>
              <a:t>MAC</a:t>
            </a:r>
            <a:r>
              <a:rPr lang="en-US" dirty="0">
                <a:latin typeface="Gill Sans MT" charset="0"/>
                <a:cs typeface="+mj-cs"/>
              </a:rPr>
              <a:t> protocols</a:t>
            </a: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3050" y="2057401"/>
            <a:ext cx="5829300" cy="3680222"/>
          </a:xfrm>
        </p:spPr>
        <p:txBody>
          <a:bodyPr>
            <a:normAutofit fontScale="70000" lnSpcReduction="20000"/>
          </a:bodyPr>
          <a:lstStyle/>
          <a:p>
            <a:pPr marL="173831" indent="-173831"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channel partitioning,</a:t>
            </a:r>
            <a:r>
              <a:rPr lang="en-US" dirty="0">
                <a:solidFill>
                  <a:srgbClr val="CC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by time, frequency or code</a:t>
            </a:r>
          </a:p>
          <a:p>
            <a:pPr marL="517922" lvl="1" indent="-175022">
              <a:defRPr/>
            </a:pPr>
            <a:r>
              <a:rPr lang="en-US" dirty="0">
                <a:latin typeface="Gill Sans MT" charset="0"/>
              </a:rPr>
              <a:t>Time Division, Frequency Division</a:t>
            </a:r>
          </a:p>
          <a:p>
            <a:pPr marL="173831" indent="-173831"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random access </a:t>
            </a:r>
            <a:r>
              <a:rPr lang="en-US" dirty="0">
                <a:latin typeface="Gill Sans MT" charset="0"/>
              </a:rPr>
              <a:t>(dynamic), </a:t>
            </a:r>
          </a:p>
          <a:p>
            <a:pPr marL="517922" lvl="1" indent="-175022">
              <a:defRPr/>
            </a:pPr>
            <a:r>
              <a:rPr lang="en-US" dirty="0">
                <a:latin typeface="Gill Sans MT" charset="0"/>
              </a:rPr>
              <a:t>ALOHA, S-ALOHA, CSMA, CSMA/CD</a:t>
            </a:r>
          </a:p>
          <a:p>
            <a:pPr marL="517922" lvl="1" indent="-175022">
              <a:defRPr/>
            </a:pPr>
            <a:r>
              <a:rPr lang="en-US" dirty="0">
                <a:latin typeface="Gill Sans MT" charset="0"/>
              </a:rPr>
              <a:t>carrier sensing: easy in some technologies (wire), hard in others (wireless)</a:t>
            </a:r>
          </a:p>
          <a:p>
            <a:pPr marL="517922" lvl="1" indent="-175022">
              <a:defRPr/>
            </a:pPr>
            <a:r>
              <a:rPr lang="en-US" dirty="0">
                <a:latin typeface="Gill Sans MT" charset="0"/>
              </a:rPr>
              <a:t>CSMA/CD used in Ethernet</a:t>
            </a:r>
          </a:p>
          <a:p>
            <a:pPr marL="517922" lvl="1" indent="-175022">
              <a:defRPr/>
            </a:pPr>
            <a:r>
              <a:rPr lang="en-US" dirty="0">
                <a:latin typeface="Gill Sans MT" charset="0"/>
              </a:rPr>
              <a:t>CSMA/CA used in 802.11</a:t>
            </a:r>
          </a:p>
          <a:p>
            <a:pPr marL="173831" indent="-173831">
              <a:tabLst>
                <a:tab pos="209550" algn="l"/>
              </a:tabLst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taking turns</a:t>
            </a:r>
          </a:p>
          <a:p>
            <a:pPr marL="517922" lvl="1" indent="-175022">
              <a:defRPr/>
            </a:pPr>
            <a:r>
              <a:rPr lang="en-US" dirty="0">
                <a:latin typeface="Gill Sans MT" charset="0"/>
              </a:rPr>
              <a:t>polling from central site, token passing</a:t>
            </a:r>
          </a:p>
          <a:p>
            <a:pPr marL="517922" lvl="1" indent="-175022">
              <a:defRPr/>
            </a:pPr>
            <a:r>
              <a:rPr lang="en-US" dirty="0">
                <a:latin typeface="Gill Sans MT" charset="0"/>
              </a:rPr>
              <a:t>Bluetooth, FDDI,  token ring </a:t>
            </a:r>
          </a:p>
        </p:txBody>
      </p:sp>
    </p:spTree>
    <p:extLst>
      <p:ext uri="{BB962C8B-B14F-4D97-AF65-F5344CB8AC3E}">
        <p14:creationId xmlns:p14="http://schemas.microsoft.com/office/powerpoint/2010/main" val="2024727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D3A5D-9FA1-C74A-94BF-28E2AFED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THE END!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18D53-2071-3244-B494-52D60AA68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5355500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27.6|25.9|13.2|19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|11.6|17.5|11.1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1" i="1" u="none" strike="noStrike" cap="none" normalizeH="0" baseline="-1000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1" i="1" u="none" strike="noStrike" cap="none" normalizeH="0" baseline="-1000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3392</TotalTime>
  <Words>1459</Words>
  <Application>Microsoft Office PowerPoint</Application>
  <PresentationFormat>On-screen Show (4:3)</PresentationFormat>
  <Paragraphs>254</Paragraphs>
  <Slides>41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3" baseType="lpstr">
      <vt:lpstr>Arial</vt:lpstr>
      <vt:lpstr>Gill Sans MT</vt:lpstr>
      <vt:lpstr>McGrawHill-Italic</vt:lpstr>
      <vt:lpstr>Symbol</vt:lpstr>
      <vt:lpstr>Tahoma</vt:lpstr>
      <vt:lpstr>Times</vt:lpstr>
      <vt:lpstr>Times New Roman</vt:lpstr>
      <vt:lpstr>Times-Bold</vt:lpstr>
      <vt:lpstr>Times-Roman</vt:lpstr>
      <vt:lpstr>Verdana</vt:lpstr>
      <vt:lpstr>Wingdings</vt:lpstr>
      <vt:lpstr>Blends</vt:lpstr>
      <vt:lpstr>PowerPoint Presentation</vt:lpstr>
      <vt:lpstr>Link Layer Terminology</vt:lpstr>
      <vt:lpstr>Link Layer and LANs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MAC protocols</vt:lpstr>
      <vt:lpstr> Summary of MAC protocols</vt:lpstr>
      <vt:lpstr>THE END!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Mehnaz Seraj</cp:lastModifiedBy>
  <cp:revision>193</cp:revision>
  <dcterms:created xsi:type="dcterms:W3CDTF">2000-01-15T04:50:39Z</dcterms:created>
  <dcterms:modified xsi:type="dcterms:W3CDTF">2023-12-07T15:44:17Z</dcterms:modified>
</cp:coreProperties>
</file>