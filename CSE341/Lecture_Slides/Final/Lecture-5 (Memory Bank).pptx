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6858000" cx="9144000"/>
  <p:notesSz cx="7315200" cy="9601200"/>
  <p:embeddedFontLst>
    <p:embeddedFont>
      <p:font typeface="Gill Sans"/>
      <p:regular r:id="rId22"/>
      <p:bold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TVT56Rn5wL9xMVsiHkQmtqA6V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F207E3-A46E-4F35-9C03-7268249B74C1}">
  <a:tblStyle styleId="{A2F207E3-A46E-4F35-9C03-7268249B74C1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F3ECE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3ECEB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5"/>
          </a:solidFill>
        </a:fill>
      </a:tcStyle>
    </a:firstRow>
    <a:neCell>
      <a:tcTxStyle b="off" i="off"/>
    </a:neCell>
    <a:nwCell>
      <a:tcTxStyle b="off" i="off"/>
    </a:nwCell>
  </a:tblStyle>
  <a:tblStyle styleId="{E8D68585-245D-453B-BD6D-890F8CF58687}" styleName="Table_1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5">
              <a:alpha val="40000"/>
            </a:schemeClr>
          </a:solidFill>
        </a:fill>
      </a:tcStyle>
    </a:band1H>
    <a:band2H>
      <a:tcTxStyle b="off" i="off"/>
    </a:band2H>
    <a:band1V>
      <a:tcTxStyle b="off" i="off"/>
      <a:tcStyle>
        <a:tcBdr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TxStyle b="off" i="off"/>
    </a:band2V>
    <a:lastCol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5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GillSans-regular.fntdata"/><Relationship Id="rId21" Type="http://schemas.openxmlformats.org/officeDocument/2006/relationships/slide" Target="slides/slide14.xml"/><Relationship Id="rId24" Type="http://schemas.openxmlformats.org/officeDocument/2006/relationships/font" Target="fonts/Merriweather-regular.fntdata"/><Relationship Id="rId23" Type="http://schemas.openxmlformats.org/officeDocument/2006/relationships/font" Target="fonts/Gill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8" Type="http://customschemas.google.com/relationships/presentationmetadata" Target="metadata"/><Relationship Id="rId27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16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" name="Google Shape;24;p16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16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16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BracU Logo | Brac University" id="33" name="Google Shape;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273" y="152400"/>
            <a:ext cx="99652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9"/>
          <p:cNvSpPr txBox="1"/>
          <p:nvPr/>
        </p:nvSpPr>
        <p:spPr>
          <a:xfrm>
            <a:off x="1676400" y="63398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pic>
        <p:nvPicPr>
          <p:cNvPr descr="BracU Logo | Brac University" id="49" name="Google Shape;4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273" y="152400"/>
            <a:ext cx="99652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8"/>
          <p:cNvSpPr txBox="1"/>
          <p:nvPr/>
        </p:nvSpPr>
        <p:spPr>
          <a:xfrm>
            <a:off x="2286000" y="6356350"/>
            <a:ext cx="457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0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" name="Google Shape;57;p20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" name="Google Shape;58;p20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" name="Google Shape;59;p20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BracU Logo | Brac University" id="66" name="Google Shape;6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273" y="152400"/>
            <a:ext cx="99652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" name="Google Shape;14;p15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" name="Google Shape;15;p15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" name="Google Shape;16;p15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2286000" y="6248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17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8" name="Google Shape;38;p1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" name="Google Shape;40;p17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1" name="Google Shape;41;p17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2" name="Google Shape;42;p1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2286000" y="6248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Relationship Id="rId4" Type="http://schemas.openxmlformats.org/officeDocument/2006/relationships/image" Target="../media/image7.png"/><Relationship Id="rId9" Type="http://schemas.openxmlformats.org/officeDocument/2006/relationships/image" Target="../media/image49.png"/><Relationship Id="rId5" Type="http://schemas.openxmlformats.org/officeDocument/2006/relationships/image" Target="../media/image16.png"/><Relationship Id="rId6" Type="http://schemas.openxmlformats.org/officeDocument/2006/relationships/image" Target="../media/image25.png"/><Relationship Id="rId7" Type="http://schemas.openxmlformats.org/officeDocument/2006/relationships/image" Target="../media/image21.png"/><Relationship Id="rId8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9" Type="http://schemas.openxmlformats.org/officeDocument/2006/relationships/image" Target="../media/image24.png"/><Relationship Id="rId5" Type="http://schemas.openxmlformats.org/officeDocument/2006/relationships/image" Target="../media/image47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9" Type="http://schemas.openxmlformats.org/officeDocument/2006/relationships/image" Target="../media/image32.png"/><Relationship Id="rId5" Type="http://schemas.openxmlformats.org/officeDocument/2006/relationships/image" Target="../media/image27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48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36.png"/><Relationship Id="rId13" Type="http://schemas.openxmlformats.org/officeDocument/2006/relationships/image" Target="../media/image38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9" Type="http://schemas.openxmlformats.org/officeDocument/2006/relationships/image" Target="../media/image30.png"/><Relationship Id="rId5" Type="http://schemas.openxmlformats.org/officeDocument/2006/relationships/image" Target="../media/image44.png"/><Relationship Id="rId6" Type="http://schemas.openxmlformats.org/officeDocument/2006/relationships/image" Target="../media/image29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27.png"/><Relationship Id="rId13" Type="http://schemas.openxmlformats.org/officeDocument/2006/relationships/image" Target="../media/image16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44.png"/><Relationship Id="rId9" Type="http://schemas.openxmlformats.org/officeDocument/2006/relationships/image" Target="../media/image36.png"/><Relationship Id="rId15" Type="http://schemas.openxmlformats.org/officeDocument/2006/relationships/image" Target="../media/image41.png"/><Relationship Id="rId14" Type="http://schemas.openxmlformats.org/officeDocument/2006/relationships/image" Target="../media/image46.png"/><Relationship Id="rId17" Type="http://schemas.openxmlformats.org/officeDocument/2006/relationships/image" Target="../media/image45.png"/><Relationship Id="rId16" Type="http://schemas.openxmlformats.org/officeDocument/2006/relationships/image" Target="../media/image42.png"/><Relationship Id="rId5" Type="http://schemas.openxmlformats.org/officeDocument/2006/relationships/image" Target="../media/image2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1143000" y="40386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ookman Old Style"/>
              <a:buNone/>
            </a:pPr>
            <a:br>
              <a:rPr lang="en-US" sz="1600"/>
            </a:br>
            <a:br>
              <a:rPr lang="en-US" sz="1600"/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Dept. of Computer Science and Engineering</a:t>
            </a:r>
            <a:br>
              <a:rPr lang="en-US" sz="14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BRAC University</a:t>
            </a: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b="1"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341 Team</a:t>
            </a:r>
            <a:br>
              <a:rPr b="1" lang="en-US" sz="1600">
                <a:latin typeface="Merriweather"/>
                <a:ea typeface="Merriweather"/>
                <a:cs typeface="Merriweather"/>
                <a:sym typeface="Merriweather"/>
              </a:rPr>
            </a:br>
            <a:endParaRPr b="1"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76200" y="4038600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8086 Memory Banks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racU Logo | Brac University" id="74" name="Google Shape;7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4604" y="1447800"/>
            <a:ext cx="1494791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Lecture References:</a:t>
            </a:r>
            <a:endParaRPr/>
          </a:p>
        </p:txBody>
      </p:sp>
      <p:sp>
        <p:nvSpPr>
          <p:cNvPr id="80" name="Google Shape;80;p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b="1" lang="en-US"/>
              <a:t>Book:</a:t>
            </a:r>
            <a:endParaRPr/>
          </a:p>
          <a:p>
            <a:pPr indent="-274320" lvl="1" marL="548640" rtl="0" algn="just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>
                <a:solidFill>
                  <a:schemeClr val="dk1"/>
                </a:solidFill>
              </a:rPr>
              <a:t>Microprocessors and Interfacing: Programming and Hardware, </a:t>
            </a:r>
            <a:r>
              <a:rPr b="1" lang="en-US">
                <a:solidFill>
                  <a:schemeClr val="dk1"/>
                </a:solidFill>
              </a:rPr>
              <a:t>Author: </a:t>
            </a:r>
            <a:r>
              <a:rPr lang="en-US">
                <a:solidFill>
                  <a:schemeClr val="dk1"/>
                </a:solidFill>
              </a:rPr>
              <a:t>Douglas V. Hall</a:t>
            </a:r>
            <a:endParaRPr/>
          </a:p>
          <a:p>
            <a:pPr indent="-274320" lvl="1" marL="548640" rtl="0" algn="just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>
                <a:solidFill>
                  <a:schemeClr val="dk1"/>
                </a:solidFill>
              </a:rPr>
              <a:t>The 8086/8088 Family: Design, Programming, And Interfacing,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Author: </a:t>
            </a:r>
            <a:r>
              <a:rPr lang="en-US">
                <a:solidFill>
                  <a:schemeClr val="dk1"/>
                </a:solidFill>
              </a:rPr>
              <a:t> John Uffenbeck.</a:t>
            </a:r>
            <a:endParaRPr/>
          </a:p>
          <a:p>
            <a:pPr indent="-163322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7432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63322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" name="Google Shape;81;p2"/>
          <p:cNvSpPr txBox="1"/>
          <p:nvPr>
            <p:ph idx="4294967295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 b="1" i="0" sz="12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8086 Memory Organisation</a:t>
            </a:r>
            <a:endParaRPr sz="3600">
              <a:solidFill>
                <a:srgbClr val="3F3F3F"/>
              </a:solidFill>
            </a:endParaRPr>
          </a:p>
        </p:txBody>
      </p:sp>
      <p:sp>
        <p:nvSpPr>
          <p:cNvPr id="87" name="Google Shape;87;p3"/>
          <p:cNvSpPr txBox="1"/>
          <p:nvPr>
            <p:ph idx="1" type="body"/>
          </p:nvPr>
        </p:nvSpPr>
        <p:spPr>
          <a:xfrm>
            <a:off x="457200" y="1219200"/>
            <a:ext cx="5410200" cy="518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68" l="-1124" r="-213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 </a:t>
            </a:r>
            <a:endParaRPr/>
          </a:p>
        </p:txBody>
      </p:sp>
      <p:pic>
        <p:nvPicPr>
          <p:cNvPr id="88" name="Google Shape;8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1304409"/>
            <a:ext cx="2282952" cy="4767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8086 Memory Organisation</a:t>
            </a:r>
            <a:endParaRPr sz="3600">
              <a:solidFill>
                <a:srgbClr val="3F3F3F"/>
              </a:solidFill>
            </a:endParaRPr>
          </a:p>
        </p:txBody>
      </p:sp>
      <p:sp>
        <p:nvSpPr>
          <p:cNvPr id="94" name="Google Shape;94;p4"/>
          <p:cNvSpPr txBox="1"/>
          <p:nvPr>
            <p:ph idx="1" type="body"/>
          </p:nvPr>
        </p:nvSpPr>
        <p:spPr>
          <a:xfrm>
            <a:off x="457200" y="1219200"/>
            <a:ext cx="5562600" cy="5105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74" l="-983" r="-185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 </a:t>
            </a:r>
            <a:endParaRPr/>
          </a:p>
        </p:txBody>
      </p:sp>
      <p:pic>
        <p:nvPicPr>
          <p:cNvPr id="95" name="Google Shape;9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1304409"/>
            <a:ext cx="2282952" cy="4767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8086 Memory Organisation</a:t>
            </a:r>
            <a:endParaRPr sz="3600">
              <a:solidFill>
                <a:srgbClr val="3F3F3F"/>
              </a:solidFill>
            </a:endParaRPr>
          </a:p>
        </p:txBody>
      </p:sp>
      <p:sp>
        <p:nvSpPr>
          <p:cNvPr id="101" name="Google Shape;101;p5"/>
          <p:cNvSpPr txBox="1"/>
          <p:nvPr>
            <p:ph idx="1" type="body"/>
          </p:nvPr>
        </p:nvSpPr>
        <p:spPr>
          <a:xfrm>
            <a:off x="457199" y="1447800"/>
            <a:ext cx="5712661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Addresses are consecutively numbered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All even numbers end with a 0 and all odd numbers end with a 1</a:t>
            </a:r>
            <a:endParaRPr/>
          </a:p>
          <a:p>
            <a:pPr indent="-139192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  <a:p>
            <a:pPr indent="-139192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  <a:p>
            <a:pPr indent="-139192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</p:txBody>
      </p:sp>
      <p:grpSp>
        <p:nvGrpSpPr>
          <p:cNvPr id="102" name="Google Shape;102;p5"/>
          <p:cNvGrpSpPr/>
          <p:nvPr/>
        </p:nvGrpSpPr>
        <p:grpSpPr>
          <a:xfrm>
            <a:off x="6705600" y="5943600"/>
            <a:ext cx="1524000" cy="396769"/>
            <a:chOff x="6705600" y="5943600"/>
            <a:chExt cx="1524000" cy="396769"/>
          </a:xfrm>
        </p:grpSpPr>
        <p:sp>
          <p:nvSpPr>
            <p:cNvPr id="103" name="Google Shape;103;p5"/>
            <p:cNvSpPr/>
            <p:nvPr/>
          </p:nvSpPr>
          <p:spPr>
            <a:xfrm>
              <a:off x="6705600" y="6018543"/>
              <a:ext cx="658368" cy="27432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7596370" y="6018543"/>
              <a:ext cx="633230" cy="27432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5" name="Google Shape;105;p5"/>
            <p:cNvSpPr txBox="1"/>
            <p:nvPr/>
          </p:nvSpPr>
          <p:spPr>
            <a:xfrm>
              <a:off x="6734113" y="5943600"/>
              <a:ext cx="5787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even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"/>
            <p:cNvSpPr txBox="1"/>
            <p:nvPr/>
          </p:nvSpPr>
          <p:spPr>
            <a:xfrm>
              <a:off x="7618476" y="5971037"/>
              <a:ext cx="50687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odd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5476" y="1332871"/>
            <a:ext cx="2286000" cy="449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Google Shape;108;p5"/>
          <p:cNvGraphicFramePr/>
          <p:nvPr/>
        </p:nvGraphicFramePr>
        <p:xfrm>
          <a:off x="1637130" y="38429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{A2F207E3-A46E-4F35-9C03-7268249B74C1}</a:tableStyleId>
              </a:tblPr>
              <a:tblGrid>
                <a:gridCol w="609600"/>
                <a:gridCol w="914400"/>
                <a:gridCol w="838200"/>
                <a:gridCol w="838200"/>
              </a:tblGrid>
              <a:tr h="3200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</a:rPr>
                        <a:t>Even</a:t>
                      </a:r>
                      <a:endParaRPr b="1" i="0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Odd</a:t>
                      </a:r>
                      <a:endParaRPr sz="1400" u="none" cap="none" strike="noStrike"/>
                    </a:p>
                  </a:txBody>
                  <a:tcPr marT="60950" marB="60950" marR="60950" marL="60950"/>
                </a:tc>
                <a:tc hMerge="1"/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6 =</a:t>
                      </a:r>
                      <a:endParaRPr b="1" i="0" sz="1600" u="none" cap="none" strike="noStrike">
                        <a:solidFill>
                          <a:srgbClr val="FF00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r>
                        <a:rPr b="1" i="0" lang="en-US" sz="1600" u="none" cap="none" strike="noStrike">
                          <a:solidFill>
                            <a:srgbClr val="FF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60950" marB="60950" marR="60950" marL="609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5 =</a:t>
                      </a:r>
                      <a:endParaRPr b="1" i="0" sz="16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1" i="0" sz="16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 =</a:t>
                      </a:r>
                      <a:endParaRPr b="1" i="0" sz="1600" u="none" cap="none" strike="noStrike">
                        <a:solidFill>
                          <a:srgbClr val="FF00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</a:t>
                      </a:r>
                      <a:r>
                        <a:rPr b="1" i="0" lang="en-US" sz="1600" u="none" cap="none" strike="noStrike">
                          <a:solidFill>
                            <a:srgbClr val="FF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60950" marB="60950" marR="60950" marL="609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 =</a:t>
                      </a:r>
                      <a:endParaRPr b="1" i="0" sz="16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60950" marB="60950" marR="60950" marL="609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=</a:t>
                      </a:r>
                      <a:endParaRPr b="1" i="0" sz="1600" u="none" cap="none" strike="noStrike">
                        <a:solidFill>
                          <a:srgbClr val="FF00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</a:t>
                      </a:r>
                      <a:r>
                        <a:rPr b="1" i="0" lang="en-US" sz="1600" u="none" cap="none" strike="noStrike">
                          <a:solidFill>
                            <a:srgbClr val="FF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60950" marB="60950" marR="60950" marL="609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 =</a:t>
                      </a:r>
                      <a:endParaRPr b="1" i="0" sz="16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1101</a:t>
                      </a: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60950" marB="60950" marR="60950" marL="609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 =</a:t>
                      </a:r>
                      <a:endParaRPr b="1" i="0" sz="1600" u="none" cap="none" strike="noStrike">
                        <a:solidFill>
                          <a:srgbClr val="FF00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</a:t>
                      </a:r>
                      <a:r>
                        <a:rPr b="1" i="0" lang="en-US" sz="1600" u="none" cap="none" strike="noStrike">
                          <a:solidFill>
                            <a:srgbClr val="FF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60950" marB="60950" marR="60950" marL="609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 =</a:t>
                      </a:r>
                      <a:endParaRPr b="1" i="0" sz="16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10001</a:t>
                      </a: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60950" marB="60950" marR="60950" marL="609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8086 Memory Organisation</a:t>
            </a:r>
            <a:endParaRPr sz="3600">
              <a:solidFill>
                <a:srgbClr val="3F3F3F"/>
              </a:solidFill>
            </a:endParaRPr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457200" y="1143000"/>
            <a:ext cx="84582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Even addresses are considered as the </a:t>
            </a:r>
            <a:r>
              <a:rPr lang="en-US">
                <a:solidFill>
                  <a:srgbClr val="FF00FF"/>
                </a:solidFill>
              </a:rPr>
              <a:t>even/low bank</a:t>
            </a:r>
            <a:r>
              <a:rPr lang="en-US"/>
              <a:t>, which holds the content of the </a:t>
            </a:r>
            <a:r>
              <a:rPr lang="en-US">
                <a:solidFill>
                  <a:srgbClr val="FF00FF"/>
                </a:solidFill>
              </a:rPr>
              <a:t>low byte </a:t>
            </a:r>
            <a:r>
              <a:rPr lang="en-US"/>
              <a:t>while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Odd addresses are considered as the </a:t>
            </a:r>
            <a:r>
              <a:rPr lang="en-US">
                <a:solidFill>
                  <a:srgbClr val="00B0F0"/>
                </a:solidFill>
              </a:rPr>
              <a:t>odd/high bank</a:t>
            </a:r>
            <a:r>
              <a:rPr lang="en-US"/>
              <a:t>, which holds the content of the </a:t>
            </a:r>
            <a:r>
              <a:rPr lang="en-US">
                <a:solidFill>
                  <a:srgbClr val="00B0F0"/>
                </a:solidFill>
              </a:rPr>
              <a:t>high byte</a:t>
            </a:r>
            <a:endParaRPr/>
          </a:p>
          <a:p>
            <a:pPr indent="-139192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</p:txBody>
      </p:sp>
      <p:pic>
        <p:nvPicPr>
          <p:cNvPr id="115" name="Google Shape;115;p6"/>
          <p:cNvPicPr preferRelativeResize="0"/>
          <p:nvPr/>
        </p:nvPicPr>
        <p:blipFill rotWithShape="1">
          <a:blip r:embed="rId3">
            <a:alphaModFix/>
          </a:blip>
          <a:srcRect b="6680" l="5301" r="4840" t="5724"/>
          <a:stretch/>
        </p:blipFill>
        <p:spPr>
          <a:xfrm>
            <a:off x="2286000" y="3926513"/>
            <a:ext cx="4572000" cy="2398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8086 Memory Banks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066800"/>
            <a:ext cx="8458200" cy="216690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70" l="-28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 </a:t>
            </a:r>
            <a:endParaRPr/>
          </a:p>
        </p:txBody>
      </p:sp>
      <p:grpSp>
        <p:nvGrpSpPr>
          <p:cNvPr id="122" name="Google Shape;122;p7"/>
          <p:cNvGrpSpPr/>
          <p:nvPr/>
        </p:nvGrpSpPr>
        <p:grpSpPr>
          <a:xfrm>
            <a:off x="0" y="3566819"/>
            <a:ext cx="5222937" cy="2757781"/>
            <a:chOff x="2218627" y="3429000"/>
            <a:chExt cx="4392844" cy="2325638"/>
          </a:xfrm>
        </p:grpSpPr>
        <p:pic>
          <p:nvPicPr>
            <p:cNvPr id="123" name="Google Shape;123;p7"/>
            <p:cNvPicPr preferRelativeResize="0"/>
            <p:nvPr/>
          </p:nvPicPr>
          <p:blipFill rotWithShape="1">
            <a:blip r:embed="rId4">
              <a:alphaModFix/>
            </a:blip>
            <a:srcRect b="28528" l="9412" r="25538" t="9163"/>
            <a:stretch/>
          </p:blipFill>
          <p:spPr>
            <a:xfrm>
              <a:off x="2532529" y="3429000"/>
              <a:ext cx="4078942" cy="213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7"/>
            <p:cNvSpPr txBox="1"/>
            <p:nvPr/>
          </p:nvSpPr>
          <p:spPr>
            <a:xfrm>
              <a:off x="2218627" y="5424100"/>
              <a:ext cx="867930" cy="27699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7"/>
            <p:cNvSpPr txBox="1"/>
            <p:nvPr/>
          </p:nvSpPr>
          <p:spPr>
            <a:xfrm>
              <a:off x="6172200" y="5438001"/>
              <a:ext cx="410369" cy="27699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7"/>
            <p:cNvSpPr txBox="1"/>
            <p:nvPr/>
          </p:nvSpPr>
          <p:spPr>
            <a:xfrm>
              <a:off x="2966494" y="5207913"/>
              <a:ext cx="881395" cy="27699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7"/>
            <p:cNvSpPr txBox="1"/>
            <p:nvPr/>
          </p:nvSpPr>
          <p:spPr>
            <a:xfrm>
              <a:off x="5029200" y="5181600"/>
              <a:ext cx="814069" cy="27699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7"/>
            <p:cNvSpPr txBox="1"/>
            <p:nvPr/>
          </p:nvSpPr>
          <p:spPr>
            <a:xfrm>
              <a:off x="4122881" y="5477639"/>
              <a:ext cx="608481" cy="27699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7"/>
          <p:cNvSpPr txBox="1"/>
          <p:nvPr/>
        </p:nvSpPr>
        <p:spPr>
          <a:xfrm>
            <a:off x="5201883" y="3436856"/>
            <a:ext cx="3610236" cy="2885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4320" lvl="0" marL="27432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27CA3"/>
              </a:buClr>
              <a:buSzPts val="1520"/>
              <a:buFont typeface="Noto Sans"/>
              <a:buChar char="🞂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memory for an 8086 is set up in to 2 banks of up to 524,288 bytes or 512kB each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520"/>
              <a:buFont typeface="Noto Sans"/>
              <a:buChar char="🞂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This makes it possible to read/write a word with one machine cycle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8086 Memory Addressing</a:t>
            </a:r>
            <a:endParaRPr/>
          </a:p>
        </p:txBody>
      </p:sp>
      <p:sp>
        <p:nvSpPr>
          <p:cNvPr id="136" name="Google Shape;136;p8"/>
          <p:cNvSpPr txBox="1"/>
          <p:nvPr>
            <p:ph idx="1" type="body"/>
          </p:nvPr>
        </p:nvSpPr>
        <p:spPr>
          <a:xfrm>
            <a:off x="228600" y="990600"/>
            <a:ext cx="8763000" cy="2949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72"/>
              <a:buNone/>
            </a:pPr>
            <a:r>
              <a:rPr lang="en-US" sz="2200"/>
              <a:t>Data can be accessed from the memory in 4 different ways: </a:t>
            </a:r>
            <a:endParaRPr/>
          </a:p>
          <a:p>
            <a:pPr indent="-106171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8 - bit data from Even Bank e.g. from address 00002</a:t>
            </a:r>
            <a:endParaRPr/>
          </a:p>
          <a:p>
            <a:pPr indent="-106171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8 - bit data from Odd Bank e.g. from address 00003</a:t>
            </a:r>
            <a:endParaRPr/>
          </a:p>
          <a:p>
            <a:pPr indent="-106171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16 - bit data starting from Even Address e.g. from 00002 and 00003</a:t>
            </a:r>
            <a:endParaRPr/>
          </a:p>
          <a:p>
            <a:pPr indent="-106171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16 - bit data starting from Odd Address. e.g. from 00003 and 00004</a:t>
            </a:r>
            <a:endParaRPr/>
          </a:p>
          <a:p>
            <a:pPr indent="-168148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sz="2200"/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sz="2200"/>
          </a:p>
        </p:txBody>
      </p:sp>
      <p:grpSp>
        <p:nvGrpSpPr>
          <p:cNvPr id="137" name="Google Shape;137;p8"/>
          <p:cNvGrpSpPr/>
          <p:nvPr/>
        </p:nvGrpSpPr>
        <p:grpSpPr>
          <a:xfrm>
            <a:off x="4724400" y="4038600"/>
            <a:ext cx="4419600" cy="2209800"/>
            <a:chOff x="2218627" y="3429000"/>
            <a:chExt cx="4392844" cy="2325638"/>
          </a:xfrm>
        </p:grpSpPr>
        <p:pic>
          <p:nvPicPr>
            <p:cNvPr id="138" name="Google Shape;138;p8"/>
            <p:cNvPicPr preferRelativeResize="0"/>
            <p:nvPr/>
          </p:nvPicPr>
          <p:blipFill rotWithShape="1">
            <a:blip r:embed="rId3">
              <a:alphaModFix/>
            </a:blip>
            <a:srcRect b="28528" l="9412" r="25538" t="9163"/>
            <a:stretch/>
          </p:blipFill>
          <p:spPr>
            <a:xfrm>
              <a:off x="2532529" y="3429000"/>
              <a:ext cx="4078942" cy="213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8"/>
            <p:cNvSpPr txBox="1"/>
            <p:nvPr/>
          </p:nvSpPr>
          <p:spPr>
            <a:xfrm>
              <a:off x="2218627" y="5424100"/>
              <a:ext cx="867930" cy="2769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8"/>
            <p:cNvSpPr txBox="1"/>
            <p:nvPr/>
          </p:nvSpPr>
          <p:spPr>
            <a:xfrm>
              <a:off x="6172200" y="5438001"/>
              <a:ext cx="410369" cy="27699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8"/>
            <p:cNvSpPr txBox="1"/>
            <p:nvPr/>
          </p:nvSpPr>
          <p:spPr>
            <a:xfrm>
              <a:off x="2966494" y="5207913"/>
              <a:ext cx="881395" cy="27699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8"/>
            <p:cNvSpPr txBox="1"/>
            <p:nvPr/>
          </p:nvSpPr>
          <p:spPr>
            <a:xfrm>
              <a:off x="5029200" y="5181600"/>
              <a:ext cx="814069" cy="27699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8"/>
            <p:cNvSpPr txBox="1"/>
            <p:nvPr/>
          </p:nvSpPr>
          <p:spPr>
            <a:xfrm>
              <a:off x="4122881" y="5477639"/>
              <a:ext cx="608481" cy="27699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44" name="Google Shape;144;p8"/>
          <p:cNvGraphicFramePr/>
          <p:nvPr/>
        </p:nvGraphicFramePr>
        <p:xfrm>
          <a:off x="332839" y="3962400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ECCBC3"/>
                    </a:gs>
                    <a:gs pos="30000">
                      <a:srgbClr val="E6B8AA"/>
                    </a:gs>
                    <a:gs pos="45000">
                      <a:srgbClr val="E3AFA1"/>
                    </a:gs>
                    <a:gs pos="55000">
                      <a:srgbClr val="E3AFA1"/>
                    </a:gs>
                    <a:gs pos="73000">
                      <a:srgbClr val="E6B8AA"/>
                    </a:gs>
                    <a:gs pos="100000">
                      <a:srgbClr val="ECCBC3"/>
                    </a:gs>
                  </a:gsLst>
                  <a:lin ang="950000" scaled="0"/>
                </a:gradFill>
                <a:tableStyleId>{E8D68585-245D-453B-BD6D-890F8CF58687}</a:tableStyleId>
              </a:tblPr>
              <a:tblGrid>
                <a:gridCol w="478975"/>
                <a:gridCol w="692700"/>
                <a:gridCol w="1883150"/>
                <a:gridCol w="1031950"/>
              </a:tblGrid>
              <a:tr h="39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A</a:t>
                      </a:r>
                      <a:r>
                        <a:rPr baseline="-25000" lang="en-US" sz="1800"/>
                        <a:t>0</a:t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BHE’</a:t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7CA3"/>
                        </a:buClr>
                        <a:buSzPts val="1064"/>
                        <a:buFont typeface="Noto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Type of Transfer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7CA3"/>
                        </a:buClr>
                        <a:buSzPts val="1064"/>
                        <a:buFont typeface="Noto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Data Lines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Word i.e.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a byte from each bank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/>
                        <a:t>1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/>
                        <a:t>0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Byte from odd bank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/>
                        <a:t>0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/>
                        <a:t>1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Byte from even bank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/>
                        <a:t>1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/>
                        <a:t>None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/>
                        <a:t>-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A byte from Low/Even bank</a:t>
            </a:r>
            <a:endParaRPr/>
          </a:p>
        </p:txBody>
      </p:sp>
      <p:sp>
        <p:nvSpPr>
          <p:cNvPr id="151" name="Google Shape;151;p9"/>
          <p:cNvSpPr txBox="1"/>
          <p:nvPr>
            <p:ph idx="1" type="body"/>
          </p:nvPr>
        </p:nvSpPr>
        <p:spPr>
          <a:xfrm>
            <a:off x="457200" y="1152861"/>
            <a:ext cx="8229600" cy="2514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903" l="-51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 </a:t>
            </a:r>
            <a:endParaRPr/>
          </a:p>
        </p:txBody>
      </p:sp>
      <p:grpSp>
        <p:nvGrpSpPr>
          <p:cNvPr id="152" name="Google Shape;152;p9"/>
          <p:cNvGrpSpPr/>
          <p:nvPr/>
        </p:nvGrpSpPr>
        <p:grpSpPr>
          <a:xfrm>
            <a:off x="-76200" y="3886200"/>
            <a:ext cx="4778657" cy="2352338"/>
            <a:chOff x="1295400" y="4038601"/>
            <a:chExt cx="4724400" cy="2325629"/>
          </a:xfrm>
        </p:grpSpPr>
        <p:grpSp>
          <p:nvGrpSpPr>
            <p:cNvPr id="153" name="Google Shape;153;p9"/>
            <p:cNvGrpSpPr/>
            <p:nvPr/>
          </p:nvGrpSpPr>
          <p:grpSpPr>
            <a:xfrm>
              <a:off x="1295400" y="4038601"/>
              <a:ext cx="4724400" cy="2325629"/>
              <a:chOff x="2218627" y="3429000"/>
              <a:chExt cx="4392844" cy="2289633"/>
            </a:xfrm>
          </p:grpSpPr>
          <p:pic>
            <p:nvPicPr>
              <p:cNvPr id="154" name="Google Shape;154;p9"/>
              <p:cNvPicPr preferRelativeResize="0"/>
              <p:nvPr/>
            </p:nvPicPr>
            <p:blipFill rotWithShape="1">
              <a:blip r:embed="rId4">
                <a:alphaModFix/>
              </a:blip>
              <a:srcRect b="28528" l="9412" r="25538" t="9163"/>
              <a:stretch/>
            </p:blipFill>
            <p:spPr>
              <a:xfrm>
                <a:off x="2532529" y="3429000"/>
                <a:ext cx="4078942" cy="213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" name="Google Shape;155;p9"/>
              <p:cNvSpPr txBox="1"/>
              <p:nvPr/>
            </p:nvSpPr>
            <p:spPr>
              <a:xfrm>
                <a:off x="2218627" y="5424100"/>
                <a:ext cx="867930" cy="276999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9"/>
              <p:cNvSpPr txBox="1"/>
              <p:nvPr/>
            </p:nvSpPr>
            <p:spPr>
              <a:xfrm>
                <a:off x="6100559" y="5438001"/>
                <a:ext cx="508684" cy="240994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29265" l="0" r="-1208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9"/>
              <p:cNvSpPr txBox="1"/>
              <p:nvPr/>
            </p:nvSpPr>
            <p:spPr>
              <a:xfrm>
                <a:off x="2966494" y="5207913"/>
                <a:ext cx="881395" cy="276999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9"/>
              <p:cNvSpPr txBox="1"/>
              <p:nvPr/>
            </p:nvSpPr>
            <p:spPr>
              <a:xfrm>
                <a:off x="5029200" y="5181600"/>
                <a:ext cx="814069" cy="276999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9"/>
              <p:cNvSpPr txBox="1"/>
              <p:nvPr/>
            </p:nvSpPr>
            <p:spPr>
              <a:xfrm>
                <a:off x="3989021" y="5477639"/>
                <a:ext cx="734078" cy="240994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-29264" l="0" r="0" t="-243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" name="Google Shape;160;p9"/>
            <p:cNvSpPr/>
            <p:nvPr/>
          </p:nvSpPr>
          <p:spPr>
            <a:xfrm>
              <a:off x="4222461" y="5129784"/>
              <a:ext cx="1024128" cy="1280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aphicFrame>
        <p:nvGraphicFramePr>
          <p:cNvPr id="161" name="Google Shape;161;p9"/>
          <p:cNvGraphicFramePr/>
          <p:nvPr/>
        </p:nvGraphicFramePr>
        <p:xfrm>
          <a:off x="4896692" y="453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{E8D68585-245D-453B-BD6D-890F8CF58687}</a:tableStyleId>
              </a:tblPr>
              <a:tblGrid>
                <a:gridCol w="478975"/>
                <a:gridCol w="473575"/>
                <a:gridCol w="2102275"/>
                <a:gridCol w="1031950"/>
              </a:tblGrid>
              <a:tr h="39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7CA3"/>
                        </a:buClr>
                        <a:buSzPts val="1064"/>
                        <a:buFont typeface="Noto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Type of Transfer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7CA3"/>
                        </a:buClr>
                        <a:buSzPts val="1064"/>
                        <a:buFont typeface="Noto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Data Lines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</a:tr>
              <a:tr h="35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Byte from even bank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A byte from High/Odd bank</a:t>
            </a:r>
            <a:endParaRPr/>
          </a:p>
        </p:txBody>
      </p:sp>
      <p:grpSp>
        <p:nvGrpSpPr>
          <p:cNvPr id="168" name="Google Shape;168;p10"/>
          <p:cNvGrpSpPr/>
          <p:nvPr/>
        </p:nvGrpSpPr>
        <p:grpSpPr>
          <a:xfrm>
            <a:off x="0" y="3886200"/>
            <a:ext cx="4871054" cy="2357846"/>
            <a:chOff x="1295400" y="4038601"/>
            <a:chExt cx="4871054" cy="2357846"/>
          </a:xfrm>
        </p:grpSpPr>
        <p:grpSp>
          <p:nvGrpSpPr>
            <p:cNvPr id="169" name="Google Shape;169;p10"/>
            <p:cNvGrpSpPr/>
            <p:nvPr/>
          </p:nvGrpSpPr>
          <p:grpSpPr>
            <a:xfrm>
              <a:off x="1295400" y="4038601"/>
              <a:ext cx="4871054" cy="2357846"/>
              <a:chOff x="2218627" y="3429000"/>
              <a:chExt cx="4529206" cy="2321351"/>
            </a:xfrm>
          </p:grpSpPr>
          <p:pic>
            <p:nvPicPr>
              <p:cNvPr id="170" name="Google Shape;170;p10"/>
              <p:cNvPicPr preferRelativeResize="0"/>
              <p:nvPr/>
            </p:nvPicPr>
            <p:blipFill rotWithShape="1">
              <a:blip r:embed="rId3">
                <a:alphaModFix/>
              </a:blip>
              <a:srcRect b="28528" l="9412" r="25538" t="9163"/>
              <a:stretch/>
            </p:blipFill>
            <p:spPr>
              <a:xfrm>
                <a:off x="2532529" y="3429000"/>
                <a:ext cx="4078942" cy="213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" name="Google Shape;171;p10"/>
              <p:cNvSpPr txBox="1"/>
              <p:nvPr/>
            </p:nvSpPr>
            <p:spPr>
              <a:xfrm>
                <a:off x="2218627" y="5424100"/>
                <a:ext cx="867930" cy="276999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0"/>
              <p:cNvSpPr txBox="1"/>
              <p:nvPr/>
            </p:nvSpPr>
            <p:spPr>
              <a:xfrm>
                <a:off x="6172200" y="5438001"/>
                <a:ext cx="575633" cy="27271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-15212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0"/>
              <p:cNvSpPr txBox="1"/>
              <p:nvPr/>
            </p:nvSpPr>
            <p:spPr>
              <a:xfrm>
                <a:off x="2966494" y="5207913"/>
                <a:ext cx="881395" cy="276999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0"/>
              <p:cNvSpPr txBox="1"/>
              <p:nvPr/>
            </p:nvSpPr>
            <p:spPr>
              <a:xfrm>
                <a:off x="5029200" y="5181600"/>
                <a:ext cx="814069" cy="276999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0"/>
              <p:cNvSpPr txBox="1"/>
              <p:nvPr/>
            </p:nvSpPr>
            <p:spPr>
              <a:xfrm>
                <a:off x="3989935" y="5477639"/>
                <a:ext cx="779376" cy="27271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-17774" l="0" r="0" t="-221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6" name="Google Shape;176;p10"/>
            <p:cNvSpPr/>
            <p:nvPr/>
          </p:nvSpPr>
          <p:spPr>
            <a:xfrm>
              <a:off x="2066544" y="5129784"/>
              <a:ext cx="1033272" cy="1280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77" name="Google Shape;177;p10"/>
          <p:cNvSpPr txBox="1"/>
          <p:nvPr/>
        </p:nvSpPr>
        <p:spPr>
          <a:xfrm>
            <a:off x="457200" y="1143000"/>
            <a:ext cx="8229600" cy="25146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911" l="-51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8" name="Google Shape;178;p10"/>
          <p:cNvGraphicFramePr/>
          <p:nvPr/>
        </p:nvGraphicFramePr>
        <p:xfrm>
          <a:off x="4828533" y="44318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{E8D68585-245D-453B-BD6D-890F8CF58687}</a:tableStyleId>
              </a:tblPr>
              <a:tblGrid>
                <a:gridCol w="478975"/>
                <a:gridCol w="473575"/>
                <a:gridCol w="2102275"/>
                <a:gridCol w="1031950"/>
              </a:tblGrid>
              <a:tr h="39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7CA3"/>
                        </a:buClr>
                        <a:buSzPts val="1064"/>
                        <a:buFont typeface="Noto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Type of Transfer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7CA3"/>
                        </a:buClr>
                        <a:buSzPts val="1064"/>
                        <a:buFont typeface="Noto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Data Lines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</a:tr>
              <a:tr h="35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Byte from odd bank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An aligned word</a:t>
            </a:r>
            <a:br>
              <a:rPr lang="en-US" sz="3600">
                <a:solidFill>
                  <a:srgbClr val="3F3F3F"/>
                </a:solidFill>
              </a:rPr>
            </a:br>
            <a:r>
              <a:rPr i="1" lang="en-US" sz="2200">
                <a:solidFill>
                  <a:srgbClr val="3F3F3F"/>
                </a:solidFill>
              </a:rPr>
              <a:t>starting from an </a:t>
            </a:r>
            <a:r>
              <a:rPr b="1" i="1" lang="en-US" sz="2200">
                <a:solidFill>
                  <a:srgbClr val="3F3F3F"/>
                </a:solidFill>
              </a:rPr>
              <a:t>even</a:t>
            </a:r>
            <a:r>
              <a:rPr i="1" lang="en-US" sz="2200">
                <a:solidFill>
                  <a:srgbClr val="3F3F3F"/>
                </a:solidFill>
              </a:rPr>
              <a:t> address</a:t>
            </a:r>
            <a:endParaRPr i="1" sz="3600">
              <a:solidFill>
                <a:srgbClr val="3F3F3F"/>
              </a:solidFill>
            </a:endParaRPr>
          </a:p>
        </p:txBody>
      </p:sp>
      <p:grpSp>
        <p:nvGrpSpPr>
          <p:cNvPr id="185" name="Google Shape;185;p11"/>
          <p:cNvGrpSpPr/>
          <p:nvPr/>
        </p:nvGrpSpPr>
        <p:grpSpPr>
          <a:xfrm>
            <a:off x="5746" y="3962400"/>
            <a:ext cx="4871054" cy="2362200"/>
            <a:chOff x="1295400" y="4038601"/>
            <a:chExt cx="4871054" cy="2362200"/>
          </a:xfrm>
        </p:grpSpPr>
        <p:grpSp>
          <p:nvGrpSpPr>
            <p:cNvPr id="186" name="Google Shape;186;p11"/>
            <p:cNvGrpSpPr/>
            <p:nvPr/>
          </p:nvGrpSpPr>
          <p:grpSpPr>
            <a:xfrm>
              <a:off x="1295400" y="4038601"/>
              <a:ext cx="4871054" cy="2362200"/>
              <a:chOff x="2218627" y="3429000"/>
              <a:chExt cx="4529206" cy="2325638"/>
            </a:xfrm>
          </p:grpSpPr>
          <p:pic>
            <p:nvPicPr>
              <p:cNvPr id="187" name="Google Shape;187;p11"/>
              <p:cNvPicPr preferRelativeResize="0"/>
              <p:nvPr/>
            </p:nvPicPr>
            <p:blipFill rotWithShape="1">
              <a:blip r:embed="rId3">
                <a:alphaModFix/>
              </a:blip>
              <a:srcRect b="28528" l="9412" r="25538" t="9163"/>
              <a:stretch/>
            </p:blipFill>
            <p:spPr>
              <a:xfrm>
                <a:off x="2532529" y="3429000"/>
                <a:ext cx="4078942" cy="213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8" name="Google Shape;188;p11"/>
              <p:cNvSpPr txBox="1"/>
              <p:nvPr/>
            </p:nvSpPr>
            <p:spPr>
              <a:xfrm>
                <a:off x="2218627" y="5424100"/>
                <a:ext cx="867930" cy="276999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1"/>
              <p:cNvSpPr txBox="1"/>
              <p:nvPr/>
            </p:nvSpPr>
            <p:spPr>
              <a:xfrm>
                <a:off x="6172200" y="5438001"/>
                <a:ext cx="575633" cy="27271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-17774" l="0" r="0" t="-221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1"/>
              <p:cNvSpPr txBox="1"/>
              <p:nvPr/>
            </p:nvSpPr>
            <p:spPr>
              <a:xfrm>
                <a:off x="2966494" y="5207913"/>
                <a:ext cx="881395" cy="276999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1"/>
              <p:cNvSpPr txBox="1"/>
              <p:nvPr/>
            </p:nvSpPr>
            <p:spPr>
              <a:xfrm>
                <a:off x="5029200" y="5181600"/>
                <a:ext cx="814069" cy="276999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1"/>
              <p:cNvSpPr txBox="1"/>
              <p:nvPr/>
            </p:nvSpPr>
            <p:spPr>
              <a:xfrm>
                <a:off x="4122881" y="5477639"/>
                <a:ext cx="608481" cy="276999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5603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3" name="Google Shape;193;p11"/>
            <p:cNvSpPr/>
            <p:nvPr/>
          </p:nvSpPr>
          <p:spPr>
            <a:xfrm>
              <a:off x="4222461" y="5129784"/>
              <a:ext cx="1024128" cy="1280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2066544" y="5129784"/>
              <a:ext cx="1033272" cy="1280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aphicFrame>
        <p:nvGraphicFramePr>
          <p:cNvPr id="195" name="Google Shape;195;p11"/>
          <p:cNvGraphicFramePr/>
          <p:nvPr/>
        </p:nvGraphicFramePr>
        <p:xfrm>
          <a:off x="4879045" y="45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{E8D68585-245D-453B-BD6D-890F8CF58687}</a:tableStyleId>
              </a:tblPr>
              <a:tblGrid>
                <a:gridCol w="473350"/>
                <a:gridCol w="467975"/>
                <a:gridCol w="2077500"/>
                <a:gridCol w="1019775"/>
              </a:tblGrid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7CA3"/>
                        </a:buClr>
                        <a:buSzPts val="1064"/>
                        <a:buFont typeface="Noto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Type of Transfer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7CA3"/>
                        </a:buClr>
                        <a:buSzPts val="1064"/>
                        <a:buFont typeface="Noto San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Data Lines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Word i.e. 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a byte from each bank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</a:tr>
            </a:tbl>
          </a:graphicData>
        </a:graphic>
      </p:graphicFrame>
      <p:sp>
        <p:nvSpPr>
          <p:cNvPr id="196" name="Google Shape;196;p11"/>
          <p:cNvSpPr txBox="1"/>
          <p:nvPr/>
        </p:nvSpPr>
        <p:spPr>
          <a:xfrm>
            <a:off x="457200" y="1143000"/>
            <a:ext cx="8229600" cy="25146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911" l="-51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b="0" i="0" lang="en-US" sz="3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An unaligned word</a:t>
            </a:r>
            <a:br>
              <a:rPr b="0" i="0" lang="en-US" sz="3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0" i="1" lang="en-US" sz="22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starting from an </a:t>
            </a:r>
            <a:r>
              <a:rPr b="1" i="1" lang="en-US" sz="22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odd</a:t>
            </a:r>
            <a:r>
              <a:rPr b="0" i="1" lang="en-US" sz="22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address</a:t>
            </a:r>
            <a:endParaRPr b="0" i="1" sz="3600" u="none" cap="none" strike="noStrike">
              <a:solidFill>
                <a:srgbClr val="3F3F3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457200" y="1142999"/>
            <a:ext cx="8229600" cy="289560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94" r="-73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p12"/>
          <p:cNvGrpSpPr/>
          <p:nvPr/>
        </p:nvGrpSpPr>
        <p:grpSpPr>
          <a:xfrm>
            <a:off x="-76200" y="4042954"/>
            <a:ext cx="4591037" cy="2357846"/>
            <a:chOff x="1428762" y="4038601"/>
            <a:chExt cx="4591037" cy="2357846"/>
          </a:xfrm>
        </p:grpSpPr>
        <p:grpSp>
          <p:nvGrpSpPr>
            <p:cNvPr id="205" name="Google Shape;205;p12"/>
            <p:cNvGrpSpPr/>
            <p:nvPr/>
          </p:nvGrpSpPr>
          <p:grpSpPr>
            <a:xfrm>
              <a:off x="1428762" y="4038601"/>
              <a:ext cx="4591037" cy="2357846"/>
              <a:chOff x="2342630" y="3429000"/>
              <a:chExt cx="4268841" cy="2321351"/>
            </a:xfrm>
          </p:grpSpPr>
          <p:pic>
            <p:nvPicPr>
              <p:cNvPr id="206" name="Google Shape;206;p12"/>
              <p:cNvPicPr preferRelativeResize="0"/>
              <p:nvPr/>
            </p:nvPicPr>
            <p:blipFill rotWithShape="1">
              <a:blip r:embed="rId4">
                <a:alphaModFix/>
              </a:blip>
              <a:srcRect b="28528" l="9412" r="25538" t="9163"/>
              <a:stretch/>
            </p:blipFill>
            <p:spPr>
              <a:xfrm>
                <a:off x="2532529" y="3429000"/>
                <a:ext cx="4078942" cy="213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7" name="Google Shape;207;p12"/>
              <p:cNvSpPr txBox="1"/>
              <p:nvPr/>
            </p:nvSpPr>
            <p:spPr>
              <a:xfrm>
                <a:off x="2342630" y="5424100"/>
                <a:ext cx="867930" cy="276999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2"/>
              <p:cNvSpPr txBox="1"/>
              <p:nvPr/>
            </p:nvSpPr>
            <p:spPr>
              <a:xfrm>
                <a:off x="5973800" y="5438001"/>
                <a:ext cx="575633" cy="27271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17774" l="0" r="0" t="-221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12"/>
              <p:cNvSpPr txBox="1"/>
              <p:nvPr/>
            </p:nvSpPr>
            <p:spPr>
              <a:xfrm>
                <a:off x="2966494" y="5207913"/>
                <a:ext cx="881395" cy="276999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12"/>
              <p:cNvSpPr txBox="1"/>
              <p:nvPr/>
            </p:nvSpPr>
            <p:spPr>
              <a:xfrm>
                <a:off x="5029200" y="5181600"/>
                <a:ext cx="814069" cy="276999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12"/>
              <p:cNvSpPr txBox="1"/>
              <p:nvPr/>
            </p:nvSpPr>
            <p:spPr>
              <a:xfrm>
                <a:off x="3989935" y="5477639"/>
                <a:ext cx="779376" cy="27271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-17774" l="0" r="0" t="-221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2" name="Google Shape;212;p12"/>
            <p:cNvSpPr/>
            <p:nvPr/>
          </p:nvSpPr>
          <p:spPr>
            <a:xfrm>
              <a:off x="2066544" y="5129784"/>
              <a:ext cx="1033272" cy="1280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213" name="Google Shape;213;p12"/>
          <p:cNvGrpSpPr/>
          <p:nvPr/>
        </p:nvGrpSpPr>
        <p:grpSpPr>
          <a:xfrm>
            <a:off x="4798313" y="4054674"/>
            <a:ext cx="4267200" cy="2269926"/>
            <a:chOff x="1489402" y="4038601"/>
            <a:chExt cx="4371915" cy="2325629"/>
          </a:xfrm>
        </p:grpSpPr>
        <p:grpSp>
          <p:nvGrpSpPr>
            <p:cNvPr id="214" name="Google Shape;214;p12"/>
            <p:cNvGrpSpPr/>
            <p:nvPr/>
          </p:nvGrpSpPr>
          <p:grpSpPr>
            <a:xfrm>
              <a:off x="1489402" y="4038601"/>
              <a:ext cx="4371915" cy="2325629"/>
              <a:chOff x="2399014" y="3429000"/>
              <a:chExt cx="4065096" cy="2289633"/>
            </a:xfrm>
          </p:grpSpPr>
          <p:pic>
            <p:nvPicPr>
              <p:cNvPr id="215" name="Google Shape;215;p12"/>
              <p:cNvPicPr preferRelativeResize="0"/>
              <p:nvPr/>
            </p:nvPicPr>
            <p:blipFill rotWithShape="1">
              <a:blip r:embed="rId4">
                <a:alphaModFix/>
              </a:blip>
              <a:srcRect b="28528" l="9412" r="28643" t="9163"/>
              <a:stretch/>
            </p:blipFill>
            <p:spPr>
              <a:xfrm>
                <a:off x="2532529" y="3429000"/>
                <a:ext cx="3884383" cy="213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6" name="Google Shape;216;p12"/>
              <p:cNvSpPr txBox="1"/>
              <p:nvPr/>
            </p:nvSpPr>
            <p:spPr>
              <a:xfrm>
                <a:off x="2399014" y="5424100"/>
                <a:ext cx="867930" cy="276999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2"/>
              <p:cNvSpPr txBox="1"/>
              <p:nvPr/>
            </p:nvSpPr>
            <p:spPr>
              <a:xfrm>
                <a:off x="5955426" y="5438001"/>
                <a:ext cx="508684" cy="240994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35892" l="0" r="-16087" t="-255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2"/>
              <p:cNvSpPr txBox="1"/>
              <p:nvPr/>
            </p:nvSpPr>
            <p:spPr>
              <a:xfrm>
                <a:off x="2966494" y="5207913"/>
                <a:ext cx="881395" cy="276999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2"/>
              <p:cNvSpPr txBox="1"/>
              <p:nvPr/>
            </p:nvSpPr>
            <p:spPr>
              <a:xfrm>
                <a:off x="5029200" y="5181600"/>
                <a:ext cx="814069" cy="276999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2"/>
              <p:cNvSpPr txBox="1"/>
              <p:nvPr/>
            </p:nvSpPr>
            <p:spPr>
              <a:xfrm>
                <a:off x="3989021" y="5477639"/>
                <a:ext cx="734078" cy="240994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32497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1" name="Google Shape;221;p12"/>
            <p:cNvSpPr/>
            <p:nvPr/>
          </p:nvSpPr>
          <p:spPr>
            <a:xfrm>
              <a:off x="4206235" y="4970347"/>
              <a:ext cx="1030523" cy="14052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22" name="Google Shape;222;p12"/>
          <p:cNvSpPr/>
          <p:nvPr/>
        </p:nvSpPr>
        <p:spPr>
          <a:xfrm>
            <a:off x="42700" y="3849275"/>
            <a:ext cx="433550" cy="433550"/>
          </a:xfrm>
          <a:prstGeom prst="ellipse">
            <a:avLst/>
          </a:prstGeom>
          <a:gradFill>
            <a:gsLst>
              <a:gs pos="0">
                <a:srgbClr val="ECCBC3"/>
              </a:gs>
              <a:gs pos="30000">
                <a:srgbClr val="E6B8AA"/>
              </a:gs>
              <a:gs pos="45000">
                <a:srgbClr val="E3AFA1"/>
              </a:gs>
              <a:gs pos="55000">
                <a:srgbClr val="E3AFA1"/>
              </a:gs>
              <a:gs pos="73000">
                <a:srgbClr val="E6B8AA"/>
              </a:gs>
              <a:gs pos="100000">
                <a:srgbClr val="ECCBC3"/>
              </a:gs>
            </a:gsLst>
            <a:lin ang="950000" scaled="0"/>
          </a:gra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4885832" y="3837899"/>
            <a:ext cx="433550" cy="433550"/>
          </a:xfrm>
          <a:prstGeom prst="ellipse">
            <a:avLst/>
          </a:prstGeom>
          <a:gradFill>
            <a:gsLst>
              <a:gs pos="0">
                <a:srgbClr val="ECCBC3"/>
              </a:gs>
              <a:gs pos="30000">
                <a:srgbClr val="E6B8AA"/>
              </a:gs>
              <a:gs pos="45000">
                <a:srgbClr val="E3AFA1"/>
              </a:gs>
              <a:gs pos="55000">
                <a:srgbClr val="E3AFA1"/>
              </a:gs>
              <a:gs pos="73000">
                <a:srgbClr val="E6B8AA"/>
              </a:gs>
              <a:gs pos="100000">
                <a:srgbClr val="ECCBC3"/>
              </a:gs>
            </a:gsLst>
            <a:lin ang="950000" scaled="0"/>
          </a:gra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b="0" i="0" lang="en-US" sz="3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An unaligned word</a:t>
            </a:r>
            <a:br>
              <a:rPr b="0" i="0" lang="en-US" sz="3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0" i="1" lang="en-US" sz="22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starting from an </a:t>
            </a:r>
            <a:r>
              <a:rPr b="1" i="1" lang="en-US" sz="22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odd</a:t>
            </a:r>
            <a:r>
              <a:rPr b="0" i="1" lang="en-US" sz="22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address</a:t>
            </a:r>
            <a:endParaRPr b="0" i="1" sz="3600" u="none" cap="none" strike="noStrike">
              <a:solidFill>
                <a:srgbClr val="3F3F3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230" name="Google Shape;230;p13"/>
          <p:cNvGrpSpPr/>
          <p:nvPr/>
        </p:nvGrpSpPr>
        <p:grpSpPr>
          <a:xfrm>
            <a:off x="-76200" y="4042954"/>
            <a:ext cx="4591037" cy="2357846"/>
            <a:chOff x="1428762" y="4038601"/>
            <a:chExt cx="4591037" cy="2357846"/>
          </a:xfrm>
        </p:grpSpPr>
        <p:grpSp>
          <p:nvGrpSpPr>
            <p:cNvPr id="231" name="Google Shape;231;p13"/>
            <p:cNvGrpSpPr/>
            <p:nvPr/>
          </p:nvGrpSpPr>
          <p:grpSpPr>
            <a:xfrm>
              <a:off x="1428762" y="4038601"/>
              <a:ext cx="4591037" cy="2357846"/>
              <a:chOff x="2342630" y="3429000"/>
              <a:chExt cx="4268841" cy="2321351"/>
            </a:xfrm>
          </p:grpSpPr>
          <p:pic>
            <p:nvPicPr>
              <p:cNvPr id="232" name="Google Shape;232;p13"/>
              <p:cNvPicPr preferRelativeResize="0"/>
              <p:nvPr/>
            </p:nvPicPr>
            <p:blipFill rotWithShape="1">
              <a:blip r:embed="rId3">
                <a:alphaModFix/>
              </a:blip>
              <a:srcRect b="28528" l="9412" r="25538" t="9163"/>
              <a:stretch/>
            </p:blipFill>
            <p:spPr>
              <a:xfrm>
                <a:off x="2532529" y="3429000"/>
                <a:ext cx="4078942" cy="213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3" name="Google Shape;233;p13"/>
              <p:cNvSpPr txBox="1"/>
              <p:nvPr/>
            </p:nvSpPr>
            <p:spPr>
              <a:xfrm>
                <a:off x="2342630" y="5424100"/>
                <a:ext cx="867930" cy="276999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13"/>
              <p:cNvSpPr txBox="1"/>
              <p:nvPr/>
            </p:nvSpPr>
            <p:spPr>
              <a:xfrm>
                <a:off x="5973800" y="5438001"/>
                <a:ext cx="575633" cy="27271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-17774" l="0" r="0" t="-221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13"/>
              <p:cNvSpPr txBox="1"/>
              <p:nvPr/>
            </p:nvSpPr>
            <p:spPr>
              <a:xfrm>
                <a:off x="2966494" y="5207913"/>
                <a:ext cx="881395" cy="276999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3"/>
              <p:cNvSpPr txBox="1"/>
              <p:nvPr/>
            </p:nvSpPr>
            <p:spPr>
              <a:xfrm>
                <a:off x="5029200" y="5181600"/>
                <a:ext cx="814069" cy="276999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3"/>
              <p:cNvSpPr txBox="1"/>
              <p:nvPr/>
            </p:nvSpPr>
            <p:spPr>
              <a:xfrm>
                <a:off x="3989935" y="5477639"/>
                <a:ext cx="779376" cy="27271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-17774" l="0" r="0" t="-221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8" name="Google Shape;238;p13"/>
            <p:cNvSpPr/>
            <p:nvPr/>
          </p:nvSpPr>
          <p:spPr>
            <a:xfrm>
              <a:off x="2066544" y="5129784"/>
              <a:ext cx="1033272" cy="1280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239" name="Google Shape;239;p13"/>
          <p:cNvGrpSpPr/>
          <p:nvPr/>
        </p:nvGrpSpPr>
        <p:grpSpPr>
          <a:xfrm>
            <a:off x="4798313" y="4054674"/>
            <a:ext cx="4267200" cy="2269926"/>
            <a:chOff x="1489402" y="4038601"/>
            <a:chExt cx="4371915" cy="2325629"/>
          </a:xfrm>
        </p:grpSpPr>
        <p:grpSp>
          <p:nvGrpSpPr>
            <p:cNvPr id="240" name="Google Shape;240;p13"/>
            <p:cNvGrpSpPr/>
            <p:nvPr/>
          </p:nvGrpSpPr>
          <p:grpSpPr>
            <a:xfrm>
              <a:off x="1489402" y="4038601"/>
              <a:ext cx="4371915" cy="2325629"/>
              <a:chOff x="2399014" y="3429000"/>
              <a:chExt cx="4065096" cy="2289633"/>
            </a:xfrm>
          </p:grpSpPr>
          <p:pic>
            <p:nvPicPr>
              <p:cNvPr id="241" name="Google Shape;241;p13"/>
              <p:cNvPicPr preferRelativeResize="0"/>
              <p:nvPr/>
            </p:nvPicPr>
            <p:blipFill rotWithShape="1">
              <a:blip r:embed="rId3">
                <a:alphaModFix/>
              </a:blip>
              <a:srcRect b="28528" l="9412" r="28643" t="9163"/>
              <a:stretch/>
            </p:blipFill>
            <p:spPr>
              <a:xfrm>
                <a:off x="2532529" y="3429000"/>
                <a:ext cx="3884383" cy="213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2" name="Google Shape;242;p13"/>
              <p:cNvSpPr txBox="1"/>
              <p:nvPr/>
            </p:nvSpPr>
            <p:spPr>
              <a:xfrm>
                <a:off x="2399014" y="5424100"/>
                <a:ext cx="867930" cy="276999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3"/>
              <p:cNvSpPr txBox="1"/>
              <p:nvPr/>
            </p:nvSpPr>
            <p:spPr>
              <a:xfrm>
                <a:off x="5955426" y="5438001"/>
                <a:ext cx="508684" cy="240994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35892" l="0" r="-16087" t="-255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3"/>
              <p:cNvSpPr txBox="1"/>
              <p:nvPr/>
            </p:nvSpPr>
            <p:spPr>
              <a:xfrm>
                <a:off x="2966494" y="5207913"/>
                <a:ext cx="881395" cy="276999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3"/>
              <p:cNvSpPr txBox="1"/>
              <p:nvPr/>
            </p:nvSpPr>
            <p:spPr>
              <a:xfrm>
                <a:off x="5029200" y="5181600"/>
                <a:ext cx="814069" cy="276999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3"/>
              <p:cNvSpPr txBox="1"/>
              <p:nvPr/>
            </p:nvSpPr>
            <p:spPr>
              <a:xfrm>
                <a:off x="3989021" y="5477639"/>
                <a:ext cx="734078" cy="240994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-32497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7" name="Google Shape;247;p13"/>
            <p:cNvSpPr/>
            <p:nvPr/>
          </p:nvSpPr>
          <p:spPr>
            <a:xfrm>
              <a:off x="4206235" y="4970347"/>
              <a:ext cx="1030523" cy="14052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248" name="Google Shape;248;p13"/>
          <p:cNvGrpSpPr/>
          <p:nvPr/>
        </p:nvGrpSpPr>
        <p:grpSpPr>
          <a:xfrm>
            <a:off x="2057400" y="1444818"/>
            <a:ext cx="4891780" cy="2441382"/>
            <a:chOff x="2408477" y="3839017"/>
            <a:chExt cx="5133027" cy="2561783"/>
          </a:xfrm>
        </p:grpSpPr>
        <p:grpSp>
          <p:nvGrpSpPr>
            <p:cNvPr id="249" name="Google Shape;249;p13"/>
            <p:cNvGrpSpPr/>
            <p:nvPr/>
          </p:nvGrpSpPr>
          <p:grpSpPr>
            <a:xfrm>
              <a:off x="2408477" y="3839017"/>
              <a:ext cx="5133027" cy="2561783"/>
              <a:chOff x="2218627" y="3429000"/>
              <a:chExt cx="4392844" cy="2321351"/>
            </a:xfrm>
          </p:grpSpPr>
          <p:pic>
            <p:nvPicPr>
              <p:cNvPr id="250" name="Google Shape;250;p13"/>
              <p:cNvPicPr preferRelativeResize="0"/>
              <p:nvPr/>
            </p:nvPicPr>
            <p:blipFill rotWithShape="1">
              <a:blip r:embed="rId3">
                <a:alphaModFix/>
              </a:blip>
              <a:srcRect b="28528" l="9412" r="25538" t="9163"/>
              <a:stretch/>
            </p:blipFill>
            <p:spPr>
              <a:xfrm>
                <a:off x="2532529" y="3429000"/>
                <a:ext cx="4078942" cy="213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1" name="Google Shape;251;p13"/>
              <p:cNvSpPr txBox="1"/>
              <p:nvPr/>
            </p:nvSpPr>
            <p:spPr>
              <a:xfrm>
                <a:off x="2218627" y="5424100"/>
                <a:ext cx="867930" cy="276999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13"/>
              <p:cNvSpPr txBox="1"/>
              <p:nvPr/>
            </p:nvSpPr>
            <p:spPr>
              <a:xfrm>
                <a:off x="6172200" y="5438001"/>
                <a:ext cx="375906" cy="272712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3"/>
              <p:cNvSpPr txBox="1"/>
              <p:nvPr/>
            </p:nvSpPr>
            <p:spPr>
              <a:xfrm>
                <a:off x="2966494" y="5207913"/>
                <a:ext cx="881395" cy="276999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13"/>
              <p:cNvSpPr txBox="1"/>
              <p:nvPr/>
            </p:nvSpPr>
            <p:spPr>
              <a:xfrm>
                <a:off x="5029200" y="5181600"/>
                <a:ext cx="814069" cy="276999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13"/>
              <p:cNvSpPr txBox="1"/>
              <p:nvPr/>
            </p:nvSpPr>
            <p:spPr>
              <a:xfrm>
                <a:off x="4126558" y="5477639"/>
                <a:ext cx="741427" cy="272712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6" name="Google Shape;256;p13"/>
            <p:cNvSpPr/>
            <p:nvPr/>
          </p:nvSpPr>
          <p:spPr>
            <a:xfrm>
              <a:off x="5562600" y="4876844"/>
              <a:ext cx="1143000" cy="1371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3251815" y="5037255"/>
              <a:ext cx="1115568" cy="1280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58" name="Google Shape;258;p13"/>
          <p:cNvSpPr/>
          <p:nvPr/>
        </p:nvSpPr>
        <p:spPr>
          <a:xfrm rot="-2282234">
            <a:off x="1394418" y="3604632"/>
            <a:ext cx="1102234" cy="190851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19050">
            <a:solidFill>
              <a:srgbClr val="B69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9" name="Google Shape;259;p13"/>
          <p:cNvSpPr/>
          <p:nvPr/>
        </p:nvSpPr>
        <p:spPr>
          <a:xfrm flipH="1" rot="2282234">
            <a:off x="6647348" y="3595917"/>
            <a:ext cx="1102234" cy="190851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19050">
            <a:solidFill>
              <a:srgbClr val="B69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0" y="2895600"/>
            <a:ext cx="2406955" cy="902284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3740413" y="1132444"/>
            <a:ext cx="1708876" cy="32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12"/>
              <a:buFont typeface="Noto Sans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 bus-cycles required</a:t>
            </a:r>
            <a:endParaRPr b="0" i="0" sz="12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6952118" y="2451643"/>
            <a:ext cx="2310369" cy="1202556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"/>
          <p:cNvSpPr txBox="1"/>
          <p:nvPr>
            <p:ph type="title"/>
          </p:nvPr>
        </p:nvSpPr>
        <p:spPr>
          <a:xfrm>
            <a:off x="1371600" y="1905000"/>
            <a:ext cx="6400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</a:pPr>
            <a:r>
              <a:rPr b="1" lang="en-US" sz="9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 </a:t>
            </a:r>
            <a:endParaRPr/>
          </a:p>
        </p:txBody>
      </p:sp>
      <p:sp>
        <p:nvSpPr>
          <p:cNvPr id="268" name="Google Shape;268;p14"/>
          <p:cNvSpPr txBox="1"/>
          <p:nvPr>
            <p:ph idx="1" type="body"/>
          </p:nvPr>
        </p:nvSpPr>
        <p:spPr>
          <a:xfrm>
            <a:off x="457200" y="96012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8844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None/>
            </a:pPr>
            <a:r>
              <a:t/>
            </a:r>
            <a:endParaRPr b="1" i="1" sz="3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Rupam</dc:creator>
</cp:coreProperties>
</file>