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7315200" cy="9601200"/>
  <p:embeddedFontLst>
    <p:embeddedFont>
      <p:font typeface="Gill Sans"/>
      <p:regular r:id="rId50"/>
      <p:bold r:id="rId51"/>
    </p:embeddedFont>
    <p:embeddedFont>
      <p:font typeface="Merriweather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hLeUZUViQ2s0hnreJxouLWR58m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ACE2D5-3D36-40EE-8106-BB342E0135A1}">
  <a:tblStyle styleId="{25ACE2D5-3D36-40EE-8106-BB342E0135A1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F3ECEB"/>
          </a:solidFill>
        </a:fill>
      </a:tcStyle>
    </a:band1H>
    <a:band2H>
      <a:tcTxStyle/>
    </a:band2H>
    <a:band1V>
      <a:tcTxStyle/>
      <a:tcStyle>
        <a:fill>
          <a:solidFill>
            <a:srgbClr val="F3ECEB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GillSans-bold.fntdata"/><Relationship Id="rId50" Type="http://schemas.openxmlformats.org/officeDocument/2006/relationships/font" Target="fonts/GillSans-regular.fntdata"/><Relationship Id="rId53" Type="http://schemas.openxmlformats.org/officeDocument/2006/relationships/font" Target="fonts/Merriweather-bold.fntdata"/><Relationship Id="rId52" Type="http://schemas.openxmlformats.org/officeDocument/2006/relationships/font" Target="fonts/Merriweather-regular.fntdata"/><Relationship Id="rId11" Type="http://schemas.openxmlformats.org/officeDocument/2006/relationships/slide" Target="slides/slide4.xml"/><Relationship Id="rId55" Type="http://schemas.openxmlformats.org/officeDocument/2006/relationships/font" Target="fonts/Merriweather-boldItalic.fntdata"/><Relationship Id="rId10" Type="http://schemas.openxmlformats.org/officeDocument/2006/relationships/slide" Target="slides/slide3.xml"/><Relationship Id="rId54" Type="http://schemas.openxmlformats.org/officeDocument/2006/relationships/font" Target="fonts/Merriweather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4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44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4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44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4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33" name="Google Shape;3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7"/>
          <p:cNvSpPr txBox="1"/>
          <p:nvPr/>
        </p:nvSpPr>
        <p:spPr>
          <a:xfrm>
            <a:off x="1676400" y="63398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4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pic>
        <p:nvPicPr>
          <p:cNvPr descr="BracU Logo | Brac University" id="49" name="Google Shape;4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6"/>
          <p:cNvSpPr txBox="1"/>
          <p:nvPr/>
        </p:nvSpPr>
        <p:spPr>
          <a:xfrm>
            <a:off x="2286000" y="635635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4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4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4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4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66" name="Google Shape;6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4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4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4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43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8" name="Google Shape;38;p4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4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" name="Google Shape;41;p4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" name="Google Shape;42;p4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45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4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45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searchcio-midmarket.techtarget.com/definition/clock-speed" TargetMode="External"/><Relationship Id="rId4" Type="http://schemas.openxmlformats.org/officeDocument/2006/relationships/hyperlink" Target="https://en.wikipedia.org/wiki/CPU_cache" TargetMode="External"/><Relationship Id="rId5" Type="http://schemas.openxmlformats.org/officeDocument/2006/relationships/hyperlink" Target="https://en.wikipedia.org/wiki/Instruction_pipeline" TargetMode="External"/><Relationship Id="rId6" Type="http://schemas.openxmlformats.org/officeDocument/2006/relationships/hyperlink" Target="https://en.wikipedia.org/wiki/Instruction_prefetch" TargetMode="External"/><Relationship Id="rId7" Type="http://schemas.openxmlformats.org/officeDocument/2006/relationships/hyperlink" Target="https://en.wikipedia.org/wiki/Simultaneous_multithreading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7620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Hardware Specifications</a:t>
            </a:r>
            <a:endParaRPr/>
          </a:p>
        </p:txBody>
      </p:sp>
      <p:pic>
        <p:nvPicPr>
          <p:cNvPr descr="BracU Logo | Brac University"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Book: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i="1" lang="en-US">
                <a:solidFill>
                  <a:schemeClr val="dk1"/>
                </a:solidFill>
              </a:rPr>
              <a:t>The 8086/8088 Family: Design, Programming, And Interfacing,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 John Uffenbeck.</a:t>
            </a:r>
            <a:endParaRPr/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2"/>
          <p:cNvSpPr txBox="1"/>
          <p:nvPr>
            <p:ph idx="4294967295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1" i="0" sz="12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5451" l="9966" r="8450" t="4278"/>
          <a:stretch/>
        </p:blipFill>
        <p:spPr>
          <a:xfrm>
            <a:off x="6858000" y="3437483"/>
            <a:ext cx="1938926" cy="282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88" name="Google Shape;88;p3"/>
          <p:cNvSpPr txBox="1"/>
          <p:nvPr>
            <p:ph idx="1" type="body"/>
          </p:nvPr>
        </p:nvSpPr>
        <p:spPr>
          <a:xfrm>
            <a:off x="457200" y="1219200"/>
            <a:ext cx="84582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solidFill>
                  <a:srgbClr val="3F3F3F"/>
                </a:solidFill>
              </a:rPr>
              <a:t>is a 40-pin DIPs; </a:t>
            </a:r>
            <a:r>
              <a:rPr b="1" lang="en-US" sz="2200">
                <a:solidFill>
                  <a:srgbClr val="3F3F3F"/>
                </a:solidFill>
              </a:rPr>
              <a:t>Dual in-line package</a:t>
            </a:r>
            <a:endParaRPr sz="2200">
              <a:solidFill>
                <a:srgbClr val="3F3F3F"/>
              </a:solidFill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solidFill>
                  <a:srgbClr val="3F3F3F"/>
                </a:solidFill>
              </a:rPr>
              <a:t>DIP refers to a rectangular housing with two parallel rows of electrical connection pins.</a:t>
            </a:r>
            <a:endParaRPr/>
          </a:p>
          <a:p>
            <a:pPr indent="-274320" lvl="0" marL="274320" rtl="0" algn="l">
              <a:spcBef>
                <a:spcPts val="110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solidFill>
                  <a:srgbClr val="3F3F3F"/>
                </a:solidFill>
              </a:rPr>
              <a:t>DIPs have a notch on one end to show its correct orientation. </a:t>
            </a:r>
            <a:endParaRPr/>
          </a:p>
          <a:p>
            <a:pPr indent="-274320" lvl="0" marL="274320" rtl="0" algn="l">
              <a:spcBef>
                <a:spcPts val="110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solidFill>
                  <a:srgbClr val="3F3F3F"/>
                </a:solidFill>
              </a:rPr>
              <a:t>The pins are then numbered as shown in the figure below.</a:t>
            </a:r>
            <a:endParaRPr/>
          </a:p>
          <a:p>
            <a:pPr indent="-168148" lvl="0" marL="274320" rtl="0" algn="l"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solidFill>
                <a:srgbClr val="3F3F3F"/>
              </a:solidFill>
            </a:endParaRPr>
          </a:p>
          <a:p>
            <a:pPr indent="-168148" lvl="0" marL="274320" rtl="0" algn="l"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solidFill>
                <a:srgbClr val="3F3F3F"/>
              </a:solidFill>
            </a:endParaRPr>
          </a:p>
        </p:txBody>
      </p:sp>
      <p:pic>
        <p:nvPicPr>
          <p:cNvPr id="89" name="Google Shape;89;p3"/>
          <p:cNvPicPr preferRelativeResize="0"/>
          <p:nvPr/>
        </p:nvPicPr>
        <p:blipFill rotWithShape="1">
          <a:blip r:embed="rId4">
            <a:alphaModFix/>
          </a:blip>
          <a:srcRect b="2253" l="0" r="0" t="0"/>
          <a:stretch/>
        </p:blipFill>
        <p:spPr>
          <a:xfrm>
            <a:off x="499473" y="3643222"/>
            <a:ext cx="6013174" cy="2681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36529" t="0"/>
          <a:stretch/>
        </p:blipFill>
        <p:spPr>
          <a:xfrm>
            <a:off x="533400" y="1752600"/>
            <a:ext cx="3657600" cy="449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4"/>
          <p:cNvGrpSpPr/>
          <p:nvPr/>
        </p:nvGrpSpPr>
        <p:grpSpPr>
          <a:xfrm>
            <a:off x="3505199" y="3756660"/>
            <a:ext cx="1709252" cy="1907977"/>
            <a:chOff x="3886200" y="3604260"/>
            <a:chExt cx="1709252" cy="1907977"/>
          </a:xfrm>
        </p:grpSpPr>
        <p:sp>
          <p:nvSpPr>
            <p:cNvPr id="96" name="Google Shape;96;p4"/>
            <p:cNvSpPr/>
            <p:nvPr/>
          </p:nvSpPr>
          <p:spPr>
            <a:xfrm>
              <a:off x="3886200" y="3604260"/>
              <a:ext cx="609600" cy="1752600"/>
            </a:xfrm>
            <a:prstGeom prst="roundRect">
              <a:avLst>
                <a:gd fmla="val 6667" name="adj"/>
              </a:avLst>
            </a:prstGeom>
            <a:noFill/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97" name="Google Shape;97;p4"/>
            <p:cNvCxnSpPr/>
            <p:nvPr/>
          </p:nvCxnSpPr>
          <p:spPr>
            <a:xfrm>
              <a:off x="4488180" y="4953000"/>
              <a:ext cx="312420" cy="251460"/>
            </a:xfrm>
            <a:prstGeom prst="straightConnector1">
              <a:avLst/>
            </a:prstGeom>
            <a:noFill/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8" name="Google Shape;98;p4"/>
            <p:cNvSpPr txBox="1"/>
            <p:nvPr/>
          </p:nvSpPr>
          <p:spPr>
            <a:xfrm>
              <a:off x="4678213" y="5204460"/>
              <a:ext cx="917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min mode</a:t>
              </a:r>
              <a:endParaRPr/>
            </a:p>
          </p:txBody>
        </p:sp>
      </p:grpSp>
      <p:grpSp>
        <p:nvGrpSpPr>
          <p:cNvPr id="99" name="Google Shape;99;p4"/>
          <p:cNvGrpSpPr/>
          <p:nvPr/>
        </p:nvGrpSpPr>
        <p:grpSpPr>
          <a:xfrm>
            <a:off x="2819399" y="3756660"/>
            <a:ext cx="1731823" cy="2349104"/>
            <a:chOff x="3200400" y="3604260"/>
            <a:chExt cx="1731823" cy="2349104"/>
          </a:xfrm>
        </p:grpSpPr>
        <p:sp>
          <p:nvSpPr>
            <p:cNvPr id="100" name="Google Shape;100;p4"/>
            <p:cNvSpPr/>
            <p:nvPr/>
          </p:nvSpPr>
          <p:spPr>
            <a:xfrm>
              <a:off x="3200400" y="3604260"/>
              <a:ext cx="609600" cy="1752600"/>
            </a:xfrm>
            <a:prstGeom prst="roundRect">
              <a:avLst>
                <a:gd fmla="val 6667" name="adj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01" name="Google Shape;101;p4"/>
            <p:cNvCxnSpPr/>
            <p:nvPr/>
          </p:nvCxnSpPr>
          <p:spPr>
            <a:xfrm>
              <a:off x="3765232" y="5349240"/>
              <a:ext cx="425768" cy="35814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2" name="Google Shape;102;p4"/>
            <p:cNvSpPr txBox="1"/>
            <p:nvPr/>
          </p:nvSpPr>
          <p:spPr>
            <a:xfrm>
              <a:off x="3978116" y="5645587"/>
              <a:ext cx="9541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max mode</a:t>
              </a:r>
              <a:endParaRPr/>
            </a:p>
          </p:txBody>
        </p:sp>
      </p:grpSp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Diagram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4387989" y="1162773"/>
            <a:ext cx="4757430" cy="29520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78" l="-89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8074" t="0"/>
          <a:stretch/>
        </p:blipFill>
        <p:spPr>
          <a:xfrm>
            <a:off x="304800" y="1447800"/>
            <a:ext cx="28194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3696731" y="1752600"/>
            <a:ext cx="5447269" cy="1705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57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57200" y="5410200"/>
            <a:ext cx="3810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852" y="3581400"/>
            <a:ext cx="51530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2532888" y="1514605"/>
            <a:ext cx="457200" cy="246888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73888" y="1497966"/>
            <a:ext cx="457200" cy="246888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81000" y="56388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6">
            <a:alphaModFix/>
          </a:blip>
          <a:srcRect b="10726" l="3254" r="4110" t="8935"/>
          <a:stretch/>
        </p:blipFill>
        <p:spPr>
          <a:xfrm>
            <a:off x="3358077" y="4872185"/>
            <a:ext cx="5638800" cy="619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3696731" y="1962566"/>
            <a:ext cx="5447269" cy="25365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83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33400" y="1761493"/>
            <a:ext cx="457200" cy="3225286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685288" y="1715678"/>
            <a:ext cx="457200" cy="246888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3696731" y="1688970"/>
            <a:ext cx="5447269" cy="21210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35" l="-670" r="-4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743200" y="1996440"/>
            <a:ext cx="591312" cy="82296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36" name="Google Shape;136;p7"/>
          <p:cNvGraphicFramePr/>
          <p:nvPr/>
        </p:nvGraphicFramePr>
        <p:xfrm>
          <a:off x="4566673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{25ACE2D5-3D36-40EE-8106-BB342E0135A1}</a:tableStyleId>
              </a:tblPr>
              <a:tblGrid>
                <a:gridCol w="773850"/>
                <a:gridCol w="672750"/>
                <a:gridCol w="22608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 u="none" cap="none" strike="noStrike">
                          <a:solidFill>
                            <a:srgbClr val="3F3F3F"/>
                          </a:solidFill>
                        </a:rPr>
                        <a:t>S4</a:t>
                      </a:r>
                      <a:endParaRPr b="1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 u="none" cap="none" strike="noStrike">
                          <a:solidFill>
                            <a:srgbClr val="3F3F3F"/>
                          </a:solidFill>
                        </a:rPr>
                        <a:t>S3</a:t>
                      </a:r>
                      <a:endParaRPr b="1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 u="none" cap="none" strike="noStrike">
                          <a:solidFill>
                            <a:srgbClr val="3F3F3F"/>
                          </a:solidFill>
                        </a:rPr>
                        <a:t>Function</a:t>
                      </a:r>
                      <a:endParaRPr b="1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Extra segment access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Stack segment access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Code segment access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cap="none" strike="noStrike">
                          <a:solidFill>
                            <a:srgbClr val="3F3F3F"/>
                          </a:solidFill>
                        </a:rPr>
                        <a:t>Data segment access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  <p:sp>
        <p:nvSpPr>
          <p:cNvPr id="137" name="Google Shape;137;p7"/>
          <p:cNvSpPr/>
          <p:nvPr/>
        </p:nvSpPr>
        <p:spPr>
          <a:xfrm>
            <a:off x="3032760" y="1981200"/>
            <a:ext cx="320040" cy="36576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3696731" y="1814075"/>
            <a:ext cx="5447269" cy="3367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91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743200" y="1996440"/>
            <a:ext cx="591312" cy="82296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032760" y="2362200"/>
            <a:ext cx="320040" cy="4572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58686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3696731" y="2153373"/>
            <a:ext cx="5447269" cy="3367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743200" y="2819400"/>
            <a:ext cx="591312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3696731" y="2409268"/>
            <a:ext cx="5447269" cy="21210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35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2743200" y="3200400"/>
            <a:ext cx="304800" cy="295656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3696731" y="2409268"/>
            <a:ext cx="5447269" cy="17064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40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2743200" y="51816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76" name="Google Shape;176;p12"/>
          <p:cNvSpPr txBox="1"/>
          <p:nvPr/>
        </p:nvSpPr>
        <p:spPr>
          <a:xfrm>
            <a:off x="3696731" y="2409268"/>
            <a:ext cx="5447269" cy="21210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70" r="-100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grpSp>
        <p:nvGrpSpPr>
          <p:cNvPr id="177" name="Google Shape;177;p12"/>
          <p:cNvGrpSpPr/>
          <p:nvPr/>
        </p:nvGrpSpPr>
        <p:grpSpPr>
          <a:xfrm>
            <a:off x="457200" y="1447800"/>
            <a:ext cx="3067050" cy="4495800"/>
            <a:chOff x="457200" y="1447800"/>
            <a:chExt cx="3067050" cy="4495800"/>
          </a:xfrm>
        </p:grpSpPr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1447800"/>
              <a:ext cx="306705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2"/>
            <p:cNvSpPr/>
            <p:nvPr/>
          </p:nvSpPr>
          <p:spPr>
            <a:xfrm>
              <a:off x="2743200" y="5410200"/>
              <a:ext cx="502920" cy="228600"/>
            </a:xfrm>
            <a:prstGeom prst="roundRect">
              <a:avLst>
                <a:gd fmla="val 6667" name="adj"/>
              </a:avLst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180" name="Google Shape;180;p12"/>
          <p:cNvPicPr preferRelativeResize="0"/>
          <p:nvPr/>
        </p:nvPicPr>
        <p:blipFill rotWithShape="1">
          <a:blip r:embed="rId5">
            <a:alphaModFix/>
          </a:blip>
          <a:srcRect b="26548" l="8423" r="9626" t="12126"/>
          <a:stretch/>
        </p:blipFill>
        <p:spPr>
          <a:xfrm>
            <a:off x="265960" y="6019800"/>
            <a:ext cx="8843062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/>
          <p:nvPr/>
        </p:nvSpPr>
        <p:spPr>
          <a:xfrm>
            <a:off x="5410200" y="6324600"/>
            <a:ext cx="1828800" cy="533400"/>
          </a:xfrm>
          <a:prstGeom prst="ellipse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3696731" y="2409268"/>
            <a:ext cx="5447269" cy="1705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40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2743200" y="56388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3696731" y="3670748"/>
            <a:ext cx="5447269" cy="21204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35" l="-670" r="-100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533400" y="49530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3696731" y="1600200"/>
            <a:ext cx="5447269" cy="17055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657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533400" y="51816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 b="0" l="0" r="36529" t="0"/>
          <a:stretch/>
        </p:blipFill>
        <p:spPr>
          <a:xfrm>
            <a:off x="457200" y="1447800"/>
            <a:ext cx="3657600" cy="449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15"/>
          <p:cNvGrpSpPr/>
          <p:nvPr/>
        </p:nvGrpSpPr>
        <p:grpSpPr>
          <a:xfrm>
            <a:off x="3428999" y="3451860"/>
            <a:ext cx="1709252" cy="1907977"/>
            <a:chOff x="3886200" y="3604260"/>
            <a:chExt cx="1709252" cy="1907977"/>
          </a:xfrm>
        </p:grpSpPr>
        <p:sp>
          <p:nvSpPr>
            <p:cNvPr id="206" name="Google Shape;206;p15"/>
            <p:cNvSpPr/>
            <p:nvPr/>
          </p:nvSpPr>
          <p:spPr>
            <a:xfrm>
              <a:off x="3886200" y="3604260"/>
              <a:ext cx="609600" cy="1752600"/>
            </a:xfrm>
            <a:prstGeom prst="roundRect">
              <a:avLst>
                <a:gd fmla="val 6667" name="adj"/>
              </a:avLst>
            </a:prstGeom>
            <a:noFill/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07" name="Google Shape;207;p15"/>
            <p:cNvCxnSpPr/>
            <p:nvPr/>
          </p:nvCxnSpPr>
          <p:spPr>
            <a:xfrm>
              <a:off x="4488180" y="4953000"/>
              <a:ext cx="312420" cy="251460"/>
            </a:xfrm>
            <a:prstGeom prst="straightConnector1">
              <a:avLst/>
            </a:prstGeom>
            <a:noFill/>
            <a:ln cap="flat" cmpd="sng" w="19050">
              <a:solidFill>
                <a:srgbClr val="7030A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8" name="Google Shape;208;p15"/>
            <p:cNvSpPr txBox="1"/>
            <p:nvPr/>
          </p:nvSpPr>
          <p:spPr>
            <a:xfrm>
              <a:off x="4678213" y="5204460"/>
              <a:ext cx="917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min mode</a:t>
              </a:r>
              <a:endParaRPr/>
            </a:p>
          </p:txBody>
        </p:sp>
      </p:grpSp>
      <p:grpSp>
        <p:nvGrpSpPr>
          <p:cNvPr id="209" name="Google Shape;209;p15"/>
          <p:cNvGrpSpPr/>
          <p:nvPr/>
        </p:nvGrpSpPr>
        <p:grpSpPr>
          <a:xfrm>
            <a:off x="2743199" y="3451860"/>
            <a:ext cx="1731823" cy="2349104"/>
            <a:chOff x="3200400" y="3604260"/>
            <a:chExt cx="1731823" cy="2349104"/>
          </a:xfrm>
        </p:grpSpPr>
        <p:sp>
          <p:nvSpPr>
            <p:cNvPr id="210" name="Google Shape;210;p15"/>
            <p:cNvSpPr/>
            <p:nvPr/>
          </p:nvSpPr>
          <p:spPr>
            <a:xfrm>
              <a:off x="3200400" y="3604260"/>
              <a:ext cx="609600" cy="1752600"/>
            </a:xfrm>
            <a:prstGeom prst="roundRect">
              <a:avLst>
                <a:gd fmla="val 6667" name="adj"/>
              </a:avLst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11" name="Google Shape;211;p15"/>
            <p:cNvCxnSpPr/>
            <p:nvPr/>
          </p:nvCxnSpPr>
          <p:spPr>
            <a:xfrm>
              <a:off x="3765232" y="5349240"/>
              <a:ext cx="425768" cy="35814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2" name="Google Shape;212;p15"/>
            <p:cNvSpPr txBox="1"/>
            <p:nvPr/>
          </p:nvSpPr>
          <p:spPr>
            <a:xfrm>
              <a:off x="3978116" y="5645587"/>
              <a:ext cx="9541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max mode</a:t>
              </a:r>
              <a:endParaRPr/>
            </a:p>
          </p:txBody>
        </p:sp>
      </p:grpSp>
      <p:sp>
        <p:nvSpPr>
          <p:cNvPr id="213" name="Google Shape;21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8086 Pin Specification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4419600" y="1447800"/>
            <a:ext cx="4724400" cy="29520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272" l="-77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2743200" y="3020568"/>
            <a:ext cx="591312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Minimum Mode Pin Specification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3696731" y="3670748"/>
            <a:ext cx="5447269" cy="1705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40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2743200" y="3442148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3696731" y="1834167"/>
            <a:ext cx="5447269" cy="129003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602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2743200" y="3670748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Minimum Mode Pin Specification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3681491" y="1716698"/>
            <a:ext cx="5447269" cy="21219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78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2743200" y="4123944"/>
            <a:ext cx="457200" cy="237744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2743200" y="3877056"/>
            <a:ext cx="304800" cy="237744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3584450" y="3995928"/>
            <a:ext cx="5447269" cy="17055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657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Minimum Mode Pin Specification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3687587" y="4401312"/>
            <a:ext cx="5447269" cy="1705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78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2743200" y="4541520"/>
            <a:ext cx="457200" cy="237744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2743200" y="4303776"/>
            <a:ext cx="457200" cy="237744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3687586" y="1711641"/>
            <a:ext cx="5447269" cy="21210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735" l="-78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Minimum Mode Pin Specification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3696731" y="2409268"/>
            <a:ext cx="5447269" cy="1705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40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2743200" y="4770120"/>
            <a:ext cx="320040" cy="18288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30670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Minimum Mode Pin Specification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3696731" y="2438400"/>
            <a:ext cx="5447269" cy="25374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83" l="-670" r="-4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2743200" y="4998720"/>
            <a:ext cx="457200" cy="18288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33400" y="5181600"/>
            <a:ext cx="45720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7620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Maximum Mode Pins </a:t>
            </a:r>
            <a:endParaRPr/>
          </a:p>
        </p:txBody>
      </p:sp>
      <p:pic>
        <p:nvPicPr>
          <p:cNvPr descr="BracU Logo | Brac University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20942" t="0"/>
          <a:stretch/>
        </p:blipFill>
        <p:spPr>
          <a:xfrm>
            <a:off x="476250" y="1447800"/>
            <a:ext cx="28765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Maximum Mode Pin Specification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114800" y="1295400"/>
            <a:ext cx="4114801" cy="12909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634" l="-88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2743200" y="4770120"/>
            <a:ext cx="457200" cy="41148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279" name="Google Shape;279;p22"/>
          <p:cNvGraphicFramePr/>
          <p:nvPr/>
        </p:nvGraphicFramePr>
        <p:xfrm>
          <a:off x="367665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{25ACE2D5-3D36-40EE-8106-BB342E0135A1}</a:tableStyleId>
              </a:tblPr>
              <a:tblGrid>
                <a:gridCol w="574800"/>
                <a:gridCol w="642800"/>
                <a:gridCol w="39449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Qs1</a:t>
                      </a:r>
                      <a:endParaRPr sz="1800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Qs0</a:t>
                      </a:r>
                      <a:endParaRPr sz="1800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 u="none" strike="noStrike">
                          <a:solidFill>
                            <a:srgbClr val="3F3F3F"/>
                          </a:solidFill>
                        </a:rPr>
                        <a:t>Function</a:t>
                      </a:r>
                      <a:endParaRPr b="1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853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No Operation. During the last clock cycle, nothing was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taken from the queue.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First Byte. The byte taken from the queue was the first byte of the instruction.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853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Queue Empty. The queue has been reinitialized as a result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of the execution of a transfer instruction.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853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Fetch subsequent byteSubsequent Byte. The byte taken from the queue was a subsequent byte of the instruction.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20942" t="0"/>
          <a:stretch/>
        </p:blipFill>
        <p:spPr>
          <a:xfrm>
            <a:off x="476250" y="1447800"/>
            <a:ext cx="28765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Maximum Mode Pin Specification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3696731" y="1143000"/>
            <a:ext cx="5447269" cy="17064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657" l="-6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2743200" y="4114800"/>
            <a:ext cx="381000" cy="64008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288" name="Google Shape;288;p23"/>
          <p:cNvGraphicFramePr/>
          <p:nvPr/>
        </p:nvGraphicFramePr>
        <p:xfrm>
          <a:off x="433439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{25ACE2D5-3D36-40EE-8106-BB342E0135A1}</a:tableStyleId>
              </a:tblPr>
              <a:tblGrid>
                <a:gridCol w="513775"/>
                <a:gridCol w="513775"/>
                <a:gridCol w="513775"/>
                <a:gridCol w="2630650"/>
              </a:tblGrid>
              <a:tr h="36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S2</a:t>
                      </a:r>
                      <a:endParaRPr sz="1800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S1</a:t>
                      </a:r>
                      <a:endParaRPr sz="1800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S0</a:t>
                      </a:r>
                      <a:endParaRPr sz="1800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00" u="none" strike="noStrike">
                          <a:solidFill>
                            <a:srgbClr val="3F3F3F"/>
                          </a:solidFill>
                        </a:rPr>
                        <a:t>Function</a:t>
                      </a:r>
                      <a:endParaRPr b="1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Interrupt acknowledgement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Read data from I/O port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Write data from I/O port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Halt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Opcode fetch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b="0" i="1" lang="en-US" sz="1600" u="none" cap="none" strike="noStrike">
                          <a:solidFill>
                            <a:srgbClr val="3F3F3F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b="0" i="1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Memory read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0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Memory write</a:t>
                      </a:r>
                      <a:endParaRPr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Gill Sans"/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1</a:t>
                      </a:r>
                      <a:endParaRPr b="0" i="1" sz="1600" u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 u="none" strike="noStrike">
                          <a:solidFill>
                            <a:srgbClr val="3F3F3F"/>
                          </a:solidFill>
                        </a:rPr>
                        <a:t>Passive state</a:t>
                      </a:r>
                      <a:endParaRPr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0" r="20942" t="0"/>
          <a:stretch/>
        </p:blipFill>
        <p:spPr>
          <a:xfrm>
            <a:off x="476250" y="1447800"/>
            <a:ext cx="28765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Maximum Mode Pin Specification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3696731" y="2438400"/>
            <a:ext cx="5447269" cy="25374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83" l="-670" r="-100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2743200" y="3886200"/>
            <a:ext cx="548640" cy="2286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20942" t="0"/>
          <a:stretch/>
        </p:blipFill>
        <p:spPr>
          <a:xfrm>
            <a:off x="476250" y="1447800"/>
            <a:ext cx="28765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Maximum Mode Pin Specification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3696731" y="2156119"/>
            <a:ext cx="5447269" cy="25457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355" l="-670" r="-190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2743200" y="3429000"/>
            <a:ext cx="609600" cy="457200"/>
          </a:xfrm>
          <a:prstGeom prst="roundRect">
            <a:avLst>
              <a:gd fmla="val 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QUIZ</a:t>
            </a:r>
            <a:endParaRPr/>
          </a:p>
        </p:txBody>
      </p:sp>
      <p:sp>
        <p:nvSpPr>
          <p:cNvPr id="311" name="Google Shape;311;p26"/>
          <p:cNvSpPr txBox="1"/>
          <p:nvPr>
            <p:ph idx="1" type="body"/>
          </p:nvPr>
        </p:nvSpPr>
        <p:spPr>
          <a:xfrm>
            <a:off x="457200" y="1143000"/>
            <a:ext cx="8534400" cy="4937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9" r="-10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type="ctrTitle"/>
          </p:nvPr>
        </p:nvSpPr>
        <p:spPr>
          <a:xfrm>
            <a:off x="1143000" y="40386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7620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Clocks &amp; Timing Diagrams</a:t>
            </a:r>
            <a:endParaRPr/>
          </a:p>
        </p:txBody>
      </p:sp>
      <p:pic>
        <p:nvPicPr>
          <p:cNvPr descr="BracU Logo | Brac University" id="319" name="Google Shape;3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Microprocessor Operation</a:t>
            </a:r>
            <a:endParaRPr/>
          </a:p>
        </p:txBody>
      </p:sp>
      <p:grpSp>
        <p:nvGrpSpPr>
          <p:cNvPr id="325" name="Google Shape;325;p28"/>
          <p:cNvGrpSpPr/>
          <p:nvPr/>
        </p:nvGrpSpPr>
        <p:grpSpPr>
          <a:xfrm>
            <a:off x="2053407" y="1310671"/>
            <a:ext cx="3863786" cy="3089745"/>
            <a:chOff x="1920925" y="1855411"/>
            <a:chExt cx="5191962" cy="3759695"/>
          </a:xfrm>
        </p:grpSpPr>
        <p:sp>
          <p:nvSpPr>
            <p:cNvPr id="326" name="Google Shape;326;p28"/>
            <p:cNvSpPr txBox="1"/>
            <p:nvPr/>
          </p:nvSpPr>
          <p:spPr>
            <a:xfrm>
              <a:off x="2375308" y="2858874"/>
              <a:ext cx="1447799" cy="616821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Fetch</a:t>
              </a:r>
              <a:endParaRPr/>
            </a:p>
          </p:txBody>
        </p:sp>
        <p:sp>
          <p:nvSpPr>
            <p:cNvPr id="327" name="Google Shape;327;p28"/>
            <p:cNvSpPr txBox="1"/>
            <p:nvPr/>
          </p:nvSpPr>
          <p:spPr>
            <a:xfrm>
              <a:off x="5284087" y="2873744"/>
              <a:ext cx="1828800" cy="616821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Decode</a:t>
              </a:r>
              <a:endParaRPr/>
            </a:p>
          </p:txBody>
        </p:sp>
        <p:sp>
          <p:nvSpPr>
            <p:cNvPr id="328" name="Google Shape;328;p28"/>
            <p:cNvSpPr txBox="1"/>
            <p:nvPr/>
          </p:nvSpPr>
          <p:spPr>
            <a:xfrm>
              <a:off x="3928873" y="4883071"/>
              <a:ext cx="1828800" cy="616821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Execute</a:t>
              </a: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 rot="-7973589">
              <a:off x="2115307" y="3727535"/>
              <a:ext cx="1967802" cy="1388454"/>
            </a:xfrm>
            <a:custGeom>
              <a:rect b="b" l="l" r="r" t="t"/>
              <a:pathLst>
                <a:path extrusionOk="0" h="21600" w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00B0F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0" name="Google Shape;330;p28"/>
            <p:cNvSpPr/>
            <p:nvPr/>
          </p:nvSpPr>
          <p:spPr>
            <a:xfrm rot="5912472">
              <a:off x="5522207" y="3799120"/>
              <a:ext cx="1675147" cy="1245281"/>
            </a:xfrm>
            <a:custGeom>
              <a:rect b="b" l="l" r="r" t="t"/>
              <a:pathLst>
                <a:path extrusionOk="0" h="21600" w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00B0F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1" name="Google Shape;331;p28"/>
            <p:cNvSpPr/>
            <p:nvPr/>
          </p:nvSpPr>
          <p:spPr>
            <a:xfrm rot="-466272">
              <a:off x="3216790" y="2022274"/>
              <a:ext cx="2552782" cy="1247237"/>
            </a:xfrm>
            <a:custGeom>
              <a:rect b="b" l="l" r="r" t="t"/>
              <a:pathLst>
                <a:path extrusionOk="0" h="21600" w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00B0F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32" name="Google Shape;332;p28"/>
          <p:cNvSpPr txBox="1"/>
          <p:nvPr>
            <p:ph idx="1" type="body"/>
          </p:nvPr>
        </p:nvSpPr>
        <p:spPr>
          <a:xfrm>
            <a:off x="457200" y="4508872"/>
            <a:ext cx="8382000" cy="1199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An instruction e.g. MOV [7531h], AX ; SUB CH, [0ABCh] etc</a:t>
            </a:r>
            <a:endParaRPr sz="2400"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time a µP requires to complete </a:t>
            </a:r>
            <a:r>
              <a:rPr b="1" lang="en-US" sz="2400"/>
              <a:t>fetch-(decode)-execute</a:t>
            </a:r>
            <a:r>
              <a:rPr lang="en-US" sz="2400"/>
              <a:t> operation of a single instruction is known  as </a:t>
            </a:r>
            <a:r>
              <a:rPr b="1" i="1" lang="en-US" sz="2400"/>
              <a:t>Instruction Cycle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Microprocessor Operation</a:t>
            </a:r>
            <a:endParaRPr/>
          </a:p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04800" y="1219200"/>
            <a:ext cx="8610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i="1" lang="en-US"/>
              <a:t>Instruction Cycle </a:t>
            </a:r>
            <a:r>
              <a:rPr lang="en-US"/>
              <a:t>consists of one or more </a:t>
            </a:r>
            <a:r>
              <a:rPr b="1" i="1" lang="en-US"/>
              <a:t>Machine Cycles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A basic µP operation such as reading/writing a byte from or to memory or I/O port is called a </a:t>
            </a:r>
            <a:r>
              <a:rPr b="1" i="1" lang="en-US"/>
              <a:t>Machine/Bus cycle</a:t>
            </a:r>
            <a:endParaRPr/>
          </a:p>
        </p:txBody>
      </p:sp>
      <p:pic>
        <p:nvPicPr>
          <p:cNvPr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62" y="4495800"/>
            <a:ext cx="6772275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/>
          <p:cNvPicPr preferRelativeResize="0"/>
          <p:nvPr/>
        </p:nvPicPr>
        <p:blipFill rotWithShape="1">
          <a:blip r:embed="rId4">
            <a:alphaModFix/>
          </a:blip>
          <a:srcRect b="10726" l="3254" r="4110" t="8935"/>
          <a:stretch/>
        </p:blipFill>
        <p:spPr>
          <a:xfrm>
            <a:off x="152400" y="3352800"/>
            <a:ext cx="9017798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Microprocessor Operation</a:t>
            </a:r>
            <a:endParaRPr/>
          </a:p>
        </p:txBody>
      </p:sp>
      <p:sp>
        <p:nvSpPr>
          <p:cNvPr id="346" name="Google Shape;346;p30"/>
          <p:cNvSpPr txBox="1"/>
          <p:nvPr>
            <p:ph idx="1" type="body"/>
          </p:nvPr>
        </p:nvSpPr>
        <p:spPr>
          <a:xfrm>
            <a:off x="457200" y="1219200"/>
            <a:ext cx="8534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A </a:t>
            </a:r>
            <a:r>
              <a:rPr b="1" i="1" lang="en-US"/>
              <a:t>Machine (bus) cycle </a:t>
            </a:r>
            <a:r>
              <a:rPr lang="en-US"/>
              <a:t>consists of at least </a:t>
            </a:r>
            <a:r>
              <a:rPr b="1" lang="en-US"/>
              <a:t>four</a:t>
            </a:r>
            <a:r>
              <a:rPr lang="en-US"/>
              <a:t> clock cycles, called </a:t>
            </a:r>
            <a:r>
              <a:rPr b="1" lang="en-US"/>
              <a:t>T</a:t>
            </a:r>
            <a:r>
              <a:rPr lang="en-US"/>
              <a:t> states.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One cycle of a clock  is called a </a:t>
            </a:r>
            <a:r>
              <a:rPr b="1" lang="en-US"/>
              <a:t>State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Each read or write operation takes 1 bus cycle.</a:t>
            </a:r>
            <a:endParaRPr/>
          </a:p>
          <a:p>
            <a:pPr indent="-148844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b="10726" l="3254" r="4110" t="8935"/>
          <a:stretch/>
        </p:blipFill>
        <p:spPr>
          <a:xfrm>
            <a:off x="63101" y="4419600"/>
            <a:ext cx="9017798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Clock Generation</a:t>
            </a:r>
            <a:endParaRPr/>
          </a:p>
        </p:txBody>
      </p:sp>
      <p:sp>
        <p:nvSpPr>
          <p:cNvPr id="353" name="Google Shape;353;p3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Clock generator circuit is 8284A and connected to </a:t>
            </a:r>
            <a:r>
              <a:rPr b="1" lang="en-US"/>
              <a:t>pin 19 </a:t>
            </a:r>
            <a:r>
              <a:rPr lang="en-US"/>
              <a:t>(</a:t>
            </a:r>
            <a:r>
              <a:rPr b="1" lang="en-US"/>
              <a:t>CLK</a:t>
            </a:r>
            <a:r>
              <a:rPr lang="en-US"/>
              <a:t>) of 8086.</a:t>
            </a:r>
            <a:endParaRPr/>
          </a:p>
          <a:p>
            <a:pPr indent="-148844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C:\Documents and Settings\saif\Desktop\8086_chipset-5.gif" id="354" name="Google Shape;3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124200"/>
            <a:ext cx="6858000" cy="2938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System Clock Concept</a:t>
            </a:r>
            <a:endParaRPr/>
          </a:p>
        </p:txBody>
      </p:sp>
      <p:pic>
        <p:nvPicPr>
          <p:cNvPr id="360" name="Google Shape;3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159125"/>
            <a:ext cx="6858000" cy="29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2"/>
          <p:cNvSpPr txBox="1"/>
          <p:nvPr/>
        </p:nvSpPr>
        <p:spPr>
          <a:xfrm>
            <a:off x="76199" y="1219200"/>
            <a:ext cx="5105401" cy="184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8086 is found to operate in between 5 to 10 Mhz.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8086 running at 5MHz, its clock pulses will be of 200ns and it would take 800ns for a complete bus cycle.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4323588" y="5110767"/>
            <a:ext cx="4668012" cy="1290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a 10MHz 8086, its clock pulses will be of 100ns and it would take 400ns for a complete bus cycle.</a:t>
            </a:r>
            <a:endParaRPr/>
          </a:p>
        </p:txBody>
      </p:sp>
      <p:grpSp>
        <p:nvGrpSpPr>
          <p:cNvPr id="363" name="Google Shape;363;p32"/>
          <p:cNvGrpSpPr/>
          <p:nvPr/>
        </p:nvGrpSpPr>
        <p:grpSpPr>
          <a:xfrm>
            <a:off x="5526676" y="1376936"/>
            <a:ext cx="3388724" cy="1489106"/>
            <a:chOff x="5067300" y="1376936"/>
            <a:chExt cx="3619500" cy="1590516"/>
          </a:xfrm>
        </p:grpSpPr>
        <p:pic>
          <p:nvPicPr>
            <p:cNvPr id="364" name="Google Shape;364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67300" y="1376936"/>
              <a:ext cx="3619500" cy="1590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2"/>
            <p:cNvSpPr txBox="1"/>
            <p:nvPr/>
          </p:nvSpPr>
          <p:spPr>
            <a:xfrm>
              <a:off x="6369630" y="1499447"/>
              <a:ext cx="575927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535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sp>
          <p:nvSpPr>
            <p:cNvPr id="366" name="Google Shape;366;p32"/>
            <p:cNvSpPr txBox="1"/>
            <p:nvPr/>
          </p:nvSpPr>
          <p:spPr>
            <a:xfrm>
              <a:off x="5408254" y="1496305"/>
              <a:ext cx="686410" cy="39158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8331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rgbClr val="3F3F3F"/>
                </a:solidFill>
              </a:rPr>
              <a:t>Clock States - Why are there T states?</a:t>
            </a:r>
            <a:endParaRPr/>
          </a:p>
        </p:txBody>
      </p:sp>
      <p:sp>
        <p:nvSpPr>
          <p:cNvPr id="372" name="Google Shape;372;p33"/>
          <p:cNvSpPr txBox="1"/>
          <p:nvPr>
            <p:ph idx="1" type="body"/>
          </p:nvPr>
        </p:nvSpPr>
        <p:spPr>
          <a:xfrm>
            <a:off x="0" y="1143000"/>
            <a:ext cx="8839200" cy="52425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59" l="0" r="-89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4"/>
          <p:cNvPicPr preferRelativeResize="0"/>
          <p:nvPr/>
        </p:nvPicPr>
        <p:blipFill rotWithShape="1">
          <a:blip r:embed="rId3">
            <a:alphaModFix/>
          </a:blip>
          <a:srcRect b="20685" l="0" r="18333" t="0"/>
          <a:stretch/>
        </p:blipFill>
        <p:spPr>
          <a:xfrm>
            <a:off x="998696" y="1223865"/>
            <a:ext cx="6643687" cy="4338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4"/>
          <p:cNvSpPr txBox="1"/>
          <p:nvPr>
            <p:ph type="title"/>
          </p:nvPr>
        </p:nvSpPr>
        <p:spPr>
          <a:xfrm>
            <a:off x="411480" y="180726"/>
            <a:ext cx="8229600" cy="6722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rgbClr val="3F3F3F"/>
                </a:solidFill>
              </a:rPr>
              <a:t>READ BUS Timing (Complete BUS Cycle)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205740" y="5370493"/>
            <a:ext cx="873252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i="1" sz="1800" u="sng">
              <a:solidFill>
                <a:srgbClr val="00B0F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 of memory is sent out by 8086 via address bus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Used Control signals: ALE, DT/R’, M/IO’ shows some output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411480" y="784912"/>
            <a:ext cx="8732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b="1" baseline="-25000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  </a:t>
            </a:r>
            <a:r>
              <a:rPr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Address is output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/>
          <p:nvPr/>
        </p:nvSpPr>
        <p:spPr>
          <a:xfrm>
            <a:off x="205740" y="5678269"/>
            <a:ext cx="8732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8086 issues either RD’ or WR’ and DEN’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case of WRITE (WR) operation, data to be written appear on data bus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411480" y="784912"/>
            <a:ext cx="8732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b="1" baseline="-25000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  </a:t>
            </a:r>
            <a:r>
              <a:rPr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Bus cycle type (MEMORY/IO,  READ/WRITE)</a:t>
            </a:r>
            <a:endParaRPr/>
          </a:p>
        </p:txBody>
      </p:sp>
      <p:sp>
        <p:nvSpPr>
          <p:cNvPr id="387" name="Google Shape;387;p35"/>
          <p:cNvSpPr txBox="1"/>
          <p:nvPr>
            <p:ph type="title"/>
          </p:nvPr>
        </p:nvSpPr>
        <p:spPr>
          <a:xfrm>
            <a:off x="411480" y="180726"/>
            <a:ext cx="8229600" cy="6722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rgbClr val="3F3F3F"/>
                </a:solidFill>
              </a:rPr>
              <a:t>READ BUS Timing (Complete BUS Cycle)</a:t>
            </a:r>
            <a:endParaRPr/>
          </a:p>
        </p:txBody>
      </p: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 b="20685" l="0" r="18333" t="0"/>
          <a:stretch/>
        </p:blipFill>
        <p:spPr>
          <a:xfrm>
            <a:off x="998696" y="1223865"/>
            <a:ext cx="6643687" cy="433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/>
          <p:nvPr/>
        </p:nvSpPr>
        <p:spPr>
          <a:xfrm>
            <a:off x="205740" y="5477470"/>
            <a:ext cx="87325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READY is sampled at the end of T2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READY is low, T3 becomes a wait state (Tw), means no operation (NOP).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READ bus cycle data bus is sampled at end of T3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411480" y="784912"/>
            <a:ext cx="8732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b="1" baseline="-25000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  </a:t>
            </a:r>
            <a:r>
              <a:rPr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Data is supplied</a:t>
            </a:r>
            <a:endParaRPr/>
          </a:p>
        </p:txBody>
      </p:sp>
      <p:sp>
        <p:nvSpPr>
          <p:cNvPr id="395" name="Google Shape;395;p36"/>
          <p:cNvSpPr txBox="1"/>
          <p:nvPr>
            <p:ph type="title"/>
          </p:nvPr>
        </p:nvSpPr>
        <p:spPr>
          <a:xfrm>
            <a:off x="411480" y="180726"/>
            <a:ext cx="8229600" cy="6722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rgbClr val="3F3F3F"/>
                </a:solidFill>
              </a:rPr>
              <a:t>READ BUS Timing (Complete BUS Cycle)</a:t>
            </a:r>
            <a:endParaRPr/>
          </a:p>
        </p:txBody>
      </p:sp>
      <p:pic>
        <p:nvPicPr>
          <p:cNvPr id="396" name="Google Shape;396;p36"/>
          <p:cNvPicPr preferRelativeResize="0"/>
          <p:nvPr/>
        </p:nvPicPr>
        <p:blipFill rotWithShape="1">
          <a:blip r:embed="rId3">
            <a:alphaModFix/>
          </a:blip>
          <a:srcRect b="20685" l="0" r="18333" t="0"/>
          <a:stretch/>
        </p:blipFill>
        <p:spPr>
          <a:xfrm>
            <a:off x="998696" y="1223865"/>
            <a:ext cx="6643687" cy="433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/>
        </p:nvSpPr>
        <p:spPr>
          <a:xfrm>
            <a:off x="205740" y="5678269"/>
            <a:ext cx="8732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 bus signals deactivated in preparation for next bus cycle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µP sampled data bus for data that read from M or I/O </a:t>
            </a:r>
            <a:endParaRPr/>
          </a:p>
        </p:txBody>
      </p:sp>
      <p:sp>
        <p:nvSpPr>
          <p:cNvPr id="402" name="Google Shape;402;p37"/>
          <p:cNvSpPr txBox="1"/>
          <p:nvPr/>
        </p:nvSpPr>
        <p:spPr>
          <a:xfrm>
            <a:off x="411480" y="784912"/>
            <a:ext cx="8732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T</a:t>
            </a:r>
            <a:r>
              <a:rPr b="1" baseline="-25000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1"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:  </a:t>
            </a:r>
            <a:r>
              <a:rPr i="1" lang="en-US" sz="1800" u="sng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Data latched by µP, control signals removed</a:t>
            </a:r>
            <a:endParaRPr/>
          </a:p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411480" y="180726"/>
            <a:ext cx="8229600" cy="6722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okman Old Style"/>
              <a:buNone/>
            </a:pPr>
            <a:r>
              <a:rPr lang="en-US" sz="2800">
                <a:solidFill>
                  <a:srgbClr val="3F3F3F"/>
                </a:solidFill>
              </a:rPr>
              <a:t>READ BUS Timing (Complete BUS Cycle)</a:t>
            </a:r>
            <a:endParaRPr/>
          </a:p>
        </p:txBody>
      </p:sp>
      <p:pic>
        <p:nvPicPr>
          <p:cNvPr id="404" name="Google Shape;404;p37"/>
          <p:cNvPicPr preferRelativeResize="0"/>
          <p:nvPr/>
        </p:nvPicPr>
        <p:blipFill rotWithShape="1">
          <a:blip r:embed="rId3">
            <a:alphaModFix/>
          </a:blip>
          <a:srcRect b="20685" l="0" r="18333" t="0"/>
          <a:stretch/>
        </p:blipFill>
        <p:spPr>
          <a:xfrm>
            <a:off x="998696" y="1223865"/>
            <a:ext cx="6643687" cy="433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Clock States</a:t>
            </a:r>
            <a:endParaRPr/>
          </a:p>
        </p:txBody>
      </p:sp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A specific, defined action occurs during each T states (T</a:t>
            </a:r>
            <a:r>
              <a:rPr baseline="-25000" lang="en-US" sz="2400"/>
              <a:t>1</a:t>
            </a:r>
            <a:r>
              <a:rPr lang="en-US" sz="2400"/>
              <a:t> – T</a:t>
            </a:r>
            <a:r>
              <a:rPr baseline="-25000" lang="en-US" sz="2400"/>
              <a:t>4</a:t>
            </a:r>
            <a:r>
              <a:rPr lang="en-US" sz="2400"/>
              <a:t>)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T</a:t>
            </a:r>
            <a:r>
              <a:rPr b="1" baseline="-25000" lang="en-US" sz="2400"/>
              <a:t>1</a:t>
            </a:r>
            <a:r>
              <a:rPr lang="en-US" sz="2400"/>
              <a:t>:  Address is output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Address of memory is sent out by 8086 via address bus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Used </a:t>
            </a:r>
            <a:r>
              <a:rPr lang="en-US" sz="1700">
                <a:solidFill>
                  <a:schemeClr val="dk1"/>
                </a:solidFill>
              </a:rPr>
              <a:t>Control signals: ALE, DT/R’, M/IO’ shows some output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T</a:t>
            </a:r>
            <a:r>
              <a:rPr b="1" baseline="-25000" lang="en-US" sz="2400"/>
              <a:t>2</a:t>
            </a:r>
            <a:r>
              <a:rPr lang="en-US" sz="2400"/>
              <a:t>: Bus cycle type (MEMORY/IO,  READ/WRITE)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8086 issues either RD’ or WR’ and DEN’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In case of </a:t>
            </a:r>
            <a:r>
              <a:rPr b="1" lang="en-US">
                <a:solidFill>
                  <a:schemeClr val="dk1"/>
                </a:solidFill>
              </a:rPr>
              <a:t>WRITE (WR)</a:t>
            </a:r>
            <a:r>
              <a:rPr lang="en-US">
                <a:solidFill>
                  <a:schemeClr val="dk1"/>
                </a:solidFill>
              </a:rPr>
              <a:t> operation, data to be written appear on data bus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Clock States</a:t>
            </a:r>
            <a:endParaRPr/>
          </a:p>
        </p:txBody>
      </p:sp>
      <p:sp>
        <p:nvSpPr>
          <p:cNvPr id="416" name="Google Shape;416;p39"/>
          <p:cNvSpPr txBox="1"/>
          <p:nvPr>
            <p:ph idx="1" type="body"/>
          </p:nvPr>
        </p:nvSpPr>
        <p:spPr>
          <a:xfrm>
            <a:off x="457200" y="12192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T</a:t>
            </a:r>
            <a:r>
              <a:rPr b="1" baseline="-25000" lang="en-US" sz="2400"/>
              <a:t>3</a:t>
            </a:r>
            <a:r>
              <a:rPr lang="en-US" sz="2400"/>
              <a:t>: Data is supplied</a:t>
            </a:r>
            <a:endParaRPr/>
          </a:p>
          <a:p>
            <a:pPr indent="-274319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>
                <a:solidFill>
                  <a:schemeClr val="dk1"/>
                </a:solidFill>
              </a:rPr>
              <a:t>READY is sampled at the end of T</a:t>
            </a:r>
            <a:r>
              <a:rPr b="1" baseline="-25000" lang="en-US" sz="2400"/>
              <a:t>2</a:t>
            </a:r>
            <a:endParaRPr sz="2400">
              <a:solidFill>
                <a:schemeClr val="dk1"/>
              </a:solidFill>
            </a:endParaRPr>
          </a:p>
          <a:p>
            <a:pPr indent="-228600" lvl="2" marL="7315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If READY is low, T</a:t>
            </a:r>
            <a:r>
              <a:rPr b="1" baseline="-25000" lang="en-US" sz="2000"/>
              <a:t>3</a:t>
            </a:r>
            <a:r>
              <a:rPr lang="en-US"/>
              <a:t> becomes a wait state (T</a:t>
            </a:r>
            <a:r>
              <a:rPr b="1" baseline="-25000" lang="en-US" sz="2000"/>
              <a:t>w</a:t>
            </a:r>
            <a:r>
              <a:rPr lang="en-US"/>
              <a:t>), means no operation (NOP).</a:t>
            </a:r>
            <a:endParaRPr/>
          </a:p>
          <a:p>
            <a:pPr indent="-228600" lvl="2" marL="7315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In </a:t>
            </a:r>
            <a:r>
              <a:rPr b="1" lang="en-US">
                <a:solidFill>
                  <a:schemeClr val="dk1"/>
                </a:solidFill>
              </a:rPr>
              <a:t>READ</a:t>
            </a:r>
            <a:r>
              <a:rPr lang="en-US">
                <a:solidFill>
                  <a:schemeClr val="dk1"/>
                </a:solidFill>
              </a:rPr>
              <a:t> bus cycle </a:t>
            </a:r>
            <a:r>
              <a:rPr lang="en-US" sz="2400">
                <a:solidFill>
                  <a:schemeClr val="dk1"/>
                </a:solidFill>
              </a:rPr>
              <a:t>data bus is sampled at end of T</a:t>
            </a:r>
            <a:r>
              <a:rPr baseline="-25000" lang="en-US" sz="2400">
                <a:solidFill>
                  <a:schemeClr val="dk1"/>
                </a:solidFill>
              </a:rPr>
              <a:t>3</a:t>
            </a:r>
            <a:endParaRPr sz="2400">
              <a:solidFill>
                <a:schemeClr val="dk1"/>
              </a:solidFill>
            </a:endParaRPr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T</a:t>
            </a:r>
            <a:r>
              <a:rPr b="1" baseline="-25000" lang="en-US" sz="2400"/>
              <a:t>4</a:t>
            </a:r>
            <a:r>
              <a:rPr lang="en-US" sz="2400"/>
              <a:t>: Data latched by µP, control signals removed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All bus signals deactivated in preparation for next bus cycle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µP sampled data bus for data that read from M or I/O 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>
                <a:solidFill>
                  <a:schemeClr val="dk1"/>
                </a:solidFill>
              </a:rPr>
              <a:t>At trailing edge of WR’, transfer data to M or I/O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type="title"/>
          </p:nvPr>
        </p:nvSpPr>
        <p:spPr>
          <a:xfrm>
            <a:off x="462709" y="457200"/>
            <a:ext cx="8204675" cy="6648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8086 Ready pin</a:t>
            </a:r>
            <a:endParaRPr/>
          </a:p>
        </p:txBody>
      </p:sp>
      <p:sp>
        <p:nvSpPr>
          <p:cNvPr id="422" name="Google Shape;422;p40"/>
          <p:cNvSpPr txBox="1"/>
          <p:nvPr>
            <p:ph idx="1" type="body"/>
          </p:nvPr>
        </p:nvSpPr>
        <p:spPr>
          <a:xfrm>
            <a:off x="228601" y="1066800"/>
            <a:ext cx="866201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The READY input is controlled to insert “Wait states” into the timing of the microprocessor for slower memory and I/O components..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If the READY pin is at a logic 0 level, the micro-processor enters into wait states and remains idle.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solidFill>
                  <a:srgbClr val="0066FF"/>
                </a:solidFill>
              </a:rPr>
              <a:t>When it is high (logic 1), it indicates that the device is ready to transfer data.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 </a:t>
            </a:r>
            <a:r>
              <a:rPr lang="en-US" sz="2200">
                <a:solidFill>
                  <a:srgbClr val="C00000"/>
                </a:solidFill>
              </a:rPr>
              <a:t>wait state </a:t>
            </a:r>
            <a:r>
              <a:rPr lang="en-US" sz="2200"/>
              <a:t>is a situation in which a computer processor is waiting for the completion of some event before resuming activity.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Char char="🞂"/>
            </a:pPr>
            <a:r>
              <a:rPr lang="en-US" sz="2200"/>
              <a:t>A program or process in a wait state is inactive for the duration of the wait state.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"/>
          <p:cNvSpPr txBox="1"/>
          <p:nvPr>
            <p:ph type="title"/>
          </p:nvPr>
        </p:nvSpPr>
        <p:spPr>
          <a:xfrm>
            <a:off x="457200" y="381000"/>
            <a:ext cx="7886700" cy="6985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Ready pin and </a:t>
            </a:r>
            <a:r>
              <a:rPr lang="en-US">
                <a:solidFill>
                  <a:srgbClr val="C00000"/>
                </a:solidFill>
              </a:rPr>
              <a:t>Wait state</a:t>
            </a:r>
            <a:endParaRPr/>
          </a:p>
        </p:txBody>
      </p:sp>
      <p:sp>
        <p:nvSpPr>
          <p:cNvPr id="428" name="Google Shape;428;p41"/>
          <p:cNvSpPr txBox="1"/>
          <p:nvPr>
            <p:ph idx="1" type="body"/>
          </p:nvPr>
        </p:nvSpPr>
        <p:spPr>
          <a:xfrm>
            <a:off x="336503" y="1155759"/>
            <a:ext cx="8640313" cy="5168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When a computer processor works at a faster </a:t>
            </a:r>
            <a:r>
              <a:rPr lang="en-US" u="sng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clock speed</a:t>
            </a:r>
            <a:r>
              <a:rPr lang="en-US">
                <a:solidFill>
                  <a:srgbClr val="00B0F0"/>
                </a:solidFill>
              </a:rPr>
              <a:t>  </a:t>
            </a:r>
            <a:r>
              <a:rPr lang="en-US"/>
              <a:t>than the random access memory ( RAM ) that sends it instructions, it is set to go into a wait state for one or more clock cycles so that it is synchronized with RAM speed. In general, the more time a processor spends in wait states, the slower the performance of that processor.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Wait states are a pure waste for a processor's performance. Modern designs try to eliminate or hide them using a variety of techniques: </a:t>
            </a:r>
            <a:r>
              <a:rPr lang="en-US" u="sng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CPU caches</a:t>
            </a:r>
            <a:r>
              <a:rPr lang="en-US">
                <a:solidFill>
                  <a:srgbClr val="00B0F0"/>
                </a:solidFill>
              </a:rPr>
              <a:t>, </a:t>
            </a:r>
            <a:r>
              <a:rPr lang="en-US" u="sng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instruction pipelines</a:t>
            </a:r>
            <a:r>
              <a:rPr lang="en-US">
                <a:solidFill>
                  <a:srgbClr val="00B0F0"/>
                </a:solidFill>
              </a:rPr>
              <a:t>, </a:t>
            </a:r>
            <a:r>
              <a:rPr lang="en-US" u="sng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instruction prefetch</a:t>
            </a:r>
            <a:r>
              <a:rPr lang="en-US">
                <a:solidFill>
                  <a:srgbClr val="00B0F0"/>
                </a:solidFill>
              </a:rPr>
              <a:t>, </a:t>
            </a:r>
            <a:r>
              <a:rPr lang="en-US" u="sng">
                <a:solidFill>
                  <a:srgbClr val="00B0F0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simultaneous multithreading</a:t>
            </a:r>
            <a:r>
              <a:rPr lang="en-US"/>
              <a:t> and others.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/>
          <p:nvPr>
            <p:ph type="title"/>
          </p:nvPr>
        </p:nvSpPr>
        <p:spPr>
          <a:xfrm>
            <a:off x="1371600" y="1905000"/>
            <a:ext cx="6400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b="1" lang="en-US" sz="9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434" name="Google Shape;434;p42"/>
          <p:cNvSpPr txBox="1"/>
          <p:nvPr>
            <p:ph idx="1" type="body"/>
          </p:nvPr>
        </p:nvSpPr>
        <p:spPr>
          <a:xfrm>
            <a:off x="457200" y="96012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2736"/>
              <a:buNone/>
            </a:pPr>
            <a:r>
              <a:rPr b="1" i="1" lang="en-US" sz="36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Questions are welcome in the discussion class</a:t>
            </a:r>
            <a:endParaRPr b="1" i="1"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