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9144000"/>
  <p:notesSz cx="7010400" cy="9296400"/>
  <p:embeddedFontLst>
    <p:embeddedFont>
      <p:font typeface="Gill Sans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27" roundtripDataSignature="AMtx7mhjN7ztEaHH8bi9/xxa/XyDadHG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C3C5716-4451-4FD4-9782-EDDACDCC5314}">
  <a:tblStyle styleId="{FC3C5716-4451-4FD4-9782-EDDACDCC5314}" styleName="Table_0">
    <a:wholeTbl>
      <a:tcTxStyle b="off" i="off">
        <a:font>
          <a:latin typeface="Gill Sans MT"/>
          <a:ea typeface="Gill Sans MT"/>
          <a:cs typeface="Gill Sans MT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GillSans-bold.fntdata"/><Relationship Id="rId25" Type="http://schemas.openxmlformats.org/officeDocument/2006/relationships/font" Target="fonts/GillSans-regular.fntdata"/><Relationship Id="rId27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70938" y="0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1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" name="Google Shape;36;p1:notes"/>
          <p:cNvSpPr txBox="1"/>
          <p:nvPr>
            <p:ph idx="12" type="sldNum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" name="Google Shape;43;p2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" name="Google Shape;51;p3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" name="Google Shape;59;p4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" name="Google Shape;76;p5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" name="Google Shape;84;p6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p7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8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9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p9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0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10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1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11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2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p12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p13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4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14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5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15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6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p16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7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p17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8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18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0"/>
          <p:cNvSpPr txBox="1"/>
          <p:nvPr>
            <p:ph type="ctrTitle"/>
          </p:nvPr>
        </p:nvSpPr>
        <p:spPr>
          <a:xfrm>
            <a:off x="1219200" y="3886200"/>
            <a:ext cx="6858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  <a:defRPr sz="32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" type="subTitle"/>
          </p:nvPr>
        </p:nvSpPr>
        <p:spPr>
          <a:xfrm>
            <a:off x="1219200" y="5124450"/>
            <a:ext cx="6858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20"/>
              <a:buNone/>
              <a:defRPr sz="2000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None/>
              <a:defRPr/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None/>
              <a:defRPr/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0" type="dt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0"/>
          <p:cNvSpPr txBox="1"/>
          <p:nvPr>
            <p:ph idx="12" type="sldNum"/>
          </p:nvPr>
        </p:nvSpPr>
        <p:spPr>
          <a:xfrm>
            <a:off x="1216152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" name="Google Shape;23;p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4" name="Google Shape;24;p20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cap="rnd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" name="Google Shape;25;p20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" name="Google Shape;26;p20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1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" name="Google Shape;31;p21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 b="0" i="0" sz="3200" u="none" cap="none" strike="noStrik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9"/>
          <p:cNvSpPr txBox="1"/>
          <p:nvPr>
            <p:ph idx="1" type="body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076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🞂"/>
              <a:defRPr b="0" i="0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39597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 Symbols"/>
              <a:buChar char="🞂"/>
              <a:defRPr b="0" i="0" sz="23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25119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520"/>
              <a:buFont typeface="Noto Sans Symbols"/>
              <a:buChar char="🞂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0861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BA1B3"/>
              </a:buClr>
              <a:buSzPts val="1260"/>
              <a:buFont typeface="Noto Sans Symbols"/>
              <a:buChar char="◻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972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◻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BA1B3"/>
              </a:buClr>
              <a:buSzPts val="1200"/>
              <a:buFont typeface="Noto Sans Symbols"/>
              <a:buChar char="🞂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5275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646C8F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5275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BABABA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8575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900"/>
              <a:buFont typeface="Noto Sans Symbols"/>
              <a:buChar char="🞂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19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3" name="Google Shape;13;p19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4" name="Google Shape;14;p19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" name="Google Shape;15;p19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6" name="Google Shape;16;p19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" name="Google Shape;17;p19"/>
          <p:cNvSpPr txBox="1"/>
          <p:nvPr>
            <p:ph idx="11" type="ftr"/>
          </p:nvPr>
        </p:nvSpPr>
        <p:spPr>
          <a:xfrm>
            <a:off x="2286000" y="62484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"/>
          <p:cNvSpPr txBox="1"/>
          <p:nvPr/>
        </p:nvSpPr>
        <p:spPr>
          <a:xfrm>
            <a:off x="0" y="1371600"/>
            <a:ext cx="914400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Internal  Architecture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Of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8086 Microprocessor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"/>
          <p:cNvSpPr txBox="1"/>
          <p:nvPr/>
        </p:nvSpPr>
        <p:spPr>
          <a:xfrm>
            <a:off x="1295400" y="5029200"/>
            <a:ext cx="6858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16"/>
              <a:buFont typeface="Noto Sans Symbols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Course ID:</a:t>
            </a:r>
            <a:r>
              <a:rPr b="0" i="0" lang="en-US" sz="16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CSE - 341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16"/>
              <a:buFont typeface="Noto Sans Symbols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Course Title:</a:t>
            </a:r>
            <a:r>
              <a:rPr b="0" i="0" lang="en-US" sz="16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Microprocessors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"/>
          <p:cNvSpPr txBox="1"/>
          <p:nvPr/>
        </p:nvSpPr>
        <p:spPr>
          <a:xfrm>
            <a:off x="1143000" y="3352800"/>
            <a:ext cx="6858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</a:br>
            <a:br>
              <a:rPr b="0" i="0" lang="en-US" sz="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</a:br>
            <a:br>
              <a:rPr b="0" i="0" lang="en-US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Department of Computer Science &amp; Engineering</a:t>
            </a:r>
            <a:b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BRAC University.</a:t>
            </a:r>
            <a:endParaRPr b="0" i="0" sz="16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lang="en-US">
                <a:solidFill>
                  <a:schemeClr val="dk1"/>
                </a:solidFill>
              </a:rPr>
              <a:t>Lecture References:</a:t>
            </a:r>
            <a:endParaRPr/>
          </a:p>
        </p:txBody>
      </p:sp>
      <p:sp>
        <p:nvSpPr>
          <p:cNvPr id="46" name="Google Shape;46;p2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47" name="Google Shape;47;p2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b="1" lang="en-US"/>
              <a:t>Book: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48"/>
              <a:buChar char="?"/>
            </a:pPr>
            <a:r>
              <a:rPr i="1" lang="en-US">
                <a:solidFill>
                  <a:schemeClr val="dk1"/>
                </a:solidFill>
              </a:rPr>
              <a:t>Microprocessors and Interfacing: Programming and Hardware, Chapter # 2, </a:t>
            </a:r>
            <a:r>
              <a:rPr b="1" lang="en-US">
                <a:solidFill>
                  <a:schemeClr val="dk1"/>
                </a:solidFill>
              </a:rPr>
              <a:t>Author: </a:t>
            </a:r>
            <a:r>
              <a:rPr lang="en-US">
                <a:solidFill>
                  <a:schemeClr val="dk1"/>
                </a:solidFill>
              </a:rPr>
              <a:t>Douglas V. Hall</a:t>
            </a:r>
            <a:endParaRPr/>
          </a:p>
          <a:p>
            <a:pPr indent="-163322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48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48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163322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48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8" name="Google Shape;48;p2"/>
          <p:cNvSpPr txBox="1"/>
          <p:nvPr/>
        </p:nvSpPr>
        <p:spPr>
          <a:xfrm>
            <a:off x="1676400" y="641604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CSE – 341 : Microprocessors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BRAC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lang="en-US">
                <a:solidFill>
                  <a:schemeClr val="dk1"/>
                </a:solidFill>
              </a:rPr>
              <a:t>Organization of the 8086 </a:t>
            </a:r>
            <a:endParaRPr/>
          </a:p>
        </p:txBody>
      </p:sp>
      <p:sp>
        <p:nvSpPr>
          <p:cNvPr id="54" name="Google Shape;54;p3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3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 Microprocessor </a:t>
            </a:r>
            <a:r>
              <a:rPr lang="en-US"/>
              <a:t>8086 is internally divided into two separate functional units. These are:</a:t>
            </a:r>
            <a:endParaRPr/>
          </a:p>
          <a:p>
            <a:pPr indent="-228600" lvl="2" marL="82296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Font typeface="Noto Sans Symbols"/>
              <a:buChar char="▪"/>
            </a:pPr>
            <a:r>
              <a:rPr b="1" lang="en-US"/>
              <a:t>Bus Interface Unit (BIU)</a:t>
            </a:r>
            <a:r>
              <a:rPr lang="en-US"/>
              <a:t> </a:t>
            </a:r>
            <a:endParaRPr/>
          </a:p>
          <a:p>
            <a:pPr indent="-228600" lvl="2" marL="82296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Font typeface="Noto Sans Symbols"/>
              <a:buChar char="▪"/>
            </a:pPr>
            <a:r>
              <a:rPr b="1" lang="en-US"/>
              <a:t>Execution Unit (EU)</a:t>
            </a:r>
            <a:r>
              <a:rPr lang="en-US"/>
              <a:t>.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These two functional units can work simultaneously to increase system speed and hence the throughput.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Throughput is a measure of number of instructions executed per unit time.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28"/>
              <a:buChar char="?"/>
            </a:pPr>
            <a:r>
              <a:rPr lang="en-US" sz="2800"/>
              <a:t>These two units interact directly  with each other through Internal Bus</a:t>
            </a:r>
            <a:r>
              <a:rPr lang="en-US" sz="2400"/>
              <a:t>.</a:t>
            </a:r>
            <a:endParaRPr/>
          </a:p>
          <a:p>
            <a:pPr indent="-17297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96"/>
              <a:buNone/>
            </a:pPr>
            <a:r>
              <a:t/>
            </a:r>
            <a:endParaRPr b="1" sz="2100">
              <a:solidFill>
                <a:schemeClr val="dk1"/>
              </a:solidFill>
            </a:endParaRPr>
          </a:p>
          <a:p>
            <a:pPr indent="-158496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 b="1" sz="2400"/>
          </a:p>
          <a:p>
            <a:pPr indent="-14884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  <a:p>
            <a:pPr indent="-14884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 txBox="1"/>
          <p:nvPr/>
        </p:nvSpPr>
        <p:spPr>
          <a:xfrm>
            <a:off x="1676400" y="641604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CSE – 341 : Microprocessors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BRAC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/>
          <p:cNvSpPr txBox="1"/>
          <p:nvPr>
            <p:ph type="title"/>
          </p:nvPr>
        </p:nvSpPr>
        <p:spPr>
          <a:xfrm>
            <a:off x="457200" y="152400"/>
            <a:ext cx="8229600" cy="63881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lang="en-US">
                <a:solidFill>
                  <a:schemeClr val="dk1"/>
                </a:solidFill>
              </a:rPr>
              <a:t>16-Bit 8086 Intel Processor Architecture </a:t>
            </a:r>
            <a:endParaRPr/>
          </a:p>
        </p:txBody>
      </p:sp>
      <p:sp>
        <p:nvSpPr>
          <p:cNvPr id="62" name="Google Shape;62;p4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4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 sz="2400"/>
          </a:p>
        </p:txBody>
      </p:sp>
      <p:pic>
        <p:nvPicPr>
          <p:cNvPr descr="8086 registers" id="64" name="Google Shape;6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791210"/>
            <a:ext cx="8077200" cy="583819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4"/>
          <p:cNvSpPr txBox="1"/>
          <p:nvPr/>
        </p:nvSpPr>
        <p:spPr>
          <a:xfrm>
            <a:off x="1676400" y="641604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CSE – 341 : Microprocessors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BRAC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49940" y="1752600"/>
            <a:ext cx="1524000" cy="762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535A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Physical address = segment no x 10h + offset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" name="Google Shape;67;p4"/>
          <p:cNvCxnSpPr>
            <a:stCxn id="66" idx="3"/>
          </p:cNvCxnSpPr>
          <p:nvPr/>
        </p:nvCxnSpPr>
        <p:spPr>
          <a:xfrm>
            <a:off x="1573940" y="2133600"/>
            <a:ext cx="4074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8" name="Google Shape;68;p4"/>
          <p:cNvSpPr/>
          <p:nvPr/>
        </p:nvSpPr>
        <p:spPr>
          <a:xfrm>
            <a:off x="7696200" y="3429000"/>
            <a:ext cx="1397860" cy="263779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MOV AX,3H</a:t>
            </a:r>
            <a:b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MOV BX,4H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ADD AX,BX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ADD AX, 2H</a:t>
            </a:r>
            <a:b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</a:b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69" name="Google Shape;69;p4"/>
          <p:cNvCxnSpPr/>
          <p:nvPr/>
        </p:nvCxnSpPr>
        <p:spPr>
          <a:xfrm rot="10800000">
            <a:off x="6705600" y="4724400"/>
            <a:ext cx="9906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0" name="Google Shape;70;p4"/>
          <p:cNvSpPr txBox="1"/>
          <p:nvPr/>
        </p:nvSpPr>
        <p:spPr>
          <a:xfrm>
            <a:off x="3920041" y="4191000"/>
            <a:ext cx="50206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4"/>
          <p:cNvSpPr txBox="1"/>
          <p:nvPr/>
        </p:nvSpPr>
        <p:spPr>
          <a:xfrm>
            <a:off x="6553200" y="4191000"/>
            <a:ext cx="4780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4"/>
          <p:cNvSpPr txBox="1"/>
          <p:nvPr/>
        </p:nvSpPr>
        <p:spPr>
          <a:xfrm>
            <a:off x="5203413" y="4191614"/>
            <a:ext cx="6848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ADD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" name="Google Shape;73;p4"/>
          <p:cNvCxnSpPr/>
          <p:nvPr/>
        </p:nvCxnSpPr>
        <p:spPr>
          <a:xfrm>
            <a:off x="5562600" y="4560332"/>
            <a:ext cx="0" cy="187563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lang="en-US">
                <a:solidFill>
                  <a:schemeClr val="dk1"/>
                </a:solidFill>
              </a:rPr>
              <a:t>Bus Interface Unit</a:t>
            </a:r>
            <a:endParaRPr/>
          </a:p>
        </p:txBody>
      </p:sp>
      <p:sp>
        <p:nvSpPr>
          <p:cNvPr id="79" name="Google Shape;79;p5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" name="Google Shape;80;p5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b="1" lang="en-US"/>
              <a:t>BIU:</a:t>
            </a:r>
            <a:r>
              <a:rPr lang="en-US"/>
              <a:t>  facilitates communication between the EU &amp; the memory or I/O circuits. It provides a full 16-bit bi-directional data bus and 20-bit address bus. </a:t>
            </a:r>
            <a:endParaRPr/>
          </a:p>
          <a:p>
            <a:pPr indent="-342898" lvl="1" marL="61722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24"/>
              <a:buChar char="?"/>
            </a:pPr>
            <a:r>
              <a:rPr lang="en-US" sz="2400">
                <a:solidFill>
                  <a:schemeClr val="dk1"/>
                </a:solidFill>
              </a:rPr>
              <a:t>Responsible for transmitting addresses, data, and control signals on the buses.</a:t>
            </a:r>
            <a:endParaRPr/>
          </a:p>
          <a:p>
            <a:pPr indent="-342898" lvl="1" marL="61722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24"/>
              <a:buChar char="?"/>
            </a:pPr>
            <a:r>
              <a:rPr b="1" lang="en-US" sz="2400">
                <a:solidFill>
                  <a:schemeClr val="dk1"/>
                </a:solidFill>
              </a:rPr>
              <a:t>Registers</a:t>
            </a:r>
            <a:r>
              <a:rPr lang="en-US" sz="2400">
                <a:solidFill>
                  <a:schemeClr val="dk1"/>
                </a:solidFill>
              </a:rPr>
              <a:t> (CS, DS, ES, SS, and IP) hold addresses of memory locations.</a:t>
            </a:r>
            <a:endParaRPr/>
          </a:p>
          <a:p>
            <a:pPr indent="-342898" lvl="1" marL="61722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24"/>
              <a:buChar char="?"/>
            </a:pPr>
            <a:r>
              <a:rPr b="1" lang="en-US" sz="2400">
                <a:solidFill>
                  <a:schemeClr val="dk1"/>
                </a:solidFill>
              </a:rPr>
              <a:t>IP</a:t>
            </a:r>
            <a:r>
              <a:rPr lang="en-US" sz="2400">
                <a:solidFill>
                  <a:schemeClr val="dk1"/>
                </a:solidFill>
              </a:rPr>
              <a:t> (instruction pointer) contain the address of the next instruction to be executed by the EU.</a:t>
            </a:r>
            <a:endParaRPr/>
          </a:p>
          <a:p>
            <a:pPr indent="-158496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 sz="2400"/>
          </a:p>
          <a:p>
            <a:pPr indent="-139192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28"/>
              <a:buNone/>
            </a:pPr>
            <a:r>
              <a:t/>
            </a:r>
            <a:endParaRPr sz="2800"/>
          </a:p>
        </p:txBody>
      </p:sp>
      <p:sp>
        <p:nvSpPr>
          <p:cNvPr id="81" name="Google Shape;81;p5"/>
          <p:cNvSpPr txBox="1"/>
          <p:nvPr/>
        </p:nvSpPr>
        <p:spPr>
          <a:xfrm>
            <a:off x="1676400" y="641604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CSE – 341 : Microprocessors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BRAC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lang="en-US">
                <a:solidFill>
                  <a:schemeClr val="dk1"/>
                </a:solidFill>
              </a:rPr>
              <a:t>Bus Interface Unit</a:t>
            </a:r>
            <a:endParaRPr/>
          </a:p>
        </p:txBody>
      </p:sp>
      <p:sp>
        <p:nvSpPr>
          <p:cNvPr id="87" name="Google Shape;87;p6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" name="Google Shape;88;p6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28"/>
              <a:buNone/>
            </a:pPr>
            <a:r>
              <a:rPr lang="en-US" sz="2800"/>
              <a:t>The bus interface unit is responsible for performing all external bus operations, as listed below.</a:t>
            </a:r>
            <a:endParaRPr/>
          </a:p>
          <a:p>
            <a:pPr indent="-274319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It sends address of the memory or I/O.</a:t>
            </a:r>
            <a:endParaRPr/>
          </a:p>
          <a:p>
            <a:pPr indent="-274319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It fetches instruction from memory.</a:t>
            </a:r>
            <a:endParaRPr/>
          </a:p>
          <a:p>
            <a:pPr indent="-274319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It reads data from port/memory.</a:t>
            </a:r>
            <a:endParaRPr/>
          </a:p>
          <a:p>
            <a:pPr indent="-274319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It Writes data into port/memory.</a:t>
            </a:r>
            <a:endParaRPr/>
          </a:p>
          <a:p>
            <a:pPr indent="-274319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It supports instruction queuing.</a:t>
            </a:r>
            <a:endParaRPr/>
          </a:p>
          <a:p>
            <a:pPr indent="0" lvl="0" marL="9144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58496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 sz="2400"/>
          </a:p>
          <a:p>
            <a:pPr indent="-139192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28"/>
              <a:buNone/>
            </a:pPr>
            <a:r>
              <a:t/>
            </a:r>
            <a:endParaRPr sz="2800"/>
          </a:p>
        </p:txBody>
      </p:sp>
      <p:sp>
        <p:nvSpPr>
          <p:cNvPr id="89" name="Google Shape;89;p6"/>
          <p:cNvSpPr txBox="1"/>
          <p:nvPr/>
        </p:nvSpPr>
        <p:spPr>
          <a:xfrm>
            <a:off x="1676400" y="641604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CSE – 341 : Microprocessors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BRAC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"/>
          <p:cNvSpPr txBox="1"/>
          <p:nvPr>
            <p:ph type="title"/>
          </p:nvPr>
        </p:nvSpPr>
        <p:spPr>
          <a:xfrm>
            <a:off x="457200" y="-60055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ookman Old Style"/>
              <a:buNone/>
            </a:pPr>
            <a:r>
              <a:rPr lang="en-US" sz="2800">
                <a:solidFill>
                  <a:schemeClr val="dk1"/>
                </a:solidFill>
              </a:rPr>
              <a:t>Physical Address Calculation in BIU</a:t>
            </a:r>
            <a:endParaRPr sz="2800"/>
          </a:p>
        </p:txBody>
      </p:sp>
      <p:sp>
        <p:nvSpPr>
          <p:cNvPr id="95" name="Google Shape;95;p7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" name="Google Shape;96;p7"/>
          <p:cNvSpPr txBox="1"/>
          <p:nvPr/>
        </p:nvSpPr>
        <p:spPr>
          <a:xfrm>
            <a:off x="1676400" y="641604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CSE – 341 : Microprocessors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BRAC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102" y="3070121"/>
            <a:ext cx="7155236" cy="1749327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7"/>
          <p:cNvSpPr/>
          <p:nvPr/>
        </p:nvSpPr>
        <p:spPr>
          <a:xfrm>
            <a:off x="762000" y="1326808"/>
            <a:ext cx="76200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To generate 20 bit physical address Segment Registers (CS, DS, SS, ES) and Pointer and Index Registers (IP, SP, BP, SI, DI) are needed.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"/>
          <p:cNvSpPr txBox="1"/>
          <p:nvPr>
            <p:ph type="title"/>
          </p:nvPr>
        </p:nvSpPr>
        <p:spPr>
          <a:xfrm>
            <a:off x="457200" y="-60055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Bookman Old Style"/>
              <a:buNone/>
            </a:pPr>
            <a:r>
              <a:rPr lang="en-US">
                <a:solidFill>
                  <a:schemeClr val="dk1"/>
                </a:solidFill>
              </a:rPr>
              <a:t>Memory Segment and Segment Registers</a:t>
            </a:r>
            <a:endParaRPr/>
          </a:p>
        </p:txBody>
      </p:sp>
      <p:sp>
        <p:nvSpPr>
          <p:cNvPr id="104" name="Google Shape;104;p8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" name="Google Shape;105;p8"/>
          <p:cNvSpPr txBox="1"/>
          <p:nvPr/>
        </p:nvSpPr>
        <p:spPr>
          <a:xfrm>
            <a:off x="1676400" y="641604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CSE – 341 : Microprocessors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BRAC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9682" y="995022"/>
            <a:ext cx="3467318" cy="54018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9"/>
          <p:cNvSpPr txBox="1"/>
          <p:nvPr>
            <p:ph type="title"/>
          </p:nvPr>
        </p:nvSpPr>
        <p:spPr>
          <a:xfrm>
            <a:off x="457200" y="-60055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ookman Old Style"/>
              <a:buNone/>
            </a:pPr>
            <a:r>
              <a:rPr lang="en-US" sz="2800">
                <a:solidFill>
                  <a:schemeClr val="dk1"/>
                </a:solidFill>
              </a:rPr>
              <a:t>Physical Address Calculation Examples</a:t>
            </a:r>
            <a:endParaRPr sz="2800"/>
          </a:p>
        </p:txBody>
      </p:sp>
      <p:sp>
        <p:nvSpPr>
          <p:cNvPr id="112" name="Google Shape;112;p9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3" name="Google Shape;113;p9"/>
          <p:cNvSpPr txBox="1"/>
          <p:nvPr/>
        </p:nvSpPr>
        <p:spPr>
          <a:xfrm>
            <a:off x="1676400" y="641604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CSE – 341 : Microprocessors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BRAC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7271" y="1371600"/>
            <a:ext cx="8148485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1257" y="3200400"/>
            <a:ext cx="3886742" cy="2810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"/>
          <p:cNvSpPr txBox="1"/>
          <p:nvPr>
            <p:ph type="title"/>
          </p:nvPr>
        </p:nvSpPr>
        <p:spPr>
          <a:xfrm>
            <a:off x="457200" y="-60055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ookman Old Style"/>
              <a:buNone/>
            </a:pPr>
            <a:r>
              <a:rPr lang="en-US" sz="2800">
                <a:solidFill>
                  <a:schemeClr val="dk1"/>
                </a:solidFill>
              </a:rPr>
              <a:t>Physical Address Calculation Examples</a:t>
            </a:r>
            <a:endParaRPr sz="2800"/>
          </a:p>
        </p:txBody>
      </p:sp>
      <p:sp>
        <p:nvSpPr>
          <p:cNvPr id="121" name="Google Shape;121;p10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" name="Google Shape;122;p10"/>
          <p:cNvSpPr txBox="1"/>
          <p:nvPr/>
        </p:nvSpPr>
        <p:spPr>
          <a:xfrm>
            <a:off x="1676400" y="641604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CSE – 341 : Microprocessors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BRAC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802" y="1459523"/>
            <a:ext cx="8318998" cy="358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1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lang="en-US">
                <a:solidFill>
                  <a:schemeClr val="dk1"/>
                </a:solidFill>
              </a:rPr>
              <a:t>Instruction Queue</a:t>
            </a:r>
            <a:endParaRPr/>
          </a:p>
        </p:txBody>
      </p:sp>
      <p:sp>
        <p:nvSpPr>
          <p:cNvPr id="129" name="Google Shape;129;p11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" name="Google Shape;130;p11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To speed up program execution, the BIU fetches </a:t>
            </a:r>
            <a:r>
              <a:rPr b="1" lang="en-US"/>
              <a:t>six instruction bytes</a:t>
            </a:r>
            <a:r>
              <a:rPr lang="en-US"/>
              <a:t> ahead of time from the memory.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These prefetched instruction bytes are held for the execution unit in a group of registers called </a:t>
            </a:r>
            <a:r>
              <a:rPr b="1" lang="en-US"/>
              <a:t>Queue</a:t>
            </a:r>
            <a:r>
              <a:rPr lang="en-US"/>
              <a:t>.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With the help of queue it is possible to fetch next instruction when current instruction is in execution.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The queue operates on the principle first in first out (FIFO). So that the execution unit gets the instructions for execution in the order they are fetched.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Exceptions: JUMP and CALL instructions</a:t>
            </a:r>
            <a:endParaRPr sz="2800"/>
          </a:p>
        </p:txBody>
      </p:sp>
      <p:sp>
        <p:nvSpPr>
          <p:cNvPr id="131" name="Google Shape;131;p11"/>
          <p:cNvSpPr txBox="1"/>
          <p:nvPr/>
        </p:nvSpPr>
        <p:spPr>
          <a:xfrm>
            <a:off x="1676400" y="641604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CSE – 341 : Microprocessors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BRAC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lang="en-US">
                <a:solidFill>
                  <a:schemeClr val="dk1"/>
                </a:solidFill>
              </a:rPr>
              <a:t>Instruction Queue</a:t>
            </a:r>
            <a:endParaRPr/>
          </a:p>
        </p:txBody>
      </p:sp>
      <p:sp>
        <p:nvSpPr>
          <p:cNvPr id="137" name="Google Shape;137;p12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8" name="Google Shape;138;p12"/>
          <p:cNvSpPr txBox="1"/>
          <p:nvPr/>
        </p:nvSpPr>
        <p:spPr>
          <a:xfrm>
            <a:off x="1676400" y="641604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CSE – 341 : Microprocessors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BRAC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9" name="Google Shape;139;p12"/>
          <p:cNvGraphicFramePr/>
          <p:nvPr/>
        </p:nvGraphicFramePr>
        <p:xfrm>
          <a:off x="2060448" y="1752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{FC3C5716-4451-4FD4-9782-EDDACDCC5314}</a:tableStyleId>
              </a:tblPr>
              <a:tblGrid>
                <a:gridCol w="1066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40" name="Google Shape;140;p12"/>
          <p:cNvSpPr txBox="1"/>
          <p:nvPr/>
        </p:nvSpPr>
        <p:spPr>
          <a:xfrm>
            <a:off x="1049781" y="1753479"/>
            <a:ext cx="8146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38AB0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2"/>
          <p:cNvSpPr txBox="1"/>
          <p:nvPr/>
        </p:nvSpPr>
        <p:spPr>
          <a:xfrm>
            <a:off x="1014340" y="3216312"/>
            <a:ext cx="8146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38AB4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2"/>
          <p:cNvSpPr txBox="1"/>
          <p:nvPr/>
        </p:nvSpPr>
        <p:spPr>
          <a:xfrm>
            <a:off x="990599" y="3583857"/>
            <a:ext cx="8146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38AB5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2"/>
          <p:cNvSpPr txBox="1"/>
          <p:nvPr/>
        </p:nvSpPr>
        <p:spPr>
          <a:xfrm>
            <a:off x="1028995" y="3971052"/>
            <a:ext cx="8146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38AB6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2"/>
          <p:cNvSpPr txBox="1"/>
          <p:nvPr/>
        </p:nvSpPr>
        <p:spPr>
          <a:xfrm>
            <a:off x="1028994" y="2833797"/>
            <a:ext cx="8146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38AB3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2"/>
          <p:cNvSpPr txBox="1"/>
          <p:nvPr/>
        </p:nvSpPr>
        <p:spPr>
          <a:xfrm>
            <a:off x="1053575" y="2451282"/>
            <a:ext cx="8146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38AB2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2"/>
          <p:cNvSpPr txBox="1"/>
          <p:nvPr/>
        </p:nvSpPr>
        <p:spPr>
          <a:xfrm>
            <a:off x="1049781" y="2122811"/>
            <a:ext cx="8146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38AB1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2"/>
          <p:cNvSpPr txBox="1"/>
          <p:nvPr/>
        </p:nvSpPr>
        <p:spPr>
          <a:xfrm>
            <a:off x="3420017" y="1801274"/>
            <a:ext cx="25967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Current Instruction in EU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2"/>
          <p:cNvSpPr txBox="1"/>
          <p:nvPr/>
        </p:nvSpPr>
        <p:spPr>
          <a:xfrm>
            <a:off x="3420017" y="2817804"/>
            <a:ext cx="235308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Instructions prefetched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in Queue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" name="Google Shape;149;p12"/>
          <p:cNvCxnSpPr/>
          <p:nvPr/>
        </p:nvCxnSpPr>
        <p:spPr>
          <a:xfrm rot="10800000">
            <a:off x="3962400" y="2170606"/>
            <a:ext cx="0" cy="64719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0" name="Google Shape;150;p12"/>
          <p:cNvCxnSpPr/>
          <p:nvPr/>
        </p:nvCxnSpPr>
        <p:spPr>
          <a:xfrm>
            <a:off x="3962400" y="3464135"/>
            <a:ext cx="0" cy="87624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151" name="Google Shape;151;p12"/>
          <p:cNvGraphicFramePr/>
          <p:nvPr/>
        </p:nvGraphicFramePr>
        <p:xfrm>
          <a:off x="2060448" y="4572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{FC3C5716-4451-4FD4-9782-EDDACDCC5314}</a:tableStyleId>
              </a:tblPr>
              <a:tblGrid>
                <a:gridCol w="1066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52" name="Google Shape;152;p12"/>
          <p:cNvSpPr txBox="1"/>
          <p:nvPr/>
        </p:nvSpPr>
        <p:spPr>
          <a:xfrm>
            <a:off x="1049781" y="4563668"/>
            <a:ext cx="7617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49520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2"/>
          <p:cNvSpPr txBox="1"/>
          <p:nvPr/>
        </p:nvSpPr>
        <p:spPr>
          <a:xfrm>
            <a:off x="1040789" y="4949190"/>
            <a:ext cx="7617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49521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2"/>
          <p:cNvSpPr txBox="1"/>
          <p:nvPr/>
        </p:nvSpPr>
        <p:spPr>
          <a:xfrm>
            <a:off x="1049874" y="5325709"/>
            <a:ext cx="7617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49522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2"/>
          <p:cNvSpPr txBox="1"/>
          <p:nvPr/>
        </p:nvSpPr>
        <p:spPr>
          <a:xfrm>
            <a:off x="1049968" y="5733659"/>
            <a:ext cx="7617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49523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2"/>
          <p:cNvSpPr txBox="1"/>
          <p:nvPr/>
        </p:nvSpPr>
        <p:spPr>
          <a:xfrm flipH="1">
            <a:off x="6966111" y="4438474"/>
            <a:ext cx="176497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By JUMP or CALL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2"/>
          <p:cNvSpPr txBox="1"/>
          <p:nvPr/>
        </p:nvSpPr>
        <p:spPr>
          <a:xfrm>
            <a:off x="3287258" y="2043313"/>
            <a:ext cx="38192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2"/>
          <p:cNvSpPr/>
          <p:nvPr/>
        </p:nvSpPr>
        <p:spPr>
          <a:xfrm>
            <a:off x="1603248" y="1741584"/>
            <a:ext cx="1992787" cy="2933916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19050">
            <a:solidFill>
              <a:srgbClr val="535A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2"/>
          <p:cNvSpPr txBox="1"/>
          <p:nvPr/>
        </p:nvSpPr>
        <p:spPr>
          <a:xfrm>
            <a:off x="3344852" y="4548207"/>
            <a:ext cx="3593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0" name="Google Shape;160;p12"/>
          <p:cNvCxnSpPr>
            <a:stCxn id="159" idx="2"/>
          </p:cNvCxnSpPr>
          <p:nvPr/>
        </p:nvCxnSpPr>
        <p:spPr>
          <a:xfrm>
            <a:off x="3524549" y="4917539"/>
            <a:ext cx="0" cy="1137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1" name="Google Shape;161;p12"/>
          <p:cNvCxnSpPr>
            <a:stCxn id="157" idx="2"/>
          </p:cNvCxnSpPr>
          <p:nvPr/>
        </p:nvCxnSpPr>
        <p:spPr>
          <a:xfrm>
            <a:off x="3478223" y="2412645"/>
            <a:ext cx="0" cy="1927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2" name="Google Shape;162;p12"/>
          <p:cNvSpPr txBox="1"/>
          <p:nvPr/>
        </p:nvSpPr>
        <p:spPr>
          <a:xfrm flipH="1">
            <a:off x="4145708" y="4487525"/>
            <a:ext cx="176497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CALL ADDITION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lang="en-US">
                <a:solidFill>
                  <a:schemeClr val="dk1"/>
                </a:solidFill>
              </a:rPr>
              <a:t>Instruction Queue</a:t>
            </a:r>
            <a:endParaRPr/>
          </a:p>
        </p:txBody>
      </p:sp>
      <p:sp>
        <p:nvSpPr>
          <p:cNvPr id="168" name="Google Shape;168;p13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9" name="Google Shape;169;p13"/>
          <p:cNvSpPr txBox="1"/>
          <p:nvPr/>
        </p:nvSpPr>
        <p:spPr>
          <a:xfrm>
            <a:off x="1676400" y="641604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CSE – 341 : Microprocessors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BRAC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" name="Google Shape;170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1" y="1594459"/>
            <a:ext cx="7180138" cy="3968141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3"/>
          <p:cNvSpPr txBox="1"/>
          <p:nvPr/>
        </p:nvSpPr>
        <p:spPr>
          <a:xfrm>
            <a:off x="4038600" y="5644727"/>
            <a:ext cx="2286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Fig: </a:t>
            </a: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Pipelining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lang="en-US">
                <a:solidFill>
                  <a:schemeClr val="dk1"/>
                </a:solidFill>
              </a:rPr>
              <a:t>Execution Unit (EU)</a:t>
            </a:r>
            <a:endParaRPr/>
          </a:p>
        </p:txBody>
      </p:sp>
      <p:sp>
        <p:nvSpPr>
          <p:cNvPr id="177" name="Google Shape;177;p14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8" name="Google Shape;178;p14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The execution unit of Internal Architecture of 8086 tells the BIU from where to fetch instructions or data, decodes instructions and executes instructions. It contains</a:t>
            </a:r>
            <a:endParaRPr/>
          </a:p>
          <a:p>
            <a:pPr indent="-457200" lvl="1" marL="73152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48"/>
              <a:buFont typeface="Bookman Old Style"/>
              <a:buAutoNum type="arabicPeriod"/>
            </a:pPr>
            <a:r>
              <a:rPr lang="en-US"/>
              <a:t>Control Circuitry</a:t>
            </a:r>
            <a:endParaRPr/>
          </a:p>
          <a:p>
            <a:pPr indent="-457200" lvl="1" marL="73152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48"/>
              <a:buFont typeface="Bookman Old Style"/>
              <a:buAutoNum type="arabicPeriod"/>
            </a:pPr>
            <a:r>
              <a:rPr lang="en-US"/>
              <a:t>Instruction Decoder</a:t>
            </a:r>
            <a:endParaRPr/>
          </a:p>
          <a:p>
            <a:pPr indent="-457200" lvl="1" marL="73152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48"/>
              <a:buFont typeface="Bookman Old Style"/>
              <a:buAutoNum type="arabicPeriod"/>
            </a:pPr>
            <a:r>
              <a:rPr lang="en-US"/>
              <a:t>Arithmetic Logic Unit (ALU)</a:t>
            </a:r>
            <a:endParaRPr/>
          </a:p>
          <a:p>
            <a:pPr indent="-457200" lvl="1" marL="73152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48"/>
              <a:buFont typeface="Bookman Old Style"/>
              <a:buAutoNum type="arabicPeriod"/>
            </a:pPr>
            <a:r>
              <a:rPr lang="en-US"/>
              <a:t>Flag Register</a:t>
            </a:r>
            <a:endParaRPr/>
          </a:p>
          <a:p>
            <a:pPr indent="-457200" lvl="1" marL="73152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48"/>
              <a:buFont typeface="Bookman Old Style"/>
              <a:buAutoNum type="arabicPeriod"/>
            </a:pPr>
            <a:r>
              <a:rPr lang="en-US"/>
              <a:t>General Purpose Registers</a:t>
            </a:r>
            <a:endParaRPr/>
          </a:p>
          <a:p>
            <a:pPr indent="-457200" lvl="1" marL="73152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48"/>
              <a:buFont typeface="Bookman Old Style"/>
              <a:buAutoNum type="arabicPeriod"/>
            </a:pPr>
            <a:r>
              <a:rPr lang="en-US"/>
              <a:t>Pointers and Index Registers</a:t>
            </a:r>
            <a:endParaRPr/>
          </a:p>
          <a:p>
            <a:pPr indent="0" lvl="1" marL="27432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96"/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-14884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  <a:p>
            <a:pPr indent="-14884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sp>
        <p:nvSpPr>
          <p:cNvPr id="179" name="Google Shape;179;p14"/>
          <p:cNvSpPr txBox="1"/>
          <p:nvPr/>
        </p:nvSpPr>
        <p:spPr>
          <a:xfrm>
            <a:off x="1676400" y="641604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CSE – 341 : Microprocessors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BRAC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5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lang="en-US">
                <a:solidFill>
                  <a:schemeClr val="dk1"/>
                </a:solidFill>
              </a:rPr>
              <a:t>Execution Unit (EU)</a:t>
            </a:r>
            <a:endParaRPr/>
          </a:p>
        </p:txBody>
      </p:sp>
      <p:sp>
        <p:nvSpPr>
          <p:cNvPr id="185" name="Google Shape;185;p15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6" name="Google Shape;186;p15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64909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The main components of the EU are General purpose registers, the ALU, Special purpose registers, Instruction Register and Instruction Decoder and the Flag/Status Register.</a:t>
            </a:r>
            <a:endParaRPr/>
          </a:p>
          <a:p>
            <a:pPr indent="-264909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Fetches instructions from the Queue in BIU, decodes and executes arithmetic and logic operations using the ALU.</a:t>
            </a:r>
            <a:endParaRPr/>
          </a:p>
          <a:p>
            <a:pPr indent="-264909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Sends control signals for internal data transfer operations within the microprocessor.</a:t>
            </a:r>
            <a:endParaRPr/>
          </a:p>
          <a:p>
            <a:pPr indent="-264909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Sends request signals to the BIU to access the external module.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4884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/>
          </a:p>
          <a:p>
            <a:pPr indent="-14884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/>
          </a:p>
        </p:txBody>
      </p:sp>
      <p:sp>
        <p:nvSpPr>
          <p:cNvPr id="187" name="Google Shape;187;p15"/>
          <p:cNvSpPr txBox="1"/>
          <p:nvPr/>
        </p:nvSpPr>
        <p:spPr>
          <a:xfrm>
            <a:off x="1676400" y="641604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CSE – 341 : Microprocessors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BRAC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6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lang="en-US">
                <a:solidFill>
                  <a:schemeClr val="dk1"/>
                </a:solidFill>
              </a:rPr>
              <a:t>Arithmetic Logic Unit (ALU)</a:t>
            </a:r>
            <a:endParaRPr/>
          </a:p>
        </p:txBody>
      </p:sp>
      <p:sp>
        <p:nvSpPr>
          <p:cNvPr id="193" name="Google Shape;193;p16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4" name="Google Shape;194;p16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898" lvl="1" marL="6172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28"/>
              <a:buChar char="?"/>
            </a:pPr>
            <a:r>
              <a:rPr lang="en-US" sz="2800">
                <a:solidFill>
                  <a:schemeClr val="dk1"/>
                </a:solidFill>
              </a:rPr>
              <a:t>This unit performs all arithmetic and logical computations.</a:t>
            </a:r>
            <a:endParaRPr/>
          </a:p>
          <a:p>
            <a:pPr indent="0" lvl="1" marL="27432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28"/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-342898" lvl="1" marL="61722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28"/>
              <a:buChar char="?"/>
            </a:pPr>
            <a:r>
              <a:rPr b="1" lang="en-US" sz="2800">
                <a:solidFill>
                  <a:schemeClr val="dk1"/>
                </a:solidFill>
              </a:rPr>
              <a:t>Instructions </a:t>
            </a:r>
            <a:r>
              <a:rPr lang="en-US" sz="2800">
                <a:solidFill>
                  <a:schemeClr val="dk1"/>
                </a:solidFill>
              </a:rPr>
              <a:t>those are fetched and decoded, are executed in the ALU</a:t>
            </a:r>
            <a:endParaRPr/>
          </a:p>
          <a:p>
            <a:pPr indent="0" lvl="1" marL="27432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28"/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-342898" lvl="1" marL="61722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28"/>
              <a:buChar char="?"/>
            </a:pPr>
            <a:r>
              <a:rPr lang="en-US" sz="2800">
                <a:solidFill>
                  <a:schemeClr val="dk1"/>
                </a:solidFill>
              </a:rPr>
              <a:t>Thus, ALU has direct access to General Purpose Registers and Flags.</a:t>
            </a:r>
            <a:endParaRPr sz="2400"/>
          </a:p>
        </p:txBody>
      </p:sp>
      <p:sp>
        <p:nvSpPr>
          <p:cNvPr id="195" name="Google Shape;195;p16"/>
          <p:cNvSpPr txBox="1"/>
          <p:nvPr/>
        </p:nvSpPr>
        <p:spPr>
          <a:xfrm>
            <a:off x="1676400" y="641604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CSE – 341 : Microprocessors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BRAC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Temporary and Flag registers</a:t>
            </a:r>
            <a:endParaRPr/>
          </a:p>
        </p:txBody>
      </p:sp>
      <p:sp>
        <p:nvSpPr>
          <p:cNvPr id="201" name="Google Shape;201;p17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2" name="Google Shape;202;p17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898" lvl="1" marL="6172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Every processor has some temporary registers those are not visible to the programmers. </a:t>
            </a:r>
            <a:endParaRPr/>
          </a:p>
          <a:p>
            <a:pPr indent="-342898" lvl="1" marL="61722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For these registers, our data are not lost in between different kinds of operations,</a:t>
            </a:r>
            <a:endParaRPr/>
          </a:p>
          <a:p>
            <a:pPr indent="-342898" lvl="2" marL="891539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596"/>
              <a:buChar char="?"/>
            </a:pPr>
            <a:r>
              <a:rPr lang="en-US" sz="2100"/>
              <a:t>XCNG CX, BX</a:t>
            </a:r>
            <a:endParaRPr/>
          </a:p>
          <a:p>
            <a:pPr indent="-342900" lvl="4" marL="144018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SzPts val="1190"/>
              <a:buChar char="◻"/>
            </a:pPr>
            <a:r>
              <a:rPr lang="en-US" sz="1700"/>
              <a:t>MOV temp, CX</a:t>
            </a:r>
            <a:endParaRPr/>
          </a:p>
          <a:p>
            <a:pPr indent="-342900" lvl="4" marL="144018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SzPts val="1190"/>
              <a:buChar char="◻"/>
            </a:pPr>
            <a:r>
              <a:rPr lang="en-US" sz="1700"/>
              <a:t>MOV CX, BX</a:t>
            </a:r>
            <a:endParaRPr/>
          </a:p>
          <a:p>
            <a:pPr indent="-342900" lvl="4" marL="144018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SzPts val="1190"/>
              <a:buChar char="◻"/>
            </a:pPr>
            <a:r>
              <a:rPr lang="en-US" sz="1700"/>
              <a:t>MOV BX, temp</a:t>
            </a:r>
            <a:endParaRPr/>
          </a:p>
          <a:p>
            <a:pPr indent="0" lvl="4" marL="109728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SzPts val="1190"/>
              <a:buNone/>
            </a:pPr>
            <a:r>
              <a:t/>
            </a:r>
            <a:endParaRPr sz="1700"/>
          </a:p>
          <a:p>
            <a:pPr indent="-285749" lvl="4" marL="62547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Font typeface="Noto Sans Symbols"/>
              <a:buChar char="⮚"/>
            </a:pPr>
            <a:r>
              <a:rPr lang="en-US" sz="2400"/>
              <a:t>FLAG Registers: A flag is a flip–flop which indicates some condition produced by the execution of an instruction or controls certain operations of the EU.</a:t>
            </a:r>
            <a:endParaRPr/>
          </a:p>
        </p:txBody>
      </p:sp>
      <p:sp>
        <p:nvSpPr>
          <p:cNvPr id="203" name="Google Shape;203;p17"/>
          <p:cNvSpPr txBox="1"/>
          <p:nvPr/>
        </p:nvSpPr>
        <p:spPr>
          <a:xfrm>
            <a:off x="1676400" y="641604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CSE – 341 : Microprocessors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BRAC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8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lang="en-US">
                <a:solidFill>
                  <a:schemeClr val="dk1"/>
                </a:solidFill>
              </a:rPr>
              <a:t>Thank You !!</a:t>
            </a:r>
            <a:endParaRPr/>
          </a:p>
        </p:txBody>
      </p:sp>
      <p:sp>
        <p:nvSpPr>
          <p:cNvPr id="209" name="Google Shape;209;p18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0" name="Google Shape;210;p18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8844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  <a:p>
            <a:pPr indent="-14884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pic>
        <p:nvPicPr>
          <p:cNvPr descr="j0178141" id="211" name="Google Shape;21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9400" y="2209800"/>
            <a:ext cx="3533775" cy="38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8"/>
          <p:cNvSpPr txBox="1"/>
          <p:nvPr/>
        </p:nvSpPr>
        <p:spPr>
          <a:xfrm>
            <a:off x="1676400" y="641604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CSE – 341 : Microprocessors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BRAC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rigin">
  <a:themeElements>
    <a:clrScheme name="Origin">
      <a:dk1>
        <a:srgbClr val="000000"/>
      </a:dk1>
      <a:lt1>
        <a:srgbClr val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Rupam</dc:creator>
</cp:coreProperties>
</file>