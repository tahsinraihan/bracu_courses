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iBWeh6qx8ulh/V6cGT0M1yMTOv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710898294_0_2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2c710898294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710898294_0_3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2c710898294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c710898294_0_3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c710898294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df3a403c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df3a403c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710898294_0_3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2c710898294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710898294_0_3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2c710898294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df3a403c0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df3a403c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df3a403c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df3a403c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df3a403c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df3a403c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f3a403c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df3a403c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df3a403c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df3a403c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df3a403c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df3a403c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710898294_0_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2c71089829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df3a403c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df3a403c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df3a403c0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df3a403c0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c710898294_0_2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2c71089829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c710898294_0_2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c710898294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df3a403c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df3a403c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df3a403c0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ddf3a403c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e07ad01d5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de07ad01d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c710898294_0_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2c71089829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df3a403c0_0_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ddf3a403c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c710898294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2c71089829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0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0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0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0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22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1543625"/>
            <a:ext cx="8520600" cy="186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86"/>
              <a:buNone/>
            </a:pPr>
            <a:r>
              <a:rPr lang="en" sz="4400">
                <a:latin typeface="Times New Roman"/>
                <a:ea typeface="Times New Roman"/>
                <a:cs typeface="Times New Roman"/>
                <a:sym typeface="Times New Roman"/>
              </a:rPr>
              <a:t>Introduction to Control System Theory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49"/>
            <a:ext cx="9144000" cy="51345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 txBox="1"/>
          <p:nvPr>
            <p:ph type="title"/>
          </p:nvPr>
        </p:nvSpPr>
        <p:spPr>
          <a:xfrm>
            <a:off x="272875" y="3424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lt1"/>
                </a:solidFill>
              </a:rPr>
              <a:t>Control Theory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710898294_0_2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Control Theory</a:t>
            </a:r>
            <a:endParaRPr/>
          </a:p>
        </p:txBody>
      </p:sp>
      <p:sp>
        <p:nvSpPr>
          <p:cNvPr id="67" name="Google Shape;67;g2c710898294_0_2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Definition: Control theory is a branch of engineering and mathematics that deals with the </a:t>
            </a:r>
            <a:r>
              <a:rPr b="1" lang="en"/>
              <a:t>behavior of dynamical systems</a:t>
            </a:r>
            <a:r>
              <a:rPr lang="en"/>
              <a:t>. It focuses on designing systems that can control the behavior of other systems to produce specific outputs.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Control theory develops </a:t>
            </a:r>
            <a:r>
              <a:rPr b="1" lang="en"/>
              <a:t>mathematical models </a:t>
            </a:r>
            <a:r>
              <a:rPr lang="en"/>
              <a:t>and </a:t>
            </a:r>
            <a:r>
              <a:rPr b="1" lang="en"/>
              <a:t>algorithms </a:t>
            </a:r>
            <a:r>
              <a:rPr lang="en"/>
              <a:t>to manipulate the behavior of systems, ensuring </a:t>
            </a:r>
            <a:r>
              <a:rPr b="1" lang="en"/>
              <a:t>they operate as desired.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Control System</a:t>
            </a:r>
            <a:endParaRPr/>
          </a:p>
        </p:txBody>
      </p:sp>
      <p:pic>
        <p:nvPicPr>
          <p:cNvPr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7025" y="1462988"/>
            <a:ext cx="4559374" cy="23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3834500" y="1273575"/>
            <a:ext cx="2047800" cy="264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951500" y="2049975"/>
            <a:ext cx="1737000" cy="109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6"/>
          <p:cNvCxnSpPr>
            <a:stCxn id="75" idx="3"/>
            <a:endCxn id="74" idx="3"/>
          </p:cNvCxnSpPr>
          <p:nvPr/>
        </p:nvCxnSpPr>
        <p:spPr>
          <a:xfrm>
            <a:off x="4688500" y="2598225"/>
            <a:ext cx="119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" name="Google Shape;77;p6"/>
          <p:cNvSpPr txBox="1"/>
          <p:nvPr/>
        </p:nvSpPr>
        <p:spPr>
          <a:xfrm>
            <a:off x="991000" y="2417575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rad/sec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6"/>
          <p:cNvCxnSpPr>
            <a:stCxn id="77" idx="3"/>
            <a:endCxn id="75" idx="1"/>
          </p:cNvCxnSpPr>
          <p:nvPr/>
        </p:nvCxnSpPr>
        <p:spPr>
          <a:xfrm flipH="1" rot="10800000">
            <a:off x="2378800" y="2598175"/>
            <a:ext cx="572700" cy="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6"/>
          <p:cNvSpPr txBox="1"/>
          <p:nvPr/>
        </p:nvSpPr>
        <p:spPr>
          <a:xfrm>
            <a:off x="7276800" y="3811050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rad/sec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2387"/>
            <a:ext cx="9144000" cy="4678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185" y="13332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9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1563625" y="3716300"/>
            <a:ext cx="8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3 rad/s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7160325" y="3716300"/>
            <a:ext cx="107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2.2 rad/s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185" y="13332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/>
          <p:nvPr/>
        </p:nvSpPr>
        <p:spPr>
          <a:xfrm>
            <a:off x="1485950" y="3049550"/>
            <a:ext cx="107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Velocity</a:t>
            </a:r>
            <a:endParaRPr b="0" i="0" sz="1400" u="none" cap="none" strike="noStrike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7160325" y="3049550"/>
            <a:ext cx="107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Velocity</a:t>
            </a:r>
            <a:endParaRPr b="0" i="0" sz="14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185" y="13332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1563625" y="3716300"/>
            <a:ext cx="8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3 rad/s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>
            <a:off x="7160325" y="3716300"/>
            <a:ext cx="107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2.2 rad/s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Open Loop Control</a:t>
            </a:r>
            <a:endParaRPr/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 txBox="1"/>
          <p:nvPr/>
        </p:nvSpPr>
        <p:spPr>
          <a:xfrm>
            <a:off x="1485950" y="3049550"/>
            <a:ext cx="107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Velocity</a:t>
            </a:r>
            <a:endParaRPr b="0" i="0" sz="1400" u="none" cap="none" strike="noStrike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7160325" y="3049550"/>
            <a:ext cx="107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Velocity</a:t>
            </a:r>
            <a:endParaRPr b="0" i="0" sz="14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185" y="13332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1"/>
          <p:cNvSpPr txBox="1"/>
          <p:nvPr/>
        </p:nvSpPr>
        <p:spPr>
          <a:xfrm>
            <a:off x="1563625" y="3716300"/>
            <a:ext cx="8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3 rad/s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1"/>
          <p:cNvSpPr txBox="1"/>
          <p:nvPr/>
        </p:nvSpPr>
        <p:spPr>
          <a:xfrm>
            <a:off x="7160325" y="3716300"/>
            <a:ext cx="107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2.2 rad/s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15747"/>
            <a:ext cx="9144000" cy="449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measure the actual angular velocities.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can compensate for changes in load by feeding back some information.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5113" y="2777825"/>
            <a:ext cx="2173775" cy="21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Closed Loop Control</a:t>
            </a:r>
            <a:endParaRPr/>
          </a:p>
        </p:txBody>
      </p:sp>
      <p:pic>
        <p:nvPicPr>
          <p:cNvPr id="150" name="Google Shape;1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609725"/>
            <a:ext cx="5715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6793" y="3408625"/>
            <a:ext cx="970400" cy="9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0960" y="6309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3"/>
          <p:cNvSpPr/>
          <p:nvPr/>
        </p:nvSpPr>
        <p:spPr>
          <a:xfrm>
            <a:off x="4484700" y="5615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Feedback Diagram</a:t>
            </a:r>
            <a:endParaRPr/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650" y="1239800"/>
            <a:ext cx="7026700" cy="30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5825" y="721175"/>
            <a:ext cx="3894475" cy="304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75" y="1453300"/>
            <a:ext cx="5181350" cy="224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710898294_0_3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71" name="Google Shape;171;g2c710898294_0_3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Input:</a:t>
            </a:r>
            <a:r>
              <a:rPr lang="en"/>
              <a:t> The signal or commands applied to the system.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Output</a:t>
            </a:r>
            <a:r>
              <a:rPr lang="en"/>
              <a:t>: The response of the system to the input signals.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Controller</a:t>
            </a:r>
            <a:r>
              <a:rPr lang="en"/>
              <a:t>: The component responsible for generating control signals based on the system's output and desired behavior.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Feedback</a:t>
            </a:r>
            <a:r>
              <a:rPr lang="en"/>
              <a:t>: Information about the system's output that is fed back to the controller to adjust the control signals.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710898294_0_3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Theoretical Concepts</a:t>
            </a:r>
            <a:endParaRPr/>
          </a:p>
        </p:txBody>
      </p:sp>
      <p:sp>
        <p:nvSpPr>
          <p:cNvPr id="177" name="Google Shape;177;g2c710898294_0_3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Feedback</a:t>
            </a:r>
            <a:r>
              <a:rPr lang="en"/>
              <a:t>:  Feedback involves using information about the output of a system to adjust the control input, thereby regulating the system's behavior.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Ex. Thermostat, measures the current room temperature(feedback), compares it to the desired temperature set by user, adjusts the heating or cooling.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Stability</a:t>
            </a:r>
            <a:r>
              <a:rPr lang="en"/>
              <a:t>: Stability ensures that the system's response remains bounded over time, even in the presence of disturbances or changes in operating conditions.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Ex. balancing a pencil on the tip of a finger. Moving your finger slightly, the pencil wobbles but eventually return to its position. The pencil returns to equilibrium despite disturbances illustrates stability.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df3a403c0_0_16"/>
          <p:cNvSpPr txBox="1"/>
          <p:nvPr/>
        </p:nvSpPr>
        <p:spPr>
          <a:xfrm>
            <a:off x="0" y="237165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“How do we evaluate a system performance?”</a:t>
            </a:r>
            <a:endParaRPr b="1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2c710898294_0_3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2870" y="610625"/>
            <a:ext cx="4538273" cy="36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c710898294_0_3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Performance Measures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93" name="Google Shape;193;g2c710898294_0_374"/>
          <p:cNvSpPr txBox="1"/>
          <p:nvPr>
            <p:ph idx="1" type="body"/>
          </p:nvPr>
        </p:nvSpPr>
        <p:spPr>
          <a:xfrm>
            <a:off x="311700" y="1152475"/>
            <a:ext cx="5057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Transient Response:</a:t>
            </a:r>
            <a:r>
              <a:rPr lang="en"/>
              <a:t> refers to how a system behaves during the transition from one state to another after a change in inputs.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Ex. Turning on a light switch, the time it takes for the light to reach its steady state and any oscillations or overshoot during this transition represent the transient response of the lighting system.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Steady-State Response: </a:t>
            </a:r>
            <a:r>
              <a:rPr lang="en"/>
              <a:t>D</a:t>
            </a:r>
            <a:r>
              <a:rPr lang="en"/>
              <a:t>escribes the behavior of the system once it has settled into a stable operating condition.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Ex. In an elevator system, when you press a floor button, the elevator initially accelerates, then moves at a constant speed, and finally decelerates as it reaches the desired floor.</a:t>
            </a:r>
            <a:endParaRPr/>
          </a:p>
        </p:txBody>
      </p:sp>
      <p:pic>
        <p:nvPicPr>
          <p:cNvPr id="194" name="Google Shape;194;g2c710898294_0_3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2575" y="1152475"/>
            <a:ext cx="3189725" cy="25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df3a403c0_0_9"/>
          <p:cNvSpPr txBox="1"/>
          <p:nvPr>
            <p:ph type="title"/>
          </p:nvPr>
        </p:nvSpPr>
        <p:spPr>
          <a:xfrm>
            <a:off x="267875" y="298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Key Transient Performance Metrics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00" name="Google Shape;200;g3ddf3a403c0_0_9"/>
          <p:cNvSpPr txBox="1"/>
          <p:nvPr/>
        </p:nvSpPr>
        <p:spPr>
          <a:xfrm>
            <a:off x="350700" y="871625"/>
            <a:ext cx="87933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1. Rise Time (T</a:t>
            </a:r>
            <a:r>
              <a:rPr b="1" baseline="-25000" lang="en" sz="1300">
                <a:solidFill>
                  <a:schemeClr val="dk1"/>
                </a:solidFill>
              </a:rPr>
              <a:t>r</a:t>
            </a:r>
            <a:r>
              <a:rPr b="1" lang="en" sz="1300">
                <a:solidFill>
                  <a:schemeClr val="dk1"/>
                </a:solidFill>
              </a:rPr>
              <a:t>​)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Time taken for the response to rise from </a:t>
            </a:r>
            <a:r>
              <a:rPr b="1" lang="en" sz="1100">
                <a:solidFill>
                  <a:schemeClr val="dk1"/>
                </a:solidFill>
              </a:rPr>
              <a:t>10% to 90%</a:t>
            </a:r>
            <a:r>
              <a:rPr lang="en" sz="1100">
                <a:solidFill>
                  <a:schemeClr val="dk1"/>
                </a:solidFill>
              </a:rPr>
              <a:t> of the final value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Indicates </a:t>
            </a:r>
            <a:r>
              <a:rPr b="1" lang="en" sz="1100">
                <a:solidFill>
                  <a:schemeClr val="dk1"/>
                </a:solidFill>
              </a:rPr>
              <a:t>how fast the system responds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01" name="Google Shape;201;g3ddf3a403c0_0_9"/>
          <p:cNvSpPr txBox="1"/>
          <p:nvPr/>
        </p:nvSpPr>
        <p:spPr>
          <a:xfrm>
            <a:off x="311375" y="1720500"/>
            <a:ext cx="48909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Peak Time (T</a:t>
            </a:r>
            <a:r>
              <a:rPr b="1" baseline="-25000" lang="en" sz="1300">
                <a:solidFill>
                  <a:schemeClr val="dk1"/>
                </a:solidFill>
              </a:rPr>
              <a:t>p</a:t>
            </a:r>
            <a:r>
              <a:rPr b="1" lang="en" sz="1300">
                <a:solidFill>
                  <a:schemeClr val="dk1"/>
                </a:solidFill>
              </a:rPr>
              <a:t>​)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Time required to reach the </a:t>
            </a:r>
            <a:r>
              <a:rPr b="1" lang="en" sz="1100">
                <a:solidFill>
                  <a:schemeClr val="dk1"/>
                </a:solidFill>
              </a:rPr>
              <a:t>first maximum peak</a:t>
            </a:r>
            <a:r>
              <a:rPr lang="en" sz="1100">
                <a:solidFill>
                  <a:schemeClr val="dk1"/>
                </a:solidFill>
              </a:rPr>
              <a:t> of the response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Shows how quickly the system reaches its highest point</a:t>
            </a:r>
            <a:endParaRPr/>
          </a:p>
        </p:txBody>
      </p:sp>
      <p:sp>
        <p:nvSpPr>
          <p:cNvPr id="202" name="Google Shape;202;g3ddf3a403c0_0_9"/>
          <p:cNvSpPr txBox="1"/>
          <p:nvPr/>
        </p:nvSpPr>
        <p:spPr>
          <a:xfrm>
            <a:off x="350700" y="2653200"/>
            <a:ext cx="45024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3. Maximum Overshoot (M</a:t>
            </a:r>
            <a:r>
              <a:rPr b="1" baseline="-25000" lang="en" sz="1300">
                <a:solidFill>
                  <a:schemeClr val="dk1"/>
                </a:solidFill>
              </a:rPr>
              <a:t>p</a:t>
            </a:r>
            <a:r>
              <a:rPr b="1" lang="en" sz="1300">
                <a:solidFill>
                  <a:schemeClr val="dk1"/>
                </a:solidFill>
              </a:rPr>
              <a:t>​)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amount by which the response </a:t>
            </a:r>
            <a:r>
              <a:rPr b="1" lang="en" sz="1100">
                <a:solidFill>
                  <a:schemeClr val="dk1"/>
                </a:solidFill>
              </a:rPr>
              <a:t>exceeds the final value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Usually expressed as a percentage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Indicates </a:t>
            </a:r>
            <a:r>
              <a:rPr b="1" lang="en" sz="1100">
                <a:solidFill>
                  <a:schemeClr val="dk1"/>
                </a:solidFill>
              </a:rPr>
              <a:t>system oscillation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" name="Google Shape;203;g3ddf3a403c0_0_9"/>
          <p:cNvSpPr txBox="1"/>
          <p:nvPr/>
        </p:nvSpPr>
        <p:spPr>
          <a:xfrm>
            <a:off x="350700" y="3821400"/>
            <a:ext cx="51480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4. Settling Time (T</a:t>
            </a:r>
            <a:r>
              <a:rPr b="1" baseline="-25000" lang="en" sz="1300">
                <a:solidFill>
                  <a:schemeClr val="dk1"/>
                </a:solidFill>
              </a:rPr>
              <a:t>s</a:t>
            </a:r>
            <a:r>
              <a:rPr b="1" lang="en" sz="1300">
                <a:solidFill>
                  <a:schemeClr val="dk1"/>
                </a:solidFill>
              </a:rPr>
              <a:t>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Time required for the response to remain within a </a:t>
            </a:r>
            <a:r>
              <a:rPr b="1" lang="en" sz="1100">
                <a:solidFill>
                  <a:schemeClr val="dk1"/>
                </a:solidFill>
              </a:rPr>
              <a:t>certain tolerance band </a:t>
            </a:r>
            <a:r>
              <a:rPr lang="en" sz="1100">
                <a:solidFill>
                  <a:schemeClr val="dk1"/>
                </a:solidFill>
              </a:rPr>
              <a:t>(typically ±2% or ±5%) of the final value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Indicates </a:t>
            </a:r>
            <a:r>
              <a:rPr b="1" lang="en" sz="1100">
                <a:solidFill>
                  <a:schemeClr val="dk1"/>
                </a:solidFill>
              </a:rPr>
              <a:t>how quickly the system stabilizes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4" name="Google Shape;204;g3ddf3a403c0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550" y="1220975"/>
            <a:ext cx="3857450" cy="3278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df3a403c0_0_34"/>
          <p:cNvSpPr txBox="1"/>
          <p:nvPr>
            <p:ph type="title"/>
          </p:nvPr>
        </p:nvSpPr>
        <p:spPr>
          <a:xfrm>
            <a:off x="311700" y="308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Steady-State Performance Metric</a:t>
            </a:r>
            <a:endParaRPr/>
          </a:p>
        </p:txBody>
      </p:sp>
      <p:sp>
        <p:nvSpPr>
          <p:cNvPr id="210" name="Google Shape;210;g3ddf3a403c0_0_34"/>
          <p:cNvSpPr txBox="1"/>
          <p:nvPr/>
        </p:nvSpPr>
        <p:spPr>
          <a:xfrm>
            <a:off x="394925" y="881025"/>
            <a:ext cx="7564200" cy="4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Steady-State Error (e</a:t>
            </a:r>
            <a:r>
              <a:rPr b="1" baseline="-25000" lang="en" sz="1300">
                <a:solidFill>
                  <a:schemeClr val="dk1"/>
                </a:solidFill>
              </a:rPr>
              <a:t>ss</a:t>
            </a:r>
            <a:r>
              <a:rPr b="1" lang="en" sz="1300">
                <a:solidFill>
                  <a:schemeClr val="dk1"/>
                </a:solidFill>
              </a:rPr>
              <a:t>​)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difference between the desired input and actual output</a:t>
            </a:r>
            <a:r>
              <a:rPr lang="en" sz="1100">
                <a:solidFill>
                  <a:schemeClr val="dk1"/>
                </a:solidFill>
              </a:rPr>
              <a:t> as time approaches infinity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Indicates the </a:t>
            </a:r>
            <a:r>
              <a:rPr b="1" lang="en" sz="1100">
                <a:solidFill>
                  <a:schemeClr val="dk1"/>
                </a:solidFill>
              </a:rPr>
              <a:t>accuracy of the system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Types of Steady-State Error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• Zero Error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Output exactly matches input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Ideal case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• Finite Error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Small constant difference remains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• Infinite Error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System cannot follow the input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11" name="Google Shape;211;g3ddf3a403c0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39375"/>
            <a:ext cx="4316166" cy="32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ddf3a403c0_0_34"/>
          <p:cNvSpPr txBox="1"/>
          <p:nvPr/>
        </p:nvSpPr>
        <p:spPr>
          <a:xfrm>
            <a:off x="4936250" y="4625175"/>
            <a:ext cx="380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Brain Strom: Identify the type of e</a:t>
            </a:r>
            <a:r>
              <a:rPr baseline="-25000" lang="en" sz="1800">
                <a:solidFill>
                  <a:schemeClr val="dk2"/>
                </a:solidFill>
              </a:rPr>
              <a:t>ss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df3a403c0_0_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218" name="Google Shape;218;g3ddf3a403c0_0_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Situation: Drone Stabilization / Self-Balancing Robot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 drone suddenly tilts due to wind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controller must </a:t>
            </a:r>
            <a:r>
              <a:rPr b="1" lang="en" sz="1300">
                <a:solidFill>
                  <a:schemeClr val="dk1"/>
                </a:solidFill>
              </a:rPr>
              <a:t>quickly correct orientation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What Behaviour Do you Expect for this system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ddf3a403c0_0_46"/>
          <p:cNvSpPr txBox="1"/>
          <p:nvPr/>
        </p:nvSpPr>
        <p:spPr>
          <a:xfrm>
            <a:off x="998550" y="2683075"/>
            <a:ext cx="71469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Desired Characteristics: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Low Rise Time (Tr)</a:t>
            </a:r>
            <a:r>
              <a:rPr lang="en" sz="1200">
                <a:solidFill>
                  <a:schemeClr val="dk1"/>
                </a:solidFill>
              </a:rPr>
              <a:t> → fast reaction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Low Peak Time (Tp)</a:t>
            </a:r>
            <a:r>
              <a:rPr lang="en" sz="1200">
                <a:solidFill>
                  <a:schemeClr val="dk1"/>
                </a:solidFill>
              </a:rPr>
              <a:t> → quick correction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Some overshoot is acceptable</a:t>
            </a:r>
            <a:r>
              <a:rPr lang="en" sz="1200">
                <a:solidFill>
                  <a:schemeClr val="dk1"/>
                </a:solidFill>
              </a:rPr>
              <a:t> (small oscillation OK)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“If the system reacts slowly, the drone may crash.”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df3a403c0_0_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</a:t>
            </a:r>
            <a:endParaRPr/>
          </a:p>
        </p:txBody>
      </p:sp>
      <p:sp>
        <p:nvSpPr>
          <p:cNvPr id="225" name="Google Shape;225;g3ddf3a403c0_0_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Situation: Radioactive Decay / Drug Release / Chemical Degradation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 substance decays over time (e.g., half-life process)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You </a:t>
            </a:r>
            <a:r>
              <a:rPr b="1" lang="en" sz="1300">
                <a:solidFill>
                  <a:schemeClr val="dk1"/>
                </a:solidFill>
              </a:rPr>
              <a:t>do NOT want sudden change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Behaviour Do you Expect for this system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ddf3a403c0_0_60"/>
          <p:cNvSpPr txBox="1"/>
          <p:nvPr/>
        </p:nvSpPr>
        <p:spPr>
          <a:xfrm>
            <a:off x="998550" y="2571750"/>
            <a:ext cx="7704900" cy="26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Desired: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High rise time (slow change)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Smooth exponential decay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 oscillation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Stability over long time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“If decay happens too fast, the system becomes uncontrollable or useless.”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df3a403c0_0_66"/>
          <p:cNvSpPr txBox="1"/>
          <p:nvPr>
            <p:ph idx="1" type="body"/>
          </p:nvPr>
        </p:nvSpPr>
        <p:spPr>
          <a:xfrm>
            <a:off x="311700" y="346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Observation</a:t>
            </a:r>
            <a:endParaRPr b="1" sz="14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Different systems require different behaviors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Some need </a:t>
            </a:r>
            <a:r>
              <a:rPr b="1" lang="en" sz="1200">
                <a:solidFill>
                  <a:schemeClr val="dk1"/>
                </a:solidFill>
              </a:rPr>
              <a:t>fast response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Some need </a:t>
            </a:r>
            <a:r>
              <a:rPr b="1" lang="en" sz="1200">
                <a:solidFill>
                  <a:schemeClr val="dk1"/>
                </a:solidFill>
              </a:rPr>
              <a:t>smooth and stable response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Performance depends on: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Rise Time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Overshoot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Settling Time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Steady-State Error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32" name="Google Shape;232;g3ddf3a403c0_0_66"/>
          <p:cNvSpPr txBox="1"/>
          <p:nvPr/>
        </p:nvSpPr>
        <p:spPr>
          <a:xfrm>
            <a:off x="311700" y="2671575"/>
            <a:ext cx="41640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Problem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These parameters are </a:t>
            </a:r>
            <a:r>
              <a:rPr b="1" lang="en" sz="1200">
                <a:solidFill>
                  <a:schemeClr val="dk1"/>
                </a:solidFill>
              </a:rPr>
              <a:t>not fixed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system may not naturally behave as desired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3" name="Google Shape;233;g3ddf3a403c0_0_66"/>
          <p:cNvSpPr txBox="1"/>
          <p:nvPr/>
        </p:nvSpPr>
        <p:spPr>
          <a:xfrm>
            <a:off x="4127800" y="741750"/>
            <a:ext cx="49626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Key Idea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We need a way to </a:t>
            </a:r>
            <a:r>
              <a:rPr b="1" lang="en" sz="1200">
                <a:solidFill>
                  <a:schemeClr val="dk1"/>
                </a:solidFill>
              </a:rPr>
              <a:t>adjust and control these parameters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So </a:t>
            </a:r>
            <a:r>
              <a:rPr lang="en" sz="1200">
                <a:solidFill>
                  <a:schemeClr val="dk1"/>
                </a:solidFill>
              </a:rPr>
              <a:t>that the system behaves according to our requirements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4" name="Google Shape;234;g3ddf3a403c0_0_66"/>
          <p:cNvSpPr txBox="1"/>
          <p:nvPr/>
        </p:nvSpPr>
        <p:spPr>
          <a:xfrm>
            <a:off x="4193300" y="1976125"/>
            <a:ext cx="4530600" cy="21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Solution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We introduce a </a:t>
            </a:r>
            <a:r>
              <a:rPr b="1" lang="en" sz="1200">
                <a:solidFill>
                  <a:schemeClr val="dk1"/>
                </a:solidFill>
              </a:rPr>
              <a:t>Controller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 controller modifies the system input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It helps achieve: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Faster response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Reduced overshoot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Better stability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Improved accuracy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5" name="Google Shape;235;g3ddf3a403c0_0_66"/>
          <p:cNvSpPr txBox="1"/>
          <p:nvPr/>
        </p:nvSpPr>
        <p:spPr>
          <a:xfrm>
            <a:off x="2678500" y="4303450"/>
            <a:ext cx="396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One of the famous controller is </a:t>
            </a:r>
            <a:r>
              <a:rPr b="1" lang="en" sz="1800">
                <a:solidFill>
                  <a:schemeClr val="dk2"/>
                </a:solidFill>
              </a:rPr>
              <a:t>PID</a:t>
            </a:r>
            <a:r>
              <a:rPr lang="en" sz="1800">
                <a:solidFill>
                  <a:schemeClr val="dk2"/>
                </a:solidFill>
              </a:rPr>
              <a:t>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754"/>
            <a:ext cx="9144000" cy="4672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A PID Controller And How It Works? - PLCynergy" id="241" name="Google Shape;2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9640" y="1391524"/>
            <a:ext cx="4337050" cy="3450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ddf3a403c0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075" y="132250"/>
            <a:ext cx="645159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ddf3a403c0_0_86"/>
          <p:cNvSpPr txBox="1"/>
          <p:nvPr/>
        </p:nvSpPr>
        <p:spPr>
          <a:xfrm rot="-5398495">
            <a:off x="-1530974" y="2305300"/>
            <a:ext cx="479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</a:rPr>
              <a:t>Consider a System</a:t>
            </a:r>
            <a:endParaRPr b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c710898294_0_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253" name="Google Shape;253;g2c710898294_0_127"/>
          <p:cNvSpPr txBox="1"/>
          <p:nvPr/>
        </p:nvSpPr>
        <p:spPr>
          <a:xfrm>
            <a:off x="414575" y="1096800"/>
            <a:ext cx="44481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How do we:</a:t>
            </a:r>
            <a:endParaRPr sz="16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600"/>
              <a:t>Visualize the system?</a:t>
            </a:r>
            <a:endParaRPr sz="16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600"/>
              <a:t>Understand signal flow?</a:t>
            </a:r>
            <a:endParaRPr sz="16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600"/>
              <a:t>Analyze behavior?</a:t>
            </a:r>
            <a:endParaRPr sz="16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600"/>
              <a:t>Design controllers?</a:t>
            </a:r>
            <a:endParaRPr sz="1600"/>
          </a:p>
        </p:txBody>
      </p:sp>
      <p:sp>
        <p:nvSpPr>
          <p:cNvPr id="254" name="Google Shape;254;g2c710898294_0_127"/>
          <p:cNvSpPr txBox="1"/>
          <p:nvPr/>
        </p:nvSpPr>
        <p:spPr>
          <a:xfrm>
            <a:off x="4572000" y="939450"/>
            <a:ext cx="4509000" cy="18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Key Idea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 need a </a:t>
            </a:r>
            <a:r>
              <a:rPr b="1" lang="en" sz="1300">
                <a:solidFill>
                  <a:schemeClr val="dk1"/>
                </a:solidFill>
              </a:rPr>
              <a:t>simple and structured representation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That shows: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Input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Output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Relationships between components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5" name="Google Shape;255;g2c710898294_0_127"/>
          <p:cNvSpPr txBox="1"/>
          <p:nvPr/>
        </p:nvSpPr>
        <p:spPr>
          <a:xfrm>
            <a:off x="2194875" y="2804700"/>
            <a:ext cx="53847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Solution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Use a </a:t>
            </a:r>
            <a:r>
              <a:rPr b="1" lang="en" sz="1300">
                <a:solidFill>
                  <a:schemeClr val="dk1"/>
                </a:solidFill>
              </a:rPr>
              <a:t>Block Diagram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Represents system components as blocks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Shows how signals flow between them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Helps in: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Analysis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Design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Simplification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3ddf3a403c0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5" y="1260725"/>
            <a:ext cx="8951501" cy="261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df3a403c0_0_1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Block Diagram to Mathematics</a:t>
            </a:r>
            <a:endParaRPr/>
          </a:p>
        </p:txBody>
      </p:sp>
      <p:sp>
        <p:nvSpPr>
          <p:cNvPr id="266" name="Google Shape;266;g3ddf3a403c0_0_1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Now we have a visual model…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but engineers don’t just look at diagrams —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 need a way to </a:t>
            </a:r>
            <a:r>
              <a:rPr i="1" lang="en" sz="1300">
                <a:solidFill>
                  <a:schemeClr val="dk1"/>
                </a:solidFill>
              </a:rPr>
              <a:t>analyze and compute behavior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Therefore, the first question is -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67" name="Google Shape;267;g3ddf3a403c0_0_114"/>
          <p:cNvSpPr txBox="1"/>
          <p:nvPr/>
        </p:nvSpPr>
        <p:spPr>
          <a:xfrm>
            <a:off x="2679600" y="2447400"/>
            <a:ext cx="378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How do we predict the output from the input?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c710898294_0_2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820"/>
              <a:t>Gain</a:t>
            </a:r>
            <a:endParaRPr sz="2820"/>
          </a:p>
        </p:txBody>
      </p:sp>
      <p:sp>
        <p:nvSpPr>
          <p:cNvPr id="273" name="Google Shape;273;g2c710898294_0_229"/>
          <p:cNvSpPr/>
          <p:nvPr/>
        </p:nvSpPr>
        <p:spPr>
          <a:xfrm>
            <a:off x="3713400" y="1369825"/>
            <a:ext cx="1125600" cy="68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G(t)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2c710898294_0_229"/>
          <p:cNvSpPr/>
          <p:nvPr/>
        </p:nvSpPr>
        <p:spPr>
          <a:xfrm>
            <a:off x="2869100" y="1664650"/>
            <a:ext cx="6696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2c710898294_0_229"/>
          <p:cNvSpPr txBox="1"/>
          <p:nvPr/>
        </p:nvSpPr>
        <p:spPr>
          <a:xfrm>
            <a:off x="1723925" y="1514275"/>
            <a:ext cx="10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X(t)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g2c710898294_0_229"/>
          <p:cNvSpPr txBox="1"/>
          <p:nvPr/>
        </p:nvSpPr>
        <p:spPr>
          <a:xfrm>
            <a:off x="5809375" y="1536250"/>
            <a:ext cx="10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Y(t)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g2c710898294_0_229"/>
          <p:cNvSpPr/>
          <p:nvPr/>
        </p:nvSpPr>
        <p:spPr>
          <a:xfrm>
            <a:off x="5013700" y="1642675"/>
            <a:ext cx="6696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2c710898294_0_229"/>
          <p:cNvSpPr txBox="1"/>
          <p:nvPr/>
        </p:nvSpPr>
        <p:spPr>
          <a:xfrm>
            <a:off x="2616675" y="2411025"/>
            <a:ext cx="3804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Y(t)  = X(t)*G(t)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Y(t)/X(t) = G(t)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 = Y(t)/X(t)= Output/Input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g2c710898294_0_229"/>
          <p:cNvSpPr txBox="1"/>
          <p:nvPr/>
        </p:nvSpPr>
        <p:spPr>
          <a:xfrm>
            <a:off x="0" y="3730625"/>
            <a:ext cx="9081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Gain tells us how strongly the system reacts to the input.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By changing the gain, we can change the system behavior.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That means we can influence the performance measures such as rise time, overshoot, settling time, and steady-state error.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c710898294_0_2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 the SELF Balancing ROBOT</a:t>
            </a:r>
            <a:endParaRPr/>
          </a:p>
        </p:txBody>
      </p:sp>
      <p:sp>
        <p:nvSpPr>
          <p:cNvPr id="285" name="Google Shape;285;g2c710898294_0_239"/>
          <p:cNvSpPr txBox="1"/>
          <p:nvPr/>
        </p:nvSpPr>
        <p:spPr>
          <a:xfrm>
            <a:off x="523300" y="1177425"/>
            <a:ext cx="585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By using only P-controller (K</a:t>
            </a:r>
            <a:r>
              <a:rPr baseline="-25000" lang="en">
                <a:solidFill>
                  <a:schemeClr val="dk2"/>
                </a:solidFill>
              </a:rPr>
              <a:t>p</a:t>
            </a:r>
            <a:r>
              <a:rPr lang="en">
                <a:solidFill>
                  <a:schemeClr val="dk2"/>
                </a:solidFill>
              </a:rPr>
              <a:t>), we can get the Equation of the </a:t>
            </a:r>
            <a:r>
              <a:rPr lang="en">
                <a:solidFill>
                  <a:schemeClr val="dk2"/>
                </a:solidFill>
              </a:rPr>
              <a:t>system,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Let Say after solving the SELF BALANCING ROBOT we get the GAIN</a:t>
            </a: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86" name="Google Shape;286;g2c710898294_0_239" title="Screenshot from 2026-04-08 03-04-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800" y="2076025"/>
            <a:ext cx="144780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c710898294_0_239"/>
          <p:cNvSpPr txBox="1"/>
          <p:nvPr/>
        </p:nvSpPr>
        <p:spPr>
          <a:xfrm>
            <a:off x="572400" y="3347300"/>
            <a:ext cx="765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Here, by changing the K</a:t>
            </a:r>
            <a:r>
              <a:rPr baseline="-25000" lang="en">
                <a:solidFill>
                  <a:schemeClr val="dk2"/>
                </a:solidFill>
              </a:rPr>
              <a:t>p</a:t>
            </a:r>
            <a:r>
              <a:rPr lang="en">
                <a:solidFill>
                  <a:schemeClr val="dk2"/>
                </a:solidFill>
              </a:rPr>
              <a:t> value, we can change the Gain. Hence, the behaviour of the system.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df3a403c0_0_1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Time-Domain Analysis</a:t>
            </a:r>
            <a:endParaRPr/>
          </a:p>
        </p:txBody>
      </p:sp>
      <p:sp>
        <p:nvSpPr>
          <p:cNvPr id="293" name="Google Shape;293;g3ddf3a403c0_0_140"/>
          <p:cNvSpPr txBox="1"/>
          <p:nvPr>
            <p:ph idx="1" type="body"/>
          </p:nvPr>
        </p:nvSpPr>
        <p:spPr>
          <a:xfrm>
            <a:off x="2456850" y="1017725"/>
            <a:ext cx="4230300" cy="11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What we have been doing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We analyze system behavior in </a:t>
            </a:r>
            <a:r>
              <a:rPr b="1" lang="en" sz="1100">
                <a:solidFill>
                  <a:schemeClr val="dk1"/>
                </a:solidFill>
              </a:rPr>
              <a:t>time domain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Solve differential equations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Observe response: rise time, overshoot, settling time</a:t>
            </a:r>
            <a:endParaRPr/>
          </a:p>
        </p:txBody>
      </p:sp>
      <p:sp>
        <p:nvSpPr>
          <p:cNvPr id="294" name="Google Shape;294;g3ddf3a403c0_0_140"/>
          <p:cNvSpPr txBox="1"/>
          <p:nvPr/>
        </p:nvSpPr>
        <p:spPr>
          <a:xfrm>
            <a:off x="291800" y="2278277"/>
            <a:ext cx="3684900" cy="26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Problem 1: Hard to Solve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We model systems using </a:t>
            </a:r>
            <a:r>
              <a:rPr b="1" lang="en" sz="1100">
                <a:solidFill>
                  <a:schemeClr val="dk1"/>
                </a:solidFill>
              </a:rPr>
              <a:t>differential equations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Example: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For each K</a:t>
            </a:r>
            <a:r>
              <a:rPr baseline="-25000"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, we must solve again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process is repetitive and time-consuming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95" name="Google Shape;295;g3ddf3a403c0_0_140" title="Screenshot from 2026-04-08 03-35-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175" y="3424404"/>
            <a:ext cx="1874150" cy="35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ddf3a403c0_0_140"/>
          <p:cNvSpPr txBox="1"/>
          <p:nvPr/>
        </p:nvSpPr>
        <p:spPr>
          <a:xfrm>
            <a:off x="3976700" y="2275150"/>
            <a:ext cx="5150400" cy="26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Problem 2: Noise &amp; Sensor Issues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Example: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IMU sensor gives: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Actual tilt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vibration noise (Have Frequency A)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small disturbances (Have Frequency B)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 time domain: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Everything looks mixed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Hard to separate real motion vs noise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97" name="Google Shape;297;g3ddf3a403c0_0_140" title="Screenshot from 2026-04-08 03-56-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8225" y="3407103"/>
            <a:ext cx="2152050" cy="425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df3a403c0_0_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Time Domain to Frequency Domain</a:t>
            </a:r>
            <a:endParaRPr/>
          </a:p>
        </p:txBody>
      </p:sp>
      <p:pic>
        <p:nvPicPr>
          <p:cNvPr id="303" name="Google Shape;303;g3ddf3a403c0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5400" y="1205375"/>
            <a:ext cx="3938125" cy="39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e07ad01d5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Time Domain to Frequency Domain</a:t>
            </a:r>
            <a:endParaRPr/>
          </a:p>
        </p:txBody>
      </p:sp>
      <p:pic>
        <p:nvPicPr>
          <p:cNvPr id="309" name="Google Shape;309;g3de07ad01d5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775" y="1017725"/>
            <a:ext cx="5050438" cy="40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c710898294_0_177"/>
          <p:cNvSpPr/>
          <p:nvPr/>
        </p:nvSpPr>
        <p:spPr>
          <a:xfrm>
            <a:off x="2842350" y="2285500"/>
            <a:ext cx="2929500" cy="62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2c710898294_0_177"/>
          <p:cNvSpPr txBox="1"/>
          <p:nvPr/>
        </p:nvSpPr>
        <p:spPr>
          <a:xfrm>
            <a:off x="1813625" y="2344600"/>
            <a:ext cx="95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x(t)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2c710898294_0_177"/>
          <p:cNvSpPr txBox="1"/>
          <p:nvPr/>
        </p:nvSpPr>
        <p:spPr>
          <a:xfrm>
            <a:off x="6125550" y="2317800"/>
            <a:ext cx="127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x(s)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2c710898294_0_177"/>
          <p:cNvSpPr txBox="1"/>
          <p:nvPr/>
        </p:nvSpPr>
        <p:spPr>
          <a:xfrm>
            <a:off x="3416850" y="3001050"/>
            <a:ext cx="231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Laplace Transform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df3a403c0_0_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Gain Becomes Transfer Function</a:t>
            </a:r>
            <a:endParaRPr/>
          </a:p>
        </p:txBody>
      </p:sp>
      <p:pic>
        <p:nvPicPr>
          <p:cNvPr id="323" name="Google Shape;323;g3ddf3a403c0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963" y="1931925"/>
            <a:ext cx="822007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ddf3a403c0_0_127"/>
          <p:cNvSpPr/>
          <p:nvPr/>
        </p:nvSpPr>
        <p:spPr>
          <a:xfrm>
            <a:off x="3733000" y="1083813"/>
            <a:ext cx="1125600" cy="68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ddf3a403c0_0_127"/>
          <p:cNvSpPr/>
          <p:nvPr/>
        </p:nvSpPr>
        <p:spPr>
          <a:xfrm>
            <a:off x="2888700" y="1378638"/>
            <a:ext cx="6696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ddf3a403c0_0_127"/>
          <p:cNvSpPr txBox="1"/>
          <p:nvPr/>
        </p:nvSpPr>
        <p:spPr>
          <a:xfrm>
            <a:off x="1743525" y="1228263"/>
            <a:ext cx="10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X(s)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g3ddf3a403c0_0_127"/>
          <p:cNvSpPr txBox="1"/>
          <p:nvPr/>
        </p:nvSpPr>
        <p:spPr>
          <a:xfrm>
            <a:off x="5828975" y="1250238"/>
            <a:ext cx="10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Y(s)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g3ddf3a403c0_0_127"/>
          <p:cNvSpPr/>
          <p:nvPr/>
        </p:nvSpPr>
        <p:spPr>
          <a:xfrm>
            <a:off x="5033300" y="1356663"/>
            <a:ext cx="6696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c710898294_0_64"/>
          <p:cNvSpPr txBox="1"/>
          <p:nvPr>
            <p:ph type="title"/>
          </p:nvPr>
        </p:nvSpPr>
        <p:spPr>
          <a:xfrm>
            <a:off x="311700" y="2150850"/>
            <a:ext cx="85206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Next Class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Block Diagram Solving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