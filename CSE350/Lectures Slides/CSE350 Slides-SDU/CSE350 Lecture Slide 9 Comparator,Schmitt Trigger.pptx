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heI/Gh8udpzYH683TQTOOwqcsdY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12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 name="Google Shape;8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 name="Google Shape;9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 name="Google Shape;10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2" name="Google Shape;122;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A8D6A7FD-BC68-9449-A686-59A90EF362C5}"/>
            </a:ext>
          </a:extLst>
        </p:cNvPr>
        <p:cNvGrpSpPr/>
        <p:nvPr/>
      </p:nvGrpSpPr>
      <p:grpSpPr>
        <a:xfrm>
          <a:off x="0" y="0"/>
          <a:ext cx="0" cy="0"/>
          <a:chOff x="0" y="0"/>
          <a:chExt cx="0" cy="0"/>
        </a:xfrm>
      </p:grpSpPr>
      <p:sp>
        <p:nvSpPr>
          <p:cNvPr id="172" name="Google Shape;172;p36:notes">
            <a:extLst>
              <a:ext uri="{FF2B5EF4-FFF2-40B4-BE49-F238E27FC236}">
                <a16:creationId xmlns:a16="http://schemas.microsoft.com/office/drawing/2014/main" id="{72047037-DA4E-7298-DE44-91C3350D6B6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36:notes">
            <a:extLst>
              <a:ext uri="{FF2B5EF4-FFF2-40B4-BE49-F238E27FC236}">
                <a16:creationId xmlns:a16="http://schemas.microsoft.com/office/drawing/2014/main" id="{6199037A-AA11-6A1C-6641-059E8B9D3DB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113442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F8FE1726-CF71-FB15-6DD0-1C03DC145A11}"/>
            </a:ext>
          </a:extLst>
        </p:cNvPr>
        <p:cNvGrpSpPr/>
        <p:nvPr/>
      </p:nvGrpSpPr>
      <p:grpSpPr>
        <a:xfrm>
          <a:off x="0" y="0"/>
          <a:ext cx="0" cy="0"/>
          <a:chOff x="0" y="0"/>
          <a:chExt cx="0" cy="0"/>
        </a:xfrm>
      </p:grpSpPr>
      <p:sp>
        <p:nvSpPr>
          <p:cNvPr id="172" name="Google Shape;172;p36:notes">
            <a:extLst>
              <a:ext uri="{FF2B5EF4-FFF2-40B4-BE49-F238E27FC236}">
                <a16:creationId xmlns:a16="http://schemas.microsoft.com/office/drawing/2014/main" id="{54C83E4B-A5C4-17E6-9144-47BCBB2232B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36:notes">
            <a:extLst>
              <a:ext uri="{FF2B5EF4-FFF2-40B4-BE49-F238E27FC236}">
                <a16:creationId xmlns:a16="http://schemas.microsoft.com/office/drawing/2014/main" id="{E764E477-69E4-7E00-C66F-E7B7CE3635B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181137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9E85FC85-AA3C-061C-F284-1BCC36330A94}"/>
            </a:ext>
          </a:extLst>
        </p:cNvPr>
        <p:cNvGrpSpPr/>
        <p:nvPr/>
      </p:nvGrpSpPr>
      <p:grpSpPr>
        <a:xfrm>
          <a:off x="0" y="0"/>
          <a:ext cx="0" cy="0"/>
          <a:chOff x="0" y="0"/>
          <a:chExt cx="0" cy="0"/>
        </a:xfrm>
      </p:grpSpPr>
      <p:sp>
        <p:nvSpPr>
          <p:cNvPr id="172" name="Google Shape;172;p36:notes">
            <a:extLst>
              <a:ext uri="{FF2B5EF4-FFF2-40B4-BE49-F238E27FC236}">
                <a16:creationId xmlns:a16="http://schemas.microsoft.com/office/drawing/2014/main" id="{A9D82BFF-9CA9-6375-D9B7-5A1633F6373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36:notes">
            <a:extLst>
              <a:ext uri="{FF2B5EF4-FFF2-40B4-BE49-F238E27FC236}">
                <a16:creationId xmlns:a16="http://schemas.microsoft.com/office/drawing/2014/main" id="{F4BA950C-B5AB-A227-54C4-7F5938F8320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515975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61204369-6545-42F8-DAE8-FA24024B91EC}"/>
            </a:ext>
          </a:extLst>
        </p:cNvPr>
        <p:cNvGrpSpPr/>
        <p:nvPr/>
      </p:nvGrpSpPr>
      <p:grpSpPr>
        <a:xfrm>
          <a:off x="0" y="0"/>
          <a:ext cx="0" cy="0"/>
          <a:chOff x="0" y="0"/>
          <a:chExt cx="0" cy="0"/>
        </a:xfrm>
      </p:grpSpPr>
      <p:sp>
        <p:nvSpPr>
          <p:cNvPr id="172" name="Google Shape;172;p36:notes">
            <a:extLst>
              <a:ext uri="{FF2B5EF4-FFF2-40B4-BE49-F238E27FC236}">
                <a16:creationId xmlns:a16="http://schemas.microsoft.com/office/drawing/2014/main" id="{EFC30A0B-AC5D-8964-2122-3F901B2BA9A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36:notes">
            <a:extLst>
              <a:ext uri="{FF2B5EF4-FFF2-40B4-BE49-F238E27FC236}">
                <a16:creationId xmlns:a16="http://schemas.microsoft.com/office/drawing/2014/main" id="{F3AB2468-96A2-ACB0-8A6C-BCFFA95767D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849283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E4F675FF-2C1A-03E4-A1EE-C0D19CFB1C4E}"/>
            </a:ext>
          </a:extLst>
        </p:cNvPr>
        <p:cNvGrpSpPr/>
        <p:nvPr/>
      </p:nvGrpSpPr>
      <p:grpSpPr>
        <a:xfrm>
          <a:off x="0" y="0"/>
          <a:ext cx="0" cy="0"/>
          <a:chOff x="0" y="0"/>
          <a:chExt cx="0" cy="0"/>
        </a:xfrm>
      </p:grpSpPr>
      <p:sp>
        <p:nvSpPr>
          <p:cNvPr id="172" name="Google Shape;172;p36:notes">
            <a:extLst>
              <a:ext uri="{FF2B5EF4-FFF2-40B4-BE49-F238E27FC236}">
                <a16:creationId xmlns:a16="http://schemas.microsoft.com/office/drawing/2014/main" id="{45444439-D87E-998B-B145-F6D4238447F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36:notes">
            <a:extLst>
              <a:ext uri="{FF2B5EF4-FFF2-40B4-BE49-F238E27FC236}">
                <a16:creationId xmlns:a16="http://schemas.microsoft.com/office/drawing/2014/main" id="{2A88B8FB-5655-61B4-A828-5B2737501DD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324155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6CBF52B4-75CF-B7EE-95A9-9F345457A424}"/>
            </a:ext>
          </a:extLst>
        </p:cNvPr>
        <p:cNvGrpSpPr/>
        <p:nvPr/>
      </p:nvGrpSpPr>
      <p:grpSpPr>
        <a:xfrm>
          <a:off x="0" y="0"/>
          <a:ext cx="0" cy="0"/>
          <a:chOff x="0" y="0"/>
          <a:chExt cx="0" cy="0"/>
        </a:xfrm>
      </p:grpSpPr>
      <p:sp>
        <p:nvSpPr>
          <p:cNvPr id="172" name="Google Shape;172;p36:notes">
            <a:extLst>
              <a:ext uri="{FF2B5EF4-FFF2-40B4-BE49-F238E27FC236}">
                <a16:creationId xmlns:a16="http://schemas.microsoft.com/office/drawing/2014/main" id="{E815CB3D-528F-2FD9-60E5-7CC97187DCD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36:notes">
            <a:extLst>
              <a:ext uri="{FF2B5EF4-FFF2-40B4-BE49-F238E27FC236}">
                <a16:creationId xmlns:a16="http://schemas.microsoft.com/office/drawing/2014/main" id="{9CFD7B4C-7545-2B53-61FF-4E2F971DE2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532907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11F000DA-48C4-9F6F-5418-BADE0B3D35C9}"/>
            </a:ext>
          </a:extLst>
        </p:cNvPr>
        <p:cNvGrpSpPr/>
        <p:nvPr/>
      </p:nvGrpSpPr>
      <p:grpSpPr>
        <a:xfrm>
          <a:off x="0" y="0"/>
          <a:ext cx="0" cy="0"/>
          <a:chOff x="0" y="0"/>
          <a:chExt cx="0" cy="0"/>
        </a:xfrm>
      </p:grpSpPr>
      <p:sp>
        <p:nvSpPr>
          <p:cNvPr id="172" name="Google Shape;172;p36:notes">
            <a:extLst>
              <a:ext uri="{FF2B5EF4-FFF2-40B4-BE49-F238E27FC236}">
                <a16:creationId xmlns:a16="http://schemas.microsoft.com/office/drawing/2014/main" id="{FF4B367C-722A-D1CE-E676-BD35D7FE9AA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36:notes">
            <a:extLst>
              <a:ext uri="{FF2B5EF4-FFF2-40B4-BE49-F238E27FC236}">
                <a16:creationId xmlns:a16="http://schemas.microsoft.com/office/drawing/2014/main" id="{A52FE6C3-493C-5F34-D713-13B10DBF10D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930947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362C4E8F-A73D-CBD7-CB57-622FE2A4B961}"/>
            </a:ext>
          </a:extLst>
        </p:cNvPr>
        <p:cNvGrpSpPr/>
        <p:nvPr/>
      </p:nvGrpSpPr>
      <p:grpSpPr>
        <a:xfrm>
          <a:off x="0" y="0"/>
          <a:ext cx="0" cy="0"/>
          <a:chOff x="0" y="0"/>
          <a:chExt cx="0" cy="0"/>
        </a:xfrm>
      </p:grpSpPr>
      <p:sp>
        <p:nvSpPr>
          <p:cNvPr id="172" name="Google Shape;172;p36:notes">
            <a:extLst>
              <a:ext uri="{FF2B5EF4-FFF2-40B4-BE49-F238E27FC236}">
                <a16:creationId xmlns:a16="http://schemas.microsoft.com/office/drawing/2014/main" id="{007BECE2-7DA8-F62C-3411-F59C3B48EBB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36:notes">
            <a:extLst>
              <a:ext uri="{FF2B5EF4-FFF2-40B4-BE49-F238E27FC236}">
                <a16:creationId xmlns:a16="http://schemas.microsoft.com/office/drawing/2014/main" id="{D9D1B4DE-2D9F-F619-4985-1B2828ACCE3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406973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89BF64BF-A3F1-C9A8-CBF0-6C335E53E436}"/>
            </a:ext>
          </a:extLst>
        </p:cNvPr>
        <p:cNvGrpSpPr/>
        <p:nvPr/>
      </p:nvGrpSpPr>
      <p:grpSpPr>
        <a:xfrm>
          <a:off x="0" y="0"/>
          <a:ext cx="0" cy="0"/>
          <a:chOff x="0" y="0"/>
          <a:chExt cx="0" cy="0"/>
        </a:xfrm>
      </p:grpSpPr>
      <p:sp>
        <p:nvSpPr>
          <p:cNvPr id="172" name="Google Shape;172;p36:notes">
            <a:extLst>
              <a:ext uri="{FF2B5EF4-FFF2-40B4-BE49-F238E27FC236}">
                <a16:creationId xmlns:a16="http://schemas.microsoft.com/office/drawing/2014/main" id="{12B3685B-83A8-6CE0-F1FD-4DD3DE8CCF8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36:notes">
            <a:extLst>
              <a:ext uri="{FF2B5EF4-FFF2-40B4-BE49-F238E27FC236}">
                <a16:creationId xmlns:a16="http://schemas.microsoft.com/office/drawing/2014/main" id="{7A3CC86B-B11D-D97B-1079-4E2BBE0A396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317962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5E0951E2-000A-3F56-96C3-B6FF1AD6B5CB}"/>
            </a:ext>
          </a:extLst>
        </p:cNvPr>
        <p:cNvGrpSpPr/>
        <p:nvPr/>
      </p:nvGrpSpPr>
      <p:grpSpPr>
        <a:xfrm>
          <a:off x="0" y="0"/>
          <a:ext cx="0" cy="0"/>
          <a:chOff x="0" y="0"/>
          <a:chExt cx="0" cy="0"/>
        </a:xfrm>
      </p:grpSpPr>
      <p:sp>
        <p:nvSpPr>
          <p:cNvPr id="172" name="Google Shape;172;p36:notes">
            <a:extLst>
              <a:ext uri="{FF2B5EF4-FFF2-40B4-BE49-F238E27FC236}">
                <a16:creationId xmlns:a16="http://schemas.microsoft.com/office/drawing/2014/main" id="{D7058647-6D31-72B4-2761-17A07F27D41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36:notes">
            <a:extLst>
              <a:ext uri="{FF2B5EF4-FFF2-40B4-BE49-F238E27FC236}">
                <a16:creationId xmlns:a16="http://schemas.microsoft.com/office/drawing/2014/main" id="{11230DCF-D938-B643-810A-8D55A3FFEB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066880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1A784C28-ED34-6345-BF66-3697E9118436}"/>
            </a:ext>
          </a:extLst>
        </p:cNvPr>
        <p:cNvGrpSpPr/>
        <p:nvPr/>
      </p:nvGrpSpPr>
      <p:grpSpPr>
        <a:xfrm>
          <a:off x="0" y="0"/>
          <a:ext cx="0" cy="0"/>
          <a:chOff x="0" y="0"/>
          <a:chExt cx="0" cy="0"/>
        </a:xfrm>
      </p:grpSpPr>
      <p:sp>
        <p:nvSpPr>
          <p:cNvPr id="172" name="Google Shape;172;p36:notes">
            <a:extLst>
              <a:ext uri="{FF2B5EF4-FFF2-40B4-BE49-F238E27FC236}">
                <a16:creationId xmlns:a16="http://schemas.microsoft.com/office/drawing/2014/main" id="{A1ADA2FC-2628-44F2-5051-5596BB71744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36:notes">
            <a:extLst>
              <a:ext uri="{FF2B5EF4-FFF2-40B4-BE49-F238E27FC236}">
                <a16:creationId xmlns:a16="http://schemas.microsoft.com/office/drawing/2014/main" id="{81B6E419-8A84-E8B4-FA41-C18E2C136ED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434716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FCB028D5-C67E-75B5-BCB7-CE3B4AD63BF4}"/>
            </a:ext>
          </a:extLst>
        </p:cNvPr>
        <p:cNvGrpSpPr/>
        <p:nvPr/>
      </p:nvGrpSpPr>
      <p:grpSpPr>
        <a:xfrm>
          <a:off x="0" y="0"/>
          <a:ext cx="0" cy="0"/>
          <a:chOff x="0" y="0"/>
          <a:chExt cx="0" cy="0"/>
        </a:xfrm>
      </p:grpSpPr>
      <p:sp>
        <p:nvSpPr>
          <p:cNvPr id="172" name="Google Shape;172;p36:notes">
            <a:extLst>
              <a:ext uri="{FF2B5EF4-FFF2-40B4-BE49-F238E27FC236}">
                <a16:creationId xmlns:a16="http://schemas.microsoft.com/office/drawing/2014/main" id="{B6445F7E-B85D-4F2C-F152-D7EAE35B535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36:notes">
            <a:extLst>
              <a:ext uri="{FF2B5EF4-FFF2-40B4-BE49-F238E27FC236}">
                <a16:creationId xmlns:a16="http://schemas.microsoft.com/office/drawing/2014/main" id="{0A217707-D69D-DDAA-0198-2532EE047D8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090819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3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3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2"/>
          <p:cNvSpPr>
            <a:spLocks noGrp="1"/>
          </p:cNvSpPr>
          <p:nvPr>
            <p:ph type="pic" idx="2"/>
          </p:nvPr>
        </p:nvSpPr>
        <p:spPr>
          <a:xfrm>
            <a:off x="5183188" y="987425"/>
            <a:ext cx="6172200" cy="4873625"/>
          </a:xfrm>
          <a:prstGeom prst="rect">
            <a:avLst/>
          </a:prstGeom>
          <a:noFill/>
          <a:ln>
            <a:noFill/>
          </a:ln>
        </p:spPr>
      </p:sp>
      <p:sp>
        <p:nvSpPr>
          <p:cNvPr id="64" name="Google Shape;64;p3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mailto:shomen.kundu@bracu.ac.bd"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7.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17.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489586" y="226142"/>
            <a:ext cx="10255374" cy="2300749"/>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accent1"/>
              </a:buClr>
              <a:buSzPct val="100000"/>
              <a:buFont typeface="Times New Roman"/>
              <a:buNone/>
            </a:pPr>
            <a:r>
              <a:rPr lang="en-US" dirty="0">
                <a:solidFill>
                  <a:schemeClr val="accent1"/>
                </a:solidFill>
                <a:latin typeface="Times New Roman"/>
                <a:ea typeface="Times New Roman"/>
                <a:cs typeface="Times New Roman"/>
                <a:sym typeface="Times New Roman"/>
              </a:rPr>
              <a:t>CSE 350</a:t>
            </a:r>
            <a:br>
              <a:rPr lang="en-US" dirty="0">
                <a:solidFill>
                  <a:schemeClr val="accent1"/>
                </a:solidFill>
                <a:latin typeface="Times New Roman"/>
                <a:ea typeface="Times New Roman"/>
                <a:cs typeface="Times New Roman"/>
                <a:sym typeface="Times New Roman"/>
              </a:rPr>
            </a:br>
            <a:r>
              <a:rPr lang="en-US" sz="4900" dirty="0">
                <a:solidFill>
                  <a:schemeClr val="accent1"/>
                </a:solidFill>
                <a:latin typeface="Times New Roman"/>
                <a:ea typeface="Times New Roman"/>
                <a:cs typeface="Times New Roman"/>
                <a:sym typeface="Times New Roman"/>
              </a:rPr>
              <a:t>Digital Electronics and Pulse Techniques</a:t>
            </a:r>
            <a:br>
              <a:rPr lang="en-US" dirty="0">
                <a:solidFill>
                  <a:schemeClr val="accent1"/>
                </a:solidFill>
                <a:latin typeface="Times New Roman"/>
                <a:ea typeface="Times New Roman"/>
                <a:cs typeface="Times New Roman"/>
                <a:sym typeface="Times New Roman"/>
              </a:rPr>
            </a:br>
            <a:endParaRPr dirty="0">
              <a:solidFill>
                <a:schemeClr val="accent1"/>
              </a:solidFill>
              <a:latin typeface="Times New Roman"/>
              <a:ea typeface="Times New Roman"/>
              <a:cs typeface="Times New Roman"/>
              <a:sym typeface="Times New Roman"/>
            </a:endParaRPr>
          </a:p>
        </p:txBody>
      </p:sp>
      <p:sp>
        <p:nvSpPr>
          <p:cNvPr id="85" name="Google Shape;85;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a:t>
            </a:fld>
            <a:endParaRPr/>
          </a:p>
        </p:txBody>
      </p:sp>
      <p:pic>
        <p:nvPicPr>
          <p:cNvPr id="86" name="Google Shape;86;p1"/>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87" name="Google Shape;87;p1"/>
          <p:cNvSpPr txBox="1">
            <a:spLocks noGrp="1"/>
          </p:cNvSpPr>
          <p:nvPr>
            <p:ph type="ftr" idx="11"/>
          </p:nvPr>
        </p:nvSpPr>
        <p:spPr>
          <a:xfrm>
            <a:off x="3812458" y="6370894"/>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 </a:t>
            </a:r>
            <a:endParaRPr/>
          </a:p>
        </p:txBody>
      </p:sp>
      <p:sp>
        <p:nvSpPr>
          <p:cNvPr id="88" name="Google Shape;88;p1"/>
          <p:cNvSpPr txBox="1"/>
          <p:nvPr/>
        </p:nvSpPr>
        <p:spPr>
          <a:xfrm>
            <a:off x="6926825" y="5456700"/>
            <a:ext cx="4980695" cy="707886"/>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Arial"/>
                <a:ea typeface="Arial"/>
                <a:cs typeface="Arial"/>
                <a:sym typeface="Arial"/>
              </a:rPr>
              <a:t>Mail: </a:t>
            </a:r>
            <a:r>
              <a:rPr lang="en-US" sz="2000" b="0" i="0" u="sng" strike="noStrike" cap="none">
                <a:solidFill>
                  <a:srgbClr val="000000"/>
                </a:solidFill>
                <a:latin typeface="Arial"/>
                <a:ea typeface="Arial"/>
                <a:cs typeface="Arial"/>
                <a:sym typeface="Arial"/>
                <a:hlinkClick r:id="rId4">
                  <a:extLst>
                    <a:ext uri="{A12FA001-AC4F-418D-AE19-62706E023703}">
                      <ahyp:hlinkClr xmlns:ahyp="http://schemas.microsoft.com/office/drawing/2018/hyperlinkcolor" val="tx"/>
                    </a:ext>
                  </a:extLst>
                </a:hlinkClick>
              </a:rPr>
              <a:t>shomen.kundu@bracu.ac.bd</a:t>
            </a:r>
            <a:endParaRPr sz="2000" b="0" i="0" u="none" strike="noStrike" cap="none">
              <a:solidFill>
                <a:srgbClr val="000000"/>
              </a:solidFill>
              <a:latin typeface="Arial"/>
              <a:ea typeface="Arial"/>
              <a:cs typeface="Arial"/>
              <a:sym typeface="Arial"/>
            </a:endParaRPr>
          </a:p>
          <a:p>
            <a:pPr marL="11430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Arial"/>
                <a:ea typeface="Arial"/>
                <a:cs typeface="Arial"/>
                <a:sym typeface="Arial"/>
              </a:rPr>
              <a:t>Desk: 4N166</a:t>
            </a:r>
            <a:endParaRPr/>
          </a:p>
        </p:txBody>
      </p:sp>
      <p:sp>
        <p:nvSpPr>
          <p:cNvPr id="89" name="Google Shape;89;p1"/>
          <p:cNvSpPr txBox="1"/>
          <p:nvPr/>
        </p:nvSpPr>
        <p:spPr>
          <a:xfrm>
            <a:off x="3397045" y="2526891"/>
            <a:ext cx="7733071"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0" i="0" u="none" strike="noStrike" cap="none" dirty="0">
                <a:solidFill>
                  <a:srgbClr val="0070C0"/>
                </a:solidFill>
                <a:latin typeface="Arial"/>
                <a:ea typeface="Arial"/>
                <a:cs typeface="Arial"/>
                <a:sym typeface="Arial"/>
              </a:rPr>
              <a:t>Comparator and Schmitt Trigger</a:t>
            </a:r>
            <a:endParaRPr dirty="0"/>
          </a:p>
        </p:txBody>
      </p:sp>
      <p:sp>
        <p:nvSpPr>
          <p:cNvPr id="90" name="Google Shape;90;p1"/>
          <p:cNvSpPr txBox="1"/>
          <p:nvPr/>
        </p:nvSpPr>
        <p:spPr>
          <a:xfrm>
            <a:off x="1115959" y="5558167"/>
            <a:ext cx="5550311" cy="400110"/>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70C0"/>
                </a:solidFill>
                <a:latin typeface="Arial"/>
                <a:ea typeface="Arial"/>
                <a:cs typeface="Arial"/>
                <a:sym typeface="Arial"/>
              </a:rPr>
              <a:t>Course Instructor</a:t>
            </a:r>
            <a:r>
              <a:rPr lang="en-US" sz="2000" b="1" i="0" u="none" strike="noStrike" cap="none">
                <a:solidFill>
                  <a:schemeClr val="dk1"/>
                </a:solidFill>
                <a:latin typeface="Arial"/>
                <a:ea typeface="Arial"/>
                <a:cs typeface="Arial"/>
                <a:sym typeface="Arial"/>
              </a:rPr>
              <a:t>: </a:t>
            </a:r>
            <a:r>
              <a:rPr lang="en-US" sz="2000" b="0" i="0" u="none" strike="noStrike" cap="none">
                <a:solidFill>
                  <a:srgbClr val="000000"/>
                </a:solidFill>
                <a:latin typeface="Arial"/>
                <a:ea typeface="Arial"/>
                <a:cs typeface="Arial"/>
                <a:sym typeface="Arial"/>
              </a:rPr>
              <a:t>Shomen Kundu (SDU)</a:t>
            </a:r>
            <a:endParaRP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7"/>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a:solidFill>
                  <a:schemeClr val="accent1"/>
                </a:solidFill>
              </a:rPr>
              <a:t>Op-Amp</a:t>
            </a:r>
            <a:endParaRPr/>
          </a:p>
        </p:txBody>
      </p:sp>
      <p:sp>
        <p:nvSpPr>
          <p:cNvPr id="96" name="Google Shape;96;p7"/>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97" name="Google Shape;97;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pic>
        <p:nvPicPr>
          <p:cNvPr id="98" name="Google Shape;98;p7"/>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99" name="Google Shape;99;p7"/>
          <p:cNvSpPr txBox="1">
            <a:spLocks noGrp="1"/>
          </p:cNvSpPr>
          <p:nvPr>
            <p:ph type="body" idx="1"/>
          </p:nvPr>
        </p:nvSpPr>
        <p:spPr>
          <a:xfrm>
            <a:off x="685307" y="1334586"/>
            <a:ext cx="10739777" cy="4899066"/>
          </a:xfrm>
          <a:prstGeom prst="rect">
            <a:avLst/>
          </a:prstGeom>
          <a:blipFill rotWithShape="1">
            <a:blip r:embed="rId4">
              <a:alphaModFix/>
            </a:blip>
            <a:stretch>
              <a:fillRect l="-56"/>
            </a:stretch>
          </a:blip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a:t> </a:t>
            </a:r>
            <a:endParaRPr/>
          </a:p>
        </p:txBody>
      </p:sp>
      <p:pic>
        <p:nvPicPr>
          <p:cNvPr id="100" name="Google Shape;100;p7"/>
          <p:cNvPicPr preferRelativeResize="0"/>
          <p:nvPr/>
        </p:nvPicPr>
        <p:blipFill rotWithShape="1">
          <a:blip r:embed="rId5">
            <a:alphaModFix/>
          </a:blip>
          <a:srcRect/>
          <a:stretch/>
        </p:blipFill>
        <p:spPr>
          <a:xfrm>
            <a:off x="5438842" y="718914"/>
            <a:ext cx="5506218" cy="3762900"/>
          </a:xfrm>
          <a:prstGeom prst="rect">
            <a:avLst/>
          </a:prstGeom>
          <a:noFill/>
          <a:ln>
            <a:noFill/>
          </a:ln>
        </p:spPr>
      </p:pic>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5"/>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a:solidFill>
                  <a:schemeClr val="accent1"/>
                </a:solidFill>
              </a:rPr>
              <a:t>Op-Amp Comparator</a:t>
            </a:r>
            <a:endParaRPr/>
          </a:p>
        </p:txBody>
      </p:sp>
      <p:sp>
        <p:nvSpPr>
          <p:cNvPr id="106" name="Google Shape;106;p15"/>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07" name="Google Shape;107;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pic>
        <p:nvPicPr>
          <p:cNvPr id="108" name="Google Shape;108;p15"/>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109" name="Google Shape;109;p15"/>
          <p:cNvSpPr txBox="1">
            <a:spLocks noGrp="1"/>
          </p:cNvSpPr>
          <p:nvPr>
            <p:ph type="body" idx="1"/>
          </p:nvPr>
        </p:nvSpPr>
        <p:spPr>
          <a:xfrm>
            <a:off x="685307" y="1334586"/>
            <a:ext cx="10739777" cy="4899066"/>
          </a:xfrm>
          <a:prstGeom prst="rect">
            <a:avLst/>
          </a:prstGeom>
          <a:blipFill rotWithShape="1">
            <a:blip r:embed="rId4">
              <a:alphaModFix/>
            </a:blip>
            <a:stretch>
              <a:fillRect l="-56"/>
            </a:stretch>
          </a:blip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a:t> </a:t>
            </a:r>
            <a:endParaRP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a:solidFill>
                  <a:schemeClr val="accent1"/>
                </a:solidFill>
              </a:rPr>
              <a:t>Non-Inverting  Comparator</a:t>
            </a:r>
            <a:endParaRPr/>
          </a:p>
        </p:txBody>
      </p:sp>
      <p:sp>
        <p:nvSpPr>
          <p:cNvPr id="115" name="Google Shape;115;p16"/>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16" name="Google Shape;11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pic>
        <p:nvPicPr>
          <p:cNvPr id="117" name="Google Shape;117;p16"/>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118" name="Google Shape;118;p16"/>
          <p:cNvSpPr txBox="1">
            <a:spLocks noGrp="1"/>
          </p:cNvSpPr>
          <p:nvPr>
            <p:ph type="body" idx="1"/>
          </p:nvPr>
        </p:nvSpPr>
        <p:spPr>
          <a:xfrm>
            <a:off x="685307" y="1474838"/>
            <a:ext cx="4889583" cy="4758813"/>
          </a:xfrm>
          <a:prstGeom prst="rect">
            <a:avLst/>
          </a:prstGeom>
          <a:blipFill rotWithShape="1">
            <a:blip r:embed="rId4">
              <a:alphaModFix/>
            </a:blip>
            <a:stretch>
              <a:fillRect l="-123"/>
            </a:stretch>
          </a:blip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a:t> </a:t>
            </a:r>
            <a:endParaRPr/>
          </a:p>
        </p:txBody>
      </p:sp>
      <p:pic>
        <p:nvPicPr>
          <p:cNvPr id="119" name="Google Shape;119;p16"/>
          <p:cNvPicPr preferRelativeResize="0"/>
          <p:nvPr/>
        </p:nvPicPr>
        <p:blipFill rotWithShape="1">
          <a:blip r:embed="rId5">
            <a:alphaModFix/>
          </a:blip>
          <a:srcRect/>
          <a:stretch/>
        </p:blipFill>
        <p:spPr>
          <a:xfrm>
            <a:off x="7038844" y="1161954"/>
            <a:ext cx="4467849" cy="4894717"/>
          </a:xfrm>
          <a:prstGeom prst="rect">
            <a:avLst/>
          </a:prstGeom>
          <a:noFill/>
          <a:ln>
            <a:noFill/>
          </a:ln>
        </p:spPr>
      </p:pic>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7"/>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a:solidFill>
                  <a:schemeClr val="accent1"/>
                </a:solidFill>
              </a:rPr>
              <a:t>Inverting  Comparator</a:t>
            </a:r>
            <a:endParaRPr/>
          </a:p>
        </p:txBody>
      </p:sp>
      <p:sp>
        <p:nvSpPr>
          <p:cNvPr id="125" name="Google Shape;125;p17"/>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26" name="Google Shape;126;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pic>
        <p:nvPicPr>
          <p:cNvPr id="127" name="Google Shape;127;p17"/>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128" name="Google Shape;128;p17"/>
          <p:cNvSpPr txBox="1">
            <a:spLocks noGrp="1"/>
          </p:cNvSpPr>
          <p:nvPr>
            <p:ph type="body" idx="1"/>
          </p:nvPr>
        </p:nvSpPr>
        <p:spPr>
          <a:xfrm>
            <a:off x="1096668" y="1132457"/>
            <a:ext cx="5312370" cy="4881512"/>
          </a:xfrm>
          <a:prstGeom prst="rect">
            <a:avLst/>
          </a:prstGeom>
          <a:blipFill rotWithShape="1">
            <a:blip r:embed="rId4">
              <a:alphaModFix/>
            </a:blip>
            <a:stretch>
              <a:fillRect l="-229"/>
            </a:stretch>
          </a:blip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a:t> </a:t>
            </a:r>
            <a:endParaRPr/>
          </a:p>
        </p:txBody>
      </p:sp>
      <p:pic>
        <p:nvPicPr>
          <p:cNvPr id="129" name="Google Shape;129;p17"/>
          <p:cNvPicPr preferRelativeResize="0"/>
          <p:nvPr/>
        </p:nvPicPr>
        <p:blipFill>
          <a:blip r:embed="rId5">
            <a:alphaModFix/>
          </a:blip>
          <a:stretch>
            <a:fillRect/>
          </a:stretch>
        </p:blipFill>
        <p:spPr>
          <a:xfrm>
            <a:off x="7599038" y="1132450"/>
            <a:ext cx="3495675" cy="4248150"/>
          </a:xfrm>
          <a:prstGeom prst="rect">
            <a:avLst/>
          </a:prstGeom>
          <a:noFill/>
          <a:ln>
            <a:noFill/>
          </a:ln>
        </p:spPr>
      </p:pic>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8"/>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a:solidFill>
                  <a:schemeClr val="accent1"/>
                </a:solidFill>
              </a:rPr>
              <a:t>Non-Inverting Comparator with Divider </a:t>
            </a:r>
            <a:endParaRPr/>
          </a:p>
        </p:txBody>
      </p:sp>
      <p:sp>
        <p:nvSpPr>
          <p:cNvPr id="135" name="Google Shape;135;p18"/>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36" name="Google Shape;136;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pic>
        <p:nvPicPr>
          <p:cNvPr id="137" name="Google Shape;137;p18"/>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138" name="Google Shape;138;p18"/>
          <p:cNvSpPr txBox="1">
            <a:spLocks noGrp="1"/>
          </p:cNvSpPr>
          <p:nvPr>
            <p:ph type="body" idx="1"/>
          </p:nvPr>
        </p:nvSpPr>
        <p:spPr>
          <a:xfrm>
            <a:off x="685308" y="1091381"/>
            <a:ext cx="6721332" cy="5264969"/>
          </a:xfrm>
          <a:prstGeom prst="rect">
            <a:avLst/>
          </a:prstGeom>
          <a:blipFill rotWithShape="1">
            <a:blip r:embed="rId4">
              <a:alphaModFix/>
            </a:blip>
            <a:stretch>
              <a:fillRect l="-90" t="-115"/>
            </a:stretch>
          </a:blip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a:t> </a:t>
            </a:r>
            <a:endParaRPr/>
          </a:p>
        </p:txBody>
      </p:sp>
      <p:pic>
        <p:nvPicPr>
          <p:cNvPr id="139" name="Google Shape;139;p18"/>
          <p:cNvPicPr preferRelativeResize="0"/>
          <p:nvPr/>
        </p:nvPicPr>
        <p:blipFill rotWithShape="1">
          <a:blip r:embed="rId5">
            <a:alphaModFix/>
          </a:blip>
          <a:srcRect/>
          <a:stretch/>
        </p:blipFill>
        <p:spPr>
          <a:xfrm>
            <a:off x="7239000" y="1659341"/>
            <a:ext cx="4114800" cy="4697009"/>
          </a:xfrm>
          <a:prstGeom prst="rect">
            <a:avLst/>
          </a:prstGeom>
          <a:noFill/>
          <a:ln>
            <a:noFill/>
          </a:ln>
        </p:spPr>
      </p:pic>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9"/>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a:solidFill>
                  <a:schemeClr val="accent1"/>
                </a:solidFill>
              </a:rPr>
              <a:t>Inverting Comparator with Divider </a:t>
            </a:r>
            <a:endParaRPr/>
          </a:p>
        </p:txBody>
      </p:sp>
      <p:sp>
        <p:nvSpPr>
          <p:cNvPr id="145" name="Google Shape;145;p19"/>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46" name="Google Shape;14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pic>
        <p:nvPicPr>
          <p:cNvPr id="147" name="Google Shape;147;p19"/>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148" name="Google Shape;148;p19"/>
          <p:cNvSpPr txBox="1">
            <a:spLocks noGrp="1"/>
          </p:cNvSpPr>
          <p:nvPr>
            <p:ph type="body" idx="1"/>
          </p:nvPr>
        </p:nvSpPr>
        <p:spPr>
          <a:xfrm>
            <a:off x="685308" y="1091381"/>
            <a:ext cx="6721332" cy="5264969"/>
          </a:xfrm>
          <a:prstGeom prst="rect">
            <a:avLst/>
          </a:prstGeom>
          <a:blipFill rotWithShape="1">
            <a:blip r:embed="rId4">
              <a:alphaModFix/>
            </a:blip>
            <a:stretch>
              <a:fillRect l="-90" t="-115"/>
            </a:stretch>
          </a:blip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a:t> </a:t>
            </a:r>
            <a:endParaRPr/>
          </a:p>
        </p:txBody>
      </p:sp>
      <p:pic>
        <p:nvPicPr>
          <p:cNvPr id="149" name="Google Shape;149;p19"/>
          <p:cNvPicPr preferRelativeResize="0"/>
          <p:nvPr/>
        </p:nvPicPr>
        <p:blipFill rotWithShape="1">
          <a:blip r:embed="rId5">
            <a:alphaModFix/>
          </a:blip>
          <a:srcRect/>
          <a:stretch/>
        </p:blipFill>
        <p:spPr>
          <a:xfrm>
            <a:off x="7490801" y="1537723"/>
            <a:ext cx="4701199" cy="4717027"/>
          </a:xfrm>
          <a:prstGeom prst="rect">
            <a:avLst/>
          </a:prstGeom>
          <a:noFill/>
          <a:ln>
            <a:noFill/>
          </a:ln>
        </p:spPr>
      </p:pic>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0"/>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a:solidFill>
                  <a:schemeClr val="accent1"/>
                </a:solidFill>
              </a:rPr>
              <a:t>Exercise</a:t>
            </a:r>
            <a:endParaRPr/>
          </a:p>
        </p:txBody>
      </p:sp>
      <p:sp>
        <p:nvSpPr>
          <p:cNvPr id="155" name="Google Shape;155;p20"/>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56" name="Google Shape;156;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pic>
        <p:nvPicPr>
          <p:cNvPr id="157" name="Google Shape;157;p20"/>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158" name="Google Shape;158;p20"/>
          <p:cNvSpPr txBox="1">
            <a:spLocks noGrp="1"/>
          </p:cNvSpPr>
          <p:nvPr>
            <p:ph type="body" idx="1"/>
          </p:nvPr>
        </p:nvSpPr>
        <p:spPr>
          <a:xfrm>
            <a:off x="685308" y="1334586"/>
            <a:ext cx="6548612" cy="4899066"/>
          </a:xfrm>
          <a:prstGeom prst="rect">
            <a:avLst/>
          </a:prstGeom>
          <a:blipFill rotWithShape="1">
            <a:blip r:embed="rId4">
              <a:alphaModFix/>
            </a:blip>
            <a:stretch>
              <a:fillRect r="-1580"/>
            </a:stretch>
          </a:blip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dirty="0"/>
              <a:t> </a:t>
            </a:r>
            <a:endParaRPr dirty="0"/>
          </a:p>
        </p:txBody>
      </p:sp>
      <p:pic>
        <p:nvPicPr>
          <p:cNvPr id="159" name="Google Shape;159;p20"/>
          <p:cNvPicPr preferRelativeResize="0"/>
          <p:nvPr/>
        </p:nvPicPr>
        <p:blipFill rotWithShape="1">
          <a:blip r:embed="rId5">
            <a:alphaModFix/>
          </a:blip>
          <a:srcRect/>
          <a:stretch/>
        </p:blipFill>
        <p:spPr>
          <a:xfrm>
            <a:off x="7391894" y="2895600"/>
            <a:ext cx="4327069" cy="3105160"/>
          </a:xfrm>
          <a:prstGeom prst="rect">
            <a:avLst/>
          </a:prstGeom>
          <a:noFill/>
          <a:ln>
            <a:noFill/>
          </a:ln>
        </p:spPr>
      </p:pic>
      <p:pic>
        <p:nvPicPr>
          <p:cNvPr id="160" name="Google Shape;160;p20"/>
          <p:cNvPicPr preferRelativeResize="0"/>
          <p:nvPr/>
        </p:nvPicPr>
        <p:blipFill rotWithShape="1">
          <a:blip r:embed="rId6">
            <a:alphaModFix/>
          </a:blip>
          <a:srcRect b="53996"/>
          <a:stretch/>
        </p:blipFill>
        <p:spPr>
          <a:xfrm>
            <a:off x="7310120" y="605169"/>
            <a:ext cx="4114800" cy="2160819"/>
          </a:xfrm>
          <a:prstGeom prst="rect">
            <a:avLst/>
          </a:prstGeom>
          <a:noFill/>
          <a:ln>
            <a:noFill/>
          </a:ln>
        </p:spPr>
      </p:pic>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1"/>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a:solidFill>
                  <a:schemeClr val="accent1"/>
                </a:solidFill>
              </a:rPr>
              <a:t>Exercise</a:t>
            </a:r>
            <a:endParaRPr/>
          </a:p>
        </p:txBody>
      </p:sp>
      <p:sp>
        <p:nvSpPr>
          <p:cNvPr id="166" name="Google Shape;166;p21"/>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67" name="Google Shape;16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pic>
        <p:nvPicPr>
          <p:cNvPr id="168" name="Google Shape;168;p21"/>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169" name="Google Shape;169;p21"/>
          <p:cNvSpPr txBox="1">
            <a:spLocks noGrp="1"/>
          </p:cNvSpPr>
          <p:nvPr>
            <p:ph type="body" idx="1"/>
          </p:nvPr>
        </p:nvSpPr>
        <p:spPr>
          <a:xfrm>
            <a:off x="685307" y="1334586"/>
            <a:ext cx="5237973" cy="4899066"/>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US"/>
              <a:t>Design a comparator circuit that will show the given transfer curve. You need to use 5 V as reference voltage.</a:t>
            </a:r>
            <a:endParaRPr/>
          </a:p>
        </p:txBody>
      </p:sp>
      <p:pic>
        <p:nvPicPr>
          <p:cNvPr id="170" name="Google Shape;170;p21"/>
          <p:cNvPicPr preferRelativeResize="0"/>
          <p:nvPr/>
        </p:nvPicPr>
        <p:blipFill rotWithShape="1">
          <a:blip r:embed="rId4">
            <a:alphaModFix/>
          </a:blip>
          <a:srcRect/>
          <a:stretch/>
        </p:blipFill>
        <p:spPr>
          <a:xfrm>
            <a:off x="6716177" y="1562890"/>
            <a:ext cx="5237974" cy="3935173"/>
          </a:xfrm>
          <a:prstGeom prst="rect">
            <a:avLst/>
          </a:prstGeom>
          <a:noFill/>
          <a:ln>
            <a:noFill/>
          </a:ln>
        </p:spPr>
      </p:pic>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6"/>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a:solidFill>
                  <a:schemeClr val="accent1"/>
                </a:solidFill>
              </a:rPr>
              <a:t>Exercise</a:t>
            </a:r>
            <a:endParaRPr/>
          </a:p>
        </p:txBody>
      </p:sp>
      <p:sp>
        <p:nvSpPr>
          <p:cNvPr id="176" name="Google Shape;176;p36"/>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77" name="Google Shape;177;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pic>
        <p:nvPicPr>
          <p:cNvPr id="178" name="Google Shape;178;p36"/>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179" name="Google Shape;179;p36"/>
          <p:cNvSpPr txBox="1">
            <a:spLocks noGrp="1"/>
          </p:cNvSpPr>
          <p:nvPr>
            <p:ph type="body" idx="1"/>
          </p:nvPr>
        </p:nvSpPr>
        <p:spPr>
          <a:xfrm>
            <a:off x="685307" y="1334586"/>
            <a:ext cx="10317973" cy="2302694"/>
          </a:xfrm>
          <a:prstGeom prst="rect">
            <a:avLst/>
          </a:prstGeom>
          <a:noFill/>
          <a:ln>
            <a:noFill/>
          </a:ln>
        </p:spPr>
        <p:txBody>
          <a:bodyPr spcFirstLastPara="1" wrap="square" lIns="91425" tIns="45700" rIns="91425" bIns="45700" anchor="t" anchorCtr="0">
            <a:normAutofit fontScale="85000" lnSpcReduction="20000"/>
          </a:bodyPr>
          <a:lstStyle/>
          <a:p>
            <a:pPr marL="114300" lvl="0" indent="0" algn="just" rtl="0">
              <a:lnSpc>
                <a:spcPct val="90000"/>
              </a:lnSpc>
              <a:spcBef>
                <a:spcPts val="1000"/>
              </a:spcBef>
              <a:spcAft>
                <a:spcPts val="0"/>
              </a:spcAft>
              <a:buSzPct val="75630"/>
              <a:buNone/>
            </a:pPr>
            <a:r>
              <a:rPr lang="en-US">
                <a:latin typeface="Calibri"/>
                <a:ea typeface="Calibri"/>
                <a:cs typeface="Calibri"/>
                <a:sym typeface="Calibri"/>
              </a:rPr>
              <a:t>Design a comparator for street light control system. The photodetector detect light intensity and outputs a corresponding voltage. The detector output is 0 V when intensity of light is 0% of Max intensity and 5 V when the intensity of light Maximum. Design the comparator such that it can turn on the street light when the intensity is below 15% of the Max Light intensity. </a:t>
            </a:r>
            <a:endParaRPr/>
          </a:p>
          <a:p>
            <a:pPr marL="114300" lvl="0" indent="0" algn="just" rtl="0">
              <a:lnSpc>
                <a:spcPct val="90000"/>
              </a:lnSpc>
              <a:spcBef>
                <a:spcPts val="1000"/>
              </a:spcBef>
              <a:spcAft>
                <a:spcPts val="0"/>
              </a:spcAft>
              <a:buSzPct val="75630"/>
              <a:buNone/>
            </a:pPr>
            <a:r>
              <a:rPr lang="en-US">
                <a:latin typeface="Calibri"/>
                <a:ea typeface="Calibri"/>
                <a:cs typeface="Calibri"/>
                <a:sym typeface="Calibri"/>
              </a:rPr>
              <a:t>You must satisfy all the mentioned criteria, and assume any component values accordingly.</a:t>
            </a:r>
            <a:endParaRPr/>
          </a:p>
        </p:txBody>
      </p:sp>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6"/>
          <p:cNvSpPr txBox="1">
            <a:spLocks noGrp="1"/>
          </p:cNvSpPr>
          <p:nvPr>
            <p:ph type="title"/>
          </p:nvPr>
        </p:nvSpPr>
        <p:spPr>
          <a:xfrm>
            <a:off x="559455" y="272649"/>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Schmitt Trigger circuit</a:t>
            </a:r>
            <a:endParaRPr dirty="0"/>
          </a:p>
        </p:txBody>
      </p:sp>
      <p:sp>
        <p:nvSpPr>
          <p:cNvPr id="176" name="Google Shape;176;p36"/>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77" name="Google Shape;177;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pic>
        <p:nvPicPr>
          <p:cNvPr id="178" name="Google Shape;178;p36"/>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179" name="Google Shape;179;p36"/>
          <p:cNvSpPr txBox="1">
            <a:spLocks noGrp="1"/>
          </p:cNvSpPr>
          <p:nvPr>
            <p:ph type="body" idx="1"/>
          </p:nvPr>
        </p:nvSpPr>
        <p:spPr>
          <a:xfrm>
            <a:off x="685307" y="1334585"/>
            <a:ext cx="10317973" cy="3622425"/>
          </a:xfrm>
          <a:prstGeom prst="rect">
            <a:avLst/>
          </a:prstGeom>
          <a:noFill/>
          <a:ln>
            <a:noFill/>
          </a:ln>
        </p:spPr>
        <p:txBody>
          <a:bodyPr spcFirstLastPara="1" wrap="square" lIns="91425" tIns="45700" rIns="91425" bIns="45700" anchor="t" anchorCtr="0">
            <a:normAutofit/>
          </a:bodyPr>
          <a:lstStyle/>
          <a:p>
            <a:pPr marL="114300" lvl="0" indent="0" algn="just" rtl="0">
              <a:lnSpc>
                <a:spcPct val="90000"/>
              </a:lnSpc>
              <a:spcBef>
                <a:spcPts val="1000"/>
              </a:spcBef>
              <a:spcAft>
                <a:spcPts val="0"/>
              </a:spcAft>
              <a:buSzPct val="75630"/>
              <a:buNone/>
            </a:pPr>
            <a:r>
              <a:rPr lang="en-US" dirty="0"/>
              <a:t>We will study 4 types of Schmitt Trigger circuit</a:t>
            </a:r>
          </a:p>
          <a:p>
            <a:pPr marL="628650" lvl="0" indent="-514350" algn="just" rtl="0">
              <a:lnSpc>
                <a:spcPct val="90000"/>
              </a:lnSpc>
              <a:spcBef>
                <a:spcPts val="1000"/>
              </a:spcBef>
              <a:spcAft>
                <a:spcPts val="0"/>
              </a:spcAft>
              <a:buSzPct val="75630"/>
              <a:buAutoNum type="arabicPeriod"/>
            </a:pPr>
            <a:r>
              <a:rPr lang="en-US" dirty="0"/>
              <a:t>Inverting ST</a:t>
            </a:r>
          </a:p>
          <a:p>
            <a:pPr marL="628650" lvl="0" indent="-514350" algn="just" rtl="0">
              <a:lnSpc>
                <a:spcPct val="90000"/>
              </a:lnSpc>
              <a:spcBef>
                <a:spcPts val="1000"/>
              </a:spcBef>
              <a:spcAft>
                <a:spcPts val="0"/>
              </a:spcAft>
              <a:buSzPct val="75630"/>
              <a:buAutoNum type="arabicPeriod"/>
            </a:pPr>
            <a:r>
              <a:rPr lang="en-US" dirty="0"/>
              <a:t>Non-inverting ST</a:t>
            </a:r>
          </a:p>
          <a:p>
            <a:pPr marL="628650" lvl="0" indent="-514350" algn="just" rtl="0">
              <a:lnSpc>
                <a:spcPct val="90000"/>
              </a:lnSpc>
              <a:spcBef>
                <a:spcPts val="1000"/>
              </a:spcBef>
              <a:spcAft>
                <a:spcPts val="0"/>
              </a:spcAft>
              <a:buSzPct val="75630"/>
              <a:buAutoNum type="arabicPeriod"/>
            </a:pPr>
            <a:r>
              <a:rPr lang="en-US" dirty="0"/>
              <a:t>Inverting ST with Ref</a:t>
            </a:r>
          </a:p>
          <a:p>
            <a:pPr marL="628650" lvl="0" indent="-514350" algn="just" rtl="0">
              <a:lnSpc>
                <a:spcPct val="90000"/>
              </a:lnSpc>
              <a:spcBef>
                <a:spcPts val="1000"/>
              </a:spcBef>
              <a:spcAft>
                <a:spcPts val="0"/>
              </a:spcAft>
              <a:buSzPct val="75630"/>
              <a:buAutoNum type="arabicPeriod"/>
            </a:pPr>
            <a:r>
              <a:rPr lang="en-US" dirty="0"/>
              <a:t>Non-inverting with Ref</a:t>
            </a:r>
          </a:p>
          <a:p>
            <a:pPr marL="628650" lvl="0" indent="-514350" algn="just" rtl="0">
              <a:lnSpc>
                <a:spcPct val="90000"/>
              </a:lnSpc>
              <a:spcBef>
                <a:spcPts val="1000"/>
              </a:spcBef>
              <a:spcAft>
                <a:spcPts val="0"/>
              </a:spcAft>
              <a:buSzPct val="75630"/>
              <a:buAutoNum type="arabicPeriod"/>
            </a:pPr>
            <a:endParaRPr dirty="0"/>
          </a:p>
        </p:txBody>
      </p:sp>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D5BE6838-6A1D-5764-29AD-85912B1E24A2}"/>
            </a:ext>
          </a:extLst>
        </p:cNvPr>
        <p:cNvGrpSpPr/>
        <p:nvPr/>
      </p:nvGrpSpPr>
      <p:grpSpPr>
        <a:xfrm>
          <a:off x="0" y="0"/>
          <a:ext cx="0" cy="0"/>
          <a:chOff x="0" y="0"/>
          <a:chExt cx="0" cy="0"/>
        </a:xfrm>
      </p:grpSpPr>
      <p:sp>
        <p:nvSpPr>
          <p:cNvPr id="175" name="Google Shape;175;p36">
            <a:extLst>
              <a:ext uri="{FF2B5EF4-FFF2-40B4-BE49-F238E27FC236}">
                <a16:creationId xmlns:a16="http://schemas.microsoft.com/office/drawing/2014/main" id="{14220C47-B244-A7D9-A955-DA224BC24C86}"/>
              </a:ext>
            </a:extLst>
          </p:cNvPr>
          <p:cNvSpPr txBox="1">
            <a:spLocks noGrp="1"/>
          </p:cNvSpPr>
          <p:nvPr>
            <p:ph type="title"/>
          </p:nvPr>
        </p:nvSpPr>
        <p:spPr>
          <a:xfrm>
            <a:off x="559455" y="272649"/>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Inverting ST</a:t>
            </a:r>
            <a:endParaRPr dirty="0"/>
          </a:p>
        </p:txBody>
      </p:sp>
      <p:sp>
        <p:nvSpPr>
          <p:cNvPr id="176" name="Google Shape;176;p36">
            <a:extLst>
              <a:ext uri="{FF2B5EF4-FFF2-40B4-BE49-F238E27FC236}">
                <a16:creationId xmlns:a16="http://schemas.microsoft.com/office/drawing/2014/main" id="{C52E0768-2ABF-988D-6855-EB29DA8EAFB8}"/>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77" name="Google Shape;177;p36">
            <a:extLst>
              <a:ext uri="{FF2B5EF4-FFF2-40B4-BE49-F238E27FC236}">
                <a16:creationId xmlns:a16="http://schemas.microsoft.com/office/drawing/2014/main" id="{C1C139D7-FDCA-4D7E-45A7-2A0CB5FB43B2}"/>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pic>
        <p:nvPicPr>
          <p:cNvPr id="178" name="Google Shape;178;p36">
            <a:extLst>
              <a:ext uri="{FF2B5EF4-FFF2-40B4-BE49-F238E27FC236}">
                <a16:creationId xmlns:a16="http://schemas.microsoft.com/office/drawing/2014/main" id="{9EEE8562-718B-C39D-CEF7-8E0AA7E6D417}"/>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xmlns:a14="http://schemas.microsoft.com/office/drawing/2010/main">
        <mc:Choice Requires="a14">
          <p:sp>
            <p:nvSpPr>
              <p:cNvPr id="179" name="Google Shape;179;p36">
                <a:extLst>
                  <a:ext uri="{FF2B5EF4-FFF2-40B4-BE49-F238E27FC236}">
                    <a16:creationId xmlns:a16="http://schemas.microsoft.com/office/drawing/2014/main" id="{FCEAD4C7-524B-4F2A-A562-013EE72230D1}"/>
                  </a:ext>
                </a:extLst>
              </p:cNvPr>
              <p:cNvSpPr txBox="1">
                <a:spLocks noGrp="1"/>
              </p:cNvSpPr>
              <p:nvPr>
                <p:ph type="body" idx="1"/>
              </p:nvPr>
            </p:nvSpPr>
            <p:spPr>
              <a:xfrm>
                <a:off x="685308" y="1334586"/>
                <a:ext cx="5823648" cy="3896175"/>
              </a:xfrm>
              <a:prstGeom prst="rect">
                <a:avLst/>
              </a:prstGeom>
              <a:noFill/>
              <a:ln>
                <a:noFill/>
              </a:ln>
            </p:spPr>
            <p:txBody>
              <a:bodyPr spcFirstLastPara="1" wrap="square" lIns="91425" tIns="45700" rIns="91425" bIns="45700" anchor="t" anchorCtr="0">
                <a:normAutofit/>
              </a:bodyPr>
              <a:lstStyle/>
              <a:p>
                <a:pPr marL="114300" lvl="0" indent="0" algn="just" rtl="0">
                  <a:lnSpc>
                    <a:spcPct val="90000"/>
                  </a:lnSpc>
                  <a:spcBef>
                    <a:spcPts val="1000"/>
                  </a:spcBef>
                  <a:spcAft>
                    <a:spcPts val="0"/>
                  </a:spcAft>
                  <a:buSzPct val="75630"/>
                  <a:buNone/>
                </a:pPr>
                <a:r>
                  <a:rPr lang="en-US" dirty="0"/>
                  <a:t>Here,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𝐼</m:t>
                        </m:r>
                      </m:sub>
                    </m:sSub>
                    <m:r>
                      <a:rPr lang="en-US" b="0" i="1" smtClean="0">
                        <a:latin typeface="Cambria Math" panose="02040503050406030204" pitchFamily="18" charset="0"/>
                      </a:rPr>
                      <m:t> </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𝑜</m:t>
                        </m:r>
                      </m:sub>
                    </m:sSub>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den>
                    </m:f>
                  </m:oMath>
                </a14:m>
                <a:endParaRPr lang="en-US" dirty="0"/>
              </a:p>
              <a:p>
                <a:pPr marL="114300" lvl="0" indent="0" algn="just" rtl="0">
                  <a:lnSpc>
                    <a:spcPct val="90000"/>
                  </a:lnSpc>
                  <a:spcBef>
                    <a:spcPts val="1000"/>
                  </a:spcBef>
                  <a:spcAft>
                    <a:spcPts val="0"/>
                  </a:spcAft>
                  <a:buSzPct val="75630"/>
                  <a:buNone/>
                </a:pPr>
                <a:r>
                  <a:rPr lang="en-US" dirty="0"/>
                  <a:t>We need to know previous output for calculating the next output.</a:t>
                </a:r>
              </a:p>
              <a:p>
                <a:pPr marL="114300" lvl="0" indent="0" algn="just" rtl="0">
                  <a:lnSpc>
                    <a:spcPct val="90000"/>
                  </a:lnSpc>
                  <a:spcBef>
                    <a:spcPts val="1000"/>
                  </a:spcBef>
                  <a:spcAft>
                    <a:spcPts val="0"/>
                  </a:spcAft>
                  <a:buSzPct val="75630"/>
                  <a:buNone/>
                </a:pPr>
                <a:endParaRPr dirty="0"/>
              </a:p>
            </p:txBody>
          </p:sp>
        </mc:Choice>
        <mc:Fallback xmlns="">
          <p:sp>
            <p:nvSpPr>
              <p:cNvPr id="179" name="Google Shape;179;p36">
                <a:extLst>
                  <a:ext uri="{FF2B5EF4-FFF2-40B4-BE49-F238E27FC236}">
                    <a16:creationId xmlns:a16="http://schemas.microsoft.com/office/drawing/2014/main" id="{FCEAD4C7-524B-4F2A-A562-013EE72230D1}"/>
                  </a:ext>
                </a:extLst>
              </p:cNvPr>
              <p:cNvSpPr txBox="1">
                <a:spLocks noGrp="1" noRot="1" noChangeAspect="1" noMove="1" noResize="1" noEditPoints="1" noAdjustHandles="1" noChangeArrowheads="1" noChangeShapeType="1" noTextEdit="1"/>
              </p:cNvSpPr>
              <p:nvPr>
                <p:ph type="body" idx="1"/>
              </p:nvPr>
            </p:nvSpPr>
            <p:spPr>
              <a:xfrm>
                <a:off x="685308" y="1334586"/>
                <a:ext cx="5823648" cy="3896175"/>
              </a:xfrm>
              <a:prstGeom prst="rect">
                <a:avLst/>
              </a:prstGeom>
              <a:blipFill>
                <a:blip r:embed="rId4"/>
                <a:stretch>
                  <a:fillRect l="-105" r="-2092"/>
                </a:stretch>
              </a:blipFill>
              <a:ln>
                <a:noFill/>
              </a:ln>
            </p:spPr>
            <p:txBody>
              <a:bodyPr/>
              <a:lstStyle/>
              <a:p>
                <a:r>
                  <a:rPr lang="en-US">
                    <a:noFill/>
                  </a:rPr>
                  <a:t> </a:t>
                </a:r>
              </a:p>
            </p:txBody>
          </p:sp>
        </mc:Fallback>
      </mc:AlternateContent>
      <p:pic>
        <p:nvPicPr>
          <p:cNvPr id="3" name="Picture 2">
            <a:extLst>
              <a:ext uri="{FF2B5EF4-FFF2-40B4-BE49-F238E27FC236}">
                <a16:creationId xmlns:a16="http://schemas.microsoft.com/office/drawing/2014/main" id="{63D49D41-F448-D7A5-B9E0-53B32C086C48}"/>
              </a:ext>
            </a:extLst>
          </p:cNvPr>
          <p:cNvPicPr>
            <a:picLocks noChangeAspect="1"/>
          </p:cNvPicPr>
          <p:nvPr/>
        </p:nvPicPr>
        <p:blipFill>
          <a:blip r:embed="rId5"/>
          <a:stretch>
            <a:fillRect/>
          </a:stretch>
        </p:blipFill>
        <p:spPr>
          <a:xfrm>
            <a:off x="6459422" y="619168"/>
            <a:ext cx="5441436" cy="5181863"/>
          </a:xfrm>
          <a:prstGeom prst="rect">
            <a:avLst/>
          </a:prstGeom>
        </p:spPr>
      </p:pic>
    </p:spTree>
    <p:extLst>
      <p:ext uri="{BB962C8B-B14F-4D97-AF65-F5344CB8AC3E}">
        <p14:creationId xmlns:p14="http://schemas.microsoft.com/office/powerpoint/2010/main" val="2677919661"/>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A51D898C-82A9-34DB-63B4-A2C3DABD82C1}"/>
            </a:ext>
          </a:extLst>
        </p:cNvPr>
        <p:cNvGrpSpPr/>
        <p:nvPr/>
      </p:nvGrpSpPr>
      <p:grpSpPr>
        <a:xfrm>
          <a:off x="0" y="0"/>
          <a:ext cx="0" cy="0"/>
          <a:chOff x="0" y="0"/>
          <a:chExt cx="0" cy="0"/>
        </a:xfrm>
      </p:grpSpPr>
      <p:sp>
        <p:nvSpPr>
          <p:cNvPr id="175" name="Google Shape;175;p36">
            <a:extLst>
              <a:ext uri="{FF2B5EF4-FFF2-40B4-BE49-F238E27FC236}">
                <a16:creationId xmlns:a16="http://schemas.microsoft.com/office/drawing/2014/main" id="{9EE33FC4-D11F-9AC7-E406-1BBFFB734ACF}"/>
              </a:ext>
            </a:extLst>
          </p:cNvPr>
          <p:cNvSpPr txBox="1">
            <a:spLocks noGrp="1"/>
          </p:cNvSpPr>
          <p:nvPr>
            <p:ph type="title"/>
          </p:nvPr>
        </p:nvSpPr>
        <p:spPr>
          <a:xfrm>
            <a:off x="559455" y="272649"/>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Inverting ST</a:t>
            </a:r>
            <a:endParaRPr dirty="0"/>
          </a:p>
        </p:txBody>
      </p:sp>
      <p:sp>
        <p:nvSpPr>
          <p:cNvPr id="176" name="Google Shape;176;p36">
            <a:extLst>
              <a:ext uri="{FF2B5EF4-FFF2-40B4-BE49-F238E27FC236}">
                <a16:creationId xmlns:a16="http://schemas.microsoft.com/office/drawing/2014/main" id="{5C6775EC-3CBD-9E53-2689-2534B619F9F1}"/>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77" name="Google Shape;177;p36">
            <a:extLst>
              <a:ext uri="{FF2B5EF4-FFF2-40B4-BE49-F238E27FC236}">
                <a16:creationId xmlns:a16="http://schemas.microsoft.com/office/drawing/2014/main" id="{FD98BCA5-213F-64ED-58E3-B73EA7721350}"/>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pic>
        <p:nvPicPr>
          <p:cNvPr id="178" name="Google Shape;178;p36">
            <a:extLst>
              <a:ext uri="{FF2B5EF4-FFF2-40B4-BE49-F238E27FC236}">
                <a16:creationId xmlns:a16="http://schemas.microsoft.com/office/drawing/2014/main" id="{0EB839E8-8004-D1CF-98E8-C7CDDEBA9067}"/>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xmlns:a14="http://schemas.microsoft.com/office/drawing/2010/main">
        <mc:Choice Requires="a14">
          <p:sp>
            <p:nvSpPr>
              <p:cNvPr id="179" name="Google Shape;179;p36">
                <a:extLst>
                  <a:ext uri="{FF2B5EF4-FFF2-40B4-BE49-F238E27FC236}">
                    <a16:creationId xmlns:a16="http://schemas.microsoft.com/office/drawing/2014/main" id="{E2D7D247-3557-E679-882B-4CE914305E39}"/>
                  </a:ext>
                </a:extLst>
              </p:cNvPr>
              <p:cNvSpPr txBox="1">
                <a:spLocks noGrp="1"/>
              </p:cNvSpPr>
              <p:nvPr>
                <p:ph type="body" idx="1"/>
              </p:nvPr>
            </p:nvSpPr>
            <p:spPr>
              <a:xfrm>
                <a:off x="685308" y="1334586"/>
                <a:ext cx="6610228" cy="4682756"/>
              </a:xfrm>
              <a:prstGeom prst="rect">
                <a:avLst/>
              </a:prstGeom>
              <a:noFill/>
              <a:ln>
                <a:noFill/>
              </a:ln>
            </p:spPr>
            <p:txBody>
              <a:bodyPr spcFirstLastPara="1" wrap="square" lIns="91425" tIns="45700" rIns="91425" bIns="45700" anchor="t" anchorCtr="0">
                <a:normAutofit/>
              </a:bodyPr>
              <a:lstStyle/>
              <a:p>
                <a:pPr marL="114300" lvl="0" indent="0" algn="just" rtl="0">
                  <a:lnSpc>
                    <a:spcPct val="90000"/>
                  </a:lnSpc>
                  <a:spcBef>
                    <a:spcPts val="1000"/>
                  </a:spcBef>
                  <a:spcAft>
                    <a:spcPts val="0"/>
                  </a:spcAft>
                  <a:buSzPct val="75630"/>
                  <a:buNone/>
                </a:pPr>
                <a:r>
                  <a:rPr lang="en-US" dirty="0"/>
                  <a:t>Case 01:</a:t>
                </a:r>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𝐼𝑓</m:t>
                          </m:r>
                          <m:r>
                            <a:rPr lang="en-US" b="0" i="1" smtClean="0">
                              <a:latin typeface="Cambria Math" panose="02040503050406030204" pitchFamily="18" charset="0"/>
                            </a:rPr>
                            <m:t> </m:t>
                          </m:r>
                          <m:r>
                            <a:rPr lang="en-US" b="0" i="1" smtClean="0">
                              <a:latin typeface="Cambria Math" panose="02040503050406030204" pitchFamily="18" charset="0"/>
                            </a:rPr>
                            <m:t>𝑉</m:t>
                          </m:r>
                        </m:e>
                        <m:sub>
                          <m:r>
                            <a:rPr lang="en-US" b="0" i="1" smtClean="0">
                              <a:latin typeface="Cambria Math" panose="02040503050406030204" pitchFamily="18" charset="0"/>
                            </a:rPr>
                            <m:t>𝐼</m:t>
                          </m:r>
                        </m:sub>
                      </m:sSub>
                      <m:r>
                        <a:rPr lang="en-US" b="0" i="1" smtClean="0">
                          <a:latin typeface="Cambria Math" panose="02040503050406030204" pitchFamily="18" charset="0"/>
                        </a:rPr>
                        <m:t> </m:t>
                      </m:r>
                      <m:r>
                        <a:rPr lang="en-US" b="0" i="1" smtClean="0">
                          <a:latin typeface="Cambria Math" panose="02040503050406030204" pitchFamily="18" charset="0"/>
                        </a:rPr>
                        <m:t>𝑙𝑎𝑟𝑔𝑒</m:t>
                      </m:r>
                      <m:r>
                        <a:rPr lang="en-US" b="0" i="1" smtClean="0">
                          <a:latin typeface="Cambria Math" panose="02040503050406030204" pitchFamily="18" charset="0"/>
                        </a:rPr>
                        <m:t> </m:t>
                      </m:r>
                      <m:r>
                        <a:rPr lang="en-US" b="0" i="1" smtClean="0">
                          <a:latin typeface="Cambria Math" panose="02040503050406030204" pitchFamily="18" charset="0"/>
                        </a:rPr>
                        <m:t>𝑝𝑜𝑠𝑖𝑡𝑖𝑣𝑒</m:t>
                      </m:r>
                      <m:r>
                        <a:rPr lang="en-US" b="0" i="1" smtClean="0">
                          <a:latin typeface="Cambria Math" panose="02040503050406030204" pitchFamily="18" charset="0"/>
                        </a:rPr>
                        <m:t>,</m:t>
                      </m:r>
                      <m:r>
                        <a:rPr lang="en-US" b="0" i="1" smtClean="0">
                          <a:latin typeface="Cambria Math" panose="02040503050406030204" pitchFamily="18" charset="0"/>
                        </a:rPr>
                        <m:t>𝑛𝑜</m:t>
                      </m:r>
                      <m:r>
                        <a:rPr lang="en-US" b="0" i="1" smtClean="0">
                          <a:latin typeface="Cambria Math" panose="02040503050406030204" pitchFamily="18" charset="0"/>
                        </a:rPr>
                        <m:t> </m:t>
                      </m:r>
                      <m:r>
                        <a:rPr lang="en-US" b="0" i="1" smtClean="0">
                          <a:latin typeface="Cambria Math" panose="02040503050406030204" pitchFamily="18" charset="0"/>
                        </a:rPr>
                        <m:t>𝑑𝑜𝑢𝑏𝑡</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m:t>
                          </m:r>
                        </m:sub>
                      </m:sSub>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m:t>
                          </m:r>
                        </m:sub>
                      </m:sSub>
                      <m:r>
                        <a:rPr lang="en-US" b="0" i="1" smtClean="0">
                          <a:latin typeface="Cambria Math" panose="02040503050406030204" pitchFamily="18" charset="0"/>
                        </a:rPr>
                        <m:t> </m:t>
                      </m:r>
                    </m:oMath>
                  </m:oMathPara>
                </a14:m>
                <a:endParaRPr lang="en-US"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𝑜</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𝐿</m:t>
                          </m:r>
                        </m:sub>
                      </m:sSub>
                      <m:r>
                        <a:rPr lang="en-US" b="0" i="1" smtClean="0">
                          <a:latin typeface="Cambria Math" panose="02040503050406030204" pitchFamily="18" charset="0"/>
                        </a:rPr>
                        <m:t> </m:t>
                      </m:r>
                    </m:oMath>
                  </m:oMathPara>
                </a14:m>
                <a:endParaRPr lang="en-US" dirty="0"/>
              </a:p>
              <a:p>
                <a:pPr marL="114300" lvl="0" indent="0" algn="just" rtl="0">
                  <a:lnSpc>
                    <a:spcPct val="90000"/>
                  </a:lnSpc>
                  <a:spcBef>
                    <a:spcPts val="1000"/>
                  </a:spcBef>
                  <a:spcAft>
                    <a:spcPts val="0"/>
                  </a:spcAft>
                  <a:buSzPct val="75630"/>
                  <a:buNone/>
                </a:pPr>
                <a:r>
                  <a:rPr lang="en-US" dirty="0"/>
                  <a:t>For sustaining,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𝑜</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𝐿</m:t>
                        </m:r>
                      </m:sub>
                    </m:sSub>
                    <m:r>
                      <a:rPr lang="en-US" b="0" i="1" smtClean="0">
                        <a:latin typeface="Cambria Math" panose="02040503050406030204" pitchFamily="18" charset="0"/>
                      </a:rPr>
                      <m:t> </m:t>
                    </m:r>
                  </m:oMath>
                </a14:m>
                <a:endParaRPr lang="en-US"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m:t>
                          </m:r>
                        </m:sub>
                      </m:sSub>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m:t>
                          </m:r>
                        </m:sub>
                      </m:sSub>
                    </m:oMath>
                  </m:oMathPara>
                </a14:m>
                <a:endParaRPr lang="en-US"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𝐼</m:t>
                          </m:r>
                        </m:sub>
                      </m:sSub>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𝐿</m:t>
                          </m:r>
                        </m:sub>
                      </m:sSub>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den>
                      </m:f>
                    </m:oMath>
                  </m:oMathPara>
                </a14:m>
                <a:endParaRPr lang="en-US" b="0" dirty="0"/>
              </a:p>
              <a:p>
                <a:pPr marL="114300" lvl="0" indent="0" algn="just" rtl="0">
                  <a:lnSpc>
                    <a:spcPct val="90000"/>
                  </a:lnSpc>
                  <a:spcBef>
                    <a:spcPts val="1000"/>
                  </a:spcBef>
                  <a:spcAft>
                    <a:spcPts val="0"/>
                  </a:spcAft>
                  <a:buSzPct val="75630"/>
                  <a:buNone/>
                </a:pPr>
                <a:endParaRPr lang="en-US"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𝑇𝐿</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𝐿</m:t>
                          </m:r>
                        </m:sub>
                      </m:sSub>
                      <m:f>
                        <m:fPr>
                          <m:ctrlPr>
                            <a:rPr lang="en-US" b="0" i="1" smtClean="0">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1</m:t>
                              </m:r>
                            </m:sub>
                          </m:sSub>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2</m:t>
                              </m:r>
                            </m:sub>
                          </m:sSub>
                        </m:den>
                      </m:f>
                    </m:oMath>
                  </m:oMathPara>
                </a14:m>
                <a:endParaRPr dirty="0"/>
              </a:p>
            </p:txBody>
          </p:sp>
        </mc:Choice>
        <mc:Fallback xmlns="">
          <p:sp>
            <p:nvSpPr>
              <p:cNvPr id="179" name="Google Shape;179;p36">
                <a:extLst>
                  <a:ext uri="{FF2B5EF4-FFF2-40B4-BE49-F238E27FC236}">
                    <a16:creationId xmlns:a16="http://schemas.microsoft.com/office/drawing/2014/main" id="{E2D7D247-3557-E679-882B-4CE914305E39}"/>
                  </a:ext>
                </a:extLst>
              </p:cNvPr>
              <p:cNvSpPr txBox="1">
                <a:spLocks noGrp="1" noRot="1" noChangeAspect="1" noMove="1" noResize="1" noEditPoints="1" noAdjustHandles="1" noChangeArrowheads="1" noChangeShapeType="1" noTextEdit="1"/>
              </p:cNvSpPr>
              <p:nvPr>
                <p:ph type="body" idx="1"/>
              </p:nvPr>
            </p:nvSpPr>
            <p:spPr>
              <a:xfrm>
                <a:off x="685308" y="1334586"/>
                <a:ext cx="6610228" cy="4682756"/>
              </a:xfrm>
              <a:prstGeom prst="rect">
                <a:avLst/>
              </a:prstGeom>
              <a:blipFill>
                <a:blip r:embed="rId4"/>
                <a:stretch>
                  <a:fillRect l="-92"/>
                </a:stretch>
              </a:blipFill>
              <a:ln>
                <a:noFill/>
              </a:ln>
            </p:spPr>
            <p:txBody>
              <a:bodyPr/>
              <a:lstStyle/>
              <a:p>
                <a:r>
                  <a:rPr lang="en-US">
                    <a:noFill/>
                  </a:rPr>
                  <a:t> </a:t>
                </a:r>
              </a:p>
            </p:txBody>
          </p:sp>
        </mc:Fallback>
      </mc:AlternateContent>
      <p:pic>
        <p:nvPicPr>
          <p:cNvPr id="3" name="Picture 2">
            <a:extLst>
              <a:ext uri="{FF2B5EF4-FFF2-40B4-BE49-F238E27FC236}">
                <a16:creationId xmlns:a16="http://schemas.microsoft.com/office/drawing/2014/main" id="{B6BB50F5-BC2E-D923-338E-626D67458CD9}"/>
              </a:ext>
            </a:extLst>
          </p:cNvPr>
          <p:cNvPicPr>
            <a:picLocks noChangeAspect="1"/>
          </p:cNvPicPr>
          <p:nvPr/>
        </p:nvPicPr>
        <p:blipFill>
          <a:blip r:embed="rId5"/>
          <a:stretch>
            <a:fillRect/>
          </a:stretch>
        </p:blipFill>
        <p:spPr>
          <a:xfrm>
            <a:off x="7060618" y="136525"/>
            <a:ext cx="3642840" cy="3469066"/>
          </a:xfrm>
          <a:prstGeom prst="rect">
            <a:avLst/>
          </a:prstGeom>
        </p:spPr>
      </p:pic>
      <p:pic>
        <p:nvPicPr>
          <p:cNvPr id="5" name="Picture 4">
            <a:extLst>
              <a:ext uri="{FF2B5EF4-FFF2-40B4-BE49-F238E27FC236}">
                <a16:creationId xmlns:a16="http://schemas.microsoft.com/office/drawing/2014/main" id="{260D2152-1EFD-B2EF-2DA4-E0095D1DB519}"/>
              </a:ext>
            </a:extLst>
          </p:cNvPr>
          <p:cNvPicPr>
            <a:picLocks noChangeAspect="1"/>
          </p:cNvPicPr>
          <p:nvPr/>
        </p:nvPicPr>
        <p:blipFill>
          <a:blip r:embed="rId6"/>
          <a:stretch>
            <a:fillRect/>
          </a:stretch>
        </p:blipFill>
        <p:spPr>
          <a:xfrm>
            <a:off x="6202402" y="2892974"/>
            <a:ext cx="3433711" cy="3124368"/>
          </a:xfrm>
          <a:prstGeom prst="rect">
            <a:avLst/>
          </a:prstGeom>
        </p:spPr>
      </p:pic>
    </p:spTree>
    <p:extLst>
      <p:ext uri="{BB962C8B-B14F-4D97-AF65-F5344CB8AC3E}">
        <p14:creationId xmlns:p14="http://schemas.microsoft.com/office/powerpoint/2010/main" val="1749207830"/>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D18C73C6-9E68-D220-5A31-0252D9796CBB}"/>
            </a:ext>
          </a:extLst>
        </p:cNvPr>
        <p:cNvGrpSpPr/>
        <p:nvPr/>
      </p:nvGrpSpPr>
      <p:grpSpPr>
        <a:xfrm>
          <a:off x="0" y="0"/>
          <a:ext cx="0" cy="0"/>
          <a:chOff x="0" y="0"/>
          <a:chExt cx="0" cy="0"/>
        </a:xfrm>
      </p:grpSpPr>
      <p:sp>
        <p:nvSpPr>
          <p:cNvPr id="175" name="Google Shape;175;p36">
            <a:extLst>
              <a:ext uri="{FF2B5EF4-FFF2-40B4-BE49-F238E27FC236}">
                <a16:creationId xmlns:a16="http://schemas.microsoft.com/office/drawing/2014/main" id="{32C87709-4E0B-071F-7B10-F613B831F36F}"/>
              </a:ext>
            </a:extLst>
          </p:cNvPr>
          <p:cNvSpPr txBox="1">
            <a:spLocks noGrp="1"/>
          </p:cNvSpPr>
          <p:nvPr>
            <p:ph type="title"/>
          </p:nvPr>
        </p:nvSpPr>
        <p:spPr>
          <a:xfrm>
            <a:off x="559455" y="272649"/>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Inverting ST</a:t>
            </a:r>
            <a:endParaRPr dirty="0"/>
          </a:p>
        </p:txBody>
      </p:sp>
      <p:sp>
        <p:nvSpPr>
          <p:cNvPr id="176" name="Google Shape;176;p36">
            <a:extLst>
              <a:ext uri="{FF2B5EF4-FFF2-40B4-BE49-F238E27FC236}">
                <a16:creationId xmlns:a16="http://schemas.microsoft.com/office/drawing/2014/main" id="{7DD5B160-64CC-12C1-E9C4-2F6C959BA6D3}"/>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77" name="Google Shape;177;p36">
            <a:extLst>
              <a:ext uri="{FF2B5EF4-FFF2-40B4-BE49-F238E27FC236}">
                <a16:creationId xmlns:a16="http://schemas.microsoft.com/office/drawing/2014/main" id="{3CC86CB6-D4AC-6643-0552-B49B184AB208}"/>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pic>
        <p:nvPicPr>
          <p:cNvPr id="178" name="Google Shape;178;p36">
            <a:extLst>
              <a:ext uri="{FF2B5EF4-FFF2-40B4-BE49-F238E27FC236}">
                <a16:creationId xmlns:a16="http://schemas.microsoft.com/office/drawing/2014/main" id="{493BD78D-E011-9673-3428-DA65606F99BB}"/>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xmlns:a14="http://schemas.microsoft.com/office/drawing/2010/main">
        <mc:Choice Requires="a14">
          <p:sp>
            <p:nvSpPr>
              <p:cNvPr id="179" name="Google Shape;179;p36">
                <a:extLst>
                  <a:ext uri="{FF2B5EF4-FFF2-40B4-BE49-F238E27FC236}">
                    <a16:creationId xmlns:a16="http://schemas.microsoft.com/office/drawing/2014/main" id="{ABA2155D-F2D3-8AEC-1496-B6724C6B68B8}"/>
                  </a:ext>
                </a:extLst>
              </p:cNvPr>
              <p:cNvSpPr txBox="1">
                <a:spLocks noGrp="1"/>
              </p:cNvSpPr>
              <p:nvPr>
                <p:ph type="body" idx="1"/>
              </p:nvPr>
            </p:nvSpPr>
            <p:spPr>
              <a:xfrm>
                <a:off x="685308" y="1334586"/>
                <a:ext cx="6610228" cy="4682756"/>
              </a:xfrm>
              <a:prstGeom prst="rect">
                <a:avLst/>
              </a:prstGeom>
              <a:noFill/>
              <a:ln>
                <a:noFill/>
              </a:ln>
            </p:spPr>
            <p:txBody>
              <a:bodyPr spcFirstLastPara="1" wrap="square" lIns="91425" tIns="45700" rIns="91425" bIns="45700" anchor="t" anchorCtr="0">
                <a:normAutofit fontScale="92500" lnSpcReduction="10000"/>
              </a:bodyPr>
              <a:lstStyle/>
              <a:p>
                <a:pPr marL="114300" lvl="0" indent="0" algn="just" rtl="0">
                  <a:lnSpc>
                    <a:spcPct val="90000"/>
                  </a:lnSpc>
                  <a:spcBef>
                    <a:spcPts val="1000"/>
                  </a:spcBef>
                  <a:spcAft>
                    <a:spcPts val="0"/>
                  </a:spcAft>
                  <a:buSzPct val="75630"/>
                  <a:buNone/>
                </a:pPr>
                <a:r>
                  <a:rPr lang="en-US" dirty="0"/>
                  <a:t>Case 02:</a:t>
                </a:r>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𝐼𝑓</m:t>
                          </m:r>
                          <m:r>
                            <a:rPr lang="en-US" b="0" i="1" smtClean="0">
                              <a:latin typeface="Cambria Math" panose="02040503050406030204" pitchFamily="18" charset="0"/>
                            </a:rPr>
                            <m:t> </m:t>
                          </m:r>
                          <m:r>
                            <a:rPr lang="en-US" b="0" i="1" smtClean="0">
                              <a:latin typeface="Cambria Math" panose="02040503050406030204" pitchFamily="18" charset="0"/>
                            </a:rPr>
                            <m:t>𝑉</m:t>
                          </m:r>
                        </m:e>
                        <m:sub>
                          <m:r>
                            <a:rPr lang="en-US" b="0" i="1" smtClean="0">
                              <a:latin typeface="Cambria Math" panose="02040503050406030204" pitchFamily="18" charset="0"/>
                            </a:rPr>
                            <m:t>𝐼</m:t>
                          </m:r>
                        </m:sub>
                      </m:sSub>
                      <m:r>
                        <a:rPr lang="en-US" b="0" i="1" smtClean="0">
                          <a:latin typeface="Cambria Math" panose="02040503050406030204" pitchFamily="18" charset="0"/>
                        </a:rPr>
                        <m:t> </m:t>
                      </m:r>
                      <m:r>
                        <a:rPr lang="en-US" b="0" i="1" smtClean="0">
                          <a:latin typeface="Cambria Math" panose="02040503050406030204" pitchFamily="18" charset="0"/>
                        </a:rPr>
                        <m:t>𝑙𝑎𝑟𝑔𝑒</m:t>
                      </m:r>
                      <m:r>
                        <a:rPr lang="en-US" b="0" i="1" smtClean="0">
                          <a:latin typeface="Cambria Math" panose="02040503050406030204" pitchFamily="18" charset="0"/>
                        </a:rPr>
                        <m:t> </m:t>
                      </m:r>
                      <m:r>
                        <a:rPr lang="en-US" b="0" i="1" smtClean="0">
                          <a:latin typeface="Cambria Math" panose="02040503050406030204" pitchFamily="18" charset="0"/>
                        </a:rPr>
                        <m:t>𝑛𝑒𝑔𝑎𝑡𝑖𝑣𝑒</m:t>
                      </m:r>
                      <m:r>
                        <a:rPr lang="en-US" b="0" i="1" smtClean="0">
                          <a:latin typeface="Cambria Math" panose="02040503050406030204" pitchFamily="18" charset="0"/>
                        </a:rPr>
                        <m:t>,</m:t>
                      </m:r>
                      <m:r>
                        <a:rPr lang="en-US" b="0" i="1" smtClean="0">
                          <a:latin typeface="Cambria Math" panose="02040503050406030204" pitchFamily="18" charset="0"/>
                        </a:rPr>
                        <m:t>𝑛𝑜</m:t>
                      </m:r>
                      <m:r>
                        <a:rPr lang="en-US" b="0" i="1" smtClean="0">
                          <a:latin typeface="Cambria Math" panose="02040503050406030204" pitchFamily="18" charset="0"/>
                        </a:rPr>
                        <m:t> </m:t>
                      </m:r>
                      <m:r>
                        <a:rPr lang="en-US" b="0" i="1" smtClean="0">
                          <a:latin typeface="Cambria Math" panose="02040503050406030204" pitchFamily="18" charset="0"/>
                        </a:rPr>
                        <m:t>𝑑𝑜𝑢𝑏𝑡</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m:t>
                          </m:r>
                        </m:sub>
                      </m:sSub>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m:t>
                          </m:r>
                        </m:sub>
                      </m:sSub>
                      <m:r>
                        <a:rPr lang="en-US" b="0" i="1" smtClean="0">
                          <a:latin typeface="Cambria Math" panose="02040503050406030204" pitchFamily="18" charset="0"/>
                        </a:rPr>
                        <m:t> </m:t>
                      </m:r>
                    </m:oMath>
                  </m:oMathPara>
                </a14:m>
                <a:endParaRPr lang="en-US"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𝑜</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𝐻</m:t>
                          </m:r>
                        </m:sub>
                      </m:sSub>
                      <m:r>
                        <a:rPr lang="en-US" b="0" i="1" smtClean="0">
                          <a:latin typeface="Cambria Math" panose="02040503050406030204" pitchFamily="18" charset="0"/>
                        </a:rPr>
                        <m:t> </m:t>
                      </m:r>
                    </m:oMath>
                  </m:oMathPara>
                </a14:m>
                <a:endParaRPr lang="en-US" dirty="0"/>
              </a:p>
              <a:p>
                <a:pPr marL="114300" lvl="0" indent="0" algn="just" rtl="0">
                  <a:lnSpc>
                    <a:spcPct val="90000"/>
                  </a:lnSpc>
                  <a:spcBef>
                    <a:spcPts val="1000"/>
                  </a:spcBef>
                  <a:spcAft>
                    <a:spcPts val="0"/>
                  </a:spcAft>
                  <a:buSzPct val="75630"/>
                  <a:buNone/>
                </a:pPr>
                <a:r>
                  <a:rPr lang="en-US" dirty="0"/>
                  <a:t>For sustaining,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𝑜</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𝐻</m:t>
                        </m:r>
                      </m:sub>
                    </m:sSub>
                    <m:r>
                      <a:rPr lang="en-US" b="0" i="1" smtClean="0">
                        <a:latin typeface="Cambria Math" panose="02040503050406030204" pitchFamily="18" charset="0"/>
                      </a:rPr>
                      <m:t> </m:t>
                    </m:r>
                  </m:oMath>
                </a14:m>
                <a:endParaRPr lang="en-US"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m:t>
                          </m:r>
                        </m:sub>
                      </m:sSub>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m:t>
                          </m:r>
                        </m:sub>
                      </m:sSub>
                    </m:oMath>
                  </m:oMathPara>
                </a14:m>
                <a:endParaRPr lang="en-US"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𝐻</m:t>
                          </m:r>
                        </m:sub>
                      </m:sSub>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den>
                      </m:f>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𝐼</m:t>
                          </m:r>
                        </m:sub>
                      </m:sSub>
                    </m:oMath>
                  </m:oMathPara>
                </a14:m>
                <a:endParaRPr lang="en-US" b="0"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𝐼</m:t>
                          </m:r>
                        </m:sub>
                      </m:sSub>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𝐻</m:t>
                          </m:r>
                        </m:sub>
                      </m:sSub>
                      <m:r>
                        <a:rPr lang="en-US" b="0" i="1" smtClean="0">
                          <a:latin typeface="Cambria Math" panose="02040503050406030204" pitchFamily="18" charset="0"/>
                        </a:rPr>
                        <m:t> </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den>
                      </m:f>
                    </m:oMath>
                  </m:oMathPara>
                </a14:m>
                <a:endParaRPr lang="en-US" b="0" dirty="0"/>
              </a:p>
              <a:p>
                <a:pPr marL="114300" lvl="0" indent="0" algn="just" rtl="0">
                  <a:lnSpc>
                    <a:spcPct val="90000"/>
                  </a:lnSpc>
                  <a:spcBef>
                    <a:spcPts val="1000"/>
                  </a:spcBef>
                  <a:spcAft>
                    <a:spcPts val="0"/>
                  </a:spcAft>
                  <a:buSzPct val="75630"/>
                  <a:buNone/>
                </a:pPr>
                <a:endParaRPr lang="en-US"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𝑇𝐻</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𝐻</m:t>
                          </m:r>
                        </m:sub>
                      </m:sSub>
                      <m:f>
                        <m:fPr>
                          <m:ctrlPr>
                            <a:rPr lang="en-US" b="0" i="1" smtClean="0">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1</m:t>
                              </m:r>
                            </m:sub>
                          </m:sSub>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2</m:t>
                              </m:r>
                            </m:sub>
                          </m:sSub>
                        </m:den>
                      </m:f>
                    </m:oMath>
                  </m:oMathPara>
                </a14:m>
                <a:endParaRPr dirty="0"/>
              </a:p>
            </p:txBody>
          </p:sp>
        </mc:Choice>
        <mc:Fallback xmlns="">
          <p:sp>
            <p:nvSpPr>
              <p:cNvPr id="179" name="Google Shape;179;p36">
                <a:extLst>
                  <a:ext uri="{FF2B5EF4-FFF2-40B4-BE49-F238E27FC236}">
                    <a16:creationId xmlns:a16="http://schemas.microsoft.com/office/drawing/2014/main" id="{ABA2155D-F2D3-8AEC-1496-B6724C6B68B8}"/>
                  </a:ext>
                </a:extLst>
              </p:cNvPr>
              <p:cNvSpPr txBox="1">
                <a:spLocks noGrp="1" noRot="1" noChangeAspect="1" noMove="1" noResize="1" noEditPoints="1" noAdjustHandles="1" noChangeArrowheads="1" noChangeShapeType="1" noTextEdit="1"/>
              </p:cNvSpPr>
              <p:nvPr>
                <p:ph type="body" idx="1"/>
              </p:nvPr>
            </p:nvSpPr>
            <p:spPr>
              <a:xfrm>
                <a:off x="685308" y="1334586"/>
                <a:ext cx="6610228" cy="4682756"/>
              </a:xfrm>
              <a:prstGeom prst="rect">
                <a:avLst/>
              </a:prstGeom>
              <a:blipFill>
                <a:blip r:embed="rId4"/>
                <a:stretch>
                  <a:fillRect/>
                </a:stretch>
              </a:blipFill>
              <a:ln>
                <a:noFill/>
              </a:ln>
            </p:spPr>
            <p:txBody>
              <a:bodyPr/>
              <a:lstStyle/>
              <a:p>
                <a:r>
                  <a:rPr lang="en-US">
                    <a:noFill/>
                  </a:rPr>
                  <a:t> </a:t>
                </a:r>
              </a:p>
            </p:txBody>
          </p:sp>
        </mc:Fallback>
      </mc:AlternateContent>
      <p:pic>
        <p:nvPicPr>
          <p:cNvPr id="3" name="Picture 2">
            <a:extLst>
              <a:ext uri="{FF2B5EF4-FFF2-40B4-BE49-F238E27FC236}">
                <a16:creationId xmlns:a16="http://schemas.microsoft.com/office/drawing/2014/main" id="{366422E7-6E9F-1D67-81C9-A3A6DDC0A6D3}"/>
              </a:ext>
            </a:extLst>
          </p:cNvPr>
          <p:cNvPicPr>
            <a:picLocks noChangeAspect="1"/>
          </p:cNvPicPr>
          <p:nvPr/>
        </p:nvPicPr>
        <p:blipFill>
          <a:blip r:embed="rId5"/>
          <a:stretch>
            <a:fillRect/>
          </a:stretch>
        </p:blipFill>
        <p:spPr>
          <a:xfrm>
            <a:off x="8160780" y="0"/>
            <a:ext cx="3557274" cy="3387582"/>
          </a:xfrm>
          <a:prstGeom prst="rect">
            <a:avLst/>
          </a:prstGeom>
        </p:spPr>
      </p:pic>
      <p:pic>
        <p:nvPicPr>
          <p:cNvPr id="4" name="Picture 3">
            <a:extLst>
              <a:ext uri="{FF2B5EF4-FFF2-40B4-BE49-F238E27FC236}">
                <a16:creationId xmlns:a16="http://schemas.microsoft.com/office/drawing/2014/main" id="{24A16D82-DF1E-2800-1E7A-E5588926A284}"/>
              </a:ext>
            </a:extLst>
          </p:cNvPr>
          <p:cNvPicPr>
            <a:picLocks noChangeAspect="1"/>
          </p:cNvPicPr>
          <p:nvPr/>
        </p:nvPicPr>
        <p:blipFill>
          <a:blip r:embed="rId6"/>
          <a:stretch>
            <a:fillRect/>
          </a:stretch>
        </p:blipFill>
        <p:spPr>
          <a:xfrm>
            <a:off x="6398863" y="2706025"/>
            <a:ext cx="4114799" cy="3311317"/>
          </a:xfrm>
          <a:prstGeom prst="rect">
            <a:avLst/>
          </a:prstGeom>
        </p:spPr>
      </p:pic>
    </p:spTree>
    <p:extLst>
      <p:ext uri="{BB962C8B-B14F-4D97-AF65-F5344CB8AC3E}">
        <p14:creationId xmlns:p14="http://schemas.microsoft.com/office/powerpoint/2010/main" val="3243338727"/>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E84432DD-3DEE-E6F0-64D4-666729220EEA}"/>
            </a:ext>
          </a:extLst>
        </p:cNvPr>
        <p:cNvGrpSpPr/>
        <p:nvPr/>
      </p:nvGrpSpPr>
      <p:grpSpPr>
        <a:xfrm>
          <a:off x="0" y="0"/>
          <a:ext cx="0" cy="0"/>
          <a:chOff x="0" y="0"/>
          <a:chExt cx="0" cy="0"/>
        </a:xfrm>
      </p:grpSpPr>
      <p:sp>
        <p:nvSpPr>
          <p:cNvPr id="175" name="Google Shape;175;p36">
            <a:extLst>
              <a:ext uri="{FF2B5EF4-FFF2-40B4-BE49-F238E27FC236}">
                <a16:creationId xmlns:a16="http://schemas.microsoft.com/office/drawing/2014/main" id="{3CD03705-1953-6F27-0D82-9A185EA62660}"/>
              </a:ext>
            </a:extLst>
          </p:cNvPr>
          <p:cNvSpPr txBox="1">
            <a:spLocks noGrp="1"/>
          </p:cNvSpPr>
          <p:nvPr>
            <p:ph type="title"/>
          </p:nvPr>
        </p:nvSpPr>
        <p:spPr>
          <a:xfrm>
            <a:off x="559455" y="272649"/>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Inverting ST</a:t>
            </a:r>
            <a:endParaRPr dirty="0"/>
          </a:p>
        </p:txBody>
      </p:sp>
      <p:sp>
        <p:nvSpPr>
          <p:cNvPr id="176" name="Google Shape;176;p36">
            <a:extLst>
              <a:ext uri="{FF2B5EF4-FFF2-40B4-BE49-F238E27FC236}">
                <a16:creationId xmlns:a16="http://schemas.microsoft.com/office/drawing/2014/main" id="{591FF4C4-3BDA-15EA-C6F0-3C5DCB584592}"/>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77" name="Google Shape;177;p36">
            <a:extLst>
              <a:ext uri="{FF2B5EF4-FFF2-40B4-BE49-F238E27FC236}">
                <a16:creationId xmlns:a16="http://schemas.microsoft.com/office/drawing/2014/main" id="{63977639-8D6D-EC6A-6857-1DC667CB7635}"/>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pic>
        <p:nvPicPr>
          <p:cNvPr id="178" name="Google Shape;178;p36">
            <a:extLst>
              <a:ext uri="{FF2B5EF4-FFF2-40B4-BE49-F238E27FC236}">
                <a16:creationId xmlns:a16="http://schemas.microsoft.com/office/drawing/2014/main" id="{B97AE7B0-F159-5315-EC15-F23723D7C560}"/>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xmlns:a14="http://schemas.microsoft.com/office/drawing/2010/main">
        <mc:Choice Requires="a14">
          <p:sp>
            <p:nvSpPr>
              <p:cNvPr id="179" name="Google Shape;179;p36">
                <a:extLst>
                  <a:ext uri="{FF2B5EF4-FFF2-40B4-BE49-F238E27FC236}">
                    <a16:creationId xmlns:a16="http://schemas.microsoft.com/office/drawing/2014/main" id="{B1FD18AD-CB23-EE4B-D745-20ED24345B84}"/>
                  </a:ext>
                </a:extLst>
              </p:cNvPr>
              <p:cNvSpPr txBox="1">
                <a:spLocks noGrp="1"/>
              </p:cNvSpPr>
              <p:nvPr>
                <p:ph type="body" idx="1"/>
              </p:nvPr>
            </p:nvSpPr>
            <p:spPr>
              <a:xfrm>
                <a:off x="685308" y="1334585"/>
                <a:ext cx="6780363" cy="5104119"/>
              </a:xfrm>
              <a:prstGeom prst="rect">
                <a:avLst/>
              </a:prstGeom>
              <a:noFill/>
              <a:ln>
                <a:noFill/>
              </a:ln>
            </p:spPr>
            <p:txBody>
              <a:bodyPr spcFirstLastPara="1" wrap="square" lIns="91425" tIns="45700" rIns="91425" bIns="45700" anchor="t" anchorCtr="0">
                <a:normAutofit/>
              </a:bodyPr>
              <a:lstStyle/>
              <a:p>
                <a:pPr marL="114300" lvl="0" indent="0" algn="just" rtl="0">
                  <a:lnSpc>
                    <a:spcPct val="90000"/>
                  </a:lnSpc>
                  <a:spcBef>
                    <a:spcPts val="1000"/>
                  </a:spcBef>
                  <a:spcAft>
                    <a:spcPts val="0"/>
                  </a:spcAft>
                  <a:buSzPct val="75630"/>
                  <a:buNone/>
                </a:pP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𝑉</m:t>
                        </m:r>
                      </m:e>
                      <m:sub>
                        <m:r>
                          <a:rPr lang="en-US" b="0" i="1" dirty="0" smtClean="0">
                            <a:latin typeface="Cambria Math" panose="02040503050406030204" pitchFamily="18" charset="0"/>
                          </a:rPr>
                          <m:t>𝑇𝐻</m:t>
                        </m:r>
                      </m:sub>
                    </m:sSub>
                  </m:oMath>
                </a14:m>
                <a:r>
                  <a:rPr lang="en-US" dirty="0"/>
                  <a:t>  = Upper Threshold</a:t>
                </a:r>
              </a:p>
              <a:p>
                <a:pPr marL="114300" lvl="0" indent="0" algn="just" rtl="0">
                  <a:lnSpc>
                    <a:spcPct val="90000"/>
                  </a:lnSpc>
                  <a:spcBef>
                    <a:spcPts val="1000"/>
                  </a:spcBef>
                  <a:spcAft>
                    <a:spcPts val="0"/>
                  </a:spcAft>
                  <a:buSzPct val="7563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𝑇𝐿</m:t>
                        </m:r>
                      </m:sub>
                    </m:sSub>
                    <m:r>
                      <a:rPr lang="en-US" b="0" i="1" smtClean="0">
                        <a:latin typeface="Cambria Math" panose="02040503050406030204" pitchFamily="18" charset="0"/>
                      </a:rPr>
                      <m:t> </m:t>
                    </m:r>
                  </m:oMath>
                </a14:m>
                <a:r>
                  <a:rPr lang="en-US" dirty="0"/>
                  <a:t>= Lower Threshold</a:t>
                </a:r>
              </a:p>
              <a:p>
                <a:pPr marL="114300" lvl="0" indent="0" algn="just" rtl="0">
                  <a:lnSpc>
                    <a:spcPct val="90000"/>
                  </a:lnSpc>
                  <a:spcBef>
                    <a:spcPts val="1000"/>
                  </a:spcBef>
                  <a:spcAft>
                    <a:spcPts val="0"/>
                  </a:spcAft>
                  <a:buSzPct val="7563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𝑆</m:t>
                        </m:r>
                      </m:sub>
                    </m:sSub>
                    <m:r>
                      <a:rPr lang="en-US" b="0" i="1" smtClean="0">
                        <a:latin typeface="Cambria Math" panose="02040503050406030204" pitchFamily="18" charset="0"/>
                      </a:rPr>
                      <m:t> </m:t>
                    </m:r>
                  </m:oMath>
                </a14:m>
                <a:r>
                  <a:rPr lang="en-US" dirty="0"/>
                  <a:t>= Center voltage</a:t>
                </a:r>
              </a:p>
              <a:p>
                <a:pPr marL="114300" lvl="0" indent="0" algn="just" rtl="0">
                  <a:lnSpc>
                    <a:spcPct val="90000"/>
                  </a:lnSpc>
                  <a:spcBef>
                    <a:spcPts val="1000"/>
                  </a:spcBef>
                  <a:spcAft>
                    <a:spcPts val="0"/>
                  </a:spcAft>
                  <a:buSzPct val="7563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𝐻𝑊</m:t>
                        </m:r>
                      </m:sub>
                    </m:sSub>
                  </m:oMath>
                </a14:m>
                <a:r>
                  <a:rPr lang="en-US" dirty="0"/>
                  <a:t> = Hysteresis width</a:t>
                </a:r>
              </a:p>
              <a:p>
                <a:pPr marL="114300" lvl="0" indent="0" algn="just" rtl="0">
                  <a:lnSpc>
                    <a:spcPct val="90000"/>
                  </a:lnSpc>
                  <a:spcBef>
                    <a:spcPts val="1000"/>
                  </a:spcBef>
                  <a:spcAft>
                    <a:spcPts val="0"/>
                  </a:spcAft>
                  <a:buSzPct val="75630"/>
                  <a:buNone/>
                </a:pPr>
                <a:endParaRPr lang="en-US"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𝑠</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𝑇𝐻</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𝑇𝐿</m:t>
                              </m:r>
                            </m:sub>
                          </m:sSub>
                        </m:num>
                        <m:den>
                          <m:r>
                            <a:rPr lang="en-US" b="0" i="1" smtClean="0">
                              <a:latin typeface="Cambria Math" panose="02040503050406030204" pitchFamily="18" charset="0"/>
                            </a:rPr>
                            <m:t>2</m:t>
                          </m:r>
                        </m:den>
                      </m:f>
                    </m:oMath>
                  </m:oMathPara>
                </a14:m>
                <a:endParaRPr lang="en-US" b="0"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𝐻𝑊</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𝑇𝐻</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𝑇𝐿</m:t>
                          </m:r>
                        </m:sub>
                      </m:sSub>
                      <m:r>
                        <a:rPr lang="en-US" b="0" i="1" smtClean="0">
                          <a:latin typeface="Cambria Math" panose="02040503050406030204" pitchFamily="18" charset="0"/>
                        </a:rPr>
                        <m:t> </m:t>
                      </m:r>
                    </m:oMath>
                  </m:oMathPara>
                </a14:m>
                <a:endParaRPr lang="en-US" b="0" dirty="0"/>
              </a:p>
              <a:p>
                <a:pPr marL="114300" lvl="0" indent="0" algn="just" rtl="0">
                  <a:lnSpc>
                    <a:spcPct val="90000"/>
                  </a:lnSpc>
                  <a:spcBef>
                    <a:spcPts val="1000"/>
                  </a:spcBef>
                  <a:spcAft>
                    <a:spcPts val="0"/>
                  </a:spcAft>
                  <a:buSzPct val="75630"/>
                  <a:buNone/>
                </a:pPr>
                <a:r>
                  <a:rPr lang="en-US" dirty="0">
                    <a:solidFill>
                      <a:srgbClr val="0070C0"/>
                    </a:solidFill>
                  </a:rPr>
                  <a:t>If </a:t>
                </a:r>
                <a14:m>
                  <m:oMath xmlns:m="http://schemas.openxmlformats.org/officeDocument/2006/math">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𝑉</m:t>
                        </m:r>
                      </m:e>
                      <m:sub>
                        <m:r>
                          <a:rPr lang="en-US" b="0" i="1" smtClean="0">
                            <a:solidFill>
                              <a:srgbClr val="0070C0"/>
                            </a:solidFill>
                            <a:latin typeface="Cambria Math" panose="02040503050406030204" pitchFamily="18" charset="0"/>
                          </a:rPr>
                          <m:t>𝐿</m:t>
                        </m:r>
                      </m:sub>
                    </m:sSub>
                    <m:r>
                      <a:rPr lang="en-US" b="0" i="1" smtClean="0">
                        <a:solidFill>
                          <a:srgbClr val="0070C0"/>
                        </a:solidFill>
                        <a:latin typeface="Cambria Math" panose="02040503050406030204" pitchFamily="18" charset="0"/>
                      </a:rPr>
                      <m:t>=−</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𝑉</m:t>
                        </m:r>
                      </m:e>
                      <m:sub>
                        <m:r>
                          <a:rPr lang="en-US" b="0" i="1" smtClean="0">
                            <a:solidFill>
                              <a:srgbClr val="0070C0"/>
                            </a:solidFill>
                            <a:latin typeface="Cambria Math" panose="02040503050406030204" pitchFamily="18" charset="0"/>
                          </a:rPr>
                          <m:t>𝐻</m:t>
                        </m:r>
                      </m:sub>
                    </m:sSub>
                    <m:r>
                      <a:rPr lang="en-US" b="0" i="1" smtClean="0">
                        <a:solidFill>
                          <a:srgbClr val="0070C0"/>
                        </a:solidFill>
                        <a:latin typeface="Cambria Math" panose="02040503050406030204" pitchFamily="18" charset="0"/>
                      </a:rPr>
                      <m:t> , </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𝑉</m:t>
                        </m:r>
                      </m:e>
                      <m:sub>
                        <m:r>
                          <a:rPr lang="en-US" b="0" i="1" smtClean="0">
                            <a:solidFill>
                              <a:srgbClr val="0070C0"/>
                            </a:solidFill>
                            <a:latin typeface="Cambria Math" panose="02040503050406030204" pitchFamily="18" charset="0"/>
                          </a:rPr>
                          <m:t>𝑆</m:t>
                        </m:r>
                      </m:sub>
                    </m:sSub>
                    <m:r>
                      <a:rPr lang="en-US" b="0" i="1" smtClean="0">
                        <a:solidFill>
                          <a:srgbClr val="0070C0"/>
                        </a:solidFill>
                        <a:latin typeface="Cambria Math" panose="02040503050406030204" pitchFamily="18" charset="0"/>
                      </a:rPr>
                      <m:t>=0 </m:t>
                    </m:r>
                  </m:oMath>
                </a14:m>
                <a:endParaRPr lang="en-US" b="0" i="1" dirty="0">
                  <a:solidFill>
                    <a:srgbClr val="0070C0"/>
                  </a:solidFill>
                  <a:latin typeface="Cambria Math" panose="02040503050406030204" pitchFamily="18" charset="0"/>
                </a:endParaRPr>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r>
                        <a:rPr lang="en-US" b="0" i="1" smtClean="0">
                          <a:solidFill>
                            <a:srgbClr val="0070C0"/>
                          </a:solidFill>
                          <a:latin typeface="Cambria Math" panose="02040503050406030204" pitchFamily="18" charset="0"/>
                        </a:rPr>
                        <m:t>𝑎𝑛𝑑</m:t>
                      </m:r>
                      <m:r>
                        <a:rPr lang="en-US" b="0" i="1" smtClean="0">
                          <a:solidFill>
                            <a:srgbClr val="0070C0"/>
                          </a:solidFill>
                          <a:latin typeface="Cambria Math" panose="02040503050406030204" pitchFamily="18" charset="0"/>
                        </a:rPr>
                        <m:t> </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𝑉</m:t>
                          </m:r>
                        </m:e>
                        <m:sub>
                          <m:r>
                            <a:rPr lang="en-US" b="0" i="1" smtClean="0">
                              <a:solidFill>
                                <a:srgbClr val="0070C0"/>
                              </a:solidFill>
                              <a:latin typeface="Cambria Math" panose="02040503050406030204" pitchFamily="18" charset="0"/>
                            </a:rPr>
                            <m:t>𝐻𝑊</m:t>
                          </m:r>
                        </m:sub>
                      </m:sSub>
                      <m:r>
                        <a:rPr lang="en-US" b="0" i="1" smtClean="0">
                          <a:solidFill>
                            <a:srgbClr val="0070C0"/>
                          </a:solidFill>
                          <a:latin typeface="Cambria Math" panose="02040503050406030204" pitchFamily="18" charset="0"/>
                        </a:rPr>
                        <m:t> =2 ∗</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𝑉</m:t>
                          </m:r>
                        </m:e>
                        <m:sub>
                          <m:r>
                            <a:rPr lang="en-US" b="0" i="1" smtClean="0">
                              <a:solidFill>
                                <a:srgbClr val="0070C0"/>
                              </a:solidFill>
                              <a:latin typeface="Cambria Math" panose="02040503050406030204" pitchFamily="18" charset="0"/>
                            </a:rPr>
                            <m:t>𝐻</m:t>
                          </m:r>
                        </m:sub>
                      </m:sSub>
                      <m:r>
                        <a:rPr lang="en-US" b="0" i="1" smtClean="0">
                          <a:solidFill>
                            <a:srgbClr val="0070C0"/>
                          </a:solidFill>
                          <a:latin typeface="Cambria Math" panose="02040503050406030204" pitchFamily="18" charset="0"/>
                        </a:rPr>
                        <m:t>∗</m:t>
                      </m:r>
                      <m:f>
                        <m:fPr>
                          <m:ctrlPr>
                            <a:rPr lang="en-US" b="0" i="1" smtClean="0">
                              <a:solidFill>
                                <a:srgbClr val="0070C0"/>
                              </a:solidFill>
                              <a:latin typeface="Cambria Math" panose="02040503050406030204" pitchFamily="18" charset="0"/>
                            </a:rPr>
                          </m:ctrlPr>
                        </m:fPr>
                        <m:num>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𝑅</m:t>
                              </m:r>
                            </m:e>
                            <m:sub>
                              <m:r>
                                <a:rPr lang="en-US" b="0" i="1" smtClean="0">
                                  <a:solidFill>
                                    <a:srgbClr val="0070C0"/>
                                  </a:solidFill>
                                  <a:latin typeface="Cambria Math" panose="02040503050406030204" pitchFamily="18" charset="0"/>
                                </a:rPr>
                                <m:t>1</m:t>
                              </m:r>
                            </m:sub>
                          </m:sSub>
                        </m:num>
                        <m:den>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𝑅</m:t>
                              </m:r>
                            </m:e>
                            <m:sub>
                              <m:r>
                                <a:rPr lang="en-US" b="0" i="1" smtClean="0">
                                  <a:solidFill>
                                    <a:srgbClr val="0070C0"/>
                                  </a:solidFill>
                                  <a:latin typeface="Cambria Math" panose="02040503050406030204" pitchFamily="18" charset="0"/>
                                </a:rPr>
                                <m:t>1</m:t>
                              </m:r>
                            </m:sub>
                          </m:sSub>
                          <m:r>
                            <a:rPr lang="en-US" b="0" i="1" smtClean="0">
                              <a:solidFill>
                                <a:srgbClr val="0070C0"/>
                              </a:solidFill>
                              <a:latin typeface="Cambria Math" panose="02040503050406030204" pitchFamily="18" charset="0"/>
                            </a:rPr>
                            <m:t>+</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𝑅</m:t>
                              </m:r>
                            </m:e>
                            <m:sub>
                              <m:r>
                                <a:rPr lang="en-US" b="0" i="1" smtClean="0">
                                  <a:solidFill>
                                    <a:srgbClr val="0070C0"/>
                                  </a:solidFill>
                                  <a:latin typeface="Cambria Math" panose="02040503050406030204" pitchFamily="18" charset="0"/>
                                </a:rPr>
                                <m:t>2</m:t>
                              </m:r>
                            </m:sub>
                          </m:sSub>
                        </m:den>
                      </m:f>
                    </m:oMath>
                  </m:oMathPara>
                </a14:m>
                <a:endParaRPr lang="en-US" b="0" dirty="0">
                  <a:solidFill>
                    <a:srgbClr val="0070C0"/>
                  </a:solidFill>
                </a:endParaRPr>
              </a:p>
              <a:p>
                <a:pPr marL="114300" lvl="0" indent="0" algn="just" rtl="0">
                  <a:lnSpc>
                    <a:spcPct val="90000"/>
                  </a:lnSpc>
                  <a:spcBef>
                    <a:spcPts val="1000"/>
                  </a:spcBef>
                  <a:spcAft>
                    <a:spcPts val="0"/>
                  </a:spcAft>
                  <a:buSzPct val="75630"/>
                  <a:buNone/>
                </a:pPr>
                <a:endParaRPr dirty="0"/>
              </a:p>
            </p:txBody>
          </p:sp>
        </mc:Choice>
        <mc:Fallback xmlns="">
          <p:sp>
            <p:nvSpPr>
              <p:cNvPr id="179" name="Google Shape;179;p36">
                <a:extLst>
                  <a:ext uri="{FF2B5EF4-FFF2-40B4-BE49-F238E27FC236}">
                    <a16:creationId xmlns:a16="http://schemas.microsoft.com/office/drawing/2014/main" id="{B1FD18AD-CB23-EE4B-D745-20ED24345B84}"/>
                  </a:ext>
                </a:extLst>
              </p:cNvPr>
              <p:cNvSpPr txBox="1">
                <a:spLocks noGrp="1" noRot="1" noChangeAspect="1" noMove="1" noResize="1" noEditPoints="1" noAdjustHandles="1" noChangeArrowheads="1" noChangeShapeType="1" noTextEdit="1"/>
              </p:cNvSpPr>
              <p:nvPr>
                <p:ph type="body" idx="1"/>
              </p:nvPr>
            </p:nvSpPr>
            <p:spPr>
              <a:xfrm>
                <a:off x="685308" y="1334585"/>
                <a:ext cx="6780363" cy="5104119"/>
              </a:xfrm>
              <a:prstGeom prst="rect">
                <a:avLst/>
              </a:prstGeom>
              <a:blipFill>
                <a:blip r:embed="rId4"/>
                <a:stretch>
                  <a:fillRect l="-90"/>
                </a:stretch>
              </a:blipFill>
              <a:ln>
                <a:noFill/>
              </a:ln>
            </p:spPr>
            <p:txBody>
              <a:bodyPr/>
              <a:lstStyle/>
              <a:p>
                <a:r>
                  <a:rPr lang="en-US">
                    <a:noFill/>
                  </a:rPr>
                  <a:t> </a:t>
                </a:r>
              </a:p>
            </p:txBody>
          </p:sp>
        </mc:Fallback>
      </mc:AlternateContent>
      <p:pic>
        <p:nvPicPr>
          <p:cNvPr id="3" name="Picture 2">
            <a:extLst>
              <a:ext uri="{FF2B5EF4-FFF2-40B4-BE49-F238E27FC236}">
                <a16:creationId xmlns:a16="http://schemas.microsoft.com/office/drawing/2014/main" id="{FF064804-B8CC-3CDA-6A07-99389DF95883}"/>
              </a:ext>
            </a:extLst>
          </p:cNvPr>
          <p:cNvPicPr>
            <a:picLocks noChangeAspect="1"/>
          </p:cNvPicPr>
          <p:nvPr/>
        </p:nvPicPr>
        <p:blipFill>
          <a:blip r:embed="rId5"/>
          <a:stretch>
            <a:fillRect/>
          </a:stretch>
        </p:blipFill>
        <p:spPr>
          <a:xfrm>
            <a:off x="6408800" y="1280414"/>
            <a:ext cx="5439534" cy="4429743"/>
          </a:xfrm>
          <a:prstGeom prst="rect">
            <a:avLst/>
          </a:prstGeom>
        </p:spPr>
      </p:pic>
    </p:spTree>
    <p:extLst>
      <p:ext uri="{BB962C8B-B14F-4D97-AF65-F5344CB8AC3E}">
        <p14:creationId xmlns:p14="http://schemas.microsoft.com/office/powerpoint/2010/main" val="1903979079"/>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0A95C00F-D75E-CAD5-82A3-B25B7B67F830}"/>
            </a:ext>
          </a:extLst>
        </p:cNvPr>
        <p:cNvGrpSpPr/>
        <p:nvPr/>
      </p:nvGrpSpPr>
      <p:grpSpPr>
        <a:xfrm>
          <a:off x="0" y="0"/>
          <a:ext cx="0" cy="0"/>
          <a:chOff x="0" y="0"/>
          <a:chExt cx="0" cy="0"/>
        </a:xfrm>
      </p:grpSpPr>
      <p:sp>
        <p:nvSpPr>
          <p:cNvPr id="175" name="Google Shape;175;p36">
            <a:extLst>
              <a:ext uri="{FF2B5EF4-FFF2-40B4-BE49-F238E27FC236}">
                <a16:creationId xmlns:a16="http://schemas.microsoft.com/office/drawing/2014/main" id="{A6703FAE-F377-4E56-C459-7D12CA845DF6}"/>
              </a:ext>
            </a:extLst>
          </p:cNvPr>
          <p:cNvSpPr txBox="1">
            <a:spLocks noGrp="1"/>
          </p:cNvSpPr>
          <p:nvPr>
            <p:ph type="title"/>
          </p:nvPr>
        </p:nvSpPr>
        <p:spPr>
          <a:xfrm>
            <a:off x="559455" y="272649"/>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Non-inverting ST</a:t>
            </a:r>
            <a:endParaRPr dirty="0"/>
          </a:p>
        </p:txBody>
      </p:sp>
      <p:sp>
        <p:nvSpPr>
          <p:cNvPr id="176" name="Google Shape;176;p36">
            <a:extLst>
              <a:ext uri="{FF2B5EF4-FFF2-40B4-BE49-F238E27FC236}">
                <a16:creationId xmlns:a16="http://schemas.microsoft.com/office/drawing/2014/main" id="{A0EA500D-3EFB-5423-EE36-1D2888AB3553}"/>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77" name="Google Shape;177;p36">
            <a:extLst>
              <a:ext uri="{FF2B5EF4-FFF2-40B4-BE49-F238E27FC236}">
                <a16:creationId xmlns:a16="http://schemas.microsoft.com/office/drawing/2014/main" id="{92642FC6-BC5F-5AE2-14CA-37DDF6001A25}"/>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p:pic>
        <p:nvPicPr>
          <p:cNvPr id="178" name="Google Shape;178;p36">
            <a:extLst>
              <a:ext uri="{FF2B5EF4-FFF2-40B4-BE49-F238E27FC236}">
                <a16:creationId xmlns:a16="http://schemas.microsoft.com/office/drawing/2014/main" id="{0690C508-8452-22F9-0702-69BDDBCD1881}"/>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179" name="Google Shape;179;p36">
            <a:extLst>
              <a:ext uri="{FF2B5EF4-FFF2-40B4-BE49-F238E27FC236}">
                <a16:creationId xmlns:a16="http://schemas.microsoft.com/office/drawing/2014/main" id="{A0EDF2E0-BD4A-E06A-6D53-062CABEDFF37}"/>
              </a:ext>
            </a:extLst>
          </p:cNvPr>
          <p:cNvSpPr txBox="1">
            <a:spLocks noGrp="1"/>
          </p:cNvSpPr>
          <p:nvPr>
            <p:ph type="body" idx="1"/>
          </p:nvPr>
        </p:nvSpPr>
        <p:spPr>
          <a:xfrm>
            <a:off x="685308" y="1334585"/>
            <a:ext cx="6201630" cy="4603227"/>
          </a:xfrm>
          <a:prstGeom prst="rect">
            <a:avLst/>
          </a:prstGeom>
          <a:noFill/>
          <a:ln>
            <a:noFill/>
          </a:ln>
        </p:spPr>
        <p:txBody>
          <a:bodyPr spcFirstLastPara="1" wrap="square" lIns="91425" tIns="45700" rIns="91425" bIns="45700" anchor="t" anchorCtr="0">
            <a:normAutofit/>
          </a:bodyPr>
          <a:lstStyle/>
          <a:p>
            <a:pPr marL="114300" lvl="0" indent="0" algn="just" rtl="0">
              <a:lnSpc>
                <a:spcPct val="90000"/>
              </a:lnSpc>
              <a:spcBef>
                <a:spcPts val="1000"/>
              </a:spcBef>
              <a:spcAft>
                <a:spcPts val="0"/>
              </a:spcAft>
              <a:buSzPct val="75630"/>
              <a:buNone/>
            </a:pPr>
            <a:r>
              <a:rPr lang="en-US" dirty="0"/>
              <a:t>Type here</a:t>
            </a:r>
            <a:endParaRPr dirty="0"/>
          </a:p>
        </p:txBody>
      </p:sp>
      <p:pic>
        <p:nvPicPr>
          <p:cNvPr id="3" name="Picture 2">
            <a:extLst>
              <a:ext uri="{FF2B5EF4-FFF2-40B4-BE49-F238E27FC236}">
                <a16:creationId xmlns:a16="http://schemas.microsoft.com/office/drawing/2014/main" id="{F8EC85CF-3663-FCB2-4988-AB275605F3DF}"/>
              </a:ext>
            </a:extLst>
          </p:cNvPr>
          <p:cNvPicPr>
            <a:picLocks noChangeAspect="1"/>
          </p:cNvPicPr>
          <p:nvPr/>
        </p:nvPicPr>
        <p:blipFill>
          <a:blip r:embed="rId4"/>
          <a:stretch>
            <a:fillRect/>
          </a:stretch>
        </p:blipFill>
        <p:spPr>
          <a:xfrm>
            <a:off x="816079" y="1090219"/>
            <a:ext cx="4877783" cy="4320777"/>
          </a:xfrm>
          <a:prstGeom prst="rect">
            <a:avLst/>
          </a:prstGeom>
        </p:spPr>
      </p:pic>
      <p:pic>
        <p:nvPicPr>
          <p:cNvPr id="5" name="Picture 4">
            <a:extLst>
              <a:ext uri="{FF2B5EF4-FFF2-40B4-BE49-F238E27FC236}">
                <a16:creationId xmlns:a16="http://schemas.microsoft.com/office/drawing/2014/main" id="{3A7B90ED-99AD-0507-61A3-5759E3ACFCA1}"/>
              </a:ext>
            </a:extLst>
          </p:cNvPr>
          <p:cNvPicPr>
            <a:picLocks noChangeAspect="1"/>
          </p:cNvPicPr>
          <p:nvPr/>
        </p:nvPicPr>
        <p:blipFill>
          <a:blip r:embed="rId5"/>
          <a:stretch>
            <a:fillRect/>
          </a:stretch>
        </p:blipFill>
        <p:spPr>
          <a:xfrm>
            <a:off x="5981421" y="920188"/>
            <a:ext cx="5525271" cy="4648849"/>
          </a:xfrm>
          <a:prstGeom prst="rect">
            <a:avLst/>
          </a:prstGeom>
        </p:spPr>
      </p:pic>
    </p:spTree>
    <p:extLst>
      <p:ext uri="{BB962C8B-B14F-4D97-AF65-F5344CB8AC3E}">
        <p14:creationId xmlns:p14="http://schemas.microsoft.com/office/powerpoint/2010/main" val="2905347058"/>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D7465351-41D7-AC5E-C807-50A24A3F9B8D}"/>
            </a:ext>
          </a:extLst>
        </p:cNvPr>
        <p:cNvGrpSpPr/>
        <p:nvPr/>
      </p:nvGrpSpPr>
      <p:grpSpPr>
        <a:xfrm>
          <a:off x="0" y="0"/>
          <a:ext cx="0" cy="0"/>
          <a:chOff x="0" y="0"/>
          <a:chExt cx="0" cy="0"/>
        </a:xfrm>
      </p:grpSpPr>
      <p:sp>
        <p:nvSpPr>
          <p:cNvPr id="175" name="Google Shape;175;p36">
            <a:extLst>
              <a:ext uri="{FF2B5EF4-FFF2-40B4-BE49-F238E27FC236}">
                <a16:creationId xmlns:a16="http://schemas.microsoft.com/office/drawing/2014/main" id="{67D71612-95AB-5D6D-8653-7C4744948618}"/>
              </a:ext>
            </a:extLst>
          </p:cNvPr>
          <p:cNvSpPr txBox="1">
            <a:spLocks noGrp="1"/>
          </p:cNvSpPr>
          <p:nvPr>
            <p:ph type="title"/>
          </p:nvPr>
        </p:nvSpPr>
        <p:spPr>
          <a:xfrm>
            <a:off x="559455" y="272649"/>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Non-inverting ST</a:t>
            </a:r>
            <a:endParaRPr dirty="0"/>
          </a:p>
        </p:txBody>
      </p:sp>
      <p:sp>
        <p:nvSpPr>
          <p:cNvPr id="176" name="Google Shape;176;p36">
            <a:extLst>
              <a:ext uri="{FF2B5EF4-FFF2-40B4-BE49-F238E27FC236}">
                <a16:creationId xmlns:a16="http://schemas.microsoft.com/office/drawing/2014/main" id="{23E60FB1-DAFA-82F7-7A8E-60D44AB39198}"/>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77" name="Google Shape;177;p36">
            <a:extLst>
              <a:ext uri="{FF2B5EF4-FFF2-40B4-BE49-F238E27FC236}">
                <a16:creationId xmlns:a16="http://schemas.microsoft.com/office/drawing/2014/main" id="{BE28A153-7B6C-E56F-24A8-C1D34D79353B}"/>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17</a:t>
            </a:fld>
            <a:endParaRPr/>
          </a:p>
        </p:txBody>
      </p:sp>
      <p:pic>
        <p:nvPicPr>
          <p:cNvPr id="178" name="Google Shape;178;p36">
            <a:extLst>
              <a:ext uri="{FF2B5EF4-FFF2-40B4-BE49-F238E27FC236}">
                <a16:creationId xmlns:a16="http://schemas.microsoft.com/office/drawing/2014/main" id="{7F3FE07C-1B28-87A4-D354-CE47F1CB8B20}"/>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xmlns:a14="http://schemas.microsoft.com/office/drawing/2010/main">
        <mc:Choice Requires="a14">
          <p:sp>
            <p:nvSpPr>
              <p:cNvPr id="179" name="Google Shape;179;p36">
                <a:extLst>
                  <a:ext uri="{FF2B5EF4-FFF2-40B4-BE49-F238E27FC236}">
                    <a16:creationId xmlns:a16="http://schemas.microsoft.com/office/drawing/2014/main" id="{D354DEA8-BA60-9555-896E-845ECBEFB793}"/>
                  </a:ext>
                </a:extLst>
              </p:cNvPr>
              <p:cNvSpPr txBox="1">
                <a:spLocks noGrp="1"/>
              </p:cNvSpPr>
              <p:nvPr>
                <p:ph type="body" idx="1"/>
              </p:nvPr>
            </p:nvSpPr>
            <p:spPr>
              <a:xfrm>
                <a:off x="685307" y="1334585"/>
                <a:ext cx="7131337" cy="5104119"/>
              </a:xfrm>
              <a:prstGeom prst="rect">
                <a:avLst/>
              </a:prstGeom>
              <a:noFill/>
              <a:ln>
                <a:noFill/>
              </a:ln>
            </p:spPr>
            <p:txBody>
              <a:bodyPr spcFirstLastPara="1" wrap="square" lIns="91425" tIns="45700" rIns="91425" bIns="45700" anchor="t" anchorCtr="0">
                <a:normAutofit/>
              </a:bodyPr>
              <a:lstStyle/>
              <a:p>
                <a:pPr marL="114300" lvl="0" indent="0" algn="just" rtl="0">
                  <a:lnSpc>
                    <a:spcPct val="90000"/>
                  </a:lnSpc>
                  <a:spcBef>
                    <a:spcPts val="1000"/>
                  </a:spcBef>
                  <a:spcAft>
                    <a:spcPts val="0"/>
                  </a:spcAft>
                  <a:buSzPct val="75630"/>
                  <a:buNone/>
                </a:pPr>
                <a:r>
                  <a:rPr lang="en-US" sz="2400" dirty="0"/>
                  <a:t>Formula,</a:t>
                </a:r>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𝑇𝐻</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1</m:t>
                              </m:r>
                            </m:sub>
                          </m:sSub>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2</m:t>
                              </m:r>
                            </m:sub>
                          </m:sSub>
                        </m:den>
                      </m:f>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𝐿</m:t>
                          </m:r>
                        </m:sub>
                      </m:sSub>
                    </m:oMath>
                  </m:oMathPara>
                </a14:m>
                <a:endParaRPr lang="en-US" sz="2400" b="0" dirty="0"/>
              </a:p>
              <a:p>
                <a:pPr marL="114300" lvl="0" indent="0" algn="just" rtl="0">
                  <a:lnSpc>
                    <a:spcPct val="90000"/>
                  </a:lnSpc>
                  <a:spcBef>
                    <a:spcPts val="1000"/>
                  </a:spcBef>
                  <a:spcAft>
                    <a:spcPts val="0"/>
                  </a:spcAft>
                  <a:buSzPct val="75630"/>
                  <a:buNone/>
                </a:pPr>
                <a:endParaRPr lang="en-US" sz="2400" b="0"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𝑇𝐿</m:t>
                          </m:r>
                        </m:sub>
                      </m:sSub>
                      <m:r>
                        <a:rPr lang="en-US" sz="2400" b="0" i="1" smtClean="0">
                          <a:latin typeface="Cambria Math" panose="02040503050406030204" pitchFamily="18" charset="0"/>
                        </a:rPr>
                        <m:t> =−</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1</m:t>
                              </m:r>
                            </m:sub>
                          </m:sSub>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2</m:t>
                              </m:r>
                            </m:sub>
                          </m:sSub>
                        </m:den>
                      </m:f>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𝐻</m:t>
                          </m:r>
                        </m:sub>
                      </m:sSub>
                      <m:r>
                        <a:rPr lang="en-US" sz="2400" b="0" i="1" smtClean="0">
                          <a:latin typeface="Cambria Math" panose="02040503050406030204" pitchFamily="18" charset="0"/>
                        </a:rPr>
                        <m:t> </m:t>
                      </m:r>
                    </m:oMath>
                  </m:oMathPara>
                </a14:m>
                <a:endParaRPr lang="en-US" sz="2400" b="0" dirty="0"/>
              </a:p>
              <a:p>
                <a:pPr marL="114300" lvl="0" indent="0" algn="just" rtl="0">
                  <a:lnSpc>
                    <a:spcPct val="90000"/>
                  </a:lnSpc>
                  <a:spcBef>
                    <a:spcPts val="1000"/>
                  </a:spcBef>
                  <a:spcAft>
                    <a:spcPts val="0"/>
                  </a:spcAft>
                  <a:buSzPct val="75630"/>
                  <a:buNone/>
                </a:pPr>
                <a:endParaRPr lang="en-US" sz="2400" b="0"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𝑠</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𝑇𝐻</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𝑇𝐿</m:t>
                              </m:r>
                            </m:sub>
                          </m:sSub>
                        </m:num>
                        <m:den>
                          <m:r>
                            <a:rPr lang="en-US" sz="2400" b="0" i="1" smtClean="0">
                              <a:latin typeface="Cambria Math" panose="02040503050406030204" pitchFamily="18" charset="0"/>
                            </a:rPr>
                            <m:t>2</m:t>
                          </m:r>
                        </m:den>
                      </m:f>
                    </m:oMath>
                  </m:oMathPara>
                </a14:m>
                <a:endParaRPr lang="en-US" sz="2400" b="0"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𝐻𝑊</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𝑇𝐻</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𝑇𝐿</m:t>
                          </m:r>
                        </m:sub>
                      </m:sSub>
                      <m:r>
                        <a:rPr lang="en-US" sz="2400" b="0" i="1" smtClean="0">
                          <a:latin typeface="Cambria Math" panose="02040503050406030204" pitchFamily="18" charset="0"/>
                        </a:rPr>
                        <m:t> </m:t>
                      </m:r>
                    </m:oMath>
                  </m:oMathPara>
                </a14:m>
                <a:endParaRPr lang="en-US" sz="2400" b="0" dirty="0"/>
              </a:p>
              <a:p>
                <a:pPr marL="114300" lvl="0" indent="0" algn="just" rtl="0">
                  <a:lnSpc>
                    <a:spcPct val="90000"/>
                  </a:lnSpc>
                  <a:spcBef>
                    <a:spcPts val="1000"/>
                  </a:spcBef>
                  <a:spcAft>
                    <a:spcPts val="0"/>
                  </a:spcAft>
                  <a:buSzPct val="75630"/>
                  <a:buNone/>
                </a:pPr>
                <a:r>
                  <a:rPr lang="en-US" sz="2400" dirty="0">
                    <a:solidFill>
                      <a:srgbClr val="0070C0"/>
                    </a:solidFill>
                  </a:rPr>
                  <a:t>IF </a:t>
                </a:r>
                <a14:m>
                  <m:oMath xmlns:m="http://schemas.openxmlformats.org/officeDocument/2006/math">
                    <m:sSub>
                      <m:sSubPr>
                        <m:ctrlPr>
                          <a:rPr lang="en-US" sz="2400" b="0" i="1" smtClean="0">
                            <a:solidFill>
                              <a:srgbClr val="0070C0"/>
                            </a:solidFill>
                            <a:latin typeface="Cambria Math" panose="02040503050406030204" pitchFamily="18" charset="0"/>
                          </a:rPr>
                        </m:ctrlPr>
                      </m:sSubPr>
                      <m:e>
                        <m:r>
                          <a:rPr lang="en-US" sz="2400" b="0" i="1" smtClean="0">
                            <a:solidFill>
                              <a:srgbClr val="0070C0"/>
                            </a:solidFill>
                            <a:latin typeface="Cambria Math" panose="02040503050406030204" pitchFamily="18" charset="0"/>
                          </a:rPr>
                          <m:t>𝑉</m:t>
                        </m:r>
                      </m:e>
                      <m:sub>
                        <m:r>
                          <a:rPr lang="en-US" sz="2400" b="0" i="1" smtClean="0">
                            <a:solidFill>
                              <a:srgbClr val="0070C0"/>
                            </a:solidFill>
                            <a:latin typeface="Cambria Math" panose="02040503050406030204" pitchFamily="18" charset="0"/>
                          </a:rPr>
                          <m:t>𝐿</m:t>
                        </m:r>
                      </m:sub>
                    </m:sSub>
                    <m:r>
                      <a:rPr lang="en-US" sz="2400" b="0" i="1" smtClean="0">
                        <a:solidFill>
                          <a:srgbClr val="0070C0"/>
                        </a:solidFill>
                        <a:latin typeface="Cambria Math" panose="02040503050406030204" pitchFamily="18" charset="0"/>
                      </a:rPr>
                      <m:t>=−</m:t>
                    </m:r>
                    <m:sSub>
                      <m:sSubPr>
                        <m:ctrlPr>
                          <a:rPr lang="en-US" sz="2400" b="0" i="1" smtClean="0">
                            <a:solidFill>
                              <a:srgbClr val="0070C0"/>
                            </a:solidFill>
                            <a:latin typeface="Cambria Math" panose="02040503050406030204" pitchFamily="18" charset="0"/>
                          </a:rPr>
                        </m:ctrlPr>
                      </m:sSubPr>
                      <m:e>
                        <m:r>
                          <a:rPr lang="en-US" sz="2400" b="0" i="1" smtClean="0">
                            <a:solidFill>
                              <a:srgbClr val="0070C0"/>
                            </a:solidFill>
                            <a:latin typeface="Cambria Math" panose="02040503050406030204" pitchFamily="18" charset="0"/>
                          </a:rPr>
                          <m:t>𝑉</m:t>
                        </m:r>
                      </m:e>
                      <m:sub>
                        <m:r>
                          <a:rPr lang="en-US" sz="2400" b="0" i="1" smtClean="0">
                            <a:solidFill>
                              <a:srgbClr val="0070C0"/>
                            </a:solidFill>
                            <a:latin typeface="Cambria Math" panose="02040503050406030204" pitchFamily="18" charset="0"/>
                          </a:rPr>
                          <m:t>𝐻</m:t>
                        </m:r>
                      </m:sub>
                    </m:sSub>
                  </m:oMath>
                </a14:m>
                <a:endParaRPr lang="en-US" sz="2400" b="0" dirty="0">
                  <a:solidFill>
                    <a:srgbClr val="0070C0"/>
                  </a:solidFill>
                </a:endParaRPr>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sz="2400" b="0" i="1" smtClean="0">
                              <a:solidFill>
                                <a:srgbClr val="0070C0"/>
                              </a:solidFill>
                              <a:latin typeface="Cambria Math" panose="02040503050406030204" pitchFamily="18" charset="0"/>
                            </a:rPr>
                          </m:ctrlPr>
                        </m:sSubPr>
                        <m:e>
                          <m:r>
                            <a:rPr lang="en-US" sz="2400" b="0" i="1" smtClean="0">
                              <a:solidFill>
                                <a:srgbClr val="0070C0"/>
                              </a:solidFill>
                              <a:latin typeface="Cambria Math" panose="02040503050406030204" pitchFamily="18" charset="0"/>
                            </a:rPr>
                            <m:t>𝑉</m:t>
                          </m:r>
                        </m:e>
                        <m:sub>
                          <m:r>
                            <a:rPr lang="en-US" sz="2400" b="0" i="1" smtClean="0">
                              <a:solidFill>
                                <a:srgbClr val="0070C0"/>
                              </a:solidFill>
                              <a:latin typeface="Cambria Math" panose="02040503050406030204" pitchFamily="18" charset="0"/>
                            </a:rPr>
                            <m:t>𝑆</m:t>
                          </m:r>
                        </m:sub>
                      </m:sSub>
                      <m:r>
                        <a:rPr lang="en-US" sz="2400" b="0" i="1" smtClean="0">
                          <a:solidFill>
                            <a:srgbClr val="0070C0"/>
                          </a:solidFill>
                          <a:latin typeface="Cambria Math" panose="02040503050406030204" pitchFamily="18" charset="0"/>
                        </a:rPr>
                        <m:t>=0, </m:t>
                      </m:r>
                      <m:sSub>
                        <m:sSubPr>
                          <m:ctrlPr>
                            <a:rPr lang="en-US" sz="2400" b="0" i="1" smtClean="0">
                              <a:solidFill>
                                <a:srgbClr val="0070C0"/>
                              </a:solidFill>
                              <a:latin typeface="Cambria Math" panose="02040503050406030204" pitchFamily="18" charset="0"/>
                            </a:rPr>
                          </m:ctrlPr>
                        </m:sSubPr>
                        <m:e>
                          <m:r>
                            <a:rPr lang="en-US" sz="2400" b="0" i="1" smtClean="0">
                              <a:solidFill>
                                <a:srgbClr val="0070C0"/>
                              </a:solidFill>
                              <a:latin typeface="Cambria Math" panose="02040503050406030204" pitchFamily="18" charset="0"/>
                            </a:rPr>
                            <m:t>𝑉</m:t>
                          </m:r>
                        </m:e>
                        <m:sub>
                          <m:r>
                            <a:rPr lang="en-US" sz="2400" b="0" i="1" smtClean="0">
                              <a:solidFill>
                                <a:srgbClr val="0070C0"/>
                              </a:solidFill>
                              <a:latin typeface="Cambria Math" panose="02040503050406030204" pitchFamily="18" charset="0"/>
                            </a:rPr>
                            <m:t>𝐻𝑊</m:t>
                          </m:r>
                        </m:sub>
                      </m:sSub>
                      <m:r>
                        <a:rPr lang="en-US" sz="2400" b="0" i="1" smtClean="0">
                          <a:solidFill>
                            <a:srgbClr val="0070C0"/>
                          </a:solidFill>
                          <a:latin typeface="Cambria Math" panose="02040503050406030204" pitchFamily="18" charset="0"/>
                        </a:rPr>
                        <m:t>=2</m:t>
                      </m:r>
                      <m:sSub>
                        <m:sSubPr>
                          <m:ctrlPr>
                            <a:rPr lang="en-US" sz="2400" b="0" i="1" smtClean="0">
                              <a:solidFill>
                                <a:srgbClr val="0070C0"/>
                              </a:solidFill>
                              <a:latin typeface="Cambria Math" panose="02040503050406030204" pitchFamily="18" charset="0"/>
                            </a:rPr>
                          </m:ctrlPr>
                        </m:sSubPr>
                        <m:e>
                          <m:r>
                            <a:rPr lang="en-US" sz="2400" b="0" i="1" smtClean="0">
                              <a:solidFill>
                                <a:srgbClr val="0070C0"/>
                              </a:solidFill>
                              <a:latin typeface="Cambria Math" panose="02040503050406030204" pitchFamily="18" charset="0"/>
                            </a:rPr>
                            <m:t>𝑉</m:t>
                          </m:r>
                        </m:e>
                        <m:sub>
                          <m:r>
                            <a:rPr lang="en-US" sz="2400" b="0" i="1" smtClean="0">
                              <a:solidFill>
                                <a:srgbClr val="0070C0"/>
                              </a:solidFill>
                              <a:latin typeface="Cambria Math" panose="02040503050406030204" pitchFamily="18" charset="0"/>
                            </a:rPr>
                            <m:t>𝐻</m:t>
                          </m:r>
                        </m:sub>
                      </m:sSub>
                      <m:f>
                        <m:fPr>
                          <m:ctrlPr>
                            <a:rPr lang="en-US" sz="2400" b="0" i="1" smtClean="0">
                              <a:solidFill>
                                <a:srgbClr val="0070C0"/>
                              </a:solidFill>
                              <a:latin typeface="Cambria Math" panose="02040503050406030204" pitchFamily="18" charset="0"/>
                            </a:rPr>
                          </m:ctrlPr>
                        </m:fPr>
                        <m:num>
                          <m:sSub>
                            <m:sSubPr>
                              <m:ctrlPr>
                                <a:rPr lang="en-US" sz="2400" b="0" i="1" smtClean="0">
                                  <a:solidFill>
                                    <a:srgbClr val="0070C0"/>
                                  </a:solidFill>
                                  <a:latin typeface="Cambria Math" panose="02040503050406030204" pitchFamily="18" charset="0"/>
                                </a:rPr>
                              </m:ctrlPr>
                            </m:sSubPr>
                            <m:e>
                              <m:r>
                                <a:rPr lang="en-US" sz="2400" b="0" i="1" smtClean="0">
                                  <a:solidFill>
                                    <a:srgbClr val="0070C0"/>
                                  </a:solidFill>
                                  <a:latin typeface="Cambria Math" panose="02040503050406030204" pitchFamily="18" charset="0"/>
                                </a:rPr>
                                <m:t>𝑅</m:t>
                              </m:r>
                            </m:e>
                            <m:sub>
                              <m:r>
                                <a:rPr lang="en-US" sz="2400" b="0" i="1" smtClean="0">
                                  <a:solidFill>
                                    <a:srgbClr val="0070C0"/>
                                  </a:solidFill>
                                  <a:latin typeface="Cambria Math" panose="02040503050406030204" pitchFamily="18" charset="0"/>
                                </a:rPr>
                                <m:t>1</m:t>
                              </m:r>
                            </m:sub>
                          </m:sSub>
                        </m:num>
                        <m:den>
                          <m:sSub>
                            <m:sSubPr>
                              <m:ctrlPr>
                                <a:rPr lang="en-US" sz="2400" b="0" i="1" smtClean="0">
                                  <a:solidFill>
                                    <a:srgbClr val="0070C0"/>
                                  </a:solidFill>
                                  <a:latin typeface="Cambria Math" panose="02040503050406030204" pitchFamily="18" charset="0"/>
                                </a:rPr>
                              </m:ctrlPr>
                            </m:sSubPr>
                            <m:e>
                              <m:r>
                                <a:rPr lang="en-US" sz="2400" b="0" i="1" smtClean="0">
                                  <a:solidFill>
                                    <a:srgbClr val="0070C0"/>
                                  </a:solidFill>
                                  <a:latin typeface="Cambria Math" panose="02040503050406030204" pitchFamily="18" charset="0"/>
                                </a:rPr>
                                <m:t>𝑅</m:t>
                              </m:r>
                            </m:e>
                            <m:sub>
                              <m:r>
                                <a:rPr lang="en-US" sz="2400" b="0" i="1" smtClean="0">
                                  <a:solidFill>
                                    <a:srgbClr val="0070C0"/>
                                  </a:solidFill>
                                  <a:latin typeface="Cambria Math" panose="02040503050406030204" pitchFamily="18" charset="0"/>
                                </a:rPr>
                                <m:t>2</m:t>
                              </m:r>
                            </m:sub>
                          </m:sSub>
                        </m:den>
                      </m:f>
                      <m:r>
                        <a:rPr lang="en-US" sz="2400" b="0" i="1" smtClean="0">
                          <a:solidFill>
                            <a:srgbClr val="0070C0"/>
                          </a:solidFill>
                          <a:latin typeface="Cambria Math" panose="02040503050406030204" pitchFamily="18" charset="0"/>
                        </a:rPr>
                        <m:t> </m:t>
                      </m:r>
                    </m:oMath>
                  </m:oMathPara>
                </a14:m>
                <a:endParaRPr lang="en-US" sz="2400" b="0" dirty="0">
                  <a:solidFill>
                    <a:srgbClr val="0070C0"/>
                  </a:solidFill>
                </a:endParaRPr>
              </a:p>
              <a:p>
                <a:pPr marL="114300" lvl="0" indent="0" algn="just" rtl="0">
                  <a:lnSpc>
                    <a:spcPct val="90000"/>
                  </a:lnSpc>
                  <a:spcBef>
                    <a:spcPts val="1000"/>
                  </a:spcBef>
                  <a:spcAft>
                    <a:spcPts val="0"/>
                  </a:spcAft>
                  <a:buSzPct val="75630"/>
                  <a:buNone/>
                </a:pPr>
                <a:endParaRPr lang="en-US" b="0" dirty="0"/>
              </a:p>
              <a:p>
                <a:pPr marL="114300" lvl="0" indent="0" algn="just" rtl="0">
                  <a:lnSpc>
                    <a:spcPct val="90000"/>
                  </a:lnSpc>
                  <a:spcBef>
                    <a:spcPts val="1000"/>
                  </a:spcBef>
                  <a:spcAft>
                    <a:spcPts val="0"/>
                  </a:spcAft>
                  <a:buSzPct val="75630"/>
                  <a:buNone/>
                </a:pPr>
                <a:endParaRPr lang="en-US" b="0" dirty="0"/>
              </a:p>
              <a:p>
                <a:pPr marL="114300" lvl="0" indent="0" algn="just" rtl="0">
                  <a:lnSpc>
                    <a:spcPct val="90000"/>
                  </a:lnSpc>
                  <a:spcBef>
                    <a:spcPts val="1000"/>
                  </a:spcBef>
                  <a:spcAft>
                    <a:spcPts val="0"/>
                  </a:spcAft>
                  <a:buSzPct val="75630"/>
                  <a:buNone/>
                </a:pPr>
                <a:endParaRPr dirty="0"/>
              </a:p>
            </p:txBody>
          </p:sp>
        </mc:Choice>
        <mc:Fallback xmlns="">
          <p:sp>
            <p:nvSpPr>
              <p:cNvPr id="179" name="Google Shape;179;p36">
                <a:extLst>
                  <a:ext uri="{FF2B5EF4-FFF2-40B4-BE49-F238E27FC236}">
                    <a16:creationId xmlns:a16="http://schemas.microsoft.com/office/drawing/2014/main" id="{D354DEA8-BA60-9555-896E-845ECBEFB793}"/>
                  </a:ext>
                </a:extLst>
              </p:cNvPr>
              <p:cNvSpPr txBox="1">
                <a:spLocks noGrp="1" noRot="1" noChangeAspect="1" noMove="1" noResize="1" noEditPoints="1" noAdjustHandles="1" noChangeArrowheads="1" noChangeShapeType="1" noTextEdit="1"/>
              </p:cNvSpPr>
              <p:nvPr>
                <p:ph type="body" idx="1"/>
              </p:nvPr>
            </p:nvSpPr>
            <p:spPr>
              <a:xfrm>
                <a:off x="685307" y="1334585"/>
                <a:ext cx="7131337" cy="5104119"/>
              </a:xfrm>
              <a:prstGeom prst="rect">
                <a:avLst/>
              </a:prstGeom>
              <a:blipFill>
                <a:blip r:embed="rId4"/>
                <a:stretch>
                  <a:fillRect/>
                </a:stretch>
              </a:blipFill>
              <a:ln>
                <a:noFill/>
              </a:ln>
            </p:spPr>
            <p:txBody>
              <a:bodyPr/>
              <a:lstStyle/>
              <a:p>
                <a:r>
                  <a:rPr lang="en-US">
                    <a:noFill/>
                  </a:rPr>
                  <a:t> </a:t>
                </a:r>
              </a:p>
            </p:txBody>
          </p:sp>
        </mc:Fallback>
      </mc:AlternateContent>
      <p:pic>
        <p:nvPicPr>
          <p:cNvPr id="3" name="Picture 2">
            <a:extLst>
              <a:ext uri="{FF2B5EF4-FFF2-40B4-BE49-F238E27FC236}">
                <a16:creationId xmlns:a16="http://schemas.microsoft.com/office/drawing/2014/main" id="{168F7713-41E5-1485-E704-F22628357A60}"/>
              </a:ext>
            </a:extLst>
          </p:cNvPr>
          <p:cNvPicPr>
            <a:picLocks noChangeAspect="1"/>
          </p:cNvPicPr>
          <p:nvPr/>
        </p:nvPicPr>
        <p:blipFill>
          <a:blip r:embed="rId5"/>
          <a:stretch>
            <a:fillRect/>
          </a:stretch>
        </p:blipFill>
        <p:spPr>
          <a:xfrm>
            <a:off x="7000568" y="1026126"/>
            <a:ext cx="4877783" cy="4320777"/>
          </a:xfrm>
          <a:prstGeom prst="rect">
            <a:avLst/>
          </a:prstGeom>
        </p:spPr>
      </p:pic>
    </p:spTree>
    <p:extLst>
      <p:ext uri="{BB962C8B-B14F-4D97-AF65-F5344CB8AC3E}">
        <p14:creationId xmlns:p14="http://schemas.microsoft.com/office/powerpoint/2010/main" val="2694199013"/>
      </p:ext>
    </p:extLst>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E1FD71B1-076F-1A15-1167-C2EC27B91D8C}"/>
            </a:ext>
          </a:extLst>
        </p:cNvPr>
        <p:cNvGrpSpPr/>
        <p:nvPr/>
      </p:nvGrpSpPr>
      <p:grpSpPr>
        <a:xfrm>
          <a:off x="0" y="0"/>
          <a:ext cx="0" cy="0"/>
          <a:chOff x="0" y="0"/>
          <a:chExt cx="0" cy="0"/>
        </a:xfrm>
      </p:grpSpPr>
      <p:sp>
        <p:nvSpPr>
          <p:cNvPr id="175" name="Google Shape;175;p36">
            <a:extLst>
              <a:ext uri="{FF2B5EF4-FFF2-40B4-BE49-F238E27FC236}">
                <a16:creationId xmlns:a16="http://schemas.microsoft.com/office/drawing/2014/main" id="{821E2C66-C09F-CD73-06B3-D25867FCBBE8}"/>
              </a:ext>
            </a:extLst>
          </p:cNvPr>
          <p:cNvSpPr txBox="1">
            <a:spLocks noGrp="1"/>
          </p:cNvSpPr>
          <p:nvPr>
            <p:ph type="title"/>
          </p:nvPr>
        </p:nvSpPr>
        <p:spPr>
          <a:xfrm>
            <a:off x="559455" y="272649"/>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Inverting ST with Ref</a:t>
            </a:r>
            <a:endParaRPr dirty="0"/>
          </a:p>
        </p:txBody>
      </p:sp>
      <p:sp>
        <p:nvSpPr>
          <p:cNvPr id="176" name="Google Shape;176;p36">
            <a:extLst>
              <a:ext uri="{FF2B5EF4-FFF2-40B4-BE49-F238E27FC236}">
                <a16:creationId xmlns:a16="http://schemas.microsoft.com/office/drawing/2014/main" id="{1CDF7316-76B3-7BA1-2BC1-132435A5C706}"/>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77" name="Google Shape;177;p36">
            <a:extLst>
              <a:ext uri="{FF2B5EF4-FFF2-40B4-BE49-F238E27FC236}">
                <a16:creationId xmlns:a16="http://schemas.microsoft.com/office/drawing/2014/main" id="{9261904B-1351-E649-6D6D-FDC079CADDBD}"/>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18</a:t>
            </a:fld>
            <a:endParaRPr/>
          </a:p>
        </p:txBody>
      </p:sp>
      <p:pic>
        <p:nvPicPr>
          <p:cNvPr id="178" name="Google Shape;178;p36">
            <a:extLst>
              <a:ext uri="{FF2B5EF4-FFF2-40B4-BE49-F238E27FC236}">
                <a16:creationId xmlns:a16="http://schemas.microsoft.com/office/drawing/2014/main" id="{DBADBC00-51CB-DCE2-58DB-56FEC3DE8870}"/>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179" name="Google Shape;179;p36">
            <a:extLst>
              <a:ext uri="{FF2B5EF4-FFF2-40B4-BE49-F238E27FC236}">
                <a16:creationId xmlns:a16="http://schemas.microsoft.com/office/drawing/2014/main" id="{4BF29CB7-E04A-28E5-30A9-34D10BEDCB21}"/>
              </a:ext>
            </a:extLst>
          </p:cNvPr>
          <p:cNvSpPr txBox="1">
            <a:spLocks noGrp="1"/>
          </p:cNvSpPr>
          <p:nvPr>
            <p:ph type="body" idx="1"/>
          </p:nvPr>
        </p:nvSpPr>
        <p:spPr>
          <a:xfrm>
            <a:off x="685308" y="1334585"/>
            <a:ext cx="6201630" cy="4603227"/>
          </a:xfrm>
          <a:prstGeom prst="rect">
            <a:avLst/>
          </a:prstGeom>
          <a:noFill/>
          <a:ln>
            <a:noFill/>
          </a:ln>
        </p:spPr>
        <p:txBody>
          <a:bodyPr spcFirstLastPara="1" wrap="square" lIns="91425" tIns="45700" rIns="91425" bIns="45700" anchor="t" anchorCtr="0">
            <a:normAutofit/>
          </a:bodyPr>
          <a:lstStyle/>
          <a:p>
            <a:pPr marL="114300" lvl="0" indent="0" algn="just" rtl="0">
              <a:lnSpc>
                <a:spcPct val="90000"/>
              </a:lnSpc>
              <a:spcBef>
                <a:spcPts val="1000"/>
              </a:spcBef>
              <a:spcAft>
                <a:spcPts val="0"/>
              </a:spcAft>
              <a:buSzPct val="75630"/>
              <a:buNone/>
            </a:pPr>
            <a:r>
              <a:rPr lang="en-US" dirty="0"/>
              <a:t>Type here</a:t>
            </a:r>
            <a:endParaRPr dirty="0"/>
          </a:p>
        </p:txBody>
      </p:sp>
      <p:pic>
        <p:nvPicPr>
          <p:cNvPr id="4" name="Picture 3">
            <a:extLst>
              <a:ext uri="{FF2B5EF4-FFF2-40B4-BE49-F238E27FC236}">
                <a16:creationId xmlns:a16="http://schemas.microsoft.com/office/drawing/2014/main" id="{671FE5B1-F3FC-16DD-F788-56E61D7AD482}"/>
              </a:ext>
            </a:extLst>
          </p:cNvPr>
          <p:cNvPicPr>
            <a:picLocks noChangeAspect="1"/>
          </p:cNvPicPr>
          <p:nvPr/>
        </p:nvPicPr>
        <p:blipFill>
          <a:blip r:embed="rId4"/>
          <a:stretch>
            <a:fillRect/>
          </a:stretch>
        </p:blipFill>
        <p:spPr>
          <a:xfrm>
            <a:off x="6552530" y="1048917"/>
            <a:ext cx="4801270" cy="5029902"/>
          </a:xfrm>
          <a:prstGeom prst="rect">
            <a:avLst/>
          </a:prstGeom>
        </p:spPr>
      </p:pic>
      <p:pic>
        <p:nvPicPr>
          <p:cNvPr id="7" name="Picture 6">
            <a:extLst>
              <a:ext uri="{FF2B5EF4-FFF2-40B4-BE49-F238E27FC236}">
                <a16:creationId xmlns:a16="http://schemas.microsoft.com/office/drawing/2014/main" id="{E12FD3AE-D3FA-4697-5258-2CF95DAC5C68}"/>
              </a:ext>
            </a:extLst>
          </p:cNvPr>
          <p:cNvPicPr>
            <a:picLocks noChangeAspect="1"/>
          </p:cNvPicPr>
          <p:nvPr/>
        </p:nvPicPr>
        <p:blipFill>
          <a:blip r:embed="rId5"/>
          <a:stretch>
            <a:fillRect/>
          </a:stretch>
        </p:blipFill>
        <p:spPr>
          <a:xfrm>
            <a:off x="495064" y="951500"/>
            <a:ext cx="5639487" cy="4468347"/>
          </a:xfrm>
          <a:prstGeom prst="rect">
            <a:avLst/>
          </a:prstGeom>
        </p:spPr>
      </p:pic>
    </p:spTree>
    <p:extLst>
      <p:ext uri="{BB962C8B-B14F-4D97-AF65-F5344CB8AC3E}">
        <p14:creationId xmlns:p14="http://schemas.microsoft.com/office/powerpoint/2010/main" val="1997248656"/>
      </p:ext>
    </p:extLst>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62FAC259-AC97-EF3A-54B0-DB981B59D7E1}"/>
            </a:ext>
          </a:extLst>
        </p:cNvPr>
        <p:cNvGrpSpPr/>
        <p:nvPr/>
      </p:nvGrpSpPr>
      <p:grpSpPr>
        <a:xfrm>
          <a:off x="0" y="0"/>
          <a:ext cx="0" cy="0"/>
          <a:chOff x="0" y="0"/>
          <a:chExt cx="0" cy="0"/>
        </a:xfrm>
      </p:grpSpPr>
      <p:sp>
        <p:nvSpPr>
          <p:cNvPr id="175" name="Google Shape;175;p36">
            <a:extLst>
              <a:ext uri="{FF2B5EF4-FFF2-40B4-BE49-F238E27FC236}">
                <a16:creationId xmlns:a16="http://schemas.microsoft.com/office/drawing/2014/main" id="{758FA6BB-8FF4-76A0-0E83-53592ADA1207}"/>
              </a:ext>
            </a:extLst>
          </p:cNvPr>
          <p:cNvSpPr txBox="1">
            <a:spLocks noGrp="1"/>
          </p:cNvSpPr>
          <p:nvPr>
            <p:ph type="title"/>
          </p:nvPr>
        </p:nvSpPr>
        <p:spPr>
          <a:xfrm>
            <a:off x="559455" y="272649"/>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Inverting ST with Ref</a:t>
            </a:r>
            <a:endParaRPr dirty="0"/>
          </a:p>
        </p:txBody>
      </p:sp>
      <p:sp>
        <p:nvSpPr>
          <p:cNvPr id="176" name="Google Shape;176;p36">
            <a:extLst>
              <a:ext uri="{FF2B5EF4-FFF2-40B4-BE49-F238E27FC236}">
                <a16:creationId xmlns:a16="http://schemas.microsoft.com/office/drawing/2014/main" id="{6F0658B8-B704-7F3C-B1B9-0BFA0BE9E9F0}"/>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77" name="Google Shape;177;p36">
            <a:extLst>
              <a:ext uri="{FF2B5EF4-FFF2-40B4-BE49-F238E27FC236}">
                <a16:creationId xmlns:a16="http://schemas.microsoft.com/office/drawing/2014/main" id="{74BB97A1-0571-9DCA-FC79-10C884E641C8}"/>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19</a:t>
            </a:fld>
            <a:endParaRPr/>
          </a:p>
        </p:txBody>
      </p:sp>
      <p:pic>
        <p:nvPicPr>
          <p:cNvPr id="178" name="Google Shape;178;p36">
            <a:extLst>
              <a:ext uri="{FF2B5EF4-FFF2-40B4-BE49-F238E27FC236}">
                <a16:creationId xmlns:a16="http://schemas.microsoft.com/office/drawing/2014/main" id="{5A24C257-46C6-4858-0009-4FF4D45FC2D4}"/>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xmlns:a14="http://schemas.microsoft.com/office/drawing/2010/main">
        <mc:Choice Requires="a14">
          <p:sp>
            <p:nvSpPr>
              <p:cNvPr id="179" name="Google Shape;179;p36">
                <a:extLst>
                  <a:ext uri="{FF2B5EF4-FFF2-40B4-BE49-F238E27FC236}">
                    <a16:creationId xmlns:a16="http://schemas.microsoft.com/office/drawing/2014/main" id="{3C0966F2-EF1E-99EC-4A81-A22103643D8D}"/>
                  </a:ext>
                </a:extLst>
              </p:cNvPr>
              <p:cNvSpPr txBox="1">
                <a:spLocks noGrp="1"/>
              </p:cNvSpPr>
              <p:nvPr>
                <p:ph type="body" idx="1"/>
              </p:nvPr>
            </p:nvSpPr>
            <p:spPr>
              <a:xfrm>
                <a:off x="695139" y="1037327"/>
                <a:ext cx="6275931" cy="5021765"/>
              </a:xfrm>
              <a:prstGeom prst="rect">
                <a:avLst/>
              </a:prstGeom>
              <a:noFill/>
              <a:ln>
                <a:noFill/>
              </a:ln>
            </p:spPr>
            <p:txBody>
              <a:bodyPr spcFirstLastPara="1" wrap="square" lIns="91425" tIns="45700" rIns="91425" bIns="45700" anchor="t" anchorCtr="0">
                <a:normAutofit fontScale="85000" lnSpcReduction="10000"/>
              </a:bodyPr>
              <a:lstStyle/>
              <a:p>
                <a:pPr marL="114300" lvl="0" indent="0" algn="just" rtl="0">
                  <a:lnSpc>
                    <a:spcPct val="90000"/>
                  </a:lnSpc>
                  <a:spcBef>
                    <a:spcPts val="1000"/>
                  </a:spcBef>
                  <a:spcAft>
                    <a:spcPts val="0"/>
                  </a:spcAft>
                  <a:buSzPct val="75630"/>
                  <a:buNone/>
                </a:pPr>
                <a:r>
                  <a:rPr lang="en-US" sz="2400" dirty="0"/>
                  <a:t>Formula,</a:t>
                </a:r>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𝑇𝐻</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𝑅𝐸𝐹</m:t>
                          </m:r>
                        </m:sub>
                      </m:sSub>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2</m:t>
                              </m:r>
                            </m:sub>
                          </m:sSub>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2</m:t>
                              </m:r>
                            </m:sub>
                          </m:sSub>
                        </m:den>
                      </m:f>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𝐻</m:t>
                          </m:r>
                        </m:sub>
                      </m:sSub>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1</m:t>
                              </m:r>
                            </m:sub>
                          </m:sSub>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2</m:t>
                              </m:r>
                            </m:sub>
                          </m:sSub>
                        </m:den>
                      </m:f>
                    </m:oMath>
                  </m:oMathPara>
                </a14:m>
                <a:endParaRPr lang="en-US" sz="2400" b="0" dirty="0"/>
              </a:p>
              <a:p>
                <a:pPr marL="114300" lvl="0" indent="0" algn="just" rtl="0">
                  <a:lnSpc>
                    <a:spcPct val="90000"/>
                  </a:lnSpc>
                  <a:spcBef>
                    <a:spcPts val="1000"/>
                  </a:spcBef>
                  <a:spcAft>
                    <a:spcPts val="0"/>
                  </a:spcAft>
                  <a:buSzPct val="75630"/>
                  <a:buNone/>
                </a:pPr>
                <a:endParaRPr lang="en-US" sz="2400" b="0"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𝑇𝐿</m:t>
                          </m:r>
                        </m:sub>
                      </m:sSub>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𝑅𝐸𝐹</m:t>
                          </m:r>
                        </m:sub>
                      </m:sSub>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2</m:t>
                              </m:r>
                            </m:sub>
                          </m:sSub>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2</m:t>
                              </m:r>
                            </m:sub>
                          </m:sSub>
                        </m:den>
                      </m:f>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𝐿</m:t>
                          </m:r>
                        </m:sub>
                      </m:sSub>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1</m:t>
                              </m:r>
                            </m:sub>
                          </m:sSub>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2</m:t>
                              </m:r>
                            </m:sub>
                          </m:sSub>
                        </m:den>
                      </m:f>
                      <m:r>
                        <a:rPr lang="en-US" sz="2400" b="0" i="1" smtClean="0">
                          <a:latin typeface="Cambria Math" panose="02040503050406030204" pitchFamily="18" charset="0"/>
                        </a:rPr>
                        <m:t> </m:t>
                      </m:r>
                    </m:oMath>
                  </m:oMathPara>
                </a14:m>
                <a:endParaRPr lang="en-US" sz="2400" b="0" dirty="0"/>
              </a:p>
              <a:p>
                <a:pPr marL="114300" lvl="0" indent="0" algn="just" rtl="0">
                  <a:lnSpc>
                    <a:spcPct val="90000"/>
                  </a:lnSpc>
                  <a:spcBef>
                    <a:spcPts val="1000"/>
                  </a:spcBef>
                  <a:spcAft>
                    <a:spcPts val="0"/>
                  </a:spcAft>
                  <a:buSzPct val="75630"/>
                  <a:buNone/>
                </a:pPr>
                <a:endParaRPr lang="en-US" sz="2400" b="0"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𝑠</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𝑇𝐻</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𝑇𝐿</m:t>
                              </m:r>
                            </m:sub>
                          </m:sSub>
                        </m:num>
                        <m:den>
                          <m:r>
                            <a:rPr lang="en-US" sz="2400" b="0" i="1" smtClean="0">
                              <a:latin typeface="Cambria Math" panose="02040503050406030204" pitchFamily="18" charset="0"/>
                            </a:rPr>
                            <m:t>2</m:t>
                          </m:r>
                        </m:den>
                      </m:f>
                    </m:oMath>
                  </m:oMathPara>
                </a14:m>
                <a:endParaRPr lang="en-US" sz="2400" b="0"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𝐻𝑊</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𝑇𝐻</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𝑇𝐿</m:t>
                          </m:r>
                        </m:sub>
                      </m:sSub>
                      <m:r>
                        <a:rPr lang="en-US" sz="2400" b="0" i="1" smtClean="0">
                          <a:latin typeface="Cambria Math" panose="02040503050406030204" pitchFamily="18" charset="0"/>
                        </a:rPr>
                        <m:t> </m:t>
                      </m:r>
                    </m:oMath>
                  </m:oMathPara>
                </a14:m>
                <a:endParaRPr lang="en-US" sz="2400" b="0" dirty="0"/>
              </a:p>
              <a:p>
                <a:pPr marL="114300" lvl="0" indent="0" algn="just" rtl="0">
                  <a:lnSpc>
                    <a:spcPct val="90000"/>
                  </a:lnSpc>
                  <a:spcBef>
                    <a:spcPts val="1000"/>
                  </a:spcBef>
                  <a:spcAft>
                    <a:spcPts val="0"/>
                  </a:spcAft>
                  <a:buSzPct val="75630"/>
                  <a:buNone/>
                </a:pPr>
                <a:r>
                  <a:rPr lang="en-US" sz="2400" dirty="0">
                    <a:solidFill>
                      <a:srgbClr val="0070C0"/>
                    </a:solidFill>
                  </a:rPr>
                  <a:t>IF </a:t>
                </a:r>
                <a14:m>
                  <m:oMath xmlns:m="http://schemas.openxmlformats.org/officeDocument/2006/math">
                    <m:sSub>
                      <m:sSubPr>
                        <m:ctrlPr>
                          <a:rPr lang="en-US" sz="2400" b="0" i="1" smtClean="0">
                            <a:solidFill>
                              <a:srgbClr val="0070C0"/>
                            </a:solidFill>
                            <a:latin typeface="Cambria Math" panose="02040503050406030204" pitchFamily="18" charset="0"/>
                          </a:rPr>
                        </m:ctrlPr>
                      </m:sSubPr>
                      <m:e>
                        <m:r>
                          <a:rPr lang="en-US" sz="2400" b="0" i="1" smtClean="0">
                            <a:solidFill>
                              <a:srgbClr val="0070C0"/>
                            </a:solidFill>
                            <a:latin typeface="Cambria Math" panose="02040503050406030204" pitchFamily="18" charset="0"/>
                          </a:rPr>
                          <m:t>𝑉</m:t>
                        </m:r>
                      </m:e>
                      <m:sub>
                        <m:r>
                          <a:rPr lang="en-US" sz="2400" b="0" i="1" smtClean="0">
                            <a:solidFill>
                              <a:srgbClr val="0070C0"/>
                            </a:solidFill>
                            <a:latin typeface="Cambria Math" panose="02040503050406030204" pitchFamily="18" charset="0"/>
                          </a:rPr>
                          <m:t>𝐻</m:t>
                        </m:r>
                      </m:sub>
                    </m:sSub>
                    <m:r>
                      <a:rPr lang="en-US" sz="2400" b="0" i="1" smtClean="0">
                        <a:solidFill>
                          <a:srgbClr val="0070C0"/>
                        </a:solidFill>
                        <a:latin typeface="Cambria Math" panose="02040503050406030204" pitchFamily="18" charset="0"/>
                      </a:rPr>
                      <m:t>=−</m:t>
                    </m:r>
                    <m:sSub>
                      <m:sSubPr>
                        <m:ctrlPr>
                          <a:rPr lang="en-US" sz="2400" b="0" i="1" smtClean="0">
                            <a:solidFill>
                              <a:srgbClr val="0070C0"/>
                            </a:solidFill>
                            <a:latin typeface="Cambria Math" panose="02040503050406030204" pitchFamily="18" charset="0"/>
                          </a:rPr>
                        </m:ctrlPr>
                      </m:sSubPr>
                      <m:e>
                        <m:r>
                          <a:rPr lang="en-US" sz="2400" b="0" i="1" smtClean="0">
                            <a:solidFill>
                              <a:srgbClr val="0070C0"/>
                            </a:solidFill>
                            <a:latin typeface="Cambria Math" panose="02040503050406030204" pitchFamily="18" charset="0"/>
                          </a:rPr>
                          <m:t>𝑉</m:t>
                        </m:r>
                      </m:e>
                      <m:sub>
                        <m:r>
                          <a:rPr lang="en-US" sz="2400" b="0" i="1" smtClean="0">
                            <a:solidFill>
                              <a:srgbClr val="0070C0"/>
                            </a:solidFill>
                            <a:latin typeface="Cambria Math" panose="02040503050406030204" pitchFamily="18" charset="0"/>
                          </a:rPr>
                          <m:t>𝐿</m:t>
                        </m:r>
                      </m:sub>
                    </m:sSub>
                  </m:oMath>
                </a14:m>
                <a:endParaRPr lang="en-US" sz="2400" dirty="0">
                  <a:solidFill>
                    <a:srgbClr val="0070C0"/>
                  </a:solidFill>
                </a:endParaRPr>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𝑉</m:t>
                          </m:r>
                        </m:e>
                        <m:sub>
                          <m:r>
                            <a:rPr lang="en-US" b="0" i="1" smtClean="0">
                              <a:solidFill>
                                <a:srgbClr val="0070C0"/>
                              </a:solidFill>
                              <a:latin typeface="Cambria Math" panose="02040503050406030204" pitchFamily="18" charset="0"/>
                            </a:rPr>
                            <m:t>𝑆</m:t>
                          </m:r>
                        </m:sub>
                      </m:sSub>
                      <m:r>
                        <a:rPr lang="en-US" b="0" i="1" smtClean="0">
                          <a:solidFill>
                            <a:srgbClr val="0070C0"/>
                          </a:solidFill>
                          <a:latin typeface="Cambria Math" panose="02040503050406030204" pitchFamily="18" charset="0"/>
                        </a:rPr>
                        <m:t>=</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𝑉</m:t>
                          </m:r>
                        </m:e>
                        <m:sub>
                          <m:r>
                            <a:rPr lang="en-US" b="0" i="1" smtClean="0">
                              <a:solidFill>
                                <a:srgbClr val="0070C0"/>
                              </a:solidFill>
                              <a:latin typeface="Cambria Math" panose="02040503050406030204" pitchFamily="18" charset="0"/>
                            </a:rPr>
                            <m:t>𝑅𝐸𝐹</m:t>
                          </m:r>
                        </m:sub>
                      </m:sSub>
                      <m:f>
                        <m:fPr>
                          <m:ctrlPr>
                            <a:rPr lang="en-US" b="0" i="1" smtClean="0">
                              <a:solidFill>
                                <a:srgbClr val="0070C0"/>
                              </a:solidFill>
                              <a:latin typeface="Cambria Math" panose="02040503050406030204" pitchFamily="18" charset="0"/>
                            </a:rPr>
                          </m:ctrlPr>
                        </m:fPr>
                        <m:num>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𝑅</m:t>
                              </m:r>
                            </m:e>
                            <m:sub>
                              <m:r>
                                <a:rPr lang="en-US" b="0" i="1" smtClean="0">
                                  <a:solidFill>
                                    <a:srgbClr val="0070C0"/>
                                  </a:solidFill>
                                  <a:latin typeface="Cambria Math" panose="02040503050406030204" pitchFamily="18" charset="0"/>
                                </a:rPr>
                                <m:t>2</m:t>
                              </m:r>
                            </m:sub>
                          </m:sSub>
                        </m:num>
                        <m:den>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𝑅</m:t>
                              </m:r>
                            </m:e>
                            <m:sub>
                              <m:r>
                                <a:rPr lang="en-US" b="0" i="1" smtClean="0">
                                  <a:solidFill>
                                    <a:srgbClr val="0070C0"/>
                                  </a:solidFill>
                                  <a:latin typeface="Cambria Math" panose="02040503050406030204" pitchFamily="18" charset="0"/>
                                </a:rPr>
                                <m:t>1</m:t>
                              </m:r>
                            </m:sub>
                          </m:sSub>
                          <m:r>
                            <a:rPr lang="en-US" b="0" i="1" smtClean="0">
                              <a:solidFill>
                                <a:srgbClr val="0070C0"/>
                              </a:solidFill>
                              <a:latin typeface="Cambria Math" panose="02040503050406030204" pitchFamily="18" charset="0"/>
                            </a:rPr>
                            <m:t>+</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𝑅</m:t>
                              </m:r>
                            </m:e>
                            <m:sub>
                              <m:r>
                                <a:rPr lang="en-US" b="0" i="1" smtClean="0">
                                  <a:solidFill>
                                    <a:srgbClr val="0070C0"/>
                                  </a:solidFill>
                                  <a:latin typeface="Cambria Math" panose="02040503050406030204" pitchFamily="18" charset="0"/>
                                </a:rPr>
                                <m:t>2</m:t>
                              </m:r>
                            </m:sub>
                          </m:sSub>
                        </m:den>
                      </m:f>
                      <m:r>
                        <a:rPr lang="en-US" b="0" i="1" smtClean="0">
                          <a:solidFill>
                            <a:srgbClr val="0070C0"/>
                          </a:solidFill>
                          <a:latin typeface="Cambria Math" panose="02040503050406030204" pitchFamily="18" charset="0"/>
                        </a:rPr>
                        <m:t> </m:t>
                      </m:r>
                      <m:r>
                        <a:rPr lang="en-US" b="0" i="1" smtClean="0">
                          <a:solidFill>
                            <a:srgbClr val="0070C0"/>
                          </a:solidFill>
                          <a:latin typeface="Cambria Math" panose="02040503050406030204" pitchFamily="18" charset="0"/>
                        </a:rPr>
                        <m:t>𝑎𝑛𝑑</m:t>
                      </m:r>
                      <m:r>
                        <a:rPr lang="en-US" b="0" i="1" smtClean="0">
                          <a:solidFill>
                            <a:srgbClr val="0070C0"/>
                          </a:solidFill>
                          <a:latin typeface="Cambria Math" panose="02040503050406030204" pitchFamily="18" charset="0"/>
                        </a:rPr>
                        <m:t> </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𝑉</m:t>
                          </m:r>
                        </m:e>
                        <m:sub>
                          <m:r>
                            <a:rPr lang="en-US" b="0" i="1" smtClean="0">
                              <a:solidFill>
                                <a:srgbClr val="0070C0"/>
                              </a:solidFill>
                              <a:latin typeface="Cambria Math" panose="02040503050406030204" pitchFamily="18" charset="0"/>
                            </a:rPr>
                            <m:t>𝐻𝑊</m:t>
                          </m:r>
                        </m:sub>
                      </m:sSub>
                      <m:r>
                        <a:rPr lang="en-US" b="0" i="1" smtClean="0">
                          <a:solidFill>
                            <a:srgbClr val="0070C0"/>
                          </a:solidFill>
                          <a:latin typeface="Cambria Math" panose="02040503050406030204" pitchFamily="18" charset="0"/>
                        </a:rPr>
                        <m:t>=2</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𝑉</m:t>
                          </m:r>
                        </m:e>
                        <m:sub>
                          <m:r>
                            <a:rPr lang="en-US" b="0" i="1" smtClean="0">
                              <a:solidFill>
                                <a:srgbClr val="0070C0"/>
                              </a:solidFill>
                              <a:latin typeface="Cambria Math" panose="02040503050406030204" pitchFamily="18" charset="0"/>
                            </a:rPr>
                            <m:t>𝐻</m:t>
                          </m:r>
                        </m:sub>
                      </m:sSub>
                      <m:f>
                        <m:fPr>
                          <m:ctrlPr>
                            <a:rPr lang="en-US" b="0" i="1" smtClean="0">
                              <a:solidFill>
                                <a:srgbClr val="0070C0"/>
                              </a:solidFill>
                              <a:latin typeface="Cambria Math" panose="02040503050406030204" pitchFamily="18" charset="0"/>
                            </a:rPr>
                          </m:ctrlPr>
                        </m:fPr>
                        <m:num>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𝑅</m:t>
                              </m:r>
                            </m:e>
                            <m:sub>
                              <m:r>
                                <a:rPr lang="en-US" b="0" i="1" smtClean="0">
                                  <a:solidFill>
                                    <a:srgbClr val="0070C0"/>
                                  </a:solidFill>
                                  <a:latin typeface="Cambria Math" panose="02040503050406030204" pitchFamily="18" charset="0"/>
                                </a:rPr>
                                <m:t>1</m:t>
                              </m:r>
                            </m:sub>
                          </m:sSub>
                        </m:num>
                        <m:den>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𝑅</m:t>
                              </m:r>
                            </m:e>
                            <m:sub>
                              <m:r>
                                <a:rPr lang="en-US" b="0" i="1" smtClean="0">
                                  <a:solidFill>
                                    <a:srgbClr val="0070C0"/>
                                  </a:solidFill>
                                  <a:latin typeface="Cambria Math" panose="02040503050406030204" pitchFamily="18" charset="0"/>
                                </a:rPr>
                                <m:t>1</m:t>
                              </m:r>
                            </m:sub>
                          </m:sSub>
                          <m:r>
                            <a:rPr lang="en-US" b="0" i="1" smtClean="0">
                              <a:solidFill>
                                <a:srgbClr val="0070C0"/>
                              </a:solidFill>
                              <a:latin typeface="Cambria Math" panose="02040503050406030204" pitchFamily="18" charset="0"/>
                            </a:rPr>
                            <m:t>+</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𝑅</m:t>
                              </m:r>
                            </m:e>
                            <m:sub>
                              <m:r>
                                <a:rPr lang="en-US" b="0" i="1" smtClean="0">
                                  <a:solidFill>
                                    <a:srgbClr val="0070C0"/>
                                  </a:solidFill>
                                  <a:latin typeface="Cambria Math" panose="02040503050406030204" pitchFamily="18" charset="0"/>
                                </a:rPr>
                                <m:t>2</m:t>
                              </m:r>
                            </m:sub>
                          </m:sSub>
                        </m:den>
                      </m:f>
                    </m:oMath>
                  </m:oMathPara>
                </a14:m>
                <a:endParaRPr lang="en-US" b="0" dirty="0">
                  <a:solidFill>
                    <a:srgbClr val="0070C0"/>
                  </a:solidFill>
                </a:endParaRPr>
              </a:p>
              <a:p>
                <a:pPr marL="114300" lvl="0" indent="0" algn="just" rtl="0">
                  <a:lnSpc>
                    <a:spcPct val="90000"/>
                  </a:lnSpc>
                  <a:spcBef>
                    <a:spcPts val="1000"/>
                  </a:spcBef>
                  <a:spcAft>
                    <a:spcPts val="0"/>
                  </a:spcAft>
                  <a:buSzPct val="75630"/>
                  <a:buNone/>
                </a:pPr>
                <a:endParaRPr lang="en-US" b="0" dirty="0">
                  <a:solidFill>
                    <a:srgbClr val="0070C0"/>
                  </a:solidFill>
                </a:endParaRPr>
              </a:p>
              <a:p>
                <a:pPr marL="114300" lvl="0" indent="0" algn="just" rtl="0">
                  <a:lnSpc>
                    <a:spcPct val="90000"/>
                  </a:lnSpc>
                  <a:spcBef>
                    <a:spcPts val="1000"/>
                  </a:spcBef>
                  <a:spcAft>
                    <a:spcPts val="0"/>
                  </a:spcAft>
                  <a:buSzPct val="75630"/>
                  <a:buNone/>
                </a:pPr>
                <a:endParaRPr dirty="0"/>
              </a:p>
            </p:txBody>
          </p:sp>
        </mc:Choice>
        <mc:Fallback xmlns="">
          <p:sp>
            <p:nvSpPr>
              <p:cNvPr id="179" name="Google Shape;179;p36">
                <a:extLst>
                  <a:ext uri="{FF2B5EF4-FFF2-40B4-BE49-F238E27FC236}">
                    <a16:creationId xmlns:a16="http://schemas.microsoft.com/office/drawing/2014/main" id="{3C0966F2-EF1E-99EC-4A81-A22103643D8D}"/>
                  </a:ext>
                </a:extLst>
              </p:cNvPr>
              <p:cNvSpPr txBox="1">
                <a:spLocks noGrp="1" noRot="1" noChangeAspect="1" noMove="1" noResize="1" noEditPoints="1" noAdjustHandles="1" noChangeArrowheads="1" noChangeShapeType="1" noTextEdit="1"/>
              </p:cNvSpPr>
              <p:nvPr>
                <p:ph type="body" idx="1"/>
              </p:nvPr>
            </p:nvSpPr>
            <p:spPr>
              <a:xfrm>
                <a:off x="695139" y="1037327"/>
                <a:ext cx="6275931" cy="5021765"/>
              </a:xfrm>
              <a:prstGeom prst="rect">
                <a:avLst/>
              </a:prstGeom>
              <a:blipFill>
                <a:blip r:embed="rId4"/>
                <a:stretch>
                  <a:fillRect/>
                </a:stretch>
              </a:blipFill>
              <a:ln>
                <a:noFill/>
              </a:ln>
            </p:spPr>
            <p:txBody>
              <a:bodyPr/>
              <a:lstStyle/>
              <a:p>
                <a:r>
                  <a:rPr lang="en-US">
                    <a:noFill/>
                  </a:rPr>
                  <a:t> </a:t>
                </a:r>
              </a:p>
            </p:txBody>
          </p:sp>
        </mc:Fallback>
      </mc:AlternateContent>
      <p:pic>
        <p:nvPicPr>
          <p:cNvPr id="4" name="Picture 3">
            <a:extLst>
              <a:ext uri="{FF2B5EF4-FFF2-40B4-BE49-F238E27FC236}">
                <a16:creationId xmlns:a16="http://schemas.microsoft.com/office/drawing/2014/main" id="{263A96CC-1ACB-7C54-CDAF-4CFE6BDDD23B}"/>
              </a:ext>
            </a:extLst>
          </p:cNvPr>
          <p:cNvPicPr>
            <a:picLocks noChangeAspect="1"/>
          </p:cNvPicPr>
          <p:nvPr/>
        </p:nvPicPr>
        <p:blipFill>
          <a:blip r:embed="rId5"/>
          <a:stretch>
            <a:fillRect/>
          </a:stretch>
        </p:blipFill>
        <p:spPr>
          <a:xfrm>
            <a:off x="6991678" y="920188"/>
            <a:ext cx="4696529" cy="4920173"/>
          </a:xfrm>
          <a:prstGeom prst="rect">
            <a:avLst/>
          </a:prstGeom>
        </p:spPr>
      </p:pic>
    </p:spTree>
    <p:extLst>
      <p:ext uri="{BB962C8B-B14F-4D97-AF65-F5344CB8AC3E}">
        <p14:creationId xmlns:p14="http://schemas.microsoft.com/office/powerpoint/2010/main" val="3183250737"/>
      </p:ext>
    </p:extLst>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BC2428EA-0FE8-8C62-6CE5-3BB35E0A17B9}"/>
            </a:ext>
          </a:extLst>
        </p:cNvPr>
        <p:cNvGrpSpPr/>
        <p:nvPr/>
      </p:nvGrpSpPr>
      <p:grpSpPr>
        <a:xfrm>
          <a:off x="0" y="0"/>
          <a:ext cx="0" cy="0"/>
          <a:chOff x="0" y="0"/>
          <a:chExt cx="0" cy="0"/>
        </a:xfrm>
      </p:grpSpPr>
      <p:sp>
        <p:nvSpPr>
          <p:cNvPr id="175" name="Google Shape;175;p36">
            <a:extLst>
              <a:ext uri="{FF2B5EF4-FFF2-40B4-BE49-F238E27FC236}">
                <a16:creationId xmlns:a16="http://schemas.microsoft.com/office/drawing/2014/main" id="{6C5330C1-F78F-CBDF-B318-23727B0A7514}"/>
              </a:ext>
            </a:extLst>
          </p:cNvPr>
          <p:cNvSpPr txBox="1">
            <a:spLocks noGrp="1"/>
          </p:cNvSpPr>
          <p:nvPr>
            <p:ph type="title"/>
          </p:nvPr>
        </p:nvSpPr>
        <p:spPr>
          <a:xfrm>
            <a:off x="559455" y="272649"/>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Non-inverting ST with Ref</a:t>
            </a:r>
            <a:endParaRPr dirty="0"/>
          </a:p>
        </p:txBody>
      </p:sp>
      <p:sp>
        <p:nvSpPr>
          <p:cNvPr id="176" name="Google Shape;176;p36">
            <a:extLst>
              <a:ext uri="{FF2B5EF4-FFF2-40B4-BE49-F238E27FC236}">
                <a16:creationId xmlns:a16="http://schemas.microsoft.com/office/drawing/2014/main" id="{E06B5107-90E0-6554-89D0-44EB01C7706D}"/>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77" name="Google Shape;177;p36">
            <a:extLst>
              <a:ext uri="{FF2B5EF4-FFF2-40B4-BE49-F238E27FC236}">
                <a16:creationId xmlns:a16="http://schemas.microsoft.com/office/drawing/2014/main" id="{468038DD-2838-DD43-D7BD-B8224D3D9EE9}"/>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20</a:t>
            </a:fld>
            <a:endParaRPr/>
          </a:p>
        </p:txBody>
      </p:sp>
      <p:pic>
        <p:nvPicPr>
          <p:cNvPr id="178" name="Google Shape;178;p36">
            <a:extLst>
              <a:ext uri="{FF2B5EF4-FFF2-40B4-BE49-F238E27FC236}">
                <a16:creationId xmlns:a16="http://schemas.microsoft.com/office/drawing/2014/main" id="{D66EDAF2-0577-5455-2208-1CFDFDF49D36}"/>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179" name="Google Shape;179;p36">
            <a:extLst>
              <a:ext uri="{FF2B5EF4-FFF2-40B4-BE49-F238E27FC236}">
                <a16:creationId xmlns:a16="http://schemas.microsoft.com/office/drawing/2014/main" id="{27EDF861-B280-8F56-C1A5-51EF59E26EB8}"/>
              </a:ext>
            </a:extLst>
          </p:cNvPr>
          <p:cNvSpPr txBox="1">
            <a:spLocks noGrp="1"/>
          </p:cNvSpPr>
          <p:nvPr>
            <p:ph type="body" idx="1"/>
          </p:nvPr>
        </p:nvSpPr>
        <p:spPr>
          <a:xfrm>
            <a:off x="685308" y="1334585"/>
            <a:ext cx="6201630" cy="4603227"/>
          </a:xfrm>
          <a:prstGeom prst="rect">
            <a:avLst/>
          </a:prstGeom>
          <a:noFill/>
          <a:ln>
            <a:noFill/>
          </a:ln>
        </p:spPr>
        <p:txBody>
          <a:bodyPr spcFirstLastPara="1" wrap="square" lIns="91425" tIns="45700" rIns="91425" bIns="45700" anchor="t" anchorCtr="0">
            <a:normAutofit/>
          </a:bodyPr>
          <a:lstStyle/>
          <a:p>
            <a:pPr marL="114300" lvl="0" indent="0" algn="just" rtl="0">
              <a:lnSpc>
                <a:spcPct val="90000"/>
              </a:lnSpc>
              <a:spcBef>
                <a:spcPts val="1000"/>
              </a:spcBef>
              <a:spcAft>
                <a:spcPts val="0"/>
              </a:spcAft>
              <a:buSzPct val="75630"/>
              <a:buNone/>
            </a:pPr>
            <a:r>
              <a:rPr lang="en-US" dirty="0"/>
              <a:t>Type here</a:t>
            </a:r>
            <a:endParaRPr dirty="0"/>
          </a:p>
        </p:txBody>
      </p:sp>
      <p:pic>
        <p:nvPicPr>
          <p:cNvPr id="3" name="Picture 2">
            <a:extLst>
              <a:ext uri="{FF2B5EF4-FFF2-40B4-BE49-F238E27FC236}">
                <a16:creationId xmlns:a16="http://schemas.microsoft.com/office/drawing/2014/main" id="{39150DAC-0F9F-3D9D-1888-C047241580BD}"/>
              </a:ext>
            </a:extLst>
          </p:cNvPr>
          <p:cNvPicPr>
            <a:picLocks noChangeAspect="1"/>
          </p:cNvPicPr>
          <p:nvPr/>
        </p:nvPicPr>
        <p:blipFill>
          <a:blip r:embed="rId4"/>
          <a:stretch>
            <a:fillRect/>
          </a:stretch>
        </p:blipFill>
        <p:spPr>
          <a:xfrm>
            <a:off x="6139426" y="1058443"/>
            <a:ext cx="5668166" cy="5020376"/>
          </a:xfrm>
          <a:prstGeom prst="rect">
            <a:avLst/>
          </a:prstGeom>
        </p:spPr>
      </p:pic>
      <p:pic>
        <p:nvPicPr>
          <p:cNvPr id="5" name="Picture 4">
            <a:extLst>
              <a:ext uri="{FF2B5EF4-FFF2-40B4-BE49-F238E27FC236}">
                <a16:creationId xmlns:a16="http://schemas.microsoft.com/office/drawing/2014/main" id="{F83BEE94-F2E0-EDD7-9DA0-C966F942A5E8}"/>
              </a:ext>
            </a:extLst>
          </p:cNvPr>
          <p:cNvPicPr>
            <a:picLocks noChangeAspect="1"/>
          </p:cNvPicPr>
          <p:nvPr/>
        </p:nvPicPr>
        <p:blipFill>
          <a:blip r:embed="rId5"/>
          <a:stretch>
            <a:fillRect/>
          </a:stretch>
        </p:blipFill>
        <p:spPr>
          <a:xfrm>
            <a:off x="685308" y="1168405"/>
            <a:ext cx="5583056" cy="4028189"/>
          </a:xfrm>
          <a:prstGeom prst="rect">
            <a:avLst/>
          </a:prstGeom>
        </p:spPr>
      </p:pic>
    </p:spTree>
    <p:extLst>
      <p:ext uri="{BB962C8B-B14F-4D97-AF65-F5344CB8AC3E}">
        <p14:creationId xmlns:p14="http://schemas.microsoft.com/office/powerpoint/2010/main" val="658038233"/>
      </p:ext>
    </p:extLst>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72826D85-817A-99F6-70DC-56731A9FC71F}"/>
            </a:ext>
          </a:extLst>
        </p:cNvPr>
        <p:cNvGrpSpPr/>
        <p:nvPr/>
      </p:nvGrpSpPr>
      <p:grpSpPr>
        <a:xfrm>
          <a:off x="0" y="0"/>
          <a:ext cx="0" cy="0"/>
          <a:chOff x="0" y="0"/>
          <a:chExt cx="0" cy="0"/>
        </a:xfrm>
      </p:grpSpPr>
      <p:sp>
        <p:nvSpPr>
          <p:cNvPr id="175" name="Google Shape;175;p36">
            <a:extLst>
              <a:ext uri="{FF2B5EF4-FFF2-40B4-BE49-F238E27FC236}">
                <a16:creationId xmlns:a16="http://schemas.microsoft.com/office/drawing/2014/main" id="{F1DC22A9-CD35-67EC-DFF5-B6CC9914BD52}"/>
              </a:ext>
            </a:extLst>
          </p:cNvPr>
          <p:cNvSpPr txBox="1">
            <a:spLocks noGrp="1"/>
          </p:cNvSpPr>
          <p:nvPr>
            <p:ph type="title"/>
          </p:nvPr>
        </p:nvSpPr>
        <p:spPr>
          <a:xfrm>
            <a:off x="559455" y="272649"/>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Non-inverting ST with ref</a:t>
            </a:r>
            <a:endParaRPr dirty="0"/>
          </a:p>
        </p:txBody>
      </p:sp>
      <p:sp>
        <p:nvSpPr>
          <p:cNvPr id="176" name="Google Shape;176;p36">
            <a:extLst>
              <a:ext uri="{FF2B5EF4-FFF2-40B4-BE49-F238E27FC236}">
                <a16:creationId xmlns:a16="http://schemas.microsoft.com/office/drawing/2014/main" id="{40114167-1A21-50F4-B5F0-030A23B4B0EC}"/>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77" name="Google Shape;177;p36">
            <a:extLst>
              <a:ext uri="{FF2B5EF4-FFF2-40B4-BE49-F238E27FC236}">
                <a16:creationId xmlns:a16="http://schemas.microsoft.com/office/drawing/2014/main" id="{F3E03BAC-B40A-AF00-2166-7AD26A76361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21</a:t>
            </a:fld>
            <a:endParaRPr/>
          </a:p>
        </p:txBody>
      </p:sp>
      <p:pic>
        <p:nvPicPr>
          <p:cNvPr id="178" name="Google Shape;178;p36">
            <a:extLst>
              <a:ext uri="{FF2B5EF4-FFF2-40B4-BE49-F238E27FC236}">
                <a16:creationId xmlns:a16="http://schemas.microsoft.com/office/drawing/2014/main" id="{1A9E9976-834E-80FB-A0B2-43E451344AAE}"/>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xmlns:a14="http://schemas.microsoft.com/office/drawing/2010/main">
        <mc:Choice Requires="a14">
          <p:sp>
            <p:nvSpPr>
              <p:cNvPr id="179" name="Google Shape;179;p36">
                <a:extLst>
                  <a:ext uri="{FF2B5EF4-FFF2-40B4-BE49-F238E27FC236}">
                    <a16:creationId xmlns:a16="http://schemas.microsoft.com/office/drawing/2014/main" id="{F1F51C1A-BA3E-AEF5-E94A-C420E86037A3}"/>
                  </a:ext>
                </a:extLst>
              </p:cNvPr>
              <p:cNvSpPr txBox="1">
                <a:spLocks noGrp="1"/>
              </p:cNvSpPr>
              <p:nvPr>
                <p:ph type="body" idx="1"/>
              </p:nvPr>
            </p:nvSpPr>
            <p:spPr>
              <a:xfrm>
                <a:off x="685307" y="1334585"/>
                <a:ext cx="6590563" cy="5104119"/>
              </a:xfrm>
              <a:prstGeom prst="rect">
                <a:avLst/>
              </a:prstGeom>
              <a:noFill/>
              <a:ln>
                <a:noFill/>
              </a:ln>
            </p:spPr>
            <p:txBody>
              <a:bodyPr spcFirstLastPara="1" wrap="square" lIns="91425" tIns="45700" rIns="91425" bIns="45700" anchor="t" anchorCtr="0">
                <a:normAutofit/>
              </a:bodyPr>
              <a:lstStyle/>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𝑇𝐻</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2</m:t>
                              </m:r>
                            </m:sub>
                          </m:sSub>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2</m:t>
                              </m:r>
                            </m:sub>
                          </m:sSub>
                        </m:den>
                      </m:f>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𝑅𝐸𝐹</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1</m:t>
                              </m:r>
                            </m:sub>
                          </m:sSub>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2</m:t>
                              </m:r>
                            </m:sub>
                          </m:sSub>
                        </m:den>
                      </m:f>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𝐿</m:t>
                          </m:r>
                        </m:sub>
                      </m:sSub>
                    </m:oMath>
                  </m:oMathPara>
                </a14:m>
                <a:endParaRPr lang="en-US" sz="2400" b="0" dirty="0"/>
              </a:p>
              <a:p>
                <a:pPr marL="114300" lvl="0" indent="0" algn="just" rtl="0">
                  <a:lnSpc>
                    <a:spcPct val="90000"/>
                  </a:lnSpc>
                  <a:spcBef>
                    <a:spcPts val="1000"/>
                  </a:spcBef>
                  <a:spcAft>
                    <a:spcPts val="0"/>
                  </a:spcAft>
                  <a:buSzPct val="75630"/>
                  <a:buNone/>
                </a:pPr>
                <a:endParaRPr lang="en-US" sz="2400" b="0"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𝑇𝐿</m:t>
                          </m:r>
                        </m:sub>
                      </m:sSub>
                      <m:r>
                        <a:rPr lang="en-US" sz="2400" b="0" i="1" smtClean="0">
                          <a:latin typeface="Cambria Math" panose="02040503050406030204" pitchFamily="18" charset="0"/>
                        </a:rPr>
                        <m:t> =</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2</m:t>
                              </m:r>
                            </m:sub>
                          </m:sSub>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2</m:t>
                              </m:r>
                            </m:sub>
                          </m:sSub>
                        </m:den>
                      </m:f>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𝑅𝐸𝐹</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1</m:t>
                              </m:r>
                            </m:sub>
                          </m:sSub>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2</m:t>
                              </m:r>
                            </m:sub>
                          </m:sSub>
                        </m:den>
                      </m:f>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𝐻</m:t>
                          </m:r>
                        </m:sub>
                      </m:sSub>
                      <m:r>
                        <a:rPr lang="en-US" sz="2400" b="0" i="1" smtClean="0">
                          <a:latin typeface="Cambria Math" panose="02040503050406030204" pitchFamily="18" charset="0"/>
                        </a:rPr>
                        <m:t> </m:t>
                      </m:r>
                    </m:oMath>
                  </m:oMathPara>
                </a14:m>
                <a:endParaRPr lang="en-US" sz="2400" b="0" dirty="0"/>
              </a:p>
              <a:p>
                <a:pPr marL="114300" lvl="0" indent="0" algn="just" rtl="0">
                  <a:lnSpc>
                    <a:spcPct val="90000"/>
                  </a:lnSpc>
                  <a:spcBef>
                    <a:spcPts val="1000"/>
                  </a:spcBef>
                  <a:spcAft>
                    <a:spcPts val="0"/>
                  </a:spcAft>
                  <a:buSzPct val="75630"/>
                  <a:buNone/>
                </a:pPr>
                <a:endParaRPr lang="en-US" sz="2400" b="0"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𝑠</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𝑇𝐻</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𝑇𝐿</m:t>
                              </m:r>
                            </m:sub>
                          </m:sSub>
                        </m:num>
                        <m:den>
                          <m:r>
                            <a:rPr lang="en-US" sz="2400" b="0" i="1" smtClean="0">
                              <a:latin typeface="Cambria Math" panose="02040503050406030204" pitchFamily="18" charset="0"/>
                            </a:rPr>
                            <m:t>2</m:t>
                          </m:r>
                        </m:den>
                      </m:f>
                    </m:oMath>
                  </m:oMathPara>
                </a14:m>
                <a:endParaRPr lang="en-US" sz="2400" b="0"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𝐻𝑊</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𝑇𝐻</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𝑇𝐿</m:t>
                          </m:r>
                        </m:sub>
                      </m:sSub>
                      <m:r>
                        <a:rPr lang="en-US" sz="2400" b="0" i="1" smtClean="0">
                          <a:latin typeface="Cambria Math" panose="02040503050406030204" pitchFamily="18" charset="0"/>
                        </a:rPr>
                        <m:t> </m:t>
                      </m:r>
                    </m:oMath>
                  </m:oMathPara>
                </a14:m>
                <a:endParaRPr lang="en-US" sz="2400" b="0" dirty="0"/>
              </a:p>
              <a:p>
                <a:pPr marL="114300" lvl="0" indent="0" algn="just" rtl="0">
                  <a:lnSpc>
                    <a:spcPct val="90000"/>
                  </a:lnSpc>
                  <a:spcBef>
                    <a:spcPts val="1000"/>
                  </a:spcBef>
                  <a:spcAft>
                    <a:spcPts val="0"/>
                  </a:spcAft>
                  <a:buSzPct val="75630"/>
                  <a:buNone/>
                </a:pPr>
                <a:r>
                  <a:rPr lang="en-US" b="0" dirty="0">
                    <a:solidFill>
                      <a:srgbClr val="0070C0"/>
                    </a:solidFill>
                  </a:rPr>
                  <a:t>IF </a:t>
                </a:r>
                <a14:m>
                  <m:oMath xmlns:m="http://schemas.openxmlformats.org/officeDocument/2006/math">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𝑉</m:t>
                        </m:r>
                      </m:e>
                      <m:sub>
                        <m:r>
                          <a:rPr lang="en-US" b="0" i="1" smtClean="0">
                            <a:solidFill>
                              <a:srgbClr val="0070C0"/>
                            </a:solidFill>
                            <a:latin typeface="Cambria Math" panose="02040503050406030204" pitchFamily="18" charset="0"/>
                          </a:rPr>
                          <m:t>𝐿</m:t>
                        </m:r>
                      </m:sub>
                    </m:sSub>
                    <m:r>
                      <a:rPr lang="en-US" b="0" i="1" smtClean="0">
                        <a:solidFill>
                          <a:srgbClr val="0070C0"/>
                        </a:solidFill>
                        <a:latin typeface="Cambria Math" panose="02040503050406030204" pitchFamily="18" charset="0"/>
                      </a:rPr>
                      <m:t>=−</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𝑉</m:t>
                        </m:r>
                      </m:e>
                      <m:sub>
                        <m:r>
                          <a:rPr lang="en-US" b="0" i="1" smtClean="0">
                            <a:solidFill>
                              <a:srgbClr val="0070C0"/>
                            </a:solidFill>
                            <a:latin typeface="Cambria Math" panose="02040503050406030204" pitchFamily="18" charset="0"/>
                          </a:rPr>
                          <m:t>𝐿</m:t>
                        </m:r>
                      </m:sub>
                    </m:sSub>
                    <m:r>
                      <a:rPr lang="en-US" b="0" i="1" smtClean="0">
                        <a:solidFill>
                          <a:srgbClr val="0070C0"/>
                        </a:solidFill>
                        <a:latin typeface="Cambria Math" panose="02040503050406030204" pitchFamily="18" charset="0"/>
                      </a:rPr>
                      <m:t> </m:t>
                    </m:r>
                  </m:oMath>
                </a14:m>
                <a:endParaRPr lang="en-US" b="0" dirty="0">
                  <a:solidFill>
                    <a:srgbClr val="0070C0"/>
                  </a:solidFill>
                </a:endParaRPr>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𝑉</m:t>
                          </m:r>
                        </m:e>
                        <m:sub>
                          <m:r>
                            <a:rPr lang="en-US" b="0" i="1" smtClean="0">
                              <a:solidFill>
                                <a:srgbClr val="0070C0"/>
                              </a:solidFill>
                              <a:latin typeface="Cambria Math" panose="02040503050406030204" pitchFamily="18" charset="0"/>
                            </a:rPr>
                            <m:t>𝑆</m:t>
                          </m:r>
                        </m:sub>
                      </m:sSub>
                      <m:r>
                        <a:rPr lang="en-US" b="0" i="1" smtClean="0">
                          <a:solidFill>
                            <a:srgbClr val="0070C0"/>
                          </a:solidFill>
                          <a:latin typeface="Cambria Math" panose="02040503050406030204" pitchFamily="18" charset="0"/>
                        </a:rPr>
                        <m:t>=</m:t>
                      </m:r>
                      <m:f>
                        <m:fPr>
                          <m:ctrlPr>
                            <a:rPr lang="en-US" b="0" i="1" smtClean="0">
                              <a:solidFill>
                                <a:srgbClr val="0070C0"/>
                              </a:solidFill>
                              <a:latin typeface="Cambria Math" panose="02040503050406030204" pitchFamily="18" charset="0"/>
                            </a:rPr>
                          </m:ctrlPr>
                        </m:fPr>
                        <m:num>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𝑅</m:t>
                              </m:r>
                            </m:e>
                            <m:sub>
                              <m:r>
                                <a:rPr lang="en-US" b="0" i="1" smtClean="0">
                                  <a:solidFill>
                                    <a:srgbClr val="0070C0"/>
                                  </a:solidFill>
                                  <a:latin typeface="Cambria Math" panose="02040503050406030204" pitchFamily="18" charset="0"/>
                                </a:rPr>
                                <m:t>1</m:t>
                              </m:r>
                            </m:sub>
                          </m:sSub>
                          <m:r>
                            <a:rPr lang="en-US" b="0" i="1" smtClean="0">
                              <a:solidFill>
                                <a:srgbClr val="0070C0"/>
                              </a:solidFill>
                              <a:latin typeface="Cambria Math" panose="02040503050406030204" pitchFamily="18" charset="0"/>
                            </a:rPr>
                            <m:t>+</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𝑅</m:t>
                              </m:r>
                            </m:e>
                            <m:sub>
                              <m:r>
                                <a:rPr lang="en-US" b="0" i="1" smtClean="0">
                                  <a:solidFill>
                                    <a:srgbClr val="0070C0"/>
                                  </a:solidFill>
                                  <a:latin typeface="Cambria Math" panose="02040503050406030204" pitchFamily="18" charset="0"/>
                                </a:rPr>
                                <m:t>2</m:t>
                              </m:r>
                            </m:sub>
                          </m:sSub>
                        </m:num>
                        <m:den>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𝑅</m:t>
                              </m:r>
                            </m:e>
                            <m:sub>
                              <m:r>
                                <a:rPr lang="en-US" b="0" i="1" smtClean="0">
                                  <a:solidFill>
                                    <a:srgbClr val="0070C0"/>
                                  </a:solidFill>
                                  <a:latin typeface="Cambria Math" panose="02040503050406030204" pitchFamily="18" charset="0"/>
                                </a:rPr>
                                <m:t>2</m:t>
                              </m:r>
                            </m:sub>
                          </m:sSub>
                        </m:den>
                      </m:f>
                      <m:r>
                        <a:rPr lang="en-US" b="0" i="1" smtClean="0">
                          <a:solidFill>
                            <a:srgbClr val="0070C0"/>
                          </a:solidFill>
                          <a:latin typeface="Cambria Math" panose="02040503050406030204" pitchFamily="18" charset="0"/>
                        </a:rPr>
                        <m:t> </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𝑉</m:t>
                          </m:r>
                        </m:e>
                        <m:sub>
                          <m:r>
                            <a:rPr lang="en-US" b="0" i="1" smtClean="0">
                              <a:solidFill>
                                <a:srgbClr val="0070C0"/>
                              </a:solidFill>
                              <a:latin typeface="Cambria Math" panose="02040503050406030204" pitchFamily="18" charset="0"/>
                            </a:rPr>
                            <m:t>𝑅𝐸𝐹</m:t>
                          </m:r>
                        </m:sub>
                      </m:sSub>
                      <m:r>
                        <a:rPr lang="en-US" b="0" i="1" smtClean="0">
                          <a:solidFill>
                            <a:srgbClr val="0070C0"/>
                          </a:solidFill>
                          <a:latin typeface="Cambria Math" panose="02040503050406030204" pitchFamily="18" charset="0"/>
                        </a:rPr>
                        <m:t>, </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𝑉</m:t>
                          </m:r>
                        </m:e>
                        <m:sub>
                          <m:r>
                            <a:rPr lang="en-US" b="0" i="1" smtClean="0">
                              <a:solidFill>
                                <a:srgbClr val="0070C0"/>
                              </a:solidFill>
                              <a:latin typeface="Cambria Math" panose="02040503050406030204" pitchFamily="18" charset="0"/>
                            </a:rPr>
                            <m:t>𝐻𝑊</m:t>
                          </m:r>
                        </m:sub>
                      </m:sSub>
                      <m:r>
                        <a:rPr lang="en-US" b="0" i="1" smtClean="0">
                          <a:solidFill>
                            <a:srgbClr val="0070C0"/>
                          </a:solidFill>
                          <a:latin typeface="Cambria Math" panose="02040503050406030204" pitchFamily="18" charset="0"/>
                        </a:rPr>
                        <m:t>=2</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𝑉</m:t>
                          </m:r>
                        </m:e>
                        <m:sub>
                          <m:r>
                            <a:rPr lang="en-US" b="0" i="1" smtClean="0">
                              <a:solidFill>
                                <a:srgbClr val="0070C0"/>
                              </a:solidFill>
                              <a:latin typeface="Cambria Math" panose="02040503050406030204" pitchFamily="18" charset="0"/>
                            </a:rPr>
                            <m:t>𝐻</m:t>
                          </m:r>
                        </m:sub>
                      </m:sSub>
                      <m:f>
                        <m:fPr>
                          <m:ctrlPr>
                            <a:rPr lang="en-US" b="0" i="1" smtClean="0">
                              <a:solidFill>
                                <a:srgbClr val="0070C0"/>
                              </a:solidFill>
                              <a:latin typeface="Cambria Math" panose="02040503050406030204" pitchFamily="18" charset="0"/>
                            </a:rPr>
                          </m:ctrlPr>
                        </m:fPr>
                        <m:num>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𝑅</m:t>
                              </m:r>
                            </m:e>
                            <m:sub>
                              <m:r>
                                <a:rPr lang="en-US" b="0" i="1" smtClean="0">
                                  <a:solidFill>
                                    <a:srgbClr val="0070C0"/>
                                  </a:solidFill>
                                  <a:latin typeface="Cambria Math" panose="02040503050406030204" pitchFamily="18" charset="0"/>
                                </a:rPr>
                                <m:t>1</m:t>
                              </m:r>
                            </m:sub>
                          </m:sSub>
                        </m:num>
                        <m:den>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𝑅</m:t>
                              </m:r>
                            </m:e>
                            <m:sub>
                              <m:r>
                                <a:rPr lang="en-US" b="0" i="1" smtClean="0">
                                  <a:solidFill>
                                    <a:srgbClr val="0070C0"/>
                                  </a:solidFill>
                                  <a:latin typeface="Cambria Math" panose="02040503050406030204" pitchFamily="18" charset="0"/>
                                </a:rPr>
                                <m:t>2</m:t>
                              </m:r>
                            </m:sub>
                          </m:sSub>
                        </m:den>
                      </m:f>
                    </m:oMath>
                  </m:oMathPara>
                </a14:m>
                <a:endParaRPr lang="en-US" b="0" dirty="0"/>
              </a:p>
              <a:p>
                <a:pPr marL="114300" lvl="0" indent="0" algn="just" rtl="0">
                  <a:lnSpc>
                    <a:spcPct val="90000"/>
                  </a:lnSpc>
                  <a:spcBef>
                    <a:spcPts val="1000"/>
                  </a:spcBef>
                  <a:spcAft>
                    <a:spcPts val="0"/>
                  </a:spcAft>
                  <a:buSzPct val="75630"/>
                  <a:buNone/>
                </a:pPr>
                <a:endParaRPr lang="en-US" b="0" dirty="0"/>
              </a:p>
              <a:p>
                <a:pPr marL="114300" lvl="0" indent="0" algn="just" rtl="0">
                  <a:lnSpc>
                    <a:spcPct val="90000"/>
                  </a:lnSpc>
                  <a:spcBef>
                    <a:spcPts val="1000"/>
                  </a:spcBef>
                  <a:spcAft>
                    <a:spcPts val="0"/>
                  </a:spcAft>
                  <a:buSzPct val="75630"/>
                  <a:buNone/>
                </a:pPr>
                <a:endParaRPr dirty="0"/>
              </a:p>
            </p:txBody>
          </p:sp>
        </mc:Choice>
        <mc:Fallback xmlns="">
          <p:sp>
            <p:nvSpPr>
              <p:cNvPr id="179" name="Google Shape;179;p36">
                <a:extLst>
                  <a:ext uri="{FF2B5EF4-FFF2-40B4-BE49-F238E27FC236}">
                    <a16:creationId xmlns:a16="http://schemas.microsoft.com/office/drawing/2014/main" id="{F1F51C1A-BA3E-AEF5-E94A-C420E86037A3}"/>
                  </a:ext>
                </a:extLst>
              </p:cNvPr>
              <p:cNvSpPr txBox="1">
                <a:spLocks noGrp="1" noRot="1" noChangeAspect="1" noMove="1" noResize="1" noEditPoints="1" noAdjustHandles="1" noChangeArrowheads="1" noChangeShapeType="1" noTextEdit="1"/>
              </p:cNvSpPr>
              <p:nvPr>
                <p:ph type="body" idx="1"/>
              </p:nvPr>
            </p:nvSpPr>
            <p:spPr>
              <a:xfrm>
                <a:off x="685307" y="1334585"/>
                <a:ext cx="6590563" cy="5104119"/>
              </a:xfrm>
              <a:prstGeom prst="rect">
                <a:avLst/>
              </a:prstGeom>
              <a:blipFill>
                <a:blip r:embed="rId4"/>
                <a:stretch>
                  <a:fillRect l="-92"/>
                </a:stretch>
              </a:blipFill>
              <a:ln>
                <a:noFill/>
              </a:ln>
            </p:spPr>
            <p:txBody>
              <a:bodyPr/>
              <a:lstStyle/>
              <a:p>
                <a:r>
                  <a:rPr lang="en-US">
                    <a:noFill/>
                  </a:rPr>
                  <a:t> </a:t>
                </a:r>
              </a:p>
            </p:txBody>
          </p:sp>
        </mc:Fallback>
      </mc:AlternateContent>
      <p:pic>
        <p:nvPicPr>
          <p:cNvPr id="3" name="Picture 2">
            <a:extLst>
              <a:ext uri="{FF2B5EF4-FFF2-40B4-BE49-F238E27FC236}">
                <a16:creationId xmlns:a16="http://schemas.microsoft.com/office/drawing/2014/main" id="{77B0D588-7ACE-6182-05F4-E6AA4093FBE0}"/>
              </a:ext>
            </a:extLst>
          </p:cNvPr>
          <p:cNvPicPr>
            <a:picLocks noChangeAspect="1"/>
          </p:cNvPicPr>
          <p:nvPr/>
        </p:nvPicPr>
        <p:blipFill>
          <a:blip r:embed="rId5"/>
          <a:stretch>
            <a:fillRect/>
          </a:stretch>
        </p:blipFill>
        <p:spPr>
          <a:xfrm>
            <a:off x="6134551" y="1194968"/>
            <a:ext cx="5668166" cy="5020376"/>
          </a:xfrm>
          <a:prstGeom prst="rect">
            <a:avLst/>
          </a:prstGeom>
        </p:spPr>
      </p:pic>
    </p:spTree>
    <p:extLst>
      <p:ext uri="{BB962C8B-B14F-4D97-AF65-F5344CB8AC3E}">
        <p14:creationId xmlns:p14="http://schemas.microsoft.com/office/powerpoint/2010/main" val="2311259284"/>
      </p:ext>
    </p:extLst>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10052ADA-7649-0BAA-A726-CFC4B3E5511C}"/>
            </a:ext>
          </a:extLst>
        </p:cNvPr>
        <p:cNvGrpSpPr/>
        <p:nvPr/>
      </p:nvGrpSpPr>
      <p:grpSpPr>
        <a:xfrm>
          <a:off x="0" y="0"/>
          <a:ext cx="0" cy="0"/>
          <a:chOff x="0" y="0"/>
          <a:chExt cx="0" cy="0"/>
        </a:xfrm>
      </p:grpSpPr>
      <p:sp>
        <p:nvSpPr>
          <p:cNvPr id="175" name="Google Shape;175;p36">
            <a:extLst>
              <a:ext uri="{FF2B5EF4-FFF2-40B4-BE49-F238E27FC236}">
                <a16:creationId xmlns:a16="http://schemas.microsoft.com/office/drawing/2014/main" id="{103E5250-632F-C84F-F888-0D9B51CB3B85}"/>
              </a:ext>
            </a:extLst>
          </p:cNvPr>
          <p:cNvSpPr txBox="1">
            <a:spLocks noGrp="1"/>
          </p:cNvSpPr>
          <p:nvPr>
            <p:ph type="title"/>
          </p:nvPr>
        </p:nvSpPr>
        <p:spPr>
          <a:xfrm>
            <a:off x="559455" y="272649"/>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Exercise:</a:t>
            </a:r>
            <a:endParaRPr dirty="0"/>
          </a:p>
        </p:txBody>
      </p:sp>
      <p:sp>
        <p:nvSpPr>
          <p:cNvPr id="176" name="Google Shape;176;p36">
            <a:extLst>
              <a:ext uri="{FF2B5EF4-FFF2-40B4-BE49-F238E27FC236}">
                <a16:creationId xmlns:a16="http://schemas.microsoft.com/office/drawing/2014/main" id="{E8A90BB8-B40F-CB4F-EAE2-78B7099FED5B}"/>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77" name="Google Shape;177;p36">
            <a:extLst>
              <a:ext uri="{FF2B5EF4-FFF2-40B4-BE49-F238E27FC236}">
                <a16:creationId xmlns:a16="http://schemas.microsoft.com/office/drawing/2014/main" id="{740B5663-3C42-E414-BFE5-A69529824F4E}"/>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22</a:t>
            </a:fld>
            <a:endParaRPr/>
          </a:p>
        </p:txBody>
      </p:sp>
      <p:pic>
        <p:nvPicPr>
          <p:cNvPr id="178" name="Google Shape;178;p36">
            <a:extLst>
              <a:ext uri="{FF2B5EF4-FFF2-40B4-BE49-F238E27FC236}">
                <a16:creationId xmlns:a16="http://schemas.microsoft.com/office/drawing/2014/main" id="{BD209711-03F2-A200-124D-36C23E1095B5}"/>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xmlns:a14="http://schemas.microsoft.com/office/drawing/2010/main">
        <mc:Choice Requires="a14">
          <p:sp>
            <p:nvSpPr>
              <p:cNvPr id="179" name="Google Shape;179;p36">
                <a:extLst>
                  <a:ext uri="{FF2B5EF4-FFF2-40B4-BE49-F238E27FC236}">
                    <a16:creationId xmlns:a16="http://schemas.microsoft.com/office/drawing/2014/main" id="{F60FFBCC-CFF4-C997-D592-4128102AA8F4}"/>
                  </a:ext>
                </a:extLst>
              </p:cNvPr>
              <p:cNvSpPr txBox="1">
                <a:spLocks noGrp="1"/>
              </p:cNvSpPr>
              <p:nvPr>
                <p:ph type="body" idx="1"/>
              </p:nvPr>
            </p:nvSpPr>
            <p:spPr>
              <a:xfrm>
                <a:off x="685308" y="1334585"/>
                <a:ext cx="5548344" cy="4603227"/>
              </a:xfrm>
              <a:prstGeom prst="rect">
                <a:avLst/>
              </a:prstGeom>
              <a:noFill/>
              <a:ln>
                <a:noFill/>
              </a:ln>
            </p:spPr>
            <p:txBody>
              <a:bodyPr spcFirstLastPara="1" wrap="square" lIns="91425" tIns="45700" rIns="91425" bIns="45700" anchor="t" anchorCtr="0">
                <a:normAutofit/>
              </a:bodyPr>
              <a:lstStyle/>
              <a:p>
                <a:pPr marL="628650" lvl="0" indent="-514350" algn="just" rtl="0">
                  <a:lnSpc>
                    <a:spcPct val="90000"/>
                  </a:lnSpc>
                  <a:spcBef>
                    <a:spcPts val="1000"/>
                  </a:spcBef>
                  <a:spcAft>
                    <a:spcPts val="0"/>
                  </a:spcAft>
                  <a:buSzPct val="75630"/>
                  <a:buAutoNum type="alphaLcPeriod"/>
                </a:pPr>
                <a:r>
                  <a:rPr lang="en-US" b="0" dirty="0"/>
                  <a:t>Design a </a:t>
                </a:r>
                <a:r>
                  <a:rPr lang="en-US" dirty="0"/>
                  <a:t>S</a:t>
                </a:r>
                <a:r>
                  <a:rPr lang="en-US" b="0" dirty="0"/>
                  <a:t>chmitt trigger that will produce the same VTC.</a:t>
                </a:r>
              </a:p>
              <a:p>
                <a:pPr marL="628650" lvl="0" indent="-514350" algn="just" rtl="0">
                  <a:lnSpc>
                    <a:spcPct val="90000"/>
                  </a:lnSpc>
                  <a:spcBef>
                    <a:spcPts val="1000"/>
                  </a:spcBef>
                  <a:spcAft>
                    <a:spcPts val="0"/>
                  </a:spcAft>
                  <a:buSzPct val="75630"/>
                  <a:buAutoNum type="alphaLcPeriod"/>
                </a:pPr>
                <a:r>
                  <a:rPr lang="en-US" dirty="0"/>
                  <a:t>IF the input signal of the Schmitt trigger is </a:t>
                </a:r>
                <a14:m>
                  <m:oMath xmlns:m="http://schemas.openxmlformats.org/officeDocument/2006/math">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=12</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r>
                          <a:rPr lang="en-US" b="0" i="1" smtClean="0">
                            <a:latin typeface="Cambria Math" panose="02040503050406030204" pitchFamily="18" charset="0"/>
                          </a:rPr>
                          <m:t>2</m:t>
                        </m:r>
                        <m:r>
                          <a:rPr lang="en-US" b="0" i="1" smtClean="0">
                            <a:latin typeface="Cambria Math" panose="02040503050406030204" pitchFamily="18" charset="0"/>
                          </a:rPr>
                          <m:t>𝜋</m:t>
                        </m:r>
                        <m:r>
                          <a:rPr lang="en-US" b="0" i="1" smtClean="0">
                            <a:latin typeface="Cambria Math" panose="02040503050406030204" pitchFamily="18" charset="0"/>
                          </a:rPr>
                          <m:t>𝑓𝑡</m:t>
                        </m:r>
                      </m:e>
                    </m:func>
                  </m:oMath>
                </a14:m>
                <a:r>
                  <a:rPr lang="en-US" b="0" dirty="0"/>
                  <a:t>, find the output of the Schmitt trigger circuit.</a:t>
                </a:r>
              </a:p>
              <a:p>
                <a:pPr marL="114300" lvl="0" indent="0" algn="just" rtl="0">
                  <a:lnSpc>
                    <a:spcPct val="90000"/>
                  </a:lnSpc>
                  <a:spcBef>
                    <a:spcPts val="1000"/>
                  </a:spcBef>
                  <a:spcAft>
                    <a:spcPts val="0"/>
                  </a:spcAft>
                  <a:buSzPct val="75630"/>
                  <a:buNone/>
                </a:pPr>
                <a:endParaRPr dirty="0"/>
              </a:p>
            </p:txBody>
          </p:sp>
        </mc:Choice>
        <mc:Fallback xmlns="">
          <p:sp>
            <p:nvSpPr>
              <p:cNvPr id="179" name="Google Shape;179;p36">
                <a:extLst>
                  <a:ext uri="{FF2B5EF4-FFF2-40B4-BE49-F238E27FC236}">
                    <a16:creationId xmlns:a16="http://schemas.microsoft.com/office/drawing/2014/main" id="{F60FFBCC-CFF4-C997-D592-4128102AA8F4}"/>
                  </a:ext>
                </a:extLst>
              </p:cNvPr>
              <p:cNvSpPr txBox="1">
                <a:spLocks noGrp="1" noRot="1" noChangeAspect="1" noMove="1" noResize="1" noEditPoints="1" noAdjustHandles="1" noChangeArrowheads="1" noChangeShapeType="1" noTextEdit="1"/>
              </p:cNvSpPr>
              <p:nvPr>
                <p:ph type="body" idx="1"/>
              </p:nvPr>
            </p:nvSpPr>
            <p:spPr>
              <a:xfrm>
                <a:off x="685308" y="1334585"/>
                <a:ext cx="5548344" cy="4603227"/>
              </a:xfrm>
              <a:prstGeom prst="rect">
                <a:avLst/>
              </a:prstGeom>
              <a:blipFill>
                <a:blip r:embed="rId4"/>
                <a:stretch>
                  <a:fillRect r="-2195"/>
                </a:stretch>
              </a:blipFill>
              <a:ln>
                <a:noFill/>
              </a:ln>
            </p:spPr>
            <p:txBody>
              <a:bodyPr/>
              <a:lstStyle/>
              <a:p>
                <a:r>
                  <a:rPr lang="en-US">
                    <a:noFill/>
                  </a:rPr>
                  <a:t> </a:t>
                </a:r>
              </a:p>
            </p:txBody>
          </p:sp>
        </mc:Fallback>
      </mc:AlternateContent>
      <p:pic>
        <p:nvPicPr>
          <p:cNvPr id="4" name="Picture 3">
            <a:extLst>
              <a:ext uri="{FF2B5EF4-FFF2-40B4-BE49-F238E27FC236}">
                <a16:creationId xmlns:a16="http://schemas.microsoft.com/office/drawing/2014/main" id="{10C6FCED-5A79-FF9D-FB12-A7ACE49DA834}"/>
              </a:ext>
            </a:extLst>
          </p:cNvPr>
          <p:cNvPicPr>
            <a:picLocks noChangeAspect="1"/>
          </p:cNvPicPr>
          <p:nvPr/>
        </p:nvPicPr>
        <p:blipFill>
          <a:blip r:embed="rId5"/>
          <a:stretch>
            <a:fillRect/>
          </a:stretch>
        </p:blipFill>
        <p:spPr>
          <a:xfrm>
            <a:off x="6410770" y="621028"/>
            <a:ext cx="5748308" cy="3665837"/>
          </a:xfrm>
          <a:prstGeom prst="rect">
            <a:avLst/>
          </a:prstGeom>
        </p:spPr>
      </p:pic>
    </p:spTree>
    <p:extLst>
      <p:ext uri="{BB962C8B-B14F-4D97-AF65-F5344CB8AC3E}">
        <p14:creationId xmlns:p14="http://schemas.microsoft.com/office/powerpoint/2010/main" val="2278723285"/>
      </p:ext>
    </p:extLst>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9CEFFF4F-48B3-66D1-0C88-E64031EBFDD1}"/>
            </a:ext>
          </a:extLst>
        </p:cNvPr>
        <p:cNvGrpSpPr/>
        <p:nvPr/>
      </p:nvGrpSpPr>
      <p:grpSpPr>
        <a:xfrm>
          <a:off x="0" y="0"/>
          <a:ext cx="0" cy="0"/>
          <a:chOff x="0" y="0"/>
          <a:chExt cx="0" cy="0"/>
        </a:xfrm>
      </p:grpSpPr>
      <p:sp>
        <p:nvSpPr>
          <p:cNvPr id="175" name="Google Shape;175;p36">
            <a:extLst>
              <a:ext uri="{FF2B5EF4-FFF2-40B4-BE49-F238E27FC236}">
                <a16:creationId xmlns:a16="http://schemas.microsoft.com/office/drawing/2014/main" id="{F85E7B2D-E2C4-ABC2-20A2-3BF9BCA3B1AF}"/>
              </a:ext>
            </a:extLst>
          </p:cNvPr>
          <p:cNvSpPr txBox="1">
            <a:spLocks noGrp="1"/>
          </p:cNvSpPr>
          <p:nvPr>
            <p:ph type="title"/>
          </p:nvPr>
        </p:nvSpPr>
        <p:spPr>
          <a:xfrm>
            <a:off x="559455" y="272649"/>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Exercise:</a:t>
            </a:r>
            <a:endParaRPr dirty="0"/>
          </a:p>
        </p:txBody>
      </p:sp>
      <p:sp>
        <p:nvSpPr>
          <p:cNvPr id="176" name="Google Shape;176;p36">
            <a:extLst>
              <a:ext uri="{FF2B5EF4-FFF2-40B4-BE49-F238E27FC236}">
                <a16:creationId xmlns:a16="http://schemas.microsoft.com/office/drawing/2014/main" id="{5D99A870-EB4B-39F5-11E3-94CE5E38B856}"/>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77" name="Google Shape;177;p36">
            <a:extLst>
              <a:ext uri="{FF2B5EF4-FFF2-40B4-BE49-F238E27FC236}">
                <a16:creationId xmlns:a16="http://schemas.microsoft.com/office/drawing/2014/main" id="{99102AF8-24E4-B860-3DF2-29C21D4F7AEE}"/>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23</a:t>
            </a:fld>
            <a:endParaRPr/>
          </a:p>
        </p:txBody>
      </p:sp>
      <p:pic>
        <p:nvPicPr>
          <p:cNvPr id="178" name="Google Shape;178;p36">
            <a:extLst>
              <a:ext uri="{FF2B5EF4-FFF2-40B4-BE49-F238E27FC236}">
                <a16:creationId xmlns:a16="http://schemas.microsoft.com/office/drawing/2014/main" id="{D1EB5AE5-1B9B-A510-DC94-E4697B391C10}"/>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mc:Choice xmlns:a14="http://schemas.microsoft.com/office/drawing/2010/main" Requires="a14">
          <p:sp>
            <p:nvSpPr>
              <p:cNvPr id="179" name="Google Shape;179;p36">
                <a:extLst>
                  <a:ext uri="{FF2B5EF4-FFF2-40B4-BE49-F238E27FC236}">
                    <a16:creationId xmlns:a16="http://schemas.microsoft.com/office/drawing/2014/main" id="{2A7C828C-D21C-4732-4D83-DBA91F216940}"/>
                  </a:ext>
                </a:extLst>
              </p:cNvPr>
              <p:cNvSpPr txBox="1">
                <a:spLocks noGrp="1"/>
              </p:cNvSpPr>
              <p:nvPr>
                <p:ph type="body" idx="1"/>
              </p:nvPr>
            </p:nvSpPr>
            <p:spPr>
              <a:xfrm>
                <a:off x="685307" y="1334586"/>
                <a:ext cx="10307157" cy="4334694"/>
              </a:xfrm>
              <a:prstGeom prst="rect">
                <a:avLst/>
              </a:prstGeom>
              <a:noFill/>
              <a:ln>
                <a:noFill/>
              </a:ln>
            </p:spPr>
            <p:txBody>
              <a:bodyPr spcFirstLastPara="1" wrap="square" lIns="91425" tIns="45700" rIns="91425" bIns="45700" anchor="t" anchorCtr="0">
                <a:normAutofit/>
              </a:bodyPr>
              <a:lstStyle/>
              <a:p>
                <a:pPr marL="114300" lvl="0" indent="0" algn="just" rtl="0">
                  <a:lnSpc>
                    <a:spcPct val="90000"/>
                  </a:lnSpc>
                  <a:spcBef>
                    <a:spcPts val="1000"/>
                  </a:spcBef>
                  <a:spcAft>
                    <a:spcPts val="0"/>
                  </a:spcAft>
                  <a:buSzPct val="75630"/>
                  <a:buNone/>
                </a:pPr>
                <a:r>
                  <a:rPr lang="en-US" dirty="0">
                    <a:latin typeface="Times New Roman" panose="02020603050405020304" pitchFamily="18" charset="0"/>
                    <a:cs typeface="Times New Roman" panose="02020603050405020304" pitchFamily="18" charset="0"/>
                  </a:rPr>
                  <a:t>You are tasked with designing a street light controller. A sensor provides an output voltage proportional to the ambient light intensity. The street light should turn off when the sensor output rises above 2V, and turn on when the sensor output falls below 2V. There is a 1V peak-to-peak noise present in the sensor output. To improve noise immunity, your instructor has instructed you to use a Schmitt trigger circuit. (You may assume appropriate values for </a:t>
                </a:r>
                <a14:m>
                  <m:oMath xmlns:m="http://schemas.openxmlformats.org/officeDocument/2006/math">
                    <m:sSub>
                      <m:sSubPr>
                        <m:ctrlPr>
                          <a:rPr lang="en-US" b="0" i="1" dirty="0" smtClean="0">
                            <a:latin typeface="Cambria Math" panose="02040503050406030204" pitchFamily="18" charset="0"/>
                            <a:cs typeface="Times New Roman" panose="02020603050405020304" pitchFamily="18" charset="0"/>
                          </a:rPr>
                        </m:ctrlPr>
                      </m:sSubPr>
                      <m:e>
                        <m:r>
                          <a:rPr lang="en-US" i="1" dirty="0" smtClean="0">
                            <a:latin typeface="Cambria Math" panose="02040503050406030204" pitchFamily="18" charset="0"/>
                            <a:cs typeface="Times New Roman" panose="02020603050405020304" pitchFamily="18" charset="0"/>
                          </a:rPr>
                          <m:t>𝑉</m:t>
                        </m:r>
                      </m:e>
                      <m:sub>
                        <m:r>
                          <a:rPr lang="en-US" b="0" i="1" dirty="0" smtClean="0">
                            <a:latin typeface="Cambria Math" panose="02040503050406030204" pitchFamily="18" charset="0"/>
                            <a:cs typeface="Times New Roman" panose="02020603050405020304" pitchFamily="18" charset="0"/>
                          </a:rPr>
                          <m:t>𝐻</m:t>
                        </m:r>
                      </m:sub>
                    </m:sSub>
                  </m:oMath>
                </a14:m>
                <a:r>
                  <a:rPr lang="en-US" dirty="0">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b="0"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𝑉</m:t>
                        </m:r>
                      </m:e>
                      <m:sub>
                        <m:r>
                          <a:rPr lang="en-US" b="0" i="1" smtClean="0">
                            <a:latin typeface="Cambria Math" panose="02040503050406030204" pitchFamily="18" charset="0"/>
                            <a:cs typeface="Times New Roman" panose="02020603050405020304" pitchFamily="18" charset="0"/>
                          </a:rPr>
                          <m:t>𝐿</m:t>
                        </m:r>
                      </m:sub>
                    </m:sSub>
                  </m:oMath>
                </a14:m>
                <a:r>
                  <a:rPr lang="en-US" dirty="0">
                    <a:latin typeface="Times New Roman" panose="02020603050405020304" pitchFamily="18" charset="0"/>
                    <a:cs typeface="Times New Roman" panose="02020603050405020304" pitchFamily="18" charset="0"/>
                  </a:rPr>
                  <a:t>​ .) Design the Schmitt trigger circuit.</a:t>
                </a:r>
              </a:p>
            </p:txBody>
          </p:sp>
        </mc:Choice>
        <mc:Fallback>
          <p:sp>
            <p:nvSpPr>
              <p:cNvPr id="179" name="Google Shape;179;p36">
                <a:extLst>
                  <a:ext uri="{FF2B5EF4-FFF2-40B4-BE49-F238E27FC236}">
                    <a16:creationId xmlns:a16="http://schemas.microsoft.com/office/drawing/2014/main" id="{2A7C828C-D21C-4732-4D83-DBA91F216940}"/>
                  </a:ext>
                </a:extLst>
              </p:cNvPr>
              <p:cNvSpPr txBox="1">
                <a:spLocks noGrp="1" noRot="1" noChangeAspect="1" noMove="1" noResize="1" noEditPoints="1" noAdjustHandles="1" noChangeArrowheads="1" noChangeShapeType="1" noTextEdit="1"/>
              </p:cNvSpPr>
              <p:nvPr>
                <p:ph type="body" idx="1"/>
              </p:nvPr>
            </p:nvSpPr>
            <p:spPr>
              <a:xfrm>
                <a:off x="685307" y="1334586"/>
                <a:ext cx="10307157" cy="4334694"/>
              </a:xfrm>
              <a:prstGeom prst="rect">
                <a:avLst/>
              </a:prstGeom>
              <a:blipFill>
                <a:blip r:embed="rId4"/>
                <a:stretch>
                  <a:fillRect l="-59" r="-1242"/>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2633191695"/>
      </p:ext>
    </p:extLst>
  </p:cSld>
  <p:clrMapOvr>
    <a:masterClrMapping/>
  </p:clrMapOvr>
  <p:transition spd="slow">
    <p:fade/>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TotalTime>
  <Words>672</Words>
  <Application>Microsoft Office PowerPoint</Application>
  <PresentationFormat>Widescreen</PresentationFormat>
  <Paragraphs>149</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Cambria Math</vt:lpstr>
      <vt:lpstr>Times New Roman</vt:lpstr>
      <vt:lpstr>Office Theme</vt:lpstr>
      <vt:lpstr>CSE 350 Digital Electronics and Pulse Techniques </vt:lpstr>
      <vt:lpstr>Op-Amp</vt:lpstr>
      <vt:lpstr>Op-Amp Comparator</vt:lpstr>
      <vt:lpstr>Non-Inverting  Comparator</vt:lpstr>
      <vt:lpstr>Inverting  Comparator</vt:lpstr>
      <vt:lpstr>Non-Inverting Comparator with Divider </vt:lpstr>
      <vt:lpstr>Inverting Comparator with Divider </vt:lpstr>
      <vt:lpstr>Exercise</vt:lpstr>
      <vt:lpstr>Exercise</vt:lpstr>
      <vt:lpstr>Exercise</vt:lpstr>
      <vt:lpstr>Schmitt Trigger circuit</vt:lpstr>
      <vt:lpstr>Inverting ST</vt:lpstr>
      <vt:lpstr>Inverting ST</vt:lpstr>
      <vt:lpstr>Inverting ST</vt:lpstr>
      <vt:lpstr>Inverting ST</vt:lpstr>
      <vt:lpstr>Non-inverting ST</vt:lpstr>
      <vt:lpstr>Non-inverting ST</vt:lpstr>
      <vt:lpstr>Inverting ST with Ref</vt:lpstr>
      <vt:lpstr>Inverting ST with Ref</vt:lpstr>
      <vt:lpstr>Non-inverting ST with Ref</vt:lpstr>
      <vt:lpstr>Non-inverting ST with ref</vt:lpstr>
      <vt:lpstr>Exercise:</vt:lpstr>
      <vt:lpstr>Exercise: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nazmul turjo</dc:creator>
  <cp:lastModifiedBy>USER</cp:lastModifiedBy>
  <cp:revision>5</cp:revision>
  <dcterms:created xsi:type="dcterms:W3CDTF">2021-07-10T07:14:46Z</dcterms:created>
  <dcterms:modified xsi:type="dcterms:W3CDTF">2025-04-28T05:10:36Z</dcterms:modified>
</cp:coreProperties>
</file>