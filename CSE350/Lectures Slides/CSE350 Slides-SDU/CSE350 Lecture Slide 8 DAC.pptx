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338" r:id="rId3"/>
    <p:sldId id="339" r:id="rId4"/>
    <p:sldId id="340" r:id="rId5"/>
    <p:sldId id="341" r:id="rId6"/>
    <p:sldId id="342" r:id="rId7"/>
    <p:sldId id="345" r:id="rId8"/>
    <p:sldId id="349" r:id="rId9"/>
    <p:sldId id="350" r:id="rId10"/>
    <p:sldId id="343" r:id="rId11"/>
    <p:sldId id="346" r:id="rId12"/>
    <p:sldId id="344" r:id="rId13"/>
    <p:sldId id="351" r:id="rId14"/>
    <p:sldId id="347" r:id="rId15"/>
    <p:sldId id="352" r:id="rId16"/>
    <p:sldId id="348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gOP7mpHQ9vA4PFHviNNnNqE8hH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FA7CD0-2ED7-4127-A139-062385FC596B}">
  <a:tblStyle styleId="{E6FA7CD0-2ED7-4127-A139-062385FC596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1DE2C72-CC64-89EC-6294-6631D758D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6A71290-766A-2589-F953-9322647A4D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5D5BA86-001E-F035-A95C-E561D577FC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64337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3C388A87-E8BF-4DC2-FBBE-B588815B6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11E6B48-1266-253B-0A3B-29A83B1F05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3311D83-A0E2-2AFD-E69E-5B0CA569D2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4906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289AB739-E284-D7CD-70A0-F3431E787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8043591-0FCD-BEE3-7E14-E25441B162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1916BE8-EB97-D92A-963C-62D1BAD3DE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0397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B62584F-12C8-67FD-EC7D-CFBEBC766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8F02F8F-7A12-DCCA-E4D3-5B4D97239C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4DA2E9F-764E-AB0E-68D6-4ECB31CC11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51259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9002FDF4-825A-ADC7-A3C0-6E9C301EF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5973CEA-13F9-56DC-63C0-71A0DB3A5A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3CAD702-A7D6-1168-45AC-D466CA90FB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29115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5672C56-7F0E-3C9E-9596-7B0B8BEDD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C4AA38EF-EB0A-4A31-7982-6BD80C0907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AD5062F-E4AA-C03D-5F90-8CDEC45E51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55173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F4624C03-09BF-22C9-C1D0-73A72FB43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833F039F-8F8F-7A13-9ED7-7A23641713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AA1FA4A-46B6-7ADB-2F1C-AA0BB8B80A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38741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956D84AD-D42F-5607-B31C-2F6089A78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DEBECB94-FD6E-7FC9-6F5D-1A46BD9CE4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2562D348-263B-8C7E-668B-06847994D5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35011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4E34AAE-8DFE-C893-9CC9-F0EAD9FC0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4040832-DC86-B842-6D06-9F1FFC4A72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CEEF45A-3A42-9182-A99A-ED08209AAF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058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6DF8686-EE66-11AF-66B1-50E41A87C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E4163402-60B0-3C8A-DE5E-DECAC0595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9FE4D7A2-EC0A-6B9A-1650-22A8A8A787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759115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3B64E964-8C34-2AF0-5905-6EA3361B6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BB7A68A5-4C0A-E7F4-6D31-C782B65581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EB8F8F9-3346-1767-4C7B-FE6C3E92B1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165360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D1CA4E7-9637-D0D4-AC2D-4EE93BD71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7654F6F-70ED-8C62-82E6-2094B297F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3113124B-517B-20A9-9730-CABF71BEA1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28052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F6D7557B-DF42-893C-99E4-DE25E757A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6D51A186-1BF6-2814-2432-DFEF91B1F7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A59E2C41-741B-45A5-12C6-993236CD29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328680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E6270A1-9842-F825-7F81-B434E0F27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2F9C04B-72C7-17FA-C780-1F6E02C5BC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3D947B9-9F3B-1620-31A3-F89DEA4BDC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089632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C31EEDB-A30B-697E-AD6C-D3CF880BF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46A92B2-8CA3-4A35-3D2C-44C6D8F53C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7071492-5936-9102-508D-883FBBA201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83875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489586" y="226142"/>
            <a:ext cx="10255374" cy="230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>
            <a:spLocks noGrp="1"/>
          </p:cNvSpPr>
          <p:nvPr>
            <p:ph type="ftr" idx="11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F751B0-7C0C-BD40-A434-E4822D159664}"/>
              </a:ext>
            </a:extLst>
          </p:cNvPr>
          <p:cNvSpPr txBox="1"/>
          <p:nvPr/>
        </p:nvSpPr>
        <p:spPr>
          <a:xfrm>
            <a:off x="6926825" y="5456700"/>
            <a:ext cx="49806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2000" dirty="0"/>
              <a:t>Mail: </a:t>
            </a:r>
            <a:r>
              <a:rPr lang="en-US" sz="2000" dirty="0">
                <a:hlinkClick r:id="rId4"/>
              </a:rPr>
              <a:t>shomen.kundu@bracu.ac.bd</a:t>
            </a: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Desk: 4N166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41846E-60C5-B347-AC7F-8840DA80F15F}"/>
              </a:ext>
            </a:extLst>
          </p:cNvPr>
          <p:cNvSpPr txBox="1"/>
          <p:nvPr/>
        </p:nvSpPr>
        <p:spPr>
          <a:xfrm>
            <a:off x="1843548" y="2457480"/>
            <a:ext cx="8858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Analog to Digital Converter (ADC)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F6537-9EB0-5129-AAB2-FD60564499EB}"/>
              </a:ext>
            </a:extLst>
          </p:cNvPr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Course Instructor</a:t>
            </a:r>
            <a:r>
              <a:rPr lang="en-US" sz="2000" b="1" dirty="0">
                <a:solidFill>
                  <a:schemeClr val="tx1"/>
                </a:solidFill>
              </a:rPr>
              <a:t>: </a:t>
            </a:r>
            <a:r>
              <a:rPr lang="en-US" sz="2000" dirty="0" err="1"/>
              <a:t>Shomen</a:t>
            </a:r>
            <a:r>
              <a:rPr lang="en-US" sz="2000" dirty="0"/>
              <a:t> Kundu (SDU)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14470A8-2002-C6DD-3DBE-25F1326CA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C15849F3-E07A-CD17-E5EE-FB254181FB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Digital to Analog Converter (DAC)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6E2D8B0-2B2C-676F-B568-CB506A377E4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0646B09-C80B-1A3B-2393-D70691216A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2A7EDD6A-E5E3-7B87-9BD8-4352803070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C68B80-493F-6FF0-E77C-00997DB52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118" y="1224480"/>
            <a:ext cx="9785260" cy="429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77557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475D564-F9C8-0604-7936-B1F9E932A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7737037-CD65-60FC-D4FA-AA9AE95423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Binary to Decimal Conversion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DC0D62F1-7920-930F-0940-5F5017ACC1B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AEC7DCB2-B5C4-122C-C69E-916E7A31C1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C708A130-25B1-50A7-D36A-5B68DFF760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E09E02F-81AD-517D-D718-8496A9EA568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6"/>
                <a:ext cx="10739777" cy="4899066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Binary Number: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Equivalent Decimal Number: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∗8 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∗4+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∗2+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∗1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Example : 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1101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value into a decimal value.</a:t>
                </a:r>
              </a:p>
              <a:p>
                <a:pPr marL="114300" indent="0">
                  <a:buNone/>
                </a:pPr>
                <a:r>
                  <a:rPr lang="en-US" dirty="0"/>
                  <a:t>Solve: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1001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 ∗8+0 ∗4+0 ∗2+1 ∗1=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E09E02F-81AD-517D-D718-8496A9EA56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6"/>
                <a:ext cx="10739777" cy="4899066"/>
              </a:xfrm>
              <a:blipFill>
                <a:blip r:embed="rId4"/>
                <a:stretch>
                  <a:fillRect l="-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7603049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85ED57B-A1A1-4792-05F2-99CD78834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E52CFFE-7B42-2A23-3801-BB5FA3F38A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Binary Weighted DAC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A4B44118-50F6-95DA-DA8B-D5E1934674D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DC5E387C-E923-2D4C-C094-DF7BDCD362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9510AE8B-D1B7-61A0-FDB2-FDCB4BD7DA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0D6772B-D5F0-2429-EF3C-7FF1DDE81D1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6"/>
                <a:ext cx="10739777" cy="4899066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Key features of this circuit,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LSB branch will contain biggest resistor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MSB branch will contain Smallest resistors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Output will be positive if the input voltage is negative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Resistor of adjacent branch will be either double or half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There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output level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bit input.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0D6772B-D5F0-2429-EF3C-7FF1DDE81D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6"/>
                <a:ext cx="10739777" cy="4899066"/>
              </a:xfrm>
              <a:blipFill>
                <a:blip r:embed="rId4"/>
                <a:stretch>
                  <a:fillRect l="-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5166316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9BDFC69-1676-6A95-5CA0-3E1AEE792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5B6D8740-6673-A4E2-9FFB-84004CDAE6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Output of the DAC circuit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E83DFCF-F7E6-A875-BED8-058DDF4E2C0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106AE6C4-F4C8-6BF2-E4CE-3F6A842139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1E87D5AB-53D6-F1D5-ADED-69237C1F14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1319" y="1285505"/>
            <a:ext cx="7680881" cy="488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787762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6CC336B-562E-9A52-845B-1E5E2000A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4448B25-5FC2-A494-9A5B-9B1752D391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Digital to Analog Converter (DAC)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7BAAAB8-1B98-BFC6-CD0E-E93D9F86484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C7090F6E-7C90-EA08-3CF5-D990AB6A6A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F7C77251-900B-702D-B2D7-D707CD3B06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41BE071-63D7-44D5-AC09-19989CDBF70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6"/>
                <a:ext cx="5695173" cy="4944294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 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input of first branch is connected to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and </a:t>
                </a:r>
              </a:p>
              <a:p>
                <a:pPr marL="11430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dirty="0"/>
                  <a:t>, input of the first branch is connected to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𝐺𝑁𝐷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Same goes for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Voltage of the first branch can be modeled as,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𝑅𝐸𝐹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Same for other </a:t>
                </a:r>
                <a:r>
                  <a:rPr lang="en-US" dirty="0" err="1"/>
                  <a:t>brach</a:t>
                </a:r>
                <a:r>
                  <a:rPr lang="en-US" dirty="0"/>
                  <a:t>.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41BE071-63D7-44D5-AC09-19989CDBF7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6"/>
                <a:ext cx="5695173" cy="4944294"/>
              </a:xfrm>
              <a:blipFill>
                <a:blip r:embed="rId4"/>
                <a:stretch>
                  <a:fillRect l="-107" r="-1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629" y="1596302"/>
            <a:ext cx="5824371" cy="370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34208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249E5BC-B411-888B-CED5-E9E981F3A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8657B1F-3B31-9EA0-2B96-A16E255D26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Digital to Analog Converter (DAC)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B90A87A-1A3A-B76E-5980-BDC26D82B8F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FD3CD6E6-16AE-9B66-5DC3-BF88A79BE0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33EE407-353A-CCA7-85C9-265DD3E0C3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6B480CD-C32F-ABF0-8CE9-2ECC9FC090C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6"/>
                <a:ext cx="6671457" cy="5021764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Node equation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dirty="0"/>
                  <a:t> terminal,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b>
                          </m:sSub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num>
                        <m:den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−(−</m:t>
                          </m:r>
                          <m:sSub>
                            <m:sSub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𝑹𝑬𝑭</m:t>
                              </m:r>
                            </m:sub>
                          </m:sSub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−(−</m:t>
                          </m:r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𝑹𝑬𝑭</m:t>
                              </m:r>
                            </m:sub>
                          </m:sSub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−(−</m:t>
                          </m:r>
                          <m:sSub>
                            <m:sSub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𝑹𝑬𝑭</m:t>
                              </m:r>
                            </m:sub>
                          </m:sSub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−(−</m:t>
                          </m:r>
                          <m:sSub>
                            <m:sSub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𝑹𝑬𝑭</m:t>
                              </m:r>
                            </m:sub>
                          </m:sSub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</m:oMath>
                  </m:oMathPara>
                </a14:m>
                <a:endParaRPr lang="en-US" sz="1400" b="1" dirty="0"/>
              </a:p>
              <a:p>
                <a:pPr marL="114300" indent="0">
                  <a:buNone/>
                </a:pPr>
                <a:endParaRPr lang="en-US" sz="1100" b="1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𝑹𝑬</m:t>
                          </m:r>
                        </m:sub>
                      </m:sSub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( </m:t>
                      </m:r>
                      <m:sSub>
                        <m:sSub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num>
                        <m:den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num>
                        <m:den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den>
                      </m:f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6B480CD-C32F-ABF0-8CE9-2ECC9FC090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6"/>
                <a:ext cx="6671457" cy="5021764"/>
              </a:xfrm>
              <a:blipFill>
                <a:blip r:embed="rId4"/>
                <a:stretch>
                  <a:fillRect l="-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3348" y="1238353"/>
            <a:ext cx="4678652" cy="297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647269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B5895F64-D2C8-38B6-117E-4AB40D02C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53BE3546-0AA6-0BE8-07B7-29FB6BA296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Digital to Analog Converter (DAC)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27985670-0BBA-8716-877D-1ADE0A36A1A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98A4AC5D-583E-D078-5AF1-E40C164468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CCC55C9F-3658-D824-6283-213041B040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B7DF054-FFC2-9309-480E-49C29CB7F80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6"/>
                <a:ext cx="6551235" cy="4564769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400" b="1" dirty="0"/>
                  <a:t>Table: </a:t>
                </a:r>
                <a:r>
                  <a:rPr lang="en-US" sz="2400" dirty="0"/>
                  <a:t>For different input combination. Combination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=16 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=8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dirty="0"/>
              </a:p>
              <a:p>
                <a:pPr marL="11430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B7DF054-FFC2-9309-480E-49C29CB7F8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6"/>
                <a:ext cx="6551235" cy="4564769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219" y="1334586"/>
            <a:ext cx="5508227" cy="35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738779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D37E2E9B-F104-0FB1-21DD-6D0CB160D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A8A5F06D-A6D0-E49D-5F6B-3823B096FE5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29DCFF6C-1E3C-A921-CB6E-5A20C7FD1A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7D446D17-3D93-55B9-D656-2CDEEF501F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BA431B4-5EC7-52B2-7D27-835561665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144484"/>
              </p:ext>
            </p:extLst>
          </p:nvPr>
        </p:nvGraphicFramePr>
        <p:xfrm>
          <a:off x="1248697" y="574784"/>
          <a:ext cx="8534400" cy="586391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706880">
                  <a:extLst>
                    <a:ext uri="{9D8B030D-6E8A-4147-A177-3AD203B41FA5}">
                      <a16:colId xmlns:a16="http://schemas.microsoft.com/office/drawing/2014/main" val="361858631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127759959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18764076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198590041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1727260832"/>
                    </a:ext>
                  </a:extLst>
                </a:gridCol>
              </a:tblGrid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b1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249657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644428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883052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752425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672880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150562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276361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309008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06690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304207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023219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121963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234726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415077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861182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24886"/>
                  </a:ext>
                </a:extLst>
              </a:tr>
              <a:tr h="34493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740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960105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057569E9-52B7-5F74-5A2E-F4CC1CA67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70764FA7-19C9-3074-AB05-1D93210EB7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Step Size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EDF5B5B-1C79-0337-46F9-A08894A42DA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DC50DAE8-26E6-3C4A-627B-978D0B8591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7E79850D-3A6B-D8C0-F1EC-35B9EAE101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89659AC-3DAB-DDE6-A610-1972F5FB211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5708906" cy="4938395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=8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, what will be the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step size ?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Step size is the difference between two adjacent output values or the output value for the LSB bits contribution only.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For 0001 input, output will  be the step size.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 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𝑅𝐸𝐹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=8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89659AC-3DAB-DDE6-A610-1972F5FB21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5708906" cy="4938395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7934" y="1937113"/>
            <a:ext cx="520065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012554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F0EC1B6-C236-4A10-7B63-107913CC9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3F205F0-6744-20F3-9B82-A02E4B556D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Maximum Output 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CCEB0B99-EFCA-0A56-D08B-BDEAF00A8EA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5B5D77E-3175-9180-1D29-FBC4E69CD3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51ABFBD-CD0D-839C-6F4A-DFCA44D958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286B10C-014C-D3D4-78C3-E4A967ABE49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5708906" cy="4938395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=8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, what will be the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Max output ?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Max output level can be found for high input at every input.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For 1111 input, output will  be max.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 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𝑅𝐸𝐹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=8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=15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286B10C-014C-D3D4-78C3-E4A967ABE4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5708906" cy="4938395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1350" y="1425165"/>
            <a:ext cx="520065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187090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0D5FE61-6358-93E9-B17E-92420287D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C38F455-CCB4-804E-017B-CE75161DAD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General Formula for DAC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D22623E-4DE9-AC1E-24A5-E49474BE785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3E898681-7F28-468F-1EFA-A0AD631A8D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A235E99D-90E8-7374-B91A-4C9F019F97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4635204-B821-159B-098D-48F08FD6756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6"/>
                <a:ext cx="6315261" cy="4663091"/>
              </a:xfrm>
            </p:spPr>
            <p:txBody>
              <a:bodyPr>
                <a:normAutofit lnSpcReduction="10000"/>
              </a:bodyPr>
              <a:lstStyle/>
              <a:p>
                <a:pPr marL="114300" indent="0">
                  <a:buNone/>
                </a:pPr>
                <a:r>
                  <a:rPr lang="en-US" sz="2400" dirty="0"/>
                  <a:t>Binary: DCBA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𝑓𝑎𝑐𝑡𝑜𝑟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2</m:t>
                      </m:r>
                    </m:oMath>
                  </m:oMathPara>
                </a14:m>
                <a:endParaRPr lang="en-US" sz="2400" b="0" dirty="0"/>
              </a:p>
              <a:p>
                <a:pPr marL="114300" indent="0">
                  <a:buNone/>
                </a:pPr>
                <a:r>
                  <a:rPr lang="en-US" sz="2400" dirty="0"/>
                  <a:t>If we assign, 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400" b="0" dirty="0"/>
              </a:p>
              <a:p>
                <a:pPr marL="114300" indent="0">
                  <a:buNone/>
                </a:pPr>
                <a:r>
                  <a:rPr lang="en-US" sz="2400" dirty="0"/>
                  <a:t>If we assign, 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/2,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/4,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en-US" sz="2400" b="0" dirty="0"/>
              </a:p>
              <a:p>
                <a:pPr marL="114300" indent="0">
                  <a:buNone/>
                </a:pPr>
                <a:r>
                  <a:rPr lang="en-US" sz="2400" dirty="0"/>
                  <a:t>If we want, positive output,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dirty="0"/>
                  <a:t>need to be negative.</a:t>
                </a:r>
              </a:p>
              <a:p>
                <a:pPr marL="114300" indent="0">
                  <a:buNone/>
                </a:pPr>
                <a:r>
                  <a:rPr lang="en-US" sz="2400" dirty="0"/>
                  <a:t>If we want, negative output,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dirty="0"/>
                  <a:t>need to be positive.</a:t>
                </a:r>
              </a:p>
              <a:p>
                <a:pPr marL="114300" indent="0">
                  <a:buNone/>
                </a:pPr>
                <a:endParaRPr lang="en-US" sz="2400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4635204-B821-159B-098D-48F08FD675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6"/>
                <a:ext cx="6315261" cy="4663091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2421FAD-AA1A-F851-8C7C-AD5BA1BE0E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8052" y="1582934"/>
            <a:ext cx="4900754" cy="344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921440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6FF7AC26-2693-857D-29FD-4D1A64BC8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5B975F7-A483-5EEB-086E-90100AE18D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DAC (MSB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 R)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93E2755-E636-9869-6474-E06488FDF94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1FC38DF8-4E36-1989-5805-1C12CBDD32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0AC435C-61B8-8C02-5B21-16B7097BEB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F1F1BF-BF39-A2B9-AA42-C6EF587C440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6"/>
                <a:ext cx="6915028" cy="4663091"/>
              </a:xfrm>
            </p:spPr>
            <p:txBody>
              <a:bodyPr>
                <a:normAutofit lnSpcReduction="10000"/>
              </a:bodyPr>
              <a:lstStyle/>
              <a:p>
                <a:pPr marL="114300" indent="0">
                  <a:buNone/>
                </a:pPr>
                <a:r>
                  <a:rPr lang="en-US" sz="2600" dirty="0"/>
                  <a:t>Binary: DCBA</a:t>
                </a:r>
              </a:p>
              <a:p>
                <a:pPr marL="114300" indent="0">
                  <a:buNone/>
                </a:pPr>
                <a:r>
                  <a:rPr lang="en-US" sz="2600" dirty="0"/>
                  <a:t>If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, </m:t>
                    </m:r>
                  </m:oMath>
                </a14:m>
                <a:endParaRPr lang="en-US" sz="2600" b="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𝑅𝐸𝐹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𝑅𝐸𝐹</m:t>
                          </m:r>
                        </m:sub>
                      </m:sSub>
                    </m:oMath>
                  </m:oMathPara>
                </a14:m>
                <a:endParaRPr lang="en-US" sz="2600" b="0" dirty="0"/>
              </a:p>
              <a:p>
                <a:pPr marL="114300" indent="0">
                  <a:buNone/>
                </a:pPr>
                <a:endParaRPr lang="en-US" sz="2600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600" b="0" dirty="0">
                  <a:solidFill>
                    <a:srgbClr val="FF0000"/>
                  </a:solidFill>
                </a:endParaRPr>
              </a:p>
              <a:p>
                <a:pPr marL="114300" indent="0">
                  <a:buNone/>
                </a:pPr>
                <a:endParaRPr lang="en-US" sz="26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600" dirty="0"/>
              </a:p>
              <a:p>
                <a:pPr marL="114300" indent="0">
                  <a:buNone/>
                </a:pPr>
                <a:endParaRPr lang="en-US" sz="26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𝑅𝐸𝐹</m:t>
                              </m:r>
                            </m:sub>
                          </m:sSub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num>
                            <m:den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60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F1F1BF-BF39-A2B9-AA42-C6EF587C44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6"/>
                <a:ext cx="6915028" cy="4663091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67C3CD7-BC3D-BC37-D72B-67E6FDBCC2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8052" y="1582934"/>
            <a:ext cx="4900754" cy="344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849822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FDB37840-E784-FA4D-54A3-89D4086CA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B6103AEC-EB46-E268-5E32-514E9BF64F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DAC (LSB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 R)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CCD78776-AA30-F015-D281-189E72D59E3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C6C48B23-CF13-8CED-1BC5-A6263DC04F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F393649-C5D3-135D-1D90-F44E059983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844343A-FFD7-4B6F-1162-8FA5945C54F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6"/>
                <a:ext cx="6915028" cy="4663091"/>
              </a:xfrm>
            </p:spPr>
            <p:txBody>
              <a:bodyPr>
                <a:normAutofit fontScale="85000"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Binary: DCBA</a:t>
                </a:r>
              </a:p>
              <a:p>
                <a:pPr marL="114300" indent="0">
                  <a:buNone/>
                </a:pPr>
                <a:r>
                  <a:rPr lang="en-US" dirty="0"/>
                  <a:t>If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,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𝑅𝐸𝐹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𝑅𝐸𝐹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8∗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+4 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+2 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 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𝑅𝐸𝐹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+4 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 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 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844343A-FFD7-4B6F-1162-8FA5945C54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6"/>
                <a:ext cx="6915028" cy="4663091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0A58C41-64DC-8C45-8A94-D96C87F2F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8052" y="1582934"/>
            <a:ext cx="4900754" cy="344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701006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7A33151-70C2-BB47-ABC6-7ECA5C51A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5F88512-B564-305F-61C9-91FBB38CF3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D8B9FB63-E5AB-1FE5-1DC4-DDB69CF736A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E0F6AF67-958C-EEA7-ED5D-E77154A932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EE1D1F3-B6F0-E496-39F6-00815581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C17BC0E-BB8B-08F0-D2C7-22AF9E7EB82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307" y="1334586"/>
                <a:ext cx="6915028" cy="4663091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Binary: DCBA</a:t>
                </a:r>
              </a:p>
              <a:p>
                <a:pPr marL="11430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Find the following parameter for this DAC circuit. Given,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==0.5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=−30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pPr marL="628650" indent="-514350">
                  <a:buAutoNum type="alphaLcPeriod"/>
                </a:pPr>
                <a:r>
                  <a:rPr lang="en-US" dirty="0"/>
                  <a:t>Find the value of maximum output.</a:t>
                </a:r>
              </a:p>
              <a:p>
                <a:pPr marL="628650" indent="-514350">
                  <a:buAutoNum type="alphaLcPeriod"/>
                </a:pPr>
                <a:r>
                  <a:rPr lang="en-US" dirty="0"/>
                  <a:t>Find the value of the step size.</a:t>
                </a:r>
              </a:p>
              <a:p>
                <a:pPr marL="628650" indent="-514350">
                  <a:buAutoNum type="alphaLcPeriod"/>
                </a:pPr>
                <a:r>
                  <a:rPr lang="en-US" dirty="0"/>
                  <a:t>Find the value of the 1LSB voltage.</a:t>
                </a:r>
              </a:p>
              <a:p>
                <a:pPr marL="628650" indent="-514350">
                  <a:buAutoNum type="alphaLcPeriod"/>
                </a:pPr>
                <a:r>
                  <a:rPr lang="en-US" dirty="0"/>
                  <a:t>Find the value of the 1MSB value.</a:t>
                </a:r>
              </a:p>
              <a:p>
                <a:pPr marL="628650" indent="-514350">
                  <a:buAutoNum type="alphaLcPeriod"/>
                </a:pPr>
                <a:r>
                  <a:rPr lang="en-US" dirty="0"/>
                  <a:t>Plot the Output voltage vs input binary.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C17BC0E-BB8B-08F0-D2C7-22AF9E7EB8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6"/>
                <a:ext cx="6915028" cy="4663091"/>
              </a:xfrm>
              <a:blipFill>
                <a:blip r:embed="rId4"/>
                <a:stretch>
                  <a:fillRect l="-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84F19C8-7E4E-FBA0-2138-155F9BC06C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8052" y="1582934"/>
            <a:ext cx="4900754" cy="344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525673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BD3B101-8384-E394-5446-4E216948B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B4AA6E3-532C-D17C-6097-5ACC5EEBC8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 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C3D98E08-361A-3E4D-DE03-A24846B9015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A96C507-B04C-745C-EBCF-FA0A49D9F9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260AD26-AB84-5762-9A15-F6F95FDAC4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E75EE-87E7-1994-83E1-D4C31A245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06" y="1334586"/>
            <a:ext cx="7752111" cy="466309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dirty="0">
                <a:latin typeface="+mj-lt"/>
              </a:rPr>
              <a:t>The figure below shows the input-output characteristics of a converter. The output of the converter is denoted as V0 and the input as Vin. Identify the converter type and the number of bits used by the converter. Further, calculate </a:t>
            </a:r>
            <a:r>
              <a:rPr lang="en-US" sz="2400" dirty="0" err="1">
                <a:latin typeface="+mj-lt"/>
              </a:rPr>
              <a:t>Vref</a:t>
            </a:r>
            <a:r>
              <a:rPr lang="en-US" sz="2400" dirty="0">
                <a:latin typeface="+mj-lt"/>
              </a:rPr>
              <a:t> when RF = 2R.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537" y="959575"/>
            <a:ext cx="3743325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92732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3657</TotalTime>
  <Words>886</Words>
  <Application>Microsoft Office PowerPoint</Application>
  <PresentationFormat>Widescreen</PresentationFormat>
  <Paragraphs>208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Cambria Math</vt:lpstr>
      <vt:lpstr>Times New Roman</vt:lpstr>
      <vt:lpstr>Wingdings</vt:lpstr>
      <vt:lpstr>Office Theme</vt:lpstr>
      <vt:lpstr>CSE 350 Digital Electronics and Pulse Techniques </vt:lpstr>
      <vt:lpstr>Digital to Analog Converter (DAC)</vt:lpstr>
      <vt:lpstr>Binary to Decimal Conversion</vt:lpstr>
      <vt:lpstr>Binary Weighted DAC</vt:lpstr>
      <vt:lpstr>Output of the DAC circuit</vt:lpstr>
      <vt:lpstr>Digital to Analog Converter (DAC)</vt:lpstr>
      <vt:lpstr>Digital to Analog Converter (DAC)</vt:lpstr>
      <vt:lpstr>Digital to Analog Converter (DAC)</vt:lpstr>
      <vt:lpstr>PowerPoint Presentation</vt:lpstr>
      <vt:lpstr>Step Size</vt:lpstr>
      <vt:lpstr>Maximum Output </vt:lpstr>
      <vt:lpstr>General Formula for DAC</vt:lpstr>
      <vt:lpstr>DAC (MSB R)</vt:lpstr>
      <vt:lpstr>DAC (LSB  R)</vt:lpstr>
      <vt:lpstr>Exercise:</vt:lpstr>
      <vt:lpstr>Exercise: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350 Digital Electronics and Pulse Techniques</dc:title>
  <dc:creator>nazmul turjo</dc:creator>
  <cp:lastModifiedBy>USER</cp:lastModifiedBy>
  <cp:revision>47</cp:revision>
  <dcterms:created xsi:type="dcterms:W3CDTF">2021-07-10T07:14:46Z</dcterms:created>
  <dcterms:modified xsi:type="dcterms:W3CDTF">2025-01-06T20:03:11Z</dcterms:modified>
</cp:coreProperties>
</file>