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8" r:id="rId3"/>
    <p:sldId id="259" r:id="rId4"/>
    <p:sldId id="287" r:id="rId5"/>
    <p:sldId id="260" r:id="rId6"/>
    <p:sldId id="261" r:id="rId7"/>
    <p:sldId id="264" r:id="rId8"/>
    <p:sldId id="265" r:id="rId9"/>
    <p:sldId id="266" r:id="rId10"/>
    <p:sldId id="267" r:id="rId11"/>
    <p:sldId id="268" r:id="rId12"/>
    <p:sldId id="269" r:id="rId13"/>
    <p:sldId id="270" r:id="rId14"/>
    <p:sldId id="274" r:id="rId15"/>
    <p:sldId id="275" r:id="rId16"/>
    <p:sldId id="276" r:id="rId17"/>
    <p:sldId id="277" r:id="rId18"/>
    <p:sldId id="278" r:id="rId19"/>
    <p:sldId id="279" r:id="rId20"/>
    <p:sldId id="280" r:id="rId21"/>
    <p:sldId id="281" r:id="rId22"/>
    <p:sldId id="282" r:id="rId23"/>
    <p:sldId id="283" r:id="rId24"/>
    <p:sldId id="286" r:id="rId25"/>
    <p:sldId id="285" r:id="rId26"/>
  </p:sldIdLst>
  <p:sldSz cx="12192000" cy="6858000"/>
  <p:notesSz cx="6858000" cy="9144000"/>
  <p:embeddedFontLst>
    <p:embeddedFont>
      <p:font typeface="Cabin" panose="020B0604020202020204" charset="0"/>
      <p:regular r:id="rId28"/>
      <p:bold r:id="rId29"/>
      <p:italic r:id="rId30"/>
      <p:boldItalic r:id="rId31"/>
    </p:embeddedFont>
    <p:embeddedFont>
      <p:font typeface="Cabin Medium" panose="020B0604020202020204" charset="0"/>
      <p:regular r:id="rId32"/>
      <p:bold r:id="rId33"/>
      <p:italic r:id="rId34"/>
      <p:boldItalic r:id="rId35"/>
    </p:embeddedFont>
    <p:embeddedFont>
      <p:font typeface="Cambria Math" panose="02040503050406030204" pitchFamily="18"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hGTnA2lKRYnFfxhUwP/UTbsR0m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10BDE7-646F-4205-9A6C-A316D47FFFA7}">
  <a:tblStyle styleId="{D010BDE7-646F-4205-9A6C-A316D47FFFA7}" styleName="Table_0">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4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D5EC9A0D-E3C3-CC89-CCC6-C7EE649866AC}"/>
            </a:ext>
          </a:extLst>
        </p:cNvPr>
        <p:cNvGrpSpPr/>
        <p:nvPr/>
      </p:nvGrpSpPr>
      <p:grpSpPr>
        <a:xfrm>
          <a:off x="0" y="0"/>
          <a:ext cx="0" cy="0"/>
          <a:chOff x="0" y="0"/>
          <a:chExt cx="0" cy="0"/>
        </a:xfrm>
      </p:grpSpPr>
      <p:sp>
        <p:nvSpPr>
          <p:cNvPr id="125" name="Google Shape;125;p16:notes">
            <a:extLst>
              <a:ext uri="{FF2B5EF4-FFF2-40B4-BE49-F238E27FC236}">
                <a16:creationId xmlns:a16="http://schemas.microsoft.com/office/drawing/2014/main" id="{9908274D-E087-4847-5344-CCE0D0E34A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16:notes">
            <a:extLst>
              <a:ext uri="{FF2B5EF4-FFF2-40B4-BE49-F238E27FC236}">
                <a16:creationId xmlns:a16="http://schemas.microsoft.com/office/drawing/2014/main" id="{20A42359-289E-35D2-3062-DDDF81F89B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7945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E668B2F3-9719-2165-6C81-812BF709CCF7}"/>
            </a:ext>
          </a:extLst>
        </p:cNvPr>
        <p:cNvGrpSpPr/>
        <p:nvPr/>
      </p:nvGrpSpPr>
      <p:grpSpPr>
        <a:xfrm>
          <a:off x="0" y="0"/>
          <a:ext cx="0" cy="0"/>
          <a:chOff x="0" y="0"/>
          <a:chExt cx="0" cy="0"/>
        </a:xfrm>
      </p:grpSpPr>
      <p:sp>
        <p:nvSpPr>
          <p:cNvPr id="391" name="Google Shape;391;p10:notes">
            <a:extLst>
              <a:ext uri="{FF2B5EF4-FFF2-40B4-BE49-F238E27FC236}">
                <a16:creationId xmlns:a16="http://schemas.microsoft.com/office/drawing/2014/main" id="{2B09692B-2BF1-3A08-6DFA-13A38DB4F1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10:notes">
            <a:extLst>
              <a:ext uri="{FF2B5EF4-FFF2-40B4-BE49-F238E27FC236}">
                <a16:creationId xmlns:a16="http://schemas.microsoft.com/office/drawing/2014/main" id="{F589E4C5-0BCA-9A59-67BF-E82E44E707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340829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sp>
        <p:nvSpPr>
          <p:cNvPr id="28" name="Google Shape;28;p55"/>
          <p:cNvSpPr txBox="1">
            <a:spLocks noGrp="1"/>
          </p:cNvSpPr>
          <p:nvPr>
            <p:ph type="title"/>
          </p:nvPr>
        </p:nvSpPr>
        <p:spPr>
          <a:xfrm>
            <a:off x="415600" y="421233"/>
            <a:ext cx="11360800" cy="11084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9" name="Google Shape;29;p55"/>
          <p:cNvSpPr txBox="1">
            <a:spLocks noGrp="1"/>
          </p:cNvSpPr>
          <p:nvPr>
            <p:ph type="body" idx="1"/>
          </p:nvPr>
        </p:nvSpPr>
        <p:spPr>
          <a:xfrm>
            <a:off x="415600" y="1633633"/>
            <a:ext cx="11360800" cy="4472000"/>
          </a:xfrm>
          <a:prstGeom prst="rect">
            <a:avLst/>
          </a:prstGeom>
          <a:noFill/>
          <a:ln>
            <a:noFill/>
          </a:ln>
        </p:spPr>
        <p:txBody>
          <a:bodyPr spcFirstLastPara="1" wrap="square" lIns="91425" tIns="91425" rIns="91425" bIns="91425" anchor="t" anchorCtr="0">
            <a:normAutofit/>
          </a:bodyPr>
          <a:lstStyle>
            <a:lvl1pPr marL="457200" lvl="0" indent="-342900" algn="l">
              <a:lnSpc>
                <a:spcPct val="90000"/>
              </a:lnSpc>
              <a:spcBef>
                <a:spcPts val="0"/>
              </a:spcBef>
              <a:spcAft>
                <a:spcPts val="0"/>
              </a:spcAft>
              <a:buSzPts val="1800"/>
              <a:buChar char="●"/>
              <a:defRPr/>
            </a:lvl1pPr>
            <a:lvl2pPr marL="914400" lvl="1" indent="-317500" algn="l">
              <a:lnSpc>
                <a:spcPct val="90000"/>
              </a:lnSpc>
              <a:spcBef>
                <a:spcPts val="0"/>
              </a:spcBef>
              <a:spcAft>
                <a:spcPts val="0"/>
              </a:spcAft>
              <a:buSzPts val="1400"/>
              <a:buChar char="○"/>
              <a:defRPr/>
            </a:lvl2pPr>
            <a:lvl3pPr marL="1371600" lvl="2" indent="-317500" algn="l">
              <a:lnSpc>
                <a:spcPct val="90000"/>
              </a:lnSpc>
              <a:spcBef>
                <a:spcPts val="0"/>
              </a:spcBef>
              <a:spcAft>
                <a:spcPts val="0"/>
              </a:spcAft>
              <a:buSzPts val="1400"/>
              <a:buChar char="■"/>
              <a:defRPr/>
            </a:lvl3pPr>
            <a:lvl4pPr marL="1828800" lvl="3" indent="-317500" algn="l">
              <a:lnSpc>
                <a:spcPct val="90000"/>
              </a:lnSpc>
              <a:spcBef>
                <a:spcPts val="0"/>
              </a:spcBef>
              <a:spcAft>
                <a:spcPts val="0"/>
              </a:spcAft>
              <a:buSzPts val="1400"/>
              <a:buChar char="●"/>
              <a:defRPr/>
            </a:lvl4pPr>
            <a:lvl5pPr marL="2286000" lvl="4" indent="-317500" algn="l">
              <a:lnSpc>
                <a:spcPct val="90000"/>
              </a:lnSpc>
              <a:spcBef>
                <a:spcPts val="0"/>
              </a:spcBef>
              <a:spcAft>
                <a:spcPts val="0"/>
              </a:spcAft>
              <a:buSzPts val="1400"/>
              <a:buChar char="○"/>
              <a:defRPr/>
            </a:lvl5pPr>
            <a:lvl6pPr marL="2743200" lvl="5" indent="-317500" algn="l">
              <a:lnSpc>
                <a:spcPct val="90000"/>
              </a:lnSpc>
              <a:spcBef>
                <a:spcPts val="0"/>
              </a:spcBef>
              <a:spcAft>
                <a:spcPts val="0"/>
              </a:spcAft>
              <a:buSzPts val="1400"/>
              <a:buChar char="■"/>
              <a:defRPr/>
            </a:lvl6pPr>
            <a:lvl7pPr marL="3200400" lvl="6" indent="-317500" algn="l">
              <a:lnSpc>
                <a:spcPct val="90000"/>
              </a:lnSpc>
              <a:spcBef>
                <a:spcPts val="0"/>
              </a:spcBef>
              <a:spcAft>
                <a:spcPts val="0"/>
              </a:spcAft>
              <a:buSzPts val="1400"/>
              <a:buChar char="●"/>
              <a:defRPr/>
            </a:lvl7pPr>
            <a:lvl8pPr marL="3657600" lvl="7" indent="-317500" algn="l">
              <a:lnSpc>
                <a:spcPct val="90000"/>
              </a:lnSpc>
              <a:spcBef>
                <a:spcPts val="0"/>
              </a:spcBef>
              <a:spcAft>
                <a:spcPts val="0"/>
              </a:spcAft>
              <a:buSzPts val="1400"/>
              <a:buChar char="○"/>
              <a:defRPr/>
            </a:lvl8pPr>
            <a:lvl9pPr marL="4114800" lvl="8" indent="-317500" algn="l">
              <a:lnSpc>
                <a:spcPct val="90000"/>
              </a:lnSpc>
              <a:spcBef>
                <a:spcPts val="0"/>
              </a:spcBef>
              <a:spcAft>
                <a:spcPts val="0"/>
              </a:spcAft>
              <a:buSzPts val="1400"/>
              <a:buChar char="■"/>
              <a:defRPr/>
            </a:lvl9pPr>
          </a:lstStyle>
          <a:p>
            <a:endParaRPr/>
          </a:p>
        </p:txBody>
      </p:sp>
      <p:sp>
        <p:nvSpPr>
          <p:cNvPr id="30" name="Google Shape;30;p5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2"/>
          <p:cNvSpPr>
            <a:spLocks noGrp="1"/>
          </p:cNvSpPr>
          <p:nvPr>
            <p:ph type="pic" idx="2"/>
          </p:nvPr>
        </p:nvSpPr>
        <p:spPr>
          <a:xfrm>
            <a:off x="5183188" y="987425"/>
            <a:ext cx="6172200" cy="4873625"/>
          </a:xfrm>
          <a:prstGeom prst="rect">
            <a:avLst/>
          </a:prstGeom>
          <a:noFill/>
          <a:ln>
            <a:noFill/>
          </a:ln>
        </p:spPr>
      </p:sp>
      <p:sp>
        <p:nvSpPr>
          <p:cNvPr id="72" name="Google Shape;72;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shomen.kundu@bracu.ac.bd"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1.png"/><Relationship Id="rId4" Type="http://schemas.openxmlformats.org/officeDocument/2006/relationships/image" Target="../media/image26.png"/><Relationship Id="rId9"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a:spLocks noGrp="1"/>
          </p:cNvSpPr>
          <p:nvPr>
            <p:ph type="ctrTitle"/>
          </p:nvPr>
        </p:nvSpPr>
        <p:spPr>
          <a:xfrm>
            <a:off x="1489586" y="1062258"/>
            <a:ext cx="9591369" cy="2079511"/>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accent1"/>
              </a:buClr>
              <a:buSzPct val="100000"/>
              <a:buFont typeface="Times New Roman"/>
              <a:buNone/>
            </a:pPr>
            <a:r>
              <a:rPr lang="en-US" dirty="0">
                <a:solidFill>
                  <a:schemeClr val="accent1"/>
                </a:solidFill>
                <a:latin typeface="Times New Roman"/>
                <a:ea typeface="Times New Roman"/>
                <a:cs typeface="Times New Roman"/>
                <a:sym typeface="Times New Roman"/>
              </a:rPr>
              <a:t>CSE 350</a:t>
            </a:r>
            <a:br>
              <a:rPr lang="en-US" dirty="0">
                <a:solidFill>
                  <a:schemeClr val="accent1"/>
                </a:solidFill>
                <a:latin typeface="Times New Roman"/>
                <a:ea typeface="Times New Roman"/>
                <a:cs typeface="Times New Roman"/>
                <a:sym typeface="Times New Roman"/>
              </a:rPr>
            </a:br>
            <a:r>
              <a:rPr lang="en-US" sz="4900" dirty="0">
                <a:solidFill>
                  <a:schemeClr val="accent1"/>
                </a:solidFill>
                <a:latin typeface="Times New Roman"/>
                <a:ea typeface="Times New Roman"/>
                <a:cs typeface="Times New Roman"/>
                <a:sym typeface="Times New Roman"/>
              </a:rPr>
              <a:t>Digital Electronics and Pulse Techniques</a:t>
            </a:r>
            <a:br>
              <a:rPr lang="en-US" dirty="0">
                <a:solidFill>
                  <a:schemeClr val="accent1"/>
                </a:solidFill>
                <a:latin typeface="Times New Roman"/>
                <a:ea typeface="Times New Roman"/>
                <a:cs typeface="Times New Roman"/>
                <a:sym typeface="Times New Roman"/>
              </a:rPr>
            </a:br>
            <a:endParaRPr dirty="0">
              <a:solidFill>
                <a:schemeClr val="accent1"/>
              </a:solidFill>
              <a:latin typeface="Times New Roman"/>
              <a:ea typeface="Times New Roman"/>
              <a:cs typeface="Times New Roman"/>
              <a:sym typeface="Times New Roman"/>
            </a:endParaRPr>
          </a:p>
        </p:txBody>
      </p:sp>
      <p:sp>
        <p:nvSpPr>
          <p:cNvPr id="93" name="Google Shape;93;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pic>
        <p:nvPicPr>
          <p:cNvPr id="94" name="Google Shape;94;p1"/>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95" name="Google Shape;95;p1"/>
          <p:cNvSpPr txBox="1">
            <a:spLocks noGrp="1"/>
          </p:cNvSpPr>
          <p:nvPr>
            <p:ph type="ftr" idx="11"/>
          </p:nvPr>
        </p:nvSpPr>
        <p:spPr>
          <a:xfrm>
            <a:off x="3812458" y="6370894"/>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 </a:t>
            </a:r>
            <a:endParaRPr/>
          </a:p>
        </p:txBody>
      </p:sp>
      <p:sp>
        <p:nvSpPr>
          <p:cNvPr id="96" name="Google Shape;96;p1"/>
          <p:cNvSpPr txBox="1"/>
          <p:nvPr/>
        </p:nvSpPr>
        <p:spPr>
          <a:xfrm>
            <a:off x="2807109" y="3429000"/>
            <a:ext cx="75021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dirty="0"/>
              <a:t>Prerequisite</a:t>
            </a:r>
            <a:r>
              <a:rPr lang="en-US" sz="2400" b="1" i="0" u="none" strike="noStrike" cap="none" dirty="0">
                <a:solidFill>
                  <a:srgbClr val="000000"/>
                </a:solidFill>
                <a:latin typeface="Arial"/>
                <a:ea typeface="Arial"/>
                <a:cs typeface="Arial"/>
                <a:sym typeface="Arial"/>
              </a:rPr>
              <a:t>:</a:t>
            </a:r>
            <a:r>
              <a:rPr lang="en-US" sz="2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CSE 251 : Electronic Devices and Circuits, </a:t>
            </a:r>
            <a:endParaRPr dirty="0"/>
          </a:p>
          <a:p>
            <a:pPr marL="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CSE 260 : Digital Logic Design</a:t>
            </a:r>
            <a:endParaRPr dirty="0"/>
          </a:p>
        </p:txBody>
      </p:sp>
      <p:sp>
        <p:nvSpPr>
          <p:cNvPr id="3" name="TextBox 2">
            <a:extLst>
              <a:ext uri="{FF2B5EF4-FFF2-40B4-BE49-F238E27FC236}">
                <a16:creationId xmlns:a16="http://schemas.microsoft.com/office/drawing/2014/main" id="{A336FCFD-19EC-C2E8-605F-8C4342D5B23E}"/>
              </a:ext>
            </a:extLst>
          </p:cNvPr>
          <p:cNvSpPr txBox="1"/>
          <p:nvPr/>
        </p:nvSpPr>
        <p:spPr>
          <a:xfrm>
            <a:off x="1248697" y="5636201"/>
            <a:ext cx="10363200" cy="523220"/>
          </a:xfrm>
          <a:prstGeom prst="rect">
            <a:avLst/>
          </a:prstGeom>
          <a:noFill/>
        </p:spPr>
        <p:txBody>
          <a:bodyPr wrap="square">
            <a:spAutoFit/>
          </a:bodyPr>
          <a:lstStyle/>
          <a:p>
            <a:pPr marL="114300" rtl="0"/>
            <a:r>
              <a:rPr lang="en-US" sz="1400" b="0" i="0" u="none" strike="noStrike" dirty="0">
                <a:solidFill>
                  <a:srgbClr val="000000"/>
                </a:solidFill>
                <a:effectLst/>
                <a:latin typeface="Arial" panose="020B0604020202020204" pitchFamily="34" charset="0"/>
              </a:rPr>
              <a:t>Mail: </a:t>
            </a:r>
            <a:r>
              <a:rPr lang="en-US" sz="1400" b="0" i="0" u="sng" strike="noStrike" dirty="0">
                <a:solidFill>
                  <a:srgbClr val="000000"/>
                </a:solidFill>
                <a:effectLst/>
                <a:latin typeface="Arial" panose="020B0604020202020204" pitchFamily="34" charset="0"/>
                <a:hlinkClick r:id="rId4"/>
              </a:rPr>
              <a:t>shomen.kundu@bracu.ac.bd</a:t>
            </a:r>
            <a:endParaRPr lang="en-US" b="0" dirty="0">
              <a:effectLst/>
            </a:endParaRPr>
          </a:p>
          <a:p>
            <a:pPr marL="114300" rtl="0"/>
            <a:r>
              <a:rPr lang="en-US" sz="1400" b="0" i="0" u="none" strike="noStrike" dirty="0">
                <a:solidFill>
                  <a:srgbClr val="000000"/>
                </a:solidFill>
                <a:effectLst/>
                <a:latin typeface="Arial" panose="020B0604020202020204" pitchFamily="34" charset="0"/>
              </a:rPr>
              <a:t>Desk: #4N166</a:t>
            </a:r>
            <a:r>
              <a:rPr lang="en-US" dirty="0"/>
              <a:t>						</a:t>
            </a:r>
            <a:r>
              <a:rPr lang="en-US" sz="1400" b="1" i="0" u="none" strike="noStrike" dirty="0">
                <a:solidFill>
                  <a:srgbClr val="0070C0"/>
                </a:solidFill>
                <a:effectLst/>
                <a:latin typeface="Arial" panose="020B0604020202020204" pitchFamily="34" charset="0"/>
              </a:rPr>
              <a:t>Course Instructor</a:t>
            </a:r>
            <a:r>
              <a:rPr lang="en-US" sz="1400" b="1" i="0" u="none" strike="noStrike" dirty="0">
                <a:solidFill>
                  <a:srgbClr val="000000"/>
                </a:solidFill>
                <a:effectLst/>
                <a:latin typeface="Arial" panose="020B0604020202020204" pitchFamily="34" charset="0"/>
              </a:rPr>
              <a:t>:  </a:t>
            </a:r>
            <a:r>
              <a:rPr lang="en-US" sz="1400" b="0" i="0" u="none" strike="noStrike" dirty="0" err="1">
                <a:solidFill>
                  <a:srgbClr val="000000"/>
                </a:solidFill>
                <a:effectLst/>
                <a:latin typeface="Arial" panose="020B0604020202020204" pitchFamily="34" charset="0"/>
              </a:rPr>
              <a:t>Shomen</a:t>
            </a:r>
            <a:r>
              <a:rPr lang="en-US" sz="1400" b="0" i="0" u="none" strike="noStrike" dirty="0">
                <a:solidFill>
                  <a:srgbClr val="000000"/>
                </a:solidFill>
                <a:effectLst/>
                <a:latin typeface="Arial" panose="020B0604020202020204" pitchFamily="34" charset="0"/>
              </a:rPr>
              <a:t> Kundu (SDU)</a:t>
            </a:r>
            <a:endParaRPr lang="en-US" b="0" dirty="0">
              <a:effectLst/>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latin typeface="Times New Roman"/>
                <a:ea typeface="Times New Roman"/>
                <a:cs typeface="Times New Roman"/>
                <a:sym typeface="Times New Roman"/>
              </a:rPr>
              <a:t>Marks Distribution</a:t>
            </a:r>
            <a:endParaRPr dirty="0">
              <a:solidFill>
                <a:schemeClr val="accent1"/>
              </a:solidFill>
            </a:endParaRPr>
          </a:p>
        </p:txBody>
      </p:sp>
      <p:sp>
        <p:nvSpPr>
          <p:cNvPr id="111" name="Google Shape;11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12" name="Google Shape;11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13" name="Google Shape;113;p7"/>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14" name="Google Shape;114;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dirty="0"/>
              <a:t>Attendance 	:   0   ( Required greater than 70 %)</a:t>
            </a:r>
            <a:endParaRPr dirty="0"/>
          </a:p>
          <a:p>
            <a:pPr marL="114300" lvl="0" indent="0" algn="l" rtl="0">
              <a:lnSpc>
                <a:spcPct val="90000"/>
              </a:lnSpc>
              <a:spcBef>
                <a:spcPts val="1000"/>
              </a:spcBef>
              <a:spcAft>
                <a:spcPts val="0"/>
              </a:spcAft>
              <a:buSzPts val="1800"/>
              <a:buNone/>
            </a:pPr>
            <a:r>
              <a:rPr lang="en-US" dirty="0"/>
              <a:t>Assignment		:   10</a:t>
            </a:r>
            <a:endParaRPr dirty="0"/>
          </a:p>
          <a:p>
            <a:pPr marL="114300" lvl="0" indent="0" algn="l" rtl="0">
              <a:lnSpc>
                <a:spcPct val="90000"/>
              </a:lnSpc>
              <a:spcBef>
                <a:spcPts val="1000"/>
              </a:spcBef>
              <a:spcAft>
                <a:spcPts val="0"/>
              </a:spcAft>
              <a:buSzPts val="1800"/>
              <a:buNone/>
            </a:pPr>
            <a:r>
              <a:rPr lang="en-US" dirty="0"/>
              <a:t>Quiz			:   20</a:t>
            </a:r>
            <a:endParaRPr dirty="0"/>
          </a:p>
          <a:p>
            <a:pPr marL="114300" lvl="0" indent="0" algn="l" rtl="0">
              <a:lnSpc>
                <a:spcPct val="90000"/>
              </a:lnSpc>
              <a:spcBef>
                <a:spcPts val="1000"/>
              </a:spcBef>
              <a:spcAft>
                <a:spcPts val="0"/>
              </a:spcAft>
              <a:buSzPts val="1800"/>
              <a:buNone/>
            </a:pPr>
            <a:r>
              <a:rPr lang="en-US" dirty="0"/>
              <a:t>Lab 			:   25</a:t>
            </a:r>
            <a:endParaRPr dirty="0"/>
          </a:p>
          <a:p>
            <a:pPr marL="114300" lvl="0" indent="0" algn="l" rtl="0">
              <a:lnSpc>
                <a:spcPct val="90000"/>
              </a:lnSpc>
              <a:spcBef>
                <a:spcPts val="1000"/>
              </a:spcBef>
              <a:spcAft>
                <a:spcPts val="0"/>
              </a:spcAft>
              <a:buSzPts val="1800"/>
              <a:buNone/>
            </a:pPr>
            <a:r>
              <a:rPr lang="en-US" dirty="0"/>
              <a:t>Midterm		:   25</a:t>
            </a:r>
            <a:endParaRPr dirty="0"/>
          </a:p>
          <a:p>
            <a:pPr marL="114300" lvl="0" indent="0" algn="l" rtl="0">
              <a:lnSpc>
                <a:spcPct val="90000"/>
              </a:lnSpc>
              <a:spcBef>
                <a:spcPts val="1000"/>
              </a:spcBef>
              <a:spcAft>
                <a:spcPts val="0"/>
              </a:spcAft>
              <a:buSzPts val="1800"/>
              <a:buNone/>
            </a:pPr>
            <a:r>
              <a:rPr lang="en-US" dirty="0"/>
              <a:t>Final 			:   25 </a:t>
            </a:r>
            <a:endParaRPr dirty="0"/>
          </a:p>
          <a:p>
            <a:pPr marL="114300" lvl="0" indent="0" algn="l" rtl="0">
              <a:lnSpc>
                <a:spcPct val="90000"/>
              </a:lnSpc>
              <a:spcBef>
                <a:spcPts val="1000"/>
              </a:spcBef>
              <a:spcAft>
                <a:spcPts val="0"/>
              </a:spcAft>
              <a:buSzPts val="1800"/>
              <a:buNone/>
            </a:pPr>
            <a:r>
              <a:rPr lang="en-US" dirty="0"/>
              <a:t>_____________________</a:t>
            </a:r>
            <a:endParaRPr dirty="0"/>
          </a:p>
          <a:p>
            <a:pPr marL="114300" lvl="0" indent="0" algn="l" rtl="0">
              <a:lnSpc>
                <a:spcPct val="90000"/>
              </a:lnSpc>
              <a:spcBef>
                <a:spcPts val="1000"/>
              </a:spcBef>
              <a:spcAft>
                <a:spcPts val="0"/>
              </a:spcAft>
              <a:buSzPts val="1800"/>
              <a:buNone/>
            </a:pPr>
            <a:r>
              <a:rPr lang="en-US" dirty="0"/>
              <a:t>Total 		: 100  </a:t>
            </a:r>
            <a:endParaRPr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5"/>
          <p:cNvSpPr txBox="1">
            <a:spLocks noGrp="1"/>
          </p:cNvSpPr>
          <p:nvPr>
            <p:ph type="title"/>
          </p:nvPr>
        </p:nvSpPr>
        <p:spPr>
          <a:xfrm>
            <a:off x="838199" y="365125"/>
            <a:ext cx="10872537" cy="12811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accent1"/>
              </a:buClr>
              <a:buSzPct val="111111"/>
              <a:buFont typeface="Times New Roman"/>
              <a:buNone/>
            </a:pPr>
            <a:r>
              <a:rPr lang="en-US" b="1" i="0">
                <a:solidFill>
                  <a:schemeClr val="accent1"/>
                </a:solidFill>
                <a:latin typeface="Avenir"/>
                <a:ea typeface="Avenir"/>
                <a:cs typeface="Avenir"/>
                <a:sym typeface="Avenir"/>
              </a:rPr>
              <a:t>CSE 350: Digital Electronics and Pulse Techniques (3 Credits)</a:t>
            </a:r>
            <a:endParaRPr>
              <a:solidFill>
                <a:schemeClr val="accent1"/>
              </a:solidFill>
            </a:endParaRPr>
          </a:p>
        </p:txBody>
      </p:sp>
      <p:sp>
        <p:nvSpPr>
          <p:cNvPr id="120" name="Google Shape;1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21" name="Google Shape;1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pic>
        <p:nvPicPr>
          <p:cNvPr id="122" name="Google Shape;122;p15"/>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23" name="Google Shape;123;p15"/>
          <p:cNvSpPr txBox="1">
            <a:spLocks noGrp="1"/>
          </p:cNvSpPr>
          <p:nvPr>
            <p:ph type="body" idx="1"/>
          </p:nvPr>
        </p:nvSpPr>
        <p:spPr>
          <a:xfrm>
            <a:off x="838200" y="1825625"/>
            <a:ext cx="10872536" cy="4093912"/>
          </a:xfrm>
          <a:prstGeom prst="rect">
            <a:avLst/>
          </a:prstGeom>
          <a:noFill/>
          <a:ln>
            <a:noFill/>
          </a:ln>
        </p:spPr>
        <p:txBody>
          <a:bodyPr spcFirstLastPara="1" wrap="square" lIns="91425" tIns="45700" rIns="91425" bIns="45700" anchor="t" anchorCtr="0">
            <a:normAutofit fontScale="77500" lnSpcReduction="20000"/>
          </a:bodyPr>
          <a:lstStyle/>
          <a:p>
            <a:pPr marL="114300" lvl="0" indent="0" algn="l" rtl="0">
              <a:lnSpc>
                <a:spcPct val="90000"/>
              </a:lnSpc>
              <a:spcBef>
                <a:spcPts val="1000"/>
              </a:spcBef>
              <a:spcAft>
                <a:spcPts val="0"/>
              </a:spcAft>
              <a:buSzPct val="82949"/>
              <a:buNone/>
            </a:pPr>
            <a:br>
              <a:rPr lang="en-US" b="0" i="0" dirty="0">
                <a:solidFill>
                  <a:srgbClr val="444444"/>
                </a:solidFill>
                <a:latin typeface="Avenir"/>
                <a:ea typeface="Avenir"/>
                <a:cs typeface="Avenir"/>
                <a:sym typeface="Avenir"/>
              </a:rPr>
            </a:br>
            <a:r>
              <a:rPr lang="en-US" b="0" i="0" dirty="0">
                <a:solidFill>
                  <a:srgbClr val="444444"/>
                </a:solidFill>
                <a:latin typeface="Avenir"/>
                <a:ea typeface="Avenir"/>
                <a:cs typeface="Avenir"/>
                <a:sym typeface="Avenir"/>
              </a:rPr>
              <a:t>Diode logic gates, transistor switches, transistor gates, MOS gates, Logic families: TTL, ECL, IIL and CMOS logic with operation details. Propagation delay, product and noise immunity. Open collector and High impedance gates. Electronic circuits for flip flops, counters and register, memory systems. PLA's (A/D, D/A converters with applications, S/H circuits) LED, LCD and optically coupled oscillators. Non-linear applications of OPAMPs. Analog switches. Linear wave shaping: diode wave shaping techniques, clipping and clamping circuits, comparator circuits, switching circuits. Pulse transformers, pulse transmission. Pulse </a:t>
            </a:r>
            <a:r>
              <a:rPr lang="en-US" b="0" i="0" dirty="0" err="1">
                <a:solidFill>
                  <a:srgbClr val="444444"/>
                </a:solidFill>
                <a:latin typeface="Avenir"/>
                <a:ea typeface="Avenir"/>
                <a:cs typeface="Avenir"/>
                <a:sym typeface="Avenir"/>
              </a:rPr>
              <a:t>generation:monostable</a:t>
            </a:r>
            <a:r>
              <a:rPr lang="en-US" b="0" i="0" dirty="0">
                <a:solidFill>
                  <a:srgbClr val="444444"/>
                </a:solidFill>
                <a:latin typeface="Avenir"/>
                <a:ea typeface="Avenir"/>
                <a:cs typeface="Avenir"/>
                <a:sym typeface="Avenir"/>
              </a:rPr>
              <a:t>, bistable and stable </a:t>
            </a:r>
            <a:r>
              <a:rPr lang="en-US" b="0" i="0" dirty="0" err="1">
                <a:solidFill>
                  <a:srgbClr val="444444"/>
                </a:solidFill>
                <a:latin typeface="Avenir"/>
                <a:ea typeface="Avenir"/>
                <a:cs typeface="Avenir"/>
                <a:sym typeface="Avenir"/>
              </a:rPr>
              <a:t>multivibrations</a:t>
            </a:r>
            <a:r>
              <a:rPr lang="en-US" b="0" i="0" dirty="0">
                <a:solidFill>
                  <a:srgbClr val="444444"/>
                </a:solidFill>
                <a:latin typeface="Avenir"/>
                <a:ea typeface="Avenir"/>
                <a:cs typeface="Avenir"/>
                <a:sym typeface="Avenir"/>
              </a:rPr>
              <a:t>, Timing circuits. Simple voltage sweeps, linear circuit sweeps. </a:t>
            </a:r>
            <a:r>
              <a:rPr lang="en-US" b="0" i="0" dirty="0" err="1">
                <a:solidFill>
                  <a:srgbClr val="444444"/>
                </a:solidFill>
                <a:latin typeface="Avenir"/>
                <a:ea typeface="Avenir"/>
                <a:cs typeface="Avenir"/>
                <a:sym typeface="Avenir"/>
              </a:rPr>
              <a:t>Schmitrigger</a:t>
            </a:r>
            <a:r>
              <a:rPr lang="en-US" b="0" i="0" dirty="0">
                <a:solidFill>
                  <a:srgbClr val="444444"/>
                </a:solidFill>
                <a:latin typeface="Avenir"/>
                <a:ea typeface="Avenir"/>
                <a:cs typeface="Avenir"/>
                <a:sym typeface="Avenir"/>
              </a:rPr>
              <a:t>, blocking oscillators and time base circuit. The course includes a compulsory 3 hour laboratory work each week.</a:t>
            </a:r>
            <a:br>
              <a:rPr lang="en-US" b="0" i="0" dirty="0">
                <a:solidFill>
                  <a:srgbClr val="444444"/>
                </a:solidFill>
                <a:latin typeface="Avenir"/>
                <a:ea typeface="Avenir"/>
                <a:cs typeface="Avenir"/>
                <a:sym typeface="Avenir"/>
              </a:rPr>
            </a:br>
            <a:r>
              <a:rPr lang="en-US" b="0" i="0" dirty="0">
                <a:solidFill>
                  <a:srgbClr val="444444"/>
                </a:solidFill>
                <a:latin typeface="Avenir"/>
                <a:ea typeface="Avenir"/>
                <a:cs typeface="Avenir"/>
                <a:sym typeface="Avenir"/>
              </a:rPr>
              <a:t>(Pre req. CSE 251, CSE 260)</a:t>
            </a:r>
            <a:endParaRPr dirty="0"/>
          </a:p>
          <a:p>
            <a:pPr marL="114300" lvl="0" indent="0" algn="l" rtl="0">
              <a:lnSpc>
                <a:spcPct val="90000"/>
              </a:lnSpc>
              <a:spcBef>
                <a:spcPts val="1000"/>
              </a:spcBef>
              <a:spcAft>
                <a:spcPts val="0"/>
              </a:spcAft>
              <a:buSzPct val="82949"/>
              <a:buNone/>
            </a:pPr>
            <a:r>
              <a:rPr lang="en-US" b="0" i="0" dirty="0">
                <a:solidFill>
                  <a:srgbClr val="444444"/>
                </a:solidFill>
                <a:latin typeface="Avenir"/>
                <a:ea typeface="Avenir"/>
                <a:cs typeface="Avenir"/>
                <a:sym typeface="Avenir"/>
              </a:rPr>
              <a:t>Suggested Books:</a:t>
            </a:r>
            <a:br>
              <a:rPr lang="en-US" b="0" i="0" dirty="0">
                <a:solidFill>
                  <a:srgbClr val="444444"/>
                </a:solidFill>
                <a:latin typeface="Avenir"/>
                <a:ea typeface="Avenir"/>
                <a:cs typeface="Avenir"/>
                <a:sym typeface="Avenir"/>
              </a:rPr>
            </a:br>
            <a:r>
              <a:rPr lang="en-US" b="0" i="0" dirty="0">
                <a:solidFill>
                  <a:srgbClr val="444444"/>
                </a:solidFill>
                <a:latin typeface="Avenir"/>
                <a:ea typeface="Avenir"/>
                <a:cs typeface="Avenir"/>
                <a:sym typeface="Avenir"/>
              </a:rPr>
              <a:t>1. Jacob Millman," Microelectronics: Digital and Analog Circuits and Systems", McGraw-Hill, 1979.</a:t>
            </a:r>
            <a:endParaRPr dirty="0"/>
          </a:p>
          <a:p>
            <a:pPr marL="114300" lvl="0" indent="0" algn="l" rtl="0">
              <a:lnSpc>
                <a:spcPct val="90000"/>
              </a:lnSpc>
              <a:spcBef>
                <a:spcPts val="1000"/>
              </a:spcBef>
              <a:spcAft>
                <a:spcPts val="0"/>
              </a:spcAft>
              <a:buSzPct val="82949"/>
              <a:buNone/>
            </a:pPr>
            <a:endParaRPr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AE2134BB-3957-4197-ED8A-228EEF212A8F}"/>
            </a:ext>
          </a:extLst>
        </p:cNvPr>
        <p:cNvGrpSpPr/>
        <p:nvPr/>
      </p:nvGrpSpPr>
      <p:grpSpPr>
        <a:xfrm>
          <a:off x="0" y="0"/>
          <a:ext cx="0" cy="0"/>
          <a:chOff x="0" y="0"/>
          <a:chExt cx="0" cy="0"/>
        </a:xfrm>
      </p:grpSpPr>
      <p:sp>
        <p:nvSpPr>
          <p:cNvPr id="128" name="Google Shape;128;p16">
            <a:extLst>
              <a:ext uri="{FF2B5EF4-FFF2-40B4-BE49-F238E27FC236}">
                <a16:creationId xmlns:a16="http://schemas.microsoft.com/office/drawing/2014/main" id="{42AA7A21-9F37-E11D-D34A-7A903A842E01}"/>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Tentative Mid and Final Syllabus</a:t>
            </a:r>
            <a:endParaRPr dirty="0">
              <a:solidFill>
                <a:schemeClr val="accent1"/>
              </a:solidFill>
            </a:endParaRPr>
          </a:p>
        </p:txBody>
      </p:sp>
      <p:sp>
        <p:nvSpPr>
          <p:cNvPr id="129" name="Google Shape;129;p16">
            <a:extLst>
              <a:ext uri="{FF2B5EF4-FFF2-40B4-BE49-F238E27FC236}">
                <a16:creationId xmlns:a16="http://schemas.microsoft.com/office/drawing/2014/main" id="{C990F6BE-D3F9-D124-AC75-E9478319EF69}"/>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30" name="Google Shape;130;p16">
            <a:extLst>
              <a:ext uri="{FF2B5EF4-FFF2-40B4-BE49-F238E27FC236}">
                <a16:creationId xmlns:a16="http://schemas.microsoft.com/office/drawing/2014/main" id="{0C6973D7-243C-3DCF-0604-7405587F56C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31" name="Google Shape;131;p16">
            <a:extLst>
              <a:ext uri="{FF2B5EF4-FFF2-40B4-BE49-F238E27FC236}">
                <a16:creationId xmlns:a16="http://schemas.microsoft.com/office/drawing/2014/main" id="{BCD36728-0839-9A38-B513-764D08BAA6EA}"/>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32" name="Google Shape;132;p16">
            <a:extLst>
              <a:ext uri="{FF2B5EF4-FFF2-40B4-BE49-F238E27FC236}">
                <a16:creationId xmlns:a16="http://schemas.microsoft.com/office/drawing/2014/main" id="{15FC2C09-2D59-A102-D95E-CCA4861A8BA8}"/>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25000" lnSpcReduction="20000"/>
          </a:bodyPr>
          <a:lstStyle/>
          <a:p>
            <a:pPr marL="114300" lvl="0" indent="0" algn="l" rtl="0">
              <a:lnSpc>
                <a:spcPct val="90000"/>
              </a:lnSpc>
              <a:spcBef>
                <a:spcPts val="1000"/>
              </a:spcBef>
              <a:spcAft>
                <a:spcPts val="0"/>
              </a:spcAft>
              <a:buSzPts val="1800"/>
              <a:buNone/>
            </a:pPr>
            <a:r>
              <a:rPr lang="en-US" sz="6400" dirty="0"/>
              <a:t>Mid </a:t>
            </a:r>
          </a:p>
          <a:p>
            <a:pPr>
              <a:buFont typeface="Wingdings" panose="05000000000000000000" pitchFamily="2" charset="2"/>
              <a:buChar char="ü"/>
            </a:pPr>
            <a:r>
              <a:rPr lang="en-US" sz="6400" dirty="0"/>
              <a:t>ADC: Intro (Sampling, Quantization, Encoding) + Flash ADC + Dual Slope ADC</a:t>
            </a:r>
          </a:p>
          <a:p>
            <a:pPr>
              <a:buFont typeface="Wingdings" panose="05000000000000000000" pitchFamily="2" charset="2"/>
              <a:buChar char="ü"/>
            </a:pPr>
            <a:r>
              <a:rPr lang="en-US" sz="6400" dirty="0"/>
              <a:t>DAC: Binary Weighted DAC + R2R DAC</a:t>
            </a:r>
          </a:p>
          <a:p>
            <a:pPr>
              <a:buFont typeface="Wingdings" panose="05000000000000000000" pitchFamily="2" charset="2"/>
              <a:buChar char="ü"/>
            </a:pPr>
            <a:r>
              <a:rPr lang="en-US" sz="6400" dirty="0"/>
              <a:t>Schmitt Trigger: Inverting &amp; Non-inverting (with &amp; without applied voltage)</a:t>
            </a:r>
          </a:p>
          <a:p>
            <a:pPr>
              <a:buFont typeface="Wingdings" panose="05000000000000000000" pitchFamily="2" charset="2"/>
              <a:buChar char="ü"/>
            </a:pPr>
            <a:r>
              <a:rPr lang="en-US" sz="6400" dirty="0"/>
              <a:t>Signal Generators: Triangular + Square Wave Generator</a:t>
            </a:r>
          </a:p>
          <a:p>
            <a:pPr marL="114300" indent="0">
              <a:buNone/>
            </a:pPr>
            <a:r>
              <a:rPr lang="en-US" sz="6400" dirty="0"/>
              <a:t>Final</a:t>
            </a:r>
          </a:p>
          <a:p>
            <a:pPr>
              <a:buFont typeface="Wingdings" panose="05000000000000000000" pitchFamily="2" charset="2"/>
              <a:buChar char="ü"/>
            </a:pPr>
            <a:r>
              <a:rPr lang="en-US" sz="6400" dirty="0"/>
              <a:t>Diode Logic: OR &amp; AND Gates [Basic Operation &amp; Power Dissipation]</a:t>
            </a:r>
          </a:p>
          <a:p>
            <a:pPr>
              <a:buFont typeface="Wingdings" panose="05000000000000000000" pitchFamily="2" charset="2"/>
              <a:buChar char="ü"/>
            </a:pPr>
            <a:r>
              <a:rPr lang="en-US" sz="6400" dirty="0"/>
              <a:t>RTL: NOT &amp; NOR Gates [Basic Operation, Power Dissipation, Noise Margin, Fanout]</a:t>
            </a:r>
          </a:p>
          <a:p>
            <a:pPr>
              <a:buFont typeface="Wingdings" panose="05000000000000000000" pitchFamily="2" charset="2"/>
              <a:buChar char="ü"/>
            </a:pPr>
            <a:r>
              <a:rPr lang="en-US" sz="6400" dirty="0"/>
              <a:t>DTL: NAND Gate [Basic Operation, Power Dissipation, Fanout]</a:t>
            </a:r>
          </a:p>
          <a:p>
            <a:pPr>
              <a:buFont typeface="Wingdings" panose="05000000000000000000" pitchFamily="2" charset="2"/>
              <a:buChar char="ü"/>
            </a:pPr>
            <a:r>
              <a:rPr lang="en-US" sz="6400" dirty="0"/>
              <a:t>TTL: NAND Gate [Basic Operation, Power Dissipation]</a:t>
            </a:r>
          </a:p>
          <a:p>
            <a:pPr>
              <a:buFont typeface="Wingdings" panose="05000000000000000000" pitchFamily="2" charset="2"/>
              <a:buChar char="ü"/>
            </a:pPr>
            <a:r>
              <a:rPr lang="en-US" sz="6400" dirty="0"/>
              <a:t>NMOS: NOT &amp; NOR Gates (</a:t>
            </a:r>
            <a:r>
              <a:rPr lang="en-US" sz="6400" dirty="0" err="1"/>
              <a:t>Resistive+Enhancement+Depletion</a:t>
            </a:r>
            <a:r>
              <a:rPr lang="en-US" sz="6400" dirty="0"/>
              <a:t> Loads)[Basic Operation, Power Dissipation]</a:t>
            </a:r>
          </a:p>
          <a:p>
            <a:pPr>
              <a:buFont typeface="Wingdings" panose="05000000000000000000" pitchFamily="2" charset="2"/>
              <a:buChar char="ü"/>
            </a:pPr>
            <a:r>
              <a:rPr lang="en-US" sz="6400" dirty="0"/>
              <a:t>CMOS: Logic Function Implementation</a:t>
            </a:r>
          </a:p>
          <a:p>
            <a:pPr marL="114300" indent="0">
              <a:buNone/>
            </a:pPr>
            <a:endParaRPr lang="en-US" dirty="0"/>
          </a:p>
          <a:p>
            <a:pPr marL="114300" indent="0">
              <a:buNone/>
            </a:pPr>
            <a:endParaRPr lang="en-US" dirty="0"/>
          </a:p>
          <a:p>
            <a:pPr marL="114300" indent="0">
              <a:buNone/>
            </a:pPr>
            <a:endParaRPr lang="en-US" dirty="0"/>
          </a:p>
          <a:p>
            <a:pPr marL="114300" lvl="0" indent="0" algn="l" rtl="0">
              <a:lnSpc>
                <a:spcPct val="90000"/>
              </a:lnSpc>
              <a:spcBef>
                <a:spcPts val="1000"/>
              </a:spcBef>
              <a:spcAft>
                <a:spcPts val="0"/>
              </a:spcAft>
              <a:buSzPts val="1800"/>
              <a:buNone/>
            </a:pPr>
            <a:r>
              <a:rPr lang="en-US" dirty="0"/>
              <a:t> </a:t>
            </a:r>
          </a:p>
          <a:p>
            <a:pPr marL="114300" lvl="0" indent="0" algn="l" rtl="0">
              <a:lnSpc>
                <a:spcPct val="90000"/>
              </a:lnSpc>
              <a:spcBef>
                <a:spcPts val="1000"/>
              </a:spcBef>
              <a:spcAft>
                <a:spcPts val="0"/>
              </a:spcAft>
              <a:buSzPts val="1800"/>
              <a:buNone/>
            </a:pPr>
            <a:endParaRPr dirty="0"/>
          </a:p>
        </p:txBody>
      </p:sp>
    </p:spTree>
    <p:extLst>
      <p:ext uri="{BB962C8B-B14F-4D97-AF65-F5344CB8AC3E}">
        <p14:creationId xmlns:p14="http://schemas.microsoft.com/office/powerpoint/2010/main" val="1878784823"/>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Course Content</a:t>
            </a:r>
            <a:endParaRPr>
              <a:solidFill>
                <a:schemeClr val="accent1"/>
              </a:solidFill>
            </a:endParaRPr>
          </a:p>
        </p:txBody>
      </p:sp>
      <p:sp>
        <p:nvSpPr>
          <p:cNvPr id="129" name="Google Shape;12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30" name="Google Shape;13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131" name="Google Shape;131;p16"/>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32" name="Google Shape;132;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dirty="0"/>
              <a:t>1.  Digital Electronics ( 70 % )</a:t>
            </a:r>
            <a:endParaRPr dirty="0"/>
          </a:p>
          <a:p>
            <a:pPr marL="571500" lvl="1" indent="0" algn="l" rtl="0">
              <a:lnSpc>
                <a:spcPct val="90000"/>
              </a:lnSpc>
              <a:spcBef>
                <a:spcPts val="500"/>
              </a:spcBef>
              <a:spcAft>
                <a:spcPts val="0"/>
              </a:spcAft>
              <a:buSzPts val="1800"/>
              <a:buNone/>
            </a:pPr>
            <a:r>
              <a:rPr lang="en-US" dirty="0"/>
              <a:t>	</a:t>
            </a:r>
            <a:r>
              <a:rPr lang="en-US" dirty="0" err="1"/>
              <a:t>i</a:t>
            </a:r>
            <a:r>
              <a:rPr lang="en-US" dirty="0"/>
              <a:t>. Logic families</a:t>
            </a:r>
            <a:endParaRPr dirty="0"/>
          </a:p>
          <a:p>
            <a:pPr marL="571500" lvl="1" indent="0" algn="l" rtl="0">
              <a:lnSpc>
                <a:spcPct val="90000"/>
              </a:lnSpc>
              <a:spcBef>
                <a:spcPts val="500"/>
              </a:spcBef>
              <a:spcAft>
                <a:spcPts val="0"/>
              </a:spcAft>
              <a:buSzPts val="1800"/>
              <a:buNone/>
            </a:pPr>
            <a:r>
              <a:rPr lang="en-US" dirty="0"/>
              <a:t>	ii. DC analysis of these circuits</a:t>
            </a:r>
            <a:endParaRPr dirty="0"/>
          </a:p>
          <a:p>
            <a:pPr marL="114300" lvl="0" indent="0" algn="l" rtl="0">
              <a:lnSpc>
                <a:spcPct val="90000"/>
              </a:lnSpc>
              <a:spcBef>
                <a:spcPts val="1000"/>
              </a:spcBef>
              <a:spcAft>
                <a:spcPts val="0"/>
              </a:spcAft>
              <a:buSzPts val="1800"/>
              <a:buNone/>
            </a:pPr>
            <a:endParaRPr dirty="0"/>
          </a:p>
          <a:p>
            <a:pPr marL="114300" lvl="0" indent="0" algn="l" rtl="0">
              <a:lnSpc>
                <a:spcPct val="90000"/>
              </a:lnSpc>
              <a:spcBef>
                <a:spcPts val="1000"/>
              </a:spcBef>
              <a:spcAft>
                <a:spcPts val="0"/>
              </a:spcAft>
              <a:buSzPts val="1800"/>
              <a:buNone/>
            </a:pPr>
            <a:r>
              <a:rPr lang="en-US" dirty="0"/>
              <a:t>2.  Pulse Techniques ( 30 %)</a:t>
            </a:r>
            <a:endParaRPr dirty="0"/>
          </a:p>
          <a:p>
            <a:pPr marL="571500" lvl="1" indent="0" algn="l" rtl="0">
              <a:lnSpc>
                <a:spcPct val="90000"/>
              </a:lnSpc>
              <a:spcBef>
                <a:spcPts val="500"/>
              </a:spcBef>
              <a:spcAft>
                <a:spcPts val="0"/>
              </a:spcAft>
              <a:buSzPts val="1800"/>
              <a:buNone/>
            </a:pPr>
            <a:r>
              <a:rPr lang="en-US" dirty="0"/>
              <a:t>    </a:t>
            </a:r>
            <a:r>
              <a:rPr lang="en-US" dirty="0" err="1"/>
              <a:t>i</a:t>
            </a:r>
            <a:r>
              <a:rPr lang="en-US" dirty="0"/>
              <a:t>. Signal generator</a:t>
            </a:r>
            <a:endParaRPr dirty="0"/>
          </a:p>
          <a:p>
            <a:pPr marL="571500" lvl="1" indent="0" algn="l" rtl="0">
              <a:lnSpc>
                <a:spcPct val="90000"/>
              </a:lnSpc>
              <a:spcBef>
                <a:spcPts val="500"/>
              </a:spcBef>
              <a:spcAft>
                <a:spcPts val="0"/>
              </a:spcAft>
              <a:buSzPts val="1800"/>
              <a:buNone/>
            </a:pPr>
            <a:r>
              <a:rPr lang="en-US" dirty="0"/>
              <a:t>   ii. ADC</a:t>
            </a:r>
            <a:endParaRPr dirty="0"/>
          </a:p>
          <a:p>
            <a:pPr marL="571500" lvl="1" indent="0" algn="l" rtl="0">
              <a:lnSpc>
                <a:spcPct val="90000"/>
              </a:lnSpc>
              <a:spcBef>
                <a:spcPts val="500"/>
              </a:spcBef>
              <a:spcAft>
                <a:spcPts val="0"/>
              </a:spcAft>
              <a:buSzPts val="1800"/>
              <a:buNone/>
            </a:pPr>
            <a:r>
              <a:rPr lang="en-US" dirty="0"/>
              <a:t>   iii. DAC</a:t>
            </a:r>
            <a:endParaRPr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Circuits and Electronics )</a:t>
            </a:r>
            <a:endParaRPr>
              <a:solidFill>
                <a:schemeClr val="accent1"/>
              </a:solidFill>
            </a:endParaRPr>
          </a:p>
        </p:txBody>
      </p:sp>
      <p:sp>
        <p:nvSpPr>
          <p:cNvPr id="138" name="Google Shape;13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39" name="Google Shape;13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40" name="Google Shape;140;p17"/>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41" name="Google Shape;14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SzPts val="1800"/>
              <a:buFont typeface="Noto Sans Symbols"/>
              <a:buChar char="⮚"/>
            </a:pPr>
            <a:r>
              <a:rPr lang="en-US" dirty="0"/>
              <a:t>Ohm’s law</a:t>
            </a:r>
            <a:endParaRPr dirty="0"/>
          </a:p>
          <a:p>
            <a:pPr marL="457200" lvl="0" indent="-342900" algn="l" rtl="0">
              <a:lnSpc>
                <a:spcPct val="90000"/>
              </a:lnSpc>
              <a:spcBef>
                <a:spcPts val="1000"/>
              </a:spcBef>
              <a:spcAft>
                <a:spcPts val="0"/>
              </a:spcAft>
              <a:buSzPts val="1800"/>
              <a:buFont typeface="Noto Sans Symbols"/>
              <a:buChar char="⮚"/>
            </a:pPr>
            <a:r>
              <a:rPr lang="en-US" dirty="0"/>
              <a:t>KCL</a:t>
            </a:r>
            <a:endParaRPr dirty="0"/>
          </a:p>
          <a:p>
            <a:pPr marL="457200" lvl="0" indent="-342900" algn="l" rtl="0">
              <a:lnSpc>
                <a:spcPct val="90000"/>
              </a:lnSpc>
              <a:spcBef>
                <a:spcPts val="1000"/>
              </a:spcBef>
              <a:spcAft>
                <a:spcPts val="0"/>
              </a:spcAft>
              <a:buSzPts val="1800"/>
              <a:buFont typeface="Noto Sans Symbols"/>
              <a:buChar char="⮚"/>
            </a:pPr>
            <a:r>
              <a:rPr lang="en-US" dirty="0"/>
              <a:t>KVL</a:t>
            </a:r>
            <a:endParaRPr dirty="0"/>
          </a:p>
          <a:p>
            <a:pPr marL="457200" lvl="0" indent="-342900" algn="l" rtl="0">
              <a:lnSpc>
                <a:spcPct val="90000"/>
              </a:lnSpc>
              <a:spcBef>
                <a:spcPts val="1000"/>
              </a:spcBef>
              <a:spcAft>
                <a:spcPts val="0"/>
              </a:spcAft>
              <a:buSzPts val="1800"/>
              <a:buFont typeface="Noto Sans Symbols"/>
              <a:buChar char="⮚"/>
            </a:pPr>
            <a:r>
              <a:rPr lang="en-US" dirty="0"/>
              <a:t>Node Analysis</a:t>
            </a:r>
            <a:endParaRPr dirty="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72" name="Google Shape;17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3" name="Google Shape;17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174" name="Google Shape;174;p20"/>
          <p:cNvPicPr preferRelativeResize="0"/>
          <p:nvPr/>
        </p:nvPicPr>
        <p:blipFill rotWithShape="1">
          <a:blip r:embed="rId3">
            <a:alphaModFix/>
          </a:blip>
          <a:srcRect/>
          <a:stretch/>
        </p:blipFill>
        <p:spPr>
          <a:xfrm>
            <a:off x="61586" y="5403622"/>
            <a:ext cx="1035082" cy="1035082"/>
          </a:xfrm>
          <a:prstGeom prst="rect">
            <a:avLst/>
          </a:prstGeom>
          <a:noFill/>
          <a:ln>
            <a:noFill/>
          </a:ln>
        </p:spPr>
      </p:pic>
      <p:grpSp>
        <p:nvGrpSpPr>
          <p:cNvPr id="176" name="Google Shape;176;p20"/>
          <p:cNvGrpSpPr/>
          <p:nvPr/>
        </p:nvGrpSpPr>
        <p:grpSpPr>
          <a:xfrm>
            <a:off x="4099424" y="4786914"/>
            <a:ext cx="3122971" cy="1189695"/>
            <a:chOff x="5982929" y="4200628"/>
            <a:chExt cx="3122971" cy="1189695"/>
          </a:xfrm>
        </p:grpSpPr>
        <p:cxnSp>
          <p:nvCxnSpPr>
            <p:cNvPr id="177" name="Google Shape;177;p20"/>
            <p:cNvCxnSpPr/>
            <p:nvPr/>
          </p:nvCxnSpPr>
          <p:spPr>
            <a:xfrm>
              <a:off x="6420465" y="4847303"/>
              <a:ext cx="2015612"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78" name="Google Shape;178;p20"/>
            <p:cNvSpPr txBox="1"/>
            <p:nvPr/>
          </p:nvSpPr>
          <p:spPr>
            <a:xfrm>
              <a:off x="5982929" y="4447193"/>
              <a:ext cx="87507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V</a:t>
              </a:r>
              <a:r>
                <a:rPr lang="en-US" sz="2000" b="1" i="0" u="none" strike="noStrike" cap="none" baseline="-25000" dirty="0">
                  <a:solidFill>
                    <a:srgbClr val="000000"/>
                  </a:solidFill>
                  <a:latin typeface="Arial"/>
                  <a:ea typeface="Arial"/>
                  <a:cs typeface="Arial"/>
                  <a:sym typeface="Arial"/>
                </a:rPr>
                <a:t>A</a:t>
              </a:r>
              <a:endParaRPr dirty="0"/>
            </a:p>
          </p:txBody>
        </p:sp>
        <p:sp>
          <p:nvSpPr>
            <p:cNvPr id="179" name="Google Shape;179;p20"/>
            <p:cNvSpPr txBox="1"/>
            <p:nvPr/>
          </p:nvSpPr>
          <p:spPr>
            <a:xfrm>
              <a:off x="8230828" y="4447193"/>
              <a:ext cx="87507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V</a:t>
              </a:r>
              <a:r>
                <a:rPr lang="en-US" sz="2000" b="1" i="0" u="none" strike="noStrike" cap="none" baseline="-25000">
                  <a:solidFill>
                    <a:srgbClr val="000000"/>
                  </a:solidFill>
                  <a:latin typeface="Arial"/>
                  <a:ea typeface="Arial"/>
                  <a:cs typeface="Arial"/>
                  <a:sym typeface="Arial"/>
                </a:rPr>
                <a:t>B</a:t>
              </a:r>
              <a:endParaRPr/>
            </a:p>
          </p:txBody>
        </p:sp>
        <p:cxnSp>
          <p:nvCxnSpPr>
            <p:cNvPr id="180" name="Google Shape;180;p20"/>
            <p:cNvCxnSpPr/>
            <p:nvPr/>
          </p:nvCxnSpPr>
          <p:spPr>
            <a:xfrm>
              <a:off x="6587613" y="5073445"/>
              <a:ext cx="1740310" cy="0"/>
            </a:xfrm>
            <a:prstGeom prst="straightConnector1">
              <a:avLst/>
            </a:prstGeom>
            <a:noFill/>
            <a:ln w="19050" cap="flat" cmpd="sng">
              <a:solidFill>
                <a:schemeClr val="dk1"/>
              </a:solidFill>
              <a:prstDash val="solid"/>
              <a:round/>
              <a:headEnd type="none" w="sm" len="sm"/>
              <a:tailEnd type="triangle" w="med" len="med"/>
            </a:ln>
          </p:spPr>
        </p:cxnSp>
        <p:sp>
          <p:nvSpPr>
            <p:cNvPr id="181" name="Google Shape;181;p20"/>
            <p:cNvSpPr txBox="1"/>
            <p:nvPr/>
          </p:nvSpPr>
          <p:spPr>
            <a:xfrm>
              <a:off x="7167716" y="4969695"/>
              <a:ext cx="875072" cy="4206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baseline="-25000">
                  <a:solidFill>
                    <a:srgbClr val="000000"/>
                  </a:solidFill>
                  <a:latin typeface="Arial"/>
                  <a:ea typeface="Arial"/>
                  <a:cs typeface="Arial"/>
                  <a:sym typeface="Arial"/>
                </a:rPr>
                <a:t>I</a:t>
              </a:r>
              <a:endParaRPr/>
            </a:p>
          </p:txBody>
        </p:sp>
        <p:sp>
          <p:nvSpPr>
            <p:cNvPr id="182" name="Google Shape;182;p20"/>
            <p:cNvSpPr txBox="1"/>
            <p:nvPr/>
          </p:nvSpPr>
          <p:spPr>
            <a:xfrm>
              <a:off x="6861690" y="4200628"/>
              <a:ext cx="1210596"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V</a:t>
              </a:r>
              <a:r>
                <a:rPr lang="en-US" sz="2000" b="1" i="0" u="none" strike="noStrike" cap="none" baseline="-25000">
                  <a:solidFill>
                    <a:srgbClr val="000000"/>
                  </a:solidFill>
                  <a:latin typeface="Arial"/>
                  <a:ea typeface="Arial"/>
                  <a:cs typeface="Arial"/>
                  <a:sym typeface="Arial"/>
                </a:rPr>
                <a:t>A</a:t>
              </a:r>
              <a:r>
                <a:rPr lang="en-US" sz="2000" b="1" i="0" u="none" strike="noStrike" cap="none">
                  <a:solidFill>
                    <a:srgbClr val="000000"/>
                  </a:solidFill>
                  <a:latin typeface="Arial"/>
                  <a:ea typeface="Arial"/>
                  <a:cs typeface="Arial"/>
                  <a:sym typeface="Arial"/>
                </a:rPr>
                <a:t> &gt; V</a:t>
              </a:r>
              <a:r>
                <a:rPr lang="en-US" sz="2000" b="1" i="0" u="none" strike="noStrike" cap="none" baseline="-25000">
                  <a:solidFill>
                    <a:srgbClr val="000000"/>
                  </a:solidFill>
                  <a:latin typeface="Arial"/>
                  <a:ea typeface="Arial"/>
                  <a:cs typeface="Arial"/>
                  <a:sym typeface="Arial"/>
                </a:rPr>
                <a:t>B</a:t>
              </a:r>
              <a:r>
                <a:rPr lang="en-US" sz="2000" b="1" i="0" u="none" strike="noStrike" cap="none">
                  <a:solidFill>
                    <a:srgbClr val="000000"/>
                  </a:solidFill>
                  <a:latin typeface="Arial"/>
                  <a:ea typeface="Arial"/>
                  <a:cs typeface="Arial"/>
                  <a:sym typeface="Arial"/>
                </a:rPr>
                <a:t> </a:t>
              </a:r>
              <a:endParaRPr/>
            </a:p>
          </p:txBody>
        </p:sp>
      </p:gr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EC1CF55-450B-EF7A-061F-5247300DBD74}"/>
                  </a:ext>
                </a:extLst>
              </p:cNvPr>
              <p:cNvSpPr txBox="1"/>
              <p:nvPr/>
            </p:nvSpPr>
            <p:spPr>
              <a:xfrm>
                <a:off x="902236" y="1613014"/>
                <a:ext cx="9687106" cy="2308324"/>
              </a:xfrm>
              <a:prstGeom prst="rect">
                <a:avLst/>
              </a:prstGeom>
              <a:noFill/>
            </p:spPr>
            <p:txBody>
              <a:bodyPr wrap="square" rtlCol="0">
                <a:spAutoFit/>
              </a:bodyPr>
              <a:lstStyle/>
              <a:p>
                <a:br>
                  <a:rPr lang="en-US" sz="2400" b="1" dirty="0"/>
                </a:br>
                <a:r>
                  <a:rPr lang="en-US" sz="2400" b="1" dirty="0"/>
                  <a:t>Ohm’s Law: </a:t>
                </a:r>
                <a:r>
                  <a:rPr lang="en-US" sz="2400" dirty="0"/>
                  <a:t>In a fixed temperature the current flows through a conductor is proportional to the voltage difference across the conductor.</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𝐼</m:t>
                      </m:r>
                      <m:r>
                        <a:rPr lang="en-US" sz="2400" b="0" i="1" smtClean="0">
                          <a:latin typeface="Cambria Math" panose="02040503050406030204" pitchFamily="18" charset="0"/>
                        </a:rPr>
                        <m:t>∝</m:t>
                      </m:r>
                      <m:d>
                        <m:dPr>
                          <m:ctrlPr>
                            <a:rPr lang="en-US" sz="2400" i="1" smtClean="0">
                              <a:latin typeface="Cambria Math" panose="02040503050406030204" pitchFamily="18" charset="0"/>
                            </a:rPr>
                          </m:ctrlPr>
                        </m:dPr>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𝐵</m:t>
                              </m:r>
                            </m:sub>
                          </m:sSub>
                        </m:e>
                      </m:d>
                    </m:oMath>
                    <m:oMath xmlns:m="http://schemas.openxmlformats.org/officeDocument/2006/math">
                      <m:r>
                        <a:rPr lang="en-US" sz="2400" b="0" i="1" smtClean="0">
                          <a:latin typeface="Cambria Math" panose="02040503050406030204" pitchFamily="18" charset="0"/>
                        </a:rPr>
                        <m:t>𝐼</m:t>
                      </m:r>
                      <m:r>
                        <a:rPr lang="en-US" sz="2400" b="0" i="1" smtClean="0">
                          <a:latin typeface="Cambria Math" panose="02040503050406030204" pitchFamily="18" charset="0"/>
                        </a:rPr>
                        <m:t>=</m:t>
                      </m:r>
                      <m:r>
                        <a:rPr lang="en-US" sz="2400" b="0" i="1" smtClean="0">
                          <a:latin typeface="Cambria Math" panose="02040503050406030204" pitchFamily="18" charset="0"/>
                        </a:rPr>
                        <m:t>𝐺</m:t>
                      </m:r>
                      <m:r>
                        <a:rPr lang="en-US" sz="2400" b="0" i="1" smtClean="0">
                          <a:latin typeface="Cambria Math" panose="02040503050406030204" pitchFamily="18" charset="0"/>
                        </a:rPr>
                        <m:t> </m:t>
                      </m:r>
                      <m:d>
                        <m:dPr>
                          <m:ctrlPr>
                            <a:rPr lang="en-US" sz="2400" i="1" smtClean="0">
                              <a:latin typeface="Cambria Math" panose="02040503050406030204" pitchFamily="18" charset="0"/>
                            </a:rPr>
                          </m:ctrlPr>
                        </m:dPr>
                        <m:e>
                          <m:r>
                            <a:rPr lang="en-US" sz="2400" b="0" i="1" smtClean="0">
                              <a:latin typeface="Cambria Math" panose="02040503050406030204" pitchFamily="18" charset="0"/>
                            </a:rPr>
                            <m:t> </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𝐵</m:t>
                              </m:r>
                            </m:sub>
                          </m:sSub>
                        </m:e>
                      </m:d>
                    </m:oMath>
                  </m:oMathPara>
                </a14:m>
                <a:endParaRPr lang="en-US" sz="2400" dirty="0"/>
              </a:p>
            </p:txBody>
          </p:sp>
        </mc:Choice>
        <mc:Fallback>
          <p:sp>
            <p:nvSpPr>
              <p:cNvPr id="2" name="TextBox 1">
                <a:extLst>
                  <a:ext uri="{FF2B5EF4-FFF2-40B4-BE49-F238E27FC236}">
                    <a16:creationId xmlns:a16="http://schemas.microsoft.com/office/drawing/2014/main" id="{BEC1CF55-450B-EF7A-061F-5247300DBD74}"/>
                  </a:ext>
                </a:extLst>
              </p:cNvPr>
              <p:cNvSpPr txBox="1">
                <a:spLocks noRot="1" noChangeAspect="1" noMove="1" noResize="1" noEditPoints="1" noAdjustHandles="1" noChangeArrowheads="1" noChangeShapeType="1" noTextEdit="1"/>
              </p:cNvSpPr>
              <p:nvPr/>
            </p:nvSpPr>
            <p:spPr>
              <a:xfrm>
                <a:off x="902236" y="1613014"/>
                <a:ext cx="9687106" cy="2308324"/>
              </a:xfrm>
              <a:prstGeom prst="rect">
                <a:avLst/>
              </a:prstGeom>
              <a:blipFill>
                <a:blip r:embed="rId4"/>
                <a:stretch>
                  <a:fillRect l="-944" b="-265"/>
                </a:stretch>
              </a:blipFill>
            </p:spPr>
            <p:txBody>
              <a:bodyPr/>
              <a:lstStyle/>
              <a:p>
                <a:r>
                  <a:rPr lang="en-US">
                    <a:noFill/>
                  </a:rPr>
                  <a:t> </a:t>
                </a:r>
              </a:p>
            </p:txBody>
          </p:sp>
        </mc:Fallback>
      </mc:AlternateContent>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Circuits and Electronics )</a:t>
            </a:r>
            <a:endParaRPr>
              <a:solidFill>
                <a:schemeClr val="accent1"/>
              </a:solidFill>
            </a:endParaRPr>
          </a:p>
        </p:txBody>
      </p:sp>
      <p:sp>
        <p:nvSpPr>
          <p:cNvPr id="188" name="Google Shape;18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89" name="Google Shape;18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90" name="Google Shape;190;p21"/>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91" name="Google Shape;19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b="1" dirty="0"/>
              <a:t>Node : </a:t>
            </a:r>
            <a:r>
              <a:rPr lang="en-US" dirty="0"/>
              <a:t>Interconnected points between two and more electrical component.</a:t>
            </a:r>
            <a:endParaRPr dirty="0"/>
          </a:p>
          <a:p>
            <a:pPr marL="114300" lvl="0" indent="0" algn="l" rtl="0">
              <a:lnSpc>
                <a:spcPct val="90000"/>
              </a:lnSpc>
              <a:spcBef>
                <a:spcPts val="1000"/>
              </a:spcBef>
              <a:spcAft>
                <a:spcPts val="0"/>
              </a:spcAft>
              <a:buSzPts val="1800"/>
              <a:buNone/>
            </a:pPr>
            <a:endParaRPr dirty="0"/>
          </a:p>
          <a:p>
            <a:pPr marL="114300" lvl="0" indent="0" algn="l" rtl="0">
              <a:lnSpc>
                <a:spcPct val="90000"/>
              </a:lnSpc>
              <a:spcBef>
                <a:spcPts val="1000"/>
              </a:spcBef>
              <a:spcAft>
                <a:spcPts val="0"/>
              </a:spcAft>
              <a:buSzPts val="1800"/>
              <a:buNone/>
            </a:pPr>
            <a:r>
              <a:rPr lang="en-US" dirty="0"/>
              <a:t>	</a:t>
            </a:r>
            <a:endParaRPr dirty="0"/>
          </a:p>
          <a:p>
            <a:pPr marL="114300" lvl="0" indent="0" algn="l" rtl="0">
              <a:lnSpc>
                <a:spcPct val="90000"/>
              </a:lnSpc>
              <a:spcBef>
                <a:spcPts val="1000"/>
              </a:spcBef>
              <a:spcAft>
                <a:spcPts val="0"/>
              </a:spcAft>
              <a:buSzPts val="1800"/>
              <a:buNone/>
            </a:pPr>
            <a:r>
              <a:rPr lang="en-US" dirty="0"/>
              <a:t> </a:t>
            </a:r>
            <a:endParaRPr dirty="0"/>
          </a:p>
        </p:txBody>
      </p:sp>
      <p:pic>
        <p:nvPicPr>
          <p:cNvPr id="192" name="Google Shape;192;p21"/>
          <p:cNvPicPr preferRelativeResize="0"/>
          <p:nvPr/>
        </p:nvPicPr>
        <p:blipFill rotWithShape="1">
          <a:blip r:embed="rId4">
            <a:alphaModFix/>
          </a:blip>
          <a:srcRect/>
          <a:stretch/>
        </p:blipFill>
        <p:spPr>
          <a:xfrm>
            <a:off x="1498357" y="3214224"/>
            <a:ext cx="4220164" cy="2114845"/>
          </a:xfrm>
          <a:prstGeom prst="rect">
            <a:avLst/>
          </a:prstGeom>
          <a:noFill/>
          <a:ln>
            <a:noFill/>
          </a:ln>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Circuits and Electronics )</a:t>
            </a:r>
            <a:endParaRPr>
              <a:solidFill>
                <a:schemeClr val="accent1"/>
              </a:solidFill>
            </a:endParaRPr>
          </a:p>
        </p:txBody>
      </p:sp>
      <p:sp>
        <p:nvSpPr>
          <p:cNvPr id="198" name="Google Shape;19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99" name="Google Shape;19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200" name="Google Shape;200;p36"/>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201" name="Google Shape;201;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b="1" dirty="0"/>
              <a:t>Kirchhoff’s current law (KCL): </a:t>
            </a:r>
            <a:r>
              <a:rPr lang="en-US" dirty="0"/>
              <a:t>states that the algebraic sum of currents entering a node (or a closed boundary) is zero.</a:t>
            </a:r>
            <a:endParaRPr dirty="0"/>
          </a:p>
          <a:p>
            <a:pPr marL="114300" lvl="0" indent="0" algn="l" rtl="0">
              <a:lnSpc>
                <a:spcPct val="90000"/>
              </a:lnSpc>
              <a:spcBef>
                <a:spcPts val="1000"/>
              </a:spcBef>
              <a:spcAft>
                <a:spcPts val="0"/>
              </a:spcAft>
              <a:buSzPts val="1800"/>
              <a:buNone/>
            </a:pPr>
            <a:r>
              <a:rPr lang="en-US" dirty="0"/>
              <a:t>Convention: a. Current Entering a node is positive</a:t>
            </a:r>
            <a:endParaRPr dirty="0"/>
          </a:p>
          <a:p>
            <a:pPr marL="114300" lvl="0" indent="0" algn="l" rtl="0">
              <a:lnSpc>
                <a:spcPct val="90000"/>
              </a:lnSpc>
              <a:spcBef>
                <a:spcPts val="1000"/>
              </a:spcBef>
              <a:spcAft>
                <a:spcPts val="0"/>
              </a:spcAft>
              <a:buSzPts val="1800"/>
              <a:buNone/>
            </a:pPr>
            <a:r>
              <a:rPr lang="en-US" dirty="0"/>
              <a:t>		 b. Current Exiting a node positive</a:t>
            </a:r>
            <a:endParaRPr dirty="0"/>
          </a:p>
          <a:p>
            <a:pPr marL="114300" lvl="0" indent="0" algn="l" rtl="0">
              <a:lnSpc>
                <a:spcPct val="90000"/>
              </a:lnSpc>
              <a:spcBef>
                <a:spcPts val="1000"/>
              </a:spcBef>
              <a:spcAft>
                <a:spcPts val="0"/>
              </a:spcAft>
              <a:buSzPts val="1800"/>
              <a:buNone/>
            </a:pPr>
            <a:endParaRPr dirty="0"/>
          </a:p>
          <a:p>
            <a:pPr marL="114300" lvl="0" indent="0" algn="l" rtl="0">
              <a:lnSpc>
                <a:spcPct val="90000"/>
              </a:lnSpc>
              <a:spcBef>
                <a:spcPts val="1000"/>
              </a:spcBef>
              <a:spcAft>
                <a:spcPts val="0"/>
              </a:spcAft>
              <a:buSzPts val="1800"/>
              <a:buNone/>
            </a:pPr>
            <a:r>
              <a:rPr lang="en-US" dirty="0"/>
              <a:t>	</a:t>
            </a:r>
            <a:endParaRPr dirty="0"/>
          </a:p>
          <a:p>
            <a:pPr marL="114300" lvl="0" indent="0" algn="l" rtl="0">
              <a:lnSpc>
                <a:spcPct val="90000"/>
              </a:lnSpc>
              <a:spcBef>
                <a:spcPts val="1000"/>
              </a:spcBef>
              <a:spcAft>
                <a:spcPts val="0"/>
              </a:spcAft>
              <a:buSzPts val="1800"/>
              <a:buNone/>
            </a:pPr>
            <a:r>
              <a:rPr lang="en-US" dirty="0"/>
              <a:t> </a:t>
            </a:r>
            <a:endParaRPr dirty="0"/>
          </a:p>
        </p:txBody>
      </p:sp>
      <p:pic>
        <p:nvPicPr>
          <p:cNvPr id="202" name="Google Shape;202;p36"/>
          <p:cNvPicPr preferRelativeResize="0"/>
          <p:nvPr/>
        </p:nvPicPr>
        <p:blipFill rotWithShape="1">
          <a:blip r:embed="rId4">
            <a:alphaModFix/>
          </a:blip>
          <a:srcRect/>
          <a:stretch/>
        </p:blipFill>
        <p:spPr>
          <a:xfrm>
            <a:off x="1988696" y="4217813"/>
            <a:ext cx="4107304" cy="1510273"/>
          </a:xfrm>
          <a:prstGeom prst="rect">
            <a:avLst/>
          </a:prstGeom>
          <a:noFill/>
          <a:ln>
            <a:noFill/>
          </a:ln>
        </p:spPr>
      </p:pic>
      <p:pic>
        <p:nvPicPr>
          <p:cNvPr id="203" name="Google Shape;203;p36"/>
          <p:cNvPicPr preferRelativeResize="0"/>
          <p:nvPr/>
        </p:nvPicPr>
        <p:blipFill rotWithShape="1">
          <a:blip r:embed="rId5">
            <a:alphaModFix/>
          </a:blip>
          <a:srcRect/>
          <a:stretch/>
        </p:blipFill>
        <p:spPr>
          <a:xfrm>
            <a:off x="6951261" y="3893349"/>
            <a:ext cx="2404277" cy="1943079"/>
          </a:xfrm>
          <a:prstGeom prst="rect">
            <a:avLst/>
          </a:prstGeom>
          <a:noFill/>
          <a:ln>
            <a:noFill/>
          </a:ln>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Circuits and Electronics )</a:t>
            </a:r>
            <a:endParaRPr>
              <a:solidFill>
                <a:schemeClr val="accent1"/>
              </a:solidFill>
            </a:endParaRPr>
          </a:p>
        </p:txBody>
      </p:sp>
      <p:sp>
        <p:nvSpPr>
          <p:cNvPr id="209" name="Google Shape;20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210" name="Google Shape;21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211" name="Google Shape;211;p37"/>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212" name="Google Shape;212;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dirty="0"/>
              <a:t> </a:t>
            </a:r>
            <a:r>
              <a:rPr lang="en-US" b="1" dirty="0"/>
              <a:t>Kirchhoff’s voltage law (KVL)</a:t>
            </a:r>
            <a:r>
              <a:rPr lang="en-US" dirty="0"/>
              <a:t> states that the algebraic sum of all volt ages around a closed path (or loop) is zero.</a:t>
            </a:r>
            <a:endParaRPr dirty="0"/>
          </a:p>
          <a:p>
            <a:pPr marL="114300" lvl="0" indent="0" algn="l" rtl="0">
              <a:lnSpc>
                <a:spcPct val="90000"/>
              </a:lnSpc>
              <a:spcBef>
                <a:spcPts val="1000"/>
              </a:spcBef>
              <a:spcAft>
                <a:spcPts val="0"/>
              </a:spcAft>
              <a:buSzPts val="1800"/>
              <a:buNone/>
            </a:pPr>
            <a:r>
              <a:rPr lang="en-US" dirty="0"/>
              <a:t>	</a:t>
            </a:r>
            <a:endParaRPr dirty="0"/>
          </a:p>
          <a:p>
            <a:pPr marL="114300" lvl="0" indent="0" algn="l" rtl="0">
              <a:lnSpc>
                <a:spcPct val="90000"/>
              </a:lnSpc>
              <a:spcBef>
                <a:spcPts val="1000"/>
              </a:spcBef>
              <a:spcAft>
                <a:spcPts val="0"/>
              </a:spcAft>
              <a:buSzPts val="1800"/>
              <a:buNone/>
            </a:pPr>
            <a:r>
              <a:rPr lang="en-US" dirty="0"/>
              <a:t> </a:t>
            </a:r>
            <a:endParaRPr dirty="0"/>
          </a:p>
        </p:txBody>
      </p:sp>
      <p:pic>
        <p:nvPicPr>
          <p:cNvPr id="213" name="Google Shape;213;p37"/>
          <p:cNvPicPr preferRelativeResize="0"/>
          <p:nvPr/>
        </p:nvPicPr>
        <p:blipFill rotWithShape="1">
          <a:blip r:embed="rId4">
            <a:alphaModFix/>
          </a:blip>
          <a:srcRect/>
          <a:stretch/>
        </p:blipFill>
        <p:spPr>
          <a:xfrm>
            <a:off x="1706492" y="3429000"/>
            <a:ext cx="2486372" cy="1467055"/>
          </a:xfrm>
          <a:prstGeom prst="rect">
            <a:avLst/>
          </a:prstGeom>
          <a:noFill/>
          <a:ln>
            <a:noFill/>
          </a:ln>
        </p:spPr>
      </p:pic>
      <p:pic>
        <p:nvPicPr>
          <p:cNvPr id="214" name="Google Shape;214;p37"/>
          <p:cNvPicPr preferRelativeResize="0"/>
          <p:nvPr/>
        </p:nvPicPr>
        <p:blipFill rotWithShape="1">
          <a:blip r:embed="rId5">
            <a:alphaModFix/>
          </a:blip>
          <a:srcRect/>
          <a:stretch/>
        </p:blipFill>
        <p:spPr>
          <a:xfrm>
            <a:off x="5370167" y="3228946"/>
            <a:ext cx="3477110" cy="1867161"/>
          </a:xfrm>
          <a:prstGeom prst="rect">
            <a:avLst/>
          </a:prstGeom>
          <a:noFill/>
          <a:ln>
            <a:noFill/>
          </a:ln>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Circuits and Electronics )</a:t>
            </a:r>
            <a:endParaRPr>
              <a:solidFill>
                <a:schemeClr val="accent1"/>
              </a:solidFill>
            </a:endParaRPr>
          </a:p>
        </p:txBody>
      </p:sp>
      <p:sp>
        <p:nvSpPr>
          <p:cNvPr id="220" name="Google Shape;22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221" name="Google Shape;22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222" name="Google Shape;222;p38"/>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223" name="Google Shape;223;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dirty="0"/>
              <a:t>Example: Find the value of I  for the below circuit.</a:t>
            </a:r>
            <a:endParaRPr dirty="0"/>
          </a:p>
          <a:p>
            <a:pPr marL="114300" lvl="0" indent="0" algn="l" rtl="0">
              <a:lnSpc>
                <a:spcPct val="90000"/>
              </a:lnSpc>
              <a:spcBef>
                <a:spcPts val="1000"/>
              </a:spcBef>
              <a:spcAft>
                <a:spcPts val="0"/>
              </a:spcAft>
              <a:buSzPts val="1800"/>
              <a:buNone/>
            </a:pPr>
            <a:endParaRPr dirty="0"/>
          </a:p>
          <a:p>
            <a:pPr marL="114300" lvl="0" indent="0" algn="l" rtl="0">
              <a:lnSpc>
                <a:spcPct val="90000"/>
              </a:lnSpc>
              <a:spcBef>
                <a:spcPts val="1000"/>
              </a:spcBef>
              <a:spcAft>
                <a:spcPts val="0"/>
              </a:spcAft>
              <a:buSzPts val="1800"/>
              <a:buNone/>
            </a:pPr>
            <a:r>
              <a:rPr lang="en-US" dirty="0"/>
              <a:t> </a:t>
            </a:r>
            <a:endParaRPr dirty="0"/>
          </a:p>
        </p:txBody>
      </p:sp>
      <p:pic>
        <p:nvPicPr>
          <p:cNvPr id="224" name="Google Shape;224;p38"/>
          <p:cNvPicPr preferRelativeResize="0"/>
          <p:nvPr/>
        </p:nvPicPr>
        <p:blipFill rotWithShape="1">
          <a:blip r:embed="rId4">
            <a:alphaModFix/>
          </a:blip>
          <a:srcRect/>
          <a:stretch/>
        </p:blipFill>
        <p:spPr>
          <a:xfrm>
            <a:off x="2454270" y="2971250"/>
            <a:ext cx="5195227" cy="2432372"/>
          </a:xfrm>
          <a:prstGeom prst="rect">
            <a:avLst/>
          </a:prstGeom>
          <a:noFill/>
          <a:ln>
            <a:noFill/>
          </a:ln>
        </p:spPr>
      </p:pic>
      <p:cxnSp>
        <p:nvCxnSpPr>
          <p:cNvPr id="225" name="Google Shape;225;p38"/>
          <p:cNvCxnSpPr/>
          <p:nvPr/>
        </p:nvCxnSpPr>
        <p:spPr>
          <a:xfrm rot="10800000">
            <a:off x="4227871" y="2871019"/>
            <a:ext cx="934064" cy="0"/>
          </a:xfrm>
          <a:prstGeom prst="straightConnector1">
            <a:avLst/>
          </a:prstGeom>
          <a:noFill/>
          <a:ln w="38100" cap="flat" cmpd="sng">
            <a:solidFill>
              <a:schemeClr val="dk1"/>
            </a:solidFill>
            <a:prstDash val="solid"/>
            <a:round/>
            <a:headEnd type="none" w="sm" len="sm"/>
            <a:tailEnd type="triangle" w="med" len="med"/>
          </a:ln>
          <a:effectLst>
            <a:outerShdw blurRad="40000" dist="23000" dir="5400000" rotWithShape="0">
              <a:srgbClr val="000000">
                <a:alpha val="34901"/>
              </a:srgbClr>
            </a:outerShdw>
          </a:effectLst>
        </p:spPr>
      </p:cxnSp>
      <p:sp>
        <p:nvSpPr>
          <p:cNvPr id="226" name="Google Shape;226;p38"/>
          <p:cNvSpPr txBox="1"/>
          <p:nvPr/>
        </p:nvSpPr>
        <p:spPr>
          <a:xfrm>
            <a:off x="4532671" y="2487561"/>
            <a:ext cx="43261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1" u="none" strike="noStrike" cap="none">
                <a:solidFill>
                  <a:srgbClr val="000000"/>
                </a:solidFill>
                <a:latin typeface="Arial"/>
                <a:ea typeface="Arial"/>
                <a:cs typeface="Arial"/>
                <a:sym typeface="Arial"/>
              </a:rPr>
              <a:t>i</a:t>
            </a:r>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Circuits and Electronics )</a:t>
            </a:r>
            <a:endParaRPr>
              <a:solidFill>
                <a:schemeClr val="accent1"/>
              </a:solidFill>
            </a:endParaRPr>
          </a:p>
        </p:txBody>
      </p:sp>
      <p:sp>
        <p:nvSpPr>
          <p:cNvPr id="232" name="Google Shape;232;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233" name="Google Shape;233;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234" name="Google Shape;234;p39"/>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235" name="Google Shape;235;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b="1" dirty="0"/>
              <a:t>Node Analysis: </a:t>
            </a:r>
            <a:r>
              <a:rPr lang="en-US" dirty="0"/>
              <a:t>Goal -&gt; Finding “</a:t>
            </a:r>
            <a:r>
              <a:rPr lang="en-US" b="1" dirty="0"/>
              <a:t>node voltage</a:t>
            </a:r>
            <a:r>
              <a:rPr lang="en-US" dirty="0"/>
              <a:t>”</a:t>
            </a:r>
            <a:endParaRPr dirty="0"/>
          </a:p>
          <a:p>
            <a:pPr marL="114300" lvl="0" indent="0" algn="l" rtl="0">
              <a:lnSpc>
                <a:spcPct val="90000"/>
              </a:lnSpc>
              <a:spcBef>
                <a:spcPts val="1000"/>
              </a:spcBef>
              <a:spcAft>
                <a:spcPts val="0"/>
              </a:spcAft>
              <a:buSzPts val="1800"/>
              <a:buNone/>
            </a:pPr>
            <a:r>
              <a:rPr lang="en-US" dirty="0"/>
              <a:t> Techniques -&gt; </a:t>
            </a:r>
            <a:r>
              <a:rPr lang="en-US" b="1" dirty="0"/>
              <a:t>KCL and Ohm’s Law</a:t>
            </a:r>
            <a:endParaRPr dirty="0"/>
          </a:p>
          <a:p>
            <a:pPr marL="114300" lvl="0" indent="0" algn="l" rtl="0">
              <a:lnSpc>
                <a:spcPct val="90000"/>
              </a:lnSpc>
              <a:spcBef>
                <a:spcPts val="1000"/>
              </a:spcBef>
              <a:spcAft>
                <a:spcPts val="0"/>
              </a:spcAft>
              <a:buSzPts val="1800"/>
              <a:buNone/>
            </a:pPr>
            <a:r>
              <a:rPr lang="en-US" b="1" dirty="0"/>
              <a:t>Step: </a:t>
            </a:r>
            <a:endParaRPr dirty="0"/>
          </a:p>
          <a:p>
            <a:pPr marL="628650" lvl="0" indent="-514350" algn="l" rtl="0">
              <a:lnSpc>
                <a:spcPct val="90000"/>
              </a:lnSpc>
              <a:spcBef>
                <a:spcPts val="1000"/>
              </a:spcBef>
              <a:spcAft>
                <a:spcPts val="0"/>
              </a:spcAft>
              <a:buSzPts val="1800"/>
              <a:buAutoNum type="arabicPeriod"/>
            </a:pPr>
            <a:r>
              <a:rPr lang="en-US" dirty="0"/>
              <a:t>Identify reference voltage</a:t>
            </a:r>
            <a:endParaRPr dirty="0"/>
          </a:p>
          <a:p>
            <a:pPr marL="628650" lvl="0" indent="-514350" algn="l" rtl="0">
              <a:lnSpc>
                <a:spcPct val="90000"/>
              </a:lnSpc>
              <a:spcBef>
                <a:spcPts val="1000"/>
              </a:spcBef>
              <a:spcAft>
                <a:spcPts val="0"/>
              </a:spcAft>
              <a:buSzPts val="1800"/>
              <a:buAutoNum type="arabicPeriod"/>
            </a:pPr>
            <a:r>
              <a:rPr lang="en-US" dirty="0"/>
              <a:t>Identify unknown node voltage</a:t>
            </a:r>
            <a:endParaRPr dirty="0"/>
          </a:p>
          <a:p>
            <a:pPr marL="628650" lvl="0" indent="-514350" algn="l" rtl="0">
              <a:lnSpc>
                <a:spcPct val="90000"/>
              </a:lnSpc>
              <a:spcBef>
                <a:spcPts val="1000"/>
              </a:spcBef>
              <a:spcAft>
                <a:spcPts val="0"/>
              </a:spcAft>
              <a:buSzPts val="1800"/>
              <a:buAutoNum type="arabicPeriod"/>
            </a:pPr>
            <a:r>
              <a:rPr lang="en-US" dirty="0"/>
              <a:t>Write the node equation</a:t>
            </a:r>
            <a:endParaRPr dirty="0"/>
          </a:p>
          <a:p>
            <a:pPr marL="628650" lvl="0" indent="-514350" algn="l" rtl="0">
              <a:lnSpc>
                <a:spcPct val="90000"/>
              </a:lnSpc>
              <a:spcBef>
                <a:spcPts val="1000"/>
              </a:spcBef>
              <a:spcAft>
                <a:spcPts val="0"/>
              </a:spcAft>
              <a:buSzPts val="1800"/>
              <a:buAutoNum type="arabicPeriod"/>
            </a:pPr>
            <a:r>
              <a:rPr lang="en-US" dirty="0"/>
              <a:t>Solve the node equation</a:t>
            </a:r>
            <a:endParaRPr dirty="0"/>
          </a:p>
          <a:p>
            <a:pPr marL="628650" lvl="0" indent="-400050" algn="l" rtl="0">
              <a:lnSpc>
                <a:spcPct val="90000"/>
              </a:lnSpc>
              <a:spcBef>
                <a:spcPts val="1000"/>
              </a:spcBef>
              <a:spcAft>
                <a:spcPts val="0"/>
              </a:spcAft>
              <a:buSzPts val="1800"/>
              <a:buNone/>
            </a:pPr>
            <a:endParaRPr b="1" dirty="0"/>
          </a:p>
        </p:txBody>
      </p:sp>
      <p:pic>
        <p:nvPicPr>
          <p:cNvPr id="236" name="Google Shape;236;p39"/>
          <p:cNvPicPr preferRelativeResize="0"/>
          <p:nvPr/>
        </p:nvPicPr>
        <p:blipFill rotWithShape="1">
          <a:blip r:embed="rId4">
            <a:alphaModFix/>
          </a:blip>
          <a:srcRect l="50090" t="19884" r="10559"/>
          <a:stretch/>
        </p:blipFill>
        <p:spPr>
          <a:xfrm>
            <a:off x="8153400" y="3454725"/>
            <a:ext cx="3200400" cy="2395916"/>
          </a:xfrm>
          <a:prstGeom prst="rect">
            <a:avLst/>
          </a:prstGeom>
          <a:noFill/>
          <a:ln>
            <a:noFill/>
          </a:ln>
        </p:spPr>
      </p:pic>
      <p:pic>
        <p:nvPicPr>
          <p:cNvPr id="237" name="Google Shape;237;p39"/>
          <p:cNvPicPr preferRelativeResize="0"/>
          <p:nvPr/>
        </p:nvPicPr>
        <p:blipFill rotWithShape="1">
          <a:blip r:embed="rId5">
            <a:alphaModFix/>
          </a:blip>
          <a:srcRect/>
          <a:stretch/>
        </p:blipFill>
        <p:spPr>
          <a:xfrm>
            <a:off x="8396636" y="2104716"/>
            <a:ext cx="3078526" cy="1350009"/>
          </a:xfrm>
          <a:prstGeom prst="rect">
            <a:avLst/>
          </a:prstGeom>
          <a:noFill/>
          <a:ln>
            <a:noFill/>
          </a:ln>
        </p:spPr>
      </p:pic>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243" name="Google Shape;243;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244" name="Google Shape;244;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245" name="Google Shape;245;p40"/>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246" name="Google Shape;246;p40"/>
              <p:cNvSpPr txBox="1">
                <a:spLocks noGrp="1"/>
              </p:cNvSpPr>
              <p:nvPr>
                <p:ph type="body" idx="1"/>
              </p:nvPr>
            </p:nvSpPr>
            <p:spPr>
              <a:xfrm>
                <a:off x="838199" y="1825625"/>
                <a:ext cx="10999839"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b="1" dirty="0"/>
                  <a:t>Example: </a:t>
                </a:r>
                <a:r>
                  <a:rPr lang="en-US" dirty="0"/>
                  <a:t>Find  the voltage of the node a. Given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10</m:t>
                    </m:r>
                    <m:r>
                      <m:rPr>
                        <m:sty m:val="p"/>
                      </m:rPr>
                      <a:rPr lang="en-US" b="0" i="0" smtClean="0">
                        <a:latin typeface="Cambria Math" panose="02040503050406030204" pitchFamily="18" charset="0"/>
                      </a:rPr>
                      <m:t>Ω</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5</m:t>
                    </m:r>
                    <m:r>
                      <m:rPr>
                        <m:sty m:val="p"/>
                      </m:rPr>
                      <a:rPr lang="en-US" b="0" i="0" smtClean="0">
                        <a:latin typeface="Cambria Math" panose="02040503050406030204" pitchFamily="18" charset="0"/>
                      </a:rPr>
                      <m:t>Ω</m:t>
                    </m:r>
                    <m:r>
                      <a:rPr lang="en-US" b="0" i="1" smtClean="0">
                        <a:latin typeface="Cambria Math" panose="02040503050406030204" pitchFamily="18" charset="0"/>
                      </a:rPr>
                      <m:t> </m:t>
                    </m:r>
                  </m:oMath>
                </a14:m>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b="0" i="1" smtClean="0">
                        <a:latin typeface="Cambria Math" panose="02040503050406030204" pitchFamily="18" charset="0"/>
                      </a:rPr>
                      <m:t>20</m:t>
                    </m:r>
                    <m:r>
                      <m:rPr>
                        <m:sty m:val="p"/>
                      </m:rPr>
                      <a:rPr lang="en-US" b="0" i="0" smtClean="0">
                        <a:latin typeface="Cambria Math" panose="02040503050406030204" pitchFamily="18" charset="0"/>
                      </a:rPr>
                      <m:t>Ω</m:t>
                    </m:r>
                  </m:oMath>
                </a14:m>
                <a:r>
                  <a:rPr lang="en-US" dirty="0"/>
                  <a:t>.</a:t>
                </a:r>
              </a:p>
              <a:p>
                <a:pPr marL="114300" lvl="0" indent="0" algn="l" rtl="0">
                  <a:lnSpc>
                    <a:spcPct val="90000"/>
                  </a:lnSpc>
                  <a:spcBef>
                    <a:spcPts val="1000"/>
                  </a:spcBef>
                  <a:spcAft>
                    <a:spcPts val="0"/>
                  </a:spcAft>
                  <a:buSzPts val="1800"/>
                  <a:buNone/>
                </a:pPr>
                <a:endParaRPr b="1" dirty="0"/>
              </a:p>
            </p:txBody>
          </p:sp>
        </mc:Choice>
        <mc:Fallback xmlns="">
          <p:sp>
            <p:nvSpPr>
              <p:cNvPr id="246" name="Google Shape;246;p40"/>
              <p:cNvSpPr txBox="1">
                <a:spLocks noGrp="1" noRot="1" noChangeAspect="1" noMove="1" noResize="1" noEditPoints="1" noAdjustHandles="1" noChangeArrowheads="1" noChangeShapeType="1" noTextEdit="1"/>
              </p:cNvSpPr>
              <p:nvPr>
                <p:ph type="body" idx="1"/>
              </p:nvPr>
            </p:nvSpPr>
            <p:spPr>
              <a:xfrm>
                <a:off x="838199" y="1825625"/>
                <a:ext cx="10999839" cy="4351338"/>
              </a:xfrm>
              <a:prstGeom prst="rect">
                <a:avLst/>
              </a:prstGeom>
              <a:blipFill>
                <a:blip r:embed="rId4"/>
                <a:stretch>
                  <a:fillRect l="-55"/>
                </a:stretch>
              </a:blipFill>
              <a:ln>
                <a:noFill/>
              </a:ln>
            </p:spPr>
            <p:txBody>
              <a:bodyPr/>
              <a:lstStyle/>
              <a:p>
                <a:r>
                  <a:rPr lang="en-US">
                    <a:noFill/>
                  </a:rPr>
                  <a:t> </a:t>
                </a:r>
              </a:p>
            </p:txBody>
          </p:sp>
        </mc:Fallback>
      </mc:AlternateContent>
      <p:pic>
        <p:nvPicPr>
          <p:cNvPr id="247" name="Google Shape;247;p40"/>
          <p:cNvPicPr preferRelativeResize="0"/>
          <p:nvPr/>
        </p:nvPicPr>
        <p:blipFill rotWithShape="1">
          <a:blip r:embed="rId5">
            <a:alphaModFix/>
          </a:blip>
          <a:srcRect/>
          <a:stretch/>
        </p:blipFill>
        <p:spPr>
          <a:xfrm>
            <a:off x="1906150" y="3143910"/>
            <a:ext cx="5894967" cy="2421147"/>
          </a:xfrm>
          <a:prstGeom prst="rect">
            <a:avLst/>
          </a:prstGeom>
          <a:noFill/>
          <a:ln>
            <a:noFill/>
          </a:ln>
        </p:spPr>
      </p:pic>
      <p:sp>
        <p:nvSpPr>
          <p:cNvPr id="248" name="Google Shape;248;p40"/>
          <p:cNvSpPr txBox="1"/>
          <p:nvPr/>
        </p:nvSpPr>
        <p:spPr>
          <a:xfrm>
            <a:off x="4681568" y="3311982"/>
            <a:ext cx="34412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a:t>
            </a:r>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Electronic Circuits and Devices)</a:t>
            </a:r>
            <a:endParaRPr>
              <a:solidFill>
                <a:schemeClr val="accent1"/>
              </a:solidFill>
            </a:endParaRPr>
          </a:p>
        </p:txBody>
      </p:sp>
      <p:sp>
        <p:nvSpPr>
          <p:cNvPr id="286" name="Google Shape;286;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287" name="Google Shape;287;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288" name="Google Shape;288;p44"/>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289" name="Google Shape;289;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400" b="1" dirty="0"/>
              <a:t>Semiconductor ( Si )</a:t>
            </a:r>
            <a:endParaRPr sz="2400" dirty="0"/>
          </a:p>
          <a:p>
            <a:pPr marL="457200" lvl="0" indent="-342900" algn="l" rtl="0">
              <a:lnSpc>
                <a:spcPct val="90000"/>
              </a:lnSpc>
              <a:spcBef>
                <a:spcPts val="1000"/>
              </a:spcBef>
              <a:spcAft>
                <a:spcPts val="0"/>
              </a:spcAft>
              <a:buSzPts val="1800"/>
              <a:buFont typeface="Noto Sans Symbols"/>
              <a:buChar char="⮚"/>
            </a:pPr>
            <a:r>
              <a:rPr lang="en-US" sz="2400" b="1" dirty="0">
                <a:latin typeface="Arial"/>
                <a:ea typeface="Arial"/>
                <a:cs typeface="Arial"/>
                <a:sym typeface="Arial"/>
              </a:rPr>
              <a:t>Intrinsic Semiconductor: </a:t>
            </a:r>
            <a:r>
              <a:rPr lang="en-US" sz="2400" dirty="0">
                <a:latin typeface="Arial"/>
                <a:ea typeface="Arial"/>
                <a:cs typeface="Arial"/>
                <a:sym typeface="Arial"/>
              </a:rPr>
              <a:t>pure semiconductor crystal</a:t>
            </a:r>
            <a:endParaRPr sz="2400" dirty="0"/>
          </a:p>
          <a:p>
            <a:pPr marL="457200" lvl="0" indent="-342900" algn="l" rtl="0">
              <a:lnSpc>
                <a:spcPct val="90000"/>
              </a:lnSpc>
              <a:spcBef>
                <a:spcPts val="1000"/>
              </a:spcBef>
              <a:spcAft>
                <a:spcPts val="0"/>
              </a:spcAft>
              <a:buSzPts val="1800"/>
              <a:buFont typeface="Noto Sans Symbols"/>
              <a:buChar char="⮚"/>
            </a:pPr>
            <a:r>
              <a:rPr lang="en-US" sz="2400" b="1" dirty="0">
                <a:latin typeface="Arial"/>
                <a:ea typeface="Arial"/>
                <a:cs typeface="Arial"/>
                <a:sym typeface="Arial"/>
              </a:rPr>
              <a:t>Extrinsic Semiconductor: </a:t>
            </a:r>
            <a:r>
              <a:rPr lang="en-US" sz="2400" dirty="0">
                <a:latin typeface="Arial"/>
                <a:ea typeface="Arial"/>
                <a:cs typeface="Arial"/>
                <a:sym typeface="Arial"/>
              </a:rPr>
              <a:t>impurity is being added.</a:t>
            </a:r>
            <a:endParaRPr sz="2400" dirty="0"/>
          </a:p>
          <a:p>
            <a:pPr marL="114300" lvl="0" indent="0" algn="l" rtl="0">
              <a:lnSpc>
                <a:spcPct val="90000"/>
              </a:lnSpc>
              <a:spcBef>
                <a:spcPts val="1000"/>
              </a:spcBef>
              <a:spcAft>
                <a:spcPts val="0"/>
              </a:spcAft>
              <a:buSzPts val="1800"/>
              <a:buNone/>
            </a:pPr>
            <a:endParaRPr sz="2400" dirty="0">
              <a:latin typeface="Arial"/>
              <a:ea typeface="Arial"/>
              <a:cs typeface="Arial"/>
              <a:sym typeface="Arial"/>
            </a:endParaRPr>
          </a:p>
          <a:p>
            <a:pPr marL="114300" lvl="0" indent="0" algn="l" rtl="0">
              <a:lnSpc>
                <a:spcPct val="90000"/>
              </a:lnSpc>
              <a:spcBef>
                <a:spcPts val="1000"/>
              </a:spcBef>
              <a:spcAft>
                <a:spcPts val="0"/>
              </a:spcAft>
              <a:buSzPts val="1800"/>
              <a:buNone/>
            </a:pPr>
            <a:r>
              <a:rPr lang="en-US" sz="2400" dirty="0">
                <a:latin typeface="Arial"/>
                <a:ea typeface="Arial"/>
                <a:cs typeface="Arial"/>
                <a:sym typeface="Arial"/>
              </a:rPr>
              <a:t>Extrinsic Semiconductor is of two types:</a:t>
            </a:r>
            <a:endParaRPr sz="2400" dirty="0"/>
          </a:p>
          <a:p>
            <a:pPr marL="457200" lvl="0" indent="-342900" algn="l" rtl="0">
              <a:lnSpc>
                <a:spcPct val="90000"/>
              </a:lnSpc>
              <a:spcBef>
                <a:spcPts val="1000"/>
              </a:spcBef>
              <a:spcAft>
                <a:spcPts val="0"/>
              </a:spcAft>
              <a:buSzPts val="1800"/>
              <a:buFont typeface="Noto Sans Symbols"/>
              <a:buChar char="⮚"/>
            </a:pPr>
            <a:r>
              <a:rPr lang="en-US" sz="2400" b="1" dirty="0">
                <a:latin typeface="Arial"/>
                <a:ea typeface="Arial"/>
                <a:cs typeface="Arial"/>
                <a:sym typeface="Arial"/>
              </a:rPr>
              <a:t>n-type: </a:t>
            </a:r>
            <a:r>
              <a:rPr lang="en-US" sz="2400" dirty="0">
                <a:latin typeface="Arial"/>
                <a:ea typeface="Arial"/>
                <a:cs typeface="Arial"/>
                <a:sym typeface="Arial"/>
              </a:rPr>
              <a:t>Majority electron, Minority hole</a:t>
            </a:r>
            <a:endParaRPr sz="2400" dirty="0"/>
          </a:p>
          <a:p>
            <a:pPr marL="457200" lvl="0" indent="-342900" algn="l" rtl="0">
              <a:lnSpc>
                <a:spcPct val="90000"/>
              </a:lnSpc>
              <a:spcBef>
                <a:spcPts val="1000"/>
              </a:spcBef>
              <a:spcAft>
                <a:spcPts val="0"/>
              </a:spcAft>
              <a:buSzPts val="1800"/>
              <a:buFont typeface="Noto Sans Symbols"/>
              <a:buChar char="⮚"/>
            </a:pPr>
            <a:r>
              <a:rPr lang="en-US" sz="2400" b="1" dirty="0">
                <a:latin typeface="Arial"/>
                <a:ea typeface="Arial"/>
                <a:cs typeface="Arial"/>
                <a:sym typeface="Arial"/>
              </a:rPr>
              <a:t>p-type: </a:t>
            </a:r>
            <a:r>
              <a:rPr lang="en-US" sz="2400" dirty="0">
                <a:latin typeface="Arial"/>
                <a:ea typeface="Arial"/>
                <a:cs typeface="Arial"/>
                <a:sym typeface="Arial"/>
              </a:rPr>
              <a:t>Majority hole , Minority electron</a:t>
            </a:r>
            <a:endParaRPr sz="2400" dirty="0"/>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Electronic Circuits and Devices)</a:t>
            </a:r>
            <a:endParaRPr>
              <a:solidFill>
                <a:schemeClr val="accent1"/>
              </a:solidFill>
            </a:endParaRPr>
          </a:p>
        </p:txBody>
      </p:sp>
      <p:sp>
        <p:nvSpPr>
          <p:cNvPr id="295" name="Google Shape;295;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296" name="Google Shape;296;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297" name="Google Shape;297;p45"/>
          <p:cNvPicPr preferRelativeResize="0"/>
          <p:nvPr/>
        </p:nvPicPr>
        <p:blipFill rotWithShape="1">
          <a:blip r:embed="rId3">
            <a:alphaModFix/>
          </a:blip>
          <a:srcRect/>
          <a:stretch/>
        </p:blipFill>
        <p:spPr>
          <a:xfrm>
            <a:off x="61586" y="5403622"/>
            <a:ext cx="1035082" cy="1035082"/>
          </a:xfrm>
          <a:prstGeom prst="rect">
            <a:avLst/>
          </a:prstGeom>
          <a:noFill/>
          <a:ln>
            <a:noFill/>
          </a:ln>
        </p:spPr>
      </p:pic>
      <p:pic>
        <p:nvPicPr>
          <p:cNvPr id="298" name="Google Shape;298;p45"/>
          <p:cNvPicPr preferRelativeResize="0"/>
          <p:nvPr/>
        </p:nvPicPr>
        <p:blipFill rotWithShape="1">
          <a:blip r:embed="rId4">
            <a:alphaModFix/>
          </a:blip>
          <a:srcRect/>
          <a:stretch/>
        </p:blipFill>
        <p:spPr>
          <a:xfrm>
            <a:off x="1096668" y="1514168"/>
            <a:ext cx="4829917" cy="3399111"/>
          </a:xfrm>
          <a:prstGeom prst="rect">
            <a:avLst/>
          </a:prstGeom>
          <a:noFill/>
          <a:ln>
            <a:noFill/>
          </a:ln>
        </p:spPr>
      </p:pic>
      <p:pic>
        <p:nvPicPr>
          <p:cNvPr id="299" name="Google Shape;299;p45"/>
          <p:cNvPicPr preferRelativeResize="0"/>
          <p:nvPr/>
        </p:nvPicPr>
        <p:blipFill rotWithShape="1">
          <a:blip r:embed="rId5">
            <a:alphaModFix/>
          </a:blip>
          <a:srcRect/>
          <a:stretch/>
        </p:blipFill>
        <p:spPr>
          <a:xfrm>
            <a:off x="6517380" y="1514168"/>
            <a:ext cx="4418844" cy="3399111"/>
          </a:xfrm>
          <a:prstGeom prst="rect">
            <a:avLst/>
          </a:prstGeom>
          <a:noFill/>
          <a:ln>
            <a:noFill/>
          </a:ln>
        </p:spPr>
      </p:pic>
      <p:sp>
        <p:nvSpPr>
          <p:cNvPr id="300" name="Google Shape;300;p45"/>
          <p:cNvSpPr txBox="1"/>
          <p:nvPr/>
        </p:nvSpPr>
        <p:spPr>
          <a:xfrm>
            <a:off x="1789471" y="5122606"/>
            <a:ext cx="36182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Fig: n-type [ Si + group V ( P, As, Sb ) ]</a:t>
            </a:r>
            <a:endParaRPr/>
          </a:p>
        </p:txBody>
      </p:sp>
      <p:sp>
        <p:nvSpPr>
          <p:cNvPr id="301" name="Google Shape;301;p45"/>
          <p:cNvSpPr txBox="1"/>
          <p:nvPr/>
        </p:nvSpPr>
        <p:spPr>
          <a:xfrm>
            <a:off x="6784260" y="5095845"/>
            <a:ext cx="36182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Fig: p-type [ Si + group III (B,Ga) ]</a:t>
            </a:r>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Electronic Circuits and Devices)</a:t>
            </a:r>
            <a:endParaRPr>
              <a:solidFill>
                <a:schemeClr val="accent1"/>
              </a:solidFill>
            </a:endParaRPr>
          </a:p>
        </p:txBody>
      </p:sp>
      <p:sp>
        <p:nvSpPr>
          <p:cNvPr id="307" name="Google Shape;307;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308" name="Google Shape;308;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pic>
        <p:nvPicPr>
          <p:cNvPr id="309" name="Google Shape;309;p46"/>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10" name="Google Shape;310;p46"/>
          <p:cNvSpPr txBox="1">
            <a:spLocks noGrp="1"/>
          </p:cNvSpPr>
          <p:nvPr>
            <p:ph type="body" idx="1"/>
          </p:nvPr>
        </p:nvSpPr>
        <p:spPr>
          <a:xfrm>
            <a:off x="1199534" y="1825625"/>
            <a:ext cx="10154265" cy="4349033"/>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b="1" dirty="0"/>
              <a:t>Diode:</a:t>
            </a:r>
            <a:endParaRPr dirty="0"/>
          </a:p>
          <a:p>
            <a:pPr marL="114300" lvl="0" indent="0" algn="l" rtl="0">
              <a:lnSpc>
                <a:spcPct val="90000"/>
              </a:lnSpc>
              <a:spcBef>
                <a:spcPts val="1000"/>
              </a:spcBef>
              <a:spcAft>
                <a:spcPts val="0"/>
              </a:spcAft>
              <a:buSzPts val="1800"/>
              <a:buNone/>
            </a:pPr>
            <a:endParaRPr b="1" dirty="0"/>
          </a:p>
        </p:txBody>
      </p:sp>
      <p:pic>
        <p:nvPicPr>
          <p:cNvPr id="311" name="Google Shape;311;p46"/>
          <p:cNvPicPr preferRelativeResize="0"/>
          <p:nvPr/>
        </p:nvPicPr>
        <p:blipFill rotWithShape="1">
          <a:blip r:embed="rId4">
            <a:alphaModFix/>
          </a:blip>
          <a:srcRect/>
          <a:stretch/>
        </p:blipFill>
        <p:spPr>
          <a:xfrm>
            <a:off x="1199534" y="2814810"/>
            <a:ext cx="4753761" cy="1767023"/>
          </a:xfrm>
          <a:prstGeom prst="rect">
            <a:avLst/>
          </a:prstGeom>
          <a:noFill/>
          <a:ln>
            <a:noFill/>
          </a:ln>
        </p:spPr>
      </p:pic>
      <p:sp>
        <p:nvSpPr>
          <p:cNvPr id="312" name="Google Shape;312;p46"/>
          <p:cNvSpPr txBox="1"/>
          <p:nvPr/>
        </p:nvSpPr>
        <p:spPr>
          <a:xfrm>
            <a:off x="1917290" y="4935793"/>
            <a:ext cx="3470787"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Calibri"/>
                <a:ea typeface="Calibri"/>
                <a:cs typeface="Calibri"/>
                <a:sym typeface="Calibri"/>
              </a:rPr>
              <a:t>Fig: Simplified physical structure of the pn junction.</a:t>
            </a:r>
            <a:endParaRPr/>
          </a:p>
        </p:txBody>
      </p:sp>
      <p:pic>
        <p:nvPicPr>
          <p:cNvPr id="313" name="Google Shape;313;p46"/>
          <p:cNvPicPr preferRelativeResize="0"/>
          <p:nvPr/>
        </p:nvPicPr>
        <p:blipFill rotWithShape="1">
          <a:blip r:embed="rId5">
            <a:alphaModFix/>
          </a:blip>
          <a:srcRect/>
          <a:stretch/>
        </p:blipFill>
        <p:spPr>
          <a:xfrm>
            <a:off x="6617109" y="2703850"/>
            <a:ext cx="3775588" cy="2065768"/>
          </a:xfrm>
          <a:prstGeom prst="rect">
            <a:avLst/>
          </a:prstGeom>
          <a:noFill/>
          <a:ln>
            <a:noFill/>
          </a:ln>
        </p:spPr>
      </p:pic>
      <p:sp>
        <p:nvSpPr>
          <p:cNvPr id="314" name="Google Shape;314;p46"/>
          <p:cNvSpPr txBox="1"/>
          <p:nvPr/>
        </p:nvSpPr>
        <p:spPr>
          <a:xfrm>
            <a:off x="7182464" y="4935793"/>
            <a:ext cx="3470787"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Calibri"/>
                <a:ea typeface="Calibri"/>
                <a:cs typeface="Calibri"/>
                <a:sym typeface="Calibri"/>
              </a:rPr>
              <a:t>Fig:  pn junction with no applied voltage</a:t>
            </a:r>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320" name="Google Shape;320;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321" name="Google Shape;321;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pic>
        <p:nvPicPr>
          <p:cNvPr id="322" name="Google Shape;322;p47"/>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23" name="Google Shape;323;p47"/>
              <p:cNvSpPr txBox="1">
                <a:spLocks noGrp="1"/>
              </p:cNvSpPr>
              <p:nvPr>
                <p:ph type="body" idx="1"/>
              </p:nvPr>
            </p:nvSpPr>
            <p:spPr>
              <a:xfrm>
                <a:off x="838200" y="1303020"/>
                <a:ext cx="6057900" cy="4873943"/>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400" b="1" dirty="0">
                    <a:latin typeface="+mn-lt"/>
                    <a:ea typeface="Arial"/>
                    <a:cs typeface="Times New Roman" panose="02020603050405020304" pitchFamily="18" charset="0"/>
                    <a:sym typeface="Arial"/>
                  </a:rPr>
                  <a:t>IV curve: </a:t>
                </a:r>
              </a:p>
              <a:p>
                <a:pPr marL="114300" lvl="0" indent="0" algn="l" rtl="0">
                  <a:lnSpc>
                    <a:spcPct val="90000"/>
                  </a:lnSpc>
                  <a:spcBef>
                    <a:spcPts val="1000"/>
                  </a:spcBef>
                  <a:spcAft>
                    <a:spcPts val="0"/>
                  </a:spcAft>
                  <a:buSzPts val="1800"/>
                  <a:buNone/>
                </a:pPr>
                <a:r>
                  <a:rPr lang="en-US" sz="2400" dirty="0">
                    <a:latin typeface="+mn-lt"/>
                    <a:cs typeface="Times New Roman" panose="02020603050405020304" pitchFamily="18" charset="0"/>
                    <a:sym typeface="Arial"/>
                  </a:rPr>
                  <a:t>In this course we will assume these </a:t>
                </a:r>
              </a:p>
              <a:p>
                <a:pPr marL="114300" lvl="0" indent="0" algn="l" rtl="0">
                  <a:lnSpc>
                    <a:spcPct val="90000"/>
                  </a:lnSpc>
                  <a:spcBef>
                    <a:spcPts val="1000"/>
                  </a:spcBef>
                  <a:spcAft>
                    <a:spcPts val="0"/>
                  </a:spcAft>
                  <a:buSzPts val="1800"/>
                  <a:buNone/>
                </a:pPr>
                <a:r>
                  <a:rPr lang="en-US" sz="2400" dirty="0">
                    <a:latin typeface="+mn-lt"/>
                    <a:cs typeface="Times New Roman" panose="02020603050405020304" pitchFamily="18" charset="0"/>
                    <a:sym typeface="Arial"/>
                  </a:rPr>
                  <a:t>two voltage of the diode. But they can </a:t>
                </a:r>
              </a:p>
              <a:p>
                <a:pPr marL="114300" lvl="0" indent="0" algn="l" rtl="0">
                  <a:lnSpc>
                    <a:spcPct val="90000"/>
                  </a:lnSpc>
                  <a:spcBef>
                    <a:spcPts val="1000"/>
                  </a:spcBef>
                  <a:spcAft>
                    <a:spcPts val="0"/>
                  </a:spcAft>
                  <a:buSzPts val="1800"/>
                  <a:buNone/>
                </a:pPr>
                <a:r>
                  <a:rPr lang="en-US" sz="2400" dirty="0">
                    <a:latin typeface="+mn-lt"/>
                    <a:cs typeface="Times New Roman" panose="02020603050405020304" pitchFamily="18" charset="0"/>
                    <a:sym typeface="Arial"/>
                  </a:rPr>
                  <a:t>vary depending on diode model. </a:t>
                </a:r>
              </a:p>
              <a:p>
                <a:pPr marL="114300" indent="0">
                  <a:buNone/>
                </a:pPr>
                <a:r>
                  <a:rPr lang="en-US" sz="2000" dirty="0">
                    <a:latin typeface="+mn-lt"/>
                    <a:cs typeface="Times New Roman" panose="02020603050405020304" pitchFamily="18" charset="0"/>
                  </a:rPr>
                  <a:t>Conduction Voltage, </a:t>
                </a:r>
                <a14:m>
                  <m:oMath xmlns:m="http://schemas.openxmlformats.org/officeDocument/2006/math">
                    <m:sSub>
                      <m:sSubPr>
                        <m:ctrlPr>
                          <a:rPr lang="ar-AE" sz="2000" b="1" i="1" smtClean="0">
                            <a:latin typeface="Cambria Math" panose="02040503050406030204" pitchFamily="18" charset="0"/>
                          </a:rPr>
                        </m:ctrlPr>
                      </m:sSubPr>
                      <m:e>
                        <m:r>
                          <a:rPr lang="ar-AE" sz="2000" b="1" i="1" smtClean="0">
                            <a:latin typeface="Cambria Math" panose="02040503050406030204" pitchFamily="18" charset="0"/>
                          </a:rPr>
                          <m:t>𝑽</m:t>
                        </m:r>
                      </m:e>
                      <m:sub>
                        <m:r>
                          <a:rPr lang="ar-AE" sz="2000" b="1" i="1" smtClean="0">
                            <a:latin typeface="Cambria Math" panose="02040503050406030204" pitchFamily="18" charset="0"/>
                          </a:rPr>
                          <m:t>𝑫</m:t>
                        </m:r>
                      </m:sub>
                    </m:sSub>
                    <m:r>
                      <a:rPr lang="ar-AE" sz="2000" b="1" i="1" smtClean="0">
                        <a:latin typeface="Cambria Math" panose="02040503050406030204" pitchFamily="18" charset="0"/>
                      </a:rPr>
                      <m:t>=</m:t>
                    </m:r>
                    <m:r>
                      <a:rPr lang="ar-AE" sz="2000" b="1" i="1" smtClean="0">
                        <a:latin typeface="Cambria Math" panose="02040503050406030204" pitchFamily="18" charset="0"/>
                      </a:rPr>
                      <m:t>𝟎</m:t>
                    </m:r>
                    <m:r>
                      <a:rPr lang="ar-AE" sz="2000" b="1" i="1" smtClean="0">
                        <a:latin typeface="Cambria Math" panose="02040503050406030204" pitchFamily="18" charset="0"/>
                      </a:rPr>
                      <m:t>.</m:t>
                    </m:r>
                    <m:r>
                      <a:rPr lang="ar-AE" sz="2000" b="1" i="1" smtClean="0">
                        <a:latin typeface="Cambria Math" panose="02040503050406030204" pitchFamily="18" charset="0"/>
                      </a:rPr>
                      <m:t>𝟕</m:t>
                    </m:r>
                    <m:r>
                      <a:rPr lang="ar-AE" sz="2000" b="1" i="1" smtClean="0">
                        <a:latin typeface="Cambria Math" panose="02040503050406030204" pitchFamily="18" charset="0"/>
                      </a:rPr>
                      <m:t>𝑽</m:t>
                    </m:r>
                  </m:oMath>
                </a14:m>
                <a:endParaRPr lang="ar-AE" sz="2000" b="1" dirty="0">
                  <a:latin typeface="+mn-lt"/>
                  <a:cs typeface="Times New Roman" panose="02020603050405020304" pitchFamily="18" charset="0"/>
                </a:endParaRPr>
              </a:p>
              <a:p>
                <a:pPr marL="114300" indent="0">
                  <a:buNone/>
                </a:pPr>
                <a:r>
                  <a:rPr lang="en-US" sz="2000" dirty="0">
                    <a:latin typeface="+mn-lt"/>
                    <a:cs typeface="Times New Roman" panose="02020603050405020304" pitchFamily="18" charset="0"/>
                  </a:rPr>
                  <a:t>Threshold Voltage/Knee Voltage, </a:t>
                </a:r>
                <a14:m>
                  <m:oMath xmlns:m="http://schemas.openxmlformats.org/officeDocument/2006/math">
                    <m:sSub>
                      <m:sSubPr>
                        <m:ctrlPr>
                          <a:rPr lang="ar-AE" sz="2000" b="1" i="1" smtClean="0">
                            <a:latin typeface="Cambria Math" panose="02040503050406030204" pitchFamily="18" charset="0"/>
                          </a:rPr>
                        </m:ctrlPr>
                      </m:sSubPr>
                      <m:e>
                        <m:r>
                          <a:rPr lang="ar-AE" sz="2000" b="1" i="1" smtClean="0">
                            <a:latin typeface="Cambria Math" panose="02040503050406030204" pitchFamily="18" charset="0"/>
                          </a:rPr>
                          <m:t>𝑽</m:t>
                        </m:r>
                      </m:e>
                      <m:sub>
                        <m:r>
                          <a:rPr lang="ar-AE" sz="2000" b="1" i="1" smtClean="0">
                            <a:latin typeface="Cambria Math" panose="02040503050406030204" pitchFamily="18" charset="0"/>
                          </a:rPr>
                          <m:t>𝜸</m:t>
                        </m:r>
                      </m:sub>
                    </m:sSub>
                    <m:r>
                      <a:rPr lang="ar-AE" sz="2000" b="1" i="1" smtClean="0">
                        <a:latin typeface="Cambria Math" panose="02040503050406030204" pitchFamily="18" charset="0"/>
                      </a:rPr>
                      <m:t>=</m:t>
                    </m:r>
                    <m:r>
                      <a:rPr lang="ar-AE" sz="2000" b="1" i="1" smtClean="0">
                        <a:latin typeface="Cambria Math" panose="02040503050406030204" pitchFamily="18" charset="0"/>
                      </a:rPr>
                      <m:t>𝟎</m:t>
                    </m:r>
                    <m:r>
                      <a:rPr lang="ar-AE" sz="2000" b="1" i="1" smtClean="0">
                        <a:latin typeface="Cambria Math" panose="02040503050406030204" pitchFamily="18" charset="0"/>
                      </a:rPr>
                      <m:t>.</m:t>
                    </m:r>
                    <m:r>
                      <a:rPr lang="ar-AE" sz="2000" b="1" i="1" smtClean="0">
                        <a:latin typeface="Cambria Math" panose="02040503050406030204" pitchFamily="18" charset="0"/>
                      </a:rPr>
                      <m:t>𝟔</m:t>
                    </m:r>
                    <m:r>
                      <a:rPr lang="ar-AE" sz="2000" b="1" i="1" smtClean="0">
                        <a:latin typeface="Cambria Math" panose="02040503050406030204" pitchFamily="18" charset="0"/>
                      </a:rPr>
                      <m:t> </m:t>
                    </m:r>
                    <m:r>
                      <a:rPr lang="ar-AE" sz="2000" b="1" i="1" smtClean="0">
                        <a:latin typeface="Cambria Math" panose="02040503050406030204" pitchFamily="18" charset="0"/>
                      </a:rPr>
                      <m:t>𝑽</m:t>
                    </m:r>
                  </m:oMath>
                </a14:m>
                <a:endParaRPr lang="ar-AE" sz="2000" b="1" dirty="0">
                  <a:latin typeface="+mn-lt"/>
                  <a:cs typeface="Times New Roman" panose="02020603050405020304" pitchFamily="18" charset="0"/>
                </a:endParaRPr>
              </a:p>
              <a:p>
                <a:pPr marL="114300" lvl="0" indent="0" algn="l" rtl="0">
                  <a:lnSpc>
                    <a:spcPct val="90000"/>
                  </a:lnSpc>
                  <a:spcBef>
                    <a:spcPts val="1000"/>
                  </a:spcBef>
                  <a:spcAft>
                    <a:spcPts val="0"/>
                  </a:spcAft>
                  <a:buSzPts val="1800"/>
                  <a:buNone/>
                </a:pPr>
                <a:endParaRPr lang="ar-AE" sz="2400" b="1" dirty="0"/>
              </a:p>
              <a:p>
                <a:pPr marL="114300" lvl="0" indent="0" algn="l" rtl="0">
                  <a:lnSpc>
                    <a:spcPct val="90000"/>
                  </a:lnSpc>
                  <a:spcBef>
                    <a:spcPts val="1000"/>
                  </a:spcBef>
                  <a:spcAft>
                    <a:spcPts val="0"/>
                  </a:spcAft>
                  <a:buSzPts val="1800"/>
                  <a:buNone/>
                </a:pPr>
                <a:endParaRPr sz="2000" dirty="0">
                  <a:latin typeface="Arial"/>
                  <a:ea typeface="Arial"/>
                  <a:cs typeface="Arial"/>
                  <a:sym typeface="Arial"/>
                </a:endParaRPr>
              </a:p>
            </p:txBody>
          </p:sp>
        </mc:Choice>
        <mc:Fallback xmlns="">
          <p:sp>
            <p:nvSpPr>
              <p:cNvPr id="323" name="Google Shape;323;p47"/>
              <p:cNvSpPr txBox="1">
                <a:spLocks noGrp="1" noRot="1" noChangeAspect="1" noMove="1" noResize="1" noEditPoints="1" noAdjustHandles="1" noChangeArrowheads="1" noChangeShapeType="1" noTextEdit="1"/>
              </p:cNvSpPr>
              <p:nvPr>
                <p:ph type="body" idx="1"/>
              </p:nvPr>
            </p:nvSpPr>
            <p:spPr>
              <a:xfrm>
                <a:off x="838200" y="1303020"/>
                <a:ext cx="6057900" cy="4873943"/>
              </a:xfrm>
              <a:prstGeom prst="rect">
                <a:avLst/>
              </a:prstGeom>
              <a:blipFill>
                <a:blip r:embed="rId4"/>
                <a:stretch>
                  <a:fillRect/>
                </a:stretch>
              </a:blipFill>
              <a:ln>
                <a:noFill/>
              </a:ln>
            </p:spPr>
            <p:txBody>
              <a:bodyPr/>
              <a:lstStyle/>
              <a:p>
                <a:r>
                  <a:rPr lang="en-US">
                    <a:noFill/>
                  </a:rPr>
                  <a:t> </a:t>
                </a:r>
              </a:p>
            </p:txBody>
          </p:sp>
        </mc:Fallback>
      </mc:AlternateContent>
      <p:sp>
        <p:nvSpPr>
          <p:cNvPr id="324" name="Google Shape;324;p47"/>
          <p:cNvSpPr txBox="1"/>
          <p:nvPr/>
        </p:nvSpPr>
        <p:spPr>
          <a:xfrm>
            <a:off x="5348748" y="5403622"/>
            <a:ext cx="7285703"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Fig: The I-V characteristic of the </a:t>
            </a:r>
            <a:r>
              <a:rPr lang="en-US" sz="2000" b="0" i="0" u="none" strike="noStrike" cap="none" dirty="0" err="1">
                <a:solidFill>
                  <a:srgbClr val="000000"/>
                </a:solidFill>
                <a:latin typeface="Calibri"/>
                <a:ea typeface="Calibri"/>
                <a:cs typeface="Calibri"/>
                <a:sym typeface="Calibri"/>
              </a:rPr>
              <a:t>pn</a:t>
            </a:r>
            <a:r>
              <a:rPr lang="en-US" sz="2000" b="0" i="0" u="none" strike="noStrike" cap="none" dirty="0">
                <a:solidFill>
                  <a:srgbClr val="000000"/>
                </a:solidFill>
                <a:latin typeface="Calibri"/>
                <a:ea typeface="Calibri"/>
                <a:cs typeface="Calibri"/>
                <a:sym typeface="Calibri"/>
              </a:rPr>
              <a:t> junction showing the rapid increase in reverse current in the breakdown region.</a:t>
            </a:r>
            <a:endParaRPr dirty="0"/>
          </a:p>
        </p:txBody>
      </p:sp>
      <p:pic>
        <p:nvPicPr>
          <p:cNvPr id="4" name="Picture 3">
            <a:extLst>
              <a:ext uri="{FF2B5EF4-FFF2-40B4-BE49-F238E27FC236}">
                <a16:creationId xmlns:a16="http://schemas.microsoft.com/office/drawing/2014/main" id="{8AC8DB6A-A9F0-6C24-76EC-8112C981C5CD}"/>
              </a:ext>
            </a:extLst>
          </p:cNvPr>
          <p:cNvPicPr>
            <a:picLocks noChangeAspect="1"/>
          </p:cNvPicPr>
          <p:nvPr/>
        </p:nvPicPr>
        <p:blipFill>
          <a:blip r:embed="rId5"/>
          <a:stretch>
            <a:fillRect/>
          </a:stretch>
        </p:blipFill>
        <p:spPr>
          <a:xfrm>
            <a:off x="6540368" y="1337644"/>
            <a:ext cx="4521463" cy="3299875"/>
          </a:xfrm>
          <a:prstGeom prst="rect">
            <a:avLst/>
          </a:prstGeom>
        </p:spPr>
      </p:pic>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Electronic Circuits and Devices)</a:t>
            </a:r>
            <a:endParaRPr>
              <a:solidFill>
                <a:schemeClr val="accent1"/>
              </a:solidFill>
            </a:endParaRPr>
          </a:p>
        </p:txBody>
      </p:sp>
      <p:sp>
        <p:nvSpPr>
          <p:cNvPr id="331" name="Google Shape;331;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332" name="Google Shape;332;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333" name="Google Shape;333;p48"/>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34" name="Google Shape;334;p48"/>
              <p:cNvSpPr txBox="1">
                <a:spLocks noGrp="1"/>
              </p:cNvSpPr>
              <p:nvPr>
                <p:ph type="body" idx="1"/>
              </p:nvPr>
            </p:nvSpPr>
            <p:spPr>
              <a:xfrm>
                <a:off x="757084" y="1297858"/>
                <a:ext cx="10596716" cy="4692292"/>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b="1" dirty="0"/>
                  <a:t>The Constant-Voltage-Drop Model:</a:t>
                </a:r>
                <a:endParaRPr lang="en-US" dirty="0"/>
              </a:p>
              <a:p>
                <a:pPr marL="114300" lvl="0" indent="0" algn="l" rtl="0">
                  <a:lnSpc>
                    <a:spcPct val="90000"/>
                  </a:lnSpc>
                  <a:spcBef>
                    <a:spcPts val="1000"/>
                  </a:spcBef>
                  <a:spcAft>
                    <a:spcPts val="0"/>
                  </a:spcAft>
                  <a:buSzPts val="1800"/>
                  <a:buNone/>
                </a:pPr>
                <a:r>
                  <a:rPr lang="en-US" sz="2000" dirty="0">
                    <a:latin typeface="+mn-lt"/>
                  </a:rPr>
                  <a:t>The simplest and most widely used diode model is the constant-voltage-drop model. This model is based on the observation that a forward-conducting diode has a voltage drop that varies in a relatively narrow range, say 0.6 to 0.8 V. The model assumes this voltage to be constant at a value, say,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𝐷</m:t>
                        </m:r>
                      </m:sub>
                    </m:sSub>
                    <m:r>
                      <a:rPr lang="en-US" sz="2000" b="0" i="1" smtClean="0">
                        <a:latin typeface="Cambria Math" panose="02040503050406030204" pitchFamily="18" charset="0"/>
                      </a:rPr>
                      <m:t>=0.7 </m:t>
                    </m:r>
                    <m:r>
                      <a:rPr lang="en-US" sz="2000" b="0" i="1" smtClean="0">
                        <a:latin typeface="Cambria Math" panose="02040503050406030204" pitchFamily="18" charset="0"/>
                      </a:rPr>
                      <m:t>𝑉</m:t>
                    </m:r>
                  </m:oMath>
                </a14:m>
                <a:r>
                  <a:rPr lang="en-US" sz="2000" dirty="0">
                    <a:latin typeface="+mn-lt"/>
                  </a:rPr>
                  <a:t>.</a:t>
                </a:r>
                <a:endParaRPr sz="2000" b="1" dirty="0">
                  <a:latin typeface="+mn-lt"/>
                </a:endParaRPr>
              </a:p>
            </p:txBody>
          </p:sp>
        </mc:Choice>
        <mc:Fallback xmlns="">
          <p:sp>
            <p:nvSpPr>
              <p:cNvPr id="334" name="Google Shape;334;p48"/>
              <p:cNvSpPr txBox="1">
                <a:spLocks noGrp="1" noRot="1" noChangeAspect="1" noMove="1" noResize="1" noEditPoints="1" noAdjustHandles="1" noChangeArrowheads="1" noChangeShapeType="1" noTextEdit="1"/>
              </p:cNvSpPr>
              <p:nvPr>
                <p:ph type="body" idx="1"/>
              </p:nvPr>
            </p:nvSpPr>
            <p:spPr>
              <a:xfrm>
                <a:off x="757084" y="1297858"/>
                <a:ext cx="10596716" cy="4692292"/>
              </a:xfrm>
              <a:prstGeom prst="rect">
                <a:avLst/>
              </a:prstGeom>
              <a:blipFill>
                <a:blip r:embed="rId4"/>
                <a:stretch>
                  <a:fillRect l="-58"/>
                </a:stretch>
              </a:blipFill>
              <a:ln>
                <a:noFill/>
              </a:ln>
            </p:spPr>
            <p:txBody>
              <a:bodyPr/>
              <a:lstStyle/>
              <a:p>
                <a:r>
                  <a:rPr lang="en-US">
                    <a:noFill/>
                  </a:rPr>
                  <a:t> </a:t>
                </a:r>
              </a:p>
            </p:txBody>
          </p:sp>
        </mc:Fallback>
      </mc:AlternateContent>
      <p:pic>
        <p:nvPicPr>
          <p:cNvPr id="335" name="Google Shape;335;p48"/>
          <p:cNvPicPr preferRelativeResize="0"/>
          <p:nvPr/>
        </p:nvPicPr>
        <p:blipFill rotWithShape="1">
          <a:blip r:embed="rId5">
            <a:alphaModFix/>
          </a:blip>
          <a:srcRect/>
          <a:stretch/>
        </p:blipFill>
        <p:spPr>
          <a:xfrm>
            <a:off x="1976283" y="3272052"/>
            <a:ext cx="3687098" cy="2581608"/>
          </a:xfrm>
          <a:prstGeom prst="rect">
            <a:avLst/>
          </a:prstGeom>
          <a:noFill/>
          <a:ln>
            <a:noFill/>
          </a:ln>
        </p:spPr>
      </p:pic>
      <p:pic>
        <p:nvPicPr>
          <p:cNvPr id="336" name="Google Shape;336;p48"/>
          <p:cNvPicPr preferRelativeResize="0"/>
          <p:nvPr/>
        </p:nvPicPr>
        <p:blipFill rotWithShape="1">
          <a:blip r:embed="rId6">
            <a:alphaModFix/>
          </a:blip>
          <a:srcRect/>
          <a:stretch/>
        </p:blipFill>
        <p:spPr>
          <a:xfrm>
            <a:off x="6376217" y="3072128"/>
            <a:ext cx="3605983" cy="2986929"/>
          </a:xfrm>
          <a:prstGeom prst="rect">
            <a:avLst/>
          </a:prstGeom>
          <a:noFill/>
          <a:ln>
            <a:noFill/>
          </a:ln>
        </p:spPr>
      </p:pic>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Electronic Circuits and Devices)</a:t>
            </a:r>
            <a:endParaRPr>
              <a:solidFill>
                <a:schemeClr val="accent1"/>
              </a:solidFill>
            </a:endParaRPr>
          </a:p>
        </p:txBody>
      </p:sp>
      <p:sp>
        <p:nvSpPr>
          <p:cNvPr id="342" name="Google Shape;34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343" name="Google Shape;34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pic>
        <p:nvPicPr>
          <p:cNvPr id="344" name="Google Shape;344;p49"/>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45" name="Google Shape;345;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000" dirty="0">
                <a:latin typeface="Arial"/>
                <a:ea typeface="Arial"/>
                <a:cs typeface="Arial"/>
                <a:sym typeface="Arial"/>
              </a:rPr>
              <a:t>Conductance voltage (V</a:t>
            </a:r>
            <a:r>
              <a:rPr lang="en-US" sz="2000" baseline="-25000" dirty="0">
                <a:latin typeface="Arial"/>
                <a:ea typeface="Arial"/>
                <a:cs typeface="Arial"/>
                <a:sym typeface="Arial"/>
              </a:rPr>
              <a:t>D</a:t>
            </a:r>
            <a:r>
              <a:rPr lang="en-US" sz="2000" dirty="0">
                <a:latin typeface="Arial"/>
                <a:ea typeface="Arial"/>
                <a:cs typeface="Arial"/>
                <a:sym typeface="Arial"/>
              </a:rPr>
              <a:t>) of different diode for constant voltage drop model:</a:t>
            </a:r>
            <a:endParaRPr dirty="0"/>
          </a:p>
          <a:p>
            <a:pPr marL="457200" lvl="0" indent="-342900" algn="l" rtl="0">
              <a:lnSpc>
                <a:spcPct val="90000"/>
              </a:lnSpc>
              <a:spcBef>
                <a:spcPts val="1000"/>
              </a:spcBef>
              <a:spcAft>
                <a:spcPts val="0"/>
              </a:spcAft>
              <a:buSzPts val="1800"/>
              <a:buFont typeface="Noto Sans Symbols"/>
              <a:buChar char="⮚"/>
            </a:pPr>
            <a:r>
              <a:rPr lang="en-US" sz="2000" dirty="0">
                <a:latin typeface="Arial"/>
                <a:ea typeface="Arial"/>
                <a:cs typeface="Arial"/>
                <a:sym typeface="Arial"/>
              </a:rPr>
              <a:t>Ideal diode: V</a:t>
            </a:r>
            <a:r>
              <a:rPr lang="en-US" sz="2000" baseline="-25000" dirty="0">
                <a:latin typeface="Arial"/>
                <a:ea typeface="Arial"/>
                <a:cs typeface="Arial"/>
                <a:sym typeface="Arial"/>
              </a:rPr>
              <a:t>D </a:t>
            </a:r>
            <a:r>
              <a:rPr lang="en-US" sz="2000" dirty="0">
                <a:latin typeface="Arial"/>
                <a:ea typeface="Arial"/>
                <a:cs typeface="Arial"/>
                <a:sym typeface="Arial"/>
              </a:rPr>
              <a:t>= 0 V</a:t>
            </a:r>
            <a:endParaRPr dirty="0"/>
          </a:p>
          <a:p>
            <a:pPr marL="457200" lvl="0" indent="-342900" algn="l" rtl="0">
              <a:lnSpc>
                <a:spcPct val="90000"/>
              </a:lnSpc>
              <a:spcBef>
                <a:spcPts val="1000"/>
              </a:spcBef>
              <a:spcAft>
                <a:spcPts val="0"/>
              </a:spcAft>
              <a:buSzPts val="1800"/>
              <a:buFont typeface="Noto Sans Symbols"/>
              <a:buChar char="⮚"/>
            </a:pPr>
            <a:r>
              <a:rPr lang="en-US" sz="2000" dirty="0">
                <a:latin typeface="Arial"/>
                <a:ea typeface="Arial"/>
                <a:cs typeface="Arial"/>
                <a:sym typeface="Arial"/>
              </a:rPr>
              <a:t>Ge diode: V</a:t>
            </a:r>
            <a:r>
              <a:rPr lang="en-US" sz="2000" baseline="-25000" dirty="0">
                <a:latin typeface="Arial"/>
                <a:ea typeface="Arial"/>
                <a:cs typeface="Arial"/>
                <a:sym typeface="Arial"/>
              </a:rPr>
              <a:t>D </a:t>
            </a:r>
            <a:r>
              <a:rPr lang="en-US" sz="2000" dirty="0">
                <a:latin typeface="Arial"/>
                <a:ea typeface="Arial"/>
                <a:cs typeface="Arial"/>
                <a:sym typeface="Arial"/>
              </a:rPr>
              <a:t>= 0.3 V</a:t>
            </a:r>
            <a:endParaRPr dirty="0"/>
          </a:p>
          <a:p>
            <a:pPr marL="457200" lvl="0" indent="-342900" algn="l" rtl="0">
              <a:lnSpc>
                <a:spcPct val="90000"/>
              </a:lnSpc>
              <a:spcBef>
                <a:spcPts val="1000"/>
              </a:spcBef>
              <a:spcAft>
                <a:spcPts val="0"/>
              </a:spcAft>
              <a:buSzPts val="1800"/>
              <a:buFont typeface="Noto Sans Symbols"/>
              <a:buChar char="⮚"/>
            </a:pPr>
            <a:r>
              <a:rPr lang="en-US" sz="2000" dirty="0">
                <a:latin typeface="Arial"/>
                <a:ea typeface="Arial"/>
                <a:cs typeface="Arial"/>
                <a:sym typeface="Arial"/>
              </a:rPr>
              <a:t>Si diode: V</a:t>
            </a:r>
            <a:r>
              <a:rPr lang="en-US" sz="2000" baseline="-25000" dirty="0">
                <a:latin typeface="Arial"/>
                <a:ea typeface="Arial"/>
                <a:cs typeface="Arial"/>
                <a:sym typeface="Arial"/>
              </a:rPr>
              <a:t>D </a:t>
            </a:r>
            <a:r>
              <a:rPr lang="en-US" sz="2000" dirty="0">
                <a:latin typeface="Arial"/>
                <a:ea typeface="Arial"/>
                <a:cs typeface="Arial"/>
                <a:sym typeface="Arial"/>
              </a:rPr>
              <a:t>= 0.7 V (will be used most of the time )</a:t>
            </a:r>
            <a:endParaRPr dirty="0"/>
          </a:p>
          <a:p>
            <a:pPr marL="114300" lvl="0" indent="0" algn="l" rtl="0">
              <a:lnSpc>
                <a:spcPct val="90000"/>
              </a:lnSpc>
              <a:spcBef>
                <a:spcPts val="1000"/>
              </a:spcBef>
              <a:spcAft>
                <a:spcPts val="0"/>
              </a:spcAft>
              <a:buSzPts val="1800"/>
              <a:buNone/>
            </a:pPr>
            <a:endParaRPr sz="2000" dirty="0">
              <a:latin typeface="Arial"/>
              <a:ea typeface="Arial"/>
              <a:cs typeface="Arial"/>
              <a:sym typeface="Arial"/>
            </a:endParaRPr>
          </a:p>
          <a:p>
            <a:pPr marL="114300" lvl="0" indent="0" algn="l" rtl="0">
              <a:lnSpc>
                <a:spcPct val="90000"/>
              </a:lnSpc>
              <a:spcBef>
                <a:spcPts val="1000"/>
              </a:spcBef>
              <a:spcAft>
                <a:spcPts val="0"/>
              </a:spcAft>
              <a:buSzPts val="1800"/>
              <a:buNone/>
            </a:pPr>
            <a:r>
              <a:rPr lang="en-US" sz="2000" dirty="0">
                <a:latin typeface="Arial"/>
                <a:ea typeface="Arial"/>
                <a:cs typeface="Arial"/>
                <a:sym typeface="Arial"/>
              </a:rPr>
              <a:t>We will use Si diode with constant voltage model for simplicity. If nothing is mentioned in the question, we will assume Si diode. </a:t>
            </a:r>
            <a:endParaRPr dirty="0"/>
          </a:p>
          <a:p>
            <a:pPr marL="114300" lvl="0" indent="0" algn="l" rtl="0">
              <a:lnSpc>
                <a:spcPct val="90000"/>
              </a:lnSpc>
              <a:spcBef>
                <a:spcPts val="1000"/>
              </a:spcBef>
              <a:spcAft>
                <a:spcPts val="0"/>
              </a:spcAft>
              <a:buSzPts val="1800"/>
              <a:buNone/>
            </a:pPr>
            <a:endParaRPr sz="2000" dirty="0">
              <a:latin typeface="Arial"/>
              <a:ea typeface="Arial"/>
              <a:cs typeface="Arial"/>
              <a:sym typeface="Arial"/>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0"/>
          <p:cNvSpPr txBox="1">
            <a:spLocks noGrp="1"/>
          </p:cNvSpPr>
          <p:nvPr>
            <p:ph type="title"/>
          </p:nvPr>
        </p:nvSpPr>
        <p:spPr>
          <a:xfrm>
            <a:off x="838200" y="365126"/>
            <a:ext cx="10390239" cy="96223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Electronic Circuits and Devices)</a:t>
            </a:r>
            <a:endParaRPr>
              <a:solidFill>
                <a:schemeClr val="accent1"/>
              </a:solidFill>
            </a:endParaRPr>
          </a:p>
        </p:txBody>
      </p:sp>
      <p:sp>
        <p:nvSpPr>
          <p:cNvPr id="351" name="Google Shape;35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352" name="Google Shape;35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pic>
        <p:nvPicPr>
          <p:cNvPr id="353" name="Google Shape;353;p50"/>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54" name="Google Shape;354;p50"/>
          <p:cNvSpPr txBox="1">
            <a:spLocks noGrp="1"/>
          </p:cNvSpPr>
          <p:nvPr>
            <p:ph type="body" idx="1"/>
          </p:nvPr>
        </p:nvSpPr>
        <p:spPr>
          <a:xfrm>
            <a:off x="838200" y="1160206"/>
            <a:ext cx="10675374" cy="5016757"/>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400" b="1" dirty="0">
                <a:latin typeface="Arial"/>
                <a:ea typeface="Arial"/>
                <a:cs typeface="Arial"/>
                <a:sym typeface="Arial"/>
              </a:rPr>
              <a:t>Equivalent  circuit of Si diode for constant voltage drop model:</a:t>
            </a:r>
            <a:endParaRPr dirty="0"/>
          </a:p>
          <a:p>
            <a:pPr marL="114300" lvl="0" indent="0" algn="l" rtl="0">
              <a:lnSpc>
                <a:spcPct val="90000"/>
              </a:lnSpc>
              <a:spcBef>
                <a:spcPts val="1000"/>
              </a:spcBef>
              <a:spcAft>
                <a:spcPts val="0"/>
              </a:spcAft>
              <a:buSzPts val="1800"/>
              <a:buNone/>
            </a:pPr>
            <a:endParaRPr sz="2400" b="1" dirty="0">
              <a:latin typeface="Arial"/>
              <a:ea typeface="Arial"/>
              <a:cs typeface="Arial"/>
              <a:sym typeface="Arial"/>
            </a:endParaRPr>
          </a:p>
        </p:txBody>
      </p:sp>
      <p:pic>
        <p:nvPicPr>
          <p:cNvPr id="3" name="Picture 2">
            <a:extLst>
              <a:ext uri="{FF2B5EF4-FFF2-40B4-BE49-F238E27FC236}">
                <a16:creationId xmlns:a16="http://schemas.microsoft.com/office/drawing/2014/main" id="{2B169E1D-A9C7-4F28-76AD-DBCBD8AAFB41}"/>
              </a:ext>
            </a:extLst>
          </p:cNvPr>
          <p:cNvPicPr>
            <a:picLocks noChangeAspect="1"/>
          </p:cNvPicPr>
          <p:nvPr/>
        </p:nvPicPr>
        <p:blipFill>
          <a:blip r:embed="rId4"/>
          <a:stretch>
            <a:fillRect/>
          </a:stretch>
        </p:blipFill>
        <p:spPr>
          <a:xfrm>
            <a:off x="2447177" y="2012088"/>
            <a:ext cx="6835719" cy="4082221"/>
          </a:xfrm>
          <a:prstGeom prst="rect">
            <a:avLst/>
          </a:prstGeom>
        </p:spPr>
      </p:pic>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Electronic Circuits and Devices)</a:t>
            </a:r>
            <a:endParaRPr>
              <a:solidFill>
                <a:schemeClr val="accent1"/>
              </a:solidFill>
            </a:endParaRPr>
          </a:p>
        </p:txBody>
      </p:sp>
      <p:sp>
        <p:nvSpPr>
          <p:cNvPr id="362" name="Google Shape;362;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363" name="Google Shape;363;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pic>
        <p:nvPicPr>
          <p:cNvPr id="364" name="Google Shape;364;p51"/>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65" name="Google Shape;365;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2000"/>
              <a:buNone/>
            </a:pPr>
            <a:r>
              <a:rPr lang="en-US" sz="2000">
                <a:latin typeface="Arial"/>
                <a:ea typeface="Arial"/>
                <a:cs typeface="Arial"/>
                <a:sym typeface="Arial"/>
              </a:rPr>
              <a:t>Transistors are three terminal devices</a:t>
            </a:r>
            <a:endParaRPr/>
          </a:p>
          <a:p>
            <a:pPr marL="342900" marR="0" lvl="0" indent="-34290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latin typeface="Calibri"/>
                <a:ea typeface="Calibri"/>
                <a:cs typeface="Calibri"/>
                <a:sym typeface="Calibri"/>
              </a:rPr>
              <a:t>BJT</a:t>
            </a:r>
            <a:r>
              <a:rPr lang="en-US" sz="2000" i="0" u="none" strike="noStrike" cap="none">
                <a:solidFill>
                  <a:schemeClr val="dk1"/>
                </a:solidFill>
                <a:latin typeface="Calibri"/>
                <a:ea typeface="Calibri"/>
                <a:cs typeface="Calibri"/>
                <a:sym typeface="Calibri"/>
              </a:rPr>
              <a:t>: Used in switching and amplification for audio and analog circuits.</a:t>
            </a:r>
            <a:endParaRPr/>
          </a:p>
          <a:p>
            <a:pPr marL="342900" marR="0" lvl="0" indent="-34290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latin typeface="Calibri"/>
                <a:ea typeface="Calibri"/>
                <a:cs typeface="Calibri"/>
                <a:sym typeface="Calibri"/>
              </a:rPr>
              <a:t>FET</a:t>
            </a:r>
            <a:r>
              <a:rPr lang="en-US" sz="2000" i="0" u="none" strike="noStrike" cap="none">
                <a:solidFill>
                  <a:schemeClr val="dk1"/>
                </a:solidFill>
                <a:latin typeface="Calibri"/>
                <a:ea typeface="Calibri"/>
                <a:cs typeface="Calibri"/>
                <a:sym typeface="Calibri"/>
              </a:rPr>
              <a:t>: Ideal for analog switches and high-impedance amplifiers.</a:t>
            </a:r>
            <a:endParaRPr/>
          </a:p>
          <a:p>
            <a:pPr marL="342900" marR="0" lvl="0" indent="-34290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latin typeface="Calibri"/>
                <a:ea typeface="Calibri"/>
                <a:cs typeface="Calibri"/>
                <a:sym typeface="Calibri"/>
              </a:rPr>
              <a:t>MOSFET</a:t>
            </a:r>
            <a:r>
              <a:rPr lang="en-US" sz="2000" i="0" u="none" strike="noStrike" cap="none">
                <a:solidFill>
                  <a:schemeClr val="dk1"/>
                </a:solidFill>
                <a:latin typeface="Calibri"/>
                <a:ea typeface="Calibri"/>
                <a:cs typeface="Calibri"/>
                <a:sym typeface="Calibri"/>
              </a:rPr>
              <a:t>: Key in digital circuits, power electronics, and RF amplification. </a:t>
            </a:r>
            <a:endParaRPr/>
          </a:p>
          <a:p>
            <a:pPr marL="114300" lvl="0" indent="0" algn="l" rtl="0">
              <a:lnSpc>
                <a:spcPct val="90000"/>
              </a:lnSpc>
              <a:spcBef>
                <a:spcPts val="1000"/>
              </a:spcBef>
              <a:spcAft>
                <a:spcPts val="0"/>
              </a:spcAft>
              <a:buSzPts val="1800"/>
              <a:buNone/>
            </a:pPr>
            <a:endParaRPr sz="2000">
              <a:latin typeface="Arial"/>
              <a:ea typeface="Arial"/>
              <a:cs typeface="Arial"/>
              <a:sym typeface="Arial"/>
            </a:endParaRPr>
          </a:p>
          <a:p>
            <a:pPr marL="457200" lvl="0" indent="-342900" algn="l" rtl="0">
              <a:lnSpc>
                <a:spcPct val="90000"/>
              </a:lnSpc>
              <a:spcBef>
                <a:spcPts val="1000"/>
              </a:spcBef>
              <a:spcAft>
                <a:spcPts val="0"/>
              </a:spcAft>
              <a:buSzPts val="1800"/>
              <a:buFont typeface="Noto Sans Symbols"/>
              <a:buChar char="✔"/>
            </a:pPr>
            <a:r>
              <a:rPr lang="en-US" sz="1800" b="1">
                <a:latin typeface="Arial"/>
                <a:ea typeface="Arial"/>
                <a:cs typeface="Arial"/>
                <a:sym typeface="Arial"/>
              </a:rPr>
              <a:t>Bipolar devices </a:t>
            </a:r>
            <a:r>
              <a:rPr lang="en-US" sz="1800">
                <a:latin typeface="Arial"/>
                <a:ea typeface="Arial"/>
                <a:cs typeface="Arial"/>
                <a:sym typeface="Arial"/>
              </a:rPr>
              <a:t>both electron and hole take part in current conduction for example BJT.</a:t>
            </a:r>
            <a:endParaRPr/>
          </a:p>
          <a:p>
            <a:pPr marL="457200" lvl="0" indent="-342900" algn="l" rtl="0">
              <a:lnSpc>
                <a:spcPct val="90000"/>
              </a:lnSpc>
              <a:spcBef>
                <a:spcPts val="1000"/>
              </a:spcBef>
              <a:spcAft>
                <a:spcPts val="0"/>
              </a:spcAft>
              <a:buSzPts val="1800"/>
              <a:buFont typeface="Noto Sans Symbols"/>
              <a:buChar char="✔"/>
            </a:pPr>
            <a:r>
              <a:rPr lang="en-US" sz="1800" b="1">
                <a:latin typeface="Arial"/>
                <a:ea typeface="Arial"/>
                <a:cs typeface="Arial"/>
                <a:sym typeface="Arial"/>
              </a:rPr>
              <a:t>Unipolar either </a:t>
            </a:r>
            <a:r>
              <a:rPr lang="en-US" sz="1800">
                <a:latin typeface="Arial"/>
                <a:ea typeface="Arial"/>
                <a:cs typeface="Arial"/>
                <a:sym typeface="Arial"/>
              </a:rPr>
              <a:t>electron or hole takes part in current conduction for example MOSFET.</a:t>
            </a:r>
            <a:endParaRPr/>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2"/>
          <p:cNvSpPr txBox="1">
            <a:spLocks noGrp="1"/>
          </p:cNvSpPr>
          <p:nvPr>
            <p:ph type="title"/>
          </p:nvPr>
        </p:nvSpPr>
        <p:spPr>
          <a:xfrm>
            <a:off x="747252" y="1"/>
            <a:ext cx="10156722" cy="9537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Electronic Circuits and Devices)</a:t>
            </a:r>
            <a:endParaRPr>
              <a:solidFill>
                <a:schemeClr val="accent1"/>
              </a:solidFill>
            </a:endParaRPr>
          </a:p>
        </p:txBody>
      </p:sp>
      <p:sp>
        <p:nvSpPr>
          <p:cNvPr id="371" name="Google Shape;371;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372" name="Google Shape;37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pic>
        <p:nvPicPr>
          <p:cNvPr id="373" name="Google Shape;373;p5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74" name="Google Shape;374;p52"/>
          <p:cNvSpPr txBox="1">
            <a:spLocks noGrp="1"/>
          </p:cNvSpPr>
          <p:nvPr>
            <p:ph type="body" idx="1"/>
          </p:nvPr>
        </p:nvSpPr>
        <p:spPr>
          <a:xfrm>
            <a:off x="747252" y="1386348"/>
            <a:ext cx="10606548" cy="4790615"/>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000" b="1">
                <a:latin typeface="Arial"/>
                <a:ea typeface="Arial"/>
                <a:cs typeface="Arial"/>
                <a:sym typeface="Arial"/>
              </a:rPr>
              <a:t>BJT: </a:t>
            </a:r>
            <a:r>
              <a:rPr lang="en-US" sz="1800">
                <a:latin typeface="Arial"/>
                <a:ea typeface="Arial"/>
                <a:cs typeface="Arial"/>
                <a:sym typeface="Arial"/>
              </a:rPr>
              <a:t>The transistor consists of two p-n junctions, the emitter–base junction (EBJ) and the</a:t>
            </a:r>
            <a:endParaRPr/>
          </a:p>
          <a:p>
            <a:pPr marL="114300" lvl="0" indent="0" algn="l" rtl="0">
              <a:lnSpc>
                <a:spcPct val="90000"/>
              </a:lnSpc>
              <a:spcBef>
                <a:spcPts val="1000"/>
              </a:spcBef>
              <a:spcAft>
                <a:spcPts val="0"/>
              </a:spcAft>
              <a:buSzPts val="1800"/>
              <a:buNone/>
            </a:pPr>
            <a:r>
              <a:rPr lang="en-US" sz="1800">
                <a:latin typeface="Arial"/>
                <a:ea typeface="Arial"/>
                <a:cs typeface="Arial"/>
                <a:sym typeface="Arial"/>
              </a:rPr>
              <a:t> collector–base junction (CBJ). Depending on the bias condition (forward or reverse) of</a:t>
            </a:r>
            <a:endParaRPr/>
          </a:p>
          <a:p>
            <a:pPr marL="114300" lvl="0" indent="0" algn="l" rtl="0">
              <a:lnSpc>
                <a:spcPct val="90000"/>
              </a:lnSpc>
              <a:spcBef>
                <a:spcPts val="1000"/>
              </a:spcBef>
              <a:spcAft>
                <a:spcPts val="0"/>
              </a:spcAft>
              <a:buSzPts val="1800"/>
              <a:buNone/>
            </a:pPr>
            <a:r>
              <a:rPr lang="en-US" sz="1800">
                <a:latin typeface="Arial"/>
                <a:ea typeface="Arial"/>
                <a:cs typeface="Arial"/>
                <a:sym typeface="Arial"/>
              </a:rPr>
              <a:t> each of these junctions, different modes of operation of the BJT are obtained.</a:t>
            </a:r>
            <a:endParaRPr/>
          </a:p>
        </p:txBody>
      </p:sp>
      <p:pic>
        <p:nvPicPr>
          <p:cNvPr id="375" name="Google Shape;375;p52"/>
          <p:cNvPicPr preferRelativeResize="0"/>
          <p:nvPr/>
        </p:nvPicPr>
        <p:blipFill rotWithShape="1">
          <a:blip r:embed="rId4">
            <a:alphaModFix/>
          </a:blip>
          <a:srcRect/>
          <a:stretch/>
        </p:blipFill>
        <p:spPr>
          <a:xfrm>
            <a:off x="6386102" y="2716447"/>
            <a:ext cx="5018133" cy="2702720"/>
          </a:xfrm>
          <a:prstGeom prst="rect">
            <a:avLst/>
          </a:prstGeom>
          <a:noFill/>
          <a:ln>
            <a:noFill/>
          </a:ln>
        </p:spPr>
      </p:pic>
      <p:pic>
        <p:nvPicPr>
          <p:cNvPr id="376" name="Google Shape;376;p52"/>
          <p:cNvPicPr preferRelativeResize="0"/>
          <p:nvPr/>
        </p:nvPicPr>
        <p:blipFill rotWithShape="1">
          <a:blip r:embed="rId5">
            <a:alphaModFix/>
          </a:blip>
          <a:srcRect/>
          <a:stretch/>
        </p:blipFill>
        <p:spPr>
          <a:xfrm>
            <a:off x="1485855" y="2793512"/>
            <a:ext cx="3518706" cy="1504337"/>
          </a:xfrm>
          <a:prstGeom prst="rect">
            <a:avLst/>
          </a:prstGeom>
          <a:noFill/>
          <a:ln>
            <a:noFill/>
          </a:ln>
        </p:spPr>
      </p:pic>
      <p:pic>
        <p:nvPicPr>
          <p:cNvPr id="377" name="Google Shape;377;p52"/>
          <p:cNvPicPr preferRelativeResize="0"/>
          <p:nvPr/>
        </p:nvPicPr>
        <p:blipFill rotWithShape="1">
          <a:blip r:embed="rId6">
            <a:alphaModFix/>
          </a:blip>
          <a:srcRect/>
          <a:stretch/>
        </p:blipFill>
        <p:spPr>
          <a:xfrm>
            <a:off x="1485855" y="4380782"/>
            <a:ext cx="3344599" cy="1324231"/>
          </a:xfrm>
          <a:prstGeom prst="rect">
            <a:avLst/>
          </a:prstGeom>
          <a:noFill/>
          <a:ln>
            <a:noFill/>
          </a:ln>
        </p:spPr>
      </p:pic>
      <p:sp>
        <p:nvSpPr>
          <p:cNvPr id="378" name="Google Shape;378;p52"/>
          <p:cNvSpPr txBox="1"/>
          <p:nvPr/>
        </p:nvSpPr>
        <p:spPr>
          <a:xfrm>
            <a:off x="1528916" y="5705013"/>
            <a:ext cx="429669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Length: LC&gt;LE&gt;LB      and   Doping : NE &gt; NC &gt;NB</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That’s why BJT is not symmetrical </a:t>
            </a:r>
            <a:endParaRPr/>
          </a:p>
        </p:txBody>
      </p:sp>
      <p:sp>
        <p:nvSpPr>
          <p:cNvPr id="379" name="Google Shape;379;p52"/>
          <p:cNvSpPr txBox="1"/>
          <p:nvPr/>
        </p:nvSpPr>
        <p:spPr>
          <a:xfrm>
            <a:off x="7511845" y="5889523"/>
            <a:ext cx="328397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Arrow indicate the Emitter terminal</a:t>
            </a:r>
            <a:endParaRPr/>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Review ( Electronic Circuits and Devices)</a:t>
            </a:r>
            <a:endParaRPr>
              <a:solidFill>
                <a:schemeClr val="accent1"/>
              </a:solidFill>
            </a:endParaRPr>
          </a:p>
        </p:txBody>
      </p:sp>
      <p:sp>
        <p:nvSpPr>
          <p:cNvPr id="385" name="Google Shape;385;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386" name="Google Shape;38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pic>
        <p:nvPicPr>
          <p:cNvPr id="387" name="Google Shape;387;p53"/>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88" name="Google Shape;388;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400" b="1" dirty="0">
                <a:latin typeface="Arial"/>
                <a:ea typeface="Arial"/>
                <a:cs typeface="Arial"/>
                <a:sym typeface="Arial"/>
              </a:rPr>
              <a:t>Modes of BJT</a:t>
            </a:r>
            <a:endParaRPr sz="2400" dirty="0"/>
          </a:p>
          <a:p>
            <a:pPr marL="114300" lvl="0" indent="0" algn="l" rtl="0">
              <a:lnSpc>
                <a:spcPct val="90000"/>
              </a:lnSpc>
              <a:spcBef>
                <a:spcPts val="1000"/>
              </a:spcBef>
              <a:spcAft>
                <a:spcPts val="0"/>
              </a:spcAft>
              <a:buSzPts val="1800"/>
              <a:buNone/>
            </a:pPr>
            <a:endParaRPr sz="2000" dirty="0">
              <a:latin typeface="Arial"/>
              <a:ea typeface="Arial"/>
              <a:cs typeface="Arial"/>
              <a:sym typeface="Arial"/>
            </a:endParaRPr>
          </a:p>
        </p:txBody>
      </p:sp>
      <p:graphicFrame>
        <p:nvGraphicFramePr>
          <p:cNvPr id="389" name="Google Shape;389;p53"/>
          <p:cNvGraphicFramePr/>
          <p:nvPr>
            <p:extLst>
              <p:ext uri="{D42A27DB-BD31-4B8C-83A1-F6EECF244321}">
                <p14:modId xmlns:p14="http://schemas.microsoft.com/office/powerpoint/2010/main" val="106337172"/>
              </p:ext>
            </p:extLst>
          </p:nvPr>
        </p:nvGraphicFramePr>
        <p:xfrm>
          <a:off x="1513300" y="2692228"/>
          <a:ext cx="8468900" cy="2835000"/>
        </p:xfrm>
        <a:graphic>
          <a:graphicData uri="http://schemas.openxmlformats.org/drawingml/2006/table">
            <a:tbl>
              <a:tblPr firstRow="1" bandRow="1">
                <a:noFill/>
                <a:tableStyleId>{D010BDE7-646F-4205-9A6C-A316D47FFFA7}</a:tableStyleId>
              </a:tblPr>
              <a:tblGrid>
                <a:gridCol w="2117225">
                  <a:extLst>
                    <a:ext uri="{9D8B030D-6E8A-4147-A177-3AD203B41FA5}">
                      <a16:colId xmlns:a16="http://schemas.microsoft.com/office/drawing/2014/main" val="20000"/>
                    </a:ext>
                  </a:extLst>
                </a:gridCol>
                <a:gridCol w="2117225">
                  <a:extLst>
                    <a:ext uri="{9D8B030D-6E8A-4147-A177-3AD203B41FA5}">
                      <a16:colId xmlns:a16="http://schemas.microsoft.com/office/drawing/2014/main" val="20001"/>
                    </a:ext>
                  </a:extLst>
                </a:gridCol>
                <a:gridCol w="2117225">
                  <a:extLst>
                    <a:ext uri="{9D8B030D-6E8A-4147-A177-3AD203B41FA5}">
                      <a16:colId xmlns:a16="http://schemas.microsoft.com/office/drawing/2014/main" val="20002"/>
                    </a:ext>
                  </a:extLst>
                </a:gridCol>
                <a:gridCol w="2117225">
                  <a:extLst>
                    <a:ext uri="{9D8B030D-6E8A-4147-A177-3AD203B41FA5}">
                      <a16:colId xmlns:a16="http://schemas.microsoft.com/office/drawing/2014/main" val="20003"/>
                    </a:ext>
                  </a:extLst>
                </a:gridCol>
              </a:tblGrid>
              <a:tr h="567000">
                <a:tc>
                  <a:txBody>
                    <a:bodyPr/>
                    <a:lstStyle/>
                    <a:p>
                      <a:pPr marL="0" marR="0" lvl="0" indent="0" algn="l" rtl="0">
                        <a:lnSpc>
                          <a:spcPct val="100000"/>
                        </a:lnSpc>
                        <a:spcBef>
                          <a:spcPts val="0"/>
                        </a:spcBef>
                        <a:spcAft>
                          <a:spcPts val="0"/>
                        </a:spcAft>
                        <a:buNone/>
                      </a:pPr>
                      <a:r>
                        <a:rPr lang="en-US" sz="1800" b="1" u="none" strike="noStrike" cap="none"/>
                        <a:t>EB Junction</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b="1" u="none" strike="noStrike" cap="none" dirty="0"/>
                        <a:t>CB Junction</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800" b="1" u="none" strike="noStrike" cap="none"/>
                        <a:t>Mode</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b="1" u="none" strike="noStrike" cap="none"/>
                        <a:t>Use</a:t>
                      </a:r>
                      <a:endParaRPr/>
                    </a:p>
                  </a:txBody>
                  <a:tcPr marL="91450" marR="91450" marT="45725" marB="45725"/>
                </a:tc>
                <a:extLst>
                  <a:ext uri="{0D108BD9-81ED-4DB2-BD59-A6C34878D82A}">
                    <a16:rowId xmlns:a16="http://schemas.microsoft.com/office/drawing/2014/main" val="10000"/>
                  </a:ext>
                </a:extLst>
              </a:tr>
              <a:tr h="567000">
                <a:tc>
                  <a:txBody>
                    <a:bodyPr/>
                    <a:lstStyle/>
                    <a:p>
                      <a:pPr marL="0" marR="0" lvl="0" indent="0" algn="l" rtl="0">
                        <a:lnSpc>
                          <a:spcPct val="100000"/>
                        </a:lnSpc>
                        <a:spcBef>
                          <a:spcPts val="0"/>
                        </a:spcBef>
                        <a:spcAft>
                          <a:spcPts val="0"/>
                        </a:spcAft>
                        <a:buNone/>
                      </a:pPr>
                      <a:r>
                        <a:rPr lang="en-US" sz="1800" u="none" strike="noStrike" cap="none"/>
                        <a:t>Forward</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Reverse</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Active</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Amplifier</a:t>
                      </a:r>
                      <a:endParaRPr/>
                    </a:p>
                  </a:txBody>
                  <a:tcPr marL="91450" marR="91450" marT="45725" marB="45725"/>
                </a:tc>
                <a:extLst>
                  <a:ext uri="{0D108BD9-81ED-4DB2-BD59-A6C34878D82A}">
                    <a16:rowId xmlns:a16="http://schemas.microsoft.com/office/drawing/2014/main" val="10001"/>
                  </a:ext>
                </a:extLst>
              </a:tr>
              <a:tr h="567000">
                <a:tc>
                  <a:txBody>
                    <a:bodyPr/>
                    <a:lstStyle/>
                    <a:p>
                      <a:pPr marL="0" marR="0" lvl="0" indent="0" algn="l" rtl="0">
                        <a:lnSpc>
                          <a:spcPct val="100000"/>
                        </a:lnSpc>
                        <a:spcBef>
                          <a:spcPts val="0"/>
                        </a:spcBef>
                        <a:spcAft>
                          <a:spcPts val="0"/>
                        </a:spcAft>
                        <a:buNone/>
                      </a:pPr>
                      <a:r>
                        <a:rPr lang="en-US" sz="1800" u="none" strike="noStrike" cap="none"/>
                        <a:t>Forward</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Forward</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Saturation</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Switch</a:t>
                      </a:r>
                      <a:endParaRPr/>
                    </a:p>
                  </a:txBody>
                  <a:tcPr marL="91450" marR="91450" marT="45725" marB="45725"/>
                </a:tc>
                <a:extLst>
                  <a:ext uri="{0D108BD9-81ED-4DB2-BD59-A6C34878D82A}">
                    <a16:rowId xmlns:a16="http://schemas.microsoft.com/office/drawing/2014/main" val="10002"/>
                  </a:ext>
                </a:extLst>
              </a:tr>
              <a:tr h="567000">
                <a:tc>
                  <a:txBody>
                    <a:bodyPr/>
                    <a:lstStyle/>
                    <a:p>
                      <a:pPr marL="0" marR="0" lvl="0" indent="0" algn="l" rtl="0">
                        <a:lnSpc>
                          <a:spcPct val="100000"/>
                        </a:lnSpc>
                        <a:spcBef>
                          <a:spcPts val="0"/>
                        </a:spcBef>
                        <a:spcAft>
                          <a:spcPts val="0"/>
                        </a:spcAft>
                        <a:buNone/>
                      </a:pPr>
                      <a:r>
                        <a:rPr lang="en-US" sz="1800" u="none" strike="noStrike" cap="none"/>
                        <a:t>Reverse</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Reverse</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Cut off</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dirty="0"/>
                        <a:t>Switch</a:t>
                      </a:r>
                      <a:endParaRPr dirty="0"/>
                    </a:p>
                  </a:txBody>
                  <a:tcPr marL="91450" marR="91450" marT="45725" marB="45725"/>
                </a:tc>
                <a:extLst>
                  <a:ext uri="{0D108BD9-81ED-4DB2-BD59-A6C34878D82A}">
                    <a16:rowId xmlns:a16="http://schemas.microsoft.com/office/drawing/2014/main" val="10003"/>
                  </a:ext>
                </a:extLst>
              </a:tr>
              <a:tr h="567000">
                <a:tc>
                  <a:txBody>
                    <a:bodyPr/>
                    <a:lstStyle/>
                    <a:p>
                      <a:pPr marL="0" marR="0" lvl="0" indent="0" algn="l" rtl="0">
                        <a:lnSpc>
                          <a:spcPct val="100000"/>
                        </a:lnSpc>
                        <a:spcBef>
                          <a:spcPts val="0"/>
                        </a:spcBef>
                        <a:spcAft>
                          <a:spcPts val="0"/>
                        </a:spcAft>
                        <a:buNone/>
                      </a:pPr>
                      <a:r>
                        <a:rPr lang="en-US" sz="1800" u="none" strike="noStrike" cap="none"/>
                        <a:t>Reverse </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Forward</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Reverse Active</a:t>
                      </a:r>
                      <a:endParaRPr/>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dirty="0"/>
                        <a:t>No use</a:t>
                      </a:r>
                      <a:endParaRPr dirty="0"/>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3">
          <a:extLst>
            <a:ext uri="{FF2B5EF4-FFF2-40B4-BE49-F238E27FC236}">
              <a16:creationId xmlns:a16="http://schemas.microsoft.com/office/drawing/2014/main" id="{BE3DBAB6-27E7-3C97-D6C5-6679F40A942B}"/>
            </a:ext>
          </a:extLst>
        </p:cNvPr>
        <p:cNvGrpSpPr/>
        <p:nvPr/>
      </p:nvGrpSpPr>
      <p:grpSpPr>
        <a:xfrm>
          <a:off x="0" y="0"/>
          <a:ext cx="0" cy="0"/>
          <a:chOff x="0" y="0"/>
          <a:chExt cx="0" cy="0"/>
        </a:xfrm>
      </p:grpSpPr>
      <p:sp>
        <p:nvSpPr>
          <p:cNvPr id="394" name="Google Shape;394;p10">
            <a:extLst>
              <a:ext uri="{FF2B5EF4-FFF2-40B4-BE49-F238E27FC236}">
                <a16:creationId xmlns:a16="http://schemas.microsoft.com/office/drawing/2014/main" id="{571AA6EC-FDFE-7D4C-7EDE-0871E26A0E83}"/>
              </a:ext>
            </a:extLst>
          </p:cNvPr>
          <p:cNvSpPr txBox="1">
            <a:spLocks noGrp="1"/>
          </p:cNvSpPr>
          <p:nvPr>
            <p:ph type="body" idx="1"/>
          </p:nvPr>
        </p:nvSpPr>
        <p:spPr>
          <a:xfrm>
            <a:off x="1730000" y="902601"/>
            <a:ext cx="9385200" cy="53936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SzPts val="1800"/>
              <a:buNone/>
            </a:pPr>
            <a:r>
              <a:rPr lang="en-US" sz="1600" b="1" dirty="0">
                <a:solidFill>
                  <a:schemeClr val="dk1"/>
                </a:solidFill>
                <a:latin typeface="Cabin"/>
                <a:ea typeface="Cabin"/>
                <a:cs typeface="Cabin"/>
                <a:sym typeface="Cabin"/>
              </a:rPr>
              <a:t> </a:t>
            </a:r>
            <a:endParaRPr sz="1600" b="1" dirty="0">
              <a:solidFill>
                <a:schemeClr val="dk1"/>
              </a:solidFill>
              <a:latin typeface="Cabin"/>
              <a:ea typeface="Cabin"/>
              <a:cs typeface="Cabin"/>
              <a:sym typeface="Cabin"/>
            </a:endParaRPr>
          </a:p>
          <a:p>
            <a:pPr marL="0" lvl="0" indent="0" algn="l" rtl="0">
              <a:lnSpc>
                <a:spcPct val="90000"/>
              </a:lnSpc>
              <a:spcBef>
                <a:spcPts val="1600"/>
              </a:spcBef>
              <a:spcAft>
                <a:spcPts val="0"/>
              </a:spcAft>
              <a:buSzPts val="1800"/>
              <a:buNone/>
            </a:pPr>
            <a:r>
              <a:rPr lang="en-US" sz="1467" dirty="0">
                <a:latin typeface="Cabin Medium"/>
                <a:ea typeface="Cabin Medium"/>
                <a:cs typeface="Cabin Medium"/>
                <a:sym typeface="Cabin Medium"/>
              </a:rPr>
              <a:t>						</a:t>
            </a:r>
            <a:endParaRPr sz="1467" dirty="0">
              <a:latin typeface="Cabin Medium"/>
              <a:ea typeface="Cabin Medium"/>
              <a:cs typeface="Cabin Medium"/>
              <a:sym typeface="Cabin Medium"/>
            </a:endParaRPr>
          </a:p>
          <a:p>
            <a:pPr marL="0" lvl="0" indent="0" algn="l" rtl="0">
              <a:lnSpc>
                <a:spcPct val="90000"/>
              </a:lnSpc>
              <a:spcBef>
                <a:spcPts val="1600"/>
              </a:spcBef>
              <a:spcAft>
                <a:spcPts val="0"/>
              </a:spcAft>
              <a:buSzPts val="1800"/>
              <a:buNone/>
            </a:pPr>
            <a:endParaRPr sz="1467" dirty="0">
              <a:latin typeface="Cabin Medium"/>
              <a:ea typeface="Cabin Medium"/>
              <a:cs typeface="Cabin Medium"/>
              <a:sym typeface="Cabin Medium"/>
            </a:endParaRPr>
          </a:p>
          <a:p>
            <a:pPr marL="0" lvl="0" indent="0" algn="l" rtl="0">
              <a:lnSpc>
                <a:spcPct val="90000"/>
              </a:lnSpc>
              <a:spcBef>
                <a:spcPts val="1600"/>
              </a:spcBef>
              <a:spcAft>
                <a:spcPts val="0"/>
              </a:spcAft>
              <a:buSzPts val="1800"/>
              <a:buNone/>
            </a:pPr>
            <a:r>
              <a:rPr lang="en-US" sz="1867" dirty="0">
                <a:latin typeface="Cabin Medium"/>
                <a:ea typeface="Cabin Medium"/>
                <a:cs typeface="Cabin Medium"/>
                <a:sym typeface="Cabin Medium"/>
              </a:rPr>
              <a:t>													</a:t>
            </a:r>
            <a:endParaRPr sz="1867" dirty="0">
              <a:latin typeface="Cabin Medium"/>
              <a:ea typeface="Cabin Medium"/>
              <a:cs typeface="Cabin Medium"/>
              <a:sym typeface="Cabin Medium"/>
            </a:endParaRPr>
          </a:p>
          <a:p>
            <a:pPr marL="0" lvl="0" indent="0" algn="l" rtl="0">
              <a:lnSpc>
                <a:spcPct val="90000"/>
              </a:lnSpc>
              <a:spcBef>
                <a:spcPts val="1600"/>
              </a:spcBef>
              <a:spcAft>
                <a:spcPts val="1600"/>
              </a:spcAft>
              <a:buSzPts val="1800"/>
              <a:buNone/>
            </a:pPr>
            <a:r>
              <a:rPr lang="en-US" sz="1867" dirty="0">
                <a:latin typeface="Cabin Medium"/>
                <a:ea typeface="Cabin Medium"/>
                <a:cs typeface="Cabin Medium"/>
                <a:sym typeface="Cabin Medium"/>
              </a:rPr>
              <a:t>													</a:t>
            </a:r>
            <a:endParaRPr sz="1867" dirty="0">
              <a:latin typeface="Cabin Medium"/>
              <a:ea typeface="Cabin Medium"/>
              <a:cs typeface="Cabin Medium"/>
              <a:sym typeface="Cabin Medium"/>
            </a:endParaRPr>
          </a:p>
        </p:txBody>
      </p:sp>
      <p:cxnSp>
        <p:nvCxnSpPr>
          <p:cNvPr id="395" name="Google Shape;395;p10">
            <a:extLst>
              <a:ext uri="{FF2B5EF4-FFF2-40B4-BE49-F238E27FC236}">
                <a16:creationId xmlns:a16="http://schemas.microsoft.com/office/drawing/2014/main" id="{D4C7DC41-FCDD-F26A-5557-06D7AAC74812}"/>
              </a:ext>
            </a:extLst>
          </p:cNvPr>
          <p:cNvCxnSpPr/>
          <p:nvPr/>
        </p:nvCxnSpPr>
        <p:spPr>
          <a:xfrm rot="10800000">
            <a:off x="6422600" y="902601"/>
            <a:ext cx="0" cy="5393600"/>
          </a:xfrm>
          <a:prstGeom prst="straightConnector1">
            <a:avLst/>
          </a:prstGeom>
          <a:noFill/>
          <a:ln w="9525" cap="flat" cmpd="sng">
            <a:solidFill>
              <a:srgbClr val="20124D"/>
            </a:solidFill>
            <a:prstDash val="solid"/>
            <a:round/>
            <a:headEnd type="none" w="sm" len="sm"/>
            <a:tailEnd type="triangle" w="med" len="med"/>
          </a:ln>
        </p:spPr>
      </p:cxnSp>
      <p:cxnSp>
        <p:nvCxnSpPr>
          <p:cNvPr id="396" name="Google Shape;396;p10">
            <a:extLst>
              <a:ext uri="{FF2B5EF4-FFF2-40B4-BE49-F238E27FC236}">
                <a16:creationId xmlns:a16="http://schemas.microsoft.com/office/drawing/2014/main" id="{17079483-909D-5A52-0AD6-F98EF0368D13}"/>
              </a:ext>
            </a:extLst>
          </p:cNvPr>
          <p:cNvCxnSpPr>
            <a:endCxn id="394" idx="3"/>
          </p:cNvCxnSpPr>
          <p:nvPr/>
        </p:nvCxnSpPr>
        <p:spPr>
          <a:xfrm rot="10800000" flipH="1">
            <a:off x="1734500" y="3599401"/>
            <a:ext cx="9380700" cy="4500"/>
          </a:xfrm>
          <a:prstGeom prst="straightConnector1">
            <a:avLst/>
          </a:prstGeom>
          <a:noFill/>
          <a:ln w="9525" cap="flat" cmpd="sng">
            <a:solidFill>
              <a:srgbClr val="20124D"/>
            </a:solidFill>
            <a:prstDash val="solid"/>
            <a:round/>
            <a:headEnd type="none" w="sm" len="sm"/>
            <a:tailEnd type="triangle" w="med" len="med"/>
          </a:ln>
        </p:spPr>
      </p:cxnSp>
      <p:pic>
        <p:nvPicPr>
          <p:cNvPr id="406" name="Google Shape;406;p10" title="[27,33,44,&quot;https://www.codecogs.com/eqnedit.php?latex=V_%7BBC%7D#0&quot;]">
            <a:extLst>
              <a:ext uri="{FF2B5EF4-FFF2-40B4-BE49-F238E27FC236}">
                <a16:creationId xmlns:a16="http://schemas.microsoft.com/office/drawing/2014/main" id="{BD18C511-74F0-33DE-6AC3-8EFC255AF045}"/>
              </a:ext>
            </a:extLst>
          </p:cNvPr>
          <p:cNvPicPr preferRelativeResize="0"/>
          <p:nvPr/>
        </p:nvPicPr>
        <p:blipFill rotWithShape="1">
          <a:blip r:embed="rId3">
            <a:alphaModFix/>
          </a:blip>
          <a:srcRect/>
          <a:stretch/>
        </p:blipFill>
        <p:spPr>
          <a:xfrm>
            <a:off x="6514667" y="902602"/>
            <a:ext cx="349555" cy="183444"/>
          </a:xfrm>
          <a:prstGeom prst="rect">
            <a:avLst/>
          </a:prstGeom>
          <a:noFill/>
          <a:ln>
            <a:noFill/>
          </a:ln>
        </p:spPr>
      </p:pic>
      <p:pic>
        <p:nvPicPr>
          <p:cNvPr id="407" name="Google Shape;407;p10" title="[27,33,44,&quot;https://www.codecogs.com/eqnedit.php?latex=V_%7BBE%7D#0&quot;]">
            <a:extLst>
              <a:ext uri="{FF2B5EF4-FFF2-40B4-BE49-F238E27FC236}">
                <a16:creationId xmlns:a16="http://schemas.microsoft.com/office/drawing/2014/main" id="{6374F9CE-360E-F71F-0133-8D576253CC7C}"/>
              </a:ext>
            </a:extLst>
          </p:cNvPr>
          <p:cNvPicPr preferRelativeResize="0"/>
          <p:nvPr/>
        </p:nvPicPr>
        <p:blipFill rotWithShape="1">
          <a:blip r:embed="rId4">
            <a:alphaModFix/>
          </a:blip>
          <a:srcRect/>
          <a:stretch/>
        </p:blipFill>
        <p:spPr>
          <a:xfrm>
            <a:off x="10843668" y="3362167"/>
            <a:ext cx="376433" cy="194435"/>
          </a:xfrm>
          <a:prstGeom prst="rect">
            <a:avLst/>
          </a:prstGeom>
          <a:noFill/>
          <a:ln>
            <a:noFill/>
          </a:ln>
        </p:spPr>
      </p:pic>
      <p:sp>
        <p:nvSpPr>
          <p:cNvPr id="411" name="Google Shape;411;p10">
            <a:extLst>
              <a:ext uri="{FF2B5EF4-FFF2-40B4-BE49-F238E27FC236}">
                <a16:creationId xmlns:a16="http://schemas.microsoft.com/office/drawing/2014/main" id="{A4233E12-AE73-0D69-0470-BFD99C52A799}"/>
              </a:ext>
            </a:extLst>
          </p:cNvPr>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CSE 350</a:t>
            </a:r>
            <a:endParaRPr sz="1400" b="0" i="0" u="none" strike="noStrike" cap="none">
              <a:solidFill>
                <a:srgbClr val="000000"/>
              </a:solidFill>
              <a:latin typeface="Arial"/>
              <a:ea typeface="Arial"/>
              <a:cs typeface="Arial"/>
              <a:sym typeface="Arial"/>
            </a:endParaRPr>
          </a:p>
        </p:txBody>
      </p:sp>
      <p:pic>
        <p:nvPicPr>
          <p:cNvPr id="412" name="Google Shape;412;p10">
            <a:extLst>
              <a:ext uri="{FF2B5EF4-FFF2-40B4-BE49-F238E27FC236}">
                <a16:creationId xmlns:a16="http://schemas.microsoft.com/office/drawing/2014/main" id="{EE1F062B-29EC-BBB4-37B5-61F3547273BA}"/>
              </a:ext>
            </a:extLst>
          </p:cNvPr>
          <p:cNvPicPr preferRelativeResize="0"/>
          <p:nvPr/>
        </p:nvPicPr>
        <p:blipFill rotWithShape="1">
          <a:blip r:embed="rId5">
            <a:alphaModFix/>
          </a:blip>
          <a:srcRect/>
          <a:stretch/>
        </p:blipFill>
        <p:spPr>
          <a:xfrm>
            <a:off x="253319" y="5713427"/>
            <a:ext cx="1035082" cy="1035082"/>
          </a:xfrm>
          <a:prstGeom prst="rect">
            <a:avLst/>
          </a:prstGeom>
          <a:noFill/>
          <a:ln>
            <a:noFill/>
          </a:ln>
        </p:spPr>
      </p:pic>
      <p:sp>
        <p:nvSpPr>
          <p:cNvPr id="413" name="Google Shape;413;p10">
            <a:extLst>
              <a:ext uri="{FF2B5EF4-FFF2-40B4-BE49-F238E27FC236}">
                <a16:creationId xmlns:a16="http://schemas.microsoft.com/office/drawing/2014/main" id="{F1FDEB94-4F37-0242-4F4C-6AD4B6CD7994}"/>
              </a:ext>
            </a:extLst>
          </p:cNvPr>
          <p:cNvSpPr txBox="1">
            <a:spLocks noGrp="1"/>
          </p:cNvSpPr>
          <p:nvPr>
            <p:ph type="title"/>
          </p:nvPr>
        </p:nvSpPr>
        <p:spPr>
          <a:xfrm>
            <a:off x="1096668" y="311208"/>
            <a:ext cx="9908099" cy="3726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1"/>
              </a:buClr>
              <a:buSzPts val="4400"/>
              <a:buFont typeface="Times New Roman"/>
              <a:buNone/>
            </a:pPr>
            <a:r>
              <a:rPr lang="en-US" sz="3600">
                <a:solidFill>
                  <a:schemeClr val="accent1"/>
                </a:solidFill>
              </a:rPr>
              <a:t>Review ( Electronic Circuits and Devices)</a:t>
            </a:r>
            <a:endParaRPr sz="3600">
              <a:solidFill>
                <a:schemeClr val="accent1"/>
              </a:solidFill>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69FCA3B-0842-F987-B8A9-47C00D724C6E}"/>
                  </a:ext>
                </a:extLst>
              </p:cNvPr>
              <p:cNvSpPr txBox="1"/>
              <p:nvPr/>
            </p:nvSpPr>
            <p:spPr>
              <a:xfrm>
                <a:off x="1643288" y="1009110"/>
                <a:ext cx="4182813" cy="1631216"/>
              </a:xfrm>
              <a:prstGeom prst="rect">
                <a:avLst/>
              </a:prstGeom>
              <a:noFill/>
            </p:spPr>
            <p:txBody>
              <a:bodyPr wrap="square" rtlCol="0">
                <a:spAutoFit/>
              </a:bodyPr>
              <a:lstStyle/>
              <a:p>
                <a:r>
                  <a:rPr lang="en-US" sz="2000" b="1" dirty="0"/>
                  <a:t>Reverse Active:</a:t>
                </a:r>
              </a:p>
              <a:p>
                <a:r>
                  <a:rPr lang="en-US" sz="2000" dirty="0"/>
                  <a:t>Emitter and Collector Switch their roles</a:t>
                </a:r>
              </a:p>
              <a:p>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𝐵𝐶</m:t>
                        </m:r>
                      </m:sub>
                    </m:sSub>
                    <m:r>
                      <a:rPr lang="en-US" sz="2000" b="0" i="1" smtClean="0">
                        <a:latin typeface="Cambria Math" panose="02040503050406030204" pitchFamily="18" charset="0"/>
                      </a:rPr>
                      <m:t>=</m:t>
                    </m:r>
                    <m:r>
                      <a:rPr lang="en-US" sz="2000" b="0" i="1" smtClean="0">
                        <a:latin typeface="Cambria Math" panose="02040503050406030204" pitchFamily="18" charset="0"/>
                      </a:rPr>
                      <m:t>0</m:t>
                    </m:r>
                    <m:r>
                      <a:rPr lang="en-US" sz="2000" b="0" i="1" smtClean="0">
                        <a:latin typeface="Cambria Math" panose="02040503050406030204" pitchFamily="18" charset="0"/>
                      </a:rPr>
                      <m:t>.</m:t>
                    </m:r>
                    <m:r>
                      <a:rPr lang="en-US" sz="2000" b="0" i="1" smtClean="0">
                        <a:latin typeface="Cambria Math" panose="02040503050406030204" pitchFamily="18" charset="0"/>
                      </a:rPr>
                      <m:t>7</m:t>
                    </m:r>
                    <m:r>
                      <a:rPr lang="en-US" sz="2000" b="0" i="1" smtClean="0">
                        <a:latin typeface="Cambria Math" panose="02040503050406030204" pitchFamily="18" charset="0"/>
                      </a:rPr>
                      <m:t>𝑉</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𝐸</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𝑅</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𝐵</m:t>
                        </m:r>
                      </m:sub>
                    </m:sSub>
                  </m:oMath>
                </a14:m>
                <a:r>
                  <a:rPr lang="en-US" sz="2000" dirty="0"/>
                  <a:t> </a:t>
                </a:r>
              </a:p>
              <a:p>
                <a:pPr/>
                <a:r>
                  <a:rPr lang="en-US" sz="2000" dirty="0"/>
                  <a:t>Typical,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𝑅</m:t>
                        </m:r>
                      </m:sub>
                    </m:sSub>
                  </m:oMath>
                </a14:m>
                <a:r>
                  <a:rPr lang="en-US" sz="2000" dirty="0"/>
                  <a:t> values 0.1, 0.5</a:t>
                </a:r>
              </a:p>
            </p:txBody>
          </p:sp>
        </mc:Choice>
        <mc:Fallback>
          <p:sp>
            <p:nvSpPr>
              <p:cNvPr id="2" name="TextBox 1">
                <a:extLst>
                  <a:ext uri="{FF2B5EF4-FFF2-40B4-BE49-F238E27FC236}">
                    <a16:creationId xmlns:a16="http://schemas.microsoft.com/office/drawing/2014/main" id="{369FCA3B-0842-F987-B8A9-47C00D724C6E}"/>
                  </a:ext>
                </a:extLst>
              </p:cNvPr>
              <p:cNvSpPr txBox="1">
                <a:spLocks noRot="1" noChangeAspect="1" noMove="1" noResize="1" noEditPoints="1" noAdjustHandles="1" noChangeArrowheads="1" noChangeShapeType="1" noTextEdit="1"/>
              </p:cNvSpPr>
              <p:nvPr/>
            </p:nvSpPr>
            <p:spPr>
              <a:xfrm>
                <a:off x="1643288" y="1009110"/>
                <a:ext cx="4182813" cy="1631216"/>
              </a:xfrm>
              <a:prstGeom prst="rect">
                <a:avLst/>
              </a:prstGeom>
              <a:blipFill>
                <a:blip r:embed="rId6"/>
                <a:stretch>
                  <a:fillRect l="-1603" t="-1873" b="-63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2CD5ED-F1AB-F878-2C9D-5CF901461B16}"/>
                  </a:ext>
                </a:extLst>
              </p:cNvPr>
              <p:cNvSpPr txBox="1"/>
              <p:nvPr/>
            </p:nvSpPr>
            <p:spPr>
              <a:xfrm>
                <a:off x="6640951" y="1284400"/>
                <a:ext cx="4667505" cy="1642181"/>
              </a:xfrm>
              <a:prstGeom prst="rect">
                <a:avLst/>
              </a:prstGeom>
              <a:noFill/>
            </p:spPr>
            <p:txBody>
              <a:bodyPr wrap="square" rtlCol="0">
                <a:spAutoFit/>
              </a:bodyPr>
              <a:lstStyle/>
              <a:p>
                <a:r>
                  <a:rPr lang="en-US" sz="2000" b="1" dirty="0"/>
                  <a:t>Saturation:</a:t>
                </a:r>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𝐵𝐸</m:t>
                          </m:r>
                        </m:sub>
                      </m:sSub>
                      <m:r>
                        <a:rPr lang="en-US" sz="2000" b="0" i="1" smtClean="0">
                          <a:latin typeface="Cambria Math" panose="02040503050406030204" pitchFamily="18" charset="0"/>
                        </a:rPr>
                        <m:t>=</m:t>
                      </m:r>
                      <m:r>
                        <a:rPr lang="en-US" sz="2000" b="0" i="1" smtClean="0">
                          <a:latin typeface="Cambria Math" panose="02040503050406030204" pitchFamily="18" charset="0"/>
                        </a:rPr>
                        <m:t>0</m:t>
                      </m:r>
                      <m:r>
                        <a:rPr lang="en-US" sz="2000" b="0" i="1" smtClean="0">
                          <a:latin typeface="Cambria Math" panose="02040503050406030204" pitchFamily="18" charset="0"/>
                        </a:rPr>
                        <m:t>.</m:t>
                      </m:r>
                      <m:r>
                        <a:rPr lang="en-US" sz="2000" b="0" i="1" smtClean="0">
                          <a:latin typeface="Cambria Math" panose="02040503050406030204" pitchFamily="18" charset="0"/>
                        </a:rPr>
                        <m:t>8</m:t>
                      </m:r>
                      <m:r>
                        <a:rPr lang="en-US" sz="2000" b="0" i="1" smtClean="0">
                          <a:latin typeface="Cambria Math" panose="02040503050406030204" pitchFamily="18" charset="0"/>
                        </a:rPr>
                        <m:t> </m:t>
                      </m:r>
                      <m:r>
                        <a:rPr lang="en-US" sz="2000" b="0" i="1" smtClean="0">
                          <a:latin typeface="Cambria Math" panose="02040503050406030204" pitchFamily="18" charset="0"/>
                        </a:rPr>
                        <m:t>𝑉</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𝐶𝐸</m:t>
                          </m:r>
                        </m:sub>
                      </m:sSub>
                      <m:r>
                        <a:rPr lang="en-US" sz="2000" b="0" i="1" smtClean="0">
                          <a:latin typeface="Cambria Math" panose="02040503050406030204" pitchFamily="18" charset="0"/>
                        </a:rPr>
                        <m:t>=</m:t>
                      </m:r>
                      <m:r>
                        <a:rPr lang="en-US" sz="2000" b="0" i="1" smtClean="0">
                          <a:latin typeface="Cambria Math" panose="02040503050406030204" pitchFamily="18" charset="0"/>
                        </a:rPr>
                        <m:t>0</m:t>
                      </m:r>
                      <m:r>
                        <a:rPr lang="en-US" sz="2000" b="0" i="1" smtClean="0">
                          <a:latin typeface="Cambria Math" panose="02040503050406030204" pitchFamily="18" charset="0"/>
                        </a:rPr>
                        <m:t>.</m:t>
                      </m:r>
                      <m:r>
                        <a:rPr lang="en-US" sz="2000" b="0" i="1" smtClean="0">
                          <a:latin typeface="Cambria Math" panose="02040503050406030204" pitchFamily="18" charset="0"/>
                        </a:rPr>
                        <m:t>1</m:t>
                      </m:r>
                      <m:r>
                        <a:rPr lang="en-US" sz="2000" b="0" i="1" smtClean="0">
                          <a:latin typeface="Cambria Math" panose="02040503050406030204" pitchFamily="18" charset="0"/>
                        </a:rPr>
                        <m:t> −</m:t>
                      </m:r>
                      <m:r>
                        <a:rPr lang="en-US" sz="2000" b="0" i="1" smtClean="0">
                          <a:latin typeface="Cambria Math" panose="02040503050406030204" pitchFamily="18" charset="0"/>
                        </a:rPr>
                        <m:t>0</m:t>
                      </m:r>
                      <m:r>
                        <a:rPr lang="en-US" sz="2000" b="0" i="1" smtClean="0">
                          <a:latin typeface="Cambria Math" panose="02040503050406030204" pitchFamily="18" charset="0"/>
                        </a:rPr>
                        <m:t>.</m:t>
                      </m:r>
                      <m:r>
                        <a:rPr lang="en-US" sz="2000" b="0" i="1" smtClean="0">
                          <a:latin typeface="Cambria Math" panose="02040503050406030204" pitchFamily="18" charset="0"/>
                        </a:rPr>
                        <m:t>2</m:t>
                      </m:r>
                      <m:r>
                        <a:rPr lang="en-US" sz="2000" b="0" i="1" smtClean="0">
                          <a:latin typeface="Cambria Math" panose="02040503050406030204" pitchFamily="18" charset="0"/>
                        </a:rPr>
                        <m:t> </m:t>
                      </m:r>
                      <m:r>
                        <a:rPr lang="en-US" sz="2000" b="0" i="1" smtClean="0">
                          <a:latin typeface="Cambria Math" panose="02040503050406030204" pitchFamily="18" charset="0"/>
                        </a:rPr>
                        <m:t>𝑉</m:t>
                      </m:r>
                    </m:oMath>
                  </m:oMathPara>
                </a14:m>
                <a:endParaRPr lang="en-US" sz="2000" dirty="0"/>
              </a:p>
              <a:p>
                <a:r>
                  <a:rPr lang="en-US" sz="2000" b="1" dirty="0"/>
                  <a:t>Checking condition:</a:t>
                </a:r>
              </a:p>
              <a:p>
                <a:pPr/>
                <a14:m>
                  <m:oMathPara xmlns:m="http://schemas.openxmlformats.org/officeDocument/2006/math">
                    <m:oMathParaPr>
                      <m:jc m:val="centerGroup"/>
                    </m:oMathParaPr>
                    <m:oMath xmlns:m="http://schemas.openxmlformats.org/officeDocument/2006/math">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𝐶</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𝐵</m:t>
                              </m:r>
                            </m:sub>
                          </m:sSub>
                        </m:den>
                      </m:f>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𝑓𝑜𝑟𝑐𝑒𝑑</m:t>
                          </m:r>
                        </m:sub>
                      </m:sSub>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𝐹</m:t>
                          </m:r>
                        </m:sub>
                      </m:sSub>
                      <m:r>
                        <a:rPr lang="en-US" sz="2000" b="0" i="1" smtClean="0">
                          <a:latin typeface="Cambria Math" panose="02040503050406030204" pitchFamily="18" charset="0"/>
                        </a:rPr>
                        <m:t> ( </m:t>
                      </m:r>
                      <m:r>
                        <a:rPr lang="en-US" sz="2000" b="0" i="1" smtClean="0">
                          <a:latin typeface="Cambria Math" panose="02040503050406030204" pitchFamily="18" charset="0"/>
                        </a:rPr>
                        <m:t>𝑓𝑜𝑟𝑤𝑎𝑟𝑑</m:t>
                      </m:r>
                      <m:r>
                        <a:rPr lang="en-US" sz="2000" b="0" i="1" smtClean="0">
                          <a:latin typeface="Cambria Math" panose="02040503050406030204" pitchFamily="18" charset="0"/>
                        </a:rPr>
                        <m:t>)</m:t>
                      </m:r>
                    </m:oMath>
                  </m:oMathPara>
                </a14:m>
                <a:endParaRPr lang="en-US" sz="2000" dirty="0"/>
              </a:p>
            </p:txBody>
          </p:sp>
        </mc:Choice>
        <mc:Fallback xmlns="">
          <p:sp>
            <p:nvSpPr>
              <p:cNvPr id="3" name="TextBox 2">
                <a:extLst>
                  <a:ext uri="{FF2B5EF4-FFF2-40B4-BE49-F238E27FC236}">
                    <a16:creationId xmlns:a16="http://schemas.microsoft.com/office/drawing/2014/main" id="{CB2CD5ED-F1AB-F878-2C9D-5CF901461B16}"/>
                  </a:ext>
                </a:extLst>
              </p:cNvPr>
              <p:cNvSpPr txBox="1">
                <a:spLocks noRot="1" noChangeAspect="1" noMove="1" noResize="1" noEditPoints="1" noAdjustHandles="1" noChangeArrowheads="1" noChangeShapeType="1" noTextEdit="1"/>
              </p:cNvSpPr>
              <p:nvPr/>
            </p:nvSpPr>
            <p:spPr>
              <a:xfrm>
                <a:off x="6640951" y="1284400"/>
                <a:ext cx="4667505" cy="1642181"/>
              </a:xfrm>
              <a:prstGeom prst="rect">
                <a:avLst/>
              </a:prstGeom>
              <a:blipFill>
                <a:blip r:embed="rId7"/>
                <a:stretch>
                  <a:fillRect l="-1305" t="-18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107AB87-90C7-91D1-2CC6-F4FB992B3B1B}"/>
                  </a:ext>
                </a:extLst>
              </p:cNvPr>
              <p:cNvSpPr txBox="1"/>
              <p:nvPr/>
            </p:nvSpPr>
            <p:spPr>
              <a:xfrm>
                <a:off x="1785119" y="3933202"/>
                <a:ext cx="3948670" cy="1015663"/>
              </a:xfrm>
              <a:prstGeom prst="rect">
                <a:avLst/>
              </a:prstGeom>
              <a:noFill/>
            </p:spPr>
            <p:txBody>
              <a:bodyPr wrap="square" rtlCol="0">
                <a:spAutoFit/>
              </a:bodyPr>
              <a:lstStyle/>
              <a:p>
                <a:r>
                  <a:rPr lang="en-US" sz="2000" b="1" dirty="0"/>
                  <a:t>Cutoff:</a:t>
                </a:r>
              </a:p>
              <a:p>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𝑽</m:t>
                          </m:r>
                        </m:e>
                        <m:sub>
                          <m:r>
                            <a:rPr lang="en-US" sz="2000" b="1" i="1" smtClean="0">
                              <a:latin typeface="Cambria Math" panose="02040503050406030204" pitchFamily="18" charset="0"/>
                            </a:rPr>
                            <m:t>𝑩𝑬</m:t>
                          </m:r>
                        </m:sub>
                      </m:sSub>
                      <m:r>
                        <a:rPr lang="en-US" sz="2000" b="1" i="1" smtClean="0">
                          <a:latin typeface="Cambria Math" panose="02040503050406030204" pitchFamily="18" charset="0"/>
                        </a:rPr>
                        <m:t>&lt;</m:t>
                      </m:r>
                      <m:r>
                        <a:rPr lang="en-US" sz="2000" b="1" i="1" smtClean="0">
                          <a:latin typeface="Cambria Math" panose="02040503050406030204" pitchFamily="18" charset="0"/>
                        </a:rPr>
                        <m:t>𝟎</m:t>
                      </m:r>
                      <m:r>
                        <a:rPr lang="en-US" sz="2000" b="1" i="1" smtClean="0">
                          <a:latin typeface="Cambria Math" panose="02040503050406030204" pitchFamily="18" charset="0"/>
                        </a:rPr>
                        <m:t> </m:t>
                      </m:r>
                      <m:r>
                        <a:rPr lang="en-US" sz="2000" b="1" i="1" smtClean="0">
                          <a:latin typeface="Cambria Math" panose="02040503050406030204" pitchFamily="18" charset="0"/>
                        </a:rPr>
                        <m:t>𝒂𝒏𝒅</m:t>
                      </m:r>
                      <m:r>
                        <a:rPr lang="en-US" sz="2000" b="1" i="1"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𝑽</m:t>
                          </m:r>
                        </m:e>
                        <m:sub>
                          <m:r>
                            <a:rPr lang="en-US" sz="2000" b="1" i="1" smtClean="0">
                              <a:latin typeface="Cambria Math" panose="02040503050406030204" pitchFamily="18" charset="0"/>
                            </a:rPr>
                            <m:t>𝑩𝑪</m:t>
                          </m:r>
                        </m:sub>
                      </m:sSub>
                      <m:r>
                        <a:rPr lang="en-US" sz="2000" b="1" i="1" smtClean="0">
                          <a:latin typeface="Cambria Math" panose="02040503050406030204" pitchFamily="18" charset="0"/>
                        </a:rPr>
                        <m:t>&lt;</m:t>
                      </m:r>
                      <m:r>
                        <a:rPr lang="en-US" sz="2000" b="1" i="1" smtClean="0">
                          <a:latin typeface="Cambria Math" panose="02040503050406030204" pitchFamily="18" charset="0"/>
                        </a:rPr>
                        <m:t>𝟎</m:t>
                      </m:r>
                    </m:oMath>
                  </m:oMathPara>
                </a14:m>
                <a:endParaRPr lang="en-US" sz="2000" b="1" dirty="0"/>
              </a:p>
              <a:p>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𝐸</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𝐶</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𝐵</m:t>
                          </m:r>
                        </m:sub>
                      </m:sSub>
                      <m:r>
                        <a:rPr lang="en-US" sz="2000" b="0" i="1" smtClean="0">
                          <a:latin typeface="Cambria Math" panose="02040503050406030204" pitchFamily="18" charset="0"/>
                        </a:rPr>
                        <m:t>=</m:t>
                      </m:r>
                      <m:r>
                        <a:rPr lang="en-US" sz="2000" b="0" i="1" smtClean="0">
                          <a:latin typeface="Cambria Math" panose="02040503050406030204" pitchFamily="18" charset="0"/>
                        </a:rPr>
                        <m:t>0</m:t>
                      </m:r>
                    </m:oMath>
                  </m:oMathPara>
                </a14:m>
                <a:endParaRPr lang="en-US" sz="2000" dirty="0"/>
              </a:p>
            </p:txBody>
          </p:sp>
        </mc:Choice>
        <mc:Fallback>
          <p:sp>
            <p:nvSpPr>
              <p:cNvPr id="4" name="TextBox 3">
                <a:extLst>
                  <a:ext uri="{FF2B5EF4-FFF2-40B4-BE49-F238E27FC236}">
                    <a16:creationId xmlns:a16="http://schemas.microsoft.com/office/drawing/2014/main" id="{6107AB87-90C7-91D1-2CC6-F4FB992B3B1B}"/>
                  </a:ext>
                </a:extLst>
              </p:cNvPr>
              <p:cNvSpPr txBox="1">
                <a:spLocks noRot="1" noChangeAspect="1" noMove="1" noResize="1" noEditPoints="1" noAdjustHandles="1" noChangeArrowheads="1" noChangeShapeType="1" noTextEdit="1"/>
              </p:cNvSpPr>
              <p:nvPr/>
            </p:nvSpPr>
            <p:spPr>
              <a:xfrm>
                <a:off x="1785119" y="3933202"/>
                <a:ext cx="3948670" cy="1015663"/>
              </a:xfrm>
              <a:prstGeom prst="rect">
                <a:avLst/>
              </a:prstGeom>
              <a:blipFill>
                <a:blip r:embed="rId8"/>
                <a:stretch>
                  <a:fillRect l="-1698" t="-2395" b="-5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224B13-9F07-617B-B2A9-FB7948871B61}"/>
                  </a:ext>
                </a:extLst>
              </p:cNvPr>
              <p:cNvSpPr txBox="1"/>
              <p:nvPr/>
            </p:nvSpPr>
            <p:spPr>
              <a:xfrm>
                <a:off x="6864198" y="3933202"/>
                <a:ext cx="4525287" cy="1949957"/>
              </a:xfrm>
              <a:prstGeom prst="rect">
                <a:avLst/>
              </a:prstGeom>
              <a:noFill/>
            </p:spPr>
            <p:txBody>
              <a:bodyPr wrap="square" rtlCol="0">
                <a:spAutoFit/>
              </a:bodyPr>
              <a:lstStyle/>
              <a:p>
                <a:r>
                  <a:rPr lang="en-US" sz="2000" b="1" dirty="0"/>
                  <a:t>Active:</a:t>
                </a:r>
              </a:p>
              <a:p>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𝐵𝐸</m:t>
                          </m:r>
                        </m:sub>
                      </m:sSub>
                      <m:r>
                        <a:rPr lang="en-US" sz="2000" b="0" i="1" smtClean="0">
                          <a:latin typeface="Cambria Math" panose="02040503050406030204" pitchFamily="18" charset="0"/>
                        </a:rPr>
                        <m:t>&gt;</m:t>
                      </m:r>
                      <m:r>
                        <a:rPr lang="en-US" sz="2000" b="0" i="1" smtClean="0">
                          <a:latin typeface="Cambria Math" panose="02040503050406030204" pitchFamily="18" charset="0"/>
                        </a:rPr>
                        <m:t>0</m:t>
                      </m:r>
                      <m:r>
                        <a:rPr lang="en-US" sz="2000" b="0" i="1" smtClean="0">
                          <a:latin typeface="Cambria Math" panose="02040503050406030204" pitchFamily="18" charset="0"/>
                        </a:rPr>
                        <m:t> </m:t>
                      </m:r>
                      <m:r>
                        <a:rPr lang="en-US" sz="2000" b="0" i="1" smtClean="0">
                          <a:latin typeface="Cambria Math" panose="02040503050406030204" pitchFamily="18" charset="0"/>
                        </a:rPr>
                        <m:t>𝑎𝑛𝑑</m:t>
                      </m:r>
                      <m:r>
                        <a:rPr lang="en-US" sz="2000" b="0" i="1" smtClean="0">
                          <a:latin typeface="Cambria Math" panose="02040503050406030204" pitchFamily="18" charset="0"/>
                        </a:rPr>
                        <m:t> </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𝐵𝐶</m:t>
                          </m:r>
                        </m:sub>
                      </m:sSub>
                      <m:r>
                        <a:rPr lang="en-US" sz="2000" b="0" i="1" smtClean="0">
                          <a:latin typeface="Cambria Math" panose="02040503050406030204" pitchFamily="18" charset="0"/>
                        </a:rPr>
                        <m:t>&lt;</m:t>
                      </m:r>
                      <m:r>
                        <a:rPr lang="en-US" sz="2000" b="0" i="1" smtClean="0">
                          <a:latin typeface="Cambria Math" panose="02040503050406030204" pitchFamily="18" charset="0"/>
                        </a:rPr>
                        <m:t>0</m:t>
                      </m:r>
                    </m:oMath>
                  </m:oMathPara>
                </a14:m>
                <a:endParaRPr lang="en-US" sz="2000" dirty="0"/>
              </a:p>
              <a:p>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𝐵𝐸</m:t>
                          </m:r>
                        </m:sub>
                      </m:sSub>
                      <m:r>
                        <a:rPr lang="en-US" sz="2000" b="0" i="1" smtClean="0">
                          <a:latin typeface="Cambria Math" panose="02040503050406030204" pitchFamily="18" charset="0"/>
                        </a:rPr>
                        <m:t>=</m:t>
                      </m:r>
                      <m:r>
                        <a:rPr lang="en-US" sz="2000" b="0" i="1" smtClean="0">
                          <a:latin typeface="Cambria Math" panose="02040503050406030204" pitchFamily="18" charset="0"/>
                        </a:rPr>
                        <m:t>0</m:t>
                      </m:r>
                      <m:r>
                        <a:rPr lang="en-US" sz="2000" b="0" i="1" smtClean="0">
                          <a:latin typeface="Cambria Math" panose="02040503050406030204" pitchFamily="18" charset="0"/>
                        </a:rPr>
                        <m:t>.</m:t>
                      </m:r>
                      <m:r>
                        <a:rPr lang="en-US" sz="2000" b="0" i="1" smtClean="0">
                          <a:latin typeface="Cambria Math" panose="02040503050406030204" pitchFamily="18" charset="0"/>
                        </a:rPr>
                        <m:t>7</m:t>
                      </m:r>
                      <m:r>
                        <a:rPr lang="en-US" sz="2000" b="0" i="1" smtClean="0">
                          <a:latin typeface="Cambria Math" panose="02040503050406030204" pitchFamily="18" charset="0"/>
                        </a:rPr>
                        <m:t> </m:t>
                      </m:r>
                      <m:r>
                        <a:rPr lang="en-US" sz="2000" b="0" i="1" smtClean="0">
                          <a:latin typeface="Cambria Math" panose="02040503050406030204" pitchFamily="18" charset="0"/>
                        </a:rPr>
                        <m:t>𝑉</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𝐶</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𝐵</m:t>
                              </m:r>
                            </m:sub>
                          </m:sSub>
                        </m:den>
                      </m:f>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𝐹</m:t>
                          </m:r>
                        </m:sub>
                      </m:sSub>
                    </m:oMath>
                  </m:oMathPara>
                </a14:m>
                <a:endParaRPr lang="en-US" sz="2000" dirty="0"/>
              </a:p>
              <a:p>
                <a:r>
                  <a:rPr lang="en-US" sz="2000" dirty="0"/>
                  <a:t>Typical </a:t>
                </a:r>
                <a14:m>
                  <m:oMath xmlns:m="http://schemas.openxmlformats.org/officeDocument/2006/math">
                    <m:r>
                      <a:rPr lang="en-US" sz="2000" b="0" i="1" smtClean="0">
                        <a:latin typeface="Cambria Math" panose="02040503050406030204" pitchFamily="18" charset="0"/>
                      </a:rPr>
                      <m:t>𝛽</m:t>
                    </m:r>
                  </m:oMath>
                </a14:m>
                <a:r>
                  <a:rPr lang="en-US" sz="2000" dirty="0"/>
                  <a:t> values: 50, 80, 100, 200</a:t>
                </a:r>
              </a:p>
              <a:p>
                <a:r>
                  <a:rPr lang="en-US" sz="2000" dirty="0"/>
                  <a:t>( fixed and depend on model of BJT)</a:t>
                </a:r>
              </a:p>
            </p:txBody>
          </p:sp>
        </mc:Choice>
        <mc:Fallback xmlns="">
          <p:sp>
            <p:nvSpPr>
              <p:cNvPr id="5" name="TextBox 4">
                <a:extLst>
                  <a:ext uri="{FF2B5EF4-FFF2-40B4-BE49-F238E27FC236}">
                    <a16:creationId xmlns:a16="http://schemas.microsoft.com/office/drawing/2014/main" id="{CC224B13-9F07-617B-B2A9-FB7948871B61}"/>
                  </a:ext>
                </a:extLst>
              </p:cNvPr>
              <p:cNvSpPr txBox="1">
                <a:spLocks noRot="1" noChangeAspect="1" noMove="1" noResize="1" noEditPoints="1" noAdjustHandles="1" noChangeArrowheads="1" noChangeShapeType="1" noTextEdit="1"/>
              </p:cNvSpPr>
              <p:nvPr/>
            </p:nvSpPr>
            <p:spPr>
              <a:xfrm>
                <a:off x="6864198" y="3933202"/>
                <a:ext cx="4525287" cy="1949957"/>
              </a:xfrm>
              <a:prstGeom prst="rect">
                <a:avLst/>
              </a:prstGeom>
              <a:blipFill>
                <a:blip r:embed="rId9"/>
                <a:stretch>
                  <a:fillRect l="-1348" t="-1250" b="-4688"/>
                </a:stretch>
              </a:blipFill>
            </p:spPr>
            <p:txBody>
              <a:bodyPr/>
              <a:lstStyle/>
              <a:p>
                <a:r>
                  <a:rPr lang="en-US">
                    <a:noFill/>
                  </a:rPr>
                  <a:t> </a:t>
                </a:r>
              </a:p>
            </p:txBody>
          </p:sp>
        </mc:Fallback>
      </mc:AlternateContent>
    </p:spTree>
    <p:extLst>
      <p:ext uri="{BB962C8B-B14F-4D97-AF65-F5344CB8AC3E}">
        <p14:creationId xmlns:p14="http://schemas.microsoft.com/office/powerpoint/2010/main" val="2832888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4"/>
          <p:cNvSpPr txBox="1">
            <a:spLocks noGrp="1"/>
          </p:cNvSpPr>
          <p:nvPr>
            <p:ph type="title"/>
          </p:nvPr>
        </p:nvSpPr>
        <p:spPr>
          <a:xfrm>
            <a:off x="1096668" y="365126"/>
            <a:ext cx="10257132" cy="50994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1"/>
              </a:buClr>
              <a:buSzPts val="4400"/>
              <a:buFont typeface="Times New Roman"/>
              <a:buNone/>
            </a:pPr>
            <a:r>
              <a:rPr lang="en-US" sz="3600">
                <a:solidFill>
                  <a:schemeClr val="accent1"/>
                </a:solidFill>
              </a:rPr>
              <a:t>Review ( Electronic Circuits and Devices)</a:t>
            </a:r>
            <a:endParaRPr sz="3600">
              <a:solidFill>
                <a:schemeClr val="accent1"/>
              </a:solidFill>
            </a:endParaRPr>
          </a:p>
        </p:txBody>
      </p:sp>
      <p:sp>
        <p:nvSpPr>
          <p:cNvPr id="419" name="Google Shape;419;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420" name="Google Shape;420;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pic>
        <p:nvPicPr>
          <p:cNvPr id="421" name="Google Shape;421;p54"/>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mc:Choice xmlns:a14="http://schemas.microsoft.com/office/drawing/2010/main" Requires="a14">
          <p:sp>
            <p:nvSpPr>
              <p:cNvPr id="422" name="Google Shape;422;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400" b="1" dirty="0">
                    <a:latin typeface="Arial"/>
                    <a:ea typeface="Arial"/>
                    <a:cs typeface="Arial"/>
                    <a:sym typeface="Arial"/>
                  </a:rPr>
                  <a:t>Equations for BJT that are applicable for only Active mode:</a:t>
                </a:r>
              </a:p>
              <a:p>
                <a:pPr marL="114300" lvl="0" indent="0" algn="l" rtl="0">
                  <a:lnSpc>
                    <a:spcPct val="90000"/>
                  </a:lnSpc>
                  <a:spcBef>
                    <a:spcPts val="1000"/>
                  </a:spcBef>
                  <a:spcAft>
                    <a:spcPts val="0"/>
                  </a:spcAft>
                  <a:buSzPts val="1800"/>
                  <a:buNone/>
                </a:pPr>
                <a:endParaRPr lang="en-US" sz="2400" b="1" dirty="0">
                  <a:latin typeface="Arial"/>
                  <a:ea typeface="Arial"/>
                  <a:cs typeface="Arial"/>
                  <a:sym typeface="Arial"/>
                </a:endParaRPr>
              </a:p>
              <a:p>
                <a:pPr marL="114300" lvl="0" indent="0" algn="l" rtl="0">
                  <a:lnSpc>
                    <a:spcPct val="90000"/>
                  </a:lnSpc>
                  <a:spcBef>
                    <a:spcPts val="1000"/>
                  </a:spcBef>
                  <a:spcAft>
                    <a:spcPts val="0"/>
                  </a:spcAft>
                  <a:buSzPts val="1800"/>
                  <a:buNone/>
                </a:pP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𝑬</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𝑪</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𝑩</m:t>
                        </m:r>
                      </m:sub>
                    </m:sSub>
                    <m:r>
                      <a:rPr lang="en-US" b="1" i="0" smtClean="0">
                        <a:latin typeface="Cambria Math" panose="02040503050406030204" pitchFamily="18" charset="0"/>
                      </a:rPr>
                      <m:t>  </m:t>
                    </m:r>
                  </m:oMath>
                </a14:m>
                <a:r>
                  <a:rPr lang="en-US" b="1" dirty="0"/>
                  <a:t>			 </a:t>
                </a:r>
                <a14:m>
                  <m:oMath xmlns:m="http://schemas.openxmlformats.org/officeDocument/2006/math">
                    <m:r>
                      <a:rPr lang="en-US" b="1" i="1" smtClean="0">
                        <a:latin typeface="Cambria Math" panose="02040503050406030204" pitchFamily="18" charset="0"/>
                      </a:rPr>
                      <m:t>𝜷</m:t>
                    </m:r>
                    <m:r>
                      <a:rPr lang="en-US" b="1" i="1" smtClean="0">
                        <a:latin typeface="Cambria Math" panose="02040503050406030204" pitchFamily="18" charset="0"/>
                      </a:rPr>
                      <m:t>=</m:t>
                    </m:r>
                    <m:f>
                      <m:fPr>
                        <m:ctrlPr>
                          <a:rPr lang="en-US" b="1" i="1" smtClean="0">
                            <a:latin typeface="Cambria Math" panose="02040503050406030204" pitchFamily="18" charset="0"/>
                          </a:rPr>
                        </m:ctrlPr>
                      </m:fPr>
                      <m:num>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𝑪</m:t>
                            </m:r>
                          </m:sub>
                        </m:sSub>
                      </m:num>
                      <m:den>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𝑩</m:t>
                            </m:r>
                          </m:sub>
                        </m:sSub>
                      </m:den>
                    </m:f>
                  </m:oMath>
                </a14:m>
                <a:r>
                  <a:rPr lang="en-US" b="1" dirty="0"/>
                  <a:t> 		</a:t>
                </a:r>
              </a:p>
              <a:p>
                <a:pPr marL="114300" lvl="0" indent="0" algn="l" rtl="0">
                  <a:lnSpc>
                    <a:spcPct val="90000"/>
                  </a:lnSpc>
                  <a:spcBef>
                    <a:spcPts val="1000"/>
                  </a:spcBef>
                  <a:spcAft>
                    <a:spcPts val="0"/>
                  </a:spcAft>
                  <a:buSzPts val="1800"/>
                  <a:buNone/>
                </a:pPr>
                <a14:m>
                  <m:oMath xmlns:m="http://schemas.openxmlformats.org/officeDocument/2006/math">
                    <m:r>
                      <a:rPr lang="en-US" b="1" i="1" smtClean="0">
                        <a:latin typeface="Cambria Math" panose="02040503050406030204" pitchFamily="18" charset="0"/>
                      </a:rPr>
                      <m:t>𝜶</m:t>
                    </m:r>
                    <m:r>
                      <a:rPr lang="en-US" b="1" i="1" smtClean="0">
                        <a:latin typeface="Cambria Math" panose="02040503050406030204" pitchFamily="18" charset="0"/>
                      </a:rPr>
                      <m:t>=</m:t>
                    </m:r>
                    <m:f>
                      <m:fPr>
                        <m:ctrlPr>
                          <a:rPr lang="en-US" b="1" i="1" smtClean="0">
                            <a:latin typeface="Cambria Math" panose="02040503050406030204" pitchFamily="18" charset="0"/>
                          </a:rPr>
                        </m:ctrlPr>
                      </m:fPr>
                      <m:num>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𝑪</m:t>
                            </m:r>
                          </m:sub>
                        </m:sSub>
                      </m:num>
                      <m:den>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𝑬</m:t>
                            </m:r>
                          </m:sub>
                        </m:sSub>
                      </m:den>
                    </m:f>
                    <m:r>
                      <a:rPr lang="en-US" b="1" i="1" smtClean="0">
                        <a:latin typeface="Cambria Math" panose="02040503050406030204" pitchFamily="18" charset="0"/>
                      </a:rPr>
                      <m:t> </m:t>
                    </m:r>
                  </m:oMath>
                </a14:m>
                <a:r>
                  <a:rPr lang="en-US" b="1" dirty="0"/>
                  <a:t> 				</a:t>
                </a:r>
                <a14:m>
                  <m:oMath xmlns:m="http://schemas.openxmlformats.org/officeDocument/2006/math">
                    <m:r>
                      <a:rPr lang="en-US" b="1" i="1" smtClean="0">
                        <a:latin typeface="Cambria Math" panose="02040503050406030204" pitchFamily="18" charset="0"/>
                      </a:rPr>
                      <m:t>𝜶</m:t>
                    </m:r>
                    <m:r>
                      <a:rPr lang="en-US" b="1" i="1"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𝜷</m:t>
                        </m:r>
                      </m:num>
                      <m:den>
                        <m:r>
                          <a:rPr lang="en-US" b="1" i="1" smtClean="0">
                            <a:latin typeface="Cambria Math" panose="02040503050406030204" pitchFamily="18" charset="0"/>
                          </a:rPr>
                          <m:t>𝜷</m:t>
                        </m:r>
                        <m:r>
                          <a:rPr lang="en-US" b="1" i="1" smtClean="0">
                            <a:latin typeface="Cambria Math" panose="02040503050406030204" pitchFamily="18" charset="0"/>
                          </a:rPr>
                          <m:t>+</m:t>
                        </m:r>
                        <m:r>
                          <a:rPr lang="en-US" b="1" i="1" smtClean="0">
                            <a:latin typeface="Cambria Math" panose="02040503050406030204" pitchFamily="18" charset="0"/>
                          </a:rPr>
                          <m:t>𝟏</m:t>
                        </m:r>
                      </m:den>
                    </m:f>
                  </m:oMath>
                </a14:m>
                <a:r>
                  <a:rPr lang="en-US" b="1" dirty="0"/>
                  <a:t> </a:t>
                </a:r>
              </a:p>
              <a:p>
                <a:pPr marL="114300" lvl="0" indent="0" algn="l" rtl="0">
                  <a:lnSpc>
                    <a:spcPct val="90000"/>
                  </a:lnSpc>
                  <a:spcBef>
                    <a:spcPts val="1000"/>
                  </a:spcBef>
                  <a:spcAft>
                    <a:spcPts val="0"/>
                  </a:spcAft>
                  <a:buSzPts val="1800"/>
                  <a:buNone/>
                </a:pPr>
                <a14:m>
                  <m:oMath xmlns:m="http://schemas.openxmlformats.org/officeDocument/2006/math">
                    <m:r>
                      <a:rPr lang="en-US" b="1" i="1" smtClean="0">
                        <a:latin typeface="Cambria Math" panose="02040503050406030204" pitchFamily="18" charset="0"/>
                      </a:rPr>
                      <m:t>𝜷</m:t>
                    </m:r>
                    <m:r>
                      <a:rPr lang="en-US" b="1" i="1"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𝜶</m:t>
                        </m:r>
                      </m:num>
                      <m:den>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𝜶</m:t>
                        </m:r>
                      </m:den>
                    </m:f>
                  </m:oMath>
                </a14:m>
                <a:r>
                  <a:rPr lang="en-US" b="1"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𝑪</m:t>
                        </m:r>
                      </m:sub>
                    </m:sSub>
                    <m:r>
                      <a:rPr lang="en-US" b="1" i="1" smtClean="0">
                        <a:latin typeface="Cambria Math" panose="02040503050406030204" pitchFamily="18" charset="0"/>
                      </a:rPr>
                      <m:t>=</m:t>
                    </m:r>
                    <m:r>
                      <a:rPr lang="en-US" b="1" i="1" smtClean="0">
                        <a:latin typeface="Cambria Math" panose="02040503050406030204" pitchFamily="18" charset="0"/>
                      </a:rPr>
                      <m:t>𝜷</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𝑩</m:t>
                        </m:r>
                      </m:sub>
                    </m:sSub>
                    <m:r>
                      <a:rPr lang="en-US" b="1" i="1" smtClean="0">
                        <a:latin typeface="Cambria Math" panose="02040503050406030204" pitchFamily="18" charset="0"/>
                      </a:rPr>
                      <m:t> </m:t>
                    </m:r>
                  </m:oMath>
                </a14:m>
                <a:endParaRPr lang="en-US" b="1" dirty="0"/>
              </a:p>
              <a:p>
                <a:pPr marL="114300" lvl="0" indent="0" algn="l" rtl="0">
                  <a:lnSpc>
                    <a:spcPct val="90000"/>
                  </a:lnSpc>
                  <a:spcBef>
                    <a:spcPts val="1000"/>
                  </a:spcBef>
                  <a:spcAft>
                    <a:spcPts val="0"/>
                  </a:spcAft>
                  <a:buSzPts val="1800"/>
                  <a:buNone/>
                </a:pP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𝑬</m:t>
                        </m:r>
                      </m:sub>
                    </m:sSub>
                    <m:r>
                      <a:rPr lang="en-US" b="1" i="1" smtClean="0">
                        <a:latin typeface="Cambria Math" panose="02040503050406030204" pitchFamily="18" charset="0"/>
                      </a:rPr>
                      <m:t>=</m:t>
                    </m:r>
                    <m:d>
                      <m:dPr>
                        <m:ctrlPr>
                          <a:rPr lang="en-US" b="1" i="1" smtClean="0">
                            <a:latin typeface="Cambria Math" panose="02040503050406030204" pitchFamily="18" charset="0"/>
                          </a:rPr>
                        </m:ctrlPr>
                      </m:dPr>
                      <m:e>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𝜷</m:t>
                        </m:r>
                      </m:e>
                    </m:d>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𝑩</m:t>
                        </m:r>
                      </m:sub>
                    </m:sSub>
                    <m:r>
                      <a:rPr lang="en-US" b="1" i="1" smtClean="0">
                        <a:latin typeface="Cambria Math" panose="02040503050406030204" pitchFamily="18" charset="0"/>
                      </a:rPr>
                      <m:t> </m:t>
                    </m:r>
                  </m:oMath>
                </a14:m>
                <a:r>
                  <a:rPr lang="en-US" b="1" dirty="0"/>
                  <a:t> </a:t>
                </a:r>
              </a:p>
              <a:p>
                <a:pPr marL="114300" lvl="0" indent="0" algn="l" rtl="0">
                  <a:lnSpc>
                    <a:spcPct val="90000"/>
                  </a:lnSpc>
                  <a:spcBef>
                    <a:spcPts val="1000"/>
                  </a:spcBef>
                  <a:spcAft>
                    <a:spcPts val="0"/>
                  </a:spcAft>
                  <a:buSzPts val="1800"/>
                  <a:buNone/>
                </a:pPr>
                <a:endParaRPr lang="en-US" b="1" dirty="0"/>
              </a:p>
              <a:p>
                <a:pPr marL="114300" lvl="0" indent="0" algn="l" rtl="0">
                  <a:lnSpc>
                    <a:spcPct val="90000"/>
                  </a:lnSpc>
                  <a:spcBef>
                    <a:spcPts val="1000"/>
                  </a:spcBef>
                  <a:spcAft>
                    <a:spcPts val="0"/>
                  </a:spcAft>
                  <a:buSzPts val="1800"/>
                  <a:buNone/>
                </a:pPr>
                <a:endParaRPr sz="2000" dirty="0">
                  <a:latin typeface="Arial"/>
                  <a:ea typeface="Arial"/>
                  <a:cs typeface="Arial"/>
                  <a:sym typeface="Arial"/>
                </a:endParaRPr>
              </a:p>
            </p:txBody>
          </p:sp>
        </mc:Choice>
        <mc:Fallback>
          <p:sp>
            <p:nvSpPr>
              <p:cNvPr id="422" name="Google Shape;422;p54"/>
              <p:cNvSpPr txBox="1">
                <a:spLocks noGrp="1" noRot="1" noChangeAspect="1" noMove="1" noResize="1" noEditPoints="1" noAdjustHandles="1" noChangeArrowheads="1" noChangeShapeType="1" noTextEdit="1"/>
              </p:cNvSpPr>
              <p:nvPr>
                <p:ph type="body" idx="1"/>
              </p:nvPr>
            </p:nvSpPr>
            <p:spPr>
              <a:xfrm>
                <a:off x="838200" y="1825625"/>
                <a:ext cx="10515600" cy="4351338"/>
              </a:xfrm>
              <a:prstGeom prst="rect">
                <a:avLst/>
              </a:prstGeom>
              <a:blipFill>
                <a:blip r:embed="rId4"/>
                <a:stretch>
                  <a:fillRect/>
                </a:stretch>
              </a:blipFill>
              <a:ln>
                <a:noFill/>
              </a:ln>
            </p:spPr>
            <p:txBody>
              <a:bodyPr/>
              <a:lstStyle/>
              <a:p>
                <a:r>
                  <a:rPr lang="en-US">
                    <a:noFill/>
                  </a:rPr>
                  <a:t> </a:t>
                </a:r>
              </a:p>
            </p:txBody>
          </p:sp>
        </mc:Fallback>
      </mc:AlternateContent>
    </p:spTree>
  </p:cSld>
  <p:clrMapOvr>
    <a:masterClrMapping/>
  </p:clrMapOvr>
  <p:transition spd="slow">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1560</Words>
  <Application>Microsoft Office PowerPoint</Application>
  <PresentationFormat>Widescreen</PresentationFormat>
  <Paragraphs>238</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Times New Roman</vt:lpstr>
      <vt:lpstr>Arial</vt:lpstr>
      <vt:lpstr>Calibri</vt:lpstr>
      <vt:lpstr>Cabin Medium</vt:lpstr>
      <vt:lpstr>Cabin</vt:lpstr>
      <vt:lpstr>Wingdings</vt:lpstr>
      <vt:lpstr>Cambria Math</vt:lpstr>
      <vt:lpstr>Avenir</vt:lpstr>
      <vt:lpstr>Noto Sans Symbols</vt:lpstr>
      <vt:lpstr>Office Theme</vt:lpstr>
      <vt:lpstr>CSE 350 Digital Electronics and Pulse Techniques </vt:lpstr>
      <vt:lpstr>Marks Distribution</vt:lpstr>
      <vt:lpstr>CSE 350: Digital Electronics and Pulse Techniques (3 Credits)</vt:lpstr>
      <vt:lpstr>Tentative Mid and Final Syllabus</vt:lpstr>
      <vt:lpstr>Course Content</vt:lpstr>
      <vt:lpstr>Review ( Circuits and Electronics )</vt:lpstr>
      <vt:lpstr>Review ( Circuits and Electronics )</vt:lpstr>
      <vt:lpstr>Review ( Circuits and Electronics )</vt:lpstr>
      <vt:lpstr>Review ( Circuits and Electronics )</vt:lpstr>
      <vt:lpstr>Review ( Circuits and Electronics )</vt:lpstr>
      <vt:lpstr>Review ( Circuits and Electronics )</vt:lpstr>
      <vt:lpstr>Review ( Circuits and Electronics )</vt:lpstr>
      <vt:lpstr>Review ( Circuits and Electronics )</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nazmul turjo</dc:creator>
  <cp:lastModifiedBy>USER</cp:lastModifiedBy>
  <cp:revision>4</cp:revision>
  <dcterms:created xsi:type="dcterms:W3CDTF">2021-07-10T07:14:46Z</dcterms:created>
  <dcterms:modified xsi:type="dcterms:W3CDTF">2025-06-16T05:33:49Z</dcterms:modified>
</cp:coreProperties>
</file>