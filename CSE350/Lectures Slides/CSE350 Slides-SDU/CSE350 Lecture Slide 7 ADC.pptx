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370" r:id="rId3"/>
    <p:sldId id="368" r:id="rId4"/>
    <p:sldId id="369" r:id="rId5"/>
    <p:sldId id="338" r:id="rId6"/>
    <p:sldId id="339" r:id="rId7"/>
    <p:sldId id="340" r:id="rId8"/>
    <p:sldId id="363" r:id="rId9"/>
    <p:sldId id="342" r:id="rId10"/>
    <p:sldId id="348" r:id="rId11"/>
    <p:sldId id="343" r:id="rId12"/>
    <p:sldId id="346" r:id="rId13"/>
    <p:sldId id="349" r:id="rId14"/>
    <p:sldId id="350" r:id="rId15"/>
    <p:sldId id="351" r:id="rId16"/>
    <p:sldId id="352" r:id="rId17"/>
    <p:sldId id="353" r:id="rId18"/>
    <p:sldId id="354" r:id="rId19"/>
    <p:sldId id="356" r:id="rId20"/>
    <p:sldId id="355" r:id="rId21"/>
    <p:sldId id="357" r:id="rId22"/>
    <p:sldId id="358" r:id="rId23"/>
    <p:sldId id="359" r:id="rId24"/>
    <p:sldId id="360" r:id="rId25"/>
    <p:sldId id="362" r:id="rId26"/>
    <p:sldId id="361" r:id="rId27"/>
    <p:sldId id="364" r:id="rId28"/>
    <p:sldId id="365" r:id="rId29"/>
    <p:sldId id="371" r:id="rId30"/>
    <p:sldId id="372" r:id="rId31"/>
    <p:sldId id="366" r:id="rId32"/>
    <p:sldId id="367" r:id="rId3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gOP7mpHQ9vA4PFHviNNnNqE8hH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FA7CD0-2ED7-4127-A139-062385FC596B}">
  <a:tblStyle styleId="{E6FA7CD0-2ED7-4127-A139-062385FC596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6E73A362-6B51-8EBA-2AC5-309B2F0F2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FEFEB22D-01C6-1319-FA1C-0D07ADD9F6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C5DEE943-7303-1581-8DBA-4E5D952FC8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79987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20740134-19C9-373E-0DA7-106A6100C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54E3AE1B-C7E4-5129-0C4B-AE6BBF2F28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779564CF-E0DA-929F-A76C-8C524FD9AD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5877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A7D12D22-9BD1-CE94-2759-1AF565D8E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1FF4D662-1B66-3D4D-15D6-5D3ACF4B4A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EA10732A-911F-35B3-E47B-F022AA8EA2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50148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61DE2C72-CC64-89EC-6294-6631D758D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6A71290-766A-2589-F953-9322647A4D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45D5BA86-001E-F035-A95C-E561D577FC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643371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D3736FCA-13FE-0F21-2D38-EB8F10D8E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DBFC2CB-DC05-5692-82CB-7D334140E8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E07463B4-BEC1-031B-7D1C-CC41A9515D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63354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87F22933-5553-ADB1-5282-CC896B500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05884D2C-5A9E-6A40-1BFE-3B7FD3298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8993FF0E-D1E8-39AD-48A3-9EF1202368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034236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87F22933-5553-ADB1-5282-CC896B500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05884D2C-5A9E-6A40-1BFE-3B7FD3298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8993FF0E-D1E8-39AD-48A3-9EF1202368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312328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8F15E4E8-FA0F-7860-2FD5-AA32E77FA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B02F0C6C-D179-3B31-2D12-D174390A4F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2D4D6220-3829-D2B7-77F0-C6DB58D763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50956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9D5C1FA7-C2F6-0264-99B4-65B859DC1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3602AB43-B08A-C8A0-7E87-25EAF705CB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529376D1-A70E-259F-04A7-F3FD1E24BB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490032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5A17ADD4-235C-B2FB-C12B-1FDB37EF7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FD3F677E-99C9-C737-D351-23A3B5311D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1310411A-97E6-E402-67C4-A982B3C59E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027480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FAD959E8-20EF-2432-26EC-AC53D0709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A1BF3165-29FC-980B-8459-061B022CB0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7ABC850A-60BA-31BB-20FF-30E94B6258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577801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2D4C77B5-DE9F-E3A7-471B-1A619C01E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D0FC590-A347-A5E5-5C56-72572411B8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8A129FB5-3B8A-8050-3551-55EEB06D2D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911156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B2F3E5C0-ACCE-AB84-8154-0E5BD03E5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05391E71-9100-9DAF-5C3F-7F022A39A6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D0DC65D7-CD45-73B4-F2A2-38DF5E0BA2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858585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E090697A-EE78-82C5-061A-BB9172E3E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0B9DBAB2-7171-F3E1-F26B-D19A0EC1C9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5E80B82A-9F74-1D6E-9ACC-392EF0A078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88393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23462912-B856-437A-A4EE-70427E830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E7AEED24-399B-43C9-4C11-9DD7A02D3A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6111879E-197D-5CAC-5BF2-CA5AEDE4C6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637938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94344195-116E-66B3-65B4-BAE847322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5DB73259-D703-96B6-DF70-63CD5DF55A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787388C-26A1-F1C6-4DAD-60AB621DF9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380193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BF6AB802-2A19-4472-DCFE-CAB022F3C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AAB997B-A816-3739-A5C2-74A0584D66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7DF22A84-404E-6BE3-36F8-8DDB570BD9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368909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E8F756CD-8EFC-E10D-7DF3-0C5D7BE8F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1F5F532C-D9BE-9BDE-6AAB-705F4503EF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3A16241-09C4-0041-32C3-06AED8C0B2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03134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096D187D-7015-13C3-263F-8E68BE8E0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2B700249-D524-D17F-4986-61A246D91C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9513C95B-1DC9-7077-4363-8E9DE8C805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08743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83FEC10C-3BD7-A23C-3587-124C7184F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9AF17316-7E65-5C4D-0F6E-CA6503FA80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5A13DB7A-78C2-1AD7-97B6-A4C4DCD40B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748322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C73E0C54-60F6-9846-A2BD-73100042E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66A533D-3340-438E-5CEB-84BF11A25E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FBD8CA3A-BBC8-A086-B117-A5AFB6D8D6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419697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C73E0C54-60F6-9846-A2BD-73100042E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66A533D-3340-438E-5CEB-84BF11A25E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FBD8CA3A-BBC8-A086-B117-A5AFB6D8D6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827193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C73E0C54-60F6-9846-A2BD-73100042E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66A533D-3340-438E-5CEB-84BF11A25E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FBD8CA3A-BBC8-A086-B117-A5AFB6D8D6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611513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C73E0C54-60F6-9846-A2BD-73100042E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66A533D-3340-438E-5CEB-84BF11A25E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FBD8CA3A-BBC8-A086-B117-A5AFB6D8D6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777430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C73E0C54-60F6-9846-A2BD-73100042E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66A533D-3340-438E-5CEB-84BF11A25E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FBD8CA3A-BBC8-A086-B117-A5AFB6D8D6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358181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C097B91A-65E9-51D8-67F4-0AA1103F3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F8FCFD22-279F-9FB0-3B66-D81C495B42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4F95C2A2-841B-29BA-39CB-E198160CCD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153240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8EADA030-EB2B-ACE4-4BEC-9AFCC7078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E185F385-2B6B-E735-22CE-60496115D5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892CF9B6-4E38-65BD-1255-A33CFB5AFA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681446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8EADA030-EB2B-ACE4-4BEC-9AFCC7078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E185F385-2B6B-E735-22CE-60496115D5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892CF9B6-4E38-65BD-1255-A33CFB5AFA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210490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8EADA030-EB2B-ACE4-4BEC-9AFCC7078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E185F385-2B6B-E735-22CE-60496115D5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892CF9B6-4E38-65BD-1255-A33CFB5AFA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368391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8EADA030-EB2B-ACE4-4BEC-9AFCC7078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E185F385-2B6B-E735-22CE-60496115D5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892CF9B6-4E38-65BD-1255-A33CFB5AFA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492463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8EADA030-EB2B-ACE4-4BEC-9AFCC7078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E185F385-2B6B-E735-22CE-60496115D5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892CF9B6-4E38-65BD-1255-A33CFB5AFA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46323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shomen.kundu@bracu.ac.b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7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9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0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489586" y="226142"/>
            <a:ext cx="9699524" cy="230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350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9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Electronics and Pulse Techniques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>
            <a:spLocks noGrp="1"/>
          </p:cNvSpPr>
          <p:nvPr>
            <p:ph type="ftr" idx="11"/>
          </p:nvPr>
        </p:nvSpPr>
        <p:spPr>
          <a:xfrm>
            <a:off x="3812458" y="637089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F751B0-7C0C-BD40-A434-E4822D159664}"/>
              </a:ext>
            </a:extLst>
          </p:cNvPr>
          <p:cNvSpPr txBox="1"/>
          <p:nvPr/>
        </p:nvSpPr>
        <p:spPr>
          <a:xfrm>
            <a:off x="6926825" y="5456700"/>
            <a:ext cx="52651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US" sz="2000" dirty="0"/>
              <a:t>Mail: </a:t>
            </a:r>
            <a:r>
              <a:rPr lang="en-US" sz="2000" dirty="0">
                <a:hlinkClick r:id="rId4"/>
              </a:rPr>
              <a:t>shomen.kundu@bracu.ac.bd</a:t>
            </a:r>
            <a:endParaRPr lang="en-US" sz="2000" dirty="0"/>
          </a:p>
          <a:p>
            <a:pPr marL="114300" indent="0">
              <a:buNone/>
            </a:pPr>
            <a:r>
              <a:rPr lang="en-US" sz="2000" dirty="0"/>
              <a:t>Desk: 4N139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41846E-60C5-B347-AC7F-8840DA80F15F}"/>
              </a:ext>
            </a:extLst>
          </p:cNvPr>
          <p:cNvSpPr txBox="1"/>
          <p:nvPr/>
        </p:nvSpPr>
        <p:spPr>
          <a:xfrm>
            <a:off x="1843548" y="2457480"/>
            <a:ext cx="8858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</a:rPr>
              <a:t>Analog to Digital Converter (ADC)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0F6537-9EB0-5129-AAB2-FD60564499EB}"/>
              </a:ext>
            </a:extLst>
          </p:cNvPr>
          <p:cNvSpPr txBox="1"/>
          <p:nvPr/>
        </p:nvSpPr>
        <p:spPr>
          <a:xfrm>
            <a:off x="1115959" y="5558167"/>
            <a:ext cx="5550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Course Instructor</a:t>
            </a:r>
            <a:r>
              <a:rPr lang="en-US" sz="2000" b="1" dirty="0">
                <a:solidFill>
                  <a:schemeClr val="tx1"/>
                </a:solidFill>
              </a:rPr>
              <a:t>: </a:t>
            </a:r>
            <a:r>
              <a:rPr lang="en-US" sz="2000" dirty="0" err="1"/>
              <a:t>Shomen</a:t>
            </a:r>
            <a:r>
              <a:rPr lang="en-US" sz="2000" dirty="0"/>
              <a:t> Kundu (SDU)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7ED7F78-CB84-9022-0D32-B39CF0F96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A6FCDA97-5957-1454-3586-DCE9503432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Op-Amp Review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D523BEA9-1763-DB09-6DA1-9A988240412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3AC8C49B-EBD6-25F2-33AE-23EE737478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CBB7EDC5-7ED0-2B15-94AA-973FFA735F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AEED1AA-F218-7A78-A0F0-6E14BC10170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00171" y="1037641"/>
                <a:ext cx="11654177" cy="5104118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Important terminals of Op-Amp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anose="05000000000000000000" pitchFamily="2" charset="2"/>
                  </a:rPr>
                  <a:t> Non-Inverting ( Positive ) input terminal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anose="05000000000000000000" pitchFamily="2" charset="2"/>
                  </a:rPr>
                  <a:t> Inverting ( Negative ) input terminal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anose="05000000000000000000" pitchFamily="2" charset="2"/>
                  </a:rPr>
                  <a:t> Higher power supply terminal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anose="05000000000000000000" pitchFamily="2" charset="2"/>
                  </a:rPr>
                  <a:t> Lower power supply terminal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anose="05000000000000000000" pitchFamily="2" charset="2"/>
                  </a:rPr>
                  <a:t> Output terminal</a:t>
                </a:r>
              </a:p>
              <a:p>
                <a:pPr marL="114300" indent="0">
                  <a:buNone/>
                </a:pPr>
                <a:endParaRPr lang="en-US" sz="2000" dirty="0">
                  <a:sym typeface="Wingdings" panose="05000000000000000000" pitchFamily="2" charset="2"/>
                </a:endParaRPr>
              </a:p>
              <a:p>
                <a:pPr marL="114300" indent="0">
                  <a:buNone/>
                </a:pPr>
                <a:endParaRPr lang="en-US" sz="2000" dirty="0">
                  <a:sym typeface="Wingdings" panose="05000000000000000000" pitchFamily="2" charset="2"/>
                </a:endParaRPr>
              </a:p>
              <a:p>
                <a:pPr marL="114300" indent="0">
                  <a:buNone/>
                </a:pPr>
                <a:endParaRPr lang="en-US" sz="2000" dirty="0">
                  <a:sym typeface="Wingdings" panose="05000000000000000000" pitchFamily="2" charset="2"/>
                </a:endParaRPr>
              </a:p>
              <a:p>
                <a:pPr marL="114300" indent="0">
                  <a:buNone/>
                </a:pPr>
                <a:endParaRPr lang="en-US" sz="2000" dirty="0">
                  <a:sym typeface="Wingdings" panose="05000000000000000000" pitchFamily="2" charset="2"/>
                </a:endParaRPr>
              </a:p>
              <a:p>
                <a:pPr marL="11430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AEED1AA-F218-7A78-A0F0-6E14BC1017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0171" y="1037641"/>
                <a:ext cx="11654177" cy="5104118"/>
              </a:xfrm>
              <a:blipFill>
                <a:blip r:embed="rId4"/>
                <a:stretch>
                  <a:fillRect l="-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F6068B62-2228-ACF0-9635-7560A32F5091}"/>
              </a:ext>
            </a:extLst>
          </p:cNvPr>
          <p:cNvGrpSpPr/>
          <p:nvPr/>
        </p:nvGrpSpPr>
        <p:grpSpPr>
          <a:xfrm>
            <a:off x="6479458" y="1310691"/>
            <a:ext cx="5410955" cy="3134162"/>
            <a:chOff x="6096000" y="1310691"/>
            <a:chExt cx="5410955" cy="313416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9F64C66-40E5-6883-0446-946AF2BB2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6000" y="1310691"/>
              <a:ext cx="5410955" cy="313416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04F04AA-F7D4-7FAA-2663-46842935C054}"/>
                    </a:ext>
                  </a:extLst>
                </p:cNvPr>
                <p:cNvSpPr txBox="1"/>
                <p:nvPr/>
              </p:nvSpPr>
              <p:spPr>
                <a:xfrm>
                  <a:off x="8610600" y="1840637"/>
                  <a:ext cx="32692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04F04AA-F7D4-7FAA-2663-46842935C0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0600" y="1840637"/>
                  <a:ext cx="326923" cy="400110"/>
                </a:xfrm>
                <a:prstGeom prst="rect">
                  <a:avLst/>
                </a:prstGeom>
                <a:blipFill>
                  <a:blip r:embed="rId6"/>
                  <a:stretch>
                    <a:fillRect r="-25926"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67C2571-58E8-3BC3-F40A-354F6681D90B}"/>
                    </a:ext>
                  </a:extLst>
                </p:cNvPr>
                <p:cNvSpPr txBox="1"/>
                <p:nvPr/>
              </p:nvSpPr>
              <p:spPr>
                <a:xfrm>
                  <a:off x="8610600" y="3733347"/>
                  <a:ext cx="32692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67C2571-58E8-3BC3-F40A-354F6681D9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0600" y="3733347"/>
                  <a:ext cx="326923" cy="400110"/>
                </a:xfrm>
                <a:prstGeom prst="rect">
                  <a:avLst/>
                </a:prstGeom>
                <a:blipFill>
                  <a:blip r:embed="rId7"/>
                  <a:stretch>
                    <a:fillRect r="-12963" b="-30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59414933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11A42F96-BF52-45B2-7036-F75AD8B21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FDE4DB43-CCFD-BEE0-5DD0-255C236C92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Op-Amp Review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3A722AE5-E7A7-268B-F11D-409328C36FC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75D8B8CC-CDBA-E7E8-6159-E56764FDBF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3B03C7D7-1979-F035-B0C9-17A4AA33E70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943D4-7FCF-0E5B-0EB4-CAAF7C7BC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171" y="1037641"/>
            <a:ext cx="11654177" cy="510411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Operational Amplifier can be used for different configurations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Open Loop </a:t>
            </a:r>
            <a:r>
              <a:rPr lang="en-US" dirty="0">
                <a:sym typeface="Wingdings" panose="05000000000000000000" pitchFamily="2" charset="2"/>
              </a:rPr>
              <a:t> Comparator, Used in ADC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Negative Feedback </a:t>
            </a:r>
            <a:r>
              <a:rPr lang="en-US" dirty="0">
                <a:sym typeface="Wingdings" panose="05000000000000000000" pitchFamily="2" charset="2"/>
              </a:rPr>
              <a:t>Amplifier, Used in DAC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Positive Feedback </a:t>
            </a:r>
            <a:r>
              <a:rPr lang="en-US" dirty="0">
                <a:sym typeface="Wingdings" panose="05000000000000000000" pitchFamily="2" charset="2"/>
              </a:rPr>
              <a:t> Signal generator, Schmitt Trigger</a:t>
            </a: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589306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8D2F44AA-6828-A4BB-9E93-49B7376DE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3894828B-B408-7F94-6FEE-44F0A52C30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Op-Amp Review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BC62BFC-4086-04B5-3524-215AF00FCD5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2160F347-EF3B-24E0-12A2-84889DFD79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6780154E-BA80-1A20-A653-2D71AB9143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16B9149-9281-1536-458A-E94EDB04F82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00171" y="1037641"/>
                <a:ext cx="11654177" cy="5104118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For open loop configuration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𝐼𝑓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𝐻𝑖𝑔h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𝑙𝑜𝑔𝑖𝑐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1 )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𝐿𝑜𝑤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𝑙𝑜𝑔𝑖𝑐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0 )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1F413C1-B362-A6E9-1A12-180D9026D0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0171" y="1037641"/>
                <a:ext cx="11654177" cy="5104118"/>
              </a:xfrm>
              <a:blipFill>
                <a:blip r:embed="rId4"/>
                <a:stretch>
                  <a:fillRect l="-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1728967-6732-76CC-31D0-FC6028722F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310691"/>
            <a:ext cx="5410955" cy="31341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92962A9-89A5-264D-41E1-73A6D6A8CF0A}"/>
                  </a:ext>
                </a:extLst>
              </p:cNvPr>
              <p:cNvSpPr txBox="1"/>
              <p:nvPr/>
            </p:nvSpPr>
            <p:spPr>
              <a:xfrm>
                <a:off x="8610600" y="1840637"/>
                <a:ext cx="3269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92962A9-89A5-264D-41E1-73A6D6A8C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600" y="1840637"/>
                <a:ext cx="326923" cy="400110"/>
              </a:xfrm>
              <a:prstGeom prst="rect">
                <a:avLst/>
              </a:prstGeom>
              <a:blipFill>
                <a:blip r:embed="rId6"/>
                <a:stretch>
                  <a:fillRect r="-26415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89D7DF-C940-12D7-1DEC-611101C51144}"/>
                  </a:ext>
                </a:extLst>
              </p:cNvPr>
              <p:cNvSpPr txBox="1"/>
              <p:nvPr/>
            </p:nvSpPr>
            <p:spPr>
              <a:xfrm>
                <a:off x="8610600" y="3733347"/>
                <a:ext cx="3269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89D7DF-C940-12D7-1DEC-611101C51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600" y="3733347"/>
                <a:ext cx="326923" cy="400110"/>
              </a:xfrm>
              <a:prstGeom prst="rect">
                <a:avLst/>
              </a:prstGeom>
              <a:blipFill>
                <a:blip r:embed="rId7"/>
                <a:stretch>
                  <a:fillRect r="-13208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8482673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14470A8-2002-C6DD-3DBE-25F1326CA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C15849F3-E07A-CD17-E5EE-FB254181FB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Analog to Digital Converter (ADC)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6E2D8B0-2B2C-676F-B568-CB506A377E4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50646B09-C80B-1A3B-2393-D70691216A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2A7EDD6A-E5E3-7B87-9BD8-4352803070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46F5B-8B93-F049-55F8-E8669322D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07" y="1334586"/>
            <a:ext cx="11654177" cy="510411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Signal can be classified into two broad categories.</a:t>
            </a:r>
          </a:p>
          <a:p>
            <a:pPr marL="685800" indent="-571500">
              <a:buAutoNum type="romanLcPeriod"/>
            </a:pPr>
            <a:r>
              <a:rPr lang="en-US" dirty="0"/>
              <a:t>Analog Signal 			ii. Digital Signal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90F645-29A6-D15E-9D16-C42A5FBF3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9991" y="2362633"/>
            <a:ext cx="5587285" cy="355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677557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728C66D-9D14-6B5D-7F6D-80BA0EF9D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E6FB9495-F442-C03F-B59F-7DA62948F8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Analog to Digital Converter (ADC)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3E9FE7F4-9DFB-0E90-6634-EF012A29A95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2ACAEA6C-C528-050A-3E1B-DFA796789BB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81489479-AC3B-5A8A-97A2-460262D536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6094A-DBE8-DB9E-0271-584CBC88E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07" y="1334586"/>
            <a:ext cx="11654177" cy="510411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Physical world’s information are mostly analog. Analog means data could take </a:t>
            </a:r>
          </a:p>
          <a:p>
            <a:pPr marL="114300" indent="0">
              <a:buNone/>
            </a:pPr>
            <a:r>
              <a:rPr lang="en-US" dirty="0"/>
              <a:t>any real value at each instant of time.</a:t>
            </a:r>
          </a:p>
          <a:p>
            <a:pPr marL="114300" indent="0">
              <a:buNone/>
            </a:pPr>
            <a:r>
              <a:rPr lang="en-US" dirty="0"/>
              <a:t>In order to store/process we use digital data in our computers and microprocessor </a:t>
            </a:r>
          </a:p>
          <a:p>
            <a:pPr marL="114300" indent="0">
              <a:buNone/>
            </a:pPr>
            <a:r>
              <a:rPr lang="en-US" dirty="0"/>
              <a:t>Digital data means binary bit of strings.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BB97ED-4F29-3DAE-434C-2BD1DCFE6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8026" y="4074982"/>
            <a:ext cx="10490628" cy="144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308983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B57E88CF-7EEE-CB63-963D-023BE5263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013BCEB2-7232-6A08-C766-555568AC27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A/D conversion process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E46A795C-933A-2D96-3222-DB3B11F15B9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E4ACA1B8-8D4C-DA2B-A49F-8FA487F428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53C1429F-F688-E4C1-D829-C9C29198EF0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91CFA-5B85-EC2D-6C2A-550303FC2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07" y="1334586"/>
            <a:ext cx="11654177" cy="510411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C1D1D3-A032-C592-6FBF-00D9FCB82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598" y="1204602"/>
            <a:ext cx="10240804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577810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B57E88CF-7EEE-CB63-963D-023BE5263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013BCEB2-7232-6A08-C766-555568AC27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Sampling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E46A795C-933A-2D96-3222-DB3B11F15B9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E4ACA1B8-8D4C-DA2B-A49F-8FA487F428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53C1429F-F688-E4C1-D829-C9C29198EF0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91CFA-5B85-EC2D-6C2A-550303FC2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07" y="1334586"/>
            <a:ext cx="11654177" cy="510411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2">
                <a:extLst>
                  <a:ext uri="{FF2B5EF4-FFF2-40B4-BE49-F238E27FC236}">
                    <a16:creationId xmlns:a16="http://schemas.microsoft.com/office/drawing/2014/main" id="{F6732C11-13A8-0EB3-637E-EBCB8D8622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0171" y="1037641"/>
                <a:ext cx="11223793" cy="51041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114300" indent="0">
                  <a:buNone/>
                </a:pPr>
                <a:r>
                  <a:rPr lang="en-US" dirty="0"/>
                  <a:t>Sampling is the process of converting a continuous-time signal into a discrete-time signal by taking measurements at </a:t>
                </a:r>
                <a:r>
                  <a:rPr lang="en-US" b="1" dirty="0"/>
                  <a:t>specific intervals </a:t>
                </a:r>
                <a:r>
                  <a:rPr lang="en-US" dirty="0"/>
                  <a:t>in time.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A theorem,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&gt;2∗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					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Text Placeholder 2">
                <a:extLst>
                  <a:ext uri="{FF2B5EF4-FFF2-40B4-BE49-F238E27FC236}">
                    <a16:creationId xmlns:a16="http://schemas.microsoft.com/office/drawing/2014/main" id="{F6732C11-13A8-0EB3-637E-EBCB8D862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171" y="1037641"/>
                <a:ext cx="11223793" cy="5104118"/>
              </a:xfrm>
              <a:prstGeom prst="rect">
                <a:avLst/>
              </a:prstGeom>
              <a:blipFill>
                <a:blip r:embed="rId4"/>
                <a:stretch>
                  <a:fillRect l="-1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1723241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BB0AF9BE-1E6C-B801-022B-CDF3000DF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C487F174-F793-B32D-0D11-C1E261C4A5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Quantization: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122A1D5E-722F-CB73-66CE-221F07B464D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CD9EE08E-F104-1633-E726-163DD58550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D81B2BE1-65A9-DDDA-2B32-A7A54A09D71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6732C11-13A8-0EB3-637E-EBCB8D8622E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00171" y="1037641"/>
                <a:ext cx="11654177" cy="5104118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Quantization is a process by which we assign sampled and hold signal to some fixed preassigned values.</a:t>
                </a:r>
              </a:p>
              <a:p>
                <a:pPr marL="685800" indent="-571500">
                  <a:buAutoNum type="romanLcPeriod"/>
                </a:pPr>
                <a:r>
                  <a:rPr lang="en-US" dirty="0"/>
                  <a:t>Midrise Quantization 		</a:t>
                </a:r>
              </a:p>
              <a:p>
                <a:pPr marL="685800" indent="-571500">
                  <a:buAutoNum type="romanLcPeriod"/>
                </a:pPr>
                <a:r>
                  <a:rPr lang="en-US" dirty="0"/>
                  <a:t>Midtread Quantization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𝑁𝑢𝑚𝑏𝑒𝑟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𝑏𝑖𝑡𝑠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𝑁𝑢𝑚𝑏𝑒𝑟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𝑙𝑒𝑣𝑒𝑙𝑠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resolution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𝑉𝑚𝑖𝑛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6732C11-13A8-0EB3-637E-EBCB8D8622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0171" y="1037641"/>
                <a:ext cx="11654177" cy="5104118"/>
              </a:xfrm>
              <a:blipFill>
                <a:blip r:embed="rId4"/>
                <a:stretch>
                  <a:fillRect l="-105" r="-10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4872696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146FCC5C-2CF0-EF21-25A7-356CE93B7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0F895061-A118-08D2-18B5-D29DAD5AAA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Encoding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D68724A4-B631-15DA-C04A-44347AD467D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C041A22E-0555-A3A8-184D-55FDDC7976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0414DA0D-8869-5D69-49F2-DB9506410EA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57304DB-3D38-FA4B-79AB-35B1CB9FCE9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00171" y="1037641"/>
                <a:ext cx="11654177" cy="5104118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We can choose binary values for each of the level.</a:t>
                </a:r>
              </a:p>
              <a:p>
                <a:pPr marL="11430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𝑁𝑢𝑚𝑏𝑒𝑟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𝑏𝑖𝑡𝑠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𝐶𝑒𝑖𝑙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𝑙𝑜𝑔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𝑙𝑒𝑣𝑒𝑙𝑠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Assign lower Q level to 0</a:t>
                </a:r>
              </a:p>
              <a:p>
                <a:pPr marL="114300" indent="0">
                  <a:buNone/>
                </a:pPr>
                <a:r>
                  <a:rPr lang="en-US" dirty="0"/>
                  <a:t>Then increase one for each next level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57304DB-3D38-FA4B-79AB-35B1CB9FCE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0171" y="1037641"/>
                <a:ext cx="11654177" cy="5104118"/>
              </a:xfrm>
              <a:blipFill>
                <a:blip r:embed="rId4"/>
                <a:stretch>
                  <a:fillRect l="-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2992389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6F50366-D74D-45AC-5D8A-4330438A7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4AAC0998-7C58-7286-9121-556532A05B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Midrise Quantization: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4B6974F2-5E7F-BD62-D7CB-0DF4DB23504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D8BC3D58-1D41-9015-349D-F1748BA60CC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109B2466-1CA1-9E83-8CEA-601F1029B0D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F6B689B-4052-5500-0195-88A56BE787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266637"/>
                  </p:ext>
                </p:extLst>
              </p:nvPr>
            </p:nvGraphicFramePr>
            <p:xfrm>
              <a:off x="7777315" y="1376516"/>
              <a:ext cx="4114800" cy="4699818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992023195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4075397016"/>
                        </a:ext>
                      </a:extLst>
                    </a:gridCol>
                  </a:tblGrid>
                  <a:tr h="52220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Quantization 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Quantization Level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2667754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−3∆)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−3.5 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7036410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b="0" dirty="0"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−3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−2∆)</m:t>
                              </m:r>
                            </m:oMath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−2.5 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72571095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b="0" dirty="0"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−∆)</m:t>
                              </m:r>
                            </m:oMath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−1.5 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75464189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b="0" dirty="0"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0)</m:t>
                              </m:r>
                            </m:oMath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−0.5 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4888121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b="0" dirty="0"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 ∆)</m:t>
                              </m:r>
                            </m:oMath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0.5 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5831527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b="0" dirty="0"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2∆)</m:t>
                              </m:r>
                            </m:oMath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1.5 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7309563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b="0" dirty="0"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3∆)</m:t>
                              </m:r>
                            </m:oMath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2.5 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9577478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b="0" dirty="0"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4∆)</m:t>
                              </m:r>
                            </m:oMath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3.5 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5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F6B689B-4052-5500-0195-88A56BE787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266637"/>
                  </p:ext>
                </p:extLst>
              </p:nvPr>
            </p:nvGraphicFramePr>
            <p:xfrm>
              <a:off x="7777315" y="1376516"/>
              <a:ext cx="4114800" cy="4699818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992023195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4075397016"/>
                        </a:ext>
                      </a:extLst>
                    </a:gridCol>
                  </a:tblGrid>
                  <a:tr h="52220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Quantization 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Quantization Level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2667754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101163" r="-100888" b="-7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101163" r="-888" b="-7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7036410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203529" r="-100888" b="-608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203529" r="-888" b="-608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571095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300000" r="-100888" b="-5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300000" r="-888" b="-5011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5464189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400000" r="-100888" b="-4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400000" r="-888" b="-4011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888121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500000" r="-100888" b="-3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500000" r="-888" b="-3011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5831527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607059" r="-100888" b="-20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607059" r="-888" b="-2047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7309563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698837" r="-100888" b="-1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698837" r="-888" b="-10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9577478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798837" r="-100888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798837" r="-888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5000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A3169BD-6BDC-5F61-9198-DA41578130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668" y="1469070"/>
            <a:ext cx="5796228" cy="437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629256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69C64A6D-D9DE-9FC9-CD09-75378423A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089F4EC0-ADE7-AE67-E846-13B3DD51E2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19" y="262816"/>
            <a:ext cx="11312996" cy="1017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Mid tread Quantization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( Not symmetrical and Equally Spaced)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20C51605-8B8F-A4DE-4DA9-078A0D12202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9EDA31D7-5081-C905-1A2C-F7396A2B911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83B6B581-D928-5350-A679-E2198B7CF2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0AD001F-29B0-9B58-DDD7-E73D401506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2452826"/>
                  </p:ext>
                </p:extLst>
              </p:nvPr>
            </p:nvGraphicFramePr>
            <p:xfrm>
              <a:off x="7777315" y="1376516"/>
              <a:ext cx="4114800" cy="4699818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992023195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4075397016"/>
                        </a:ext>
                      </a:extLst>
                    </a:gridCol>
                  </a:tblGrid>
                  <a:tr h="52220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Quantization 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Quantization Level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2667754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−2.5∆)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−3 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7036410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b="0" dirty="0"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−2.5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−1.5∆)</m:t>
                              </m:r>
                            </m:oMath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−2 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72571095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b="0" dirty="0"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−1.5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−0.5∆)</m:t>
                              </m:r>
                            </m:oMath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75464189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b="0" dirty="0"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−0.5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0.5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4888121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b="0" dirty="0"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0.5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1.5∆)</m:t>
                              </m:r>
                            </m:oMath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5831527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b="0" dirty="0"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1.5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2.5∆)</m:t>
                              </m:r>
                            </m:oMath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7309563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b="0" dirty="0"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2.5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3.5∆)</m:t>
                              </m:r>
                            </m:oMath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9577478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b="0" dirty="0"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3.5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4.5∆)</m:t>
                              </m:r>
                            </m:oMath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5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0AD001F-29B0-9B58-DDD7-E73D401506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2452826"/>
                  </p:ext>
                </p:extLst>
              </p:nvPr>
            </p:nvGraphicFramePr>
            <p:xfrm>
              <a:off x="7777315" y="1376516"/>
              <a:ext cx="4114800" cy="4699818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992023195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4075397016"/>
                        </a:ext>
                      </a:extLst>
                    </a:gridCol>
                  </a:tblGrid>
                  <a:tr h="52220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Quantization 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Quantization Level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2667754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101163" r="-100888" b="-7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101163" r="-888" b="-7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7036410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203529" r="-100888" b="-608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203529" r="-888" b="-608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571095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300000" r="-100888" b="-5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300000" r="-888" b="-5011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5464189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400000" r="-100888" b="-4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400000" r="-888" b="-4011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888121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500000" r="-100888" b="-3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500000" r="-888" b="-3011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5831527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607059" r="-100888" b="-20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607059" r="-888" b="-2047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7309563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698837" r="-100888" b="-1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698837" r="-888" b="-10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9577478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798837" r="-100888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798837" r="-888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5000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2027" y="1546669"/>
            <a:ext cx="4743450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016506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A2FE300E-F630-0AB1-25D0-FB861B026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97AEDB52-F7EA-A76B-CDFB-E02B41D960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Quantization Range, Level, code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F883C718-CE70-1AE6-8F00-3B825188F08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B880906A-A8B6-4877-C201-A98F7CAC47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864253D0-DFE0-AA41-098C-2A7EAFFE67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4A785-B055-EC94-9F08-3EC081376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171" y="1037641"/>
            <a:ext cx="11654177" cy="510411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Ex: Identify which one is Mid rise and Mid tread.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FBBC78-456A-1EBC-0413-95CE24D22D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9088" y="1699184"/>
            <a:ext cx="4306912" cy="45910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538173-4554-D944-417D-33261467E8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4194" y="1699184"/>
            <a:ext cx="3419439" cy="434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395792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76362B69-4C28-5104-5B7C-BAA9866DB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B0AEB292-FD60-7BBD-676C-189DA2FC01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Quantization Range, Level, code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2E0D462D-5348-552C-A986-63B31117685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D9591C07-CEA5-08CD-476A-996F72C727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787A3467-069C-E411-3A7F-92DFD50EDB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893647-4CF8-9536-4A45-BBF2620CC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8026" y="1133476"/>
            <a:ext cx="4306912" cy="45910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22F2F8D-672B-1505-FD18-D3DE683C604C}"/>
                  </a:ext>
                </a:extLst>
              </p:cNvPr>
              <p:cNvSpPr txBox="1"/>
              <p:nvPr/>
            </p:nvSpPr>
            <p:spPr>
              <a:xfrm>
                <a:off x="6489289" y="2487559"/>
                <a:ext cx="4699821" cy="1591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0" i="1" dirty="0">
                    <a:latin typeface="Cambria Math" panose="02040503050406030204" pitchFamily="18" charset="0"/>
                  </a:rPr>
                  <a:t>Here,  </a:t>
                </a: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𝑉𝑚𝑎𝑥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𝑉𝑚𝑖𝑛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8+0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=4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As 4 V is a Quantization level. So, it is a mid tread quantization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22F2F8D-672B-1505-FD18-D3DE683C60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289" y="2487559"/>
                <a:ext cx="4699821" cy="1591846"/>
              </a:xfrm>
              <a:prstGeom prst="rect">
                <a:avLst/>
              </a:prstGeom>
              <a:blipFill>
                <a:blip r:embed="rId5"/>
                <a:stretch>
                  <a:fillRect l="-1429" t="-1916" r="-2208" b="-6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9545584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755DC855-4901-64B8-C4E9-623582349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8EAC4069-E1E2-C72B-1CF6-E8CC0FEB20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Quantization Range, Level, code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1F3B9FB0-CAD6-741A-A928-83014A1EE57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025C87A9-7913-5171-6BBC-403501DE76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8C9096C-6C87-03EA-E3F6-3AA60EF9C0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947F9B-59A5-711F-0F17-70584AD44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171" y="1037641"/>
            <a:ext cx="11654177" cy="510411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Ex: Identify which one is Mid rise and Mid tread.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F88DCC-44DA-87C1-DE2C-5E89CB2DC5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7962" y="1718849"/>
            <a:ext cx="3419439" cy="43470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3060869-8B57-DD59-6A93-2B0F23B14D13}"/>
                  </a:ext>
                </a:extLst>
              </p:cNvPr>
              <p:cNvSpPr txBox="1"/>
              <p:nvPr/>
            </p:nvSpPr>
            <p:spPr>
              <a:xfrm>
                <a:off x="6489289" y="2487559"/>
                <a:ext cx="4699821" cy="1591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0" i="1" dirty="0">
                    <a:latin typeface="Cambria Math" panose="02040503050406030204" pitchFamily="18" charset="0"/>
                  </a:rPr>
                  <a:t>Here,  </a:t>
                </a: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𝑉𝑚𝑎𝑥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𝑉𝑚𝑖𝑛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10+0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=5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As 5 V is not a Quantization level. So, it is a mid rise quantization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3060869-8B57-DD59-6A93-2B0F23B14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289" y="2487559"/>
                <a:ext cx="4699821" cy="1591846"/>
              </a:xfrm>
              <a:prstGeom prst="rect">
                <a:avLst/>
              </a:prstGeom>
              <a:blipFill>
                <a:blip r:embed="rId5"/>
                <a:stretch>
                  <a:fillRect l="-1429" t="-1916" r="-1299" b="-6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4396165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81F0EB6F-140E-D374-9651-3F8369A85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996F91D9-CB1A-83BA-AAA8-42598AB3D0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Flash A/D converter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950FE34-1548-E0AD-6CBD-EF61EEB6681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CC3D27FA-42DE-88A5-1443-F081CCEDE5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37669DA1-433E-BB4D-874B-5E5A67ADA32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C42B8-FB7B-7F25-880E-65E06F7ED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171" y="1037641"/>
            <a:ext cx="11654177" cy="510411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Features of the Flash A/D converter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This converter  is very fast.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It requires one clock cycle to convert the analog to digital data.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It requires a lot components.</a:t>
            </a:r>
          </a:p>
        </p:txBody>
      </p:sp>
    </p:spTree>
    <p:extLst>
      <p:ext uri="{BB962C8B-B14F-4D97-AF65-F5344CB8AC3E}">
        <p14:creationId xmlns:p14="http://schemas.microsoft.com/office/powerpoint/2010/main" val="1662188590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C58FD0F-76DA-F414-3985-4D33EB539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1C983C48-D496-20EF-5DEF-42E7AF5BE1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Op-Amp 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D02A8B1A-FC25-EF45-ED24-94B2109798A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BA0CF4F7-796C-74A0-A34B-B84C8F73D5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1E22A2ED-E12D-2CC5-D7E8-4EF67333215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1F413C1-B362-A6E9-1A12-180D9026D0E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00171" y="1037641"/>
                <a:ext cx="11654177" cy="5104118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For open loop configuration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𝐼𝑓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𝐻𝑖𝑔h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𝑙𝑜𝑔𝑖𝑐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1 )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𝐿𝑜𝑤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𝑙𝑜𝑔𝑖𝑐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0 )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1F413C1-B362-A6E9-1A12-180D9026D0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0171" y="1037641"/>
                <a:ext cx="11654177" cy="5104118"/>
              </a:xfrm>
              <a:blipFill>
                <a:blip r:embed="rId4"/>
                <a:stretch>
                  <a:fillRect l="-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02CF5FA-AEB1-F6C7-9D0F-D90972E1EA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310691"/>
            <a:ext cx="5410955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688577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4935AC5-4555-BA80-DF21-A55756BE4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49D2ABC3-0D33-8F7F-854A-FF0B63EC66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Flash ADC design 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3C1EE369-5654-E279-1B5D-3CA899AD865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AC713128-A24D-7A91-2505-7F137E4FB26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1193EF08-F5E9-0C75-4F3D-517E21D735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BBBDED7-FB5D-1C66-7423-EBA6B296619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00171" y="1037641"/>
                <a:ext cx="11654177" cy="5104118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Suppose you have  a signal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10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dirty="0"/>
                  <a:t> = 0V. Design a simple flash ADC converter. </a:t>
                </a:r>
              </a:p>
              <a:p>
                <a:pPr marL="114300" indent="0">
                  <a:buNone/>
                </a:pPr>
                <a:r>
                  <a:rPr lang="en-US" dirty="0"/>
                  <a:t>Specifications:</a:t>
                </a:r>
              </a:p>
              <a:p>
                <a:pPr marL="685800" indent="-571500">
                  <a:buAutoNum type="romanLcPeriod"/>
                </a:pPr>
                <a:r>
                  <a:rPr lang="en-US" dirty="0"/>
                  <a:t>3 bits output system</a:t>
                </a:r>
              </a:p>
              <a:p>
                <a:pPr marL="685800" indent="-571500">
                  <a:buAutoNum type="romanLcPeriod"/>
                </a:pPr>
                <a:r>
                  <a:rPr lang="en-US" dirty="0"/>
                  <a:t>Equal quantization range and mid rise quantization</a:t>
                </a:r>
              </a:p>
              <a:p>
                <a:pPr marL="685800" indent="-571500">
                  <a:buAutoNum type="romanLcPeriod"/>
                </a:pPr>
                <a:r>
                  <a:rPr lang="en-US" b="1" dirty="0"/>
                  <a:t>Active high</a:t>
                </a:r>
                <a:r>
                  <a:rPr lang="en-US" dirty="0"/>
                  <a:t> Priority Encoder/</a:t>
                </a:r>
                <a:r>
                  <a:rPr lang="en-US" b="1" dirty="0"/>
                  <a:t> Active low</a:t>
                </a:r>
                <a:r>
                  <a:rPr lang="en-US" dirty="0"/>
                  <a:t> Priority Encoder</a:t>
                </a:r>
              </a:p>
              <a:p>
                <a:pPr marL="114300" indent="0">
                  <a:buNone/>
                </a:pPr>
                <a:r>
                  <a:rPr lang="en-US" dirty="0"/>
                  <a:t>[ Note: In Active high logic,  </a:t>
                </a:r>
                <a:r>
                  <a:rPr lang="en-US" b="1" dirty="0"/>
                  <a:t>logic 1 denotes high voltage </a:t>
                </a:r>
                <a:r>
                  <a:rPr lang="en-US" dirty="0"/>
                  <a:t>and logic 0 denotes low voltage ( normal ), </a:t>
                </a:r>
              </a:p>
              <a:p>
                <a:pPr marL="114300" indent="0">
                  <a:buNone/>
                </a:pPr>
                <a:r>
                  <a:rPr lang="en-US" dirty="0"/>
                  <a:t>In Active low logic, </a:t>
                </a:r>
                <a:r>
                  <a:rPr lang="en-US" b="1" dirty="0"/>
                  <a:t>logic 1 denotes low voltage </a:t>
                </a:r>
                <a:r>
                  <a:rPr lang="en-US" dirty="0"/>
                  <a:t>and logic 0 denotes high voltage]</a:t>
                </a:r>
              </a:p>
              <a:p>
                <a:pPr marL="685800" indent="-571500">
                  <a:buAutoNum type="romanLcPeriod"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BBBDED7-FB5D-1C66-7423-EBA6B29661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0171" y="1037641"/>
                <a:ext cx="11654177" cy="5104118"/>
              </a:xfrm>
              <a:blipFill>
                <a:blip r:embed="rId4"/>
                <a:stretch>
                  <a:fillRect l="-105" r="-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2901882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5040E7FD-DB66-2596-84A8-252BF0AA6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F9CA84C5-05B3-65BD-A683-2CCA36C189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Flash ADC design 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CFDDA890-1ADA-B03E-C408-6E5A62B26C0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676B05BB-2DA3-8117-76E4-171278EC32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F55F2F39-73E3-F64B-1A02-C38B7A900F6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79F64FC-1387-848D-F0D9-463DF1C0228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00171" y="1037641"/>
                <a:ext cx="11654177" cy="5104118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Design:</a:t>
                </a:r>
              </a:p>
              <a:p>
                <a:pPr marL="114300" indent="0">
                  <a:buNone/>
                </a:pPr>
                <a:r>
                  <a:rPr lang="en-US" dirty="0"/>
                  <a:t>Here,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#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𝑁𝑢𝑚𝑏𝑒𝑟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𝑟𝑒𝑔𝑖𝑠𝑡𝑜𝑟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=8 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#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𝑁𝑢𝑚𝑏𝑒𝑟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𝑐𝑜𝑚𝑝𝑎𝑟𝑎𝑡𝑜𝑟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−1=7</m:t>
                    </m:r>
                  </m:oMath>
                </a14:m>
                <a:r>
                  <a:rPr lang="en-US" b="0" dirty="0"/>
                  <a:t> ( One additional Comparator can also be used but it has no effect ) 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𝑉𝑚𝑎𝑥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𝑉𝑚𝑖𝑛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79F64FC-1387-848D-F0D9-463DF1C022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0171" y="1037641"/>
                <a:ext cx="11654177" cy="5104118"/>
              </a:xfrm>
              <a:blipFill>
                <a:blip r:embed="rId4"/>
                <a:stretch>
                  <a:fillRect l="-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3682487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8C2D7CB-F329-A74B-AD0B-292879F63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282BE51B-6A0E-9A81-C1DF-8AF5E3E169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Circuit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F43C9E99-DA64-DC4F-D64C-0C8D2040FF6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48AADAB9-74C9-1BE7-7BC2-FBCB937070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C1E0185-E802-36B5-0B99-CD2F73E7903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C9D48-A000-A3A4-2A39-F0119876A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171" y="959575"/>
            <a:ext cx="4948577" cy="518218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The following is the Circuit of a 3 bits Flash ADC,</a:t>
            </a:r>
          </a:p>
          <a:p>
            <a:pPr marL="114300" indent="0">
              <a:buNone/>
            </a:pPr>
            <a:r>
              <a:rPr lang="en-US" b="1" dirty="0">
                <a:solidFill>
                  <a:srgbClr val="FF0000"/>
                </a:solidFill>
              </a:rPr>
              <a:t>For active high priority encoder, V+ of the comparator is connected to the input.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D3A8AF-F7CF-11F0-5AAB-E9C1E474E2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0410" y="422786"/>
            <a:ext cx="6002895" cy="580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998562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8DC02DE2-594F-ACC7-C5A5-F36FE2EDE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F9D8D6AC-CD6B-04E3-68F7-1BDF85DE6D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Circuit Analysis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88689CCC-544B-E5ED-424F-5215E80DDF3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3B19B43F-04C7-FE7E-3625-1F707B3FC5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8E4431A3-5FDA-C1F4-40A4-FDB860866A8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E6ADA39-0F42-E290-4698-36557E941C0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00171" y="1042167"/>
                <a:ext cx="6462745" cy="5099591"/>
              </a:xfrm>
            </p:spPr>
            <p:txBody>
              <a:bodyPr>
                <a:normAutofit fontScale="92500" lnSpcReduction="1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The following is the Circuit of a 3 bits Flash ADC,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10−0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𝑟𝑒𝑓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=1.25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Similarly,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1 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2=1.25+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=2.5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	You can find other voltage in this way. </a:t>
                </a:r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E6ADA39-0F42-E290-4698-36557E941C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0171" y="1042167"/>
                <a:ext cx="6462745" cy="5099591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A874D3A-9F11-804C-F53D-99955C4D9C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5098" y="1633687"/>
            <a:ext cx="4805516" cy="472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407589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25390DB-9807-7A75-49AA-B4B624057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64EE0232-52FF-0E06-3480-AB517174CB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Circuit Analysis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04945E9-E274-4248-0B33-DF1416D9823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F216B761-1FB1-C840-5040-E04E359E15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48D6E4C-EBA1-9D3A-9DF5-48FEDB12F2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71E14-DC6A-58D9-A960-30896D799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171" y="1042167"/>
            <a:ext cx="6462745" cy="509959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Summary table: 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1DA236-136B-A8F1-BE00-204E097204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398" y="827575"/>
            <a:ext cx="5407413" cy="5314183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D430AD-513C-7B25-BB97-3CAB21B9A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506959"/>
              </p:ext>
            </p:extLst>
          </p:nvPr>
        </p:nvGraphicFramePr>
        <p:xfrm>
          <a:off x="400171" y="1687620"/>
          <a:ext cx="6334928" cy="3919305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583732">
                  <a:extLst>
                    <a:ext uri="{9D8B030D-6E8A-4147-A177-3AD203B41FA5}">
                      <a16:colId xmlns:a16="http://schemas.microsoft.com/office/drawing/2014/main" val="3574067696"/>
                    </a:ext>
                  </a:extLst>
                </a:gridCol>
                <a:gridCol w="1583732">
                  <a:extLst>
                    <a:ext uri="{9D8B030D-6E8A-4147-A177-3AD203B41FA5}">
                      <a16:colId xmlns:a16="http://schemas.microsoft.com/office/drawing/2014/main" val="2219630699"/>
                    </a:ext>
                  </a:extLst>
                </a:gridCol>
                <a:gridCol w="1583732">
                  <a:extLst>
                    <a:ext uri="{9D8B030D-6E8A-4147-A177-3AD203B41FA5}">
                      <a16:colId xmlns:a16="http://schemas.microsoft.com/office/drawing/2014/main" val="3761038584"/>
                    </a:ext>
                  </a:extLst>
                </a:gridCol>
                <a:gridCol w="1583732">
                  <a:extLst>
                    <a:ext uri="{9D8B030D-6E8A-4147-A177-3AD203B41FA5}">
                      <a16:colId xmlns:a16="http://schemas.microsoft.com/office/drawing/2014/main" val="2418979318"/>
                    </a:ext>
                  </a:extLst>
                </a:gridCol>
              </a:tblGrid>
              <a:tr h="515513">
                <a:tc>
                  <a:txBody>
                    <a:bodyPr/>
                    <a:lstStyle/>
                    <a:p>
                      <a:r>
                        <a:rPr lang="en-US" dirty="0"/>
                        <a:t>Q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 level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I7I6I5I4I3I2I1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Binary (B2B1B0)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31173"/>
                  </a:ext>
                </a:extLst>
              </a:tr>
              <a:tr h="425474">
                <a:tc>
                  <a:txBody>
                    <a:bodyPr/>
                    <a:lstStyle/>
                    <a:p>
                      <a:r>
                        <a:rPr lang="en-US" dirty="0"/>
                        <a:t>0 -  1.25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000 000 0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230428"/>
                  </a:ext>
                </a:extLst>
              </a:tr>
              <a:tr h="425474">
                <a:tc>
                  <a:txBody>
                    <a:bodyPr/>
                    <a:lstStyle/>
                    <a:p>
                      <a:r>
                        <a:rPr lang="en-US" dirty="0"/>
                        <a:t>1.25  - 2.5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000 000 1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801613"/>
                  </a:ext>
                </a:extLst>
              </a:tr>
              <a:tr h="425474">
                <a:tc>
                  <a:txBody>
                    <a:bodyPr/>
                    <a:lstStyle/>
                    <a:p>
                      <a:r>
                        <a:rPr lang="en-US" dirty="0"/>
                        <a:t>2.5  - 3.75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000 001 1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787647"/>
                  </a:ext>
                </a:extLst>
              </a:tr>
              <a:tr h="425474">
                <a:tc>
                  <a:txBody>
                    <a:bodyPr/>
                    <a:lstStyle/>
                    <a:p>
                      <a:r>
                        <a:rPr lang="en-US" dirty="0"/>
                        <a:t>3.75 –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000 011 1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90638"/>
                  </a:ext>
                </a:extLst>
              </a:tr>
              <a:tr h="425474">
                <a:tc>
                  <a:txBody>
                    <a:bodyPr/>
                    <a:lstStyle/>
                    <a:p>
                      <a:r>
                        <a:rPr lang="en-US" dirty="0"/>
                        <a:t>5 – 6.25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000 111 1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823038"/>
                  </a:ext>
                </a:extLst>
              </a:tr>
              <a:tr h="425474">
                <a:tc>
                  <a:txBody>
                    <a:bodyPr/>
                    <a:lstStyle/>
                    <a:p>
                      <a:r>
                        <a:rPr lang="en-US" dirty="0"/>
                        <a:t>6.25 – 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001 111 1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520161"/>
                  </a:ext>
                </a:extLst>
              </a:tr>
              <a:tr h="425474">
                <a:tc>
                  <a:txBody>
                    <a:bodyPr/>
                    <a:lstStyle/>
                    <a:p>
                      <a:r>
                        <a:rPr lang="en-US" dirty="0"/>
                        <a:t>7.5 – 8.75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011 111 1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378875"/>
                  </a:ext>
                </a:extLst>
              </a:tr>
              <a:tr h="425474">
                <a:tc>
                  <a:txBody>
                    <a:bodyPr/>
                    <a:lstStyle/>
                    <a:p>
                      <a:r>
                        <a:rPr lang="en-US" dirty="0"/>
                        <a:t>8.75 - 10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111 111 1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441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5364682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25390DB-9807-7A75-49AA-B4B624057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64EE0232-52FF-0E06-3480-AB517174CB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Circuit Analysis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04945E9-E274-4248-0B33-DF1416D9823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F216B761-1FB1-C840-5040-E04E359E15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48D6E4C-EBA1-9D3A-9DF5-48FEDB12F2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71E14-DC6A-58D9-A960-30896D799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171" y="1042167"/>
            <a:ext cx="6462745" cy="509959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Encoder Truth Table:</a:t>
            </a:r>
          </a:p>
          <a:p>
            <a:pPr marL="114300" indent="0">
              <a:buNone/>
            </a:pPr>
            <a:r>
              <a:rPr lang="en-US" b="1" dirty="0"/>
              <a:t>( </a:t>
            </a:r>
            <a:r>
              <a:rPr lang="en-US" b="1" dirty="0">
                <a:solidFill>
                  <a:srgbClr val="FF0000"/>
                </a:solidFill>
              </a:rPr>
              <a:t>V+ of the comparator is connected to the Input </a:t>
            </a:r>
            <a:r>
              <a:rPr lang="en-US" b="1" dirty="0"/>
              <a:t>)</a:t>
            </a:r>
          </a:p>
          <a:p>
            <a:pPr marL="114300" indent="0">
              <a:buNone/>
            </a:pPr>
            <a:r>
              <a:rPr lang="en-US" dirty="0"/>
              <a:t>Encoder can be implemented using</a:t>
            </a:r>
          </a:p>
          <a:p>
            <a:pPr marL="114300" indent="0">
              <a:buNone/>
            </a:pPr>
            <a:r>
              <a:rPr lang="en-US" dirty="0"/>
              <a:t>the combinational network.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D430AD-513C-7B25-BB97-3CAB21B9A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043002"/>
              </p:ext>
            </p:extLst>
          </p:nvPr>
        </p:nvGraphicFramePr>
        <p:xfrm>
          <a:off x="6676381" y="1587395"/>
          <a:ext cx="4222630" cy="3816227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111315">
                  <a:extLst>
                    <a:ext uri="{9D8B030D-6E8A-4147-A177-3AD203B41FA5}">
                      <a16:colId xmlns:a16="http://schemas.microsoft.com/office/drawing/2014/main" val="3761038584"/>
                    </a:ext>
                  </a:extLst>
                </a:gridCol>
                <a:gridCol w="2111315">
                  <a:extLst>
                    <a:ext uri="{9D8B030D-6E8A-4147-A177-3AD203B41FA5}">
                      <a16:colId xmlns:a16="http://schemas.microsoft.com/office/drawing/2014/main" val="2418979318"/>
                    </a:ext>
                  </a:extLst>
                </a:gridCol>
              </a:tblGrid>
              <a:tr h="5019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I7I6I5I4I3I2I1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Binary (B2B1B0)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31173"/>
                  </a:ext>
                </a:extLst>
              </a:tr>
              <a:tr h="4142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000 000 0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230428"/>
                  </a:ext>
                </a:extLst>
              </a:tr>
              <a:tr h="4142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000 000 1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801613"/>
                  </a:ext>
                </a:extLst>
              </a:tr>
              <a:tr h="4142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000 001 1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787647"/>
                  </a:ext>
                </a:extLst>
              </a:tr>
              <a:tr h="4142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000 011 1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90638"/>
                  </a:ext>
                </a:extLst>
              </a:tr>
              <a:tr h="4142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000 111 1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823038"/>
                  </a:ext>
                </a:extLst>
              </a:tr>
              <a:tr h="4142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001 111 1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520161"/>
                  </a:ext>
                </a:extLst>
              </a:tr>
              <a:tr h="4142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011 111 1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378875"/>
                  </a:ext>
                </a:extLst>
              </a:tr>
              <a:tr h="4142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111 111 1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441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0526714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25390DB-9807-7A75-49AA-B4B624057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64EE0232-52FF-0E06-3480-AB517174CB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Circuit Analysis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04945E9-E274-4248-0B33-DF1416D9823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23236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F216B761-1FB1-C840-5040-E04E359E15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48D6E4C-EBA1-9D3A-9DF5-48FEDB12F2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71E14-DC6A-58D9-A960-30896D799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171" y="1042167"/>
            <a:ext cx="5479929" cy="500303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Encoder Truth Table:</a:t>
            </a:r>
          </a:p>
          <a:p>
            <a:pPr marL="114300" indent="0">
              <a:buNone/>
            </a:pPr>
            <a:r>
              <a:rPr lang="en-US" b="1" dirty="0"/>
              <a:t>( </a:t>
            </a:r>
            <a:r>
              <a:rPr lang="en-US" b="1" dirty="0">
                <a:solidFill>
                  <a:srgbClr val="FF0000"/>
                </a:solidFill>
              </a:rPr>
              <a:t>For active low priority encoder V- of the comparator is connected to the Input </a:t>
            </a:r>
            <a:r>
              <a:rPr lang="en-US" b="1" dirty="0"/>
              <a:t>)</a:t>
            </a:r>
          </a:p>
          <a:p>
            <a:pPr marL="114300" indent="0">
              <a:buNone/>
            </a:pPr>
            <a:r>
              <a:rPr lang="en-US" dirty="0"/>
              <a:t>Encoder can be implemented using</a:t>
            </a:r>
          </a:p>
          <a:p>
            <a:pPr marL="114300" indent="0">
              <a:buNone/>
            </a:pPr>
            <a:r>
              <a:rPr lang="en-US" dirty="0"/>
              <a:t>the combinational network.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D430AD-513C-7B25-BB97-3CAB21B9A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91423"/>
              </p:ext>
            </p:extLst>
          </p:nvPr>
        </p:nvGraphicFramePr>
        <p:xfrm>
          <a:off x="6080636" y="1607398"/>
          <a:ext cx="4222630" cy="3816227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111315">
                  <a:extLst>
                    <a:ext uri="{9D8B030D-6E8A-4147-A177-3AD203B41FA5}">
                      <a16:colId xmlns:a16="http://schemas.microsoft.com/office/drawing/2014/main" val="3761038584"/>
                    </a:ext>
                  </a:extLst>
                </a:gridCol>
                <a:gridCol w="2111315">
                  <a:extLst>
                    <a:ext uri="{9D8B030D-6E8A-4147-A177-3AD203B41FA5}">
                      <a16:colId xmlns:a16="http://schemas.microsoft.com/office/drawing/2014/main" val="2418979318"/>
                    </a:ext>
                  </a:extLst>
                </a:gridCol>
              </a:tblGrid>
              <a:tr h="5019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I7I6I5I4I3I2I1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Binary (B2B1B0)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31173"/>
                  </a:ext>
                </a:extLst>
              </a:tr>
              <a:tr h="4142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</a:t>
                      </a:r>
                      <a:r>
                        <a:rPr lang="en-US" baseline="0" dirty="0"/>
                        <a:t> 111 1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230428"/>
                  </a:ext>
                </a:extLst>
              </a:tr>
              <a:tr h="4142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</a:t>
                      </a:r>
                      <a:r>
                        <a:rPr lang="en-US" baseline="0" dirty="0"/>
                        <a:t> 111 0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801613"/>
                  </a:ext>
                </a:extLst>
              </a:tr>
              <a:tr h="4142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111 110 0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787647"/>
                  </a:ext>
                </a:extLst>
              </a:tr>
              <a:tr h="4142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111 100 0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90638"/>
                  </a:ext>
                </a:extLst>
              </a:tr>
              <a:tr h="4142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111 000 0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823038"/>
                  </a:ext>
                </a:extLst>
              </a:tr>
              <a:tr h="4142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110 000 0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520161"/>
                  </a:ext>
                </a:extLst>
              </a:tr>
              <a:tr h="4142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1 000 000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378875"/>
                  </a:ext>
                </a:extLst>
              </a:tr>
              <a:tr h="4142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000 000 0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441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813371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25390DB-9807-7A75-49AA-B4B624057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64EE0232-52FF-0E06-3480-AB517174CB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b="1" dirty="0">
                <a:solidFill>
                  <a:schemeClr val="accent1"/>
                </a:solidFill>
              </a:rPr>
              <a:t>Quantization Error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04945E9-E274-4248-0B33-DF1416D9823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23236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F216B761-1FB1-C840-5040-E04E359E15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48D6E4C-EBA1-9D3A-9DF5-48FEDB12F2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3F71E14-DC6A-58D9-A960-30896D79905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00171" y="1042167"/>
                <a:ext cx="7150556" cy="5003033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Quantization Error = |Signal value – Quantized vale|</a:t>
                </a:r>
              </a:p>
              <a:p>
                <a:pPr marL="11430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Max Quantization Error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∆/2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= resolution )</a:t>
                </a:r>
              </a:p>
              <a:p>
                <a:pPr marL="11430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3F71E14-DC6A-58D9-A960-30896D7990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0171" y="1042167"/>
                <a:ext cx="7150556" cy="5003033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4448625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25390DB-9807-7A75-49AA-B4B624057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64EE0232-52FF-0E06-3480-AB517174CB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Problem: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04945E9-E274-4248-0B33-DF1416D9823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23236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F216B761-1FB1-C840-5040-E04E359E15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48D6E4C-EBA1-9D3A-9DF5-48FEDB12F2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3F71E14-DC6A-58D9-A960-30896D79905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907370" y="990191"/>
                <a:ext cx="5479929" cy="5003033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Make a table with Quantization Range, Quantization Level and Binary values for the given ADC circuit. </a:t>
                </a:r>
              </a:p>
              <a:p>
                <a:pPr marL="114300" indent="0">
                  <a:buNone/>
                </a:pPr>
                <a:r>
                  <a:rPr lang="en-US" dirty="0"/>
                  <a:t>What will be the final output if the input voltage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=2.125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[ VREF = 12 V ]</a:t>
                </a:r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3F71E14-DC6A-58D9-A960-30896D7990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07370" y="990191"/>
                <a:ext cx="5479929" cy="5003033"/>
              </a:xfrm>
              <a:blipFill>
                <a:blip r:embed="rId4"/>
                <a:stretch>
                  <a:fillRect l="-222" r="-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7299" y="482948"/>
            <a:ext cx="4294555" cy="601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88337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1086D84A-007F-1FAD-F2F1-EB2EB6CEE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FB7E64D1-76B3-0C93-9445-EDD2D7447A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Dual Slope ADC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228FD497-608E-BB91-7D84-29638ABEF1D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23236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03E4267E-FE7E-00C5-04A9-047C088FD5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2E5C6D13-134C-D05F-DD38-75FCDCB3038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56B9C82-49BC-4112-3467-BDFA02AD3CE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907370" y="990191"/>
                <a:ext cx="5479929" cy="5003033"/>
              </a:xfrm>
            </p:spPr>
            <p:txBody>
              <a:bodyPr>
                <a:normAutofit fontScale="92500"/>
              </a:bodyPr>
              <a:lstStyle/>
              <a:p>
                <a:pPr marL="114300" indent="0">
                  <a:buNone/>
                </a:pPr>
                <a:r>
                  <a:rPr lang="en-US" dirty="0"/>
                  <a:t>t&lt;0,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was connected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𝑅𝐸𝐹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was close.</a:t>
                </a:r>
              </a:p>
              <a:p>
                <a:pPr marL="114300" indent="0">
                  <a:buNone/>
                </a:pPr>
                <a:r>
                  <a:rPr lang="en-US" dirty="0"/>
                  <a:t>t&gt;0,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will be connected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will be open, Capacitor will start charging.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𝑅𝐶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First slope depends  on the input analog signal 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dirty="0"/>
                  <a:t>) and it will integrate till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b="0" dirty="0"/>
                  <a:t> ( Rising Time is fixed )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b="0" dirty="0"/>
                  <a:t> </a:t>
                </a:r>
                <a:r>
                  <a:rPr lang="en-US" dirty="0"/>
                  <a:t>is </a:t>
                </a:r>
                <a:r>
                  <a:rPr lang="en-US" b="0" dirty="0"/>
                  <a:t>the clock period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b="0" dirty="0"/>
                  <a:t> </a:t>
                </a:r>
                <a:r>
                  <a:rPr lang="en-US" dirty="0"/>
                  <a:t>is clock frequency. Relation: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56B9C82-49BC-4112-3467-BDFA02AD3C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07370" y="990191"/>
                <a:ext cx="5479929" cy="5003033"/>
              </a:xfrm>
              <a:blipFill>
                <a:blip r:embed="rId4"/>
                <a:stretch>
                  <a:fillRect r="-1780" b="-1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F1FBC99-C419-0871-F1BE-014C95E27F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23898" y="1642813"/>
            <a:ext cx="5029902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332047"/>
      </p:ext>
    </p:extLst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652949D-9E15-D7AF-6330-7B242A0CC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ECA894EE-0D60-E538-FDDD-163D054F97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Dual Slope ADC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97F005DA-AB36-6D29-A896-C4993A5A66F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23236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9CF18D97-4F13-D8C7-49C7-692D822ED4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494DFC75-B541-460F-A79A-5F3D1427A0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855C895-95A7-C743-4CCA-5D434B8DEB8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907371" y="990191"/>
                <a:ext cx="5188630" cy="5366159"/>
              </a:xfrm>
            </p:spPr>
            <p:txBody>
              <a:bodyPr>
                <a:normAutofit fontScale="92500" lnSpcReduction="1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After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will shift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𝑅𝐸𝐹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∫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𝑅𝐸𝐹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𝑅𝐶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i="1" dirty="0">
                    <a:latin typeface="+mj-lt"/>
                    <a:ea typeface="Calibri" panose="020F0502020204030204" pitchFamily="34" charset="0"/>
                    <a:cs typeface="Calibri" panose="020F0502020204030204" pitchFamily="34" charset="0"/>
                  </a:rPr>
                  <a:t>(Rising time ) 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dirty="0"/>
                  <a:t> ( Falling time)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𝑅𝐶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𝑅𝐸𝐹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𝑅𝐶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𝑅𝐸𝐹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855C895-95A7-C743-4CCA-5D434B8DEB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07371" y="990191"/>
                <a:ext cx="5188630" cy="5366159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5299" y="262816"/>
            <a:ext cx="6288664" cy="30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707676"/>
      </p:ext>
    </p:extLst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652949D-9E15-D7AF-6330-7B242A0CC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ECA894EE-0D60-E538-FDDD-163D054F97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Dual Slope ADC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97F005DA-AB36-6D29-A896-C4993A5A66F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23236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9CF18D97-4F13-D8C7-49C7-692D822ED4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494DFC75-B541-460F-A79A-5F3D1427A0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855C895-95A7-C743-4CCA-5D434B8DEB8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907370" y="990191"/>
                <a:ext cx="6288664" cy="4896259"/>
              </a:xfrm>
            </p:spPr>
            <p:txBody>
              <a:bodyPr>
                <a:normAutofit fontScale="77500" lnSpcReduction="2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After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will shift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𝑅𝐸𝐹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∫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𝑅𝐸𝐹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𝑅𝐶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𝑡𝑎𝑛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𝑡𝑎𝑛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RC</m:t>
                        </m:r>
                      </m:den>
                    </m:f>
                  </m:oMath>
                </a14:m>
                <a:r>
                  <a:rPr lang="en-US" dirty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𝑅𝐶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𝑡𝑎𝑛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𝑡𝑎𝑛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RC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𝑅𝐸𝐹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𝑅𝐶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𝑅𝐶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𝑅𝐸𝐹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𝑅𝐶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𝑅𝐸𝐹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855C895-95A7-C743-4CCA-5D434B8DEB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07370" y="990191"/>
                <a:ext cx="6288664" cy="4896259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840" y="0"/>
            <a:ext cx="6288664" cy="30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335089"/>
      </p:ext>
    </p:extLst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652949D-9E15-D7AF-6330-7B242A0CC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ECA894EE-0D60-E538-FDDD-163D054F97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Dual Slope ADC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97F005DA-AB36-6D29-A896-C4993A5A66F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23236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9CF18D97-4F13-D8C7-49C7-692D822ED4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494DFC75-B541-460F-A79A-5F3D1427A0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855C895-95A7-C743-4CCA-5D434B8DEB8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907369" y="990191"/>
                <a:ext cx="6564994" cy="5010559"/>
              </a:xfrm>
            </p:spPr>
            <p:txBody>
              <a:bodyPr>
                <a:normAutofit fontScale="92500"/>
              </a:bodyPr>
              <a:lstStyle/>
              <a:p>
                <a:pPr marL="114300" indent="0">
                  <a:buNone/>
                </a:pPr>
                <a:r>
                  <a:rPr lang="en-US" b="0" dirty="0"/>
                  <a:t>Some important formula,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=1/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Rising time,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Falling time,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Decimal of digital output,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𝑅𝐸𝐹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Reading time or conversion time,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Max reading time,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Max Sampling frequency,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𝑇𝑚𝑎𝑥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855C895-95A7-C743-4CCA-5D434B8DEB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07369" y="990191"/>
                <a:ext cx="6564994" cy="5010559"/>
              </a:xfrm>
              <a:blipFill>
                <a:blip r:embed="rId4"/>
                <a:stretch>
                  <a:fillRect b="-1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599" y="262816"/>
            <a:ext cx="4537363" cy="30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297174"/>
      </p:ext>
    </p:extLst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652949D-9E15-D7AF-6330-7B242A0CC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97F005DA-AB36-6D29-A896-C4993A5A66F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23236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9CF18D97-4F13-D8C7-49C7-692D822ED4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494DFC75-B541-460F-A79A-5F3D1427A0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5C895-95A7-C743-4CCA-5D434B8DE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7370" y="990191"/>
            <a:ext cx="5479929" cy="500303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US" b="0" dirty="0"/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218" y="490540"/>
            <a:ext cx="9825600" cy="55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39088"/>
      </p:ext>
    </p:extLst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652949D-9E15-D7AF-6330-7B242A0CC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97F005DA-AB36-6D29-A896-C4993A5A66F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23236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9CF18D97-4F13-D8C7-49C7-692D822ED4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494DFC75-B541-460F-A79A-5F3D1427A0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5C895-95A7-C743-4CCA-5D434B8DE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7370" y="990191"/>
            <a:ext cx="5479929" cy="500303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US" b="0" dirty="0"/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5843" y="706430"/>
            <a:ext cx="8745622" cy="502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778192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3642</TotalTime>
  <Words>1480</Words>
  <Application>Microsoft Office PowerPoint</Application>
  <PresentationFormat>Widescreen</PresentationFormat>
  <Paragraphs>335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Cambria Math</vt:lpstr>
      <vt:lpstr>Times New Roman</vt:lpstr>
      <vt:lpstr>Wingdings</vt:lpstr>
      <vt:lpstr>Office Theme</vt:lpstr>
      <vt:lpstr>CSE 350 Digital Electronics and Pulse Techniques </vt:lpstr>
      <vt:lpstr>Op-Amp Review</vt:lpstr>
      <vt:lpstr>Op-Amp Review</vt:lpstr>
      <vt:lpstr>Op-Amp Review</vt:lpstr>
      <vt:lpstr>Analog to Digital Converter (ADC)</vt:lpstr>
      <vt:lpstr>Analog to Digital Converter (ADC)</vt:lpstr>
      <vt:lpstr>A/D conversion process</vt:lpstr>
      <vt:lpstr>Sampling</vt:lpstr>
      <vt:lpstr>Quantization:</vt:lpstr>
      <vt:lpstr>Encoding</vt:lpstr>
      <vt:lpstr>Midrise Quantization:</vt:lpstr>
      <vt:lpstr>Mid tread Quantization ( Not symmetrical and Equally Spaced)</vt:lpstr>
      <vt:lpstr>Quantization Range, Level, code</vt:lpstr>
      <vt:lpstr>Quantization Range, Level, code</vt:lpstr>
      <vt:lpstr>Quantization Range, Level, code</vt:lpstr>
      <vt:lpstr>Flash A/D converter</vt:lpstr>
      <vt:lpstr>Op-Amp </vt:lpstr>
      <vt:lpstr>Flash ADC design </vt:lpstr>
      <vt:lpstr>Flash ADC design </vt:lpstr>
      <vt:lpstr>Circuit</vt:lpstr>
      <vt:lpstr>Circuit Analysis</vt:lpstr>
      <vt:lpstr>Circuit Analysis</vt:lpstr>
      <vt:lpstr>Circuit Analysis</vt:lpstr>
      <vt:lpstr>Circuit Analysis</vt:lpstr>
      <vt:lpstr>Quantization Error</vt:lpstr>
      <vt:lpstr>Problem:</vt:lpstr>
      <vt:lpstr>Dual Slope ADC</vt:lpstr>
      <vt:lpstr>Dual Slope ADC</vt:lpstr>
      <vt:lpstr>Dual Slope ADC</vt:lpstr>
      <vt:lpstr>Dual Slope ADC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350 Digital Electronics and Pulse Techniques </dc:title>
  <dc:creator>nazmul turjo</dc:creator>
  <cp:lastModifiedBy>Shomen Kundu</cp:lastModifiedBy>
  <cp:revision>58</cp:revision>
  <dcterms:created xsi:type="dcterms:W3CDTF">2021-07-10T07:14:46Z</dcterms:created>
  <dcterms:modified xsi:type="dcterms:W3CDTF">2025-06-22T05:20:27Z</dcterms:modified>
</cp:coreProperties>
</file>