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4" r:id="rId3"/>
    <p:sldId id="275" r:id="rId4"/>
    <p:sldId id="300" r:id="rId5"/>
    <p:sldId id="276" r:id="rId6"/>
    <p:sldId id="309" r:id="rId7"/>
    <p:sldId id="301" r:id="rId8"/>
    <p:sldId id="302" r:id="rId9"/>
    <p:sldId id="317" r:id="rId10"/>
    <p:sldId id="303" r:id="rId11"/>
    <p:sldId id="310" r:id="rId12"/>
    <p:sldId id="311" r:id="rId13"/>
    <p:sldId id="312" r:id="rId14"/>
    <p:sldId id="304" r:id="rId15"/>
    <p:sldId id="313" r:id="rId16"/>
    <p:sldId id="314" r:id="rId17"/>
    <p:sldId id="318" r:id="rId18"/>
    <p:sldId id="315" r:id="rId19"/>
    <p:sldId id="316" r:id="rId20"/>
    <p:sldId id="31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gOP7mpHQ9vA4PFHviNNnNqE8hH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FA7CD0-2ED7-4127-A139-062385FC596B}">
  <a:tblStyle styleId="{E6FA7CD0-2ED7-4127-A139-062385FC59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B27811-7364-402C-A575-A819568D0BF9}" type="doc">
      <dgm:prSet loTypeId="urn:microsoft.com/office/officeart/2005/8/layout/orgChart1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7D1E7E8-955F-42AB-ADFA-AC15421B2514}">
      <dgm:prSet phldrT="[Text]" custT="1"/>
      <dgm:spPr/>
      <dgm:t>
        <a:bodyPr/>
        <a:lstStyle/>
        <a:p>
          <a:r>
            <a:rPr lang="en-US" sz="1600" b="1" dirty="0"/>
            <a:t>Digital Logic Families</a:t>
          </a:r>
        </a:p>
      </dgm:t>
    </dgm:pt>
    <dgm:pt modelId="{A4A30608-EACC-4775-B63B-C6244BE5157C}" type="parTrans" cxnId="{2EB1AB16-C4F8-4F13-ABAD-4A5832E77694}">
      <dgm:prSet/>
      <dgm:spPr/>
      <dgm:t>
        <a:bodyPr/>
        <a:lstStyle/>
        <a:p>
          <a:endParaRPr lang="en-US"/>
        </a:p>
      </dgm:t>
    </dgm:pt>
    <dgm:pt modelId="{2BEBEC8C-1A4C-4FF1-9527-348A728D4CBA}" type="sibTrans" cxnId="{2EB1AB16-C4F8-4F13-ABAD-4A5832E77694}">
      <dgm:prSet/>
      <dgm:spPr/>
      <dgm:t>
        <a:bodyPr/>
        <a:lstStyle/>
        <a:p>
          <a:endParaRPr lang="en-US"/>
        </a:p>
      </dgm:t>
    </dgm:pt>
    <dgm:pt modelId="{C1D02861-A78D-4835-B4FF-C8DE9381F8E8}">
      <dgm:prSet phldrT="[Text]" custT="1"/>
      <dgm:spPr/>
      <dgm:t>
        <a:bodyPr/>
        <a:lstStyle/>
        <a:p>
          <a:r>
            <a:rPr lang="en-US" sz="1600" dirty="0"/>
            <a:t>Bipolar logic families</a:t>
          </a:r>
        </a:p>
        <a:p>
          <a:r>
            <a:rPr lang="en-US" sz="1600" dirty="0"/>
            <a:t>(electron and hole both are used as  charge carrier)</a:t>
          </a:r>
        </a:p>
        <a:p>
          <a:r>
            <a:rPr lang="en-US" sz="1600" dirty="0"/>
            <a:t>Example: BJTs</a:t>
          </a:r>
        </a:p>
      </dgm:t>
    </dgm:pt>
    <dgm:pt modelId="{E714C221-2D9D-4937-AE4B-39B48A1748F2}" type="parTrans" cxnId="{6B94A1A0-4ED7-4E97-BBD4-4E44B0777459}">
      <dgm:prSet/>
      <dgm:spPr/>
      <dgm:t>
        <a:bodyPr/>
        <a:lstStyle/>
        <a:p>
          <a:endParaRPr lang="en-US"/>
        </a:p>
      </dgm:t>
    </dgm:pt>
    <dgm:pt modelId="{50B1DC41-CD06-4CFF-BEFF-6E22CA75D755}" type="sibTrans" cxnId="{6B94A1A0-4ED7-4E97-BBD4-4E44B0777459}">
      <dgm:prSet/>
      <dgm:spPr/>
      <dgm:t>
        <a:bodyPr/>
        <a:lstStyle/>
        <a:p>
          <a:endParaRPr lang="en-US"/>
        </a:p>
      </dgm:t>
    </dgm:pt>
    <dgm:pt modelId="{80A8EA08-5815-4570-869D-2A4038FAE274}">
      <dgm:prSet phldrT="[Text]" custT="1"/>
      <dgm:spPr/>
      <dgm:t>
        <a:bodyPr/>
        <a:lstStyle/>
        <a:p>
          <a:r>
            <a:rPr lang="en-US" sz="1600" b="0" dirty="0"/>
            <a:t>Unipolar logic families</a:t>
          </a:r>
        </a:p>
        <a:p>
          <a:r>
            <a:rPr lang="en-US" sz="1600" b="0" dirty="0"/>
            <a:t>(Only one type of charge carrier dominates)</a:t>
          </a:r>
        </a:p>
        <a:p>
          <a:r>
            <a:rPr lang="en-US" sz="1600" b="0" dirty="0"/>
            <a:t>Example: MOSFET, JFET</a:t>
          </a:r>
        </a:p>
        <a:p>
          <a:r>
            <a:rPr lang="en-US" sz="1600" b="0" dirty="0" err="1"/>
            <a:t>i</a:t>
          </a:r>
          <a:r>
            <a:rPr lang="en-US" sz="1600" b="0" dirty="0"/>
            <a:t>. PMOS logic families</a:t>
          </a:r>
        </a:p>
        <a:p>
          <a:r>
            <a:rPr lang="en-US" sz="1600" b="0" dirty="0"/>
            <a:t>ii. NMOS logic families</a:t>
          </a:r>
        </a:p>
        <a:p>
          <a:r>
            <a:rPr lang="en-US" sz="1600" b="0" dirty="0"/>
            <a:t>iii. CMOS logic families</a:t>
          </a:r>
        </a:p>
      </dgm:t>
    </dgm:pt>
    <dgm:pt modelId="{11975C42-9ECF-4D8F-AD17-85049FF6D1AC}" type="parTrans" cxnId="{1548A41E-111D-4EF2-A05A-7F3846333AAF}">
      <dgm:prSet/>
      <dgm:spPr/>
      <dgm:t>
        <a:bodyPr/>
        <a:lstStyle/>
        <a:p>
          <a:endParaRPr lang="en-US"/>
        </a:p>
      </dgm:t>
    </dgm:pt>
    <dgm:pt modelId="{EDB00620-ACAE-43F0-B9B1-C9B961061FEC}" type="sibTrans" cxnId="{1548A41E-111D-4EF2-A05A-7F3846333AAF}">
      <dgm:prSet/>
      <dgm:spPr/>
      <dgm:t>
        <a:bodyPr/>
        <a:lstStyle/>
        <a:p>
          <a:endParaRPr lang="en-US"/>
        </a:p>
      </dgm:t>
    </dgm:pt>
    <dgm:pt modelId="{D9053975-25DA-4A2C-89D3-D3B1BA595DED}">
      <dgm:prSet phldrT="[Text]" custT="1"/>
      <dgm:spPr/>
      <dgm:t>
        <a:bodyPr/>
        <a:lstStyle/>
        <a:p>
          <a:r>
            <a:rPr lang="en-US" sz="1600" dirty="0"/>
            <a:t>Saturated </a:t>
          </a:r>
        </a:p>
        <a:p>
          <a:r>
            <a:rPr lang="en-US" sz="1600" dirty="0"/>
            <a:t>(saturation and Cutoff)</a:t>
          </a:r>
        </a:p>
      </dgm:t>
    </dgm:pt>
    <dgm:pt modelId="{8A50A80C-93E0-4564-9CD1-7C2090E27AA8}" type="parTrans" cxnId="{0AD382E7-58BC-4CF9-AB2F-27E3B8624B5A}">
      <dgm:prSet/>
      <dgm:spPr/>
      <dgm:t>
        <a:bodyPr/>
        <a:lstStyle/>
        <a:p>
          <a:endParaRPr lang="en-US"/>
        </a:p>
      </dgm:t>
    </dgm:pt>
    <dgm:pt modelId="{9FE940F2-9849-4CAA-8CE1-3DE1DD756FDC}" type="sibTrans" cxnId="{0AD382E7-58BC-4CF9-AB2F-27E3B8624B5A}">
      <dgm:prSet/>
      <dgm:spPr/>
      <dgm:t>
        <a:bodyPr/>
        <a:lstStyle/>
        <a:p>
          <a:endParaRPr lang="en-US"/>
        </a:p>
      </dgm:t>
    </dgm:pt>
    <dgm:pt modelId="{4B0836FE-3A3C-4D1B-8116-EBE397B6C273}">
      <dgm:prSet phldrT="[Text]" custT="1"/>
      <dgm:spPr/>
      <dgm:t>
        <a:bodyPr/>
        <a:lstStyle/>
        <a:p>
          <a:r>
            <a:rPr lang="en-US" sz="1600" dirty="0"/>
            <a:t>Unsaturated </a:t>
          </a:r>
        </a:p>
        <a:p>
          <a:r>
            <a:rPr lang="en-US" sz="1600" dirty="0"/>
            <a:t>(Active &amp; Cutoff)</a:t>
          </a:r>
        </a:p>
      </dgm:t>
    </dgm:pt>
    <dgm:pt modelId="{C8774B50-4E76-44FE-B32D-71AB0C4D3E6C}" type="parTrans" cxnId="{83B72E85-85DC-4429-B7B6-DADAEB901ED7}">
      <dgm:prSet/>
      <dgm:spPr/>
      <dgm:t>
        <a:bodyPr/>
        <a:lstStyle/>
        <a:p>
          <a:endParaRPr lang="en-US"/>
        </a:p>
      </dgm:t>
    </dgm:pt>
    <dgm:pt modelId="{DD7C7882-73A6-4207-91AC-4CE848645151}" type="sibTrans" cxnId="{83B72E85-85DC-4429-B7B6-DADAEB901ED7}">
      <dgm:prSet/>
      <dgm:spPr/>
      <dgm:t>
        <a:bodyPr/>
        <a:lstStyle/>
        <a:p>
          <a:endParaRPr lang="en-US"/>
        </a:p>
      </dgm:t>
    </dgm:pt>
    <dgm:pt modelId="{21864EC7-7879-46B7-9A66-226A3A07C16A}" type="pres">
      <dgm:prSet presAssocID="{ADB27811-7364-402C-A575-A819568D0BF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12C77C8-D215-4C1B-918F-6423605416A8}" type="pres">
      <dgm:prSet presAssocID="{37D1E7E8-955F-42AB-ADFA-AC15421B2514}" presName="hierRoot1" presStyleCnt="0">
        <dgm:presLayoutVars>
          <dgm:hierBranch val="init"/>
        </dgm:presLayoutVars>
      </dgm:prSet>
      <dgm:spPr/>
    </dgm:pt>
    <dgm:pt modelId="{5CE822E6-56E8-4316-AB7B-D760950A4C4A}" type="pres">
      <dgm:prSet presAssocID="{37D1E7E8-955F-42AB-ADFA-AC15421B2514}" presName="rootComposite1" presStyleCnt="0"/>
      <dgm:spPr/>
    </dgm:pt>
    <dgm:pt modelId="{9E2F23A6-31A2-4E1B-A54F-793A3A2DD7A4}" type="pres">
      <dgm:prSet presAssocID="{37D1E7E8-955F-42AB-ADFA-AC15421B2514}" presName="rootText1" presStyleLbl="node0" presStyleIdx="0" presStyleCnt="3" custScaleX="102024" custScaleY="63251" custLinFactNeighborX="56390" custLinFactNeighborY="-37758">
        <dgm:presLayoutVars>
          <dgm:chPref val="3"/>
        </dgm:presLayoutVars>
      </dgm:prSet>
      <dgm:spPr/>
    </dgm:pt>
    <dgm:pt modelId="{F440C1BD-5814-4F90-B2B6-06BF9C32DFD5}" type="pres">
      <dgm:prSet presAssocID="{37D1E7E8-955F-42AB-ADFA-AC15421B2514}" presName="rootConnector1" presStyleLbl="node1" presStyleIdx="0" presStyleCnt="0"/>
      <dgm:spPr/>
    </dgm:pt>
    <dgm:pt modelId="{FE3A0090-45FF-4935-B7CE-66D6AA467DBB}" type="pres">
      <dgm:prSet presAssocID="{37D1E7E8-955F-42AB-ADFA-AC15421B2514}" presName="hierChild2" presStyleCnt="0"/>
      <dgm:spPr/>
    </dgm:pt>
    <dgm:pt modelId="{762D85F5-BC9D-4DAE-83B9-AE95F4543241}" type="pres">
      <dgm:prSet presAssocID="{E714C221-2D9D-4937-AE4B-39B48A1748F2}" presName="Name37" presStyleLbl="parChTrans1D2" presStyleIdx="0" presStyleCnt="2"/>
      <dgm:spPr/>
    </dgm:pt>
    <dgm:pt modelId="{98F1AE83-42D4-459C-A29E-E39261373AE4}" type="pres">
      <dgm:prSet presAssocID="{C1D02861-A78D-4835-B4FF-C8DE9381F8E8}" presName="hierRoot2" presStyleCnt="0">
        <dgm:presLayoutVars>
          <dgm:hierBranch val="init"/>
        </dgm:presLayoutVars>
      </dgm:prSet>
      <dgm:spPr/>
    </dgm:pt>
    <dgm:pt modelId="{56505567-3242-4EDF-A650-20BC3D5D9762}" type="pres">
      <dgm:prSet presAssocID="{C1D02861-A78D-4835-B4FF-C8DE9381F8E8}" presName="rootComposite" presStyleCnt="0"/>
      <dgm:spPr/>
    </dgm:pt>
    <dgm:pt modelId="{B2FC97A2-4936-4438-8984-6DB301346B41}" type="pres">
      <dgm:prSet presAssocID="{C1D02861-A78D-4835-B4FF-C8DE9381F8E8}" presName="rootText" presStyleLbl="node2" presStyleIdx="0" presStyleCnt="2" custScaleX="151925" custScaleY="80016" custLinFactNeighborX="34571" custLinFactNeighborY="-15279">
        <dgm:presLayoutVars>
          <dgm:chPref val="3"/>
        </dgm:presLayoutVars>
      </dgm:prSet>
      <dgm:spPr/>
    </dgm:pt>
    <dgm:pt modelId="{159177B8-798B-476F-8954-98362B554E58}" type="pres">
      <dgm:prSet presAssocID="{C1D02861-A78D-4835-B4FF-C8DE9381F8E8}" presName="rootConnector" presStyleLbl="node2" presStyleIdx="0" presStyleCnt="2"/>
      <dgm:spPr/>
    </dgm:pt>
    <dgm:pt modelId="{BFEC556D-2700-473C-ADAB-D45DE9C92B88}" type="pres">
      <dgm:prSet presAssocID="{C1D02861-A78D-4835-B4FF-C8DE9381F8E8}" presName="hierChild4" presStyleCnt="0"/>
      <dgm:spPr/>
    </dgm:pt>
    <dgm:pt modelId="{AC277670-DD7F-4B00-92E5-093AB047ADE7}" type="pres">
      <dgm:prSet presAssocID="{C1D02861-A78D-4835-B4FF-C8DE9381F8E8}" presName="hierChild5" presStyleCnt="0"/>
      <dgm:spPr/>
    </dgm:pt>
    <dgm:pt modelId="{39C3DD7B-4E68-4999-B5A6-52195E55966B}" type="pres">
      <dgm:prSet presAssocID="{11975C42-9ECF-4D8F-AD17-85049FF6D1AC}" presName="Name37" presStyleLbl="parChTrans1D2" presStyleIdx="1" presStyleCnt="2"/>
      <dgm:spPr/>
    </dgm:pt>
    <dgm:pt modelId="{11E029CE-E5E8-4B83-B3CB-C783D2BFD92A}" type="pres">
      <dgm:prSet presAssocID="{80A8EA08-5815-4570-869D-2A4038FAE274}" presName="hierRoot2" presStyleCnt="0">
        <dgm:presLayoutVars>
          <dgm:hierBranch val="init"/>
        </dgm:presLayoutVars>
      </dgm:prSet>
      <dgm:spPr/>
    </dgm:pt>
    <dgm:pt modelId="{0499A424-97C1-4FB1-A925-A6139D636544}" type="pres">
      <dgm:prSet presAssocID="{80A8EA08-5815-4570-869D-2A4038FAE274}" presName="rootComposite" presStyleCnt="0"/>
      <dgm:spPr/>
    </dgm:pt>
    <dgm:pt modelId="{01078189-507E-44B1-80AF-ABDD62A8B37B}" type="pres">
      <dgm:prSet presAssocID="{80A8EA08-5815-4570-869D-2A4038FAE274}" presName="rootText" presStyleLbl="node2" presStyleIdx="1" presStyleCnt="2" custScaleX="135941" custScaleY="172654" custLinFactNeighborX="96232" custLinFactNeighborY="-15688">
        <dgm:presLayoutVars>
          <dgm:chPref val="3"/>
        </dgm:presLayoutVars>
      </dgm:prSet>
      <dgm:spPr/>
    </dgm:pt>
    <dgm:pt modelId="{43ED48F6-E6E6-4104-AB9D-9ECF7FC30FB2}" type="pres">
      <dgm:prSet presAssocID="{80A8EA08-5815-4570-869D-2A4038FAE274}" presName="rootConnector" presStyleLbl="node2" presStyleIdx="1" presStyleCnt="2"/>
      <dgm:spPr/>
    </dgm:pt>
    <dgm:pt modelId="{F00134B6-0D61-4DAE-A10F-9FCB48136A6F}" type="pres">
      <dgm:prSet presAssocID="{80A8EA08-5815-4570-869D-2A4038FAE274}" presName="hierChild4" presStyleCnt="0"/>
      <dgm:spPr/>
    </dgm:pt>
    <dgm:pt modelId="{D179D9DD-EA10-472A-B7DD-D420FF249F06}" type="pres">
      <dgm:prSet presAssocID="{80A8EA08-5815-4570-869D-2A4038FAE274}" presName="hierChild5" presStyleCnt="0"/>
      <dgm:spPr/>
    </dgm:pt>
    <dgm:pt modelId="{A35C1774-F4F7-4782-A976-030A9D83D541}" type="pres">
      <dgm:prSet presAssocID="{37D1E7E8-955F-42AB-ADFA-AC15421B2514}" presName="hierChild3" presStyleCnt="0"/>
      <dgm:spPr/>
    </dgm:pt>
    <dgm:pt modelId="{97125795-88BE-4F52-941A-08902468E0EA}" type="pres">
      <dgm:prSet presAssocID="{D9053975-25DA-4A2C-89D3-D3B1BA595DED}" presName="hierRoot1" presStyleCnt="0">
        <dgm:presLayoutVars>
          <dgm:hierBranch val="init"/>
        </dgm:presLayoutVars>
      </dgm:prSet>
      <dgm:spPr/>
    </dgm:pt>
    <dgm:pt modelId="{0ACA5B9E-403F-4B1B-8D44-14652831E0DA}" type="pres">
      <dgm:prSet presAssocID="{D9053975-25DA-4A2C-89D3-D3B1BA595DED}" presName="rootComposite1" presStyleCnt="0"/>
      <dgm:spPr/>
    </dgm:pt>
    <dgm:pt modelId="{1D0FD7FF-3D5D-4F8F-91D7-A99437B72CF1}" type="pres">
      <dgm:prSet presAssocID="{D9053975-25DA-4A2C-89D3-D3B1BA595DED}" presName="rootText1" presStyleLbl="node0" presStyleIdx="1" presStyleCnt="3" custScaleX="86810" custScaleY="59579" custLinFactX="-100000" custLinFactY="100000" custLinFactNeighborX="-101273" custLinFactNeighborY="131428">
        <dgm:presLayoutVars>
          <dgm:chPref val="3"/>
        </dgm:presLayoutVars>
      </dgm:prSet>
      <dgm:spPr/>
    </dgm:pt>
    <dgm:pt modelId="{CDF3ECE9-41CB-4166-96E5-9E206532A5E9}" type="pres">
      <dgm:prSet presAssocID="{D9053975-25DA-4A2C-89D3-D3B1BA595DED}" presName="rootConnector1" presStyleLbl="node1" presStyleIdx="0" presStyleCnt="0"/>
      <dgm:spPr/>
    </dgm:pt>
    <dgm:pt modelId="{60538342-AD58-4D4C-8F5E-62D523184A47}" type="pres">
      <dgm:prSet presAssocID="{D9053975-25DA-4A2C-89D3-D3B1BA595DED}" presName="hierChild2" presStyleCnt="0"/>
      <dgm:spPr/>
    </dgm:pt>
    <dgm:pt modelId="{97D875BC-CC00-4978-B71E-19C2AA039541}" type="pres">
      <dgm:prSet presAssocID="{D9053975-25DA-4A2C-89D3-D3B1BA595DED}" presName="hierChild3" presStyleCnt="0"/>
      <dgm:spPr/>
    </dgm:pt>
    <dgm:pt modelId="{F0D16D1D-2B07-40D7-9A97-6FA616DC6A79}" type="pres">
      <dgm:prSet presAssocID="{4B0836FE-3A3C-4D1B-8116-EBE397B6C273}" presName="hierRoot1" presStyleCnt="0">
        <dgm:presLayoutVars>
          <dgm:hierBranch val="init"/>
        </dgm:presLayoutVars>
      </dgm:prSet>
      <dgm:spPr/>
    </dgm:pt>
    <dgm:pt modelId="{92E4ED6E-12E2-418E-A300-AF17BB2FF131}" type="pres">
      <dgm:prSet presAssocID="{4B0836FE-3A3C-4D1B-8116-EBE397B6C273}" presName="rootComposite1" presStyleCnt="0"/>
      <dgm:spPr/>
    </dgm:pt>
    <dgm:pt modelId="{6C8B1E48-61F4-4B63-A75D-A36ADDF5C205}" type="pres">
      <dgm:prSet presAssocID="{4B0836FE-3A3C-4D1B-8116-EBE397B6C273}" presName="rootText1" presStyleLbl="node0" presStyleIdx="2" presStyleCnt="3" custScaleX="82564" custScaleY="61729" custLinFactX="-81940" custLinFactY="100000" custLinFactNeighborX="-100000" custLinFactNeighborY="130248">
        <dgm:presLayoutVars>
          <dgm:chPref val="3"/>
        </dgm:presLayoutVars>
      </dgm:prSet>
      <dgm:spPr/>
    </dgm:pt>
    <dgm:pt modelId="{225F7B16-5FA5-4607-A2E5-19F8BA6DC9F1}" type="pres">
      <dgm:prSet presAssocID="{4B0836FE-3A3C-4D1B-8116-EBE397B6C273}" presName="rootConnector1" presStyleLbl="node1" presStyleIdx="0" presStyleCnt="0"/>
      <dgm:spPr/>
    </dgm:pt>
    <dgm:pt modelId="{5A066BFE-6BD4-47A8-A107-F0021351A0DC}" type="pres">
      <dgm:prSet presAssocID="{4B0836FE-3A3C-4D1B-8116-EBE397B6C273}" presName="hierChild2" presStyleCnt="0"/>
      <dgm:spPr/>
    </dgm:pt>
    <dgm:pt modelId="{AEF547CC-ECB7-4D6D-94F2-89A7FB9D9AE4}" type="pres">
      <dgm:prSet presAssocID="{4B0836FE-3A3C-4D1B-8116-EBE397B6C273}" presName="hierChild3" presStyleCnt="0"/>
      <dgm:spPr/>
    </dgm:pt>
  </dgm:ptLst>
  <dgm:cxnLst>
    <dgm:cxn modelId="{8068CB00-E7E1-48AC-8416-FB2BE73A3AA5}" type="presOf" srcId="{D9053975-25DA-4A2C-89D3-D3B1BA595DED}" destId="{CDF3ECE9-41CB-4166-96E5-9E206532A5E9}" srcOrd="1" destOrd="0" presId="urn:microsoft.com/office/officeart/2005/8/layout/orgChart1"/>
    <dgm:cxn modelId="{2EB1AB16-C4F8-4F13-ABAD-4A5832E77694}" srcId="{ADB27811-7364-402C-A575-A819568D0BF9}" destId="{37D1E7E8-955F-42AB-ADFA-AC15421B2514}" srcOrd="0" destOrd="0" parTransId="{A4A30608-EACC-4775-B63B-C6244BE5157C}" sibTransId="{2BEBEC8C-1A4C-4FF1-9527-348A728D4CBA}"/>
    <dgm:cxn modelId="{2B83721B-E6EE-42A1-AE4B-23267C76A847}" type="presOf" srcId="{80A8EA08-5815-4570-869D-2A4038FAE274}" destId="{01078189-507E-44B1-80AF-ABDD62A8B37B}" srcOrd="0" destOrd="0" presId="urn:microsoft.com/office/officeart/2005/8/layout/orgChart1"/>
    <dgm:cxn modelId="{6348CA1C-E450-49DD-A533-1F20B21948E3}" type="presOf" srcId="{37D1E7E8-955F-42AB-ADFA-AC15421B2514}" destId="{F440C1BD-5814-4F90-B2B6-06BF9C32DFD5}" srcOrd="1" destOrd="0" presId="urn:microsoft.com/office/officeart/2005/8/layout/orgChart1"/>
    <dgm:cxn modelId="{1548A41E-111D-4EF2-A05A-7F3846333AAF}" srcId="{37D1E7E8-955F-42AB-ADFA-AC15421B2514}" destId="{80A8EA08-5815-4570-869D-2A4038FAE274}" srcOrd="1" destOrd="0" parTransId="{11975C42-9ECF-4D8F-AD17-85049FF6D1AC}" sibTransId="{EDB00620-ACAE-43F0-B9B1-C9B961061FEC}"/>
    <dgm:cxn modelId="{40804E3C-A4F6-49B2-A178-620486A12C61}" type="presOf" srcId="{D9053975-25DA-4A2C-89D3-D3B1BA595DED}" destId="{1D0FD7FF-3D5D-4F8F-91D7-A99437B72CF1}" srcOrd="0" destOrd="0" presId="urn:microsoft.com/office/officeart/2005/8/layout/orgChart1"/>
    <dgm:cxn modelId="{BB014847-78B7-4F1D-8C9D-65B060C97986}" type="presOf" srcId="{80A8EA08-5815-4570-869D-2A4038FAE274}" destId="{43ED48F6-E6E6-4104-AB9D-9ECF7FC30FB2}" srcOrd="1" destOrd="0" presId="urn:microsoft.com/office/officeart/2005/8/layout/orgChart1"/>
    <dgm:cxn modelId="{990EAD4C-E06D-4915-93CD-9B1366BCFCC0}" type="presOf" srcId="{11975C42-9ECF-4D8F-AD17-85049FF6D1AC}" destId="{39C3DD7B-4E68-4999-B5A6-52195E55966B}" srcOrd="0" destOrd="0" presId="urn:microsoft.com/office/officeart/2005/8/layout/orgChart1"/>
    <dgm:cxn modelId="{E796797F-330B-437B-9D6A-496469EA4A36}" type="presOf" srcId="{4B0836FE-3A3C-4D1B-8116-EBE397B6C273}" destId="{6C8B1E48-61F4-4B63-A75D-A36ADDF5C205}" srcOrd="0" destOrd="0" presId="urn:microsoft.com/office/officeart/2005/8/layout/orgChart1"/>
    <dgm:cxn modelId="{83B72E85-85DC-4429-B7B6-DADAEB901ED7}" srcId="{ADB27811-7364-402C-A575-A819568D0BF9}" destId="{4B0836FE-3A3C-4D1B-8116-EBE397B6C273}" srcOrd="2" destOrd="0" parTransId="{C8774B50-4E76-44FE-B32D-71AB0C4D3E6C}" sibTransId="{DD7C7882-73A6-4207-91AC-4CE848645151}"/>
    <dgm:cxn modelId="{15588088-F671-4029-A2FB-A381B103E3DF}" type="presOf" srcId="{C1D02861-A78D-4835-B4FF-C8DE9381F8E8}" destId="{159177B8-798B-476F-8954-98362B554E58}" srcOrd="1" destOrd="0" presId="urn:microsoft.com/office/officeart/2005/8/layout/orgChart1"/>
    <dgm:cxn modelId="{D4D71E89-E451-4FC5-8F0C-FFDA4CC7025F}" type="presOf" srcId="{4B0836FE-3A3C-4D1B-8116-EBE397B6C273}" destId="{225F7B16-5FA5-4607-A2E5-19F8BA6DC9F1}" srcOrd="1" destOrd="0" presId="urn:microsoft.com/office/officeart/2005/8/layout/orgChart1"/>
    <dgm:cxn modelId="{4A4DE78A-C0F9-49CA-AC09-3AB587CDF6F5}" type="presOf" srcId="{E714C221-2D9D-4937-AE4B-39B48A1748F2}" destId="{762D85F5-BC9D-4DAE-83B9-AE95F4543241}" srcOrd="0" destOrd="0" presId="urn:microsoft.com/office/officeart/2005/8/layout/orgChart1"/>
    <dgm:cxn modelId="{6B94A1A0-4ED7-4E97-BBD4-4E44B0777459}" srcId="{37D1E7E8-955F-42AB-ADFA-AC15421B2514}" destId="{C1D02861-A78D-4835-B4FF-C8DE9381F8E8}" srcOrd="0" destOrd="0" parTransId="{E714C221-2D9D-4937-AE4B-39B48A1748F2}" sibTransId="{50B1DC41-CD06-4CFF-BEFF-6E22CA75D755}"/>
    <dgm:cxn modelId="{DFA126AF-81DB-4183-A915-286090AD004F}" type="presOf" srcId="{37D1E7E8-955F-42AB-ADFA-AC15421B2514}" destId="{9E2F23A6-31A2-4E1B-A54F-793A3A2DD7A4}" srcOrd="0" destOrd="0" presId="urn:microsoft.com/office/officeart/2005/8/layout/orgChart1"/>
    <dgm:cxn modelId="{95A9E0CE-F6B0-48C8-9EC7-04432BAF1001}" type="presOf" srcId="{C1D02861-A78D-4835-B4FF-C8DE9381F8E8}" destId="{B2FC97A2-4936-4438-8984-6DB301346B41}" srcOrd="0" destOrd="0" presId="urn:microsoft.com/office/officeart/2005/8/layout/orgChart1"/>
    <dgm:cxn modelId="{0AD382E7-58BC-4CF9-AB2F-27E3B8624B5A}" srcId="{ADB27811-7364-402C-A575-A819568D0BF9}" destId="{D9053975-25DA-4A2C-89D3-D3B1BA595DED}" srcOrd="1" destOrd="0" parTransId="{8A50A80C-93E0-4564-9CD1-7C2090E27AA8}" sibTransId="{9FE940F2-9849-4CAA-8CE1-3DE1DD756FDC}"/>
    <dgm:cxn modelId="{E53B08F8-0261-4547-BD15-4795C3C34210}" type="presOf" srcId="{ADB27811-7364-402C-A575-A819568D0BF9}" destId="{21864EC7-7879-46B7-9A66-226A3A07C16A}" srcOrd="0" destOrd="0" presId="urn:microsoft.com/office/officeart/2005/8/layout/orgChart1"/>
    <dgm:cxn modelId="{170E213A-B2A6-443A-9A1C-F8C63EB09392}" type="presParOf" srcId="{21864EC7-7879-46B7-9A66-226A3A07C16A}" destId="{F12C77C8-D215-4C1B-918F-6423605416A8}" srcOrd="0" destOrd="0" presId="urn:microsoft.com/office/officeart/2005/8/layout/orgChart1"/>
    <dgm:cxn modelId="{71591562-01F7-4791-8BBC-65456B763EC3}" type="presParOf" srcId="{F12C77C8-D215-4C1B-918F-6423605416A8}" destId="{5CE822E6-56E8-4316-AB7B-D760950A4C4A}" srcOrd="0" destOrd="0" presId="urn:microsoft.com/office/officeart/2005/8/layout/orgChart1"/>
    <dgm:cxn modelId="{5348073C-CA1F-4096-A46B-666F563F4428}" type="presParOf" srcId="{5CE822E6-56E8-4316-AB7B-D760950A4C4A}" destId="{9E2F23A6-31A2-4E1B-A54F-793A3A2DD7A4}" srcOrd="0" destOrd="0" presId="urn:microsoft.com/office/officeart/2005/8/layout/orgChart1"/>
    <dgm:cxn modelId="{007B012A-1092-40C4-AD9A-BDBE59D02899}" type="presParOf" srcId="{5CE822E6-56E8-4316-AB7B-D760950A4C4A}" destId="{F440C1BD-5814-4F90-B2B6-06BF9C32DFD5}" srcOrd="1" destOrd="0" presId="urn:microsoft.com/office/officeart/2005/8/layout/orgChart1"/>
    <dgm:cxn modelId="{1FE49186-D13E-4B9F-9E0B-5DA87A311891}" type="presParOf" srcId="{F12C77C8-D215-4C1B-918F-6423605416A8}" destId="{FE3A0090-45FF-4935-B7CE-66D6AA467DBB}" srcOrd="1" destOrd="0" presId="urn:microsoft.com/office/officeart/2005/8/layout/orgChart1"/>
    <dgm:cxn modelId="{79BAB0E6-397A-4CE2-AF5C-C33419614DF0}" type="presParOf" srcId="{FE3A0090-45FF-4935-B7CE-66D6AA467DBB}" destId="{762D85F5-BC9D-4DAE-83B9-AE95F4543241}" srcOrd="0" destOrd="0" presId="urn:microsoft.com/office/officeart/2005/8/layout/orgChart1"/>
    <dgm:cxn modelId="{CCB1E5EA-26B9-45AE-8C25-99695A788A53}" type="presParOf" srcId="{FE3A0090-45FF-4935-B7CE-66D6AA467DBB}" destId="{98F1AE83-42D4-459C-A29E-E39261373AE4}" srcOrd="1" destOrd="0" presId="urn:microsoft.com/office/officeart/2005/8/layout/orgChart1"/>
    <dgm:cxn modelId="{AA5A3357-8CB2-4DA6-8DCC-90129C7D3E5C}" type="presParOf" srcId="{98F1AE83-42D4-459C-A29E-E39261373AE4}" destId="{56505567-3242-4EDF-A650-20BC3D5D9762}" srcOrd="0" destOrd="0" presId="urn:microsoft.com/office/officeart/2005/8/layout/orgChart1"/>
    <dgm:cxn modelId="{E798DD1D-937E-44C1-ACE7-E9250243E33D}" type="presParOf" srcId="{56505567-3242-4EDF-A650-20BC3D5D9762}" destId="{B2FC97A2-4936-4438-8984-6DB301346B41}" srcOrd="0" destOrd="0" presId="urn:microsoft.com/office/officeart/2005/8/layout/orgChart1"/>
    <dgm:cxn modelId="{C760D3AF-5933-4F74-8FB6-AFE18E7AFA3F}" type="presParOf" srcId="{56505567-3242-4EDF-A650-20BC3D5D9762}" destId="{159177B8-798B-476F-8954-98362B554E58}" srcOrd="1" destOrd="0" presId="urn:microsoft.com/office/officeart/2005/8/layout/orgChart1"/>
    <dgm:cxn modelId="{9BB11266-AF43-4766-B5FD-DBEF91197373}" type="presParOf" srcId="{98F1AE83-42D4-459C-A29E-E39261373AE4}" destId="{BFEC556D-2700-473C-ADAB-D45DE9C92B88}" srcOrd="1" destOrd="0" presId="urn:microsoft.com/office/officeart/2005/8/layout/orgChart1"/>
    <dgm:cxn modelId="{A003804F-7E19-4361-BE26-209B48F8A9AB}" type="presParOf" srcId="{98F1AE83-42D4-459C-A29E-E39261373AE4}" destId="{AC277670-DD7F-4B00-92E5-093AB047ADE7}" srcOrd="2" destOrd="0" presId="urn:microsoft.com/office/officeart/2005/8/layout/orgChart1"/>
    <dgm:cxn modelId="{9FA1EFE4-BF0C-4F75-BA96-4AB3C53C7343}" type="presParOf" srcId="{FE3A0090-45FF-4935-B7CE-66D6AA467DBB}" destId="{39C3DD7B-4E68-4999-B5A6-52195E55966B}" srcOrd="2" destOrd="0" presId="urn:microsoft.com/office/officeart/2005/8/layout/orgChart1"/>
    <dgm:cxn modelId="{C79DFC7E-059C-4D65-A708-3F2E1EF5D85E}" type="presParOf" srcId="{FE3A0090-45FF-4935-B7CE-66D6AA467DBB}" destId="{11E029CE-E5E8-4B83-B3CB-C783D2BFD92A}" srcOrd="3" destOrd="0" presId="urn:microsoft.com/office/officeart/2005/8/layout/orgChart1"/>
    <dgm:cxn modelId="{76F3BF72-2592-445F-A494-7B51320CEC4F}" type="presParOf" srcId="{11E029CE-E5E8-4B83-B3CB-C783D2BFD92A}" destId="{0499A424-97C1-4FB1-A925-A6139D636544}" srcOrd="0" destOrd="0" presId="urn:microsoft.com/office/officeart/2005/8/layout/orgChart1"/>
    <dgm:cxn modelId="{D16A949C-4968-4542-9091-C5ECAEB5DFD7}" type="presParOf" srcId="{0499A424-97C1-4FB1-A925-A6139D636544}" destId="{01078189-507E-44B1-80AF-ABDD62A8B37B}" srcOrd="0" destOrd="0" presId="urn:microsoft.com/office/officeart/2005/8/layout/orgChart1"/>
    <dgm:cxn modelId="{9C0760D1-56FE-4D97-838B-B850441BB32B}" type="presParOf" srcId="{0499A424-97C1-4FB1-A925-A6139D636544}" destId="{43ED48F6-E6E6-4104-AB9D-9ECF7FC30FB2}" srcOrd="1" destOrd="0" presId="urn:microsoft.com/office/officeart/2005/8/layout/orgChart1"/>
    <dgm:cxn modelId="{61FCFC48-F599-463C-9C9E-6C3CA7072CF9}" type="presParOf" srcId="{11E029CE-E5E8-4B83-B3CB-C783D2BFD92A}" destId="{F00134B6-0D61-4DAE-A10F-9FCB48136A6F}" srcOrd="1" destOrd="0" presId="urn:microsoft.com/office/officeart/2005/8/layout/orgChart1"/>
    <dgm:cxn modelId="{DBCB8CB3-7291-4437-8DF4-2BD7FCCA58E7}" type="presParOf" srcId="{11E029CE-E5E8-4B83-B3CB-C783D2BFD92A}" destId="{D179D9DD-EA10-472A-B7DD-D420FF249F06}" srcOrd="2" destOrd="0" presId="urn:microsoft.com/office/officeart/2005/8/layout/orgChart1"/>
    <dgm:cxn modelId="{E8FB70B2-F376-4585-8D5F-00237461DB9E}" type="presParOf" srcId="{F12C77C8-D215-4C1B-918F-6423605416A8}" destId="{A35C1774-F4F7-4782-A976-030A9D83D541}" srcOrd="2" destOrd="0" presId="urn:microsoft.com/office/officeart/2005/8/layout/orgChart1"/>
    <dgm:cxn modelId="{31BE8FAE-7130-4097-A918-1D077EE82794}" type="presParOf" srcId="{21864EC7-7879-46B7-9A66-226A3A07C16A}" destId="{97125795-88BE-4F52-941A-08902468E0EA}" srcOrd="1" destOrd="0" presId="urn:microsoft.com/office/officeart/2005/8/layout/orgChart1"/>
    <dgm:cxn modelId="{35A43039-1A46-4DA4-9551-F3EBAD5A3478}" type="presParOf" srcId="{97125795-88BE-4F52-941A-08902468E0EA}" destId="{0ACA5B9E-403F-4B1B-8D44-14652831E0DA}" srcOrd="0" destOrd="0" presId="urn:microsoft.com/office/officeart/2005/8/layout/orgChart1"/>
    <dgm:cxn modelId="{BD48431E-FAD6-4DC4-942B-9E452A3BC326}" type="presParOf" srcId="{0ACA5B9E-403F-4B1B-8D44-14652831E0DA}" destId="{1D0FD7FF-3D5D-4F8F-91D7-A99437B72CF1}" srcOrd="0" destOrd="0" presId="urn:microsoft.com/office/officeart/2005/8/layout/orgChart1"/>
    <dgm:cxn modelId="{E0FFB699-78EB-439B-9F88-93DC8A3EFA08}" type="presParOf" srcId="{0ACA5B9E-403F-4B1B-8D44-14652831E0DA}" destId="{CDF3ECE9-41CB-4166-96E5-9E206532A5E9}" srcOrd="1" destOrd="0" presId="urn:microsoft.com/office/officeart/2005/8/layout/orgChart1"/>
    <dgm:cxn modelId="{3DEA2870-3E6F-47E6-BCC6-5ABF13CBA095}" type="presParOf" srcId="{97125795-88BE-4F52-941A-08902468E0EA}" destId="{60538342-AD58-4D4C-8F5E-62D523184A47}" srcOrd="1" destOrd="0" presId="urn:microsoft.com/office/officeart/2005/8/layout/orgChart1"/>
    <dgm:cxn modelId="{2ECE67ED-CEB0-40D0-8DA1-9251AE391A79}" type="presParOf" srcId="{97125795-88BE-4F52-941A-08902468E0EA}" destId="{97D875BC-CC00-4978-B71E-19C2AA039541}" srcOrd="2" destOrd="0" presId="urn:microsoft.com/office/officeart/2005/8/layout/orgChart1"/>
    <dgm:cxn modelId="{83BA6328-8E76-4210-A6A1-B6A1B08259D2}" type="presParOf" srcId="{21864EC7-7879-46B7-9A66-226A3A07C16A}" destId="{F0D16D1D-2B07-40D7-9A97-6FA616DC6A79}" srcOrd="2" destOrd="0" presId="urn:microsoft.com/office/officeart/2005/8/layout/orgChart1"/>
    <dgm:cxn modelId="{DA0FA8CB-8C7F-4C1B-8C00-286AA267AF58}" type="presParOf" srcId="{F0D16D1D-2B07-40D7-9A97-6FA616DC6A79}" destId="{92E4ED6E-12E2-418E-A300-AF17BB2FF131}" srcOrd="0" destOrd="0" presId="urn:microsoft.com/office/officeart/2005/8/layout/orgChart1"/>
    <dgm:cxn modelId="{79EFB776-3931-44DA-8DC0-88EB6824EFF8}" type="presParOf" srcId="{92E4ED6E-12E2-418E-A300-AF17BB2FF131}" destId="{6C8B1E48-61F4-4B63-A75D-A36ADDF5C205}" srcOrd="0" destOrd="0" presId="urn:microsoft.com/office/officeart/2005/8/layout/orgChart1"/>
    <dgm:cxn modelId="{F20FCB6E-C1EA-43B4-A4B1-0CD783AE836D}" type="presParOf" srcId="{92E4ED6E-12E2-418E-A300-AF17BB2FF131}" destId="{225F7B16-5FA5-4607-A2E5-19F8BA6DC9F1}" srcOrd="1" destOrd="0" presId="urn:microsoft.com/office/officeart/2005/8/layout/orgChart1"/>
    <dgm:cxn modelId="{E0334BE0-6A14-49EA-85E7-9DCD258A6B71}" type="presParOf" srcId="{F0D16D1D-2B07-40D7-9A97-6FA616DC6A79}" destId="{5A066BFE-6BD4-47A8-A107-F0021351A0DC}" srcOrd="1" destOrd="0" presId="urn:microsoft.com/office/officeart/2005/8/layout/orgChart1"/>
    <dgm:cxn modelId="{234961A0-72E3-4AC3-A149-07B9CE1860A9}" type="presParOf" srcId="{F0D16D1D-2B07-40D7-9A97-6FA616DC6A79}" destId="{AEF547CC-ECB7-4D6D-94F2-89A7FB9D9AE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3DD7B-4E68-4999-B5A6-52195E55966B}">
      <dsp:nvSpPr>
        <dsp:cNvPr id="0" name=""/>
        <dsp:cNvSpPr/>
      </dsp:nvSpPr>
      <dsp:spPr>
        <a:xfrm>
          <a:off x="5306243" y="1330929"/>
          <a:ext cx="3178403" cy="8061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19"/>
              </a:lnTo>
              <a:lnTo>
                <a:pt x="3178403" y="541919"/>
              </a:lnTo>
              <a:lnTo>
                <a:pt x="3178403" y="80614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2D85F5-BC9D-4DAE-83B9-AE95F4543241}">
      <dsp:nvSpPr>
        <dsp:cNvPr id="0" name=""/>
        <dsp:cNvSpPr/>
      </dsp:nvSpPr>
      <dsp:spPr>
        <a:xfrm>
          <a:off x="2782497" y="1330929"/>
          <a:ext cx="2523746" cy="811294"/>
        </a:xfrm>
        <a:custGeom>
          <a:avLst/>
          <a:gdLst/>
          <a:ahLst/>
          <a:cxnLst/>
          <a:rect l="0" t="0" r="0" b="0"/>
          <a:pathLst>
            <a:path>
              <a:moveTo>
                <a:pt x="2523746" y="0"/>
              </a:moveTo>
              <a:lnTo>
                <a:pt x="2523746" y="547066"/>
              </a:lnTo>
              <a:lnTo>
                <a:pt x="0" y="547066"/>
              </a:lnTo>
              <a:lnTo>
                <a:pt x="0" y="81129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2F23A6-31A2-4E1B-A54F-793A3A2DD7A4}">
      <dsp:nvSpPr>
        <dsp:cNvPr id="0" name=""/>
        <dsp:cNvSpPr/>
      </dsp:nvSpPr>
      <dsp:spPr>
        <a:xfrm>
          <a:off x="4022546" y="535085"/>
          <a:ext cx="2567394" cy="7958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Digital Logic Families</a:t>
          </a:r>
        </a:p>
      </dsp:txBody>
      <dsp:txXfrm>
        <a:off x="4022546" y="535085"/>
        <a:ext cx="2567394" cy="795843"/>
      </dsp:txXfrm>
    </dsp:sp>
    <dsp:sp modelId="{B2FC97A2-4936-4438-8984-6DB301346B41}">
      <dsp:nvSpPr>
        <dsp:cNvPr id="0" name=""/>
        <dsp:cNvSpPr/>
      </dsp:nvSpPr>
      <dsp:spPr>
        <a:xfrm>
          <a:off x="870930" y="2142223"/>
          <a:ext cx="3823133" cy="10067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Bipolar logic families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(electron and hole both are used as  charge carrier)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Example: BJTs</a:t>
          </a:r>
        </a:p>
      </dsp:txBody>
      <dsp:txXfrm>
        <a:off x="870930" y="2142223"/>
        <a:ext cx="3823133" cy="1006785"/>
      </dsp:txXfrm>
    </dsp:sp>
    <dsp:sp modelId="{01078189-507E-44B1-80AF-ABDD62A8B37B}">
      <dsp:nvSpPr>
        <dsp:cNvPr id="0" name=""/>
        <dsp:cNvSpPr/>
      </dsp:nvSpPr>
      <dsp:spPr>
        <a:xfrm>
          <a:off x="6774196" y="2137077"/>
          <a:ext cx="3420902" cy="21723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Unipolar logic families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(Only one type of charge carrier dominates)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Example: MOSFET, JFET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 err="1"/>
            <a:t>i</a:t>
          </a:r>
          <a:r>
            <a:rPr lang="en-US" sz="1600" b="0" kern="1200" dirty="0"/>
            <a:t>. PMOS logic families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ii. NMOS logic families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iii. CMOS logic families</a:t>
          </a:r>
        </a:p>
      </dsp:txBody>
      <dsp:txXfrm>
        <a:off x="6774196" y="2137077"/>
        <a:ext cx="3420902" cy="2172385"/>
      </dsp:txXfrm>
    </dsp:sp>
    <dsp:sp modelId="{1D0FD7FF-3D5D-4F8F-91D7-A99437B72CF1}">
      <dsp:nvSpPr>
        <dsp:cNvPr id="0" name=""/>
        <dsp:cNvSpPr/>
      </dsp:nvSpPr>
      <dsp:spPr>
        <a:xfrm>
          <a:off x="634408" y="3922066"/>
          <a:ext cx="2184539" cy="74964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Saturated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(saturation and Cutoff)</a:t>
          </a:r>
        </a:p>
      </dsp:txBody>
      <dsp:txXfrm>
        <a:off x="634408" y="3922066"/>
        <a:ext cx="2184539" cy="749641"/>
      </dsp:txXfrm>
    </dsp:sp>
    <dsp:sp modelId="{6C8B1E48-61F4-4B63-A75D-A36ADDF5C205}">
      <dsp:nvSpPr>
        <dsp:cNvPr id="0" name=""/>
        <dsp:cNvSpPr/>
      </dsp:nvSpPr>
      <dsp:spPr>
        <a:xfrm>
          <a:off x="3833912" y="3907219"/>
          <a:ext cx="2077691" cy="7766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Unsaturated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(Active &amp; Cutoff)</a:t>
          </a:r>
        </a:p>
      </dsp:txBody>
      <dsp:txXfrm>
        <a:off x="3833912" y="3907219"/>
        <a:ext cx="2077691" cy="7766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88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9175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8419EC9-4388-566E-8EF6-34768D4B6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A5B526A-97C2-118C-67CE-C5F9632888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D39519E-7FEB-A981-99A3-2B77424A70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35581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8168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D3CFD92-DBD5-9CE9-8076-C71A0BF71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E938920-FBB9-21FB-F4CF-3BA0C9517A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5EE7829-31C9-42D3-33D3-74E647B261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5182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4DD06FE-17D2-41F6-1ADB-9A1415FC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943682FE-BBD6-FDEE-F961-25C23B93A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1C59B81-7E94-8873-CB69-CE7838ED9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4204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A34C426-AE7E-8BFB-54AF-3F6F4B8D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8828F8A-7B00-F571-D69A-6D974CADE3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279B5E2-FA50-5DCA-D7E6-8BEA84031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7396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09B5338-094B-17BE-C4F5-0129D14DE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3C786CA-E966-C1D6-3B4D-6E57689DB8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94A3EC18-3E3D-728F-D0E2-D5D799B0E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56598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513FC4D-752B-AB36-7B10-10872CE9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77EB79E-A3BF-0261-0D19-D58F7DEBFB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4CA3153-36F7-2851-1269-91A4B9E20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14292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515064C-0046-A4AE-7864-9C2AB3226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E91984E-02FA-2EFD-A3DD-84AFF48FB4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5E09D86-3B00-0F8D-0146-0E4F71B27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183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D29F27A-2FDF-FDA9-DC7E-75C9F9AE0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16D4699-D600-D79E-1D61-0D873EF52D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6743C4E-B59D-202F-4AC8-921ECAC5DC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7108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07DF596-D1BA-4D0D-3E61-4ADCA13C8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CDFC955-800B-42C1-DBCC-FF338690C3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03ABE42-64B4-9C0C-D226-5A5B124849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1751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101B61B-333D-B018-A56F-7CBDA79B0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ED6B785-3036-78D6-1D7E-4DA45F3B98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F5385CB-EDFB-04B6-8FBA-45DA74FFA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25973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E7BC80F-ECB7-603C-1F60-BFE4748E9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973DE30-7BEC-8C85-4172-26439A063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AD4289D-04CC-0CB3-8876-55D892731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26816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F77158C-73A9-AC42-2772-39DC21373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9652952-A4DC-CA5F-BB70-6162B2292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0200D1D-F977-C140-E748-CDEF76D5A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3470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8EAA001-DAF2-E2A1-BA43-46068655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07D7788-0CF3-70C5-28B7-89C8228DD6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3A6669D-967E-2EAD-4068-8EDF1ED874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458201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B05C0AA-275D-5FB3-A9F8-72423FBCF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D2C58FE-FCBF-3521-13F7-B21F56A321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91412B74-FF2E-D7BE-3BDB-7FB200463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295527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B80A9A7-A621-6434-69C2-5F1FE534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449C1DA-8B04-59B6-20D9-82167DDDC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A73FA12-A70D-1665-B1DC-3EDE4982C4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13571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A0EE7EC-F3DB-5428-CB2D-231CEAD4A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B4076BA-4C7B-EBC9-4D02-B3ABC45C5E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2682B03-52A9-BC3A-8D63-F44C75928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26066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1.png"/><Relationship Id="rId7" Type="http://schemas.microsoft.com/office/2007/relationships/hdphoto" Target="../media/hdphoto4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3.wdp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6.wd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7.wd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8.wdp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microsoft.com/office/2007/relationships/hdphoto" Target="../media/hdphoto9.wdp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0.wdp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969952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751B0-7C0C-BD40-A434-E4822D159664}"/>
              </a:ext>
            </a:extLst>
          </p:cNvPr>
          <p:cNvSpPr txBox="1"/>
          <p:nvPr/>
        </p:nvSpPr>
        <p:spPr>
          <a:xfrm>
            <a:off x="6926825" y="5456700"/>
            <a:ext cx="52651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000" dirty="0"/>
              <a:t>Mail: </a:t>
            </a:r>
            <a:r>
              <a:rPr lang="en-US" sz="2000" dirty="0">
                <a:hlinkClick r:id="rId4"/>
              </a:rPr>
              <a:t>shomen.kundu@bracu.ac.bd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Desk: 4N166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1846E-60C5-B347-AC7F-8840DA80F15F}"/>
              </a:ext>
            </a:extLst>
          </p:cNvPr>
          <p:cNvSpPr txBox="1"/>
          <p:nvPr/>
        </p:nvSpPr>
        <p:spPr>
          <a:xfrm>
            <a:off x="4107426" y="2400899"/>
            <a:ext cx="3977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Diode Logic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F6537-9EB0-5129-AAB2-FD60564499EB}"/>
              </a:ext>
            </a:extLst>
          </p:cNvPr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Course Instructor</a:t>
            </a:r>
            <a:r>
              <a:rPr lang="en-US" sz="2000" b="1" dirty="0">
                <a:solidFill>
                  <a:schemeClr val="tx1"/>
                </a:solidFill>
              </a:rPr>
              <a:t>: </a:t>
            </a:r>
            <a:r>
              <a:rPr lang="en-US" sz="2000" dirty="0" err="1"/>
              <a:t>Shomen</a:t>
            </a:r>
            <a:r>
              <a:rPr lang="en-US" sz="2000" dirty="0"/>
              <a:t> Kundu (SDU)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Abstract of Logic Gate: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C0F85C-0619-700A-76AC-9AE8171C98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65916" y="1690688"/>
            <a:ext cx="6344684" cy="3632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7F62CB-908E-E877-4079-06434A38E587}"/>
              </a:ext>
            </a:extLst>
          </p:cNvPr>
          <p:cNvSpPr txBox="1"/>
          <p:nvPr/>
        </p:nvSpPr>
        <p:spPr>
          <a:xfrm>
            <a:off x="1700981" y="5403622"/>
            <a:ext cx="8308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This gates  are abstract, because they just represent logical operations.</a:t>
            </a:r>
          </a:p>
        </p:txBody>
      </p:sp>
    </p:spTree>
    <p:extLst>
      <p:ext uri="{BB962C8B-B14F-4D97-AF65-F5344CB8AC3E}">
        <p14:creationId xmlns:p14="http://schemas.microsoft.com/office/powerpoint/2010/main" val="3812692066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798871" y="525154"/>
            <a:ext cx="10776284" cy="5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Logic families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1C5A9A-4524-A2F1-667D-816417975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623" y="2319337"/>
            <a:ext cx="2850448" cy="2380482"/>
          </a:xfrm>
          <a:prstGeom prst="rect">
            <a:avLst/>
          </a:prstGeom>
        </p:spPr>
      </p:pic>
      <p:pic>
        <p:nvPicPr>
          <p:cNvPr id="1030" name="Picture 6" descr="CMOS Logic Gates Explained - ALL ABOUT ELECTRONICS">
            <a:extLst>
              <a:ext uri="{FF2B5EF4-FFF2-40B4-BE49-F238E27FC236}">
                <a16:creationId xmlns:a16="http://schemas.microsoft.com/office/drawing/2014/main" id="{6F16ECE5-6296-D956-1897-1F27B9260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478" y="2181685"/>
            <a:ext cx="2326359" cy="2632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B469E4-930A-F6F4-BB2C-B6B6F70912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4045" y="2806767"/>
            <a:ext cx="2108174" cy="164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6826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AEDDA31-1063-2B5D-6139-94ABFA4C5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E6F5892-6365-1DC3-BE12-FAEA78F76C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776284" cy="5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Logic families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52552D2D-61F0-EC4D-7733-6850E788D56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3C269E3-A7D0-0253-D2AC-02DEABBC18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D109F79F-9040-8862-836B-BADACB6F0D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910FB63-4DB7-6774-CA62-25A8EBCE76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58569"/>
              </p:ext>
            </p:extLst>
          </p:nvPr>
        </p:nvGraphicFramePr>
        <p:xfrm>
          <a:off x="412956" y="136525"/>
          <a:ext cx="10491018" cy="5517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221DCB-F5B2-4ECB-BF42-9A35E2E58CD4}"/>
              </a:ext>
            </a:extLst>
          </p:cNvPr>
          <p:cNvCxnSpPr>
            <a:cxnSpLocks/>
          </p:cNvCxnSpPr>
          <p:nvPr/>
        </p:nvCxnSpPr>
        <p:spPr>
          <a:xfrm>
            <a:off x="3372465" y="3254475"/>
            <a:ext cx="0" cy="4326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20E1FD-DB43-25D8-F55E-AD31E1938694}"/>
              </a:ext>
            </a:extLst>
          </p:cNvPr>
          <p:cNvCxnSpPr>
            <a:cxnSpLocks/>
          </p:cNvCxnSpPr>
          <p:nvPr/>
        </p:nvCxnSpPr>
        <p:spPr>
          <a:xfrm flipH="1">
            <a:off x="1818967" y="3687094"/>
            <a:ext cx="3313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6966EC-D0BB-FBF8-AE47-366CFBD9C576}"/>
              </a:ext>
            </a:extLst>
          </p:cNvPr>
          <p:cNvCxnSpPr>
            <a:cxnSpLocks/>
          </p:cNvCxnSpPr>
          <p:nvPr/>
        </p:nvCxnSpPr>
        <p:spPr>
          <a:xfrm>
            <a:off x="1818967" y="3687094"/>
            <a:ext cx="0" cy="344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2B3827-F9AC-462B-6CA9-D1AEBA8BD153}"/>
              </a:ext>
            </a:extLst>
          </p:cNvPr>
          <p:cNvCxnSpPr>
            <a:cxnSpLocks/>
          </p:cNvCxnSpPr>
          <p:nvPr/>
        </p:nvCxnSpPr>
        <p:spPr>
          <a:xfrm>
            <a:off x="5132441" y="3687093"/>
            <a:ext cx="0" cy="344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035962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Logic families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5CFF9-CB9A-83E0-36F1-918A93FAF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687665" cy="4721789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en-US" dirty="0"/>
              <a:t> </a:t>
            </a:r>
            <a:r>
              <a:rPr lang="en-US" sz="2200" b="1" dirty="0">
                <a:solidFill>
                  <a:schemeClr val="tx1"/>
                </a:solidFill>
              </a:rPr>
              <a:t>Saturated Logic Family: </a:t>
            </a:r>
            <a:r>
              <a:rPr lang="en-US" sz="2200" dirty="0"/>
              <a:t>Uses Saturation &amp; Cutoff region of a BJT for implementation of logic states.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Resistor Transistor Logic (RTL)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Diode Transistor Logic (DTL)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Direct Coupled Transistor Logic (DCTL)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Integrated Injection Logic (IIL)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High Threshold Logic (HTL)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Transistor-Transistor Logic (TTL)</a:t>
            </a:r>
          </a:p>
          <a:p>
            <a:pPr marL="571500" lvl="1" indent="0">
              <a:buNone/>
            </a:pPr>
            <a:endParaRPr lang="en-US" sz="2200" dirty="0"/>
          </a:p>
          <a:p>
            <a:pPr marL="11430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Unsaturated Logic Family: </a:t>
            </a:r>
            <a:r>
              <a:rPr lang="en-US" sz="2200" dirty="0"/>
              <a:t>Uses Active &amp; Cutoff region of a BJT for implementation of logic states.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Schottky TTL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Emitter Coupled Logic (ECL)</a:t>
            </a:r>
          </a:p>
          <a:p>
            <a:pPr marL="11430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862133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51FB954-4413-7294-E689-EB8367865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97AF3CA-3E75-E27D-B102-B5E33791C0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Logic families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1DC4D09-A77F-582D-03B3-778EF5B3C1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82A30EF-F1B1-6AED-4611-E4DC9E3915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3C65E82-FF54-F74C-0D80-5A015E8B7A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AEC67-61E3-42C1-DBC6-AF4738A8C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 </a:t>
            </a:r>
            <a:r>
              <a:rPr lang="en-US" sz="2200" b="1" dirty="0">
                <a:solidFill>
                  <a:schemeClr val="tx1"/>
                </a:solidFill>
              </a:rPr>
              <a:t>Unipolar Logic Family: </a:t>
            </a:r>
            <a:r>
              <a:rPr lang="en-US" sz="2200" dirty="0">
                <a:solidFill>
                  <a:schemeClr val="tx1"/>
                </a:solidFill>
              </a:rPr>
              <a:t>JFET, MOSFET etc. single charge carrier-based transistor logic families.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PMOS Logic Family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NMOS Logic Family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CMOS Logic Family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524272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A712EA8-E9F9-CB14-F8B5-8852218CB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1BF1CE3-ECED-D14C-2D33-E5A1A05402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F2F1401-41B3-D6E5-4F87-0AE31DD806D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EAC8314-09D5-2A91-EDCC-B031025AAB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7F89636-940C-80B5-BF94-1CF2B1392F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3A028-1EB7-4082-2FA5-A6A973C1A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OR gate and </a:t>
            </a:r>
            <a:r>
              <a:rPr lang="en-US" dirty="0" err="1"/>
              <a:t>AND</a:t>
            </a:r>
            <a:r>
              <a:rPr lang="en-US" dirty="0"/>
              <a:t> gate</a:t>
            </a:r>
            <a:br>
              <a:rPr lang="en-US" dirty="0"/>
            </a:br>
            <a:r>
              <a:rPr lang="en-US" dirty="0"/>
              <a:t>Design Techniques,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For each input we need a </a:t>
            </a:r>
            <a:r>
              <a:rPr lang="en-US" sz="2400" b="1" dirty="0"/>
              <a:t>series resistance</a:t>
            </a:r>
            <a:r>
              <a:rPr lang="en-US" sz="2400" dirty="0"/>
              <a:t> and a </a:t>
            </a:r>
            <a:r>
              <a:rPr lang="en-US" sz="2400" b="1" dirty="0"/>
              <a:t>diode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Output will be connected with GND or VDD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For OR gate output will be connected to the GND via </a:t>
            </a:r>
            <a:r>
              <a:rPr lang="en-US" sz="2400" b="1" dirty="0"/>
              <a:t>pull down </a:t>
            </a:r>
            <a:r>
              <a:rPr lang="en-US" sz="2400" dirty="0"/>
              <a:t>resistance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For AND gate output will be connected to the VDD via </a:t>
            </a:r>
            <a:r>
              <a:rPr lang="en-US" sz="2400" b="1" dirty="0"/>
              <a:t>pull up </a:t>
            </a:r>
            <a:r>
              <a:rPr lang="en-US" sz="2400" dirty="0"/>
              <a:t>resistance.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Series resistance will be small.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Pull up / Pull down resistance will be large.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894382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2807342-2D7D-6D2F-1A62-4804659E4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F30B06C-4687-7548-FF22-7B04BD5922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D5511EE-F765-E27A-6548-E1683554AF2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0D95B20-C196-83E3-45D3-6661F1A191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73C884E-F5B9-C07C-BE60-044C157DB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E65EC3-48F3-ADD2-3AB0-4102B036B51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6" y="1376515"/>
                <a:ext cx="10586884" cy="4721789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b="1" dirty="0"/>
                  <a:t>OR Gate</a:t>
                </a:r>
              </a:p>
              <a:p>
                <a:pPr marL="114300" indent="0">
                  <a:buNone/>
                </a:pPr>
                <a:r>
                  <a:rPr lang="en-US" dirty="0"/>
                  <a:t>Series and pull down </a:t>
                </a:r>
              </a:p>
              <a:p>
                <a:pPr marL="1143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resistance can be chosen as</a:t>
                </a:r>
              </a:p>
              <a:p>
                <a:pPr marL="1143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𝛀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𝒑𝒅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𝛀</m:t>
                      </m:r>
                    </m:oMath>
                  </m:oMathPara>
                </a14:m>
                <a:endParaRPr lang="en-US" b="1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E65EC3-48F3-ADD2-3AB0-4102B036B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6" y="1376515"/>
                <a:ext cx="10586884" cy="4721789"/>
              </a:xfrm>
              <a:blipFill>
                <a:blip r:embed="rId4"/>
                <a:stretch>
                  <a:fillRect l="-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4C509D2-6BE5-DC04-5DC0-CF0A7ED56E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18328" y="1395129"/>
            <a:ext cx="5755082" cy="378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3422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1322E03-1410-B3A5-2404-7F5435E7D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7315716-804C-2782-0646-A2FA1FDBC9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DB0C273-C463-D2D2-DF9E-310246090A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F99528B-087F-0129-B4B8-626A45C8B9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177E34B3-8164-5654-CB2D-531F23C89B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B4C2D-75AA-DF33-F4A2-1E9264C32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Two input OR Gate</a:t>
            </a:r>
          </a:p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F20C14-2031-A886-D810-535F2212C6B4}"/>
              </a:ext>
            </a:extLst>
          </p:cNvPr>
          <p:cNvGraphicFramePr>
            <a:graphicFrameLocks noGrp="1"/>
          </p:cNvGraphicFramePr>
          <p:nvPr/>
        </p:nvGraphicFramePr>
        <p:xfrm>
          <a:off x="6380300" y="1526007"/>
          <a:ext cx="4959438" cy="31616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6573">
                  <a:extLst>
                    <a:ext uri="{9D8B030D-6E8A-4147-A177-3AD203B41FA5}">
                      <a16:colId xmlns:a16="http://schemas.microsoft.com/office/drawing/2014/main" val="1132275219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191184497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1177790703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88843274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3952961742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2824518980"/>
                    </a:ext>
                  </a:extLst>
                </a:gridCol>
              </a:tblGrid>
              <a:tr h="632333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181821"/>
                  </a:ext>
                </a:extLst>
              </a:tr>
              <a:tr h="63233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974969"/>
                  </a:ext>
                </a:extLst>
              </a:tr>
              <a:tr h="63233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441111"/>
                  </a:ext>
                </a:extLst>
              </a:tr>
              <a:tr h="63233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125093"/>
                  </a:ext>
                </a:extLst>
              </a:tr>
              <a:tr h="63233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7894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A6223BA-FF63-5AC1-F229-12BC694E524E}"/>
              </a:ext>
            </a:extLst>
          </p:cNvPr>
          <p:cNvSpPr txBox="1"/>
          <p:nvPr/>
        </p:nvSpPr>
        <p:spPr>
          <a:xfrm>
            <a:off x="1801998" y="5403621"/>
            <a:ext cx="9623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Assume: Logic 1 means 5 V on input side. Logic 0 means 0 voltage/GND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481D86-58F1-DEB1-7B83-FA37E2DFF8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6668" y="2058777"/>
            <a:ext cx="4578715" cy="274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2946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0658817-D3CF-7848-7779-4DAE4BE6E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1393650E-159E-EC2D-1A21-CDBCAEC126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E0E5CA60-AB38-CFCA-F807-958C3F93E30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5413DBC-F99E-EA10-1E13-31D07ED6C2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39E86CD3-5BAF-A84F-AB85-557CC7E2C4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7D1FA-2B27-0601-7DCF-EE9FEC549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>
                <a:solidFill>
                  <a:srgbClr val="0070C0"/>
                </a:solidFill>
              </a:rPr>
              <a:t>Case 1:   </a:t>
            </a:r>
            <a:r>
              <a:rPr lang="en-US" sz="2400" dirty="0"/>
              <a:t>A = 0, B = 0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1AD302-D438-CB68-77D5-CD807C854F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34178" y="708705"/>
            <a:ext cx="4291170" cy="25683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D8276C-B7B9-1B03-EC12-F7BFC97FE531}"/>
              </a:ext>
            </a:extLst>
          </p:cNvPr>
          <p:cNvSpPr txBox="1"/>
          <p:nvPr/>
        </p:nvSpPr>
        <p:spPr>
          <a:xfrm>
            <a:off x="866085" y="2167749"/>
            <a:ext cx="63285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thing to check whether diodes are on or off.</a:t>
            </a:r>
          </a:p>
          <a:p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need at least 0.7 V to turn on any diode.</a:t>
            </a:r>
          </a:p>
          <a:p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D1 and D2 are OFF.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7CF36F-63FF-8044-D420-21ADC81133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19373" y="3209936"/>
            <a:ext cx="4175284" cy="25523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8E2161-B6C4-0E76-FA9D-3F12B4A158B6}"/>
                  </a:ext>
                </a:extLst>
              </p:cNvPr>
              <p:cNvSpPr txBox="1"/>
              <p:nvPr/>
            </p:nvSpPr>
            <p:spPr>
              <a:xfrm>
                <a:off x="1724628" y="4132162"/>
                <a:ext cx="4096069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𝑉𝑜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−0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𝑅𝐿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 =&gt;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𝑉𝑜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8E2161-B6C4-0E76-FA9D-3F12B4A15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628" y="4132162"/>
                <a:ext cx="4096069" cy="5761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4B8F30-49C6-66F5-012D-B97ABF7E7F99}"/>
                  </a:ext>
                </a:extLst>
              </p:cNvPr>
              <p:cNvSpPr txBox="1"/>
              <p:nvPr/>
            </p:nvSpPr>
            <p:spPr>
              <a:xfrm>
                <a:off x="2565718" y="5035544"/>
                <a:ext cx="16156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 (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𝑙𝑜𝑔𝑖𝑐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4B8F30-49C6-66F5-012D-B97ABF7E7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718" y="5035544"/>
                <a:ext cx="1615635" cy="307777"/>
              </a:xfrm>
              <a:prstGeom prst="rect">
                <a:avLst/>
              </a:prstGeom>
              <a:blipFill>
                <a:blip r:embed="rId9"/>
                <a:stretch>
                  <a:fillRect l="-3019" r="-4906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5866878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54C87CC8-E568-4DC0-3FC6-1D64D6A5E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69190FE-4B10-CFF5-1A5E-E2F94A5032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B4BCB19-C9CB-25FF-D827-DC577E8A6D5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C31521A-28FF-AEB1-2DD8-EF512DAB94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713F585-DA2C-7AFF-C103-E1FA523D71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2D8B1-2357-2C94-70A3-343053072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Case 2:   </a:t>
            </a:r>
            <a:r>
              <a:rPr lang="en-US" sz="2400" dirty="0"/>
              <a:t>A = 0, B = 1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D0A850-03F1-776F-A824-19ED92965BBC}"/>
              </a:ext>
            </a:extLst>
          </p:cNvPr>
          <p:cNvSpPr txBox="1"/>
          <p:nvPr/>
        </p:nvSpPr>
        <p:spPr>
          <a:xfrm>
            <a:off x="875439" y="2101480"/>
            <a:ext cx="53590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thing to check whether diodes are on or off.</a:t>
            </a:r>
          </a:p>
          <a:p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Here: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D1 will be OFF and D2 will be 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30289D-D591-309C-659E-7D5962BBDB1E}"/>
                  </a:ext>
                </a:extLst>
              </p:cNvPr>
              <p:cNvSpPr txBox="1"/>
              <p:nvPr/>
            </p:nvSpPr>
            <p:spPr>
              <a:xfrm>
                <a:off x="2187499" y="4786206"/>
                <a:ext cx="16861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𝒍𝒐𝒈𝒊𝒄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30289D-D591-309C-659E-7D5962BBD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499" y="4786206"/>
                <a:ext cx="1686167" cy="307777"/>
              </a:xfrm>
              <a:prstGeom prst="rect">
                <a:avLst/>
              </a:prstGeom>
              <a:blipFill>
                <a:blip r:embed="rId4"/>
                <a:stretch>
                  <a:fillRect l="-2899" r="-5072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4472CD5-33FC-5352-CC06-405E3134BF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15456" y="1678330"/>
            <a:ext cx="5143674" cy="34737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F63907-BD21-88A1-6692-850D043237CA}"/>
                  </a:ext>
                </a:extLst>
              </p:cNvPr>
              <p:cNvSpPr txBox="1"/>
              <p:nvPr/>
            </p:nvSpPr>
            <p:spPr>
              <a:xfrm>
                <a:off x="1096668" y="3642209"/>
                <a:ext cx="5736751" cy="689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𝑽𝒐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𝑽𝒐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d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=&gt;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𝑽𝒐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𝟐𝟖𝟗𝟑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F63907-BD21-88A1-6692-850D04323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668" y="3642209"/>
                <a:ext cx="5736751" cy="6896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5038864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4117EE6-3539-627D-7CB7-CFB67DF45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CD1C695-A0AB-E434-BA1D-CF56018B6F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B26F4F4-FBA6-46D0-D95D-D20D4596259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B5BDAB5-963B-A949-A6E4-5BAC6E5C2B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9C2A0AF-2ECE-F573-429B-0868396BDD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0C715-23F0-7154-72D5-3EC44E7F0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Case 3:   </a:t>
            </a:r>
            <a:r>
              <a:rPr lang="en-US" sz="2400" dirty="0"/>
              <a:t>A = 1, B = 0 ( symmetrical to case 1 )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89800-463F-13A1-E489-62AF5F23AE8E}"/>
              </a:ext>
            </a:extLst>
          </p:cNvPr>
          <p:cNvSpPr txBox="1"/>
          <p:nvPr/>
        </p:nvSpPr>
        <p:spPr>
          <a:xfrm>
            <a:off x="1090863" y="2069432"/>
            <a:ext cx="47358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thing to check whether diodes are on or off.</a:t>
            </a:r>
          </a:p>
          <a:p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Here: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D1 will be ON and D2 will be 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900C13-29B5-9B47-1761-A0E3E2B37E48}"/>
                  </a:ext>
                </a:extLst>
              </p:cNvPr>
              <p:cNvSpPr txBox="1"/>
              <p:nvPr/>
            </p:nvSpPr>
            <p:spPr>
              <a:xfrm>
                <a:off x="2169812" y="4749860"/>
                <a:ext cx="16861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𝒍𝒐𝒈𝒊𝒄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900C13-29B5-9B47-1761-A0E3E2B37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812" y="4749860"/>
                <a:ext cx="1686167" cy="307777"/>
              </a:xfrm>
              <a:prstGeom prst="rect">
                <a:avLst/>
              </a:prstGeom>
              <a:blipFill>
                <a:blip r:embed="rId4"/>
                <a:stretch>
                  <a:fillRect l="-2888" r="-4693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FA24A2-BBC8-8604-73D5-CCB7E0DF9077}"/>
                  </a:ext>
                </a:extLst>
              </p:cNvPr>
              <p:cNvSpPr txBox="1"/>
              <p:nvPr/>
            </p:nvSpPr>
            <p:spPr>
              <a:xfrm>
                <a:off x="554403" y="3710341"/>
                <a:ext cx="6691993" cy="689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𝑽𝒐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𝑽𝒐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d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=&gt;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𝑽𝒐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𝟐𝟖𝟗𝟑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FA24A2-BBC8-8604-73D5-CCB7E0D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03" y="3710341"/>
                <a:ext cx="6691993" cy="6896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B0A6531-8636-E33F-B72F-5C06E7A9DD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79579" y="2069433"/>
            <a:ext cx="5350835" cy="333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71505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0C9A9C9-37D1-288D-8E6C-E20B5627A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0FFC1D8-4A9D-DD63-3E2A-B4AEC33D3A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74AFF98-8CAF-C7E4-CE17-66531908A78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B7820944-2307-2566-FBA9-A2843450D7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A33C2AE7-8B0D-77A8-1E3F-669305642D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E5740-1BF2-1952-7532-FC8921C61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Case 4:   </a:t>
            </a:r>
            <a:r>
              <a:rPr lang="en-US" sz="2400" dirty="0"/>
              <a:t>A = 1, B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0A966-E12A-1FF9-8BC0-5AF28E3C3B32}"/>
              </a:ext>
            </a:extLst>
          </p:cNvPr>
          <p:cNvSpPr txBox="1"/>
          <p:nvPr/>
        </p:nvSpPr>
        <p:spPr>
          <a:xfrm>
            <a:off x="1090863" y="2069432"/>
            <a:ext cx="5132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thing to check whether diodes are on or off.</a:t>
            </a:r>
          </a:p>
          <a:p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Here: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D1 will be ON and D2 will be 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6F7FB4-C42D-7A64-F0DC-1D8767202F21}"/>
                  </a:ext>
                </a:extLst>
              </p:cNvPr>
              <p:cNvSpPr txBox="1"/>
              <p:nvPr/>
            </p:nvSpPr>
            <p:spPr>
              <a:xfrm>
                <a:off x="1975933" y="5628589"/>
                <a:ext cx="16861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𝒍𝒐𝒈𝒊𝒄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6F7FB4-C42D-7A64-F0DC-1D8767202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933" y="5628589"/>
                <a:ext cx="1686167" cy="307777"/>
              </a:xfrm>
              <a:prstGeom prst="rect">
                <a:avLst/>
              </a:prstGeom>
              <a:blipFill>
                <a:blip r:embed="rId4"/>
                <a:stretch>
                  <a:fillRect l="-2527" r="-4693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872789D-9B05-510B-A26E-0BF70233CB4B}"/>
                  </a:ext>
                </a:extLst>
              </p:cNvPr>
              <p:cNvSpPr txBox="1"/>
              <p:nvPr/>
            </p:nvSpPr>
            <p:spPr>
              <a:xfrm>
                <a:off x="610306" y="4065769"/>
                <a:ext cx="6094070" cy="997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𝑉𝑜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100 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𝑉𝑜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+0.7</m:t>
                              </m:r>
                            </m:e>
                          </m:d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0.25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𝑉𝑜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+0.7</m:t>
                              </m:r>
                            </m:e>
                          </m:d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0.25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0">
                          <a:latin typeface="Cambria Math" panose="02040503050406030204" pitchFamily="18" charset="0"/>
                        </a:rPr>
                        <m:t>=&gt;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𝑉𝑜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=4.2946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872789D-9B05-510B-A26E-0BF70233C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06" y="4065769"/>
                <a:ext cx="6094070" cy="9974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355E25E-D163-AA7F-9468-680CC511FC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57547" y="1493133"/>
            <a:ext cx="5791993" cy="369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94330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5610173-BB66-5E61-35EE-2F5019E9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A4F14B11-75BA-3148-9BF3-3B9D4AE1EC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1114A16-49D6-4150-E1DD-3BD4185D162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630D0B98-FB09-BD8A-22D4-BD328E17B4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28F964D-B70F-D8E6-1754-A9834F70A4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2EC47-EB95-DA50-3FCC-10BFA423E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Two input OR Gate Findings</a:t>
            </a:r>
          </a:p>
          <a:p>
            <a:pPr marL="114300" indent="0">
              <a:buNone/>
            </a:pPr>
            <a:r>
              <a:rPr lang="en-US" dirty="0"/>
              <a:t>#4.28 V , 4.29 V</a:t>
            </a:r>
          </a:p>
          <a:p>
            <a:pPr marL="114300" indent="0">
              <a:buNone/>
            </a:pPr>
            <a:r>
              <a:rPr lang="en-US" dirty="0"/>
              <a:t># logical High and Low can be </a:t>
            </a:r>
          </a:p>
          <a:p>
            <a:pPr marL="114300" indent="0">
              <a:buNone/>
            </a:pPr>
            <a:r>
              <a:rPr lang="en-US" dirty="0"/>
              <a:t>Different at input and output side</a:t>
            </a:r>
          </a:p>
          <a:p>
            <a:pPr marL="114300" indent="0">
              <a:buNone/>
            </a:pPr>
            <a:r>
              <a:rPr lang="en-US" dirty="0"/>
              <a:t>VOH = 4.28 V</a:t>
            </a:r>
          </a:p>
          <a:p>
            <a:pPr marL="114300" indent="0">
              <a:buNone/>
            </a:pPr>
            <a:r>
              <a:rPr lang="en-US" dirty="0"/>
              <a:t> ( lowest of the outputs values </a:t>
            </a:r>
          </a:p>
          <a:p>
            <a:pPr marL="114300" indent="0">
              <a:buNone/>
            </a:pPr>
            <a:r>
              <a:rPr lang="en-US" dirty="0"/>
              <a:t>that can be considered as logic 1 )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6D407A3-8F31-D2CF-EABD-F2969BBC7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207357"/>
              </p:ext>
            </p:extLst>
          </p:nvPr>
        </p:nvGraphicFramePr>
        <p:xfrm>
          <a:off x="6132247" y="1256189"/>
          <a:ext cx="5243736" cy="3953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3956">
                  <a:extLst>
                    <a:ext uri="{9D8B030D-6E8A-4147-A177-3AD203B41FA5}">
                      <a16:colId xmlns:a16="http://schemas.microsoft.com/office/drawing/2014/main" val="1132275219"/>
                    </a:ext>
                  </a:extLst>
                </a:gridCol>
                <a:gridCol w="873956">
                  <a:extLst>
                    <a:ext uri="{9D8B030D-6E8A-4147-A177-3AD203B41FA5}">
                      <a16:colId xmlns:a16="http://schemas.microsoft.com/office/drawing/2014/main" val="191184497"/>
                    </a:ext>
                  </a:extLst>
                </a:gridCol>
                <a:gridCol w="873956">
                  <a:extLst>
                    <a:ext uri="{9D8B030D-6E8A-4147-A177-3AD203B41FA5}">
                      <a16:colId xmlns:a16="http://schemas.microsoft.com/office/drawing/2014/main" val="1177790703"/>
                    </a:ext>
                  </a:extLst>
                </a:gridCol>
                <a:gridCol w="873956">
                  <a:extLst>
                    <a:ext uri="{9D8B030D-6E8A-4147-A177-3AD203B41FA5}">
                      <a16:colId xmlns:a16="http://schemas.microsoft.com/office/drawing/2014/main" val="88843274"/>
                    </a:ext>
                  </a:extLst>
                </a:gridCol>
                <a:gridCol w="1161057">
                  <a:extLst>
                    <a:ext uri="{9D8B030D-6E8A-4147-A177-3AD203B41FA5}">
                      <a16:colId xmlns:a16="http://schemas.microsoft.com/office/drawing/2014/main" val="3952961742"/>
                    </a:ext>
                  </a:extLst>
                </a:gridCol>
                <a:gridCol w="586855">
                  <a:extLst>
                    <a:ext uri="{9D8B030D-6E8A-4147-A177-3AD203B41FA5}">
                      <a16:colId xmlns:a16="http://schemas.microsoft.com/office/drawing/2014/main" val="2824518980"/>
                    </a:ext>
                  </a:extLst>
                </a:gridCol>
              </a:tblGrid>
              <a:tr h="639524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181821"/>
                  </a:ext>
                </a:extLst>
              </a:tr>
              <a:tr h="63952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974969"/>
                  </a:ext>
                </a:extLst>
              </a:tr>
              <a:tr h="101727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4.2893V</a:t>
                      </a:r>
                    </a:p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441111"/>
                  </a:ext>
                </a:extLst>
              </a:tr>
              <a:tr h="101727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4.2893V</a:t>
                      </a:r>
                    </a:p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125093"/>
                  </a:ext>
                </a:extLst>
              </a:tr>
              <a:tr h="63952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4.2946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789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590026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547CFCE-728C-6E06-288E-2FFD64F6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1340743-D8E3-87F3-4B95-3CB0814214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Power Dissipation Calculation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7E91256-2238-E7A3-C003-9910C534A9B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399EBB9-A834-C190-ABBE-685EE52C50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721C1D7-BDCC-099D-3168-4EAA6CE121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BBA43-D4FF-8B95-1BEA-FC065639B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Theory: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316B6B-3A0F-0668-B483-616A39FF4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557" y="1376515"/>
            <a:ext cx="5833641" cy="472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81095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8D2F09B-EBB9-0616-2FAA-340A31CBF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451697A-4674-5FDE-8AC5-EF03BE21E6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Max Power Dissipation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095EB6B-DC47-3294-BC92-844D95056D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C82D846-7805-1EB8-1E1A-5AF164B83F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B6FEBC6-65FF-8C8A-5AC4-D338ABEC0C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55A8C-4DF7-5EC2-81DD-1388D4EC9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Example: </a:t>
            </a:r>
            <a:r>
              <a:rPr lang="en-US" dirty="0"/>
              <a:t>Find the max power dissipation of the given circuit.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2499B7-327D-EAB3-ECDF-23B966FF52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95739" y="2663176"/>
            <a:ext cx="4578715" cy="274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68546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0FFF85C-BBE3-4360-3936-51C4221C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A0C6B89-E6D9-2BAC-CF79-D7817E3D6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Max Power Dissipation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B1268E6-1925-8707-495F-A1D9A83B044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DE3B057-B885-A187-9112-6D1226BCB0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5328C76-3F5D-ED1E-0BD2-664D34F277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A599E-ED71-70AF-1B67-695944B00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Max power dissipation will be in the case 4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E01B6C-4C65-584C-493F-4C10FFB7B540}"/>
                  </a:ext>
                </a:extLst>
              </p:cNvPr>
              <p:cNvSpPr txBox="1"/>
              <p:nvPr/>
            </p:nvSpPr>
            <p:spPr>
              <a:xfrm>
                <a:off x="353993" y="2574035"/>
                <a:ext cx="5742007" cy="315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𝟒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𝟐𝟗𝟒𝟔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𝑽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−( </m:t>
                          </m:r>
                          <m:sSub>
                            <m:sSubPr>
                              <m:ctrlPr>
                                <a:rPr lang="en-US" sz="20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𝟕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𝟐𝟓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𝟎𝟐𝟏𝟔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𝒎𝑨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1" i="1" kern="10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kern="10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kern="10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num>
                        <m:den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𝟏𝟎𝟎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𝟎𝟒𝟐𝟗𝟒𝟔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𝒎𝑨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 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𝟐𝟏𝟔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𝒎𝑾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b="1" i="1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</m:t>
                        </m:r>
                        <m: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</m:t>
                    </m:r>
                    <m:sSub>
                      <m:sSubPr>
                        <m:ctrlP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𝒊</m:t>
                        </m:r>
                      </m:e>
                      <m:sub>
                        <m: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𝟐𝟏𝟔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𝒎𝑾</m:t>
                    </m:r>
                  </m:oMath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E01B6C-4C65-584C-493F-4C10FFB7B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93" y="2574035"/>
                <a:ext cx="5742007" cy="3153940"/>
              </a:xfrm>
              <a:prstGeom prst="rect">
                <a:avLst/>
              </a:prstGeom>
              <a:blipFill>
                <a:blip r:embed="rId4"/>
                <a:stretch>
                  <a:fillRect l="-1062" b="-2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B919986-2FAC-66BD-0E8C-15307FE65A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rcRect t="1590" r="15168"/>
          <a:stretch/>
        </p:blipFill>
        <p:spPr>
          <a:xfrm>
            <a:off x="6306165" y="2236695"/>
            <a:ext cx="5187745" cy="329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22406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17F1146-4D73-5BA9-D28E-63DC60912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54E3F65-04EC-0274-0148-06C0DE1135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374B998-1D9F-BBDF-4663-8FB00FB9E66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8E7A71A0-2675-6BC3-5FFB-DE0901A5B4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F2A179F-22AF-165A-27D2-E2ECB4B94B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347B3-23A6-39B3-1432-5A900E439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AND gate: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0EF40B-2CD9-B9D3-73A8-73372673B8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84516" y="1222034"/>
            <a:ext cx="5249186" cy="404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04745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773AA72-57B4-A6AC-85E1-4A4A0D35E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D1B0847-8594-676A-826B-C8FD243ACA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FEF1573-EF55-6E96-CFF7-652BAD8CFE9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743DEA3-D66D-C70D-61C3-2F48C14C74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0B40B077-8A90-7246-794D-2E81455EB4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599F5-69A5-52BD-4F57-1CE3A8BDD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Exercise: </a:t>
            </a:r>
            <a:r>
              <a:rPr lang="en-US" dirty="0"/>
              <a:t>Analysis the four possible input and fill the table. Also find the V</a:t>
            </a:r>
            <a:r>
              <a:rPr lang="en-US" baseline="-25000" dirty="0"/>
              <a:t>OL</a:t>
            </a:r>
            <a:r>
              <a:rPr lang="en-US" dirty="0"/>
              <a:t> for this circuit.</a:t>
            </a:r>
          </a:p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0362FF-7FDF-E869-A820-F7A74776D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217660"/>
              </p:ext>
            </p:extLst>
          </p:nvPr>
        </p:nvGraphicFramePr>
        <p:xfrm>
          <a:off x="1096668" y="2343296"/>
          <a:ext cx="4858470" cy="32584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9745">
                  <a:extLst>
                    <a:ext uri="{9D8B030D-6E8A-4147-A177-3AD203B41FA5}">
                      <a16:colId xmlns:a16="http://schemas.microsoft.com/office/drawing/2014/main" val="1132275219"/>
                    </a:ext>
                  </a:extLst>
                </a:gridCol>
                <a:gridCol w="809745">
                  <a:extLst>
                    <a:ext uri="{9D8B030D-6E8A-4147-A177-3AD203B41FA5}">
                      <a16:colId xmlns:a16="http://schemas.microsoft.com/office/drawing/2014/main" val="191184497"/>
                    </a:ext>
                  </a:extLst>
                </a:gridCol>
                <a:gridCol w="809745">
                  <a:extLst>
                    <a:ext uri="{9D8B030D-6E8A-4147-A177-3AD203B41FA5}">
                      <a16:colId xmlns:a16="http://schemas.microsoft.com/office/drawing/2014/main" val="1177790703"/>
                    </a:ext>
                  </a:extLst>
                </a:gridCol>
                <a:gridCol w="809745">
                  <a:extLst>
                    <a:ext uri="{9D8B030D-6E8A-4147-A177-3AD203B41FA5}">
                      <a16:colId xmlns:a16="http://schemas.microsoft.com/office/drawing/2014/main" val="88843274"/>
                    </a:ext>
                  </a:extLst>
                </a:gridCol>
                <a:gridCol w="1075752">
                  <a:extLst>
                    <a:ext uri="{9D8B030D-6E8A-4147-A177-3AD203B41FA5}">
                      <a16:colId xmlns:a16="http://schemas.microsoft.com/office/drawing/2014/main" val="3952961742"/>
                    </a:ext>
                  </a:extLst>
                </a:gridCol>
                <a:gridCol w="543738">
                  <a:extLst>
                    <a:ext uri="{9D8B030D-6E8A-4147-A177-3AD203B41FA5}">
                      <a16:colId xmlns:a16="http://schemas.microsoft.com/office/drawing/2014/main" val="2824518980"/>
                    </a:ext>
                  </a:extLst>
                </a:gridCol>
              </a:tblGrid>
              <a:tr h="527141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181821"/>
                  </a:ext>
                </a:extLst>
              </a:tr>
              <a:tr h="52714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974969"/>
                  </a:ext>
                </a:extLst>
              </a:tr>
              <a:tr h="83851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441111"/>
                  </a:ext>
                </a:extLst>
              </a:tr>
              <a:tr h="83851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125093"/>
                  </a:ext>
                </a:extLst>
              </a:tr>
              <a:tr h="52714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78947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4B413BA-D034-DE50-A864-327F112BBC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30879" y="2222722"/>
            <a:ext cx="5419184" cy="33790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A8DA7D-1155-5402-CAF2-AABEA2EC99FD}"/>
              </a:ext>
            </a:extLst>
          </p:cNvPr>
          <p:cNvSpPr txBox="1"/>
          <p:nvPr/>
        </p:nvSpPr>
        <p:spPr>
          <a:xfrm>
            <a:off x="1507958" y="5839326"/>
            <a:ext cx="9845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Hints: Logical low voltage at the output side --</a:t>
            </a:r>
            <a:r>
              <a:rPr lang="en-US" dirty="0">
                <a:sym typeface="Wingdings" panose="05000000000000000000" pitchFamily="2" charset="2"/>
              </a:rPr>
              <a:t> Highest voltage for which the output is considered to be 0 or logic low.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012679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E8C1948-F43E-982E-F869-28C693D62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D5F8FC6-8F5E-DEA3-CDE0-6EEC67801F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0E1BC24-25DB-2FB3-CD6E-A93E801DBE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276120B-2C90-B081-A4EB-BE8318CFC5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C3F5C183-5DE2-F68A-2072-DA46A03849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4CC1DA-B18A-196A-0862-FC7864192E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Try yourself,</a:t>
                </a:r>
              </a:p>
              <a:p>
                <a:pPr marL="114300" indent="0">
                  <a:buNone/>
                </a:pPr>
                <a:r>
                  <a:rPr lang="en-US" dirty="0"/>
                  <a:t>1.  Design a logic circuit,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/>
                  <a:t> using diode logic.</a:t>
                </a:r>
              </a:p>
              <a:p>
                <a:pPr marL="114300" indent="0">
                  <a:buNone/>
                </a:pPr>
                <a:r>
                  <a:rPr lang="en-US" dirty="0"/>
                  <a:t>2. For the given circuit find the maximum </a:t>
                </a:r>
              </a:p>
              <a:p>
                <a:pPr marL="114300" indent="0">
                  <a:buNone/>
                </a:pPr>
                <a:r>
                  <a:rPr lang="en-US" dirty="0"/>
                  <a:t>     power and average power.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4CC1DA-B18A-196A-0862-FC7864192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  <a:blipFill>
                <a:blip r:embed="rId4"/>
                <a:stretch>
                  <a:fillRect l="-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79593C8-74D2-D3A0-80F0-503249C3C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250" y="2703871"/>
            <a:ext cx="4778653" cy="297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09728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928</Words>
  <Application>Microsoft Office PowerPoint</Application>
  <PresentationFormat>Widescreen</PresentationFormat>
  <Paragraphs>229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 Math</vt:lpstr>
      <vt:lpstr>Times New Roman</vt:lpstr>
      <vt:lpstr>Wingdings</vt:lpstr>
      <vt:lpstr>Office Theme</vt:lpstr>
      <vt:lpstr>CSE 350 Digital Electronics and Pulse Techniques </vt:lpstr>
      <vt:lpstr>Abstract of Logic Gate:</vt:lpstr>
      <vt:lpstr>Logic families</vt:lpstr>
      <vt:lpstr>Logic families</vt:lpstr>
      <vt:lpstr>Logic families</vt:lpstr>
      <vt:lpstr>Logic families</vt:lpstr>
      <vt:lpstr>Diode logic</vt:lpstr>
      <vt:lpstr>Diode logic</vt:lpstr>
      <vt:lpstr>Diode logic</vt:lpstr>
      <vt:lpstr>Diode logic</vt:lpstr>
      <vt:lpstr>Diode logic</vt:lpstr>
      <vt:lpstr>Diode logic</vt:lpstr>
      <vt:lpstr>Diode logic</vt:lpstr>
      <vt:lpstr>Diode logic</vt:lpstr>
      <vt:lpstr>Power Dissipation Calculation</vt:lpstr>
      <vt:lpstr>Max Power Dissipation</vt:lpstr>
      <vt:lpstr>Max Power Dissipation</vt:lpstr>
      <vt:lpstr>Diode logic</vt:lpstr>
      <vt:lpstr>Diode logic</vt:lpstr>
      <vt:lpstr>Diode logic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nazmul turjo</dc:creator>
  <cp:lastModifiedBy>USER</cp:lastModifiedBy>
  <cp:revision>13</cp:revision>
  <dcterms:created xsi:type="dcterms:W3CDTF">2021-07-10T07:14:46Z</dcterms:created>
  <dcterms:modified xsi:type="dcterms:W3CDTF">2025-02-17T17:07:38Z</dcterms:modified>
</cp:coreProperties>
</file>