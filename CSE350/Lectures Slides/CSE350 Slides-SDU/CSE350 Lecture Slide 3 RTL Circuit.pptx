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0"/>
  </p:notesMasterIdLst>
  <p:sldIdLst>
    <p:sldId id="256" r:id="rId2"/>
    <p:sldId id="317" r:id="rId3"/>
    <p:sldId id="318" r:id="rId4"/>
    <p:sldId id="319" r:id="rId5"/>
    <p:sldId id="339" r:id="rId6"/>
    <p:sldId id="340" r:id="rId7"/>
    <p:sldId id="274" r:id="rId8"/>
    <p:sldId id="322" r:id="rId9"/>
    <p:sldId id="320" r:id="rId10"/>
    <p:sldId id="321" r:id="rId11"/>
    <p:sldId id="275" r:id="rId12"/>
    <p:sldId id="323" r:id="rId13"/>
    <p:sldId id="324" r:id="rId14"/>
    <p:sldId id="325" r:id="rId15"/>
    <p:sldId id="326" r:id="rId16"/>
    <p:sldId id="327" r:id="rId17"/>
    <p:sldId id="328" r:id="rId18"/>
    <p:sldId id="329" r:id="rId19"/>
    <p:sldId id="334" r:id="rId20"/>
    <p:sldId id="341" r:id="rId21"/>
    <p:sldId id="335" r:id="rId22"/>
    <p:sldId id="330" r:id="rId23"/>
    <p:sldId id="331" r:id="rId24"/>
    <p:sldId id="332" r:id="rId25"/>
    <p:sldId id="333" r:id="rId26"/>
    <p:sldId id="336" r:id="rId27"/>
    <p:sldId id="337" r:id="rId28"/>
    <p:sldId id="338" r:id="rId29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4" roundtripDataSignature="AMtx7mgOP7mpHQ9vA4PFHviNNnNqE8hH7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6FA7CD0-2ED7-4127-A139-062385FC596B}">
  <a:tblStyle styleId="{E6FA7CD0-2ED7-4127-A139-062385FC596B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BF5"/>
          </a:solidFill>
        </a:fill>
      </a:tcStyle>
    </a:wholeTbl>
    <a:band1H>
      <a:tcTxStyle b="off" i="off"/>
      <a:tcStyle>
        <a:tcBdr/>
        <a:fill>
          <a:solidFill>
            <a:srgbClr val="CDD4EA"/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rgbClr val="CDD4EA"/>
          </a:solidFill>
        </a:fill>
      </a:tcStyle>
    </a:band1V>
    <a:band2V>
      <a:tcTxStyle b="off" i="off"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B0902705-1622-126D-1B16-DD482CF308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>
            <a:extLst>
              <a:ext uri="{FF2B5EF4-FFF2-40B4-BE49-F238E27FC236}">
                <a16:creationId xmlns:a16="http://schemas.microsoft.com/office/drawing/2014/main" id="{1E941C73-C1DA-CA72-CD64-1A6BFDBBB6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6" name="Google Shape;96;p2:notes">
            <a:extLst>
              <a:ext uri="{FF2B5EF4-FFF2-40B4-BE49-F238E27FC236}">
                <a16:creationId xmlns:a16="http://schemas.microsoft.com/office/drawing/2014/main" id="{E2870527-EB1E-81FE-4BDE-3991747FD29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84650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9681E042-E261-2A6C-1243-A0E69483D3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>
            <a:extLst>
              <a:ext uri="{FF2B5EF4-FFF2-40B4-BE49-F238E27FC236}">
                <a16:creationId xmlns:a16="http://schemas.microsoft.com/office/drawing/2014/main" id="{8B7E44EE-CE0C-8FAA-F34F-5A851589A1F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6" name="Google Shape;96;p2:notes">
            <a:extLst>
              <a:ext uri="{FF2B5EF4-FFF2-40B4-BE49-F238E27FC236}">
                <a16:creationId xmlns:a16="http://schemas.microsoft.com/office/drawing/2014/main" id="{6647D7F7-2FA0-EC28-567C-A73DB8EF6FD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2023000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0DD1BFB4-FC8C-73D1-1102-595FED6E4A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>
            <a:extLst>
              <a:ext uri="{FF2B5EF4-FFF2-40B4-BE49-F238E27FC236}">
                <a16:creationId xmlns:a16="http://schemas.microsoft.com/office/drawing/2014/main" id="{A3127102-AC90-A78E-799C-EBA4B1B98BA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6" name="Google Shape;96;p2:notes">
            <a:extLst>
              <a:ext uri="{FF2B5EF4-FFF2-40B4-BE49-F238E27FC236}">
                <a16:creationId xmlns:a16="http://schemas.microsoft.com/office/drawing/2014/main" id="{2786448D-BADE-FBC3-AE0B-B4FA721A11E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48776071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448C7BD3-8167-D891-DFD4-B070F48EFD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>
            <a:extLst>
              <a:ext uri="{FF2B5EF4-FFF2-40B4-BE49-F238E27FC236}">
                <a16:creationId xmlns:a16="http://schemas.microsoft.com/office/drawing/2014/main" id="{C4B89F5E-4D6E-C97E-483F-C9DF31F5C32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6" name="Google Shape;96;p2:notes">
            <a:extLst>
              <a:ext uri="{FF2B5EF4-FFF2-40B4-BE49-F238E27FC236}">
                <a16:creationId xmlns:a16="http://schemas.microsoft.com/office/drawing/2014/main" id="{B6B90E88-1F44-2DBD-3DCD-45262A2B2F1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8226094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7E4F72AE-3909-B15C-A713-167B8A0EAF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>
            <a:extLst>
              <a:ext uri="{FF2B5EF4-FFF2-40B4-BE49-F238E27FC236}">
                <a16:creationId xmlns:a16="http://schemas.microsoft.com/office/drawing/2014/main" id="{74A291AA-7421-7008-BFA2-AB1A66CCFE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6" name="Google Shape;96;p2:notes">
            <a:extLst>
              <a:ext uri="{FF2B5EF4-FFF2-40B4-BE49-F238E27FC236}">
                <a16:creationId xmlns:a16="http://schemas.microsoft.com/office/drawing/2014/main" id="{445289B4-D1DD-4488-2D17-1D832114B59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18208296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6" name="Google Shape;9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2988322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C90B7730-0EA2-132D-5E78-346C854248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>
            <a:extLst>
              <a:ext uri="{FF2B5EF4-FFF2-40B4-BE49-F238E27FC236}">
                <a16:creationId xmlns:a16="http://schemas.microsoft.com/office/drawing/2014/main" id="{746E5A29-3745-5F6B-2601-B2C64AD097B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6" name="Google Shape;96;p2:notes">
            <a:extLst>
              <a:ext uri="{FF2B5EF4-FFF2-40B4-BE49-F238E27FC236}">
                <a16:creationId xmlns:a16="http://schemas.microsoft.com/office/drawing/2014/main" id="{76CEF796-9077-8D83-A7A2-6FDB96911D6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59388955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448C7BD3-8167-D891-DFD4-B070F48EFD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>
            <a:extLst>
              <a:ext uri="{FF2B5EF4-FFF2-40B4-BE49-F238E27FC236}">
                <a16:creationId xmlns:a16="http://schemas.microsoft.com/office/drawing/2014/main" id="{C4B89F5E-4D6E-C97E-483F-C9DF31F5C32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6" name="Google Shape;96;p2:notes">
            <a:extLst>
              <a:ext uri="{FF2B5EF4-FFF2-40B4-BE49-F238E27FC236}">
                <a16:creationId xmlns:a16="http://schemas.microsoft.com/office/drawing/2014/main" id="{B6B90E88-1F44-2DBD-3DCD-45262A2B2F1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41911576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7E4F72AE-3909-B15C-A713-167B8A0EAF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>
            <a:extLst>
              <a:ext uri="{FF2B5EF4-FFF2-40B4-BE49-F238E27FC236}">
                <a16:creationId xmlns:a16="http://schemas.microsoft.com/office/drawing/2014/main" id="{74A291AA-7421-7008-BFA2-AB1A66CCFE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6" name="Google Shape;96;p2:notes">
            <a:extLst>
              <a:ext uri="{FF2B5EF4-FFF2-40B4-BE49-F238E27FC236}">
                <a16:creationId xmlns:a16="http://schemas.microsoft.com/office/drawing/2014/main" id="{445289B4-D1DD-4488-2D17-1D832114B59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7649268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6" name="Google Shape;9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369175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DAAAC219-2F02-6252-74AA-68F9E6F28E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>
            <a:extLst>
              <a:ext uri="{FF2B5EF4-FFF2-40B4-BE49-F238E27FC236}">
                <a16:creationId xmlns:a16="http://schemas.microsoft.com/office/drawing/2014/main" id="{DD9CF9C0-C171-0FCA-E798-0D26512FC77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6" name="Google Shape;96;p2:notes">
            <a:extLst>
              <a:ext uri="{FF2B5EF4-FFF2-40B4-BE49-F238E27FC236}">
                <a16:creationId xmlns:a16="http://schemas.microsoft.com/office/drawing/2014/main" id="{180391FC-3341-EF63-BCFB-929BBA5DB50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14650736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81546765-22E1-4B06-D64F-C3877003EE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>
            <a:extLst>
              <a:ext uri="{FF2B5EF4-FFF2-40B4-BE49-F238E27FC236}">
                <a16:creationId xmlns:a16="http://schemas.microsoft.com/office/drawing/2014/main" id="{0EF40E4A-7C8B-815C-1B4B-1E5EE4D7C78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6" name="Google Shape;96;p2:notes">
            <a:extLst>
              <a:ext uri="{FF2B5EF4-FFF2-40B4-BE49-F238E27FC236}">
                <a16:creationId xmlns:a16="http://schemas.microsoft.com/office/drawing/2014/main" id="{0081A6A2-4A1E-6717-9BD3-1BD682D344C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53348842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C553B27A-965B-9170-9375-F96E654AE6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>
            <a:extLst>
              <a:ext uri="{FF2B5EF4-FFF2-40B4-BE49-F238E27FC236}">
                <a16:creationId xmlns:a16="http://schemas.microsoft.com/office/drawing/2014/main" id="{BD562133-2EEF-C2E8-D96A-3E6E622E91A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6" name="Google Shape;96;p2:notes">
            <a:extLst>
              <a:ext uri="{FF2B5EF4-FFF2-40B4-BE49-F238E27FC236}">
                <a16:creationId xmlns:a16="http://schemas.microsoft.com/office/drawing/2014/main" id="{FB0AF6E1-54C6-6CF4-66B1-241A4898CE0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27316880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E835CC6B-746B-C403-6301-58EF8A3A63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>
            <a:extLst>
              <a:ext uri="{FF2B5EF4-FFF2-40B4-BE49-F238E27FC236}">
                <a16:creationId xmlns:a16="http://schemas.microsoft.com/office/drawing/2014/main" id="{39B05F7C-9103-C5DD-51EF-A4059CEC829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6" name="Google Shape;96;p2:notes">
            <a:extLst>
              <a:ext uri="{FF2B5EF4-FFF2-40B4-BE49-F238E27FC236}">
                <a16:creationId xmlns:a16="http://schemas.microsoft.com/office/drawing/2014/main" id="{BB5147FD-81EF-4DB9-8829-8B759821512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06532770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D7B43C93-28C2-CC58-7D78-77D1F27AA8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>
            <a:extLst>
              <a:ext uri="{FF2B5EF4-FFF2-40B4-BE49-F238E27FC236}">
                <a16:creationId xmlns:a16="http://schemas.microsoft.com/office/drawing/2014/main" id="{3D1C51FE-0AA4-934C-C422-2FC56D1C3CB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6" name="Google Shape;96;p2:notes">
            <a:extLst>
              <a:ext uri="{FF2B5EF4-FFF2-40B4-BE49-F238E27FC236}">
                <a16:creationId xmlns:a16="http://schemas.microsoft.com/office/drawing/2014/main" id="{A2FDF918-3DA3-1B72-0A56-13F74C98EA2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97556083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D03E399B-BF83-303A-047C-3906B5737D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>
            <a:extLst>
              <a:ext uri="{FF2B5EF4-FFF2-40B4-BE49-F238E27FC236}">
                <a16:creationId xmlns:a16="http://schemas.microsoft.com/office/drawing/2014/main" id="{B5D4AFCD-D7A7-7FC7-D1A2-18073393BAD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6" name="Google Shape;96;p2:notes">
            <a:extLst>
              <a:ext uri="{FF2B5EF4-FFF2-40B4-BE49-F238E27FC236}">
                <a16:creationId xmlns:a16="http://schemas.microsoft.com/office/drawing/2014/main" id="{0D27E804-0849-978A-AE64-1DBD52257FE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70318910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8DCEECCC-7AC2-011A-8BAD-D1B7369279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>
            <a:extLst>
              <a:ext uri="{FF2B5EF4-FFF2-40B4-BE49-F238E27FC236}">
                <a16:creationId xmlns:a16="http://schemas.microsoft.com/office/drawing/2014/main" id="{2749196C-38F4-6997-7F24-FB8DA997EB5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6" name="Google Shape;96;p2:notes">
            <a:extLst>
              <a:ext uri="{FF2B5EF4-FFF2-40B4-BE49-F238E27FC236}">
                <a16:creationId xmlns:a16="http://schemas.microsoft.com/office/drawing/2014/main" id="{BDD44857-29ED-9E5B-0E64-0444AE956A9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01254749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104DB0C9-725A-32F6-C1D7-0DB6FEC9DB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>
            <a:extLst>
              <a:ext uri="{FF2B5EF4-FFF2-40B4-BE49-F238E27FC236}">
                <a16:creationId xmlns:a16="http://schemas.microsoft.com/office/drawing/2014/main" id="{1DBC92AD-ACF0-E1C1-A103-4EF394C3BC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6" name="Google Shape;96;p2:notes">
            <a:extLst>
              <a:ext uri="{FF2B5EF4-FFF2-40B4-BE49-F238E27FC236}">
                <a16:creationId xmlns:a16="http://schemas.microsoft.com/office/drawing/2014/main" id="{F011340E-280F-AAA8-31A4-A84116649D7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49383563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1F3605CA-85EF-B252-9A78-A05495AECD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>
            <a:extLst>
              <a:ext uri="{FF2B5EF4-FFF2-40B4-BE49-F238E27FC236}">
                <a16:creationId xmlns:a16="http://schemas.microsoft.com/office/drawing/2014/main" id="{0774173D-8F38-06B7-76B0-C9539CC3758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6" name="Google Shape;96;p2:notes">
            <a:extLst>
              <a:ext uri="{FF2B5EF4-FFF2-40B4-BE49-F238E27FC236}">
                <a16:creationId xmlns:a16="http://schemas.microsoft.com/office/drawing/2014/main" id="{AF032A81-16AD-EB89-F4A6-E30B30DD915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34332717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64893483-932A-5688-217A-2FD99DAF48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>
            <a:extLst>
              <a:ext uri="{FF2B5EF4-FFF2-40B4-BE49-F238E27FC236}">
                <a16:creationId xmlns:a16="http://schemas.microsoft.com/office/drawing/2014/main" id="{B4A4478C-0A68-E78D-DC7F-DCDE52AE49D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6" name="Google Shape;96;p2:notes">
            <a:extLst>
              <a:ext uri="{FF2B5EF4-FFF2-40B4-BE49-F238E27FC236}">
                <a16:creationId xmlns:a16="http://schemas.microsoft.com/office/drawing/2014/main" id="{D6566650-7383-1A54-3A47-CFA11C1BC84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82780147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8FB71D69-DB2F-F851-5057-06A8D8A0DE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>
            <a:extLst>
              <a:ext uri="{FF2B5EF4-FFF2-40B4-BE49-F238E27FC236}">
                <a16:creationId xmlns:a16="http://schemas.microsoft.com/office/drawing/2014/main" id="{4A85782E-4CEA-D618-DE9A-17AC560D72C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6" name="Google Shape;96;p2:notes">
            <a:extLst>
              <a:ext uri="{FF2B5EF4-FFF2-40B4-BE49-F238E27FC236}">
                <a16:creationId xmlns:a16="http://schemas.microsoft.com/office/drawing/2014/main" id="{E3308F08-600E-ACE0-C795-E73506E8891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14029827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54D778DC-DFE0-81FF-1D7A-CAFE707297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>
            <a:extLst>
              <a:ext uri="{FF2B5EF4-FFF2-40B4-BE49-F238E27FC236}">
                <a16:creationId xmlns:a16="http://schemas.microsoft.com/office/drawing/2014/main" id="{426EFBAD-A0C5-A1F3-3D59-F8B7343F1C6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6" name="Google Shape;96;p2:notes">
            <a:extLst>
              <a:ext uri="{FF2B5EF4-FFF2-40B4-BE49-F238E27FC236}">
                <a16:creationId xmlns:a16="http://schemas.microsoft.com/office/drawing/2014/main" id="{E5B451D1-3584-7A0C-4BE3-00E295C29B3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38150561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FC31E0A4-AD64-045D-AB93-8BCA0C208A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>
            <a:extLst>
              <a:ext uri="{FF2B5EF4-FFF2-40B4-BE49-F238E27FC236}">
                <a16:creationId xmlns:a16="http://schemas.microsoft.com/office/drawing/2014/main" id="{59E9D921-B583-EFB1-505F-D49AB846E7D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6" name="Google Shape;96;p2:notes">
            <a:extLst>
              <a:ext uri="{FF2B5EF4-FFF2-40B4-BE49-F238E27FC236}">
                <a16:creationId xmlns:a16="http://schemas.microsoft.com/office/drawing/2014/main" id="{B50CC567-0FA3-150D-7369-63E93BCFA82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99037336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48762CDC-0393-50E4-8F91-2B126C867A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>
            <a:extLst>
              <a:ext uri="{FF2B5EF4-FFF2-40B4-BE49-F238E27FC236}">
                <a16:creationId xmlns:a16="http://schemas.microsoft.com/office/drawing/2014/main" id="{BF6FFC91-C4DA-B2AA-A7D9-047ECBFA984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6" name="Google Shape;96;p2:notes">
            <a:extLst>
              <a:ext uri="{FF2B5EF4-FFF2-40B4-BE49-F238E27FC236}">
                <a16:creationId xmlns:a16="http://schemas.microsoft.com/office/drawing/2014/main" id="{878C7BE8-F745-33FC-5FA8-C3B901840C9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38289978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C9DE7B78-97F1-9291-D41D-AE65E79380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>
            <a:extLst>
              <a:ext uri="{FF2B5EF4-FFF2-40B4-BE49-F238E27FC236}">
                <a16:creationId xmlns:a16="http://schemas.microsoft.com/office/drawing/2014/main" id="{DDF8EFA8-D582-B014-5870-441F57D0079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6" name="Google Shape;96;p2:notes">
            <a:extLst>
              <a:ext uri="{FF2B5EF4-FFF2-40B4-BE49-F238E27FC236}">
                <a16:creationId xmlns:a16="http://schemas.microsoft.com/office/drawing/2014/main" id="{2A54A8E8-00F6-513D-DCAE-F7298B1B413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1589745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72F3EF2A-2B37-5E7F-868B-B131DD2441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>
            <a:extLst>
              <a:ext uri="{FF2B5EF4-FFF2-40B4-BE49-F238E27FC236}">
                <a16:creationId xmlns:a16="http://schemas.microsoft.com/office/drawing/2014/main" id="{86AAEEFC-BB90-078F-F799-BDD22B31F7C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6" name="Google Shape;96;p2:notes">
            <a:extLst>
              <a:ext uri="{FF2B5EF4-FFF2-40B4-BE49-F238E27FC236}">
                <a16:creationId xmlns:a16="http://schemas.microsoft.com/office/drawing/2014/main" id="{2F79E1F0-B17F-E420-54A5-2229D1B2DE3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5094320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61DE2C72-CC64-89EC-6294-6631D758D4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>
            <a:extLst>
              <a:ext uri="{FF2B5EF4-FFF2-40B4-BE49-F238E27FC236}">
                <a16:creationId xmlns:a16="http://schemas.microsoft.com/office/drawing/2014/main" id="{46A71290-766A-2589-F953-9322647A4DA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6" name="Google Shape;96;p2:notes">
            <a:extLst>
              <a:ext uri="{FF2B5EF4-FFF2-40B4-BE49-F238E27FC236}">
                <a16:creationId xmlns:a16="http://schemas.microsoft.com/office/drawing/2014/main" id="{45D5BA86-001E-F035-A95C-E561D577FC4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9643371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4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4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6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26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27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8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8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28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28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28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31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31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2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32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33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3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3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4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34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3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3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3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hyperlink" Target="mailto:shomen.kundu@bracu.ac.bd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>
            <a:spLocks noGrp="1"/>
          </p:cNvSpPr>
          <p:nvPr>
            <p:ph type="ctrTitle"/>
          </p:nvPr>
        </p:nvSpPr>
        <p:spPr>
          <a:xfrm>
            <a:off x="1489586" y="226142"/>
            <a:ext cx="9699524" cy="2300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CSE 350</a:t>
            </a:r>
            <a:br>
              <a:rPr lang="en-US" dirty="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4900" dirty="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Digital Electronics and Pulse Techniques</a:t>
            </a:r>
            <a:br>
              <a:rPr lang="en-US" dirty="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dirty="0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0" name="Google Shape;90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  <p:pic>
        <p:nvPicPr>
          <p:cNvPr id="91" name="Google Shape;91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"/>
          <p:cNvSpPr txBox="1">
            <a:spLocks noGrp="1"/>
          </p:cNvSpPr>
          <p:nvPr>
            <p:ph type="ftr" idx="11"/>
          </p:nvPr>
        </p:nvSpPr>
        <p:spPr>
          <a:xfrm>
            <a:off x="3812458" y="6370894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CSE 350 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2F751B0-7C0C-BD40-A434-E4822D159664}"/>
              </a:ext>
            </a:extLst>
          </p:cNvPr>
          <p:cNvSpPr txBox="1"/>
          <p:nvPr/>
        </p:nvSpPr>
        <p:spPr>
          <a:xfrm>
            <a:off x="6926825" y="5456700"/>
            <a:ext cx="526517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4300" indent="0">
              <a:buNone/>
            </a:pPr>
            <a:r>
              <a:rPr lang="en-US" sz="2000" dirty="0"/>
              <a:t>Mail: </a:t>
            </a:r>
            <a:r>
              <a:rPr lang="en-US" sz="2000" dirty="0">
                <a:hlinkClick r:id="rId4"/>
              </a:rPr>
              <a:t>shomen.kundu@bracu.ac.bd</a:t>
            </a:r>
            <a:endParaRPr lang="en-US" sz="2000" dirty="0"/>
          </a:p>
          <a:p>
            <a:pPr marL="114300" indent="0">
              <a:buNone/>
            </a:pPr>
            <a:r>
              <a:rPr lang="en-US" sz="2000" dirty="0"/>
              <a:t>Desk: 4N166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441846E-60C5-B347-AC7F-8840DA80F15F}"/>
              </a:ext>
            </a:extLst>
          </p:cNvPr>
          <p:cNvSpPr txBox="1"/>
          <p:nvPr/>
        </p:nvSpPr>
        <p:spPr>
          <a:xfrm>
            <a:off x="2949678" y="2426267"/>
            <a:ext cx="49775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0070C0"/>
                </a:solidFill>
              </a:rPr>
              <a:t>RTL circuits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90F6537-9EB0-5129-AAB2-FD60564499EB}"/>
              </a:ext>
            </a:extLst>
          </p:cNvPr>
          <p:cNvSpPr txBox="1"/>
          <p:nvPr/>
        </p:nvSpPr>
        <p:spPr>
          <a:xfrm>
            <a:off x="1115959" y="5558167"/>
            <a:ext cx="555031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14300" indent="0">
              <a:buNone/>
            </a:pPr>
            <a:r>
              <a:rPr lang="en-US" sz="2000" b="1" dirty="0">
                <a:solidFill>
                  <a:srgbClr val="0070C0"/>
                </a:solidFill>
              </a:rPr>
              <a:t>Course Instructor</a:t>
            </a:r>
            <a:r>
              <a:rPr lang="en-US" sz="2000" b="1" dirty="0">
                <a:solidFill>
                  <a:schemeClr val="tx1"/>
                </a:solidFill>
              </a:rPr>
              <a:t>: </a:t>
            </a:r>
            <a:r>
              <a:rPr lang="en-US" sz="2000" dirty="0" err="1"/>
              <a:t>Shomen</a:t>
            </a:r>
            <a:r>
              <a:rPr lang="en-US" sz="2000" dirty="0"/>
              <a:t> Kundu (SDU)</a:t>
            </a:r>
          </a:p>
        </p:txBody>
      </p:sp>
    </p:spTree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585FCB86-2F6D-B158-FB11-8B24B0D87F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>
            <a:extLst>
              <a:ext uri="{FF2B5EF4-FFF2-40B4-BE49-F238E27FC236}">
                <a16:creationId xmlns:a16="http://schemas.microsoft.com/office/drawing/2014/main" id="{75356DA4-FC5A-7919-3D5F-D352958BE5A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Resistor Transistor Logic (RTL)</a:t>
            </a:r>
            <a:endParaRPr dirty="0">
              <a:solidFill>
                <a:schemeClr val="accent1"/>
              </a:solidFill>
            </a:endParaRPr>
          </a:p>
        </p:txBody>
      </p:sp>
      <p:sp>
        <p:nvSpPr>
          <p:cNvPr id="100" name="Google Shape;100;p2">
            <a:extLst>
              <a:ext uri="{FF2B5EF4-FFF2-40B4-BE49-F238E27FC236}">
                <a16:creationId xmlns:a16="http://schemas.microsoft.com/office/drawing/2014/main" id="{762BA595-9725-3011-D769-6B6B10E2C29B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CSE 350</a:t>
            </a:r>
            <a:endParaRPr dirty="0"/>
          </a:p>
        </p:txBody>
      </p:sp>
      <p:sp>
        <p:nvSpPr>
          <p:cNvPr id="101" name="Google Shape;101;p2">
            <a:extLst>
              <a:ext uri="{FF2B5EF4-FFF2-40B4-BE49-F238E27FC236}">
                <a16:creationId xmlns:a16="http://schemas.microsoft.com/office/drawing/2014/main" id="{D812240F-FEA0-2CC7-A48E-08082C6EBE4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pic>
        <p:nvPicPr>
          <p:cNvPr id="102" name="Google Shape;102;p2">
            <a:extLst>
              <a:ext uri="{FF2B5EF4-FFF2-40B4-BE49-F238E27FC236}">
                <a16:creationId xmlns:a16="http://schemas.microsoft.com/office/drawing/2014/main" id="{1DB08D8A-8F77-EEBD-B5A8-68826D1FEB6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DBA1C6-48D9-3788-9665-9639121EC8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6915" y="1376515"/>
            <a:ext cx="10735273" cy="4462811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US" b="1" dirty="0"/>
              <a:t>Not gate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B4417D6-CA97-862B-558B-835AD4F40C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77151" y="1524188"/>
            <a:ext cx="5256257" cy="3957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0870583"/>
      </p:ext>
    </p:extLst>
  </p:cSld>
  <p:clrMapOvr>
    <a:masterClrMapping/>
  </p:clrMapOvr>
  <p:transition spd="slow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391ED13F-53AE-9526-326E-9E5CE53066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>
            <a:extLst>
              <a:ext uri="{FF2B5EF4-FFF2-40B4-BE49-F238E27FC236}">
                <a16:creationId xmlns:a16="http://schemas.microsoft.com/office/drawing/2014/main" id="{266D3E65-4542-9AC0-2411-5831BA809B1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Resistor Transistor Logic (RTL)</a:t>
            </a:r>
            <a:endParaRPr dirty="0">
              <a:solidFill>
                <a:schemeClr val="accent1"/>
              </a:solidFill>
            </a:endParaRPr>
          </a:p>
        </p:txBody>
      </p:sp>
      <p:sp>
        <p:nvSpPr>
          <p:cNvPr id="100" name="Google Shape;100;p2">
            <a:extLst>
              <a:ext uri="{FF2B5EF4-FFF2-40B4-BE49-F238E27FC236}">
                <a16:creationId xmlns:a16="http://schemas.microsoft.com/office/drawing/2014/main" id="{F3055D23-A83D-7E5B-7B00-6B2D6C0243D8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CSE 350</a:t>
            </a:r>
            <a:endParaRPr dirty="0"/>
          </a:p>
        </p:txBody>
      </p:sp>
      <p:sp>
        <p:nvSpPr>
          <p:cNvPr id="101" name="Google Shape;101;p2">
            <a:extLst>
              <a:ext uri="{FF2B5EF4-FFF2-40B4-BE49-F238E27FC236}">
                <a16:creationId xmlns:a16="http://schemas.microsoft.com/office/drawing/2014/main" id="{7A5CA88F-D5B7-A1EA-6289-205C76B9179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pic>
        <p:nvPicPr>
          <p:cNvPr id="102" name="Google Shape;102;p2">
            <a:extLst>
              <a:ext uri="{FF2B5EF4-FFF2-40B4-BE49-F238E27FC236}">
                <a16:creationId xmlns:a16="http://schemas.microsoft.com/office/drawing/2014/main" id="{809F5DDB-E640-3239-6673-4AF18342612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B891A9-7E15-09D6-BB5B-DE365FCEF3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6915" y="1376515"/>
            <a:ext cx="10735273" cy="4462811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US" b="1" dirty="0"/>
              <a:t>Case 1</a:t>
            </a:r>
            <a:r>
              <a:rPr lang="en-US" dirty="0"/>
              <a:t>:  A = 0 , vi = 0 V</a:t>
            </a:r>
          </a:p>
          <a:p>
            <a:pPr marL="114300" indent="0">
              <a:buNone/>
            </a:pPr>
            <a:r>
              <a:rPr lang="en-US" dirty="0"/>
              <a:t># input low, output </a:t>
            </a:r>
          </a:p>
          <a:p>
            <a:pPr marL="114300" indent="0">
              <a:buNone/>
            </a:pPr>
            <a:r>
              <a:rPr lang="en-US" dirty="0"/>
              <a:t>expected to be  high.</a:t>
            </a:r>
          </a:p>
          <a:p>
            <a:pPr marL="114300" indent="0">
              <a:buNone/>
            </a:pPr>
            <a:r>
              <a:rPr lang="en-US" dirty="0"/>
              <a:t>We need to prove it.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r>
              <a:rPr lang="en-US" b="1" dirty="0"/>
              <a:t>Assumption: </a:t>
            </a:r>
            <a:r>
              <a:rPr lang="en-US" dirty="0"/>
              <a:t>Cutoff mode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32F7498-7BC1-3845-271B-14830491BF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2471" y="1450351"/>
            <a:ext cx="5256257" cy="3957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6132110"/>
      </p:ext>
    </p:extLst>
  </p:cSld>
  <p:clrMapOvr>
    <a:masterClrMapping/>
  </p:clrMapOvr>
  <p:transition spd="slow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9F032AB6-FFFB-6A4F-CF29-61AF235AF0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>
            <a:extLst>
              <a:ext uri="{FF2B5EF4-FFF2-40B4-BE49-F238E27FC236}">
                <a16:creationId xmlns:a16="http://schemas.microsoft.com/office/drawing/2014/main" id="{E2F72C73-9CB1-A387-F884-6916CF87DDF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Resistor Transistor Logic (RTL)</a:t>
            </a:r>
            <a:endParaRPr dirty="0">
              <a:solidFill>
                <a:schemeClr val="accent1"/>
              </a:solidFill>
            </a:endParaRPr>
          </a:p>
        </p:txBody>
      </p:sp>
      <p:sp>
        <p:nvSpPr>
          <p:cNvPr id="100" name="Google Shape;100;p2">
            <a:extLst>
              <a:ext uri="{FF2B5EF4-FFF2-40B4-BE49-F238E27FC236}">
                <a16:creationId xmlns:a16="http://schemas.microsoft.com/office/drawing/2014/main" id="{DFA933E9-F696-9B61-ED00-CB17D5435F49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CSE 350</a:t>
            </a:r>
            <a:endParaRPr dirty="0"/>
          </a:p>
        </p:txBody>
      </p:sp>
      <p:sp>
        <p:nvSpPr>
          <p:cNvPr id="101" name="Google Shape;101;p2">
            <a:extLst>
              <a:ext uri="{FF2B5EF4-FFF2-40B4-BE49-F238E27FC236}">
                <a16:creationId xmlns:a16="http://schemas.microsoft.com/office/drawing/2014/main" id="{32B75738-D185-AE21-5D61-A33711D6F26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pic>
        <p:nvPicPr>
          <p:cNvPr id="102" name="Google Shape;102;p2">
            <a:extLst>
              <a:ext uri="{FF2B5EF4-FFF2-40B4-BE49-F238E27FC236}">
                <a16:creationId xmlns:a16="http://schemas.microsoft.com/office/drawing/2014/main" id="{21FA3BB2-CF25-72DE-D867-906BC9BCD5A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7AA1C02E-BA09-674E-DF53-12CF778DD300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545433" y="1376515"/>
                <a:ext cx="10956756" cy="4831780"/>
              </a:xfrm>
            </p:spPr>
            <p:txBody>
              <a:bodyPr>
                <a:normAutofit fontScale="85000" lnSpcReduction="20000"/>
              </a:bodyPr>
              <a:lstStyle/>
              <a:p>
                <a:pPr marL="114300" indent="0">
                  <a:buNone/>
                </a:pPr>
                <a:r>
                  <a:rPr lang="en-US" sz="4000" b="1" dirty="0"/>
                  <a:t>Verification</a:t>
                </a:r>
              </a:p>
              <a:p>
                <a:pPr marL="114300" indent="0">
                  <a:buNone/>
                </a:pPr>
                <a:endParaRPr lang="en-US" i="1" dirty="0">
                  <a:effectLst/>
                  <a:latin typeface="Cambria Math" panose="02040503050406030204" pitchFamily="18" charset="0"/>
                </a:endParaRPr>
              </a:p>
              <a:p>
                <a:pPr marL="114300" indent="0">
                  <a:buNone/>
                </a:pPr>
                <a:endParaRPr lang="en-US" i="1" dirty="0">
                  <a:effectLst/>
                  <a:latin typeface="Cambria Math" panose="02040503050406030204" pitchFamily="18" charset="0"/>
                </a:endParaRPr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effectLst/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𝑉𝑏</m:t>
                          </m:r>
                          <m:r>
                            <a:rPr lang="en-US" sz="2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−0</m:t>
                          </m:r>
                        </m:num>
                        <m:den>
                          <m:r>
                            <a:rPr lang="en-US" sz="2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15 </m:t>
                          </m:r>
                          <m:r>
                            <a:rPr lang="en-US" sz="2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𝑘</m:t>
                          </m:r>
                          <m:r>
                            <a:rPr lang="en-US" sz="2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 </m:t>
                          </m:r>
                        </m:den>
                      </m:f>
                      <m:r>
                        <a:rPr lang="en-US" sz="28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+</m:t>
                      </m:r>
                      <m:f>
                        <m:fPr>
                          <m:ctrlPr>
                            <a:rPr lang="en-US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𝑉𝑏</m:t>
                          </m:r>
                          <m:r>
                            <a:rPr lang="en-US" sz="2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d>
                            <m:dPr>
                              <m:ctrlPr>
                                <a:rPr lang="en-US" i="1"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−12</m:t>
                              </m:r>
                            </m:e>
                          </m:d>
                        </m:num>
                        <m:den>
                          <m:r>
                            <a:rPr lang="en-US" sz="2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100</m:t>
                          </m:r>
                          <m:r>
                            <a:rPr lang="en-US" sz="2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𝑘</m:t>
                          </m:r>
                        </m:den>
                      </m:f>
                      <m:r>
                        <a:rPr lang="en-US" sz="28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=0=&gt;</m:t>
                      </m:r>
                      <m:sSub>
                        <m:sSubPr>
                          <m:ctrlPr>
                            <a:rPr lang="en-US" sz="2800" b="0" i="1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800" b="0" i="1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𝐵</m:t>
                          </m:r>
                        </m:sub>
                      </m:sSub>
                      <m:r>
                        <a:rPr lang="en-US" sz="28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=−1.565 </m:t>
                      </m:r>
                      <m:r>
                        <a:rPr lang="en-US" sz="28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𝑉</m:t>
                      </m:r>
                      <m:r>
                        <a:rPr lang="en-US" sz="28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 ,</m:t>
                      </m:r>
                    </m:oMath>
                  </m:oMathPara>
                </a14:m>
                <a:endParaRPr lang="en-US" sz="2800" i="1" dirty="0">
                  <a:effectLst/>
                  <a:latin typeface="Cambria Math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114300" indent="0">
                  <a:buNone/>
                </a:pPr>
                <a:endParaRPr lang="en-US" sz="2800" i="1" dirty="0">
                  <a:effectLst/>
                  <a:latin typeface="Cambria Math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a:rPr lang="en-US" sz="2800" b="0" i="1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𝐻𝑒𝑟𝑒</m:t>
                          </m:r>
                          <m:r>
                            <a:rPr lang="en-US" sz="2800" b="0" i="1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, </m:t>
                          </m:r>
                          <m:r>
                            <a:rPr lang="en-US" sz="2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𝐸</m:t>
                          </m:r>
                        </m:sub>
                      </m:sSub>
                      <m:r>
                        <a:rPr lang="en-US" sz="28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=0</m:t>
                      </m:r>
                    </m:oMath>
                  </m:oMathPara>
                </a14:m>
                <a:endParaRPr lang="en-US" dirty="0"/>
              </a:p>
              <a:p>
                <a:pPr marL="114300" indent="0">
                  <a:buNone/>
                </a:pPr>
                <a:endParaRPr lang="en-US" dirty="0"/>
              </a:p>
              <a:p>
                <a:pPr marL="0" marR="0" indent="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  <a:buNone/>
                </a:pPr>
                <a:r>
                  <a:rPr lang="en-US" sz="2800" kern="1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	As V</a:t>
                </a:r>
                <a:r>
                  <a:rPr lang="en-US" sz="2800" kern="100" baseline="-250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BE </a:t>
                </a:r>
                <a:r>
                  <a:rPr lang="en-US" sz="2800" kern="1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= -1.565 V&lt;0.7 V  , | Assumption is correct</a:t>
                </a:r>
                <a:endParaRPr lang="en-US" sz="28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marR="0" indent="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  <a:buNone/>
                </a:pPr>
                <a:r>
                  <a:rPr lang="en-US" sz="2800" kern="1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	For cutoff mode: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0" i="1" kern="100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800" b="0" i="1" kern="100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𝐼</m:t>
                        </m:r>
                      </m:e>
                      <m:sub>
                        <m:r>
                          <a:rPr lang="en-US" sz="2800" b="0" i="1" kern="100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𝐵</m:t>
                        </m:r>
                      </m:sub>
                    </m:sSub>
                    <m:r>
                      <a:rPr lang="en-US" sz="2800" b="0" i="1" kern="100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sz="2800" b="0" i="1" kern="100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800" b="0" i="1" kern="100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𝐼</m:t>
                        </m:r>
                      </m:e>
                      <m:sub>
                        <m:r>
                          <a:rPr lang="en-US" sz="2800" b="0" i="1" kern="100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𝐶</m:t>
                        </m:r>
                      </m:sub>
                    </m:sSub>
                    <m:r>
                      <a:rPr lang="en-US" sz="2800" b="0" i="1" kern="100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sz="2800" b="0" i="1" kern="100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800" b="0" i="1" kern="100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𝐼</m:t>
                        </m:r>
                      </m:e>
                      <m:sub>
                        <m:r>
                          <a:rPr lang="en-US" sz="2800" b="0" i="1" kern="100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𝐸</m:t>
                        </m:r>
                      </m:sub>
                    </m:sSub>
                    <m:r>
                      <a:rPr lang="en-US" sz="2800" b="0" i="1" kern="100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=0</m:t>
                    </m:r>
                  </m:oMath>
                </a14:m>
                <a:endParaRPr lang="en-US" sz="2800" kern="100" dirty="0"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marR="0" indent="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𝐼𝑐</m:t>
                      </m:r>
                      <m:r>
                        <a:rPr lang="en-US" sz="28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=0= </m:t>
                      </m:r>
                      <m:f>
                        <m:fPr>
                          <m:ctrlPr>
                            <a:rPr lang="en-US" sz="2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2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12−</m:t>
                          </m:r>
                          <m:r>
                            <a:rPr lang="en-US" sz="2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𝑉𝑐</m:t>
                          </m:r>
                        </m:num>
                        <m:den>
                          <m:r>
                            <a:rPr lang="en-US" sz="2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2.2 </m:t>
                          </m:r>
                          <m:r>
                            <a:rPr lang="en-US" sz="2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𝑘</m:t>
                          </m:r>
                        </m:den>
                      </m:f>
                      <m:r>
                        <a:rPr lang="en-US" sz="28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 ,   </m:t>
                      </m:r>
                      <m:r>
                        <a:rPr lang="en-US" sz="28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𝑉𝑐</m:t>
                      </m:r>
                      <m:r>
                        <a:rPr lang="en-US" sz="28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=12 </m:t>
                      </m:r>
                      <m:r>
                        <a:rPr lang="en-US" sz="28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𝑉</m:t>
                      </m:r>
                    </m:oMath>
                  </m:oMathPara>
                </a14:m>
                <a:endParaRPr lang="en-US" sz="28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114300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7AA1C02E-BA09-674E-DF53-12CF778DD30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545433" y="1376515"/>
                <a:ext cx="10956756" cy="4831780"/>
              </a:xfrm>
              <a:blipFill>
                <a:blip r:embed="rId4"/>
                <a:stretch>
                  <a:fillRect l="-501" t="-18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D9074754-6291-FA27-90E0-CDEA50FD236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24019" y="1125281"/>
            <a:ext cx="3678170" cy="3241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728344"/>
      </p:ext>
    </p:extLst>
  </p:cSld>
  <p:clrMapOvr>
    <a:masterClrMapping/>
  </p:clrMapOvr>
  <p:transition spd="slow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F73A6E1B-954D-A0D7-07A4-590D2B3463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>
            <a:extLst>
              <a:ext uri="{FF2B5EF4-FFF2-40B4-BE49-F238E27FC236}">
                <a16:creationId xmlns:a16="http://schemas.microsoft.com/office/drawing/2014/main" id="{3454BEED-B177-FCE0-2A65-1B20A892D20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Resistor Transistor Logic (RTL)</a:t>
            </a:r>
            <a:endParaRPr dirty="0">
              <a:solidFill>
                <a:schemeClr val="accent1"/>
              </a:solidFill>
            </a:endParaRPr>
          </a:p>
        </p:txBody>
      </p:sp>
      <p:sp>
        <p:nvSpPr>
          <p:cNvPr id="100" name="Google Shape;100;p2">
            <a:extLst>
              <a:ext uri="{FF2B5EF4-FFF2-40B4-BE49-F238E27FC236}">
                <a16:creationId xmlns:a16="http://schemas.microsoft.com/office/drawing/2014/main" id="{015B4360-B73E-58B5-B4A0-C7E9DE5DB579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CSE 350</a:t>
            </a:r>
            <a:endParaRPr dirty="0"/>
          </a:p>
        </p:txBody>
      </p:sp>
      <p:sp>
        <p:nvSpPr>
          <p:cNvPr id="101" name="Google Shape;101;p2">
            <a:extLst>
              <a:ext uri="{FF2B5EF4-FFF2-40B4-BE49-F238E27FC236}">
                <a16:creationId xmlns:a16="http://schemas.microsoft.com/office/drawing/2014/main" id="{5D22427E-2625-D303-529A-1E08A7D3C99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pic>
        <p:nvPicPr>
          <p:cNvPr id="102" name="Google Shape;102;p2">
            <a:extLst>
              <a:ext uri="{FF2B5EF4-FFF2-40B4-BE49-F238E27FC236}">
                <a16:creationId xmlns:a16="http://schemas.microsoft.com/office/drawing/2014/main" id="{5A0536AB-5A5E-9BF4-2CD0-47B7F8ED544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713E6AF9-E8F8-3040-0083-1C54D5293F19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766915" y="1376515"/>
                <a:ext cx="10735273" cy="4462811"/>
              </a:xfrm>
            </p:spPr>
            <p:txBody>
              <a:bodyPr>
                <a:normAutofit/>
              </a:bodyPr>
              <a:lstStyle/>
              <a:p>
                <a:pPr marL="114300" indent="0">
                  <a:buNone/>
                </a:pPr>
                <a:r>
                  <a:rPr lang="en-US" b="1" dirty="0"/>
                  <a:t>Case 2</a:t>
                </a:r>
                <a:r>
                  <a:rPr lang="en-US" dirty="0"/>
                  <a:t>: 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= 1 , 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</a:rPr>
                      <m:t> = 12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endParaRPr lang="en-US" dirty="0"/>
              </a:p>
              <a:p>
                <a:pPr marL="114300" indent="0">
                  <a:buNone/>
                </a:pPr>
                <a:r>
                  <a:rPr lang="en-US" dirty="0"/>
                  <a:t># input high, output </a:t>
                </a:r>
              </a:p>
              <a:p>
                <a:pPr marL="114300" indent="0">
                  <a:buNone/>
                </a:pPr>
                <a:r>
                  <a:rPr lang="en-US" dirty="0"/>
                  <a:t>expected to be  low.</a:t>
                </a:r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𝐶𝐸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=0.2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en-US" dirty="0"/>
              </a:p>
              <a:p>
                <a:pPr marL="114300" indent="0">
                  <a:buNone/>
                </a:pPr>
                <a:r>
                  <a:rPr lang="en-US" dirty="0"/>
                  <a:t>We can expect this BJT </a:t>
                </a:r>
              </a:p>
              <a:p>
                <a:pPr marL="114300" indent="0">
                  <a:buNone/>
                </a:pPr>
                <a:r>
                  <a:rPr lang="en-US" dirty="0"/>
                  <a:t>to be operating in  saturation mode.</a:t>
                </a:r>
              </a:p>
              <a:p>
                <a:pPr marL="114300" indent="0">
                  <a:buNone/>
                </a:pPr>
                <a:r>
                  <a:rPr lang="en-US" b="1" dirty="0"/>
                  <a:t>Assumption: </a:t>
                </a:r>
                <a:r>
                  <a:rPr lang="en-US" dirty="0"/>
                  <a:t>Saturation mode</a:t>
                </a:r>
              </a:p>
              <a:p>
                <a:pPr marL="114300" indent="0">
                  <a:buNone/>
                </a:pPr>
                <a:endParaRPr lang="en-US" dirty="0"/>
              </a:p>
              <a:p>
                <a:pPr marL="114300" indent="0">
                  <a:buNone/>
                </a:pPr>
                <a:endParaRPr lang="en-US" dirty="0"/>
              </a:p>
              <a:p>
                <a:pPr marL="114300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713E6AF9-E8F8-3040-0083-1C54D5293F1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766915" y="1376515"/>
                <a:ext cx="10735273" cy="4462811"/>
              </a:xfrm>
              <a:blipFill>
                <a:blip r:embed="rId4"/>
                <a:stretch>
                  <a:fillRect l="-1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257AA648-51C0-1FBD-E1CC-564283666FA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05599" y="1187115"/>
            <a:ext cx="4719485" cy="3914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1314518"/>
      </p:ext>
    </p:extLst>
  </p:cSld>
  <p:clrMapOvr>
    <a:masterClrMapping/>
  </p:clrMapOvr>
  <p:transition spd="slow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34B79A90-D761-07B0-2161-07E40930EB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>
            <a:extLst>
              <a:ext uri="{FF2B5EF4-FFF2-40B4-BE49-F238E27FC236}">
                <a16:creationId xmlns:a16="http://schemas.microsoft.com/office/drawing/2014/main" id="{858E0A9D-DC01-757F-0791-8A808C898C2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Resistor Transistor Logic (RTL)</a:t>
            </a:r>
            <a:endParaRPr dirty="0">
              <a:solidFill>
                <a:schemeClr val="accent1"/>
              </a:solidFill>
            </a:endParaRPr>
          </a:p>
        </p:txBody>
      </p:sp>
      <p:sp>
        <p:nvSpPr>
          <p:cNvPr id="100" name="Google Shape;100;p2">
            <a:extLst>
              <a:ext uri="{FF2B5EF4-FFF2-40B4-BE49-F238E27FC236}">
                <a16:creationId xmlns:a16="http://schemas.microsoft.com/office/drawing/2014/main" id="{BBD0AEF1-46B0-FF3C-3CEC-19BD531B9A8A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CSE 350</a:t>
            </a:r>
            <a:endParaRPr dirty="0"/>
          </a:p>
        </p:txBody>
      </p:sp>
      <p:sp>
        <p:nvSpPr>
          <p:cNvPr id="101" name="Google Shape;101;p2">
            <a:extLst>
              <a:ext uri="{FF2B5EF4-FFF2-40B4-BE49-F238E27FC236}">
                <a16:creationId xmlns:a16="http://schemas.microsoft.com/office/drawing/2014/main" id="{720922D0-5BD3-D74C-B610-1E8833C668E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  <p:pic>
        <p:nvPicPr>
          <p:cNvPr id="102" name="Google Shape;102;p2">
            <a:extLst>
              <a:ext uri="{FF2B5EF4-FFF2-40B4-BE49-F238E27FC236}">
                <a16:creationId xmlns:a16="http://schemas.microsoft.com/office/drawing/2014/main" id="{C41ADD8C-ED77-63EE-4D36-47EA277D29A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121CB7-9BC1-4742-FE6E-CA3D427D03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6915" y="1376515"/>
            <a:ext cx="10735273" cy="4462811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E0A3909-FE6E-5927-8669-52ECD5308B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8952" y="1376515"/>
            <a:ext cx="4034848" cy="367947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D78A1DD-4260-FB8C-3129-2E81F7833104}"/>
                  </a:ext>
                </a:extLst>
              </p:cNvPr>
              <p:cNvSpPr txBox="1"/>
              <p:nvPr/>
            </p:nvSpPr>
            <p:spPr>
              <a:xfrm>
                <a:off x="1263817" y="1210542"/>
                <a:ext cx="5976477" cy="50484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algn="ctr"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kern="100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000" b="0" i="1" kern="100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2000" b="0" i="1" kern="100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𝐶</m:t>
                          </m:r>
                        </m:sub>
                      </m:sSub>
                      <m:r>
                        <a:rPr lang="en-US" sz="2000" b="0" i="1" kern="100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20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2000" b="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12−0.2</m:t>
                          </m:r>
                        </m:num>
                        <m:den>
                          <m:r>
                            <a:rPr lang="en-US" sz="2000" b="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2.2 </m:t>
                          </m:r>
                          <m:r>
                            <a:rPr lang="en-US" sz="2000" b="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𝑘</m:t>
                          </m:r>
                          <m:r>
                            <a:rPr lang="en-US" sz="2000" b="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</m:den>
                      </m:f>
                      <m:r>
                        <a:rPr lang="en-US" sz="2000" b="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=5.36 </m:t>
                      </m:r>
                      <m:r>
                        <a:rPr lang="en-US" sz="2000" b="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𝑚𝐴</m:t>
                      </m:r>
                    </m:oMath>
                  </m:oMathPara>
                </a14:m>
                <a:endParaRPr lang="en-US" sz="20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marR="0" algn="ctr"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b="1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𝑻</m:t>
                      </m:r>
                      <m:r>
                        <a:rPr lang="en-US" sz="2000" b="1" i="1" kern="100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→</m:t>
                      </m:r>
                      <m:r>
                        <a:rPr lang="en-US" sz="2000" b="1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𝑺𝒂𝒕𝒖𝒓𝒂𝒕𝒊𝒐𝒏</m:t>
                      </m:r>
                      <m:r>
                        <a:rPr lang="en-US" sz="2000" b="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sz="2000" i="1" kern="100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000" b="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000" b="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𝐵𝐸</m:t>
                          </m:r>
                        </m:sub>
                      </m:sSub>
                      <m:r>
                        <a:rPr lang="en-US" sz="2000" b="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=0.8 </m:t>
                      </m:r>
                      <m:r>
                        <a:rPr lang="en-US" sz="2000" b="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𝑉</m:t>
                      </m:r>
                      <m:r>
                        <a:rPr lang="en-US" sz="2000" b="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US" sz="2000" b="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𝑎𝑛𝑑</m:t>
                      </m:r>
                      <m:r>
                        <a:rPr lang="en-US" sz="2000" b="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2000" i="1" kern="100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000" b="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000" b="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𝐶𝐸</m:t>
                          </m:r>
                        </m:sub>
                      </m:sSub>
                      <m:r>
                        <a:rPr lang="en-US" sz="2000" b="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=0.2 </m:t>
                      </m:r>
                      <m:r>
                        <a:rPr lang="en-US" sz="2000" b="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𝑉</m:t>
                      </m:r>
                    </m:oMath>
                  </m:oMathPara>
                </a14:m>
                <a:endParaRPr lang="en-US" sz="20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marR="0" algn="ctr"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kern="100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000" b="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2000" b="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000" b="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20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2000" b="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12−0.8</m:t>
                          </m:r>
                        </m:num>
                        <m:den>
                          <m:r>
                            <a:rPr lang="en-US" sz="2000" b="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15 </m:t>
                          </m:r>
                          <m:r>
                            <a:rPr lang="en-US" sz="2000" b="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𝑘</m:t>
                          </m:r>
                          <m:r>
                            <a:rPr lang="en-US" sz="2000" b="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</m:den>
                      </m:f>
                      <m:r>
                        <a:rPr lang="en-US" sz="2000" b="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=0.746 </m:t>
                      </m:r>
                      <m:r>
                        <a:rPr lang="en-US" sz="2000" b="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𝑚𝐴</m:t>
                      </m:r>
                    </m:oMath>
                  </m:oMathPara>
                </a14:m>
                <a:endParaRPr lang="en-US" sz="20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marR="0" algn="ctr"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kern="100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000" b="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2000" b="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000" b="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20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2000" b="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0.8−(−12)</m:t>
                          </m:r>
                        </m:num>
                        <m:den>
                          <m:r>
                            <a:rPr lang="en-US" sz="2000" b="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100 </m:t>
                          </m:r>
                          <m:r>
                            <a:rPr lang="en-US" sz="2000" b="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𝑘</m:t>
                          </m:r>
                          <m:r>
                            <a:rPr lang="en-US" sz="2000" b="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</m:den>
                      </m:f>
                      <m:r>
                        <a:rPr lang="en-US" sz="2000" b="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=0.128 </m:t>
                      </m:r>
                      <m:r>
                        <a:rPr lang="en-US" sz="2000" b="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𝑚𝐴</m:t>
                      </m:r>
                    </m:oMath>
                  </m:oMathPara>
                </a14:m>
                <a:endParaRPr lang="en-US" sz="20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marR="0"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kern="100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000" b="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2000" b="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𝐵</m:t>
                          </m:r>
                        </m:sub>
                      </m:sSub>
                      <m:r>
                        <a:rPr lang="en-US" sz="2000" b="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000" i="1" kern="100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000" b="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2000" b="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000" b="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000" i="1" kern="100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000" b="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2000" b="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000" b="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=0</m:t>
                      </m:r>
                    </m:oMath>
                  </m:oMathPara>
                </a14:m>
                <a:endParaRPr lang="en-US" sz="20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marR="0"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kern="100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000" b="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2000" b="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𝐵</m:t>
                          </m:r>
                        </m:sub>
                      </m:sSub>
                      <m:r>
                        <a:rPr lang="en-US" sz="2000" b="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000" i="1" kern="100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000" b="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2000" b="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000" b="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000" i="1" kern="100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000" b="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2000" b="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000" b="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=0.619 </m:t>
                      </m:r>
                      <m:r>
                        <a:rPr lang="en-US" sz="2000" b="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𝑚𝐴</m:t>
                      </m:r>
                    </m:oMath>
                  </m:oMathPara>
                </a14:m>
                <a:endParaRPr lang="en-US" sz="20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marR="0" algn="ctr"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kern="100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000" b="0" i="1" kern="100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𝐻𝑒𝑟𝑒</m:t>
                          </m:r>
                          <m:r>
                            <a:rPr lang="en-US" sz="2000" b="0" i="1" kern="100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, </m:t>
                          </m:r>
                          <m:r>
                            <a:rPr lang="en-US" sz="2000" b="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000" b="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𝑓𝑜𝑟𝑐𝑒𝑑</m:t>
                          </m:r>
                        </m:sub>
                      </m:sSub>
                      <m:r>
                        <a:rPr lang="en-US" sz="2000" b="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20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000" i="1" kern="100" smtClean="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sz="2000" b="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𝐶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000" i="1" kern="100" smtClean="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sz="2000" b="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𝐵</m:t>
                              </m:r>
                            </m:sub>
                          </m:sSub>
                          <m:r>
                            <a:rPr lang="en-US" sz="2000" b="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</m:den>
                      </m:f>
                      <m:r>
                        <a:rPr lang="en-US" sz="2000" b="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=8.659&lt;</m:t>
                      </m:r>
                      <m:sSub>
                        <m:sSubPr>
                          <m:ctrlPr>
                            <a:rPr lang="en-US" sz="2000" i="1" kern="100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000" b="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000" b="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𝐹</m:t>
                          </m:r>
                        </m:sub>
                      </m:sSub>
                      <m:r>
                        <a:rPr lang="en-US" sz="2000" b="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 </m:t>
                      </m:r>
                    </m:oMath>
                  </m:oMathPara>
                </a14:m>
                <a:endParaRPr lang="en-US" sz="2000" i="0" kern="100" dirty="0">
                  <a:effectLst/>
                  <a:latin typeface="+mj-lt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marR="0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US" sz="2000" b="1" i="0" kern="100" dirty="0">
                    <a:effectLst/>
                    <a:latin typeface="+mj-lt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( Saturation assumption is correct )</a:t>
                </a:r>
                <a:endParaRPr lang="en-US" sz="20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marR="0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US" sz="1800" kern="1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  <a:endParaRPr lang="en-US" sz="18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D78A1DD-4260-FB8C-3129-2E81F78331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3817" y="1210542"/>
                <a:ext cx="5976477" cy="5048498"/>
              </a:xfrm>
              <a:prstGeom prst="rect">
                <a:avLst/>
              </a:prstGeom>
              <a:blipFill>
                <a:blip r:embed="rId5"/>
                <a:stretch>
                  <a:fillRect l="-10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5691748"/>
      </p:ext>
    </p:extLst>
  </p:cSld>
  <p:clrMapOvr>
    <a:masterClrMapping/>
  </p:clrMapOvr>
  <p:transition spd="slow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Power dissipation for RTL inverters:</a:t>
            </a:r>
            <a:endParaRPr dirty="0">
              <a:solidFill>
                <a:schemeClr val="accent1"/>
              </a:solidFill>
            </a:endParaRPr>
          </a:p>
        </p:txBody>
      </p:sp>
      <p:sp>
        <p:nvSpPr>
          <p:cNvPr id="100" name="Google Shape;100;p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CSE 350</a:t>
            </a:r>
            <a:endParaRPr dirty="0"/>
          </a:p>
        </p:txBody>
      </p:sp>
      <p:sp>
        <p:nvSpPr>
          <p:cNvPr id="101" name="Google Shape;101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  <p:pic>
        <p:nvPicPr>
          <p:cNvPr id="102" name="Google Shape;102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D460659-2271-9480-B5B2-7605E60299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01853" y="1572071"/>
            <a:ext cx="5167194" cy="4349092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29D54B3-3519-C814-1949-669C46BE63A2}"/>
                  </a:ext>
                </a:extLst>
              </p:cNvPr>
              <p:cNvSpPr txBox="1"/>
              <p:nvPr/>
            </p:nvSpPr>
            <p:spPr>
              <a:xfrm>
                <a:off x="1347537" y="2668114"/>
                <a:ext cx="3568592" cy="108786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US" sz="2400" b="1" kern="1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Case 01: T --&gt; Cutoff mode</a:t>
                </a:r>
                <a:endParaRPr lang="en-US" sz="24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marR="0"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kern="100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400" b="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2400" b="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𝐵</m:t>
                          </m:r>
                        </m:sub>
                      </m:sSub>
                      <m:r>
                        <a:rPr lang="en-US" sz="2400" b="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i="1" kern="100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400" b="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2400" b="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𝐶</m:t>
                          </m:r>
                        </m:sub>
                      </m:sSub>
                      <m:r>
                        <a:rPr lang="en-US" sz="2400" b="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i="1" kern="100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400" b="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2400" b="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𝐸</m:t>
                          </m:r>
                        </m:sub>
                      </m:sSub>
                      <m:r>
                        <a:rPr lang="en-US" sz="2400" b="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=0 </m:t>
                      </m:r>
                    </m:oMath>
                  </m:oMathPara>
                </a14:m>
                <a:endParaRPr lang="en-US" sz="24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29D54B3-3519-C814-1949-669C46BE63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7537" y="2668114"/>
                <a:ext cx="3568592" cy="1087862"/>
              </a:xfrm>
              <a:prstGeom prst="rect">
                <a:avLst/>
              </a:prstGeom>
              <a:blipFill>
                <a:blip r:embed="rId5"/>
                <a:stretch>
                  <a:fillRect l="-2564" t="-3933" r="-11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12692066"/>
      </p:ext>
    </p:extLst>
  </p:cSld>
  <p:clrMapOvr>
    <a:masterClrMapping/>
  </p:clrMapOvr>
  <p:transition spd="slow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DF7A5907-FEAD-7755-12E4-71AADDC267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>
            <a:extLst>
              <a:ext uri="{FF2B5EF4-FFF2-40B4-BE49-F238E27FC236}">
                <a16:creationId xmlns:a16="http://schemas.microsoft.com/office/drawing/2014/main" id="{178F5941-EA31-167C-EFBF-5A11A7F183F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Power dissipation for RTL inverter</a:t>
            </a:r>
            <a:endParaRPr dirty="0">
              <a:solidFill>
                <a:schemeClr val="accent1"/>
              </a:solidFill>
            </a:endParaRPr>
          </a:p>
        </p:txBody>
      </p:sp>
      <p:sp>
        <p:nvSpPr>
          <p:cNvPr id="100" name="Google Shape;100;p2">
            <a:extLst>
              <a:ext uri="{FF2B5EF4-FFF2-40B4-BE49-F238E27FC236}">
                <a16:creationId xmlns:a16="http://schemas.microsoft.com/office/drawing/2014/main" id="{7E4C06D1-2755-3EF7-4567-563E56B1F906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CSE 350</a:t>
            </a:r>
            <a:endParaRPr dirty="0"/>
          </a:p>
        </p:txBody>
      </p:sp>
      <p:sp>
        <p:nvSpPr>
          <p:cNvPr id="101" name="Google Shape;101;p2">
            <a:extLst>
              <a:ext uri="{FF2B5EF4-FFF2-40B4-BE49-F238E27FC236}">
                <a16:creationId xmlns:a16="http://schemas.microsoft.com/office/drawing/2014/main" id="{91D4B8AC-79AB-F1D7-C19E-279370873AF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  <p:pic>
        <p:nvPicPr>
          <p:cNvPr id="102" name="Google Shape;102;p2">
            <a:extLst>
              <a:ext uri="{FF2B5EF4-FFF2-40B4-BE49-F238E27FC236}">
                <a16:creationId xmlns:a16="http://schemas.microsoft.com/office/drawing/2014/main" id="{6B576FF7-4B90-C6FB-0074-9D59015A528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85B7820-79AB-3976-2523-C98595CE2F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6198" y="1789471"/>
            <a:ext cx="5397440" cy="3480619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C2B06E1-4AE9-9A85-59D3-C82205515CCE}"/>
                  </a:ext>
                </a:extLst>
              </p:cNvPr>
              <p:cNvSpPr txBox="1"/>
              <p:nvPr/>
            </p:nvSpPr>
            <p:spPr>
              <a:xfrm>
                <a:off x="990599" y="2648561"/>
                <a:ext cx="7278329" cy="18908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kern="100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400" b="0" i="1" kern="100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2400" b="0" i="1" kern="100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b="0" i="1" kern="100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2400" i="1" kern="100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2400" b="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0−(−12)</m:t>
                          </m:r>
                        </m:num>
                        <m:den>
                          <m:r>
                            <a:rPr lang="en-US" sz="2400" b="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(100+15) </m:t>
                          </m:r>
                          <m:r>
                            <a:rPr lang="en-US" sz="2400" b="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𝑘</m:t>
                          </m:r>
                          <m:r>
                            <a:rPr lang="en-US" sz="2400" b="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</m:den>
                      </m:f>
                      <m:r>
                        <a:rPr lang="en-US" sz="2400" b="0" i="1" kern="100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=0.104 </m:t>
                      </m:r>
                      <m:r>
                        <a:rPr lang="en-US" sz="2400" b="0" i="1" kern="100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𝑚𝐴</m:t>
                      </m:r>
                    </m:oMath>
                  </m:oMathPara>
                </a14:m>
                <a:endParaRPr lang="en-US" sz="24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marR="0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US" sz="2400" b="1" kern="1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Power dissipation, </a:t>
                </a:r>
                <a:endParaRPr lang="en-US" sz="2400" b="1" i="1" kern="100" dirty="0">
                  <a:effectLst/>
                  <a:latin typeface="Cambria Math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 xmlns:m="http://schemas.openxmlformats.org/officeDocument/2006/math">
                    <m:r>
                      <a:rPr lang="en-US" sz="2400" b="0" i="1" kern="100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𝑃</m:t>
                    </m:r>
                    <m:r>
                      <a:rPr lang="en-US" sz="2400" b="0" i="1" kern="100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 (0 –</m:t>
                    </m:r>
                    <m:r>
                      <a:rPr lang="en-US" sz="2400" b="0" i="1" kern="100" dirty="0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(−12))∗ 0.104</m:t>
                    </m:r>
                  </m:oMath>
                </a14:m>
                <a:r>
                  <a:rPr lang="en-US" sz="2400" kern="100" dirty="0"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kern="100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 1.2521 </m:t>
                    </m:r>
                    <m:r>
                      <a:rPr lang="en-US" sz="2400" b="0" i="1" kern="100" dirty="0" smtClean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𝑚𝑊</m:t>
                    </m:r>
                  </m:oMath>
                </a14:m>
                <a:endParaRPr lang="en-US" sz="24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C2B06E1-4AE9-9A85-59D3-C82205515C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0599" y="2648561"/>
                <a:ext cx="7278329" cy="1890839"/>
              </a:xfrm>
              <a:prstGeom prst="rect">
                <a:avLst/>
              </a:prstGeom>
              <a:blipFill>
                <a:blip r:embed="rId5"/>
                <a:stretch>
                  <a:fillRect l="-1256" b="-32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19724750"/>
      </p:ext>
    </p:extLst>
  </p:cSld>
  <p:clrMapOvr>
    <a:masterClrMapping/>
  </p:clrMapOvr>
  <p:transition spd="slow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F73A6E1B-954D-A0D7-07A4-590D2B3463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>
            <a:extLst>
              <a:ext uri="{FF2B5EF4-FFF2-40B4-BE49-F238E27FC236}">
                <a16:creationId xmlns:a16="http://schemas.microsoft.com/office/drawing/2014/main" id="{3454BEED-B177-FCE0-2A65-1B20A892D20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Power dissipation for RTL inverter</a:t>
            </a:r>
          </a:p>
        </p:txBody>
      </p:sp>
      <p:sp>
        <p:nvSpPr>
          <p:cNvPr id="100" name="Google Shape;100;p2">
            <a:extLst>
              <a:ext uri="{FF2B5EF4-FFF2-40B4-BE49-F238E27FC236}">
                <a16:creationId xmlns:a16="http://schemas.microsoft.com/office/drawing/2014/main" id="{015B4360-B73E-58B5-B4A0-C7E9DE5DB579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CSE 350</a:t>
            </a:r>
            <a:endParaRPr dirty="0"/>
          </a:p>
        </p:txBody>
      </p:sp>
      <p:sp>
        <p:nvSpPr>
          <p:cNvPr id="101" name="Google Shape;101;p2">
            <a:extLst>
              <a:ext uri="{FF2B5EF4-FFF2-40B4-BE49-F238E27FC236}">
                <a16:creationId xmlns:a16="http://schemas.microsoft.com/office/drawing/2014/main" id="{5D22427E-2625-D303-529A-1E08A7D3C99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  <p:pic>
        <p:nvPicPr>
          <p:cNvPr id="102" name="Google Shape;102;p2">
            <a:extLst>
              <a:ext uri="{FF2B5EF4-FFF2-40B4-BE49-F238E27FC236}">
                <a16:creationId xmlns:a16="http://schemas.microsoft.com/office/drawing/2014/main" id="{5A0536AB-5A5E-9BF4-2CD0-47B7F8ED544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713E6AF9-E8F8-3040-0083-1C54D5293F19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766915" y="1376515"/>
                <a:ext cx="10735273" cy="4462811"/>
              </a:xfrm>
            </p:spPr>
            <p:txBody>
              <a:bodyPr>
                <a:normAutofit/>
              </a:bodyPr>
              <a:lstStyle/>
              <a:p>
                <a:pPr marL="114300" indent="0">
                  <a:buNone/>
                </a:pPr>
                <a:r>
                  <a:rPr lang="en-US" b="1" dirty="0"/>
                  <a:t>Case 2</a:t>
                </a:r>
                <a:r>
                  <a:rPr lang="en-US" dirty="0"/>
                  <a:t>: 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= 1 , 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i="1" baseline="-25000" dirty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 = 12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endParaRPr lang="en-US" dirty="0"/>
              </a:p>
              <a:p>
                <a:pPr marL="114300" indent="0">
                  <a:buNone/>
                </a:pPr>
                <a:r>
                  <a:rPr lang="en-US" dirty="0"/>
                  <a:t># input high, output </a:t>
                </a:r>
              </a:p>
              <a:p>
                <a:pPr marL="114300" indent="0">
                  <a:buNone/>
                </a:pPr>
                <a:r>
                  <a:rPr lang="en-US" dirty="0"/>
                  <a:t>expected to be  low.</a:t>
                </a:r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𝐶𝐸</m:t>
                          </m:r>
                        </m:sub>
                      </m:sSub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 = 0.2 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𝐵𝐸</m:t>
                          </m:r>
                        </m:sub>
                      </m:sSub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 = 0.8 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en-US" dirty="0"/>
              </a:p>
              <a:p>
                <a:pPr marL="114300" indent="0">
                  <a:buNone/>
                </a:pPr>
                <a:r>
                  <a:rPr lang="en-US" dirty="0"/>
                  <a:t>We can expect this BJT </a:t>
                </a:r>
              </a:p>
              <a:p>
                <a:pPr marL="114300" indent="0">
                  <a:buNone/>
                </a:pPr>
                <a:r>
                  <a:rPr lang="en-US" dirty="0"/>
                  <a:t>to be operating in  saturation mode.</a:t>
                </a:r>
              </a:p>
              <a:p>
                <a:pPr marL="114300" indent="0">
                  <a:buNone/>
                </a:pPr>
                <a:r>
                  <a:rPr lang="en-US" b="1" dirty="0"/>
                  <a:t>Assumption:</a:t>
                </a:r>
                <a:r>
                  <a:rPr lang="en-US" dirty="0"/>
                  <a:t> </a:t>
                </a:r>
                <a:r>
                  <a:rPr lang="en-US" dirty="0">
                    <a:solidFill>
                      <a:srgbClr val="FF0000"/>
                    </a:solidFill>
                  </a:rPr>
                  <a:t>Saturation mode</a:t>
                </a:r>
              </a:p>
              <a:p>
                <a:pPr marL="114300" indent="0">
                  <a:buNone/>
                </a:pPr>
                <a:endParaRPr lang="en-US" dirty="0"/>
              </a:p>
              <a:p>
                <a:pPr marL="114300" indent="0">
                  <a:buNone/>
                </a:pPr>
                <a:endParaRPr lang="en-US" dirty="0"/>
              </a:p>
              <a:p>
                <a:pPr marL="114300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713E6AF9-E8F8-3040-0083-1C54D5293F1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766915" y="1376515"/>
                <a:ext cx="10735273" cy="4462811"/>
              </a:xfrm>
              <a:blipFill>
                <a:blip r:embed="rId4"/>
                <a:stretch>
                  <a:fillRect l="-1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257AA648-51C0-1FBD-E1CC-564283666FA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05599" y="1187115"/>
            <a:ext cx="4719485" cy="3914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7080304"/>
      </p:ext>
    </p:extLst>
  </p:cSld>
  <p:clrMapOvr>
    <a:masterClrMapping/>
  </p:clrMapOvr>
  <p:transition spd="slow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34B79A90-D761-07B0-2161-07E40930EB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>
            <a:extLst>
              <a:ext uri="{FF2B5EF4-FFF2-40B4-BE49-F238E27FC236}">
                <a16:creationId xmlns:a16="http://schemas.microsoft.com/office/drawing/2014/main" id="{858E0A9D-DC01-757F-0791-8A808C898C2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Power dissipation for RTL inverter</a:t>
            </a:r>
            <a:endParaRPr dirty="0">
              <a:solidFill>
                <a:schemeClr val="accent1"/>
              </a:solidFill>
            </a:endParaRPr>
          </a:p>
        </p:txBody>
      </p:sp>
      <p:sp>
        <p:nvSpPr>
          <p:cNvPr id="100" name="Google Shape;100;p2">
            <a:extLst>
              <a:ext uri="{FF2B5EF4-FFF2-40B4-BE49-F238E27FC236}">
                <a16:creationId xmlns:a16="http://schemas.microsoft.com/office/drawing/2014/main" id="{BBD0AEF1-46B0-FF3C-3CEC-19BD531B9A8A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CSE 350</a:t>
            </a:r>
            <a:endParaRPr dirty="0"/>
          </a:p>
        </p:txBody>
      </p:sp>
      <p:sp>
        <p:nvSpPr>
          <p:cNvPr id="101" name="Google Shape;101;p2">
            <a:extLst>
              <a:ext uri="{FF2B5EF4-FFF2-40B4-BE49-F238E27FC236}">
                <a16:creationId xmlns:a16="http://schemas.microsoft.com/office/drawing/2014/main" id="{720922D0-5BD3-D74C-B610-1E8833C668E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10</a:t>
            </a:fld>
            <a:endParaRPr dirty="0"/>
          </a:p>
        </p:txBody>
      </p:sp>
      <p:pic>
        <p:nvPicPr>
          <p:cNvPr id="102" name="Google Shape;102;p2">
            <a:extLst>
              <a:ext uri="{FF2B5EF4-FFF2-40B4-BE49-F238E27FC236}">
                <a16:creationId xmlns:a16="http://schemas.microsoft.com/office/drawing/2014/main" id="{C41ADD8C-ED77-63EE-4D36-47EA277D29A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121CB7-9BC1-4742-FE6E-CA3D427D03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6915" y="1376515"/>
            <a:ext cx="10735273" cy="4462811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E0A3909-FE6E-5927-8669-52ECD5308B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6942" y="1186265"/>
            <a:ext cx="5073614" cy="462674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D78A1DD-4260-FB8C-3129-2E81F7833104}"/>
                  </a:ext>
                </a:extLst>
              </p:cNvPr>
              <p:cNvSpPr txBox="1"/>
              <p:nvPr/>
            </p:nvSpPr>
            <p:spPr>
              <a:xfrm>
                <a:off x="689812" y="1205388"/>
                <a:ext cx="5604219" cy="536166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algn="ctr"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b="0" i="1" kern="100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𝐼</m:t>
                      </m:r>
                      <m:r>
                        <a:rPr lang="en-US" sz="2000" b="0" i="1" kern="100" baseline="-25000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𝐶</m:t>
                      </m:r>
                      <m:r>
                        <a:rPr lang="en-US" sz="2000" b="0" i="1" kern="100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20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2000" b="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12−0.2</m:t>
                          </m:r>
                        </m:num>
                        <m:den>
                          <m:r>
                            <a:rPr lang="en-US" sz="2000" b="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2.2 </m:t>
                          </m:r>
                          <m:r>
                            <a:rPr lang="en-US" sz="2000" b="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𝑘</m:t>
                          </m:r>
                          <m:r>
                            <a:rPr lang="en-US" sz="2000" b="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</m:den>
                      </m:f>
                      <m:r>
                        <a:rPr lang="en-US" sz="2000" b="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=5.36 </m:t>
                      </m:r>
                      <m:r>
                        <a:rPr lang="en-US" sz="2000" b="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𝑚𝐴</m:t>
                      </m:r>
                    </m:oMath>
                  </m:oMathPara>
                </a14:m>
                <a:endParaRPr lang="en-US" sz="20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marR="0" algn="ctr"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b="1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𝑻</m:t>
                      </m:r>
                      <m:r>
                        <a:rPr lang="en-US" sz="2000" b="1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→</m:t>
                      </m:r>
                      <m:r>
                        <a:rPr lang="en-US" sz="2000" b="1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𝑺𝒂𝒕𝒖𝒓𝒂𝒕𝒊𝒐𝒏</m:t>
                      </m:r>
                      <m:r>
                        <a:rPr lang="en-US" sz="2000" b="1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, </m:t>
                      </m:r>
                    </m:oMath>
                  </m:oMathPara>
                </a14:m>
                <a:endParaRPr lang="en-US" sz="2000" b="1" i="1" kern="100" dirty="0">
                  <a:effectLst/>
                  <a:latin typeface="Cambria Math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marR="0" algn="ctr"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kern="100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000" b="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000" b="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𝐵𝐸</m:t>
                          </m:r>
                        </m:sub>
                      </m:sSub>
                      <m:r>
                        <a:rPr lang="en-US" sz="2000" b="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=0.8 </m:t>
                      </m:r>
                      <m:r>
                        <a:rPr lang="en-US" sz="2000" b="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𝑉</m:t>
                      </m:r>
                      <m:r>
                        <a:rPr lang="en-US" sz="2000" b="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US" sz="2000" b="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𝑎𝑛𝑑</m:t>
                      </m:r>
                      <m:r>
                        <a:rPr lang="en-US" sz="2000" b="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2000" i="1" kern="100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000" b="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000" b="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𝐶𝐸</m:t>
                          </m:r>
                        </m:sub>
                      </m:sSub>
                      <m:r>
                        <a:rPr lang="en-US" sz="2000" b="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=0.2 </m:t>
                      </m:r>
                      <m:r>
                        <a:rPr lang="en-US" sz="2000" b="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𝑉</m:t>
                      </m:r>
                    </m:oMath>
                  </m:oMathPara>
                </a14:m>
                <a:endParaRPr lang="en-US" sz="20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marR="0" algn="ctr"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kern="100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000" b="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2000" b="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000" b="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20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2000" b="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12−0.8</m:t>
                          </m:r>
                        </m:num>
                        <m:den>
                          <m:r>
                            <a:rPr lang="en-US" sz="2000" b="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15 </m:t>
                          </m:r>
                          <m:r>
                            <a:rPr lang="en-US" sz="2000" b="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𝑘</m:t>
                          </m:r>
                          <m:r>
                            <a:rPr lang="en-US" sz="2000" b="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</m:den>
                      </m:f>
                      <m:r>
                        <a:rPr lang="en-US" sz="2000" b="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=0.746 </m:t>
                      </m:r>
                      <m:r>
                        <a:rPr lang="en-US" sz="2000" b="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𝑚𝐴</m:t>
                      </m:r>
                    </m:oMath>
                  </m:oMathPara>
                </a14:m>
                <a:endParaRPr lang="en-US" sz="20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marR="0" algn="ctr"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kern="100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000" b="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2000" b="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000" b="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20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2000" b="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0.8−(−12)</m:t>
                          </m:r>
                        </m:num>
                        <m:den>
                          <m:r>
                            <a:rPr lang="en-US" sz="2000" b="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100 </m:t>
                          </m:r>
                          <m:r>
                            <a:rPr lang="en-US" sz="2000" b="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𝑘</m:t>
                          </m:r>
                          <m:r>
                            <a:rPr lang="en-US" sz="2000" b="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</m:den>
                      </m:f>
                      <m:r>
                        <a:rPr lang="en-US" sz="2000" b="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=0.128 </m:t>
                      </m:r>
                      <m:r>
                        <a:rPr lang="en-US" sz="2000" b="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𝑚𝐴</m:t>
                      </m:r>
                    </m:oMath>
                  </m:oMathPara>
                </a14:m>
                <a:endParaRPr lang="en-US" sz="20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marR="0" algn="ctr"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b="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𝐼</m:t>
                      </m:r>
                      <m:r>
                        <a:rPr lang="en-US" sz="2000" b="0" i="1" kern="100" baseline="-250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𝐵</m:t>
                      </m:r>
                      <m:r>
                        <a:rPr lang="en-US" sz="2000" b="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n-US" sz="2000" b="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𝐼</m:t>
                      </m:r>
                      <m:r>
                        <a:rPr lang="en-US" sz="2000" b="0" i="1" kern="100" baseline="-250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2</m:t>
                      </m:r>
                      <m:r>
                        <a:rPr lang="en-US" sz="2000" b="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r>
                        <a:rPr lang="en-US" sz="2000" b="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𝐼</m:t>
                      </m:r>
                      <m:r>
                        <a:rPr lang="en-US" sz="2000" b="0" i="1" kern="100" baseline="-250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1</m:t>
                      </m:r>
                      <m:r>
                        <a:rPr lang="en-US" sz="2000" b="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=0</m:t>
                      </m:r>
                    </m:oMath>
                  </m:oMathPara>
                </a14:m>
                <a:endParaRPr lang="en-US" sz="20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marR="0" algn="ctr"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b="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𝐼</m:t>
                      </m:r>
                      <m:r>
                        <a:rPr lang="en-US" sz="2000" b="0" i="1" kern="100" baseline="-250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𝐵</m:t>
                      </m:r>
                      <m:r>
                        <a:rPr lang="en-US" sz="2000" b="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sz="2000" b="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𝐼</m:t>
                      </m:r>
                      <m:r>
                        <a:rPr lang="en-US" sz="2000" b="0" i="1" kern="100" baseline="-250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1</m:t>
                      </m:r>
                      <m:r>
                        <a:rPr lang="en-US" sz="2000" b="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r>
                        <a:rPr lang="en-US" sz="2000" b="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𝐼</m:t>
                      </m:r>
                      <m:r>
                        <a:rPr lang="en-US" sz="2000" b="0" i="1" kern="100" baseline="-250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2</m:t>
                      </m:r>
                      <m:r>
                        <a:rPr lang="en-US" sz="2000" b="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=0.619 </m:t>
                      </m:r>
                      <m:r>
                        <a:rPr lang="en-US" sz="2000" b="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𝑚𝐴</m:t>
                      </m:r>
                    </m:oMath>
                  </m:oMathPara>
                </a14:m>
                <a:endParaRPr lang="en-US" sz="20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marR="0" algn="ctr"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b="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𝛽</m:t>
                      </m:r>
                      <m:r>
                        <a:rPr lang="en-US" sz="2000" b="0" i="1" kern="100" baseline="-250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𝑓𝑜𝑟𝑐𝑒𝑑</m:t>
                      </m:r>
                      <m:r>
                        <a:rPr lang="en-US" sz="2000" b="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20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2000" b="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𝐼</m:t>
                          </m:r>
                          <m:r>
                            <a:rPr lang="en-US" sz="2000" b="0" i="1" kern="100" baseline="-250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𝐶</m:t>
                          </m:r>
                        </m:num>
                        <m:den>
                          <m:r>
                            <a:rPr lang="en-US" sz="2000" b="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𝐼</m:t>
                          </m:r>
                          <m:r>
                            <a:rPr lang="en-US" sz="2000" b="0" i="1" kern="100" baseline="-250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𝐵</m:t>
                          </m:r>
                          <m:r>
                            <a:rPr lang="en-US" sz="2000" b="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</m:den>
                      </m:f>
                      <m:r>
                        <a:rPr lang="en-US" sz="2000" b="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=8.659&lt;</m:t>
                      </m:r>
                      <m:r>
                        <a:rPr lang="en-US" sz="2000" b="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𝛽</m:t>
                      </m:r>
                      <m:r>
                        <a:rPr lang="en-US" sz="2000" b="0" i="1" kern="100" baseline="-250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𝐹</m:t>
                      </m:r>
                      <m:r>
                        <a:rPr lang="en-US" sz="2000" b="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 </m:t>
                      </m:r>
                    </m:oMath>
                  </m:oMathPara>
                </a14:m>
                <a:endParaRPr lang="en-US" sz="2000" i="1" kern="100" dirty="0">
                  <a:effectLst/>
                  <a:latin typeface="Cambria Math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marR="0" algn="ctr"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b="1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( </m:t>
                      </m:r>
                      <m:r>
                        <a:rPr lang="en-US" sz="2000" b="1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𝑺𝒂𝒕𝒖𝒓𝒂𝒕𝒊𝒐𝒏</m:t>
                      </m:r>
                      <m:r>
                        <a:rPr lang="en-US" sz="2000" b="1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US" sz="2000" b="1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𝒂𝒔𝒔𝒖𝒎𝒑𝒕𝒊𝒐𝒏</m:t>
                      </m:r>
                      <m:r>
                        <a:rPr lang="en-US" sz="2000" b="1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US" sz="2000" b="1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𝒊𝒔</m:t>
                      </m:r>
                      <m:r>
                        <a:rPr lang="en-US" sz="2000" b="1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US" sz="2000" b="1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𝒄𝒐𝒓𝒓𝒆𝒄𝒕</m:t>
                      </m:r>
                      <m:r>
                        <a:rPr lang="en-US" sz="2000" b="1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 )</m:t>
                      </m:r>
                    </m:oMath>
                  </m:oMathPara>
                </a14:m>
                <a:endParaRPr lang="en-US" sz="20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marR="0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US" sz="1400" kern="1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  <a:endParaRPr lang="en-US" sz="14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D78A1DD-4260-FB8C-3129-2E81F78331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9812" y="1205388"/>
                <a:ext cx="5604219" cy="536166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58727371"/>
      </p:ext>
    </p:extLst>
  </p:cSld>
  <p:clrMapOvr>
    <a:masterClrMapping/>
  </p:clrMapOvr>
  <p:transition spd="slow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776284" cy="5332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Power dissipation for RTL inverter</a:t>
            </a:r>
            <a:endParaRPr dirty="0">
              <a:solidFill>
                <a:schemeClr val="accent1"/>
              </a:solidFill>
            </a:endParaRPr>
          </a:p>
        </p:txBody>
      </p:sp>
      <p:sp>
        <p:nvSpPr>
          <p:cNvPr id="100" name="Google Shape;100;p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CSE 350</a:t>
            </a:r>
            <a:endParaRPr dirty="0"/>
          </a:p>
        </p:txBody>
      </p:sp>
      <p:sp>
        <p:nvSpPr>
          <p:cNvPr id="101" name="Google Shape;101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  <p:pic>
        <p:nvPicPr>
          <p:cNvPr id="102" name="Google Shape;102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A0D0608-4CF8-09D0-3778-1398E4FDE2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90066" y="1564903"/>
            <a:ext cx="5620534" cy="4124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4268261"/>
      </p:ext>
    </p:extLst>
  </p:cSld>
  <p:clrMapOvr>
    <a:masterClrMapping/>
  </p:clrMapOvr>
  <p:transition spd="slow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A69BABA5-DFA1-9295-2FFC-D6BF40D1AA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>
            <a:extLst>
              <a:ext uri="{FF2B5EF4-FFF2-40B4-BE49-F238E27FC236}">
                <a16:creationId xmlns:a16="http://schemas.microsoft.com/office/drawing/2014/main" id="{B383AB03-9B34-04D5-A391-DB1F51524EC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776284" cy="5332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Power dissipation for RTL inverter</a:t>
            </a:r>
            <a:endParaRPr dirty="0">
              <a:solidFill>
                <a:schemeClr val="accent1"/>
              </a:solidFill>
            </a:endParaRPr>
          </a:p>
        </p:txBody>
      </p:sp>
      <p:sp>
        <p:nvSpPr>
          <p:cNvPr id="100" name="Google Shape;100;p2">
            <a:extLst>
              <a:ext uri="{FF2B5EF4-FFF2-40B4-BE49-F238E27FC236}">
                <a16:creationId xmlns:a16="http://schemas.microsoft.com/office/drawing/2014/main" id="{9A76800D-7A59-85D1-D494-415D38DA973E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CSE 350</a:t>
            </a:r>
            <a:endParaRPr dirty="0"/>
          </a:p>
        </p:txBody>
      </p:sp>
      <p:sp>
        <p:nvSpPr>
          <p:cNvPr id="101" name="Google Shape;101;p2">
            <a:extLst>
              <a:ext uri="{FF2B5EF4-FFF2-40B4-BE49-F238E27FC236}">
                <a16:creationId xmlns:a16="http://schemas.microsoft.com/office/drawing/2014/main" id="{ED470754-E86F-7168-D944-77E12155911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  <p:pic>
        <p:nvPicPr>
          <p:cNvPr id="102" name="Google Shape;102;p2">
            <a:extLst>
              <a:ext uri="{FF2B5EF4-FFF2-40B4-BE49-F238E27FC236}">
                <a16:creationId xmlns:a16="http://schemas.microsoft.com/office/drawing/2014/main" id="{4C2D1E6A-5D7A-75B0-0DC5-F0DC3401B3B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B9413E3-ADDC-56F3-D392-9CC9D8489661}"/>
                  </a:ext>
                </a:extLst>
              </p:cNvPr>
              <p:cNvSpPr txBox="1"/>
              <p:nvPr/>
            </p:nvSpPr>
            <p:spPr>
              <a:xfrm>
                <a:off x="1780674" y="1397753"/>
                <a:ext cx="7876673" cy="350647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algn="ctr"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0" i="1" kern="100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𝑃</m:t>
                      </m:r>
                      <m:r>
                        <a:rPr lang="en-US" sz="2400" b="0" i="1" kern="100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1=</m:t>
                      </m:r>
                      <m:d>
                        <m:dPr>
                          <m:ctrlPr>
                            <a:rPr lang="en-US" sz="24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2400" b="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12−</m:t>
                          </m:r>
                          <m:d>
                            <m:dPr>
                              <m:ctrlPr>
                                <a:rPr lang="en-US" sz="24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−12</m:t>
                              </m:r>
                            </m:e>
                          </m:d>
                        </m:e>
                      </m:d>
                      <m:r>
                        <a:rPr lang="en-US" sz="2400" b="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𝑉</m:t>
                      </m:r>
                      <m:r>
                        <a:rPr lang="en-US" sz="2400" b="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∗0.128 </m:t>
                      </m:r>
                      <m:r>
                        <a:rPr lang="en-US" sz="2400" b="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𝑚𝐴</m:t>
                      </m:r>
                      <m:r>
                        <a:rPr lang="en-US" sz="2400" b="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=3.072 </m:t>
                      </m:r>
                      <m:r>
                        <a:rPr lang="en-US" sz="2400" b="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𝑚𝑊</m:t>
                      </m:r>
                    </m:oMath>
                  </m:oMathPara>
                </a14:m>
                <a:endParaRPr lang="en-US" sz="24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marR="0" algn="ctr">
                  <a:lnSpc>
                    <a:spcPct val="107000"/>
                  </a:lnSpc>
                  <a:spcAft>
                    <a:spcPts val="800"/>
                  </a:spcAft>
                </a:pPr>
                <a:endParaRPr lang="en-US" sz="24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marR="0" algn="ctr"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𝑃</m:t>
                      </m:r>
                      <m:r>
                        <a:rPr lang="en-US" sz="2400" b="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2=</m:t>
                      </m:r>
                      <m:d>
                        <m:dPr>
                          <m:ctrlPr>
                            <a:rPr lang="en-US" sz="24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2400" b="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12−0</m:t>
                          </m:r>
                        </m:e>
                      </m:d>
                      <m:r>
                        <a:rPr lang="en-US" sz="2400" b="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𝑉</m:t>
                      </m:r>
                      <m:r>
                        <a:rPr lang="en-US" sz="2400" b="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∗0.6186 </m:t>
                      </m:r>
                      <m:r>
                        <a:rPr lang="en-US" sz="2400" b="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𝑚𝐴</m:t>
                      </m:r>
                      <m:r>
                        <a:rPr lang="en-US" sz="2400" b="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 7.4323 </m:t>
                      </m:r>
                      <m:r>
                        <a:rPr lang="en-US" sz="2400" b="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𝑚𝑊</m:t>
                      </m:r>
                    </m:oMath>
                  </m:oMathPara>
                </a14:m>
                <a:endParaRPr lang="en-US" sz="24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marR="0" algn="ctr">
                  <a:lnSpc>
                    <a:spcPct val="107000"/>
                  </a:lnSpc>
                  <a:spcAft>
                    <a:spcPts val="800"/>
                  </a:spcAft>
                </a:pPr>
                <a:endParaRPr lang="en-US" sz="24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marR="0" algn="ctr"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𝑃</m:t>
                      </m:r>
                      <m:r>
                        <a:rPr lang="en-US" sz="2400" b="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3=</m:t>
                      </m:r>
                      <m:d>
                        <m:dPr>
                          <m:ctrlPr>
                            <a:rPr lang="en-US" sz="24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2400" b="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12−0</m:t>
                          </m:r>
                        </m:e>
                      </m:d>
                      <m:r>
                        <a:rPr lang="en-US" sz="2400" b="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US" sz="2400" b="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𝑉</m:t>
                      </m:r>
                      <m:r>
                        <a:rPr lang="en-US" sz="2400" b="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∗5.3632 </m:t>
                      </m:r>
                      <m:r>
                        <a:rPr lang="en-US" sz="2400" b="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𝑚𝑊</m:t>
                      </m:r>
                      <m:r>
                        <a:rPr lang="en-US" sz="2400" b="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=64.3632 </m:t>
                      </m:r>
                      <m:r>
                        <a:rPr lang="en-US" sz="2400" b="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𝑚𝑊</m:t>
                      </m:r>
                      <m:r>
                        <a:rPr lang="en-US" sz="2400" b="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 </m:t>
                      </m:r>
                    </m:oMath>
                  </m:oMathPara>
                </a14:m>
                <a:endParaRPr lang="en-US" sz="24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marR="0" algn="ctr">
                  <a:lnSpc>
                    <a:spcPct val="107000"/>
                  </a:lnSpc>
                  <a:spcAft>
                    <a:spcPts val="800"/>
                  </a:spcAft>
                </a:pPr>
                <a:endParaRPr lang="en-US" sz="2400" b="1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marR="0" algn="ctr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US" sz="2400" b="1" kern="1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Total Power, </a:t>
                </a:r>
                <a14:m>
                  <m:oMath xmlns:m="http://schemas.openxmlformats.org/officeDocument/2006/math">
                    <m:r>
                      <a:rPr lang="en-US" sz="2400" b="1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𝑷</m:t>
                    </m:r>
                    <m:r>
                      <a:rPr lang="en-US" sz="2400" b="1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400" b="1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𝑷</m:t>
                    </m:r>
                    <m:r>
                      <a:rPr lang="en-US" sz="2400" b="1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𝟏</m:t>
                    </m:r>
                    <m:r>
                      <a:rPr lang="en-US" sz="2400" b="1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sz="2400" b="1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𝑷</m:t>
                    </m:r>
                    <m:r>
                      <a:rPr lang="en-US" sz="2400" b="1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𝟐</m:t>
                    </m:r>
                    <m:r>
                      <a:rPr lang="en-US" sz="2400" b="1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sz="2400" b="1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𝑷</m:t>
                    </m:r>
                    <m:r>
                      <a:rPr lang="en-US" sz="2400" b="1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𝟑</m:t>
                    </m:r>
                    <m:r>
                      <a:rPr lang="en-US" sz="2400" b="1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400" b="1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𝟕𝟒</m:t>
                    </m:r>
                    <m:r>
                      <a:rPr lang="en-US" sz="2400" b="1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.</m:t>
                    </m:r>
                    <m:r>
                      <a:rPr lang="en-US" sz="2400" b="1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𝟖𝟓𝟖𝟒</m:t>
                    </m:r>
                    <m:r>
                      <a:rPr lang="en-US" sz="2400" b="1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𝒎𝑾</m:t>
                    </m:r>
                  </m:oMath>
                </a14:m>
                <a:endParaRPr lang="en-US" sz="2400" b="1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B9413E3-ADDC-56F3-D392-9CC9D84896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0674" y="1397753"/>
                <a:ext cx="7876673" cy="3506473"/>
              </a:xfrm>
              <a:prstGeom prst="rect">
                <a:avLst/>
              </a:prstGeom>
              <a:blipFill>
                <a:blip r:embed="rId4"/>
                <a:stretch>
                  <a:fillRect b="-31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01830790"/>
      </p:ext>
    </p:extLst>
  </p:cSld>
  <p:clrMapOvr>
    <a:masterClrMapping/>
  </p:clrMapOvr>
  <p:transition spd="slow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78E456AF-D069-D37C-D3C0-8948D086B0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>
            <a:extLst>
              <a:ext uri="{FF2B5EF4-FFF2-40B4-BE49-F238E27FC236}">
                <a16:creationId xmlns:a16="http://schemas.microsoft.com/office/drawing/2014/main" id="{C5BE0CEC-CF23-953B-CB7F-B7C45E8685D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776284" cy="5332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Noise Margin</a:t>
            </a:r>
            <a:endParaRPr dirty="0">
              <a:solidFill>
                <a:schemeClr val="accent1"/>
              </a:solidFill>
            </a:endParaRPr>
          </a:p>
        </p:txBody>
      </p:sp>
      <p:sp>
        <p:nvSpPr>
          <p:cNvPr id="100" name="Google Shape;100;p2">
            <a:extLst>
              <a:ext uri="{FF2B5EF4-FFF2-40B4-BE49-F238E27FC236}">
                <a16:creationId xmlns:a16="http://schemas.microsoft.com/office/drawing/2014/main" id="{437724C6-CE5A-7BCE-2D17-25E1426E86EF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CSE 350</a:t>
            </a:r>
            <a:endParaRPr dirty="0"/>
          </a:p>
        </p:txBody>
      </p:sp>
      <p:sp>
        <p:nvSpPr>
          <p:cNvPr id="101" name="Google Shape;101;p2">
            <a:extLst>
              <a:ext uri="{FF2B5EF4-FFF2-40B4-BE49-F238E27FC236}">
                <a16:creationId xmlns:a16="http://schemas.microsoft.com/office/drawing/2014/main" id="{26948063-8927-E501-3678-279B5439C48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  <p:pic>
        <p:nvPicPr>
          <p:cNvPr id="102" name="Google Shape;102;p2">
            <a:extLst>
              <a:ext uri="{FF2B5EF4-FFF2-40B4-BE49-F238E27FC236}">
                <a16:creationId xmlns:a16="http://schemas.microsoft.com/office/drawing/2014/main" id="{0FF5B32A-1224-B208-A546-365696D0A08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12C5E7B-9A6E-2AFA-7568-765A04078DEF}"/>
              </a:ext>
            </a:extLst>
          </p:cNvPr>
          <p:cNvSpPr txBox="1"/>
          <p:nvPr/>
        </p:nvSpPr>
        <p:spPr>
          <a:xfrm>
            <a:off x="838200" y="1627494"/>
            <a:ext cx="530616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Output from one inverter is received as input to the next inverter.</a:t>
            </a:r>
          </a:p>
          <a:p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External interference, noise can hamper the signal transmission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83BF4E2-574F-2D1C-35CB-97BEC2911D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4904" y="1185970"/>
            <a:ext cx="5306165" cy="3515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5195967"/>
      </p:ext>
    </p:extLst>
  </p:cSld>
  <p:clrMapOvr>
    <a:masterClrMapping/>
  </p:clrMapOvr>
  <p:transition spd="slow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91F47539-2D9D-FD1E-7154-5BDF938B27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>
            <a:extLst>
              <a:ext uri="{FF2B5EF4-FFF2-40B4-BE49-F238E27FC236}">
                <a16:creationId xmlns:a16="http://schemas.microsoft.com/office/drawing/2014/main" id="{34EBC866-B2D1-73DE-F2FE-B819F1C266C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Noise Margin</a:t>
            </a:r>
          </a:p>
        </p:txBody>
      </p:sp>
      <p:sp>
        <p:nvSpPr>
          <p:cNvPr id="100" name="Google Shape;100;p2">
            <a:extLst>
              <a:ext uri="{FF2B5EF4-FFF2-40B4-BE49-F238E27FC236}">
                <a16:creationId xmlns:a16="http://schemas.microsoft.com/office/drawing/2014/main" id="{16E8BBC7-8C1C-A060-814A-6A29A550B0E0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CSE 350</a:t>
            </a:r>
            <a:endParaRPr dirty="0"/>
          </a:p>
        </p:txBody>
      </p:sp>
      <p:sp>
        <p:nvSpPr>
          <p:cNvPr id="101" name="Google Shape;101;p2">
            <a:extLst>
              <a:ext uri="{FF2B5EF4-FFF2-40B4-BE49-F238E27FC236}">
                <a16:creationId xmlns:a16="http://schemas.microsoft.com/office/drawing/2014/main" id="{1DE9494D-2FFF-32CD-BAE6-29787F1B37C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  <p:pic>
        <p:nvPicPr>
          <p:cNvPr id="102" name="Google Shape;102;p2">
            <a:extLst>
              <a:ext uri="{FF2B5EF4-FFF2-40B4-BE49-F238E27FC236}">
                <a16:creationId xmlns:a16="http://schemas.microsoft.com/office/drawing/2014/main" id="{EEE6CBE8-9901-D1DF-B1EB-ADA3C0ECB67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202CD805-FFB1-9DF2-A49A-905C69C34689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766915" y="1376515"/>
                <a:ext cx="10735273" cy="4462811"/>
              </a:xfrm>
            </p:spPr>
            <p:txBody>
              <a:bodyPr>
                <a:normAutofit/>
              </a:bodyPr>
              <a:lstStyle/>
              <a:p>
                <a:pPr marL="114300" indent="0">
                  <a:buNone/>
                </a:pPr>
                <a:r>
                  <a:rPr lang="en-US" b="1" dirty="0"/>
                  <a:t>Noise Margin</a:t>
                </a:r>
                <a:r>
                  <a:rPr lang="en-US" dirty="0"/>
                  <a:t>: The maximum amount of noise voltage can be tolerated by a circuit while completing a successful transmission from output to input.</a:t>
                </a:r>
              </a:p>
              <a:p>
                <a:pPr marL="0" marR="0" indent="0">
                  <a:lnSpc>
                    <a:spcPct val="107000"/>
                  </a:lnSpc>
                  <a:spcAft>
                    <a:spcPts val="800"/>
                  </a:spcAft>
                  <a:buNone/>
                </a:pPr>
                <a:r>
                  <a:rPr lang="en-US" sz="2800" b="1" kern="1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High state noise margin:</a:t>
                </a:r>
                <a:endParaRPr lang="en-US" sz="28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marR="0" indent="0">
                  <a:lnSpc>
                    <a:spcPct val="107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800" b="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800" b="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𝑁𝐻</m:t>
                          </m:r>
                        </m:sub>
                      </m:sSub>
                      <m:r>
                        <a:rPr lang="en-US" sz="2800" b="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800" b="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800" b="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𝑂𝐻</m:t>
                          </m:r>
                        </m:sub>
                      </m:sSub>
                      <m:r>
                        <a:rPr lang="en-US" sz="2800" b="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800" b="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800" b="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𝐼𝐻</m:t>
                          </m:r>
                        </m:sub>
                      </m:sSub>
                    </m:oMath>
                  </m:oMathPara>
                </a14:m>
                <a:endParaRPr lang="en-US" sz="28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marR="0" indent="0">
                  <a:lnSpc>
                    <a:spcPct val="107000"/>
                  </a:lnSpc>
                  <a:spcAft>
                    <a:spcPts val="800"/>
                  </a:spcAft>
                  <a:buNone/>
                </a:pPr>
                <a:r>
                  <a:rPr lang="en-US" sz="2800" b="1" kern="1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Low state noise margin:</a:t>
                </a:r>
                <a:endParaRPr lang="en-US" sz="28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marR="0" indent="0">
                  <a:lnSpc>
                    <a:spcPct val="107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800" b="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800" b="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𝑁𝐿</m:t>
                          </m:r>
                        </m:sub>
                      </m:sSub>
                      <m:r>
                        <a:rPr lang="en-US" sz="2800" b="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800" b="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800" b="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𝐼𝐿</m:t>
                          </m:r>
                        </m:sub>
                      </m:sSub>
                      <m:r>
                        <a:rPr lang="en-US" sz="2800" b="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800" b="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800" b="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𝑂𝐿</m:t>
                          </m:r>
                        </m:sub>
                      </m:sSub>
                    </m:oMath>
                  </m:oMathPara>
                </a14:m>
                <a:endParaRPr lang="en-US" sz="28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114300" indent="0">
                  <a:buNone/>
                </a:pPr>
                <a:endParaRPr lang="en-US" dirty="0"/>
              </a:p>
              <a:p>
                <a:pPr marL="114300" indent="0">
                  <a:buNone/>
                </a:pPr>
                <a:endParaRPr lang="en-US" dirty="0"/>
              </a:p>
              <a:p>
                <a:pPr marL="114300" indent="0">
                  <a:buNone/>
                </a:pPr>
                <a:endParaRPr lang="en-US" dirty="0"/>
              </a:p>
              <a:p>
                <a:pPr marL="11430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202CD805-FFB1-9DF2-A49A-905C69C3468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766915" y="1376515"/>
                <a:ext cx="10735273" cy="4462811"/>
              </a:xfrm>
              <a:blipFill>
                <a:blip r:embed="rId4"/>
                <a:stretch>
                  <a:fillRect l="-1193" r="-1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73266648"/>
      </p:ext>
    </p:extLst>
  </p:cSld>
  <p:clrMapOvr>
    <a:masterClrMapping/>
  </p:clrMapOvr>
  <p:transition spd="slow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96892274-0C99-A213-C344-86C302AD6A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>
            <a:extLst>
              <a:ext uri="{FF2B5EF4-FFF2-40B4-BE49-F238E27FC236}">
                <a16:creationId xmlns:a16="http://schemas.microsoft.com/office/drawing/2014/main" id="{7CCEDA4E-CB8C-E811-BDCE-A949B7DD22F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Noise Margin</a:t>
            </a:r>
          </a:p>
        </p:txBody>
      </p:sp>
      <p:sp>
        <p:nvSpPr>
          <p:cNvPr id="100" name="Google Shape;100;p2">
            <a:extLst>
              <a:ext uri="{FF2B5EF4-FFF2-40B4-BE49-F238E27FC236}">
                <a16:creationId xmlns:a16="http://schemas.microsoft.com/office/drawing/2014/main" id="{6E06B9D6-F006-62CD-FA41-2E34457ED48F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CSE 350</a:t>
            </a:r>
            <a:endParaRPr dirty="0"/>
          </a:p>
        </p:txBody>
      </p:sp>
      <p:sp>
        <p:nvSpPr>
          <p:cNvPr id="101" name="Google Shape;101;p2">
            <a:extLst>
              <a:ext uri="{FF2B5EF4-FFF2-40B4-BE49-F238E27FC236}">
                <a16:creationId xmlns:a16="http://schemas.microsoft.com/office/drawing/2014/main" id="{7925EEC4-DEE7-7A57-7A19-3D9F0F17697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  <p:pic>
        <p:nvPicPr>
          <p:cNvPr id="102" name="Google Shape;102;p2">
            <a:extLst>
              <a:ext uri="{FF2B5EF4-FFF2-40B4-BE49-F238E27FC236}">
                <a16:creationId xmlns:a16="http://schemas.microsoft.com/office/drawing/2014/main" id="{026C1164-7859-2CAC-BA94-932582F10B6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75296E-4CC8-1416-9AFB-87282B3024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6915" y="1376515"/>
            <a:ext cx="10735273" cy="4462811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endParaRPr lang="en-US" dirty="0"/>
          </a:p>
        </p:txBody>
      </p:sp>
      <p:pic>
        <p:nvPicPr>
          <p:cNvPr id="1026" name="Picture 2" descr="Paper Title (use style: paper title)">
            <a:extLst>
              <a:ext uri="{FF2B5EF4-FFF2-40B4-BE49-F238E27FC236}">
                <a16:creationId xmlns:a16="http://schemas.microsoft.com/office/drawing/2014/main" id="{CA4A8E62-965A-3263-AC4F-531C13B109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3432" y="1221191"/>
            <a:ext cx="8981445" cy="50296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78292348"/>
      </p:ext>
    </p:extLst>
  </p:cSld>
  <p:clrMapOvr>
    <a:masterClrMapping/>
  </p:clrMapOvr>
  <p:transition spd="slow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761001FD-1E97-6CEE-4FCF-7BBD747FFF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>
            <a:extLst>
              <a:ext uri="{FF2B5EF4-FFF2-40B4-BE49-F238E27FC236}">
                <a16:creationId xmlns:a16="http://schemas.microsoft.com/office/drawing/2014/main" id="{0738E0C4-5EA9-2EC0-2193-8599237E334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Noise Margin</a:t>
            </a:r>
          </a:p>
        </p:txBody>
      </p:sp>
      <p:sp>
        <p:nvSpPr>
          <p:cNvPr id="100" name="Google Shape;100;p2">
            <a:extLst>
              <a:ext uri="{FF2B5EF4-FFF2-40B4-BE49-F238E27FC236}">
                <a16:creationId xmlns:a16="http://schemas.microsoft.com/office/drawing/2014/main" id="{BDD798DB-0CE6-DE3D-2551-1A44C79CA19B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CSE 350</a:t>
            </a:r>
            <a:endParaRPr dirty="0"/>
          </a:p>
        </p:txBody>
      </p:sp>
      <p:sp>
        <p:nvSpPr>
          <p:cNvPr id="101" name="Google Shape;101;p2">
            <a:extLst>
              <a:ext uri="{FF2B5EF4-FFF2-40B4-BE49-F238E27FC236}">
                <a16:creationId xmlns:a16="http://schemas.microsoft.com/office/drawing/2014/main" id="{849B17BB-2C18-53B6-EB65-948574B885F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  <p:pic>
        <p:nvPicPr>
          <p:cNvPr id="102" name="Google Shape;102;p2">
            <a:extLst>
              <a:ext uri="{FF2B5EF4-FFF2-40B4-BE49-F238E27FC236}">
                <a16:creationId xmlns:a16="http://schemas.microsoft.com/office/drawing/2014/main" id="{A8DBAEBD-0185-5A32-C792-F07D132449B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EA8F04-A544-34E3-EA2D-30BD072A83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6915" y="1376515"/>
            <a:ext cx="10735273" cy="4462811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US" dirty="0"/>
              <a:t>V</a:t>
            </a:r>
            <a:r>
              <a:rPr lang="en-US" baseline="-25000" dirty="0"/>
              <a:t>OH</a:t>
            </a:r>
            <a:r>
              <a:rPr lang="en-US" dirty="0"/>
              <a:t> </a:t>
            </a:r>
            <a:r>
              <a:rPr lang="en-US" dirty="0">
                <a:sym typeface="Wingdings" panose="05000000000000000000" pitchFamily="2" charset="2"/>
              </a:rPr>
              <a:t> The  minimum voltage level at an output in logical ‘1’ state under defined load condition</a:t>
            </a:r>
          </a:p>
          <a:p>
            <a:pPr marL="114300" indent="0">
              <a:buNone/>
            </a:pPr>
            <a:r>
              <a:rPr lang="en-US" dirty="0">
                <a:sym typeface="Wingdings" panose="05000000000000000000" pitchFamily="2" charset="2"/>
              </a:rPr>
              <a:t>V</a:t>
            </a:r>
            <a:r>
              <a:rPr lang="en-US" baseline="-25000" dirty="0">
                <a:sym typeface="Wingdings" panose="05000000000000000000" pitchFamily="2" charset="2"/>
              </a:rPr>
              <a:t>IH</a:t>
            </a:r>
            <a:r>
              <a:rPr lang="en-US" dirty="0">
                <a:sym typeface="Wingdings" panose="05000000000000000000" pitchFamily="2" charset="2"/>
              </a:rPr>
              <a:t>  The  minimum voltage level at an input in logical ‘1’ state under defined load condition</a:t>
            </a:r>
            <a:endParaRPr lang="en-US" dirty="0"/>
          </a:p>
          <a:p>
            <a:pPr marL="114300" indent="0">
              <a:buNone/>
            </a:pPr>
            <a:r>
              <a:rPr lang="en-US" dirty="0"/>
              <a:t>V</a:t>
            </a:r>
            <a:r>
              <a:rPr lang="en-US" baseline="-25000" dirty="0"/>
              <a:t>OL</a:t>
            </a:r>
            <a:r>
              <a:rPr lang="en-US" dirty="0"/>
              <a:t> </a:t>
            </a:r>
            <a:r>
              <a:rPr lang="en-US" dirty="0">
                <a:sym typeface="Wingdings" panose="05000000000000000000" pitchFamily="2" charset="2"/>
              </a:rPr>
              <a:t> The maximum voltage level at an output in the logical ‘0’ state under defined load condition.</a:t>
            </a:r>
          </a:p>
          <a:p>
            <a:pPr marL="114300" indent="0">
              <a:buNone/>
            </a:pPr>
            <a:r>
              <a:rPr lang="en-US" dirty="0">
                <a:sym typeface="Wingdings" panose="05000000000000000000" pitchFamily="2" charset="2"/>
              </a:rPr>
              <a:t>V</a:t>
            </a:r>
            <a:r>
              <a:rPr lang="en-US" baseline="-25000" dirty="0">
                <a:sym typeface="Wingdings" panose="05000000000000000000" pitchFamily="2" charset="2"/>
              </a:rPr>
              <a:t>IL</a:t>
            </a:r>
            <a:r>
              <a:rPr lang="en-US" dirty="0">
                <a:sym typeface="Wingdings" panose="05000000000000000000" pitchFamily="2" charset="2"/>
              </a:rPr>
              <a:t>  The maximum voltage level at an input in the logical ‘0’ state under defined load condition.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3579015"/>
      </p:ext>
    </p:extLst>
  </p:cSld>
  <p:clrMapOvr>
    <a:masterClrMapping/>
  </p:clrMapOvr>
  <p:transition spd="slow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7578D229-AC91-E64E-2289-8265EC09AE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>
            <a:extLst>
              <a:ext uri="{FF2B5EF4-FFF2-40B4-BE49-F238E27FC236}">
                <a16:creationId xmlns:a16="http://schemas.microsoft.com/office/drawing/2014/main" id="{AC8C4999-0487-CD53-86A1-7CF21E55636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Example:</a:t>
            </a:r>
          </a:p>
        </p:txBody>
      </p:sp>
      <p:sp>
        <p:nvSpPr>
          <p:cNvPr id="100" name="Google Shape;100;p2">
            <a:extLst>
              <a:ext uri="{FF2B5EF4-FFF2-40B4-BE49-F238E27FC236}">
                <a16:creationId xmlns:a16="http://schemas.microsoft.com/office/drawing/2014/main" id="{3D437168-B9AC-42F1-5F3D-F292091F90AD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CSE 350</a:t>
            </a:r>
            <a:endParaRPr dirty="0"/>
          </a:p>
        </p:txBody>
      </p:sp>
      <p:sp>
        <p:nvSpPr>
          <p:cNvPr id="101" name="Google Shape;101;p2">
            <a:extLst>
              <a:ext uri="{FF2B5EF4-FFF2-40B4-BE49-F238E27FC236}">
                <a16:creationId xmlns:a16="http://schemas.microsoft.com/office/drawing/2014/main" id="{5A776A0F-4769-594E-6B1F-751F573B252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  <p:pic>
        <p:nvPicPr>
          <p:cNvPr id="102" name="Google Shape;102;p2">
            <a:extLst>
              <a:ext uri="{FF2B5EF4-FFF2-40B4-BE49-F238E27FC236}">
                <a16:creationId xmlns:a16="http://schemas.microsoft.com/office/drawing/2014/main" id="{16174641-D59A-6F55-AF0F-A32D073B30B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B00C38-A18F-3F35-AA57-99D5E85F2A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5654" y="1061884"/>
            <a:ext cx="6029945" cy="5147740"/>
          </a:xfrm>
        </p:spPr>
        <p:txBody>
          <a:bodyPr>
            <a:normAutofit lnSpcReduction="10000"/>
          </a:bodyPr>
          <a:lstStyle/>
          <a:p>
            <a:pPr marL="114300" indent="0">
              <a:buNone/>
            </a:pPr>
            <a:r>
              <a:rPr lang="en-US" sz="2400" dirty="0"/>
              <a:t>The output voltage might drop 0.5V from the maximum voltage. Find out the Noise Margin of the circuit. Given </a:t>
            </a:r>
            <a:r>
              <a:rPr lang="el-GR" sz="2400" dirty="0"/>
              <a:t>β</a:t>
            </a:r>
            <a:r>
              <a:rPr lang="en-US" sz="2400" baseline="-25000" dirty="0"/>
              <a:t>F</a:t>
            </a:r>
            <a:r>
              <a:rPr lang="en-US" sz="2400" dirty="0"/>
              <a:t>= 30.</a:t>
            </a:r>
          </a:p>
          <a:p>
            <a:pPr marL="114300" indent="0">
              <a:buNone/>
            </a:pPr>
            <a:endParaRPr lang="en-US" sz="2400" b="1" dirty="0"/>
          </a:p>
          <a:p>
            <a:pPr marL="114300" indent="0">
              <a:buNone/>
            </a:pPr>
            <a:r>
              <a:rPr lang="en-US" sz="2400" b="1" dirty="0"/>
              <a:t>V</a:t>
            </a:r>
            <a:r>
              <a:rPr lang="en-US" sz="2400" b="1" baseline="-25000" dirty="0"/>
              <a:t>OL</a:t>
            </a:r>
            <a:r>
              <a:rPr lang="en-US" sz="2400" b="1" dirty="0"/>
              <a:t> Calculation: </a:t>
            </a:r>
          </a:p>
          <a:p>
            <a:pPr marL="114300" indent="0">
              <a:buNone/>
            </a:pPr>
            <a:r>
              <a:rPr lang="en-US" sz="2400" dirty="0"/>
              <a:t>When input is high output should be low and BJT will remain at the saturation mode.</a:t>
            </a:r>
          </a:p>
          <a:p>
            <a:pPr marL="114300" indent="0">
              <a:buNone/>
            </a:pPr>
            <a:r>
              <a:rPr lang="en-US" sz="2400" dirty="0"/>
              <a:t>Max Vo for saturation mode will be 0.2 V</a:t>
            </a:r>
          </a:p>
          <a:p>
            <a:pPr marL="114300" indent="0">
              <a:buNone/>
            </a:pPr>
            <a:r>
              <a:rPr lang="en-US" sz="2400" b="1" dirty="0"/>
              <a:t>V</a:t>
            </a:r>
            <a:r>
              <a:rPr lang="en-US" sz="2400" b="1" baseline="-25000" dirty="0"/>
              <a:t>OL</a:t>
            </a:r>
            <a:r>
              <a:rPr lang="en-US" sz="2400" b="1" dirty="0"/>
              <a:t> = 0.2 V ( saturated) </a:t>
            </a:r>
          </a:p>
          <a:p>
            <a:pPr marL="114300" indent="0">
              <a:buNone/>
            </a:pPr>
            <a:r>
              <a:rPr lang="en-US" sz="2400" b="1" dirty="0"/>
              <a:t>V</a:t>
            </a:r>
            <a:r>
              <a:rPr lang="en-US" sz="2400" b="1" baseline="-25000" dirty="0"/>
              <a:t>OH</a:t>
            </a:r>
            <a:r>
              <a:rPr lang="en-US" sz="2400" b="1" dirty="0"/>
              <a:t> Calculation: </a:t>
            </a:r>
          </a:p>
          <a:p>
            <a:pPr marL="114300" indent="0">
              <a:buNone/>
            </a:pPr>
            <a:r>
              <a:rPr lang="en-US" sz="2400" dirty="0"/>
              <a:t>Maximum output voltage = 12V</a:t>
            </a:r>
            <a:r>
              <a:rPr lang="en-US" sz="2400" b="1" dirty="0"/>
              <a:t> ,</a:t>
            </a:r>
          </a:p>
          <a:p>
            <a:pPr marL="114300" indent="0">
              <a:buNone/>
            </a:pPr>
            <a:r>
              <a:rPr lang="en-US" sz="2400" b="1" dirty="0"/>
              <a:t>V</a:t>
            </a:r>
            <a:r>
              <a:rPr lang="en-US" sz="2400" b="1" baseline="-25000" dirty="0"/>
              <a:t>OH</a:t>
            </a:r>
            <a:r>
              <a:rPr lang="en-US" sz="2400" b="1" dirty="0"/>
              <a:t> = 12 -0.5 =11.5 V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A701B54-382F-6381-3AD1-8D9A7530DC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4003" y="648376"/>
            <a:ext cx="5012564" cy="47552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5251774"/>
      </p:ext>
    </p:extLst>
  </p:cSld>
  <p:clrMapOvr>
    <a:masterClrMapping/>
  </p:clrMapOvr>
  <p:transition spd="slow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201E832B-6B59-232C-2949-77EBE62F3E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>
            <a:extLst>
              <a:ext uri="{FF2B5EF4-FFF2-40B4-BE49-F238E27FC236}">
                <a16:creationId xmlns:a16="http://schemas.microsoft.com/office/drawing/2014/main" id="{DA79AB0C-2309-3CDE-61D5-A5165F7BC4E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Noise Margin</a:t>
            </a:r>
          </a:p>
        </p:txBody>
      </p:sp>
      <p:sp>
        <p:nvSpPr>
          <p:cNvPr id="100" name="Google Shape;100;p2">
            <a:extLst>
              <a:ext uri="{FF2B5EF4-FFF2-40B4-BE49-F238E27FC236}">
                <a16:creationId xmlns:a16="http://schemas.microsoft.com/office/drawing/2014/main" id="{5EAE223E-2132-8167-761A-0804E540DA87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CSE 350</a:t>
            </a:r>
            <a:endParaRPr dirty="0"/>
          </a:p>
        </p:txBody>
      </p:sp>
      <p:sp>
        <p:nvSpPr>
          <p:cNvPr id="101" name="Google Shape;101;p2">
            <a:extLst>
              <a:ext uri="{FF2B5EF4-FFF2-40B4-BE49-F238E27FC236}">
                <a16:creationId xmlns:a16="http://schemas.microsoft.com/office/drawing/2014/main" id="{9AE30AC6-C462-0AC1-C2D3-9B9CED41A9B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  <p:pic>
        <p:nvPicPr>
          <p:cNvPr id="102" name="Google Shape;102;p2">
            <a:extLst>
              <a:ext uri="{FF2B5EF4-FFF2-40B4-BE49-F238E27FC236}">
                <a16:creationId xmlns:a16="http://schemas.microsoft.com/office/drawing/2014/main" id="{367C2A31-3E53-4931-4741-33B084D1323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1AA475CC-B926-206F-C658-F982D76CE768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766915" y="1376515"/>
                <a:ext cx="6275569" cy="4751569"/>
              </a:xfrm>
            </p:spPr>
            <p:txBody>
              <a:bodyPr>
                <a:normAutofit fontScale="92500" lnSpcReduction="20000"/>
              </a:bodyPr>
              <a:lstStyle/>
              <a:p>
                <a:pPr marL="114300" indent="0">
                  <a:buNone/>
                </a:pPr>
                <a:r>
                  <a:rPr lang="en-US" sz="2100" dirty="0"/>
                  <a:t>V</a:t>
                </a:r>
                <a:r>
                  <a:rPr lang="en-US" sz="2100" baseline="-25000" dirty="0"/>
                  <a:t>IL</a:t>
                </a:r>
                <a:r>
                  <a:rPr lang="en-US" sz="2100" dirty="0"/>
                  <a:t> calculation : </a:t>
                </a:r>
              </a:p>
              <a:p>
                <a:pPr marL="114300" indent="0">
                  <a:buNone/>
                </a:pPr>
                <a:r>
                  <a:rPr lang="en-US" sz="2100" dirty="0"/>
                  <a:t>The maximum voltage we might apply so that the transistor is still turn off. </a:t>
                </a:r>
              </a:p>
              <a:p>
                <a:pPr marL="114300" indent="0">
                  <a:buNone/>
                </a:pPr>
                <a:r>
                  <a:rPr lang="en-US" sz="2100" dirty="0"/>
                  <a:t>VBE = 0.5 V, we are on the verge of turning on the transistor T.</a:t>
                </a:r>
              </a:p>
              <a:p>
                <a:pPr>
                  <a:buFont typeface="Wingdings" panose="05000000000000000000" pitchFamily="2" charset="2"/>
                  <a:buChar char="à"/>
                </a:pPr>
                <a:r>
                  <a:rPr lang="en-US" sz="2100" dirty="0">
                    <a:sym typeface="Wingdings" panose="05000000000000000000" pitchFamily="2" charset="2"/>
                  </a:rPr>
                  <a:t>T : cutoff 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100" b="0" i="1" dirty="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sz="2100" i="1" dirty="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𝐼</m:t>
                        </m:r>
                      </m:e>
                      <m:sub>
                        <m:r>
                          <a:rPr lang="en-US" sz="2100" i="1" dirty="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𝐵</m:t>
                        </m:r>
                      </m:sub>
                    </m:sSub>
                    <m:r>
                      <a:rPr lang="en-US" sz="2100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 = 0 , </m:t>
                    </m:r>
                    <m:sSub>
                      <m:sSubPr>
                        <m:ctrlPr>
                          <a:rPr lang="en-US" sz="2100" b="0" i="1" dirty="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sz="2100" i="1" dirty="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𝐼</m:t>
                        </m:r>
                      </m:e>
                      <m:sub>
                        <m:r>
                          <a:rPr lang="en-US" sz="2100" i="1" dirty="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1</m:t>
                        </m:r>
                      </m:sub>
                    </m:sSub>
                    <m:r>
                      <a:rPr lang="en-US" sz="2100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 </m:t>
                    </m:r>
                    <m:sSub>
                      <m:sSubPr>
                        <m:ctrlPr>
                          <a:rPr lang="en-US" sz="2100" b="0" i="1" dirty="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sz="2100" i="1" dirty="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𝐼</m:t>
                        </m:r>
                      </m:e>
                      <m:sub>
                        <m:r>
                          <a:rPr lang="en-US" sz="2100" i="1" dirty="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2</m:t>
                        </m:r>
                      </m:sub>
                    </m:sSub>
                  </m:oMath>
                </a14:m>
                <a:endParaRPr lang="en-US" sz="2100" dirty="0">
                  <a:sym typeface="Wingdings" panose="05000000000000000000" pitchFamily="2" charset="2"/>
                </a:endParaRPr>
              </a:p>
              <a:p>
                <a:pPr marL="114300" indent="0">
                  <a:buNone/>
                </a:pPr>
                <a:r>
                  <a:rPr lang="en-US" sz="2100" dirty="0">
                    <a:sym typeface="Wingdings" panose="05000000000000000000" pitchFamily="2" charset="2"/>
                  </a:rPr>
                  <a:t>We need to find out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100" b="0" i="1" dirty="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sz="2100" i="1" dirty="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𝑉</m:t>
                        </m:r>
                      </m:e>
                      <m:sub>
                        <m:r>
                          <a:rPr lang="en-US" sz="2100" i="1" dirty="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𝐵𝐸</m:t>
                        </m:r>
                      </m:sub>
                    </m:sSub>
                    <m:r>
                      <a:rPr lang="en-US" sz="2100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 =0.5 </m:t>
                    </m:r>
                    <m:r>
                      <a:rPr lang="en-US" sz="2100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𝑉</m:t>
                    </m:r>
                    <m:r>
                      <a:rPr lang="en-US" sz="2100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 </m:t>
                    </m:r>
                  </m:oMath>
                </a14:m>
                <a:r>
                  <a:rPr lang="en-US" sz="2100" dirty="0">
                    <a:sym typeface="Wingdings" panose="05000000000000000000" pitchFamily="2" charset="2"/>
                  </a:rPr>
                  <a:t>, what should be the input voltage.</a:t>
                </a:r>
                <a:endParaRPr lang="en-US" sz="21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marR="0" indent="0">
                  <a:lnSpc>
                    <a:spcPct val="107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1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100" b="0" i="1" kern="100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2100" b="0" i="1" kern="100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100" b="0" i="1" kern="100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1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2100" b="0" i="1" kern="100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0.5−(−12)</m:t>
                          </m:r>
                        </m:num>
                        <m:den>
                          <m:r>
                            <a:rPr lang="en-US" sz="2100" b="0" i="1" kern="100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100</m:t>
                          </m:r>
                          <m:r>
                            <a:rPr lang="en-US" sz="2100" b="0" i="1" kern="100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𝑘</m:t>
                          </m:r>
                        </m:den>
                      </m:f>
                      <m:r>
                        <a:rPr lang="en-US" sz="2100" b="0" i="1" kern="100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=0.125 </m:t>
                      </m:r>
                      <m:r>
                        <a:rPr lang="en-US" sz="2100" b="0" i="1" kern="100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𝑚𝐴</m:t>
                      </m:r>
                    </m:oMath>
                  </m:oMathPara>
                </a14:m>
                <a:endParaRPr lang="en-US" sz="21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marR="0" indent="0">
                  <a:lnSpc>
                    <a:spcPct val="107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100" b="0" i="1" kern="100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=&gt;</m:t>
                      </m:r>
                      <m:sSub>
                        <m:sSubPr>
                          <m:ctrlPr>
                            <a:rPr lang="en-US" sz="2100" b="0" i="1" kern="100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100" b="0" i="1" kern="100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100" b="0" i="1" kern="100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100" b="0" i="1" kern="100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=0.5+15∗0.125=2.375 </m:t>
                      </m:r>
                      <m:r>
                        <a:rPr lang="en-US" sz="2100" b="0" i="1" kern="100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𝑉</m:t>
                      </m:r>
                    </m:oMath>
                  </m:oMathPara>
                </a14:m>
                <a:endParaRPr lang="en-US" sz="21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marR="0" indent="0">
                  <a:lnSpc>
                    <a:spcPct val="107000"/>
                  </a:lnSpc>
                  <a:spcAft>
                    <a:spcPts val="800"/>
                  </a:spcAft>
                  <a:buNone/>
                </a:pPr>
                <a:r>
                  <a:rPr lang="en-US" sz="2100" kern="1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This voltage is maximum that we can apply to the inverter without turning on the transistor.</a:t>
                </a:r>
                <a:endParaRPr lang="en-US" sz="21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marR="0" indent="0">
                  <a:lnSpc>
                    <a:spcPct val="107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1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100" b="0" i="1" kern="100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100" b="0" i="1" kern="100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𝐼𝐿</m:t>
                          </m:r>
                        </m:sub>
                      </m:sSub>
                      <m:r>
                        <a:rPr lang="en-US" sz="2100" b="0" i="1" kern="100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=2.375 </m:t>
                      </m:r>
                      <m:r>
                        <a:rPr lang="en-US" sz="2100" b="0" i="1" kern="100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𝑉</m:t>
                      </m:r>
                    </m:oMath>
                  </m:oMathPara>
                </a14:m>
                <a:endParaRPr lang="en-US" sz="21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114300" indent="0">
                  <a:buNone/>
                </a:pPr>
                <a:endParaRPr lang="en-US" sz="2000" b="1" dirty="0">
                  <a:sym typeface="Wingdings" panose="05000000000000000000" pitchFamily="2" charset="2"/>
                </a:endParaRPr>
              </a:p>
              <a:p>
                <a:pPr>
                  <a:buFont typeface="Wingdings" panose="05000000000000000000" pitchFamily="2" charset="2"/>
                  <a:buChar char="à"/>
                </a:pPr>
                <a:endParaRPr lang="en-US" dirty="0"/>
              </a:p>
              <a:p>
                <a:pPr marL="114300" indent="0">
                  <a:buNone/>
                </a:pPr>
                <a:endParaRPr lang="en-US" dirty="0"/>
              </a:p>
              <a:p>
                <a:pPr marL="114300" indent="0">
                  <a:buNone/>
                </a:pPr>
                <a:endParaRPr lang="en-US" dirty="0"/>
              </a:p>
              <a:p>
                <a:pPr marL="114300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1AA475CC-B926-206F-C658-F982D76CE7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766915" y="1376515"/>
                <a:ext cx="6275569" cy="4751569"/>
              </a:xfrm>
              <a:blipFill>
                <a:blip r:embed="rId4"/>
                <a:stretch>
                  <a:fillRect l="-972" r="-4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9306FD01-F5EE-7723-F93C-344C6D19578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86011" y="1554480"/>
            <a:ext cx="4370378" cy="3426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6781778"/>
      </p:ext>
    </p:extLst>
  </p:cSld>
  <p:clrMapOvr>
    <a:masterClrMapping/>
  </p:clrMapOvr>
  <p:transition spd="slow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8D443F44-82C0-A711-1C7A-D065C4EB62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>
            <a:extLst>
              <a:ext uri="{FF2B5EF4-FFF2-40B4-BE49-F238E27FC236}">
                <a16:creationId xmlns:a16="http://schemas.microsoft.com/office/drawing/2014/main" id="{806E7E72-772A-9862-3C42-BE850CD1BD6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Noise Margin</a:t>
            </a:r>
          </a:p>
        </p:txBody>
      </p:sp>
      <p:sp>
        <p:nvSpPr>
          <p:cNvPr id="100" name="Google Shape;100;p2">
            <a:extLst>
              <a:ext uri="{FF2B5EF4-FFF2-40B4-BE49-F238E27FC236}">
                <a16:creationId xmlns:a16="http://schemas.microsoft.com/office/drawing/2014/main" id="{F357EF9F-D72E-764D-359C-DBFAAA90C904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CSE 350</a:t>
            </a:r>
            <a:endParaRPr dirty="0"/>
          </a:p>
        </p:txBody>
      </p:sp>
      <p:sp>
        <p:nvSpPr>
          <p:cNvPr id="101" name="Google Shape;101;p2">
            <a:extLst>
              <a:ext uri="{FF2B5EF4-FFF2-40B4-BE49-F238E27FC236}">
                <a16:creationId xmlns:a16="http://schemas.microsoft.com/office/drawing/2014/main" id="{60D5B40D-4409-9514-8617-96449B76299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  <p:pic>
        <p:nvPicPr>
          <p:cNvPr id="102" name="Google Shape;102;p2">
            <a:extLst>
              <a:ext uri="{FF2B5EF4-FFF2-40B4-BE49-F238E27FC236}">
                <a16:creationId xmlns:a16="http://schemas.microsoft.com/office/drawing/2014/main" id="{94788A68-FF07-92E3-7F2F-AC064B15C4F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CF715C12-BB0B-BDEB-2877-75E02BC5D9E1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766915" y="1376515"/>
                <a:ext cx="7279805" cy="4979835"/>
              </a:xfrm>
            </p:spPr>
            <p:txBody>
              <a:bodyPr>
                <a:normAutofit fontScale="25000" lnSpcReduction="20000"/>
              </a:bodyPr>
              <a:lstStyle/>
              <a:p>
                <a:pPr marL="114300" indent="0">
                  <a:buNone/>
                </a:pPr>
                <a:r>
                  <a:rPr lang="en-US" sz="72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V</a:t>
                </a:r>
                <a:r>
                  <a:rPr lang="en-US" sz="7200" b="1" u="sng" baseline="-25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IH</a:t>
                </a:r>
                <a:r>
                  <a:rPr lang="en-US" sz="72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calculation : </a:t>
                </a:r>
              </a:p>
              <a:p>
                <a:pPr marL="114300" indent="0">
                  <a:buNone/>
                </a:pPr>
                <a:r>
                  <a:rPr lang="en-US" sz="72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 </a:t>
                </a:r>
                <a:r>
                  <a:rPr lang="en-US" sz="72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  <a:sym typeface="Wingdings" panose="05000000000000000000" pitchFamily="2" charset="2"/>
                  </a:rPr>
                  <a:t> Saturation</a:t>
                </a:r>
              </a:p>
              <a:p>
                <a:pPr marL="114300" indent="0">
                  <a:buNone/>
                </a:pPr>
                <a:r>
                  <a:rPr lang="en-US" sz="8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The minimum high voltage that we can apply to the input so that the transistor is still operating in saturation mode. </a:t>
                </a:r>
                <a14:m>
                  <m:oMath xmlns:m="http://schemas.openxmlformats.org/officeDocument/2006/math">
                    <m:r>
                      <a:rPr lang="en-US" sz="8000" i="1" kern="100">
                        <a:latin typeface="+mj-lt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sSub>
                      <m:sSubPr>
                        <m:ctrlPr>
                          <a:rPr lang="en-US" sz="8000" i="1" kern="100">
                            <a:latin typeface="+mj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8000" i="1" kern="100">
                            <a:latin typeface="+mj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8000" i="1" kern="100">
                            <a:latin typeface="+mj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𝐹</m:t>
                        </m:r>
                      </m:sub>
                    </m:sSub>
                  </m:oMath>
                </a14:m>
                <a:r>
                  <a:rPr lang="en-US" sz="8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= 30</a:t>
                </a:r>
              </a:p>
              <a:p>
                <a:pPr marL="114300" indent="0">
                  <a:buNone/>
                </a:pPr>
                <a:r>
                  <a:rPr lang="en-US" sz="8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We need to apply such input voltage that transistor T is operating on the verge of going to saturation from forward active mode. </a:t>
                </a:r>
              </a:p>
              <a:p>
                <a:pPr marL="114300" indent="0">
                  <a:buNone/>
                </a:pPr>
                <a:r>
                  <a:rPr lang="en-US" sz="72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  <a:sym typeface="Wingdings" panose="05000000000000000000" pitchFamily="2" charset="2"/>
                  </a:rPr>
                  <a:t>on 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7200" b="1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sz="7200" b="1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  <a:sym typeface="Wingdings" panose="05000000000000000000" pitchFamily="2" charset="2"/>
                          </a:rPr>
                          <m:t>𝑽</m:t>
                        </m:r>
                      </m:e>
                      <m:sub>
                        <m:r>
                          <a:rPr lang="en-US" sz="7200" b="1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  <a:sym typeface="Wingdings" panose="05000000000000000000" pitchFamily="2" charset="2"/>
                          </a:rPr>
                          <m:t>𝑩𝑬</m:t>
                        </m:r>
                      </m:sub>
                    </m:sSub>
                    <m:r>
                      <a:rPr lang="en-US" sz="7200" b="1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  <a:sym typeface="Wingdings" panose="05000000000000000000" pitchFamily="2" charset="2"/>
                      </a:rPr>
                      <m:t> = </m:t>
                    </m:r>
                    <m:r>
                      <a:rPr lang="en-US" sz="7200" b="1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  <a:sym typeface="Wingdings" panose="05000000000000000000" pitchFamily="2" charset="2"/>
                      </a:rPr>
                      <m:t>𝟎</m:t>
                    </m:r>
                    <m:r>
                      <a:rPr lang="en-US" sz="7200" b="1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  <a:sym typeface="Wingdings" panose="05000000000000000000" pitchFamily="2" charset="2"/>
                      </a:rPr>
                      <m:t>.</m:t>
                    </m:r>
                    <m:r>
                      <a:rPr lang="en-US" sz="7200" b="1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  <a:sym typeface="Wingdings" panose="05000000000000000000" pitchFamily="2" charset="2"/>
                      </a:rPr>
                      <m:t>𝟖</m:t>
                    </m:r>
                    <m:r>
                      <a:rPr lang="en-US" sz="7200" b="1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  <a:sym typeface="Wingdings" panose="05000000000000000000" pitchFamily="2" charset="2"/>
                      </a:rPr>
                      <m:t> </m:t>
                    </m:r>
                    <m:r>
                      <a:rPr lang="en-US" sz="7200" b="1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  <a:sym typeface="Wingdings" panose="05000000000000000000" pitchFamily="2" charset="2"/>
                      </a:rPr>
                      <m:t>𝑽</m:t>
                    </m:r>
                    <m:r>
                      <a:rPr lang="en-US" sz="7200" b="1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  <a:sym typeface="Wingdings" panose="05000000000000000000" pitchFamily="2" charset="2"/>
                      </a:rPr>
                      <m:t> , </m:t>
                    </m:r>
                    <m:sSub>
                      <m:sSubPr>
                        <m:ctrlPr>
                          <a:rPr lang="en-US" sz="7200" b="1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sz="7200" b="1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  <a:sym typeface="Wingdings" panose="05000000000000000000" pitchFamily="2" charset="2"/>
                          </a:rPr>
                          <m:t>𝑽</m:t>
                        </m:r>
                      </m:e>
                      <m:sub>
                        <m:r>
                          <a:rPr lang="en-US" sz="7200" b="1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  <a:sym typeface="Wingdings" panose="05000000000000000000" pitchFamily="2" charset="2"/>
                          </a:rPr>
                          <m:t>𝑪𝑬</m:t>
                        </m:r>
                      </m:sub>
                    </m:sSub>
                    <m:r>
                      <a:rPr lang="en-US" sz="7200" b="1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  <a:sym typeface="Wingdings" panose="05000000000000000000" pitchFamily="2" charset="2"/>
                      </a:rPr>
                      <m:t> = </m:t>
                    </m:r>
                    <m:r>
                      <a:rPr lang="en-US" sz="7200" b="1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  <a:sym typeface="Wingdings" panose="05000000000000000000" pitchFamily="2" charset="2"/>
                      </a:rPr>
                      <m:t>𝟎</m:t>
                    </m:r>
                    <m:r>
                      <a:rPr lang="en-US" sz="7200" b="1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  <a:sym typeface="Wingdings" panose="05000000000000000000" pitchFamily="2" charset="2"/>
                      </a:rPr>
                      <m:t>.</m:t>
                    </m:r>
                    <m:r>
                      <a:rPr lang="en-US" sz="7200" b="1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  <a:sym typeface="Wingdings" panose="05000000000000000000" pitchFamily="2" charset="2"/>
                      </a:rPr>
                      <m:t>𝟐</m:t>
                    </m:r>
                    <m:r>
                      <a:rPr lang="en-US" sz="7200" b="1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  <a:sym typeface="Wingdings" panose="05000000000000000000" pitchFamily="2" charset="2"/>
                      </a:rPr>
                      <m:t> </m:t>
                    </m:r>
                    <m:r>
                      <a:rPr lang="en-US" sz="7200" b="1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  <a:sym typeface="Wingdings" panose="05000000000000000000" pitchFamily="2" charset="2"/>
                      </a:rPr>
                      <m:t>𝑽</m:t>
                    </m:r>
                  </m:oMath>
                </a14:m>
                <a:endParaRPr lang="en-US" sz="7200" b="1" dirty="0">
                  <a:solidFill>
                    <a:srgbClr val="0070C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endParaRPr>
              </a:p>
              <a:p>
                <a:pPr marL="0" marR="0" indent="0">
                  <a:lnSpc>
                    <a:spcPct val="107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7200" b="1" i="1" kern="100" smtClean="0">
                              <a:effectLst/>
                              <a:latin typeface="+mj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7200" b="1" i="1" kern="100">
                              <a:effectLst/>
                              <a:latin typeface="+mj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𝑰</m:t>
                          </m:r>
                        </m:e>
                        <m:sub>
                          <m:r>
                            <a:rPr lang="en-US" sz="7200" b="1" i="1" kern="100">
                              <a:effectLst/>
                              <a:latin typeface="+mj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𝑪</m:t>
                          </m:r>
                        </m:sub>
                      </m:sSub>
                      <m:r>
                        <a:rPr lang="en-US" sz="7200" b="1" i="1" kern="100">
                          <a:effectLst/>
                          <a:latin typeface="+mj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7200" b="1" i="1" kern="100">
                              <a:effectLst/>
                              <a:latin typeface="+mj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7200" b="1" i="1" kern="100">
                              <a:effectLst/>
                              <a:latin typeface="+mj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𝟏𝟐</m:t>
                          </m:r>
                          <m:r>
                            <a:rPr lang="en-US" sz="7200" b="1" i="1" kern="100">
                              <a:effectLst/>
                              <a:latin typeface="+mj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en-US" sz="7200" b="1" i="1" kern="100">
                              <a:effectLst/>
                              <a:latin typeface="+mj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𝟎</m:t>
                          </m:r>
                          <m:r>
                            <a:rPr lang="en-US" sz="7200" b="1" i="1" kern="100">
                              <a:effectLst/>
                              <a:latin typeface="+mj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.</m:t>
                          </m:r>
                          <m:r>
                            <a:rPr lang="en-US" sz="7200" b="1" i="1" kern="100">
                              <a:effectLst/>
                              <a:latin typeface="+mj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𝟐</m:t>
                          </m:r>
                        </m:num>
                        <m:den>
                          <m:r>
                            <a:rPr lang="en-US" sz="7200" b="1" i="1" kern="100">
                              <a:effectLst/>
                              <a:latin typeface="+mj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𝟐</m:t>
                          </m:r>
                          <m:r>
                            <a:rPr lang="en-US" sz="7200" b="1" i="1" kern="100">
                              <a:effectLst/>
                              <a:latin typeface="+mj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.</m:t>
                          </m:r>
                          <m:r>
                            <a:rPr lang="en-US" sz="7200" b="1" i="1" kern="100">
                              <a:effectLst/>
                              <a:latin typeface="+mj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𝟐</m:t>
                          </m:r>
                          <m:r>
                            <a:rPr lang="en-US" sz="7200" b="1" i="1" kern="100">
                              <a:effectLst/>
                              <a:latin typeface="+mj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𝒌</m:t>
                          </m:r>
                        </m:den>
                      </m:f>
                      <m:r>
                        <a:rPr lang="en-US" sz="7200" b="1" i="1" kern="100">
                          <a:effectLst/>
                          <a:latin typeface="+mj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sz="7200" b="1" i="1" kern="100">
                          <a:effectLst/>
                          <a:latin typeface="+mj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𝟓</m:t>
                      </m:r>
                      <m:r>
                        <a:rPr lang="en-US" sz="7200" b="1" i="1" kern="100">
                          <a:effectLst/>
                          <a:latin typeface="+mj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.</m:t>
                      </m:r>
                      <m:r>
                        <a:rPr lang="en-US" sz="7200" b="1" i="1" kern="100">
                          <a:effectLst/>
                          <a:latin typeface="+mj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𝟑𝟔𝟑𝟔</m:t>
                      </m:r>
                      <m:r>
                        <a:rPr lang="en-US" sz="7200" b="1" i="1" kern="100">
                          <a:effectLst/>
                          <a:latin typeface="+mj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US" sz="7200" b="1" i="1" kern="100">
                          <a:effectLst/>
                          <a:latin typeface="+mj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𝒎𝑨</m:t>
                      </m:r>
                    </m:oMath>
                  </m:oMathPara>
                </a14:m>
                <a:endParaRPr lang="en-US" sz="72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0" marR="0" indent="0">
                  <a:lnSpc>
                    <a:spcPct val="107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7200" b="1" i="1" kern="100">
                              <a:effectLst/>
                              <a:latin typeface="+mj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7200" b="1" i="1" kern="100">
                              <a:effectLst/>
                              <a:latin typeface="+mj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𝜷</m:t>
                          </m:r>
                        </m:e>
                        <m:sub>
                          <m:r>
                            <a:rPr lang="en-US" sz="7200" b="1" i="1" kern="100">
                              <a:effectLst/>
                              <a:latin typeface="+mj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𝒇𝒐𝒓𝒄𝒆𝒅</m:t>
                          </m:r>
                        </m:sub>
                      </m:sSub>
                      <m:r>
                        <a:rPr lang="en-US" sz="7200" b="1" i="1" kern="100">
                          <a:effectLst/>
                          <a:latin typeface="+mj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7200" b="1" i="1" kern="100">
                              <a:effectLst/>
                              <a:latin typeface="+mj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7200" b="1" i="1" kern="100">
                                  <a:effectLst/>
                                  <a:latin typeface="+mj-lt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7200" b="1" i="1" kern="100">
                                  <a:effectLst/>
                                  <a:latin typeface="+mj-lt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𝑰</m:t>
                              </m:r>
                            </m:e>
                            <m:sub>
                              <m:r>
                                <a:rPr lang="en-US" sz="7200" b="1" i="1" kern="100">
                                  <a:effectLst/>
                                  <a:latin typeface="+mj-lt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𝑪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7200" b="1" i="1" kern="100">
                                  <a:effectLst/>
                                  <a:latin typeface="+mj-lt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7200" b="1" i="1" kern="100">
                                  <a:effectLst/>
                                  <a:latin typeface="+mj-lt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𝑰</m:t>
                              </m:r>
                            </m:e>
                            <m:sub>
                              <m:r>
                                <a:rPr lang="en-US" sz="7200" b="1" i="1" kern="100">
                                  <a:effectLst/>
                                  <a:latin typeface="+mj-lt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𝑩</m:t>
                              </m:r>
                            </m:sub>
                          </m:sSub>
                        </m:den>
                      </m:f>
                      <m:r>
                        <a:rPr lang="en-US" sz="7200" b="1" i="1" kern="100">
                          <a:effectLst/>
                          <a:latin typeface="+mj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  ≈ </m:t>
                      </m:r>
                      <m:sSub>
                        <m:sSubPr>
                          <m:ctrlPr>
                            <a:rPr lang="en-US" sz="7200" b="1" i="1" kern="100">
                              <a:effectLst/>
                              <a:latin typeface="+mj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7200" b="1" i="1" kern="100">
                              <a:effectLst/>
                              <a:latin typeface="+mj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𝜷</m:t>
                          </m:r>
                        </m:e>
                        <m:sub>
                          <m:r>
                            <a:rPr lang="en-US" sz="7200" b="1" i="1" kern="100" smtClean="0">
                              <a:effectLst/>
                              <a:latin typeface="+mj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𝑭</m:t>
                          </m:r>
                          <m:r>
                            <a:rPr lang="en-US" sz="7200" b="1" i="1" kern="100">
                              <a:effectLst/>
                              <a:latin typeface="+mj-lt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 </m:t>
                          </m:r>
                        </m:sub>
                      </m:sSub>
                    </m:oMath>
                  </m:oMathPara>
                </a14:m>
                <a:endParaRPr lang="en-US" sz="7200" b="1" i="1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0" marR="0" indent="0">
                  <a:lnSpc>
                    <a:spcPct val="107000"/>
                  </a:lnSpc>
                  <a:spcAft>
                    <a:spcPts val="800"/>
                  </a:spcAft>
                  <a:buNone/>
                </a:pPr>
                <a:r>
                  <a:rPr lang="en-US" sz="7200" b="0" i="0" kern="100" dirty="0">
                    <a:effectLst/>
                    <a:latin typeface="+mj-lt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(This will occur on the average of going from </a:t>
                </a:r>
                <a:endParaRPr lang="en-US" sz="7200" i="1" kern="100" dirty="0">
                  <a:effectLst/>
                  <a:latin typeface="+mj-lt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marR="0" indent="0">
                  <a:lnSpc>
                    <a:spcPct val="107000"/>
                  </a:lnSpc>
                  <a:spcAft>
                    <a:spcPts val="800"/>
                  </a:spcAft>
                  <a:buNone/>
                </a:pPr>
                <a:r>
                  <a:rPr lang="en-US" sz="7200" b="0" i="0" kern="100" dirty="0">
                    <a:effectLst/>
                    <a:latin typeface="+mj-lt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sat. to forward active mode)</a:t>
                </a:r>
                <a:endParaRPr lang="en-US" sz="72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endParaRPr>
              </a:p>
              <a:p>
                <a:pPr marL="114300" indent="0">
                  <a:buNone/>
                </a:pPr>
                <a:endParaRPr lang="en-US" dirty="0"/>
              </a:p>
              <a:p>
                <a:pPr marL="114300" indent="0">
                  <a:buNone/>
                </a:pPr>
                <a:endParaRPr lang="en-US" dirty="0"/>
              </a:p>
              <a:p>
                <a:pPr marL="114300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CF715C12-BB0B-BDEB-2877-75E02BC5D9E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766915" y="1376515"/>
                <a:ext cx="7279805" cy="4979835"/>
              </a:xfrm>
              <a:blipFill>
                <a:blip r:embed="rId4"/>
                <a:stretch>
                  <a:fillRect l="-7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E95EC394-5413-85D4-390A-CE7A89138B5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6720" y="1376515"/>
            <a:ext cx="4083694" cy="4344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613275"/>
      </p:ext>
    </p:extLst>
  </p:cSld>
  <p:clrMapOvr>
    <a:masterClrMapping/>
  </p:clrMapOvr>
  <p:transition spd="slow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7D176586-DDDC-2E2A-0DCB-8D123A3741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>
            <a:extLst>
              <a:ext uri="{FF2B5EF4-FFF2-40B4-BE49-F238E27FC236}">
                <a16:creationId xmlns:a16="http://schemas.microsoft.com/office/drawing/2014/main" id="{472589F4-F160-4F87-66F7-C9E6C9C0DF8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Noise Margin</a:t>
            </a:r>
          </a:p>
        </p:txBody>
      </p:sp>
      <p:sp>
        <p:nvSpPr>
          <p:cNvPr id="100" name="Google Shape;100;p2">
            <a:extLst>
              <a:ext uri="{FF2B5EF4-FFF2-40B4-BE49-F238E27FC236}">
                <a16:creationId xmlns:a16="http://schemas.microsoft.com/office/drawing/2014/main" id="{1A806A1B-DEA5-36EB-0E0C-F8ADA21D6401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CSE 350</a:t>
            </a:r>
            <a:endParaRPr dirty="0"/>
          </a:p>
        </p:txBody>
      </p:sp>
      <p:sp>
        <p:nvSpPr>
          <p:cNvPr id="101" name="Google Shape;101;p2">
            <a:extLst>
              <a:ext uri="{FF2B5EF4-FFF2-40B4-BE49-F238E27FC236}">
                <a16:creationId xmlns:a16="http://schemas.microsoft.com/office/drawing/2014/main" id="{A41DC7C7-215C-55B9-CFBA-2F3699BB09E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  <p:pic>
        <p:nvPicPr>
          <p:cNvPr id="102" name="Google Shape;102;p2">
            <a:extLst>
              <a:ext uri="{FF2B5EF4-FFF2-40B4-BE49-F238E27FC236}">
                <a16:creationId xmlns:a16="http://schemas.microsoft.com/office/drawing/2014/main" id="{EBE176C7-B1F4-CE0F-172D-F3EFAE4CB37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3C90B304-419E-47F6-661F-D912DA343E95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766915" y="1376515"/>
                <a:ext cx="6685937" cy="4876801"/>
              </a:xfrm>
            </p:spPr>
            <p:txBody>
              <a:bodyPr>
                <a:normAutofit/>
              </a:bodyPr>
              <a:lstStyle/>
              <a:p>
                <a:pPr marL="0" marR="0" indent="0">
                  <a:lnSpc>
                    <a:spcPct val="107000"/>
                  </a:lnSpc>
                  <a:spcAft>
                    <a:spcPts val="800"/>
                  </a:spcAft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kern="100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000" b="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𝐼</m:t>
                        </m:r>
                      </m:e>
                      <m:sub>
                        <m:r>
                          <a:rPr lang="en-US" sz="2000" b="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𝐵</m:t>
                        </m:r>
                      </m:sub>
                    </m:sSub>
                    <m:r>
                      <a:rPr lang="en-US" sz="2000" b="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sz="20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000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2000" b="0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𝐶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2000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sz="2000" b="0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𝐹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2000" kern="1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= 0.1788 mA, </a:t>
                </a:r>
              </a:p>
              <a:p>
                <a:pPr marL="0" marR="0" indent="0">
                  <a:lnSpc>
                    <a:spcPct val="107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000" b="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2000" b="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000" b="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2000" b="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0.8−</m:t>
                          </m:r>
                          <m:d>
                            <m:dPr>
                              <m:ctrlPr>
                                <a:rPr lang="en-US" sz="20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−12</m:t>
                              </m:r>
                            </m:e>
                          </m:d>
                        </m:num>
                        <m:den>
                          <m:r>
                            <a:rPr lang="en-US" sz="2000" b="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100</m:t>
                          </m:r>
                          <m:r>
                            <a:rPr lang="en-US" sz="2000" b="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𝑘</m:t>
                          </m:r>
                        </m:den>
                      </m:f>
                      <m:r>
                        <a:rPr lang="en-US" sz="2000" b="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=0.128 </m:t>
                      </m:r>
                      <m:r>
                        <a:rPr lang="en-US" sz="2000" b="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𝑚𝐴</m:t>
                      </m:r>
                    </m:oMath>
                  </m:oMathPara>
                </a14:m>
                <a:endParaRPr lang="en-US" sz="20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marR="0" indent="0">
                  <a:lnSpc>
                    <a:spcPct val="107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000" b="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2000" b="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000" b="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0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000" b="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2000" b="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000" b="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0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000" b="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2000" b="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𝐵</m:t>
                          </m:r>
                        </m:sub>
                      </m:sSub>
                      <m:r>
                        <a:rPr lang="en-US" sz="2000" b="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=0.3068 </m:t>
                      </m:r>
                      <m:r>
                        <a:rPr lang="en-US" sz="2000" b="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𝑚𝐴</m:t>
                      </m:r>
                    </m:oMath>
                  </m:oMathPara>
                </a14:m>
                <a:endParaRPr lang="en-US" sz="20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marR="0" indent="0">
                  <a:lnSpc>
                    <a:spcPct val="107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0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0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sz="2000" b="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2000" b="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−0.8</m:t>
                          </m:r>
                        </m:num>
                        <m:den>
                          <m:r>
                            <a:rPr lang="en-US" sz="2000" b="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15</m:t>
                          </m:r>
                          <m:r>
                            <a:rPr lang="en-US" sz="2000" b="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𝑘</m:t>
                          </m:r>
                        </m:den>
                      </m:f>
                      <m:r>
                        <a:rPr lang="en-US" sz="2000" b="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0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000" b="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2000" b="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000" b="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=0.3068</m:t>
                      </m:r>
                    </m:oMath>
                  </m:oMathPara>
                </a14:m>
                <a:endParaRPr lang="en-US" sz="2000" i="1" kern="100" dirty="0">
                  <a:effectLst/>
                  <a:latin typeface="Cambria Math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marR="0" indent="0">
                  <a:lnSpc>
                    <a:spcPct val="107000"/>
                  </a:lnSpc>
                  <a:spcAft>
                    <a:spcPts val="800"/>
                  </a:spcAft>
                  <a:buNone/>
                </a:pPr>
                <a:endParaRPr lang="en-US" sz="2000" i="1" kern="100" dirty="0">
                  <a:effectLst/>
                  <a:latin typeface="Cambria Math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marR="0" indent="0">
                  <a:lnSpc>
                    <a:spcPct val="107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000" b="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000" b="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000" b="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=0.8+0.3068∗15=5.4018 </m:t>
                      </m:r>
                      <m:r>
                        <a:rPr lang="en-US" sz="2000" b="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𝑉</m:t>
                      </m:r>
                    </m:oMath>
                  </m:oMathPara>
                </a14:m>
                <a:endParaRPr lang="en-US" sz="20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114300" indent="0">
                  <a:buNone/>
                </a:pPr>
                <a:endParaRPr lang="en-US" dirty="0"/>
              </a:p>
              <a:p>
                <a:pPr marL="114300" indent="0">
                  <a:buNone/>
                </a:pPr>
                <a:endParaRPr lang="en-US" dirty="0"/>
              </a:p>
              <a:p>
                <a:pPr marL="114300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3C90B304-419E-47F6-661F-D912DA343E9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766915" y="1376515"/>
                <a:ext cx="6685937" cy="4876801"/>
              </a:xfr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B5E8A6CB-59F6-FD1B-0A21-33D996D3511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6720" y="1376515"/>
            <a:ext cx="4083694" cy="4344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5982392"/>
      </p:ext>
    </p:extLst>
  </p:cSld>
  <p:clrMapOvr>
    <a:masterClrMapping/>
  </p:clrMapOvr>
  <p:transition spd="slow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5B2F8C43-B7CE-2963-7659-B986B3E60D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>
            <a:extLst>
              <a:ext uri="{FF2B5EF4-FFF2-40B4-BE49-F238E27FC236}">
                <a16:creationId xmlns:a16="http://schemas.microsoft.com/office/drawing/2014/main" id="{5C76D3E9-04C8-C83B-C60F-3A6923B5050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Noise Margin</a:t>
            </a:r>
          </a:p>
        </p:txBody>
      </p:sp>
      <p:sp>
        <p:nvSpPr>
          <p:cNvPr id="100" name="Google Shape;100;p2">
            <a:extLst>
              <a:ext uri="{FF2B5EF4-FFF2-40B4-BE49-F238E27FC236}">
                <a16:creationId xmlns:a16="http://schemas.microsoft.com/office/drawing/2014/main" id="{B7C8424F-B787-E872-6B61-B1AAD3391FDC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CSE 350</a:t>
            </a:r>
            <a:endParaRPr dirty="0"/>
          </a:p>
        </p:txBody>
      </p:sp>
      <p:sp>
        <p:nvSpPr>
          <p:cNvPr id="101" name="Google Shape;101;p2">
            <a:extLst>
              <a:ext uri="{FF2B5EF4-FFF2-40B4-BE49-F238E27FC236}">
                <a16:creationId xmlns:a16="http://schemas.microsoft.com/office/drawing/2014/main" id="{AC8D18F0-3461-C9F4-5953-BB7C0AB36F2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  <p:pic>
        <p:nvPicPr>
          <p:cNvPr id="102" name="Google Shape;102;p2">
            <a:extLst>
              <a:ext uri="{FF2B5EF4-FFF2-40B4-BE49-F238E27FC236}">
                <a16:creationId xmlns:a16="http://schemas.microsoft.com/office/drawing/2014/main" id="{82F3AACD-6161-9223-6BDC-F2CAB37A1EC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2528F40B-926C-FAE4-968C-C4E6E0E01981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766915" y="1376515"/>
                <a:ext cx="11653685" cy="4384205"/>
              </a:xfrm>
            </p:spPr>
            <p:txBody>
              <a:bodyPr>
                <a:normAutofit/>
              </a:bodyPr>
              <a:lstStyle/>
              <a:p>
                <a:pPr marL="0" marR="0" indent="0" algn="ctr">
                  <a:lnSpc>
                    <a:spcPct val="107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i="1" kern="100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800" b="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1800" b="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𝑁𝐻</m:t>
                          </m:r>
                        </m:sub>
                      </m:sSub>
                      <m:r>
                        <a:rPr lang="en-US" sz="1800" b="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=11.5−5.4018=6.0982 </m:t>
                      </m:r>
                      <m:r>
                        <a:rPr lang="en-US" sz="1800" b="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𝑉</m:t>
                      </m:r>
                      <m:r>
                        <a:rPr lang="en-US" sz="1800" b="0" i="1" kern="100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&lt;</m:t>
                      </m:r>
                      <m:r>
                        <a:rPr lang="en-US" sz="1800" b="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r>
                        <a:rPr lang="en-US" sz="1800" b="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𝐻𝑖𝑔h</m:t>
                      </m:r>
                      <m:r>
                        <a:rPr lang="en-US" sz="1800" b="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US" sz="1800" b="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𝑛𝑜𝑖𝑠𝑒</m:t>
                      </m:r>
                      <m:r>
                        <a:rPr lang="en-US" sz="1800" b="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US" sz="1800" b="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𝑚𝑎𝑟𝑔𝑖𝑛</m:t>
                      </m:r>
                    </m:oMath>
                  </m:oMathPara>
                </a14:m>
                <a:endParaRPr lang="en-US" sz="18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marR="0" indent="0" algn="ctr">
                  <a:lnSpc>
                    <a:spcPct val="107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i="1" kern="100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800" b="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1800" b="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𝑁𝐿</m:t>
                          </m:r>
                        </m:sub>
                      </m:sSub>
                      <m:r>
                        <a:rPr lang="en-US" sz="1800" b="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=2.375−0.2=2.175 </m:t>
                      </m:r>
                      <m:r>
                        <a:rPr lang="en-US" sz="1800" b="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𝑉</m:t>
                      </m:r>
                      <m:r>
                        <a:rPr lang="en-US" sz="1800" b="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&lt;−</m:t>
                      </m:r>
                      <m:r>
                        <a:rPr lang="en-US" sz="1800" b="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𝐿𝑜𝑤</m:t>
                      </m:r>
                      <m:r>
                        <a:rPr lang="en-US" sz="1800" b="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US" sz="1800" b="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𝑛𝑜𝑖𝑠𝑒</m:t>
                      </m:r>
                      <m:r>
                        <a:rPr lang="en-US" sz="1800" b="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US" sz="1800" b="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𝑚𝑎𝑟𝑔𝑖𝑛</m:t>
                      </m:r>
                    </m:oMath>
                  </m:oMathPara>
                </a14:m>
                <a:endParaRPr lang="en-US" sz="18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marR="0" indent="0" algn="ctr">
                  <a:lnSpc>
                    <a:spcPct val="107000"/>
                  </a:lnSpc>
                  <a:spcAft>
                    <a:spcPts val="800"/>
                  </a:spcAft>
                  <a:buNone/>
                </a:pPr>
                <a:endParaRPr lang="en-US" sz="1800" kern="10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marR="0" indent="0" algn="ctr">
                  <a:lnSpc>
                    <a:spcPct val="107000"/>
                  </a:lnSpc>
                  <a:spcAft>
                    <a:spcPts val="800"/>
                  </a:spcAft>
                  <a:buNone/>
                </a:pPr>
                <a:endParaRPr lang="en-US" sz="18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marR="0" indent="0">
                  <a:lnSpc>
                    <a:spcPct val="107000"/>
                  </a:lnSpc>
                  <a:spcAft>
                    <a:spcPts val="800"/>
                  </a:spcAft>
                  <a:buNone/>
                </a:pPr>
                <a:r>
                  <a:rPr lang="en-US" sz="1800" b="1" kern="1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	</a:t>
                </a:r>
                <a14:m>
                  <m:oMath xmlns:m="http://schemas.openxmlformats.org/officeDocument/2006/math">
                    <m:r>
                      <a:rPr lang="en-US" sz="1800" b="1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𝑵𝒐𝒊𝒔𝒆</m:t>
                    </m:r>
                    <m:r>
                      <a:rPr lang="en-US" sz="1800" b="1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sz="1800" b="1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𝑴𝒂𝒓𝒈𝒊𝒏</m:t>
                    </m:r>
                    <m:r>
                      <a:rPr lang="en-US" sz="1800" b="1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1800" b="1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𝐦𝐢</m:t>
                    </m:r>
                    <m:func>
                      <m:funcPr>
                        <m:ctrlPr>
                          <a:rPr lang="en-US" sz="1800" b="1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r>
                          <a:rPr lang="en-US" sz="1800" b="1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𝐧</m:t>
                        </m:r>
                      </m:fName>
                      <m:e>
                        <m:d>
                          <m:dPr>
                            <m:ctrlPr>
                              <a:rPr lang="en-US" sz="1800" b="1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sz="1800" b="1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en-US" sz="1800" b="1" i="1" kern="10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b="1" i="1" kern="10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𝑽</m:t>
                                </m:r>
                              </m:e>
                              <m:sub>
                                <m:r>
                                  <a:rPr lang="en-US" sz="1800" b="1" i="1" kern="10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𝑵𝑯</m:t>
                                </m:r>
                              </m:sub>
                            </m:sSub>
                            <m:r>
                              <a:rPr lang="en-US" sz="1800" b="1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, </m:t>
                            </m:r>
                            <m:sSub>
                              <m:sSubPr>
                                <m:ctrlPr>
                                  <a:rPr lang="en-US" sz="1800" b="1" i="1" kern="10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b="1" i="1" kern="10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𝑽</m:t>
                                </m:r>
                              </m:e>
                              <m:sub>
                                <m:r>
                                  <a:rPr lang="en-US" sz="1800" b="1" i="1" kern="10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𝑵𝑯</m:t>
                                </m:r>
                              </m:sub>
                            </m:sSub>
                          </m:e>
                        </m:d>
                      </m:e>
                    </m:func>
                    <m:r>
                      <a:rPr lang="en-US" sz="1800" b="1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1800" b="1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𝟐</m:t>
                    </m:r>
                    <m:r>
                      <a:rPr lang="en-US" sz="1800" b="1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.</m:t>
                    </m:r>
                    <m:r>
                      <a:rPr lang="en-US" sz="1800" b="1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𝟏𝟕𝟓</m:t>
                    </m:r>
                    <m:r>
                      <a:rPr lang="en-US" sz="1800" b="1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sz="1800" b="1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𝑽</m:t>
                    </m:r>
                  </m:oMath>
                </a14:m>
                <a:endParaRPr lang="en-US" sz="18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marR="0" indent="0">
                  <a:lnSpc>
                    <a:spcPct val="107000"/>
                  </a:lnSpc>
                  <a:spcAft>
                    <a:spcPts val="800"/>
                  </a:spcAft>
                  <a:buNone/>
                </a:pPr>
                <a:r>
                  <a:rPr lang="en-US" sz="1800" kern="1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This noise voltage can be tolerated for both input and output voltages.</a:t>
                </a:r>
                <a:endParaRPr lang="en-US" sz="18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marR="0" indent="0">
                  <a:lnSpc>
                    <a:spcPct val="107000"/>
                  </a:lnSpc>
                  <a:spcAft>
                    <a:spcPts val="800"/>
                  </a:spcAft>
                  <a:buNone/>
                </a:pPr>
                <a:r>
                  <a:rPr lang="en-US" sz="1800" b="1" kern="1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  <a:endParaRPr lang="en-US" sz="18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114300" indent="0">
                  <a:buNone/>
                </a:pPr>
                <a:endParaRPr lang="en-US" dirty="0"/>
              </a:p>
              <a:p>
                <a:pPr marL="114300" indent="0">
                  <a:buNone/>
                </a:pPr>
                <a:endParaRPr lang="en-US" dirty="0"/>
              </a:p>
              <a:p>
                <a:pPr marL="114300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2528F40B-926C-FAE4-968C-C4E6E0E0198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766915" y="1376515"/>
                <a:ext cx="11653685" cy="4384205"/>
              </a:xfrm>
              <a:blipFill>
                <a:blip r:embed="rId4"/>
                <a:stretch>
                  <a:fillRect l="-4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86496045"/>
      </p:ext>
    </p:extLst>
  </p:cSld>
  <p:clrMapOvr>
    <a:masterClrMapping/>
  </p:clrMapOvr>
  <p:transition spd="slow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A3D12CC2-CB76-A91B-60D1-ADF7AA20B7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>
            <a:extLst>
              <a:ext uri="{FF2B5EF4-FFF2-40B4-BE49-F238E27FC236}">
                <a16:creationId xmlns:a16="http://schemas.microsoft.com/office/drawing/2014/main" id="{2BAB8EAD-31FA-AB34-5DAD-659CFC5533B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Fanout</a:t>
            </a:r>
          </a:p>
        </p:txBody>
      </p:sp>
      <p:sp>
        <p:nvSpPr>
          <p:cNvPr id="100" name="Google Shape;100;p2">
            <a:extLst>
              <a:ext uri="{FF2B5EF4-FFF2-40B4-BE49-F238E27FC236}">
                <a16:creationId xmlns:a16="http://schemas.microsoft.com/office/drawing/2014/main" id="{963F02FB-BB10-0270-790A-42B4029CFCCB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CSE 350</a:t>
            </a:r>
            <a:endParaRPr dirty="0"/>
          </a:p>
        </p:txBody>
      </p:sp>
      <p:sp>
        <p:nvSpPr>
          <p:cNvPr id="101" name="Google Shape;101;p2">
            <a:extLst>
              <a:ext uri="{FF2B5EF4-FFF2-40B4-BE49-F238E27FC236}">
                <a16:creationId xmlns:a16="http://schemas.microsoft.com/office/drawing/2014/main" id="{7F5E9247-E631-3A70-24BC-A9D2ECEEDD5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  <p:pic>
        <p:nvPicPr>
          <p:cNvPr id="102" name="Google Shape;102;p2">
            <a:extLst>
              <a:ext uri="{FF2B5EF4-FFF2-40B4-BE49-F238E27FC236}">
                <a16:creationId xmlns:a16="http://schemas.microsoft.com/office/drawing/2014/main" id="{BE99D5D1-71A0-BB47-B008-4E122D471F5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D105DD-656A-EE2D-B43A-34916A26B3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6915" y="1376515"/>
            <a:ext cx="10735273" cy="4462811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US" b="1" dirty="0"/>
              <a:t>Fanout: </a:t>
            </a:r>
          </a:p>
          <a:p>
            <a:pPr marL="114300" indent="0">
              <a:buNone/>
            </a:pPr>
            <a:r>
              <a:rPr lang="en-US" dirty="0"/>
              <a:t>The maximum number of logic inputs ( of the same logic family ) that an output can drive reliably is called maximum fanout.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endParaRPr lang="en-US" dirty="0"/>
          </a:p>
          <a:p>
            <a:pPr>
              <a:buFont typeface="Wingdings" panose="05000000000000000000" pitchFamily="2" charset="2"/>
              <a:buChar char="ü"/>
            </a:pPr>
            <a:r>
              <a:rPr lang="en-US" b="1" dirty="0"/>
              <a:t>calculate fanout </a:t>
            </a:r>
            <a:r>
              <a:rPr lang="en-US" b="1" dirty="0">
                <a:sym typeface="Wingdings" panose="05000000000000000000" pitchFamily="2" charset="2"/>
              </a:rPr>
              <a:t> maximum fanout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b="1" dirty="0">
                <a:sym typeface="Wingdings" panose="05000000000000000000" pitchFamily="2" charset="2"/>
              </a:rPr>
              <a:t>fanout given in question may not be maximum</a:t>
            </a:r>
          </a:p>
          <a:p>
            <a:pPr marL="114300" indent="0">
              <a:buNone/>
            </a:pPr>
            <a:endParaRPr lang="en-US" b="1" dirty="0"/>
          </a:p>
          <a:p>
            <a:pPr marL="114300" indent="0">
              <a:buNone/>
            </a:pP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696527643"/>
      </p:ext>
    </p:extLst>
  </p:cSld>
  <p:clrMapOvr>
    <a:masterClrMapping/>
  </p:clrMapOvr>
  <p:transition spd="slow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E49E0860-09CC-E3FC-9D9F-3855472E80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>
            <a:extLst>
              <a:ext uri="{FF2B5EF4-FFF2-40B4-BE49-F238E27FC236}">
                <a16:creationId xmlns:a16="http://schemas.microsoft.com/office/drawing/2014/main" id="{D876E202-B3B2-6615-F103-15BF974D175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Fanout</a:t>
            </a:r>
          </a:p>
        </p:txBody>
      </p:sp>
      <p:sp>
        <p:nvSpPr>
          <p:cNvPr id="100" name="Google Shape;100;p2">
            <a:extLst>
              <a:ext uri="{FF2B5EF4-FFF2-40B4-BE49-F238E27FC236}">
                <a16:creationId xmlns:a16="http://schemas.microsoft.com/office/drawing/2014/main" id="{2DBB3FA5-6EED-6AD1-86F1-E19EF765B366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CSE 350</a:t>
            </a:r>
            <a:endParaRPr dirty="0"/>
          </a:p>
        </p:txBody>
      </p:sp>
      <p:sp>
        <p:nvSpPr>
          <p:cNvPr id="101" name="Google Shape;101;p2">
            <a:extLst>
              <a:ext uri="{FF2B5EF4-FFF2-40B4-BE49-F238E27FC236}">
                <a16:creationId xmlns:a16="http://schemas.microsoft.com/office/drawing/2014/main" id="{23CF6DBA-6E0E-DC90-3742-C3DE41C6841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  <p:pic>
        <p:nvPicPr>
          <p:cNvPr id="102" name="Google Shape;102;p2">
            <a:extLst>
              <a:ext uri="{FF2B5EF4-FFF2-40B4-BE49-F238E27FC236}">
                <a16:creationId xmlns:a16="http://schemas.microsoft.com/office/drawing/2014/main" id="{D402F988-B71D-8209-333E-2364B771A64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DDD3B3-ED09-92D7-CFA4-30423F651A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6915" y="1376515"/>
            <a:ext cx="10735273" cy="4462811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65B07BE-2DD1-D91C-51B3-C78BDB4FCA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87764" y="1199026"/>
            <a:ext cx="4885756" cy="329058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2E35362-E5AE-F2AC-BD2B-59EA9604793A}"/>
              </a:ext>
            </a:extLst>
          </p:cNvPr>
          <p:cNvSpPr txBox="1"/>
          <p:nvPr/>
        </p:nvSpPr>
        <p:spPr>
          <a:xfrm>
            <a:off x="2313170" y="5006637"/>
            <a:ext cx="911191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Here output is connected with two other gate input. Fanout = 2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196C058-7482-601F-BB1E-3BE57D2C34D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94368" y="1376515"/>
            <a:ext cx="4719365" cy="3113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1625856"/>
      </p:ext>
    </p:extLst>
  </p:cSld>
  <p:clrMapOvr>
    <a:masterClrMapping/>
  </p:clrMapOvr>
  <p:transition spd="slow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2C2737EA-AF6E-CB3F-7E35-D899690D4D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>
            <a:extLst>
              <a:ext uri="{FF2B5EF4-FFF2-40B4-BE49-F238E27FC236}">
                <a16:creationId xmlns:a16="http://schemas.microsoft.com/office/drawing/2014/main" id="{8C90C8C4-6758-09AD-EF2B-5AF000342A1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Fanout</a:t>
            </a:r>
          </a:p>
        </p:txBody>
      </p:sp>
      <p:sp>
        <p:nvSpPr>
          <p:cNvPr id="100" name="Google Shape;100;p2">
            <a:extLst>
              <a:ext uri="{FF2B5EF4-FFF2-40B4-BE49-F238E27FC236}">
                <a16:creationId xmlns:a16="http://schemas.microsoft.com/office/drawing/2014/main" id="{8CCB0D4E-746D-1789-6418-8523F7CE08A3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CSE 350</a:t>
            </a:r>
            <a:endParaRPr dirty="0"/>
          </a:p>
        </p:txBody>
      </p:sp>
      <p:sp>
        <p:nvSpPr>
          <p:cNvPr id="101" name="Google Shape;101;p2">
            <a:extLst>
              <a:ext uri="{FF2B5EF4-FFF2-40B4-BE49-F238E27FC236}">
                <a16:creationId xmlns:a16="http://schemas.microsoft.com/office/drawing/2014/main" id="{5FC3D1E9-B22D-6613-886D-191EB2007ED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  <p:pic>
        <p:nvPicPr>
          <p:cNvPr id="102" name="Google Shape;102;p2">
            <a:extLst>
              <a:ext uri="{FF2B5EF4-FFF2-40B4-BE49-F238E27FC236}">
                <a16:creationId xmlns:a16="http://schemas.microsoft.com/office/drawing/2014/main" id="{5701421D-2EE1-AB59-3E44-25D4A8C2BF7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8F7B97-6D18-CA5C-987F-9C4BBD341B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6915" y="1376515"/>
            <a:ext cx="10735273" cy="4462811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US" b="1" dirty="0"/>
              <a:t>Example: </a:t>
            </a:r>
            <a:r>
              <a:rPr lang="en-US" dirty="0"/>
              <a:t>Calculate the fanout of the RTL circuit. Assume V</a:t>
            </a:r>
            <a:r>
              <a:rPr lang="en-US" baseline="-25000" dirty="0"/>
              <a:t>OH</a:t>
            </a:r>
            <a:r>
              <a:rPr lang="en-US" dirty="0"/>
              <a:t> = 10V.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F005748-66C0-CD38-C8F8-4C381FAA80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3414" y="2439035"/>
            <a:ext cx="7039924" cy="3293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1293365"/>
      </p:ext>
    </p:extLst>
  </p:cSld>
  <p:clrMapOvr>
    <a:masterClrMapping/>
  </p:clrMapOvr>
  <p:transition spd="slow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C68C1F45-66F0-31E0-6FDD-9DCE4A682C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>
            <a:extLst>
              <a:ext uri="{FF2B5EF4-FFF2-40B4-BE49-F238E27FC236}">
                <a16:creationId xmlns:a16="http://schemas.microsoft.com/office/drawing/2014/main" id="{3BD9D4FF-B964-6FF6-5ABE-53C5C192F25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Fanout</a:t>
            </a:r>
          </a:p>
        </p:txBody>
      </p:sp>
      <p:sp>
        <p:nvSpPr>
          <p:cNvPr id="100" name="Google Shape;100;p2">
            <a:extLst>
              <a:ext uri="{FF2B5EF4-FFF2-40B4-BE49-F238E27FC236}">
                <a16:creationId xmlns:a16="http://schemas.microsoft.com/office/drawing/2014/main" id="{3B42F8E6-A144-C30B-84B9-23B23B16CF17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CSE 350</a:t>
            </a:r>
            <a:endParaRPr dirty="0"/>
          </a:p>
        </p:txBody>
      </p:sp>
      <p:sp>
        <p:nvSpPr>
          <p:cNvPr id="101" name="Google Shape;101;p2">
            <a:extLst>
              <a:ext uri="{FF2B5EF4-FFF2-40B4-BE49-F238E27FC236}">
                <a16:creationId xmlns:a16="http://schemas.microsoft.com/office/drawing/2014/main" id="{DB262BD7-9661-D997-6290-6CBFF1D8590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  <p:pic>
        <p:nvPicPr>
          <p:cNvPr id="102" name="Google Shape;102;p2">
            <a:extLst>
              <a:ext uri="{FF2B5EF4-FFF2-40B4-BE49-F238E27FC236}">
                <a16:creationId xmlns:a16="http://schemas.microsoft.com/office/drawing/2014/main" id="{4228C94D-1677-BFC6-FD23-91D51659B74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7FAD08-BB4F-083D-EE2B-9330EDF1A1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6915" y="1376515"/>
            <a:ext cx="10735273" cy="4462811"/>
          </a:xfrm>
        </p:spPr>
        <p:txBody>
          <a:bodyPr>
            <a:normAutofit lnSpcReduction="10000"/>
          </a:bodyPr>
          <a:lstStyle/>
          <a:p>
            <a:pPr marL="114300" indent="0">
              <a:buNone/>
            </a:pPr>
            <a:r>
              <a:rPr lang="en-US" b="1" dirty="0"/>
              <a:t>Driver gate </a:t>
            </a:r>
            <a:r>
              <a:rPr lang="en-US" b="1" dirty="0">
                <a:sym typeface="Wingdings" panose="05000000000000000000" pitchFamily="2" charset="2"/>
              </a:rPr>
              <a:t> Supply current</a:t>
            </a:r>
          </a:p>
          <a:p>
            <a:pPr marL="114300" indent="0">
              <a:buNone/>
            </a:pPr>
            <a:r>
              <a:rPr lang="en-US" b="1" dirty="0">
                <a:sym typeface="Wingdings" panose="05000000000000000000" pitchFamily="2" charset="2"/>
              </a:rPr>
              <a:t>Load gate  Consume current</a:t>
            </a:r>
          </a:p>
          <a:p>
            <a:pPr marL="114300" indent="0">
              <a:buNone/>
            </a:pPr>
            <a:r>
              <a:rPr lang="en-US" b="1" dirty="0">
                <a:sym typeface="Wingdings" panose="05000000000000000000" pitchFamily="2" charset="2"/>
              </a:rPr>
              <a:t>Two case: </a:t>
            </a:r>
          </a:p>
          <a:p>
            <a:pPr marL="114300" indent="0">
              <a:buNone/>
            </a:pPr>
            <a:r>
              <a:rPr lang="en-US" dirty="0">
                <a:sym typeface="Wingdings" panose="05000000000000000000" pitchFamily="2" charset="2"/>
              </a:rPr>
              <a:t>Case 1: Driver output Low,</a:t>
            </a:r>
          </a:p>
          <a:p>
            <a:pPr marL="114300" indent="0">
              <a:buNone/>
            </a:pPr>
            <a:r>
              <a:rPr lang="en-US" dirty="0">
                <a:sym typeface="Wingdings" panose="05000000000000000000" pitchFamily="2" charset="2"/>
              </a:rPr>
              <a:t>Case 2: Driver output high</a:t>
            </a:r>
          </a:p>
          <a:p>
            <a:pPr marL="114300" indent="0">
              <a:buNone/>
            </a:pPr>
            <a:r>
              <a:rPr lang="en-US" b="1" dirty="0">
                <a:sym typeface="Wingdings" panose="05000000000000000000" pitchFamily="2" charset="2"/>
              </a:rPr>
              <a:t>Calculate:</a:t>
            </a:r>
          </a:p>
          <a:p>
            <a:pPr marL="114300" indent="0">
              <a:buNone/>
            </a:pPr>
            <a:r>
              <a:rPr lang="en-US" dirty="0">
                <a:sym typeface="Wingdings" panose="05000000000000000000" pitchFamily="2" charset="2"/>
              </a:rPr>
              <a:t>1. Individual demand current for each load circuit/ gate</a:t>
            </a:r>
          </a:p>
          <a:p>
            <a:pPr marL="114300" indent="0">
              <a:buNone/>
            </a:pPr>
            <a:r>
              <a:rPr lang="en-US" dirty="0">
                <a:sym typeface="Wingdings" panose="05000000000000000000" pitchFamily="2" charset="2"/>
              </a:rPr>
              <a:t>2. The maximum current that can be supplied from driver circuit</a:t>
            </a:r>
          </a:p>
          <a:p>
            <a:pPr marL="114300" indent="0">
              <a:buNone/>
            </a:pPr>
            <a:r>
              <a:rPr lang="en-US" b="1" dirty="0">
                <a:sym typeface="Wingdings" panose="05000000000000000000" pitchFamily="2" charset="2"/>
              </a:rPr>
              <a:t> </a:t>
            </a:r>
            <a:endParaRPr lang="en-US" dirty="0"/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4498284"/>
      </p:ext>
    </p:extLst>
  </p:cSld>
  <p:clrMapOvr>
    <a:masterClrMapping/>
  </p:clrMapOvr>
  <p:transition spd="slow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A5EEDD1D-5546-B9F2-6915-C28AA8FA75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>
            <a:extLst>
              <a:ext uri="{FF2B5EF4-FFF2-40B4-BE49-F238E27FC236}">
                <a16:creationId xmlns:a16="http://schemas.microsoft.com/office/drawing/2014/main" id="{8BE94684-2DBC-C196-56B3-F2DE7B22B9E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Fanout</a:t>
            </a:r>
          </a:p>
        </p:txBody>
      </p:sp>
      <p:sp>
        <p:nvSpPr>
          <p:cNvPr id="100" name="Google Shape;100;p2">
            <a:extLst>
              <a:ext uri="{FF2B5EF4-FFF2-40B4-BE49-F238E27FC236}">
                <a16:creationId xmlns:a16="http://schemas.microsoft.com/office/drawing/2014/main" id="{7340403A-2E23-963F-AC6B-C3B9D569F9F7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CSE 350</a:t>
            </a:r>
            <a:endParaRPr dirty="0"/>
          </a:p>
        </p:txBody>
      </p:sp>
      <p:sp>
        <p:nvSpPr>
          <p:cNvPr id="101" name="Google Shape;101;p2">
            <a:extLst>
              <a:ext uri="{FF2B5EF4-FFF2-40B4-BE49-F238E27FC236}">
                <a16:creationId xmlns:a16="http://schemas.microsoft.com/office/drawing/2014/main" id="{B2F4F94F-60D4-1EF1-DD92-078CA458495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  <p:pic>
        <p:nvPicPr>
          <p:cNvPr id="102" name="Google Shape;102;p2">
            <a:extLst>
              <a:ext uri="{FF2B5EF4-FFF2-40B4-BE49-F238E27FC236}">
                <a16:creationId xmlns:a16="http://schemas.microsoft.com/office/drawing/2014/main" id="{840C5089-3F9F-A085-049E-976C338653C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CA17DE86-CA04-B882-16E9-802C380BF909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961923" y="2388911"/>
                <a:ext cx="6565900" cy="3820160"/>
              </a:xfrm>
            </p:spPr>
            <p:txBody>
              <a:bodyPr>
                <a:normAutofit fontScale="92500"/>
              </a:bodyPr>
              <a:lstStyle/>
              <a:p>
                <a:pPr marL="114300" indent="0">
                  <a:buNone/>
                </a:pPr>
                <a:r>
                  <a:rPr lang="en-US" sz="2600" b="1" dirty="0"/>
                  <a:t>Case 1. </a:t>
                </a:r>
                <a:r>
                  <a:rPr lang="en-US" sz="2200" dirty="0"/>
                  <a:t>When output voltage </a:t>
                </a:r>
              </a:p>
              <a:p>
                <a:pPr marL="114300" indent="0">
                  <a:buNone/>
                </a:pPr>
                <a:r>
                  <a:rPr lang="en-US" sz="2200" dirty="0"/>
                  <a:t>at the driver is low.</a:t>
                </a:r>
              </a:p>
              <a:p>
                <a:pPr marL="114300" indent="0">
                  <a:buNone/>
                </a:pPr>
                <a:r>
                  <a:rPr lang="en-US" sz="2200" dirty="0">
                    <a:sym typeface="Wingdings" panose="05000000000000000000" pitchFamily="2" charset="2"/>
                  </a:rPr>
                  <a:t>	V</a:t>
                </a:r>
                <a:r>
                  <a:rPr lang="en-US" sz="2200" baseline="-25000" dirty="0">
                    <a:sym typeface="Wingdings" panose="05000000000000000000" pitchFamily="2" charset="2"/>
                  </a:rPr>
                  <a:t>OL </a:t>
                </a:r>
                <a:r>
                  <a:rPr lang="en-US" sz="2200" dirty="0">
                    <a:sym typeface="Wingdings" panose="05000000000000000000" pitchFamily="2" charset="2"/>
                  </a:rPr>
                  <a:t>= 0.2 V</a:t>
                </a:r>
              </a:p>
              <a:p>
                <a:pPr marL="114300" indent="0">
                  <a:buNone/>
                </a:pPr>
                <a:r>
                  <a:rPr lang="en-US" sz="2200" dirty="0">
                    <a:sym typeface="Wingdings" panose="05000000000000000000" pitchFamily="2" charset="2"/>
                  </a:rPr>
                  <a:t>Maximum total supply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20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fPr>
                      <m:num>
                        <m:r>
                          <a:rPr lang="en-US" sz="2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12−0.2</m:t>
                        </m:r>
                      </m:num>
                      <m:den>
                        <m:r>
                          <a:rPr lang="en-US" sz="2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2.2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𝑘</m:t>
                        </m:r>
                      </m:den>
                    </m:f>
                    <m:r>
                      <a:rPr lang="en-US" sz="2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=5.3636 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𝑚𝐴</m:t>
                    </m:r>
                  </m:oMath>
                </a14:m>
                <a:endParaRPr lang="en-US" sz="2200" dirty="0">
                  <a:sym typeface="Wingdings" panose="05000000000000000000" pitchFamily="2" charset="2"/>
                </a:endParaRPr>
              </a:p>
              <a:p>
                <a:pPr marL="114300" indent="0">
                  <a:buNone/>
                </a:pPr>
                <a:r>
                  <a:rPr lang="en-US" sz="2200" dirty="0">
                    <a:sym typeface="Wingdings" panose="05000000000000000000" pitchFamily="2" charset="2"/>
                  </a:rPr>
                  <a:t>Individual load current demand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  <m:f>
                      <m:fPr>
                        <m:ctrlPr>
                          <a:rPr lang="en-US" sz="220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fPr>
                      <m:num>
                        <m:r>
                          <a:rPr lang="en-US" sz="2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0.2 −(−12)</m:t>
                        </m:r>
                      </m:num>
                      <m:den>
                        <m:r>
                          <a:rPr lang="en-US" sz="2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115 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𝑘</m:t>
                        </m:r>
                      </m:den>
                    </m:f>
                    <m:r>
                      <a:rPr lang="en-US" sz="2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=0.106 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𝑚𝐴</m:t>
                    </m:r>
                  </m:oMath>
                </a14:m>
                <a:endParaRPr lang="en-US" sz="2200" dirty="0">
                  <a:sym typeface="Wingdings" panose="05000000000000000000" pitchFamily="2" charset="2"/>
                </a:endParaRPr>
              </a:p>
              <a:p>
                <a:pPr marL="114300" indent="0">
                  <a:buNone/>
                </a:pPr>
                <a:r>
                  <a:rPr lang="en-US" sz="2200" dirty="0">
                    <a:sym typeface="Wingdings" panose="05000000000000000000" pitchFamily="2" charset="2"/>
                  </a:rPr>
                  <a:t>( in this case load circuits transistors are in cutoff mode )</a:t>
                </a:r>
              </a:p>
              <a:p>
                <a:pPr marL="114300" indent="0">
                  <a:buNone/>
                </a:pPr>
                <a:r>
                  <a:rPr lang="en-US" sz="2200" dirty="0">
                    <a:sym typeface="Wingdings" panose="05000000000000000000" pitchFamily="2" charset="2"/>
                  </a:rPr>
                  <a:t>Maximum number of load circuits that we can afford , </a:t>
                </a:r>
              </a:p>
              <a:p>
                <a:pPr marL="114300" indent="0">
                  <a:buNone/>
                </a:pP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𝐹𝑎𝑛𝑜𝑢𝑡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  <m:f>
                      <m:fPr>
                        <m:ctrlPr>
                          <a:rPr lang="en-US" sz="220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fPr>
                      <m:num>
                        <m:r>
                          <a:rPr lang="en-US" sz="2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5.3636 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𝑚𝐴</m:t>
                        </m:r>
                      </m:num>
                      <m:den>
                        <m:r>
                          <a:rPr lang="en-US" sz="2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0.106 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𝑚𝐴</m:t>
                        </m:r>
                      </m:den>
                    </m:f>
                    <m:r>
                      <a:rPr lang="en-US" sz="2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=|_50.6_|=50</m:t>
                    </m:r>
                  </m:oMath>
                </a14:m>
                <a:r>
                  <a:rPr lang="en-US" sz="2200" dirty="0">
                    <a:sym typeface="Wingdings" panose="05000000000000000000" pitchFamily="2" charset="2"/>
                  </a:rPr>
                  <a:t> (Floor)</a:t>
                </a:r>
              </a:p>
              <a:p>
                <a:pPr marL="114300" indent="0">
                  <a:buNone/>
                </a:pPr>
                <a:endParaRPr lang="en-US" b="1" dirty="0">
                  <a:sym typeface="Wingdings" panose="05000000000000000000" pitchFamily="2" charset="2"/>
                </a:endParaRPr>
              </a:p>
              <a:p>
                <a:pPr marL="114300" indent="0">
                  <a:buNone/>
                </a:pPr>
                <a:endParaRPr lang="en-US" dirty="0"/>
              </a:p>
              <a:p>
                <a:pPr marL="114300" indent="0">
                  <a:buNone/>
                </a:pPr>
                <a:endParaRPr lang="en-US" dirty="0"/>
              </a:p>
              <a:p>
                <a:pPr marL="114300" indent="0">
                  <a:buNone/>
                </a:pPr>
                <a:endParaRPr lang="en-US" dirty="0"/>
              </a:p>
              <a:p>
                <a:pPr marL="114300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CA17DE86-CA04-B882-16E9-802C380BF90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961923" y="2388911"/>
                <a:ext cx="6565900" cy="3820160"/>
              </a:xfr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DD235849-3A19-39E9-3353-D9F33644033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30669" y="-88490"/>
            <a:ext cx="7023468" cy="3268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2120470"/>
      </p:ext>
    </p:extLst>
  </p:cSld>
  <p:clrMapOvr>
    <a:masterClrMapping/>
  </p:clrMapOvr>
  <p:transition spd="slow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4707FFAB-14A6-B6CC-22C9-4FB149A5DA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>
            <a:extLst>
              <a:ext uri="{FF2B5EF4-FFF2-40B4-BE49-F238E27FC236}">
                <a16:creationId xmlns:a16="http://schemas.microsoft.com/office/drawing/2014/main" id="{A8C5C939-A372-B9FC-518B-968331191B9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79120" y="262816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Fanout</a:t>
            </a:r>
          </a:p>
        </p:txBody>
      </p:sp>
      <p:sp>
        <p:nvSpPr>
          <p:cNvPr id="100" name="Google Shape;100;p2">
            <a:extLst>
              <a:ext uri="{FF2B5EF4-FFF2-40B4-BE49-F238E27FC236}">
                <a16:creationId xmlns:a16="http://schemas.microsoft.com/office/drawing/2014/main" id="{B160AB59-0ABC-55E9-3EAD-5FECF5833126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CSE 350</a:t>
            </a:r>
            <a:endParaRPr dirty="0"/>
          </a:p>
        </p:txBody>
      </p:sp>
      <p:sp>
        <p:nvSpPr>
          <p:cNvPr id="101" name="Google Shape;101;p2">
            <a:extLst>
              <a:ext uri="{FF2B5EF4-FFF2-40B4-BE49-F238E27FC236}">
                <a16:creationId xmlns:a16="http://schemas.microsoft.com/office/drawing/2014/main" id="{AFB0B51E-CC40-3788-62CB-6D9984021D9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27</a:t>
            </a:fld>
            <a:endParaRPr/>
          </a:p>
        </p:txBody>
      </p:sp>
      <p:pic>
        <p:nvPicPr>
          <p:cNvPr id="102" name="Google Shape;102;p2">
            <a:extLst>
              <a:ext uri="{FF2B5EF4-FFF2-40B4-BE49-F238E27FC236}">
                <a16:creationId xmlns:a16="http://schemas.microsoft.com/office/drawing/2014/main" id="{4E49BF14-05DC-4C30-9279-2481387D144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D81A5DAF-2FC1-6B4E-6432-940430B2ABB5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1350297" y="3146414"/>
                <a:ext cx="7400413" cy="3299378"/>
              </a:xfrm>
            </p:spPr>
            <p:txBody>
              <a:bodyPr>
                <a:normAutofit fontScale="92500"/>
              </a:bodyPr>
              <a:lstStyle/>
              <a:p>
                <a:pPr marL="114300" indent="0">
                  <a:buNone/>
                </a:pPr>
                <a:r>
                  <a:rPr lang="en-US" sz="2600" b="1" dirty="0"/>
                  <a:t>Case 2: When output voltage </a:t>
                </a:r>
                <a:r>
                  <a:rPr lang="en-US" sz="2600" b="1" dirty="0">
                    <a:sym typeface="Wingdings" panose="05000000000000000000" pitchFamily="2" charset="2"/>
                  </a:rPr>
                  <a:t>driver circuit is high. V</a:t>
                </a:r>
                <a:r>
                  <a:rPr lang="en-US" sz="2600" b="1" baseline="-25000" dirty="0">
                    <a:sym typeface="Wingdings" panose="05000000000000000000" pitchFamily="2" charset="2"/>
                  </a:rPr>
                  <a:t>OH.</a:t>
                </a:r>
                <a:endParaRPr lang="en-US" sz="2600" b="1" dirty="0">
                  <a:sym typeface="Wingdings" panose="05000000000000000000" pitchFamily="2" charset="2"/>
                </a:endParaRPr>
              </a:p>
              <a:p>
                <a:pPr marL="114300" indent="0">
                  <a:buNone/>
                </a:pPr>
                <a:r>
                  <a:rPr lang="en-US" sz="2600" dirty="0">
                    <a:sym typeface="Wingdings" panose="05000000000000000000" pitchFamily="2" charset="2"/>
                  </a:rPr>
                  <a:t>Driver transistor is in cutoff and load transistor is in saturation</a:t>
                </a:r>
              </a:p>
              <a:p>
                <a:pPr marL="114300" indent="0">
                  <a:buNone/>
                </a:pPr>
                <a:r>
                  <a:rPr lang="en-US" sz="2600" dirty="0">
                    <a:sym typeface="Wingdings" panose="05000000000000000000" pitchFamily="2" charset="2"/>
                  </a:rPr>
                  <a:t>Maximum supply current </a:t>
                </a:r>
                <a14:m>
                  <m:oMath xmlns:m="http://schemas.openxmlformats.org/officeDocument/2006/math">
                    <m:r>
                      <a:rPr lang="en-US" sz="26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  <m:f>
                      <m:fPr>
                        <m:ctrlPr>
                          <a:rPr lang="en-US" sz="260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fPr>
                      <m:num>
                        <m:r>
                          <a:rPr lang="en-US" sz="26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12−10</m:t>
                        </m:r>
                      </m:num>
                      <m:den>
                        <m:r>
                          <a:rPr lang="en-US" sz="26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2.2 </m:t>
                        </m:r>
                        <m:r>
                          <a:rPr lang="en-US" sz="26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𝑘</m:t>
                        </m:r>
                      </m:den>
                    </m:f>
                    <m:r>
                      <a:rPr lang="en-US" sz="26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=0.909 </m:t>
                    </m:r>
                    <m:r>
                      <a:rPr lang="en-US" sz="26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𝑚𝐴</m:t>
                    </m:r>
                  </m:oMath>
                </a14:m>
                <a:endParaRPr lang="en-US" sz="2600" dirty="0">
                  <a:sym typeface="Wingdings" panose="05000000000000000000" pitchFamily="2" charset="2"/>
                </a:endParaRPr>
              </a:p>
              <a:p>
                <a:pPr marL="114300" indent="0">
                  <a:buNone/>
                </a:pPr>
                <a:r>
                  <a:rPr lang="en-US" sz="2600" dirty="0">
                    <a:sym typeface="Wingdings" panose="05000000000000000000" pitchFamily="2" charset="2"/>
                  </a:rPr>
                  <a:t>Individual load current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60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sz="26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𝐼</m:t>
                        </m:r>
                      </m:e>
                      <m:sub>
                        <m:r>
                          <a:rPr lang="en-US" sz="26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𝐿</m:t>
                        </m:r>
                      </m:sub>
                    </m:sSub>
                    <m:r>
                      <a:rPr lang="en-US" sz="26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  <m:f>
                      <m:fPr>
                        <m:ctrlPr>
                          <a:rPr lang="en-US" sz="260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fPr>
                      <m:num>
                        <m:r>
                          <a:rPr lang="en-US" sz="26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10−0.8</m:t>
                        </m:r>
                      </m:num>
                      <m:den>
                        <m:r>
                          <a:rPr lang="en-US" sz="26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15</m:t>
                        </m:r>
                        <m:r>
                          <a:rPr lang="en-US" sz="26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𝑘</m:t>
                        </m:r>
                      </m:den>
                    </m:f>
                    <m:r>
                      <a:rPr lang="en-US" sz="26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=0.6133 </m:t>
                    </m:r>
                    <m:r>
                      <a:rPr lang="en-US" sz="26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𝑚𝐴</m:t>
                    </m:r>
                  </m:oMath>
                </a14:m>
                <a:endParaRPr lang="en-US" sz="2600" dirty="0">
                  <a:sym typeface="Wingdings" panose="05000000000000000000" pitchFamily="2" charset="2"/>
                </a:endParaRPr>
              </a:p>
              <a:p>
                <a:pPr marL="114300" indent="0">
                  <a:buNone/>
                </a:pPr>
                <a:r>
                  <a:rPr lang="en-US" sz="2600" dirty="0">
                    <a:sym typeface="Wingdings" panose="05000000000000000000" pitchFamily="2" charset="2"/>
                  </a:rPr>
                  <a:t>Maximum fanout for this = |_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60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fPr>
                      <m:num>
                        <m:r>
                          <a:rPr lang="en-US" sz="26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0.909</m:t>
                        </m:r>
                      </m:num>
                      <m:den>
                        <m:r>
                          <a:rPr lang="en-US" sz="26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0.6133</m:t>
                        </m:r>
                      </m:den>
                    </m:f>
                    <m:r>
                      <a:rPr lang="en-US" sz="26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_|=1</m:t>
                    </m:r>
                  </m:oMath>
                </a14:m>
                <a:endParaRPr lang="en-US" sz="2600" dirty="0">
                  <a:sym typeface="Wingdings" panose="05000000000000000000" pitchFamily="2" charset="2"/>
                </a:endParaRPr>
              </a:p>
              <a:p>
                <a:pPr marL="114300" indent="0">
                  <a:buNone/>
                </a:pPr>
                <a:endParaRPr lang="en-US" b="1" dirty="0">
                  <a:sym typeface="Wingdings" panose="05000000000000000000" pitchFamily="2" charset="2"/>
                </a:endParaRPr>
              </a:p>
              <a:p>
                <a:pPr marL="114300" indent="0">
                  <a:buNone/>
                </a:pPr>
                <a:endParaRPr lang="en-US" b="1" dirty="0">
                  <a:sym typeface="Wingdings" panose="05000000000000000000" pitchFamily="2" charset="2"/>
                </a:endParaRPr>
              </a:p>
              <a:p>
                <a:pPr marL="114300" indent="0">
                  <a:buNone/>
                </a:pPr>
                <a:endParaRPr lang="en-US" b="1" dirty="0">
                  <a:sym typeface="Wingdings" panose="05000000000000000000" pitchFamily="2" charset="2"/>
                </a:endParaRPr>
              </a:p>
              <a:p>
                <a:pPr marL="114300" indent="0">
                  <a:buNone/>
                </a:pPr>
                <a:endParaRPr lang="en-US" dirty="0"/>
              </a:p>
              <a:p>
                <a:pPr marL="114300" indent="0">
                  <a:buNone/>
                </a:pPr>
                <a:endParaRPr lang="en-US" dirty="0"/>
              </a:p>
              <a:p>
                <a:pPr marL="114300" indent="0">
                  <a:buNone/>
                </a:pPr>
                <a:endParaRPr lang="en-US" dirty="0"/>
              </a:p>
              <a:p>
                <a:pPr marL="114300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D81A5DAF-2FC1-6B4E-6432-940430B2ABB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1350297" y="3146414"/>
                <a:ext cx="7400413" cy="3299378"/>
              </a:xfr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53438691-1ADE-D006-B1A9-3931FA3E5C2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3075" y="0"/>
            <a:ext cx="5818925" cy="3099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2658443"/>
      </p:ext>
    </p:extLst>
  </p:cSld>
  <p:clrMapOvr>
    <a:masterClrMapping/>
  </p:clrMapOvr>
  <p:transition spd="slow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E14470A8-2002-C6DD-3DBE-25F1326CAE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>
            <a:extLst>
              <a:ext uri="{FF2B5EF4-FFF2-40B4-BE49-F238E27FC236}">
                <a16:creationId xmlns:a16="http://schemas.microsoft.com/office/drawing/2014/main" id="{C15849F3-E07A-CD17-E5EE-FB254181FBE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21572" y="272648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Fanout</a:t>
            </a:r>
          </a:p>
        </p:txBody>
      </p:sp>
      <p:sp>
        <p:nvSpPr>
          <p:cNvPr id="100" name="Google Shape;100;p2">
            <a:extLst>
              <a:ext uri="{FF2B5EF4-FFF2-40B4-BE49-F238E27FC236}">
                <a16:creationId xmlns:a16="http://schemas.microsoft.com/office/drawing/2014/main" id="{66E2D8B0-2B2C-676F-B568-CB506A377E42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CSE 350</a:t>
            </a:r>
            <a:endParaRPr dirty="0"/>
          </a:p>
        </p:txBody>
      </p:sp>
      <p:sp>
        <p:nvSpPr>
          <p:cNvPr id="101" name="Google Shape;101;p2">
            <a:extLst>
              <a:ext uri="{FF2B5EF4-FFF2-40B4-BE49-F238E27FC236}">
                <a16:creationId xmlns:a16="http://schemas.microsoft.com/office/drawing/2014/main" id="{50646B09-C80B-1A3B-2393-D70691216A7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28</a:t>
            </a:fld>
            <a:endParaRPr/>
          </a:p>
        </p:txBody>
      </p:sp>
      <p:pic>
        <p:nvPicPr>
          <p:cNvPr id="102" name="Google Shape;102;p2">
            <a:extLst>
              <a:ext uri="{FF2B5EF4-FFF2-40B4-BE49-F238E27FC236}">
                <a16:creationId xmlns:a16="http://schemas.microsoft.com/office/drawing/2014/main" id="{2A7EDD6A-E5E3-7B87-9BD8-4352803070A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546F5B-8B93-F049-55F8-E8669322D4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308" y="1334586"/>
            <a:ext cx="11399520" cy="2323376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US" sz="2400" dirty="0"/>
              <a:t>Overall maximum fanout must be calculated by considering  worst case scenario. </a:t>
            </a:r>
          </a:p>
          <a:p>
            <a:pPr marL="114300" indent="0">
              <a:buNone/>
            </a:pPr>
            <a:r>
              <a:rPr lang="en-US" sz="2400" dirty="0"/>
              <a:t>To prevent malfunction of driver circuit , we need to take the minimum of the two cases.</a:t>
            </a:r>
          </a:p>
          <a:p>
            <a:pPr marL="114300" indent="0">
              <a:buNone/>
            </a:pPr>
            <a:r>
              <a:rPr lang="en-US" sz="2400" b="1" dirty="0">
                <a:sym typeface="Wingdings" panose="05000000000000000000" pitchFamily="2" charset="2"/>
              </a:rPr>
              <a:t>Max Fanout = Min ( 50,1 ) = 1</a:t>
            </a:r>
          </a:p>
          <a:p>
            <a:pPr marL="114300" indent="0">
              <a:buNone/>
            </a:pPr>
            <a:endParaRPr lang="en-US" b="1" dirty="0">
              <a:sym typeface="Wingdings" panose="05000000000000000000" pitchFamily="2" charset="2"/>
            </a:endParaRPr>
          </a:p>
          <a:p>
            <a:pPr marL="114300" indent="0">
              <a:buNone/>
            </a:pPr>
            <a:endParaRPr lang="en-US" b="1" dirty="0">
              <a:sym typeface="Wingdings" panose="05000000000000000000" pitchFamily="2" charset="2"/>
            </a:endParaRPr>
          </a:p>
          <a:p>
            <a:pPr marL="114300" indent="0">
              <a:buNone/>
            </a:pPr>
            <a:endParaRPr lang="en-US" b="1" dirty="0">
              <a:sym typeface="Wingdings" panose="05000000000000000000" pitchFamily="2" charset="2"/>
            </a:endParaRP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0677557"/>
      </p:ext>
    </p:extLst>
  </p:cSld>
  <p:clrMapOvr>
    <a:masterClrMapping/>
  </p:clrMapOvr>
  <p:transition spd="slow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1599</TotalTime>
  <Words>1359</Words>
  <Application>Microsoft Office PowerPoint</Application>
  <PresentationFormat>Widescreen</PresentationFormat>
  <Paragraphs>268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4" baseType="lpstr">
      <vt:lpstr>Arial</vt:lpstr>
      <vt:lpstr>Calibri</vt:lpstr>
      <vt:lpstr>Cambria Math</vt:lpstr>
      <vt:lpstr>Times New Roman</vt:lpstr>
      <vt:lpstr>Wingdings</vt:lpstr>
      <vt:lpstr>Office Theme</vt:lpstr>
      <vt:lpstr>CSE 350 Digital Electronics and Pulse Techniques </vt:lpstr>
      <vt:lpstr>Resistor Transistor Logic (RTL)</vt:lpstr>
      <vt:lpstr>Resistor Transistor Logic (RTL)</vt:lpstr>
      <vt:lpstr>Resistor Transistor Logic (RTL)</vt:lpstr>
      <vt:lpstr>Resistor Transistor Logic (RTL)</vt:lpstr>
      <vt:lpstr>Resistor Transistor Logic (RTL)</vt:lpstr>
      <vt:lpstr>Power dissipation for RTL inverters:</vt:lpstr>
      <vt:lpstr>Power dissipation for RTL inverter</vt:lpstr>
      <vt:lpstr>Power dissipation for RTL inverter</vt:lpstr>
      <vt:lpstr>Power dissipation for RTL inverter</vt:lpstr>
      <vt:lpstr>Power dissipation for RTL inverter</vt:lpstr>
      <vt:lpstr>Power dissipation for RTL inverter</vt:lpstr>
      <vt:lpstr>Noise Margin</vt:lpstr>
      <vt:lpstr>Noise Margin</vt:lpstr>
      <vt:lpstr>Noise Margin</vt:lpstr>
      <vt:lpstr>Noise Margin</vt:lpstr>
      <vt:lpstr>Example:</vt:lpstr>
      <vt:lpstr>Noise Margin</vt:lpstr>
      <vt:lpstr>Noise Margin</vt:lpstr>
      <vt:lpstr>Noise Margin</vt:lpstr>
      <vt:lpstr>Noise Margin</vt:lpstr>
      <vt:lpstr>Fanout</vt:lpstr>
      <vt:lpstr>Fanout</vt:lpstr>
      <vt:lpstr>Fanout</vt:lpstr>
      <vt:lpstr>Fanout</vt:lpstr>
      <vt:lpstr>Fanout</vt:lpstr>
      <vt:lpstr>Fanout</vt:lpstr>
      <vt:lpstr>Fanout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nazmul turjo</dc:creator>
  <cp:lastModifiedBy>USER</cp:lastModifiedBy>
  <cp:revision>15</cp:revision>
  <dcterms:created xsi:type="dcterms:W3CDTF">2021-07-10T07:14:46Z</dcterms:created>
  <dcterms:modified xsi:type="dcterms:W3CDTF">2025-01-06T17:49:04Z</dcterms:modified>
</cp:coreProperties>
</file>