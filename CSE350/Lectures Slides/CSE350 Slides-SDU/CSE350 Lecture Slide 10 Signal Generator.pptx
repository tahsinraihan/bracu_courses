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8" r:id="rId3"/>
    <p:sldId id="302" r:id="rId4"/>
    <p:sldId id="281" r:id="rId5"/>
    <p:sldId id="282" r:id="rId6"/>
    <p:sldId id="283" r:id="rId7"/>
    <p:sldId id="284" r:id="rId8"/>
    <p:sldId id="303" r:id="rId9"/>
    <p:sldId id="289" r:id="rId10"/>
    <p:sldId id="290" r:id="rId11"/>
    <p:sldId id="291" r:id="rId12"/>
    <p:sldId id="294" r:id="rId13"/>
    <p:sldId id="292" r:id="rId14"/>
    <p:sldId id="295" r:id="rId15"/>
    <p:sldId id="293" r:id="rId16"/>
    <p:sldId id="296" r:id="rId17"/>
    <p:sldId id="297" r:id="rId18"/>
    <p:sldId id="305" r:id="rId19"/>
    <p:sldId id="298" r:id="rId20"/>
    <p:sldId id="301" r:id="rId21"/>
    <p:sldId id="299" r:id="rId22"/>
    <p:sldId id="300" r:id="rId23"/>
    <p:sldId id="304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heI/Gh8udpzYH683TQTOOwqcsd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A784C28-ED34-6345-BF66-3697E9118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A1ADA2FC-2628-44F2-5051-5596BB7174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81B6E419-8A84-E8B4-FA41-C18E2C136E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3471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DCBF6D9-6B71-1E06-516F-82385FE57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40DF4D6D-D6B8-36A5-FC59-E008F2114F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DACFE5A7-3D3D-0C57-BD67-FE2F1FAF5C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59234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CDFFCA3-E8AB-E7B5-82F0-3E6632ED3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CCF38A8B-F894-5F1C-E346-B5A216F9AE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5ED57035-46F9-1BBC-8520-DD9752C112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7870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B0AA5DE-4A9D-FF6C-D7B0-F39F91179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15AC9439-0963-1838-C36C-AA44E7C20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1B4CF857-E827-C628-9DB6-E8CE03E9CE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6021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30511E9-B7EF-1497-8CEA-EA1FB55EB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E0F3B346-0AD8-AF6B-033E-52CCD6CD8F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22DC681D-D50E-40B8-6BAB-716D96D9DC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80940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2248D0FE-EAFD-9FAF-93B0-45F25FDC8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85A57AF0-8EEC-7208-AA29-3B4D4EC42B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E968D154-0F0A-1859-3147-546FC21F05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50192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2248D0FE-EAFD-9FAF-93B0-45F25FDC8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85A57AF0-8EEC-7208-AA29-3B4D4EC42B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E968D154-0F0A-1859-3147-546FC21F05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34386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69DEBD9-19B7-DA6F-B5A2-C43C4B8A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602074FF-7BFD-3643-F470-74390C7CC3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9D51F907-61DF-91F7-E1FA-266C209536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8350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4419E0A-C959-2B2E-AC7C-3AB7E9EB5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280690DB-E7D0-65DA-94BB-D02D3FFCA7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B9426769-776A-43FC-0839-3733D452DE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9015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8F765A9-1A5C-A5F8-5BDA-FA9054655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E58774B3-D090-CB63-A6B2-AA2E3D7868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108A8655-F69B-CAF7-9064-0EFD0FE9BE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10014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E6983E4-14AF-D523-12EA-3F3F2D8B4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B854C52F-5367-165D-ED47-9F89E4E33F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745C3764-3E96-EF32-E6F9-8EA4858168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3916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C8D37BE7-D5F7-ADA5-501C-7D36EC0D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FDB41ACC-1A5E-5F54-53D6-DF5C221FCF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E3CAC421-A37E-C8C7-DADB-88C9E7AD0F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80430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A2E4A5B-7A91-02A3-77C5-2AFF02451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2E6FA99C-E427-E650-D402-C472094660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80014A46-BE26-52F7-53B5-A55D1B4B3D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1506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8299886-7549-E73D-A1B1-63BFD657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0B8CE880-3E4E-7D4D-1E25-2111653954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59BD272D-09A9-532C-0BD3-FF7A63118C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30642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AEFA08E8-CA9D-C6FA-21F3-8678BB2AC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D42121AB-2B02-CEBA-A07A-CB9CC132C1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F266B989-8390-200D-6163-E3F0973EC5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238505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9B9443A3-0D9B-388D-9384-490AEBB34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D1CE3BE-A44E-4807-C6C6-83B7C01667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F960EF63-E482-1496-9876-378600A06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131980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9B9443A3-0D9B-388D-9384-490AEBB34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D1CE3BE-A44E-4807-C6C6-83B7C01667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F960EF63-E482-1496-9876-378600A06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13965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9BD3987C-3A17-DE59-65D3-EFBA9FA23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AADE2707-BC78-ADF1-C2F2-F7BF9AF028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9C8763BA-D8AF-7542-DC79-F87ACDE1F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12268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9BD3987C-3A17-DE59-65D3-EFBA9FA23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AADE2707-BC78-ADF1-C2F2-F7BF9AF028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9C8763BA-D8AF-7542-DC79-F87ACDE1F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3170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C9D68F7-02C3-CAAC-4BEF-E4CB8672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B534C49E-D112-5C36-DE6A-A7B88A3EF6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063D9A85-D7E6-3CCD-40E1-5777AA2DFD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90145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5EABA52-1A2E-8E10-351C-47CB372A1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C705A91-6E73-C7B6-F63D-0A37CE0A0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498CB99E-6625-91FC-7312-54029D873C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07870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5EABA52-1A2E-8E10-351C-47CB372A1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C705A91-6E73-C7B6-F63D-0A37CE0A0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498CB99E-6625-91FC-7312-54029D873C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4359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0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0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1025537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 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926825" y="5456700"/>
            <a:ext cx="498069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Mail: </a:t>
            </a:r>
            <a:r>
              <a:rPr lang="en-US" sz="20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shomen.kundu@bracu.ac.bd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Desk: 4N166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3397045" y="2526891"/>
            <a:ext cx="7733071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Signal Generator: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Square Wave and Triangular Wave</a:t>
            </a:r>
            <a:endParaRPr dirty="0"/>
          </a:p>
        </p:txBody>
      </p:sp>
      <p:sp>
        <p:nvSpPr>
          <p:cNvPr id="90" name="Google Shape;90;p1"/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Course Instructor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Shomen Kundu (SDU)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0052ADA-7649-0BAA-A726-CFC4B3E55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103E5250-632F-C84F-F888-0D9B51CB3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Signal Generator 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E8A90BB8-B40F-CB4F-EAE2-78B7099FED5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740B5663-3C42-E414-BFE5-A69529824F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D209711-03F2-A200-124D-36C23E1095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F60FFBCC-CFF4-C997-D592-4128102AA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10389747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dirty="0"/>
              <a:t>We will study two types of signal generator</a:t>
            </a:r>
          </a:p>
          <a:p>
            <a:pPr marL="685800" lvl="0" indent="-5715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AutoNum type="romanLcPeriod"/>
            </a:pPr>
            <a:r>
              <a:rPr lang="en-US" dirty="0"/>
              <a:t>Square wave generator</a:t>
            </a:r>
          </a:p>
          <a:p>
            <a:pPr marL="685800" lvl="0" indent="-5715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AutoNum type="romanLcPeriod"/>
            </a:pPr>
            <a:r>
              <a:rPr lang="en-US" dirty="0"/>
              <a:t>Triangular wave generator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8723285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CEFD9203-6B44-63F9-3270-908753072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5F8504FE-1D49-654C-AD0E-F4FF4F9D9E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Basic RC circuit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FE130F69-C923-C065-4964-8D1708E9616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A41D9F5E-DAF8-F3C6-61BA-6C9C7F2F00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40CE0B30-CFC4-5284-A2A6-5D01B4FA44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03052B6-EEAA-4431-4C2E-520AC8B22D3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377145" cy="4741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 smtClean="0"/>
                  <a:t>We know for capacitor,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From the circuit,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</m:t>
                      </m:r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 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⇒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03052B6-EEAA-4431-4C2E-520AC8B22D3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377145" cy="4741750"/>
              </a:xfrm>
              <a:prstGeom prst="rect">
                <a:avLst/>
              </a:prstGeom>
              <a:blipFill>
                <a:blip r:embed="rId4"/>
                <a:stretch>
                  <a:fillRect l="-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5711" y="969408"/>
            <a:ext cx="4488993" cy="462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13105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BCE77B9-8E19-38C7-0F71-89E72EFED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C4DD2240-59C3-96DD-C784-BEF26F41EB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Basic RC circuit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DE530E2D-EA50-A30C-B160-9C7655BDC7B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220BDA8B-BA88-9161-4784-43B26281E3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67C4B745-E797-D29E-BC53-025F66EA10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013ACF1D-E959-DC10-0264-E41E803341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74320" y="1058125"/>
                <a:ext cx="6952390" cy="4514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b="0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we can simply use this form,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(∞)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013ACF1D-E959-DC10-0264-E41E8033417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74320" y="1058125"/>
                <a:ext cx="6952390" cy="4514082"/>
              </a:xfrm>
              <a:prstGeom prst="rect">
                <a:avLst/>
              </a:prstGeom>
              <a:blipFill>
                <a:blip r:embed="rId4"/>
                <a:stretch>
                  <a:fillRect l="-1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2229" y="776659"/>
            <a:ext cx="4339987" cy="447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336873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C52C002D-D267-5C15-7471-B6F85E545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61B14AEC-3739-47FF-104B-B8890F21A8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FE75B50A-5CAF-DBA7-3D22-69F812A947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E2063E01-E2B7-4714-86AE-81991022FE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51761FA9-E76C-4EF6-97A9-3D65A3ECC2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8A6F8B8C-3BD9-990A-967D-B8FBB92DC16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179871"/>
                <a:ext cx="6934693" cy="4757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 smtClean="0"/>
                  <a:t>Here is the square wave generator,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 smtClean="0"/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⇒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−(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114300" indent="0" algn="just"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dirty="0"/>
                  <a:t> -------------- (</a:t>
                </a:r>
                <a:r>
                  <a:rPr lang="en-US" dirty="0" err="1"/>
                  <a:t>i</a:t>
                </a:r>
                <a:r>
                  <a:rPr lang="en-US" dirty="0"/>
                  <a:t>)</a:t>
                </a:r>
              </a:p>
              <a:p>
                <a:pPr marL="114300" lvl="0" indent="0" algn="just">
                  <a:buSzPct val="7563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8A6F8B8C-3BD9-990A-967D-B8FBB92DC16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179871"/>
                <a:ext cx="6934693" cy="4757941"/>
              </a:xfrm>
              <a:prstGeom prst="rect">
                <a:avLst/>
              </a:prstGeom>
              <a:blipFill>
                <a:blip r:embed="rId4"/>
                <a:stretch>
                  <a:fillRect l="-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13B3199C-E0F2-2D01-FB05-395FA6B68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245" y="833693"/>
            <a:ext cx="4391638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209727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424D777-FD09-67D4-9BAC-3B3013A2B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565A65B-CEBA-1D3E-93F8-200A804262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3AAF0CD-22D9-3690-2CAE-9B1F74DE4DD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AC81067-F968-F0B2-2B0B-063257BC86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5C147A43-65E1-1DF2-95E1-ED28C9405F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762B21A-F483-B24B-9697-A1F6A891977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8" y="1334586"/>
                <a:ext cx="6305802" cy="42328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Higher threshold voltage,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Lower threshold voltage,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762B21A-F483-B24B-9697-A1F6A891977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8" y="1334586"/>
                <a:ext cx="6305802" cy="4232838"/>
              </a:xfrm>
              <a:prstGeom prst="rect">
                <a:avLst/>
              </a:prstGeom>
              <a:blipFill>
                <a:blip r:embed="rId4"/>
                <a:stretch>
                  <a:fillRect l="-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354A39AB-10E0-8061-A5F7-77E2A15B3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0362" y="771591"/>
            <a:ext cx="4391638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99644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10C67FB-9999-38AF-8938-49568ECD4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9D488A2F-1EE8-3898-8095-3403AE4BF7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EDC16F1-51B3-E5A2-97F9-21CFA4B1291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465B5958-3482-3E3B-F051-C4D2986688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5E2AB66D-2C00-2D99-2B8A-F4D51BFB62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674E41-47F9-C35D-4092-F4CF7318DC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74" r="7935"/>
          <a:stretch/>
        </p:blipFill>
        <p:spPr>
          <a:xfrm>
            <a:off x="6423339" y="3205740"/>
            <a:ext cx="4374521" cy="32329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4A39AB-10E0-8061-A5F7-77E2A15B3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8134" y="1585666"/>
            <a:ext cx="3777495" cy="4154425"/>
          </a:xfrm>
          <a:prstGeom prst="rect">
            <a:avLst/>
          </a:prstGeom>
        </p:spPr>
      </p:pic>
      <p:pic>
        <p:nvPicPr>
          <p:cNvPr id="1026" name="Picture 2" descr="https://lh7-rt.googleusercontent.com/slidesz/AGV_vUc-na9snNLldTI7ydNRW52_YeGBVCSpCndJDx_LjX1HZj0zlB-Esl44TBmCYqCI-xhgSFzvkcUoXWVthWfg7nUwS-mB9W_IlrCT3SZsG3LCzuJxrAIFvhUTX38g0tVAUypOz04tpXUZtBG-TM5viQ=s2048?key=R2CcMOaEihyKyB1cjcF_Z_Gj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5" r="14181"/>
          <a:stretch/>
        </p:blipFill>
        <p:spPr bwMode="auto">
          <a:xfrm>
            <a:off x="7034307" y="246578"/>
            <a:ext cx="2622312" cy="3023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343896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10C67FB-9999-38AF-8938-49568ECD4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9D488A2F-1EE8-3898-8095-3403AE4BF7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EDC16F1-51B3-E5A2-97F9-21CFA4B1291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465B5958-3482-3E3B-F051-C4D2986688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5E2AB66D-2C00-2D99-2B8A-F4D51BFB62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C45BC21-F53B-8228-9781-30F50EC286B0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Case 01: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Initially,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𝑈𝑛𝑡𝑖𝑙𝑙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𝑜𝑢𝑡𝑝𝑢𝑡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𝑟𝑒𝑚𝑎𝑖𝑛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But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output will change.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C45BC21-F53B-8228-9781-30F50EC286B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 r="-3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E674E41-47F9-C35D-4092-F4CF7318DC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74" r="7935"/>
          <a:stretch/>
        </p:blipFill>
        <p:spPr>
          <a:xfrm>
            <a:off x="6748040" y="1181761"/>
            <a:ext cx="5312780" cy="392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129367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B8F2517E-DFF0-BAB6-946B-5C54C1EE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7A50284-46A4-7415-EA37-9EADB1D342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294A9FC1-805D-6B85-81E0-BA6A8BE75F5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29AD721C-A2BF-C336-D1EE-89DE0FB47E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AABD1ABF-4EB2-36E3-32EF-38DD9C58E6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17110476-96FA-B677-19AB-70449F84B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We can use eq (</a:t>
                </a:r>
                <a:r>
                  <a:rPr lang="en-US" dirty="0" err="1"/>
                  <a:t>i</a:t>
                </a:r>
                <a:r>
                  <a:rPr lang="en-US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−0 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17110476-96FA-B677-19AB-70449F84B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16DB5CB-F4C7-0968-8B0C-FB0F30B66E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574" r="7935"/>
          <a:stretch/>
        </p:blipFill>
        <p:spPr>
          <a:xfrm>
            <a:off x="6748040" y="1223325"/>
            <a:ext cx="5312780" cy="392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0051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260594E-F226-C61C-917D-AA11951F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94B0B6F-9C9F-A7F0-7FFB-AF3B6FA140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37227460-3DCB-2131-F035-9F4BE35F3E5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B5ECD773-FFC7-8517-E501-36552A9380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426B7B7F-B195-AA2D-A3F6-33F89829CE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648853FA-D164-9FF5-1793-5D81C8C3ABF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Case 02: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Initially,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𝑈𝑛𝑡𝑖𝑙𝑙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𝑜𝑢𝑡𝑝𝑢𝑡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𝑟𝑒𝑚𝑎𝑖𝑛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But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output will change.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648853FA-D164-9FF5-1793-5D81C8C3ABF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731F7F22-7EB7-6B20-8648-9D7637E270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574" r="7935"/>
          <a:stretch/>
        </p:blipFill>
        <p:spPr>
          <a:xfrm>
            <a:off x="6748040" y="1223325"/>
            <a:ext cx="5312780" cy="392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50859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C09561E-4D38-3D1D-E06C-F2A9CF3B6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6F8EF2E-B83E-65DC-071C-88FD2380BF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13815370-6057-5616-A1D9-B4FCBCE7182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48F0D7DF-C71F-D9C7-BBC3-9F39E4D5F7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FE7FC472-34B0-06D4-8113-71F01387CA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2CC0ACA-0634-4887-4DAE-824F58242463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We can use eq (</a:t>
                </a:r>
                <a:r>
                  <a:rPr lang="en-US" dirty="0" err="1"/>
                  <a:t>i</a:t>
                </a:r>
                <a:r>
                  <a:rPr lang="en-US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𝑇𝐿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2CC0ACA-0634-4887-4DAE-824F5824246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FD8E8DF7-055D-EC9C-42B5-D41AFB0F4A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574" r="7935"/>
          <a:stretch/>
        </p:blipFill>
        <p:spPr>
          <a:xfrm>
            <a:off x="6748040" y="1223325"/>
            <a:ext cx="5312780" cy="392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330923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EC06F16D-FA1B-AB9C-AF81-52B296879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3974522-C6AC-1DF2-F979-C923201D3F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 Formulas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CF1682AD-CC08-DF47-31A7-0135F0F2C57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19A8B112-D35E-C971-8441-C1FCE3A698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E24FC46E-118E-86C1-466B-E8FC92CF24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CBBA368-0A19-67B3-8E29-13CB0F1C7AD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10515600" cy="48892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                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𝑇𝐿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en-US" b="0" i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           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𝐷𝑢𝑡𝑦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𝑐𝑦𝑐𝑙𝑒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∗100%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dirty="0"/>
                  <a:t>*100%</a:t>
                </a: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CBBA368-0A19-67B3-8E29-13CB0F1C7AD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10515600" cy="48892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23811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EAD461D-F2F5-A6F5-F95D-5B8C43F71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46CB1748-3539-CAC0-A89D-4E9C19CA6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1B4705CC-FF03-9B1A-6E3E-4384C0FFA83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9F16FE77-C7B1-2893-CBA9-9B6F2174AC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211184A5-3874-D274-3495-278281EDF8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857B70-B133-592C-F69C-7079B9BD15B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For  the Schmitt-trigger oscillator the saturation output voltages are +10V and -5V.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=0.01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. Determine the  frequency of oscillation and duty cycle.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857B70-B133-592C-F69C-7079B9BD15B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 r="-20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FBA9E95-6251-BBD4-D702-D7177AF5DA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245" y="843525"/>
            <a:ext cx="4391638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271056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66BD718B-5A1A-493B-288F-DD14A5157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CAE72907-F24F-1C9B-8E17-5E54403D84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6D47F6C2-637A-A56F-E14D-5EDA4365838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0E95EA77-39B5-03CF-4E9D-E744AF7C0A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2D4840DD-E461-18BD-DF8C-926A119396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7C16977-9E99-8C8F-E144-E0ECC03D69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 smtClean="0"/>
                  <a:t>Find the duty cycle of the oscillator if the power supply of the OP-AMP is symmetrical.      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[ Hints: Symmetrical power supply </a:t>
                </a:r>
                <a:r>
                  <a:rPr lang="en-US" dirty="0" smtClean="0"/>
                  <a:t>]</a:t>
                </a: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 ]</a:t>
                </a:r>
              </a:p>
            </p:txBody>
          </p:sp>
        </mc:Choice>
        <mc:Fallback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7C16977-9E99-8C8F-E144-E0ECC03D69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 r="-20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DD41DD8-9097-EA80-3652-E65331C029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245" y="833693"/>
            <a:ext cx="4391638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54724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E067C1C9-5224-B6C3-37C7-E8D44008B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D8F7925E-FDC2-FC69-6A8F-CB34A7B536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Triangular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D5D2451D-333F-AFCD-9C99-00816B16C44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A059B5AA-AAD4-A54B-D16D-CD9A3CC6E4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D0D84A15-345F-02A8-D883-78EDF5F2C3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4E2F6938-9D11-DAC8-5E8E-BE30A1349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6062733" cy="406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dirty="0"/>
              <a:t>Here is the circuit of the triangular wave generator.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FAA91C-48B6-85C5-E105-CAA9BA6BC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495" y="2237667"/>
            <a:ext cx="6597305" cy="368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212974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292D336-AE54-878C-607A-8D640B89D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FA6F56DE-22C8-A26E-18A4-BDFB73ECC6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Integrator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DD98445D-ADEA-203D-2BC5-EBE50E50F98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AD1FA1A5-3E63-085D-45C9-3C0127D375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121932E2-FFBE-5748-5BEF-6A7687B1EB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70E32C6-6250-3221-2FD5-A5DA48C7669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is a constant voltage.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 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𝑛𝑛𝑖𝑡𝑎𝑙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𝑖𝑛𝑖𝑡𝑖𝑎𝑙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70E32C6-6250-3221-2FD5-A5DA48C7669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CB3EFD9-168E-3F36-7243-2627E8BB24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0144" y="998409"/>
            <a:ext cx="4620270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877900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43AA378-358C-8E89-7568-5DBE30815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CFB91FB4-A64D-4B9D-0BE1-64FEC20A2C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Triangular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FC7F9854-CF65-E080-5FFD-81F76FB8889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59A6623A-0D10-F893-0446-0F8C588041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73E96872-9178-9A03-B601-9DA5CFAEBB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39176A-B941-5264-327A-561CD9A49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818" y="2846187"/>
            <a:ext cx="4225636" cy="3829249"/>
          </a:xfrm>
          <a:prstGeom prst="rect">
            <a:avLst/>
          </a:prstGeom>
        </p:spPr>
      </p:pic>
      <p:pic>
        <p:nvPicPr>
          <p:cNvPr id="2050" name="Picture 2" descr="https://lh7-rt.googleusercontent.com/slidesz/AGV_vUfkfj9V3mDyxLy3BG7pUJNXU8Q9lUFu-Dg4Dh4Fjm17UN6QzBpETNAHb9YIqckWpN7xJcjX-dtjYXYaThDlwsmBgNDKs1ZWvfkhF1nXciZFEuUHdCM_IrCvusbKCeT7dnWJ01Dak0T-HI8Uy_XdUXw=s2048?key=R2CcMOaEihyKyB1cjcF_Z_Gj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837" y="113620"/>
            <a:ext cx="3408218" cy="2867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FAA91C-48B6-85C5-E105-CAA9BA6BC9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440" y="1353808"/>
            <a:ext cx="7253397" cy="404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719082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43AA378-358C-8E89-7568-5DBE30815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CFB91FB4-A64D-4B9D-0BE1-64FEC20A2C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Triangular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FC7F9854-CF65-E080-5FFD-81F76FB8889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59A6623A-0D10-F893-0446-0F8C588041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73E96872-9178-9A03-B601-9DA5CFAEBB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5D9B78A-7477-F38D-BF90-8E8049A0683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𝑝𝑅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5D9B78A-7477-F38D-BF90-8E8049A0683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339176A-B941-5264-327A-561CD9A49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934" y="1334585"/>
            <a:ext cx="4169639" cy="377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188998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51B91661-4F7D-2751-3FB4-966F064EA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79EAC832-EF81-DFB2-3173-CDE725E65E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Triangular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088B6DE-7366-F517-053D-654F6575AFC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F42E5823-0256-8CB6-8D77-E03D532472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C8ABCC7A-E2FC-856A-2C1F-5EF122E0A4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1DC1D8A-3F45-F97B-9599-0813DB6F907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Case 01: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𝑖𝑛𝑖𝑡𝑖𝑎𝑙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𝑇𝐻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Case 02: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Similarly,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𝑇𝐿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𝑇𝐻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1DC1D8A-3F45-F97B-9599-0813DB6F907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2735ED41-A216-0AE7-84F7-2228574D7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934" y="1334585"/>
            <a:ext cx="4169639" cy="377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277858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51B91661-4F7D-2751-3FB4-966F064EA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79EAC832-EF81-DFB2-3173-CDE725E65E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 smtClean="0">
                <a:solidFill>
                  <a:schemeClr val="accent1"/>
                </a:solidFill>
              </a:rPr>
              <a:t>Formula of Triangular Wave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088B6DE-7366-F517-053D-654F6575AFC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F42E5823-0256-8CB6-8D77-E03D532472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C8ABCC7A-E2FC-856A-2C1F-5EF122E0A4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1DC1D8A-3F45-F97B-9599-0813DB6F907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707627" cy="5021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85000" lnSpcReduction="10000"/>
              </a:bodyPr>
              <a:lstStyle/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,   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=−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𝑇𝐿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sz="2400" i="1" dirty="0" smtClean="0">
                  <a:latin typeface="Cambria Math" panose="02040503050406030204" pitchFamily="18" charset="0"/>
                </a:endParaRPr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2400" b="0" i="1" dirty="0" smtClean="0">
                  <a:latin typeface="Cambria Math" panose="02040503050406030204" pitchFamily="18" charset="0"/>
                </a:endParaRPr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(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𝑇𝐿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𝑇𝐻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 smtClean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b="0" i="1" dirty="0" smtClean="0"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𝐷𝑢𝑡𝑦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𝐶𝑦𝑐𝑙𝑒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𝑆𝑞𝑢𝑎𝑟𝑒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∗100%</m:t>
                      </m:r>
                    </m:oMath>
                  </m:oMathPara>
                </a14:m>
                <a:endParaRPr lang="en-US" sz="2400" b="0" dirty="0" smtClean="0"/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𝐷𝑢𝑡𝑦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𝐶𝑦𝑐𝑙𝑒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𝑇𝑟𝑖𝑎𝑛𝑔𝑢𝑙𝑎𝑟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∗100%</m:t>
                      </m:r>
                    </m:oMath>
                  </m:oMathPara>
                </a14:m>
                <a:endParaRPr lang="en-US" sz="240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sz="2400" b="0" dirty="0" smtClean="0"/>
                  <a:t>Special Case: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sz="2400" b="0" dirty="0" smtClean="0"/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sz="2400" b="0" dirty="0" smtClean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en-US" sz="2400" dirty="0" smtClean="0"/>
                  <a:t> </a:t>
                </a:r>
                <a:endParaRPr lang="en-US" sz="240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1DC1D8A-3F45-F97B-9599-0813DB6F907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707627" cy="50217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2735ED41-A216-0AE7-84F7-2228574D7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164" y="1334585"/>
            <a:ext cx="4053409" cy="367317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320145" y="5292436"/>
                <a:ext cx="63730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Note: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𝐹𝑎𝑙𝑙𝑖𝑛𝑔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𝑡𝑟𝑖𝑎𝑛𝑔𝑢𝑙𝑎𝑟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𝑤𝑎𝑣𝑒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𝑅𝑖𝑠𝑖𝑛𝑔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𝑡𝑟𝑖𝑎𝑛𝑔𝑢𝑙𝑎𝑟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𝑤𝑎𝑣𝑒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145" y="5292436"/>
                <a:ext cx="6373091" cy="523220"/>
              </a:xfrm>
              <a:prstGeom prst="rect">
                <a:avLst/>
              </a:prstGeom>
              <a:blipFill>
                <a:blip r:embed="rId6"/>
                <a:stretch>
                  <a:fillRect l="-287"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4536764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E14EA32-EF89-E9A6-7D2E-0EC4FF40F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7B6382AB-3754-B498-69A1-BC10AF2BCE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0E8A8933-B20A-F48C-D6B1-B96E887E21B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F47B4773-6E5B-87E8-13D7-1CAEA48DCD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008F8D0E-6EB8-F9C3-ED27-43FE520771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2C76DF-E8BE-94B1-9BE4-0890502F4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2696" y="3429000"/>
            <a:ext cx="5673214" cy="31675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1CBF8BFB-ED4F-0C76-8FAE-F86F0C28768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199" y="1093918"/>
                <a:ext cx="10852355" cy="4309704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000" dirty="0"/>
                  <a:t>Answer the following question for the Triangular wave generator. 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Given,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=15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=−15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000" dirty="0"/>
              </a:p>
              <a:p>
                <a:pPr marL="114300" indent="0">
                  <a:buNone/>
                </a:pPr>
                <a:r>
                  <a:rPr lang="en-US" sz="2000" dirty="0"/>
                  <a:t>a). Draw the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 plot with proper labeling.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b.) Draw the VTC of the Schmitt trigger.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c.) Find the frequency, Time period, Duty cycle of the Triangular wave, Duty cycle of the Square wave. 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1CBF8BFB-ED4F-0C76-8FAE-F86F0C287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199" y="1093918"/>
                <a:ext cx="10852355" cy="4309704"/>
              </a:xfrm>
              <a:blipFill>
                <a:blip r:embed="rId5"/>
                <a:stretch>
                  <a:fillRect r="-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4729633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E8529314-B60B-8EA1-2FA7-A5EE0BCB4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EBF63B0-D1FB-625C-8CD2-D13917317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7A69A30E-C2A0-435C-DBA5-B51ABCECE7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483F4CF9-DAAC-BBB7-C25E-1E4F1CBE4C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9A7CE5A7-2E79-33B6-69E3-17A5FF3B76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A8088B-3673-800B-DA44-D636EABC6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2696" y="3429000"/>
            <a:ext cx="5673214" cy="31675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049CCBD0-5B03-F105-A9ED-2AC684AE5DE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199" y="1093918"/>
                <a:ext cx="10852355" cy="4309704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000" dirty="0"/>
                  <a:t>Answer the following question for the Triangular wave generator. 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Given,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=−12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000" dirty="0"/>
              </a:p>
              <a:p>
                <a:pPr marL="114300" indent="0">
                  <a:buNone/>
                </a:pPr>
                <a:r>
                  <a:rPr lang="en-US" sz="2000" dirty="0"/>
                  <a:t>a). Draw the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 plot with proper labeling.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b.) Draw the VTC of the Schmitt trigger.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c.) Find the frequency, Time period, Duty cycle of the Triangular wave, Duty cycle of the Square wave. 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049CCBD0-5B03-F105-A9ED-2AC684AE5D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199" y="1093918"/>
                <a:ext cx="10852355" cy="4309704"/>
              </a:xfrm>
              <a:blipFill>
                <a:blip r:embed="rId5"/>
                <a:stretch>
                  <a:fillRect r="-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1982331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E8529314-B60B-8EA1-2FA7-A5EE0BCB4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EBF63B0-D1FB-625C-8CD2-D13917317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7A69A30E-C2A0-435C-DBA5-B51ABCECE7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483F4CF9-DAAC-BBB7-C25E-1E4F1CBE4C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9A7CE5A7-2E79-33B6-69E3-17A5FF3B76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9CCBD0-5B03-F105-A9ED-2AC684AE5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093918"/>
            <a:ext cx="10852355" cy="430970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Draw the waveform of the following circuit and calculate the frequency and duty cycle of triangular wave.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4227" y="1922136"/>
            <a:ext cx="7677464" cy="375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143841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314</Words>
  <Application>Microsoft Office PowerPoint</Application>
  <PresentationFormat>Widescreen</PresentationFormat>
  <Paragraphs>165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 Math</vt:lpstr>
      <vt:lpstr>Times New Roman</vt:lpstr>
      <vt:lpstr>Office Theme</vt:lpstr>
      <vt:lpstr>CSE 350 Digital Electronics and Pulse Techniques </vt:lpstr>
      <vt:lpstr>Signal Generator </vt:lpstr>
      <vt:lpstr>Basic RC circuit</vt:lpstr>
      <vt:lpstr>Basic RC circuit</vt:lpstr>
      <vt:lpstr>Square wave generator</vt:lpstr>
      <vt:lpstr>Square wave generator</vt:lpstr>
      <vt:lpstr>Square wave generator</vt:lpstr>
      <vt:lpstr>Square wave generator</vt:lpstr>
      <vt:lpstr>Square wave generator</vt:lpstr>
      <vt:lpstr>Square wave generator</vt:lpstr>
      <vt:lpstr>Square wave generator</vt:lpstr>
      <vt:lpstr>Square wave generator Formulas</vt:lpstr>
      <vt:lpstr>Exercise:</vt:lpstr>
      <vt:lpstr>Exercise:</vt:lpstr>
      <vt:lpstr>Triangular wave generator</vt:lpstr>
      <vt:lpstr>Integrator</vt:lpstr>
      <vt:lpstr>Triangular</vt:lpstr>
      <vt:lpstr>Triangular</vt:lpstr>
      <vt:lpstr>Triangular</vt:lpstr>
      <vt:lpstr>Formula of Triangular Wave</vt:lpstr>
      <vt:lpstr>Exercise:</vt:lpstr>
      <vt:lpstr>Exercise:</vt:lpstr>
      <vt:lpstr>Exercise: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350 Digital Electronics and Pulse Techniques </dc:title>
  <dc:creator>nazmul turjo</dc:creator>
  <cp:lastModifiedBy>Shomen Kundu</cp:lastModifiedBy>
  <cp:revision>22</cp:revision>
  <dcterms:created xsi:type="dcterms:W3CDTF">2021-07-10T07:14:46Z</dcterms:created>
  <dcterms:modified xsi:type="dcterms:W3CDTF">2025-04-29T05:02:42Z</dcterms:modified>
</cp:coreProperties>
</file>