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78" r:id="rId3"/>
    <p:sldId id="279" r:id="rId4"/>
    <p:sldId id="283" r:id="rId5"/>
    <p:sldId id="280" r:id="rId6"/>
    <p:sldId id="281" r:id="rId7"/>
    <p:sldId id="284" r:id="rId8"/>
    <p:sldId id="282" r:id="rId9"/>
    <p:sldId id="285" r:id="rId10"/>
    <p:sldId id="286" r:id="rId11"/>
    <p:sldId id="287" r:id="rId12"/>
    <p:sldId id="302" r:id="rId13"/>
    <p:sldId id="303" r:id="rId14"/>
    <p:sldId id="304" r:id="rId15"/>
    <p:sldId id="305" r:id="rId16"/>
    <p:sldId id="306" r:id="rId17"/>
    <p:sldId id="307" r:id="rId18"/>
    <p:sldId id="308" r:id="rId19"/>
    <p:sldId id="309" r:id="rId20"/>
    <p:sldId id="310" r:id="rId21"/>
    <p:sldId id="311" r:id="rId22"/>
    <p:sldId id="312" r:id="rId23"/>
    <p:sldId id="313" r:id="rId24"/>
    <p:sldId id="326" r:id="rId25"/>
    <p:sldId id="314" r:id="rId26"/>
    <p:sldId id="318" r:id="rId27"/>
    <p:sldId id="319" r:id="rId28"/>
    <p:sldId id="315" r:id="rId29"/>
    <p:sldId id="316" r:id="rId30"/>
    <p:sldId id="317" r:id="rId31"/>
    <p:sldId id="320" r:id="rId32"/>
    <p:sldId id="321" r:id="rId33"/>
    <p:sldId id="322" r:id="rId34"/>
    <p:sldId id="324" r:id="rId35"/>
    <p:sldId id="325" r:id="rId36"/>
    <p:sldId id="323" r:id="rId3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9" roundtripDataSignature="AMtx7mheI/Gh8udpzYH683TQTOOwqcsd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customschemas.google.com/relationships/presentationmetadata" Target="meta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1A784C28-ED34-6345-BF66-3697E9118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A1ADA2FC-2628-44F2-5051-5596BB7174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81B6E419-8A84-E8B4-FA41-C18E2C136E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43471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DA198CBA-2BD6-8CD2-E2E5-0324EE847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146FB8CF-6F92-8AEC-EC7B-1E1667A204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A53A32AC-9898-09AB-72CF-D48F015E24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18765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3943FAA7-17A8-1B0F-3680-16BE192A6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DA2D8D62-99B2-92F6-4A08-0F5318FC59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9287D7A3-8F4F-962D-D55F-510706CF50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1407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AEC64CE9-8348-4CFD-4E54-EB499B9CB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BA5327F8-C39D-2579-498C-C5F2F98C29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7CAD233E-9C66-7E22-3F04-9C7F870F76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061177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3C734ACF-B13B-2BEF-722A-AD6AC20AF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00B5A501-58ED-B26E-239F-B4A4D5D37B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832F6F13-F8EA-E459-2B89-9AED5C757F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375765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5F7E3672-6042-E010-3B91-A989C0C84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C6C151EB-EF5C-E449-C06E-7AC6EDB513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62D3DAFB-C917-1807-5FB8-5C7C7F3199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133343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17C1C017-818D-8563-C0F7-064BC0756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129EC3A1-0525-C17F-3218-61541CFF0C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76534C15-5EA2-3A84-39C2-4706BFF828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207463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8E625926-4664-BC41-FFF2-EAA778460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9EC8B5F8-1FD8-6000-9C20-921A00D9CA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AC4C14F4-E51B-318B-4014-B9CE9562B6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560590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3BCD7330-301C-C499-10F6-4E411D69E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55B44F01-01A9-78F4-AB1B-A8682AD0BB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75FFF0C7-DCC8-4F16-0655-EAB99A4380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175605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1A670439-563A-CD90-E002-B56B43A59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FA3B9B52-A9EB-C41D-4FA1-976A430BA6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1BD80A6E-BF54-CA88-7154-15C0697AA1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749289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F137FECA-0B0A-41C6-B143-9DA9038F1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07C4FAD0-002F-3756-6D03-BCCA58E48F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6DE850B6-F35F-A349-53DD-4737EFA761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27224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8722B5ED-4CBC-5753-8167-1583DC97C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3BD2A8DB-65D6-623E-BFC3-8165767DEE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A5BCC8EC-8CD7-8C41-038A-A9F095424D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526564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ABCBDBBC-5FA2-DA62-9DE5-7F07FB57D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2E71F2EB-4179-1151-9C6B-8489ED123E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7A8687A9-6958-DF3E-CAE3-2A756BEF03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102372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7E907F32-E775-CD72-63F6-9B7E8891C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3CC5B5B1-97E7-473C-52AC-53BD33F535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E94134B9-87F9-D1D1-F856-8AA7BCD03B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739728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8F0CA628-47EE-EB40-7036-33291C52E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8D24F849-6CBC-09E5-5CAA-DE5B2E6ECC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8E52F34A-1CD3-01DC-28D4-D4DC4A0709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619840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DDD4AADC-FE00-8F94-4293-2FAD8AE96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635C801F-720A-A431-A4E1-9F4846503F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55137644-10C4-A020-C42E-1979583A15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948603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3BD97269-4981-B6CD-C032-F2B469C85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39B0FE04-B5CE-24A5-6F59-797536BB55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786F3B2A-48C8-5843-B18F-E3B7E6936E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081069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FC7579FD-20E1-4D2D-60DA-3C9396BFC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9C9A0809-5CDF-366D-6F20-8E6D4F3EB8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2907223A-9596-BD53-7686-B164FC66A6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62059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05EC2D4B-1ABB-ECCF-9991-039425C52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78CDC379-64C9-89A1-AA8B-0DF09EB48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6570BB85-74BE-08DC-2B08-565AD3407E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147761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35000004-B5F8-BE17-889C-DA7D8A70D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C4EAAFBD-F7E2-396B-AFE1-47105E7374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692011FF-54E4-9074-A18A-C78CCF98A0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993814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FA880F2D-BEE7-1B73-F338-C9E1D033E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EAB2CBF1-A814-16D7-78CD-0C8AC46E74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FC44140B-52CF-2D81-33DB-8344202256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69318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058E5E02-04B9-D986-AE24-C293EF596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D649B06D-EAD9-0F9D-933D-9EAEA50A79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6F98E351-BA1E-10E2-F43B-EE474527C2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2412656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8D2DF480-8A30-A786-00B4-4F7E7B899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FDA599B5-0F4F-DB0A-AD47-5FE3BBDF22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6008C63A-B1C6-770E-0768-EB98348954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3115577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858011F4-7722-4214-2DF0-13FEABBA2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96141699-77DF-2775-622F-0310E1E762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B303A8E6-D753-2926-F62A-A98B57387B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6439157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98478165-516A-415D-741B-7EA5D9ABF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69F7A3B6-5A13-4DEB-0355-F8BCFA4FBC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B8CD01E3-ED1F-57B7-9F24-5D9BAC7A19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8609837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8ABD761C-3525-EA88-F53B-735EC8CF5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407B6BC4-48A0-A1C4-2132-3DCC8D9DFA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1E6DEBFB-86A2-1DAA-2BD0-79260D6D14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6717810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8972BEA7-EEDB-7E94-4C43-1D4E0D286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A8F35FC8-C770-5234-2B9F-B1419A6E69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C720169A-9D00-BA7E-1280-77F737136E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877844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D734BBB6-ACA6-B836-236C-9235684DC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4FA370C9-FB60-58B5-25FB-85E52BACD8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3C7A96B4-FB0B-6E2E-83EC-4309A26DB6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0193199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19202E13-2B38-31D2-AA91-FE6F29440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BD99BFBE-235E-D95C-B40C-94CE2F5BC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1FAEA06E-D9CA-8694-9047-276A095F9D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4511283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B9377372-1C89-16BC-4F7F-5CFF3AC5C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4FFF1370-8C16-737F-CDC1-4D87C88567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B056E2EE-10A1-E6A5-5E0B-34F2F59244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6136119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24A6F855-4590-11FA-F37B-9A376BB26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769C2BCD-7E5E-4BCC-D323-89E12B9605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B7F8D0BF-96D0-0D67-2D54-E80C4B5782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2405444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3B3AC1FA-0EB4-2E47-AE87-7F34BE7C6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5AFC30B9-FE30-373C-AAC5-7F2E7622AC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351C88D0-7029-D553-18B0-294C04DE8F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7327974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D5D4C44B-AF6B-A0C5-B964-64F98F048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574599FE-CD18-1E77-C273-3274F25B3B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E78D22BA-F359-114F-DA1A-672E48E3BC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1186130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0CF49B8F-5269-714D-52C6-E2D2F8176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21237648-C729-EF2D-53B7-82DECCCEEF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81CC0BE5-EA15-8C75-92F7-75836A3E03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3243432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0C90DDD6-6721-D528-F0CF-5614B8804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6530D663-2C2A-D62B-4E29-1A6D84720E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F2D8000C-E839-F17B-FCC5-01A5DA17B2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125338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3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shomen.kundu@bracu.ac.bd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489586" y="226142"/>
            <a:ext cx="10255374" cy="230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350</a:t>
            </a:r>
            <a:br>
              <a:rPr lang="en-US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9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Electronics and Pulse Techniques</a:t>
            </a:r>
            <a:br>
              <a:rPr lang="en-US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dirty="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>
            <a:spLocks noGrp="1"/>
          </p:cNvSpPr>
          <p:nvPr>
            <p:ph type="ftr" idx="11"/>
          </p:nvPr>
        </p:nvSpPr>
        <p:spPr>
          <a:xfrm>
            <a:off x="3812458" y="637089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 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6926825" y="5456700"/>
            <a:ext cx="4980695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143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Mail: </a:t>
            </a:r>
            <a:r>
              <a:rPr lang="en-US" sz="20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shomen.kundu@bracu.ac.bd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Desk: 4N166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3008670" y="2354773"/>
            <a:ext cx="5862614" cy="83095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2400" b="1" i="0" dirty="0"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NMOS NOT and NOR without load</a:t>
            </a:r>
            <a:br>
              <a:rPr lang="en-US" sz="2400" b="1" i="0" dirty="0">
                <a:solidFill>
                  <a:schemeClr val="accent1"/>
                </a:solidFill>
                <a:effectLst/>
                <a:latin typeface="Arial" panose="020B0604020202020204" pitchFamily="34" charset="0"/>
              </a:rPr>
            </a:br>
            <a:r>
              <a:rPr lang="en-US" sz="2400" b="1" i="0" dirty="0"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CMOS Logic Circuit Design </a:t>
            </a:r>
            <a:endParaRPr lang="en-US" sz="1800" dirty="0">
              <a:solidFill>
                <a:schemeClr val="accent1"/>
              </a:solidFill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115959" y="5558167"/>
            <a:ext cx="555031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143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Course Instructor</a:t>
            </a: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Shomen Kundu (SDU)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10052ADA-7649-0BAA-A726-CFC4B3E55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103E5250-632F-C84F-F888-0D9B51CB3B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b="1" dirty="0">
                <a:solidFill>
                  <a:schemeClr val="accent1"/>
                </a:solidFill>
              </a:rPr>
              <a:t>MOS Logic family</a:t>
            </a:r>
            <a:endParaRPr b="1"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E8A90BB8-B40F-CB4F-EAE2-78B7099FED5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740B5663-3C42-E414-BFE5-A69529824F4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BD209711-03F2-A200-124D-36C23E1095B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6">
            <a:extLst>
              <a:ext uri="{FF2B5EF4-FFF2-40B4-BE49-F238E27FC236}">
                <a16:creationId xmlns:a16="http://schemas.microsoft.com/office/drawing/2014/main" id="{F60FFBCC-CFF4-C997-D592-4128102AA8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307" y="1334585"/>
            <a:ext cx="10389747" cy="4603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r>
              <a:rPr lang="en-US" b="1" dirty="0">
                <a:solidFill>
                  <a:schemeClr val="accent1"/>
                </a:solidFill>
              </a:rPr>
              <a:t>Unipolar logic family: </a:t>
            </a:r>
            <a:r>
              <a:rPr lang="en-US" dirty="0"/>
              <a:t>current conduction is done by one type of charge carriers.</a:t>
            </a:r>
          </a:p>
          <a:p>
            <a:pPr marL="11430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r>
              <a:rPr lang="en-US" dirty="0"/>
              <a:t>e.g. electron or hole </a:t>
            </a:r>
          </a:p>
          <a:p>
            <a:pPr marL="11430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78723285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4D3A70BF-C218-7939-BFC9-13A3539BE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056DAA48-5DF4-BB4A-8EE9-D2AEB4875D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Basic Internal Structure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97FB7C73-301E-8F2D-409D-28C61BABAB3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B3F08FC0-2C50-B93D-55B2-AA7832CAF43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5104CB3A-887D-AB3F-35E5-5F85275072B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6">
            <a:extLst>
              <a:ext uri="{FF2B5EF4-FFF2-40B4-BE49-F238E27FC236}">
                <a16:creationId xmlns:a16="http://schemas.microsoft.com/office/drawing/2014/main" id="{945D18E4-3D65-4EB0-0C2F-1C5E7F1CF1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9816" y="1163070"/>
            <a:ext cx="11605016" cy="745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11430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r>
              <a:rPr lang="en-US" dirty="0">
                <a:solidFill>
                  <a:schemeClr val="tx1"/>
                </a:solidFill>
              </a:rPr>
              <a:t>If  some MOSFET is fabricated identically then source and body might be shorted.</a:t>
            </a:r>
          </a:p>
          <a:p>
            <a:pPr marL="11430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C2E3A2-89B4-7517-D0BB-084954883F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7255" y="2271253"/>
            <a:ext cx="6287577" cy="37353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C32D72-4A6D-6C9B-18B8-E8E6C150E0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94" y="2525716"/>
            <a:ext cx="5860240" cy="3570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465641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46D932D2-E3A8-D974-3BF7-4642818AF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3BD983D9-997B-0844-FEC7-D1E02E6337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Circuit Symbol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12E96A2F-B27D-5B3E-8A54-93D9D30F7A6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134BDC33-2412-E689-A28D-67AD1DD393D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20C5BF8C-416E-7FE5-1896-5365F693817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6">
            <a:extLst>
              <a:ext uri="{FF2B5EF4-FFF2-40B4-BE49-F238E27FC236}">
                <a16:creationId xmlns:a16="http://schemas.microsoft.com/office/drawing/2014/main" id="{7CB91BB9-EAE2-1820-055D-1C7C9C91EE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544926" y="4763273"/>
            <a:ext cx="2534004" cy="69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r>
              <a:rPr lang="en-US" dirty="0"/>
              <a:t>N-MOS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47CA6F-65B2-E6DA-DA89-1DE06A4270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8315" y="1708924"/>
            <a:ext cx="2534004" cy="27721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F213DE-FB8B-499F-DD09-4C2808379F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1695" y="1742343"/>
            <a:ext cx="2534004" cy="3020930"/>
          </a:xfrm>
          <a:prstGeom prst="rect">
            <a:avLst/>
          </a:prstGeom>
        </p:spPr>
      </p:pic>
      <p:sp>
        <p:nvSpPr>
          <p:cNvPr id="10" name="Google Shape;179;p36">
            <a:extLst>
              <a:ext uri="{FF2B5EF4-FFF2-40B4-BE49-F238E27FC236}">
                <a16:creationId xmlns:a16="http://schemas.microsoft.com/office/drawing/2014/main" id="{A39896B4-BC15-ED5B-4B9F-9AEEAF0427DD}"/>
              </a:ext>
            </a:extLst>
          </p:cNvPr>
          <p:cNvSpPr txBox="1">
            <a:spLocks/>
          </p:cNvSpPr>
          <p:nvPr/>
        </p:nvSpPr>
        <p:spPr>
          <a:xfrm>
            <a:off x="7642952" y="4931314"/>
            <a:ext cx="2534004" cy="69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 algn="just">
              <a:buSzPct val="75630"/>
              <a:buFont typeface="Arial"/>
              <a:buNone/>
            </a:pPr>
            <a:r>
              <a:rPr lang="en-US" dirty="0"/>
              <a:t>p-MOS</a:t>
            </a:r>
          </a:p>
        </p:txBody>
      </p:sp>
    </p:spTree>
    <p:extLst>
      <p:ext uri="{BB962C8B-B14F-4D97-AF65-F5344CB8AC3E}">
        <p14:creationId xmlns:p14="http://schemas.microsoft.com/office/powerpoint/2010/main" val="4159366206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CCB6082C-F904-610F-C573-CA7D1466F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982CCA99-1B7F-6768-38BF-F4494FEC11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Basic Operation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CC3068A1-3BED-D04C-FB80-39D08886EB3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90F2F88E-7F32-D2E9-A99E-E67E02881CF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AE0903BF-09DE-73DF-B35E-C1111576270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2F1EB9F5-2347-2B95-E939-353CD3DF6200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10389747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If we apply voltage in the gate terminal. 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Accumulation: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is less than zero, holes inside p-type semiconductor might accumulate underneath the oxide layer.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 err="1">
                    <a:solidFill>
                      <a:schemeClr val="tx1"/>
                    </a:solidFill>
                  </a:rPr>
                  <a:t>Deplation</a:t>
                </a:r>
                <a:r>
                  <a:rPr lang="en-US" dirty="0">
                    <a:solidFill>
                      <a:schemeClr val="tx1"/>
                    </a:solidFill>
                  </a:rPr>
                  <a:t>: 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0&lt;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then </a:t>
                </a:r>
                <a:r>
                  <a:rPr lang="en-US" dirty="0" err="1">
                    <a:solidFill>
                      <a:schemeClr val="tx1"/>
                    </a:solidFill>
                  </a:rPr>
                  <a:t>deplation</a:t>
                </a:r>
                <a:r>
                  <a:rPr lang="en-US" dirty="0">
                    <a:solidFill>
                      <a:schemeClr val="tx1"/>
                    </a:solidFill>
                  </a:rPr>
                  <a:t> layer forms beneath the oxide layer.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Inversion: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then an inversion layer would emerge under the oxide layer.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2F1EB9F5-2347-2B95-E939-353CD3DF6200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10389747" cy="4603227"/>
              </a:xfrm>
              <a:prstGeom prst="rect">
                <a:avLst/>
              </a:prstGeom>
              <a:blipFill>
                <a:blip r:embed="rId4"/>
                <a:stretch>
                  <a:fillRect l="-59" r="-117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9837841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B7D77ECC-64F2-3080-01C8-7C46899B7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8E54B5FA-C091-2C57-7239-1957DE9EF6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Basic Operation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9D4B572A-6AD2-8060-BE48-9FE0B6478C5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3C489BCB-60C5-4C8E-4013-A7F2FBFEFD9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4C955AE6-51BF-5723-8FAB-5D5B1345B3E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58C91E62-BB25-E3B5-7320-E2103B3F46A7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10389747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Now if we apply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a channel forms.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58C91E62-BB25-E3B5-7320-E2103B3F46A7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10389747" cy="4603227"/>
              </a:xfrm>
              <a:prstGeom prst="rect">
                <a:avLst/>
              </a:prstGeom>
              <a:blipFill>
                <a:blip r:embed="rId4"/>
                <a:stretch>
                  <a:fillRect l="-5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37EEF3B-F835-CE30-2A40-6006BBAA0943}"/>
                  </a:ext>
                </a:extLst>
              </p:cNvPr>
              <p:cNvSpPr txBox="1"/>
              <p:nvPr/>
            </p:nvSpPr>
            <p:spPr>
              <a:xfrm>
                <a:off x="3083828" y="5726592"/>
                <a:ext cx="176980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NMOS for small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𝐷𝑆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37EEF3B-F835-CE30-2A40-6006BBAA09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3828" y="5726592"/>
                <a:ext cx="1769806" cy="307777"/>
              </a:xfrm>
              <a:prstGeom prst="rect">
                <a:avLst/>
              </a:prstGeom>
              <a:blipFill>
                <a:blip r:embed="rId5"/>
                <a:stretch>
                  <a:fillRect l="-1034" t="-1961"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E768D92-0F28-47A9-0C07-4325CA7B113E}"/>
                  </a:ext>
                </a:extLst>
              </p:cNvPr>
              <p:cNvSpPr txBox="1"/>
              <p:nvPr/>
            </p:nvSpPr>
            <p:spPr>
              <a:xfrm>
                <a:off x="7591918" y="5832202"/>
                <a:ext cx="24566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NMOS for increased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𝐷𝑆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E768D92-0F28-47A9-0C07-4325CA7B11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1918" y="5832202"/>
                <a:ext cx="2456650" cy="307777"/>
              </a:xfrm>
              <a:prstGeom prst="rect">
                <a:avLst/>
              </a:prstGeom>
              <a:blipFill>
                <a:blip r:embed="rId6"/>
                <a:stretch>
                  <a:fillRect l="-744"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F4F1FC9B-D38A-448C-DC74-69C253E290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7594" y="2329428"/>
            <a:ext cx="4706746" cy="28980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AAF5E0F-6398-B34B-0B39-31C525BDEEF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2496" y="2401740"/>
            <a:ext cx="5354197" cy="3001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749472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69340797-82B2-AA2E-1C81-E0BCEF4BA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16653E78-07AF-0AE9-2AD3-2E1DE1A477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Basic Operation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692F0A67-DE41-BC35-E996-C53E284E2DB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42590181-F537-8993-2238-01E1524E5B2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852BAB81-9A99-EF66-AFB6-DFCAB97380D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C1D4D629-9FDE-AFDF-DF1B-DE32B129D00A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10389747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Now if we apply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a channel forms.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C1D4D629-9FDE-AFDF-DF1B-DE32B129D00A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10389747" cy="4603227"/>
              </a:xfrm>
              <a:prstGeom prst="rect">
                <a:avLst/>
              </a:prstGeom>
              <a:blipFill>
                <a:blip r:embed="rId4"/>
                <a:stretch>
                  <a:fillRect l="-5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94DEB52-320D-4E97-FE53-CC62C1789A51}"/>
                  </a:ext>
                </a:extLst>
              </p:cNvPr>
              <p:cNvSpPr txBox="1"/>
              <p:nvPr/>
            </p:nvSpPr>
            <p:spPr>
              <a:xfrm>
                <a:off x="1844963" y="5658314"/>
                <a:ext cx="334646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Edge of Saturation,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𝐷𝑆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𝑇𝑁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94DEB52-320D-4E97-FE53-CC62C1789A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4963" y="5658314"/>
                <a:ext cx="3346469" cy="307777"/>
              </a:xfrm>
              <a:prstGeom prst="rect">
                <a:avLst/>
              </a:prstGeom>
              <a:blipFill>
                <a:blip r:embed="rId5"/>
                <a:stretch>
                  <a:fillRect l="-546" t="-3922"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87921E72-9EA5-3DAF-3E3A-D32BFC1CB7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916" y="2231923"/>
            <a:ext cx="5627163" cy="29695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368798C-3038-8317-EFDE-2428BB2DF7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1290" y="2231923"/>
            <a:ext cx="5795586" cy="318174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D16235B-B6F8-251D-3D5F-D772C2F73717}"/>
                  </a:ext>
                </a:extLst>
              </p:cNvPr>
              <p:cNvSpPr txBox="1"/>
              <p:nvPr/>
            </p:nvSpPr>
            <p:spPr>
              <a:xfrm>
                <a:off x="7621679" y="5754915"/>
                <a:ext cx="28831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Saturation,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𝐷𝑆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𝑇𝑁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D16235B-B6F8-251D-3D5F-D772C2F737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1679" y="5754915"/>
                <a:ext cx="2883103" cy="307777"/>
              </a:xfrm>
              <a:prstGeom prst="rect">
                <a:avLst/>
              </a:prstGeom>
              <a:blipFill>
                <a:blip r:embed="rId8"/>
                <a:stretch>
                  <a:fillRect l="-634" t="-3922"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1490844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795B7BFA-DCA7-C8AC-44C3-5B3FB1397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EA7DC4E0-4E06-877C-C9B6-8A4F22330A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Operating modes of MOSFET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02699C6E-3F32-0A03-6518-5F38203C2E9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D5755A0D-04C0-42BB-50AD-5BA2101FABA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1F739DAF-C76D-1ECA-0D57-DF2BD236264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7A3DBB4C-7866-D9D1-8405-8310E1FAEC5D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70861" y="1334585"/>
                <a:ext cx="9804194" cy="51582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lnSpcReduction="10000"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Operating modes of n-MOSFET,</a:t>
                </a:r>
              </a:p>
              <a:p>
                <a:pPr algn="just">
                  <a:buSzPct val="75630"/>
                  <a:buFont typeface="Wingdings" panose="05000000000000000000" pitchFamily="2" charset="2"/>
                  <a:buChar char="Ø"/>
                </a:pPr>
                <a:r>
                  <a:rPr lang="en-US" dirty="0">
                    <a:solidFill>
                      <a:schemeClr val="tx1"/>
                    </a:solidFill>
                  </a:rPr>
                  <a:t>Cut-off</a:t>
                </a:r>
              </a:p>
              <a:p>
                <a:pPr marL="114300" indent="0" algn="just"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algn="just">
                  <a:buSzPct val="75630"/>
                  <a:buFont typeface="Wingdings" panose="05000000000000000000" pitchFamily="2" charset="2"/>
                  <a:buChar char="Ø"/>
                </a:pPr>
                <a:r>
                  <a:rPr lang="en-US" dirty="0">
                    <a:solidFill>
                      <a:schemeClr val="tx1"/>
                    </a:solidFill>
                  </a:rPr>
                  <a:t>Triode/Linear</a:t>
                </a:r>
              </a:p>
              <a:p>
                <a:pPr marL="114300" indent="0" algn="just"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𝐷𝑆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&lt; 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114300" indent="0" algn="just"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( 2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𝐺𝑆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𝑇𝑁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𝐷𝑠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𝐷𝑆</m:t>
                        </m:r>
                      </m:sub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baseline="30000" dirty="0">
                    <a:solidFill>
                      <a:schemeClr val="tx1"/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</a:p>
              <a:p>
                <a:pPr algn="just">
                  <a:buSzPct val="75630"/>
                  <a:buFont typeface="Wingdings" panose="05000000000000000000" pitchFamily="2" charset="2"/>
                  <a:buChar char="Ø"/>
                </a:pPr>
                <a:r>
                  <a:rPr lang="en-US" dirty="0">
                    <a:solidFill>
                      <a:schemeClr val="tx1"/>
                    </a:solidFill>
                  </a:rPr>
                  <a:t>Saturation</a:t>
                </a:r>
              </a:p>
              <a:p>
                <a:pPr marL="114300" indent="0" algn="just"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𝐷𝑆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&gt; 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</m:sub>
                    </m:sSub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114300" indent="0" algn="just"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𝐺𝑆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𝑇𝑁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114300" indent="0" algn="just">
                  <a:buSzPct val="75630"/>
                  <a:buNone/>
                </a:pPr>
                <a:r>
                  <a:rPr lang="en-US" b="1" dirty="0">
                    <a:solidFill>
                      <a:srgbClr val="FF0000"/>
                    </a:solidFill>
                  </a:rPr>
                  <a:t>Note: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𝒐𝒙</m:t>
                        </m:r>
                      </m:sub>
                    </m:sSub>
                    <m:f>
                      <m:f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num>
                      <m:den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</m:den>
                    </m:f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114300" indent="0" algn="just">
                  <a:buSzPct val="75630"/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7A3DBB4C-7866-D9D1-8405-8310E1FAEC5D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70861" y="1334585"/>
                <a:ext cx="9804194" cy="5158290"/>
              </a:xfrm>
              <a:prstGeom prst="rect">
                <a:avLst/>
              </a:prstGeom>
              <a:blipFill>
                <a:blip r:embed="rId4"/>
                <a:stretch>
                  <a:fillRect l="-62" t="-2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2623533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32865415-70BC-611A-F8E1-22D966866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8754C344-0D13-AB97-BDB2-A5401C266A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N-MOS Logic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5227893A-B84B-68E7-47B7-9670D81417B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E4955519-B680-3E3F-DE51-5CB624FC6F3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EEAE6B5E-CBE9-0864-ED6F-CD7BFB5EC9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6">
            <a:extLst>
              <a:ext uri="{FF2B5EF4-FFF2-40B4-BE49-F238E27FC236}">
                <a16:creationId xmlns:a16="http://schemas.microsoft.com/office/drawing/2014/main" id="{4507E837-5654-FE09-2252-559FDDC8D1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307" y="1334585"/>
            <a:ext cx="10389747" cy="4603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r>
              <a:rPr lang="en-US" b="1" dirty="0">
                <a:solidFill>
                  <a:schemeClr val="tx1"/>
                </a:solidFill>
              </a:rPr>
              <a:t>Pull up network: </a:t>
            </a:r>
            <a:r>
              <a:rPr lang="en-US" dirty="0">
                <a:solidFill>
                  <a:schemeClr val="tx1"/>
                </a:solidFill>
              </a:rPr>
              <a:t>High resistance </a:t>
            </a:r>
          </a:p>
          <a:p>
            <a:pPr marL="11430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r>
              <a:rPr lang="en-US" b="1" dirty="0">
                <a:solidFill>
                  <a:schemeClr val="tx1"/>
                </a:solidFill>
              </a:rPr>
              <a:t>Pull down network: </a:t>
            </a:r>
            <a:r>
              <a:rPr lang="en-US" dirty="0">
                <a:solidFill>
                  <a:schemeClr val="tx1"/>
                </a:solidFill>
              </a:rPr>
              <a:t>n-MOS</a:t>
            </a:r>
          </a:p>
          <a:p>
            <a:pPr marL="11430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r>
              <a:rPr lang="en-US" b="1" dirty="0">
                <a:solidFill>
                  <a:schemeClr val="tx1"/>
                </a:solidFill>
              </a:rPr>
              <a:t>Logic design techniques:</a:t>
            </a:r>
          </a:p>
          <a:p>
            <a:pPr algn="just">
              <a:buSzPct val="7563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Series n-MOS indicates AND</a:t>
            </a:r>
          </a:p>
          <a:p>
            <a:pPr algn="just">
              <a:buSzPct val="7563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Parallel n-MOS indicates OR</a:t>
            </a:r>
          </a:p>
          <a:p>
            <a:pPr algn="just">
              <a:buSzPct val="7563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Overall n-MOS logic is inverted</a:t>
            </a:r>
          </a:p>
          <a:p>
            <a:pPr marL="11430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1392603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75DD0816-679B-82C9-1A9E-270D84820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B7AEC754-6881-4F41-050A-9213CA2D38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N-MOS Logic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2AE2750B-BC38-E1A9-20F9-0C4F5C3EF2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383F7208-9F21-A61B-D590-0794EC42BA1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6F592E89-1158-1DDB-DADE-455C05F47DF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2BBD57-C74F-A2D7-8D68-CAE3486FA1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6676" y="969408"/>
            <a:ext cx="9135750" cy="5077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003837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B6037A9C-E879-2C16-85B2-44BD102FD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9836E2F8-84FE-2C74-DC77-88F9732136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N-MOS NOT gate/Inverter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A236F14D-E7CC-5A9F-0AA6-388FC210538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D88CA80E-6565-B7D8-0B52-8CB4074CE67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748889E8-4837-9F28-9AAC-B831B059414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8669B68D-56F2-2E20-5194-D36ADB6D39F4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6" y="1334585"/>
                <a:ext cx="7925293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just"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Find the output of the inverter for the input voltage 5 V and 1.5 V. 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=0.5 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=20 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114300" lvl="0" indent="0" algn="just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𝐷𝐷</m:t>
                          </m:r>
                        </m:sub>
                      </m:sSub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𝑜𝑥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𝑚𝐴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sSup>
                        <m:s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8669B68D-56F2-2E20-5194-D36ADB6D39F4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6" y="1334585"/>
                <a:ext cx="7925293" cy="4603227"/>
              </a:xfrm>
              <a:prstGeom prst="rect">
                <a:avLst/>
              </a:prstGeom>
              <a:blipFill>
                <a:blip r:embed="rId4"/>
                <a:stretch>
                  <a:fillRect l="-77" r="-16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409592E6-E319-DA74-40D9-6F2FFC8C2C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951" y="1276049"/>
            <a:ext cx="3238952" cy="430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9296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A0068D6D-0F13-8931-0EC7-A90ED7EA7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E450AA14-B30D-9BF5-3C10-9ECBD52002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N-MOS NOT gate/Inverter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8086BA58-8C28-EB72-0E16-D5B1D5E410B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B152CEA5-F93B-88C2-547F-337A6C45B03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FB516353-8182-52AF-11FE-BF8594C75FC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52784A32-AA9B-E5C2-2905-0D5D5EE77C61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8586512" cy="48597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=5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𝐺𝑆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=5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MOSFET M1 is in Saturation / Triode region. 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Assumption: Triode mode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2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𝐺𝑆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𝑇𝑁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𝐷𝑆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𝐷𝑆</m:t>
                              </m:r>
                            </m:sub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=0.3 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2 ∗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5 −0.5</m:t>
                              </m:r>
                            </m:e>
                          </m:d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−</m:t>
                          </m:r>
                          <m:sSubSup>
                            <m:sSub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b="0" dirty="0">
                    <a:solidFill>
                      <a:schemeClr val="tx1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=0.3 (9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sSubSup>
                      <m:sSub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5−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52784A32-AA9B-E5C2-2905-0D5D5EE77C61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8586512" cy="4859737"/>
              </a:xfrm>
              <a:prstGeom prst="rect">
                <a:avLst/>
              </a:prstGeom>
              <a:blipFill>
                <a:blip r:embed="rId4"/>
                <a:stretch>
                  <a:fillRect l="-7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BB5FC4F6-8BDD-FBB5-EFEA-E7D0F147C2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7864" y="1334585"/>
            <a:ext cx="3468228" cy="3797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97978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3DFF4290-B3E3-FBA2-F3DC-079B9B39F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8BC7FD7A-F53B-86A3-6FBF-5258534AAF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N-MOS NOT gate/Inverter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4CDE5EAE-5213-8A75-448C-4A14DF3AF91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C4AA944C-3F72-2AE2-C3F1-FDD84742034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2443BEA3-F7D2-3F4A-CE29-2906DC1C25F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7F4A11A7-70F2-6658-D975-B57E7913E07F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8576680" cy="50217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lnSpcReduction="10000"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=0.3 (9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5−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So, we can write,</a:t>
                </a:r>
              </a:p>
              <a:p>
                <a:pPr marL="114300" indent="0" algn="just">
                  <a:buSzPct val="75630"/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0.3 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−</m:t>
                        </m:r>
                        <m:sSubSup>
                          <m:sSubSup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  <m:sup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5−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114300" indent="0" algn="just"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Solving using calculator,  </a:t>
                </a:r>
              </a:p>
              <a:p>
                <a:pPr marL="114300" indent="0" algn="just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=9.074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0.092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114300" indent="0" algn="just"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Acceptable value,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=0.092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114300" indent="0" algn="just"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Verification:</a:t>
                </a:r>
              </a:p>
              <a:p>
                <a:pPr marL="114300" indent="0" algn="just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𝐷𝑆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=0.092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𝐺𝑆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=4.5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marL="114300" indent="0" algn="just"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𝐷𝑆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Assumption correct.</a:t>
                </a:r>
              </a:p>
              <a:p>
                <a:pPr marL="114300" indent="0" algn="just">
                  <a:buSzPct val="75630"/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b="0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7F4A11A7-70F2-6658-D975-B57E7913E07F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8576680" cy="5021765"/>
              </a:xfrm>
              <a:prstGeom prst="rect">
                <a:avLst/>
              </a:prstGeom>
              <a:blipFill>
                <a:blip r:embed="rId4"/>
                <a:stretch>
                  <a:fillRect l="-71" b="-182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769109BC-3474-7909-AB9C-46D87A013D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0600" y="1334585"/>
            <a:ext cx="3468228" cy="3797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393344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B477E9EE-1165-8281-F080-76C799605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8CECD395-7631-CB82-0009-317CB138AF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N-MOS NOT gate/Inverter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3B480C17-8E3A-F5BB-403C-728D9EFEFEC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3AC19C35-2695-EECD-94AA-2A6EB167969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3411FB40-0315-D51F-2842-4861C3F7DEB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5BBF8C5F-A784-9D22-FB40-83E6B9A30088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8586512" cy="48597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=1.5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𝐺𝑆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=1.5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MOSFET M1 is in Saturation / Triode region. 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Assumption: Saturation mode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𝐺𝑆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𝑇𝑁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b="0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=0.3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1.5−0.5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b="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5−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5BBF8C5F-A784-9D22-FB40-83E6B9A30088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8586512" cy="4859737"/>
              </a:xfrm>
              <a:prstGeom prst="rect">
                <a:avLst/>
              </a:prstGeom>
              <a:blipFill>
                <a:blip r:embed="rId4"/>
                <a:stretch>
                  <a:fillRect l="-7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3C019DD-58EC-ED25-A166-9810AA1CB9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7864" y="1334585"/>
            <a:ext cx="3468228" cy="3797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21155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37B48CF9-0082-E34A-59F0-EF1F8ADC0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24B1372F-A3C7-B54F-9179-7BA90C72FA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N-MOS NOT gate/Inverter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B2393E2A-9B09-3D07-BA11-419A3B63394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3CDAE43A-42A6-2781-E3CA-615A0E19FAD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689CB0B4-6418-7FF2-EB15-D8A5116A2DC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26D18FEF-F7AE-8705-E348-5EBB9D5402AF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6" y="1334585"/>
                <a:ext cx="8672053" cy="51041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So, we can write,</a:t>
                </a:r>
              </a:p>
              <a:p>
                <a:pPr marL="114300" indent="0" algn="just">
                  <a:buSzPct val="75630"/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0.3 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1.5−0.5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5−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114300" indent="0" algn="just"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Solving using calculator,  </a:t>
                </a:r>
              </a:p>
              <a:p>
                <a:pPr marL="114300" indent="0" algn="just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=−1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114300" indent="0" algn="just"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Verification:</a:t>
                </a:r>
              </a:p>
              <a:p>
                <a:pPr marL="114300" indent="0" algn="just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𝐷𝑆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=−1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𝐺𝑆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marL="114300" indent="0" algn="just"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𝐷𝑆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Assumption not correct.</a:t>
                </a:r>
              </a:p>
              <a:p>
                <a:pPr marL="114300" indent="0" algn="just"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We need to assume triode mode as saturation assumption is not correct.</a:t>
                </a:r>
              </a:p>
              <a:p>
                <a:pPr marL="114300" indent="0" algn="just">
                  <a:buSzPct val="75630"/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b="0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26D18FEF-F7AE-8705-E348-5EBB9D5402AF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6" y="1334585"/>
                <a:ext cx="8672053" cy="5104119"/>
              </a:xfrm>
              <a:prstGeom prst="rect">
                <a:avLst/>
              </a:prstGeom>
              <a:blipFill>
                <a:blip r:embed="rId4"/>
                <a:stretch>
                  <a:fillRect l="-70" r="-140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FC3B6EF5-4343-E3F5-7864-64D6C89DCC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0600" y="1334585"/>
            <a:ext cx="3468228" cy="3797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480988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52FD4B92-9F2E-196E-529F-F02993F2B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5E9785CC-776A-4CD9-70A5-6F63EAD9AB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N-MOS NOT gate/Inverter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5EA520D3-0E0E-F065-6AD9-82198DCC2E3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7970DAB6-715D-3BC8-9F72-A9355A28D42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BA8185E3-F390-E5E1-698B-20C594A30C2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A8AEDCE7-2A08-273F-511D-738D894C2FC7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6" y="1334585"/>
                <a:ext cx="8672053" cy="51041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2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𝐺𝑆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𝑇𝑁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𝐷𝑆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𝐷𝑆</m:t>
                              </m:r>
                            </m:sub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=0.3 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2 ∗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1.5 −0.5</m:t>
                              </m:r>
                            </m:e>
                          </m:d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−</m:t>
                          </m:r>
                          <m:sSubSup>
                            <m:sSub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b="0" dirty="0">
                    <a:solidFill>
                      <a:schemeClr val="tx1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=0.3 (2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sSubSup>
                      <m:sSub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5−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So, we can write,</a:t>
                </a:r>
              </a:p>
              <a:p>
                <a:pPr marL="114300" indent="0" algn="just">
                  <a:buSzPct val="75630"/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0.3 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−</m:t>
                        </m:r>
                        <m:sSubSup>
                          <m:sSubSup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  <m:sup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5−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endParaRPr lang="en-US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114300" indent="0" algn="just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⇒12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−6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=5−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Now Solve and verify 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b="0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A8AEDCE7-2A08-273F-511D-738D894C2FC7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6" y="1334585"/>
                <a:ext cx="8672053" cy="5104119"/>
              </a:xfrm>
              <a:prstGeom prst="rect">
                <a:avLst/>
              </a:prstGeom>
              <a:blipFill>
                <a:blip r:embed="rId4"/>
                <a:stretch>
                  <a:fillRect l="-7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B3A14CA8-B89A-5A79-84DF-5F5EB0D850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0600" y="1334585"/>
            <a:ext cx="3468228" cy="3797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974665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8F059080-57A8-38A8-D5D2-8B1705CC0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EB508846-B846-90A2-5199-242B247565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N-MOS NOT gate/Inverter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B7D6EC05-2472-9CCB-F8AA-A2BC802C183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5D52BE57-3DCC-98CC-AC1C-AC74D59F0FD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C6914397-E520-4DAB-C491-1AB9F4FA378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30DAAAC9-342F-1172-0C91-FC0DFB641D5A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6069453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Find the transition voltage(Saturation to triode) of the inverter. Given </a:t>
                </a: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=0.5 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=20 , 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𝑜𝑥</m:t>
                          </m:r>
                        </m:sub>
                      </m:sSub>
                      <m:f>
                        <m:f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𝑚𝐴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sSup>
                        <m:sSup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30DAAAC9-342F-1172-0C91-FC0DFB641D5A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6069453" cy="46032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B4C817CA-22C6-90E0-792B-D7EB7E7881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9777" y="440003"/>
            <a:ext cx="4763165" cy="528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017973"/>
      </p:ext>
    </p:extLst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57E4DACB-F14B-8128-1C06-2323CD640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A43B4DBF-F30C-9478-D32B-939E215B64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N-MOS NOT gate/Inverter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004870EA-6059-CCB2-3888-9F8AB33C279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0FC5AAB7-75F2-6A0D-010B-78F9EA45EE1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34DA59C7-0DD4-744A-2082-6BB82795524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A09C66CE-B3AA-0240-51A2-B08AD0725C76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6069453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For transition,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𝐷𝑆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</m:sub>
                    </m:sSub>
                  </m:oMath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−0.5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Now,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=0.3 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−0.5</m:t>
                            </m:r>
                          </m:e>
                        </m:d>
                      </m:e>
                      <m:sup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5−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=0.3 </m:t>
                      </m:r>
                      <m:sSubSup>
                        <m:sSub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Solving,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=0.5675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+0.5 =1.0675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A09C66CE-B3AA-0240-51A2-B08AD0725C76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6069453" cy="46032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7486944-29E6-967A-55AE-46C84C754D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9777" y="440003"/>
            <a:ext cx="4763165" cy="528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807197"/>
      </p:ext>
    </p:extLst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8E001EB8-442C-BA5A-B476-5FE1EF984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3CF6E9A7-9574-8F1F-5909-65F7B324FE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N-MOS NOR gate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9183CA9F-44A0-B11E-17EC-53BA8213CE9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77A7A3C8-F2E4-1EAA-26CB-7FCD660D07B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BFEDC16E-54FE-4F05-8BD4-37BB06A6DAB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75BC7016-7C5C-5962-C1F6-9CB13316D4C8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8" y="1334585"/>
                <a:ext cx="6693174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=0.8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𝑜𝑥</m:t>
                        </m:r>
                      </m:sub>
                    </m:sSub>
                    <m:f>
                      <m:f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𝑚𝐴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We can study this NOR gate, with four possible cases.</a:t>
                </a:r>
              </a:p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We need to find out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𝑝𝑜𝑤𝑒𝑟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of the NOR gate.</a:t>
                </a:r>
              </a:p>
              <a:p>
                <a:pPr marL="114300" lvl="0" indent="0">
                  <a:buSzPct val="75630"/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75BC7016-7C5C-5962-C1F6-9CB13316D4C8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8" y="1334585"/>
                <a:ext cx="6693174" cy="46032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D75A3982-A58E-DEB8-8DB8-A4C8617445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8481" y="402859"/>
            <a:ext cx="4353533" cy="52394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6F2DE0F6-A357-E559-3166-928028E2C8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14018893"/>
                  </p:ext>
                </p:extLst>
              </p:nvPr>
            </p:nvGraphicFramePr>
            <p:xfrm>
              <a:off x="1549830" y="3704095"/>
              <a:ext cx="4546170" cy="212327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515390">
                      <a:extLst>
                        <a:ext uri="{9D8B030D-6E8A-4147-A177-3AD203B41FA5}">
                          <a16:colId xmlns:a16="http://schemas.microsoft.com/office/drawing/2014/main" val="3085871111"/>
                        </a:ext>
                      </a:extLst>
                    </a:gridCol>
                    <a:gridCol w="1515390">
                      <a:extLst>
                        <a:ext uri="{9D8B030D-6E8A-4147-A177-3AD203B41FA5}">
                          <a16:colId xmlns:a16="http://schemas.microsoft.com/office/drawing/2014/main" val="1507516028"/>
                        </a:ext>
                      </a:extLst>
                    </a:gridCol>
                    <a:gridCol w="1515390">
                      <a:extLst>
                        <a:ext uri="{9D8B030D-6E8A-4147-A177-3AD203B41FA5}">
                          <a16:colId xmlns:a16="http://schemas.microsoft.com/office/drawing/2014/main" val="1796757811"/>
                        </a:ext>
                      </a:extLst>
                    </a:gridCol>
                  </a:tblGrid>
                  <a:tr h="42465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4678536"/>
                      </a:ext>
                    </a:extLst>
                  </a:tr>
                  <a:tr h="42465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2009370"/>
                      </a:ext>
                    </a:extLst>
                  </a:tr>
                  <a:tr h="42465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81392153"/>
                      </a:ext>
                    </a:extLst>
                  </a:tr>
                  <a:tr h="42465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7990256"/>
                      </a:ext>
                    </a:extLst>
                  </a:tr>
                  <a:tr h="42465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52067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6F2DE0F6-A357-E559-3166-928028E2C8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14018893"/>
                  </p:ext>
                </p:extLst>
              </p:nvPr>
            </p:nvGraphicFramePr>
            <p:xfrm>
              <a:off x="1549830" y="3704095"/>
              <a:ext cx="4546170" cy="212327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515390">
                      <a:extLst>
                        <a:ext uri="{9D8B030D-6E8A-4147-A177-3AD203B41FA5}">
                          <a16:colId xmlns:a16="http://schemas.microsoft.com/office/drawing/2014/main" val="3085871111"/>
                        </a:ext>
                      </a:extLst>
                    </a:gridCol>
                    <a:gridCol w="1515390">
                      <a:extLst>
                        <a:ext uri="{9D8B030D-6E8A-4147-A177-3AD203B41FA5}">
                          <a16:colId xmlns:a16="http://schemas.microsoft.com/office/drawing/2014/main" val="1507516028"/>
                        </a:ext>
                      </a:extLst>
                    </a:gridCol>
                    <a:gridCol w="1515390">
                      <a:extLst>
                        <a:ext uri="{9D8B030D-6E8A-4147-A177-3AD203B41FA5}">
                          <a16:colId xmlns:a16="http://schemas.microsoft.com/office/drawing/2014/main" val="1796757811"/>
                        </a:ext>
                      </a:extLst>
                    </a:gridCol>
                  </a:tblGrid>
                  <a:tr h="42465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402" t="-1429" r="-201606" b="-40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00806" t="-1429" r="-102419" b="-40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200000" t="-1429" r="-2008" b="-40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84678536"/>
                      </a:ext>
                    </a:extLst>
                  </a:tr>
                  <a:tr h="42465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2009370"/>
                      </a:ext>
                    </a:extLst>
                  </a:tr>
                  <a:tr h="42465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81392153"/>
                      </a:ext>
                    </a:extLst>
                  </a:tr>
                  <a:tr h="42465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7990256"/>
                      </a:ext>
                    </a:extLst>
                  </a:tr>
                  <a:tr h="42465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520671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4577254"/>
      </p:ext>
    </p:extLst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79697085-48F4-1E2D-9A3E-3B189C860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2DBFC620-9D48-C08D-E38C-22F2FA97FE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N-MOS NOR gate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A2B7FAF2-C2B5-EF81-A7F8-46ED5C8BC8E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97FFC588-609F-A417-0C6F-E6329A7501B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972CA6E3-FE83-8533-2E77-B14C7EEDF05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B2DE1A3B-FDC6-9A69-A41F-691FE75510D4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Case 01: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𝐺𝑆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=0&lt;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1→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𝐶𝑢𝑡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𝑜𝑓𝑓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𝑀𝑜𝑑𝑒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𝑚𝐴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𝐺𝑆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=0&lt;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</m:sub>
                      </m:sSub>
                    </m:oMath>
                  </m:oMathPara>
                </a14:m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2→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𝐶𝑢𝑡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𝑜𝑓𝑓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𝑀𝑜𝑑𝑒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𝑚𝐴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𝑚𝐴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=5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B2DE1A3B-FDC6-9A69-A41F-691FE75510D4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E008233A-7CB7-9F13-478C-6F5214FBF6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0189" y="920188"/>
            <a:ext cx="4642642" cy="4490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033754"/>
      </p:ext>
    </p:extLst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7CBCFCD0-540A-63F2-C5B4-4E94F8D43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686BD31A-3D42-041B-6AFE-78397BD2A5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N-MOS NOR gate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91D8183B-6D31-3E6E-4590-28A70377130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C494C446-EA4C-1876-34CF-B84181C5D75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E8F33C97-DE74-9B95-1272-34B583FEBB3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C68CD1C3-8EDA-7C7F-8FC4-F825B692EA16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7506644" cy="51582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Case 02: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=5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𝐺𝑆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=0&lt;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1→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𝐶𝑢𝑡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𝑜𝑓𝑓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𝑀𝑜𝑑𝑒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𝑚𝐴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𝐺𝑆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=5&gt;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</m:sub>
                      </m:sSub>
                    </m:oMath>
                  </m:oMathPara>
                </a14:m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114300" lvl="0" indent="0">
                  <a:buSzPct val="75630"/>
                  <a:buNone/>
                </a:pPr>
                <a:r>
                  <a:rPr lang="en-US" sz="240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Assume M2 in Triode mode</a:t>
                </a:r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=0.1 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5−0.8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  <m:sup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=0.1 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5−0.8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  <m:sup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r>
                  <a:rPr lang="en-US" sz="2400" b="0" dirty="0">
                    <a:solidFill>
                      <a:schemeClr val="tx1"/>
                    </a:solidFill>
                  </a:rPr>
                  <a:t>Solving,</a:t>
                </a: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=8.6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0.29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8.6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𝑛𝑜𝑡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𝑎𝑐𝑐𝑒𝑝𝑡𝑎𝑏𝑙𝑒</m:t>
                          </m:r>
                        </m:e>
                      </m:d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r>
                  <a:rPr lang="en-US" sz="2400" b="0" dirty="0">
                    <a:solidFill>
                      <a:schemeClr val="tx1"/>
                    </a:solidFill>
                  </a:rPr>
                  <a:t>Verification: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𝐷𝑆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=0.29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𝑎𝑛𝑑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=4.2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As,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𝐷𝑆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𝑇𝑟𝑖𝑜𝑑𝑒</m:t>
                    </m:r>
                  </m:oMath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C68CD1C3-8EDA-7C7F-8FC4-F825B692EA16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7506644" cy="51582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BE9F8A63-9B12-DEA8-F1BA-7C54E5CDDD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0189" y="920188"/>
            <a:ext cx="4642642" cy="4490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064711"/>
      </p:ext>
    </p:extLst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654FA61C-68D5-4827-4932-99B6F81AD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70AD05B1-BA32-0394-E0BF-4E3CD229BA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N-MOS NOR gate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EBC266C6-CF26-A41B-FD23-020FECCC58F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B93FC643-E632-800B-5812-3266C50E127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810AD02D-CD3E-2308-D699-33412870805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C0B39520-4E46-984A-A872-F9AA7024C6AE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Case 03: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=5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r>
                  <a:rPr lang="en-US" sz="2400" b="0" dirty="0">
                    <a:solidFill>
                      <a:schemeClr val="tx1"/>
                    </a:solidFill>
                  </a:rPr>
                  <a:t>Similar to case 2,</a:t>
                </a: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⇒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0.29 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C0B39520-4E46-984A-A872-F9AA7024C6AE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4D7A2B50-BC98-DD75-3393-C78BAECE81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0189" y="920188"/>
            <a:ext cx="4642642" cy="4490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096420"/>
      </p:ext>
    </p:extLst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79A1818D-88BA-C2C8-A1B7-C1DE3B53F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80511306-A433-3ECE-4271-5EF4CE1A1D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N-MOS NOR gate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BF343E3D-1464-94D3-B77E-BD0809138C1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FA6F17C4-D1E5-EA61-E717-55D14BA2F44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4064E4A3-EE8F-2D51-28A9-703CE70A9E0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AF6D01FE-794F-2C46-2DBA-6CF7526203F4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Case 04: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=5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𝐺𝑆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=5&gt;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1→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𝑇𝑟𝑖𝑜𝑑𝑒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𝐺𝑆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=5&gt;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</m:sub>
                      </m:sSub>
                    </m:oMath>
                  </m:oMathPara>
                </a14:m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2→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𝑇𝑟𝑖𝑜𝑑𝑒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2∗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0.1 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5−0.8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  <m:sup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=0.149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4.17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4.17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𝑛𝑜𝑡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𝑎𝑐𝑐𝑒𝑝𝑡𝑎𝑏𝑙𝑒</m:t>
                          </m:r>
                        </m:e>
                      </m:d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⇒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=0.149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AF6D01FE-794F-2C46-2DBA-6CF7526203F4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42132738-1A44-1938-B518-549979BAE3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0189" y="920188"/>
            <a:ext cx="4642642" cy="4490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999397"/>
      </p:ext>
    </p:extLst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2D5B30B7-CDBD-A95B-101D-941A5EF25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0137F796-B17B-0AD9-1801-D695C9774A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Exercise: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9E521988-86CB-F0D6-8F19-E9494740943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B5BD15C7-39E3-00EC-4E8C-6649E9F2341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8E17E942-EF83-E6D5-7BBD-6661CAC8221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2FB88C92-3502-92C1-E66C-AD3B5EE4F99A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>
                  <a:buSzPct val="75630"/>
                  <a:buNone/>
                </a:pPr>
                <a:r>
                  <a:rPr lang="en-US" sz="2400" b="0" dirty="0">
                    <a:solidFill>
                      <a:schemeClr val="tx1"/>
                    </a:solidFill>
                  </a:rPr>
                  <a:t>For the Given NMOS find the powe</a:t>
                </a:r>
                <a:r>
                  <a:rPr lang="en-US" sz="2400" dirty="0">
                    <a:solidFill>
                      <a:schemeClr val="tx1"/>
                    </a:solidFill>
                  </a:rPr>
                  <a:t>r for all possible input cases. Also find it’s average power.</a:t>
                </a:r>
              </a:p>
              <a:p>
                <a:pPr marL="114300" lvl="0" indent="0">
                  <a:buSzPct val="75630"/>
                  <a:buNone/>
                </a:pPr>
                <a:r>
                  <a:rPr lang="en-US" sz="2400" b="0" dirty="0">
                    <a:solidFill>
                      <a:schemeClr val="tx1"/>
                    </a:solidFill>
                  </a:rPr>
                  <a:t>Given: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𝑜𝑥</m:t>
                        </m:r>
                      </m:sub>
                    </m:sSub>
                    <m:f>
                      <m:f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=100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𝐿𝑜𝑔𝑖𝑐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𝐻𝑖𝑔h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=5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𝐿𝑜𝑔𝑖𝑐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𝐿𝑜𝑤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2FB88C92-3502-92C1-E66C-AD3B5EE4F99A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2D4E90E7-D4DE-C9A6-6E62-ADC5C1093F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0189" y="920188"/>
            <a:ext cx="4642642" cy="4490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655929"/>
      </p:ext>
    </p:extLst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90FDDCAC-022D-6EDC-D204-617802EB3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FCCA582A-6C58-0A16-047E-C749451A56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CMOS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C0A66ABE-4E3D-CEE1-6FE5-F12921FA7BE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399EB8C2-F032-3165-9E86-0C6B08F4A7A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68DABFDE-F3C3-50C3-0BDB-094BA4A244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6">
            <a:extLst>
              <a:ext uri="{FF2B5EF4-FFF2-40B4-BE49-F238E27FC236}">
                <a16:creationId xmlns:a16="http://schemas.microsoft.com/office/drawing/2014/main" id="{756C210E-4A7F-7335-26B2-021FDAE3DE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307" y="1334585"/>
            <a:ext cx="7026133" cy="4603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>
              <a:buSzPct val="75630"/>
              <a:buNone/>
            </a:pPr>
            <a:r>
              <a:rPr lang="en-US" sz="2400" b="0" dirty="0">
                <a:solidFill>
                  <a:schemeClr val="tx1"/>
                </a:solidFill>
              </a:rPr>
              <a:t>Complementary MOS cir</a:t>
            </a:r>
            <a:r>
              <a:rPr lang="en-US" sz="2400" dirty="0">
                <a:solidFill>
                  <a:schemeClr val="tx1"/>
                </a:solidFill>
              </a:rPr>
              <a:t>cuit design</a:t>
            </a:r>
          </a:p>
          <a:p>
            <a:pPr marL="114300" lvl="0" indent="0">
              <a:buSzPct val="75630"/>
              <a:buNone/>
            </a:pPr>
            <a:r>
              <a:rPr lang="en-US" sz="2400" b="0" dirty="0">
                <a:solidFill>
                  <a:schemeClr val="tx1"/>
                </a:solidFill>
              </a:rPr>
              <a:t>Features,</a:t>
            </a:r>
          </a:p>
          <a:p>
            <a:pPr marL="628650" lvl="0" indent="-514350">
              <a:buSzPct val="75630"/>
              <a:buFont typeface="+mj-lt"/>
              <a:buAutoNum type="romanUcPeriod"/>
            </a:pPr>
            <a:r>
              <a:rPr lang="en-US" sz="2400" b="0" dirty="0">
                <a:solidFill>
                  <a:schemeClr val="tx1"/>
                </a:solidFill>
              </a:rPr>
              <a:t>In CMOS circuit there are two network, one is pull up and other is pul</a:t>
            </a:r>
            <a:r>
              <a:rPr lang="en-US" sz="2400" dirty="0">
                <a:solidFill>
                  <a:schemeClr val="tx1"/>
                </a:solidFill>
              </a:rPr>
              <a:t>l down.</a:t>
            </a:r>
          </a:p>
          <a:p>
            <a:pPr marL="628650" lvl="0" indent="-514350">
              <a:buSzPct val="75630"/>
              <a:buFont typeface="+mj-lt"/>
              <a:buAutoNum type="romanUcPeriod"/>
            </a:pPr>
            <a:r>
              <a:rPr lang="en-US" sz="2400" b="0" dirty="0">
                <a:solidFill>
                  <a:schemeClr val="tx1"/>
                </a:solidFill>
              </a:rPr>
              <a:t>At a time either pull-up or pull-down network is on.</a:t>
            </a:r>
          </a:p>
          <a:p>
            <a:pPr marL="628650" lvl="0" indent="-514350">
              <a:buSzPct val="75630"/>
              <a:buFont typeface="+mj-lt"/>
              <a:buAutoNum type="romanUcPeriod"/>
            </a:pPr>
            <a:r>
              <a:rPr lang="en-US" sz="2400" b="0" dirty="0">
                <a:solidFill>
                  <a:schemeClr val="tx1"/>
                </a:solidFill>
              </a:rPr>
              <a:t>Logic is high when pull up is on.</a:t>
            </a:r>
          </a:p>
          <a:p>
            <a:pPr marL="628650" lvl="0" indent="-514350">
              <a:buSzPct val="75630"/>
              <a:buFont typeface="+mj-lt"/>
              <a:buAutoNum type="romanUcPeriod"/>
            </a:pPr>
            <a:r>
              <a:rPr lang="en-US" sz="2400" dirty="0">
                <a:solidFill>
                  <a:schemeClr val="tx1"/>
                </a:solidFill>
              </a:rPr>
              <a:t>Logic is Low when pull down is on.</a:t>
            </a:r>
          </a:p>
          <a:p>
            <a:pPr marL="628650" lvl="0" indent="-514350">
              <a:buSzPct val="75630"/>
              <a:buFont typeface="+mj-lt"/>
              <a:buAutoNum type="romanUcPeriod"/>
            </a:pPr>
            <a:r>
              <a:rPr lang="en-US" sz="2400" b="0" dirty="0">
                <a:solidFill>
                  <a:schemeClr val="tx1"/>
                </a:solidFill>
              </a:rPr>
              <a:t>Pull down consist of N-MOS, </a:t>
            </a:r>
            <a:r>
              <a:rPr lang="en-US" sz="2400" dirty="0">
                <a:solidFill>
                  <a:schemeClr val="tx1"/>
                </a:solidFill>
              </a:rPr>
              <a:t>Pull up consist of P-MOS.</a:t>
            </a:r>
          </a:p>
          <a:p>
            <a:pPr marL="628650" lvl="0" indent="-514350">
              <a:buSzPct val="75630"/>
              <a:buFont typeface="+mj-lt"/>
              <a:buAutoNum type="romanUcPeriod"/>
            </a:pPr>
            <a:endParaRPr lang="en-US" sz="2400" b="0" dirty="0">
              <a:solidFill>
                <a:schemeClr val="tx1"/>
              </a:solidFill>
            </a:endParaRPr>
          </a:p>
          <a:p>
            <a:pPr marL="114300" lvl="0" indent="0">
              <a:buSzPct val="75630"/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8BB9C3-85D0-8C16-12CE-EC92E7F1D9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951" y="1445342"/>
            <a:ext cx="3741040" cy="411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170199"/>
      </p:ext>
    </p:extLst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355F36B3-A64E-4B3F-7252-74216745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C7FA43FB-9E49-2FB7-A123-4252AB9AD9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CMOS  Pull Down Network Design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D591D3AA-89FB-8E95-E2B8-541C406AE34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B61615CA-1F64-DC0E-DC15-2A7542A79BA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9F99EC44-A356-B100-E994-AAFA2407D8F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71CB3FA6-E3BC-C593-8913-11C275CDA0EC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8" y="1334585"/>
                <a:ext cx="7731105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  →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𝐴𝑁𝐷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𝑐𝑎𝑛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𝑏𝑒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𝑖𝑚𝑝𝑙𝑒𝑚𝑒𝑛𝑡𝑒𝑑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𝑏𝑦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𝑠𝑒𝑟𝑖𝑒𝑠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𝑡𝑤𝑜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𝑁𝑀𝑂𝑆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→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𝑂𝑅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𝑐𝑎𝑛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𝑏𝑒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𝑖𝑚𝑝𝑙𝑒𝑚𝑒𝑛𝑡𝑒𝑑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𝑏𝑦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𝑃𝑎𝑟𝑎𝑙𝑙𝑒𝑙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𝑁𝑀𝑂𝑆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𝑙𝑜𝑤𝑒𝑟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𝑝𝑎𝑟𝑡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𝑤𝑖𝑙𝑙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𝑏𝑒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𝑐𝑜𝑛𝑛𝑒𝑐𝑡𝑒𝑑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𝑤𝑖𝑡h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𝐺𝑁𝐷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𝑈𝑝𝑝𝑒𝑟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𝑝𝑎𝑟𝑡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𝑤𝑖𝑙𝑙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𝑏𝑒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𝑐𝑜𝑛𝑛𝑒𝑐𝑡𝑒𝑑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𝑂𝑢𝑡𝑝𝑢𝑡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Example: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𝐴𝐵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71CB3FA6-E3BC-C593-8913-11C275CDA0EC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8" y="1334585"/>
                <a:ext cx="7731105" cy="46032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C5069062-5BF8-9054-637E-1E60E3EB60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6413" y="1799840"/>
            <a:ext cx="3625581" cy="3726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628148"/>
      </p:ext>
    </p:extLst>
  </p:cSld>
  <p:clrMapOvr>
    <a:masterClrMapping/>
  </p:clrMapOvr>
  <p:transition spd="slow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A524B72B-48C8-B2B8-2246-C16B7C71F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4F048539-509D-BCAF-9757-C4C0150CBB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CMOS  Pull Up Network Design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87998BEC-BF4D-B1C6-ECE6-F32CA8BDEAB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0A0859CD-79BD-1079-2F93-FA1C296A864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231892A2-F15B-C210-3218-E67BFAC452B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BFB7ACEA-8C77-77A1-2131-633DEDAAB807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559455" y="1317936"/>
                <a:ext cx="8399699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fontScale="92500"/>
              </a:bodyPr>
              <a:lstStyle/>
              <a:p>
                <a:pPr marL="114300" lvl="0" indent="0" algn="ctr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  →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𝐴𝑁𝐷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𝑐𝑎𝑛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𝑏𝑒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𝑖𝑚𝑝𝑙𝑒𝑚𝑒𝑛𝑡𝑒𝑑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𝑏𝑦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𝑝𝑎𝑟𝑎𝑙𝑙𝑒𝑙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𝑡𝑤𝑜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𝑃𝑀𝑂𝑆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114300" lvl="0" indent="0" algn="ctr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→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𝑂𝑅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𝑐𝑎𝑛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𝑏𝑒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𝑖𝑚𝑝𝑙𝑒𝑚𝑒𝑛𝑡𝑒𝑑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𝑏𝑦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𝑃𝑎𝑟𝑎𝑙𝑙𝑒𝑙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𝑁𝑀𝑠𝑒𝑟𝑖𝑒𝑠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𝑡𝑤𝑜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𝑁𝑀𝑂𝑆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114300" lvl="0" indent="0" algn="ctr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𝐿𝑜𝑤𝑒𝑟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𝑝𝑎𝑟𝑡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𝑤𝑖𝑙𝑙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𝑏𝑒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𝑐𝑜𝑛𝑛𝑒𝑐𝑡𝑒𝑑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𝑂𝑢𝑡𝑝𝑢𝑡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 algn="ctr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𝑈𝑝𝑝𝑒𝑟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𝑝𝑎𝑟𝑡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𝑤𝑖𝑙𝑙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𝑏𝑒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𝑐𝑜𝑛𝑛𝑒𝑐𝑡𝑒𝑑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𝑤𝑖𝑡h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𝐷𝐷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11430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000000"/>
                  </a:buClr>
                  <a:buSzPct val="75630"/>
                  <a:buFont typeface="Arial"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Calibri"/>
                    <a:cs typeface="Calibri"/>
                    <a:sym typeface="Calibri"/>
                  </a:rPr>
                  <a:t>Example: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sz="24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sym typeface="Calibri"/>
                      </a:rPr>
                      <m:t>Y</m:t>
                    </m:r>
                    <m:r>
                      <a:rPr kumimoji="0" lang="en-US" sz="24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sym typeface="Calibri"/>
                      </a:rPr>
                      <m:t>=</m:t>
                    </m:r>
                    <m:acc>
                      <m:accPr>
                        <m:chr m:val="̅"/>
                        <m:ctrlP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sym typeface="Calibri"/>
                          </a:rPr>
                        </m:ctrlPr>
                      </m:accPr>
                      <m:e>
                        <m: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sym typeface="Calibri"/>
                          </a:rPr>
                          <m:t>𝐴𝐵</m:t>
                        </m:r>
                        <m: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sym typeface="Calibri"/>
                          </a:rPr>
                          <m:t>+</m:t>
                        </m:r>
                        <m: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sym typeface="Calibri"/>
                          </a:rPr>
                          <m:t>𝐶</m:t>
                        </m:r>
                      </m:e>
                    </m:acc>
                  </m:oMath>
                </a14:m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114300" lvl="0" indent="0" algn="ctr">
                  <a:buSzPct val="75630"/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BFB7ACEA-8C77-77A1-2131-633DEDAAB807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59455" y="1317936"/>
                <a:ext cx="8399699" cy="46032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D9D199BF-881F-578A-9591-E8AF2F06DD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2734" y="2004329"/>
            <a:ext cx="3372321" cy="413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996225"/>
      </p:ext>
    </p:extLst>
  </p:cSld>
  <p:clrMapOvr>
    <a:masterClrMapping/>
  </p:clrMapOvr>
  <p:transition spd="slow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23E67562-1A4B-8637-D1FF-A79EB11D4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B1F8AACF-2C23-517B-54F3-E427207219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NOT Gate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A202E0A5-9751-0595-3A8B-17DEC886F06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104628B9-6963-24C0-3D08-F5FAF1C252B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D7BAFA50-E7B2-99D1-CBD7-2919F062D0C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BF8A9500-1EE9-BC63-5C1D-304519957705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 </m:t>
                      </m:r>
                      <m:acc>
                        <m:accPr>
                          <m:chr m:val="̅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BF8A9500-1EE9-BC63-5C1D-304519957705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blipFill>
                <a:blip r:embed="rId4"/>
                <a:stretch>
                  <a:fillRect t="-13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13ECB728-4D06-27C7-193D-7FFD7B0E46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2939" y="1334585"/>
            <a:ext cx="3149229" cy="4346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906031"/>
      </p:ext>
    </p:extLst>
  </p:cSld>
  <p:clrMapOvr>
    <a:masterClrMapping/>
  </p:clrMapOvr>
  <p:transition spd="slow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D0F3C11B-606B-3B98-77AD-970A02D65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597E7A54-D254-1AC8-6F9F-9C9B577D76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NAND Gate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8970A6B8-210A-E2FB-82CA-CC2697351C5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351449A3-B46D-1F75-DFB1-84F153D0984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9A31E6A5-6040-A30A-4E21-AC1245E6F53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EADEABDA-F506-8EBE-C624-21FF32534BDC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 </m:t>
                      </m:r>
                      <m:acc>
                        <m:accPr>
                          <m:chr m:val="̅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acc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EADEABDA-F506-8EBE-C624-21FF32534BDC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FC42B4B4-3CCF-DE55-3BFF-7BE95E99E6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1440" y="405418"/>
            <a:ext cx="2943636" cy="55157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300D9B-0D14-4EFC-1DCB-F45BCD4FC8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1922" y="2425460"/>
            <a:ext cx="5572903" cy="271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907289"/>
      </p:ext>
    </p:extLst>
  </p:cSld>
  <p:clrMapOvr>
    <a:masterClrMapping/>
  </p:clrMapOvr>
  <p:transition spd="slow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2F3BB33E-116F-487F-7082-5056EB403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B06E43EF-C89D-3DF6-4D48-6A8F667BE1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NOR Gate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DA87EECA-BCFF-919F-83CA-6643F4259F9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7307076F-F83D-600B-887B-3977F5D5C3D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B9C89D5A-A7C4-BC0E-AA65-75E31601877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9B01374F-BCF9-E1AA-614F-B39D8B9AF9DD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 </m:t>
                      </m:r>
                      <m:acc>
                        <m:accPr>
                          <m:chr m:val="̅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9B01374F-BCF9-E1AA-614F-B39D8B9AF9DD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312C4101-EA68-3F11-A4CB-D70DA1D79F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1339" y="621028"/>
            <a:ext cx="3753374" cy="58682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A7D39BA-9D2A-1063-6B42-86AB8F1828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7487" y="2622890"/>
            <a:ext cx="5087060" cy="245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240281"/>
      </p:ext>
    </p:extLst>
  </p:cSld>
  <p:clrMapOvr>
    <a:masterClrMapping/>
  </p:clrMapOvr>
  <p:transition spd="slow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1C5AC28F-CC23-8EA2-A7F9-3C91C0475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76E624B0-A0B0-0AC8-4C6F-B378951A28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Example: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CC5DD1D8-7D94-FC72-730F-D0FA9BD8C32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54353385-48BA-B765-3C2E-AEF6C36E605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75BEC046-E448-71A3-B873-5199BC3057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307C7E4E-F734-902D-0498-2B02AE771650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307C7E4E-F734-902D-0498-2B02AE771650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E241C23-3026-2AEA-E44D-A37508DD72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8930" y="969408"/>
            <a:ext cx="7026133" cy="3711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435300"/>
      </p:ext>
    </p:extLst>
  </p:cSld>
  <p:clrMapOvr>
    <a:masterClrMapping/>
  </p:clrMapOvr>
  <p:transition spd="slow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9B356FAC-1F31-A4FC-98CD-00560C289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1F5E7E8A-8E94-B843-3AA8-DD0693CCB7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Example: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B01B4E56-6ACB-B550-6646-18D1C2B1FAE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17375AED-9715-9D70-890E-35C75AE3606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71AA1FF9-1405-B887-6FCA-BAF65F60F24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EA6CC18B-5760-0505-A074-5E937C5C572D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>
                  <a:buSzPct val="75630"/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en-US" sz="2400" b="0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EA6CC18B-5760-0505-A074-5E937C5C572D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374184A9-D5B0-319D-2D58-33D5D81EE7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8373" y="1550662"/>
            <a:ext cx="7755253" cy="4087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659010"/>
      </p:ext>
    </p:extLst>
  </p:cSld>
  <p:clrMapOvr>
    <a:masterClrMapping/>
  </p:clrMapOvr>
  <p:transition spd="slow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95484115-871E-332D-40E5-3AF03C7FA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50FADE34-908E-EBC4-E1F8-B26C62D76C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Example: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0991DA9D-6DF5-C00E-9B22-7568167CFB6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F06AA369-E191-3CCC-9378-944CA9157F6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01D2C8BA-A246-3CF8-77F4-AA9F7940235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417BB8F6-831D-F844-0571-F35F005D9B66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)+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𝐷𝐸</m:t>
                          </m:r>
                        </m:e>
                      </m:acc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417BB8F6-831D-F844-0571-F35F005D9B66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BA0AFF83-5714-8E12-3572-1C82DF4DAD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4464" y="517873"/>
            <a:ext cx="6887536" cy="454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555541"/>
      </p:ext>
    </p:extLst>
  </p:cSld>
  <p:clrMapOvr>
    <a:masterClrMapping/>
  </p:clrMapOvr>
  <p:transition spd="slow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98B127DE-8815-A245-B05C-12BA87424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5F4B852C-B92E-BAE0-EF30-7DF8974269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Exercise: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9CA2259C-96BC-A2FF-BBE0-9A6EF61F613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92A9572A-919D-1C32-0AA1-903B5FC69A4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CF870F00-898B-9A46-F7B1-8D44935DB8A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6">
            <a:extLst>
              <a:ext uri="{FF2B5EF4-FFF2-40B4-BE49-F238E27FC236}">
                <a16:creationId xmlns:a16="http://schemas.microsoft.com/office/drawing/2014/main" id="{DA4C8BE8-B618-1F25-3D0B-E8B86D9177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307" y="1334585"/>
            <a:ext cx="7026133" cy="4603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>
              <a:buSzPct val="75630"/>
              <a:buNone/>
            </a:pPr>
            <a:r>
              <a:rPr lang="en-US" sz="2400" b="0" dirty="0">
                <a:solidFill>
                  <a:schemeClr val="tx1"/>
                </a:solidFill>
              </a:rPr>
              <a:t>Design a CMOS logic circuit to implement the given compound gate in Figure below. First derive</a:t>
            </a:r>
          </a:p>
          <a:p>
            <a:pPr marL="114300" lvl="0" indent="0">
              <a:buSzPct val="75630"/>
              <a:buNone/>
            </a:pPr>
            <a:r>
              <a:rPr lang="en-US" sz="2400" b="0" dirty="0">
                <a:solidFill>
                  <a:schemeClr val="tx1"/>
                </a:solidFill>
              </a:rPr>
              <a:t>the logical expression of output Y and then design the CMOS network.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345A75-8CB2-9E67-A82C-5A41C68A33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9545" y="3138340"/>
            <a:ext cx="6182588" cy="307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164337"/>
      </p:ext>
    </p:extLst>
  </p:cSld>
  <p:clrMapOvr>
    <a:masterClrMapping/>
  </p:clrMapOvr>
  <p:transition spd="slow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229B0B22-B826-83E9-967A-CB19159FF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E6DEB8E5-6DA5-9041-12E2-19D848982C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Exercise: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5B244AC5-8411-FD14-197C-737F2915883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9DF32B20-815B-48C9-6D08-0F602EF10C1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1B8A3C84-82D2-4F62-9DCF-1F0FDF6E7C0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6">
            <a:extLst>
              <a:ext uri="{FF2B5EF4-FFF2-40B4-BE49-F238E27FC236}">
                <a16:creationId xmlns:a16="http://schemas.microsoft.com/office/drawing/2014/main" id="{D33B272D-DB44-B030-9387-392765C1D2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307" y="1334585"/>
            <a:ext cx="7026133" cy="4603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>
              <a:buSzPct val="75630"/>
              <a:buNone/>
            </a:pPr>
            <a:r>
              <a:rPr lang="en-US" sz="2400" b="0" dirty="0">
                <a:solidFill>
                  <a:schemeClr val="tx1"/>
                </a:solidFill>
              </a:rPr>
              <a:t>Design a CMOS circuit that will </a:t>
            </a:r>
            <a:r>
              <a:rPr lang="en-US" sz="2400" dirty="0">
                <a:solidFill>
                  <a:schemeClr val="tx1"/>
                </a:solidFill>
              </a:rPr>
              <a:t>follow</a:t>
            </a:r>
            <a:r>
              <a:rPr lang="en-US" sz="2400" b="0" dirty="0">
                <a:solidFill>
                  <a:schemeClr val="tx1"/>
                </a:solidFill>
              </a:rPr>
              <a:t> the given truth table.</a:t>
            </a:r>
          </a:p>
          <a:p>
            <a:pPr marL="114300" lvl="0" indent="0">
              <a:buSzPct val="75630"/>
              <a:buNone/>
            </a:pPr>
            <a:endParaRPr lang="en-US" sz="2400" b="0" dirty="0">
              <a:solidFill>
                <a:schemeClr val="tx1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1EFF834-ADFB-622B-F388-E448BCD371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9027061"/>
              </p:ext>
            </p:extLst>
          </p:nvPr>
        </p:nvGraphicFramePr>
        <p:xfrm>
          <a:off x="1096668" y="2330271"/>
          <a:ext cx="4513719" cy="307335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04573">
                  <a:extLst>
                    <a:ext uri="{9D8B030D-6E8A-4147-A177-3AD203B41FA5}">
                      <a16:colId xmlns:a16="http://schemas.microsoft.com/office/drawing/2014/main" val="297572426"/>
                    </a:ext>
                  </a:extLst>
                </a:gridCol>
                <a:gridCol w="1504573">
                  <a:extLst>
                    <a:ext uri="{9D8B030D-6E8A-4147-A177-3AD203B41FA5}">
                      <a16:colId xmlns:a16="http://schemas.microsoft.com/office/drawing/2014/main" val="1535309190"/>
                    </a:ext>
                  </a:extLst>
                </a:gridCol>
                <a:gridCol w="1504573">
                  <a:extLst>
                    <a:ext uri="{9D8B030D-6E8A-4147-A177-3AD203B41FA5}">
                      <a16:colId xmlns:a16="http://schemas.microsoft.com/office/drawing/2014/main" val="2269225613"/>
                    </a:ext>
                  </a:extLst>
                </a:gridCol>
              </a:tblGrid>
              <a:tr h="614670">
                <a:tc>
                  <a:txBody>
                    <a:bodyPr/>
                    <a:lstStyle/>
                    <a:p>
                      <a:r>
                        <a:rPr lang="en-US" sz="2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3626658"/>
                  </a:ext>
                </a:extLst>
              </a:tr>
              <a:tr h="614670"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9869286"/>
                  </a:ext>
                </a:extLst>
              </a:tr>
              <a:tr h="614670"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8064110"/>
                  </a:ext>
                </a:extLst>
              </a:tr>
              <a:tr h="614670"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220087"/>
                  </a:ext>
                </a:extLst>
              </a:tr>
              <a:tr h="614670"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6999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3891573"/>
      </p:ext>
    </p:extLst>
  </p:cSld>
  <p:clrMapOvr>
    <a:masterClrMapping/>
  </p:clrMapOvr>
  <p:transition spd="slow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20DAED28-BAC9-016B-7045-A8F65E019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D58BC5FD-8189-5A3D-2AA1-214A25D568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Exercise: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B400B364-24AD-0B1C-2234-469362D6057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88BAD516-EA4D-670E-159D-F72A4FC2BC4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BD859E1C-4F81-C2AA-EB1D-A767DE021D4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6">
            <a:extLst>
              <a:ext uri="{FF2B5EF4-FFF2-40B4-BE49-F238E27FC236}">
                <a16:creationId xmlns:a16="http://schemas.microsoft.com/office/drawing/2014/main" id="{0A719C8C-45A9-0AE4-1BCF-3B212F9A37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307" y="1334585"/>
            <a:ext cx="7026133" cy="4603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>
              <a:buSzPct val="75630"/>
              <a:buNone/>
            </a:pPr>
            <a:r>
              <a:rPr lang="en-US" sz="2400" b="0" dirty="0">
                <a:solidFill>
                  <a:schemeClr val="tx1"/>
                </a:solidFill>
              </a:rPr>
              <a:t>Design static CMOS circuit for the following expression,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036437-F7DE-B030-5380-10C958821D0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78"/>
          <a:stretch/>
        </p:blipFill>
        <p:spPr>
          <a:xfrm>
            <a:off x="7711440" y="1241187"/>
            <a:ext cx="4027534" cy="4603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567382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801</TotalTime>
  <Words>1398</Words>
  <Application>Microsoft Office PowerPoint</Application>
  <PresentationFormat>Widescreen</PresentationFormat>
  <Paragraphs>293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Arial</vt:lpstr>
      <vt:lpstr>Calibri</vt:lpstr>
      <vt:lpstr>Cambria Math</vt:lpstr>
      <vt:lpstr>Times New Roman</vt:lpstr>
      <vt:lpstr>Wingdings</vt:lpstr>
      <vt:lpstr>Office Theme</vt:lpstr>
      <vt:lpstr>CSE 350 Digital Electronics and Pulse Techniques </vt:lpstr>
      <vt:lpstr>MOS Logic family</vt:lpstr>
      <vt:lpstr>Basic Internal Structure</vt:lpstr>
      <vt:lpstr>Circuit Symbol</vt:lpstr>
      <vt:lpstr>Basic Operation</vt:lpstr>
      <vt:lpstr>Basic Operation</vt:lpstr>
      <vt:lpstr>Basic Operation</vt:lpstr>
      <vt:lpstr>Operating modes of MOSFET</vt:lpstr>
      <vt:lpstr>N-MOS Logic</vt:lpstr>
      <vt:lpstr>N-MOS Logic</vt:lpstr>
      <vt:lpstr>N-MOS NOT gate/Inverter</vt:lpstr>
      <vt:lpstr>N-MOS NOT gate/Inverter</vt:lpstr>
      <vt:lpstr>N-MOS NOT gate/Inverter</vt:lpstr>
      <vt:lpstr>N-MOS NOT gate/Inverter</vt:lpstr>
      <vt:lpstr>N-MOS NOT gate/Inverter</vt:lpstr>
      <vt:lpstr>N-MOS NOT gate/Inverter</vt:lpstr>
      <vt:lpstr>N-MOS NOT gate/Inverter</vt:lpstr>
      <vt:lpstr>N-MOS NOT gate/Inverter</vt:lpstr>
      <vt:lpstr>N-MOS NOR gate</vt:lpstr>
      <vt:lpstr>N-MOS NOR gate</vt:lpstr>
      <vt:lpstr>N-MOS NOR gate</vt:lpstr>
      <vt:lpstr>N-MOS NOR gate</vt:lpstr>
      <vt:lpstr>N-MOS NOR gate</vt:lpstr>
      <vt:lpstr>Exercise:</vt:lpstr>
      <vt:lpstr>CMOS</vt:lpstr>
      <vt:lpstr>CMOS  Pull Down Network Design</vt:lpstr>
      <vt:lpstr>CMOS  Pull Up Network Design</vt:lpstr>
      <vt:lpstr>NOT Gate</vt:lpstr>
      <vt:lpstr>NAND Gate</vt:lpstr>
      <vt:lpstr>NOR Gate</vt:lpstr>
      <vt:lpstr>Example:</vt:lpstr>
      <vt:lpstr>Example:</vt:lpstr>
      <vt:lpstr>Example:</vt:lpstr>
      <vt:lpstr>Exercise:</vt:lpstr>
      <vt:lpstr>Exercise:</vt:lpstr>
      <vt:lpstr>Exercise: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nazmul turjo</dc:creator>
  <cp:lastModifiedBy>USER</cp:lastModifiedBy>
  <cp:revision>15</cp:revision>
  <dcterms:created xsi:type="dcterms:W3CDTF">2021-07-10T07:14:46Z</dcterms:created>
  <dcterms:modified xsi:type="dcterms:W3CDTF">2025-01-06T19:38:35Z</dcterms:modified>
</cp:coreProperties>
</file>