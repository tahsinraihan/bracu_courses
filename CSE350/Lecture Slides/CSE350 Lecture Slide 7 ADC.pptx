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38" r:id="rId3"/>
    <p:sldId id="339" r:id="rId4"/>
    <p:sldId id="340" r:id="rId5"/>
    <p:sldId id="341" r:id="rId6"/>
    <p:sldId id="342" r:id="rId7"/>
    <p:sldId id="343" r:id="rId8"/>
    <p:sldId id="346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6" r:id="rId17"/>
    <p:sldId id="355" r:id="rId18"/>
    <p:sldId id="357" r:id="rId19"/>
    <p:sldId id="358" r:id="rId20"/>
    <p:sldId id="359" r:id="rId21"/>
    <p:sldId id="360" r:id="rId22"/>
    <p:sldId id="361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OP7mpHQ9vA4PFHviNNnNqE8h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A7CD0-2ED7-4127-A139-062385FC596B}">
  <a:tblStyle styleId="{E6FA7CD0-2ED7-4127-A139-062385FC5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1DE2C72-CC64-89EC-6294-6631D758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A71290-766A-2589-F953-9322647A4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5D5BA86-001E-F035-A95C-E561D577F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4337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3736FCA-13FE-0F21-2D38-EB8F10D8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DBFC2CB-DC05-5692-82CB-7D334140E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07463B4-BEC1-031B-7D1C-CC41A9515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3354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7F22933-5553-ADB1-5282-CC896B50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5884D2C-5A9E-6A40-1BFE-3B7FD3298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993FF0E-D1E8-39AD-48A3-9EF120236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3423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4059646-0DF5-5BB1-261C-C0CCD8BA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7BB1783-C489-67E7-BD0B-42519B69A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BC05953-69F8-7740-45F2-F17127A21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3831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F15E4E8-FA0F-7860-2FD5-AA32E77F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02F0C6C-D179-3B31-2D12-D174390A4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D4D6220-3829-D2B7-77F0-C6DB58D763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0956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A17ADD4-235C-B2FB-C12B-1FDB37EF7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D3F677E-99C9-C737-D351-23A3B5311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310411A-97E6-E402-67C4-A982B3C59E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2748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AD959E8-20EF-2432-26EC-AC53D0709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1BF3165-29FC-980B-8459-061B022CB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ABC850A-60BA-31BB-20FF-30E94B6258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57780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D5C1FA7-C2F6-0264-99B4-65B859DC1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602AB43-B08A-C8A0-7E87-25EAF705C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29376D1-A70E-259F-04A7-F3FD1E24B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9003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D4C77B5-DE9F-E3A7-471B-1A619C01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D0FC590-A347-A5E5-5C56-72572411B8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A129FB5-3B8A-8050-3551-55EEB06D2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1115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2F3E5C0-ACCE-AB84-8154-0E5BD03E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5391E71-9100-9DAF-5C3F-7F022A39A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0DC65D7-CD45-73B4-F2A2-38DF5E0BA2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5858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090697A-EE78-82C5-061A-BB9172E3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B9DBAB2-7171-F3E1-F26B-D19A0EC1C9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E80B82A-9F74-1D6E-9ACC-392EF0A078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8393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3462912-B856-437A-A4EE-70427E830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7AEED24-399B-43C9-4C11-9DD7A02D3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111879E-197D-5CAC-5BF2-CA5AEDE4C6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3793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4344195-116E-66B3-65B4-BAE84732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DB73259-D703-96B6-DF70-63CD5DF55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787388C-26A1-F1C6-4DAD-60AB621DF9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8019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F6AB802-2A19-4472-DCFE-CAB022F3C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AAB997B-A816-3739-A5C2-74A0584D6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DF22A84-404E-6BE3-36F8-8DDB570BD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6890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8F756CD-8EFC-E10D-7DF3-0C5D7BE8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F5F532C-D9BE-9BDE-6AAB-705F4503E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3A16241-09C4-0041-32C3-06AED8C0B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313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96D187D-7015-13C3-263F-8E68BE8E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B700249-D524-D17F-4986-61A246D91C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513C95B-1DC9-7077-4363-8E9DE8C80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8743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3FEC10C-3BD7-A23C-3587-124C7184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AF17316-7E65-5C4D-0F6E-CA6503FA8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A13DB7A-78C2-1AD7-97B6-A4C4DCD40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4832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73E0C54-60F6-9846-A2BD-73100042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6A533D-3340-438E-5CEB-84BF11A25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BD8CA3A-BBC8-A086-B117-A5AFB6D8D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1969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73E0C54-60F6-9846-A2BD-73100042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6A533D-3340-438E-5CEB-84BF11A25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BD8CA3A-BBC8-A086-B117-A5AFB6D8D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2719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73E0C54-60F6-9846-A2BD-73100042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6A533D-3340-438E-5CEB-84BF11A25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BD8CA3A-BBC8-A086-B117-A5AFB6D8D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11513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73E0C54-60F6-9846-A2BD-73100042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6A533D-3340-438E-5CEB-84BF11A25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BD8CA3A-BBC8-A086-B117-A5AFB6D8D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5818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751B0-7C0C-BD40-A434-E4822D159664}"/>
              </a:ext>
            </a:extLst>
          </p:cNvPr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000" dirty="0"/>
              <a:t>Mail: </a:t>
            </a:r>
            <a:r>
              <a:rPr lang="en-US" sz="2000" dirty="0">
                <a:hlinkClick r:id="rId4"/>
              </a:rPr>
              <a:t>shomen.kundu@bracu.ac.bd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Desk: 4N166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846E-60C5-B347-AC7F-8840DA80F15F}"/>
              </a:ext>
            </a:extLst>
          </p:cNvPr>
          <p:cNvSpPr txBox="1"/>
          <p:nvPr/>
        </p:nvSpPr>
        <p:spPr>
          <a:xfrm>
            <a:off x="1843548" y="2457480"/>
            <a:ext cx="8858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Analog to Digital Converter (ADC)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F6537-9EB0-5129-AAB2-FD60564499EB}"/>
              </a:ext>
            </a:extLst>
          </p:cNvPr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Course Instructor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 err="1"/>
              <a:t>Shomen</a:t>
            </a:r>
            <a:r>
              <a:rPr lang="en-US" sz="2000" dirty="0"/>
              <a:t> Kundu (SDU)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14470A8-2002-C6DD-3DBE-25F1326C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15849F3-E07A-CD17-E5EE-FB254181F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Analog to Digital Converter (ADC)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6E2D8B0-2B2C-676F-B568-CB506A377E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646B09-C80B-1A3B-2393-D70691216A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A7EDD6A-E5E3-7B87-9BD8-4352803070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6F5B-8B93-F049-55F8-E8669322D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Signal can be classified into two broad categories.</a:t>
            </a:r>
          </a:p>
          <a:p>
            <a:pPr marL="685800" indent="-571500">
              <a:buAutoNum type="romanLcPeriod"/>
            </a:pPr>
            <a:r>
              <a:rPr lang="en-US" dirty="0"/>
              <a:t>Analog Signal 			ii. Digital Signal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90F645-29A6-D15E-9D16-C42A5FBF3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991" y="2362633"/>
            <a:ext cx="5587285" cy="355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7755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728C66D-9D14-6B5D-7F6D-80BA0EF9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6FB9495-F442-C03F-B59F-7DA62948F8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Analog to Digital Converter (ADC)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E9FE7F4-9DFB-0E90-6634-EF012A29A95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ACAEA6C-C528-050A-3E1B-DFA796789B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1489479-AC3B-5A8A-97A2-460262D536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6094A-DBE8-DB9E-0271-584CBC88E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Physical world’s information are mostly analog. Analog means data could take </a:t>
            </a:r>
          </a:p>
          <a:p>
            <a:pPr marL="114300" indent="0">
              <a:buNone/>
            </a:pPr>
            <a:r>
              <a:rPr lang="en-US" dirty="0"/>
              <a:t>any real value at each instant of time.</a:t>
            </a:r>
          </a:p>
          <a:p>
            <a:pPr marL="114300" indent="0">
              <a:buNone/>
            </a:pPr>
            <a:r>
              <a:rPr lang="en-US" dirty="0"/>
              <a:t>In order to store/process we use digital data in our computers and microprocessor </a:t>
            </a:r>
          </a:p>
          <a:p>
            <a:pPr marL="114300" indent="0">
              <a:buNone/>
            </a:pPr>
            <a:r>
              <a:rPr lang="en-US" dirty="0"/>
              <a:t>Digital data means binary bit of strings.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BB97ED-4F29-3DAE-434C-2BD1DCFE6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026" y="4074982"/>
            <a:ext cx="10490628" cy="144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08983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57E88CF-7EEE-CB63-963D-023BE526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13BCEB2-7232-6A08-C766-555568AC27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A/D conversion process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46A795C-933A-2D96-3222-DB3B11F15B9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4ACA1B8-8D4C-DA2B-A49F-8FA487F428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3C1429F-F688-E4C1-D829-C9C29198EF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91CFA-5B85-EC2D-6C2A-550303FC2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1D1D3-A032-C592-6FBF-00D9FCB82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598" y="1204602"/>
            <a:ext cx="10240804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7781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9726DE3-7315-32E6-3C40-9F615A9F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A82B9DE-D8F0-BC03-B7C9-B053E261F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Sample and Hold Circuit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61C1F84-B617-293C-FAB5-FA55279197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80A1FA8-11B1-4706-18A7-B33A4A8F28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92C2608D-5061-5366-F1AB-F70B96A482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78220-742B-1FC8-37CA-5445A6A35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89B3D-8CCA-E385-D750-3C21FE82F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7" y="1566602"/>
            <a:ext cx="10410025" cy="42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6626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B0AF9BE-1E6C-B801-022B-CDF3000D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487F174-F793-B32D-0D11-C1E261C4A5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Quantization: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22A1D5E-722F-CB73-66CE-221F07B464D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D9EE08E-F104-1633-E726-163DD58550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D81B2BE1-65A9-DDDA-2B32-A7A54A09D7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732C11-13A8-0EB3-637E-EBCB8D8622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Quantization is a process by which we assign sampled and hold signal </a:t>
                </a:r>
                <a:r>
                  <a:rPr lang="en-US" dirty="0" err="1"/>
                  <a:t>sata</a:t>
                </a:r>
                <a:r>
                  <a:rPr lang="en-US" dirty="0"/>
                  <a:t> to some fixed preassigned values.</a:t>
                </a:r>
              </a:p>
              <a:p>
                <a:pPr marL="685800" indent="-571500">
                  <a:buAutoNum type="romanLcPeriod"/>
                </a:pPr>
                <a:r>
                  <a:rPr lang="en-US" dirty="0"/>
                  <a:t>Midrise Quantization 		</a:t>
                </a:r>
              </a:p>
              <a:p>
                <a:pPr marL="685800" indent="-571500">
                  <a:buAutoNum type="romanLcPeriod"/>
                </a:pPr>
                <a:r>
                  <a:rPr lang="en-US" dirty="0"/>
                  <a:t>Midtread Quantization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𝑏𝑖𝑡𝑠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𝑙𝑒𝑣𝑒𝑙𝑠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resolution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𝑉𝑚𝑖𝑛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732C11-13A8-0EB3-637E-EBCB8D862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872696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6F50366-D74D-45AC-5D8A-4330438A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AAC0998-7C58-7286-9121-556532A05B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Midrise Quantization: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B6974F2-5E7F-BD62-D7CB-0DF4DB23504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8BC3D58-1D41-9015-349D-F1748BA60C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09B2466-1CA1-9E83-8CEA-601F1029B0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F6B689B-4052-5500-0195-88A56BE787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266637"/>
                  </p:ext>
                </p:extLst>
              </p:nvPr>
            </p:nvGraphicFramePr>
            <p:xfrm>
              <a:off x="7777315" y="1376516"/>
              <a:ext cx="4114800" cy="4699818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992023195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075397016"/>
                        </a:ext>
                      </a:extLst>
                    </a:gridCol>
                  </a:tblGrid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Level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2667754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−3∆)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7036410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−2∆)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2571095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464189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0)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−0.5 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4888121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5831527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2∆)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7309563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3∆)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9577478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4∆)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3.5 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5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F6B689B-4052-5500-0195-88A56BE787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266637"/>
                  </p:ext>
                </p:extLst>
              </p:nvPr>
            </p:nvGraphicFramePr>
            <p:xfrm>
              <a:off x="7777315" y="1376516"/>
              <a:ext cx="4114800" cy="4699818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992023195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075397016"/>
                        </a:ext>
                      </a:extLst>
                    </a:gridCol>
                  </a:tblGrid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Level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2667754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101163" r="-100888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101163" r="-888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7036410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203529" r="-100888" b="-60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203529" r="-888" b="-608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571095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300000" r="-100888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300000" r="-888" b="-5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5464189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400000" r="-100888" b="-4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400000" r="-888" b="-4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888121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500000" r="-100888" b="-3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500000" r="-888" b="-3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5831527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607059" r="-100888" b="-20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607059" r="-888" b="-20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7309563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698837" r="-100888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698837" r="-888" b="-1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9577478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798837" r="-10088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798837" r="-888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A3169BD-6BDC-5F61-9198-DA4157813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668" y="1469070"/>
            <a:ext cx="5796228" cy="437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2925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9C64A6D-D9DE-9FC9-CD09-75378423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89F4EC0-ADE7-AE67-E846-13B3DD51E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19" y="262816"/>
            <a:ext cx="11312996" cy="1017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Mid tread Quantization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( Not symmetrical and Equally Spaced)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0C51605-8B8F-A4DE-4DA9-078A0D12202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EDA31D7-5081-C905-1A2C-F7396A2B91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3B6B581-D928-5350-A679-E2198B7CF2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0AD001F-29B0-9B58-DDD7-E73D401506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2452826"/>
                  </p:ext>
                </p:extLst>
              </p:nvPr>
            </p:nvGraphicFramePr>
            <p:xfrm>
              <a:off x="7777315" y="1376516"/>
              <a:ext cx="4114800" cy="4699818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992023195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075397016"/>
                        </a:ext>
                      </a:extLst>
                    </a:gridCol>
                  </a:tblGrid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Level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2667754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−2.5∆)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7036410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−1.5∆)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2571095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−0.5∆)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464189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0.5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4888121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1.5∆)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5831527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2.5∆)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7309563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3.5∆)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9577478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3.5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4.5∆)</m:t>
                              </m:r>
                            </m:oMath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5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0AD001F-29B0-9B58-DDD7-E73D401506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2452826"/>
                  </p:ext>
                </p:extLst>
              </p:nvPr>
            </p:nvGraphicFramePr>
            <p:xfrm>
              <a:off x="7777315" y="1376516"/>
              <a:ext cx="4114800" cy="4699818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2057400">
                      <a:extLst>
                        <a:ext uri="{9D8B030D-6E8A-4147-A177-3AD203B41FA5}">
                          <a16:colId xmlns:a16="http://schemas.microsoft.com/office/drawing/2014/main" val="992023195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4075397016"/>
                        </a:ext>
                      </a:extLst>
                    </a:gridCol>
                  </a:tblGrid>
                  <a:tr h="5222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Quantization Level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2667754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101163" r="-100888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101163" r="-888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7036410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203529" r="-100888" b="-60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203529" r="-888" b="-608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571095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300000" r="-100888" b="-5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300000" r="-888" b="-5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5464189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400000" r="-100888" b="-4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400000" r="-888" b="-4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888121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500000" r="-100888" b="-3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500000" r="-888" b="-3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5831527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607059" r="-100888" b="-20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607059" r="-888" b="-20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7309563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698837" r="-100888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698837" r="-888" b="-1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9577478"/>
                      </a:ext>
                    </a:extLst>
                  </a:tr>
                  <a:tr h="522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6" t="-798837" r="-10088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6" t="-798837" r="-888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027" y="1546669"/>
            <a:ext cx="474345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1650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46FCC5C-2CF0-EF21-25A7-356CE93B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F895061-A118-08D2-18B5-D29DAD5AAA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Encoding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68724A4-B631-15DA-C04A-44347AD467D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041A22E-0555-A3A8-184D-55FDDC7976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0414DA0D-8869-5D69-49F2-DB9506410E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57304DB-3D38-FA4B-79AB-35B1CB9FCE9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We can choose binary values for each of the level.</a:t>
                </a:r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𝐶𝑒𝑖𝑙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𝑙𝑒𝑣𝑒𝑙𝑠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Assign lower Q level to 0</a:t>
                </a:r>
              </a:p>
              <a:p>
                <a:pPr marL="114300" indent="0">
                  <a:buNone/>
                </a:pPr>
                <a:r>
                  <a:rPr lang="en-US" dirty="0"/>
                  <a:t>Then increase one for each next level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57304DB-3D38-FA4B-79AB-35B1CB9FCE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992389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2FE300E-F630-0AB1-25D0-FB861B026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7AEDB52-F7EA-A76B-CDFB-E02B41D960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Quantization Range, Level, code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883C718-CE70-1AE6-8F00-3B825188F0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880906A-A8B6-4877-C201-A98F7CAC47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64253D0-DFE0-AA41-098C-2A7EAFFE67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4A785-B055-EC94-9F08-3EC081376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37641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Ex: Identify which one is Mid rise and Mid tread.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BBC78-456A-1EBC-0413-95CE24D22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088" y="1699184"/>
            <a:ext cx="4306912" cy="4591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538173-4554-D944-417D-33261467E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194" y="1699184"/>
            <a:ext cx="3419439" cy="434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95792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6362B69-4C28-5104-5B7C-BAA9866DB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0AEB292-FD60-7BBD-676C-189DA2FC0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Quantization Range, Level, code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E0D462D-5348-552C-A986-63B31117685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9591C07-CEA5-08CD-476A-996F72C727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787A3467-069C-E411-3A7F-92DFD50EDB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893647-4CF8-9536-4A45-BBF2620CC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026" y="1133476"/>
            <a:ext cx="4306912" cy="45910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2F2F8D-672B-1505-FD18-D3DE683C604C}"/>
                  </a:ext>
                </a:extLst>
              </p:cNvPr>
              <p:cNvSpPr txBox="1"/>
              <p:nvPr/>
            </p:nvSpPr>
            <p:spPr>
              <a:xfrm>
                <a:off x="6489289" y="2487559"/>
                <a:ext cx="4699821" cy="1591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i="1" dirty="0">
                    <a:latin typeface="Cambria Math" panose="02040503050406030204" pitchFamily="18" charset="0"/>
                  </a:rPr>
                  <a:t>Here,  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𝑉𝑚𝑎𝑥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𝑉𝑚𝑖𝑛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8+0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As 4 V is a Quantization level. So, it is a mid tread quantization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2F2F8D-672B-1505-FD18-D3DE683C6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289" y="2487559"/>
                <a:ext cx="4699821" cy="1591846"/>
              </a:xfrm>
              <a:prstGeom prst="rect">
                <a:avLst/>
              </a:prstGeom>
              <a:blipFill>
                <a:blip r:embed="rId5"/>
                <a:stretch>
                  <a:fillRect l="-1429" t="-1916" r="-2208" b="-6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545584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55DC855-4901-64B8-C4E9-62358234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EAC4069-E1E2-C72B-1CF6-E8CC0FEB2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Quantization Range, Level, code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F3B9FB0-CAD6-741A-A928-83014A1EE5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25C87A9-7913-5171-6BBC-403501DE76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8C9096C-6C87-03EA-E3F6-3AA60EF9C0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47F9B-59A5-711F-0F17-70584AD44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37641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Ex: Identify which one is Mid rise and Mid tread.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F88DCC-44DA-87C1-DE2C-5E89CB2DC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962" y="1718849"/>
            <a:ext cx="3419439" cy="43470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060869-8B57-DD59-6A93-2B0F23B14D13}"/>
                  </a:ext>
                </a:extLst>
              </p:cNvPr>
              <p:cNvSpPr txBox="1"/>
              <p:nvPr/>
            </p:nvSpPr>
            <p:spPr>
              <a:xfrm>
                <a:off x="6489289" y="2487559"/>
                <a:ext cx="4699821" cy="1591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i="1" dirty="0">
                    <a:latin typeface="Cambria Math" panose="02040503050406030204" pitchFamily="18" charset="0"/>
                  </a:rPr>
                  <a:t>Here,  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𝑉𝑚𝑎𝑥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𝑉𝑚𝑖𝑛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10+0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As 5 V is not a Quantization level. So, it is a mid rise quantization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060869-8B57-DD59-6A93-2B0F23B14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289" y="2487559"/>
                <a:ext cx="4699821" cy="1591846"/>
              </a:xfrm>
              <a:prstGeom prst="rect">
                <a:avLst/>
              </a:prstGeom>
              <a:blipFill>
                <a:blip r:embed="rId5"/>
                <a:stretch>
                  <a:fillRect l="-1429" t="-1916" r="-1299" b="-6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396165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1F0EB6F-140E-D374-9651-3F8369A8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96F91D9-CB1A-83BA-AAA8-42598AB3D0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Flash A/D converter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950FE34-1548-E0AD-6CBD-EF61EEB6681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C3D27FA-42DE-88A5-1443-F081CCEDE5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7669DA1-433E-BB4D-874B-5E5A67ADA3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C42B8-FB7B-7F25-880E-65E06F7ED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37641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Features of the Flash A/D converter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This converter  is very fast.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requires one clock cycle to convert the analog to digital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requires a lot components.</a:t>
            </a:r>
          </a:p>
        </p:txBody>
      </p:sp>
    </p:spTree>
    <p:extLst>
      <p:ext uri="{BB962C8B-B14F-4D97-AF65-F5344CB8AC3E}">
        <p14:creationId xmlns:p14="http://schemas.microsoft.com/office/powerpoint/2010/main" val="1662188590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C58FD0F-76DA-F414-3985-4D33EB53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C983C48-D496-20EF-5DEF-42E7AF5BE1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Op-Amp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02A8B1A-FC25-EF45-ED24-94B2109798A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A0CF4F7-796C-74A0-A34B-B84C8F73D5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E22A2ED-E12D-2CC5-D7E8-4EF6733321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F413C1-B362-A6E9-1A12-180D9026D0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For open loop configuration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𝐻𝑖𝑔h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1 )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0 )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F413C1-B362-A6E9-1A12-180D9026D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02CF5FA-AEB1-F6C7-9D0F-D90972E1E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10691"/>
            <a:ext cx="5410955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88577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4935AC5-4555-BA80-DF21-A55756BE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9D2ABC3-0D33-8F7F-854A-FF0B63EC66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Flash ADC design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C1EE369-5654-E279-1B5D-3CA899AD86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C713128-A24D-7A91-2505-7F137E4FB2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193EF08-F5E9-0C75-4F3D-517E21D735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DED7-FB5D-1C66-7423-EBA6B2966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37641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Suppose you have  a signal with Vmax = 10 V and </a:t>
            </a:r>
            <a:r>
              <a:rPr lang="en-US" dirty="0" err="1"/>
              <a:t>Vmin</a:t>
            </a:r>
            <a:r>
              <a:rPr lang="en-US" dirty="0"/>
              <a:t> = 0V. Design a simple flash ADC converter. Use 3 bits for designing.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901882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040E7FD-DB66-2596-84A8-252BF0AA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9CA84C5-05B3-65BD-A683-2CCA36C189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Flash ADC design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FDDA890-1ADA-B03E-C408-6E5A62B26C0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76B05BB-2DA3-8117-76E4-171278EC32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F55F2F39-73E3-F64B-1A02-C38B7A900F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79F64FC-1387-848D-F0D9-463DF1C022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Suppose you have  a signal with Vmax = 10 V and </a:t>
                </a:r>
                <a:r>
                  <a:rPr lang="en-US" dirty="0" err="1"/>
                  <a:t>Vmin</a:t>
                </a:r>
                <a:r>
                  <a:rPr lang="en-US" dirty="0"/>
                  <a:t> = 0V. Design a simple flash ADC converter. Use 3 bits for designing. Provide your encoder truth table. </a:t>
                </a:r>
              </a:p>
              <a:p>
                <a:pPr marL="114300" indent="0">
                  <a:buNone/>
                </a:pPr>
                <a:r>
                  <a:rPr lang="en-US" dirty="0"/>
                  <a:t>Design:</a:t>
                </a:r>
              </a:p>
              <a:p>
                <a:pPr marL="114300" indent="0">
                  <a:buNone/>
                </a:pPr>
                <a:r>
                  <a:rPr lang="en-US" dirty="0"/>
                  <a:t>Here,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𝑟𝑒𝑔𝑖𝑠𝑡𝑜𝑟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 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𝑐𝑜𝑚𝑝𝑎𝑟𝑎𝑡𝑜𝑟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−1=7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𝑉𝑚𝑖𝑛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79F64FC-1387-848D-F0D9-463DF1C02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682487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8C2D7CB-F329-A74B-AD0B-292879F63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82BE51B-6A0E-9A81-C1DF-8AF5E3E169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43C9E99-DA64-DC4F-D64C-0C8D2040FF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8AADAB9-74C9-1BE7-7BC2-FBCB937070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C1E0185-E802-36B5-0B99-CD2F73E79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C9D48-A000-A3A4-2A39-F0119876A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959575"/>
            <a:ext cx="4948577" cy="518218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following is the Circuit of a 3 bits Flash ADC,</a:t>
            </a:r>
          </a:p>
          <a:p>
            <a:pPr marL="114300" indent="0">
              <a:buNone/>
            </a:pPr>
            <a:r>
              <a:rPr lang="en-US" b="1" dirty="0">
                <a:solidFill>
                  <a:srgbClr val="FF0000"/>
                </a:solidFill>
              </a:rPr>
              <a:t>V+ of the comparator is connected to the input.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D3A8AF-F7CF-11F0-5AAB-E9C1E474E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410" y="422786"/>
            <a:ext cx="6002895" cy="580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98562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DC02DE2-594F-ACC7-C5A5-F36FE2ED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9D8D6AC-CD6B-04E3-68F7-1BDF85DE6D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 Analysis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8689CCC-544B-E5ED-424F-5215E80DDF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B19B43F-04C7-FE7E-3625-1F707B3FC5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E4431A3-5FDA-C1F4-40A4-FDB860866A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E6ADA39-0F42-E290-4698-36557E941C0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42167"/>
                <a:ext cx="6462745" cy="5099591"/>
              </a:xfrm>
            </p:spPr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The following is the Circuit of a 3 bits Flash ADC,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10−0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=1.25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Similarly,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2=1.25+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	You can find other voltage in this way. 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E6ADA39-0F42-E290-4698-36557E941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42167"/>
                <a:ext cx="6462745" cy="509959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A874D3A-9F11-804C-F53D-99955C4D9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098" y="1633687"/>
            <a:ext cx="4805516" cy="472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407589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5390DB-9807-7A75-49AA-B4B62405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4EE0232-52FF-0E06-3480-AB517174C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 Analysis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04945E9-E274-4248-0B33-DF1416D982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16B761-1FB1-C840-5040-E04E359E15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48D6E4C-EBA1-9D3A-9DF5-48FEDB12F2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71E14-DC6A-58D9-A960-30896D799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42167"/>
            <a:ext cx="6462745" cy="509959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Summary table: 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1DA236-136B-A8F1-BE00-204E09720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398" y="827575"/>
            <a:ext cx="5407413" cy="531418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D430AD-513C-7B25-BB97-3CAB21B9A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506959"/>
              </p:ext>
            </p:extLst>
          </p:nvPr>
        </p:nvGraphicFramePr>
        <p:xfrm>
          <a:off x="400171" y="1687620"/>
          <a:ext cx="6334928" cy="391930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83732">
                  <a:extLst>
                    <a:ext uri="{9D8B030D-6E8A-4147-A177-3AD203B41FA5}">
                      <a16:colId xmlns:a16="http://schemas.microsoft.com/office/drawing/2014/main" val="3574067696"/>
                    </a:ext>
                  </a:extLst>
                </a:gridCol>
                <a:gridCol w="1583732">
                  <a:extLst>
                    <a:ext uri="{9D8B030D-6E8A-4147-A177-3AD203B41FA5}">
                      <a16:colId xmlns:a16="http://schemas.microsoft.com/office/drawing/2014/main" val="2219630699"/>
                    </a:ext>
                  </a:extLst>
                </a:gridCol>
                <a:gridCol w="1583732">
                  <a:extLst>
                    <a:ext uri="{9D8B030D-6E8A-4147-A177-3AD203B41FA5}">
                      <a16:colId xmlns:a16="http://schemas.microsoft.com/office/drawing/2014/main" val="3761038584"/>
                    </a:ext>
                  </a:extLst>
                </a:gridCol>
                <a:gridCol w="1583732">
                  <a:extLst>
                    <a:ext uri="{9D8B030D-6E8A-4147-A177-3AD203B41FA5}">
                      <a16:colId xmlns:a16="http://schemas.microsoft.com/office/drawing/2014/main" val="2418979318"/>
                    </a:ext>
                  </a:extLst>
                </a:gridCol>
              </a:tblGrid>
              <a:tr h="515513">
                <a:tc>
                  <a:txBody>
                    <a:bodyPr/>
                    <a:lstStyle/>
                    <a:p>
                      <a:r>
                        <a:rPr lang="en-US" dirty="0"/>
                        <a:t>Q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 level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I7I6I5I4I3I2I1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Binary (B2B1B0)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31173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0 -  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000 000 0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230428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1.25  - 2.5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000 000 1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801613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2.5  - 3.75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000 001 1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787647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3.75 –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000 011 1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90638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5 – 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823038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6.25 – 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20161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7.5 – 8.75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378875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r>
                        <a:rPr lang="en-US" dirty="0"/>
                        <a:t>8.75 - 10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44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364682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5390DB-9807-7A75-49AA-B4B62405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4EE0232-52FF-0E06-3480-AB517174C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 Analysis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04945E9-E274-4248-0B33-DF1416D982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16B761-1FB1-C840-5040-E04E359E15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48D6E4C-EBA1-9D3A-9DF5-48FEDB12F2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71E14-DC6A-58D9-A960-30896D799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42167"/>
            <a:ext cx="6462745" cy="509959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Encoder Truth Table:</a:t>
            </a:r>
          </a:p>
          <a:p>
            <a:pPr marL="114300" indent="0">
              <a:buNone/>
            </a:pPr>
            <a:r>
              <a:rPr lang="en-US" b="1" dirty="0"/>
              <a:t>( </a:t>
            </a:r>
            <a:r>
              <a:rPr lang="en-US" b="1" dirty="0">
                <a:solidFill>
                  <a:srgbClr val="FF0000"/>
                </a:solidFill>
              </a:rPr>
              <a:t>V+ of the comparator is connected to the Input </a:t>
            </a:r>
            <a:r>
              <a:rPr lang="en-US" b="1" dirty="0"/>
              <a:t>)</a:t>
            </a:r>
          </a:p>
          <a:p>
            <a:pPr marL="114300" indent="0">
              <a:buNone/>
            </a:pPr>
            <a:r>
              <a:rPr lang="en-US" dirty="0"/>
              <a:t>Encoder can be implemented using</a:t>
            </a:r>
          </a:p>
          <a:p>
            <a:pPr marL="114300" indent="0">
              <a:buNone/>
            </a:pPr>
            <a:r>
              <a:rPr lang="en-US" dirty="0"/>
              <a:t>the combinational network.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D430AD-513C-7B25-BB97-3CAB21B9A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118126"/>
              </p:ext>
            </p:extLst>
          </p:nvPr>
        </p:nvGraphicFramePr>
        <p:xfrm>
          <a:off x="6080636" y="1607398"/>
          <a:ext cx="4222630" cy="381622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111315">
                  <a:extLst>
                    <a:ext uri="{9D8B030D-6E8A-4147-A177-3AD203B41FA5}">
                      <a16:colId xmlns:a16="http://schemas.microsoft.com/office/drawing/2014/main" val="3761038584"/>
                    </a:ext>
                  </a:extLst>
                </a:gridCol>
                <a:gridCol w="2111315">
                  <a:extLst>
                    <a:ext uri="{9D8B030D-6E8A-4147-A177-3AD203B41FA5}">
                      <a16:colId xmlns:a16="http://schemas.microsoft.com/office/drawing/2014/main" val="2418979318"/>
                    </a:ext>
                  </a:extLst>
                </a:gridCol>
              </a:tblGrid>
              <a:tr h="5019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I7I6I5I4I3I2I1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 (B2B1B0)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31173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000 000 0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23042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000 000 1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801613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000 001 1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787647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000 011 1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9063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82303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20161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378875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111 111 1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44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526714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5390DB-9807-7A75-49AA-B4B62405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4EE0232-52FF-0E06-3480-AB517174C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 Analysis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04945E9-E274-4248-0B33-DF1416D982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236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16B761-1FB1-C840-5040-E04E359E15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48D6E4C-EBA1-9D3A-9DF5-48FEDB12F2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71E14-DC6A-58D9-A960-30896D799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42167"/>
            <a:ext cx="5479929" cy="500303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Encoder Truth Table:</a:t>
            </a:r>
          </a:p>
          <a:p>
            <a:pPr marL="114300" indent="0">
              <a:buNone/>
            </a:pPr>
            <a:r>
              <a:rPr lang="en-US" b="1" dirty="0"/>
              <a:t>( </a:t>
            </a:r>
            <a:r>
              <a:rPr lang="en-US" b="1" dirty="0">
                <a:solidFill>
                  <a:srgbClr val="FF0000"/>
                </a:solidFill>
              </a:rPr>
              <a:t>V- of the comparator is connected to the Input </a:t>
            </a:r>
            <a:r>
              <a:rPr lang="en-US" b="1" dirty="0"/>
              <a:t>)</a:t>
            </a:r>
          </a:p>
          <a:p>
            <a:pPr marL="114300" indent="0">
              <a:buNone/>
            </a:pPr>
            <a:r>
              <a:rPr lang="en-US" dirty="0"/>
              <a:t>Encoder can be implemented using</a:t>
            </a:r>
          </a:p>
          <a:p>
            <a:pPr marL="114300" indent="0">
              <a:buNone/>
            </a:pPr>
            <a:r>
              <a:rPr lang="en-US" dirty="0"/>
              <a:t>the combinational network.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D430AD-513C-7B25-BB97-3CAB21B9A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91423"/>
              </p:ext>
            </p:extLst>
          </p:nvPr>
        </p:nvGraphicFramePr>
        <p:xfrm>
          <a:off x="6080636" y="1607398"/>
          <a:ext cx="4222630" cy="381622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111315">
                  <a:extLst>
                    <a:ext uri="{9D8B030D-6E8A-4147-A177-3AD203B41FA5}">
                      <a16:colId xmlns:a16="http://schemas.microsoft.com/office/drawing/2014/main" val="3761038584"/>
                    </a:ext>
                  </a:extLst>
                </a:gridCol>
                <a:gridCol w="2111315">
                  <a:extLst>
                    <a:ext uri="{9D8B030D-6E8A-4147-A177-3AD203B41FA5}">
                      <a16:colId xmlns:a16="http://schemas.microsoft.com/office/drawing/2014/main" val="2418979318"/>
                    </a:ext>
                  </a:extLst>
                </a:gridCol>
              </a:tblGrid>
              <a:tr h="5019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I7I6I5I4I3I2I1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 (B2B1B0)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31173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  <a:r>
                        <a:rPr lang="en-US" baseline="0" dirty="0"/>
                        <a:t> 111 1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23042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  <a:r>
                        <a:rPr lang="en-US" baseline="0" dirty="0"/>
                        <a:t> 111 0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801613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111 110 0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787647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111 100 0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9063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111 000 0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823038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110 000 0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20161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1 000 000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378875"/>
                  </a:ext>
                </a:extLst>
              </a:tr>
              <a:tr h="414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000 000 0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44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13371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5390DB-9807-7A75-49AA-B4B62405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4EE0232-52FF-0E06-3480-AB517174C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Problem: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04945E9-E274-4248-0B33-DF1416D982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236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16B761-1FB1-C840-5040-E04E359E15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48D6E4C-EBA1-9D3A-9DF5-48FEDB12F2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F71E14-DC6A-58D9-A960-30896D79905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07370" y="990191"/>
                <a:ext cx="5479929" cy="5003033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Make a table with Quantization Range, Quantization Level and Binary values for the given ADC circuit. </a:t>
                </a:r>
              </a:p>
              <a:p>
                <a:pPr marL="114300" indent="0">
                  <a:buNone/>
                </a:pPr>
                <a:r>
                  <a:rPr lang="en-US" dirty="0"/>
                  <a:t>What will be the final output if the input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=2.125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[ VREF = 12 V ]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F71E14-DC6A-58D9-A960-30896D7990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07370" y="990191"/>
                <a:ext cx="5479929" cy="5003033"/>
              </a:xfrm>
              <a:blipFill>
                <a:blip r:embed="rId4"/>
                <a:stretch>
                  <a:fillRect l="-222" r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299" y="482948"/>
            <a:ext cx="4294555" cy="6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8337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3468</TotalTime>
  <Words>1038</Words>
  <Application>Microsoft Office PowerPoint</Application>
  <PresentationFormat>Widescreen</PresentationFormat>
  <Paragraphs>237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Wingdings</vt:lpstr>
      <vt:lpstr>Office Theme</vt:lpstr>
      <vt:lpstr>CSE 350 Digital Electronics and Pulse Techniques </vt:lpstr>
      <vt:lpstr>Analog to Digital Converter (ADC)</vt:lpstr>
      <vt:lpstr>Analog to Digital Converter (ADC)</vt:lpstr>
      <vt:lpstr>A/D conversion process</vt:lpstr>
      <vt:lpstr>Sample and Hold Circuit</vt:lpstr>
      <vt:lpstr>Quantization:</vt:lpstr>
      <vt:lpstr>Midrise Quantization:</vt:lpstr>
      <vt:lpstr>Mid tread Quantization ( Not symmetrical and Equally Spaced)</vt:lpstr>
      <vt:lpstr>Encoding</vt:lpstr>
      <vt:lpstr>Quantization Range, Level, code</vt:lpstr>
      <vt:lpstr>Quantization Range, Level, code</vt:lpstr>
      <vt:lpstr>Quantization Range, Level, code</vt:lpstr>
      <vt:lpstr>Flash A/D converter</vt:lpstr>
      <vt:lpstr>Op-Amp </vt:lpstr>
      <vt:lpstr>Flash ADC design </vt:lpstr>
      <vt:lpstr>Flash ADC design </vt:lpstr>
      <vt:lpstr>Circuit</vt:lpstr>
      <vt:lpstr>Circuit Analysis</vt:lpstr>
      <vt:lpstr>Circuit Analysis</vt:lpstr>
      <vt:lpstr>Circuit Analysis</vt:lpstr>
      <vt:lpstr>Circuit Analysis</vt:lpstr>
      <vt:lpstr>Problem: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350 Digital Electronics and Pulse Techniques </dc:title>
  <dc:creator>nazmul turjo</dc:creator>
  <cp:lastModifiedBy>USER</cp:lastModifiedBy>
  <cp:revision>39</cp:revision>
  <dcterms:created xsi:type="dcterms:W3CDTF">2021-07-10T07:14:46Z</dcterms:created>
  <dcterms:modified xsi:type="dcterms:W3CDTF">2025-01-06T19:43:49Z</dcterms:modified>
</cp:coreProperties>
</file>