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2"/>
  </p:notesMasterIdLst>
  <p:sldIdLst>
    <p:sldId id="256" r:id="rId2"/>
    <p:sldId id="257" r:id="rId3"/>
    <p:sldId id="273" r:id="rId4"/>
    <p:sldId id="272" r:id="rId5"/>
    <p:sldId id="274" r:id="rId6"/>
    <p:sldId id="275" r:id="rId7"/>
    <p:sldId id="276" r:id="rId8"/>
    <p:sldId id="277" r:id="rId9"/>
    <p:sldId id="278" r:id="rId10"/>
    <p:sldId id="279" r:id="rId11"/>
    <p:sldId id="280" r:id="rId12"/>
    <p:sldId id="282" r:id="rId13"/>
    <p:sldId id="284" r:id="rId14"/>
    <p:sldId id="281" r:id="rId15"/>
    <p:sldId id="283" r:id="rId16"/>
    <p:sldId id="285" r:id="rId17"/>
    <p:sldId id="286" r:id="rId18"/>
    <p:sldId id="287" r:id="rId19"/>
    <p:sldId id="288" r:id="rId20"/>
    <p:sldId id="289" r:id="rId21"/>
    <p:sldId id="291" r:id="rId22"/>
    <p:sldId id="292" r:id="rId23"/>
    <p:sldId id="290" r:id="rId24"/>
    <p:sldId id="294" r:id="rId25"/>
    <p:sldId id="293" r:id="rId26"/>
    <p:sldId id="295" r:id="rId27"/>
    <p:sldId id="296" r:id="rId28"/>
    <p:sldId id="298" r:id="rId29"/>
    <p:sldId id="266" r:id="rId30"/>
    <p:sldId id="299" r:id="rId3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gOP7mpHQ9vA4PFHviNNnNqE8hH7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6FA7CD0-2ED7-4127-A139-062385FC596B}">
  <a:tblStyle styleId="{E6FA7CD0-2ED7-4127-A139-062385FC596B}"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12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072702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630022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98832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69175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481683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584008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672821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200287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318391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701276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224673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172976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892159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8AC44CBA-494D-33D3-6122-8093EB204954}"/>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97261734-1E2F-C5A1-D108-B7D2E0B41DB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93B7060E-7262-14A1-0677-BF3A3C8A31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864712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B04809DC-3CD3-D6C9-DF1A-ADC84D28B702}"/>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A5E1BC18-92AC-DB99-0CD2-41522FB46E2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B5784280-F03F-FA0F-59B0-6F925A0A558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445922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E50D8784-8F68-49A9-5B2B-6F0055D5AC06}"/>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2DA4A146-A833-3590-AB51-5E43BB78A01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824506D1-D60D-196C-4AD5-436F35B0A9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144511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82125B59-590F-8EB4-A83C-22D7283157FA}"/>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D0FB7AC7-D047-F1D8-E0FA-AB91EBEABF1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DCFB0EC1-81F4-90A7-BB4F-05BBF3768C2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947127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C26F5299-605D-FDAF-E5E9-2F66ECE7DB85}"/>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3401B16F-E8AD-8640-E407-30DD9199A4A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EF17DA22-63DC-23DB-505B-5145E5846FF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813009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D165D666-4E36-CA74-0DD8-98DAF98DDC12}"/>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2306C005-92F9-97B9-D1FC-AE55A1EE1A0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30A28FB7-7E1F-8AF9-BA3C-3D6ABEDB4EC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805596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36E5A515-04B0-1229-9A2F-5561F4D05B32}"/>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A416B220-3AF3-522C-7E63-A2620C19B0F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0617CDF8-B74D-F435-1B15-D79F431D80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57926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8D311B64-FD78-3721-2F47-71CB5C2DEA68}"/>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83334D7D-2547-80F2-F1F4-F86E9EBA9B0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4A3CA8FE-1A51-5D99-1C9E-603D98F7B74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545694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A2302E19-00B0-ECAD-328E-CF0CC430E9BD}"/>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85785CBF-C2ED-89AE-EA22-E4D1371E1CC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E7144D54-BEDD-F55B-61BB-E4C4D65717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677297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8BAAF243-D045-106B-6A27-A1F3ABF14243}"/>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DFE61257-851C-A4E7-2C18-7203D2AA67E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BFC70040-CAF6-B698-369E-7BA8B831EA2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595270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AC4788F2-FC5E-CE09-9F64-F73317C8DA28}"/>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DCCBB2D7-11FF-EAF5-6D80-23C0A02B4C4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FABED448-82E3-0C36-068B-F544B0A4BF6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278660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10D96D56-A928-6ED4-D71F-FCCF3CEFF3CC}"/>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7483AE20-B114-8938-ECE2-87CA911AAA1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F5419B96-C54A-06F9-DABA-5BC40FEB734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461241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A519CE03-EECE-4C5F-2FA5-A8DCBE4719EB}"/>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F2DC553A-277A-D3CE-FCD3-728619D5364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7A206F52-2AB0-96B5-980F-A6BFCEE6C82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25693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2fcac59404f_1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2fcac59404f_1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ED1208E4-A968-0E04-4109-B91D7FE2E0A4}"/>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6C135FF1-898B-324C-5B9A-D8EE41D1E3F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a:extLst>
              <a:ext uri="{FF2B5EF4-FFF2-40B4-BE49-F238E27FC236}">
                <a16:creationId xmlns:a16="http://schemas.microsoft.com/office/drawing/2014/main" id="{A9AF4740-9FBC-0DA8-3545-327DD6258AB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108387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3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2"/>
          <p:cNvSpPr>
            <a:spLocks noGrp="1"/>
          </p:cNvSpPr>
          <p:nvPr>
            <p:ph type="pic" idx="2"/>
          </p:nvPr>
        </p:nvSpPr>
        <p:spPr>
          <a:xfrm>
            <a:off x="5183188" y="987425"/>
            <a:ext cx="6172200" cy="4873625"/>
          </a:xfrm>
          <a:prstGeom prst="rect">
            <a:avLst/>
          </a:prstGeom>
          <a:noFill/>
          <a:ln>
            <a:noFill/>
          </a:ln>
        </p:spPr>
      </p:sp>
      <p:sp>
        <p:nvSpPr>
          <p:cNvPr id="68" name="Google Shape;68;p3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4"/>
        <p:cNvGrpSpPr/>
        <p:nvPr/>
      </p:nvGrpSpPr>
      <p:grpSpPr>
        <a:xfrm>
          <a:off x="0" y="0"/>
          <a:ext cx="0" cy="0"/>
          <a:chOff x="0" y="0"/>
          <a:chExt cx="0" cy="0"/>
        </a:xfrm>
      </p:grpSpPr>
      <p:sp>
        <p:nvSpPr>
          <p:cNvPr id="25" name="Google Shape;25;p4"/>
          <p:cNvSpPr txBox="1">
            <a:spLocks noGrp="1"/>
          </p:cNvSpPr>
          <p:nvPr>
            <p:ph type="title"/>
          </p:nvPr>
        </p:nvSpPr>
        <p:spPr>
          <a:xfrm>
            <a:off x="415600" y="421233"/>
            <a:ext cx="11360800" cy="11084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6" name="Google Shape;26;p4"/>
          <p:cNvSpPr txBox="1">
            <a:spLocks noGrp="1"/>
          </p:cNvSpPr>
          <p:nvPr>
            <p:ph type="body" idx="1"/>
          </p:nvPr>
        </p:nvSpPr>
        <p:spPr>
          <a:xfrm>
            <a:off x="415600" y="1633633"/>
            <a:ext cx="11360800" cy="44720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27" name="Google Shape;27;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8330753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mailto:shomen.kundu@bracu.ac.bd"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1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489586" y="1062258"/>
            <a:ext cx="9591369" cy="2079511"/>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accent1"/>
              </a:buClr>
              <a:buSzPct val="100000"/>
              <a:buFont typeface="Times New Roman"/>
              <a:buNone/>
            </a:pPr>
            <a:r>
              <a:rPr lang="en-US" dirty="0">
                <a:solidFill>
                  <a:schemeClr val="accent1"/>
                </a:solidFill>
                <a:latin typeface="Times New Roman"/>
                <a:ea typeface="Times New Roman"/>
                <a:cs typeface="Times New Roman"/>
                <a:sym typeface="Times New Roman"/>
              </a:rPr>
              <a:t>CSE 350</a:t>
            </a:r>
            <a:br>
              <a:rPr lang="en-US" dirty="0">
                <a:solidFill>
                  <a:schemeClr val="accent1"/>
                </a:solidFill>
                <a:latin typeface="Times New Roman"/>
                <a:ea typeface="Times New Roman"/>
                <a:cs typeface="Times New Roman"/>
                <a:sym typeface="Times New Roman"/>
              </a:rPr>
            </a:br>
            <a:r>
              <a:rPr lang="en-US" sz="4900" dirty="0">
                <a:solidFill>
                  <a:schemeClr val="accent1"/>
                </a:solidFill>
                <a:latin typeface="Times New Roman"/>
                <a:ea typeface="Times New Roman"/>
                <a:cs typeface="Times New Roman"/>
                <a:sym typeface="Times New Roman"/>
              </a:rPr>
              <a:t>Digital Electronics and Pulse Techniques</a:t>
            </a:r>
            <a:br>
              <a:rPr lang="en-US" dirty="0">
                <a:solidFill>
                  <a:schemeClr val="accent1"/>
                </a:solidFill>
                <a:latin typeface="Times New Roman"/>
                <a:ea typeface="Times New Roman"/>
                <a:cs typeface="Times New Roman"/>
                <a:sym typeface="Times New Roman"/>
              </a:rPr>
            </a:br>
            <a:endParaRPr dirty="0">
              <a:solidFill>
                <a:schemeClr val="accent1"/>
              </a:solidFill>
              <a:latin typeface="Times New Roman"/>
              <a:ea typeface="Times New Roman"/>
              <a:cs typeface="Times New Roman"/>
              <a:sym typeface="Times New Roman"/>
            </a:endParaRPr>
          </a:p>
        </p:txBody>
      </p:sp>
      <p:sp>
        <p:nvSpPr>
          <p:cNvPr id="90" name="Google Shape;9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pic>
        <p:nvPicPr>
          <p:cNvPr id="91" name="Google Shape;91;p1"/>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93" name="Google Shape;93;p1"/>
          <p:cNvSpPr txBox="1">
            <a:spLocks noGrp="1"/>
          </p:cNvSpPr>
          <p:nvPr>
            <p:ph type="ftr" idx="11"/>
          </p:nvPr>
        </p:nvSpPr>
        <p:spPr>
          <a:xfrm>
            <a:off x="3812458" y="6370894"/>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 </a:t>
            </a:r>
            <a:endParaRPr dirty="0"/>
          </a:p>
        </p:txBody>
      </p:sp>
      <p:sp>
        <p:nvSpPr>
          <p:cNvPr id="6" name="TextBox 5">
            <a:extLst>
              <a:ext uri="{FF2B5EF4-FFF2-40B4-BE49-F238E27FC236}">
                <a16:creationId xmlns:a16="http://schemas.microsoft.com/office/drawing/2014/main" id="{0BB9027C-F46D-D7E5-E069-4A9CC055C3AC}"/>
              </a:ext>
            </a:extLst>
          </p:cNvPr>
          <p:cNvSpPr txBox="1"/>
          <p:nvPr/>
        </p:nvSpPr>
        <p:spPr>
          <a:xfrm>
            <a:off x="2344993" y="3516177"/>
            <a:ext cx="7502013" cy="1200329"/>
          </a:xfrm>
          <a:prstGeom prst="rect">
            <a:avLst/>
          </a:prstGeom>
          <a:noFill/>
        </p:spPr>
        <p:txBody>
          <a:bodyPr wrap="square" rtlCol="0">
            <a:spAutoFit/>
          </a:bodyPr>
          <a:lstStyle/>
          <a:p>
            <a:r>
              <a:rPr lang="en-US" sz="2400" dirty="0"/>
              <a:t>Pre-requisite: </a:t>
            </a:r>
          </a:p>
          <a:p>
            <a:r>
              <a:rPr lang="en-US" sz="2400" dirty="0"/>
              <a:t>CSE 251 : Electronic Devices and Circuits, </a:t>
            </a:r>
          </a:p>
          <a:p>
            <a:r>
              <a:rPr lang="en-US" sz="2400" dirty="0"/>
              <a:t>CSE 260 : Digital Logic Design</a:t>
            </a: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latin typeface="Times New Roman"/>
                <a:ea typeface="Times New Roman"/>
                <a:cs typeface="Times New Roman"/>
                <a:sym typeface="Times New Roman"/>
              </a:rPr>
              <a:t>Course Instructor </a:t>
            </a:r>
            <a:endParaRPr dirty="0">
              <a:solidFill>
                <a:schemeClr val="accent1"/>
              </a:solidFill>
            </a:endParaRPr>
          </a:p>
        </p:txBody>
      </p:sp>
      <p:sp>
        <p:nvSpPr>
          <p:cNvPr id="100" name="Google Shape;100;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pic>
        <p:nvPicPr>
          <p:cNvPr id="102" name="Google Shape;102;p2"/>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2575CFF9-CB9A-83E0-36F1-918A93FAF16A}"/>
              </a:ext>
            </a:extLst>
          </p:cNvPr>
          <p:cNvSpPr>
            <a:spLocks noGrp="1"/>
          </p:cNvSpPr>
          <p:nvPr>
            <p:ph type="body" idx="1"/>
          </p:nvPr>
        </p:nvSpPr>
        <p:spPr/>
        <p:txBody>
          <a:bodyPr/>
          <a:lstStyle/>
          <a:p>
            <a:pPr marL="114300" indent="0">
              <a:buNone/>
            </a:pPr>
            <a:endParaRPr lang="en-US" dirty="0"/>
          </a:p>
          <a:p>
            <a:pPr marL="114300" indent="0">
              <a:buNone/>
            </a:pPr>
            <a:r>
              <a:rPr lang="en-US" dirty="0"/>
              <a:t>Name: </a:t>
            </a:r>
            <a:r>
              <a:rPr lang="en-US" dirty="0" err="1"/>
              <a:t>Shomen</a:t>
            </a:r>
            <a:r>
              <a:rPr lang="en-US" dirty="0"/>
              <a:t> Kundu (SDU)</a:t>
            </a:r>
          </a:p>
          <a:p>
            <a:pPr marL="114300" indent="0">
              <a:buNone/>
            </a:pPr>
            <a:endParaRPr lang="en-US" dirty="0"/>
          </a:p>
          <a:p>
            <a:pPr marL="114300" indent="0">
              <a:buNone/>
            </a:pPr>
            <a:r>
              <a:rPr lang="en-US" dirty="0"/>
              <a:t>Mail: </a:t>
            </a:r>
            <a:r>
              <a:rPr lang="en-US" dirty="0">
                <a:hlinkClick r:id="rId4"/>
              </a:rPr>
              <a:t>shomen.kundu@bracu.ac.bd</a:t>
            </a:r>
            <a:endParaRPr lang="en-US" dirty="0"/>
          </a:p>
          <a:p>
            <a:pPr marL="114300" indent="0">
              <a:buNone/>
            </a:pPr>
            <a:endParaRPr lang="en-US" dirty="0"/>
          </a:p>
          <a:p>
            <a:pPr marL="114300" indent="0">
              <a:buNone/>
            </a:pPr>
            <a:r>
              <a:rPr lang="en-US" dirty="0"/>
              <a:t>Desk: 4N166</a:t>
            </a: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latin typeface="Times New Roman"/>
                <a:ea typeface="Times New Roman"/>
                <a:cs typeface="Times New Roman"/>
                <a:sym typeface="Times New Roman"/>
              </a:rPr>
              <a:t>Marks Distribution</a:t>
            </a:r>
            <a:endParaRPr dirty="0">
              <a:solidFill>
                <a:schemeClr val="accent1"/>
              </a:solidFill>
            </a:endParaRPr>
          </a:p>
        </p:txBody>
      </p:sp>
      <p:sp>
        <p:nvSpPr>
          <p:cNvPr id="100" name="Google Shape;100;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pic>
        <p:nvPicPr>
          <p:cNvPr id="102" name="Google Shape;102;p2"/>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2575CFF9-CB9A-83E0-36F1-918A93FAF16A}"/>
              </a:ext>
            </a:extLst>
          </p:cNvPr>
          <p:cNvSpPr>
            <a:spLocks noGrp="1"/>
          </p:cNvSpPr>
          <p:nvPr>
            <p:ph type="body" idx="1"/>
          </p:nvPr>
        </p:nvSpPr>
        <p:spPr/>
        <p:txBody>
          <a:bodyPr/>
          <a:lstStyle/>
          <a:p>
            <a:pPr marL="114300" indent="0">
              <a:buNone/>
            </a:pPr>
            <a:r>
              <a:rPr lang="en-US" dirty="0"/>
              <a:t>Attendance 	:   0   ( Required greater than 70 %)</a:t>
            </a:r>
          </a:p>
          <a:p>
            <a:pPr marL="114300" indent="0">
              <a:buNone/>
            </a:pPr>
            <a:r>
              <a:rPr lang="en-US" dirty="0"/>
              <a:t>Homework (BUX)	:   10</a:t>
            </a:r>
          </a:p>
          <a:p>
            <a:pPr marL="114300" indent="0">
              <a:buNone/>
            </a:pPr>
            <a:r>
              <a:rPr lang="en-US" dirty="0"/>
              <a:t>Quiz			:   20</a:t>
            </a:r>
          </a:p>
          <a:p>
            <a:pPr marL="114300" indent="0">
              <a:buNone/>
            </a:pPr>
            <a:r>
              <a:rPr lang="en-US" dirty="0"/>
              <a:t>Lab 			:   20</a:t>
            </a:r>
          </a:p>
          <a:p>
            <a:pPr marL="114300" indent="0">
              <a:buNone/>
            </a:pPr>
            <a:r>
              <a:rPr lang="en-US" dirty="0"/>
              <a:t>Midterm		:   20</a:t>
            </a:r>
          </a:p>
          <a:p>
            <a:pPr marL="114300" indent="0">
              <a:buNone/>
            </a:pPr>
            <a:r>
              <a:rPr lang="en-US" dirty="0"/>
              <a:t>Final 			:   30 </a:t>
            </a:r>
          </a:p>
          <a:p>
            <a:pPr marL="114300" indent="0">
              <a:buNone/>
            </a:pPr>
            <a:r>
              <a:rPr lang="en-US" dirty="0"/>
              <a:t>_____________________</a:t>
            </a:r>
          </a:p>
          <a:p>
            <a:pPr marL="114300" indent="0">
              <a:buNone/>
            </a:pPr>
            <a:r>
              <a:rPr lang="en-US" dirty="0"/>
              <a:t>Total 		: 100  </a:t>
            </a:r>
          </a:p>
        </p:txBody>
      </p:sp>
    </p:spTree>
    <p:extLst>
      <p:ext uri="{BB962C8B-B14F-4D97-AF65-F5344CB8AC3E}">
        <p14:creationId xmlns:p14="http://schemas.microsoft.com/office/powerpoint/2010/main" val="3190581717"/>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838199" y="365125"/>
            <a:ext cx="10872537" cy="128111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accent1"/>
              </a:buClr>
              <a:buSzPts val="4400"/>
              <a:buFont typeface="Times New Roman"/>
              <a:buNone/>
            </a:pPr>
            <a:r>
              <a:rPr lang="en-US" b="1" i="0" dirty="0">
                <a:solidFill>
                  <a:schemeClr val="accent1"/>
                </a:solidFill>
                <a:effectLst/>
                <a:latin typeface="avenirltstd-roman"/>
              </a:rPr>
              <a:t>CSE 350: Digital Electronics and Pulse Techniques (3 Credits)</a:t>
            </a:r>
            <a:endParaRPr dirty="0">
              <a:solidFill>
                <a:schemeClr val="accent1"/>
              </a:solidFill>
            </a:endParaRPr>
          </a:p>
        </p:txBody>
      </p:sp>
      <p:sp>
        <p:nvSpPr>
          <p:cNvPr id="100" name="Google Shape;100;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pic>
        <p:nvPicPr>
          <p:cNvPr id="102" name="Google Shape;102;p2"/>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2575CFF9-CB9A-83E0-36F1-918A93FAF16A}"/>
              </a:ext>
            </a:extLst>
          </p:cNvPr>
          <p:cNvSpPr>
            <a:spLocks noGrp="1"/>
          </p:cNvSpPr>
          <p:nvPr>
            <p:ph type="body" idx="1"/>
          </p:nvPr>
        </p:nvSpPr>
        <p:spPr>
          <a:xfrm>
            <a:off x="838200" y="1825625"/>
            <a:ext cx="10872536" cy="4093912"/>
          </a:xfrm>
        </p:spPr>
        <p:txBody>
          <a:bodyPr>
            <a:normAutofit fontScale="77500" lnSpcReduction="20000"/>
          </a:bodyPr>
          <a:lstStyle/>
          <a:p>
            <a:pPr marL="114300" indent="0" algn="l">
              <a:buNone/>
            </a:pPr>
            <a:br>
              <a:rPr lang="en-US" b="0" i="0" dirty="0">
                <a:solidFill>
                  <a:srgbClr val="444444"/>
                </a:solidFill>
                <a:effectLst/>
                <a:latin typeface="avenirltstd-roman"/>
              </a:rPr>
            </a:br>
            <a:r>
              <a:rPr lang="en-US" b="0" i="0" dirty="0">
                <a:solidFill>
                  <a:srgbClr val="444444"/>
                </a:solidFill>
                <a:effectLst/>
                <a:latin typeface="avenirltstd-roman"/>
              </a:rPr>
              <a:t>Diode logic gates, transistor switches, transistor gates, MOS gates, Logic families: TTL, ECL, IIL and CMOS logic with operation details. Propagation delay, product and noise immunity. Open collector and High impedance gates. Electronic circuits for flip flops, counters and register, memory systems. PLA's (A/D, D/A converters with applications, S/H circuits) LED, LCD and optically coupled oscillators. Non-linear applications of OPAMPs. Analog switches. Linear wave shaping: diode wave shaping techniques, clipping and clamping circuits, comparator circuits, switching circuits. Pulse transformers, pulse transmission. Pulse </a:t>
            </a:r>
            <a:r>
              <a:rPr lang="en-US" b="0" i="0" dirty="0" err="1">
                <a:solidFill>
                  <a:srgbClr val="444444"/>
                </a:solidFill>
                <a:effectLst/>
                <a:latin typeface="avenirltstd-roman"/>
              </a:rPr>
              <a:t>generation:monostable</a:t>
            </a:r>
            <a:r>
              <a:rPr lang="en-US" b="0" i="0" dirty="0">
                <a:solidFill>
                  <a:srgbClr val="444444"/>
                </a:solidFill>
                <a:effectLst/>
                <a:latin typeface="avenirltstd-roman"/>
              </a:rPr>
              <a:t>, bistable and stable </a:t>
            </a:r>
            <a:r>
              <a:rPr lang="en-US" b="0" i="0" dirty="0" err="1">
                <a:solidFill>
                  <a:srgbClr val="444444"/>
                </a:solidFill>
                <a:effectLst/>
                <a:latin typeface="avenirltstd-roman"/>
              </a:rPr>
              <a:t>multivibrations</a:t>
            </a:r>
            <a:r>
              <a:rPr lang="en-US" b="0" i="0" dirty="0">
                <a:solidFill>
                  <a:srgbClr val="444444"/>
                </a:solidFill>
                <a:effectLst/>
                <a:latin typeface="avenirltstd-roman"/>
              </a:rPr>
              <a:t>, Timing circuits. Simple voltage sweeps, linear circuit sweeps. </a:t>
            </a:r>
            <a:r>
              <a:rPr lang="en-US" b="0" i="0" dirty="0" err="1">
                <a:solidFill>
                  <a:srgbClr val="444444"/>
                </a:solidFill>
                <a:effectLst/>
                <a:latin typeface="avenirltstd-roman"/>
              </a:rPr>
              <a:t>Schmitrigger</a:t>
            </a:r>
            <a:r>
              <a:rPr lang="en-US" b="0" i="0" dirty="0">
                <a:solidFill>
                  <a:srgbClr val="444444"/>
                </a:solidFill>
                <a:effectLst/>
                <a:latin typeface="avenirltstd-roman"/>
              </a:rPr>
              <a:t>, blocking oscillators and time base circuit. The course includes a compulsory 3 hour laboratory work each week.</a:t>
            </a:r>
            <a:br>
              <a:rPr lang="en-US" b="0" i="0" dirty="0">
                <a:solidFill>
                  <a:srgbClr val="444444"/>
                </a:solidFill>
                <a:effectLst/>
                <a:latin typeface="avenirltstd-roman"/>
              </a:rPr>
            </a:br>
            <a:r>
              <a:rPr lang="en-US" b="0" i="0" dirty="0">
                <a:solidFill>
                  <a:srgbClr val="444444"/>
                </a:solidFill>
                <a:effectLst/>
                <a:latin typeface="avenirltstd-roman"/>
              </a:rPr>
              <a:t>(Pre req. CSE 251, CSE 260)</a:t>
            </a:r>
          </a:p>
          <a:p>
            <a:pPr marL="114300" indent="0" algn="l">
              <a:buNone/>
            </a:pPr>
            <a:r>
              <a:rPr lang="en-US" b="0" i="0" dirty="0">
                <a:solidFill>
                  <a:srgbClr val="444444"/>
                </a:solidFill>
                <a:effectLst/>
                <a:latin typeface="avenirltstd-roman"/>
              </a:rPr>
              <a:t>Suggested Books:</a:t>
            </a:r>
            <a:br>
              <a:rPr lang="en-US" b="0" i="0" dirty="0">
                <a:solidFill>
                  <a:srgbClr val="444444"/>
                </a:solidFill>
                <a:effectLst/>
                <a:latin typeface="avenirltstd-roman"/>
              </a:rPr>
            </a:br>
            <a:r>
              <a:rPr lang="en-US" b="0" i="0" dirty="0">
                <a:solidFill>
                  <a:srgbClr val="444444"/>
                </a:solidFill>
                <a:effectLst/>
                <a:latin typeface="avenirltstd-roman"/>
              </a:rPr>
              <a:t>1. Jacob Millman," Microelectronics: Digital and Analog Circuits and Systems", McGraw-Hill, 1979.</a:t>
            </a:r>
          </a:p>
          <a:p>
            <a:pPr marL="114300" indent="0">
              <a:buNone/>
            </a:pPr>
            <a:endParaRPr lang="en-US" dirty="0"/>
          </a:p>
        </p:txBody>
      </p:sp>
    </p:spTree>
    <p:extLst>
      <p:ext uri="{BB962C8B-B14F-4D97-AF65-F5344CB8AC3E}">
        <p14:creationId xmlns:p14="http://schemas.microsoft.com/office/powerpoint/2010/main" val="2345240549"/>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Course Content</a:t>
            </a:r>
            <a:endParaRPr dirty="0">
              <a:solidFill>
                <a:schemeClr val="accent1"/>
              </a:solidFill>
            </a:endParaRPr>
          </a:p>
        </p:txBody>
      </p:sp>
      <p:sp>
        <p:nvSpPr>
          <p:cNvPr id="100" name="Google Shape;100;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pic>
        <p:nvPicPr>
          <p:cNvPr id="102" name="Google Shape;102;p2"/>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2575CFF9-CB9A-83E0-36F1-918A93FAF16A}"/>
              </a:ext>
            </a:extLst>
          </p:cNvPr>
          <p:cNvSpPr>
            <a:spLocks noGrp="1"/>
          </p:cNvSpPr>
          <p:nvPr>
            <p:ph type="body" idx="1"/>
          </p:nvPr>
        </p:nvSpPr>
        <p:spPr/>
        <p:txBody>
          <a:bodyPr/>
          <a:lstStyle/>
          <a:p>
            <a:pPr marL="114300" indent="0">
              <a:buNone/>
            </a:pPr>
            <a:r>
              <a:rPr lang="en-US" dirty="0"/>
              <a:t>1.  Digital Electronics ( 70 % )</a:t>
            </a:r>
          </a:p>
          <a:p>
            <a:pPr marL="571500" lvl="1" indent="0">
              <a:buNone/>
            </a:pPr>
            <a:r>
              <a:rPr lang="en-US" dirty="0"/>
              <a:t>	</a:t>
            </a:r>
            <a:r>
              <a:rPr lang="en-US" dirty="0" err="1"/>
              <a:t>i</a:t>
            </a:r>
            <a:r>
              <a:rPr lang="en-US" dirty="0"/>
              <a:t>. Logic families</a:t>
            </a:r>
          </a:p>
          <a:p>
            <a:pPr marL="571500" lvl="1" indent="0">
              <a:buNone/>
            </a:pPr>
            <a:r>
              <a:rPr lang="en-US" dirty="0"/>
              <a:t>	ii. DC analysis of these circuits</a:t>
            </a:r>
          </a:p>
          <a:p>
            <a:pPr marL="114300" indent="0">
              <a:buNone/>
            </a:pPr>
            <a:endParaRPr lang="en-US" dirty="0"/>
          </a:p>
          <a:p>
            <a:pPr marL="114300" indent="0">
              <a:buNone/>
            </a:pPr>
            <a:r>
              <a:rPr lang="en-US" dirty="0"/>
              <a:t>2.  Pulse Techniques ( 30 %)</a:t>
            </a:r>
          </a:p>
          <a:p>
            <a:pPr marL="571500" lvl="1" indent="0">
              <a:buNone/>
            </a:pPr>
            <a:r>
              <a:rPr lang="en-US" dirty="0"/>
              <a:t>    </a:t>
            </a:r>
            <a:r>
              <a:rPr lang="en-US" dirty="0" err="1"/>
              <a:t>i</a:t>
            </a:r>
            <a:r>
              <a:rPr lang="en-US" dirty="0"/>
              <a:t>. Signal generator</a:t>
            </a:r>
          </a:p>
          <a:p>
            <a:pPr marL="571500" lvl="1" indent="0">
              <a:buNone/>
            </a:pPr>
            <a:r>
              <a:rPr lang="en-US" dirty="0"/>
              <a:t>   ii. ADC</a:t>
            </a:r>
          </a:p>
          <a:p>
            <a:pPr marL="571500" lvl="1" indent="0">
              <a:buNone/>
            </a:pPr>
            <a:r>
              <a:rPr lang="en-US" dirty="0"/>
              <a:t>   iii. DAC</a:t>
            </a:r>
          </a:p>
        </p:txBody>
      </p:sp>
    </p:spTree>
    <p:extLst>
      <p:ext uri="{BB962C8B-B14F-4D97-AF65-F5344CB8AC3E}">
        <p14:creationId xmlns:p14="http://schemas.microsoft.com/office/powerpoint/2010/main" val="3812692066"/>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Review ( Circuits and Electronics )</a:t>
            </a:r>
            <a:endParaRPr dirty="0">
              <a:solidFill>
                <a:schemeClr val="accent1"/>
              </a:solidFill>
            </a:endParaRPr>
          </a:p>
        </p:txBody>
      </p:sp>
      <p:sp>
        <p:nvSpPr>
          <p:cNvPr id="100" name="Google Shape;100;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pic>
        <p:nvPicPr>
          <p:cNvPr id="102" name="Google Shape;102;p2"/>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2575CFF9-CB9A-83E0-36F1-918A93FAF16A}"/>
              </a:ext>
            </a:extLst>
          </p:cNvPr>
          <p:cNvSpPr>
            <a:spLocks noGrp="1"/>
          </p:cNvSpPr>
          <p:nvPr>
            <p:ph type="body" idx="1"/>
          </p:nvPr>
        </p:nvSpPr>
        <p:spPr/>
        <p:txBody>
          <a:bodyPr/>
          <a:lstStyle/>
          <a:p>
            <a:pPr>
              <a:buFont typeface="Wingdings" panose="05000000000000000000" pitchFamily="2" charset="2"/>
              <a:buChar char="Ø"/>
            </a:pPr>
            <a:r>
              <a:rPr lang="en-US" dirty="0"/>
              <a:t> Charge</a:t>
            </a:r>
          </a:p>
          <a:p>
            <a:pPr>
              <a:buFont typeface="Wingdings" panose="05000000000000000000" pitchFamily="2" charset="2"/>
              <a:buChar char="Ø"/>
            </a:pPr>
            <a:r>
              <a:rPr lang="en-US" dirty="0"/>
              <a:t> Voltage</a:t>
            </a:r>
          </a:p>
          <a:p>
            <a:pPr>
              <a:buFont typeface="Wingdings" panose="05000000000000000000" pitchFamily="2" charset="2"/>
              <a:buChar char="Ø"/>
            </a:pPr>
            <a:r>
              <a:rPr lang="en-US" dirty="0"/>
              <a:t>Current</a:t>
            </a:r>
          </a:p>
          <a:p>
            <a:pPr>
              <a:buFont typeface="Wingdings" panose="05000000000000000000" pitchFamily="2" charset="2"/>
              <a:buChar char="Ø"/>
            </a:pPr>
            <a:r>
              <a:rPr lang="en-US" dirty="0"/>
              <a:t>Ohm’s law</a:t>
            </a:r>
          </a:p>
          <a:p>
            <a:pPr>
              <a:buFont typeface="Wingdings" panose="05000000000000000000" pitchFamily="2" charset="2"/>
              <a:buChar char="Ø"/>
            </a:pPr>
            <a:r>
              <a:rPr lang="en-US" dirty="0"/>
              <a:t>KCL</a:t>
            </a:r>
          </a:p>
          <a:p>
            <a:pPr>
              <a:buFont typeface="Wingdings" panose="05000000000000000000" pitchFamily="2" charset="2"/>
              <a:buChar char="Ø"/>
            </a:pPr>
            <a:r>
              <a:rPr lang="en-US" dirty="0"/>
              <a:t>KVL</a:t>
            </a:r>
          </a:p>
          <a:p>
            <a:pPr>
              <a:buFont typeface="Wingdings" panose="05000000000000000000" pitchFamily="2" charset="2"/>
              <a:buChar char="Ø"/>
            </a:pPr>
            <a:r>
              <a:rPr lang="en-US" dirty="0"/>
              <a:t>Node Analysis</a:t>
            </a:r>
          </a:p>
        </p:txBody>
      </p:sp>
    </p:spTree>
    <p:extLst>
      <p:ext uri="{BB962C8B-B14F-4D97-AF65-F5344CB8AC3E}">
        <p14:creationId xmlns:p14="http://schemas.microsoft.com/office/powerpoint/2010/main" val="3854268261"/>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Review ( Circuits and Electronics )</a:t>
            </a:r>
            <a:endParaRPr dirty="0">
              <a:solidFill>
                <a:schemeClr val="accent1"/>
              </a:solidFill>
            </a:endParaRPr>
          </a:p>
        </p:txBody>
      </p:sp>
      <p:sp>
        <p:nvSpPr>
          <p:cNvPr id="100" name="Google Shape;100;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pic>
        <p:nvPicPr>
          <p:cNvPr id="102" name="Google Shape;102;p2"/>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2575CFF9-CB9A-83E0-36F1-918A93FAF16A}"/>
              </a:ext>
            </a:extLst>
          </p:cNvPr>
          <p:cNvSpPr>
            <a:spLocks noGrp="1"/>
          </p:cNvSpPr>
          <p:nvPr>
            <p:ph type="body" idx="1"/>
          </p:nvPr>
        </p:nvSpPr>
        <p:spPr/>
        <p:txBody>
          <a:bodyPr/>
          <a:lstStyle/>
          <a:p>
            <a:pPr marL="114300" indent="0">
              <a:buNone/>
            </a:pPr>
            <a:r>
              <a:rPr lang="en-US" dirty="0"/>
              <a:t> Charge : Fundamental property of  elementary particle. </a:t>
            </a:r>
          </a:p>
          <a:p>
            <a:pPr marL="114300" indent="0">
              <a:buNone/>
            </a:pPr>
            <a:endParaRPr lang="en-US" dirty="0"/>
          </a:p>
          <a:p>
            <a:pPr marL="114300" indent="0">
              <a:buNone/>
            </a:pPr>
            <a:r>
              <a:rPr lang="en-US" dirty="0"/>
              <a:t>Particle: electron (-e) , proton ( +e ) , neutron ( 0 )</a:t>
            </a:r>
          </a:p>
          <a:p>
            <a:pPr marL="114300" indent="0">
              <a:buNone/>
            </a:pPr>
            <a:endParaRPr lang="en-US" dirty="0"/>
          </a:p>
          <a:p>
            <a:pPr marL="114300" indent="0">
              <a:buNone/>
            </a:pPr>
            <a:r>
              <a:rPr lang="en-US" dirty="0"/>
              <a:t>SI Unit : </a:t>
            </a:r>
            <a:r>
              <a:rPr lang="en-US" dirty="0" err="1"/>
              <a:t>Coloumb</a:t>
            </a:r>
            <a:r>
              <a:rPr lang="en-US" dirty="0"/>
              <a:t> ( C )</a:t>
            </a:r>
          </a:p>
          <a:p>
            <a:pPr marL="114300" indent="0">
              <a:buNone/>
            </a:pPr>
            <a:endParaRPr lang="en-US" dirty="0"/>
          </a:p>
          <a:p>
            <a:pPr marL="114300" indent="0">
              <a:buNone/>
            </a:pPr>
            <a:r>
              <a:rPr lang="en-US" dirty="0"/>
              <a:t> </a:t>
            </a:r>
          </a:p>
        </p:txBody>
      </p:sp>
    </p:spTree>
    <p:extLst>
      <p:ext uri="{BB962C8B-B14F-4D97-AF65-F5344CB8AC3E}">
        <p14:creationId xmlns:p14="http://schemas.microsoft.com/office/powerpoint/2010/main" val="778621337"/>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Review ( Circuits and Electronics )</a:t>
            </a:r>
            <a:endParaRPr dirty="0">
              <a:solidFill>
                <a:schemeClr val="accent1"/>
              </a:solidFill>
            </a:endParaRPr>
          </a:p>
        </p:txBody>
      </p:sp>
      <p:sp>
        <p:nvSpPr>
          <p:cNvPr id="100" name="Google Shape;100;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pic>
        <p:nvPicPr>
          <p:cNvPr id="102" name="Google Shape;102;p2"/>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575CFF9-CB9A-83E0-36F1-918A93FAF16A}"/>
                  </a:ext>
                </a:extLst>
              </p:cNvPr>
              <p:cNvSpPr>
                <a:spLocks noGrp="1"/>
              </p:cNvSpPr>
              <p:nvPr>
                <p:ph type="body" idx="1"/>
              </p:nvPr>
            </p:nvSpPr>
            <p:spPr/>
            <p:txBody>
              <a:bodyPr/>
              <a:lstStyle/>
              <a:p>
                <a:pPr marL="114300" indent="0">
                  <a:buNone/>
                </a:pPr>
                <a:r>
                  <a:rPr lang="en-US" dirty="0"/>
                  <a:t> </a:t>
                </a:r>
                <a:r>
                  <a:rPr lang="en-US" b="1" dirty="0"/>
                  <a:t>Voltage:</a:t>
                </a:r>
                <a:r>
                  <a:rPr lang="en-US" dirty="0"/>
                  <a:t> The amount of work needed to displace a unit charge from one place to another.</a:t>
                </a:r>
              </a:p>
              <a:p>
                <a:pPr marL="114300" indent="0">
                  <a:buNone/>
                </a:pPr>
                <a:r>
                  <a:rPr lang="en-US" dirty="0"/>
                  <a:t>	</a:t>
                </a:r>
              </a:p>
              <a:p>
                <a:pPr marL="114300" indent="0">
                  <a:buNone/>
                </a:pPr>
                <a:r>
                  <a:rPr lang="en-US" dirty="0"/>
                  <a:t>	</a:t>
                </a:r>
                <a14:m>
                  <m:oMath xmlns:m="http://schemas.openxmlformats.org/officeDocument/2006/math">
                    <m:r>
                      <m:rPr>
                        <m:sty m:val="p"/>
                      </m:rPr>
                      <a:rPr lang="en-US" b="0" i="0" smtClean="0">
                        <a:latin typeface="Cambria Math" panose="02040503050406030204" pitchFamily="18" charset="0"/>
                      </a:rPr>
                      <m:t>V</m:t>
                    </m:r>
                    <m:r>
                      <a:rPr lang="en-US" b="0" i="0" smtClean="0">
                        <a:latin typeface="Cambria Math" panose="02040503050406030204" pitchFamily="18" charset="0"/>
                      </a:rPr>
                      <m:t>= </m:t>
                    </m:r>
                    <m:f>
                      <m:fPr>
                        <m:ctrlPr>
                          <a:rPr lang="en-US" i="1" smtClean="0">
                            <a:latin typeface="Cambria Math" panose="02040503050406030204" pitchFamily="18" charset="0"/>
                          </a:rPr>
                        </m:ctrlPr>
                      </m:fPr>
                      <m:num>
                        <m:r>
                          <a:rPr lang="en-US" b="0" i="1" smtClean="0">
                            <a:latin typeface="Cambria Math" panose="02040503050406030204" pitchFamily="18" charset="0"/>
                          </a:rPr>
                          <m:t>𝑊</m:t>
                        </m:r>
                      </m:num>
                      <m:den>
                        <m:r>
                          <a:rPr lang="en-US" b="0" i="1" smtClean="0">
                            <a:latin typeface="Cambria Math" panose="02040503050406030204" pitchFamily="18" charset="0"/>
                          </a:rPr>
                          <m:t>𝑞</m:t>
                        </m:r>
                      </m:den>
                    </m:f>
                  </m:oMath>
                </a14:m>
                <a:r>
                  <a:rPr lang="en-US" dirty="0"/>
                  <a:t>	</a:t>
                </a:r>
              </a:p>
              <a:p>
                <a:pPr marL="114300" indent="0">
                  <a:buNone/>
                </a:pPr>
                <a:endParaRPr lang="en-US" dirty="0"/>
              </a:p>
              <a:p>
                <a:pPr marL="114300" indent="0">
                  <a:buNone/>
                </a:pPr>
                <a:r>
                  <a:rPr lang="en-US" dirty="0"/>
                  <a:t>	</a:t>
                </a:r>
              </a:p>
              <a:p>
                <a:pPr marL="114300" indent="0">
                  <a:buNone/>
                </a:pPr>
                <a:r>
                  <a:rPr lang="en-US" dirty="0"/>
                  <a:t> </a:t>
                </a:r>
              </a:p>
            </p:txBody>
          </p:sp>
        </mc:Choice>
        <mc:Fallback xmlns="">
          <p:sp>
            <p:nvSpPr>
              <p:cNvPr id="3" name="Text Placeholder 2">
                <a:extLst>
                  <a:ext uri="{FF2B5EF4-FFF2-40B4-BE49-F238E27FC236}">
                    <a16:creationId xmlns:a16="http://schemas.microsoft.com/office/drawing/2014/main" id="{2575CFF9-CB9A-83E0-36F1-918A93FAF16A}"/>
                  </a:ext>
                </a:extLst>
              </p:cNvPr>
              <p:cNvSpPr>
                <a:spLocks noGrp="1" noRot="1" noChangeAspect="1" noMove="1" noResize="1" noEditPoints="1" noAdjustHandles="1" noChangeArrowheads="1" noChangeShapeType="1" noTextEdit="1"/>
              </p:cNvSpPr>
              <p:nvPr>
                <p:ph type="body" idx="1"/>
              </p:nvPr>
            </p:nvSpPr>
            <p:spPr>
              <a:blipFill>
                <a:blip r:embed="rId4"/>
                <a:stretch>
                  <a:fillRect l="-116"/>
                </a:stretch>
              </a:blipFill>
            </p:spPr>
            <p:txBody>
              <a:bodyPr/>
              <a:lstStyle/>
              <a:p>
                <a:r>
                  <a:rPr lang="en-US">
                    <a:noFill/>
                  </a:rPr>
                  <a:t> </a:t>
                </a:r>
              </a:p>
            </p:txBody>
          </p:sp>
        </mc:Fallback>
      </mc:AlternateContent>
      <p:sp>
        <p:nvSpPr>
          <p:cNvPr id="8" name="Freeform: Shape 7">
            <a:extLst>
              <a:ext uri="{FF2B5EF4-FFF2-40B4-BE49-F238E27FC236}">
                <a16:creationId xmlns:a16="http://schemas.microsoft.com/office/drawing/2014/main" id="{6203522E-55C0-EA01-E3B1-59C8F9EABFC8}"/>
              </a:ext>
            </a:extLst>
          </p:cNvPr>
          <p:cNvSpPr/>
          <p:nvPr/>
        </p:nvSpPr>
        <p:spPr>
          <a:xfrm>
            <a:off x="7167716" y="3421626"/>
            <a:ext cx="186813" cy="255639"/>
          </a:xfrm>
          <a:custGeom>
            <a:avLst/>
            <a:gdLst>
              <a:gd name="connsiteX0" fmla="*/ 68826 w 186813"/>
              <a:gd name="connsiteY0" fmla="*/ 0 h 255639"/>
              <a:gd name="connsiteX1" fmla="*/ 88490 w 186813"/>
              <a:gd name="connsiteY1" fmla="*/ 49161 h 255639"/>
              <a:gd name="connsiteX2" fmla="*/ 186813 w 186813"/>
              <a:gd name="connsiteY2" fmla="*/ 108155 h 255639"/>
              <a:gd name="connsiteX3" fmla="*/ 176981 w 186813"/>
              <a:gd name="connsiteY3" fmla="*/ 137651 h 255639"/>
              <a:gd name="connsiteX4" fmla="*/ 98323 w 186813"/>
              <a:gd name="connsiteY4" fmla="*/ 176980 h 255639"/>
              <a:gd name="connsiteX5" fmla="*/ 19665 w 186813"/>
              <a:gd name="connsiteY5" fmla="*/ 226142 h 255639"/>
              <a:gd name="connsiteX6" fmla="*/ 0 w 186813"/>
              <a:gd name="connsiteY6" fmla="*/ 255639 h 25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813" h="255639">
                <a:moveTo>
                  <a:pt x="68826" y="0"/>
                </a:moveTo>
                <a:cubicBezTo>
                  <a:pt x="75381" y="16387"/>
                  <a:pt x="77900" y="35042"/>
                  <a:pt x="88490" y="49161"/>
                </a:cubicBezTo>
                <a:cubicBezTo>
                  <a:pt x="105565" y="71928"/>
                  <a:pt x="166616" y="98056"/>
                  <a:pt x="186813" y="108155"/>
                </a:cubicBezTo>
                <a:cubicBezTo>
                  <a:pt x="183536" y="117987"/>
                  <a:pt x="185162" y="131288"/>
                  <a:pt x="176981" y="137651"/>
                </a:cubicBezTo>
                <a:cubicBezTo>
                  <a:pt x="153842" y="155648"/>
                  <a:pt x="121214" y="158668"/>
                  <a:pt x="98323" y="176980"/>
                </a:cubicBezTo>
                <a:cubicBezTo>
                  <a:pt x="41068" y="222783"/>
                  <a:pt x="69070" y="209672"/>
                  <a:pt x="19665" y="226142"/>
                </a:cubicBezTo>
                <a:lnTo>
                  <a:pt x="0" y="25563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375490A-C5AF-D669-E370-F0722BA495DB}"/>
              </a:ext>
            </a:extLst>
          </p:cNvPr>
          <p:cNvGrpSpPr/>
          <p:nvPr/>
        </p:nvGrpSpPr>
        <p:grpSpPr>
          <a:xfrm>
            <a:off x="5240593" y="3175385"/>
            <a:ext cx="5115233" cy="1003760"/>
            <a:chOff x="4188542" y="3165511"/>
            <a:chExt cx="6452419" cy="1143870"/>
          </a:xfrm>
        </p:grpSpPr>
        <p:sp>
          <p:nvSpPr>
            <p:cNvPr id="4" name="Oval 3">
              <a:extLst>
                <a:ext uri="{FF2B5EF4-FFF2-40B4-BE49-F238E27FC236}">
                  <a16:creationId xmlns:a16="http://schemas.microsoft.com/office/drawing/2014/main" id="{01D02D93-77C9-EA31-6823-C23BBD33F0CB}"/>
                </a:ext>
              </a:extLst>
            </p:cNvPr>
            <p:cNvSpPr/>
            <p:nvPr/>
          </p:nvSpPr>
          <p:spPr>
            <a:xfrm>
              <a:off x="4188542" y="3229897"/>
              <a:ext cx="698090" cy="69809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t>A</a:t>
              </a:r>
            </a:p>
          </p:txBody>
        </p:sp>
        <p:sp>
          <p:nvSpPr>
            <p:cNvPr id="5" name="Oval 4">
              <a:extLst>
                <a:ext uri="{FF2B5EF4-FFF2-40B4-BE49-F238E27FC236}">
                  <a16:creationId xmlns:a16="http://schemas.microsoft.com/office/drawing/2014/main" id="{A321DE63-0610-FA79-D868-5E1A9BD9CA7C}"/>
                </a:ext>
              </a:extLst>
            </p:cNvPr>
            <p:cNvSpPr/>
            <p:nvPr/>
          </p:nvSpPr>
          <p:spPr>
            <a:xfrm>
              <a:off x="9942871" y="3229896"/>
              <a:ext cx="698090" cy="69809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t>B</a:t>
              </a:r>
            </a:p>
          </p:txBody>
        </p:sp>
        <p:sp>
          <p:nvSpPr>
            <p:cNvPr id="7" name="Freeform: Shape 6">
              <a:extLst>
                <a:ext uri="{FF2B5EF4-FFF2-40B4-BE49-F238E27FC236}">
                  <a16:creationId xmlns:a16="http://schemas.microsoft.com/office/drawing/2014/main" id="{45B97FD0-93AA-75B6-E8D1-528831F0BD7E}"/>
                </a:ext>
              </a:extLst>
            </p:cNvPr>
            <p:cNvSpPr/>
            <p:nvPr/>
          </p:nvSpPr>
          <p:spPr>
            <a:xfrm>
              <a:off x="4886632" y="3165511"/>
              <a:ext cx="5083278" cy="807031"/>
            </a:xfrm>
            <a:custGeom>
              <a:avLst/>
              <a:gdLst>
                <a:gd name="connsiteX0" fmla="*/ 0 w 5083278"/>
                <a:gd name="connsiteY0" fmla="*/ 383934 h 807031"/>
                <a:gd name="connsiteX1" fmla="*/ 550607 w 5083278"/>
                <a:gd name="connsiteY1" fmla="*/ 476 h 807031"/>
                <a:gd name="connsiteX2" fmla="*/ 1681316 w 5083278"/>
                <a:gd name="connsiteY2" fmla="*/ 452760 h 807031"/>
                <a:gd name="connsiteX3" fmla="*/ 2890684 w 5083278"/>
                <a:gd name="connsiteY3" fmla="*/ 354437 h 807031"/>
                <a:gd name="connsiteX4" fmla="*/ 3657600 w 5083278"/>
                <a:gd name="connsiteY4" fmla="*/ 806721 h 807031"/>
                <a:gd name="connsiteX5" fmla="*/ 4247536 w 5083278"/>
                <a:gd name="connsiteY5" fmla="*/ 275779 h 807031"/>
                <a:gd name="connsiteX6" fmla="*/ 5083278 w 5083278"/>
                <a:gd name="connsiteY6" fmla="*/ 275779 h 807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83278" h="807031">
                  <a:moveTo>
                    <a:pt x="0" y="383934"/>
                  </a:moveTo>
                  <a:cubicBezTo>
                    <a:pt x="135194" y="186469"/>
                    <a:pt x="270388" y="-10995"/>
                    <a:pt x="550607" y="476"/>
                  </a:cubicBezTo>
                  <a:cubicBezTo>
                    <a:pt x="830826" y="11947"/>
                    <a:pt x="1291303" y="393767"/>
                    <a:pt x="1681316" y="452760"/>
                  </a:cubicBezTo>
                  <a:cubicBezTo>
                    <a:pt x="2071329" y="511753"/>
                    <a:pt x="2561303" y="295444"/>
                    <a:pt x="2890684" y="354437"/>
                  </a:cubicBezTo>
                  <a:cubicBezTo>
                    <a:pt x="3220065" y="413430"/>
                    <a:pt x="3431458" y="819831"/>
                    <a:pt x="3657600" y="806721"/>
                  </a:cubicBezTo>
                  <a:cubicBezTo>
                    <a:pt x="3883742" y="793611"/>
                    <a:pt x="4009923" y="364269"/>
                    <a:pt x="4247536" y="275779"/>
                  </a:cubicBezTo>
                  <a:cubicBezTo>
                    <a:pt x="4485149" y="187289"/>
                    <a:pt x="4955459" y="293805"/>
                    <a:pt x="5083278" y="275779"/>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D76017F-107C-55A4-9ACD-C8DBC6024CA0}"/>
                </a:ext>
              </a:extLst>
            </p:cNvPr>
            <p:cNvSpPr txBox="1"/>
            <p:nvPr/>
          </p:nvSpPr>
          <p:spPr>
            <a:xfrm>
              <a:off x="4350774" y="4001604"/>
              <a:ext cx="914400" cy="307777"/>
            </a:xfrm>
            <a:prstGeom prst="rect">
              <a:avLst/>
            </a:prstGeom>
            <a:noFill/>
          </p:spPr>
          <p:txBody>
            <a:bodyPr wrap="square" rtlCol="0">
              <a:spAutoFit/>
            </a:bodyPr>
            <a:lstStyle/>
            <a:p>
              <a:r>
                <a:rPr lang="en-US" dirty="0"/>
                <a:t>+q</a:t>
              </a:r>
            </a:p>
          </p:txBody>
        </p:sp>
        <p:sp>
          <p:nvSpPr>
            <p:cNvPr id="10" name="TextBox 9">
              <a:extLst>
                <a:ext uri="{FF2B5EF4-FFF2-40B4-BE49-F238E27FC236}">
                  <a16:creationId xmlns:a16="http://schemas.microsoft.com/office/drawing/2014/main" id="{DCC2D642-C52A-CCEE-6513-290B24C98289}"/>
                </a:ext>
              </a:extLst>
            </p:cNvPr>
            <p:cNvSpPr txBox="1"/>
            <p:nvPr/>
          </p:nvSpPr>
          <p:spPr>
            <a:xfrm>
              <a:off x="7107493" y="3693517"/>
              <a:ext cx="307258" cy="307777"/>
            </a:xfrm>
            <a:prstGeom prst="rect">
              <a:avLst/>
            </a:prstGeom>
            <a:noFill/>
          </p:spPr>
          <p:txBody>
            <a:bodyPr wrap="square" rtlCol="0">
              <a:spAutoFit/>
            </a:bodyPr>
            <a:lstStyle/>
            <a:p>
              <a:r>
                <a:rPr lang="en-US" dirty="0"/>
                <a:t>W</a:t>
              </a:r>
            </a:p>
          </p:txBody>
        </p:sp>
      </p:grpSp>
    </p:spTree>
    <p:extLst>
      <p:ext uri="{BB962C8B-B14F-4D97-AF65-F5344CB8AC3E}">
        <p14:creationId xmlns:p14="http://schemas.microsoft.com/office/powerpoint/2010/main" val="3987792225"/>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Review ( Circuits and Electronics )</a:t>
            </a:r>
            <a:endParaRPr dirty="0">
              <a:solidFill>
                <a:schemeClr val="accent1"/>
              </a:solidFill>
            </a:endParaRPr>
          </a:p>
        </p:txBody>
      </p:sp>
      <p:sp>
        <p:nvSpPr>
          <p:cNvPr id="100" name="Google Shape;100;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pic>
        <p:nvPicPr>
          <p:cNvPr id="102" name="Google Shape;102;p2"/>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575CFF9-CB9A-83E0-36F1-918A93FAF16A}"/>
                  </a:ext>
                </a:extLst>
              </p:cNvPr>
              <p:cNvSpPr>
                <a:spLocks noGrp="1"/>
              </p:cNvSpPr>
              <p:nvPr>
                <p:ph type="body" idx="1"/>
              </p:nvPr>
            </p:nvSpPr>
            <p:spPr/>
            <p:txBody>
              <a:bodyPr>
                <a:normAutofit fontScale="92500" lnSpcReduction="20000"/>
              </a:bodyPr>
              <a:lstStyle/>
              <a:p>
                <a:pPr marL="114300" indent="0">
                  <a:buNone/>
                </a:pPr>
                <a:r>
                  <a:rPr lang="en-US" dirty="0"/>
                  <a:t> </a:t>
                </a:r>
                <a:r>
                  <a:rPr lang="en-US" b="1" dirty="0"/>
                  <a:t>Current:</a:t>
                </a:r>
                <a:r>
                  <a:rPr lang="en-US" dirty="0"/>
                  <a:t> The amount of charge flow through a conductor per unit  time.</a:t>
                </a:r>
              </a:p>
              <a:p>
                <a:pPr marL="114300" indent="0">
                  <a:buNone/>
                </a:pPr>
                <a:r>
                  <a:rPr lang="en-US" dirty="0"/>
                  <a:t>	</a:t>
                </a:r>
                <a14:m>
                  <m:oMath xmlns:m="http://schemas.openxmlformats.org/officeDocument/2006/math">
                    <m:r>
                      <a:rPr lang="en-US">
                        <a:latin typeface="Cambria Math" panose="02040503050406030204" pitchFamily="18" charset="0"/>
                      </a:rPr>
                      <m:t> </m:t>
                    </m:r>
                    <m:r>
                      <m:rPr>
                        <m:sty m:val="p"/>
                      </m:rPr>
                      <a:rPr lang="en-US" b="0" i="0" smtClean="0">
                        <a:latin typeface="Cambria Math" panose="02040503050406030204" pitchFamily="18" charset="0"/>
                      </a:rPr>
                      <m:t>i</m:t>
                    </m:r>
                    <m:r>
                      <a:rPr lang="en-US" b="0" i="0" smtClean="0">
                        <a:latin typeface="Cambria Math" panose="02040503050406030204" pitchFamily="18" charset="0"/>
                      </a:rPr>
                      <m:t>= </m:t>
                    </m:r>
                    <m:f>
                      <m:fPr>
                        <m:ctrlPr>
                          <a:rPr lang="en-US" i="1" smtClean="0">
                            <a:latin typeface="Cambria Math" panose="02040503050406030204" pitchFamily="18" charset="0"/>
                          </a:rPr>
                        </m:ctrlPr>
                      </m:fPr>
                      <m:num>
                        <m:r>
                          <a:rPr lang="en-US" b="0" i="1" smtClean="0">
                            <a:latin typeface="Cambria Math" panose="02040503050406030204" pitchFamily="18" charset="0"/>
                          </a:rPr>
                          <m:t>𝑑𝑞</m:t>
                        </m:r>
                      </m:num>
                      <m:den>
                        <m:r>
                          <a:rPr lang="en-US" b="0" i="1" smtClean="0">
                            <a:latin typeface="Cambria Math" panose="02040503050406030204" pitchFamily="18" charset="0"/>
                          </a:rPr>
                          <m:t>𝑑𝑡</m:t>
                        </m:r>
                      </m:den>
                    </m:f>
                  </m:oMath>
                </a14:m>
                <a:r>
                  <a:rPr lang="en-US" dirty="0"/>
                  <a:t>	</a:t>
                </a:r>
              </a:p>
              <a:p>
                <a:pPr marL="114300" indent="0">
                  <a:buNone/>
                </a:pPr>
                <a:r>
                  <a:rPr lang="en-US" b="1" dirty="0"/>
                  <a:t>Ohm’s law</a:t>
                </a:r>
                <a:r>
                  <a:rPr lang="en-US" dirty="0"/>
                  <a:t>: In a fixed temperature the current flows through a conductor is proportional to the voltage difference  across the conductor. </a:t>
                </a:r>
              </a:p>
              <a:p>
                <a:pPr marL="114300" indent="0">
                  <a:buNone/>
                </a:pPr>
                <a:r>
                  <a:rPr lang="en-US" dirty="0"/>
                  <a:t>	</a:t>
                </a:r>
                <a14:m>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𝑉</m:t>
                        </m:r>
                        <m:r>
                          <a:rPr lang="en-US" b="0" i="1" baseline="-25000"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𝑉𝐵</m:t>
                        </m:r>
                      </m:e>
                    </m:d>
                  </m:oMath>
                </a14:m>
                <a:endParaRPr lang="en-US" b="0" i="1" dirty="0">
                  <a:latin typeface="Cambria Math" panose="02040503050406030204" pitchFamily="18" charset="0"/>
                  <a:ea typeface="Cambria Math" panose="02040503050406030204" pitchFamily="18" charset="0"/>
                </a:endParaRPr>
              </a:p>
              <a:p>
                <a:pPr marL="114300" indent="0">
                  <a:buNone/>
                </a:pPr>
                <a:r>
                  <a:rPr lang="en-US" b="0" dirty="0"/>
                  <a:t>          </a:t>
                </a:r>
                <a14:m>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m:t>
                    </m:r>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r>
                      <a:rPr lang="en-US" b="0" i="1" baseline="-25000"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𝑉𝐵</m:t>
                    </m:r>
                    <m:r>
                      <a:rPr lang="en-US" b="0" i="1" smtClean="0">
                        <a:latin typeface="Cambria Math" panose="02040503050406030204" pitchFamily="18" charset="0"/>
                        <a:ea typeface="Cambria Math" panose="02040503050406030204" pitchFamily="18" charset="0"/>
                      </a:rPr>
                      <m:t>)</m:t>
                    </m:r>
                  </m:oMath>
                </a14:m>
                <a:endParaRPr lang="en-US" dirty="0"/>
              </a:p>
              <a:p>
                <a:pPr marL="114300" indent="0">
                  <a:buNone/>
                </a:pPr>
                <a:endParaRPr lang="en-US" dirty="0"/>
              </a:p>
              <a:p>
                <a:pPr marL="114300" indent="0">
                  <a:buNone/>
                </a:pPr>
                <a:endParaRPr lang="en-US" dirty="0"/>
              </a:p>
              <a:p>
                <a:pPr marL="114300" indent="0">
                  <a:buNone/>
                </a:pPr>
                <a:r>
                  <a:rPr lang="en-US" dirty="0"/>
                  <a:t>	</a:t>
                </a:r>
              </a:p>
              <a:p>
                <a:pPr marL="114300" indent="0">
                  <a:buNone/>
                </a:pPr>
                <a:r>
                  <a:rPr lang="en-US" dirty="0"/>
                  <a:t> </a:t>
                </a:r>
              </a:p>
            </p:txBody>
          </p:sp>
        </mc:Choice>
        <mc:Fallback xmlns="">
          <p:sp>
            <p:nvSpPr>
              <p:cNvPr id="3" name="Text Placeholder 2">
                <a:extLst>
                  <a:ext uri="{FF2B5EF4-FFF2-40B4-BE49-F238E27FC236}">
                    <a16:creationId xmlns:a16="http://schemas.microsoft.com/office/drawing/2014/main" id="{2575CFF9-CB9A-83E0-36F1-918A93FAF16A}"/>
                  </a:ext>
                </a:extLst>
              </p:cNvPr>
              <p:cNvSpPr>
                <a:spLocks noGrp="1" noRot="1" noChangeAspect="1" noMove="1" noResize="1" noEditPoints="1" noAdjustHandles="1" noChangeArrowheads="1" noChangeShapeType="1" noTextEdit="1"/>
              </p:cNvSpPr>
              <p:nvPr>
                <p:ph type="body" idx="1"/>
              </p:nvPr>
            </p:nvSpPr>
            <p:spPr>
              <a:blipFill>
                <a:blip r:embed="rId4"/>
                <a:stretch>
                  <a:fillRect t="-560" r="-754"/>
                </a:stretch>
              </a:blipFill>
            </p:spPr>
            <p:txBody>
              <a:bodyPr/>
              <a:lstStyle/>
              <a:p>
                <a:r>
                  <a:rPr lang="en-US">
                    <a:noFill/>
                  </a:rPr>
                  <a:t> </a:t>
                </a:r>
              </a:p>
            </p:txBody>
          </p:sp>
        </mc:Fallback>
      </mc:AlternateContent>
      <p:grpSp>
        <p:nvGrpSpPr>
          <p:cNvPr id="20" name="Group 19">
            <a:extLst>
              <a:ext uri="{FF2B5EF4-FFF2-40B4-BE49-F238E27FC236}">
                <a16:creationId xmlns:a16="http://schemas.microsoft.com/office/drawing/2014/main" id="{D303450A-760E-419B-2E10-9FFC637445C4}"/>
              </a:ext>
            </a:extLst>
          </p:cNvPr>
          <p:cNvGrpSpPr/>
          <p:nvPr/>
        </p:nvGrpSpPr>
        <p:grpSpPr>
          <a:xfrm>
            <a:off x="7049114" y="4482114"/>
            <a:ext cx="3122971" cy="1189695"/>
            <a:chOff x="5982929" y="4200628"/>
            <a:chExt cx="3122971" cy="1189695"/>
          </a:xfrm>
        </p:grpSpPr>
        <p:cxnSp>
          <p:nvCxnSpPr>
            <p:cNvPr id="13" name="Straight Connector 12">
              <a:extLst>
                <a:ext uri="{FF2B5EF4-FFF2-40B4-BE49-F238E27FC236}">
                  <a16:creationId xmlns:a16="http://schemas.microsoft.com/office/drawing/2014/main" id="{D2E93ADD-ABAF-7BC3-BC4E-96453F380649}"/>
                </a:ext>
              </a:extLst>
            </p:cNvPr>
            <p:cNvCxnSpPr/>
            <p:nvPr/>
          </p:nvCxnSpPr>
          <p:spPr>
            <a:xfrm>
              <a:off x="6420465" y="4847303"/>
              <a:ext cx="2015612" cy="0"/>
            </a:xfrm>
            <a:prstGeom prst="line">
              <a:avLst/>
            </a:prstGeom>
            <a:ln/>
          </p:spPr>
          <p:style>
            <a:lnRef idx="3">
              <a:schemeClr val="dk1"/>
            </a:lnRef>
            <a:fillRef idx="0">
              <a:schemeClr val="dk1"/>
            </a:fillRef>
            <a:effectRef idx="2">
              <a:schemeClr val="dk1"/>
            </a:effectRef>
            <a:fontRef idx="minor">
              <a:schemeClr val="tx1"/>
            </a:fontRef>
          </p:style>
        </p:cxnSp>
        <p:sp>
          <p:nvSpPr>
            <p:cNvPr id="14" name="TextBox 13">
              <a:extLst>
                <a:ext uri="{FF2B5EF4-FFF2-40B4-BE49-F238E27FC236}">
                  <a16:creationId xmlns:a16="http://schemas.microsoft.com/office/drawing/2014/main" id="{B2EFE7DC-DDFA-CDB4-B33C-1FDF76B88123}"/>
                </a:ext>
              </a:extLst>
            </p:cNvPr>
            <p:cNvSpPr txBox="1"/>
            <p:nvPr/>
          </p:nvSpPr>
          <p:spPr>
            <a:xfrm>
              <a:off x="5982929" y="4447193"/>
              <a:ext cx="875072" cy="400110"/>
            </a:xfrm>
            <a:prstGeom prst="rect">
              <a:avLst/>
            </a:prstGeom>
            <a:noFill/>
          </p:spPr>
          <p:txBody>
            <a:bodyPr wrap="square" rtlCol="0">
              <a:spAutoFit/>
            </a:bodyPr>
            <a:lstStyle/>
            <a:p>
              <a:r>
                <a:rPr lang="en-US" sz="2000" b="1" dirty="0"/>
                <a:t>V</a:t>
              </a:r>
              <a:r>
                <a:rPr lang="en-US" sz="2000" b="1" baseline="-25000" dirty="0"/>
                <a:t>A</a:t>
              </a:r>
            </a:p>
          </p:txBody>
        </p:sp>
        <p:sp>
          <p:nvSpPr>
            <p:cNvPr id="15" name="TextBox 14">
              <a:extLst>
                <a:ext uri="{FF2B5EF4-FFF2-40B4-BE49-F238E27FC236}">
                  <a16:creationId xmlns:a16="http://schemas.microsoft.com/office/drawing/2014/main" id="{3A633A8F-1845-F46C-2FF0-62FDD8F2893B}"/>
                </a:ext>
              </a:extLst>
            </p:cNvPr>
            <p:cNvSpPr txBox="1"/>
            <p:nvPr/>
          </p:nvSpPr>
          <p:spPr>
            <a:xfrm>
              <a:off x="8230828" y="4447193"/>
              <a:ext cx="875072" cy="400110"/>
            </a:xfrm>
            <a:prstGeom prst="rect">
              <a:avLst/>
            </a:prstGeom>
            <a:noFill/>
          </p:spPr>
          <p:txBody>
            <a:bodyPr wrap="square" rtlCol="0">
              <a:spAutoFit/>
            </a:bodyPr>
            <a:lstStyle/>
            <a:p>
              <a:r>
                <a:rPr lang="en-US" sz="2000" b="1" dirty="0"/>
                <a:t>V</a:t>
              </a:r>
              <a:r>
                <a:rPr lang="en-US" sz="2000" b="1" baseline="-25000" dirty="0"/>
                <a:t>B</a:t>
              </a:r>
            </a:p>
          </p:txBody>
        </p:sp>
        <p:cxnSp>
          <p:nvCxnSpPr>
            <p:cNvPr id="17" name="Straight Arrow Connector 16">
              <a:extLst>
                <a:ext uri="{FF2B5EF4-FFF2-40B4-BE49-F238E27FC236}">
                  <a16:creationId xmlns:a16="http://schemas.microsoft.com/office/drawing/2014/main" id="{7D2B24E1-B3E6-7DF4-2521-F7623452188A}"/>
                </a:ext>
              </a:extLst>
            </p:cNvPr>
            <p:cNvCxnSpPr/>
            <p:nvPr/>
          </p:nvCxnSpPr>
          <p:spPr>
            <a:xfrm>
              <a:off x="6587613" y="5073445"/>
              <a:ext cx="1740310"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0787F4D9-4DC5-EF76-E3CE-DA1D3A3DF0FE}"/>
                </a:ext>
              </a:extLst>
            </p:cNvPr>
            <p:cNvSpPr txBox="1"/>
            <p:nvPr/>
          </p:nvSpPr>
          <p:spPr>
            <a:xfrm>
              <a:off x="7167716" y="4969695"/>
              <a:ext cx="875072" cy="420628"/>
            </a:xfrm>
            <a:prstGeom prst="rect">
              <a:avLst/>
            </a:prstGeom>
            <a:noFill/>
          </p:spPr>
          <p:txBody>
            <a:bodyPr wrap="square" rtlCol="0">
              <a:spAutoFit/>
            </a:bodyPr>
            <a:lstStyle/>
            <a:p>
              <a:r>
                <a:rPr lang="en-US" sz="3200" b="1" baseline="-25000" dirty="0"/>
                <a:t>I</a:t>
              </a:r>
            </a:p>
          </p:txBody>
        </p:sp>
        <p:sp>
          <p:nvSpPr>
            <p:cNvPr id="19" name="TextBox 18">
              <a:extLst>
                <a:ext uri="{FF2B5EF4-FFF2-40B4-BE49-F238E27FC236}">
                  <a16:creationId xmlns:a16="http://schemas.microsoft.com/office/drawing/2014/main" id="{3F3E73AB-B10C-79E2-5E6B-836BF0B85063}"/>
                </a:ext>
              </a:extLst>
            </p:cNvPr>
            <p:cNvSpPr txBox="1"/>
            <p:nvPr/>
          </p:nvSpPr>
          <p:spPr>
            <a:xfrm>
              <a:off x="6861690" y="4200628"/>
              <a:ext cx="1210596" cy="400110"/>
            </a:xfrm>
            <a:prstGeom prst="rect">
              <a:avLst/>
            </a:prstGeom>
            <a:noFill/>
          </p:spPr>
          <p:txBody>
            <a:bodyPr wrap="square" rtlCol="0">
              <a:spAutoFit/>
            </a:bodyPr>
            <a:lstStyle/>
            <a:p>
              <a:r>
                <a:rPr lang="en-US" sz="2000" b="1" dirty="0"/>
                <a:t>V</a:t>
              </a:r>
              <a:r>
                <a:rPr lang="en-US" sz="2000" b="1" baseline="-25000" dirty="0"/>
                <a:t>A</a:t>
              </a:r>
              <a:r>
                <a:rPr lang="en-US" sz="2000" b="1" dirty="0"/>
                <a:t> &gt; V</a:t>
              </a:r>
              <a:r>
                <a:rPr lang="en-US" sz="2000" b="1" baseline="-25000" dirty="0"/>
                <a:t>B</a:t>
              </a:r>
              <a:r>
                <a:rPr lang="en-US" sz="2000" b="1" dirty="0"/>
                <a:t> </a:t>
              </a:r>
            </a:p>
          </p:txBody>
        </p:sp>
      </p:grpSp>
    </p:spTree>
    <p:extLst>
      <p:ext uri="{BB962C8B-B14F-4D97-AF65-F5344CB8AC3E}">
        <p14:creationId xmlns:p14="http://schemas.microsoft.com/office/powerpoint/2010/main" val="380774471"/>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Review ( Circuits and Electronics )</a:t>
            </a:r>
            <a:endParaRPr dirty="0">
              <a:solidFill>
                <a:schemeClr val="accent1"/>
              </a:solidFill>
            </a:endParaRPr>
          </a:p>
        </p:txBody>
      </p:sp>
      <p:sp>
        <p:nvSpPr>
          <p:cNvPr id="100" name="Google Shape;100;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pic>
        <p:nvPicPr>
          <p:cNvPr id="102" name="Google Shape;102;p2"/>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2575CFF9-CB9A-83E0-36F1-918A93FAF16A}"/>
              </a:ext>
            </a:extLst>
          </p:cNvPr>
          <p:cNvSpPr>
            <a:spLocks noGrp="1"/>
          </p:cNvSpPr>
          <p:nvPr>
            <p:ph type="body" idx="1"/>
          </p:nvPr>
        </p:nvSpPr>
        <p:spPr/>
        <p:txBody>
          <a:bodyPr>
            <a:normAutofit/>
          </a:bodyPr>
          <a:lstStyle/>
          <a:p>
            <a:pPr marL="114300" indent="0">
              <a:buNone/>
            </a:pPr>
            <a:r>
              <a:rPr lang="en-US" dirty="0"/>
              <a:t> </a:t>
            </a:r>
            <a:r>
              <a:rPr lang="en-US" b="1" dirty="0"/>
              <a:t>Node : </a:t>
            </a:r>
            <a:r>
              <a:rPr lang="en-US" dirty="0"/>
              <a:t>Interconnected points between two and more electrical component.</a:t>
            </a:r>
          </a:p>
          <a:p>
            <a:pPr marL="114300" indent="0">
              <a:buNone/>
            </a:pPr>
            <a:endParaRPr lang="en-US" dirty="0"/>
          </a:p>
          <a:p>
            <a:pPr marL="114300" indent="0">
              <a:buNone/>
            </a:pPr>
            <a:r>
              <a:rPr lang="en-US" dirty="0"/>
              <a:t>	</a:t>
            </a:r>
          </a:p>
          <a:p>
            <a:pPr marL="114300" indent="0">
              <a:buNone/>
            </a:pPr>
            <a:r>
              <a:rPr lang="en-US" dirty="0"/>
              <a:t> </a:t>
            </a:r>
          </a:p>
        </p:txBody>
      </p:sp>
      <p:pic>
        <p:nvPicPr>
          <p:cNvPr id="4" name="Picture 3">
            <a:extLst>
              <a:ext uri="{FF2B5EF4-FFF2-40B4-BE49-F238E27FC236}">
                <a16:creationId xmlns:a16="http://schemas.microsoft.com/office/drawing/2014/main" id="{287D87BC-4CBA-0807-4E12-981FACC644CE}"/>
              </a:ext>
            </a:extLst>
          </p:cNvPr>
          <p:cNvPicPr>
            <a:picLocks noChangeAspect="1"/>
          </p:cNvPicPr>
          <p:nvPr/>
        </p:nvPicPr>
        <p:blipFill>
          <a:blip r:embed="rId4"/>
          <a:stretch>
            <a:fillRect/>
          </a:stretch>
        </p:blipFill>
        <p:spPr>
          <a:xfrm>
            <a:off x="1498357" y="3214224"/>
            <a:ext cx="4220164" cy="2114845"/>
          </a:xfrm>
          <a:prstGeom prst="rect">
            <a:avLst/>
          </a:prstGeom>
        </p:spPr>
      </p:pic>
    </p:spTree>
    <p:extLst>
      <p:ext uri="{BB962C8B-B14F-4D97-AF65-F5344CB8AC3E}">
        <p14:creationId xmlns:p14="http://schemas.microsoft.com/office/powerpoint/2010/main" val="1673567737"/>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Review ( Circuits and Electronics )</a:t>
            </a:r>
            <a:endParaRPr dirty="0">
              <a:solidFill>
                <a:schemeClr val="accent1"/>
              </a:solidFill>
            </a:endParaRPr>
          </a:p>
        </p:txBody>
      </p:sp>
      <p:sp>
        <p:nvSpPr>
          <p:cNvPr id="100" name="Google Shape;100;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pic>
        <p:nvPicPr>
          <p:cNvPr id="102" name="Google Shape;102;p2"/>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2575CFF9-CB9A-83E0-36F1-918A93FAF16A}"/>
              </a:ext>
            </a:extLst>
          </p:cNvPr>
          <p:cNvSpPr>
            <a:spLocks noGrp="1"/>
          </p:cNvSpPr>
          <p:nvPr>
            <p:ph type="body" idx="1"/>
          </p:nvPr>
        </p:nvSpPr>
        <p:spPr/>
        <p:txBody>
          <a:bodyPr>
            <a:normAutofit/>
          </a:bodyPr>
          <a:lstStyle/>
          <a:p>
            <a:pPr marL="114300" indent="0">
              <a:buNone/>
            </a:pPr>
            <a:r>
              <a:rPr lang="en-US" dirty="0"/>
              <a:t> </a:t>
            </a:r>
            <a:r>
              <a:rPr lang="en-US" b="1" dirty="0"/>
              <a:t>Kirchhoff’s current law (KCL): </a:t>
            </a:r>
            <a:r>
              <a:rPr lang="en-US" dirty="0"/>
              <a:t>states that the algebraic sum of currents entering a node (or a closed boundary) is zero.</a:t>
            </a:r>
          </a:p>
          <a:p>
            <a:pPr marL="114300" indent="0">
              <a:buNone/>
            </a:pPr>
            <a:r>
              <a:rPr lang="en-US" dirty="0"/>
              <a:t>Convention: a. Current Entering a node is positive</a:t>
            </a:r>
          </a:p>
          <a:p>
            <a:pPr marL="114300" indent="0">
              <a:buNone/>
            </a:pPr>
            <a:r>
              <a:rPr lang="en-US" dirty="0"/>
              <a:t>		 b. Current Exiting a node positive</a:t>
            </a:r>
          </a:p>
          <a:p>
            <a:pPr marL="114300" indent="0">
              <a:buNone/>
            </a:pPr>
            <a:endParaRPr lang="en-US" dirty="0"/>
          </a:p>
          <a:p>
            <a:pPr marL="114300" indent="0">
              <a:buNone/>
            </a:pPr>
            <a:r>
              <a:rPr lang="en-US" dirty="0"/>
              <a:t>	</a:t>
            </a:r>
          </a:p>
          <a:p>
            <a:pPr marL="114300" indent="0">
              <a:buNone/>
            </a:pPr>
            <a:r>
              <a:rPr lang="en-US" dirty="0"/>
              <a:t> </a:t>
            </a:r>
          </a:p>
        </p:txBody>
      </p:sp>
      <p:pic>
        <p:nvPicPr>
          <p:cNvPr id="5" name="Picture 4">
            <a:extLst>
              <a:ext uri="{FF2B5EF4-FFF2-40B4-BE49-F238E27FC236}">
                <a16:creationId xmlns:a16="http://schemas.microsoft.com/office/drawing/2014/main" id="{55E125B2-0CE4-6164-9E94-9B4D94920B4C}"/>
              </a:ext>
            </a:extLst>
          </p:cNvPr>
          <p:cNvPicPr>
            <a:picLocks noChangeAspect="1"/>
          </p:cNvPicPr>
          <p:nvPr/>
        </p:nvPicPr>
        <p:blipFill>
          <a:blip r:embed="rId4"/>
          <a:stretch>
            <a:fillRect/>
          </a:stretch>
        </p:blipFill>
        <p:spPr>
          <a:xfrm>
            <a:off x="1988696" y="4217813"/>
            <a:ext cx="4107304" cy="1510273"/>
          </a:xfrm>
          <a:prstGeom prst="rect">
            <a:avLst/>
          </a:prstGeom>
        </p:spPr>
      </p:pic>
      <p:pic>
        <p:nvPicPr>
          <p:cNvPr id="7" name="Picture 6">
            <a:extLst>
              <a:ext uri="{FF2B5EF4-FFF2-40B4-BE49-F238E27FC236}">
                <a16:creationId xmlns:a16="http://schemas.microsoft.com/office/drawing/2014/main" id="{AE149114-F981-4000-E74C-743B5388593C}"/>
              </a:ext>
            </a:extLst>
          </p:cNvPr>
          <p:cNvPicPr>
            <a:picLocks noChangeAspect="1"/>
          </p:cNvPicPr>
          <p:nvPr/>
        </p:nvPicPr>
        <p:blipFill>
          <a:blip r:embed="rId5"/>
          <a:stretch>
            <a:fillRect/>
          </a:stretch>
        </p:blipFill>
        <p:spPr>
          <a:xfrm>
            <a:off x="6951261" y="3893349"/>
            <a:ext cx="2404277" cy="1943079"/>
          </a:xfrm>
          <a:prstGeom prst="rect">
            <a:avLst/>
          </a:prstGeom>
        </p:spPr>
      </p:pic>
    </p:spTree>
    <p:extLst>
      <p:ext uri="{BB962C8B-B14F-4D97-AF65-F5344CB8AC3E}">
        <p14:creationId xmlns:p14="http://schemas.microsoft.com/office/powerpoint/2010/main" val="2996655084"/>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Review ( Circuits and Electronics )</a:t>
            </a:r>
            <a:endParaRPr dirty="0">
              <a:solidFill>
                <a:schemeClr val="accent1"/>
              </a:solidFill>
            </a:endParaRPr>
          </a:p>
        </p:txBody>
      </p:sp>
      <p:sp>
        <p:nvSpPr>
          <p:cNvPr id="100" name="Google Shape;100;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pic>
        <p:nvPicPr>
          <p:cNvPr id="102" name="Google Shape;102;p2"/>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2575CFF9-CB9A-83E0-36F1-918A93FAF16A}"/>
              </a:ext>
            </a:extLst>
          </p:cNvPr>
          <p:cNvSpPr>
            <a:spLocks noGrp="1"/>
          </p:cNvSpPr>
          <p:nvPr>
            <p:ph type="body" idx="1"/>
          </p:nvPr>
        </p:nvSpPr>
        <p:spPr/>
        <p:txBody>
          <a:bodyPr>
            <a:normAutofit/>
          </a:bodyPr>
          <a:lstStyle/>
          <a:p>
            <a:pPr marL="114300" indent="0">
              <a:buNone/>
            </a:pPr>
            <a:r>
              <a:rPr lang="en-US" dirty="0"/>
              <a:t> </a:t>
            </a:r>
            <a:r>
              <a:rPr lang="en-US" b="1" dirty="0"/>
              <a:t>Kirchhoff’s voltage law (KVL)</a:t>
            </a:r>
            <a:r>
              <a:rPr lang="en-US" dirty="0"/>
              <a:t> states that the algebraic sum of all volt ages around a closed path (or loop) is zero.</a:t>
            </a:r>
          </a:p>
          <a:p>
            <a:pPr marL="114300" indent="0">
              <a:buNone/>
            </a:pPr>
            <a:r>
              <a:rPr lang="en-US" dirty="0"/>
              <a:t>	</a:t>
            </a:r>
          </a:p>
          <a:p>
            <a:pPr marL="114300" indent="0">
              <a:buNone/>
            </a:pPr>
            <a:r>
              <a:rPr lang="en-US" dirty="0"/>
              <a:t> </a:t>
            </a:r>
          </a:p>
        </p:txBody>
      </p:sp>
      <p:pic>
        <p:nvPicPr>
          <p:cNvPr id="4" name="Picture 3">
            <a:extLst>
              <a:ext uri="{FF2B5EF4-FFF2-40B4-BE49-F238E27FC236}">
                <a16:creationId xmlns:a16="http://schemas.microsoft.com/office/drawing/2014/main" id="{0D77A434-CA20-F36D-2AFE-4B1A226588DD}"/>
              </a:ext>
            </a:extLst>
          </p:cNvPr>
          <p:cNvPicPr>
            <a:picLocks noChangeAspect="1"/>
          </p:cNvPicPr>
          <p:nvPr/>
        </p:nvPicPr>
        <p:blipFill>
          <a:blip r:embed="rId4"/>
          <a:stretch>
            <a:fillRect/>
          </a:stretch>
        </p:blipFill>
        <p:spPr>
          <a:xfrm>
            <a:off x="1706492" y="3429000"/>
            <a:ext cx="2486372" cy="1467055"/>
          </a:xfrm>
          <a:prstGeom prst="rect">
            <a:avLst/>
          </a:prstGeom>
        </p:spPr>
      </p:pic>
      <p:pic>
        <p:nvPicPr>
          <p:cNvPr id="6" name="Picture 5">
            <a:extLst>
              <a:ext uri="{FF2B5EF4-FFF2-40B4-BE49-F238E27FC236}">
                <a16:creationId xmlns:a16="http://schemas.microsoft.com/office/drawing/2014/main" id="{02E67597-16BF-CF8F-2B8B-B3162DA1933C}"/>
              </a:ext>
            </a:extLst>
          </p:cNvPr>
          <p:cNvPicPr>
            <a:picLocks noChangeAspect="1"/>
          </p:cNvPicPr>
          <p:nvPr/>
        </p:nvPicPr>
        <p:blipFill>
          <a:blip r:embed="rId5"/>
          <a:stretch>
            <a:fillRect/>
          </a:stretch>
        </p:blipFill>
        <p:spPr>
          <a:xfrm>
            <a:off x="5370167" y="3228946"/>
            <a:ext cx="3477110" cy="1867161"/>
          </a:xfrm>
          <a:prstGeom prst="rect">
            <a:avLst/>
          </a:prstGeom>
        </p:spPr>
      </p:pic>
    </p:spTree>
    <p:extLst>
      <p:ext uri="{BB962C8B-B14F-4D97-AF65-F5344CB8AC3E}">
        <p14:creationId xmlns:p14="http://schemas.microsoft.com/office/powerpoint/2010/main" val="86730895"/>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Review ( Circuits and Electronics )</a:t>
            </a:r>
            <a:endParaRPr dirty="0">
              <a:solidFill>
                <a:schemeClr val="accent1"/>
              </a:solidFill>
            </a:endParaRPr>
          </a:p>
        </p:txBody>
      </p:sp>
      <p:sp>
        <p:nvSpPr>
          <p:cNvPr id="100" name="Google Shape;100;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pic>
        <p:nvPicPr>
          <p:cNvPr id="102" name="Google Shape;102;p2"/>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2575CFF9-CB9A-83E0-36F1-918A93FAF16A}"/>
              </a:ext>
            </a:extLst>
          </p:cNvPr>
          <p:cNvSpPr>
            <a:spLocks noGrp="1"/>
          </p:cNvSpPr>
          <p:nvPr>
            <p:ph type="body" idx="1"/>
          </p:nvPr>
        </p:nvSpPr>
        <p:spPr/>
        <p:txBody>
          <a:bodyPr>
            <a:normAutofit/>
          </a:bodyPr>
          <a:lstStyle/>
          <a:p>
            <a:pPr marL="114300" indent="0">
              <a:buNone/>
            </a:pPr>
            <a:r>
              <a:rPr lang="en-US" dirty="0"/>
              <a:t>Example: Find the value of I  for the below circuit.</a:t>
            </a:r>
          </a:p>
          <a:p>
            <a:pPr marL="114300" indent="0">
              <a:buNone/>
            </a:pPr>
            <a:endParaRPr lang="en-US" dirty="0"/>
          </a:p>
          <a:p>
            <a:pPr marL="114300" indent="0">
              <a:buNone/>
            </a:pPr>
            <a:r>
              <a:rPr lang="en-US" dirty="0"/>
              <a:t> </a:t>
            </a:r>
          </a:p>
        </p:txBody>
      </p:sp>
      <p:pic>
        <p:nvPicPr>
          <p:cNvPr id="5" name="Picture 4">
            <a:extLst>
              <a:ext uri="{FF2B5EF4-FFF2-40B4-BE49-F238E27FC236}">
                <a16:creationId xmlns:a16="http://schemas.microsoft.com/office/drawing/2014/main" id="{327835C7-E853-12A2-DF63-5F6316EFA3DA}"/>
              </a:ext>
            </a:extLst>
          </p:cNvPr>
          <p:cNvPicPr>
            <a:picLocks noChangeAspect="1"/>
          </p:cNvPicPr>
          <p:nvPr/>
        </p:nvPicPr>
        <p:blipFill>
          <a:blip r:embed="rId4"/>
          <a:stretch>
            <a:fillRect/>
          </a:stretch>
        </p:blipFill>
        <p:spPr>
          <a:xfrm>
            <a:off x="2454270" y="2971250"/>
            <a:ext cx="5195227" cy="2432372"/>
          </a:xfrm>
          <a:prstGeom prst="rect">
            <a:avLst/>
          </a:prstGeom>
        </p:spPr>
      </p:pic>
      <p:cxnSp>
        <p:nvCxnSpPr>
          <p:cNvPr id="8" name="Straight Arrow Connector 7">
            <a:extLst>
              <a:ext uri="{FF2B5EF4-FFF2-40B4-BE49-F238E27FC236}">
                <a16:creationId xmlns:a16="http://schemas.microsoft.com/office/drawing/2014/main" id="{FA6DDF35-D845-F874-B533-F1E1C63AD77E}"/>
              </a:ext>
            </a:extLst>
          </p:cNvPr>
          <p:cNvCxnSpPr/>
          <p:nvPr/>
        </p:nvCxnSpPr>
        <p:spPr>
          <a:xfrm flipH="1">
            <a:off x="4227871" y="2871019"/>
            <a:ext cx="93406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9" name="TextBox 8">
            <a:extLst>
              <a:ext uri="{FF2B5EF4-FFF2-40B4-BE49-F238E27FC236}">
                <a16:creationId xmlns:a16="http://schemas.microsoft.com/office/drawing/2014/main" id="{2A24DD4A-7193-1A89-7F76-1943D5EAE402}"/>
              </a:ext>
            </a:extLst>
          </p:cNvPr>
          <p:cNvSpPr txBox="1"/>
          <p:nvPr/>
        </p:nvSpPr>
        <p:spPr>
          <a:xfrm>
            <a:off x="4532671" y="2487561"/>
            <a:ext cx="432619" cy="400110"/>
          </a:xfrm>
          <a:prstGeom prst="rect">
            <a:avLst/>
          </a:prstGeom>
          <a:noFill/>
        </p:spPr>
        <p:txBody>
          <a:bodyPr wrap="square" rtlCol="0">
            <a:spAutoFit/>
          </a:bodyPr>
          <a:lstStyle/>
          <a:p>
            <a:r>
              <a:rPr lang="en-US" sz="2000" i="1" dirty="0"/>
              <a:t>i</a:t>
            </a:r>
          </a:p>
        </p:txBody>
      </p:sp>
    </p:spTree>
    <p:extLst>
      <p:ext uri="{BB962C8B-B14F-4D97-AF65-F5344CB8AC3E}">
        <p14:creationId xmlns:p14="http://schemas.microsoft.com/office/powerpoint/2010/main" val="1028302774"/>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Review ( Circuits and Electronics )</a:t>
            </a:r>
            <a:endParaRPr dirty="0">
              <a:solidFill>
                <a:schemeClr val="accent1"/>
              </a:solidFill>
            </a:endParaRPr>
          </a:p>
        </p:txBody>
      </p:sp>
      <p:sp>
        <p:nvSpPr>
          <p:cNvPr id="100" name="Google Shape;100;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pic>
        <p:nvPicPr>
          <p:cNvPr id="102" name="Google Shape;102;p2"/>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2575CFF9-CB9A-83E0-36F1-918A93FAF16A}"/>
              </a:ext>
            </a:extLst>
          </p:cNvPr>
          <p:cNvSpPr>
            <a:spLocks noGrp="1"/>
          </p:cNvSpPr>
          <p:nvPr>
            <p:ph type="body" idx="1"/>
          </p:nvPr>
        </p:nvSpPr>
        <p:spPr/>
        <p:txBody>
          <a:bodyPr>
            <a:normAutofit/>
          </a:bodyPr>
          <a:lstStyle/>
          <a:p>
            <a:pPr marL="114300" indent="0">
              <a:buNone/>
            </a:pPr>
            <a:r>
              <a:rPr lang="en-US" b="1" dirty="0"/>
              <a:t>Node Analysis: </a:t>
            </a:r>
            <a:r>
              <a:rPr lang="en-US" dirty="0"/>
              <a:t>Goal -&gt; Finding “</a:t>
            </a:r>
            <a:r>
              <a:rPr lang="en-US" b="1" dirty="0"/>
              <a:t>node voltage</a:t>
            </a:r>
            <a:r>
              <a:rPr lang="en-US" dirty="0"/>
              <a:t>”</a:t>
            </a:r>
          </a:p>
          <a:p>
            <a:pPr marL="114300" indent="0">
              <a:buNone/>
            </a:pPr>
            <a:r>
              <a:rPr lang="en-US" dirty="0"/>
              <a:t> Techniques -&gt; </a:t>
            </a:r>
            <a:r>
              <a:rPr lang="en-US" b="1" dirty="0"/>
              <a:t>KCL and Ohm’s Law</a:t>
            </a:r>
          </a:p>
          <a:p>
            <a:pPr marL="114300" indent="0">
              <a:buNone/>
            </a:pPr>
            <a:r>
              <a:rPr lang="en-US" b="1" dirty="0"/>
              <a:t>Step: </a:t>
            </a:r>
          </a:p>
          <a:p>
            <a:pPr marL="628650" indent="-514350">
              <a:buAutoNum type="arabicPeriod"/>
            </a:pPr>
            <a:r>
              <a:rPr lang="en-US" dirty="0"/>
              <a:t>Identify reference voltage</a:t>
            </a:r>
          </a:p>
          <a:p>
            <a:pPr marL="628650" indent="-514350">
              <a:buAutoNum type="arabicPeriod"/>
            </a:pPr>
            <a:r>
              <a:rPr lang="en-US" dirty="0"/>
              <a:t>Identify unknown node voltage</a:t>
            </a:r>
          </a:p>
          <a:p>
            <a:pPr marL="628650" indent="-514350">
              <a:buAutoNum type="arabicPeriod"/>
            </a:pPr>
            <a:r>
              <a:rPr lang="en-US" dirty="0"/>
              <a:t>Write the node equation</a:t>
            </a:r>
          </a:p>
          <a:p>
            <a:pPr marL="628650" indent="-514350">
              <a:buAutoNum type="arabicPeriod"/>
            </a:pPr>
            <a:r>
              <a:rPr lang="en-US" dirty="0"/>
              <a:t>Solve the node equation</a:t>
            </a:r>
          </a:p>
          <a:p>
            <a:pPr marL="628650" indent="-514350">
              <a:buAutoNum type="arabicPeriod"/>
            </a:pPr>
            <a:endParaRPr lang="en-US" b="1" dirty="0"/>
          </a:p>
        </p:txBody>
      </p:sp>
      <p:pic>
        <p:nvPicPr>
          <p:cNvPr id="6" name="Picture 5">
            <a:extLst>
              <a:ext uri="{FF2B5EF4-FFF2-40B4-BE49-F238E27FC236}">
                <a16:creationId xmlns:a16="http://schemas.microsoft.com/office/drawing/2014/main" id="{100EDDC3-98BA-73DA-5A5D-28779B497359}"/>
              </a:ext>
            </a:extLst>
          </p:cNvPr>
          <p:cNvPicPr>
            <a:picLocks noChangeAspect="1"/>
          </p:cNvPicPr>
          <p:nvPr/>
        </p:nvPicPr>
        <p:blipFill>
          <a:blip r:embed="rId4"/>
          <a:srcRect l="50090" t="19884" r="10559"/>
          <a:stretch/>
        </p:blipFill>
        <p:spPr>
          <a:xfrm>
            <a:off x="8153400" y="3454725"/>
            <a:ext cx="3200400" cy="2395916"/>
          </a:xfrm>
          <a:prstGeom prst="rect">
            <a:avLst/>
          </a:prstGeom>
        </p:spPr>
      </p:pic>
      <p:pic>
        <p:nvPicPr>
          <p:cNvPr id="9" name="Picture 8">
            <a:extLst>
              <a:ext uri="{FF2B5EF4-FFF2-40B4-BE49-F238E27FC236}">
                <a16:creationId xmlns:a16="http://schemas.microsoft.com/office/drawing/2014/main" id="{7E33C7C9-C8D7-380D-D037-D2AA772C7F95}"/>
              </a:ext>
            </a:extLst>
          </p:cNvPr>
          <p:cNvPicPr>
            <a:picLocks noChangeAspect="1"/>
          </p:cNvPicPr>
          <p:nvPr/>
        </p:nvPicPr>
        <p:blipFill>
          <a:blip r:embed="rId5"/>
          <a:stretch>
            <a:fillRect/>
          </a:stretch>
        </p:blipFill>
        <p:spPr>
          <a:xfrm>
            <a:off x="8396636" y="2104716"/>
            <a:ext cx="3078526" cy="1350009"/>
          </a:xfrm>
          <a:prstGeom prst="rect">
            <a:avLst/>
          </a:prstGeom>
        </p:spPr>
      </p:pic>
    </p:spTree>
    <p:extLst>
      <p:ext uri="{BB962C8B-B14F-4D97-AF65-F5344CB8AC3E}">
        <p14:creationId xmlns:p14="http://schemas.microsoft.com/office/powerpoint/2010/main" val="2950219281"/>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Review ( Circuits and Electronics )</a:t>
            </a:r>
            <a:endParaRPr dirty="0">
              <a:solidFill>
                <a:schemeClr val="accent1"/>
              </a:solidFill>
            </a:endParaRPr>
          </a:p>
        </p:txBody>
      </p:sp>
      <p:sp>
        <p:nvSpPr>
          <p:cNvPr id="100" name="Google Shape;100;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pic>
        <p:nvPicPr>
          <p:cNvPr id="102" name="Google Shape;102;p2"/>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2575CFF9-CB9A-83E0-36F1-918A93FAF16A}"/>
              </a:ext>
            </a:extLst>
          </p:cNvPr>
          <p:cNvSpPr>
            <a:spLocks noGrp="1"/>
          </p:cNvSpPr>
          <p:nvPr>
            <p:ph type="body" idx="1"/>
          </p:nvPr>
        </p:nvSpPr>
        <p:spPr/>
        <p:txBody>
          <a:bodyPr>
            <a:normAutofit/>
          </a:bodyPr>
          <a:lstStyle/>
          <a:p>
            <a:pPr marL="114300" indent="0">
              <a:buNone/>
            </a:pPr>
            <a:r>
              <a:rPr lang="en-US" b="1" dirty="0"/>
              <a:t>Example: </a:t>
            </a:r>
            <a:r>
              <a:rPr lang="en-US" dirty="0"/>
              <a:t>Find  the voltage of the node a. Given R1 = 10 Ohm, R2 = 5 ohm and R3 = 20 Ohm.</a:t>
            </a:r>
          </a:p>
          <a:p>
            <a:pPr marL="114300" indent="0">
              <a:buNone/>
            </a:pPr>
            <a:endParaRPr lang="en-US" b="1" dirty="0"/>
          </a:p>
        </p:txBody>
      </p:sp>
      <p:pic>
        <p:nvPicPr>
          <p:cNvPr id="4" name="Picture 3">
            <a:extLst>
              <a:ext uri="{FF2B5EF4-FFF2-40B4-BE49-F238E27FC236}">
                <a16:creationId xmlns:a16="http://schemas.microsoft.com/office/drawing/2014/main" id="{5F2BF996-9E0C-3A42-14E3-6E682FEB7961}"/>
              </a:ext>
            </a:extLst>
          </p:cNvPr>
          <p:cNvPicPr>
            <a:picLocks noChangeAspect="1"/>
          </p:cNvPicPr>
          <p:nvPr/>
        </p:nvPicPr>
        <p:blipFill>
          <a:blip r:embed="rId4"/>
          <a:stretch>
            <a:fillRect/>
          </a:stretch>
        </p:blipFill>
        <p:spPr>
          <a:xfrm>
            <a:off x="1906150" y="3143910"/>
            <a:ext cx="5894967" cy="2421147"/>
          </a:xfrm>
          <a:prstGeom prst="rect">
            <a:avLst/>
          </a:prstGeom>
        </p:spPr>
      </p:pic>
      <p:sp>
        <p:nvSpPr>
          <p:cNvPr id="5" name="TextBox 4">
            <a:extLst>
              <a:ext uri="{FF2B5EF4-FFF2-40B4-BE49-F238E27FC236}">
                <a16:creationId xmlns:a16="http://schemas.microsoft.com/office/drawing/2014/main" id="{BE6D4031-5526-8FF3-5DE6-7A4E05DBDF4F}"/>
              </a:ext>
            </a:extLst>
          </p:cNvPr>
          <p:cNvSpPr txBox="1"/>
          <p:nvPr/>
        </p:nvSpPr>
        <p:spPr>
          <a:xfrm>
            <a:off x="4681568" y="3311982"/>
            <a:ext cx="344129" cy="307777"/>
          </a:xfrm>
          <a:prstGeom prst="rect">
            <a:avLst/>
          </a:prstGeom>
          <a:noFill/>
        </p:spPr>
        <p:txBody>
          <a:bodyPr wrap="square" rtlCol="0">
            <a:spAutoFit/>
          </a:bodyPr>
          <a:lstStyle/>
          <a:p>
            <a:r>
              <a:rPr lang="en-US" dirty="0"/>
              <a:t>a</a:t>
            </a:r>
          </a:p>
        </p:txBody>
      </p:sp>
    </p:spTree>
    <p:extLst>
      <p:ext uri="{BB962C8B-B14F-4D97-AF65-F5344CB8AC3E}">
        <p14:creationId xmlns:p14="http://schemas.microsoft.com/office/powerpoint/2010/main" val="1525850850"/>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9F925FA1-1180-6499-D182-5BC79593E19C}"/>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FDEC8E69-6BC0-82EC-C456-D852D88EDBF6}"/>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Review ( Electronic Circuits and Devices)</a:t>
            </a:r>
            <a:endParaRPr dirty="0">
              <a:solidFill>
                <a:schemeClr val="accent1"/>
              </a:solidFill>
            </a:endParaRPr>
          </a:p>
        </p:txBody>
      </p:sp>
      <p:sp>
        <p:nvSpPr>
          <p:cNvPr id="100" name="Google Shape;100;p2">
            <a:extLst>
              <a:ext uri="{FF2B5EF4-FFF2-40B4-BE49-F238E27FC236}">
                <a16:creationId xmlns:a16="http://schemas.microsoft.com/office/drawing/2014/main" id="{62044FB1-CCE5-537C-9684-B2B1FF3D6692}"/>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FCD59358-1245-E81A-9C2E-25BA4783C632}"/>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pic>
        <p:nvPicPr>
          <p:cNvPr id="102" name="Google Shape;102;p2">
            <a:extLst>
              <a:ext uri="{FF2B5EF4-FFF2-40B4-BE49-F238E27FC236}">
                <a16:creationId xmlns:a16="http://schemas.microsoft.com/office/drawing/2014/main" id="{D6E76E7C-676D-82A9-975A-DA51DEA9D2C6}"/>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788E5D74-525E-312C-C479-675E1351695B}"/>
              </a:ext>
            </a:extLst>
          </p:cNvPr>
          <p:cNvSpPr>
            <a:spLocks noGrp="1"/>
          </p:cNvSpPr>
          <p:nvPr>
            <p:ph type="body" idx="1"/>
          </p:nvPr>
        </p:nvSpPr>
        <p:spPr/>
        <p:txBody>
          <a:bodyPr>
            <a:normAutofit/>
          </a:bodyPr>
          <a:lstStyle/>
          <a:p>
            <a:pPr marL="114300" indent="0">
              <a:buNone/>
            </a:pPr>
            <a:r>
              <a:rPr lang="en-US" b="1" dirty="0"/>
              <a:t>Electronics: </a:t>
            </a:r>
            <a:r>
              <a:rPr lang="en-US" dirty="0"/>
              <a:t>The method or process that can be used to control flow of electron using external electric field / voltage.</a:t>
            </a:r>
          </a:p>
        </p:txBody>
      </p:sp>
      <p:sp>
        <p:nvSpPr>
          <p:cNvPr id="5" name="TextBox 4">
            <a:extLst>
              <a:ext uri="{FF2B5EF4-FFF2-40B4-BE49-F238E27FC236}">
                <a16:creationId xmlns:a16="http://schemas.microsoft.com/office/drawing/2014/main" id="{2A85F439-E30F-8217-FDA9-C652829A7C37}"/>
              </a:ext>
            </a:extLst>
          </p:cNvPr>
          <p:cNvSpPr txBox="1"/>
          <p:nvPr/>
        </p:nvSpPr>
        <p:spPr>
          <a:xfrm>
            <a:off x="4681568" y="3311982"/>
            <a:ext cx="344129" cy="307777"/>
          </a:xfrm>
          <a:prstGeom prst="rect">
            <a:avLst/>
          </a:prstGeom>
          <a:noFill/>
        </p:spPr>
        <p:txBody>
          <a:bodyPr wrap="square" rtlCol="0">
            <a:spAutoFit/>
          </a:bodyPr>
          <a:lstStyle/>
          <a:p>
            <a:r>
              <a:rPr lang="en-US" dirty="0"/>
              <a:t>a</a:t>
            </a:r>
          </a:p>
        </p:txBody>
      </p:sp>
    </p:spTree>
    <p:extLst>
      <p:ext uri="{BB962C8B-B14F-4D97-AF65-F5344CB8AC3E}">
        <p14:creationId xmlns:p14="http://schemas.microsoft.com/office/powerpoint/2010/main" val="2444018888"/>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211673B3-8766-35F1-2948-899B04131E4F}"/>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965F1F22-1B69-64A4-D571-6857CB7733C1}"/>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Review ( Electronic Circuits and Devices)</a:t>
            </a:r>
            <a:endParaRPr dirty="0">
              <a:solidFill>
                <a:schemeClr val="accent1"/>
              </a:solidFill>
            </a:endParaRPr>
          </a:p>
        </p:txBody>
      </p:sp>
      <p:sp>
        <p:nvSpPr>
          <p:cNvPr id="100" name="Google Shape;100;p2">
            <a:extLst>
              <a:ext uri="{FF2B5EF4-FFF2-40B4-BE49-F238E27FC236}">
                <a16:creationId xmlns:a16="http://schemas.microsoft.com/office/drawing/2014/main" id="{AEE13EAD-B617-EC98-EED9-3EB020103D55}"/>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69AA3F1A-A3CE-F567-A133-E615094812BB}"/>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pic>
        <p:nvPicPr>
          <p:cNvPr id="102" name="Google Shape;102;p2">
            <a:extLst>
              <a:ext uri="{FF2B5EF4-FFF2-40B4-BE49-F238E27FC236}">
                <a16:creationId xmlns:a16="http://schemas.microsoft.com/office/drawing/2014/main" id="{06327F51-1C0C-D9A0-E9B3-0ED3062893D8}"/>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105362A-9338-0422-9448-7B62C57B68B0}"/>
                  </a:ext>
                </a:extLst>
              </p:cNvPr>
              <p:cNvSpPr>
                <a:spLocks noGrp="1"/>
              </p:cNvSpPr>
              <p:nvPr>
                <p:ph type="body" idx="1"/>
              </p:nvPr>
            </p:nvSpPr>
            <p:spPr/>
            <p:txBody>
              <a:bodyPr>
                <a:normAutofit/>
              </a:bodyPr>
              <a:lstStyle/>
              <a:p>
                <a:pPr marL="114300" indent="0">
                  <a:buNone/>
                </a:pPr>
                <a:r>
                  <a:rPr lang="en-US" b="1" dirty="0"/>
                  <a:t>Depending on conducting we can classify materials into three main category.</a:t>
                </a:r>
              </a:p>
              <a:p>
                <a:pPr marL="628650" indent="-514350">
                  <a:buAutoNum type="arabicPeriod"/>
                </a:pPr>
                <a:r>
                  <a:rPr lang="en-US" sz="2000" dirty="0"/>
                  <a:t>Metal ( good conductor )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(10</m:t>
                        </m:r>
                      </m:e>
                      <m:sup>
                        <m:r>
                          <a:rPr lang="en-US" sz="2000" b="0" i="1" smtClean="0">
                            <a:latin typeface="Cambria Math" panose="02040503050406030204" pitchFamily="18" charset="0"/>
                          </a:rPr>
                          <m:t>−13</m:t>
                        </m:r>
                      </m:sup>
                    </m:sSup>
                    <m:r>
                      <a:rPr lang="en-US" sz="2000" b="0" i="1" smtClean="0">
                        <a:latin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𝛺</m:t>
                    </m:r>
                    <m:r>
                      <a:rPr lang="en-US" sz="2000" b="0" i="1" smtClean="0">
                        <a:latin typeface="Cambria Math" panose="02040503050406030204" pitchFamily="18" charset="0"/>
                        <a:ea typeface="Cambria Math" panose="02040503050406030204" pitchFamily="18" charset="0"/>
                      </a:rPr>
                      <m:t>𝑚</m:t>
                    </m:r>
                    <m:r>
                      <a:rPr lang="en-US" sz="2000" b="0" i="1" smtClean="0">
                        <a:latin typeface="Cambria Math" panose="02040503050406030204" pitchFamily="18" charset="0"/>
                        <a:ea typeface="Cambria Math" panose="02040503050406030204" pitchFamily="18" charset="0"/>
                      </a:rPr>
                      <m:t>)</m:t>
                    </m:r>
                  </m:oMath>
                </a14:m>
                <a:endParaRPr lang="en-US" sz="2000" dirty="0"/>
              </a:p>
              <a:p>
                <a:pPr marL="628650" indent="-514350">
                  <a:buFont typeface="Arial"/>
                  <a:buAutoNum type="arabicPeriod"/>
                </a:pPr>
                <a:r>
                  <a:rPr lang="en-US" sz="2000" dirty="0"/>
                  <a:t>Semiconductor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(10</m:t>
                        </m:r>
                      </m:e>
                      <m:sup>
                        <m:r>
                          <a:rPr lang="en-US" sz="2000" b="0" i="1" smtClean="0">
                            <a:latin typeface="Cambria Math" panose="02040503050406030204" pitchFamily="18" charset="0"/>
                          </a:rPr>
                          <m:t>1</m:t>
                        </m:r>
                      </m:sup>
                    </m:sSup>
                    <m:r>
                      <a:rPr lang="en-US" sz="2000" b="0" i="1" smtClean="0">
                        <a:latin typeface="Cambria Math" panose="02040503050406030204" pitchFamily="18" charset="0"/>
                      </a:rPr>
                      <m:t>−10^−4</m:t>
                    </m:r>
                    <m:r>
                      <a:rPr lang="en-US" sz="2000" b="0" i="1" baseline="30000" smtClean="0">
                        <a:latin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𝛺</m:t>
                    </m:r>
                    <m:r>
                      <a:rPr lang="en-US" sz="2000" b="0" i="1" smtClean="0">
                        <a:latin typeface="Cambria Math" panose="02040503050406030204" pitchFamily="18" charset="0"/>
                        <a:ea typeface="Cambria Math" panose="02040503050406030204" pitchFamily="18" charset="0"/>
                      </a:rPr>
                      <m:t>𝑚</m:t>
                    </m:r>
                    <m:r>
                      <a:rPr lang="en-US" sz="2000" b="0" i="1" smtClean="0">
                        <a:latin typeface="Cambria Math" panose="02040503050406030204" pitchFamily="18" charset="0"/>
                        <a:ea typeface="Cambria Math" panose="02040503050406030204" pitchFamily="18" charset="0"/>
                      </a:rPr>
                      <m:t>)</m:t>
                    </m:r>
                  </m:oMath>
                </a14:m>
                <a:endParaRPr lang="en-US" sz="2000" dirty="0"/>
              </a:p>
              <a:p>
                <a:pPr marL="628650" indent="-514350">
                  <a:buFont typeface="Arial"/>
                  <a:buAutoNum type="arabicPeriod"/>
                </a:pPr>
                <a:r>
                  <a:rPr lang="en-US" sz="2000" dirty="0"/>
                  <a:t>Insulator ( bad conductor )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(10</m:t>
                        </m:r>
                      </m:e>
                      <m:sup>
                        <m:r>
                          <a:rPr lang="en-US" sz="2000" b="0" i="1" smtClean="0">
                            <a:latin typeface="Cambria Math" panose="02040503050406030204" pitchFamily="18" charset="0"/>
                          </a:rPr>
                          <m:t>10</m:t>
                        </m:r>
                      </m:sup>
                    </m:sSup>
                    <m:r>
                      <a:rPr lang="en-US" sz="2000" b="0" i="1" smtClean="0">
                        <a:latin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𝛺</m:t>
                    </m:r>
                    <m:r>
                      <a:rPr lang="en-US" sz="2000" b="0" i="1" smtClean="0">
                        <a:latin typeface="Cambria Math" panose="02040503050406030204" pitchFamily="18" charset="0"/>
                        <a:ea typeface="Cambria Math" panose="02040503050406030204" pitchFamily="18" charset="0"/>
                      </a:rPr>
                      <m:t>𝑚</m:t>
                    </m:r>
                    <m:r>
                      <a:rPr lang="en-US" sz="2000" b="0" i="1" smtClean="0">
                        <a:latin typeface="Cambria Math" panose="02040503050406030204" pitchFamily="18" charset="0"/>
                        <a:ea typeface="Cambria Math" panose="02040503050406030204" pitchFamily="18" charset="0"/>
                      </a:rPr>
                      <m:t>)</m:t>
                    </m:r>
                  </m:oMath>
                </a14:m>
                <a:endParaRPr lang="en-US" sz="2000" dirty="0"/>
              </a:p>
              <a:p>
                <a:pPr marL="114300" indent="0">
                  <a:buNone/>
                </a:pPr>
                <a:endParaRPr lang="en-US" b="1" dirty="0"/>
              </a:p>
            </p:txBody>
          </p:sp>
        </mc:Choice>
        <mc:Fallback xmlns="">
          <p:sp>
            <p:nvSpPr>
              <p:cNvPr id="3" name="Text Placeholder 2">
                <a:extLst>
                  <a:ext uri="{FF2B5EF4-FFF2-40B4-BE49-F238E27FC236}">
                    <a16:creationId xmlns:a16="http://schemas.microsoft.com/office/drawing/2014/main" id="{3105362A-9338-0422-9448-7B62C57B68B0}"/>
                  </a:ext>
                </a:extLst>
              </p:cNvPr>
              <p:cNvSpPr>
                <a:spLocks noGrp="1" noRot="1" noChangeAspect="1" noMove="1" noResize="1" noEditPoints="1" noAdjustHandles="1" noChangeArrowheads="1" noChangeShapeType="1" noTextEdit="1"/>
              </p:cNvSpPr>
              <p:nvPr>
                <p:ph type="body" idx="1"/>
              </p:nvPr>
            </p:nvSpPr>
            <p:spPr>
              <a:blipFill>
                <a:blip r:embed="rId4"/>
                <a:stretch>
                  <a:fillRect l="-116"/>
                </a:stretch>
              </a:blipFill>
            </p:spPr>
            <p:txBody>
              <a:bodyPr/>
              <a:lstStyle/>
              <a:p>
                <a:r>
                  <a:rPr lang="en-US">
                    <a:noFill/>
                  </a:rPr>
                  <a:t> </a:t>
                </a:r>
              </a:p>
            </p:txBody>
          </p:sp>
        </mc:Fallback>
      </mc:AlternateContent>
    </p:spTree>
    <p:extLst>
      <p:ext uri="{BB962C8B-B14F-4D97-AF65-F5344CB8AC3E}">
        <p14:creationId xmlns:p14="http://schemas.microsoft.com/office/powerpoint/2010/main" val="3825801020"/>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0121D3E8-1B76-5F5E-6FF9-120224DC35B9}"/>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43DA2EF4-E915-BB40-FB8D-CC7B6BAEEBA2}"/>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Review ( Electronic Circuits and Devices)</a:t>
            </a:r>
            <a:endParaRPr dirty="0">
              <a:solidFill>
                <a:schemeClr val="accent1"/>
              </a:solidFill>
            </a:endParaRPr>
          </a:p>
        </p:txBody>
      </p:sp>
      <p:sp>
        <p:nvSpPr>
          <p:cNvPr id="100" name="Google Shape;100;p2">
            <a:extLst>
              <a:ext uri="{FF2B5EF4-FFF2-40B4-BE49-F238E27FC236}">
                <a16:creationId xmlns:a16="http://schemas.microsoft.com/office/drawing/2014/main" id="{C004EF00-A8D6-48FB-71D0-198F5C7F0985}"/>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0657A9B4-CF93-3DF7-F72C-408A3B0B71F0}"/>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18</a:t>
            </a:fld>
            <a:endParaRPr/>
          </a:p>
        </p:txBody>
      </p:sp>
      <p:pic>
        <p:nvPicPr>
          <p:cNvPr id="102" name="Google Shape;102;p2">
            <a:extLst>
              <a:ext uri="{FF2B5EF4-FFF2-40B4-BE49-F238E27FC236}">
                <a16:creationId xmlns:a16="http://schemas.microsoft.com/office/drawing/2014/main" id="{B7DA5410-750E-A00E-32A6-55E28A65A1E6}"/>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1B1E38D1-DCB7-4537-F395-4E232AC5876E}"/>
              </a:ext>
            </a:extLst>
          </p:cNvPr>
          <p:cNvSpPr>
            <a:spLocks noGrp="1"/>
          </p:cNvSpPr>
          <p:nvPr>
            <p:ph type="body" idx="1"/>
          </p:nvPr>
        </p:nvSpPr>
        <p:spPr>
          <a:xfrm>
            <a:off x="678426" y="1524000"/>
            <a:ext cx="10675374" cy="4652963"/>
          </a:xfrm>
        </p:spPr>
        <p:txBody>
          <a:bodyPr>
            <a:normAutofit/>
          </a:bodyPr>
          <a:lstStyle/>
          <a:p>
            <a:pPr marL="114300" indent="0">
              <a:buNone/>
            </a:pPr>
            <a:r>
              <a:rPr lang="en-US" b="1" dirty="0"/>
              <a:t>Electron energy level in solid form band.</a:t>
            </a:r>
          </a:p>
          <a:p>
            <a:pPr marL="114300" indent="0">
              <a:buNone/>
            </a:pPr>
            <a:endParaRPr lang="en-US" b="1" dirty="0"/>
          </a:p>
        </p:txBody>
      </p:sp>
      <p:pic>
        <p:nvPicPr>
          <p:cNvPr id="2" name="Picture 1">
            <a:extLst>
              <a:ext uri="{FF2B5EF4-FFF2-40B4-BE49-F238E27FC236}">
                <a16:creationId xmlns:a16="http://schemas.microsoft.com/office/drawing/2014/main" id="{7F62A9F1-A73E-9AFA-1852-74A66AFE3CC3}"/>
              </a:ext>
            </a:extLst>
          </p:cNvPr>
          <p:cNvPicPr>
            <a:picLocks noChangeAspect="1"/>
          </p:cNvPicPr>
          <p:nvPr/>
        </p:nvPicPr>
        <p:blipFill>
          <a:blip r:embed="rId4"/>
          <a:stretch>
            <a:fillRect/>
          </a:stretch>
        </p:blipFill>
        <p:spPr>
          <a:xfrm>
            <a:off x="1713508" y="2132959"/>
            <a:ext cx="8856169" cy="4218954"/>
          </a:xfrm>
          <a:prstGeom prst="rect">
            <a:avLst/>
          </a:prstGeom>
        </p:spPr>
      </p:pic>
      <p:sp>
        <p:nvSpPr>
          <p:cNvPr id="4" name="TextBox 3">
            <a:extLst>
              <a:ext uri="{FF2B5EF4-FFF2-40B4-BE49-F238E27FC236}">
                <a16:creationId xmlns:a16="http://schemas.microsoft.com/office/drawing/2014/main" id="{F2526517-053E-880F-4841-0AA92BD6D1D8}"/>
              </a:ext>
            </a:extLst>
          </p:cNvPr>
          <p:cNvSpPr txBox="1"/>
          <p:nvPr/>
        </p:nvSpPr>
        <p:spPr>
          <a:xfrm>
            <a:off x="2517058" y="4552335"/>
            <a:ext cx="1376516" cy="523220"/>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Metal: Al, Cu, Zn, Au</a:t>
            </a:r>
          </a:p>
        </p:txBody>
      </p:sp>
      <p:sp>
        <p:nvSpPr>
          <p:cNvPr id="7" name="TextBox 6">
            <a:extLst>
              <a:ext uri="{FF2B5EF4-FFF2-40B4-BE49-F238E27FC236}">
                <a16:creationId xmlns:a16="http://schemas.microsoft.com/office/drawing/2014/main" id="{81F9DE6A-A24B-CE20-DB89-33BCBA0C1504}"/>
              </a:ext>
            </a:extLst>
          </p:cNvPr>
          <p:cNvSpPr txBox="1"/>
          <p:nvPr/>
        </p:nvSpPr>
        <p:spPr>
          <a:xfrm>
            <a:off x="8896965" y="4419600"/>
            <a:ext cx="1376516" cy="523220"/>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Insulator: SiO2, </a:t>
            </a:r>
            <a:r>
              <a:rPr lang="en-US" b="1" dirty="0" err="1">
                <a:latin typeface="Calibri" panose="020F0502020204030204" pitchFamily="34" charset="0"/>
                <a:ea typeface="Calibri" panose="020F0502020204030204" pitchFamily="34" charset="0"/>
                <a:cs typeface="Calibri" panose="020F0502020204030204" pitchFamily="34" charset="0"/>
              </a:rPr>
              <a:t>SiC</a:t>
            </a:r>
            <a:r>
              <a:rPr lang="en-US" b="1" dirty="0">
                <a:latin typeface="Calibri" panose="020F0502020204030204" pitchFamily="34" charset="0"/>
                <a:ea typeface="Calibri" panose="020F0502020204030204" pitchFamily="34" charset="0"/>
                <a:cs typeface="Calibri" panose="020F0502020204030204" pitchFamily="34" charset="0"/>
              </a:rPr>
              <a:t>, </a:t>
            </a:r>
            <a:r>
              <a:rPr lang="en-US" b="1" dirty="0" err="1">
                <a:latin typeface="Calibri" panose="020F0502020204030204" pitchFamily="34" charset="0"/>
                <a:ea typeface="Calibri" panose="020F0502020204030204" pitchFamily="34" charset="0"/>
                <a:cs typeface="Calibri" panose="020F0502020204030204" pitchFamily="34" charset="0"/>
              </a:rPr>
              <a:t>SiN</a:t>
            </a:r>
            <a:r>
              <a:rPr lang="en-US" b="1" dirty="0">
                <a:latin typeface="Calibri" panose="020F0502020204030204" pitchFamily="34" charset="0"/>
                <a:ea typeface="Calibri" panose="020F0502020204030204" pitchFamily="34" charset="0"/>
                <a:cs typeface="Calibri" panose="020F0502020204030204" pitchFamily="34" charset="0"/>
              </a:rPr>
              <a:t>, </a:t>
            </a:r>
            <a:r>
              <a:rPr lang="en-US" b="1" dirty="0" err="1">
                <a:latin typeface="Calibri" panose="020F0502020204030204" pitchFamily="34" charset="0"/>
                <a:ea typeface="Calibri" panose="020F0502020204030204" pitchFamily="34" charset="0"/>
                <a:cs typeface="Calibri" panose="020F0502020204030204" pitchFamily="34" charset="0"/>
              </a:rPr>
              <a:t>ZnO</a:t>
            </a:r>
            <a:endParaRPr lang="en-US" b="1" dirty="0">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57D84A0D-6D41-6D8E-5E7B-D0865162FC40}"/>
              </a:ext>
            </a:extLst>
          </p:cNvPr>
          <p:cNvSpPr txBox="1"/>
          <p:nvPr/>
        </p:nvSpPr>
        <p:spPr>
          <a:xfrm>
            <a:off x="6716542" y="6106901"/>
            <a:ext cx="1894057" cy="523220"/>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Semiconductor: Si, Ge, GaAs, </a:t>
            </a:r>
            <a:r>
              <a:rPr lang="en-US" b="1" dirty="0" err="1">
                <a:latin typeface="Calibri" panose="020F0502020204030204" pitchFamily="34" charset="0"/>
                <a:ea typeface="Calibri" panose="020F0502020204030204" pitchFamily="34" charset="0"/>
                <a:cs typeface="Calibri" panose="020F0502020204030204" pitchFamily="34" charset="0"/>
              </a:rPr>
              <a:t>GaN</a:t>
            </a:r>
            <a:endParaRPr lang="en-US"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08831401"/>
      </p:ext>
    </p:extLst>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BEB343F3-C8B0-747B-F78C-1F0BDF83BB9E}"/>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0F2622B4-BCE6-CE32-D7C8-1CF27B5990CB}"/>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Review ( Electronic Circuits and Devices)</a:t>
            </a:r>
            <a:endParaRPr dirty="0">
              <a:solidFill>
                <a:schemeClr val="accent1"/>
              </a:solidFill>
            </a:endParaRPr>
          </a:p>
        </p:txBody>
      </p:sp>
      <p:sp>
        <p:nvSpPr>
          <p:cNvPr id="100" name="Google Shape;100;p2">
            <a:extLst>
              <a:ext uri="{FF2B5EF4-FFF2-40B4-BE49-F238E27FC236}">
                <a16:creationId xmlns:a16="http://schemas.microsoft.com/office/drawing/2014/main" id="{6764636B-3045-F549-CDE9-837C9F3CFEA6}"/>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3B900781-2134-D41B-DD12-6B70E00DE0E4}"/>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19</a:t>
            </a:fld>
            <a:endParaRPr/>
          </a:p>
        </p:txBody>
      </p:sp>
      <p:pic>
        <p:nvPicPr>
          <p:cNvPr id="102" name="Google Shape;102;p2">
            <a:extLst>
              <a:ext uri="{FF2B5EF4-FFF2-40B4-BE49-F238E27FC236}">
                <a16:creationId xmlns:a16="http://schemas.microsoft.com/office/drawing/2014/main" id="{38F4B0B8-CDB4-913E-7468-17A9C9EE9F3C}"/>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0E83087E-9FB7-D90C-A383-5D9BD92C8A7B}"/>
              </a:ext>
            </a:extLst>
          </p:cNvPr>
          <p:cNvSpPr>
            <a:spLocks noGrp="1"/>
          </p:cNvSpPr>
          <p:nvPr>
            <p:ph type="body" idx="1"/>
          </p:nvPr>
        </p:nvSpPr>
        <p:spPr/>
        <p:txBody>
          <a:bodyPr>
            <a:normAutofit/>
          </a:bodyPr>
          <a:lstStyle/>
          <a:p>
            <a:pPr marL="114300" indent="0">
              <a:buNone/>
            </a:pPr>
            <a:r>
              <a:rPr lang="en-US" b="1" dirty="0"/>
              <a:t>Semiconductor ( Si )</a:t>
            </a:r>
          </a:p>
          <a:p>
            <a:pPr>
              <a:buFont typeface="Wingdings" panose="05000000000000000000" pitchFamily="2" charset="2"/>
              <a:buChar char="Ø"/>
            </a:pPr>
            <a:r>
              <a:rPr lang="en-US" sz="2000" dirty="0">
                <a:latin typeface="+mj-lt"/>
              </a:rPr>
              <a:t>Intrinsic Semiconductor: pure semiconductor crystal</a:t>
            </a:r>
          </a:p>
          <a:p>
            <a:pPr>
              <a:buFont typeface="Wingdings" panose="05000000000000000000" pitchFamily="2" charset="2"/>
              <a:buChar char="Ø"/>
            </a:pPr>
            <a:r>
              <a:rPr lang="en-US" sz="2000" dirty="0">
                <a:latin typeface="+mj-lt"/>
              </a:rPr>
              <a:t>Extrinsic Semiconductor: impurity is being added.</a:t>
            </a:r>
          </a:p>
          <a:p>
            <a:pPr marL="114300" indent="0">
              <a:buNone/>
            </a:pPr>
            <a:endParaRPr lang="en-US" sz="2000" dirty="0">
              <a:latin typeface="+mj-lt"/>
            </a:endParaRPr>
          </a:p>
          <a:p>
            <a:pPr marL="114300" indent="0">
              <a:buNone/>
            </a:pPr>
            <a:r>
              <a:rPr lang="en-US" sz="2000" dirty="0">
                <a:latin typeface="+mj-lt"/>
              </a:rPr>
              <a:t>Extrinsic Semiconductor is of two types:</a:t>
            </a:r>
          </a:p>
          <a:p>
            <a:pPr>
              <a:buFont typeface="Wingdings" panose="05000000000000000000" pitchFamily="2" charset="2"/>
              <a:buChar char="Ø"/>
            </a:pPr>
            <a:r>
              <a:rPr lang="en-US" sz="2000" dirty="0">
                <a:latin typeface="+mj-lt"/>
              </a:rPr>
              <a:t>n-type: Majority electron, Minority hole</a:t>
            </a:r>
          </a:p>
          <a:p>
            <a:pPr>
              <a:buFont typeface="Wingdings" panose="05000000000000000000" pitchFamily="2" charset="2"/>
              <a:buChar char="Ø"/>
            </a:pPr>
            <a:r>
              <a:rPr lang="en-US" sz="2000" dirty="0">
                <a:latin typeface="+mj-lt"/>
              </a:rPr>
              <a:t>p-type: Majority hole , Minority electron</a:t>
            </a:r>
          </a:p>
        </p:txBody>
      </p:sp>
    </p:spTree>
    <p:extLst>
      <p:ext uri="{BB962C8B-B14F-4D97-AF65-F5344CB8AC3E}">
        <p14:creationId xmlns:p14="http://schemas.microsoft.com/office/powerpoint/2010/main" val="3244067733"/>
      </p:ext>
    </p:extLst>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1CA45D87-BAE8-EBF6-751C-F39ADCB216EB}"/>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F660C84D-C779-BD2D-67E5-1984614C0086}"/>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Review ( Electronic Circuits and Devices)</a:t>
            </a:r>
            <a:endParaRPr dirty="0">
              <a:solidFill>
                <a:schemeClr val="accent1"/>
              </a:solidFill>
            </a:endParaRPr>
          </a:p>
        </p:txBody>
      </p:sp>
      <p:sp>
        <p:nvSpPr>
          <p:cNvPr id="100" name="Google Shape;100;p2">
            <a:extLst>
              <a:ext uri="{FF2B5EF4-FFF2-40B4-BE49-F238E27FC236}">
                <a16:creationId xmlns:a16="http://schemas.microsoft.com/office/drawing/2014/main" id="{11E956FD-0F83-D307-CD1C-D5A5794EE6BB}"/>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2E961613-D076-B013-C00D-408C483C8D76}"/>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20</a:t>
            </a:fld>
            <a:endParaRPr/>
          </a:p>
        </p:txBody>
      </p:sp>
      <p:pic>
        <p:nvPicPr>
          <p:cNvPr id="102" name="Google Shape;102;p2">
            <a:extLst>
              <a:ext uri="{FF2B5EF4-FFF2-40B4-BE49-F238E27FC236}">
                <a16:creationId xmlns:a16="http://schemas.microsoft.com/office/drawing/2014/main" id="{A2135619-B120-D7AB-8D76-70A5361855E5}"/>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pic>
        <p:nvPicPr>
          <p:cNvPr id="4" name="Picture 3">
            <a:extLst>
              <a:ext uri="{FF2B5EF4-FFF2-40B4-BE49-F238E27FC236}">
                <a16:creationId xmlns:a16="http://schemas.microsoft.com/office/drawing/2014/main" id="{45235591-8C1D-6028-8FA9-8022EF378BDF}"/>
              </a:ext>
            </a:extLst>
          </p:cNvPr>
          <p:cNvPicPr>
            <a:picLocks noChangeAspect="1"/>
          </p:cNvPicPr>
          <p:nvPr/>
        </p:nvPicPr>
        <p:blipFill>
          <a:blip r:embed="rId4"/>
          <a:stretch>
            <a:fillRect/>
          </a:stretch>
        </p:blipFill>
        <p:spPr>
          <a:xfrm>
            <a:off x="1096668" y="1514168"/>
            <a:ext cx="4829917" cy="3399111"/>
          </a:xfrm>
          <a:prstGeom prst="rect">
            <a:avLst/>
          </a:prstGeom>
        </p:spPr>
      </p:pic>
      <p:pic>
        <p:nvPicPr>
          <p:cNvPr id="6" name="Picture 5">
            <a:extLst>
              <a:ext uri="{FF2B5EF4-FFF2-40B4-BE49-F238E27FC236}">
                <a16:creationId xmlns:a16="http://schemas.microsoft.com/office/drawing/2014/main" id="{A8DE4663-EA78-B0D0-244A-4FBF5834DC71}"/>
              </a:ext>
            </a:extLst>
          </p:cNvPr>
          <p:cNvPicPr>
            <a:picLocks noChangeAspect="1"/>
          </p:cNvPicPr>
          <p:nvPr/>
        </p:nvPicPr>
        <p:blipFill>
          <a:blip r:embed="rId5"/>
          <a:stretch>
            <a:fillRect/>
          </a:stretch>
        </p:blipFill>
        <p:spPr>
          <a:xfrm>
            <a:off x="6517380" y="1514168"/>
            <a:ext cx="4418844" cy="3399111"/>
          </a:xfrm>
          <a:prstGeom prst="rect">
            <a:avLst/>
          </a:prstGeom>
        </p:spPr>
      </p:pic>
      <p:sp>
        <p:nvSpPr>
          <p:cNvPr id="7" name="TextBox 6">
            <a:extLst>
              <a:ext uri="{FF2B5EF4-FFF2-40B4-BE49-F238E27FC236}">
                <a16:creationId xmlns:a16="http://schemas.microsoft.com/office/drawing/2014/main" id="{10959F6E-A0AB-ACAE-BEA1-B71D80047226}"/>
              </a:ext>
            </a:extLst>
          </p:cNvPr>
          <p:cNvSpPr txBox="1"/>
          <p:nvPr/>
        </p:nvSpPr>
        <p:spPr>
          <a:xfrm>
            <a:off x="1789471" y="5122606"/>
            <a:ext cx="3618271" cy="307777"/>
          </a:xfrm>
          <a:prstGeom prst="rect">
            <a:avLst/>
          </a:prstGeom>
          <a:noFill/>
        </p:spPr>
        <p:txBody>
          <a:bodyPr wrap="square" rtlCol="0">
            <a:spAutoFit/>
          </a:bodyPr>
          <a:lstStyle/>
          <a:p>
            <a:r>
              <a:rPr lang="en-US" b="1" dirty="0"/>
              <a:t>Fig: n-type [ Si + group V ( P, As, Sb ) ]</a:t>
            </a:r>
          </a:p>
        </p:txBody>
      </p:sp>
      <p:sp>
        <p:nvSpPr>
          <p:cNvPr id="8" name="TextBox 7">
            <a:extLst>
              <a:ext uri="{FF2B5EF4-FFF2-40B4-BE49-F238E27FC236}">
                <a16:creationId xmlns:a16="http://schemas.microsoft.com/office/drawing/2014/main" id="{683D9354-F4FC-371C-C548-F43B5A5F674F}"/>
              </a:ext>
            </a:extLst>
          </p:cNvPr>
          <p:cNvSpPr txBox="1"/>
          <p:nvPr/>
        </p:nvSpPr>
        <p:spPr>
          <a:xfrm>
            <a:off x="6784260" y="5095845"/>
            <a:ext cx="3618271" cy="307777"/>
          </a:xfrm>
          <a:prstGeom prst="rect">
            <a:avLst/>
          </a:prstGeom>
          <a:noFill/>
        </p:spPr>
        <p:txBody>
          <a:bodyPr wrap="square" rtlCol="0">
            <a:spAutoFit/>
          </a:bodyPr>
          <a:lstStyle/>
          <a:p>
            <a:r>
              <a:rPr lang="en-US" b="1" dirty="0"/>
              <a:t>Fig: p-type [ Si + group III (</a:t>
            </a:r>
            <a:r>
              <a:rPr lang="en-US" b="1" dirty="0" err="1"/>
              <a:t>B,Ga</a:t>
            </a:r>
            <a:r>
              <a:rPr lang="en-US" b="1" dirty="0"/>
              <a:t>) ]</a:t>
            </a:r>
          </a:p>
        </p:txBody>
      </p:sp>
    </p:spTree>
    <p:extLst>
      <p:ext uri="{BB962C8B-B14F-4D97-AF65-F5344CB8AC3E}">
        <p14:creationId xmlns:p14="http://schemas.microsoft.com/office/powerpoint/2010/main" val="1939853638"/>
      </p:ext>
    </p:extLst>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995C980C-B437-4C63-9203-38708841BC93}"/>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8E651C7E-A37E-A2DC-9F43-6244E12A0F58}"/>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Review ( Electronic Circuits and Devices)</a:t>
            </a:r>
            <a:endParaRPr dirty="0">
              <a:solidFill>
                <a:schemeClr val="accent1"/>
              </a:solidFill>
            </a:endParaRPr>
          </a:p>
        </p:txBody>
      </p:sp>
      <p:sp>
        <p:nvSpPr>
          <p:cNvPr id="100" name="Google Shape;100;p2">
            <a:extLst>
              <a:ext uri="{FF2B5EF4-FFF2-40B4-BE49-F238E27FC236}">
                <a16:creationId xmlns:a16="http://schemas.microsoft.com/office/drawing/2014/main" id="{7B16253E-2FBE-1885-F3EA-66C8AD30E6E2}"/>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28B778A2-7646-9D17-5AA1-CE152F9DFF28}"/>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21</a:t>
            </a:fld>
            <a:endParaRPr/>
          </a:p>
        </p:txBody>
      </p:sp>
      <p:pic>
        <p:nvPicPr>
          <p:cNvPr id="102" name="Google Shape;102;p2">
            <a:extLst>
              <a:ext uri="{FF2B5EF4-FFF2-40B4-BE49-F238E27FC236}">
                <a16:creationId xmlns:a16="http://schemas.microsoft.com/office/drawing/2014/main" id="{8C200823-6373-DBFA-A420-C42D10E64B21}"/>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8A2DE453-36A4-FD33-144E-33AE8F8F6D4E}"/>
              </a:ext>
            </a:extLst>
          </p:cNvPr>
          <p:cNvSpPr>
            <a:spLocks noGrp="1"/>
          </p:cNvSpPr>
          <p:nvPr>
            <p:ph type="body" idx="1"/>
          </p:nvPr>
        </p:nvSpPr>
        <p:spPr>
          <a:xfrm>
            <a:off x="1199534" y="1825625"/>
            <a:ext cx="10154265" cy="4349033"/>
          </a:xfrm>
        </p:spPr>
        <p:txBody>
          <a:bodyPr>
            <a:normAutofit/>
          </a:bodyPr>
          <a:lstStyle/>
          <a:p>
            <a:pPr marL="114300" indent="0">
              <a:buNone/>
            </a:pPr>
            <a:r>
              <a:rPr lang="en-US" b="1" dirty="0"/>
              <a:t>Diode:</a:t>
            </a:r>
          </a:p>
          <a:p>
            <a:pPr marL="114300" indent="0">
              <a:buNone/>
            </a:pPr>
            <a:endParaRPr lang="en-US" b="1" dirty="0"/>
          </a:p>
        </p:txBody>
      </p:sp>
      <p:pic>
        <p:nvPicPr>
          <p:cNvPr id="5" name="Picture 4">
            <a:extLst>
              <a:ext uri="{FF2B5EF4-FFF2-40B4-BE49-F238E27FC236}">
                <a16:creationId xmlns:a16="http://schemas.microsoft.com/office/drawing/2014/main" id="{67B877CF-6C7D-C7D6-2965-A10E94654673}"/>
              </a:ext>
            </a:extLst>
          </p:cNvPr>
          <p:cNvPicPr>
            <a:picLocks noChangeAspect="1"/>
          </p:cNvPicPr>
          <p:nvPr/>
        </p:nvPicPr>
        <p:blipFill>
          <a:blip r:embed="rId4"/>
          <a:stretch>
            <a:fillRect/>
          </a:stretch>
        </p:blipFill>
        <p:spPr>
          <a:xfrm>
            <a:off x="1199534" y="2814810"/>
            <a:ext cx="4753761" cy="1767023"/>
          </a:xfrm>
          <a:prstGeom prst="rect">
            <a:avLst/>
          </a:prstGeom>
        </p:spPr>
      </p:pic>
      <p:sp>
        <p:nvSpPr>
          <p:cNvPr id="6" name="TextBox 5">
            <a:extLst>
              <a:ext uri="{FF2B5EF4-FFF2-40B4-BE49-F238E27FC236}">
                <a16:creationId xmlns:a16="http://schemas.microsoft.com/office/drawing/2014/main" id="{6D112C2A-B74F-937A-013A-86A1D6FAEF18}"/>
              </a:ext>
            </a:extLst>
          </p:cNvPr>
          <p:cNvSpPr txBox="1"/>
          <p:nvPr/>
        </p:nvSpPr>
        <p:spPr>
          <a:xfrm>
            <a:off x="1917290" y="4935793"/>
            <a:ext cx="3470787" cy="707886"/>
          </a:xfrm>
          <a:prstGeom prst="rect">
            <a:avLst/>
          </a:prstGeom>
          <a:noFill/>
        </p:spPr>
        <p:txBody>
          <a:bodyPr wrap="squar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Fig: Simplified physical structure of the </a:t>
            </a:r>
            <a:r>
              <a:rPr lang="en-US" sz="2000" dirty="0" err="1">
                <a:latin typeface="Calibri" panose="020F0502020204030204" pitchFamily="34" charset="0"/>
                <a:ea typeface="Calibri" panose="020F0502020204030204" pitchFamily="34" charset="0"/>
                <a:cs typeface="Calibri" panose="020F0502020204030204" pitchFamily="34" charset="0"/>
              </a:rPr>
              <a:t>pn</a:t>
            </a:r>
            <a:r>
              <a:rPr lang="en-US" sz="2000" dirty="0">
                <a:latin typeface="Calibri" panose="020F0502020204030204" pitchFamily="34" charset="0"/>
                <a:ea typeface="Calibri" panose="020F0502020204030204" pitchFamily="34" charset="0"/>
                <a:cs typeface="Calibri" panose="020F0502020204030204" pitchFamily="34" charset="0"/>
              </a:rPr>
              <a:t> junction.</a:t>
            </a:r>
          </a:p>
        </p:txBody>
      </p:sp>
      <p:pic>
        <p:nvPicPr>
          <p:cNvPr id="8" name="Picture 7">
            <a:extLst>
              <a:ext uri="{FF2B5EF4-FFF2-40B4-BE49-F238E27FC236}">
                <a16:creationId xmlns:a16="http://schemas.microsoft.com/office/drawing/2014/main" id="{DEF64919-ADF5-4C2E-CFEA-2EE673AAE3DB}"/>
              </a:ext>
            </a:extLst>
          </p:cNvPr>
          <p:cNvPicPr>
            <a:picLocks noChangeAspect="1"/>
          </p:cNvPicPr>
          <p:nvPr/>
        </p:nvPicPr>
        <p:blipFill>
          <a:blip r:embed="rId5"/>
          <a:stretch>
            <a:fillRect/>
          </a:stretch>
        </p:blipFill>
        <p:spPr>
          <a:xfrm>
            <a:off x="6617109" y="2703850"/>
            <a:ext cx="3775588" cy="2065768"/>
          </a:xfrm>
          <a:prstGeom prst="rect">
            <a:avLst/>
          </a:prstGeom>
        </p:spPr>
      </p:pic>
      <p:sp>
        <p:nvSpPr>
          <p:cNvPr id="9" name="TextBox 8">
            <a:extLst>
              <a:ext uri="{FF2B5EF4-FFF2-40B4-BE49-F238E27FC236}">
                <a16:creationId xmlns:a16="http://schemas.microsoft.com/office/drawing/2014/main" id="{CFE36AA9-5EDD-64B9-C0FF-3C59BD7D2EC4}"/>
              </a:ext>
            </a:extLst>
          </p:cNvPr>
          <p:cNvSpPr txBox="1"/>
          <p:nvPr/>
        </p:nvSpPr>
        <p:spPr>
          <a:xfrm>
            <a:off x="7182464" y="4935793"/>
            <a:ext cx="3470787" cy="707886"/>
          </a:xfrm>
          <a:prstGeom prst="rect">
            <a:avLst/>
          </a:prstGeom>
          <a:noFill/>
        </p:spPr>
        <p:txBody>
          <a:bodyPr wrap="squar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Fig:  </a:t>
            </a:r>
            <a:r>
              <a:rPr lang="en-US" sz="2000" dirty="0" err="1">
                <a:latin typeface="Calibri" panose="020F0502020204030204" pitchFamily="34" charset="0"/>
                <a:ea typeface="Calibri" panose="020F0502020204030204" pitchFamily="34" charset="0"/>
                <a:cs typeface="Calibri" panose="020F0502020204030204" pitchFamily="34" charset="0"/>
              </a:rPr>
              <a:t>pn</a:t>
            </a:r>
            <a:r>
              <a:rPr lang="en-US" sz="2000" dirty="0">
                <a:latin typeface="Calibri" panose="020F0502020204030204" pitchFamily="34" charset="0"/>
                <a:ea typeface="Calibri" panose="020F0502020204030204" pitchFamily="34" charset="0"/>
                <a:cs typeface="Calibri" panose="020F0502020204030204" pitchFamily="34" charset="0"/>
              </a:rPr>
              <a:t> junction with no applied voltage</a:t>
            </a:r>
          </a:p>
        </p:txBody>
      </p:sp>
    </p:spTree>
    <p:extLst>
      <p:ext uri="{BB962C8B-B14F-4D97-AF65-F5344CB8AC3E}">
        <p14:creationId xmlns:p14="http://schemas.microsoft.com/office/powerpoint/2010/main" val="295977610"/>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A6462281-E169-7826-9EBA-EFDBF1B4B871}"/>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2F983157-BD00-5A66-9E84-B008F35A5020}"/>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Review ( Electronic Circuits and Devices)</a:t>
            </a:r>
            <a:endParaRPr dirty="0">
              <a:solidFill>
                <a:schemeClr val="accent1"/>
              </a:solidFill>
            </a:endParaRPr>
          </a:p>
        </p:txBody>
      </p:sp>
      <p:sp>
        <p:nvSpPr>
          <p:cNvPr id="100" name="Google Shape;100;p2">
            <a:extLst>
              <a:ext uri="{FF2B5EF4-FFF2-40B4-BE49-F238E27FC236}">
                <a16:creationId xmlns:a16="http://schemas.microsoft.com/office/drawing/2014/main" id="{C9605329-69D8-ED1E-6CC1-8A9001FE40B2}"/>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F07E8341-DDAE-E5A3-187F-57CD863DC898}"/>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22</a:t>
            </a:fld>
            <a:endParaRPr/>
          </a:p>
        </p:txBody>
      </p:sp>
      <p:pic>
        <p:nvPicPr>
          <p:cNvPr id="102" name="Google Shape;102;p2">
            <a:extLst>
              <a:ext uri="{FF2B5EF4-FFF2-40B4-BE49-F238E27FC236}">
                <a16:creationId xmlns:a16="http://schemas.microsoft.com/office/drawing/2014/main" id="{14AC8BD6-6129-A6C5-5687-1CE5B4C8D181}"/>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B2F3C644-E3F6-9885-8056-1A51ACB6F6C7}"/>
              </a:ext>
            </a:extLst>
          </p:cNvPr>
          <p:cNvSpPr>
            <a:spLocks noGrp="1"/>
          </p:cNvSpPr>
          <p:nvPr>
            <p:ph type="body" idx="1"/>
          </p:nvPr>
        </p:nvSpPr>
        <p:spPr/>
        <p:txBody>
          <a:bodyPr>
            <a:normAutofit/>
          </a:bodyPr>
          <a:lstStyle/>
          <a:p>
            <a:pPr marL="114300" indent="0">
              <a:buNone/>
            </a:pPr>
            <a:r>
              <a:rPr lang="en-US" sz="2000" dirty="0">
                <a:latin typeface="+mj-lt"/>
              </a:rPr>
              <a:t>IV curve: </a:t>
            </a:r>
          </a:p>
          <a:p>
            <a:pPr marL="114300" indent="0">
              <a:buNone/>
            </a:pPr>
            <a:endParaRPr lang="en-US" sz="2000" dirty="0">
              <a:latin typeface="+mj-lt"/>
            </a:endParaRPr>
          </a:p>
        </p:txBody>
      </p:sp>
      <p:sp>
        <p:nvSpPr>
          <p:cNvPr id="5" name="TextBox 4">
            <a:extLst>
              <a:ext uri="{FF2B5EF4-FFF2-40B4-BE49-F238E27FC236}">
                <a16:creationId xmlns:a16="http://schemas.microsoft.com/office/drawing/2014/main" id="{20C06A00-B2A1-8C1F-E594-FBD65187DC9C}"/>
              </a:ext>
            </a:extLst>
          </p:cNvPr>
          <p:cNvSpPr txBox="1"/>
          <p:nvPr/>
        </p:nvSpPr>
        <p:spPr>
          <a:xfrm>
            <a:off x="3008671" y="5663381"/>
            <a:ext cx="7285703" cy="707886"/>
          </a:xfrm>
          <a:prstGeom prst="rect">
            <a:avLst/>
          </a:prstGeom>
          <a:noFill/>
        </p:spPr>
        <p:txBody>
          <a:bodyPr wrap="squar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Fig: The I-V characteristic of the </a:t>
            </a:r>
            <a:r>
              <a:rPr lang="en-US" sz="2000" dirty="0" err="1">
                <a:latin typeface="Calibri" panose="020F0502020204030204" pitchFamily="34" charset="0"/>
                <a:ea typeface="Calibri" panose="020F0502020204030204" pitchFamily="34" charset="0"/>
                <a:cs typeface="Calibri" panose="020F0502020204030204" pitchFamily="34" charset="0"/>
              </a:rPr>
              <a:t>pn</a:t>
            </a:r>
            <a:r>
              <a:rPr lang="en-US" sz="2000" dirty="0">
                <a:latin typeface="Calibri" panose="020F0502020204030204" pitchFamily="34" charset="0"/>
                <a:ea typeface="Calibri" panose="020F0502020204030204" pitchFamily="34" charset="0"/>
                <a:cs typeface="Calibri" panose="020F0502020204030204" pitchFamily="34" charset="0"/>
              </a:rPr>
              <a:t> junction showing the rapid increase in reverse current in the breakdown region.</a:t>
            </a:r>
          </a:p>
        </p:txBody>
      </p:sp>
      <p:pic>
        <p:nvPicPr>
          <p:cNvPr id="7" name="Picture 6">
            <a:extLst>
              <a:ext uri="{FF2B5EF4-FFF2-40B4-BE49-F238E27FC236}">
                <a16:creationId xmlns:a16="http://schemas.microsoft.com/office/drawing/2014/main" id="{638AD546-2CC2-1AA2-82D1-95FA065DFB01}"/>
              </a:ext>
            </a:extLst>
          </p:cNvPr>
          <p:cNvPicPr>
            <a:picLocks noChangeAspect="1"/>
          </p:cNvPicPr>
          <p:nvPr/>
        </p:nvPicPr>
        <p:blipFill>
          <a:blip r:embed="rId4"/>
          <a:stretch>
            <a:fillRect/>
          </a:stretch>
        </p:blipFill>
        <p:spPr>
          <a:xfrm>
            <a:off x="3553816" y="1711667"/>
            <a:ext cx="5084368" cy="3689973"/>
          </a:xfrm>
          <a:prstGeom prst="rect">
            <a:avLst/>
          </a:prstGeom>
        </p:spPr>
      </p:pic>
    </p:spTree>
    <p:extLst>
      <p:ext uri="{BB962C8B-B14F-4D97-AF65-F5344CB8AC3E}">
        <p14:creationId xmlns:p14="http://schemas.microsoft.com/office/powerpoint/2010/main" val="862932135"/>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C0FBFFC8-545B-B753-F8DB-4A77F5C4CF80}"/>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158E2ADD-FE75-AE1D-992D-EAA751410EE1}"/>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Review ( Electronic Circuits and Devices)</a:t>
            </a:r>
            <a:endParaRPr dirty="0">
              <a:solidFill>
                <a:schemeClr val="accent1"/>
              </a:solidFill>
            </a:endParaRPr>
          </a:p>
        </p:txBody>
      </p:sp>
      <p:sp>
        <p:nvSpPr>
          <p:cNvPr id="100" name="Google Shape;100;p2">
            <a:extLst>
              <a:ext uri="{FF2B5EF4-FFF2-40B4-BE49-F238E27FC236}">
                <a16:creationId xmlns:a16="http://schemas.microsoft.com/office/drawing/2014/main" id="{13F1A3D8-070D-C3BD-2EDA-D7814DA01C36}"/>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B9C3B324-E601-3EF0-4E10-50F6450D7C85}"/>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23</a:t>
            </a:fld>
            <a:endParaRPr/>
          </a:p>
        </p:txBody>
      </p:sp>
      <p:pic>
        <p:nvPicPr>
          <p:cNvPr id="102" name="Google Shape;102;p2">
            <a:extLst>
              <a:ext uri="{FF2B5EF4-FFF2-40B4-BE49-F238E27FC236}">
                <a16:creationId xmlns:a16="http://schemas.microsoft.com/office/drawing/2014/main" id="{EC471176-3138-CD19-7FDF-F4D737E2038D}"/>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B673A7FC-D1B1-4C12-8119-6A1A47C018F5}"/>
              </a:ext>
            </a:extLst>
          </p:cNvPr>
          <p:cNvSpPr>
            <a:spLocks noGrp="1"/>
          </p:cNvSpPr>
          <p:nvPr>
            <p:ph type="body" idx="1"/>
          </p:nvPr>
        </p:nvSpPr>
        <p:spPr>
          <a:xfrm>
            <a:off x="757084" y="1484671"/>
            <a:ext cx="10596716" cy="4692292"/>
          </a:xfrm>
        </p:spPr>
        <p:txBody>
          <a:bodyPr>
            <a:normAutofit/>
          </a:bodyPr>
          <a:lstStyle/>
          <a:p>
            <a:pPr marL="114300" indent="0">
              <a:buNone/>
            </a:pPr>
            <a:r>
              <a:rPr lang="en-US" b="1" dirty="0"/>
              <a:t>The Constant-Voltage-Drop Model:</a:t>
            </a:r>
          </a:p>
          <a:p>
            <a:pPr marL="114300" indent="0">
              <a:buNone/>
            </a:pPr>
            <a:r>
              <a:rPr lang="en-US" sz="2000" dirty="0"/>
              <a:t>The simplest and most widely used diode model is the constant-voltage-drop model. This model is based on the observation that a forward-conducting diode has a voltage drop that varies in a relatively narrow range, say 0.6 to 0.8 V. The model assumes this voltage to be constant at a value, say, 0.7 V.</a:t>
            </a:r>
            <a:endParaRPr lang="en-US" sz="2000" b="1" dirty="0"/>
          </a:p>
        </p:txBody>
      </p:sp>
      <p:pic>
        <p:nvPicPr>
          <p:cNvPr id="9" name="Picture 8">
            <a:extLst>
              <a:ext uri="{FF2B5EF4-FFF2-40B4-BE49-F238E27FC236}">
                <a16:creationId xmlns:a16="http://schemas.microsoft.com/office/drawing/2014/main" id="{26C11892-0250-523A-D6B9-E543548A7D70}"/>
              </a:ext>
            </a:extLst>
          </p:cNvPr>
          <p:cNvPicPr>
            <a:picLocks noChangeAspect="1"/>
          </p:cNvPicPr>
          <p:nvPr/>
        </p:nvPicPr>
        <p:blipFill>
          <a:blip r:embed="rId4"/>
          <a:stretch>
            <a:fillRect/>
          </a:stretch>
        </p:blipFill>
        <p:spPr>
          <a:xfrm>
            <a:off x="1976283" y="3272052"/>
            <a:ext cx="3687098" cy="2581608"/>
          </a:xfrm>
          <a:prstGeom prst="rect">
            <a:avLst/>
          </a:prstGeom>
        </p:spPr>
      </p:pic>
      <p:pic>
        <p:nvPicPr>
          <p:cNvPr id="11" name="Picture 10">
            <a:extLst>
              <a:ext uri="{FF2B5EF4-FFF2-40B4-BE49-F238E27FC236}">
                <a16:creationId xmlns:a16="http://schemas.microsoft.com/office/drawing/2014/main" id="{1C8DCF96-40E6-F51A-ECD3-F393B34226AE}"/>
              </a:ext>
            </a:extLst>
          </p:cNvPr>
          <p:cNvPicPr>
            <a:picLocks noChangeAspect="1"/>
          </p:cNvPicPr>
          <p:nvPr/>
        </p:nvPicPr>
        <p:blipFill>
          <a:blip r:embed="rId5"/>
          <a:stretch>
            <a:fillRect/>
          </a:stretch>
        </p:blipFill>
        <p:spPr>
          <a:xfrm>
            <a:off x="6376217" y="3072128"/>
            <a:ext cx="3605983" cy="2986929"/>
          </a:xfrm>
          <a:prstGeom prst="rect">
            <a:avLst/>
          </a:prstGeom>
        </p:spPr>
      </p:pic>
    </p:spTree>
    <p:extLst>
      <p:ext uri="{BB962C8B-B14F-4D97-AF65-F5344CB8AC3E}">
        <p14:creationId xmlns:p14="http://schemas.microsoft.com/office/powerpoint/2010/main" val="3403732356"/>
      </p:ext>
    </p:extLst>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B0DAB1BE-E456-CFC4-FB4A-56295CDBF4B6}"/>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67F61589-B4DE-7DA6-8D67-AD09A4D6D337}"/>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Review ( Electronic Circuits and Devices)</a:t>
            </a:r>
            <a:endParaRPr dirty="0">
              <a:solidFill>
                <a:schemeClr val="accent1"/>
              </a:solidFill>
            </a:endParaRPr>
          </a:p>
        </p:txBody>
      </p:sp>
      <p:sp>
        <p:nvSpPr>
          <p:cNvPr id="100" name="Google Shape;100;p2">
            <a:extLst>
              <a:ext uri="{FF2B5EF4-FFF2-40B4-BE49-F238E27FC236}">
                <a16:creationId xmlns:a16="http://schemas.microsoft.com/office/drawing/2014/main" id="{5721F012-4524-7A2F-C4D1-EA8F7911EED5}"/>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01DAC974-D826-290C-257B-8AF78A3D34C2}"/>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24</a:t>
            </a:fld>
            <a:endParaRPr/>
          </a:p>
        </p:txBody>
      </p:sp>
      <p:pic>
        <p:nvPicPr>
          <p:cNvPr id="102" name="Google Shape;102;p2">
            <a:extLst>
              <a:ext uri="{FF2B5EF4-FFF2-40B4-BE49-F238E27FC236}">
                <a16:creationId xmlns:a16="http://schemas.microsoft.com/office/drawing/2014/main" id="{F8C957EA-BF22-5100-243D-B50D625BEC91}"/>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A1840902-D7DC-325D-B49F-F1CD899D9AF4}"/>
              </a:ext>
            </a:extLst>
          </p:cNvPr>
          <p:cNvSpPr>
            <a:spLocks noGrp="1"/>
          </p:cNvSpPr>
          <p:nvPr>
            <p:ph type="body" idx="1"/>
          </p:nvPr>
        </p:nvSpPr>
        <p:spPr/>
        <p:txBody>
          <a:bodyPr>
            <a:normAutofit/>
          </a:bodyPr>
          <a:lstStyle/>
          <a:p>
            <a:pPr marL="114300" indent="0">
              <a:buNone/>
            </a:pPr>
            <a:r>
              <a:rPr lang="en-US" sz="2000" dirty="0">
                <a:latin typeface="+mj-lt"/>
              </a:rPr>
              <a:t>Conductance voltage (V</a:t>
            </a:r>
            <a:r>
              <a:rPr lang="en-US" sz="2000" baseline="-25000" dirty="0">
                <a:latin typeface="+mj-lt"/>
              </a:rPr>
              <a:t>D</a:t>
            </a:r>
            <a:r>
              <a:rPr lang="en-US" sz="2000" dirty="0">
                <a:latin typeface="+mj-lt"/>
              </a:rPr>
              <a:t>) of different diode for constant voltage drop model:</a:t>
            </a:r>
          </a:p>
          <a:p>
            <a:pPr>
              <a:buFont typeface="Wingdings" panose="05000000000000000000" pitchFamily="2" charset="2"/>
              <a:buChar char="Ø"/>
            </a:pPr>
            <a:r>
              <a:rPr lang="en-US" sz="2000" dirty="0">
                <a:latin typeface="+mj-lt"/>
              </a:rPr>
              <a:t>Ideal diode: V</a:t>
            </a:r>
            <a:r>
              <a:rPr lang="en-US" sz="2000" baseline="-25000" dirty="0">
                <a:latin typeface="+mj-lt"/>
              </a:rPr>
              <a:t>D </a:t>
            </a:r>
            <a:r>
              <a:rPr lang="en-US" sz="2000" dirty="0">
                <a:latin typeface="+mj-lt"/>
              </a:rPr>
              <a:t>= 0 V</a:t>
            </a:r>
          </a:p>
          <a:p>
            <a:pPr>
              <a:buFont typeface="Wingdings" panose="05000000000000000000" pitchFamily="2" charset="2"/>
              <a:buChar char="Ø"/>
            </a:pPr>
            <a:r>
              <a:rPr lang="en-US" sz="2000" dirty="0">
                <a:latin typeface="+mj-lt"/>
              </a:rPr>
              <a:t>Ge diode: V</a:t>
            </a:r>
            <a:r>
              <a:rPr lang="en-US" sz="2000" baseline="-25000" dirty="0">
                <a:latin typeface="+mj-lt"/>
              </a:rPr>
              <a:t>D </a:t>
            </a:r>
            <a:r>
              <a:rPr lang="en-US" sz="2000" dirty="0">
                <a:latin typeface="+mj-lt"/>
              </a:rPr>
              <a:t>= 0.3 V</a:t>
            </a:r>
          </a:p>
          <a:p>
            <a:pPr>
              <a:buFont typeface="Wingdings" panose="05000000000000000000" pitchFamily="2" charset="2"/>
              <a:buChar char="Ø"/>
            </a:pPr>
            <a:r>
              <a:rPr lang="en-US" sz="2000" dirty="0">
                <a:latin typeface="+mj-lt"/>
              </a:rPr>
              <a:t>Si diode: V</a:t>
            </a:r>
            <a:r>
              <a:rPr lang="en-US" sz="2000" baseline="-25000" dirty="0">
                <a:latin typeface="+mj-lt"/>
              </a:rPr>
              <a:t>D </a:t>
            </a:r>
            <a:r>
              <a:rPr lang="en-US" sz="2000" dirty="0">
                <a:latin typeface="+mj-lt"/>
              </a:rPr>
              <a:t>= 0.7 V (will be used most of the time )</a:t>
            </a:r>
          </a:p>
          <a:p>
            <a:pPr marL="114300" indent="0">
              <a:buNone/>
            </a:pPr>
            <a:endParaRPr lang="en-US" sz="2000" dirty="0">
              <a:latin typeface="+mj-lt"/>
            </a:endParaRPr>
          </a:p>
          <a:p>
            <a:pPr marL="114300" indent="0">
              <a:buNone/>
            </a:pPr>
            <a:r>
              <a:rPr lang="en-US" sz="2000" dirty="0">
                <a:latin typeface="+mj-lt"/>
              </a:rPr>
              <a:t>We will use Si diode with constant voltage model for simplicity. If nothing is mentioned in the question, we will assume Si diode. </a:t>
            </a:r>
          </a:p>
          <a:p>
            <a:pPr marL="114300" indent="0">
              <a:buNone/>
            </a:pPr>
            <a:endParaRPr lang="en-US" sz="2000" dirty="0">
              <a:latin typeface="+mj-lt"/>
            </a:endParaRPr>
          </a:p>
        </p:txBody>
      </p:sp>
    </p:spTree>
    <p:extLst>
      <p:ext uri="{BB962C8B-B14F-4D97-AF65-F5344CB8AC3E}">
        <p14:creationId xmlns:p14="http://schemas.microsoft.com/office/powerpoint/2010/main" val="3253535167"/>
      </p:ext>
    </p:extLst>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3E9A931E-12DF-BC0C-4BB4-256754900C2E}"/>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C61CD506-871B-54A8-3AAA-8322F3855023}"/>
              </a:ext>
            </a:extLst>
          </p:cNvPr>
          <p:cNvSpPr txBox="1">
            <a:spLocks noGrp="1"/>
          </p:cNvSpPr>
          <p:nvPr>
            <p:ph type="title"/>
          </p:nvPr>
        </p:nvSpPr>
        <p:spPr>
          <a:xfrm>
            <a:off x="838200" y="365126"/>
            <a:ext cx="10390239" cy="96223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Review ( Electronic Circuits and Devices)</a:t>
            </a:r>
            <a:endParaRPr dirty="0">
              <a:solidFill>
                <a:schemeClr val="accent1"/>
              </a:solidFill>
            </a:endParaRPr>
          </a:p>
        </p:txBody>
      </p:sp>
      <p:sp>
        <p:nvSpPr>
          <p:cNvPr id="100" name="Google Shape;100;p2">
            <a:extLst>
              <a:ext uri="{FF2B5EF4-FFF2-40B4-BE49-F238E27FC236}">
                <a16:creationId xmlns:a16="http://schemas.microsoft.com/office/drawing/2014/main" id="{CD1DAD2E-9542-9DFF-D307-433614742F30}"/>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3BF0A474-7C06-1760-39BF-310AFF080856}"/>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25</a:t>
            </a:fld>
            <a:endParaRPr/>
          </a:p>
        </p:txBody>
      </p:sp>
      <p:pic>
        <p:nvPicPr>
          <p:cNvPr id="102" name="Google Shape;102;p2">
            <a:extLst>
              <a:ext uri="{FF2B5EF4-FFF2-40B4-BE49-F238E27FC236}">
                <a16:creationId xmlns:a16="http://schemas.microsoft.com/office/drawing/2014/main" id="{1D61703A-5CB5-2C6B-0655-9B66C02A5E8A}"/>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7031A768-B017-20E7-7889-F9929D7823CF}"/>
              </a:ext>
            </a:extLst>
          </p:cNvPr>
          <p:cNvSpPr>
            <a:spLocks noGrp="1"/>
          </p:cNvSpPr>
          <p:nvPr>
            <p:ph type="body" idx="1"/>
          </p:nvPr>
        </p:nvSpPr>
        <p:spPr>
          <a:xfrm>
            <a:off x="838200" y="1160206"/>
            <a:ext cx="10675374" cy="5016757"/>
          </a:xfrm>
        </p:spPr>
        <p:txBody>
          <a:bodyPr>
            <a:normAutofit/>
          </a:bodyPr>
          <a:lstStyle/>
          <a:p>
            <a:pPr marL="114300" indent="0">
              <a:buNone/>
            </a:pPr>
            <a:r>
              <a:rPr lang="en-US" sz="2400" b="1" dirty="0">
                <a:latin typeface="+mj-lt"/>
              </a:rPr>
              <a:t>Equivalent  circuit of Si diode for constant voltage drop model:</a:t>
            </a:r>
          </a:p>
          <a:p>
            <a:pPr marL="114300" indent="0">
              <a:buNone/>
            </a:pPr>
            <a:endParaRPr lang="en-US" sz="2400" b="1" dirty="0">
              <a:latin typeface="+mj-lt"/>
            </a:endParaRPr>
          </a:p>
        </p:txBody>
      </p:sp>
      <p:pic>
        <p:nvPicPr>
          <p:cNvPr id="6" name="Picture 5">
            <a:extLst>
              <a:ext uri="{FF2B5EF4-FFF2-40B4-BE49-F238E27FC236}">
                <a16:creationId xmlns:a16="http://schemas.microsoft.com/office/drawing/2014/main" id="{445674E6-25BC-FFC0-A2BD-89EDCF9F06CD}"/>
              </a:ext>
            </a:extLst>
          </p:cNvPr>
          <p:cNvPicPr>
            <a:picLocks noChangeAspect="1"/>
          </p:cNvPicPr>
          <p:nvPr/>
        </p:nvPicPr>
        <p:blipFill>
          <a:blip r:embed="rId4"/>
          <a:stretch>
            <a:fillRect/>
          </a:stretch>
        </p:blipFill>
        <p:spPr>
          <a:xfrm>
            <a:off x="6647284" y="2266009"/>
            <a:ext cx="3588098" cy="3431785"/>
          </a:xfrm>
          <a:prstGeom prst="rect">
            <a:avLst/>
          </a:prstGeom>
        </p:spPr>
      </p:pic>
      <p:pic>
        <p:nvPicPr>
          <p:cNvPr id="8" name="Picture 7">
            <a:extLst>
              <a:ext uri="{FF2B5EF4-FFF2-40B4-BE49-F238E27FC236}">
                <a16:creationId xmlns:a16="http://schemas.microsoft.com/office/drawing/2014/main" id="{5E552BB2-1CFD-AFC1-013B-8050D3BC8045}"/>
              </a:ext>
            </a:extLst>
          </p:cNvPr>
          <p:cNvPicPr>
            <a:picLocks noChangeAspect="1"/>
          </p:cNvPicPr>
          <p:nvPr/>
        </p:nvPicPr>
        <p:blipFill>
          <a:blip r:embed="rId5"/>
          <a:stretch>
            <a:fillRect/>
          </a:stretch>
        </p:blipFill>
        <p:spPr>
          <a:xfrm>
            <a:off x="1764653" y="2364123"/>
            <a:ext cx="3780065" cy="3113375"/>
          </a:xfrm>
          <a:prstGeom prst="rect">
            <a:avLst/>
          </a:prstGeom>
        </p:spPr>
      </p:pic>
    </p:spTree>
    <p:extLst>
      <p:ext uri="{BB962C8B-B14F-4D97-AF65-F5344CB8AC3E}">
        <p14:creationId xmlns:p14="http://schemas.microsoft.com/office/powerpoint/2010/main" val="3201982222"/>
      </p:ext>
    </p:extLst>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9DC9D9E9-05F7-B5EE-8407-8A39F48F2F38}"/>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9355DA1B-021A-3DCE-AD38-DDCACC0E87A1}"/>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Review ( Electronic Circuits and Devices)</a:t>
            </a:r>
            <a:endParaRPr dirty="0">
              <a:solidFill>
                <a:schemeClr val="accent1"/>
              </a:solidFill>
            </a:endParaRPr>
          </a:p>
        </p:txBody>
      </p:sp>
      <p:sp>
        <p:nvSpPr>
          <p:cNvPr id="100" name="Google Shape;100;p2">
            <a:extLst>
              <a:ext uri="{FF2B5EF4-FFF2-40B4-BE49-F238E27FC236}">
                <a16:creationId xmlns:a16="http://schemas.microsoft.com/office/drawing/2014/main" id="{8502E4A8-45F5-5795-2FDB-4FF9B00936A5}"/>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BD3D1D96-025A-64F4-E55A-C34913DFD046}"/>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26</a:t>
            </a:fld>
            <a:endParaRPr/>
          </a:p>
        </p:txBody>
      </p:sp>
      <p:pic>
        <p:nvPicPr>
          <p:cNvPr id="102" name="Google Shape;102;p2">
            <a:extLst>
              <a:ext uri="{FF2B5EF4-FFF2-40B4-BE49-F238E27FC236}">
                <a16:creationId xmlns:a16="http://schemas.microsoft.com/office/drawing/2014/main" id="{B038AA4C-7C4B-A331-6405-894B39A45E97}"/>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6D92BF14-1F7C-7A07-E08F-50C20B686024}"/>
              </a:ext>
            </a:extLst>
          </p:cNvPr>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0"/>
              </a:spcBef>
              <a:spcAft>
                <a:spcPct val="0"/>
              </a:spcAft>
              <a:buClrTx/>
              <a:buSzTx/>
              <a:buNone/>
              <a:tabLst/>
            </a:pPr>
            <a:r>
              <a:rPr lang="en-US" sz="2000" dirty="0">
                <a:latin typeface="+mj-lt"/>
              </a:rPr>
              <a:t>Transistors are three terminal devices</a:t>
            </a:r>
          </a:p>
          <a:p>
            <a:pPr marL="342900"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BJT</a:t>
            </a: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Used in switching and amplification for audio and analog circuits.</a:t>
            </a:r>
          </a:p>
          <a:p>
            <a:pPr marL="342900"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FET</a:t>
            </a: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Ideal for analog switches and high-impedance amplifiers.</a:t>
            </a:r>
          </a:p>
          <a:p>
            <a:pPr marL="342900"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MOSFET</a:t>
            </a:r>
            <a:r>
              <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Key in digital circuits, power electronics, and RF amplification. </a:t>
            </a:r>
          </a:p>
          <a:p>
            <a:pPr marL="114300" indent="0">
              <a:buNone/>
            </a:pPr>
            <a:endParaRPr lang="en-US" sz="2000" dirty="0">
              <a:latin typeface="+mj-lt"/>
            </a:endParaRPr>
          </a:p>
          <a:p>
            <a:pPr>
              <a:buFont typeface="Wingdings" panose="05000000000000000000" pitchFamily="2" charset="2"/>
              <a:buChar char="ü"/>
            </a:pPr>
            <a:r>
              <a:rPr lang="en-US" sz="1800" b="1" dirty="0">
                <a:latin typeface="+mj-lt"/>
              </a:rPr>
              <a:t>Bipolar devices </a:t>
            </a:r>
            <a:r>
              <a:rPr lang="en-US" sz="1800" dirty="0">
                <a:latin typeface="+mj-lt"/>
              </a:rPr>
              <a:t>both electron and hole take part in current conduction for example BJT.</a:t>
            </a:r>
          </a:p>
          <a:p>
            <a:pPr>
              <a:buFont typeface="Wingdings" panose="05000000000000000000" pitchFamily="2" charset="2"/>
              <a:buChar char="ü"/>
            </a:pPr>
            <a:r>
              <a:rPr lang="en-US" sz="1800" b="1" dirty="0">
                <a:latin typeface="+mj-lt"/>
              </a:rPr>
              <a:t>Unipolar either </a:t>
            </a:r>
            <a:r>
              <a:rPr lang="en-US" sz="1800" dirty="0">
                <a:latin typeface="+mj-lt"/>
              </a:rPr>
              <a:t>electron or hole takes part in current conduction for example MOSFET.</a:t>
            </a:r>
          </a:p>
        </p:txBody>
      </p:sp>
    </p:spTree>
    <p:extLst>
      <p:ext uri="{BB962C8B-B14F-4D97-AF65-F5344CB8AC3E}">
        <p14:creationId xmlns:p14="http://schemas.microsoft.com/office/powerpoint/2010/main" val="821376606"/>
      </p:ext>
    </p:extLst>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1C49F0E8-0E88-1067-1849-2CB4B1D3696C}"/>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B7B8800E-C794-D260-D9D4-3607AE0E8CD9}"/>
              </a:ext>
            </a:extLst>
          </p:cNvPr>
          <p:cNvSpPr txBox="1">
            <a:spLocks noGrp="1"/>
          </p:cNvSpPr>
          <p:nvPr>
            <p:ph type="title"/>
          </p:nvPr>
        </p:nvSpPr>
        <p:spPr>
          <a:xfrm>
            <a:off x="747252" y="1"/>
            <a:ext cx="10156722" cy="95372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Review ( Electronic Circuits and Devices)</a:t>
            </a:r>
            <a:endParaRPr dirty="0">
              <a:solidFill>
                <a:schemeClr val="accent1"/>
              </a:solidFill>
            </a:endParaRPr>
          </a:p>
        </p:txBody>
      </p:sp>
      <p:sp>
        <p:nvSpPr>
          <p:cNvPr id="100" name="Google Shape;100;p2">
            <a:extLst>
              <a:ext uri="{FF2B5EF4-FFF2-40B4-BE49-F238E27FC236}">
                <a16:creationId xmlns:a16="http://schemas.microsoft.com/office/drawing/2014/main" id="{E0C9B59C-A6A5-EA67-956A-5244F2B68603}"/>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A9F97F81-0765-D341-5445-31661AD89172}"/>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27</a:t>
            </a:fld>
            <a:endParaRPr/>
          </a:p>
        </p:txBody>
      </p:sp>
      <p:pic>
        <p:nvPicPr>
          <p:cNvPr id="102" name="Google Shape;102;p2">
            <a:extLst>
              <a:ext uri="{FF2B5EF4-FFF2-40B4-BE49-F238E27FC236}">
                <a16:creationId xmlns:a16="http://schemas.microsoft.com/office/drawing/2014/main" id="{39D1B2FB-6A55-CA70-46D4-F73D84E52F7A}"/>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E3E04A04-E8F4-EBA0-6D4F-BD609B1E2777}"/>
              </a:ext>
            </a:extLst>
          </p:cNvPr>
          <p:cNvSpPr>
            <a:spLocks noGrp="1"/>
          </p:cNvSpPr>
          <p:nvPr>
            <p:ph type="body" idx="1"/>
          </p:nvPr>
        </p:nvSpPr>
        <p:spPr>
          <a:xfrm>
            <a:off x="747252" y="1386348"/>
            <a:ext cx="10606548" cy="4790615"/>
          </a:xfrm>
        </p:spPr>
        <p:txBody>
          <a:bodyPr>
            <a:normAutofit/>
          </a:bodyPr>
          <a:lstStyle/>
          <a:p>
            <a:pPr marL="114300" indent="0">
              <a:buNone/>
            </a:pPr>
            <a:r>
              <a:rPr lang="en-US" sz="2000" b="1" dirty="0">
                <a:latin typeface="+mj-lt"/>
              </a:rPr>
              <a:t>BJT: </a:t>
            </a:r>
            <a:r>
              <a:rPr lang="en-US" sz="1800" dirty="0">
                <a:latin typeface="+mj-lt"/>
              </a:rPr>
              <a:t>The transistor consists of two p-n junctions, the emitter–base junction (EBJ) and the</a:t>
            </a:r>
          </a:p>
          <a:p>
            <a:pPr marL="114300" indent="0">
              <a:buNone/>
            </a:pPr>
            <a:r>
              <a:rPr lang="en-US" sz="1800" dirty="0">
                <a:latin typeface="+mj-lt"/>
              </a:rPr>
              <a:t> collector–base junction (CBJ). Depending on the bias condition (forward or reverse) of</a:t>
            </a:r>
          </a:p>
          <a:p>
            <a:pPr marL="114300" indent="0">
              <a:buNone/>
            </a:pPr>
            <a:r>
              <a:rPr lang="en-US" sz="1800" dirty="0">
                <a:latin typeface="+mj-lt"/>
              </a:rPr>
              <a:t> each of these junctions, different modes of operation of the BJT are obtained.</a:t>
            </a:r>
          </a:p>
        </p:txBody>
      </p:sp>
      <p:pic>
        <p:nvPicPr>
          <p:cNvPr id="4" name="Picture 3">
            <a:extLst>
              <a:ext uri="{FF2B5EF4-FFF2-40B4-BE49-F238E27FC236}">
                <a16:creationId xmlns:a16="http://schemas.microsoft.com/office/drawing/2014/main" id="{EFE0232C-61BE-653F-9FB5-923B5A128107}"/>
              </a:ext>
            </a:extLst>
          </p:cNvPr>
          <p:cNvPicPr>
            <a:picLocks noChangeAspect="1"/>
          </p:cNvPicPr>
          <p:nvPr/>
        </p:nvPicPr>
        <p:blipFill>
          <a:blip r:embed="rId4"/>
          <a:stretch>
            <a:fillRect/>
          </a:stretch>
        </p:blipFill>
        <p:spPr>
          <a:xfrm>
            <a:off x="6386102" y="2716447"/>
            <a:ext cx="5018133" cy="2702720"/>
          </a:xfrm>
          <a:prstGeom prst="rect">
            <a:avLst/>
          </a:prstGeom>
        </p:spPr>
      </p:pic>
      <p:pic>
        <p:nvPicPr>
          <p:cNvPr id="6" name="Picture 5">
            <a:extLst>
              <a:ext uri="{FF2B5EF4-FFF2-40B4-BE49-F238E27FC236}">
                <a16:creationId xmlns:a16="http://schemas.microsoft.com/office/drawing/2014/main" id="{70C63055-DAFC-6179-5D80-EB388F5BE53D}"/>
              </a:ext>
            </a:extLst>
          </p:cNvPr>
          <p:cNvPicPr>
            <a:picLocks noChangeAspect="1"/>
          </p:cNvPicPr>
          <p:nvPr/>
        </p:nvPicPr>
        <p:blipFill>
          <a:blip r:embed="rId5"/>
          <a:stretch>
            <a:fillRect/>
          </a:stretch>
        </p:blipFill>
        <p:spPr>
          <a:xfrm>
            <a:off x="1485855" y="2793512"/>
            <a:ext cx="3518706" cy="1504337"/>
          </a:xfrm>
          <a:prstGeom prst="rect">
            <a:avLst/>
          </a:prstGeom>
        </p:spPr>
      </p:pic>
      <p:pic>
        <p:nvPicPr>
          <p:cNvPr id="8" name="Picture 7">
            <a:extLst>
              <a:ext uri="{FF2B5EF4-FFF2-40B4-BE49-F238E27FC236}">
                <a16:creationId xmlns:a16="http://schemas.microsoft.com/office/drawing/2014/main" id="{5873B817-B48E-7FA2-6EFC-382BA799DEFA}"/>
              </a:ext>
            </a:extLst>
          </p:cNvPr>
          <p:cNvPicPr>
            <a:picLocks noChangeAspect="1"/>
          </p:cNvPicPr>
          <p:nvPr/>
        </p:nvPicPr>
        <p:blipFill>
          <a:blip r:embed="rId6"/>
          <a:stretch>
            <a:fillRect/>
          </a:stretch>
        </p:blipFill>
        <p:spPr>
          <a:xfrm>
            <a:off x="1485855" y="4380782"/>
            <a:ext cx="3344599" cy="1324231"/>
          </a:xfrm>
          <a:prstGeom prst="rect">
            <a:avLst/>
          </a:prstGeom>
        </p:spPr>
      </p:pic>
      <p:sp>
        <p:nvSpPr>
          <p:cNvPr id="9" name="TextBox 8">
            <a:extLst>
              <a:ext uri="{FF2B5EF4-FFF2-40B4-BE49-F238E27FC236}">
                <a16:creationId xmlns:a16="http://schemas.microsoft.com/office/drawing/2014/main" id="{2B2302E3-01F1-9176-91DB-054BE853E084}"/>
              </a:ext>
            </a:extLst>
          </p:cNvPr>
          <p:cNvSpPr txBox="1"/>
          <p:nvPr/>
        </p:nvSpPr>
        <p:spPr>
          <a:xfrm>
            <a:off x="1528916" y="5705013"/>
            <a:ext cx="4296697" cy="523220"/>
          </a:xfrm>
          <a:prstGeom prst="rect">
            <a:avLst/>
          </a:prstGeom>
          <a:noFill/>
        </p:spPr>
        <p:txBody>
          <a:bodyPr wrap="square" rtlCol="0">
            <a:spAutoFit/>
          </a:bodyPr>
          <a:lstStyle/>
          <a:p>
            <a:r>
              <a:rPr lang="en-US" dirty="0"/>
              <a:t>Length: LC&gt;LE&gt;LB      and   Doping : NE &gt; NC &gt;NB</a:t>
            </a:r>
          </a:p>
          <a:p>
            <a:r>
              <a:rPr lang="en-US" dirty="0"/>
              <a:t>That’s why BJT is not symmetrical </a:t>
            </a:r>
          </a:p>
        </p:txBody>
      </p:sp>
      <p:sp>
        <p:nvSpPr>
          <p:cNvPr id="11" name="TextBox 10">
            <a:extLst>
              <a:ext uri="{FF2B5EF4-FFF2-40B4-BE49-F238E27FC236}">
                <a16:creationId xmlns:a16="http://schemas.microsoft.com/office/drawing/2014/main" id="{D08373FF-7CA7-86FB-878E-4BE256F933AF}"/>
              </a:ext>
            </a:extLst>
          </p:cNvPr>
          <p:cNvSpPr txBox="1"/>
          <p:nvPr/>
        </p:nvSpPr>
        <p:spPr>
          <a:xfrm>
            <a:off x="7511845" y="5889523"/>
            <a:ext cx="3283974" cy="307777"/>
          </a:xfrm>
          <a:prstGeom prst="rect">
            <a:avLst/>
          </a:prstGeom>
          <a:noFill/>
        </p:spPr>
        <p:txBody>
          <a:bodyPr wrap="square" rtlCol="0">
            <a:spAutoFit/>
          </a:bodyPr>
          <a:lstStyle/>
          <a:p>
            <a:r>
              <a:rPr lang="en-US" dirty="0"/>
              <a:t>Arrow indicate the Emitter terminal</a:t>
            </a:r>
          </a:p>
        </p:txBody>
      </p:sp>
    </p:spTree>
    <p:extLst>
      <p:ext uri="{BB962C8B-B14F-4D97-AF65-F5344CB8AC3E}">
        <p14:creationId xmlns:p14="http://schemas.microsoft.com/office/powerpoint/2010/main" val="1277495118"/>
      </p:ext>
    </p:extLst>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39A436FC-87EF-A432-E84F-A862561247AB}"/>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E372BC4F-D522-F2CA-EA5C-B36D504981D8}"/>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Review ( Electronic Circuits and Devices)</a:t>
            </a:r>
            <a:endParaRPr dirty="0">
              <a:solidFill>
                <a:schemeClr val="accent1"/>
              </a:solidFill>
            </a:endParaRPr>
          </a:p>
        </p:txBody>
      </p:sp>
      <p:sp>
        <p:nvSpPr>
          <p:cNvPr id="100" name="Google Shape;100;p2">
            <a:extLst>
              <a:ext uri="{FF2B5EF4-FFF2-40B4-BE49-F238E27FC236}">
                <a16:creationId xmlns:a16="http://schemas.microsoft.com/office/drawing/2014/main" id="{A51AC638-2938-2C37-4957-51365E460BCF}"/>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D9B59A3C-3E1F-4841-A198-F46D9D9236B3}"/>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28</a:t>
            </a:fld>
            <a:endParaRPr/>
          </a:p>
        </p:txBody>
      </p:sp>
      <p:pic>
        <p:nvPicPr>
          <p:cNvPr id="102" name="Google Shape;102;p2">
            <a:extLst>
              <a:ext uri="{FF2B5EF4-FFF2-40B4-BE49-F238E27FC236}">
                <a16:creationId xmlns:a16="http://schemas.microsoft.com/office/drawing/2014/main" id="{EBDF4ADB-3CF0-CB09-8F65-F586F0314F60}"/>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5B1BBF34-B3C4-1CB1-43EB-4240E375EB14}"/>
              </a:ext>
            </a:extLst>
          </p:cNvPr>
          <p:cNvSpPr>
            <a:spLocks noGrp="1"/>
          </p:cNvSpPr>
          <p:nvPr>
            <p:ph type="body" idx="1"/>
          </p:nvPr>
        </p:nvSpPr>
        <p:spPr/>
        <p:txBody>
          <a:bodyPr>
            <a:normAutofit/>
          </a:bodyPr>
          <a:lstStyle/>
          <a:p>
            <a:pPr marL="114300" indent="0">
              <a:buNone/>
            </a:pPr>
            <a:r>
              <a:rPr lang="en-US" sz="2000" b="1" dirty="0">
                <a:latin typeface="+mj-lt"/>
              </a:rPr>
              <a:t>Modes of BJT:</a:t>
            </a:r>
          </a:p>
          <a:p>
            <a:pPr marL="114300" indent="0">
              <a:buNone/>
            </a:pPr>
            <a:endParaRPr lang="en-US" sz="2000" dirty="0">
              <a:latin typeface="+mj-lt"/>
            </a:endParaRPr>
          </a:p>
        </p:txBody>
      </p:sp>
      <p:graphicFrame>
        <p:nvGraphicFramePr>
          <p:cNvPr id="2" name="Table 1">
            <a:extLst>
              <a:ext uri="{FF2B5EF4-FFF2-40B4-BE49-F238E27FC236}">
                <a16:creationId xmlns:a16="http://schemas.microsoft.com/office/drawing/2014/main" id="{8FFEB6C7-D45A-F37B-0722-7169AF9C12D0}"/>
              </a:ext>
            </a:extLst>
          </p:cNvPr>
          <p:cNvGraphicFramePr>
            <a:graphicFrameLocks noGrp="1"/>
          </p:cNvGraphicFramePr>
          <p:nvPr>
            <p:extLst>
              <p:ext uri="{D42A27DB-BD31-4B8C-83A1-F6EECF244321}">
                <p14:modId xmlns:p14="http://schemas.microsoft.com/office/powerpoint/2010/main" val="2112884108"/>
              </p:ext>
            </p:extLst>
          </p:nvPr>
        </p:nvGraphicFramePr>
        <p:xfrm>
          <a:off x="1461729" y="3074193"/>
          <a:ext cx="8468852" cy="2834995"/>
        </p:xfrm>
        <a:graphic>
          <a:graphicData uri="http://schemas.openxmlformats.org/drawingml/2006/table">
            <a:tbl>
              <a:tblPr firstRow="1" bandRow="1">
                <a:tableStyleId>{5940675A-B579-460E-94D1-54222C63F5DA}</a:tableStyleId>
              </a:tblPr>
              <a:tblGrid>
                <a:gridCol w="2117213">
                  <a:extLst>
                    <a:ext uri="{9D8B030D-6E8A-4147-A177-3AD203B41FA5}">
                      <a16:colId xmlns:a16="http://schemas.microsoft.com/office/drawing/2014/main" val="3480917972"/>
                    </a:ext>
                  </a:extLst>
                </a:gridCol>
                <a:gridCol w="2117213">
                  <a:extLst>
                    <a:ext uri="{9D8B030D-6E8A-4147-A177-3AD203B41FA5}">
                      <a16:colId xmlns:a16="http://schemas.microsoft.com/office/drawing/2014/main" val="3327102671"/>
                    </a:ext>
                  </a:extLst>
                </a:gridCol>
                <a:gridCol w="2117213">
                  <a:extLst>
                    <a:ext uri="{9D8B030D-6E8A-4147-A177-3AD203B41FA5}">
                      <a16:colId xmlns:a16="http://schemas.microsoft.com/office/drawing/2014/main" val="2020384809"/>
                    </a:ext>
                  </a:extLst>
                </a:gridCol>
                <a:gridCol w="2117213">
                  <a:extLst>
                    <a:ext uri="{9D8B030D-6E8A-4147-A177-3AD203B41FA5}">
                      <a16:colId xmlns:a16="http://schemas.microsoft.com/office/drawing/2014/main" val="241478832"/>
                    </a:ext>
                  </a:extLst>
                </a:gridCol>
              </a:tblGrid>
              <a:tr h="566999">
                <a:tc>
                  <a:txBody>
                    <a:bodyPr/>
                    <a:lstStyle/>
                    <a:p>
                      <a:r>
                        <a:rPr lang="en-US" sz="1800" b="1" dirty="0"/>
                        <a:t>EB Junction</a:t>
                      </a:r>
                    </a:p>
                  </a:txBody>
                  <a:tcPr/>
                </a:tc>
                <a:tc>
                  <a:txBody>
                    <a:bodyPr/>
                    <a:lstStyle/>
                    <a:p>
                      <a:r>
                        <a:rPr lang="en-US" sz="1800" b="1" dirty="0"/>
                        <a:t>CB Junction</a:t>
                      </a:r>
                    </a:p>
                  </a:txBody>
                  <a:tcPr/>
                </a:tc>
                <a:tc>
                  <a:txBody>
                    <a:bodyPr/>
                    <a:lstStyle/>
                    <a:p>
                      <a:r>
                        <a:rPr lang="en-US" sz="1800" b="1" dirty="0"/>
                        <a:t>Mode</a:t>
                      </a:r>
                    </a:p>
                  </a:txBody>
                  <a:tcPr/>
                </a:tc>
                <a:tc>
                  <a:txBody>
                    <a:bodyPr/>
                    <a:lstStyle/>
                    <a:p>
                      <a:r>
                        <a:rPr lang="en-US" sz="1800" b="1" dirty="0"/>
                        <a:t>Use</a:t>
                      </a:r>
                    </a:p>
                  </a:txBody>
                  <a:tcPr/>
                </a:tc>
                <a:extLst>
                  <a:ext uri="{0D108BD9-81ED-4DB2-BD59-A6C34878D82A}">
                    <a16:rowId xmlns:a16="http://schemas.microsoft.com/office/drawing/2014/main" val="2223477776"/>
                  </a:ext>
                </a:extLst>
              </a:tr>
              <a:tr h="566999">
                <a:tc>
                  <a:txBody>
                    <a:bodyPr/>
                    <a:lstStyle/>
                    <a:p>
                      <a:r>
                        <a:rPr lang="en-US" sz="1800" dirty="0"/>
                        <a:t>Forward</a:t>
                      </a:r>
                    </a:p>
                  </a:txBody>
                  <a:tcPr/>
                </a:tc>
                <a:tc>
                  <a:txBody>
                    <a:bodyPr/>
                    <a:lstStyle/>
                    <a:p>
                      <a:r>
                        <a:rPr lang="en-US" sz="1800" dirty="0"/>
                        <a:t>Reverse</a:t>
                      </a:r>
                    </a:p>
                  </a:txBody>
                  <a:tcPr/>
                </a:tc>
                <a:tc>
                  <a:txBody>
                    <a:bodyPr/>
                    <a:lstStyle/>
                    <a:p>
                      <a:r>
                        <a:rPr lang="en-US" sz="1800" dirty="0"/>
                        <a:t>Active</a:t>
                      </a:r>
                    </a:p>
                  </a:txBody>
                  <a:tcPr/>
                </a:tc>
                <a:tc>
                  <a:txBody>
                    <a:bodyPr/>
                    <a:lstStyle/>
                    <a:p>
                      <a:r>
                        <a:rPr lang="en-US" sz="1800" dirty="0"/>
                        <a:t>Amplifier</a:t>
                      </a:r>
                    </a:p>
                  </a:txBody>
                  <a:tcPr/>
                </a:tc>
                <a:extLst>
                  <a:ext uri="{0D108BD9-81ED-4DB2-BD59-A6C34878D82A}">
                    <a16:rowId xmlns:a16="http://schemas.microsoft.com/office/drawing/2014/main" val="753003096"/>
                  </a:ext>
                </a:extLst>
              </a:tr>
              <a:tr h="566999">
                <a:tc>
                  <a:txBody>
                    <a:bodyPr/>
                    <a:lstStyle/>
                    <a:p>
                      <a:r>
                        <a:rPr lang="en-US" sz="1800" dirty="0"/>
                        <a:t>Forward</a:t>
                      </a:r>
                    </a:p>
                  </a:txBody>
                  <a:tcPr/>
                </a:tc>
                <a:tc>
                  <a:txBody>
                    <a:bodyPr/>
                    <a:lstStyle/>
                    <a:p>
                      <a:r>
                        <a:rPr lang="en-US" sz="1800" dirty="0"/>
                        <a:t>Forward</a:t>
                      </a:r>
                    </a:p>
                  </a:txBody>
                  <a:tcPr/>
                </a:tc>
                <a:tc>
                  <a:txBody>
                    <a:bodyPr/>
                    <a:lstStyle/>
                    <a:p>
                      <a:r>
                        <a:rPr lang="en-US" sz="1800" dirty="0"/>
                        <a:t>Saturation</a:t>
                      </a:r>
                    </a:p>
                  </a:txBody>
                  <a:tcPr/>
                </a:tc>
                <a:tc>
                  <a:txBody>
                    <a:bodyPr/>
                    <a:lstStyle/>
                    <a:p>
                      <a:r>
                        <a:rPr lang="en-US" sz="1800" dirty="0"/>
                        <a:t>Switch</a:t>
                      </a:r>
                    </a:p>
                  </a:txBody>
                  <a:tcPr/>
                </a:tc>
                <a:extLst>
                  <a:ext uri="{0D108BD9-81ED-4DB2-BD59-A6C34878D82A}">
                    <a16:rowId xmlns:a16="http://schemas.microsoft.com/office/drawing/2014/main" val="2723257437"/>
                  </a:ext>
                </a:extLst>
              </a:tr>
              <a:tr h="566999">
                <a:tc>
                  <a:txBody>
                    <a:bodyPr/>
                    <a:lstStyle/>
                    <a:p>
                      <a:r>
                        <a:rPr lang="en-US" sz="1800" dirty="0"/>
                        <a:t>Reverse</a:t>
                      </a:r>
                    </a:p>
                  </a:txBody>
                  <a:tcPr/>
                </a:tc>
                <a:tc>
                  <a:txBody>
                    <a:bodyPr/>
                    <a:lstStyle/>
                    <a:p>
                      <a:r>
                        <a:rPr lang="en-US" sz="1800" dirty="0"/>
                        <a:t>Reverse</a:t>
                      </a:r>
                    </a:p>
                  </a:txBody>
                  <a:tcPr/>
                </a:tc>
                <a:tc>
                  <a:txBody>
                    <a:bodyPr/>
                    <a:lstStyle/>
                    <a:p>
                      <a:r>
                        <a:rPr lang="en-US" sz="1800" dirty="0"/>
                        <a:t>Cut off</a:t>
                      </a:r>
                    </a:p>
                  </a:txBody>
                  <a:tcPr/>
                </a:tc>
                <a:tc>
                  <a:txBody>
                    <a:bodyPr/>
                    <a:lstStyle/>
                    <a:p>
                      <a:r>
                        <a:rPr lang="en-US" sz="1800" dirty="0"/>
                        <a:t>Switch</a:t>
                      </a:r>
                    </a:p>
                  </a:txBody>
                  <a:tcPr/>
                </a:tc>
                <a:extLst>
                  <a:ext uri="{0D108BD9-81ED-4DB2-BD59-A6C34878D82A}">
                    <a16:rowId xmlns:a16="http://schemas.microsoft.com/office/drawing/2014/main" val="105650684"/>
                  </a:ext>
                </a:extLst>
              </a:tr>
              <a:tr h="566999">
                <a:tc>
                  <a:txBody>
                    <a:bodyPr/>
                    <a:lstStyle/>
                    <a:p>
                      <a:r>
                        <a:rPr lang="en-US" sz="1800" dirty="0"/>
                        <a:t>Reverse </a:t>
                      </a:r>
                    </a:p>
                  </a:txBody>
                  <a:tcPr/>
                </a:tc>
                <a:tc>
                  <a:txBody>
                    <a:bodyPr/>
                    <a:lstStyle/>
                    <a:p>
                      <a:r>
                        <a:rPr lang="en-US" sz="1800" dirty="0"/>
                        <a:t>Forward</a:t>
                      </a:r>
                    </a:p>
                  </a:txBody>
                  <a:tcPr/>
                </a:tc>
                <a:tc>
                  <a:txBody>
                    <a:bodyPr/>
                    <a:lstStyle/>
                    <a:p>
                      <a:r>
                        <a:rPr lang="en-US" sz="1800" dirty="0"/>
                        <a:t>Reverse Active</a:t>
                      </a:r>
                    </a:p>
                  </a:txBody>
                  <a:tcPr/>
                </a:tc>
                <a:tc>
                  <a:txBody>
                    <a:bodyPr/>
                    <a:lstStyle/>
                    <a:p>
                      <a:r>
                        <a:rPr lang="en-US" sz="1800" dirty="0"/>
                        <a:t>No use</a:t>
                      </a:r>
                    </a:p>
                  </a:txBody>
                  <a:tcPr/>
                </a:tc>
                <a:extLst>
                  <a:ext uri="{0D108BD9-81ED-4DB2-BD59-A6C34878D82A}">
                    <a16:rowId xmlns:a16="http://schemas.microsoft.com/office/drawing/2014/main" val="1745214782"/>
                  </a:ext>
                </a:extLst>
              </a:tr>
            </a:tbl>
          </a:graphicData>
        </a:graphic>
      </p:graphicFrame>
    </p:spTree>
    <p:extLst>
      <p:ext uri="{BB962C8B-B14F-4D97-AF65-F5344CB8AC3E}">
        <p14:creationId xmlns:p14="http://schemas.microsoft.com/office/powerpoint/2010/main" val="2197545366"/>
      </p:ext>
    </p:extLst>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3"/>
          <p:cNvSpPr txBox="1">
            <a:spLocks noGrp="1"/>
          </p:cNvSpPr>
          <p:nvPr>
            <p:ph type="body" idx="1"/>
          </p:nvPr>
        </p:nvSpPr>
        <p:spPr>
          <a:xfrm>
            <a:off x="1730000" y="902601"/>
            <a:ext cx="9385200" cy="5393600"/>
          </a:xfrm>
          <a:prstGeom prst="rect">
            <a:avLst/>
          </a:prstGeom>
        </p:spPr>
        <p:txBody>
          <a:bodyPr spcFirstLastPara="1" wrap="square" lIns="121900" tIns="121900" rIns="121900" bIns="121900" anchor="t" anchorCtr="0">
            <a:noAutofit/>
          </a:bodyPr>
          <a:lstStyle/>
          <a:p>
            <a:pPr marL="0" indent="0">
              <a:buNone/>
            </a:pPr>
            <a:r>
              <a:rPr lang="en" sz="1600" b="1" dirty="0">
                <a:solidFill>
                  <a:schemeClr val="tx1"/>
                </a:solidFill>
                <a:latin typeface="Cabin"/>
                <a:ea typeface="Cabin"/>
                <a:cs typeface="Cabin"/>
                <a:sym typeface="Cabin"/>
              </a:rPr>
              <a:t>Reverse Active: </a:t>
            </a:r>
            <a:endParaRPr sz="1600" b="1" dirty="0">
              <a:solidFill>
                <a:schemeClr val="tx1"/>
              </a:solidFill>
              <a:latin typeface="Cabin"/>
              <a:ea typeface="Cabin"/>
              <a:cs typeface="Cabin"/>
              <a:sym typeface="Cabin"/>
            </a:endParaRPr>
          </a:p>
          <a:p>
            <a:pPr marL="0" indent="0">
              <a:spcBef>
                <a:spcPts val="1600"/>
              </a:spcBef>
              <a:buNone/>
            </a:pPr>
            <a:r>
              <a:rPr lang="en" sz="1467" dirty="0">
                <a:latin typeface="Cabin Medium"/>
                <a:ea typeface="Cabin Medium"/>
                <a:cs typeface="Cabin Medium"/>
                <a:sym typeface="Cabin Medium"/>
              </a:rPr>
              <a:t>Emitter &amp; Collector switch their roles 						</a:t>
            </a:r>
            <a:endParaRPr sz="1467" dirty="0">
              <a:latin typeface="Cabin Medium"/>
              <a:ea typeface="Cabin Medium"/>
              <a:cs typeface="Cabin Medium"/>
              <a:sym typeface="Cabin Medium"/>
            </a:endParaRPr>
          </a:p>
          <a:p>
            <a:pPr marL="0" indent="0">
              <a:spcBef>
                <a:spcPts val="1600"/>
              </a:spcBef>
              <a:buNone/>
            </a:pPr>
            <a:endParaRPr sz="1467" dirty="0">
              <a:latin typeface="Cabin Medium"/>
              <a:ea typeface="Cabin Medium"/>
              <a:cs typeface="Cabin Medium"/>
              <a:sym typeface="Cabin Medium"/>
            </a:endParaRPr>
          </a:p>
          <a:p>
            <a:pPr marL="0" indent="0">
              <a:spcBef>
                <a:spcPts val="1600"/>
              </a:spcBef>
              <a:buNone/>
            </a:pPr>
            <a:endParaRPr lang="en" sz="1467" dirty="0">
              <a:latin typeface="Cabin Medium"/>
              <a:ea typeface="Cabin Medium"/>
              <a:cs typeface="Cabin Medium"/>
              <a:sym typeface="Cabin Medium"/>
            </a:endParaRPr>
          </a:p>
          <a:p>
            <a:pPr marL="0" indent="0">
              <a:spcBef>
                <a:spcPts val="1600"/>
              </a:spcBef>
              <a:buNone/>
            </a:pPr>
            <a:r>
              <a:rPr lang="en" sz="1467" dirty="0">
                <a:latin typeface="Cabin Medium"/>
                <a:ea typeface="Cabin Medium"/>
                <a:cs typeface="Cabin Medium"/>
                <a:sym typeface="Cabin Medium"/>
              </a:rPr>
              <a:t>             is </a:t>
            </a:r>
            <a:r>
              <a:rPr lang="en" sz="1467" dirty="0">
                <a:solidFill>
                  <a:schemeClr val="tx1"/>
                </a:solidFill>
                <a:latin typeface="Cabin Medium"/>
                <a:ea typeface="Cabin Medium"/>
                <a:cs typeface="Cabin Medium"/>
                <a:sym typeface="Cabin Medium"/>
              </a:rPr>
              <a:t>reverse beta</a:t>
            </a:r>
            <a:r>
              <a:rPr lang="en" sz="1467" dirty="0">
                <a:latin typeface="Cabin Medium"/>
                <a:ea typeface="Cabin Medium"/>
                <a:cs typeface="Cabin Medium"/>
                <a:sym typeface="Cabin Medium"/>
              </a:rPr>
              <a:t> </a:t>
            </a:r>
            <a:endParaRPr sz="1467" dirty="0">
              <a:latin typeface="Cabin Medium"/>
              <a:ea typeface="Cabin Medium"/>
              <a:cs typeface="Cabin Medium"/>
              <a:sym typeface="Cabin Medium"/>
            </a:endParaRPr>
          </a:p>
          <a:p>
            <a:pPr marL="0" indent="0">
              <a:spcBef>
                <a:spcPts val="1600"/>
              </a:spcBef>
              <a:buNone/>
            </a:pPr>
            <a:r>
              <a:rPr lang="en" sz="1867" dirty="0">
                <a:latin typeface="Cabin Medium"/>
                <a:ea typeface="Cabin Medium"/>
                <a:cs typeface="Cabin Medium"/>
                <a:sym typeface="Cabin Medium"/>
              </a:rPr>
              <a:t>													</a:t>
            </a:r>
            <a:endParaRPr sz="1867" dirty="0">
              <a:latin typeface="Cabin Medium"/>
              <a:ea typeface="Cabin Medium"/>
              <a:cs typeface="Cabin Medium"/>
              <a:sym typeface="Cabin Medium"/>
            </a:endParaRPr>
          </a:p>
          <a:p>
            <a:pPr marL="0" indent="0">
              <a:spcBef>
                <a:spcPts val="1600"/>
              </a:spcBef>
              <a:spcAft>
                <a:spcPts val="1600"/>
              </a:spcAft>
              <a:buNone/>
            </a:pPr>
            <a:r>
              <a:rPr lang="en" sz="1867" dirty="0">
                <a:latin typeface="Cabin Medium"/>
                <a:ea typeface="Cabin Medium"/>
                <a:cs typeface="Cabin Medium"/>
                <a:sym typeface="Cabin Medium"/>
              </a:rPr>
              <a:t>													</a:t>
            </a:r>
            <a:endParaRPr sz="1867" dirty="0">
              <a:latin typeface="Cabin Medium"/>
              <a:ea typeface="Cabin Medium"/>
              <a:cs typeface="Cabin Medium"/>
              <a:sym typeface="Cabin Medium"/>
            </a:endParaRPr>
          </a:p>
        </p:txBody>
      </p:sp>
      <p:cxnSp>
        <p:nvCxnSpPr>
          <p:cNvPr id="134" name="Google Shape;134;p23"/>
          <p:cNvCxnSpPr>
            <a:cxnSpLocks/>
          </p:cNvCxnSpPr>
          <p:nvPr/>
        </p:nvCxnSpPr>
        <p:spPr>
          <a:xfrm rot="10800000">
            <a:off x="6422600" y="902601"/>
            <a:ext cx="0" cy="5393600"/>
          </a:xfrm>
          <a:prstGeom prst="straightConnector1">
            <a:avLst/>
          </a:prstGeom>
          <a:noFill/>
          <a:ln w="9525" cap="flat" cmpd="sng">
            <a:solidFill>
              <a:srgbClr val="20124D"/>
            </a:solidFill>
            <a:prstDash val="solid"/>
            <a:round/>
            <a:headEnd type="none" w="med" len="med"/>
            <a:tailEnd type="triangle" w="med" len="med"/>
          </a:ln>
        </p:spPr>
      </p:cxnSp>
      <p:cxnSp>
        <p:nvCxnSpPr>
          <p:cNvPr id="135" name="Google Shape;135;p23"/>
          <p:cNvCxnSpPr>
            <a:cxnSpLocks/>
            <a:endCxn id="133" idx="3"/>
          </p:cNvCxnSpPr>
          <p:nvPr/>
        </p:nvCxnSpPr>
        <p:spPr>
          <a:xfrm rot="10800000" flipH="1">
            <a:off x="1734400" y="3599401"/>
            <a:ext cx="9380800" cy="4400"/>
          </a:xfrm>
          <a:prstGeom prst="straightConnector1">
            <a:avLst/>
          </a:prstGeom>
          <a:noFill/>
          <a:ln w="9525" cap="flat" cmpd="sng">
            <a:solidFill>
              <a:srgbClr val="20124D"/>
            </a:solidFill>
            <a:prstDash val="solid"/>
            <a:round/>
            <a:headEnd type="none" w="med" len="med"/>
            <a:tailEnd type="triangle" w="med" len="med"/>
          </a:ln>
        </p:spPr>
      </p:cxnSp>
      <p:sp>
        <p:nvSpPr>
          <p:cNvPr id="136" name="Google Shape;136;p23"/>
          <p:cNvSpPr txBox="1"/>
          <p:nvPr/>
        </p:nvSpPr>
        <p:spPr>
          <a:xfrm>
            <a:off x="6937733" y="763068"/>
            <a:ext cx="4067200" cy="2502800"/>
          </a:xfrm>
          <a:prstGeom prst="rect">
            <a:avLst/>
          </a:prstGeom>
          <a:noFill/>
          <a:ln>
            <a:noFill/>
          </a:ln>
        </p:spPr>
        <p:txBody>
          <a:bodyPr spcFirstLastPara="1" wrap="square" lIns="121900" tIns="121900" rIns="121900" bIns="121900" anchor="t" anchorCtr="0">
            <a:noAutofit/>
          </a:bodyPr>
          <a:lstStyle/>
          <a:p>
            <a:r>
              <a:rPr lang="en" sz="1600" b="1" dirty="0">
                <a:solidFill>
                  <a:schemeClr val="tx1"/>
                </a:solidFill>
                <a:latin typeface="Cabin"/>
                <a:ea typeface="Cabin"/>
                <a:cs typeface="Cabin"/>
                <a:sym typeface="Cabin"/>
              </a:rPr>
              <a:t>Saturation:</a:t>
            </a:r>
            <a:r>
              <a:rPr lang="en" sz="1600" b="1" dirty="0">
                <a:solidFill>
                  <a:srgbClr val="5B0F00"/>
                </a:solidFill>
                <a:latin typeface="Cabin"/>
                <a:ea typeface="Cabin"/>
                <a:cs typeface="Cabin"/>
                <a:sym typeface="Cabin"/>
              </a:rPr>
              <a:t> </a:t>
            </a:r>
            <a:endParaRPr sz="1600" b="1" dirty="0">
              <a:solidFill>
                <a:srgbClr val="5B0F00"/>
              </a:solidFill>
              <a:latin typeface="Cabin"/>
              <a:ea typeface="Cabin"/>
              <a:cs typeface="Cabin"/>
              <a:sym typeface="Cabin"/>
            </a:endParaRPr>
          </a:p>
          <a:p>
            <a:endParaRPr sz="1600" b="1" dirty="0">
              <a:solidFill>
                <a:schemeClr val="lt1"/>
              </a:solidFill>
              <a:latin typeface="Cabin"/>
              <a:ea typeface="Cabin"/>
              <a:cs typeface="Cabin"/>
              <a:sym typeface="Cabin"/>
            </a:endParaRPr>
          </a:p>
          <a:p>
            <a:endParaRPr sz="1600" b="1" dirty="0">
              <a:solidFill>
                <a:schemeClr val="lt1"/>
              </a:solidFill>
              <a:latin typeface="Cabin"/>
              <a:ea typeface="Cabin"/>
              <a:cs typeface="Cabin"/>
              <a:sym typeface="Cabin"/>
            </a:endParaRPr>
          </a:p>
          <a:p>
            <a:r>
              <a:rPr lang="en" sz="1600" b="1" dirty="0">
                <a:solidFill>
                  <a:schemeClr val="tx1"/>
                </a:solidFill>
                <a:latin typeface="Cabin"/>
                <a:ea typeface="Cabin"/>
                <a:cs typeface="Cabin"/>
                <a:sym typeface="Cabin"/>
              </a:rPr>
              <a:t>Checking Condition:</a:t>
            </a:r>
            <a:endParaRPr sz="1600" b="1" dirty="0">
              <a:solidFill>
                <a:schemeClr val="tx1"/>
              </a:solidFill>
              <a:latin typeface="Cabin"/>
              <a:ea typeface="Cabin"/>
              <a:cs typeface="Cabin"/>
              <a:sym typeface="Cabin"/>
            </a:endParaRPr>
          </a:p>
          <a:p>
            <a:endParaRPr sz="1600" b="1" dirty="0">
              <a:solidFill>
                <a:schemeClr val="lt1"/>
              </a:solidFill>
              <a:latin typeface="Cabin"/>
              <a:ea typeface="Cabin"/>
              <a:cs typeface="Cabin"/>
              <a:sym typeface="Cabin"/>
            </a:endParaRPr>
          </a:p>
        </p:txBody>
      </p:sp>
      <p:sp>
        <p:nvSpPr>
          <p:cNvPr id="137" name="Google Shape;137;p23"/>
          <p:cNvSpPr txBox="1"/>
          <p:nvPr/>
        </p:nvSpPr>
        <p:spPr>
          <a:xfrm>
            <a:off x="1803290" y="3647391"/>
            <a:ext cx="4585200" cy="2552000"/>
          </a:xfrm>
          <a:prstGeom prst="rect">
            <a:avLst/>
          </a:prstGeom>
          <a:noFill/>
          <a:ln>
            <a:noFill/>
          </a:ln>
        </p:spPr>
        <p:txBody>
          <a:bodyPr spcFirstLastPara="1" wrap="square" lIns="121900" tIns="121900" rIns="121900" bIns="121900" anchor="t" anchorCtr="0">
            <a:noAutofit/>
          </a:bodyPr>
          <a:lstStyle/>
          <a:p>
            <a:r>
              <a:rPr lang="en" sz="1600" b="1" dirty="0">
                <a:solidFill>
                  <a:schemeClr val="tx1"/>
                </a:solidFill>
                <a:latin typeface="Cabin"/>
                <a:ea typeface="Cabin"/>
                <a:cs typeface="Cabin"/>
                <a:sym typeface="Cabin"/>
              </a:rPr>
              <a:t>Cutoff:</a:t>
            </a:r>
            <a:r>
              <a:rPr lang="en" sz="1600" b="1" dirty="0">
                <a:solidFill>
                  <a:srgbClr val="5B0F00"/>
                </a:solidFill>
                <a:latin typeface="Cabin"/>
                <a:ea typeface="Cabin"/>
                <a:cs typeface="Cabin"/>
                <a:sym typeface="Cabin"/>
              </a:rPr>
              <a:t> </a:t>
            </a:r>
            <a:endParaRPr sz="1600" b="1" dirty="0">
              <a:solidFill>
                <a:srgbClr val="5B0F00"/>
              </a:solidFill>
              <a:latin typeface="Cabin"/>
              <a:ea typeface="Cabin"/>
              <a:cs typeface="Cabin"/>
              <a:sym typeface="Cabin"/>
            </a:endParaRPr>
          </a:p>
          <a:p>
            <a:r>
              <a:rPr lang="en" sz="1600" dirty="0">
                <a:solidFill>
                  <a:schemeClr val="lt1"/>
                </a:solidFill>
                <a:latin typeface="Cabin Medium"/>
                <a:ea typeface="Cabin Medium"/>
                <a:cs typeface="Cabin Medium"/>
                <a:sym typeface="Cabin Medium"/>
              </a:rPr>
              <a:t>				</a:t>
            </a:r>
            <a:endParaRPr sz="1600" dirty="0">
              <a:solidFill>
                <a:schemeClr val="dk1"/>
              </a:solidFill>
              <a:latin typeface="Cabin Medium"/>
              <a:ea typeface="Cabin Medium"/>
              <a:cs typeface="Cabin Medium"/>
              <a:sym typeface="Cabin Medium"/>
            </a:endParaRPr>
          </a:p>
          <a:p>
            <a:endParaRPr sz="1600" dirty="0">
              <a:solidFill>
                <a:schemeClr val="lt1"/>
              </a:solidFill>
              <a:latin typeface="Cabin Medium"/>
              <a:ea typeface="Cabin Medium"/>
              <a:cs typeface="Cabin Medium"/>
              <a:sym typeface="Cabin Medium"/>
            </a:endParaRPr>
          </a:p>
          <a:p>
            <a:endParaRPr sz="1600" dirty="0">
              <a:solidFill>
                <a:schemeClr val="lt1"/>
              </a:solidFill>
              <a:latin typeface="Cabin Medium"/>
              <a:ea typeface="Cabin Medium"/>
              <a:cs typeface="Cabin Medium"/>
              <a:sym typeface="Cabin Medium"/>
            </a:endParaRPr>
          </a:p>
          <a:p>
            <a:endParaRPr sz="1600" dirty="0">
              <a:solidFill>
                <a:schemeClr val="lt1"/>
              </a:solidFill>
              <a:latin typeface="Cabin Medium"/>
              <a:ea typeface="Cabin Medium"/>
              <a:cs typeface="Cabin Medium"/>
              <a:sym typeface="Cabin Medium"/>
            </a:endParaRPr>
          </a:p>
          <a:p>
            <a:endParaRPr sz="1600" dirty="0">
              <a:solidFill>
                <a:schemeClr val="lt1"/>
              </a:solidFill>
              <a:latin typeface="Cabin Medium"/>
              <a:ea typeface="Cabin Medium"/>
              <a:cs typeface="Cabin Medium"/>
              <a:sym typeface="Cabin Medium"/>
            </a:endParaRPr>
          </a:p>
          <a:p>
            <a:endParaRPr sz="1600" dirty="0">
              <a:solidFill>
                <a:schemeClr val="lt1"/>
              </a:solidFill>
              <a:latin typeface="Cabin Medium"/>
              <a:ea typeface="Cabin Medium"/>
              <a:cs typeface="Cabin Medium"/>
              <a:sym typeface="Cabin Medium"/>
            </a:endParaRPr>
          </a:p>
          <a:p>
            <a:endParaRPr sz="1600" dirty="0">
              <a:solidFill>
                <a:schemeClr val="lt1"/>
              </a:solidFill>
              <a:latin typeface="Cabin Medium"/>
              <a:ea typeface="Cabin Medium"/>
              <a:cs typeface="Cabin Medium"/>
              <a:sym typeface="Cabin Medium"/>
            </a:endParaRPr>
          </a:p>
        </p:txBody>
      </p:sp>
      <p:sp>
        <p:nvSpPr>
          <p:cNvPr id="138" name="Google Shape;138;p23"/>
          <p:cNvSpPr txBox="1"/>
          <p:nvPr/>
        </p:nvSpPr>
        <p:spPr>
          <a:xfrm>
            <a:off x="6499167" y="3643835"/>
            <a:ext cx="4505600" cy="2850800"/>
          </a:xfrm>
          <a:prstGeom prst="rect">
            <a:avLst/>
          </a:prstGeom>
          <a:noFill/>
          <a:ln>
            <a:noFill/>
          </a:ln>
        </p:spPr>
        <p:txBody>
          <a:bodyPr spcFirstLastPara="1" wrap="square" lIns="121900" tIns="121900" rIns="121900" bIns="121900" anchor="t" anchorCtr="0">
            <a:noAutofit/>
          </a:bodyPr>
          <a:lstStyle/>
          <a:p>
            <a:r>
              <a:rPr lang="en" sz="1600" b="1" dirty="0">
                <a:solidFill>
                  <a:schemeClr val="tx1"/>
                </a:solidFill>
                <a:latin typeface="Cabin"/>
                <a:ea typeface="Cabin"/>
                <a:cs typeface="Cabin"/>
                <a:sym typeface="Cabin"/>
              </a:rPr>
              <a:t>Active:</a:t>
            </a:r>
            <a:r>
              <a:rPr lang="en" sz="1600" b="1" dirty="0">
                <a:solidFill>
                  <a:srgbClr val="5B0F00"/>
                </a:solidFill>
                <a:latin typeface="Cabin"/>
                <a:ea typeface="Cabin"/>
                <a:cs typeface="Cabin"/>
                <a:sym typeface="Cabin"/>
              </a:rPr>
              <a:t> </a:t>
            </a:r>
            <a:endParaRPr sz="1600" b="1" dirty="0">
              <a:solidFill>
                <a:srgbClr val="5B0F00"/>
              </a:solidFill>
              <a:latin typeface="Cabin"/>
              <a:ea typeface="Cabin"/>
              <a:cs typeface="Cabin"/>
              <a:sym typeface="Cabin"/>
            </a:endParaRPr>
          </a:p>
          <a:p>
            <a:endParaRPr sz="1600" b="1" dirty="0">
              <a:solidFill>
                <a:schemeClr val="lt1"/>
              </a:solidFill>
              <a:latin typeface="Cabin"/>
              <a:ea typeface="Cabin"/>
              <a:cs typeface="Cabin"/>
              <a:sym typeface="Cabin"/>
            </a:endParaRPr>
          </a:p>
          <a:p>
            <a:endParaRPr sz="1600" b="1" dirty="0">
              <a:solidFill>
                <a:schemeClr val="lt1"/>
              </a:solidFill>
              <a:latin typeface="Cabin"/>
              <a:ea typeface="Cabin"/>
              <a:cs typeface="Cabin"/>
              <a:sym typeface="Cabin"/>
            </a:endParaRPr>
          </a:p>
          <a:p>
            <a:endParaRPr sz="1600" b="1" dirty="0">
              <a:solidFill>
                <a:schemeClr val="lt1"/>
              </a:solidFill>
              <a:latin typeface="Cabin"/>
              <a:ea typeface="Cabin"/>
              <a:cs typeface="Cabin"/>
              <a:sym typeface="Cabin"/>
            </a:endParaRPr>
          </a:p>
          <a:p>
            <a:endParaRPr sz="1600" b="1" dirty="0">
              <a:solidFill>
                <a:schemeClr val="lt1"/>
              </a:solidFill>
              <a:latin typeface="Cabin"/>
              <a:ea typeface="Cabin"/>
              <a:cs typeface="Cabin"/>
              <a:sym typeface="Cabin"/>
            </a:endParaRPr>
          </a:p>
          <a:p>
            <a:endParaRPr sz="1600" b="1" dirty="0">
              <a:solidFill>
                <a:schemeClr val="lt1"/>
              </a:solidFill>
              <a:latin typeface="Cabin"/>
              <a:ea typeface="Cabin"/>
              <a:cs typeface="Cabin"/>
              <a:sym typeface="Cabin"/>
            </a:endParaRPr>
          </a:p>
          <a:p>
            <a:r>
              <a:rPr lang="en" sz="1600" dirty="0">
                <a:latin typeface="Cabin Medium"/>
                <a:ea typeface="Cabin Medium"/>
                <a:cs typeface="Cabin Medium"/>
                <a:sym typeface="Cabin Medium"/>
              </a:rPr>
              <a:t>Typical 	      values: 50, 100, </a:t>
            </a:r>
            <a:endParaRPr sz="1600" dirty="0">
              <a:latin typeface="Cabin Medium"/>
              <a:ea typeface="Cabin Medium"/>
              <a:cs typeface="Cabin Medium"/>
              <a:sym typeface="Cabin Medium"/>
            </a:endParaRPr>
          </a:p>
          <a:p>
            <a:endParaRPr sz="1600" b="1" dirty="0">
              <a:solidFill>
                <a:schemeClr val="lt1"/>
              </a:solidFill>
              <a:latin typeface="Cabin"/>
              <a:ea typeface="Cabin"/>
              <a:cs typeface="Cabin"/>
              <a:sym typeface="Cabin"/>
            </a:endParaRPr>
          </a:p>
          <a:p>
            <a:endParaRPr sz="1600" b="1" dirty="0">
              <a:solidFill>
                <a:schemeClr val="lt1"/>
              </a:solidFill>
              <a:latin typeface="Cabin"/>
              <a:ea typeface="Cabin"/>
              <a:cs typeface="Cabin"/>
              <a:sym typeface="Cabin"/>
            </a:endParaRPr>
          </a:p>
        </p:txBody>
      </p:sp>
      <p:pic>
        <p:nvPicPr>
          <p:cNvPr id="139" name="Google Shape;139;p23" title="[27,33,44,&quot;https://www.codecogs.com/eqnedit.php?latex=V_%7BBC%7D%20%3D%200.7%20V%2C%20%5Cfrac%7BI_E%7D%7BI_B%7D%20%3D%20%5Cbeta_R#0&quot;]"/>
          <p:cNvPicPr preferRelativeResize="0"/>
          <p:nvPr/>
        </p:nvPicPr>
        <p:blipFill>
          <a:blip r:embed="rId3">
            <a:alphaModFix/>
          </a:blip>
          <a:stretch>
            <a:fillRect/>
          </a:stretch>
        </p:blipFill>
        <p:spPr>
          <a:xfrm>
            <a:off x="2202663" y="1769696"/>
            <a:ext cx="2389001" cy="655593"/>
          </a:xfrm>
          <a:prstGeom prst="rect">
            <a:avLst/>
          </a:prstGeom>
          <a:noFill/>
          <a:ln>
            <a:noFill/>
          </a:ln>
        </p:spPr>
      </p:pic>
      <p:pic>
        <p:nvPicPr>
          <p:cNvPr id="140" name="Google Shape;140;p23" title="[27,33,44,&quot;https://www.codecogs.com/eqnedit.php?latex=%5Cbeta_R#0&quot;]"/>
          <p:cNvPicPr preferRelativeResize="0"/>
          <p:nvPr/>
        </p:nvPicPr>
        <p:blipFill>
          <a:blip r:embed="rId4">
            <a:alphaModFix/>
          </a:blip>
          <a:stretch>
            <a:fillRect/>
          </a:stretch>
        </p:blipFill>
        <p:spPr>
          <a:xfrm>
            <a:off x="1965865" y="2613217"/>
            <a:ext cx="376433" cy="234094"/>
          </a:xfrm>
          <a:prstGeom prst="rect">
            <a:avLst/>
          </a:prstGeom>
          <a:noFill/>
          <a:ln>
            <a:noFill/>
          </a:ln>
        </p:spPr>
      </p:pic>
      <p:pic>
        <p:nvPicPr>
          <p:cNvPr id="141" name="Google Shape;141;p23" title="[27,33,44,&quot;https://www.codecogs.com/eqnedit.php?latex=V_%7BBE%7D%20%3C%200%2C%20V_%7BBC%7D%20%3C%200#0&quot;]"/>
          <p:cNvPicPr preferRelativeResize="0"/>
          <p:nvPr/>
        </p:nvPicPr>
        <p:blipFill>
          <a:blip r:embed="rId5">
            <a:alphaModFix/>
          </a:blip>
          <a:stretch>
            <a:fillRect/>
          </a:stretch>
        </p:blipFill>
        <p:spPr>
          <a:xfrm>
            <a:off x="2342298" y="4295925"/>
            <a:ext cx="2131203" cy="251733"/>
          </a:xfrm>
          <a:prstGeom prst="rect">
            <a:avLst/>
          </a:prstGeom>
          <a:noFill/>
          <a:ln>
            <a:noFill/>
          </a:ln>
        </p:spPr>
      </p:pic>
      <p:pic>
        <p:nvPicPr>
          <p:cNvPr id="142" name="Google Shape;142;p23" title="[27,33,44,&quot;https://www.codecogs.com/eqnedit.php?latex=I_C%20%3D%20I_E%20%3D%20I_B%20%3D%200#0&quot;]"/>
          <p:cNvPicPr preferRelativeResize="0"/>
          <p:nvPr/>
        </p:nvPicPr>
        <p:blipFill>
          <a:blip r:embed="rId6">
            <a:alphaModFix/>
          </a:blip>
          <a:stretch>
            <a:fillRect/>
          </a:stretch>
        </p:blipFill>
        <p:spPr>
          <a:xfrm>
            <a:off x="2342298" y="4791667"/>
            <a:ext cx="2423737" cy="276300"/>
          </a:xfrm>
          <a:prstGeom prst="rect">
            <a:avLst/>
          </a:prstGeom>
          <a:noFill/>
          <a:ln>
            <a:noFill/>
          </a:ln>
        </p:spPr>
      </p:pic>
      <p:pic>
        <p:nvPicPr>
          <p:cNvPr id="145" name="Google Shape;145;p23" title="[27,33,44,&quot;https://www.codecogs.com/eqnedit.php?latex=%5Cfrac%7BI_C%7D%7BI_B%7D%20%3D%20%5Cbeta_%7Bforced%7D%20%3C%20%5Cbeta_%7BF(Forward)%7D#0&quot;]"/>
          <p:cNvPicPr preferRelativeResize="0"/>
          <p:nvPr/>
        </p:nvPicPr>
        <p:blipFill>
          <a:blip r:embed="rId7">
            <a:alphaModFix/>
          </a:blip>
          <a:stretch>
            <a:fillRect/>
          </a:stretch>
        </p:blipFill>
        <p:spPr>
          <a:xfrm>
            <a:off x="7087267" y="1969202"/>
            <a:ext cx="3140301" cy="633828"/>
          </a:xfrm>
          <a:prstGeom prst="rect">
            <a:avLst/>
          </a:prstGeom>
          <a:noFill/>
          <a:ln>
            <a:noFill/>
          </a:ln>
        </p:spPr>
      </p:pic>
      <p:pic>
        <p:nvPicPr>
          <p:cNvPr id="146" name="Google Shape;146;p23" title="[0,0,0,&quot;https://www.codecogs.com/eqnedit.php?latex=V_%7BBE%7D%20%3D%200.8%20V%2C%20V_%7BCE%7D%20%3D%200.1-0.2%20V%2C%20V_%7BBC%7D%20%3D%200.6%20V-0.7%20V#0&quot;]"/>
          <p:cNvPicPr preferRelativeResize="0"/>
          <p:nvPr/>
        </p:nvPicPr>
        <p:blipFill>
          <a:blip r:embed="rId8">
            <a:alphaModFix/>
          </a:blip>
          <a:srcRect t="1" r="40828" b="-21509"/>
          <a:stretch/>
        </p:blipFill>
        <p:spPr>
          <a:xfrm>
            <a:off x="7087267" y="1281435"/>
            <a:ext cx="2656501" cy="222900"/>
          </a:xfrm>
          <a:prstGeom prst="rect">
            <a:avLst/>
          </a:prstGeom>
          <a:noFill/>
          <a:ln>
            <a:noFill/>
          </a:ln>
        </p:spPr>
      </p:pic>
      <p:pic>
        <p:nvPicPr>
          <p:cNvPr id="147" name="Google Shape;147;p23" title="[27,33,44,&quot;https://www.codecogs.com/eqnedit.php?latex=V_%7BBC%7D#0&quot;]"/>
          <p:cNvPicPr preferRelativeResize="0"/>
          <p:nvPr/>
        </p:nvPicPr>
        <p:blipFill>
          <a:blip r:embed="rId9">
            <a:alphaModFix/>
          </a:blip>
          <a:stretch>
            <a:fillRect/>
          </a:stretch>
        </p:blipFill>
        <p:spPr>
          <a:xfrm>
            <a:off x="6514667" y="902602"/>
            <a:ext cx="349555" cy="183444"/>
          </a:xfrm>
          <a:prstGeom prst="rect">
            <a:avLst/>
          </a:prstGeom>
          <a:noFill/>
          <a:ln>
            <a:noFill/>
          </a:ln>
        </p:spPr>
      </p:pic>
      <p:pic>
        <p:nvPicPr>
          <p:cNvPr id="148" name="Google Shape;148;p23" title="[27,33,44,&quot;https://www.codecogs.com/eqnedit.php?latex=V_%7BBE%7D#0&quot;]"/>
          <p:cNvPicPr preferRelativeResize="0"/>
          <p:nvPr/>
        </p:nvPicPr>
        <p:blipFill>
          <a:blip r:embed="rId10">
            <a:alphaModFix/>
          </a:blip>
          <a:stretch>
            <a:fillRect/>
          </a:stretch>
        </p:blipFill>
        <p:spPr>
          <a:xfrm>
            <a:off x="10843668" y="3362167"/>
            <a:ext cx="376433" cy="194435"/>
          </a:xfrm>
          <a:prstGeom prst="rect">
            <a:avLst/>
          </a:prstGeom>
          <a:noFill/>
          <a:ln>
            <a:noFill/>
          </a:ln>
        </p:spPr>
      </p:pic>
      <p:pic>
        <p:nvPicPr>
          <p:cNvPr id="149" name="Google Shape;149;p23" title="[27,33,44,&quot;https://www.codecogs.com/eqnedit.php?latex=V_%7BBE%7D%20%3E%200%2C%20V_%7BBC%7D%20%3C%200#0&quot;]"/>
          <p:cNvPicPr preferRelativeResize="0"/>
          <p:nvPr/>
        </p:nvPicPr>
        <p:blipFill>
          <a:blip r:embed="rId11">
            <a:alphaModFix/>
          </a:blip>
          <a:stretch>
            <a:fillRect/>
          </a:stretch>
        </p:blipFill>
        <p:spPr>
          <a:xfrm>
            <a:off x="6579067" y="4098835"/>
            <a:ext cx="2131199" cy="251733"/>
          </a:xfrm>
          <a:prstGeom prst="rect">
            <a:avLst/>
          </a:prstGeom>
          <a:noFill/>
          <a:ln>
            <a:noFill/>
          </a:ln>
        </p:spPr>
      </p:pic>
      <p:pic>
        <p:nvPicPr>
          <p:cNvPr id="150" name="Google Shape;150;p23" title="[27,33,44,&quot;https://www.codecogs.com/eqnedit.php?latex=V_%7BBE%7D%20%3D%200.7%20V%2C%20%5Cfrac%7BI_C%7D%7BI_B%7D%20%3D%20%5Cbeta_F#0&quot;]"/>
          <p:cNvPicPr preferRelativeResize="0"/>
          <p:nvPr/>
        </p:nvPicPr>
        <p:blipFill>
          <a:blip r:embed="rId12">
            <a:alphaModFix/>
          </a:blip>
          <a:stretch>
            <a:fillRect/>
          </a:stretch>
        </p:blipFill>
        <p:spPr>
          <a:xfrm>
            <a:off x="6579067" y="4549701"/>
            <a:ext cx="1995739" cy="489200"/>
          </a:xfrm>
          <a:prstGeom prst="rect">
            <a:avLst/>
          </a:prstGeom>
          <a:noFill/>
          <a:ln>
            <a:noFill/>
          </a:ln>
        </p:spPr>
      </p:pic>
      <p:pic>
        <p:nvPicPr>
          <p:cNvPr id="151" name="Google Shape;151;p23" title="[0,0,0,&quot;https://www.codecogs.com/eqnedit.php?latex=%5Cbeta_F#0&quot;]"/>
          <p:cNvPicPr preferRelativeResize="0"/>
          <p:nvPr/>
        </p:nvPicPr>
        <p:blipFill>
          <a:blip r:embed="rId13">
            <a:alphaModFix/>
          </a:blip>
          <a:stretch>
            <a:fillRect/>
          </a:stretch>
        </p:blipFill>
        <p:spPr>
          <a:xfrm>
            <a:off x="7402426" y="5238034"/>
            <a:ext cx="349020" cy="270952"/>
          </a:xfrm>
          <a:prstGeom prst="rect">
            <a:avLst/>
          </a:prstGeom>
          <a:noFill/>
          <a:ln>
            <a:noFill/>
          </a:ln>
        </p:spPr>
      </p:pic>
      <p:sp>
        <p:nvSpPr>
          <p:cNvPr id="5" name="Google Shape;100;p2">
            <a:extLst>
              <a:ext uri="{FF2B5EF4-FFF2-40B4-BE49-F238E27FC236}">
                <a16:creationId xmlns:a16="http://schemas.microsoft.com/office/drawing/2014/main" id="{588374C8-3BB6-6116-F60E-438A759FFD49}"/>
              </a:ext>
            </a:extLst>
          </p:cNvPr>
          <p:cNvSpPr txBox="1">
            <a:spLocks/>
          </p:cNvSpPr>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SzPts val="1400"/>
            </a:pPr>
            <a:r>
              <a:rPr lang="en-US"/>
              <a:t>CSE 350</a:t>
            </a:r>
            <a:endParaRPr lang="en-US" dirty="0"/>
          </a:p>
        </p:txBody>
      </p:sp>
      <p:pic>
        <p:nvPicPr>
          <p:cNvPr id="6" name="Google Shape;102;p2">
            <a:extLst>
              <a:ext uri="{FF2B5EF4-FFF2-40B4-BE49-F238E27FC236}">
                <a16:creationId xmlns:a16="http://schemas.microsoft.com/office/drawing/2014/main" id="{537CB19F-DCA6-D8F4-4F34-BAD9ABF1CD4B}"/>
              </a:ext>
            </a:extLst>
          </p:cNvPr>
          <p:cNvPicPr preferRelativeResize="0"/>
          <p:nvPr/>
        </p:nvPicPr>
        <p:blipFill rotWithShape="1">
          <a:blip r:embed="rId14">
            <a:alphaModFix/>
          </a:blip>
          <a:srcRect/>
          <a:stretch/>
        </p:blipFill>
        <p:spPr>
          <a:xfrm>
            <a:off x="253319" y="5713427"/>
            <a:ext cx="1035082" cy="1035082"/>
          </a:xfrm>
          <a:prstGeom prst="rect">
            <a:avLst/>
          </a:prstGeom>
          <a:noFill/>
          <a:ln>
            <a:noFill/>
          </a:ln>
        </p:spPr>
      </p:pic>
      <p:sp>
        <p:nvSpPr>
          <p:cNvPr id="7" name="Google Shape;98;p2">
            <a:extLst>
              <a:ext uri="{FF2B5EF4-FFF2-40B4-BE49-F238E27FC236}">
                <a16:creationId xmlns:a16="http://schemas.microsoft.com/office/drawing/2014/main" id="{F44085FC-8D36-C917-0CCF-9708C31A691A}"/>
              </a:ext>
            </a:extLst>
          </p:cNvPr>
          <p:cNvSpPr txBox="1">
            <a:spLocks noGrp="1"/>
          </p:cNvSpPr>
          <p:nvPr>
            <p:ph type="title"/>
          </p:nvPr>
        </p:nvSpPr>
        <p:spPr>
          <a:xfrm>
            <a:off x="1096668" y="311208"/>
            <a:ext cx="9908099" cy="37263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accent1"/>
              </a:buClr>
              <a:buSzPts val="4400"/>
              <a:buFont typeface="Times New Roman"/>
              <a:buNone/>
            </a:pPr>
            <a:r>
              <a:rPr lang="en-US" sz="3600" dirty="0">
                <a:solidFill>
                  <a:schemeClr val="accent1"/>
                </a:solidFill>
              </a:rPr>
              <a:t>Review ( Electronic Circuits and Devices)</a:t>
            </a:r>
            <a:endParaRPr sz="3600" dirty="0">
              <a:solidFill>
                <a:schemeClr val="accent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79758A20-A04C-1CE2-11B7-0F6BD3F040F9}"/>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4E17AFEA-FE6E-C2F6-DDE3-85AE63559BC8}"/>
              </a:ext>
            </a:extLst>
          </p:cNvPr>
          <p:cNvSpPr txBox="1">
            <a:spLocks noGrp="1"/>
          </p:cNvSpPr>
          <p:nvPr>
            <p:ph type="title"/>
          </p:nvPr>
        </p:nvSpPr>
        <p:spPr>
          <a:xfrm>
            <a:off x="1096668" y="365126"/>
            <a:ext cx="10257132" cy="50994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accent1"/>
              </a:buClr>
              <a:buSzPts val="4400"/>
              <a:buFont typeface="Times New Roman"/>
              <a:buNone/>
            </a:pPr>
            <a:r>
              <a:rPr lang="en-US" sz="3600" dirty="0">
                <a:solidFill>
                  <a:schemeClr val="accent1"/>
                </a:solidFill>
              </a:rPr>
              <a:t>Review ( Electronic Circuits and Devices)</a:t>
            </a:r>
            <a:endParaRPr sz="3600" dirty="0">
              <a:solidFill>
                <a:schemeClr val="accent1"/>
              </a:solidFill>
            </a:endParaRPr>
          </a:p>
        </p:txBody>
      </p:sp>
      <p:sp>
        <p:nvSpPr>
          <p:cNvPr id="100" name="Google Shape;100;p2">
            <a:extLst>
              <a:ext uri="{FF2B5EF4-FFF2-40B4-BE49-F238E27FC236}">
                <a16:creationId xmlns:a16="http://schemas.microsoft.com/office/drawing/2014/main" id="{44F5CD3D-2C2F-C4AA-3C22-D69CBB77459D}"/>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01" name="Google Shape;101;p2">
            <a:extLst>
              <a:ext uri="{FF2B5EF4-FFF2-40B4-BE49-F238E27FC236}">
                <a16:creationId xmlns:a16="http://schemas.microsoft.com/office/drawing/2014/main" id="{EC8567D2-5ACB-41B0-52C9-417AC3FFE7E5}"/>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30</a:t>
            </a:fld>
            <a:endParaRPr/>
          </a:p>
        </p:txBody>
      </p:sp>
      <p:pic>
        <p:nvPicPr>
          <p:cNvPr id="102" name="Google Shape;102;p2">
            <a:extLst>
              <a:ext uri="{FF2B5EF4-FFF2-40B4-BE49-F238E27FC236}">
                <a16:creationId xmlns:a16="http://schemas.microsoft.com/office/drawing/2014/main" id="{AF812D38-CF65-EC68-60C7-8D7197FCA1FF}"/>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3" name="Text Placeholder 2">
            <a:extLst>
              <a:ext uri="{FF2B5EF4-FFF2-40B4-BE49-F238E27FC236}">
                <a16:creationId xmlns:a16="http://schemas.microsoft.com/office/drawing/2014/main" id="{6CDD1848-D806-F77C-9BFF-6F7C963DEA77}"/>
              </a:ext>
            </a:extLst>
          </p:cNvPr>
          <p:cNvSpPr>
            <a:spLocks noGrp="1"/>
          </p:cNvSpPr>
          <p:nvPr>
            <p:ph type="body" idx="1"/>
          </p:nvPr>
        </p:nvSpPr>
        <p:spPr/>
        <p:txBody>
          <a:bodyPr>
            <a:normAutofit/>
          </a:bodyPr>
          <a:lstStyle/>
          <a:p>
            <a:pPr marL="114300" indent="0">
              <a:buNone/>
            </a:pPr>
            <a:r>
              <a:rPr lang="en-US" sz="2000" dirty="0">
                <a:latin typeface="+mj-lt"/>
              </a:rPr>
              <a:t>Equation of BJT for Active mode:</a:t>
            </a:r>
          </a:p>
          <a:p>
            <a:pPr marL="114300" indent="0">
              <a:buNone/>
            </a:pPr>
            <a:endParaRPr lang="en-US" sz="2000" dirty="0">
              <a:latin typeface="+mj-lt"/>
            </a:endParaRPr>
          </a:p>
        </p:txBody>
      </p:sp>
      <p:pic>
        <p:nvPicPr>
          <p:cNvPr id="29" name="Picture 28">
            <a:extLst>
              <a:ext uri="{FF2B5EF4-FFF2-40B4-BE49-F238E27FC236}">
                <a16:creationId xmlns:a16="http://schemas.microsoft.com/office/drawing/2014/main" id="{059557BA-6816-42F0-1DCC-19B2D57A1B9B}"/>
              </a:ext>
            </a:extLst>
          </p:cNvPr>
          <p:cNvPicPr>
            <a:picLocks noChangeAspect="1"/>
          </p:cNvPicPr>
          <p:nvPr/>
        </p:nvPicPr>
        <p:blipFill>
          <a:blip r:embed="rId4"/>
          <a:stretch>
            <a:fillRect/>
          </a:stretch>
        </p:blipFill>
        <p:spPr>
          <a:xfrm>
            <a:off x="2084579" y="2848292"/>
            <a:ext cx="7468943" cy="1979347"/>
          </a:xfrm>
          <a:prstGeom prst="rect">
            <a:avLst/>
          </a:prstGeom>
        </p:spPr>
      </p:pic>
    </p:spTree>
    <p:extLst>
      <p:ext uri="{BB962C8B-B14F-4D97-AF65-F5344CB8AC3E}">
        <p14:creationId xmlns:p14="http://schemas.microsoft.com/office/powerpoint/2010/main" val="3813848250"/>
      </p:ext>
    </p:extLst>
  </p:cSld>
  <p:clrMapOvr>
    <a:masterClrMapping/>
  </p:clrMapOvr>
  <p:transition spd="slow">
    <p:fade/>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599</TotalTime>
  <Words>1512</Words>
  <Application>Microsoft Office PowerPoint</Application>
  <PresentationFormat>Widescreen</PresentationFormat>
  <Paragraphs>271</Paragraphs>
  <Slides>30</Slides>
  <Notes>30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Arial</vt:lpstr>
      <vt:lpstr>avenirltstd-roman</vt:lpstr>
      <vt:lpstr>Cabin</vt:lpstr>
      <vt:lpstr>Cabin Medium</vt:lpstr>
      <vt:lpstr>Calibri</vt:lpstr>
      <vt:lpstr>Cambria Math</vt:lpstr>
      <vt:lpstr>Times New Roman</vt:lpstr>
      <vt:lpstr>Wingdings</vt:lpstr>
      <vt:lpstr>Office Theme</vt:lpstr>
      <vt:lpstr>CSE 350 Digital Electronics and Pulse Techniques </vt:lpstr>
      <vt:lpstr>Course Instructor </vt:lpstr>
      <vt:lpstr>Marks Distribution</vt:lpstr>
      <vt:lpstr>CSE 350: Digital Electronics and Pulse Techniques (3 Credits)</vt:lpstr>
      <vt:lpstr>Course Content</vt:lpstr>
      <vt:lpstr>Review ( Circuits and Electronics )</vt:lpstr>
      <vt:lpstr>Review ( Circuits and Electronics )</vt:lpstr>
      <vt:lpstr>Review ( Circuits and Electronics )</vt:lpstr>
      <vt:lpstr>Review ( Circuits and Electronics )</vt:lpstr>
      <vt:lpstr>Review ( Circuits and Electronics )</vt:lpstr>
      <vt:lpstr>Review ( Circuits and Electronics )</vt:lpstr>
      <vt:lpstr>Review ( Circuits and Electronics )</vt:lpstr>
      <vt:lpstr>Review ( Circuits and Electronics )</vt:lpstr>
      <vt:lpstr>Review ( Circuits and Electronics )</vt:lpstr>
      <vt:lpstr>Review ( Circuits and Electronics )</vt:lpstr>
      <vt:lpstr>Review ( Electronic Circuits and Devices)</vt:lpstr>
      <vt:lpstr>Review ( Electronic Circuits and Devices)</vt:lpstr>
      <vt:lpstr>Review ( Electronic Circuits and Devices)</vt:lpstr>
      <vt:lpstr>Review ( Electronic Circuits and Devices)</vt:lpstr>
      <vt:lpstr>Review ( Electronic Circuits and Devices)</vt:lpstr>
      <vt:lpstr>Review ( Electronic Circuits and Devices)</vt:lpstr>
      <vt:lpstr>Review ( Electronic Circuits and Devices)</vt:lpstr>
      <vt:lpstr>Review ( Electronic Circuits and Devices)</vt:lpstr>
      <vt:lpstr>Review ( Electronic Circuits and Devices)</vt:lpstr>
      <vt:lpstr>Review ( Electronic Circuits and Devices)</vt:lpstr>
      <vt:lpstr>Review ( Electronic Circuits and Devices)</vt:lpstr>
      <vt:lpstr>Review ( Electronic Circuits and Devices)</vt:lpstr>
      <vt:lpstr>Review ( Electronic Circuits and Devices)</vt:lpstr>
      <vt:lpstr>Review ( Electronic Circuits and Devices)</vt:lpstr>
      <vt:lpstr>Review ( Electronic Circuits and Devices)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nazmul turjo</dc:creator>
  <cp:lastModifiedBy>USER</cp:lastModifiedBy>
  <cp:revision>9</cp:revision>
  <dcterms:created xsi:type="dcterms:W3CDTF">2021-07-10T07:14:46Z</dcterms:created>
  <dcterms:modified xsi:type="dcterms:W3CDTF">2025-01-06T16:41:23Z</dcterms:modified>
</cp:coreProperties>
</file>