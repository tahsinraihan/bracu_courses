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39" r:id="rId3"/>
    <p:sldId id="340" r:id="rId4"/>
    <p:sldId id="343" r:id="rId5"/>
    <p:sldId id="341" r:id="rId6"/>
    <p:sldId id="342" r:id="rId7"/>
    <p:sldId id="344" r:id="rId8"/>
    <p:sldId id="346" r:id="rId9"/>
    <p:sldId id="345" r:id="rId10"/>
    <p:sldId id="347" r:id="rId11"/>
    <p:sldId id="348" r:id="rId12"/>
    <p:sldId id="349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3736FCA-13FE-0F21-2D38-EB8F10D8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BFC2CB-DC05-5692-82CB-7D334140E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07463B4-BEC1-031B-7D1C-CC41A9515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3354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293BB75-49C8-2EA9-725B-C525B3CF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E020AD6-63B1-71F9-5165-31695093C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1D8B954-C3BD-CCF5-3BD5-352B4DA75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9578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70973A5-EE35-174A-D0B0-C6847B586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D0E1E78-13D3-FFED-80CF-1A3F37511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B8A43B1-BE23-803D-3C29-E829C50BE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0663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A61E83C-0340-FCE8-99F4-7CA751A2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DA64DD3-CDBB-1A22-05E8-C99250AD8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EFA6D39-60A0-024A-D0D6-5600A50B4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6006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D1E01AC-7D02-5526-6EDB-AF63E68B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8465E78-97FB-6976-922A-696814F80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1447FB-52AA-C8C8-9F4E-7E7D0FD99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3537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1DB731A-513A-340B-23BE-29D7E0C7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54B730B-A913-46E9-C833-AF484ACE0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1B61BCC-6830-A10A-EE12-DD141E0EF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4613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9621AC4-0E39-5379-35B3-07E0D2B0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2244175-0CF2-425A-AA36-A24B31D62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DCEC008-720B-A2D4-6C47-0F9DC6699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2304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5CC4ABC-DBE3-98B5-BBBF-6DBFCB1A5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E2A1972-BCA5-BDEA-95EA-E738D5A7B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0A4B08A-E718-CAFA-931F-555AFB458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3037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517E569-2022-30BB-5412-DC91768A5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BE6CFA3-3EDE-C5E5-C9DE-6B7AEADE6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5E97657-6841-E9FF-1DD3-1FBAE65E1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9175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0387ABE-8C39-C3BB-7AD8-973A72141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0AE904D-9B2D-9140-F4F8-4DF632159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0104686-FF57-7C8D-A87A-05B2FB122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5300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8F7B95B-3C7F-D865-8A7D-5E86F33D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14A1B8F-885C-83FE-8961-CF144E5EE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D09108E-0D43-85A3-2D30-6A507C2A8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496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3497825" y="2526891"/>
            <a:ext cx="8858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Transistor-Transistor Logic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728C66D-9D14-6B5D-7F6D-80BA0EF9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6FB9495-F442-C03F-B59F-7DA62948F8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E9FE7F4-9DFB-0E90-6634-EF012A29A95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ACAEA6C-C528-050A-3E1B-DFA796789B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1489479-AC3B-5A8A-97A2-460262D536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094A-DBE8-DB9E-0271-584CBC88E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Transistor-Transistor Logic (TTL): </a:t>
            </a:r>
            <a:r>
              <a:rPr lang="en-US" dirty="0"/>
              <a:t>TTL is a digital logic family that uses bipolar junction transistors (BJTs) for logic operations.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Multi-Emitter Transistors: </a:t>
            </a:r>
            <a:r>
              <a:rPr lang="en-US" dirty="0"/>
              <a:t>A BJT with multiple emitters is shown here. </a:t>
            </a:r>
          </a:p>
          <a:p>
            <a:pPr marL="114300" indent="0">
              <a:buNone/>
            </a:pPr>
            <a:r>
              <a:rPr lang="en-US" dirty="0"/>
              <a:t>The operating mode of the BJT depends on the emitter voltages. 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2" name="Google Shape;135;p19">
            <a:extLst>
              <a:ext uri="{FF2B5EF4-FFF2-40B4-BE49-F238E27FC236}">
                <a16:creationId xmlns:a16="http://schemas.microsoft.com/office/drawing/2014/main" id="{DADA5F06-8657-A53D-8361-F2EC1A616C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7326" y="4235238"/>
            <a:ext cx="2714625" cy="1685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930898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6A06911-83F3-02FC-2868-838EA47E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78BCACC-DDD1-992C-FC61-C9683212E5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4806100-EB0C-F8D8-3BF6-818152B1C3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E110E6D-C461-DD99-F1A5-34377267E9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4DEA53B-DBFA-DE4B-6A52-42B23B9DFD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491E7-B15E-EB87-426B-97962E97D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Operation of a TTL Circuit</a:t>
            </a:r>
            <a:r>
              <a:rPr lang="en-US" dirty="0"/>
              <a:t>: Find the current and voltages involved in the following TTL circuit. Verify that it works like a NAND gate.</a:t>
            </a:r>
          </a:p>
          <a:p>
            <a:pPr marL="114300" indent="0">
              <a:buNone/>
            </a:pPr>
            <a:endParaRPr lang="en-US" dirty="0"/>
          </a:p>
        </p:txBody>
      </p:sp>
      <p:grpSp>
        <p:nvGrpSpPr>
          <p:cNvPr id="4" name="Google Shape;143;p20">
            <a:extLst>
              <a:ext uri="{FF2B5EF4-FFF2-40B4-BE49-F238E27FC236}">
                <a16:creationId xmlns:a16="http://schemas.microsoft.com/office/drawing/2014/main" id="{3C0CDA99-BF0B-BD13-FA5D-9ED8D5CDCB51}"/>
              </a:ext>
            </a:extLst>
          </p:cNvPr>
          <p:cNvGrpSpPr/>
          <p:nvPr/>
        </p:nvGrpSpPr>
        <p:grpSpPr>
          <a:xfrm>
            <a:off x="4974195" y="2749963"/>
            <a:ext cx="4038925" cy="3171200"/>
            <a:chOff x="2552538" y="960050"/>
            <a:chExt cx="4038925" cy="3171200"/>
          </a:xfrm>
        </p:grpSpPr>
        <p:pic>
          <p:nvPicPr>
            <p:cNvPr id="5" name="Google Shape;144;p20">
              <a:extLst>
                <a:ext uri="{FF2B5EF4-FFF2-40B4-BE49-F238E27FC236}">
                  <a16:creationId xmlns:a16="http://schemas.microsoft.com/office/drawing/2014/main" id="{24173042-45F7-C9AC-A303-C8BA0B999D4E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52538" y="960050"/>
              <a:ext cx="4038925" cy="317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45;p20" title="[0,0,0,&quot;https://www.codecogs.com/eqnedit.php?latex=V_x#0&quot;]">
              <a:extLst>
                <a:ext uri="{FF2B5EF4-FFF2-40B4-BE49-F238E27FC236}">
                  <a16:creationId xmlns:a16="http://schemas.microsoft.com/office/drawing/2014/main" id="{5433CD55-8FED-E36B-3736-1BA23F19496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93650" y="2369125"/>
              <a:ext cx="236770" cy="22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46;p20" title="[0,0,0,&quot;https://www.codecogs.com/eqnedit.php?latex=V_y#0&quot;]">
              <a:extLst>
                <a:ext uri="{FF2B5EF4-FFF2-40B4-BE49-F238E27FC236}">
                  <a16:creationId xmlns:a16="http://schemas.microsoft.com/office/drawing/2014/main" id="{5042F9F8-1DFA-C714-2DA5-2F019B873179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11500" y="2668175"/>
              <a:ext cx="201075" cy="226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47;p20" title="[0,0,0,&quot;https://www.codecogs.com/eqnedit.php?latex=T_1#0&quot;]">
              <a:extLst>
                <a:ext uri="{FF2B5EF4-FFF2-40B4-BE49-F238E27FC236}">
                  <a16:creationId xmlns:a16="http://schemas.microsoft.com/office/drawing/2014/main" id="{6D2B16D3-9C00-296E-A376-7D9551A78886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90575" y="2383950"/>
              <a:ext cx="201075" cy="1963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148;p20" title="[0,0,0,&quot;https://www.codecogs.com/eqnedit.php?latex=T_2#0&quot;]">
              <a:extLst>
                <a:ext uri="{FF2B5EF4-FFF2-40B4-BE49-F238E27FC236}">
                  <a16:creationId xmlns:a16="http://schemas.microsoft.com/office/drawing/2014/main" id="{0E609C33-C7AC-CE09-A139-EDF1E11909E6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15075" y="2289525"/>
              <a:ext cx="201075" cy="191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49;p20" title="[0,0,0,&quot;https://www.codecogs.com/eqnedit.php?latex=T_o#0&quot;]">
              <a:extLst>
                <a:ext uri="{FF2B5EF4-FFF2-40B4-BE49-F238E27FC236}">
                  <a16:creationId xmlns:a16="http://schemas.microsoft.com/office/drawing/2014/main" id="{6BD81172-EE1D-9AED-8741-B8B8B291949B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578750" y="3026925"/>
              <a:ext cx="201074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50;p20" title="[0,0,0,&quot;https://www.codecogs.com/eqnedit.php?latex=1k%5COmega#0&quot;]">
              <a:extLst>
                <a:ext uri="{FF2B5EF4-FFF2-40B4-BE49-F238E27FC236}">
                  <a16:creationId xmlns:a16="http://schemas.microsoft.com/office/drawing/2014/main" id="{662CB8C6-C9DC-A135-8971-44767BB1C7C7}"/>
                </a:ext>
              </a:extLst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490775" y="3415675"/>
              <a:ext cx="433118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51;p20" title="[0,0,0,&quot;https://www.codecogs.com/eqnedit.php?latex=4k%5COmega#0&quot;]">
              <a:extLst>
                <a:ext uri="{FF2B5EF4-FFF2-40B4-BE49-F238E27FC236}">
                  <a16:creationId xmlns:a16="http://schemas.microsoft.com/office/drawing/2014/main" id="{6818166C-1D82-E513-E2EB-9CEB6B729BC7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942300" y="1662675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52;p20" title="[0,0,0,&quot;https://www.codecogs.com/eqnedit.php?latex=1.6k%5COmega#0&quot;]">
              <a:extLst>
                <a:ext uri="{FF2B5EF4-FFF2-40B4-BE49-F238E27FC236}">
                  <a16:creationId xmlns:a16="http://schemas.microsoft.com/office/drawing/2014/main" id="{0D95296D-24FC-27BD-DD69-30FCD14C9CEA}"/>
                </a:ext>
              </a:extLst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954325" y="1662675"/>
              <a:ext cx="624417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53;p20" title="[0,0,0,&quot;https://www.codecogs.com/eqnedit.php?latex=4k%5COmega#0&quot;]">
              <a:extLst>
                <a:ext uri="{FF2B5EF4-FFF2-40B4-BE49-F238E27FC236}">
                  <a16:creationId xmlns:a16="http://schemas.microsoft.com/office/drawing/2014/main" id="{A0C7A13A-EF06-957B-D550-293969C2C34E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751500" y="2144000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1728637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D054E8C-895A-1AF4-2EAD-7D7619B2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2FC2968-F032-D429-DA34-1F4F42CE8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4E0D764-3556-F6CC-F5AC-89CEBC3FBD0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273196A-300A-7A7B-30FB-9EA14C9BFF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EFC7B3AD-3704-EF5C-7F73-2E3DE41B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729E7-5C64-12D7-82E6-540ECA633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TTL NAND Gate:</a:t>
            </a:r>
          </a:p>
          <a:p>
            <a:pPr marL="114300" indent="0">
              <a:buNone/>
            </a:pPr>
            <a:r>
              <a:rPr lang="en-US" dirty="0"/>
              <a:t>Logic Low: 0.1 V</a:t>
            </a:r>
          </a:p>
          <a:p>
            <a:pPr marL="114300" indent="0">
              <a:buNone/>
            </a:pPr>
            <a:r>
              <a:rPr lang="en-US" dirty="0"/>
              <a:t>Logic High : 5 V</a:t>
            </a:r>
          </a:p>
          <a:p>
            <a:pPr marL="114300" indent="0">
              <a:buNone/>
            </a:pPr>
            <a:r>
              <a:rPr lang="en-US" dirty="0"/>
              <a:t>We need to analyze the TTL NAND gate circuit for four different cases.</a:t>
            </a:r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FB45F35-BAD3-709F-ED52-F877293AA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6217955"/>
                  </p:ext>
                </p:extLst>
              </p:nvPr>
            </p:nvGraphicFramePr>
            <p:xfrm>
              <a:off x="1902967" y="3484114"/>
              <a:ext cx="4609428" cy="30959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36476">
                      <a:extLst>
                        <a:ext uri="{9D8B030D-6E8A-4147-A177-3AD203B41FA5}">
                          <a16:colId xmlns:a16="http://schemas.microsoft.com/office/drawing/2014/main" val="3798372114"/>
                        </a:ext>
                      </a:extLst>
                    </a:gridCol>
                    <a:gridCol w="1536476">
                      <a:extLst>
                        <a:ext uri="{9D8B030D-6E8A-4147-A177-3AD203B41FA5}">
                          <a16:colId xmlns:a16="http://schemas.microsoft.com/office/drawing/2014/main" val="3139916946"/>
                        </a:ext>
                      </a:extLst>
                    </a:gridCol>
                    <a:gridCol w="1536476">
                      <a:extLst>
                        <a:ext uri="{9D8B030D-6E8A-4147-A177-3AD203B41FA5}">
                          <a16:colId xmlns:a16="http://schemas.microsoft.com/office/drawing/2014/main" val="1817527184"/>
                        </a:ext>
                      </a:extLst>
                    </a:gridCol>
                  </a:tblGrid>
                  <a:tr h="37125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6038954"/>
                      </a:ext>
                    </a:extLst>
                  </a:tr>
                  <a:tr h="5966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5214897"/>
                      </a:ext>
                    </a:extLst>
                  </a:tr>
                  <a:tr h="65684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3785043"/>
                      </a:ext>
                    </a:extLst>
                  </a:tr>
                  <a:tr h="65684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821485"/>
                      </a:ext>
                    </a:extLst>
                  </a:tr>
                  <a:tr h="65684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2581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FB45F35-BAD3-709F-ED52-F877293AA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6217955"/>
                  </p:ext>
                </p:extLst>
              </p:nvPr>
            </p:nvGraphicFramePr>
            <p:xfrm>
              <a:off x="1902967" y="3484114"/>
              <a:ext cx="4609428" cy="30959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36476">
                      <a:extLst>
                        <a:ext uri="{9D8B030D-6E8A-4147-A177-3AD203B41FA5}">
                          <a16:colId xmlns:a16="http://schemas.microsoft.com/office/drawing/2014/main" val="3798372114"/>
                        </a:ext>
                      </a:extLst>
                    </a:gridCol>
                    <a:gridCol w="1536476">
                      <a:extLst>
                        <a:ext uri="{9D8B030D-6E8A-4147-A177-3AD203B41FA5}">
                          <a16:colId xmlns:a16="http://schemas.microsoft.com/office/drawing/2014/main" val="3139916946"/>
                        </a:ext>
                      </a:extLst>
                    </a:gridCol>
                    <a:gridCol w="1536476">
                      <a:extLst>
                        <a:ext uri="{9D8B030D-6E8A-4147-A177-3AD203B41FA5}">
                          <a16:colId xmlns:a16="http://schemas.microsoft.com/office/drawing/2014/main" val="181752718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7" t="-1538" r="-201984" b="-6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538" r="-101186" b="-6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94" t="-1538" r="-1587" b="-68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6038954"/>
                      </a:ext>
                    </a:extLst>
                  </a:tr>
                  <a:tr h="5966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7" t="-67347" r="-201984" b="-3551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67347" r="-101186" b="-3551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521489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7" t="-142609" r="-201984" b="-2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42609" r="-101186" b="-2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378504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7" t="-240517" r="-201984" b="-1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40517" r="-101186" b="-1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82148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7" t="-343478" r="-201984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43478" r="-101186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2581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3731824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4FCD97A-6F3E-9E58-3D57-668C2A23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C5CF9E9-329A-B451-3B02-A6A1A1004E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29FF5A0-BA95-92D0-3F5A-6F60B58581D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FD04C7C-D0E3-F1BC-4D6D-496B1A5646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730DFAAC-4118-BE0E-B62F-2A5B20DC91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7FFA83-C0DA-38E1-BF2D-29AB952B3F2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8" y="1334586"/>
                <a:ext cx="11445106" cy="502176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Case 01: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b="1" dirty="0"/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Cabin Medium"/>
                    <a:ea typeface="Cabin Medium"/>
                    <a:cs typeface="Cabin Medium"/>
                    <a:sym typeface="Cabin Medium"/>
                  </a:rPr>
                  <a:t>Transistors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bin Medium"/>
                    <a:ea typeface="Cabin Medium"/>
                    <a:cs typeface="Cabin Medium"/>
                    <a:sym typeface="Cabin Medium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bin Medium"/>
                    <a:ea typeface="Cabin Medium"/>
                    <a:cs typeface="Cabin Medium"/>
                    <a:sym typeface="Cabin Medium"/>
                  </a:rPr>
                  <a:t>  will be in cutoff, just like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>
                    <a:latin typeface="Cabin Medium"/>
                    <a:ea typeface="Cabin Medium"/>
                    <a:cs typeface="Cabin Medium"/>
                    <a:sym typeface="Cabin Medium"/>
                  </a:rPr>
                  <a:t>    in DTL circuit. However, to understand what will be the state of        , we need to analyze a bit differently, since it’s not a regular BJT. The two emitter BJT can be visualized as follows: </a:t>
                </a:r>
              </a:p>
              <a:p>
                <a:pPr marL="0" lvl="0" indent="0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Thus, there are </a:t>
                </a:r>
                <a:r>
                  <a:rPr lang="en-US" b="1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two base-emitter junctions</a:t>
                </a:r>
                <a:r>
                  <a:rPr lang="en-US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. The voltage states in the four terminals are as shown in the figure. Thus, all the three junctions are forward biased. </a:t>
                </a:r>
              </a:p>
              <a:p>
                <a:pPr marL="0" lvl="0" indent="0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Thus, we can assume that the transistor is operating in </a:t>
                </a:r>
                <a:r>
                  <a:rPr lang="en-US" b="1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saturation </a:t>
                </a:r>
                <a:r>
                  <a:rPr lang="en-US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mode. 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7FFA83-C0DA-38E1-BF2D-29AB952B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6"/>
                <a:ext cx="11445106" cy="5021764"/>
              </a:xfrm>
              <a:blipFill>
                <a:blip r:embed="rId4"/>
                <a:stretch>
                  <a:fillRect l="-1065" r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21866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C12B65F-8732-E2C8-1D56-343BCC79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5BC5561-0ED4-4F49-5DAE-E5AAB62A8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670B10A-4E6F-5D9F-CC1D-164D22EB512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CA4F6C7-19DE-85D3-A224-AAF4C24D38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E6A98CA-E15A-CE59-59C8-416F78EB5A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1C3439-DE4B-01E8-F2A7-00FB9A5ED5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2800" dirty="0">
                    <a:latin typeface="Cabin Medium"/>
                    <a:ea typeface="Cabin Medium"/>
                    <a:cs typeface="Cabin Medium"/>
                    <a:sym typeface="Cabin Medium"/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𝐶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=0,    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𝐶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=0 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𝐸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𝐶𝑜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𝐸𝑜</m:t>
                        </m:r>
                      </m:sub>
                    </m:sSub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𝑜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𝑉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𝐵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5−0.9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4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𝑘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=1.025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𝑚𝐴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,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bin Medium"/>
                                  <a:cs typeface="Cabin Medium"/>
                                  <a:sym typeface="Cabin Medium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bin Medium"/>
                                  <a:cs typeface="Cabin Medium"/>
                                  <a:sym typeface="Cabin Medium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bin Medium"/>
                                  <a:cs typeface="Cabin Medium"/>
                                  <a:sym typeface="Cabin Medium"/>
                                </a:rPr>
                                <m:t>𝐵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bin Medium"/>
                                  <a:cs typeface="Cabin Medium"/>
                                  <a:sym typeface="Cabin Medium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=0.5125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𝑚𝐴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dirty="0">
                    <a:latin typeface="Cabin Medium"/>
                    <a:ea typeface="Cabin Medium"/>
                    <a:cs typeface="Cabin Medium"/>
                    <a:sym typeface="Cabin Medium"/>
                  </a:rPr>
                  <a:t>We find,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𝑓𝑜𝑟𝑐𝑒𝑑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  <m:t>𝐶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  <m:t>𝐵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bin Medium"/>
                                <a:cs typeface="Cabin Medium"/>
                                <a:sym typeface="Cabin Medium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0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1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ea typeface="Cabin Medium"/>
                        <a:cs typeface="Cabin Medium"/>
                        <a:sym typeface="Cabin Medium"/>
                      </a:rPr>
                      <m:t>=0&lt;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bin Medium"/>
                            <a:cs typeface="Cabin Medium"/>
                            <a:sym typeface="Cabin Medium"/>
                          </a:rPr>
                          <m:t>𝐹</m:t>
                        </m:r>
                      </m:sub>
                    </m:sSub>
                  </m:oMath>
                </a14:m>
                <a:endParaRPr lang="en-US" sz="2800" dirty="0">
                  <a:latin typeface="Cabin Medium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2800" dirty="0">
                    <a:latin typeface="Cabin Medium"/>
                    <a:ea typeface="Cabin Medium"/>
                    <a:cs typeface="Cabin Medium"/>
                    <a:sym typeface="Cabin Medium"/>
                  </a:rPr>
                  <a:t>Thus, our assumption is valid. 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1C3439-DE4B-01E8-F2A7-00FB9A5ED5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1654177" cy="5104118"/>
              </a:xfrm>
              <a:blipFill>
                <a:blip r:embed="rId4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92FF26E8-7F5E-6B3C-EF0A-28969DA63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162" y="2682206"/>
            <a:ext cx="4210638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13525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3D70692-2ED7-E9A0-5B5E-80DBC27F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2BB9818-315A-7EA0-0C4E-6A9E7F1C0A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C9BE2B4-58EB-51AC-2553-1B36F9BA45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C47E74D-EAC2-27C7-2DB7-3A3DD4C26B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8C1385D-2F21-006A-7261-2B9BCFD638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61F6BF-9B8A-144E-76A8-35206D3E80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669655" cy="5021764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2800" dirty="0">
                    <a:latin typeface="Cabin Medium"/>
                    <a:ea typeface="Cabin Medium"/>
                    <a:cs typeface="Cabin Medium"/>
                    <a:sym typeface="Cabin Medium"/>
                  </a:rPr>
                  <a:t>Case 02: (01)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b="1"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2800" dirty="0">
                    <a:latin typeface="Cabin Medium"/>
                    <a:ea typeface="Cabin Medium"/>
                    <a:cs typeface="Cabin Medium"/>
                    <a:sym typeface="Cabin Medium"/>
                  </a:rPr>
                  <a:t> This time, one of the emitter terminals of the multi-emitter transistor will have high voltage, and thus that B-E junction will be reverse biased, and off. Thus, current from base will only flow through the low input emitter. However, since there is still one B-E junction left in forward bias, we can assume here too that the transistor is in saturation. The analyses are quite similar except for the emitter currents of the input transistor.</a:t>
                </a:r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61F6BF-9B8A-144E-76A8-35206D3E8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669655" cy="5021764"/>
              </a:xfrm>
              <a:blipFill>
                <a:blip r:embed="rId4"/>
                <a:stretch>
                  <a:fillRect l="-1826" r="-3105" b="-3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4C80F3BD-49B1-61CC-056A-C8E49D06B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012" y="2038839"/>
            <a:ext cx="4378601" cy="349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5828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21AF399-4472-AAB2-6839-CBC37698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CB384FC-AC4C-96B9-AC64-1CCE1F1F5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9F9FD0D-4F99-C687-ED8D-7B594EE8066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4935AE7-67C4-B258-5856-3FC661DF08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6F05342-B007-1845-A200-F24368ECFF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E522B3-FD2F-D0D4-DB8E-A0AB41BA719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8" y="1334586"/>
                <a:ext cx="5628156" cy="4646752"/>
              </a:xfrm>
            </p:spPr>
            <p:txBody>
              <a:bodyPr>
                <a:normAutofit/>
              </a:bodyPr>
              <a:lstStyle/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𝐵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5−0.9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4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𝑘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=1.025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𝑚𝐴</m:t>
                      </m:r>
                    </m:oMath>
                  </m:oMathPara>
                </a14:m>
                <a:endParaRPr lang="en-US" sz="2800" b="0" dirty="0">
                  <a:latin typeface="Cabin Medium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𝐵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=1.025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𝑚𝐴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=0,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𝑜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𝑉</m:t>
                      </m:r>
                    </m:oMath>
                  </m:oMathPara>
                </a14:m>
                <a:endParaRPr lang="en-US" sz="2800" dirty="0">
                  <a:latin typeface="Cabin Medium"/>
                  <a:ea typeface="Cabin Medium"/>
                  <a:cs typeface="Cabin Medium"/>
                  <a:sym typeface="Cabin Medium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E522B3-FD2F-D0D4-DB8E-A0AB41BA7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6"/>
                <a:ext cx="5628156" cy="4646752"/>
              </a:xfrm>
              <a:blipFill>
                <a:blip r:embed="rId4"/>
                <a:stretch>
                  <a:fillRect l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DB209BB1-1382-C2D0-DA3E-0C9CD57E1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728" y="1804761"/>
            <a:ext cx="4891377" cy="390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5621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3F54D8D-E138-C7DD-02BB-2255FBDE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AD924E4-DA78-6A2C-78E9-3EE96C106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D5D623F-7501-3DA3-5A05-A2259911754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1CC5AC3-18D5-8D72-A061-0F5D719ED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3C65F6E-870C-2BAD-7A21-CDEA120E86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A5610F-5FBC-0A51-38D3-2BD4EFFBD22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2800" dirty="0">
                    <a:latin typeface="Cabin Medium"/>
                    <a:ea typeface="Cabin Medium"/>
                    <a:cs typeface="Cabin Medium"/>
                    <a:sym typeface="Cabin Medium"/>
                  </a:rPr>
                  <a:t>Case 03: (10)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b="1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dirty="0"/>
                  <a:t>This is similar to the case 02.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𝐵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5−0.9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4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𝑘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=1.025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𝑚𝐴</m:t>
                      </m:r>
                    </m:oMath>
                  </m:oMathPara>
                </a14:m>
                <a:endParaRPr lang="en-US" sz="2800" b="0" dirty="0">
                  <a:latin typeface="Cabin Medium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𝐵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=1.025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𝑚𝐴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=0,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bin Medium"/>
                              <a:cs typeface="Cabin Medium"/>
                              <a:sym typeface="Cabin Medium"/>
                            </a:rPr>
                            <m:t>𝑜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=5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bin Medium"/>
                          <a:cs typeface="Cabin Medium"/>
                          <a:sym typeface="Cabin Medium"/>
                        </a:rPr>
                        <m:t>𝑉</m:t>
                      </m:r>
                    </m:oMath>
                  </m:oMathPara>
                </a14:m>
                <a:endParaRPr lang="en-US" sz="2800" dirty="0">
                  <a:latin typeface="Cabin Medium"/>
                  <a:ea typeface="Cabin Medium"/>
                  <a:cs typeface="Cabin Medium"/>
                  <a:sym typeface="Cabin Medium"/>
                </a:endParaRPr>
              </a:p>
              <a:p>
                <a:pPr marL="0" indent="0">
                  <a:spcBef>
                    <a:spcPts val="1200"/>
                  </a:spcBef>
                  <a:buNone/>
                </a:pPr>
                <a:endParaRPr lang="en-US" b="1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A5610F-5FBC-0A51-38D3-2BD4EFFBD2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1654177" cy="5104118"/>
              </a:xfrm>
              <a:blipFill>
                <a:blip r:embed="rId4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oogle Shape;162;p21">
            <a:extLst>
              <a:ext uri="{FF2B5EF4-FFF2-40B4-BE49-F238E27FC236}">
                <a16:creationId xmlns:a16="http://schemas.microsoft.com/office/drawing/2014/main" id="{85E972EE-51E0-490A-DFD2-6910CADDE87A}"/>
              </a:ext>
            </a:extLst>
          </p:cNvPr>
          <p:cNvGrpSpPr/>
          <p:nvPr/>
        </p:nvGrpSpPr>
        <p:grpSpPr>
          <a:xfrm>
            <a:off x="6498974" y="2219292"/>
            <a:ext cx="5007719" cy="3854287"/>
            <a:chOff x="2552538" y="960050"/>
            <a:chExt cx="4038925" cy="3171200"/>
          </a:xfrm>
        </p:grpSpPr>
        <p:pic>
          <p:nvPicPr>
            <p:cNvPr id="4" name="Google Shape;163;p21">
              <a:extLst>
                <a:ext uri="{FF2B5EF4-FFF2-40B4-BE49-F238E27FC236}">
                  <a16:creationId xmlns:a16="http://schemas.microsoft.com/office/drawing/2014/main" id="{75A23CEE-01A2-68F9-7139-27F9EC9AC480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52538" y="960050"/>
              <a:ext cx="4038925" cy="317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164;p21" title="[0,0,0,&quot;https://www.codecogs.com/eqnedit.php?latex=V_x#0&quot;]">
              <a:extLst>
                <a:ext uri="{FF2B5EF4-FFF2-40B4-BE49-F238E27FC236}">
                  <a16:creationId xmlns:a16="http://schemas.microsoft.com/office/drawing/2014/main" id="{27EB87FD-515D-0049-6F58-460759167ADA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93650" y="2369125"/>
              <a:ext cx="236770" cy="22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65;p21" title="[0,0,0,&quot;https://www.codecogs.com/eqnedit.php?latex=V_y#0&quot;]">
              <a:extLst>
                <a:ext uri="{FF2B5EF4-FFF2-40B4-BE49-F238E27FC236}">
                  <a16:creationId xmlns:a16="http://schemas.microsoft.com/office/drawing/2014/main" id="{0415B80B-E468-D690-3492-4985605197CA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711500" y="2668175"/>
              <a:ext cx="201075" cy="226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66;p21" title="[0,0,0,&quot;https://www.codecogs.com/eqnedit.php?latex=T_1#0&quot;]">
              <a:extLst>
                <a:ext uri="{FF2B5EF4-FFF2-40B4-BE49-F238E27FC236}">
                  <a16:creationId xmlns:a16="http://schemas.microsoft.com/office/drawing/2014/main" id="{EDEE01A6-F85F-A088-F5AE-6C37B9F9DA3A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790575" y="2383950"/>
              <a:ext cx="201075" cy="1963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67;p21" title="[0,0,0,&quot;https://www.codecogs.com/eqnedit.php?latex=T_2#0&quot;]">
              <a:extLst>
                <a:ext uri="{FF2B5EF4-FFF2-40B4-BE49-F238E27FC236}">
                  <a16:creationId xmlns:a16="http://schemas.microsoft.com/office/drawing/2014/main" id="{1B1EE8E3-916E-10CD-FB12-613023F39258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715075" y="2289525"/>
              <a:ext cx="201075" cy="191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168;p21" title="[0,0,0,&quot;https://www.codecogs.com/eqnedit.php?latex=T_o#0&quot;]">
              <a:extLst>
                <a:ext uri="{FF2B5EF4-FFF2-40B4-BE49-F238E27FC236}">
                  <a16:creationId xmlns:a16="http://schemas.microsoft.com/office/drawing/2014/main" id="{EDA49E3B-4C3D-3E9D-F5B3-F210DE50141D}"/>
                </a:ext>
              </a:extLst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578750" y="3026925"/>
              <a:ext cx="201074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69;p21" title="[0,0,0,&quot;https://www.codecogs.com/eqnedit.php?latex=1k%5COmega#0&quot;]">
              <a:extLst>
                <a:ext uri="{FF2B5EF4-FFF2-40B4-BE49-F238E27FC236}">
                  <a16:creationId xmlns:a16="http://schemas.microsoft.com/office/drawing/2014/main" id="{4A9BE8E3-89AA-AF74-3176-4FECFDC85698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490775" y="3415675"/>
              <a:ext cx="433118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70;p21" title="[0,0,0,&quot;https://www.codecogs.com/eqnedit.php?latex=4k%5COmega#0&quot;]">
              <a:extLst>
                <a:ext uri="{FF2B5EF4-FFF2-40B4-BE49-F238E27FC236}">
                  <a16:creationId xmlns:a16="http://schemas.microsoft.com/office/drawing/2014/main" id="{94A60D1B-F7E3-995E-6A05-7DFCBB3DCD15}"/>
                </a:ext>
              </a:extLst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942300" y="1662675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71;p21" title="[0,0,0,&quot;https://www.codecogs.com/eqnedit.php?latex=1.6k%5COmega#0&quot;]">
              <a:extLst>
                <a:ext uri="{FF2B5EF4-FFF2-40B4-BE49-F238E27FC236}">
                  <a16:creationId xmlns:a16="http://schemas.microsoft.com/office/drawing/2014/main" id="{97EA2677-177F-EA7D-80AD-4A597749DA15}"/>
                </a:ext>
              </a:extLst>
            </p:cNvPr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954325" y="1662675"/>
              <a:ext cx="624417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72;p21" title="[0,0,0,&quot;https://www.codecogs.com/eqnedit.php?latex=4k%5COmega#0&quot;]">
              <a:extLst>
                <a:ext uri="{FF2B5EF4-FFF2-40B4-BE49-F238E27FC236}">
                  <a16:creationId xmlns:a16="http://schemas.microsoft.com/office/drawing/2014/main" id="{278E4572-A72B-5A54-DD0B-E085A376FED6}"/>
                </a:ext>
              </a:extLst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751500" y="2144000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00102970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DD8EEF9-5562-1E35-4B22-9766849C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CC1EE7F-ED1D-5C16-08F0-18BCFE35C3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9F6B54B-BFD2-BE62-887A-771434B0DD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C4B6488-01E4-0133-48B0-DC09B2F2EA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35FB1FC-4AA3-53F3-1CE0-46A75B5881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A6AC640-FE51-59D6-48EB-527A83014F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8" y="1334586"/>
                <a:ext cx="10207282" cy="5104118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>
                    <a:latin typeface="Cabin Medium"/>
                    <a:ea typeface="Cabin Medium"/>
                    <a:cs typeface="Cabin Medium"/>
                    <a:sym typeface="Cabin Medium"/>
                  </a:rPr>
                  <a:t>Case 04: (11)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Cabin Medium"/>
                  <a:ea typeface="Cabin Medium"/>
                  <a:cs typeface="Cabin Medium"/>
                  <a:sym typeface="Cabin Medium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When both inputs are high, both the B-E junctions will be reverse biased, while the B-C junction will be forward biased. This corresponds to Reverse Active mode. The emitters &amp; the collector of input transistor will switch their roles.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2800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The other two transistors can be assumed to be in saturation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2800" dirty="0">
                    <a:solidFill>
                      <a:schemeClr val="tx1"/>
                    </a:solidFill>
                    <a:latin typeface="Cabin Medium"/>
                    <a:ea typeface="Cabin Medium"/>
                    <a:cs typeface="Cabin Medium"/>
                    <a:sym typeface="Cabin Medium"/>
                  </a:rPr>
                  <a:t>(since output logic will be 0), and it can be proved.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A6AC640-FE51-59D6-48EB-527A83014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6"/>
                <a:ext cx="10207282" cy="5104118"/>
              </a:xfrm>
              <a:blipFill>
                <a:blip r:embed="rId4"/>
                <a:stretch>
                  <a:fillRect l="-1194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33413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77170FE-97ED-4904-3C13-2C8E53DB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A8F348A-2E7C-981E-F469-78621C7040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1584F87-76B3-2434-DF77-543FCE80E7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A13B85-4D1C-A70F-DE2E-9964792ECC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4DB0167-D1AE-1BAE-8DB1-3D2A1C83F0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D8C81D-85BB-ADB0-7E78-71DAD9204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8" y="977254"/>
            <a:ext cx="5283341" cy="49439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8CFD1DB-F8CE-61E7-CDA7-FC1F80864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570" y="1272441"/>
            <a:ext cx="4182059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828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C9C29EE-F986-8246-F3FE-BD4214AB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AAC78AA-8841-A006-B677-DBCBE9E92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Transistor-Transistor Logic (TTL)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ABD2485-CDE3-EB56-DDD4-FB7BB9E9B6E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997D972-2880-484A-F25F-CF3E93DFC5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63BF605D-C1B7-5EE9-B51A-7314DE9DB2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08C8A8-EB63-F795-EA59-7F6435C86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7" y="1245870"/>
            <a:ext cx="6130529" cy="46534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94912F-AFED-765E-E631-9FFDD5666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741" y="1252233"/>
            <a:ext cx="4182059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68755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3538</TotalTime>
  <Words>671</Words>
  <Application>Microsoft Office PowerPoint</Application>
  <PresentationFormat>Widescreen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Cabin Medium</vt:lpstr>
      <vt:lpstr>Calibri</vt:lpstr>
      <vt:lpstr>Cambria Math</vt:lpstr>
      <vt:lpstr>Times New Roman</vt:lpstr>
      <vt:lpstr>Office Theme</vt:lpstr>
      <vt:lpstr>CSE 350 Digital Electronics and Pulse Techniques </vt:lpstr>
      <vt:lpstr>Transistor-Transistor Logic (TTL)</vt:lpstr>
      <vt:lpstr>Transistor-Transistor Logic (TTL)</vt:lpstr>
      <vt:lpstr>Transistor-Transistor Logic (TTL)</vt:lpstr>
      <vt:lpstr>Transistor-Transistor Logic (TTL)</vt:lpstr>
      <vt:lpstr>Transistor-Transistor Logic (TTL)</vt:lpstr>
      <vt:lpstr>Transistor-Transistor Logic (TTL)</vt:lpstr>
      <vt:lpstr>Transistor-Transistor Logic (TTL)</vt:lpstr>
      <vt:lpstr>Transistor-Transistor Logic (TTL)</vt:lpstr>
      <vt:lpstr>Transistor-Transistor Logic (TTL)</vt:lpstr>
      <vt:lpstr>Transistor-Transistor Logic (TTL)</vt:lpstr>
      <vt:lpstr>Transistor-Transistor Logic (TTL)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USER</cp:lastModifiedBy>
  <cp:revision>41</cp:revision>
  <dcterms:created xsi:type="dcterms:W3CDTF">2021-07-10T07:14:46Z</dcterms:created>
  <dcterms:modified xsi:type="dcterms:W3CDTF">2025-01-06T19:09:40Z</dcterms:modified>
</cp:coreProperties>
</file>