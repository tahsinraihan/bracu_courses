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eI/Gh8udpzYH683TQTOOwqcsd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A8D6A7FD-BC68-9449-A686-59A90EF362C5}"/>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72047037-DA4E-7298-DE44-91C3350D6B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6199037A-AA11-6A1C-6641-059E8B9D3D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1344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8FE1726-CF71-FB15-6DD0-1C03DC145A11}"/>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54C83E4B-A5C4-17E6-9144-47BCBB2232B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E764E477-69E4-7E00-C66F-E7B7CE3635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81137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9E85FC85-AA3C-061C-F284-1BCC36330A94}"/>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A9D82BFF-9CA9-6375-D9B7-5A1633F637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F4BA950C-B5AB-A227-54C4-7F5938F832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1597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1204369-6545-42F8-DAE8-FA24024B91EC}"/>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EFC30A0B-AC5D-8964-2122-3F901B2BA9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F3AB2468-96A2-ACB0-8A6C-BCFFA95767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4928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E4F675FF-2C1A-03E4-A1EE-C0D19CFB1C4E}"/>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45444439-D87E-998B-B145-F6D4238447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2A88B8FB-5655-61B4-A828-5B2737501D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2415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CBF52B4-75CF-B7EE-95A9-9F345457A424}"/>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E815CB3D-528F-2FD9-60E5-7CC97187DC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9CFD7B4C-7545-2B53-61FF-4E2F971DE2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3290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11F000DA-48C4-9F6F-5418-BADE0B3D35C9}"/>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FF4B367C-722A-D1CE-E676-BD35D7FE9A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A52FE6C3-493C-5F34-D713-13B10DBF10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30947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362C4E8F-A73D-CBD7-CB57-622FE2A4B961}"/>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007BECE2-7DA8-F62C-3411-F59C3B48EBB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D9D1B4DE-2D9F-F619-4985-1B2828ACCE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06973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89BF64BF-A3F1-C9A8-CBF0-6C335E53E436}"/>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12B3685B-83A8-6CE0-F1FD-4DD3DE8CCF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7A3CC86B-B11D-D97B-1079-4E2BBE0A39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1796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5E0951E2-000A-3F56-96C3-B6FF1AD6B5CB}"/>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D7058647-6D31-72B4-2761-17A07F27D41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11230DCF-D938-B643-810A-8D55A3FFEB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6688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1A784C28-ED34-6345-BF66-3697E9118436}"/>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A1ADA2FC-2628-44F2-5051-5596BB7174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81B6E419-8A84-E8B4-FA41-C18E2C136E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34716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CB028D5-C67E-75B5-BCB7-CE3B4AD63BF4}"/>
            </a:ext>
          </a:extLst>
        </p:cNvPr>
        <p:cNvGrpSpPr/>
        <p:nvPr/>
      </p:nvGrpSpPr>
      <p:grpSpPr>
        <a:xfrm>
          <a:off x="0" y="0"/>
          <a:ext cx="0" cy="0"/>
          <a:chOff x="0" y="0"/>
          <a:chExt cx="0" cy="0"/>
        </a:xfrm>
      </p:grpSpPr>
      <p:sp>
        <p:nvSpPr>
          <p:cNvPr id="172" name="Google Shape;172;p36:notes">
            <a:extLst>
              <a:ext uri="{FF2B5EF4-FFF2-40B4-BE49-F238E27FC236}">
                <a16:creationId xmlns:a16="http://schemas.microsoft.com/office/drawing/2014/main" id="{B6445F7E-B85D-4F2C-F152-D7EAE35B53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36:notes">
            <a:extLst>
              <a:ext uri="{FF2B5EF4-FFF2-40B4-BE49-F238E27FC236}">
                <a16:creationId xmlns:a16="http://schemas.microsoft.com/office/drawing/2014/main" id="{0A217707-D69D-DDAA-0198-2532EE047D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9081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2"/>
          <p:cNvSpPr>
            <a:spLocks noGrp="1"/>
          </p:cNvSpPr>
          <p:nvPr>
            <p:ph type="pic" idx="2"/>
          </p:nvPr>
        </p:nvSpPr>
        <p:spPr>
          <a:xfrm>
            <a:off x="5183188" y="987425"/>
            <a:ext cx="6172200" cy="4873625"/>
          </a:xfrm>
          <a:prstGeom prst="rect">
            <a:avLst/>
          </a:prstGeom>
          <a:noFill/>
          <a:ln>
            <a:noFill/>
          </a:ln>
        </p:spPr>
      </p:sp>
      <p:sp>
        <p:nvSpPr>
          <p:cNvPr id="64" name="Google Shape;64;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shomen.kundu@bracu.ac.bd"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7.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489586" y="226142"/>
            <a:ext cx="10255374" cy="2300749"/>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accent1"/>
              </a:buClr>
              <a:buSzPct val="100000"/>
              <a:buFont typeface="Times New Roman"/>
              <a:buNone/>
            </a:pPr>
            <a:r>
              <a:rPr lang="en-US" dirty="0">
                <a:solidFill>
                  <a:schemeClr val="accent1"/>
                </a:solidFill>
                <a:latin typeface="Times New Roman"/>
                <a:ea typeface="Times New Roman"/>
                <a:cs typeface="Times New Roman"/>
                <a:sym typeface="Times New Roman"/>
              </a:rPr>
              <a:t>CSE 350</a:t>
            </a:r>
            <a:br>
              <a:rPr lang="en-US" dirty="0">
                <a:solidFill>
                  <a:schemeClr val="accent1"/>
                </a:solidFill>
                <a:latin typeface="Times New Roman"/>
                <a:ea typeface="Times New Roman"/>
                <a:cs typeface="Times New Roman"/>
                <a:sym typeface="Times New Roman"/>
              </a:rPr>
            </a:br>
            <a:r>
              <a:rPr lang="en-US" sz="4900" dirty="0">
                <a:solidFill>
                  <a:schemeClr val="accent1"/>
                </a:solidFill>
                <a:latin typeface="Times New Roman"/>
                <a:ea typeface="Times New Roman"/>
                <a:cs typeface="Times New Roman"/>
                <a:sym typeface="Times New Roman"/>
              </a:rPr>
              <a:t>Digital Electronics and Pulse Techniques</a:t>
            </a:r>
            <a:br>
              <a:rPr lang="en-US" dirty="0">
                <a:solidFill>
                  <a:schemeClr val="accent1"/>
                </a:solidFill>
                <a:latin typeface="Times New Roman"/>
                <a:ea typeface="Times New Roman"/>
                <a:cs typeface="Times New Roman"/>
                <a:sym typeface="Times New Roman"/>
              </a:rPr>
            </a:br>
            <a:endParaRPr dirty="0">
              <a:solidFill>
                <a:schemeClr val="accent1"/>
              </a:solidFill>
              <a:latin typeface="Times New Roman"/>
              <a:ea typeface="Times New Roman"/>
              <a:cs typeface="Times New Roman"/>
              <a:sym typeface="Times New Roman"/>
            </a:endParaRPr>
          </a:p>
        </p:txBody>
      </p:sp>
      <p:sp>
        <p:nvSpPr>
          <p:cNvPr id="85" name="Google Shape;85;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pic>
        <p:nvPicPr>
          <p:cNvPr id="86" name="Google Shape;86;p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87" name="Google Shape;87;p1"/>
          <p:cNvSpPr txBox="1">
            <a:spLocks noGrp="1"/>
          </p:cNvSpPr>
          <p:nvPr>
            <p:ph type="ftr" idx="11"/>
          </p:nvPr>
        </p:nvSpPr>
        <p:spPr>
          <a:xfrm>
            <a:off x="3812458" y="6370894"/>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 </a:t>
            </a:r>
            <a:endParaRPr/>
          </a:p>
        </p:txBody>
      </p:sp>
      <p:sp>
        <p:nvSpPr>
          <p:cNvPr id="88" name="Google Shape;88;p1"/>
          <p:cNvSpPr txBox="1"/>
          <p:nvPr/>
        </p:nvSpPr>
        <p:spPr>
          <a:xfrm>
            <a:off x="6926825" y="5456700"/>
            <a:ext cx="4980695" cy="707886"/>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Mail: </a:t>
            </a:r>
            <a:r>
              <a:rPr lang="en-US" sz="20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shomen.kundu@bracu.ac.bd</a:t>
            </a:r>
            <a:endParaRPr sz="2000" b="0" i="0" u="none" strike="noStrike" cap="none">
              <a:solidFill>
                <a:srgbClr val="000000"/>
              </a:solidFill>
              <a:latin typeface="Arial"/>
              <a:ea typeface="Arial"/>
              <a:cs typeface="Arial"/>
              <a:sym typeface="Arial"/>
            </a:endParaRPr>
          </a:p>
          <a:p>
            <a:pPr marL="1143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Desk: 4N166</a:t>
            </a:r>
            <a:endParaRPr/>
          </a:p>
        </p:txBody>
      </p:sp>
      <p:sp>
        <p:nvSpPr>
          <p:cNvPr id="89" name="Google Shape;89;p1"/>
          <p:cNvSpPr txBox="1"/>
          <p:nvPr/>
        </p:nvSpPr>
        <p:spPr>
          <a:xfrm>
            <a:off x="3397045" y="2526891"/>
            <a:ext cx="7733071"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none" strike="noStrike" cap="none" dirty="0">
                <a:solidFill>
                  <a:srgbClr val="0070C0"/>
                </a:solidFill>
                <a:latin typeface="Arial"/>
                <a:ea typeface="Arial"/>
                <a:cs typeface="Arial"/>
                <a:sym typeface="Arial"/>
              </a:rPr>
              <a:t>Comparator and Schmitt Trigger</a:t>
            </a:r>
            <a:endParaRPr dirty="0"/>
          </a:p>
        </p:txBody>
      </p:sp>
      <p:sp>
        <p:nvSpPr>
          <p:cNvPr id="90" name="Google Shape;90;p1"/>
          <p:cNvSpPr txBox="1"/>
          <p:nvPr/>
        </p:nvSpPr>
        <p:spPr>
          <a:xfrm>
            <a:off x="1115959" y="5558167"/>
            <a:ext cx="5550311" cy="400110"/>
          </a:xfrm>
          <a:prstGeom prst="rect">
            <a:avLst/>
          </a:prstGeom>
          <a:noFill/>
          <a:ln>
            <a:noFill/>
          </a:ln>
        </p:spPr>
        <p:txBody>
          <a:bodyPr spcFirstLastPara="1" wrap="square" lIns="91425" tIns="45700" rIns="91425" bIns="45700" anchor="t" anchorCtr="0">
            <a:spAutoFit/>
          </a:bodyPr>
          <a:lstStyle/>
          <a:p>
            <a:pPr marL="11430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0C0"/>
                </a:solidFill>
                <a:latin typeface="Arial"/>
                <a:ea typeface="Arial"/>
                <a:cs typeface="Arial"/>
                <a:sym typeface="Arial"/>
              </a:rPr>
              <a:t>Course Instructor</a:t>
            </a:r>
            <a:r>
              <a:rPr lang="en-US" sz="2000" b="1" i="0" u="none" strike="noStrike" cap="none">
                <a:solidFill>
                  <a:schemeClr val="dk1"/>
                </a:solidFill>
                <a:latin typeface="Arial"/>
                <a:ea typeface="Arial"/>
                <a:cs typeface="Arial"/>
                <a:sym typeface="Arial"/>
              </a:rPr>
              <a:t>: </a:t>
            </a:r>
            <a:r>
              <a:rPr lang="en-US" sz="2000" b="0" i="0" u="none" strike="noStrike" cap="none">
                <a:solidFill>
                  <a:srgbClr val="000000"/>
                </a:solidFill>
                <a:latin typeface="Arial"/>
                <a:ea typeface="Arial"/>
                <a:cs typeface="Arial"/>
                <a:sym typeface="Arial"/>
              </a:rPr>
              <a:t>Shomen Kundu (SDU)</a:t>
            </a:r>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Op-Amp</a:t>
            </a:r>
            <a:endParaRPr/>
          </a:p>
        </p:txBody>
      </p:sp>
      <p:sp>
        <p:nvSpPr>
          <p:cNvPr id="96" name="Google Shape;96;p7"/>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97" name="Google Shape;9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98" name="Google Shape;98;p7"/>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99" name="Google Shape;99;p7"/>
          <p:cNvSpPr txBox="1">
            <a:spLocks noGrp="1"/>
          </p:cNvSpPr>
          <p:nvPr>
            <p:ph type="body" idx="1"/>
          </p:nvPr>
        </p:nvSpPr>
        <p:spPr>
          <a:xfrm>
            <a:off x="685307" y="1334586"/>
            <a:ext cx="10739777" cy="4899066"/>
          </a:xfrm>
          <a:prstGeom prst="rect">
            <a:avLst/>
          </a:prstGeom>
          <a:blipFill rotWithShape="1">
            <a:blip r:embed="rId4">
              <a:alphaModFix/>
            </a:blip>
            <a:stretch>
              <a:fillRect l="-56"/>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00" name="Google Shape;100;p7"/>
          <p:cNvPicPr preferRelativeResize="0"/>
          <p:nvPr/>
        </p:nvPicPr>
        <p:blipFill rotWithShape="1">
          <a:blip r:embed="rId5">
            <a:alphaModFix/>
          </a:blip>
          <a:srcRect/>
          <a:stretch/>
        </p:blipFill>
        <p:spPr>
          <a:xfrm>
            <a:off x="5438842" y="718914"/>
            <a:ext cx="5506218" cy="3762900"/>
          </a:xfrm>
          <a:prstGeom prst="rect">
            <a:avLst/>
          </a:prstGeom>
          <a:noFill/>
          <a:ln>
            <a:noFill/>
          </a:ln>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Op-Amp Comparator</a:t>
            </a:r>
            <a:endParaRPr/>
          </a:p>
        </p:txBody>
      </p:sp>
      <p:sp>
        <p:nvSpPr>
          <p:cNvPr id="106" name="Google Shape;106;p15"/>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07" name="Google Shape;10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108" name="Google Shape;108;p15"/>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09" name="Google Shape;109;p15"/>
          <p:cNvSpPr txBox="1">
            <a:spLocks noGrp="1"/>
          </p:cNvSpPr>
          <p:nvPr>
            <p:ph type="body" idx="1"/>
          </p:nvPr>
        </p:nvSpPr>
        <p:spPr>
          <a:xfrm>
            <a:off x="685307" y="1334586"/>
            <a:ext cx="10739777" cy="4899066"/>
          </a:xfrm>
          <a:prstGeom prst="rect">
            <a:avLst/>
          </a:prstGeom>
          <a:blipFill rotWithShape="1">
            <a:blip r:embed="rId4">
              <a:alphaModFix/>
            </a:blip>
            <a:stretch>
              <a:fillRect l="-56"/>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Non-Inverting  Comparator</a:t>
            </a:r>
            <a:endParaRPr/>
          </a:p>
        </p:txBody>
      </p:sp>
      <p:sp>
        <p:nvSpPr>
          <p:cNvPr id="115" name="Google Shape;115;p16"/>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16" name="Google Shape;1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pic>
        <p:nvPicPr>
          <p:cNvPr id="117" name="Google Shape;117;p1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18" name="Google Shape;118;p16"/>
          <p:cNvSpPr txBox="1">
            <a:spLocks noGrp="1"/>
          </p:cNvSpPr>
          <p:nvPr>
            <p:ph type="body" idx="1"/>
          </p:nvPr>
        </p:nvSpPr>
        <p:spPr>
          <a:xfrm>
            <a:off x="685307" y="1474838"/>
            <a:ext cx="4889583" cy="4758813"/>
          </a:xfrm>
          <a:prstGeom prst="rect">
            <a:avLst/>
          </a:prstGeom>
          <a:blipFill rotWithShape="1">
            <a:blip r:embed="rId4">
              <a:alphaModFix/>
            </a:blip>
            <a:stretch>
              <a:fillRect l="-123"/>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19" name="Google Shape;119;p16"/>
          <p:cNvPicPr preferRelativeResize="0"/>
          <p:nvPr/>
        </p:nvPicPr>
        <p:blipFill rotWithShape="1">
          <a:blip r:embed="rId5">
            <a:alphaModFix/>
          </a:blip>
          <a:srcRect/>
          <a:stretch/>
        </p:blipFill>
        <p:spPr>
          <a:xfrm>
            <a:off x="7038844" y="1161954"/>
            <a:ext cx="4467849" cy="4894717"/>
          </a:xfrm>
          <a:prstGeom prst="rect">
            <a:avLst/>
          </a:prstGeom>
          <a:noFill/>
          <a:ln>
            <a:noFill/>
          </a:ln>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7"/>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Inverting  Comparator</a:t>
            </a:r>
            <a:endParaRPr/>
          </a:p>
        </p:txBody>
      </p:sp>
      <p:sp>
        <p:nvSpPr>
          <p:cNvPr id="125" name="Google Shape;125;p17"/>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26" name="Google Shape;12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pic>
        <p:nvPicPr>
          <p:cNvPr id="127" name="Google Shape;127;p17"/>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28" name="Google Shape;128;p17"/>
          <p:cNvSpPr txBox="1">
            <a:spLocks noGrp="1"/>
          </p:cNvSpPr>
          <p:nvPr>
            <p:ph type="body" idx="1"/>
          </p:nvPr>
        </p:nvSpPr>
        <p:spPr>
          <a:xfrm>
            <a:off x="1096668" y="1132457"/>
            <a:ext cx="5312370" cy="4881512"/>
          </a:xfrm>
          <a:prstGeom prst="rect">
            <a:avLst/>
          </a:prstGeom>
          <a:blipFill rotWithShape="1">
            <a:blip r:embed="rId4">
              <a:alphaModFix/>
            </a:blip>
            <a:stretch>
              <a:fillRect l="-229"/>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29" name="Google Shape;129;p17"/>
          <p:cNvPicPr preferRelativeResize="0"/>
          <p:nvPr/>
        </p:nvPicPr>
        <p:blipFill>
          <a:blip r:embed="rId5">
            <a:alphaModFix/>
          </a:blip>
          <a:stretch>
            <a:fillRect/>
          </a:stretch>
        </p:blipFill>
        <p:spPr>
          <a:xfrm>
            <a:off x="7599038" y="1132450"/>
            <a:ext cx="3495675" cy="4248150"/>
          </a:xfrm>
          <a:prstGeom prst="rect">
            <a:avLst/>
          </a:prstGeom>
          <a:noFill/>
          <a:ln>
            <a:noFill/>
          </a:ln>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8"/>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Non-Inverting Comparator with Divider </a:t>
            </a:r>
            <a:endParaRPr/>
          </a:p>
        </p:txBody>
      </p:sp>
      <p:sp>
        <p:nvSpPr>
          <p:cNvPr id="135" name="Google Shape;135;p18"/>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36" name="Google Shape;13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37" name="Google Shape;137;p18"/>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38" name="Google Shape;138;p18"/>
          <p:cNvSpPr txBox="1">
            <a:spLocks noGrp="1"/>
          </p:cNvSpPr>
          <p:nvPr>
            <p:ph type="body" idx="1"/>
          </p:nvPr>
        </p:nvSpPr>
        <p:spPr>
          <a:xfrm>
            <a:off x="685308" y="1091381"/>
            <a:ext cx="6721332" cy="5264969"/>
          </a:xfrm>
          <a:prstGeom prst="rect">
            <a:avLst/>
          </a:prstGeom>
          <a:blipFill rotWithShape="1">
            <a:blip r:embed="rId4">
              <a:alphaModFix/>
            </a:blip>
            <a:stretch>
              <a:fillRect l="-90" t="-115"/>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39" name="Google Shape;139;p18"/>
          <p:cNvPicPr preferRelativeResize="0"/>
          <p:nvPr/>
        </p:nvPicPr>
        <p:blipFill rotWithShape="1">
          <a:blip r:embed="rId5">
            <a:alphaModFix/>
          </a:blip>
          <a:srcRect/>
          <a:stretch/>
        </p:blipFill>
        <p:spPr>
          <a:xfrm>
            <a:off x="7239000" y="1659341"/>
            <a:ext cx="4114800" cy="4697009"/>
          </a:xfrm>
          <a:prstGeom prst="rect">
            <a:avLst/>
          </a:prstGeom>
          <a:noFill/>
          <a:ln>
            <a:noFill/>
          </a:ln>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Inverting Comparator with Divider </a:t>
            </a:r>
            <a:endParaRPr/>
          </a:p>
        </p:txBody>
      </p:sp>
      <p:sp>
        <p:nvSpPr>
          <p:cNvPr id="145" name="Google Shape;145;p19"/>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46" name="Google Shape;1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pic>
        <p:nvPicPr>
          <p:cNvPr id="147" name="Google Shape;147;p19"/>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48" name="Google Shape;148;p19"/>
          <p:cNvSpPr txBox="1">
            <a:spLocks noGrp="1"/>
          </p:cNvSpPr>
          <p:nvPr>
            <p:ph type="body" idx="1"/>
          </p:nvPr>
        </p:nvSpPr>
        <p:spPr>
          <a:xfrm>
            <a:off x="685308" y="1091381"/>
            <a:ext cx="6721332" cy="5264969"/>
          </a:xfrm>
          <a:prstGeom prst="rect">
            <a:avLst/>
          </a:prstGeom>
          <a:blipFill rotWithShape="1">
            <a:blip r:embed="rId4">
              <a:alphaModFix/>
            </a:blip>
            <a:stretch>
              <a:fillRect l="-90" t="-115"/>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49" name="Google Shape;149;p19"/>
          <p:cNvPicPr preferRelativeResize="0"/>
          <p:nvPr/>
        </p:nvPicPr>
        <p:blipFill rotWithShape="1">
          <a:blip r:embed="rId5">
            <a:alphaModFix/>
          </a:blip>
          <a:srcRect/>
          <a:stretch/>
        </p:blipFill>
        <p:spPr>
          <a:xfrm>
            <a:off x="7490801" y="1537723"/>
            <a:ext cx="4701199" cy="4717027"/>
          </a:xfrm>
          <a:prstGeom prst="rect">
            <a:avLst/>
          </a:prstGeom>
          <a:noFill/>
          <a:ln>
            <a:noFill/>
          </a:ln>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Exercise</a:t>
            </a:r>
            <a:endParaRPr/>
          </a:p>
        </p:txBody>
      </p:sp>
      <p:sp>
        <p:nvSpPr>
          <p:cNvPr id="155" name="Google Shape;155;p20"/>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56" name="Google Shape;15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57" name="Google Shape;157;p20"/>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58" name="Google Shape;158;p20"/>
          <p:cNvSpPr txBox="1">
            <a:spLocks noGrp="1"/>
          </p:cNvSpPr>
          <p:nvPr>
            <p:ph type="body" idx="1"/>
          </p:nvPr>
        </p:nvSpPr>
        <p:spPr>
          <a:xfrm>
            <a:off x="685308" y="1334586"/>
            <a:ext cx="6548612" cy="4899066"/>
          </a:xfrm>
          <a:prstGeom prst="rect">
            <a:avLst/>
          </a:prstGeom>
          <a:blipFill rotWithShape="1">
            <a:blip r:embed="rId4">
              <a:alphaModFix/>
            </a:blip>
            <a:stretch>
              <a:fillRect r="-1580"/>
            </a:stretch>
          </a:blip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a:t> </a:t>
            </a:r>
            <a:endParaRPr/>
          </a:p>
        </p:txBody>
      </p:sp>
      <p:pic>
        <p:nvPicPr>
          <p:cNvPr id="159" name="Google Shape;159;p20"/>
          <p:cNvPicPr preferRelativeResize="0"/>
          <p:nvPr/>
        </p:nvPicPr>
        <p:blipFill rotWithShape="1">
          <a:blip r:embed="rId5">
            <a:alphaModFix/>
          </a:blip>
          <a:srcRect/>
          <a:stretch/>
        </p:blipFill>
        <p:spPr>
          <a:xfrm>
            <a:off x="7391894" y="2895600"/>
            <a:ext cx="4327069" cy="3105160"/>
          </a:xfrm>
          <a:prstGeom prst="rect">
            <a:avLst/>
          </a:prstGeom>
          <a:noFill/>
          <a:ln>
            <a:noFill/>
          </a:ln>
        </p:spPr>
      </p:pic>
      <p:pic>
        <p:nvPicPr>
          <p:cNvPr id="160" name="Google Shape;160;p20"/>
          <p:cNvPicPr preferRelativeResize="0"/>
          <p:nvPr/>
        </p:nvPicPr>
        <p:blipFill rotWithShape="1">
          <a:blip r:embed="rId6">
            <a:alphaModFix/>
          </a:blip>
          <a:srcRect b="53996"/>
          <a:stretch/>
        </p:blipFill>
        <p:spPr>
          <a:xfrm>
            <a:off x="7310120" y="605169"/>
            <a:ext cx="4114800" cy="2160819"/>
          </a:xfrm>
          <a:prstGeom prst="rect">
            <a:avLst/>
          </a:prstGeom>
          <a:noFill/>
          <a:ln>
            <a:noFill/>
          </a:ln>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1"/>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Exercise</a:t>
            </a:r>
            <a:endParaRPr/>
          </a:p>
        </p:txBody>
      </p:sp>
      <p:sp>
        <p:nvSpPr>
          <p:cNvPr id="166" name="Google Shape;166;p21"/>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67" name="Google Shape;16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168" name="Google Shape;168;p21"/>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69" name="Google Shape;169;p21"/>
          <p:cNvSpPr txBox="1">
            <a:spLocks noGrp="1"/>
          </p:cNvSpPr>
          <p:nvPr>
            <p:ph type="body" idx="1"/>
          </p:nvPr>
        </p:nvSpPr>
        <p:spPr>
          <a:xfrm>
            <a:off x="685307" y="1334586"/>
            <a:ext cx="5237973" cy="4899066"/>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a:t>Design a comparator circuit that will show the given transfer curve. You need to use 5 V as reference voltage.</a:t>
            </a:r>
            <a:endParaRPr/>
          </a:p>
        </p:txBody>
      </p:sp>
      <p:pic>
        <p:nvPicPr>
          <p:cNvPr id="170" name="Google Shape;170;p21"/>
          <p:cNvPicPr preferRelativeResize="0"/>
          <p:nvPr/>
        </p:nvPicPr>
        <p:blipFill rotWithShape="1">
          <a:blip r:embed="rId4">
            <a:alphaModFix/>
          </a:blip>
          <a:srcRect/>
          <a:stretch/>
        </p:blipFill>
        <p:spPr>
          <a:xfrm>
            <a:off x="6716177" y="1562890"/>
            <a:ext cx="5237974" cy="3935173"/>
          </a:xfrm>
          <a:prstGeom prst="rect">
            <a:avLst/>
          </a:prstGeom>
          <a:noFill/>
          <a:ln>
            <a:noFill/>
          </a:ln>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6"/>
          <p:cNvSpPr txBox="1">
            <a:spLocks noGrp="1"/>
          </p:cNvSpPr>
          <p:nvPr>
            <p:ph type="title"/>
          </p:nvPr>
        </p:nvSpPr>
        <p:spPr>
          <a:xfrm>
            <a:off x="579120" y="262816"/>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a:solidFill>
                  <a:schemeClr val="accent1"/>
                </a:solidFill>
              </a:rPr>
              <a:t>Exercise</a:t>
            </a:r>
            <a:endParaRPr/>
          </a:p>
        </p:txBody>
      </p:sp>
      <p:sp>
        <p:nvSpPr>
          <p:cNvPr id="176" name="Google Shape;176;p36"/>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pic>
        <p:nvPicPr>
          <p:cNvPr id="178" name="Google Shape;178;p3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p:cNvSpPr txBox="1">
            <a:spLocks noGrp="1"/>
          </p:cNvSpPr>
          <p:nvPr>
            <p:ph type="body" idx="1"/>
          </p:nvPr>
        </p:nvSpPr>
        <p:spPr>
          <a:xfrm>
            <a:off x="685307" y="1334586"/>
            <a:ext cx="10317973" cy="2302694"/>
          </a:xfrm>
          <a:prstGeom prst="rect">
            <a:avLst/>
          </a:prstGeom>
          <a:noFill/>
          <a:ln>
            <a:noFill/>
          </a:ln>
        </p:spPr>
        <p:txBody>
          <a:bodyPr spcFirstLastPara="1" wrap="square" lIns="91425" tIns="45700" rIns="91425" bIns="45700" anchor="t" anchorCtr="0">
            <a:normAutofit fontScale="85000" lnSpcReduction="20000"/>
          </a:bodyPr>
          <a:lstStyle/>
          <a:p>
            <a:pPr marL="114300" lvl="0" indent="0" algn="just" rtl="0">
              <a:lnSpc>
                <a:spcPct val="90000"/>
              </a:lnSpc>
              <a:spcBef>
                <a:spcPts val="1000"/>
              </a:spcBef>
              <a:spcAft>
                <a:spcPts val="0"/>
              </a:spcAft>
              <a:buSzPct val="75630"/>
              <a:buNone/>
            </a:pPr>
            <a:r>
              <a:rPr lang="en-US">
                <a:latin typeface="Calibri"/>
                <a:ea typeface="Calibri"/>
                <a:cs typeface="Calibri"/>
                <a:sym typeface="Calibri"/>
              </a:rPr>
              <a:t>Design a comparator for street light control system. The photodetector detect light intensity and outputs a corresponding voltage. The detector output is 0 V when intensity of light is 0% of Max intensity and 5 V when the intensity of light Maximum. Design the comparator such that it can turn on the street light when the intensity is below 15% of the Max Light intensity. </a:t>
            </a:r>
            <a:endParaRPr/>
          </a:p>
          <a:p>
            <a:pPr marL="114300" lvl="0" indent="0" algn="just" rtl="0">
              <a:lnSpc>
                <a:spcPct val="90000"/>
              </a:lnSpc>
              <a:spcBef>
                <a:spcPts val="1000"/>
              </a:spcBef>
              <a:spcAft>
                <a:spcPts val="0"/>
              </a:spcAft>
              <a:buSzPct val="75630"/>
              <a:buNone/>
            </a:pPr>
            <a:r>
              <a:rPr lang="en-US">
                <a:latin typeface="Calibri"/>
                <a:ea typeface="Calibri"/>
                <a:cs typeface="Calibri"/>
                <a:sym typeface="Calibri"/>
              </a:rPr>
              <a:t>You must satisfy all the mentioned criteria, and assume any component values accordingly.</a:t>
            </a:r>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6"/>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Schmitt Trigger circuit</a:t>
            </a:r>
            <a:endParaRPr dirty="0"/>
          </a:p>
        </p:txBody>
      </p:sp>
      <p:sp>
        <p:nvSpPr>
          <p:cNvPr id="176" name="Google Shape;176;p36"/>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178" name="Google Shape;178;p36"/>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p:cNvSpPr txBox="1">
            <a:spLocks noGrp="1"/>
          </p:cNvSpPr>
          <p:nvPr>
            <p:ph type="body" idx="1"/>
          </p:nvPr>
        </p:nvSpPr>
        <p:spPr>
          <a:xfrm>
            <a:off x="685307" y="1334585"/>
            <a:ext cx="10317973" cy="3622425"/>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We will study 4 types of Schmitt Trigger circuit</a:t>
            </a:r>
          </a:p>
          <a:p>
            <a:pPr marL="628650" lvl="0" indent="-514350" algn="just" rtl="0">
              <a:lnSpc>
                <a:spcPct val="90000"/>
              </a:lnSpc>
              <a:spcBef>
                <a:spcPts val="1000"/>
              </a:spcBef>
              <a:spcAft>
                <a:spcPts val="0"/>
              </a:spcAft>
              <a:buSzPct val="75630"/>
              <a:buAutoNum type="arabicPeriod"/>
            </a:pPr>
            <a:r>
              <a:rPr lang="en-US" dirty="0"/>
              <a:t>Inverting ST</a:t>
            </a:r>
          </a:p>
          <a:p>
            <a:pPr marL="628650" lvl="0" indent="-514350" algn="just" rtl="0">
              <a:lnSpc>
                <a:spcPct val="90000"/>
              </a:lnSpc>
              <a:spcBef>
                <a:spcPts val="1000"/>
              </a:spcBef>
              <a:spcAft>
                <a:spcPts val="0"/>
              </a:spcAft>
              <a:buSzPct val="75630"/>
              <a:buAutoNum type="arabicPeriod"/>
            </a:pPr>
            <a:r>
              <a:rPr lang="en-US" dirty="0"/>
              <a:t>Non-inverting ST</a:t>
            </a:r>
          </a:p>
          <a:p>
            <a:pPr marL="628650" lvl="0" indent="-514350" algn="just" rtl="0">
              <a:lnSpc>
                <a:spcPct val="90000"/>
              </a:lnSpc>
              <a:spcBef>
                <a:spcPts val="1000"/>
              </a:spcBef>
              <a:spcAft>
                <a:spcPts val="0"/>
              </a:spcAft>
              <a:buSzPct val="75630"/>
              <a:buAutoNum type="arabicPeriod"/>
            </a:pPr>
            <a:r>
              <a:rPr lang="en-US" dirty="0"/>
              <a:t>Inverting ST with Ref</a:t>
            </a:r>
          </a:p>
          <a:p>
            <a:pPr marL="628650" lvl="0" indent="-514350" algn="just" rtl="0">
              <a:lnSpc>
                <a:spcPct val="90000"/>
              </a:lnSpc>
              <a:spcBef>
                <a:spcPts val="1000"/>
              </a:spcBef>
              <a:spcAft>
                <a:spcPts val="0"/>
              </a:spcAft>
              <a:buSzPct val="75630"/>
              <a:buAutoNum type="arabicPeriod"/>
            </a:pPr>
            <a:r>
              <a:rPr lang="en-US" dirty="0"/>
              <a:t>Non-inverting with Ref</a:t>
            </a:r>
          </a:p>
          <a:p>
            <a:pPr marL="628650" lvl="0" indent="-514350" algn="just" rtl="0">
              <a:lnSpc>
                <a:spcPct val="90000"/>
              </a:lnSpc>
              <a:spcBef>
                <a:spcPts val="1000"/>
              </a:spcBef>
              <a:spcAft>
                <a:spcPts val="0"/>
              </a:spcAft>
              <a:buSzPct val="75630"/>
              <a:buAutoNum type="arabicPeriod"/>
            </a:pPr>
            <a:endParaRPr dirty="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5BE6838-6A1D-5764-29AD-85912B1E24A2}"/>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14220C47-B244-A7D9-A955-DA224BC24C86}"/>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a:t>
            </a:r>
            <a:endParaRPr dirty="0"/>
          </a:p>
        </p:txBody>
      </p:sp>
      <p:sp>
        <p:nvSpPr>
          <p:cNvPr id="176" name="Google Shape;176;p36">
            <a:extLst>
              <a:ext uri="{FF2B5EF4-FFF2-40B4-BE49-F238E27FC236}">
                <a16:creationId xmlns:a16="http://schemas.microsoft.com/office/drawing/2014/main" id="{C52E0768-2ABF-988D-6855-EB29DA8EAFB8}"/>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C1C139D7-FDCA-4D7E-45A7-2A0CB5FB43B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pic>
        <p:nvPicPr>
          <p:cNvPr id="178" name="Google Shape;178;p36">
            <a:extLst>
              <a:ext uri="{FF2B5EF4-FFF2-40B4-BE49-F238E27FC236}">
                <a16:creationId xmlns:a16="http://schemas.microsoft.com/office/drawing/2014/main" id="{9EEE8562-718B-C39D-CEF7-8E0AA7E6D417}"/>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FCEAD4C7-524B-4F2A-A562-013EE72230D1}"/>
                  </a:ext>
                </a:extLst>
              </p:cNvPr>
              <p:cNvSpPr txBox="1">
                <a:spLocks noGrp="1"/>
              </p:cNvSpPr>
              <p:nvPr>
                <p:ph type="body" idx="1"/>
              </p:nvPr>
            </p:nvSpPr>
            <p:spPr>
              <a:xfrm>
                <a:off x="685308" y="1334586"/>
                <a:ext cx="5823648" cy="3896175"/>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 </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oMath>
                </a14:m>
                <a:endParaRPr lang="en-US" dirty="0"/>
              </a:p>
              <a:p>
                <a:pPr marL="114300" lvl="0" indent="0" algn="just" rtl="0">
                  <a:lnSpc>
                    <a:spcPct val="90000"/>
                  </a:lnSpc>
                  <a:spcBef>
                    <a:spcPts val="1000"/>
                  </a:spcBef>
                  <a:spcAft>
                    <a:spcPts val="0"/>
                  </a:spcAft>
                  <a:buSzPct val="75630"/>
                  <a:buNone/>
                </a:pPr>
                <a:r>
                  <a:rPr lang="en-US" dirty="0"/>
                  <a:t>We need to know previous output for calculating the next output.</a:t>
                </a:r>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FCEAD4C7-524B-4F2A-A562-013EE72230D1}"/>
                  </a:ext>
                </a:extLst>
              </p:cNvPr>
              <p:cNvSpPr txBox="1">
                <a:spLocks noGrp="1" noRot="1" noChangeAspect="1" noMove="1" noResize="1" noEditPoints="1" noAdjustHandles="1" noChangeArrowheads="1" noChangeShapeType="1" noTextEdit="1"/>
              </p:cNvSpPr>
              <p:nvPr>
                <p:ph type="body" idx="1"/>
              </p:nvPr>
            </p:nvSpPr>
            <p:spPr>
              <a:xfrm>
                <a:off x="685308" y="1334586"/>
                <a:ext cx="5823648" cy="3896175"/>
              </a:xfrm>
              <a:prstGeom prst="rect">
                <a:avLst/>
              </a:prstGeom>
              <a:blipFill>
                <a:blip r:embed="rId4"/>
                <a:stretch>
                  <a:fillRect l="-105" r="-2092"/>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63D49D41-F448-D7A5-B9E0-53B32C086C48}"/>
              </a:ext>
            </a:extLst>
          </p:cNvPr>
          <p:cNvPicPr>
            <a:picLocks noChangeAspect="1"/>
          </p:cNvPicPr>
          <p:nvPr/>
        </p:nvPicPr>
        <p:blipFill>
          <a:blip r:embed="rId5"/>
          <a:stretch>
            <a:fillRect/>
          </a:stretch>
        </p:blipFill>
        <p:spPr>
          <a:xfrm>
            <a:off x="6459422" y="619168"/>
            <a:ext cx="5441436" cy="5181863"/>
          </a:xfrm>
          <a:prstGeom prst="rect">
            <a:avLst/>
          </a:prstGeom>
        </p:spPr>
      </p:pic>
    </p:spTree>
    <p:extLst>
      <p:ext uri="{BB962C8B-B14F-4D97-AF65-F5344CB8AC3E}">
        <p14:creationId xmlns:p14="http://schemas.microsoft.com/office/powerpoint/2010/main" val="2677919661"/>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A51D898C-82A9-34DB-63B4-A2C3DABD82C1}"/>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9EE33FC4-D11F-9AC7-E406-1BBFFB734ACF}"/>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a:t>
            </a:r>
            <a:endParaRPr dirty="0"/>
          </a:p>
        </p:txBody>
      </p:sp>
      <p:sp>
        <p:nvSpPr>
          <p:cNvPr id="176" name="Google Shape;176;p36">
            <a:extLst>
              <a:ext uri="{FF2B5EF4-FFF2-40B4-BE49-F238E27FC236}">
                <a16:creationId xmlns:a16="http://schemas.microsoft.com/office/drawing/2014/main" id="{5C6775EC-3CBD-9E53-2689-2534B619F9F1}"/>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FD98BCA5-213F-64ED-58E3-B73EA7721350}"/>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178" name="Google Shape;178;p36">
            <a:extLst>
              <a:ext uri="{FF2B5EF4-FFF2-40B4-BE49-F238E27FC236}">
                <a16:creationId xmlns:a16="http://schemas.microsoft.com/office/drawing/2014/main" id="{0EB839E8-8004-D1CF-98E8-C7CDDEBA9067}"/>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E2D7D247-3557-E679-882B-4CE914305E39}"/>
                  </a:ext>
                </a:extLst>
              </p:cNvPr>
              <p:cNvSpPr txBox="1">
                <a:spLocks noGrp="1"/>
              </p:cNvSpPr>
              <p:nvPr>
                <p:ph type="body" idx="1"/>
              </p:nvPr>
            </p:nvSpPr>
            <p:spPr>
              <a:xfrm>
                <a:off x="685308" y="1334586"/>
                <a:ext cx="6610228" cy="4682756"/>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Case 01:</a:t>
                </a: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𝐼𝑓</m:t>
                          </m:r>
                          <m:r>
                            <a:rPr lang="en-US" b="0" i="1" smtClean="0">
                              <a:latin typeface="Cambria Math" panose="02040503050406030204" pitchFamily="18" charset="0"/>
                            </a:rPr>
                            <m:t> </m:t>
                          </m:r>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 </m:t>
                      </m:r>
                      <m:r>
                        <a:rPr lang="en-US" b="0" i="1" smtClean="0">
                          <a:latin typeface="Cambria Math" panose="02040503050406030204" pitchFamily="18" charset="0"/>
                        </a:rPr>
                        <m:t>𝑙𝑎𝑟𝑔𝑒</m:t>
                      </m:r>
                      <m:r>
                        <a:rPr lang="en-US" b="0" i="1" smtClean="0">
                          <a:latin typeface="Cambria Math" panose="02040503050406030204" pitchFamily="18" charset="0"/>
                        </a:rPr>
                        <m:t> </m:t>
                      </m:r>
                      <m:r>
                        <a:rPr lang="en-US" b="0" i="1" smtClean="0">
                          <a:latin typeface="Cambria Math" panose="02040503050406030204" pitchFamily="18" charset="0"/>
                        </a:rPr>
                        <m:t>𝑝𝑜𝑠𝑖𝑡𝑖𝑣𝑒</m:t>
                      </m:r>
                      <m:r>
                        <a:rPr lang="en-US" b="0" i="1" smtClean="0">
                          <a:latin typeface="Cambria Math" panose="02040503050406030204" pitchFamily="18" charset="0"/>
                        </a:rPr>
                        <m:t>,</m:t>
                      </m:r>
                      <m:r>
                        <a:rPr lang="en-US" b="0" i="1" smtClean="0">
                          <a:latin typeface="Cambria Math" panose="02040503050406030204" pitchFamily="18" charset="0"/>
                        </a:rPr>
                        <m:t>𝑛𝑜</m:t>
                      </m:r>
                      <m:r>
                        <a:rPr lang="en-US" b="0" i="1" smtClean="0">
                          <a:latin typeface="Cambria Math" panose="02040503050406030204" pitchFamily="18" charset="0"/>
                        </a:rPr>
                        <m:t> </m:t>
                      </m:r>
                      <m:r>
                        <a:rPr lang="en-US" b="0" i="1" smtClean="0">
                          <a:latin typeface="Cambria Math" panose="02040503050406030204" pitchFamily="18" charset="0"/>
                        </a:rPr>
                        <m:t>𝑑𝑜𝑢𝑏𝑡</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 </m:t>
                      </m:r>
                    </m:oMath>
                  </m:oMathPara>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𝐿</m:t>
                          </m:r>
                        </m:sub>
                      </m:sSub>
                      <m:r>
                        <a:rPr lang="en-US" b="0" i="1" smtClean="0">
                          <a:latin typeface="Cambria Math" panose="02040503050406030204" pitchFamily="18" charset="0"/>
                        </a:rPr>
                        <m:t> </m:t>
                      </m:r>
                    </m:oMath>
                  </m:oMathPara>
                </a14:m>
                <a:endParaRPr lang="en-US" dirty="0"/>
              </a:p>
              <a:p>
                <a:pPr marL="114300" lvl="0" indent="0" algn="just" rtl="0">
                  <a:lnSpc>
                    <a:spcPct val="90000"/>
                  </a:lnSpc>
                  <a:spcBef>
                    <a:spcPts val="1000"/>
                  </a:spcBef>
                  <a:spcAft>
                    <a:spcPts val="0"/>
                  </a:spcAft>
                  <a:buSzPct val="75630"/>
                  <a:buNone/>
                </a:pPr>
                <a:r>
                  <a:rPr lang="en-US" dirty="0"/>
                  <a:t>For sustaining,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𝐿</m:t>
                        </m:r>
                      </m:sub>
                    </m:sSub>
                    <m:r>
                      <a:rPr lang="en-US" b="0" i="1" smtClean="0">
                        <a:latin typeface="Cambria Math" panose="02040503050406030204" pitchFamily="18" charset="0"/>
                      </a:rPr>
                      <m:t> </m:t>
                    </m:r>
                  </m:oMath>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oMath>
                  </m:oMathPara>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𝐿</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oMath>
                  </m:oMathPara>
                </a14:m>
                <a:endParaRPr lang="en-US" b="0" dirty="0"/>
              </a:p>
              <a:p>
                <a:pPr marL="114300" lvl="0" indent="0" algn="just" rtl="0">
                  <a:lnSpc>
                    <a:spcPct val="90000"/>
                  </a:lnSpc>
                  <a:spcBef>
                    <a:spcPts val="1000"/>
                  </a:spcBef>
                  <a:spcAft>
                    <a:spcPts val="0"/>
                  </a:spcAft>
                  <a:buSzPct val="75630"/>
                  <a:buNone/>
                </a:pPr>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𝑇𝐿</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𝐿</m:t>
                          </m:r>
                        </m:sub>
                      </m:sSub>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2</m:t>
                              </m:r>
                            </m:sub>
                          </m:sSub>
                        </m:den>
                      </m:f>
                    </m:oMath>
                  </m:oMathPara>
                </a14:m>
                <a:endParaRPr dirty="0"/>
              </a:p>
            </p:txBody>
          </p:sp>
        </mc:Choice>
        <mc:Fallback xmlns="">
          <p:sp>
            <p:nvSpPr>
              <p:cNvPr id="179" name="Google Shape;179;p36">
                <a:extLst>
                  <a:ext uri="{FF2B5EF4-FFF2-40B4-BE49-F238E27FC236}">
                    <a16:creationId xmlns:a16="http://schemas.microsoft.com/office/drawing/2014/main" id="{E2D7D247-3557-E679-882B-4CE914305E39}"/>
                  </a:ext>
                </a:extLst>
              </p:cNvPr>
              <p:cNvSpPr txBox="1">
                <a:spLocks noGrp="1" noRot="1" noChangeAspect="1" noMove="1" noResize="1" noEditPoints="1" noAdjustHandles="1" noChangeArrowheads="1" noChangeShapeType="1" noTextEdit="1"/>
              </p:cNvSpPr>
              <p:nvPr>
                <p:ph type="body" idx="1"/>
              </p:nvPr>
            </p:nvSpPr>
            <p:spPr>
              <a:xfrm>
                <a:off x="685308" y="1334586"/>
                <a:ext cx="6610228" cy="4682756"/>
              </a:xfrm>
              <a:prstGeom prst="rect">
                <a:avLst/>
              </a:prstGeom>
              <a:blipFill>
                <a:blip r:embed="rId4"/>
                <a:stretch>
                  <a:fillRect l="-92"/>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B6BB50F5-BC2E-D923-338E-626D67458CD9}"/>
              </a:ext>
            </a:extLst>
          </p:cNvPr>
          <p:cNvPicPr>
            <a:picLocks noChangeAspect="1"/>
          </p:cNvPicPr>
          <p:nvPr/>
        </p:nvPicPr>
        <p:blipFill>
          <a:blip r:embed="rId5"/>
          <a:stretch>
            <a:fillRect/>
          </a:stretch>
        </p:blipFill>
        <p:spPr>
          <a:xfrm>
            <a:off x="7060618" y="136525"/>
            <a:ext cx="3642840" cy="3469066"/>
          </a:xfrm>
          <a:prstGeom prst="rect">
            <a:avLst/>
          </a:prstGeom>
        </p:spPr>
      </p:pic>
      <p:pic>
        <p:nvPicPr>
          <p:cNvPr id="5" name="Picture 4">
            <a:extLst>
              <a:ext uri="{FF2B5EF4-FFF2-40B4-BE49-F238E27FC236}">
                <a16:creationId xmlns:a16="http://schemas.microsoft.com/office/drawing/2014/main" id="{260D2152-1EFD-B2EF-2DA4-E0095D1DB519}"/>
              </a:ext>
            </a:extLst>
          </p:cNvPr>
          <p:cNvPicPr>
            <a:picLocks noChangeAspect="1"/>
          </p:cNvPicPr>
          <p:nvPr/>
        </p:nvPicPr>
        <p:blipFill>
          <a:blip r:embed="rId6"/>
          <a:stretch>
            <a:fillRect/>
          </a:stretch>
        </p:blipFill>
        <p:spPr>
          <a:xfrm>
            <a:off x="6202402" y="2892974"/>
            <a:ext cx="3433711" cy="3124368"/>
          </a:xfrm>
          <a:prstGeom prst="rect">
            <a:avLst/>
          </a:prstGeom>
        </p:spPr>
      </p:pic>
    </p:spTree>
    <p:extLst>
      <p:ext uri="{BB962C8B-B14F-4D97-AF65-F5344CB8AC3E}">
        <p14:creationId xmlns:p14="http://schemas.microsoft.com/office/powerpoint/2010/main" val="1749207830"/>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18C73C6-9E68-D220-5A31-0252D9796CBB}"/>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32C87709-4E0B-071F-7B10-F613B831F36F}"/>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a:t>
            </a:r>
            <a:endParaRPr dirty="0"/>
          </a:p>
        </p:txBody>
      </p:sp>
      <p:sp>
        <p:nvSpPr>
          <p:cNvPr id="176" name="Google Shape;176;p36">
            <a:extLst>
              <a:ext uri="{FF2B5EF4-FFF2-40B4-BE49-F238E27FC236}">
                <a16:creationId xmlns:a16="http://schemas.microsoft.com/office/drawing/2014/main" id="{7DD5B160-64CC-12C1-E9C4-2F6C959BA6D3}"/>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CSE 350</a:t>
            </a:r>
            <a:endParaRPr dirty="0"/>
          </a:p>
        </p:txBody>
      </p:sp>
      <p:sp>
        <p:nvSpPr>
          <p:cNvPr id="177" name="Google Shape;177;p36">
            <a:extLst>
              <a:ext uri="{FF2B5EF4-FFF2-40B4-BE49-F238E27FC236}">
                <a16:creationId xmlns:a16="http://schemas.microsoft.com/office/drawing/2014/main" id="{3CC86CB6-D4AC-6643-0552-B49B184AB20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pic>
        <p:nvPicPr>
          <p:cNvPr id="178" name="Google Shape;178;p36">
            <a:extLst>
              <a:ext uri="{FF2B5EF4-FFF2-40B4-BE49-F238E27FC236}">
                <a16:creationId xmlns:a16="http://schemas.microsoft.com/office/drawing/2014/main" id="{493BD78D-E011-9673-3428-DA65606F99BB}"/>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ABA2155D-F2D3-8AEC-1496-B6724C6B68B8}"/>
                  </a:ext>
                </a:extLst>
              </p:cNvPr>
              <p:cNvSpPr txBox="1">
                <a:spLocks noGrp="1"/>
              </p:cNvSpPr>
              <p:nvPr>
                <p:ph type="body" idx="1"/>
              </p:nvPr>
            </p:nvSpPr>
            <p:spPr>
              <a:xfrm>
                <a:off x="685308" y="1334586"/>
                <a:ext cx="6610228" cy="4682756"/>
              </a:xfrm>
              <a:prstGeom prst="rect">
                <a:avLst/>
              </a:prstGeom>
              <a:noFill/>
              <a:ln>
                <a:noFill/>
              </a:ln>
            </p:spPr>
            <p:txBody>
              <a:bodyPr spcFirstLastPara="1" wrap="square" lIns="91425" tIns="45700" rIns="91425" bIns="45700" anchor="t" anchorCtr="0">
                <a:normAutofit fontScale="92500" lnSpcReduction="10000"/>
              </a:bodyPr>
              <a:lstStyle/>
              <a:p>
                <a:pPr marL="114300" lvl="0" indent="0" algn="just" rtl="0">
                  <a:lnSpc>
                    <a:spcPct val="90000"/>
                  </a:lnSpc>
                  <a:spcBef>
                    <a:spcPts val="1000"/>
                  </a:spcBef>
                  <a:spcAft>
                    <a:spcPts val="0"/>
                  </a:spcAft>
                  <a:buSzPct val="75630"/>
                  <a:buNone/>
                </a:pPr>
                <a:r>
                  <a:rPr lang="en-US" dirty="0"/>
                  <a:t>Case 02:</a:t>
                </a: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𝐼𝑓</m:t>
                          </m:r>
                          <m:r>
                            <a:rPr lang="en-US" b="0" i="1" smtClean="0">
                              <a:latin typeface="Cambria Math" panose="02040503050406030204" pitchFamily="18" charset="0"/>
                            </a:rPr>
                            <m:t> </m:t>
                          </m:r>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 </m:t>
                      </m:r>
                      <m:r>
                        <a:rPr lang="en-US" b="0" i="1" smtClean="0">
                          <a:latin typeface="Cambria Math" panose="02040503050406030204" pitchFamily="18" charset="0"/>
                        </a:rPr>
                        <m:t>𝑙𝑎𝑟𝑔𝑒</m:t>
                      </m:r>
                      <m:r>
                        <a:rPr lang="en-US" b="0" i="1" smtClean="0">
                          <a:latin typeface="Cambria Math" panose="02040503050406030204" pitchFamily="18" charset="0"/>
                        </a:rPr>
                        <m:t> </m:t>
                      </m:r>
                      <m:r>
                        <a:rPr lang="en-US" b="0" i="1" smtClean="0">
                          <a:latin typeface="Cambria Math" panose="02040503050406030204" pitchFamily="18" charset="0"/>
                        </a:rPr>
                        <m:t>𝑛𝑒𝑔𝑎𝑡𝑖𝑣𝑒</m:t>
                      </m:r>
                      <m:r>
                        <a:rPr lang="en-US" b="0" i="1" smtClean="0">
                          <a:latin typeface="Cambria Math" panose="02040503050406030204" pitchFamily="18" charset="0"/>
                        </a:rPr>
                        <m:t>,</m:t>
                      </m:r>
                      <m:r>
                        <a:rPr lang="en-US" b="0" i="1" smtClean="0">
                          <a:latin typeface="Cambria Math" panose="02040503050406030204" pitchFamily="18" charset="0"/>
                        </a:rPr>
                        <m:t>𝑛𝑜</m:t>
                      </m:r>
                      <m:r>
                        <a:rPr lang="en-US" b="0" i="1" smtClean="0">
                          <a:latin typeface="Cambria Math" panose="02040503050406030204" pitchFamily="18" charset="0"/>
                        </a:rPr>
                        <m:t> </m:t>
                      </m:r>
                      <m:r>
                        <a:rPr lang="en-US" b="0" i="1" smtClean="0">
                          <a:latin typeface="Cambria Math" panose="02040503050406030204" pitchFamily="18" charset="0"/>
                        </a:rPr>
                        <m:t>𝑑𝑜𝑢𝑏𝑡</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 </m:t>
                      </m:r>
                    </m:oMath>
                  </m:oMathPara>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r>
                        <a:rPr lang="en-US" b="0" i="1" smtClean="0">
                          <a:latin typeface="Cambria Math" panose="02040503050406030204" pitchFamily="18" charset="0"/>
                        </a:rPr>
                        <m:t> </m:t>
                      </m:r>
                    </m:oMath>
                  </m:oMathPara>
                </a14:m>
                <a:endParaRPr lang="en-US" dirty="0"/>
              </a:p>
              <a:p>
                <a:pPr marL="114300" lvl="0" indent="0" algn="just" rtl="0">
                  <a:lnSpc>
                    <a:spcPct val="90000"/>
                  </a:lnSpc>
                  <a:spcBef>
                    <a:spcPts val="1000"/>
                  </a:spcBef>
                  <a:spcAft>
                    <a:spcPts val="0"/>
                  </a:spcAft>
                  <a:buSzPct val="75630"/>
                  <a:buNone/>
                </a:pPr>
                <a:r>
                  <a:rPr lang="en-US" dirty="0"/>
                  <a:t>For sustaining,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r>
                      <a:rPr lang="en-US" b="0" i="1" smtClean="0">
                        <a:latin typeface="Cambria Math" panose="02040503050406030204" pitchFamily="18" charset="0"/>
                      </a:rPr>
                      <m:t> </m:t>
                    </m:r>
                  </m:oMath>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m:t>
                          </m:r>
                        </m:sub>
                      </m:sSub>
                    </m:oMath>
                  </m:oMathPara>
                </a14:m>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oMath>
                  </m:oMathPara>
                </a14:m>
                <a:endParaRPr lang="en-US"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𝐼</m:t>
                          </m:r>
                        </m:sub>
                      </m:sSub>
                      <m:r>
                        <a:rPr lang="en-US" b="0" i="1" smtClean="0">
                          <a:latin typeface="Cambria Math" panose="02040503050406030204" pitchFamily="18" charset="0"/>
                        </a:rPr>
                        <m: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den>
                      </m:f>
                    </m:oMath>
                  </m:oMathPara>
                </a14:m>
                <a:endParaRPr lang="en-US" b="0" dirty="0"/>
              </a:p>
              <a:p>
                <a:pPr marL="114300" lvl="0" indent="0" algn="just" rtl="0">
                  <a:lnSpc>
                    <a:spcPct val="90000"/>
                  </a:lnSpc>
                  <a:spcBef>
                    <a:spcPts val="1000"/>
                  </a:spcBef>
                  <a:spcAft>
                    <a:spcPts val="0"/>
                  </a:spcAft>
                  <a:buSzPct val="75630"/>
                  <a:buNone/>
                </a:pPr>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𝑇𝐻</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b="0" i="1" smtClean="0">
                              <a:latin typeface="Cambria Math" panose="02040503050406030204" pitchFamily="18" charset="0"/>
                              <a:ea typeface="Cambria Math" panose="02040503050406030204" pitchFamily="18" charset="0"/>
                            </a:rPr>
                            <m:t>𝐻</m:t>
                          </m:r>
                        </m:sub>
                      </m:sSub>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2</m:t>
                              </m:r>
                            </m:sub>
                          </m:sSub>
                        </m:den>
                      </m:f>
                    </m:oMath>
                  </m:oMathPara>
                </a14:m>
                <a:endParaRPr dirty="0"/>
              </a:p>
            </p:txBody>
          </p:sp>
        </mc:Choice>
        <mc:Fallback xmlns="">
          <p:sp>
            <p:nvSpPr>
              <p:cNvPr id="179" name="Google Shape;179;p36">
                <a:extLst>
                  <a:ext uri="{FF2B5EF4-FFF2-40B4-BE49-F238E27FC236}">
                    <a16:creationId xmlns:a16="http://schemas.microsoft.com/office/drawing/2014/main" id="{ABA2155D-F2D3-8AEC-1496-B6724C6B68B8}"/>
                  </a:ext>
                </a:extLst>
              </p:cNvPr>
              <p:cNvSpPr txBox="1">
                <a:spLocks noGrp="1" noRot="1" noChangeAspect="1" noMove="1" noResize="1" noEditPoints="1" noAdjustHandles="1" noChangeArrowheads="1" noChangeShapeType="1" noTextEdit="1"/>
              </p:cNvSpPr>
              <p:nvPr>
                <p:ph type="body" idx="1"/>
              </p:nvPr>
            </p:nvSpPr>
            <p:spPr>
              <a:xfrm>
                <a:off x="685308" y="1334586"/>
                <a:ext cx="6610228" cy="4682756"/>
              </a:xfrm>
              <a:prstGeom prst="rect">
                <a:avLst/>
              </a:prstGeom>
              <a:blipFill>
                <a:blip r:embed="rId4"/>
                <a:stretch>
                  <a:fillRect/>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366422E7-6E9F-1D67-81C9-A3A6DDC0A6D3}"/>
              </a:ext>
            </a:extLst>
          </p:cNvPr>
          <p:cNvPicPr>
            <a:picLocks noChangeAspect="1"/>
          </p:cNvPicPr>
          <p:nvPr/>
        </p:nvPicPr>
        <p:blipFill>
          <a:blip r:embed="rId5"/>
          <a:stretch>
            <a:fillRect/>
          </a:stretch>
        </p:blipFill>
        <p:spPr>
          <a:xfrm>
            <a:off x="8160780" y="0"/>
            <a:ext cx="3557274" cy="3387582"/>
          </a:xfrm>
          <a:prstGeom prst="rect">
            <a:avLst/>
          </a:prstGeom>
        </p:spPr>
      </p:pic>
      <p:pic>
        <p:nvPicPr>
          <p:cNvPr id="4" name="Picture 3">
            <a:extLst>
              <a:ext uri="{FF2B5EF4-FFF2-40B4-BE49-F238E27FC236}">
                <a16:creationId xmlns:a16="http://schemas.microsoft.com/office/drawing/2014/main" id="{24A16D82-DF1E-2800-1E7A-E5588926A284}"/>
              </a:ext>
            </a:extLst>
          </p:cNvPr>
          <p:cNvPicPr>
            <a:picLocks noChangeAspect="1"/>
          </p:cNvPicPr>
          <p:nvPr/>
        </p:nvPicPr>
        <p:blipFill>
          <a:blip r:embed="rId6"/>
          <a:stretch>
            <a:fillRect/>
          </a:stretch>
        </p:blipFill>
        <p:spPr>
          <a:xfrm>
            <a:off x="6398863" y="2706025"/>
            <a:ext cx="4114799" cy="3311317"/>
          </a:xfrm>
          <a:prstGeom prst="rect">
            <a:avLst/>
          </a:prstGeom>
        </p:spPr>
      </p:pic>
    </p:spTree>
    <p:extLst>
      <p:ext uri="{BB962C8B-B14F-4D97-AF65-F5344CB8AC3E}">
        <p14:creationId xmlns:p14="http://schemas.microsoft.com/office/powerpoint/2010/main" val="3243338727"/>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E84432DD-3DEE-E6F0-64D4-666729220EEA}"/>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3CD03705-1953-6F27-0D82-9A185EA62660}"/>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a:t>
            </a:r>
            <a:endParaRPr dirty="0"/>
          </a:p>
        </p:txBody>
      </p:sp>
      <p:sp>
        <p:nvSpPr>
          <p:cNvPr id="176" name="Google Shape;176;p36">
            <a:extLst>
              <a:ext uri="{FF2B5EF4-FFF2-40B4-BE49-F238E27FC236}">
                <a16:creationId xmlns:a16="http://schemas.microsoft.com/office/drawing/2014/main" id="{591FF4C4-3BDA-15EA-C6F0-3C5DCB584592}"/>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63977639-8D6D-EC6A-6857-1DC667CB763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pic>
        <p:nvPicPr>
          <p:cNvPr id="178" name="Google Shape;178;p36">
            <a:extLst>
              <a:ext uri="{FF2B5EF4-FFF2-40B4-BE49-F238E27FC236}">
                <a16:creationId xmlns:a16="http://schemas.microsoft.com/office/drawing/2014/main" id="{B97AE7B0-F159-5315-EC15-F23723D7C56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B1FD18AD-CB23-EE4B-D745-20ED24345B84}"/>
                  </a:ext>
                </a:extLst>
              </p:cNvPr>
              <p:cNvSpPr txBox="1">
                <a:spLocks noGrp="1"/>
              </p:cNvSpPr>
              <p:nvPr>
                <p:ph type="body" idx="1"/>
              </p:nvPr>
            </p:nvSpPr>
            <p:spPr>
              <a:xfrm>
                <a:off x="685308" y="1334585"/>
                <a:ext cx="6780363" cy="5104119"/>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𝑉</m:t>
                        </m:r>
                      </m:e>
                      <m:sub>
                        <m:r>
                          <a:rPr lang="en-US" b="0" i="1" dirty="0" smtClean="0">
                            <a:latin typeface="Cambria Math" panose="02040503050406030204" pitchFamily="18" charset="0"/>
                          </a:rPr>
                          <m:t>𝑇𝐻</m:t>
                        </m:r>
                      </m:sub>
                    </m:sSub>
                  </m:oMath>
                </a14:m>
                <a:r>
                  <a:rPr lang="en-US" dirty="0"/>
                  <a:t>  = Upper Threshold</a:t>
                </a:r>
              </a:p>
              <a:p>
                <a:pPr marL="114300" lvl="0" indent="0" algn="just" rtl="0">
                  <a:lnSpc>
                    <a:spcPct val="90000"/>
                  </a:lnSpc>
                  <a:spcBef>
                    <a:spcPts val="1000"/>
                  </a:spcBef>
                  <a:spcAft>
                    <a:spcPts val="0"/>
                  </a:spcAft>
                  <a:buSzPct val="7563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𝑇𝐿</m:t>
                        </m:r>
                      </m:sub>
                    </m:sSub>
                    <m:r>
                      <a:rPr lang="en-US" b="0" i="1" smtClean="0">
                        <a:latin typeface="Cambria Math" panose="02040503050406030204" pitchFamily="18" charset="0"/>
                      </a:rPr>
                      <m:t> </m:t>
                    </m:r>
                  </m:oMath>
                </a14:m>
                <a:r>
                  <a:rPr lang="en-US" dirty="0"/>
                  <a:t>= Lower Threshold</a:t>
                </a:r>
              </a:p>
              <a:p>
                <a:pPr marL="114300" lvl="0" indent="0" algn="just" rtl="0">
                  <a:lnSpc>
                    <a:spcPct val="90000"/>
                  </a:lnSpc>
                  <a:spcBef>
                    <a:spcPts val="1000"/>
                  </a:spcBef>
                  <a:spcAft>
                    <a:spcPts val="0"/>
                  </a:spcAft>
                  <a:buSzPct val="7563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𝑆</m:t>
                        </m:r>
                      </m:sub>
                    </m:sSub>
                    <m:r>
                      <a:rPr lang="en-US" b="0" i="1" smtClean="0">
                        <a:latin typeface="Cambria Math" panose="02040503050406030204" pitchFamily="18" charset="0"/>
                      </a:rPr>
                      <m:t> </m:t>
                    </m:r>
                  </m:oMath>
                </a14:m>
                <a:r>
                  <a:rPr lang="en-US" dirty="0"/>
                  <a:t>= Center voltage</a:t>
                </a:r>
              </a:p>
              <a:p>
                <a:pPr marL="114300" lvl="0" indent="0" algn="just" rtl="0">
                  <a:lnSpc>
                    <a:spcPct val="90000"/>
                  </a:lnSpc>
                  <a:spcBef>
                    <a:spcPts val="1000"/>
                  </a:spcBef>
                  <a:spcAft>
                    <a:spcPts val="0"/>
                  </a:spcAft>
                  <a:buSzPct val="7563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𝐻𝑊</m:t>
                        </m:r>
                      </m:sub>
                    </m:sSub>
                  </m:oMath>
                </a14:m>
                <a:r>
                  <a:rPr lang="en-US" dirty="0"/>
                  <a:t> = Hysteresis width</a:t>
                </a:r>
              </a:p>
              <a:p>
                <a:pPr marL="114300" lvl="0" indent="0" algn="just" rtl="0">
                  <a:lnSpc>
                    <a:spcPct val="90000"/>
                  </a:lnSpc>
                  <a:spcBef>
                    <a:spcPts val="1000"/>
                  </a:spcBef>
                  <a:spcAft>
                    <a:spcPts val="0"/>
                  </a:spcAft>
                  <a:buSzPct val="75630"/>
                  <a:buNone/>
                </a:pPr>
                <a:endParaRPr lang="en-US"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𝑇𝐻</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𝑇𝐿</m:t>
                              </m:r>
                            </m:sub>
                          </m:sSub>
                        </m:num>
                        <m:den>
                          <m:r>
                            <a:rPr lang="en-US" b="0" i="1" smtClean="0">
                              <a:latin typeface="Cambria Math" panose="02040503050406030204" pitchFamily="18" charset="0"/>
                            </a:rPr>
                            <m:t>2</m:t>
                          </m:r>
                        </m:den>
                      </m:f>
                    </m:oMath>
                  </m:oMathPara>
                </a14:m>
                <a:endParaRPr lang="en-US"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𝐻𝑊</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𝑇𝐻</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𝑇𝐿</m:t>
                          </m:r>
                        </m:sub>
                      </m:sSub>
                      <m:r>
                        <a:rPr lang="en-US" b="0" i="1" smtClean="0">
                          <a:latin typeface="Cambria Math" panose="02040503050406030204" pitchFamily="18" charset="0"/>
                        </a:rPr>
                        <m:t> </m:t>
                      </m:r>
                    </m:oMath>
                  </m:oMathPara>
                </a14:m>
                <a:endParaRPr lang="en-US" b="0" dirty="0"/>
              </a:p>
              <a:p>
                <a:pPr marL="114300" lvl="0" indent="0" algn="just" rtl="0">
                  <a:lnSpc>
                    <a:spcPct val="90000"/>
                  </a:lnSpc>
                  <a:spcBef>
                    <a:spcPts val="1000"/>
                  </a:spcBef>
                  <a:spcAft>
                    <a:spcPts val="0"/>
                  </a:spcAft>
                  <a:buSzPct val="75630"/>
                  <a:buNone/>
                </a:pPr>
                <a:r>
                  <a:rPr lang="en-US" dirty="0">
                    <a:solidFill>
                      <a:srgbClr val="0070C0"/>
                    </a:solidFill>
                  </a:rPr>
                  <a:t>If </a:t>
                </a:r>
                <a14:m>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𝐿</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m:t>
                        </m:r>
                      </m:sub>
                    </m:sSub>
                    <m:r>
                      <a:rPr lang="en-US" b="0" i="1" smtClean="0">
                        <a:solidFill>
                          <a:srgbClr val="0070C0"/>
                        </a:solidFill>
                        <a:latin typeface="Cambria Math" panose="02040503050406030204" pitchFamily="18" charset="0"/>
                      </a:rPr>
                      <m:t> ,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𝑆</m:t>
                        </m:r>
                      </m:sub>
                    </m:sSub>
                    <m:r>
                      <a:rPr lang="en-US" b="0" i="1" smtClean="0">
                        <a:solidFill>
                          <a:srgbClr val="0070C0"/>
                        </a:solidFill>
                        <a:latin typeface="Cambria Math" panose="02040503050406030204" pitchFamily="18" charset="0"/>
                      </a:rPr>
                      <m:t>=0 </m:t>
                    </m:r>
                  </m:oMath>
                </a14:m>
                <a:endParaRPr lang="en-US" b="0" i="1" dirty="0">
                  <a:solidFill>
                    <a:srgbClr val="0070C0"/>
                  </a:solidFill>
                  <a:latin typeface="Cambria Math" panose="02040503050406030204" pitchFamily="18" charset="0"/>
                </a:endParaRP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r>
                        <a:rPr lang="en-US" b="0" i="1" smtClean="0">
                          <a:solidFill>
                            <a:srgbClr val="0070C0"/>
                          </a:solidFill>
                          <a:latin typeface="Cambria Math" panose="02040503050406030204" pitchFamily="18" charset="0"/>
                        </a:rPr>
                        <m:t>𝑎𝑛𝑑</m:t>
                      </m:r>
                      <m:r>
                        <a:rPr lang="en-US" b="0" i="1" smtClean="0">
                          <a:solidFill>
                            <a:srgbClr val="0070C0"/>
                          </a:solidFill>
                          <a:latin typeface="Cambria Math" panose="02040503050406030204" pitchFamily="18" charset="0"/>
                        </a:rPr>
                        <m:t>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𝐻𝑊</m:t>
                          </m:r>
                        </m:sub>
                      </m:sSub>
                      <m:r>
                        <a:rPr lang="en-US" b="0" i="1" smtClean="0">
                          <a:solidFill>
                            <a:srgbClr val="0070C0"/>
                          </a:solidFill>
                          <a:latin typeface="Cambria Math" panose="02040503050406030204" pitchFamily="18" charset="0"/>
                        </a:rPr>
                        <m:t> =2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m:t>
                          </m:r>
                        </m:sub>
                      </m:sSub>
                      <m:r>
                        <a:rPr lang="en-US" b="0" i="1" smtClean="0">
                          <a:solidFill>
                            <a:srgbClr val="0070C0"/>
                          </a:solidFill>
                          <a:latin typeface="Cambria Math" panose="02040503050406030204" pitchFamily="18" charset="0"/>
                        </a:rPr>
                        <m:t>∗</m:t>
                      </m:r>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oMath>
                  </m:oMathPara>
                </a14:m>
                <a:endParaRPr lang="en-US" b="0" dirty="0">
                  <a:solidFill>
                    <a:srgbClr val="0070C0"/>
                  </a:solidFill>
                </a:endParaRPr>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B1FD18AD-CB23-EE4B-D745-20ED24345B84}"/>
                  </a:ext>
                </a:extLst>
              </p:cNvPr>
              <p:cNvSpPr txBox="1">
                <a:spLocks noGrp="1" noRot="1" noChangeAspect="1" noMove="1" noResize="1" noEditPoints="1" noAdjustHandles="1" noChangeArrowheads="1" noChangeShapeType="1" noTextEdit="1"/>
              </p:cNvSpPr>
              <p:nvPr>
                <p:ph type="body" idx="1"/>
              </p:nvPr>
            </p:nvSpPr>
            <p:spPr>
              <a:xfrm>
                <a:off x="685308" y="1334585"/>
                <a:ext cx="6780363" cy="5104119"/>
              </a:xfrm>
              <a:prstGeom prst="rect">
                <a:avLst/>
              </a:prstGeom>
              <a:blipFill>
                <a:blip r:embed="rId4"/>
                <a:stretch>
                  <a:fillRect l="-90"/>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FF064804-B8CC-3CDA-6A07-99389DF95883}"/>
              </a:ext>
            </a:extLst>
          </p:cNvPr>
          <p:cNvPicPr>
            <a:picLocks noChangeAspect="1"/>
          </p:cNvPicPr>
          <p:nvPr/>
        </p:nvPicPr>
        <p:blipFill>
          <a:blip r:embed="rId5"/>
          <a:stretch>
            <a:fillRect/>
          </a:stretch>
        </p:blipFill>
        <p:spPr>
          <a:xfrm>
            <a:off x="6408800" y="1280414"/>
            <a:ext cx="5439534" cy="4429743"/>
          </a:xfrm>
          <a:prstGeom prst="rect">
            <a:avLst/>
          </a:prstGeom>
        </p:spPr>
      </p:pic>
    </p:spTree>
    <p:extLst>
      <p:ext uri="{BB962C8B-B14F-4D97-AF65-F5344CB8AC3E}">
        <p14:creationId xmlns:p14="http://schemas.microsoft.com/office/powerpoint/2010/main" val="1903979079"/>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0A95C00F-D75E-CAD5-82A3-B25B7B67F830}"/>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A6703FAE-F377-4E56-C459-7D12CA845DF6}"/>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Non-inverting ST</a:t>
            </a:r>
            <a:endParaRPr dirty="0"/>
          </a:p>
        </p:txBody>
      </p:sp>
      <p:sp>
        <p:nvSpPr>
          <p:cNvPr id="176" name="Google Shape;176;p36">
            <a:extLst>
              <a:ext uri="{FF2B5EF4-FFF2-40B4-BE49-F238E27FC236}">
                <a16:creationId xmlns:a16="http://schemas.microsoft.com/office/drawing/2014/main" id="{A0EA500D-3EFB-5423-EE36-1D2888AB3553}"/>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92642FC6-BC5F-5AE2-14CA-37DDF6001A2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pic>
        <p:nvPicPr>
          <p:cNvPr id="178" name="Google Shape;178;p36">
            <a:extLst>
              <a:ext uri="{FF2B5EF4-FFF2-40B4-BE49-F238E27FC236}">
                <a16:creationId xmlns:a16="http://schemas.microsoft.com/office/drawing/2014/main" id="{0690C508-8452-22F9-0702-69BDDBCD1881}"/>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a:extLst>
              <a:ext uri="{FF2B5EF4-FFF2-40B4-BE49-F238E27FC236}">
                <a16:creationId xmlns:a16="http://schemas.microsoft.com/office/drawing/2014/main" id="{A0EDF2E0-BD4A-E06A-6D53-062CABEDFF37}"/>
              </a:ext>
            </a:extLst>
          </p:cNvPr>
          <p:cNvSpPr txBox="1">
            <a:spLocks noGrp="1"/>
          </p:cNvSpPr>
          <p:nvPr>
            <p:ph type="body" idx="1"/>
          </p:nvPr>
        </p:nvSpPr>
        <p:spPr>
          <a:xfrm>
            <a:off x="685308" y="1334585"/>
            <a:ext cx="6201630" cy="4603227"/>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Type here</a:t>
            </a:r>
            <a:endParaRPr dirty="0"/>
          </a:p>
        </p:txBody>
      </p:sp>
      <p:pic>
        <p:nvPicPr>
          <p:cNvPr id="3" name="Picture 2">
            <a:extLst>
              <a:ext uri="{FF2B5EF4-FFF2-40B4-BE49-F238E27FC236}">
                <a16:creationId xmlns:a16="http://schemas.microsoft.com/office/drawing/2014/main" id="{F8EC85CF-3663-FCB2-4988-AB275605F3DF}"/>
              </a:ext>
            </a:extLst>
          </p:cNvPr>
          <p:cNvPicPr>
            <a:picLocks noChangeAspect="1"/>
          </p:cNvPicPr>
          <p:nvPr/>
        </p:nvPicPr>
        <p:blipFill>
          <a:blip r:embed="rId4"/>
          <a:stretch>
            <a:fillRect/>
          </a:stretch>
        </p:blipFill>
        <p:spPr>
          <a:xfrm>
            <a:off x="816079" y="1090219"/>
            <a:ext cx="4877783" cy="4320777"/>
          </a:xfrm>
          <a:prstGeom prst="rect">
            <a:avLst/>
          </a:prstGeom>
        </p:spPr>
      </p:pic>
      <p:pic>
        <p:nvPicPr>
          <p:cNvPr id="5" name="Picture 4">
            <a:extLst>
              <a:ext uri="{FF2B5EF4-FFF2-40B4-BE49-F238E27FC236}">
                <a16:creationId xmlns:a16="http://schemas.microsoft.com/office/drawing/2014/main" id="{3A7B90ED-99AD-0507-61A3-5759E3ACFCA1}"/>
              </a:ext>
            </a:extLst>
          </p:cNvPr>
          <p:cNvPicPr>
            <a:picLocks noChangeAspect="1"/>
          </p:cNvPicPr>
          <p:nvPr/>
        </p:nvPicPr>
        <p:blipFill>
          <a:blip r:embed="rId5"/>
          <a:stretch>
            <a:fillRect/>
          </a:stretch>
        </p:blipFill>
        <p:spPr>
          <a:xfrm>
            <a:off x="5981421" y="920188"/>
            <a:ext cx="5525271" cy="4648849"/>
          </a:xfrm>
          <a:prstGeom prst="rect">
            <a:avLst/>
          </a:prstGeom>
        </p:spPr>
      </p:pic>
    </p:spTree>
    <p:extLst>
      <p:ext uri="{BB962C8B-B14F-4D97-AF65-F5344CB8AC3E}">
        <p14:creationId xmlns:p14="http://schemas.microsoft.com/office/powerpoint/2010/main" val="2905347058"/>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7465351-41D7-AC5E-C807-50A24A3F9B8D}"/>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67D71612-95AB-5D6D-8653-7C4744948618}"/>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Non-inverting ST</a:t>
            </a:r>
            <a:endParaRPr dirty="0"/>
          </a:p>
        </p:txBody>
      </p:sp>
      <p:sp>
        <p:nvSpPr>
          <p:cNvPr id="176" name="Google Shape;176;p36">
            <a:extLst>
              <a:ext uri="{FF2B5EF4-FFF2-40B4-BE49-F238E27FC236}">
                <a16:creationId xmlns:a16="http://schemas.microsoft.com/office/drawing/2014/main" id="{23E60FB1-DAFA-82F7-7A8E-60D44AB39198}"/>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BE28A153-7B6C-E56F-24A8-C1D34D79353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pic>
        <p:nvPicPr>
          <p:cNvPr id="178" name="Google Shape;178;p36">
            <a:extLst>
              <a:ext uri="{FF2B5EF4-FFF2-40B4-BE49-F238E27FC236}">
                <a16:creationId xmlns:a16="http://schemas.microsoft.com/office/drawing/2014/main" id="{7F3FE07C-1B28-87A4-D354-CE47F1CB8B2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D354DEA8-BA60-9555-896E-845ECBEFB793}"/>
                  </a:ext>
                </a:extLst>
              </p:cNvPr>
              <p:cNvSpPr txBox="1">
                <a:spLocks noGrp="1"/>
              </p:cNvSpPr>
              <p:nvPr>
                <p:ph type="body" idx="1"/>
              </p:nvPr>
            </p:nvSpPr>
            <p:spPr>
              <a:xfrm>
                <a:off x="685307" y="1334585"/>
                <a:ext cx="7131337" cy="5104119"/>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sz="2400" dirty="0"/>
                  <a:t>Formula,</a:t>
                </a: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𝐿</m:t>
                          </m:r>
                        </m:sub>
                      </m:sSub>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num>
                        <m:den>
                          <m:r>
                            <a:rPr lang="en-US" sz="2400" b="0" i="1" smtClean="0">
                              <a:latin typeface="Cambria Math" panose="02040503050406030204" pitchFamily="18" charset="0"/>
                            </a:rPr>
                            <m:t>2</m:t>
                          </m:r>
                        </m:den>
                      </m:f>
                    </m:oMath>
                  </m:oMathPara>
                </a14:m>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𝐻𝑊</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r>
                  <a:rPr lang="en-US" sz="2400" dirty="0">
                    <a:solidFill>
                      <a:srgbClr val="0070C0"/>
                    </a:solidFill>
                  </a:rPr>
                  <a:t>IF </a:t>
                </a:r>
                <a14:m>
                  <m:oMath xmlns:m="http://schemas.openxmlformats.org/officeDocument/2006/math">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𝐿</m:t>
                        </m:r>
                      </m:sub>
                    </m:sSub>
                    <m:r>
                      <a:rPr lang="en-US" sz="2400" b="0" i="1" smtClean="0">
                        <a:solidFill>
                          <a:srgbClr val="0070C0"/>
                        </a:solidFill>
                        <a:latin typeface="Cambria Math" panose="02040503050406030204" pitchFamily="18" charset="0"/>
                      </a:rPr>
                      <m:t>=−</m:t>
                    </m:r>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𝐻</m:t>
                        </m:r>
                      </m:sub>
                    </m:sSub>
                  </m:oMath>
                </a14:m>
                <a:endParaRPr lang="en-US" sz="2400" b="0" dirty="0">
                  <a:solidFill>
                    <a:srgbClr val="0070C0"/>
                  </a:solidFill>
                </a:endParaRP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𝑆</m:t>
                          </m:r>
                        </m:sub>
                      </m:sSub>
                      <m:r>
                        <a:rPr lang="en-US" sz="2400" b="0" i="1" smtClean="0">
                          <a:solidFill>
                            <a:srgbClr val="0070C0"/>
                          </a:solidFill>
                          <a:latin typeface="Cambria Math" panose="02040503050406030204" pitchFamily="18" charset="0"/>
                        </a:rPr>
                        <m:t>=0, </m:t>
                      </m:r>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𝐻𝑊</m:t>
                          </m:r>
                        </m:sub>
                      </m:sSub>
                      <m:r>
                        <a:rPr lang="en-US" sz="2400" b="0" i="1" smtClean="0">
                          <a:solidFill>
                            <a:srgbClr val="0070C0"/>
                          </a:solidFill>
                          <a:latin typeface="Cambria Math" panose="02040503050406030204" pitchFamily="18" charset="0"/>
                        </a:rPr>
                        <m:t>=2</m:t>
                      </m:r>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𝐻</m:t>
                          </m:r>
                        </m:sub>
                      </m:sSub>
                      <m:f>
                        <m:fPr>
                          <m:ctrlPr>
                            <a:rPr lang="en-US" sz="2400" b="0" i="1" smtClean="0">
                              <a:solidFill>
                                <a:srgbClr val="0070C0"/>
                              </a:solidFill>
                              <a:latin typeface="Cambria Math" panose="02040503050406030204" pitchFamily="18" charset="0"/>
                            </a:rPr>
                          </m:ctrlPr>
                        </m:fPr>
                        <m:num>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𝑅</m:t>
                              </m:r>
                            </m:e>
                            <m:sub>
                              <m:r>
                                <a:rPr lang="en-US" sz="2400" b="0" i="1" smtClean="0">
                                  <a:solidFill>
                                    <a:srgbClr val="0070C0"/>
                                  </a:solidFill>
                                  <a:latin typeface="Cambria Math" panose="02040503050406030204" pitchFamily="18" charset="0"/>
                                </a:rPr>
                                <m:t>1</m:t>
                              </m:r>
                            </m:sub>
                          </m:sSub>
                        </m:num>
                        <m:den>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𝑅</m:t>
                              </m:r>
                            </m:e>
                            <m:sub>
                              <m:r>
                                <a:rPr lang="en-US" sz="2400" b="0" i="1" smtClean="0">
                                  <a:solidFill>
                                    <a:srgbClr val="0070C0"/>
                                  </a:solidFill>
                                  <a:latin typeface="Cambria Math" panose="02040503050406030204" pitchFamily="18" charset="0"/>
                                </a:rPr>
                                <m:t>2</m:t>
                              </m:r>
                            </m:sub>
                          </m:sSub>
                        </m:den>
                      </m:f>
                      <m:r>
                        <a:rPr lang="en-US" sz="2400" b="0" i="1" smtClean="0">
                          <a:solidFill>
                            <a:srgbClr val="0070C0"/>
                          </a:solidFill>
                          <a:latin typeface="Cambria Math" panose="02040503050406030204" pitchFamily="18" charset="0"/>
                        </a:rPr>
                        <m:t> </m:t>
                      </m:r>
                    </m:oMath>
                  </m:oMathPara>
                </a14:m>
                <a:endParaRPr lang="en-US" sz="2400" b="0" dirty="0">
                  <a:solidFill>
                    <a:srgbClr val="0070C0"/>
                  </a:solidFill>
                </a:endParaRPr>
              </a:p>
              <a:p>
                <a:pPr marL="114300" lvl="0" indent="0" algn="just" rtl="0">
                  <a:lnSpc>
                    <a:spcPct val="90000"/>
                  </a:lnSpc>
                  <a:spcBef>
                    <a:spcPts val="1000"/>
                  </a:spcBef>
                  <a:spcAft>
                    <a:spcPts val="0"/>
                  </a:spcAft>
                  <a:buSzPct val="75630"/>
                  <a:buNone/>
                </a:pPr>
                <a:endParaRPr lang="en-US" b="0" dirty="0"/>
              </a:p>
              <a:p>
                <a:pPr marL="114300" lvl="0" indent="0" algn="just" rtl="0">
                  <a:lnSpc>
                    <a:spcPct val="90000"/>
                  </a:lnSpc>
                  <a:spcBef>
                    <a:spcPts val="1000"/>
                  </a:spcBef>
                  <a:spcAft>
                    <a:spcPts val="0"/>
                  </a:spcAft>
                  <a:buSzPct val="75630"/>
                  <a:buNone/>
                </a:pPr>
                <a:endParaRPr lang="en-US" b="0" dirty="0"/>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D354DEA8-BA60-9555-896E-845ECBEFB793}"/>
                  </a:ext>
                </a:extLst>
              </p:cNvPr>
              <p:cNvSpPr txBox="1">
                <a:spLocks noGrp="1" noRot="1" noChangeAspect="1" noMove="1" noResize="1" noEditPoints="1" noAdjustHandles="1" noChangeArrowheads="1" noChangeShapeType="1" noTextEdit="1"/>
              </p:cNvSpPr>
              <p:nvPr>
                <p:ph type="body" idx="1"/>
              </p:nvPr>
            </p:nvSpPr>
            <p:spPr>
              <a:xfrm>
                <a:off x="685307" y="1334585"/>
                <a:ext cx="7131337" cy="5104119"/>
              </a:xfrm>
              <a:prstGeom prst="rect">
                <a:avLst/>
              </a:prstGeom>
              <a:blipFill>
                <a:blip r:embed="rId4"/>
                <a:stretch>
                  <a:fillRect/>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168F7713-41E5-1485-E704-F22628357A60}"/>
              </a:ext>
            </a:extLst>
          </p:cNvPr>
          <p:cNvPicPr>
            <a:picLocks noChangeAspect="1"/>
          </p:cNvPicPr>
          <p:nvPr/>
        </p:nvPicPr>
        <p:blipFill>
          <a:blip r:embed="rId5"/>
          <a:stretch>
            <a:fillRect/>
          </a:stretch>
        </p:blipFill>
        <p:spPr>
          <a:xfrm>
            <a:off x="7000568" y="1026126"/>
            <a:ext cx="4877783" cy="4320777"/>
          </a:xfrm>
          <a:prstGeom prst="rect">
            <a:avLst/>
          </a:prstGeom>
        </p:spPr>
      </p:pic>
    </p:spTree>
    <p:extLst>
      <p:ext uri="{BB962C8B-B14F-4D97-AF65-F5344CB8AC3E}">
        <p14:creationId xmlns:p14="http://schemas.microsoft.com/office/powerpoint/2010/main" val="2694199013"/>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E1FD71B1-076F-1A15-1167-C2EC27B91D8C}"/>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821E2C66-C09F-CD73-06B3-D25867FCBBE8}"/>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 with Ref</a:t>
            </a:r>
            <a:endParaRPr dirty="0"/>
          </a:p>
        </p:txBody>
      </p:sp>
      <p:sp>
        <p:nvSpPr>
          <p:cNvPr id="176" name="Google Shape;176;p36">
            <a:extLst>
              <a:ext uri="{FF2B5EF4-FFF2-40B4-BE49-F238E27FC236}">
                <a16:creationId xmlns:a16="http://schemas.microsoft.com/office/drawing/2014/main" id="{1CDF7316-76B3-7BA1-2BC1-132435A5C706}"/>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9261904B-1351-E649-6D6D-FDC079CADDB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178" name="Google Shape;178;p36">
            <a:extLst>
              <a:ext uri="{FF2B5EF4-FFF2-40B4-BE49-F238E27FC236}">
                <a16:creationId xmlns:a16="http://schemas.microsoft.com/office/drawing/2014/main" id="{DBADBC00-51CB-DCE2-58DB-56FEC3DE887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a:extLst>
              <a:ext uri="{FF2B5EF4-FFF2-40B4-BE49-F238E27FC236}">
                <a16:creationId xmlns:a16="http://schemas.microsoft.com/office/drawing/2014/main" id="{4BF29CB7-E04A-28E5-30A9-34D10BEDCB21}"/>
              </a:ext>
            </a:extLst>
          </p:cNvPr>
          <p:cNvSpPr txBox="1">
            <a:spLocks noGrp="1"/>
          </p:cNvSpPr>
          <p:nvPr>
            <p:ph type="body" idx="1"/>
          </p:nvPr>
        </p:nvSpPr>
        <p:spPr>
          <a:xfrm>
            <a:off x="685308" y="1334585"/>
            <a:ext cx="6201630" cy="4603227"/>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Type here</a:t>
            </a:r>
            <a:endParaRPr dirty="0"/>
          </a:p>
        </p:txBody>
      </p:sp>
      <p:pic>
        <p:nvPicPr>
          <p:cNvPr id="4" name="Picture 3">
            <a:extLst>
              <a:ext uri="{FF2B5EF4-FFF2-40B4-BE49-F238E27FC236}">
                <a16:creationId xmlns:a16="http://schemas.microsoft.com/office/drawing/2014/main" id="{671FE5B1-F3FC-16DD-F788-56E61D7AD482}"/>
              </a:ext>
            </a:extLst>
          </p:cNvPr>
          <p:cNvPicPr>
            <a:picLocks noChangeAspect="1"/>
          </p:cNvPicPr>
          <p:nvPr/>
        </p:nvPicPr>
        <p:blipFill>
          <a:blip r:embed="rId4"/>
          <a:stretch>
            <a:fillRect/>
          </a:stretch>
        </p:blipFill>
        <p:spPr>
          <a:xfrm>
            <a:off x="6552530" y="1048917"/>
            <a:ext cx="4801270" cy="5029902"/>
          </a:xfrm>
          <a:prstGeom prst="rect">
            <a:avLst/>
          </a:prstGeom>
        </p:spPr>
      </p:pic>
      <p:pic>
        <p:nvPicPr>
          <p:cNvPr id="7" name="Picture 6">
            <a:extLst>
              <a:ext uri="{FF2B5EF4-FFF2-40B4-BE49-F238E27FC236}">
                <a16:creationId xmlns:a16="http://schemas.microsoft.com/office/drawing/2014/main" id="{E12FD3AE-D3FA-4697-5258-2CF95DAC5C68}"/>
              </a:ext>
            </a:extLst>
          </p:cNvPr>
          <p:cNvPicPr>
            <a:picLocks noChangeAspect="1"/>
          </p:cNvPicPr>
          <p:nvPr/>
        </p:nvPicPr>
        <p:blipFill>
          <a:blip r:embed="rId5"/>
          <a:stretch>
            <a:fillRect/>
          </a:stretch>
        </p:blipFill>
        <p:spPr>
          <a:xfrm>
            <a:off x="495064" y="951500"/>
            <a:ext cx="5639487" cy="4468347"/>
          </a:xfrm>
          <a:prstGeom prst="rect">
            <a:avLst/>
          </a:prstGeom>
        </p:spPr>
      </p:pic>
    </p:spTree>
    <p:extLst>
      <p:ext uri="{BB962C8B-B14F-4D97-AF65-F5344CB8AC3E}">
        <p14:creationId xmlns:p14="http://schemas.microsoft.com/office/powerpoint/2010/main" val="1997248656"/>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62FAC259-AC97-EF3A-54B0-DB981B59D7E1}"/>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758FA6BB-8FF4-76A0-0E83-53592ADA1207}"/>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Inverting ST with Ref</a:t>
            </a:r>
            <a:endParaRPr dirty="0"/>
          </a:p>
        </p:txBody>
      </p:sp>
      <p:sp>
        <p:nvSpPr>
          <p:cNvPr id="176" name="Google Shape;176;p36">
            <a:extLst>
              <a:ext uri="{FF2B5EF4-FFF2-40B4-BE49-F238E27FC236}">
                <a16:creationId xmlns:a16="http://schemas.microsoft.com/office/drawing/2014/main" id="{6F0658B8-B704-7F3C-B1B9-0BFA0BE9E9F0}"/>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74BB97A1-0571-9DCA-FC79-10C884E641C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pic>
        <p:nvPicPr>
          <p:cNvPr id="178" name="Google Shape;178;p36">
            <a:extLst>
              <a:ext uri="{FF2B5EF4-FFF2-40B4-BE49-F238E27FC236}">
                <a16:creationId xmlns:a16="http://schemas.microsoft.com/office/drawing/2014/main" id="{5A24C257-46C6-4858-0009-4FF4D45FC2D4}"/>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3C0966F2-EF1E-99EC-4A81-A22103643D8D}"/>
                  </a:ext>
                </a:extLst>
              </p:cNvPr>
              <p:cNvSpPr txBox="1">
                <a:spLocks noGrp="1"/>
              </p:cNvSpPr>
              <p:nvPr>
                <p:ph type="body" idx="1"/>
              </p:nvPr>
            </p:nvSpPr>
            <p:spPr>
              <a:xfrm>
                <a:off x="695139" y="1037327"/>
                <a:ext cx="6275931" cy="5021765"/>
              </a:xfrm>
              <a:prstGeom prst="rect">
                <a:avLst/>
              </a:prstGeom>
              <a:noFill/>
              <a:ln>
                <a:noFill/>
              </a:ln>
            </p:spPr>
            <p:txBody>
              <a:bodyPr spcFirstLastPara="1" wrap="square" lIns="91425" tIns="45700" rIns="91425" bIns="45700" anchor="t" anchorCtr="0">
                <a:normAutofit fontScale="85000" lnSpcReduction="10000"/>
              </a:bodyPr>
              <a:lstStyle/>
              <a:p>
                <a:pPr marL="114300" lvl="0" indent="0" algn="just" rtl="0">
                  <a:lnSpc>
                    <a:spcPct val="90000"/>
                  </a:lnSpc>
                  <a:spcBef>
                    <a:spcPts val="1000"/>
                  </a:spcBef>
                  <a:spcAft>
                    <a:spcPts val="0"/>
                  </a:spcAft>
                  <a:buSzPct val="75630"/>
                  <a:buNone/>
                </a:pPr>
                <a:r>
                  <a:rPr lang="en-US" sz="2400" dirty="0"/>
                  <a:t>Formula,</a:t>
                </a: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𝑅𝐸𝐹</m:t>
                          </m:r>
                        </m:sub>
                      </m:sSub>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m:t>
                          </m:r>
                        </m:sub>
                      </m:sSub>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𝑅𝐸𝐹</m:t>
                          </m:r>
                        </m:sub>
                      </m:sSub>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𝐿</m:t>
                          </m:r>
                        </m:sub>
                      </m:sSub>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num>
                        <m:den>
                          <m:r>
                            <a:rPr lang="en-US" sz="2400" b="0" i="1" smtClean="0">
                              <a:latin typeface="Cambria Math" panose="02040503050406030204" pitchFamily="18" charset="0"/>
                            </a:rPr>
                            <m:t>2</m:t>
                          </m:r>
                        </m:den>
                      </m:f>
                    </m:oMath>
                  </m:oMathPara>
                </a14:m>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𝐻𝑊</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r>
                  <a:rPr lang="en-US" sz="2400" dirty="0">
                    <a:solidFill>
                      <a:srgbClr val="0070C0"/>
                    </a:solidFill>
                  </a:rPr>
                  <a:t>IF </a:t>
                </a:r>
                <a14:m>
                  <m:oMath xmlns:m="http://schemas.openxmlformats.org/officeDocument/2006/math">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𝐻</m:t>
                        </m:r>
                      </m:sub>
                    </m:sSub>
                    <m:r>
                      <a:rPr lang="en-US" sz="2400" b="0" i="1" smtClean="0">
                        <a:solidFill>
                          <a:srgbClr val="0070C0"/>
                        </a:solidFill>
                        <a:latin typeface="Cambria Math" panose="02040503050406030204" pitchFamily="18" charset="0"/>
                      </a:rPr>
                      <m:t>=−</m:t>
                    </m:r>
                    <m:sSub>
                      <m:sSubPr>
                        <m:ctrlPr>
                          <a:rPr lang="en-US" sz="2400" b="0" i="1" smtClean="0">
                            <a:solidFill>
                              <a:srgbClr val="0070C0"/>
                            </a:solidFill>
                            <a:latin typeface="Cambria Math" panose="02040503050406030204" pitchFamily="18" charset="0"/>
                          </a:rPr>
                        </m:ctrlPr>
                      </m:sSubPr>
                      <m:e>
                        <m:r>
                          <a:rPr lang="en-US" sz="2400" b="0" i="1" smtClean="0">
                            <a:solidFill>
                              <a:srgbClr val="0070C0"/>
                            </a:solidFill>
                            <a:latin typeface="Cambria Math" panose="02040503050406030204" pitchFamily="18" charset="0"/>
                          </a:rPr>
                          <m:t>𝑉</m:t>
                        </m:r>
                      </m:e>
                      <m:sub>
                        <m:r>
                          <a:rPr lang="en-US" sz="2400" b="0" i="1" smtClean="0">
                            <a:solidFill>
                              <a:srgbClr val="0070C0"/>
                            </a:solidFill>
                            <a:latin typeface="Cambria Math" panose="02040503050406030204" pitchFamily="18" charset="0"/>
                          </a:rPr>
                          <m:t>𝐿</m:t>
                        </m:r>
                      </m:sub>
                    </m:sSub>
                  </m:oMath>
                </a14:m>
                <a:endParaRPr lang="en-US" sz="2400" dirty="0">
                  <a:solidFill>
                    <a:srgbClr val="0070C0"/>
                  </a:solidFill>
                </a:endParaRP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𝑆</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𝑅𝐸𝐹</m:t>
                          </m:r>
                        </m:sub>
                      </m:sSub>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r>
                        <a:rPr lang="en-US" b="0" i="1" smtClean="0">
                          <a:solidFill>
                            <a:srgbClr val="0070C0"/>
                          </a:solidFill>
                          <a:latin typeface="Cambria Math" panose="02040503050406030204" pitchFamily="18" charset="0"/>
                        </a:rPr>
                        <m:t> </m:t>
                      </m:r>
                      <m:r>
                        <a:rPr lang="en-US" b="0" i="1" smtClean="0">
                          <a:solidFill>
                            <a:srgbClr val="0070C0"/>
                          </a:solidFill>
                          <a:latin typeface="Cambria Math" panose="02040503050406030204" pitchFamily="18" charset="0"/>
                        </a:rPr>
                        <m:t>𝑎𝑛𝑑</m:t>
                      </m:r>
                      <m:r>
                        <a:rPr lang="en-US" b="0" i="1" smtClean="0">
                          <a:solidFill>
                            <a:srgbClr val="0070C0"/>
                          </a:solidFill>
                          <a:latin typeface="Cambria Math" panose="02040503050406030204" pitchFamily="18" charset="0"/>
                        </a:rPr>
                        <m:t>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𝐻𝑊</m:t>
                          </m:r>
                        </m:sub>
                      </m:sSub>
                      <m:r>
                        <a:rPr lang="en-US" b="0" i="1" smtClean="0">
                          <a:solidFill>
                            <a:srgbClr val="0070C0"/>
                          </a:solidFill>
                          <a:latin typeface="Cambria Math" panose="02040503050406030204" pitchFamily="18" charset="0"/>
                        </a:rPr>
                        <m:t>=2</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m:t>
                          </m:r>
                        </m:sub>
                      </m:sSub>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oMath>
                  </m:oMathPara>
                </a14:m>
                <a:endParaRPr lang="en-US" b="0" dirty="0">
                  <a:solidFill>
                    <a:srgbClr val="0070C0"/>
                  </a:solidFill>
                </a:endParaRPr>
              </a:p>
              <a:p>
                <a:pPr marL="114300" lvl="0" indent="0" algn="just" rtl="0">
                  <a:lnSpc>
                    <a:spcPct val="90000"/>
                  </a:lnSpc>
                  <a:spcBef>
                    <a:spcPts val="1000"/>
                  </a:spcBef>
                  <a:spcAft>
                    <a:spcPts val="0"/>
                  </a:spcAft>
                  <a:buSzPct val="75630"/>
                  <a:buNone/>
                </a:pPr>
                <a:endParaRPr lang="en-US" b="0" dirty="0">
                  <a:solidFill>
                    <a:srgbClr val="0070C0"/>
                  </a:solidFill>
                </a:endParaRPr>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3C0966F2-EF1E-99EC-4A81-A22103643D8D}"/>
                  </a:ext>
                </a:extLst>
              </p:cNvPr>
              <p:cNvSpPr txBox="1">
                <a:spLocks noGrp="1" noRot="1" noChangeAspect="1" noMove="1" noResize="1" noEditPoints="1" noAdjustHandles="1" noChangeArrowheads="1" noChangeShapeType="1" noTextEdit="1"/>
              </p:cNvSpPr>
              <p:nvPr>
                <p:ph type="body" idx="1"/>
              </p:nvPr>
            </p:nvSpPr>
            <p:spPr>
              <a:xfrm>
                <a:off x="695139" y="1037327"/>
                <a:ext cx="6275931" cy="5021765"/>
              </a:xfrm>
              <a:prstGeom prst="rect">
                <a:avLst/>
              </a:prstGeom>
              <a:blipFill>
                <a:blip r:embed="rId4"/>
                <a:stretch>
                  <a:fillRect/>
                </a:stretch>
              </a:blipFill>
              <a:ln>
                <a:no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263A96CC-1ACB-7C54-CDAF-4CFE6BDDD23B}"/>
              </a:ext>
            </a:extLst>
          </p:cNvPr>
          <p:cNvPicPr>
            <a:picLocks noChangeAspect="1"/>
          </p:cNvPicPr>
          <p:nvPr/>
        </p:nvPicPr>
        <p:blipFill>
          <a:blip r:embed="rId5"/>
          <a:stretch>
            <a:fillRect/>
          </a:stretch>
        </p:blipFill>
        <p:spPr>
          <a:xfrm>
            <a:off x="6991678" y="920188"/>
            <a:ext cx="4696529" cy="4920173"/>
          </a:xfrm>
          <a:prstGeom prst="rect">
            <a:avLst/>
          </a:prstGeom>
        </p:spPr>
      </p:pic>
    </p:spTree>
    <p:extLst>
      <p:ext uri="{BB962C8B-B14F-4D97-AF65-F5344CB8AC3E}">
        <p14:creationId xmlns:p14="http://schemas.microsoft.com/office/powerpoint/2010/main" val="3183250737"/>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BC2428EA-0FE8-8C62-6CE5-3BB35E0A17B9}"/>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6C5330C1-F78F-CBDF-B318-23727B0A7514}"/>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Non-inverting ST with Ref</a:t>
            </a:r>
            <a:endParaRPr dirty="0"/>
          </a:p>
        </p:txBody>
      </p:sp>
      <p:sp>
        <p:nvSpPr>
          <p:cNvPr id="176" name="Google Shape;176;p36">
            <a:extLst>
              <a:ext uri="{FF2B5EF4-FFF2-40B4-BE49-F238E27FC236}">
                <a16:creationId xmlns:a16="http://schemas.microsoft.com/office/drawing/2014/main" id="{E06B5107-90E0-6554-89D0-44EB01C7706D}"/>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468038DD-2838-DD43-D7BD-B8224D3D9EE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pic>
        <p:nvPicPr>
          <p:cNvPr id="178" name="Google Shape;178;p36">
            <a:extLst>
              <a:ext uri="{FF2B5EF4-FFF2-40B4-BE49-F238E27FC236}">
                <a16:creationId xmlns:a16="http://schemas.microsoft.com/office/drawing/2014/main" id="{D66EDAF2-0577-5455-2208-1CFDFDF49D36}"/>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a:extLst>
              <a:ext uri="{FF2B5EF4-FFF2-40B4-BE49-F238E27FC236}">
                <a16:creationId xmlns:a16="http://schemas.microsoft.com/office/drawing/2014/main" id="{27EDF861-B280-8F56-C1A5-51EF59E26EB8}"/>
              </a:ext>
            </a:extLst>
          </p:cNvPr>
          <p:cNvSpPr txBox="1">
            <a:spLocks noGrp="1"/>
          </p:cNvSpPr>
          <p:nvPr>
            <p:ph type="body" idx="1"/>
          </p:nvPr>
        </p:nvSpPr>
        <p:spPr>
          <a:xfrm>
            <a:off x="685308" y="1334585"/>
            <a:ext cx="6201630" cy="4603227"/>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dirty="0"/>
              <a:t>Type here</a:t>
            </a:r>
            <a:endParaRPr dirty="0"/>
          </a:p>
        </p:txBody>
      </p:sp>
      <p:pic>
        <p:nvPicPr>
          <p:cNvPr id="3" name="Picture 2">
            <a:extLst>
              <a:ext uri="{FF2B5EF4-FFF2-40B4-BE49-F238E27FC236}">
                <a16:creationId xmlns:a16="http://schemas.microsoft.com/office/drawing/2014/main" id="{39150DAC-0F9F-3D9D-1888-C047241580BD}"/>
              </a:ext>
            </a:extLst>
          </p:cNvPr>
          <p:cNvPicPr>
            <a:picLocks noChangeAspect="1"/>
          </p:cNvPicPr>
          <p:nvPr/>
        </p:nvPicPr>
        <p:blipFill>
          <a:blip r:embed="rId4"/>
          <a:stretch>
            <a:fillRect/>
          </a:stretch>
        </p:blipFill>
        <p:spPr>
          <a:xfrm>
            <a:off x="6139426" y="1058443"/>
            <a:ext cx="5668166" cy="5020376"/>
          </a:xfrm>
          <a:prstGeom prst="rect">
            <a:avLst/>
          </a:prstGeom>
        </p:spPr>
      </p:pic>
      <p:pic>
        <p:nvPicPr>
          <p:cNvPr id="5" name="Picture 4">
            <a:extLst>
              <a:ext uri="{FF2B5EF4-FFF2-40B4-BE49-F238E27FC236}">
                <a16:creationId xmlns:a16="http://schemas.microsoft.com/office/drawing/2014/main" id="{F83BEE94-F2E0-EDD7-9DA0-C966F942A5E8}"/>
              </a:ext>
            </a:extLst>
          </p:cNvPr>
          <p:cNvPicPr>
            <a:picLocks noChangeAspect="1"/>
          </p:cNvPicPr>
          <p:nvPr/>
        </p:nvPicPr>
        <p:blipFill>
          <a:blip r:embed="rId5"/>
          <a:stretch>
            <a:fillRect/>
          </a:stretch>
        </p:blipFill>
        <p:spPr>
          <a:xfrm>
            <a:off x="685308" y="1168405"/>
            <a:ext cx="5583056" cy="4028189"/>
          </a:xfrm>
          <a:prstGeom prst="rect">
            <a:avLst/>
          </a:prstGeom>
        </p:spPr>
      </p:pic>
    </p:spTree>
    <p:extLst>
      <p:ext uri="{BB962C8B-B14F-4D97-AF65-F5344CB8AC3E}">
        <p14:creationId xmlns:p14="http://schemas.microsoft.com/office/powerpoint/2010/main" val="658038233"/>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2826D85-817A-99F6-70DC-56731A9FC71F}"/>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F1DC22A9-CD35-67EC-DFF5-B6CC9914BD52}"/>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Non-inverting ST with ref</a:t>
            </a:r>
            <a:endParaRPr dirty="0"/>
          </a:p>
        </p:txBody>
      </p:sp>
      <p:sp>
        <p:nvSpPr>
          <p:cNvPr id="176" name="Google Shape;176;p36">
            <a:extLst>
              <a:ext uri="{FF2B5EF4-FFF2-40B4-BE49-F238E27FC236}">
                <a16:creationId xmlns:a16="http://schemas.microsoft.com/office/drawing/2014/main" id="{40114167-1A21-50F4-B5F0-030A23B4B0EC}"/>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F3E03BAC-B40A-AF00-2166-7AD26A76361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pic>
        <p:nvPicPr>
          <p:cNvPr id="178" name="Google Shape;178;p36">
            <a:extLst>
              <a:ext uri="{FF2B5EF4-FFF2-40B4-BE49-F238E27FC236}">
                <a16:creationId xmlns:a16="http://schemas.microsoft.com/office/drawing/2014/main" id="{1A9E9976-834E-80FB-A0B2-43E451344AAE}"/>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xmlns:a14="http://schemas.microsoft.com/office/drawing/2010/main">
        <mc:Choice Requires="a14">
          <p:sp>
            <p:nvSpPr>
              <p:cNvPr id="179" name="Google Shape;179;p36">
                <a:extLst>
                  <a:ext uri="{FF2B5EF4-FFF2-40B4-BE49-F238E27FC236}">
                    <a16:creationId xmlns:a16="http://schemas.microsoft.com/office/drawing/2014/main" id="{F1F51C1A-BA3E-AEF5-E94A-C420E86037A3}"/>
                  </a:ext>
                </a:extLst>
              </p:cNvPr>
              <p:cNvSpPr txBox="1">
                <a:spLocks noGrp="1"/>
              </p:cNvSpPr>
              <p:nvPr>
                <p:ph type="body" idx="1"/>
              </p:nvPr>
            </p:nvSpPr>
            <p:spPr>
              <a:xfrm>
                <a:off x="685307" y="1334585"/>
                <a:ext cx="6590563" cy="5104119"/>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𝑅𝐸𝐹</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𝐿</m:t>
                          </m:r>
                        </m:sub>
                      </m:sSub>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𝑅𝐸𝐹</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1</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2</m:t>
                              </m:r>
                            </m:sub>
                          </m:sSub>
                        </m:den>
                      </m:f>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num>
                        <m:den>
                          <m:r>
                            <a:rPr lang="en-US" sz="2400" b="0" i="1" smtClean="0">
                              <a:latin typeface="Cambria Math" panose="02040503050406030204" pitchFamily="18" charset="0"/>
                            </a:rPr>
                            <m:t>2</m:t>
                          </m:r>
                        </m:den>
                      </m:f>
                    </m:oMath>
                  </m:oMathPara>
                </a14:m>
                <a:endParaRPr lang="en-US" sz="2400" b="0" dirty="0"/>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𝐻𝑊</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𝑇𝐿</m:t>
                          </m:r>
                        </m:sub>
                      </m:sSub>
                      <m:r>
                        <a:rPr lang="en-US" sz="2400" b="0" i="1" smtClean="0">
                          <a:latin typeface="Cambria Math" panose="02040503050406030204" pitchFamily="18" charset="0"/>
                        </a:rPr>
                        <m:t> </m:t>
                      </m:r>
                    </m:oMath>
                  </m:oMathPara>
                </a14:m>
                <a:endParaRPr lang="en-US" sz="2400" b="0" dirty="0"/>
              </a:p>
              <a:p>
                <a:pPr marL="114300" lvl="0" indent="0" algn="just" rtl="0">
                  <a:lnSpc>
                    <a:spcPct val="90000"/>
                  </a:lnSpc>
                  <a:spcBef>
                    <a:spcPts val="1000"/>
                  </a:spcBef>
                  <a:spcAft>
                    <a:spcPts val="0"/>
                  </a:spcAft>
                  <a:buSzPct val="75630"/>
                  <a:buNone/>
                </a:pPr>
                <a:r>
                  <a:rPr lang="en-US" b="0" dirty="0">
                    <a:solidFill>
                      <a:srgbClr val="0070C0"/>
                    </a:solidFill>
                  </a:rPr>
                  <a:t>IF </a:t>
                </a:r>
                <a14:m>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𝐿</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𝐿</m:t>
                        </m:r>
                      </m:sub>
                    </m:sSub>
                    <m:r>
                      <a:rPr lang="en-US" b="0" i="1" smtClean="0">
                        <a:solidFill>
                          <a:srgbClr val="0070C0"/>
                        </a:solidFill>
                        <a:latin typeface="Cambria Math" panose="02040503050406030204" pitchFamily="18" charset="0"/>
                      </a:rPr>
                      <m:t> </m:t>
                    </m:r>
                  </m:oMath>
                </a14:m>
                <a:endParaRPr lang="en-US" b="0" dirty="0">
                  <a:solidFill>
                    <a:srgbClr val="0070C0"/>
                  </a:solidFill>
                </a:endParaRPr>
              </a:p>
              <a:p>
                <a:pPr marL="114300" lvl="0" indent="0" algn="just" rtl="0">
                  <a:lnSpc>
                    <a:spcPct val="90000"/>
                  </a:lnSpc>
                  <a:spcBef>
                    <a:spcPts val="1000"/>
                  </a:spcBef>
                  <a:spcAft>
                    <a:spcPts val="0"/>
                  </a:spcAft>
                  <a:buSzPct val="75630"/>
                  <a:buNone/>
                </a:pPr>
                <a14:m>
                  <m:oMathPara xmlns:m="http://schemas.openxmlformats.org/officeDocument/2006/math">
                    <m:oMathParaPr>
                      <m:jc m:val="left"/>
                    </m:oMathParaPr>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𝑆</m:t>
                          </m:r>
                        </m:sub>
                      </m:sSub>
                      <m:r>
                        <a:rPr lang="en-US" b="0" i="1" smtClean="0">
                          <a:solidFill>
                            <a:srgbClr val="0070C0"/>
                          </a:solidFill>
                          <a:latin typeface="Cambria Math" panose="02040503050406030204" pitchFamily="18" charset="0"/>
                        </a:rPr>
                        <m:t>=</m:t>
                      </m:r>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r>
                        <a:rPr lang="en-US" b="0" i="1" smtClean="0">
                          <a:solidFill>
                            <a:srgbClr val="0070C0"/>
                          </a:solidFill>
                          <a:latin typeface="Cambria Math" panose="02040503050406030204" pitchFamily="18" charset="0"/>
                        </a:rPr>
                        <m:t>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𝑅𝐸𝐹</m:t>
                          </m:r>
                        </m:sub>
                      </m:sSub>
                      <m:r>
                        <a:rPr lang="en-US" b="0" i="1" smtClean="0">
                          <a:solidFill>
                            <a:srgbClr val="0070C0"/>
                          </a:solidFill>
                          <a:latin typeface="Cambria Math" panose="02040503050406030204" pitchFamily="18" charset="0"/>
                        </a:rPr>
                        <m:t>, </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𝐻𝑊</m:t>
                          </m:r>
                        </m:sub>
                      </m:sSub>
                      <m:r>
                        <a:rPr lang="en-US" b="0" i="1" smtClean="0">
                          <a:solidFill>
                            <a:srgbClr val="0070C0"/>
                          </a:solidFill>
                          <a:latin typeface="Cambria Math" panose="02040503050406030204" pitchFamily="18" charset="0"/>
                        </a:rPr>
                        <m:t>=2</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𝑉</m:t>
                          </m:r>
                        </m:e>
                        <m:sub>
                          <m:r>
                            <a:rPr lang="en-US" b="0" i="1" smtClean="0">
                              <a:solidFill>
                                <a:srgbClr val="0070C0"/>
                              </a:solidFill>
                              <a:latin typeface="Cambria Math" panose="02040503050406030204" pitchFamily="18" charset="0"/>
                            </a:rPr>
                            <m:t>𝐻</m:t>
                          </m:r>
                        </m:sub>
                      </m:sSub>
                      <m:f>
                        <m:fPr>
                          <m:ctrlPr>
                            <a:rPr lang="en-US" b="0" i="1" smtClean="0">
                              <a:solidFill>
                                <a:srgbClr val="0070C0"/>
                              </a:solidFill>
                              <a:latin typeface="Cambria Math" panose="02040503050406030204" pitchFamily="18" charset="0"/>
                            </a:rPr>
                          </m:ctrlPr>
                        </m:fPr>
                        <m:num>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1</m:t>
                              </m:r>
                            </m:sub>
                          </m:sSub>
                        </m:num>
                        <m:den>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𝑅</m:t>
                              </m:r>
                            </m:e>
                            <m:sub>
                              <m:r>
                                <a:rPr lang="en-US" b="0" i="1" smtClean="0">
                                  <a:solidFill>
                                    <a:srgbClr val="0070C0"/>
                                  </a:solidFill>
                                  <a:latin typeface="Cambria Math" panose="02040503050406030204" pitchFamily="18" charset="0"/>
                                </a:rPr>
                                <m:t>2</m:t>
                              </m:r>
                            </m:sub>
                          </m:sSub>
                        </m:den>
                      </m:f>
                    </m:oMath>
                  </m:oMathPara>
                </a14:m>
                <a:endParaRPr lang="en-US" b="0" dirty="0"/>
              </a:p>
              <a:p>
                <a:pPr marL="114300" lvl="0" indent="0" algn="just" rtl="0">
                  <a:lnSpc>
                    <a:spcPct val="90000"/>
                  </a:lnSpc>
                  <a:spcBef>
                    <a:spcPts val="1000"/>
                  </a:spcBef>
                  <a:spcAft>
                    <a:spcPts val="0"/>
                  </a:spcAft>
                  <a:buSzPct val="75630"/>
                  <a:buNone/>
                </a:pPr>
                <a:endParaRPr lang="en-US" b="0" dirty="0"/>
              </a:p>
              <a:p>
                <a:pPr marL="114300" lvl="0" indent="0" algn="just" rtl="0">
                  <a:lnSpc>
                    <a:spcPct val="90000"/>
                  </a:lnSpc>
                  <a:spcBef>
                    <a:spcPts val="1000"/>
                  </a:spcBef>
                  <a:spcAft>
                    <a:spcPts val="0"/>
                  </a:spcAft>
                  <a:buSzPct val="75630"/>
                  <a:buNone/>
                </a:pPr>
                <a:endParaRPr dirty="0"/>
              </a:p>
            </p:txBody>
          </p:sp>
        </mc:Choice>
        <mc:Fallback xmlns="">
          <p:sp>
            <p:nvSpPr>
              <p:cNvPr id="179" name="Google Shape;179;p36">
                <a:extLst>
                  <a:ext uri="{FF2B5EF4-FFF2-40B4-BE49-F238E27FC236}">
                    <a16:creationId xmlns:a16="http://schemas.microsoft.com/office/drawing/2014/main" id="{F1F51C1A-BA3E-AEF5-E94A-C420E86037A3}"/>
                  </a:ext>
                </a:extLst>
              </p:cNvPr>
              <p:cNvSpPr txBox="1">
                <a:spLocks noGrp="1" noRot="1" noChangeAspect="1" noMove="1" noResize="1" noEditPoints="1" noAdjustHandles="1" noChangeArrowheads="1" noChangeShapeType="1" noTextEdit="1"/>
              </p:cNvSpPr>
              <p:nvPr>
                <p:ph type="body" idx="1"/>
              </p:nvPr>
            </p:nvSpPr>
            <p:spPr>
              <a:xfrm>
                <a:off x="685307" y="1334585"/>
                <a:ext cx="6590563" cy="5104119"/>
              </a:xfrm>
              <a:prstGeom prst="rect">
                <a:avLst/>
              </a:prstGeom>
              <a:blipFill>
                <a:blip r:embed="rId4"/>
                <a:stretch>
                  <a:fillRect l="-92"/>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77B0D588-7ACE-6182-05F4-E6AA4093FBE0}"/>
              </a:ext>
            </a:extLst>
          </p:cNvPr>
          <p:cNvPicPr>
            <a:picLocks noChangeAspect="1"/>
          </p:cNvPicPr>
          <p:nvPr/>
        </p:nvPicPr>
        <p:blipFill>
          <a:blip r:embed="rId5"/>
          <a:stretch>
            <a:fillRect/>
          </a:stretch>
        </p:blipFill>
        <p:spPr>
          <a:xfrm>
            <a:off x="6134551" y="1194968"/>
            <a:ext cx="5668166" cy="5020376"/>
          </a:xfrm>
          <a:prstGeom prst="rect">
            <a:avLst/>
          </a:prstGeom>
        </p:spPr>
      </p:pic>
    </p:spTree>
    <p:extLst>
      <p:ext uri="{BB962C8B-B14F-4D97-AF65-F5344CB8AC3E}">
        <p14:creationId xmlns:p14="http://schemas.microsoft.com/office/powerpoint/2010/main" val="2311259284"/>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10052ADA-7649-0BAA-A726-CFC4B3E5511C}"/>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103E5250-632F-C84F-F888-0D9B51CB3B85}"/>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Exercise:</a:t>
            </a:r>
            <a:endParaRPr dirty="0"/>
          </a:p>
        </p:txBody>
      </p:sp>
      <p:sp>
        <p:nvSpPr>
          <p:cNvPr id="176" name="Google Shape;176;p36">
            <a:extLst>
              <a:ext uri="{FF2B5EF4-FFF2-40B4-BE49-F238E27FC236}">
                <a16:creationId xmlns:a16="http://schemas.microsoft.com/office/drawing/2014/main" id="{E8A90BB8-B40F-CB4F-EAE2-78B7099FED5B}"/>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740B5663-3C42-E414-BFE5-A69529824F4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pic>
        <p:nvPicPr>
          <p:cNvPr id="178" name="Google Shape;178;p36">
            <a:extLst>
              <a:ext uri="{FF2B5EF4-FFF2-40B4-BE49-F238E27FC236}">
                <a16:creationId xmlns:a16="http://schemas.microsoft.com/office/drawing/2014/main" id="{BD209711-03F2-A200-124D-36C23E1095B5}"/>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mc:AlternateContent xmlns:mc="http://schemas.openxmlformats.org/markup-compatibility/2006">
        <mc:Choice xmlns:a14="http://schemas.microsoft.com/office/drawing/2010/main" Requires="a14">
          <p:sp>
            <p:nvSpPr>
              <p:cNvPr id="179" name="Google Shape;179;p36">
                <a:extLst>
                  <a:ext uri="{FF2B5EF4-FFF2-40B4-BE49-F238E27FC236}">
                    <a16:creationId xmlns:a16="http://schemas.microsoft.com/office/drawing/2014/main" id="{F60FFBCC-CFF4-C997-D592-4128102AA8F4}"/>
                  </a:ext>
                </a:extLst>
              </p:cNvPr>
              <p:cNvSpPr txBox="1">
                <a:spLocks noGrp="1"/>
              </p:cNvSpPr>
              <p:nvPr>
                <p:ph type="body" idx="1"/>
              </p:nvPr>
            </p:nvSpPr>
            <p:spPr>
              <a:xfrm>
                <a:off x="685308" y="1334585"/>
                <a:ext cx="5548344" cy="4603227"/>
              </a:xfrm>
              <a:prstGeom prst="rect">
                <a:avLst/>
              </a:prstGeom>
              <a:noFill/>
              <a:ln>
                <a:noFill/>
              </a:ln>
            </p:spPr>
            <p:txBody>
              <a:bodyPr spcFirstLastPara="1" wrap="square" lIns="91425" tIns="45700" rIns="91425" bIns="45700" anchor="t" anchorCtr="0">
                <a:normAutofit/>
              </a:bodyPr>
              <a:lstStyle/>
              <a:p>
                <a:pPr marL="628650" lvl="0" indent="-514350" algn="just" rtl="0">
                  <a:lnSpc>
                    <a:spcPct val="90000"/>
                  </a:lnSpc>
                  <a:spcBef>
                    <a:spcPts val="1000"/>
                  </a:spcBef>
                  <a:spcAft>
                    <a:spcPts val="0"/>
                  </a:spcAft>
                  <a:buSzPct val="75630"/>
                  <a:buAutoNum type="alphaLcPeriod"/>
                </a:pPr>
                <a:r>
                  <a:rPr lang="en-US" b="0" dirty="0"/>
                  <a:t>Design a </a:t>
                </a:r>
                <a:r>
                  <a:rPr lang="en-US" dirty="0"/>
                  <a:t>S</a:t>
                </a:r>
                <a:r>
                  <a:rPr lang="en-US" b="0" dirty="0"/>
                  <a:t>chmitt trigger that will produce the same VTC.</a:t>
                </a:r>
              </a:p>
              <a:p>
                <a:pPr marL="628650" lvl="0" indent="-514350" algn="just" rtl="0">
                  <a:lnSpc>
                    <a:spcPct val="90000"/>
                  </a:lnSpc>
                  <a:spcBef>
                    <a:spcPts val="1000"/>
                  </a:spcBef>
                  <a:spcAft>
                    <a:spcPts val="0"/>
                  </a:spcAft>
                  <a:buSzPct val="75630"/>
                  <a:buAutoNum type="alphaLcPeriod"/>
                </a:pPr>
                <a:r>
                  <a:rPr lang="en-US" dirty="0"/>
                  <a:t>IF the input signal of the Schmitt trigger is </a:t>
                </a:r>
                <a14:m>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=12</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𝑓𝑡</m:t>
                        </m:r>
                      </m:e>
                    </m:func>
                  </m:oMath>
                </a14:m>
                <a:r>
                  <a:rPr lang="en-US" b="0" dirty="0"/>
                  <a:t>, find the output of the Schmitt trigger circuit.</a:t>
                </a:r>
              </a:p>
              <a:p>
                <a:pPr marL="114300" lvl="0" indent="0" algn="just" rtl="0">
                  <a:lnSpc>
                    <a:spcPct val="90000"/>
                  </a:lnSpc>
                  <a:spcBef>
                    <a:spcPts val="1000"/>
                  </a:spcBef>
                  <a:spcAft>
                    <a:spcPts val="0"/>
                  </a:spcAft>
                  <a:buSzPct val="75630"/>
                  <a:buNone/>
                </a:pPr>
                <a:endParaRPr dirty="0"/>
              </a:p>
            </p:txBody>
          </p:sp>
        </mc:Choice>
        <mc:Fallback>
          <p:sp>
            <p:nvSpPr>
              <p:cNvPr id="179" name="Google Shape;179;p36">
                <a:extLst>
                  <a:ext uri="{FF2B5EF4-FFF2-40B4-BE49-F238E27FC236}">
                    <a16:creationId xmlns:a16="http://schemas.microsoft.com/office/drawing/2014/main" id="{F60FFBCC-CFF4-C997-D592-4128102AA8F4}"/>
                  </a:ext>
                </a:extLst>
              </p:cNvPr>
              <p:cNvSpPr txBox="1">
                <a:spLocks noGrp="1" noRot="1" noChangeAspect="1" noMove="1" noResize="1" noEditPoints="1" noAdjustHandles="1" noChangeArrowheads="1" noChangeShapeType="1" noTextEdit="1"/>
              </p:cNvSpPr>
              <p:nvPr>
                <p:ph type="body" idx="1"/>
              </p:nvPr>
            </p:nvSpPr>
            <p:spPr>
              <a:xfrm>
                <a:off x="685308" y="1334585"/>
                <a:ext cx="5548344" cy="4603227"/>
              </a:xfrm>
              <a:prstGeom prst="rect">
                <a:avLst/>
              </a:prstGeom>
              <a:blipFill>
                <a:blip r:embed="rId4"/>
                <a:stretch>
                  <a:fillRect r="-2195"/>
                </a:stretch>
              </a:blipFill>
              <a:ln>
                <a:no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10C6FCED-5A79-FF9D-FB12-A7ACE49DA834}"/>
              </a:ext>
            </a:extLst>
          </p:cNvPr>
          <p:cNvPicPr>
            <a:picLocks noChangeAspect="1"/>
          </p:cNvPicPr>
          <p:nvPr/>
        </p:nvPicPr>
        <p:blipFill>
          <a:blip r:embed="rId5"/>
          <a:stretch>
            <a:fillRect/>
          </a:stretch>
        </p:blipFill>
        <p:spPr>
          <a:xfrm>
            <a:off x="6410770" y="621028"/>
            <a:ext cx="5748308" cy="3665837"/>
          </a:xfrm>
          <a:prstGeom prst="rect">
            <a:avLst/>
          </a:prstGeom>
        </p:spPr>
      </p:pic>
    </p:spTree>
    <p:extLst>
      <p:ext uri="{BB962C8B-B14F-4D97-AF65-F5344CB8AC3E}">
        <p14:creationId xmlns:p14="http://schemas.microsoft.com/office/powerpoint/2010/main" val="2278723285"/>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9CEFFF4F-48B3-66D1-0C88-E64031EBFDD1}"/>
            </a:ext>
          </a:extLst>
        </p:cNvPr>
        <p:cNvGrpSpPr/>
        <p:nvPr/>
      </p:nvGrpSpPr>
      <p:grpSpPr>
        <a:xfrm>
          <a:off x="0" y="0"/>
          <a:ext cx="0" cy="0"/>
          <a:chOff x="0" y="0"/>
          <a:chExt cx="0" cy="0"/>
        </a:xfrm>
      </p:grpSpPr>
      <p:sp>
        <p:nvSpPr>
          <p:cNvPr id="175" name="Google Shape;175;p36">
            <a:extLst>
              <a:ext uri="{FF2B5EF4-FFF2-40B4-BE49-F238E27FC236}">
                <a16:creationId xmlns:a16="http://schemas.microsoft.com/office/drawing/2014/main" id="{F85E7B2D-E2C4-ABC2-20A2-3BF9BCA3B1AF}"/>
              </a:ext>
            </a:extLst>
          </p:cNvPr>
          <p:cNvSpPr txBox="1">
            <a:spLocks noGrp="1"/>
          </p:cNvSpPr>
          <p:nvPr>
            <p:ph type="title"/>
          </p:nvPr>
        </p:nvSpPr>
        <p:spPr>
          <a:xfrm>
            <a:off x="559455" y="272649"/>
            <a:ext cx="10515600" cy="6967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Times New Roman"/>
              <a:buNone/>
            </a:pPr>
            <a:r>
              <a:rPr lang="en-US" dirty="0">
                <a:solidFill>
                  <a:schemeClr val="accent1"/>
                </a:solidFill>
              </a:rPr>
              <a:t>Exercise:</a:t>
            </a:r>
            <a:endParaRPr dirty="0"/>
          </a:p>
        </p:txBody>
      </p:sp>
      <p:sp>
        <p:nvSpPr>
          <p:cNvPr id="176" name="Google Shape;176;p36">
            <a:extLst>
              <a:ext uri="{FF2B5EF4-FFF2-40B4-BE49-F238E27FC236}">
                <a16:creationId xmlns:a16="http://schemas.microsoft.com/office/drawing/2014/main" id="{5D99A870-EB4B-39F5-11E3-94CE5E38B856}"/>
              </a:ext>
            </a:extLst>
          </p:cNvPr>
          <p:cNvSpPr txBox="1">
            <a:spLocks noGrp="1"/>
          </p:cNvSpPr>
          <p:nvPr>
            <p:ph type="ftr" idx="11"/>
          </p:nvPr>
        </p:nvSpPr>
        <p:spPr>
          <a:xfrm>
            <a:off x="4077151" y="6492875"/>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CSE 350</a:t>
            </a:r>
            <a:endParaRPr/>
          </a:p>
        </p:txBody>
      </p:sp>
      <p:sp>
        <p:nvSpPr>
          <p:cNvPr id="177" name="Google Shape;177;p36">
            <a:extLst>
              <a:ext uri="{FF2B5EF4-FFF2-40B4-BE49-F238E27FC236}">
                <a16:creationId xmlns:a16="http://schemas.microsoft.com/office/drawing/2014/main" id="{99102AF8-24E4-B860-3DF2-29C21D4F7AE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pic>
        <p:nvPicPr>
          <p:cNvPr id="178" name="Google Shape;178;p36">
            <a:extLst>
              <a:ext uri="{FF2B5EF4-FFF2-40B4-BE49-F238E27FC236}">
                <a16:creationId xmlns:a16="http://schemas.microsoft.com/office/drawing/2014/main" id="{D1EB5AE5-1B9B-A510-DC94-E4697B391C10}"/>
              </a:ext>
            </a:extLst>
          </p:cNvPr>
          <p:cNvPicPr preferRelativeResize="0"/>
          <p:nvPr/>
        </p:nvPicPr>
        <p:blipFill rotWithShape="1">
          <a:blip r:embed="rId3">
            <a:alphaModFix/>
          </a:blip>
          <a:srcRect/>
          <a:stretch/>
        </p:blipFill>
        <p:spPr>
          <a:xfrm>
            <a:off x="61586" y="5403622"/>
            <a:ext cx="1035082" cy="1035082"/>
          </a:xfrm>
          <a:prstGeom prst="rect">
            <a:avLst/>
          </a:prstGeom>
          <a:noFill/>
          <a:ln>
            <a:noFill/>
          </a:ln>
        </p:spPr>
      </p:pic>
      <p:sp>
        <p:nvSpPr>
          <p:cNvPr id="179" name="Google Shape;179;p36">
            <a:extLst>
              <a:ext uri="{FF2B5EF4-FFF2-40B4-BE49-F238E27FC236}">
                <a16:creationId xmlns:a16="http://schemas.microsoft.com/office/drawing/2014/main" id="{2A7C828C-D21C-4732-4D83-DBA91F216940}"/>
              </a:ext>
            </a:extLst>
          </p:cNvPr>
          <p:cNvSpPr txBox="1">
            <a:spLocks noGrp="1"/>
          </p:cNvSpPr>
          <p:nvPr>
            <p:ph type="body" idx="1"/>
          </p:nvPr>
        </p:nvSpPr>
        <p:spPr>
          <a:xfrm>
            <a:off x="685307" y="1334586"/>
            <a:ext cx="10307157" cy="3257080"/>
          </a:xfrm>
          <a:prstGeom prst="rect">
            <a:avLst/>
          </a:prstGeom>
          <a:noFill/>
          <a:ln>
            <a:noFill/>
          </a:ln>
        </p:spPr>
        <p:txBody>
          <a:bodyPr spcFirstLastPara="1" wrap="square" lIns="91425" tIns="45700" rIns="91425" bIns="45700" anchor="t" anchorCtr="0">
            <a:normAutofit/>
          </a:bodyPr>
          <a:lstStyle/>
          <a:p>
            <a:pPr marL="114300" lvl="0" indent="0" algn="just" rtl="0">
              <a:lnSpc>
                <a:spcPct val="90000"/>
              </a:lnSpc>
              <a:spcBef>
                <a:spcPts val="1000"/>
              </a:spcBef>
              <a:spcAft>
                <a:spcPts val="0"/>
              </a:spcAft>
              <a:buSzPct val="75630"/>
              <a:buNone/>
            </a:pPr>
            <a:r>
              <a:rPr lang="en-US" b="0" dirty="0"/>
              <a:t>Suppose you want to design a street light controller. You have a sensor that gives output as voltage as proportional to the light intensity. You need  to switch off the light when the output of the sensor is above 5V. You need to switch on the light when the sensor  output is below the 5V. There is a noise source of 1V peak-peak. Your instructor has told you to use a Schmitt trigger circuit to improve</a:t>
            </a:r>
          </a:p>
          <a:p>
            <a:pPr marL="114300" lvl="0" indent="0" algn="just" rtl="0">
              <a:lnSpc>
                <a:spcPct val="90000"/>
              </a:lnSpc>
              <a:spcBef>
                <a:spcPts val="1000"/>
              </a:spcBef>
              <a:spcAft>
                <a:spcPts val="0"/>
              </a:spcAft>
              <a:buSzPct val="75630"/>
              <a:buNone/>
            </a:pPr>
            <a:r>
              <a:rPr lang="en-US" b="0" dirty="0"/>
              <a:t>performance. ( You can assume the VH and VL value)</a:t>
            </a:r>
          </a:p>
          <a:p>
            <a:pPr marL="114300" lvl="0" indent="0" algn="just" rtl="0">
              <a:lnSpc>
                <a:spcPct val="90000"/>
              </a:lnSpc>
              <a:spcBef>
                <a:spcPts val="1000"/>
              </a:spcBef>
              <a:spcAft>
                <a:spcPts val="0"/>
              </a:spcAft>
              <a:buSzPct val="75630"/>
              <a:buNone/>
            </a:pPr>
            <a:endParaRPr dirty="0"/>
          </a:p>
        </p:txBody>
      </p:sp>
    </p:spTree>
    <p:extLst>
      <p:ext uri="{BB962C8B-B14F-4D97-AF65-F5344CB8AC3E}">
        <p14:creationId xmlns:p14="http://schemas.microsoft.com/office/powerpoint/2010/main" val="2633191695"/>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669</Words>
  <Application>Microsoft Office PowerPoint</Application>
  <PresentationFormat>Widescreen</PresentationFormat>
  <Paragraphs>150</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 Math</vt:lpstr>
      <vt:lpstr>Times New Roman</vt:lpstr>
      <vt:lpstr>Office Theme</vt:lpstr>
      <vt:lpstr>CSE 350 Digital Electronics and Pulse Techniques </vt:lpstr>
      <vt:lpstr>Op-Amp</vt:lpstr>
      <vt:lpstr>Op-Amp Comparator</vt:lpstr>
      <vt:lpstr>Non-Inverting  Comparator</vt:lpstr>
      <vt:lpstr>Inverting  Comparator</vt:lpstr>
      <vt:lpstr>Non-Inverting Comparator with Divider </vt:lpstr>
      <vt:lpstr>Inverting Comparator with Divider </vt:lpstr>
      <vt:lpstr>Exercise</vt:lpstr>
      <vt:lpstr>Exercise</vt:lpstr>
      <vt:lpstr>Exercise</vt:lpstr>
      <vt:lpstr>Schmitt Trigger circuit</vt:lpstr>
      <vt:lpstr>Inverting ST</vt:lpstr>
      <vt:lpstr>Inverting ST</vt:lpstr>
      <vt:lpstr>Inverting ST</vt:lpstr>
      <vt:lpstr>Inverting ST</vt:lpstr>
      <vt:lpstr>Non-inverting ST</vt:lpstr>
      <vt:lpstr>Non-inverting ST</vt:lpstr>
      <vt:lpstr>Inverting ST with Ref</vt:lpstr>
      <vt:lpstr>Inverting ST with Ref</vt:lpstr>
      <vt:lpstr>Non-inverting ST with Ref</vt:lpstr>
      <vt:lpstr>Non-inverting ST with ref</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nazmul turjo</dc:creator>
  <cp:lastModifiedBy>USER</cp:lastModifiedBy>
  <cp:revision>4</cp:revision>
  <dcterms:created xsi:type="dcterms:W3CDTF">2021-07-10T07:14:46Z</dcterms:created>
  <dcterms:modified xsi:type="dcterms:W3CDTF">2025-01-06T19:42:05Z</dcterms:modified>
</cp:coreProperties>
</file>