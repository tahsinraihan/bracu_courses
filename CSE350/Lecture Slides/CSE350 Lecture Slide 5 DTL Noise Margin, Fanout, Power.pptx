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JQ1XOGEfUgfgRz/I3pHlDpQ96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 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Mail: </a:t>
            </a:r>
            <a:r>
              <a:rPr lang="en-US" sz="20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shomen.kundu@bracu.ac.bd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Desk: 4N166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843548" y="2457480"/>
            <a:ext cx="885886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DTL-Noise  Margin, Fanout, Power Dissipation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Course Instructor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Shomen Kundu (SDU)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>
            <a:spLocks noGrp="1"/>
          </p:cNvSpPr>
          <p:nvPr>
            <p:ph type="title"/>
          </p:nvPr>
        </p:nvSpPr>
        <p:spPr>
          <a:xfrm>
            <a:off x="823823" y="262362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DTL</a:t>
            </a:r>
            <a:endParaRPr dirty="0"/>
          </a:p>
        </p:txBody>
      </p:sp>
      <p:sp>
        <p:nvSpPr>
          <p:cNvPr id="100" name="Google Shape;100;p7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>
            <a:spLocks noGrp="1"/>
          </p:cNvSpPr>
          <p:nvPr>
            <p:ph type="body" idx="1"/>
          </p:nvPr>
        </p:nvSpPr>
        <p:spPr>
          <a:xfrm>
            <a:off x="685307" y="1334586"/>
            <a:ext cx="11654177" cy="51041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51" r="-5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 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Noise Margin of DTL</a:t>
            </a:r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>
            <a:spLocks noGrp="1"/>
          </p:cNvSpPr>
          <p:nvPr>
            <p:ph type="body" idx="1"/>
          </p:nvPr>
        </p:nvSpPr>
        <p:spPr>
          <a:xfrm>
            <a:off x="685308" y="1334585"/>
            <a:ext cx="6148629" cy="487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NM calculation of DTL is not similar to the RTL circuit.</a:t>
            </a:r>
            <a:endParaRPr sz="2400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3179" y="1620365"/>
            <a:ext cx="4946719" cy="4587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Noise Margin of DTL</a:t>
            </a:r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685308" y="1334585"/>
            <a:ext cx="6148629" cy="487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Example:</a:t>
            </a:r>
            <a:r>
              <a:rPr lang="en-US" sz="2400" dirty="0"/>
              <a:t> IF all the inputs are high, what is the magnitude of noise voltage which will cause the gate to malfunction ?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# correct operating condition when all inputs are high.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Case (4). D1 , D2 off.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D3 and D4 ON 🡪 Sat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# The circuit will malfunction if it starts operating in case (1) conditions.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 D1, D2 on, D3 , D4, T off.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# If D1 and D2 starts conducting, they will have precedence over D3, D4 and T because of lower resistance at that direction.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3179" y="1620365"/>
            <a:ext cx="4946719" cy="4587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Noise Margin of DTL</a:t>
            </a:r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685308" y="1334585"/>
            <a:ext cx="6148629" cy="48737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" r="-29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97864" y="401051"/>
            <a:ext cx="5020578" cy="4214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67355" y="4753743"/>
            <a:ext cx="4229690" cy="1648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Noise Margin of DTL</a:t>
            </a:r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42" name="Google Shape;14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>
            <a:spLocks noGrp="1"/>
          </p:cNvSpPr>
          <p:nvPr>
            <p:ph type="body" idx="1"/>
          </p:nvPr>
        </p:nvSpPr>
        <p:spPr>
          <a:xfrm>
            <a:off x="685308" y="1334585"/>
            <a:ext cx="6148629" cy="487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1081"/>
              <a:buNone/>
            </a:pPr>
            <a:r>
              <a:rPr lang="en-US" sz="2400"/>
              <a:t>Q. If one of the inputs is low and others are high, then what magnitude of noise voltage at low input terminal will cause the transistor to malfunction ?</a:t>
            </a: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/>
              <a:t># valid operation: case (2) D1 on, D2, D3, D4 , T off. </a:t>
            </a: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/>
              <a:t># The circuit will malfunction if D3, D4 and T start conducting or turned on.</a:t>
            </a: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/>
              <a:t># As long as D1 is on any increment in noise voltage at node A will also increase the voltage at Vp. Because, the difference between anode and cathode terminal should be 0.7 V for conducting diode D1. </a:t>
            </a: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/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33937" y="1244155"/>
            <a:ext cx="4519862" cy="4159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52" name="Google Shape;15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>
            <a:spLocks noGrp="1"/>
          </p:cNvSpPr>
          <p:nvPr>
            <p:ph type="body" idx="1"/>
          </p:nvPr>
        </p:nvSpPr>
        <p:spPr>
          <a:xfrm>
            <a:off x="685308" y="1334585"/>
            <a:ext cx="5522987" cy="43443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08" r="-330" b="-27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68504" y="1531455"/>
            <a:ext cx="4938188" cy="3795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>
            <a:spLocks noGrp="1"/>
          </p:cNvSpPr>
          <p:nvPr>
            <p:ph type="body" idx="1"/>
          </p:nvPr>
        </p:nvSpPr>
        <p:spPr>
          <a:xfrm>
            <a:off x="685308" y="1334585"/>
            <a:ext cx="5522987" cy="434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Different from RTL</a:t>
            </a: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" name="Google Shape;173;p21">
            <a:extLst>
              <a:ext uri="{FF2B5EF4-FFF2-40B4-BE49-F238E27FC236}">
                <a16:creationId xmlns:a16="http://schemas.microsoft.com/office/drawing/2014/main" id="{7C7F59D8-F194-DAF4-9AC6-5257353279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6464" y="1464080"/>
            <a:ext cx="6030006" cy="4085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71" name="Google Shape;17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>
            <a:spLocks noGrp="1"/>
          </p:cNvSpPr>
          <p:nvPr>
            <p:ph type="body" idx="1"/>
          </p:nvPr>
        </p:nvSpPr>
        <p:spPr>
          <a:xfrm>
            <a:off x="685308" y="1334585"/>
            <a:ext cx="5522987" cy="43443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09" r="-209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73" name="Google Shape;173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1547036"/>
            <a:ext cx="6030006" cy="4085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179" name="Google Shape;179;p36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80" name="Google Shape;180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81" name="Google Shape;18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6"/>
          <p:cNvSpPr txBox="1">
            <a:spLocks noGrp="1"/>
          </p:cNvSpPr>
          <p:nvPr>
            <p:ph type="body" idx="1"/>
          </p:nvPr>
        </p:nvSpPr>
        <p:spPr>
          <a:xfrm>
            <a:off x="685308" y="1563184"/>
            <a:ext cx="5843700" cy="4472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r="-41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" name="Google Shape;173;p21">
            <a:extLst>
              <a:ext uri="{FF2B5EF4-FFF2-40B4-BE49-F238E27FC236}">
                <a16:creationId xmlns:a16="http://schemas.microsoft.com/office/drawing/2014/main" id="{774E4FFB-8FF1-0F6E-5DD1-6C7C712F818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29008" y="1318294"/>
            <a:ext cx="5525340" cy="3892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188" name="Google Shape;188;p37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89" name="Google Shape;189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90" name="Google Shape;19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7"/>
          <p:cNvSpPr txBox="1">
            <a:spLocks noGrp="1"/>
          </p:cNvSpPr>
          <p:nvPr>
            <p:ph type="body" idx="1"/>
          </p:nvPr>
        </p:nvSpPr>
        <p:spPr>
          <a:xfrm>
            <a:off x="685308" y="1334584"/>
            <a:ext cx="10916757" cy="450577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5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197" name="Google Shape;197;p38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99" name="Google Shape;19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4232" y="1305035"/>
            <a:ext cx="7120637" cy="4842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206" name="Google Shape;206;p39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07" name="Google Shape;207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08" name="Google Shape;20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9"/>
          <p:cNvSpPr txBox="1">
            <a:spLocks noGrp="1"/>
          </p:cNvSpPr>
          <p:nvPr>
            <p:ph type="body" idx="1"/>
          </p:nvPr>
        </p:nvSpPr>
        <p:spPr>
          <a:xfrm>
            <a:off x="685308" y="1334584"/>
            <a:ext cx="10409412" cy="427963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 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215" name="Google Shape;215;p40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16" name="Google Shape;216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17" name="Google Shape;217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0"/>
          <p:cNvSpPr txBox="1">
            <a:spLocks noGrp="1"/>
          </p:cNvSpPr>
          <p:nvPr>
            <p:ph type="body" idx="1"/>
          </p:nvPr>
        </p:nvSpPr>
        <p:spPr>
          <a:xfrm>
            <a:off x="745039" y="1364085"/>
            <a:ext cx="10183761" cy="472427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Power Dissipation</a:t>
            </a:r>
            <a:endParaRPr/>
          </a:p>
        </p:txBody>
      </p:sp>
      <p:sp>
        <p:nvSpPr>
          <p:cNvPr id="224" name="Google Shape;224;p41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25" name="Google Shape;225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26" name="Google Shape;22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1"/>
          <p:cNvSpPr txBox="1">
            <a:spLocks noGrp="1"/>
          </p:cNvSpPr>
          <p:nvPr>
            <p:ph type="body" idx="1"/>
          </p:nvPr>
        </p:nvSpPr>
        <p:spPr>
          <a:xfrm>
            <a:off x="685308" y="1334586"/>
            <a:ext cx="5853144" cy="43779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0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28" name="Google Shape;228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2417" y="1534990"/>
            <a:ext cx="5236381" cy="3788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Power Dissipation</a:t>
            </a:r>
            <a:endParaRPr/>
          </a:p>
        </p:txBody>
      </p:sp>
      <p:sp>
        <p:nvSpPr>
          <p:cNvPr id="234" name="Google Shape;234;p42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35" name="Google Shape;235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36" name="Google Shape;23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2"/>
          <p:cNvSpPr txBox="1">
            <a:spLocks noGrp="1"/>
          </p:cNvSpPr>
          <p:nvPr>
            <p:ph type="body" idx="1"/>
          </p:nvPr>
        </p:nvSpPr>
        <p:spPr>
          <a:xfrm>
            <a:off x="685308" y="1334586"/>
            <a:ext cx="6191588" cy="422064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38" name="Google Shape;238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76896" y="1277158"/>
            <a:ext cx="4629796" cy="4391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Power Dissipation</a:t>
            </a:r>
            <a:endParaRPr/>
          </a:p>
        </p:txBody>
      </p:sp>
      <p:sp>
        <p:nvSpPr>
          <p:cNvPr id="244" name="Google Shape;244;p43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45" name="Google Shape;245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46" name="Google Shape;24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3"/>
          <p:cNvSpPr txBox="1">
            <a:spLocks noGrp="1"/>
          </p:cNvSpPr>
          <p:nvPr>
            <p:ph type="body" idx="1"/>
          </p:nvPr>
        </p:nvSpPr>
        <p:spPr>
          <a:xfrm>
            <a:off x="813128" y="1212206"/>
            <a:ext cx="5853144" cy="43779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0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 </a:t>
            </a:r>
            <a:endParaRPr dirty="0"/>
          </a:p>
        </p:txBody>
      </p:sp>
      <p:pic>
        <p:nvPicPr>
          <p:cNvPr id="248" name="Google Shape;248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25658" y="1440534"/>
            <a:ext cx="5021178" cy="392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>
            <a:spLocks noGrp="1"/>
          </p:cNvSpPr>
          <p:nvPr>
            <p:ph type="title"/>
          </p:nvPr>
        </p:nvSpPr>
        <p:spPr>
          <a:xfrm>
            <a:off x="715788" y="309494"/>
            <a:ext cx="10760423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Power Dissipation</a:t>
            </a:r>
            <a:endParaRPr/>
          </a:p>
        </p:txBody>
      </p:sp>
      <p:sp>
        <p:nvSpPr>
          <p:cNvPr id="254" name="Google Shape;254;p44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55" name="Google Shape;255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56" name="Google Shape;25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4"/>
          <p:cNvSpPr txBox="1">
            <a:spLocks noGrp="1"/>
          </p:cNvSpPr>
          <p:nvPr>
            <p:ph type="body" idx="1"/>
          </p:nvPr>
        </p:nvSpPr>
        <p:spPr>
          <a:xfrm>
            <a:off x="866919" y="1472238"/>
            <a:ext cx="5760023" cy="408298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8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 </a:t>
            </a:r>
            <a:endParaRPr dirty="0"/>
          </a:p>
        </p:txBody>
      </p:sp>
      <p:pic>
        <p:nvPicPr>
          <p:cNvPr id="258" name="Google Shape;258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22566" y="1786586"/>
            <a:ext cx="4334480" cy="3267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5"/>
          <p:cNvSpPr txBox="1">
            <a:spLocks noGrp="1"/>
          </p:cNvSpPr>
          <p:nvPr>
            <p:ph type="title"/>
          </p:nvPr>
        </p:nvSpPr>
        <p:spPr>
          <a:xfrm>
            <a:off x="715788" y="309494"/>
            <a:ext cx="10760423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Power Dissipation</a:t>
            </a:r>
            <a:endParaRPr/>
          </a:p>
        </p:txBody>
      </p:sp>
      <p:sp>
        <p:nvSpPr>
          <p:cNvPr id="264" name="Google Shape;264;p45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65" name="Google Shape;265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66" name="Google Shape;266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5"/>
          <p:cNvSpPr txBox="1">
            <a:spLocks noGrp="1"/>
          </p:cNvSpPr>
          <p:nvPr>
            <p:ph type="body" idx="1"/>
          </p:nvPr>
        </p:nvSpPr>
        <p:spPr>
          <a:xfrm>
            <a:off x="866919" y="1240022"/>
            <a:ext cx="6420463" cy="43779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8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Widescreen</PresentationFormat>
  <Paragraphs>100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CSE 350 Digital Electronics and Pulse Techniques </vt:lpstr>
      <vt:lpstr>DTL</vt:lpstr>
      <vt:lpstr>Noise Margin of DTL</vt:lpstr>
      <vt:lpstr>Noise Margin of DTL</vt:lpstr>
      <vt:lpstr>Noise Margin of DTL</vt:lpstr>
      <vt:lpstr>Noise Margin of DTL</vt:lpstr>
      <vt:lpstr>DTL NAND Gate</vt:lpstr>
      <vt:lpstr>Fanout Calculation</vt:lpstr>
      <vt:lpstr>Fanout Calculation</vt:lpstr>
      <vt:lpstr>Fanout Calculation</vt:lpstr>
      <vt:lpstr>Fanout Calculation</vt:lpstr>
      <vt:lpstr>Fanout Calculation</vt:lpstr>
      <vt:lpstr>Fanout Calculation</vt:lpstr>
      <vt:lpstr>Fanout Calculation</vt:lpstr>
      <vt:lpstr>DTL Power Dissipation</vt:lpstr>
      <vt:lpstr>DTL Power Dissipation</vt:lpstr>
      <vt:lpstr>DTL Power Dissipation</vt:lpstr>
      <vt:lpstr>DTL Power Dissipation</vt:lpstr>
      <vt:lpstr>DTL Power Dissipation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nazmul turjo</dc:creator>
  <cp:lastModifiedBy>USER</cp:lastModifiedBy>
  <cp:revision>1</cp:revision>
  <dcterms:created xsi:type="dcterms:W3CDTF">2021-07-10T07:14:46Z</dcterms:created>
  <dcterms:modified xsi:type="dcterms:W3CDTF">2025-01-06T17:55:20Z</dcterms:modified>
</cp:coreProperties>
</file>