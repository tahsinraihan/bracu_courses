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firstSlideNum="0"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1" roundtripDataSignature="AMtx7mh5yPBC0cQf9MyuqHRnYQM0YzIO9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 name="Google Shape;3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 name="Google Shape;6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2" name="Google Shape;92;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 programmer can tell that there are four main</a:t>
            </a:r>
            <a:endParaRPr/>
          </a:p>
          <a:p>
            <a:pPr indent="0" lvl="0" marL="0" rtl="0" algn="l">
              <a:spcBef>
                <a:spcPts val="0"/>
              </a:spcBef>
              <a:spcAft>
                <a:spcPts val="0"/>
              </a:spcAft>
              <a:buSzPts val="1800"/>
              <a:buNone/>
            </a:pPr>
            <a:r>
              <a:rPr lang="en-US"/>
              <a:t>code modules involved in creating a student grade listing: getting the student grade</a:t>
            </a:r>
            <a:endParaRPr/>
          </a:p>
          <a:p>
            <a:pPr indent="0" lvl="0" marL="0" rtl="0" algn="l">
              <a:spcBef>
                <a:spcPts val="0"/>
              </a:spcBef>
              <a:spcAft>
                <a:spcPts val="0"/>
              </a:spcAft>
              <a:buSzPts val="1800"/>
              <a:buNone/>
            </a:pPr>
            <a:r>
              <a:rPr lang="en-US"/>
              <a:t>records, calculating current GPA, calculating cumulative GPA, and printing the listing.</a:t>
            </a:r>
            <a:endParaRPr/>
          </a:p>
          <a:p>
            <a:pPr indent="0" lvl="0" marL="0" rtl="0" algn="l">
              <a:spcBef>
                <a:spcPts val="0"/>
              </a:spcBef>
              <a:spcAft>
                <a:spcPts val="0"/>
              </a:spcAft>
              <a:buSzPts val="1800"/>
              <a:buNone/>
            </a:pPr>
            <a:r>
              <a:rPr lang="en-US"/>
              <a:t>Also, there are various pieces of information that are either required by each</a:t>
            </a:r>
            <a:endParaRPr/>
          </a:p>
          <a:p>
            <a:pPr indent="0" lvl="0" marL="0" rtl="0" algn="l">
              <a:spcBef>
                <a:spcPts val="0"/>
              </a:spcBef>
              <a:spcAft>
                <a:spcPts val="0"/>
              </a:spcAft>
              <a:buSzPts val="1800"/>
              <a:buNone/>
            </a:pPr>
            <a:r>
              <a:rPr lang="en-US"/>
              <a:t>module or created by it (e.g., the grade record, the cumulative GPA).</a:t>
            </a:r>
            <a:endParaRPr/>
          </a:p>
        </p:txBody>
      </p:sp>
      <p:sp>
        <p:nvSpPr>
          <p:cNvPr id="93" name="Google Shape;93;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5176d4ed07_0_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g35176d4ed07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5176d4ed07_0_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35176d4ed07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5176d4ed07_0_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35176d4ed07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5176d4ed07_0_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g35176d4ed07_0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5176d4ed07_0_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g35176d4ed07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5176d4ed07_0_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g35176d4ed07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5176d4ed07_0_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g35176d4ed07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5176d4ed07_0_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g35176d4ed07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9"/>
          <p:cNvSpPr txBox="1"/>
          <p:nvPr>
            <p:ph type="ctrTitle"/>
          </p:nvPr>
        </p:nvSpPr>
        <p:spPr>
          <a:xfrm>
            <a:off x="685800" y="838200"/>
            <a:ext cx="7772400" cy="3429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9"/>
          <p:cNvSpPr txBox="1"/>
          <p:nvPr>
            <p:ph idx="1" type="subTitle"/>
          </p:nvPr>
        </p:nvSpPr>
        <p:spPr>
          <a:xfrm>
            <a:off x="304800" y="4953000"/>
            <a:ext cx="8534400" cy="6858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sz="3200">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9"/>
          <p:cNvSpPr txBox="1"/>
          <p:nvPr>
            <p:ph idx="10" type="dt"/>
          </p:nvPr>
        </p:nvSpPr>
        <p:spPr>
          <a:xfrm>
            <a:off x="457200" y="6356350"/>
            <a:ext cx="15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10-</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 name="Google Shape;30;p3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609600" lvl="0" marL="457200" algn="l">
              <a:spcBef>
                <a:spcPts val="0"/>
              </a:spcBef>
              <a:spcAft>
                <a:spcPts val="0"/>
              </a:spcAft>
              <a:buClr>
                <a:srgbClr val="0070C0"/>
              </a:buClr>
              <a:buSzPts val="6000"/>
              <a:buFont typeface="Noto Sans Symbols"/>
              <a:buChar char="▪"/>
              <a:defRPr sz="40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 name="Google Shape;3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10-</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2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8"/>
          <p:cNvSpPr txBox="1"/>
          <p:nvPr>
            <p:ph idx="10" type="dt"/>
          </p:nvPr>
        </p:nvSpPr>
        <p:spPr>
          <a:xfrm>
            <a:off x="457200" y="6356350"/>
            <a:ext cx="152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10-</a:t>
            </a: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 name="Shape 21"/>
        <p:cNvGrpSpPr/>
        <p:nvPr/>
      </p:nvGrpSpPr>
      <p:grpSpPr>
        <a:xfrm>
          <a:off x="0" y="0"/>
          <a:ext cx="0" cy="0"/>
          <a:chOff x="0" y="0"/>
          <a:chExt cx="0" cy="0"/>
        </a:xfrm>
      </p:grpSpPr>
      <p:cxnSp>
        <p:nvCxnSpPr>
          <p:cNvPr id="22" name="Google Shape;22;p30"/>
          <p:cNvCxnSpPr/>
          <p:nvPr/>
        </p:nvCxnSpPr>
        <p:spPr>
          <a:xfrm>
            <a:off x="457200" y="1447800"/>
            <a:ext cx="8229600" cy="0"/>
          </a:xfrm>
          <a:prstGeom prst="straightConnector1">
            <a:avLst/>
          </a:prstGeom>
          <a:noFill/>
          <a:ln cap="flat" cmpd="sng" w="76200">
            <a:solidFill>
              <a:srgbClr val="558ED5"/>
            </a:solidFill>
            <a:prstDash val="solid"/>
            <a:miter lim="800000"/>
            <a:headEnd len="med" w="med" type="none"/>
            <a:tailEnd len="med" w="med" type="none"/>
          </a:ln>
        </p:spPr>
      </p:cxnSp>
      <p:sp>
        <p:nvSpPr>
          <p:cNvPr id="23" name="Google Shape;23;p3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24" name="Google Shape;24;p3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6" name="Google Shape;26;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7" name="Google Shape;27;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10-</a:t>
            </a: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jp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1"/>
          <p:cNvSpPr txBox="1"/>
          <p:nvPr>
            <p:ph type="ctrTitle"/>
          </p:nvPr>
        </p:nvSpPr>
        <p:spPr>
          <a:xfrm>
            <a:off x="685800" y="1066800"/>
            <a:ext cx="7772400" cy="2819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17375E"/>
              </a:buClr>
              <a:buSzPts val="4800"/>
              <a:buFont typeface="Calibri"/>
              <a:buNone/>
            </a:pPr>
            <a:r>
              <a:rPr b="1" i="0" lang="en-US" sz="4800" u="none">
                <a:solidFill>
                  <a:srgbClr val="17375E"/>
                </a:solidFill>
                <a:latin typeface="Calibri"/>
                <a:ea typeface="Calibri"/>
                <a:cs typeface="Calibri"/>
                <a:sym typeface="Calibri"/>
              </a:rPr>
              <a:t>Systems Analysis and Design</a:t>
            </a:r>
            <a:br>
              <a:rPr b="1" i="0" lang="en-US" sz="3200" u="none">
                <a:solidFill>
                  <a:srgbClr val="17375E"/>
                </a:solidFill>
                <a:latin typeface="Calibri"/>
                <a:ea typeface="Calibri"/>
                <a:cs typeface="Calibri"/>
                <a:sym typeface="Calibri"/>
              </a:rPr>
            </a:br>
            <a:r>
              <a:rPr b="1" i="0" lang="en-US" sz="2800" u="none">
                <a:solidFill>
                  <a:srgbClr val="17375E"/>
                </a:solidFill>
                <a:latin typeface="Calibri"/>
                <a:ea typeface="Calibri"/>
                <a:cs typeface="Calibri"/>
                <a:sym typeface="Calibri"/>
              </a:rPr>
              <a:t>5th Edition</a:t>
            </a:r>
            <a:br>
              <a:rPr b="1" i="0" lang="en-US" sz="2800" u="none">
                <a:solidFill>
                  <a:srgbClr val="17375E"/>
                </a:solidFill>
                <a:latin typeface="Calibri"/>
                <a:ea typeface="Calibri"/>
                <a:cs typeface="Calibri"/>
                <a:sym typeface="Calibri"/>
              </a:rPr>
            </a:br>
            <a:br>
              <a:rPr b="1" i="0" lang="en-US" sz="2800" u="none">
                <a:solidFill>
                  <a:srgbClr val="17375E"/>
                </a:solidFill>
                <a:latin typeface="Calibri"/>
                <a:ea typeface="Calibri"/>
                <a:cs typeface="Calibri"/>
                <a:sym typeface="Calibri"/>
              </a:rPr>
            </a:br>
            <a:br>
              <a:rPr b="1" i="0" lang="en-US" sz="2800" u="none">
                <a:solidFill>
                  <a:srgbClr val="17375E"/>
                </a:solidFill>
                <a:latin typeface="Calibri"/>
                <a:ea typeface="Calibri"/>
                <a:cs typeface="Calibri"/>
                <a:sym typeface="Calibri"/>
              </a:rPr>
            </a:br>
            <a:r>
              <a:rPr b="1" i="0" lang="en-US" sz="4000" u="none">
                <a:solidFill>
                  <a:srgbClr val="17375E"/>
                </a:solidFill>
                <a:latin typeface="Calibri"/>
                <a:ea typeface="Calibri"/>
                <a:cs typeface="Calibri"/>
                <a:sym typeface="Calibri"/>
              </a:rPr>
              <a:t>Program Design</a:t>
            </a:r>
            <a:endParaRPr/>
          </a:p>
        </p:txBody>
      </p:sp>
      <p:sp>
        <p:nvSpPr>
          <p:cNvPr id="39" name="Google Shape;39;p1"/>
          <p:cNvSpPr txBox="1"/>
          <p:nvPr>
            <p:ph idx="1" type="subTitle"/>
          </p:nvPr>
        </p:nvSpPr>
        <p:spPr>
          <a:xfrm>
            <a:off x="533400" y="4800600"/>
            <a:ext cx="8305800" cy="838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0070C0"/>
              </a:buClr>
              <a:buSzPts val="2600"/>
              <a:buNone/>
            </a:pPr>
            <a:r>
              <a:rPr b="1" i="0" lang="en-US" sz="2600" u="none">
                <a:solidFill>
                  <a:srgbClr val="0070C0"/>
                </a:solidFill>
                <a:latin typeface="Calibri"/>
                <a:ea typeface="Calibri"/>
                <a:cs typeface="Calibri"/>
                <a:sym typeface="Calibri"/>
              </a:rPr>
              <a:t>Alan Dennis, Barbara Haley Wixom, and Roberta Roth</a:t>
            </a:r>
            <a:br>
              <a:rPr b="0" i="0" lang="en-US" sz="3000" u="none">
                <a:solidFill>
                  <a:srgbClr val="898989"/>
                </a:solidFill>
                <a:latin typeface="Calibri"/>
                <a:ea typeface="Calibri"/>
                <a:cs typeface="Calibri"/>
                <a:sym typeface="Calibri"/>
              </a:rPr>
            </a:br>
            <a:endParaRPr/>
          </a:p>
        </p:txBody>
      </p:sp>
      <p:sp>
        <p:nvSpPr>
          <p:cNvPr id="40" name="Google Shape;40;p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41" name="Google Shape;41;p1"/>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Chapter 10 Outline</a:t>
            </a:r>
            <a:endParaRPr/>
          </a:p>
        </p:txBody>
      </p:sp>
      <p:sp>
        <p:nvSpPr>
          <p:cNvPr id="47" name="Google Shape;47;p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cap="none" strike="noStrike">
                <a:solidFill>
                  <a:schemeClr val="dk1"/>
                </a:solidFill>
                <a:latin typeface="Calibri"/>
                <a:ea typeface="Calibri"/>
                <a:cs typeface="Calibri"/>
                <a:sym typeface="Calibri"/>
              </a:rPr>
              <a:t>Moving from logical to physical process models.</a:t>
            </a:r>
            <a:endParaRPr/>
          </a:p>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cap="none" strike="noStrike">
                <a:solidFill>
                  <a:schemeClr val="dk1"/>
                </a:solidFill>
                <a:latin typeface="Calibri"/>
                <a:ea typeface="Calibri"/>
                <a:cs typeface="Calibri"/>
                <a:sym typeface="Calibri"/>
              </a:rPr>
              <a:t>Designing programs.</a:t>
            </a:r>
            <a:endParaRPr/>
          </a:p>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cap="none" strike="noStrike">
                <a:solidFill>
                  <a:schemeClr val="dk1"/>
                </a:solidFill>
                <a:latin typeface="Calibri"/>
                <a:ea typeface="Calibri"/>
                <a:cs typeface="Calibri"/>
                <a:sym typeface="Calibri"/>
              </a:rPr>
              <a:t>Structure chart.</a:t>
            </a:r>
            <a:endParaRPr/>
          </a:p>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cap="none" strike="noStrike">
                <a:solidFill>
                  <a:schemeClr val="dk1"/>
                </a:solidFill>
                <a:latin typeface="Calibri"/>
                <a:ea typeface="Calibri"/>
                <a:cs typeface="Calibri"/>
                <a:sym typeface="Calibri"/>
              </a:rPr>
              <a:t>Program specification.</a:t>
            </a:r>
            <a:endParaRPr/>
          </a:p>
        </p:txBody>
      </p:sp>
      <p:sp>
        <p:nvSpPr>
          <p:cNvPr id="48" name="Google Shape;48;p2"/>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49" name="Google Shape;49;p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INTRODUCTION</a:t>
            </a:r>
            <a:endParaRPr/>
          </a:p>
        </p:txBody>
      </p:sp>
      <p:sp>
        <p:nvSpPr>
          <p:cNvPr id="55" name="Google Shape;55;p3"/>
          <p:cNvSpPr txBox="1"/>
          <p:nvPr>
            <p:ph idx="1" type="body"/>
          </p:nvPr>
        </p:nvSpPr>
        <p:spPr>
          <a:xfrm>
            <a:off x="381000" y="1283050"/>
            <a:ext cx="8382000" cy="5257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70C0"/>
              </a:buClr>
              <a:buSzPts val="3900"/>
              <a:buFont typeface="Noto Sans Symbols"/>
              <a:buChar char="▪"/>
            </a:pPr>
            <a:r>
              <a:rPr b="1" i="0" lang="en-US" sz="2600" u="none" cap="none" strike="noStrike">
                <a:solidFill>
                  <a:srgbClr val="FF0000"/>
                </a:solidFill>
                <a:latin typeface="Calibri"/>
                <a:ea typeface="Calibri"/>
                <a:cs typeface="Calibri"/>
                <a:sym typeface="Calibri"/>
              </a:rPr>
              <a:t>Program design </a:t>
            </a:r>
            <a:r>
              <a:rPr b="0" i="0" lang="en-US" sz="2600" u="none" cap="none" strike="noStrike">
                <a:solidFill>
                  <a:schemeClr val="dk1"/>
                </a:solidFill>
                <a:latin typeface="Calibri"/>
                <a:ea typeface="Calibri"/>
                <a:cs typeface="Calibri"/>
                <a:sym typeface="Calibri"/>
              </a:rPr>
              <a:t>– Analysts determine what programs will be written and create instructions for the programmers. </a:t>
            </a:r>
            <a:endParaRPr/>
          </a:p>
          <a:p>
            <a:pPr indent="-342900" lvl="0" marL="342900" marR="0" rtl="0" algn="l">
              <a:lnSpc>
                <a:spcPct val="100000"/>
              </a:lnSpc>
              <a:spcBef>
                <a:spcPts val="0"/>
              </a:spcBef>
              <a:spcAft>
                <a:spcPts val="0"/>
              </a:spcAft>
              <a:buClr>
                <a:srgbClr val="0070C0"/>
              </a:buClr>
              <a:buSzPts val="3900"/>
              <a:buFont typeface="Noto Sans Symbols"/>
              <a:buChar char="▪"/>
            </a:pPr>
            <a:r>
              <a:rPr b="0" i="0" lang="en-US" sz="2600" u="none" cap="none" strike="noStrike">
                <a:solidFill>
                  <a:schemeClr val="dk1"/>
                </a:solidFill>
                <a:latin typeface="Calibri"/>
                <a:ea typeface="Calibri"/>
                <a:cs typeface="Calibri"/>
                <a:sym typeface="Calibri"/>
              </a:rPr>
              <a:t>Various implementation decisions are made about the new system (e.g., what programming language(s) will be used.)</a:t>
            </a:r>
            <a:endParaRPr/>
          </a:p>
          <a:p>
            <a:pPr indent="-342900" lvl="0" marL="342900" marR="0" rtl="0" algn="l">
              <a:lnSpc>
                <a:spcPct val="100000"/>
              </a:lnSpc>
              <a:spcBef>
                <a:spcPts val="0"/>
              </a:spcBef>
              <a:spcAft>
                <a:spcPts val="0"/>
              </a:spcAft>
              <a:buClr>
                <a:srgbClr val="0070C0"/>
              </a:buClr>
              <a:buSzPts val="3900"/>
              <a:buFont typeface="Noto Sans Symbols"/>
              <a:buChar char="▪"/>
            </a:pPr>
            <a:r>
              <a:rPr b="0" i="0" lang="en-US" sz="2600" u="none" cap="none" strike="noStrike">
                <a:solidFill>
                  <a:schemeClr val="dk1"/>
                </a:solidFill>
                <a:latin typeface="Calibri"/>
                <a:ea typeface="Calibri"/>
                <a:cs typeface="Calibri"/>
                <a:sym typeface="Calibri"/>
              </a:rPr>
              <a:t>The DFDs created during analysis are modified to show these implementation decisions, resulting in a set of </a:t>
            </a:r>
            <a:r>
              <a:rPr b="1" i="1" lang="en-US" sz="2600" u="none" cap="none" strike="noStrike">
                <a:solidFill>
                  <a:srgbClr val="FF0000"/>
                </a:solidFill>
                <a:latin typeface="Calibri"/>
                <a:ea typeface="Calibri"/>
                <a:cs typeface="Calibri"/>
                <a:sym typeface="Calibri"/>
              </a:rPr>
              <a:t>physical data flow diagrams</a:t>
            </a:r>
            <a:r>
              <a:rPr b="0" i="0" lang="en-US" sz="2600" u="none" cap="none" strike="noStrike">
                <a:solidFill>
                  <a:schemeClr val="dk1"/>
                </a:solidFill>
                <a:latin typeface="Calibri"/>
                <a:ea typeface="Calibri"/>
                <a:cs typeface="Calibri"/>
                <a:sym typeface="Calibri"/>
              </a:rPr>
              <a:t>.</a:t>
            </a:r>
            <a:endParaRPr/>
          </a:p>
          <a:p>
            <a:pPr indent="-342900" lvl="0" marL="342900" marR="0" rtl="0" algn="l">
              <a:lnSpc>
                <a:spcPct val="100000"/>
              </a:lnSpc>
              <a:spcBef>
                <a:spcPts val="0"/>
              </a:spcBef>
              <a:spcAft>
                <a:spcPts val="0"/>
              </a:spcAft>
              <a:buClr>
                <a:srgbClr val="0070C0"/>
              </a:buClr>
              <a:buSzPts val="3900"/>
              <a:buFont typeface="Noto Sans Symbols"/>
              <a:buChar char="▪"/>
            </a:pPr>
            <a:r>
              <a:rPr b="0" i="0" lang="en-US" sz="2600" u="none" cap="none" strike="noStrike">
                <a:solidFill>
                  <a:schemeClr val="dk1"/>
                </a:solidFill>
                <a:latin typeface="Calibri"/>
                <a:ea typeface="Calibri"/>
                <a:cs typeface="Calibri"/>
                <a:sym typeface="Calibri"/>
              </a:rPr>
              <a:t>The analysts determine how the processes are organized, using a </a:t>
            </a:r>
            <a:r>
              <a:rPr b="1" i="1" lang="en-US" sz="2600" u="none" cap="none" strike="noStrike">
                <a:solidFill>
                  <a:srgbClr val="FF0000"/>
                </a:solidFill>
                <a:latin typeface="Calibri"/>
                <a:ea typeface="Calibri"/>
                <a:cs typeface="Calibri"/>
                <a:sym typeface="Calibri"/>
              </a:rPr>
              <a:t>structure chart</a:t>
            </a:r>
            <a:r>
              <a:rPr b="0" i="0" lang="en-US" sz="2600" u="none" cap="none" strike="noStrike">
                <a:solidFill>
                  <a:srgbClr val="FF0000"/>
                </a:solidFill>
                <a:latin typeface="Calibri"/>
                <a:ea typeface="Calibri"/>
                <a:cs typeface="Calibri"/>
                <a:sym typeface="Calibri"/>
              </a:rPr>
              <a:t> </a:t>
            </a:r>
            <a:r>
              <a:rPr b="0" i="0" lang="en-US" sz="2600" u="none" cap="none" strike="noStrike">
                <a:solidFill>
                  <a:schemeClr val="dk1"/>
                </a:solidFill>
                <a:latin typeface="Calibri"/>
                <a:ea typeface="Calibri"/>
                <a:cs typeface="Calibri"/>
                <a:sym typeface="Calibri"/>
              </a:rPr>
              <a:t>to depict the decisions.</a:t>
            </a:r>
            <a:endParaRPr/>
          </a:p>
          <a:p>
            <a:pPr indent="-342900" lvl="0" marL="342900" marR="0" rtl="0" algn="l">
              <a:lnSpc>
                <a:spcPct val="100000"/>
              </a:lnSpc>
              <a:spcBef>
                <a:spcPts val="0"/>
              </a:spcBef>
              <a:spcAft>
                <a:spcPts val="0"/>
              </a:spcAft>
              <a:buClr>
                <a:srgbClr val="0070C0"/>
              </a:buClr>
              <a:buSzPts val="3900"/>
              <a:buFont typeface="Noto Sans Symbols"/>
              <a:buChar char="▪"/>
            </a:pPr>
            <a:r>
              <a:rPr b="0" i="0" lang="en-US" sz="2600" u="none" cap="none" strike="noStrike">
                <a:solidFill>
                  <a:schemeClr val="dk1"/>
                </a:solidFill>
                <a:latin typeface="Calibri"/>
                <a:ea typeface="Calibri"/>
                <a:cs typeface="Calibri"/>
                <a:sym typeface="Calibri"/>
              </a:rPr>
              <a:t>Detailed instructions called </a:t>
            </a:r>
            <a:r>
              <a:rPr b="1" i="1" lang="en-US" sz="2600" u="none" cap="none" strike="noStrike">
                <a:solidFill>
                  <a:srgbClr val="FF0000"/>
                </a:solidFill>
                <a:latin typeface="Calibri"/>
                <a:ea typeface="Calibri"/>
                <a:cs typeface="Calibri"/>
                <a:sym typeface="Calibri"/>
              </a:rPr>
              <a:t>program specifications </a:t>
            </a:r>
            <a:r>
              <a:rPr b="0" i="0" lang="en-US" sz="2600" u="none" cap="none" strike="noStrike">
                <a:solidFill>
                  <a:schemeClr val="dk1"/>
                </a:solidFill>
                <a:latin typeface="Calibri"/>
                <a:ea typeface="Calibri"/>
                <a:cs typeface="Calibri"/>
                <a:sym typeface="Calibri"/>
              </a:rPr>
              <a:t>are developed.</a:t>
            </a:r>
            <a:endParaRPr/>
          </a:p>
          <a:p>
            <a:pPr indent="-219075" lvl="0" marL="342900" marR="0" rtl="0" algn="l">
              <a:lnSpc>
                <a:spcPct val="100000"/>
              </a:lnSpc>
              <a:spcBef>
                <a:spcPts val="0"/>
              </a:spcBef>
              <a:spcAft>
                <a:spcPts val="0"/>
              </a:spcAft>
              <a:buClr>
                <a:srgbClr val="0070C0"/>
              </a:buClr>
              <a:buSzPts val="1950"/>
              <a:buFont typeface="Noto Sans Symbols"/>
              <a:buNone/>
            </a:pPr>
            <a:r>
              <a:t/>
            </a:r>
            <a:endParaRPr b="0" i="0" sz="1300" u="none" cap="none" strike="noStrike">
              <a:solidFill>
                <a:schemeClr val="dk1"/>
              </a:solidFill>
              <a:latin typeface="Calibri"/>
              <a:ea typeface="Calibri"/>
              <a:cs typeface="Calibri"/>
              <a:sym typeface="Calibri"/>
            </a:endParaRPr>
          </a:p>
          <a:p>
            <a:pPr indent="-260350" lvl="0" marL="342900" marR="0" rtl="0" algn="l">
              <a:spcBef>
                <a:spcPts val="260"/>
              </a:spcBef>
              <a:spcAft>
                <a:spcPts val="0"/>
              </a:spcAft>
              <a:buClr>
                <a:schemeClr val="dk1"/>
              </a:buClr>
              <a:buSzPts val="1300"/>
              <a:buFont typeface="Arial"/>
              <a:buNone/>
            </a:pPr>
            <a:r>
              <a:t/>
            </a:r>
            <a:endParaRPr b="0" i="0" sz="1300" u="none">
              <a:solidFill>
                <a:schemeClr val="dk1"/>
              </a:solidFill>
              <a:latin typeface="Calibri"/>
              <a:ea typeface="Calibri"/>
              <a:cs typeface="Calibri"/>
              <a:sym typeface="Calibri"/>
            </a:endParaRPr>
          </a:p>
        </p:txBody>
      </p:sp>
      <p:sp>
        <p:nvSpPr>
          <p:cNvPr id="56" name="Google Shape;56;p3"/>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57" name="Google Shape;57;p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Steps to Create the Physical Data Flow Diagram</a:t>
            </a:r>
            <a:endParaRPr/>
          </a:p>
        </p:txBody>
      </p:sp>
      <p:sp>
        <p:nvSpPr>
          <p:cNvPr id="63" name="Google Shape;63;p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64" name="Google Shape;64;p4"/>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65" name="Google Shape;65;p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Screen Clipping" id="66" name="Google Shape;66;p4"/>
          <p:cNvPicPr preferRelativeResize="0"/>
          <p:nvPr/>
        </p:nvPicPr>
        <p:blipFill rotWithShape="1">
          <a:blip r:embed="rId3">
            <a:alphaModFix/>
          </a:blip>
          <a:srcRect b="0" l="0" r="0" t="0"/>
          <a:stretch/>
        </p:blipFill>
        <p:spPr>
          <a:xfrm>
            <a:off x="136525" y="1600200"/>
            <a:ext cx="8997950" cy="51212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5"/>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72" name="Google Shape;72;p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73" name="Google Shape;73;p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Example of Physical DFD</a:t>
            </a:r>
            <a:endParaRPr/>
          </a:p>
        </p:txBody>
      </p:sp>
      <p:pic>
        <p:nvPicPr>
          <p:cNvPr id="74" name="Google Shape;74;p5"/>
          <p:cNvPicPr preferRelativeResize="0"/>
          <p:nvPr/>
        </p:nvPicPr>
        <p:blipFill rotWithShape="1">
          <a:blip r:embed="rId3">
            <a:alphaModFix/>
          </a:blip>
          <a:srcRect b="8087" l="0" r="0" t="0"/>
          <a:stretch/>
        </p:blipFill>
        <p:spPr>
          <a:xfrm>
            <a:off x="-76200" y="593725"/>
            <a:ext cx="9086850" cy="6264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descr="Screen Clipping" id="79" name="Google Shape;79;p6"/>
          <p:cNvPicPr preferRelativeResize="0"/>
          <p:nvPr/>
        </p:nvPicPr>
        <p:blipFill rotWithShape="1">
          <a:blip r:embed="rId3">
            <a:alphaModFix/>
          </a:blip>
          <a:srcRect b="0" l="0" r="0" t="0"/>
          <a:stretch/>
        </p:blipFill>
        <p:spPr>
          <a:xfrm>
            <a:off x="1752600" y="304800"/>
            <a:ext cx="5553075" cy="2695575"/>
          </a:xfrm>
          <a:prstGeom prst="rect">
            <a:avLst/>
          </a:prstGeom>
          <a:noFill/>
          <a:ln>
            <a:noFill/>
          </a:ln>
        </p:spPr>
      </p:pic>
      <p:pic>
        <p:nvPicPr>
          <p:cNvPr descr="Screen Clipping" id="80" name="Google Shape;80;p6"/>
          <p:cNvPicPr preferRelativeResize="0"/>
          <p:nvPr/>
        </p:nvPicPr>
        <p:blipFill rotWithShape="1">
          <a:blip r:embed="rId4">
            <a:alphaModFix/>
          </a:blip>
          <a:srcRect b="0" l="0" r="0" t="0"/>
          <a:stretch/>
        </p:blipFill>
        <p:spPr>
          <a:xfrm>
            <a:off x="1752600" y="3581400"/>
            <a:ext cx="5638800" cy="3105150"/>
          </a:xfrm>
          <a:prstGeom prst="rect">
            <a:avLst/>
          </a:prstGeom>
          <a:noFill/>
          <a:ln>
            <a:noFill/>
          </a:ln>
        </p:spPr>
      </p:pic>
      <p:sp>
        <p:nvSpPr>
          <p:cNvPr id="81" name="Google Shape;81;p6"/>
          <p:cNvSpPr txBox="1"/>
          <p:nvPr/>
        </p:nvSpPr>
        <p:spPr>
          <a:xfrm>
            <a:off x="0" y="2981325"/>
            <a:ext cx="6324600" cy="306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Logical Model of the Promote Tunes Process</a:t>
            </a:r>
            <a:endParaRPr/>
          </a:p>
        </p:txBody>
      </p:sp>
      <p:sp>
        <p:nvSpPr>
          <p:cNvPr id="82" name="Google Shape;82;p6"/>
          <p:cNvSpPr txBox="1"/>
          <p:nvPr/>
        </p:nvSpPr>
        <p:spPr>
          <a:xfrm>
            <a:off x="5502275" y="3578225"/>
            <a:ext cx="3608387"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Physical Model for Promote Tunes Process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STRUCTURE CHART</a:t>
            </a:r>
            <a:endParaRPr/>
          </a:p>
        </p:txBody>
      </p:sp>
      <p:sp>
        <p:nvSpPr>
          <p:cNvPr id="88" name="Google Shape;88;p7"/>
          <p:cNvSpPr txBox="1"/>
          <p:nvPr>
            <p:ph idx="1" type="body"/>
          </p:nvPr>
        </p:nvSpPr>
        <p:spPr>
          <a:xfrm>
            <a:off x="114300" y="1624012"/>
            <a:ext cx="89154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70C0"/>
              </a:buClr>
              <a:buSzPts val="4800"/>
              <a:buFont typeface="Noto Sans Symbols"/>
              <a:buChar char="▪"/>
            </a:pPr>
            <a:r>
              <a:rPr b="0" i="0" lang="en-US" sz="3200" u="none">
                <a:solidFill>
                  <a:schemeClr val="dk1"/>
                </a:solidFill>
                <a:latin typeface="Calibri"/>
                <a:ea typeface="Calibri"/>
                <a:cs typeface="Calibri"/>
                <a:sym typeface="Calibri"/>
              </a:rPr>
              <a:t>The </a:t>
            </a:r>
            <a:r>
              <a:rPr b="1" i="1" lang="en-US" sz="3200" u="none">
                <a:solidFill>
                  <a:srgbClr val="0033CC"/>
                </a:solidFill>
                <a:latin typeface="Calibri"/>
                <a:ea typeface="Calibri"/>
                <a:cs typeface="Calibri"/>
                <a:sym typeface="Calibri"/>
              </a:rPr>
              <a:t>structure chart </a:t>
            </a:r>
            <a:r>
              <a:rPr b="0" i="0" lang="en-US" sz="3200" u="none">
                <a:solidFill>
                  <a:schemeClr val="dk1"/>
                </a:solidFill>
                <a:latin typeface="Calibri"/>
                <a:ea typeface="Calibri"/>
                <a:cs typeface="Calibri"/>
                <a:sym typeface="Calibri"/>
              </a:rPr>
              <a:t>is an Important program design technique that help the analyst design the program.</a:t>
            </a:r>
            <a:endParaRPr/>
          </a:p>
          <a:p>
            <a:pPr indent="-342900" lvl="0" marL="342900" marR="0" rtl="0" algn="l">
              <a:lnSpc>
                <a:spcPct val="100000"/>
              </a:lnSpc>
              <a:spcBef>
                <a:spcPts val="0"/>
              </a:spcBef>
              <a:spcAft>
                <a:spcPts val="0"/>
              </a:spcAft>
              <a:buClr>
                <a:srgbClr val="0070C0"/>
              </a:buClr>
              <a:buSzPts val="4800"/>
              <a:buFont typeface="Noto Sans Symbols"/>
              <a:buChar char="▪"/>
            </a:pPr>
            <a:r>
              <a:rPr b="0" i="0" lang="en-US" sz="3200" u="none">
                <a:solidFill>
                  <a:schemeClr val="dk1"/>
                </a:solidFill>
                <a:latin typeface="Calibri"/>
                <a:ea typeface="Calibri"/>
                <a:cs typeface="Calibri"/>
                <a:sym typeface="Calibri"/>
              </a:rPr>
              <a:t>It shows all components of code in a hierarchical format that implies</a:t>
            </a:r>
            <a:endParaRPr/>
          </a:p>
          <a:p>
            <a:pPr indent="-285750" lvl="1" marL="742950" marR="0" rtl="0" algn="l">
              <a:lnSpc>
                <a:spcPct val="100000"/>
              </a:lnSpc>
              <a:spcBef>
                <a:spcPts val="560"/>
              </a:spcBef>
              <a:spcAft>
                <a:spcPts val="0"/>
              </a:spcAft>
              <a:buClr>
                <a:srgbClr val="0033CC"/>
              </a:buClr>
              <a:buSzPts val="2800"/>
              <a:buFont typeface="Arial"/>
              <a:buChar char="–"/>
            </a:pPr>
            <a:r>
              <a:rPr b="1" i="1" lang="en-US" sz="2800" u="none" cap="none" strike="noStrike">
                <a:solidFill>
                  <a:srgbClr val="0033CC"/>
                </a:solidFill>
                <a:latin typeface="Calibri"/>
                <a:ea typeface="Calibri"/>
                <a:cs typeface="Calibri"/>
                <a:sym typeface="Calibri"/>
              </a:rPr>
              <a:t>Sequence (in what order components are invoked)</a:t>
            </a:r>
            <a:r>
              <a:rPr b="0" i="0" lang="en-US" sz="2800" u="none" cap="none" strike="noStrike">
                <a:solidFill>
                  <a:schemeClr val="dk1"/>
                </a:solidFill>
                <a:latin typeface="Calibri"/>
                <a:ea typeface="Calibri"/>
                <a:cs typeface="Calibri"/>
                <a:sym typeface="Calibri"/>
              </a:rPr>
              <a:t>,</a:t>
            </a:r>
            <a:endParaRPr/>
          </a:p>
          <a:p>
            <a:pPr indent="-285750" lvl="1" marL="742950" marR="0" rtl="0" algn="l">
              <a:lnSpc>
                <a:spcPct val="100000"/>
              </a:lnSpc>
              <a:spcBef>
                <a:spcPts val="560"/>
              </a:spcBef>
              <a:spcAft>
                <a:spcPts val="0"/>
              </a:spcAft>
              <a:buClr>
                <a:srgbClr val="0033CC"/>
              </a:buClr>
              <a:buSzPts val="2800"/>
              <a:buFont typeface="Arial"/>
              <a:buChar char="–"/>
            </a:pPr>
            <a:r>
              <a:rPr b="1" i="1" lang="en-US" sz="2800" u="none" cap="none" strike="noStrike">
                <a:solidFill>
                  <a:srgbClr val="0033CC"/>
                </a:solidFill>
                <a:latin typeface="Calibri"/>
                <a:ea typeface="Calibri"/>
                <a:cs typeface="Calibri"/>
                <a:sym typeface="Calibri"/>
              </a:rPr>
              <a:t>Selection (under what condition a module is invoked)</a:t>
            </a:r>
            <a:r>
              <a:rPr b="0" i="0" lang="en-US" sz="2800" u="none" cap="none" strike="noStrike">
                <a:solidFill>
                  <a:schemeClr val="dk1"/>
                </a:solidFill>
                <a:latin typeface="Calibri"/>
                <a:ea typeface="Calibri"/>
                <a:cs typeface="Calibri"/>
                <a:sym typeface="Calibri"/>
              </a:rPr>
              <a:t>, </a:t>
            </a:r>
            <a:endParaRPr/>
          </a:p>
          <a:p>
            <a:pPr indent="-285750" lvl="1" marL="742950" marR="0" rtl="0" algn="l">
              <a:lnSpc>
                <a:spcPct val="100000"/>
              </a:lnSpc>
              <a:spcBef>
                <a:spcPts val="560"/>
              </a:spcBef>
              <a:spcAft>
                <a:spcPts val="0"/>
              </a:spcAft>
              <a:buClr>
                <a:srgbClr val="0033CC"/>
              </a:buClr>
              <a:buSzPts val="2800"/>
              <a:buFont typeface="Arial"/>
              <a:buChar char="–"/>
            </a:pPr>
            <a:r>
              <a:rPr b="1" i="1" lang="en-US" sz="2800" u="none" cap="none" strike="noStrike">
                <a:solidFill>
                  <a:srgbClr val="0033CC"/>
                </a:solidFill>
                <a:latin typeface="Calibri"/>
                <a:ea typeface="Calibri"/>
                <a:cs typeface="Calibri"/>
                <a:sym typeface="Calibri"/>
              </a:rPr>
              <a:t>Iteration (how often a component is repeated)</a:t>
            </a:r>
            <a:endParaRPr b="0" i="0" sz="2800" u="none" cap="none" strike="noStrike">
              <a:solidFill>
                <a:schemeClr val="dk1"/>
              </a:solidFill>
              <a:latin typeface="Calibri"/>
              <a:ea typeface="Calibri"/>
              <a:cs typeface="Calibri"/>
              <a:sym typeface="Calibri"/>
            </a:endParaRPr>
          </a:p>
          <a:p>
            <a:pPr indent="-165100" lvl="0" marL="342900" marR="0" rtl="0" algn="l">
              <a:spcBef>
                <a:spcPts val="56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89" name="Google Shape;89;p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8"/>
          <p:cNvSpPr txBox="1"/>
          <p:nvPr>
            <p:ph idx="1" type="body"/>
          </p:nvPr>
        </p:nvSpPr>
        <p:spPr>
          <a:xfrm>
            <a:off x="457200" y="4876800"/>
            <a:ext cx="8229600" cy="124936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An academic system needs a program that will print a listing of students along with their grade point averages (GPAs), both for the current semester and overall. First, the program must retrieve the student grade records; then it must calculate the current and cumulative GPAs; finally, the grade list can be printed.</a:t>
            </a:r>
            <a:endParaRPr/>
          </a:p>
        </p:txBody>
      </p:sp>
      <p:sp>
        <p:nvSpPr>
          <p:cNvPr id="96" name="Google Shape;96;p8"/>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97" name="Google Shape;97;p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Chapter_11_illus11" id="98" name="Google Shape;98;p8"/>
          <p:cNvPicPr preferRelativeResize="0"/>
          <p:nvPr/>
        </p:nvPicPr>
        <p:blipFill rotWithShape="1">
          <a:blip r:embed="rId3">
            <a:alphaModFix/>
          </a:blip>
          <a:srcRect b="34848" l="20588" r="20588" t="34848"/>
          <a:stretch/>
        </p:blipFill>
        <p:spPr>
          <a:xfrm>
            <a:off x="876300" y="150812"/>
            <a:ext cx="7391400" cy="4495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
                                        </p:tgtEl>
                                        <p:attrNameLst>
                                          <p:attrName>style.visibility</p:attrName>
                                        </p:attrNameLst>
                                      </p:cBhvr>
                                      <p:to>
                                        <p:strVal val="visible"/>
                                      </p:to>
                                    </p:set>
                                    <p:anim calcmode="lin" valueType="num">
                                      <p:cBhvr additive="base">
                                        <p:cTn dur="500"/>
                                        <p:tgtEl>
                                          <p:spTgt spid="9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b="1"/>
          </a:p>
        </p:txBody>
      </p:sp>
      <p:sp>
        <p:nvSpPr>
          <p:cNvPr id="104" name="Google Shape;104;p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70C0"/>
              </a:buClr>
              <a:buSzPts val="4800"/>
              <a:buFont typeface="Noto Sans Symbols"/>
              <a:buChar char="▪"/>
            </a:pPr>
            <a:r>
              <a:rPr b="0" i="0" lang="en-US" sz="3200" u="none">
                <a:solidFill>
                  <a:schemeClr val="dk1"/>
                </a:solidFill>
                <a:latin typeface="Calibri"/>
                <a:ea typeface="Calibri"/>
                <a:cs typeface="Calibri"/>
                <a:sym typeface="Calibri"/>
              </a:rPr>
              <a:t>a programmer can tell that there are four main code modules involved in creating a student grade listing: getting the student grade records, calculating current GPA, calculating cumulative GPA, and printing the listing. Also, there are various pieces of information that are either required by each module or created by it (e.g., the grade record, the cumulative GPA).</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
        <p:nvSpPr>
          <p:cNvPr id="105" name="Google Shape;105;p9"/>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106" name="Google Shape;106;p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Syntax of Structure Chart</a:t>
            </a:r>
            <a:endParaRPr/>
          </a:p>
        </p:txBody>
      </p:sp>
      <p:pic>
        <p:nvPicPr>
          <p:cNvPr descr="Screen Clipping" id="112" name="Google Shape;112;p10"/>
          <p:cNvPicPr preferRelativeResize="0"/>
          <p:nvPr>
            <p:ph idx="1" type="body"/>
          </p:nvPr>
        </p:nvPicPr>
        <p:blipFill rotWithShape="1">
          <a:blip r:embed="rId3">
            <a:alphaModFix/>
          </a:blip>
          <a:srcRect b="0" l="0" r="0" t="0"/>
          <a:stretch/>
        </p:blipFill>
        <p:spPr>
          <a:xfrm>
            <a:off x="1066800" y="0"/>
            <a:ext cx="6381750" cy="6824662"/>
          </a:xfrm>
          <a:prstGeom prst="rect">
            <a:avLst/>
          </a:prstGeom>
          <a:noFill/>
          <a:ln>
            <a:noFill/>
          </a:ln>
        </p:spPr>
      </p:pic>
      <p:sp>
        <p:nvSpPr>
          <p:cNvPr id="113" name="Google Shape;113;p10"/>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114" name="Google Shape;114;p1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120" name="Google Shape;120;p11"/>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121" name="Google Shape;121;p1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Screen Clipping" id="122" name="Google Shape;122;p11"/>
          <p:cNvPicPr preferRelativeResize="0"/>
          <p:nvPr>
            <p:ph idx="1" type="body"/>
          </p:nvPr>
        </p:nvPicPr>
        <p:blipFill rotWithShape="1">
          <a:blip r:embed="rId3">
            <a:alphaModFix/>
          </a:blip>
          <a:srcRect b="0" l="0" r="0" t="0"/>
          <a:stretch/>
        </p:blipFill>
        <p:spPr>
          <a:xfrm>
            <a:off x="811212" y="1544637"/>
            <a:ext cx="7521575" cy="4816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128" name="Google Shape;128;p1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600"/>
              <a:buFont typeface="Arial"/>
              <a:buNone/>
            </a:pPr>
            <a:r>
              <a:rPr b="0" i="0" lang="en-US" sz="3600" u="none">
                <a:solidFill>
                  <a:schemeClr val="dk1"/>
                </a:solidFill>
                <a:latin typeface="Calibri"/>
                <a:ea typeface="Calibri"/>
                <a:cs typeface="Calibri"/>
                <a:sym typeface="Calibri"/>
              </a:rPr>
              <a:t>Revised structure chart example</a:t>
            </a:r>
            <a:endParaRPr/>
          </a:p>
        </p:txBody>
      </p:sp>
      <p:sp>
        <p:nvSpPr>
          <p:cNvPr id="129" name="Google Shape;129;p12"/>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130" name="Google Shape;130;p1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0_08" id="131" name="Google Shape;131;p12"/>
          <p:cNvPicPr preferRelativeResize="0"/>
          <p:nvPr/>
        </p:nvPicPr>
        <p:blipFill rotWithShape="1">
          <a:blip r:embed="rId3">
            <a:alphaModFix/>
          </a:blip>
          <a:srcRect b="0" l="0" r="0" t="0"/>
          <a:stretch/>
        </p:blipFill>
        <p:spPr>
          <a:xfrm>
            <a:off x="685800" y="2362200"/>
            <a:ext cx="7772400" cy="39639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gtEl>
                                        <p:attrNameLst>
                                          <p:attrName>style.visibility</p:attrName>
                                        </p:attrNameLst>
                                      </p:cBhvr>
                                      <p:to>
                                        <p:strVal val="visible"/>
                                      </p:to>
                                    </p:set>
                                    <p:anim calcmode="lin" valueType="num">
                                      <p:cBhvr additive="base">
                                        <p:cTn dur="500"/>
                                        <p:tgtEl>
                                          <p:spTgt spid="13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b="1"/>
          </a:p>
        </p:txBody>
      </p:sp>
      <p:sp>
        <p:nvSpPr>
          <p:cNvPr id="137" name="Google Shape;137;p13"/>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138" name="Google Shape;138;p1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id="139" name="Google Shape;139;p13"/>
          <p:cNvPicPr preferRelativeResize="0"/>
          <p:nvPr/>
        </p:nvPicPr>
        <p:blipFill rotWithShape="1">
          <a:blip r:embed="rId3">
            <a:alphaModFix/>
          </a:blip>
          <a:srcRect b="13269" l="8465" r="5719" t="10006"/>
          <a:stretch/>
        </p:blipFill>
        <p:spPr>
          <a:xfrm>
            <a:off x="152400" y="0"/>
            <a:ext cx="5715000" cy="3505200"/>
          </a:xfrm>
          <a:prstGeom prst="rect">
            <a:avLst/>
          </a:prstGeom>
          <a:noFill/>
          <a:ln>
            <a:noFill/>
          </a:ln>
        </p:spPr>
      </p:pic>
      <p:pic>
        <p:nvPicPr>
          <p:cNvPr id="140" name="Google Shape;140;p13"/>
          <p:cNvPicPr preferRelativeResize="0"/>
          <p:nvPr>
            <p:ph idx="1" type="body"/>
          </p:nvPr>
        </p:nvPicPr>
        <p:blipFill rotWithShape="1">
          <a:blip r:embed="rId4">
            <a:alphaModFix/>
          </a:blip>
          <a:srcRect b="0" l="0" r="0" t="0"/>
          <a:stretch/>
        </p:blipFill>
        <p:spPr>
          <a:xfrm>
            <a:off x="4419600" y="3192462"/>
            <a:ext cx="4592637" cy="317023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Design Guidelines</a:t>
            </a:r>
            <a:endParaRPr/>
          </a:p>
        </p:txBody>
      </p:sp>
      <p:sp>
        <p:nvSpPr>
          <p:cNvPr id="146" name="Google Shape;146;p1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70C0"/>
              </a:buClr>
              <a:buSzPts val="5400"/>
              <a:buFont typeface="Noto Sans Symbols"/>
              <a:buChar char="▪"/>
            </a:pPr>
            <a:r>
              <a:rPr b="0" i="0" lang="en-US" sz="3600" u="none">
                <a:solidFill>
                  <a:schemeClr val="dk1"/>
                </a:solidFill>
                <a:latin typeface="Calibri"/>
                <a:ea typeface="Calibri"/>
                <a:cs typeface="Calibri"/>
                <a:sym typeface="Calibri"/>
              </a:rPr>
              <a:t>High quality structure charts result in programs that are modular, reusable, and easy to implement.</a:t>
            </a:r>
            <a:endParaRPr/>
          </a:p>
          <a:p>
            <a:pPr indent="-342900" lvl="0" marL="342900" marR="0" rtl="0" algn="l">
              <a:lnSpc>
                <a:spcPct val="100000"/>
              </a:lnSpc>
              <a:spcBef>
                <a:spcPts val="0"/>
              </a:spcBef>
              <a:spcAft>
                <a:spcPts val="0"/>
              </a:spcAft>
              <a:buClr>
                <a:srgbClr val="0070C0"/>
              </a:buClr>
              <a:buSzPts val="5400"/>
              <a:buFont typeface="Noto Sans Symbols"/>
              <a:buChar char="▪"/>
            </a:pPr>
            <a:r>
              <a:rPr b="0" i="0" lang="en-US" sz="3600" u="none">
                <a:solidFill>
                  <a:schemeClr val="dk1"/>
                </a:solidFill>
                <a:latin typeface="Calibri"/>
                <a:ea typeface="Calibri"/>
                <a:cs typeface="Calibri"/>
                <a:sym typeface="Calibri"/>
              </a:rPr>
              <a:t>Measures of good design include</a:t>
            </a:r>
            <a:endParaRPr/>
          </a:p>
          <a:p>
            <a:pPr indent="-285750" lvl="1" marL="74295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cohesion,</a:t>
            </a:r>
            <a:endParaRPr/>
          </a:p>
          <a:p>
            <a:pPr indent="-285750" lvl="1" marL="74295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appropriate levels of fan-in and fan-out.</a:t>
            </a:r>
            <a:endParaRPr/>
          </a:p>
          <a:p>
            <a:pPr indent="-139700" lvl="0" marL="342900" marR="0" rtl="0" algn="l">
              <a:spcBef>
                <a:spcPts val="640"/>
              </a:spcBef>
              <a:spcAft>
                <a:spcPts val="0"/>
              </a:spcAft>
              <a:buClr>
                <a:schemeClr val="dk1"/>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147" name="Google Shape;147;p14"/>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148" name="Google Shape;148;p1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Build Modules with High Cohesion</a:t>
            </a:r>
            <a:endParaRPr/>
          </a:p>
        </p:txBody>
      </p:sp>
      <p:sp>
        <p:nvSpPr>
          <p:cNvPr id="154" name="Google Shape;154;p15"/>
          <p:cNvSpPr txBox="1"/>
          <p:nvPr>
            <p:ph idx="1" type="body"/>
          </p:nvPr>
        </p:nvSpPr>
        <p:spPr>
          <a:xfrm>
            <a:off x="457200" y="1752600"/>
            <a:ext cx="8229600" cy="4526100"/>
          </a:xfrm>
          <a:prstGeom prst="rect">
            <a:avLst/>
          </a:prstGeom>
          <a:noFill/>
          <a:ln>
            <a:noFill/>
          </a:ln>
        </p:spPr>
        <p:txBody>
          <a:bodyPr anchorCtr="0" anchor="t" bIns="45700" lIns="91425" spcFirstLastPara="1" rIns="91425" wrap="square" tIns="45700">
            <a:noAutofit/>
          </a:bodyPr>
          <a:lstStyle/>
          <a:p>
            <a:pPr indent="-323850" lvl="0" marL="342900" marR="0" rtl="0" algn="l">
              <a:lnSpc>
                <a:spcPct val="100000"/>
              </a:lnSpc>
              <a:spcBef>
                <a:spcPts val="0"/>
              </a:spcBef>
              <a:spcAft>
                <a:spcPts val="0"/>
              </a:spcAft>
              <a:buClr>
                <a:srgbClr val="0070C0"/>
              </a:buClr>
              <a:buSzPts val="5100"/>
              <a:buFont typeface="Noto Sans Symbols"/>
              <a:buChar char="▪"/>
            </a:pPr>
            <a:r>
              <a:rPr b="1" i="1" lang="en-US" sz="3100" u="none">
                <a:solidFill>
                  <a:srgbClr val="0033CC"/>
                </a:solidFill>
                <a:latin typeface="Calibri"/>
                <a:ea typeface="Calibri"/>
                <a:cs typeface="Calibri"/>
                <a:sym typeface="Calibri"/>
              </a:rPr>
              <a:t>Cohesion</a:t>
            </a:r>
            <a:r>
              <a:rPr b="0" i="0" lang="en-US" sz="3100" u="none">
                <a:solidFill>
                  <a:schemeClr val="dk1"/>
                </a:solidFill>
                <a:latin typeface="Calibri"/>
                <a:ea typeface="Calibri"/>
                <a:cs typeface="Calibri"/>
                <a:sym typeface="Calibri"/>
              </a:rPr>
              <a:t> refers to how well the lines of code within each module relate to each other.</a:t>
            </a:r>
            <a:endParaRPr sz="3100"/>
          </a:p>
          <a:p>
            <a:pPr indent="-323850" lvl="0" marL="342900" marR="0" rtl="0" algn="l">
              <a:lnSpc>
                <a:spcPct val="100000"/>
              </a:lnSpc>
              <a:spcBef>
                <a:spcPts val="0"/>
              </a:spcBef>
              <a:spcAft>
                <a:spcPts val="0"/>
              </a:spcAft>
              <a:buClr>
                <a:srgbClr val="0070C0"/>
              </a:buClr>
              <a:buSzPts val="5100"/>
              <a:buFont typeface="Noto Sans Symbols"/>
              <a:buChar char="▪"/>
            </a:pPr>
            <a:r>
              <a:rPr b="0" i="0" lang="en-US" sz="3100" u="none">
                <a:solidFill>
                  <a:schemeClr val="dk1"/>
                </a:solidFill>
                <a:latin typeface="Calibri"/>
                <a:ea typeface="Calibri"/>
                <a:cs typeface="Calibri"/>
                <a:sym typeface="Calibri"/>
              </a:rPr>
              <a:t>Cohesive modules are easy to understand and build because their code performs one function effectively.</a:t>
            </a:r>
            <a:endParaRPr sz="3100"/>
          </a:p>
          <a:p>
            <a:pPr indent="-330200" lvl="1" marL="742950" marR="0" rtl="0" algn="l">
              <a:lnSpc>
                <a:spcPct val="100000"/>
              </a:lnSpc>
              <a:spcBef>
                <a:spcPts val="0"/>
              </a:spcBef>
              <a:spcAft>
                <a:spcPts val="0"/>
              </a:spcAft>
              <a:buClr>
                <a:srgbClr val="0070C0"/>
              </a:buClr>
              <a:buSzPts val="2500"/>
              <a:buFont typeface="Noto Sans Symbols"/>
              <a:buChar char="–"/>
            </a:pPr>
            <a:r>
              <a:rPr lang="en-US" sz="2500"/>
              <a:t>High cohesion = easier to maintain, understand, and reuse.</a:t>
            </a:r>
            <a:endParaRPr sz="2500"/>
          </a:p>
          <a:p>
            <a:pPr indent="-330200" lvl="1" marL="742950" marR="0" rtl="0" algn="l">
              <a:lnSpc>
                <a:spcPct val="100000"/>
              </a:lnSpc>
              <a:spcBef>
                <a:spcPts val="0"/>
              </a:spcBef>
              <a:spcAft>
                <a:spcPts val="0"/>
              </a:spcAft>
              <a:buClr>
                <a:srgbClr val="0070C0"/>
              </a:buClr>
              <a:buSzPts val="2500"/>
              <a:buFont typeface="Noto Sans Symbols"/>
              <a:buChar char="–"/>
            </a:pPr>
            <a:r>
              <a:rPr lang="en-US" sz="2500"/>
              <a:t>Low cohesion = hard to manage and test</a:t>
            </a:r>
            <a:endParaRPr sz="2500"/>
          </a:p>
          <a:p>
            <a:pPr indent="-88900" lvl="0" marL="342900" marR="0" rtl="0" algn="l">
              <a:spcBef>
                <a:spcPts val="800"/>
              </a:spcBef>
              <a:spcAft>
                <a:spcPts val="0"/>
              </a:spcAft>
              <a:buClr>
                <a:schemeClr val="dk1"/>
              </a:buClr>
              <a:buSzPts val="4000"/>
              <a:buFont typeface="Arial"/>
              <a:buNone/>
            </a:pPr>
            <a:r>
              <a:t/>
            </a:r>
            <a:endParaRPr b="0" i="0" sz="3100" u="none">
              <a:solidFill>
                <a:schemeClr val="dk1"/>
              </a:solidFill>
              <a:latin typeface="Calibri"/>
              <a:ea typeface="Calibri"/>
              <a:cs typeface="Calibri"/>
              <a:sym typeface="Calibri"/>
            </a:endParaRPr>
          </a:p>
        </p:txBody>
      </p:sp>
      <p:sp>
        <p:nvSpPr>
          <p:cNvPr id="155" name="Google Shape;155;p15"/>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156" name="Google Shape;156;p1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5176d4ed07_0_4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Types of Cohesion Overview</a:t>
            </a:r>
            <a:endParaRPr/>
          </a:p>
        </p:txBody>
      </p:sp>
      <p:sp>
        <p:nvSpPr>
          <p:cNvPr id="162" name="Google Shape;162;g35176d4ed07_0_4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Coincidental Cohesion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Logical Cohesion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Temporal Cohesion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Procedural Cohesion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Communicational Cohesion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Sequential Cohesion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Functional Cohesion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(Ordered from worst to best)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5176d4ed07_0_4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Coincidental Cohesion</a:t>
            </a:r>
            <a:endParaRPr/>
          </a:p>
        </p:txBody>
      </p:sp>
      <p:sp>
        <p:nvSpPr>
          <p:cNvPr id="168" name="Google Shape;168;g35176d4ed07_0_4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Definition: Random tasks grouped together.</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Example:</a:t>
            </a:r>
            <a:endParaRPr/>
          </a:p>
          <a:p>
            <a:pPr indent="0" lvl="0" marL="0" rtl="0" algn="l">
              <a:spcBef>
                <a:spcPts val="640"/>
              </a:spcBef>
              <a:spcAft>
                <a:spcPts val="0"/>
              </a:spcAft>
              <a:buNone/>
            </a:pPr>
            <a:r>
              <a:t/>
            </a:r>
            <a:endParaRPr sz="3200"/>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def random_tasks():</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open_file()</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send_email()</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draw_circle()</a:t>
            </a:r>
            <a:endParaRPr sz="2800">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5176d4ed07_0_5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Logical Cohesion</a:t>
            </a:r>
            <a:endParaRPr/>
          </a:p>
        </p:txBody>
      </p:sp>
      <p:sp>
        <p:nvSpPr>
          <p:cNvPr id="174" name="Google Shape;174;g35176d4ed07_0_52"/>
          <p:cNvSpPr txBox="1"/>
          <p:nvPr>
            <p:ph idx="1" type="body"/>
          </p:nvPr>
        </p:nvSpPr>
        <p:spPr>
          <a:xfrm>
            <a:off x="457200" y="1600200"/>
            <a:ext cx="8468100" cy="4811100"/>
          </a:xfrm>
          <a:prstGeom prst="rect">
            <a:avLst/>
          </a:prstGeom>
          <a:noFill/>
          <a:ln>
            <a:noFill/>
          </a:ln>
        </p:spPr>
        <p:txBody>
          <a:bodyPr anchorCtr="0" anchor="t" bIns="45700" lIns="91425" spcFirstLastPara="1" rIns="91425" wrap="square" tIns="45700">
            <a:normAutofit fontScale="70000" lnSpcReduction="10000"/>
          </a:bodyPr>
          <a:lstStyle/>
          <a:p>
            <a:pPr indent="-281940"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Tasks grouped by category but selected via flags.</a:t>
            </a:r>
            <a:endParaRPr/>
          </a:p>
          <a:p>
            <a:pPr indent="-281940" lvl="0" marL="342900" rtl="0" algn="l">
              <a:spcBef>
                <a:spcPts val="640"/>
              </a:spcBef>
              <a:spcAft>
                <a:spcPts val="0"/>
              </a:spcAft>
              <a:buClr>
                <a:schemeClr val="dk1"/>
              </a:buClr>
              <a:buSzPct val="100000"/>
              <a:buChar char="▪"/>
            </a:pPr>
            <a:r>
              <a:rPr lang="en-US" sz="3200">
                <a:solidFill>
                  <a:schemeClr val="dk1"/>
                </a:solidFill>
                <a:latin typeface="Calibri"/>
                <a:ea typeface="Calibri"/>
                <a:cs typeface="Calibri"/>
                <a:sym typeface="Calibri"/>
              </a:rPr>
              <a:t>Example:</a:t>
            </a:r>
            <a:endParaRPr/>
          </a:p>
          <a:p>
            <a:pPr indent="0" lvl="0" marL="0" rtl="0" algn="l">
              <a:spcBef>
                <a:spcPts val="640"/>
              </a:spcBef>
              <a:spcAft>
                <a:spcPts val="0"/>
              </a:spcAft>
              <a:buNone/>
            </a:pPr>
            <a:r>
              <a:t/>
            </a:r>
            <a:endParaRPr sz="3200"/>
          </a:p>
          <a:p>
            <a:pPr indent="0" lvl="0" marL="0" rtl="0" algn="l">
              <a:spcBef>
                <a:spcPts val="640"/>
              </a:spcBef>
              <a:spcAft>
                <a:spcPts val="0"/>
              </a:spcAft>
              <a:buNone/>
            </a:pPr>
            <a:r>
              <a:rPr lang="en-US" sz="4450">
                <a:solidFill>
                  <a:schemeClr val="dk1"/>
                </a:solidFill>
                <a:latin typeface="Courier New"/>
                <a:ea typeface="Courier New"/>
                <a:cs typeface="Courier New"/>
                <a:sym typeface="Courier New"/>
              </a:rPr>
              <a:t>def handle_input(input_type, data):</a:t>
            </a:r>
            <a:endParaRPr sz="4450">
              <a:latin typeface="Courier New"/>
              <a:ea typeface="Courier New"/>
              <a:cs typeface="Courier New"/>
              <a:sym typeface="Courier New"/>
            </a:endParaRPr>
          </a:p>
          <a:p>
            <a:pPr indent="0" lvl="0" marL="0" rtl="0" algn="l">
              <a:spcBef>
                <a:spcPts val="640"/>
              </a:spcBef>
              <a:spcAft>
                <a:spcPts val="0"/>
              </a:spcAft>
              <a:buNone/>
            </a:pPr>
            <a:r>
              <a:rPr lang="en-US" sz="4450">
                <a:solidFill>
                  <a:schemeClr val="dk1"/>
                </a:solidFill>
                <a:latin typeface="Courier New"/>
                <a:ea typeface="Courier New"/>
                <a:cs typeface="Courier New"/>
                <a:sym typeface="Courier New"/>
              </a:rPr>
              <a:t>    if input_type == 'keyboard':</a:t>
            </a:r>
            <a:endParaRPr sz="4450">
              <a:latin typeface="Courier New"/>
              <a:ea typeface="Courier New"/>
              <a:cs typeface="Courier New"/>
              <a:sym typeface="Courier New"/>
            </a:endParaRPr>
          </a:p>
          <a:p>
            <a:pPr indent="0" lvl="0" marL="0" rtl="0" algn="l">
              <a:spcBef>
                <a:spcPts val="640"/>
              </a:spcBef>
              <a:spcAft>
                <a:spcPts val="0"/>
              </a:spcAft>
              <a:buNone/>
            </a:pPr>
            <a:r>
              <a:rPr lang="en-US" sz="4450">
                <a:solidFill>
                  <a:schemeClr val="dk1"/>
                </a:solidFill>
                <a:latin typeface="Courier New"/>
                <a:ea typeface="Courier New"/>
                <a:cs typeface="Courier New"/>
                <a:sym typeface="Courier New"/>
              </a:rPr>
              <a:t>        process_keyboard(data)</a:t>
            </a:r>
            <a:endParaRPr sz="4450">
              <a:latin typeface="Courier New"/>
              <a:ea typeface="Courier New"/>
              <a:cs typeface="Courier New"/>
              <a:sym typeface="Courier New"/>
            </a:endParaRPr>
          </a:p>
          <a:p>
            <a:pPr indent="0" lvl="0" marL="0" rtl="0" algn="l">
              <a:spcBef>
                <a:spcPts val="640"/>
              </a:spcBef>
              <a:spcAft>
                <a:spcPts val="0"/>
              </a:spcAft>
              <a:buNone/>
            </a:pPr>
            <a:r>
              <a:rPr lang="en-US" sz="4450">
                <a:solidFill>
                  <a:schemeClr val="dk1"/>
                </a:solidFill>
                <a:latin typeface="Courier New"/>
                <a:ea typeface="Courier New"/>
                <a:cs typeface="Courier New"/>
                <a:sym typeface="Courier New"/>
              </a:rPr>
              <a:t>    elif input_type == 'mouse':</a:t>
            </a:r>
            <a:endParaRPr sz="4450">
              <a:latin typeface="Courier New"/>
              <a:ea typeface="Courier New"/>
              <a:cs typeface="Courier New"/>
              <a:sym typeface="Courier New"/>
            </a:endParaRPr>
          </a:p>
          <a:p>
            <a:pPr indent="0" lvl="0" marL="0" rtl="0" algn="l">
              <a:spcBef>
                <a:spcPts val="640"/>
              </a:spcBef>
              <a:spcAft>
                <a:spcPts val="0"/>
              </a:spcAft>
              <a:buNone/>
            </a:pPr>
            <a:r>
              <a:rPr lang="en-US" sz="4450">
                <a:solidFill>
                  <a:schemeClr val="dk1"/>
                </a:solidFill>
                <a:latin typeface="Courier New"/>
                <a:ea typeface="Courier New"/>
                <a:cs typeface="Courier New"/>
                <a:sym typeface="Courier New"/>
              </a:rPr>
              <a:t>        process_mouse(data)</a:t>
            </a:r>
            <a:endParaRPr sz="4450">
              <a:latin typeface="Courier New"/>
              <a:ea typeface="Courier New"/>
              <a:cs typeface="Courier New"/>
              <a:sym typeface="Courier New"/>
            </a:endParaRPr>
          </a:p>
          <a:p>
            <a:pPr indent="0" lvl="0" marL="0" rtl="0" algn="l">
              <a:spcBef>
                <a:spcPts val="640"/>
              </a:spcBef>
              <a:spcAft>
                <a:spcPts val="0"/>
              </a:spcAft>
              <a:buClr>
                <a:schemeClr val="dk1"/>
              </a:buClr>
              <a:buSzPct val="53658"/>
              <a:buFont typeface="Arial"/>
              <a:buNone/>
            </a:pPr>
            <a:r>
              <a:t/>
            </a:r>
            <a:endParaRPr sz="2050">
              <a:latin typeface="Courier New"/>
              <a:ea typeface="Courier New"/>
              <a:cs typeface="Courier New"/>
              <a:sym typeface="Courier New"/>
            </a:endParaRPr>
          </a:p>
          <a:p>
            <a:pPr indent="0" lvl="0" marL="0" rtl="0" algn="l">
              <a:spcBef>
                <a:spcPts val="640"/>
              </a:spcBef>
              <a:spcAft>
                <a:spcPts val="0"/>
              </a:spcAft>
              <a:buNone/>
            </a:pPr>
            <a:r>
              <a:t/>
            </a:r>
            <a:endParaRPr sz="2050">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5176d4ed07_0_5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Temporal Cohesion</a:t>
            </a:r>
            <a:endParaRPr/>
          </a:p>
        </p:txBody>
      </p:sp>
      <p:sp>
        <p:nvSpPr>
          <p:cNvPr id="180" name="Google Shape;180;g35176d4ed07_0_5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Tasks executed at the same time.</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Example:</a:t>
            </a:r>
            <a:endParaRPr sz="3200">
              <a:solidFill>
                <a:schemeClr val="dk1"/>
              </a:solidFill>
              <a:latin typeface="Calibri"/>
              <a:ea typeface="Calibri"/>
              <a:cs typeface="Calibri"/>
              <a:sym typeface="Calibri"/>
            </a:endParaRPr>
          </a:p>
          <a:p>
            <a:pPr indent="0" lvl="0" marL="342900" rtl="0" algn="l">
              <a:spcBef>
                <a:spcPts val="640"/>
              </a:spcBef>
              <a:spcAft>
                <a:spcPts val="0"/>
              </a:spcAft>
              <a:buNone/>
            </a:pPr>
            <a:r>
              <a:t/>
            </a:r>
            <a:endParaRPr sz="3200"/>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def initialize_system():</a:t>
            </a:r>
            <a:endParaRPr sz="2800">
              <a:latin typeface="Courier New"/>
              <a:ea typeface="Courier New"/>
              <a:cs typeface="Courier New"/>
              <a:sym typeface="Courier New"/>
            </a:endParaRPr>
          </a:p>
          <a:p>
            <a:pPr indent="457200" lvl="0" marL="0" rtl="0" algn="l">
              <a:spcBef>
                <a:spcPts val="640"/>
              </a:spcBef>
              <a:spcAft>
                <a:spcPts val="0"/>
              </a:spcAft>
              <a:buNone/>
            </a:pPr>
            <a:r>
              <a:rPr lang="en-US" sz="2800">
                <a:solidFill>
                  <a:schemeClr val="dk1"/>
                </a:solidFill>
                <a:latin typeface="Courier New"/>
                <a:ea typeface="Courier New"/>
                <a:cs typeface="Courier New"/>
                <a:sym typeface="Courier New"/>
              </a:rPr>
              <a:t>load_config()</a:t>
            </a:r>
            <a:endParaRPr sz="2800">
              <a:latin typeface="Courier New"/>
              <a:ea typeface="Courier New"/>
              <a:cs typeface="Courier New"/>
              <a:sym typeface="Courier New"/>
            </a:endParaRPr>
          </a:p>
          <a:p>
            <a:pPr indent="114300" lvl="0" marL="342900" rtl="0" algn="l">
              <a:spcBef>
                <a:spcPts val="640"/>
              </a:spcBef>
              <a:spcAft>
                <a:spcPts val="0"/>
              </a:spcAft>
              <a:buNone/>
            </a:pPr>
            <a:r>
              <a:rPr lang="en-US" sz="2800">
                <a:solidFill>
                  <a:schemeClr val="dk1"/>
                </a:solidFill>
                <a:latin typeface="Courier New"/>
                <a:ea typeface="Courier New"/>
                <a:cs typeface="Courier New"/>
                <a:sym typeface="Courier New"/>
              </a:rPr>
              <a:t>connect_database()</a:t>
            </a:r>
            <a:endParaRPr sz="2800">
              <a:latin typeface="Courier New"/>
              <a:ea typeface="Courier New"/>
              <a:cs typeface="Courier New"/>
              <a:sym typeface="Courier New"/>
            </a:endParaRPr>
          </a:p>
          <a:p>
            <a:pPr indent="457200" lvl="0" marL="0" rtl="0" algn="l">
              <a:spcBef>
                <a:spcPts val="640"/>
              </a:spcBef>
              <a:spcAft>
                <a:spcPts val="0"/>
              </a:spcAft>
              <a:buNone/>
            </a:pPr>
            <a:r>
              <a:rPr lang="en-US" sz="2800">
                <a:solidFill>
                  <a:schemeClr val="dk1"/>
                </a:solidFill>
                <a:latin typeface="Courier New"/>
                <a:ea typeface="Courier New"/>
                <a:cs typeface="Courier New"/>
                <a:sym typeface="Courier New"/>
              </a:rPr>
              <a:t>setup_logging()</a:t>
            </a:r>
            <a:endParaRPr sz="2800">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5176d4ed07_0_6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Procedural Cohesion</a:t>
            </a:r>
            <a:endParaRPr/>
          </a:p>
        </p:txBody>
      </p:sp>
      <p:sp>
        <p:nvSpPr>
          <p:cNvPr id="186" name="Google Shape;186;g35176d4ed07_0_6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Tasks done in a sequence and share data.</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Example:</a:t>
            </a:r>
            <a:endParaRPr/>
          </a:p>
          <a:p>
            <a:pPr indent="0" lvl="0" marL="0" rtl="0" algn="l">
              <a:spcBef>
                <a:spcPts val="640"/>
              </a:spcBef>
              <a:spcAft>
                <a:spcPts val="0"/>
              </a:spcAft>
              <a:buNone/>
            </a:pPr>
            <a:r>
              <a:t/>
            </a:r>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def process_file(file):</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open_file(file)</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read_file(file)</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close_file(f</a:t>
            </a:r>
            <a:r>
              <a:rPr lang="en-US" sz="2800">
                <a:latin typeface="Courier New"/>
                <a:ea typeface="Courier New"/>
                <a:cs typeface="Courier New"/>
                <a:sym typeface="Courier New"/>
              </a:rPr>
              <a:t>ile</a:t>
            </a:r>
            <a:r>
              <a:rPr lang="en-US" sz="2800">
                <a:solidFill>
                  <a:schemeClr val="dk1"/>
                </a:solidFill>
                <a:latin typeface="Courier New"/>
                <a:ea typeface="Courier New"/>
                <a:cs typeface="Courier New"/>
                <a:sym typeface="Courier New"/>
              </a:rPr>
              <a:t>)</a:t>
            </a:r>
            <a:endParaRPr sz="2800">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5176d4ed07_0_6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Communicational Cohesion</a:t>
            </a:r>
            <a:endParaRPr/>
          </a:p>
        </p:txBody>
      </p:sp>
      <p:sp>
        <p:nvSpPr>
          <p:cNvPr id="192" name="Google Shape;192;g35176d4ed07_0_6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Tasks operate on the same data.</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Example:</a:t>
            </a:r>
            <a:endParaRPr/>
          </a:p>
          <a:p>
            <a:pPr indent="0" lvl="0" marL="0" rtl="0" algn="l">
              <a:spcBef>
                <a:spcPts val="640"/>
              </a:spcBef>
              <a:spcAft>
                <a:spcPts val="0"/>
              </a:spcAft>
              <a:buNone/>
            </a:pPr>
            <a:r>
              <a:t/>
            </a:r>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def generate_report(data):</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summary = calculate_summary(data)</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chart = create_chart(data)</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print_report(summary, chart)</a:t>
            </a:r>
            <a:endParaRPr sz="2800">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5176d4ed07_0_7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Sequential Cohesion</a:t>
            </a:r>
            <a:endParaRPr/>
          </a:p>
        </p:txBody>
      </p:sp>
      <p:sp>
        <p:nvSpPr>
          <p:cNvPr id="198" name="Google Shape;198;g35176d4ed07_0_72"/>
          <p:cNvSpPr txBox="1"/>
          <p:nvPr>
            <p:ph idx="1" type="body"/>
          </p:nvPr>
        </p:nvSpPr>
        <p:spPr>
          <a:xfrm>
            <a:off x="144225" y="1600200"/>
            <a:ext cx="8936700" cy="4853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Output of one step is input to the next.</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Example:</a:t>
            </a:r>
            <a:endParaRPr/>
          </a:p>
          <a:p>
            <a:pPr indent="0" lvl="0" marL="0" rtl="0" algn="l">
              <a:spcBef>
                <a:spcPts val="640"/>
              </a:spcBef>
              <a:spcAft>
                <a:spcPts val="0"/>
              </a:spcAft>
              <a:buNone/>
            </a:pPr>
            <a:r>
              <a:t/>
            </a:r>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def process_</a:t>
            </a:r>
            <a:r>
              <a:rPr lang="en-US" sz="2800">
                <a:latin typeface="Courier New"/>
                <a:ea typeface="Courier New"/>
                <a:cs typeface="Courier New"/>
                <a:sym typeface="Courier New"/>
              </a:rPr>
              <a:t>jpg</a:t>
            </a:r>
            <a:r>
              <a:rPr lang="en-US" sz="2800">
                <a:solidFill>
                  <a:schemeClr val="dk1"/>
                </a:solidFill>
                <a:latin typeface="Courier New"/>
                <a:ea typeface="Courier New"/>
                <a:cs typeface="Courier New"/>
                <a:sym typeface="Courier New"/>
              </a:rPr>
              <a:t>(</a:t>
            </a:r>
            <a:r>
              <a:rPr lang="en-US" sz="2800">
                <a:latin typeface="Courier New"/>
                <a:ea typeface="Courier New"/>
                <a:cs typeface="Courier New"/>
                <a:sym typeface="Courier New"/>
              </a:rPr>
              <a:t>jpg</a:t>
            </a:r>
            <a:r>
              <a:rPr lang="en-US" sz="2800">
                <a:solidFill>
                  <a:schemeClr val="dk1"/>
                </a:solidFill>
                <a:latin typeface="Courier New"/>
                <a:ea typeface="Courier New"/>
                <a:cs typeface="Courier New"/>
                <a:sym typeface="Courier New"/>
              </a:rPr>
              <a:t>):</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a:t>
            </a:r>
            <a:r>
              <a:rPr lang="en-US" sz="2800">
                <a:latin typeface="Courier New"/>
                <a:ea typeface="Courier New"/>
                <a:cs typeface="Courier New"/>
                <a:sym typeface="Courier New"/>
              </a:rPr>
              <a:t>loaded_</a:t>
            </a:r>
            <a:r>
              <a:rPr lang="en-US" sz="2800">
                <a:latin typeface="Courier New"/>
                <a:ea typeface="Courier New"/>
                <a:cs typeface="Courier New"/>
                <a:sym typeface="Courier New"/>
              </a:rPr>
              <a:t>jpg</a:t>
            </a:r>
            <a:r>
              <a:rPr lang="en-US" sz="2800">
                <a:latin typeface="Courier New"/>
                <a:ea typeface="Courier New"/>
                <a:cs typeface="Courier New"/>
                <a:sym typeface="Courier New"/>
              </a:rPr>
              <a:t> </a:t>
            </a:r>
            <a:r>
              <a:rPr lang="en-US" sz="2800">
                <a:solidFill>
                  <a:schemeClr val="dk1"/>
                </a:solidFill>
                <a:latin typeface="Courier New"/>
                <a:ea typeface="Courier New"/>
                <a:cs typeface="Courier New"/>
                <a:sym typeface="Courier New"/>
              </a:rPr>
              <a:t>=</a:t>
            </a:r>
            <a:r>
              <a:rPr lang="en-US" sz="2800">
                <a:latin typeface="Courier New"/>
                <a:ea typeface="Courier New"/>
                <a:cs typeface="Courier New"/>
                <a:sym typeface="Courier New"/>
              </a:rPr>
              <a:t> load_jpg</a:t>
            </a:r>
            <a:r>
              <a:rPr lang="en-US" sz="2800">
                <a:solidFill>
                  <a:schemeClr val="dk1"/>
                </a:solidFill>
                <a:latin typeface="Courier New"/>
                <a:ea typeface="Courier New"/>
                <a:cs typeface="Courier New"/>
                <a:sym typeface="Courier New"/>
              </a:rPr>
              <a:t>(</a:t>
            </a:r>
            <a:r>
              <a:rPr lang="en-US" sz="2800">
                <a:latin typeface="Courier New"/>
                <a:ea typeface="Courier New"/>
                <a:cs typeface="Courier New"/>
                <a:sym typeface="Courier New"/>
              </a:rPr>
              <a:t>jpg</a:t>
            </a:r>
            <a:r>
              <a:rPr lang="en-US" sz="2800">
                <a:solidFill>
                  <a:schemeClr val="dk1"/>
                </a:solidFill>
                <a:latin typeface="Courier New"/>
                <a:ea typeface="Courier New"/>
                <a:cs typeface="Courier New"/>
                <a:sym typeface="Courier New"/>
              </a:rPr>
              <a:t>)</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a:t>
            </a:r>
            <a:r>
              <a:rPr lang="en-US" sz="2800">
                <a:latin typeface="Courier New"/>
                <a:ea typeface="Courier New"/>
                <a:cs typeface="Courier New"/>
                <a:sym typeface="Courier New"/>
              </a:rPr>
              <a:t>resized_jpg </a:t>
            </a:r>
            <a:r>
              <a:rPr lang="en-US" sz="2800">
                <a:solidFill>
                  <a:schemeClr val="dk1"/>
                </a:solidFill>
                <a:latin typeface="Courier New"/>
                <a:ea typeface="Courier New"/>
                <a:cs typeface="Courier New"/>
                <a:sym typeface="Courier New"/>
              </a:rPr>
              <a:t>=</a:t>
            </a:r>
            <a:r>
              <a:rPr lang="en-US" sz="2800">
                <a:latin typeface="Courier New"/>
                <a:ea typeface="Courier New"/>
                <a:cs typeface="Courier New"/>
                <a:sym typeface="Courier New"/>
              </a:rPr>
              <a:t> resize_jpg(loaded_jpg)</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a:t>
            </a:r>
            <a:r>
              <a:rPr lang="en-US" sz="2800">
                <a:latin typeface="Courier New"/>
                <a:ea typeface="Courier New"/>
                <a:cs typeface="Courier New"/>
                <a:sym typeface="Courier New"/>
              </a:rPr>
              <a:t>upload_jpg </a:t>
            </a:r>
            <a:r>
              <a:rPr lang="en-US" sz="2800">
                <a:solidFill>
                  <a:schemeClr val="dk1"/>
                </a:solidFill>
                <a:latin typeface="Courier New"/>
                <a:ea typeface="Courier New"/>
                <a:cs typeface="Courier New"/>
                <a:sym typeface="Courier New"/>
              </a:rPr>
              <a:t>(</a:t>
            </a:r>
            <a:r>
              <a:rPr lang="en-US" sz="2800">
                <a:latin typeface="Courier New"/>
                <a:ea typeface="Courier New"/>
                <a:cs typeface="Courier New"/>
                <a:sym typeface="Courier New"/>
              </a:rPr>
              <a:t>resized_jpg</a:t>
            </a:r>
            <a:r>
              <a:rPr lang="en-US" sz="2800">
                <a:solidFill>
                  <a:schemeClr val="dk1"/>
                </a:solidFill>
                <a:latin typeface="Courier New"/>
                <a:ea typeface="Courier New"/>
                <a:cs typeface="Courier New"/>
                <a:sym typeface="Courier New"/>
              </a:rPr>
              <a:t>)</a:t>
            </a:r>
            <a:endParaRPr sz="2800">
              <a:latin typeface="Courier New"/>
              <a:ea typeface="Courier New"/>
              <a:cs typeface="Courier New"/>
              <a:sym typeface="Courier New"/>
            </a:endParaRPr>
          </a:p>
          <a:p>
            <a:pPr indent="0" lvl="0" marL="0" rtl="0" algn="l">
              <a:spcBef>
                <a:spcPts val="64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5176d4ed07_0_7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Functional Cohesion (Best)</a:t>
            </a:r>
            <a:endParaRPr/>
          </a:p>
        </p:txBody>
      </p:sp>
      <p:sp>
        <p:nvSpPr>
          <p:cNvPr id="204" name="Google Shape;204;g35176d4ed07_0_7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Every part contributes to one task.</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Example:</a:t>
            </a:r>
            <a:endParaRPr/>
          </a:p>
          <a:p>
            <a:pPr indent="0" lvl="0" marL="0" rtl="0" algn="l">
              <a:spcBef>
                <a:spcPts val="640"/>
              </a:spcBef>
              <a:spcAft>
                <a:spcPts val="0"/>
              </a:spcAft>
              <a:buNone/>
            </a:pPr>
            <a:r>
              <a:t/>
            </a:r>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def calculate_average(numbers):</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total = sum(numbers)</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return total / len(</a:t>
            </a:r>
            <a:r>
              <a:rPr lang="en-US" sz="2800">
                <a:latin typeface="Courier New"/>
                <a:ea typeface="Courier New"/>
                <a:cs typeface="Courier New"/>
                <a:sym typeface="Courier New"/>
              </a:rPr>
              <a:t>numbers</a:t>
            </a:r>
            <a:r>
              <a:rPr lang="en-US" sz="2800">
                <a:solidFill>
                  <a:schemeClr val="dk1"/>
                </a:solidFill>
                <a:latin typeface="Courier New"/>
                <a:ea typeface="Courier New"/>
                <a:cs typeface="Courier New"/>
                <a:sym typeface="Courier New"/>
              </a:rPr>
              <a:t>)</a:t>
            </a:r>
            <a:endParaRPr sz="2800">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210" name="Google Shape;210;p1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211" name="Google Shape;211;p17"/>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12" name="Google Shape;212;p1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Chapter_11_illus11" id="213" name="Google Shape;213;p17"/>
          <p:cNvPicPr preferRelativeResize="0"/>
          <p:nvPr/>
        </p:nvPicPr>
        <p:blipFill rotWithShape="1">
          <a:blip r:embed="rId3">
            <a:alphaModFix/>
          </a:blip>
          <a:srcRect b="13332" l="16667" r="21873" t="7499"/>
          <a:stretch/>
        </p:blipFill>
        <p:spPr>
          <a:xfrm>
            <a:off x="1308925" y="49213"/>
            <a:ext cx="6858000" cy="6759574"/>
          </a:xfrm>
          <a:prstGeom prst="rect">
            <a:avLst/>
          </a:prstGeom>
          <a:noFill/>
          <a:ln>
            <a:noFill/>
          </a:ln>
          <a:effectLst>
            <a:outerShdw blurRad="63500" dir="2700000" dist="139700">
              <a:srgbClr val="333333">
                <a:alpha val="64705"/>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Cohesion Decision Tree</a:t>
            </a:r>
            <a:endParaRPr/>
          </a:p>
        </p:txBody>
      </p:sp>
      <p:sp>
        <p:nvSpPr>
          <p:cNvPr id="219" name="Google Shape;219;p18"/>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20" name="Google Shape;220;p1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Chapter_11_illus11" id="221" name="Google Shape;221;p18"/>
          <p:cNvPicPr preferRelativeResize="0"/>
          <p:nvPr/>
        </p:nvPicPr>
        <p:blipFill rotWithShape="1">
          <a:blip r:embed="rId3">
            <a:alphaModFix/>
          </a:blip>
          <a:srcRect b="31180" l="10304" r="9977" t="32286"/>
          <a:stretch/>
        </p:blipFill>
        <p:spPr>
          <a:xfrm>
            <a:off x="-1587" y="1533525"/>
            <a:ext cx="9145587" cy="54244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1"/>
                                        </p:tgtEl>
                                        <p:attrNameLst>
                                          <p:attrName>style.visibility</p:attrName>
                                        </p:attrNameLst>
                                      </p:cBhvr>
                                      <p:to>
                                        <p:strVal val="visible"/>
                                      </p:to>
                                    </p:set>
                                    <p:anim calcmode="lin" valueType="num">
                                      <p:cBhvr additive="base">
                                        <p:cTn dur="500"/>
                                        <p:tgtEl>
                                          <p:spTgt spid="22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9"/>
          <p:cNvSpPr txBox="1"/>
          <p:nvPr>
            <p:ph type="title"/>
          </p:nvPr>
        </p:nvSpPr>
        <p:spPr>
          <a:xfrm>
            <a:off x="304800" y="227012"/>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Fan-In</a:t>
            </a:r>
            <a:endParaRPr/>
          </a:p>
        </p:txBody>
      </p:sp>
      <p:sp>
        <p:nvSpPr>
          <p:cNvPr id="227" name="Google Shape;227;p1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rgbClr val="0070C0"/>
              </a:buClr>
              <a:buSzPts val="5100"/>
              <a:buFont typeface="Noto Sans Symbols"/>
              <a:buChar char="▪"/>
            </a:pPr>
            <a:r>
              <a:rPr b="1" i="1" lang="en-US" sz="3400" u="none">
                <a:solidFill>
                  <a:srgbClr val="0033CC"/>
                </a:solidFill>
                <a:latin typeface="Calibri"/>
                <a:ea typeface="Calibri"/>
                <a:cs typeface="Calibri"/>
                <a:sym typeface="Calibri"/>
              </a:rPr>
              <a:t>Fan-in</a:t>
            </a:r>
            <a:r>
              <a:rPr b="0" i="0" lang="en-US" sz="3400" u="none">
                <a:solidFill>
                  <a:schemeClr val="dk1"/>
                </a:solidFill>
                <a:latin typeface="Calibri"/>
                <a:ea typeface="Calibri"/>
                <a:cs typeface="Calibri"/>
                <a:sym typeface="Calibri"/>
              </a:rPr>
              <a:t> describes the number of control modules that communicate with a subordinate.</a:t>
            </a:r>
            <a:endParaRPr/>
          </a:p>
          <a:p>
            <a:pPr indent="-342900" lvl="0" marL="342900" marR="0" rtl="0" algn="l">
              <a:lnSpc>
                <a:spcPct val="100000"/>
              </a:lnSpc>
              <a:spcBef>
                <a:spcPts val="0"/>
              </a:spcBef>
              <a:spcAft>
                <a:spcPts val="0"/>
              </a:spcAft>
              <a:buClr>
                <a:srgbClr val="0070C0"/>
              </a:buClr>
              <a:buSzPts val="5100"/>
              <a:buFont typeface="Noto Sans Symbols"/>
              <a:buChar char="▪"/>
            </a:pPr>
            <a:r>
              <a:rPr b="0" i="0" lang="en-US" sz="3400" u="none">
                <a:solidFill>
                  <a:schemeClr val="dk1"/>
                </a:solidFill>
                <a:latin typeface="Calibri"/>
                <a:ea typeface="Calibri"/>
                <a:cs typeface="Calibri"/>
                <a:sym typeface="Calibri"/>
              </a:rPr>
              <a:t> A module with high fan-in has many different control modules that call it.  This is a good situation because high fan-in indicates that a module is reused in many places on the structure chart.</a:t>
            </a:r>
            <a:endParaRPr/>
          </a:p>
        </p:txBody>
      </p:sp>
      <p:sp>
        <p:nvSpPr>
          <p:cNvPr id="228" name="Google Shape;228;p19"/>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29" name="Google Shape;229;p1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Fan-Out</a:t>
            </a:r>
            <a:endParaRPr/>
          </a:p>
        </p:txBody>
      </p:sp>
      <p:sp>
        <p:nvSpPr>
          <p:cNvPr id="235" name="Google Shape;235;p20"/>
          <p:cNvSpPr txBox="1"/>
          <p:nvPr>
            <p:ph idx="1" type="body"/>
          </p:nvPr>
        </p:nvSpPr>
        <p:spPr>
          <a:xfrm>
            <a:off x="600675" y="1523400"/>
            <a:ext cx="8229600" cy="5781300"/>
          </a:xfrm>
          <a:prstGeom prst="rect">
            <a:avLst/>
          </a:prstGeom>
          <a:noFill/>
          <a:ln>
            <a:noFill/>
          </a:ln>
        </p:spPr>
        <p:txBody>
          <a:bodyPr anchorCtr="0" anchor="t" bIns="45700" lIns="91425" spcFirstLastPara="1" rIns="91425" wrap="square" tIns="45700">
            <a:noAutofit/>
          </a:bodyPr>
          <a:lstStyle/>
          <a:p>
            <a:pPr indent="-254000" lvl="0" marL="342900" marR="0" rtl="0" algn="just">
              <a:lnSpc>
                <a:spcPct val="100000"/>
              </a:lnSpc>
              <a:spcBef>
                <a:spcPts val="0"/>
              </a:spcBef>
              <a:spcAft>
                <a:spcPts val="0"/>
              </a:spcAft>
              <a:buClr>
                <a:srgbClr val="0070C0"/>
              </a:buClr>
              <a:buSzPts val="3400"/>
              <a:buFont typeface="Noto Sans Symbols"/>
              <a:buChar char="▪"/>
            </a:pPr>
            <a:r>
              <a:rPr b="0" i="0" lang="en-US" sz="3400" u="none">
                <a:solidFill>
                  <a:schemeClr val="dk1"/>
                </a:solidFill>
                <a:latin typeface="Calibri"/>
                <a:ea typeface="Calibri"/>
                <a:cs typeface="Calibri"/>
                <a:sym typeface="Calibri"/>
              </a:rPr>
              <a:t>A large number of subordinates associated with a single control should be avoided.</a:t>
            </a:r>
            <a:endParaRPr sz="3400"/>
          </a:p>
          <a:p>
            <a:pPr indent="-254000" lvl="0" marL="342900" marR="0" rtl="0" algn="just">
              <a:lnSpc>
                <a:spcPct val="100000"/>
              </a:lnSpc>
              <a:spcBef>
                <a:spcPts val="0"/>
              </a:spcBef>
              <a:spcAft>
                <a:spcPts val="0"/>
              </a:spcAft>
              <a:buClr>
                <a:srgbClr val="0070C0"/>
              </a:buClr>
              <a:buSzPts val="3400"/>
              <a:buFont typeface="Noto Sans Symbols"/>
              <a:buChar char="▪"/>
            </a:pPr>
            <a:r>
              <a:rPr b="0" i="0" lang="en-US" sz="3400" u="none">
                <a:solidFill>
                  <a:schemeClr val="dk1"/>
                </a:solidFill>
                <a:latin typeface="Calibri"/>
                <a:ea typeface="Calibri"/>
                <a:cs typeface="Calibri"/>
                <a:sym typeface="Calibri"/>
              </a:rPr>
              <a:t>The general rule of thumb is to limit a control </a:t>
            </a:r>
            <a:r>
              <a:rPr lang="en-US" sz="3400"/>
              <a:t>module</a:t>
            </a:r>
            <a:r>
              <a:rPr b="0" i="0" lang="en-US" sz="3400" u="none">
                <a:solidFill>
                  <a:schemeClr val="dk1"/>
                </a:solidFill>
                <a:latin typeface="Calibri"/>
                <a:ea typeface="Calibri"/>
                <a:cs typeface="Calibri"/>
                <a:sym typeface="Calibri"/>
              </a:rPr>
              <a:t> subordinates to approximately </a:t>
            </a:r>
            <a:r>
              <a:rPr b="0" i="0" lang="en-US" sz="3400" u="none">
                <a:solidFill>
                  <a:srgbClr val="0033CC"/>
                </a:solidFill>
                <a:latin typeface="Calibri"/>
                <a:ea typeface="Calibri"/>
                <a:cs typeface="Calibri"/>
                <a:sym typeface="Calibri"/>
              </a:rPr>
              <a:t>seven</a:t>
            </a:r>
            <a:r>
              <a:rPr b="0" i="0" lang="en-US" sz="3400" u="none">
                <a:solidFill>
                  <a:schemeClr val="dk1"/>
                </a:solidFill>
                <a:latin typeface="Calibri"/>
                <a:ea typeface="Calibri"/>
                <a:cs typeface="Calibri"/>
                <a:sym typeface="Calibri"/>
              </a:rPr>
              <a:t> for low </a:t>
            </a:r>
            <a:r>
              <a:rPr b="1" i="1" lang="en-US" sz="3400" u="none">
                <a:solidFill>
                  <a:srgbClr val="0033CC"/>
                </a:solidFill>
                <a:latin typeface="Calibri"/>
                <a:ea typeface="Calibri"/>
                <a:cs typeface="Calibri"/>
                <a:sym typeface="Calibri"/>
              </a:rPr>
              <a:t>fan-out</a:t>
            </a:r>
            <a:r>
              <a:rPr b="0" i="0" lang="en-US" sz="3400" u="none">
                <a:solidFill>
                  <a:schemeClr val="dk1"/>
                </a:solidFill>
                <a:latin typeface="Calibri"/>
                <a:ea typeface="Calibri"/>
                <a:cs typeface="Calibri"/>
                <a:sym typeface="Calibri"/>
              </a:rPr>
              <a:t>.</a:t>
            </a:r>
            <a:endParaRPr b="0" i="0" sz="3400" u="none">
              <a:solidFill>
                <a:schemeClr val="dk1"/>
              </a:solidFill>
              <a:latin typeface="Calibri"/>
              <a:ea typeface="Calibri"/>
              <a:cs typeface="Calibri"/>
              <a:sym typeface="Calibri"/>
            </a:endParaRPr>
          </a:p>
          <a:p>
            <a:pPr indent="-254000" lvl="0" marL="342900" marR="0" rtl="0" algn="just">
              <a:lnSpc>
                <a:spcPct val="100000"/>
              </a:lnSpc>
              <a:spcBef>
                <a:spcPts val="0"/>
              </a:spcBef>
              <a:spcAft>
                <a:spcPts val="0"/>
              </a:spcAft>
              <a:buClr>
                <a:srgbClr val="0070C0"/>
              </a:buClr>
              <a:buSzPts val="3400"/>
              <a:buFont typeface="Noto Sans Symbols"/>
              <a:buChar char="▪"/>
            </a:pPr>
            <a:r>
              <a:rPr b="1" i="1" lang="en-US" sz="3400" u="none">
                <a:solidFill>
                  <a:schemeClr val="dk1"/>
                </a:solidFill>
                <a:latin typeface="Calibri"/>
                <a:ea typeface="Calibri"/>
                <a:cs typeface="Calibri"/>
                <a:sym typeface="Calibri"/>
              </a:rPr>
              <a:t>fanin</a:t>
            </a:r>
            <a:r>
              <a:rPr b="0" i="1" lang="en-US" sz="3400" u="none">
                <a:solidFill>
                  <a:schemeClr val="dk1"/>
                </a:solidFill>
                <a:latin typeface="Calibri"/>
                <a:ea typeface="Calibri"/>
                <a:cs typeface="Calibri"/>
                <a:sym typeface="Calibri"/>
              </a:rPr>
              <a:t> is call by other modules.</a:t>
            </a:r>
            <a:endParaRPr sz="3400"/>
          </a:p>
          <a:p>
            <a:pPr indent="-323850" lvl="1" marL="742950" marR="0" rtl="0" algn="just">
              <a:lnSpc>
                <a:spcPct val="100000"/>
              </a:lnSpc>
              <a:spcBef>
                <a:spcPts val="0"/>
              </a:spcBef>
              <a:spcAft>
                <a:spcPts val="0"/>
              </a:spcAft>
              <a:buClr>
                <a:srgbClr val="FF0000"/>
              </a:buClr>
              <a:buSzPts val="3400"/>
              <a:buFont typeface="Arial"/>
              <a:buChar char="–"/>
            </a:pPr>
            <a:r>
              <a:rPr b="1" i="0" lang="en-US" sz="3400" u="none" cap="none" strike="noStrike">
                <a:solidFill>
                  <a:srgbClr val="FF0000"/>
                </a:solidFill>
                <a:latin typeface="Calibri"/>
                <a:ea typeface="Calibri"/>
                <a:cs typeface="Calibri"/>
                <a:sym typeface="Calibri"/>
              </a:rPr>
              <a:t>Create High Fan-In</a:t>
            </a:r>
            <a:endParaRPr b="1" i="1" sz="3400" u="none" cap="none" strike="noStrike">
              <a:solidFill>
                <a:srgbClr val="FF0000"/>
              </a:solidFill>
              <a:latin typeface="Calibri"/>
              <a:ea typeface="Calibri"/>
              <a:cs typeface="Calibri"/>
              <a:sym typeface="Calibri"/>
            </a:endParaRPr>
          </a:p>
          <a:p>
            <a:pPr indent="-254000" lvl="0" marL="342900" marR="0" rtl="0" algn="just">
              <a:lnSpc>
                <a:spcPct val="100000"/>
              </a:lnSpc>
              <a:spcBef>
                <a:spcPts val="0"/>
              </a:spcBef>
              <a:spcAft>
                <a:spcPts val="0"/>
              </a:spcAft>
              <a:buClr>
                <a:srgbClr val="0070C0"/>
              </a:buClr>
              <a:buSzPts val="3400"/>
              <a:buFont typeface="Noto Sans Symbols"/>
              <a:buChar char="▪"/>
            </a:pPr>
            <a:r>
              <a:rPr b="1" i="1" lang="en-US" sz="3400" u="none">
                <a:solidFill>
                  <a:schemeClr val="dk1"/>
                </a:solidFill>
                <a:latin typeface="Calibri"/>
                <a:ea typeface="Calibri"/>
                <a:cs typeface="Calibri"/>
                <a:sym typeface="Calibri"/>
              </a:rPr>
              <a:t>fanout</a:t>
            </a:r>
            <a:r>
              <a:rPr b="0" i="1" lang="en-US" sz="3400" u="none">
                <a:solidFill>
                  <a:schemeClr val="dk1"/>
                </a:solidFill>
                <a:latin typeface="Calibri"/>
                <a:ea typeface="Calibri"/>
                <a:cs typeface="Calibri"/>
                <a:sym typeface="Calibri"/>
              </a:rPr>
              <a:t> is call from that module.</a:t>
            </a:r>
            <a:endParaRPr sz="3400"/>
          </a:p>
          <a:p>
            <a:pPr indent="-323850" lvl="1" marL="742950" marR="0" rtl="0" algn="just">
              <a:lnSpc>
                <a:spcPct val="100000"/>
              </a:lnSpc>
              <a:spcBef>
                <a:spcPts val="0"/>
              </a:spcBef>
              <a:spcAft>
                <a:spcPts val="0"/>
              </a:spcAft>
              <a:buClr>
                <a:srgbClr val="FF0000"/>
              </a:buClr>
              <a:buSzPts val="3400"/>
              <a:buFont typeface="Arial"/>
              <a:buChar char="–"/>
            </a:pPr>
            <a:r>
              <a:rPr b="1" i="0" lang="en-US" sz="3400" u="none" cap="none" strike="noStrike">
                <a:solidFill>
                  <a:srgbClr val="FF0000"/>
                </a:solidFill>
                <a:latin typeface="Calibri"/>
                <a:ea typeface="Calibri"/>
                <a:cs typeface="Calibri"/>
                <a:sym typeface="Calibri"/>
              </a:rPr>
              <a:t>Avoid High Fan-Out</a:t>
            </a:r>
            <a:endParaRPr b="1" i="1" sz="3400" u="none" cap="none" strike="noStrike">
              <a:solidFill>
                <a:srgbClr val="FF0000"/>
              </a:solidFill>
              <a:latin typeface="Calibri"/>
              <a:ea typeface="Calibri"/>
              <a:cs typeface="Calibri"/>
              <a:sym typeface="Calibri"/>
            </a:endParaRPr>
          </a:p>
          <a:p>
            <a:pPr indent="-165100" lvl="0" marL="342900" marR="0" rtl="0" algn="l">
              <a:spcBef>
                <a:spcPts val="560"/>
              </a:spcBef>
              <a:spcAft>
                <a:spcPts val="0"/>
              </a:spcAft>
              <a:buClr>
                <a:schemeClr val="dk1"/>
              </a:buClr>
              <a:buSzPts val="2800"/>
              <a:buFont typeface="Arial"/>
              <a:buNone/>
            </a:pPr>
            <a:r>
              <a:t/>
            </a:r>
            <a:endParaRPr b="1" i="1" sz="3400" u="none" cap="none" strike="noStrike">
              <a:solidFill>
                <a:srgbClr val="FF0000"/>
              </a:solidFill>
              <a:latin typeface="Calibri"/>
              <a:ea typeface="Calibri"/>
              <a:cs typeface="Calibri"/>
              <a:sym typeface="Calibri"/>
            </a:endParaRPr>
          </a:p>
        </p:txBody>
      </p:sp>
      <p:sp>
        <p:nvSpPr>
          <p:cNvPr id="236" name="Google Shape;236;p20"/>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37" name="Google Shape;237;p2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1"/>
          <p:cNvSpPr txBox="1"/>
          <p:nvPr>
            <p:ph type="title"/>
          </p:nvPr>
        </p:nvSpPr>
        <p:spPr>
          <a:xfrm>
            <a:off x="381000" y="152400"/>
            <a:ext cx="8229600" cy="73183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Examples of Fan-in and Fan-out </a:t>
            </a:r>
            <a:endParaRPr/>
          </a:p>
        </p:txBody>
      </p:sp>
      <p:sp>
        <p:nvSpPr>
          <p:cNvPr id="243" name="Google Shape;243;p21"/>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44" name="Google Shape;244;p2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Chapter_11_illus11" id="245" name="Google Shape;245;p21"/>
          <p:cNvPicPr preferRelativeResize="0"/>
          <p:nvPr/>
        </p:nvPicPr>
        <p:blipFill rotWithShape="1">
          <a:blip r:embed="rId3">
            <a:alphaModFix/>
          </a:blip>
          <a:srcRect b="13635" l="12745" r="12744" t="12878"/>
          <a:stretch/>
        </p:blipFill>
        <p:spPr>
          <a:xfrm>
            <a:off x="228600" y="914400"/>
            <a:ext cx="8585200" cy="548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5"/>
                                        </p:tgtEl>
                                        <p:attrNameLst>
                                          <p:attrName>style.visibility</p:attrName>
                                        </p:attrNameLst>
                                      </p:cBhvr>
                                      <p:to>
                                        <p:strVal val="visible"/>
                                      </p:to>
                                    </p:set>
                                    <p:anim calcmode="lin" valueType="num">
                                      <p:cBhvr additive="base">
                                        <p:cTn dur="500"/>
                                        <p:tgtEl>
                                          <p:spTgt spid="24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Assess the Chart for Quality</a:t>
            </a:r>
            <a:endParaRPr/>
          </a:p>
        </p:txBody>
      </p:sp>
      <p:sp>
        <p:nvSpPr>
          <p:cNvPr id="251" name="Google Shape;251;p2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81000" lvl="0" marL="342900" marR="0" rtl="0" algn="l">
              <a:lnSpc>
                <a:spcPct val="90000"/>
              </a:lnSpc>
              <a:spcBef>
                <a:spcPts val="0"/>
              </a:spcBef>
              <a:spcAft>
                <a:spcPts val="0"/>
              </a:spcAft>
              <a:buClr>
                <a:srgbClr val="0070C0"/>
              </a:buClr>
              <a:buSzPts val="6000"/>
              <a:buFont typeface="Noto Sans Symbols"/>
              <a:buChar char="▪"/>
            </a:pPr>
            <a:r>
              <a:rPr b="0" i="0" lang="en-US" sz="4000" u="none">
                <a:solidFill>
                  <a:schemeClr val="dk1"/>
                </a:solidFill>
                <a:latin typeface="Calibri"/>
                <a:ea typeface="Calibri"/>
                <a:cs typeface="Calibri"/>
                <a:sym typeface="Calibri"/>
              </a:rPr>
              <a:t>Check list for structure chart quality</a:t>
            </a:r>
            <a:endParaRPr/>
          </a:p>
        </p:txBody>
      </p:sp>
      <p:sp>
        <p:nvSpPr>
          <p:cNvPr id="252" name="Google Shape;252;p22"/>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53" name="Google Shape;253;p2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0_18" id="254" name="Google Shape;254;p22"/>
          <p:cNvPicPr preferRelativeResize="0"/>
          <p:nvPr/>
        </p:nvPicPr>
        <p:blipFill rotWithShape="1">
          <a:blip r:embed="rId3">
            <a:alphaModFix/>
          </a:blip>
          <a:srcRect b="0" l="0" r="0" t="0"/>
          <a:stretch/>
        </p:blipFill>
        <p:spPr>
          <a:xfrm>
            <a:off x="152400" y="2362200"/>
            <a:ext cx="8686800" cy="3867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gtEl>
                                        <p:attrNameLst>
                                          <p:attrName>style.visibility</p:attrName>
                                        </p:attrNameLst>
                                      </p:cBhvr>
                                      <p:to>
                                        <p:strVal val="visible"/>
                                      </p:to>
                                    </p:set>
                                    <p:anim calcmode="lin" valueType="num">
                                      <p:cBhvr additive="base">
                                        <p:cTn dur="500"/>
                                        <p:tgtEl>
                                          <p:spTgt spid="25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PROGRAM SPECIFICATION</a:t>
            </a:r>
            <a:endParaRPr/>
          </a:p>
        </p:txBody>
      </p:sp>
      <p:sp>
        <p:nvSpPr>
          <p:cNvPr id="260" name="Google Shape;260;p23"/>
          <p:cNvSpPr txBox="1"/>
          <p:nvPr>
            <p:ph idx="1" type="body"/>
          </p:nvPr>
        </p:nvSpPr>
        <p:spPr>
          <a:xfrm>
            <a:off x="457200" y="1295400"/>
            <a:ext cx="8458200" cy="4953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70C0"/>
              </a:buClr>
              <a:buSzPts val="4200"/>
              <a:buFont typeface="Noto Sans Symbols"/>
              <a:buChar char="▪"/>
            </a:pPr>
            <a:r>
              <a:rPr b="1" i="1" lang="en-US" sz="2800" u="none">
                <a:solidFill>
                  <a:srgbClr val="0033CC"/>
                </a:solidFill>
                <a:latin typeface="Calibri"/>
                <a:ea typeface="Calibri"/>
                <a:cs typeface="Calibri"/>
                <a:sym typeface="Calibri"/>
              </a:rPr>
              <a:t>Program Specifications </a:t>
            </a:r>
            <a:r>
              <a:rPr b="0" i="0" lang="en-US" sz="2800" u="none">
                <a:solidFill>
                  <a:schemeClr val="dk1"/>
                </a:solidFill>
                <a:latin typeface="Calibri"/>
                <a:ea typeface="Calibri"/>
                <a:cs typeface="Calibri"/>
                <a:sym typeface="Calibri"/>
              </a:rPr>
              <a:t>are documents that include explicit instructions on how to program pieces of code.</a:t>
            </a:r>
            <a:endParaRPr/>
          </a:p>
          <a:p>
            <a:pPr indent="-342900" lvl="0" marL="342900" marR="0" rtl="0" algn="l">
              <a:lnSpc>
                <a:spcPct val="100000"/>
              </a:lnSpc>
              <a:spcBef>
                <a:spcPts val="0"/>
              </a:spcBef>
              <a:spcAft>
                <a:spcPts val="0"/>
              </a:spcAft>
              <a:buClr>
                <a:srgbClr val="0070C0"/>
              </a:buClr>
              <a:buSzPts val="4200"/>
              <a:buFont typeface="Noto Sans Symbols"/>
              <a:buChar char="▪"/>
            </a:pPr>
            <a:r>
              <a:rPr b="0" i="0" lang="en-US" sz="2800" u="none">
                <a:solidFill>
                  <a:schemeClr val="dk1"/>
                </a:solidFill>
                <a:latin typeface="Calibri"/>
                <a:ea typeface="Calibri"/>
                <a:cs typeface="Calibri"/>
                <a:sym typeface="Calibri"/>
              </a:rPr>
              <a:t>There is no formal syntax for program specification.</a:t>
            </a:r>
            <a:endParaRPr/>
          </a:p>
          <a:p>
            <a:pPr indent="-342900" lvl="0" marL="342900" marR="0" rtl="0" algn="l">
              <a:lnSpc>
                <a:spcPct val="100000"/>
              </a:lnSpc>
              <a:spcBef>
                <a:spcPts val="0"/>
              </a:spcBef>
              <a:spcAft>
                <a:spcPts val="0"/>
              </a:spcAft>
              <a:buClr>
                <a:srgbClr val="0070C0"/>
              </a:buClr>
              <a:buSzPts val="4200"/>
              <a:buFont typeface="Noto Sans Symbols"/>
              <a:buChar char="▪"/>
            </a:pPr>
            <a:r>
              <a:rPr b="0" i="0" lang="en-US" sz="2800" u="none">
                <a:solidFill>
                  <a:schemeClr val="dk1"/>
                </a:solidFill>
                <a:latin typeface="Calibri"/>
                <a:ea typeface="Calibri"/>
                <a:cs typeface="Calibri"/>
                <a:sym typeface="Calibri"/>
              </a:rPr>
              <a:t>Four components are essential for program specification:</a:t>
            </a:r>
            <a:endParaRPr/>
          </a:p>
          <a:p>
            <a:pPr indent="-342900" lvl="0" marL="34290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 Program information;</a:t>
            </a:r>
            <a:endParaRPr/>
          </a:p>
          <a:p>
            <a:pPr indent="-342900" lvl="0" marL="34290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 Events;</a:t>
            </a:r>
            <a:endParaRPr/>
          </a:p>
          <a:p>
            <a:pPr indent="-342900" lvl="0" marL="34290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 Inputs and outputs; and</a:t>
            </a:r>
            <a:endParaRPr/>
          </a:p>
          <a:p>
            <a:pPr indent="-342900" lvl="0" marL="34290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 </a:t>
            </a:r>
            <a:r>
              <a:rPr b="1" i="1" lang="en-US" sz="2800" u="none">
                <a:solidFill>
                  <a:srgbClr val="0033CC"/>
                </a:solidFill>
                <a:latin typeface="Calibri"/>
                <a:ea typeface="Calibri"/>
                <a:cs typeface="Calibri"/>
                <a:sym typeface="Calibri"/>
              </a:rPr>
              <a:t>Pseudocode</a:t>
            </a:r>
            <a:r>
              <a:rPr b="0" i="0" lang="en-US" sz="2800" u="none">
                <a:solidFill>
                  <a:schemeClr val="dk1"/>
                </a:solidFill>
                <a:latin typeface="Calibri"/>
                <a:ea typeface="Calibri"/>
                <a:cs typeface="Calibri"/>
                <a:sym typeface="Calibri"/>
              </a:rPr>
              <a:t> – a detailed outline of lines of code that need to  be written.</a:t>
            </a:r>
            <a:endParaRPr b="1" i="1" sz="2800" u="none">
              <a:solidFill>
                <a:srgbClr val="0033CC"/>
              </a:solidFill>
              <a:latin typeface="Calibri"/>
              <a:ea typeface="Calibri"/>
              <a:cs typeface="Calibri"/>
              <a:sym typeface="Calibri"/>
            </a:endParaRPr>
          </a:p>
          <a:p>
            <a:pPr indent="-342900" lvl="0" marL="342900" marR="0" rtl="0" algn="l">
              <a:lnSpc>
                <a:spcPct val="100000"/>
              </a:lnSpc>
              <a:spcBef>
                <a:spcPts val="0"/>
              </a:spcBef>
              <a:spcAft>
                <a:spcPts val="0"/>
              </a:spcAft>
              <a:buClr>
                <a:srgbClr val="0070C0"/>
              </a:buClr>
              <a:buSzPts val="4200"/>
              <a:buFont typeface="Noto Sans Symbols"/>
              <a:buChar char="▪"/>
            </a:pPr>
            <a:r>
              <a:rPr b="0" i="0" lang="en-US" sz="2800" u="none">
                <a:solidFill>
                  <a:schemeClr val="dk1"/>
                </a:solidFill>
                <a:latin typeface="Calibri"/>
                <a:ea typeface="Calibri"/>
                <a:cs typeface="Calibri"/>
                <a:sym typeface="Calibri"/>
              </a:rPr>
              <a:t>Additional notes and comments can also be included.</a:t>
            </a:r>
            <a:endParaRPr/>
          </a:p>
          <a:p>
            <a:pPr indent="-165100" lvl="0" marL="342900" marR="0" rtl="0" algn="l">
              <a:spcBef>
                <a:spcPts val="56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261" name="Google Shape;261;p23"/>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62" name="Google Shape;262;p2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4"/>
          <p:cNvSpPr txBox="1"/>
          <p:nvPr>
            <p:ph type="title"/>
          </p:nvPr>
        </p:nvSpPr>
        <p:spPr>
          <a:xfrm rot="-5400000">
            <a:off x="-1763712" y="3532187"/>
            <a:ext cx="5280025"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b="1" i="0" lang="en-US" sz="3200" u="none">
                <a:solidFill>
                  <a:schemeClr val="dk1"/>
                </a:solidFill>
                <a:latin typeface="Calibri"/>
                <a:ea typeface="Calibri"/>
                <a:cs typeface="Calibri"/>
                <a:sym typeface="Calibri"/>
              </a:rPr>
              <a:t>Program specification form</a:t>
            </a:r>
            <a:endParaRPr/>
          </a:p>
        </p:txBody>
      </p:sp>
      <p:sp>
        <p:nvSpPr>
          <p:cNvPr id="268" name="Google Shape;268;p24"/>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69" name="Google Shape;269;p2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Screen Clipping" id="270" name="Google Shape;270;p24"/>
          <p:cNvPicPr preferRelativeResize="0"/>
          <p:nvPr/>
        </p:nvPicPr>
        <p:blipFill rotWithShape="1">
          <a:blip r:embed="rId3">
            <a:alphaModFix/>
          </a:blip>
          <a:srcRect b="0" l="0" r="0" t="0"/>
          <a:stretch/>
        </p:blipFill>
        <p:spPr>
          <a:xfrm>
            <a:off x="1968500" y="0"/>
            <a:ext cx="5943600" cy="69532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b="1"/>
          </a:p>
        </p:txBody>
      </p:sp>
      <p:pic>
        <p:nvPicPr>
          <p:cNvPr descr="Screen Clipping" id="276" name="Google Shape;276;p25"/>
          <p:cNvPicPr preferRelativeResize="0"/>
          <p:nvPr>
            <p:ph idx="1" type="body"/>
          </p:nvPr>
        </p:nvPicPr>
        <p:blipFill rotWithShape="1">
          <a:blip r:embed="rId3">
            <a:alphaModFix/>
          </a:blip>
          <a:srcRect b="0" l="0" r="0" t="0"/>
          <a:stretch/>
        </p:blipFill>
        <p:spPr>
          <a:xfrm>
            <a:off x="1219200" y="31800"/>
            <a:ext cx="5334000" cy="6794400"/>
          </a:xfrm>
          <a:prstGeom prst="rect">
            <a:avLst/>
          </a:prstGeom>
          <a:noFill/>
          <a:ln>
            <a:noFill/>
          </a:ln>
        </p:spPr>
      </p:pic>
      <p:sp>
        <p:nvSpPr>
          <p:cNvPr id="277" name="Google Shape;277;p25"/>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78" name="Google Shape;278;p2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284" name="Google Shape;284;p2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Pseudocode Example</a:t>
            </a:r>
            <a:endParaRPr/>
          </a:p>
        </p:txBody>
      </p:sp>
      <p:sp>
        <p:nvSpPr>
          <p:cNvPr id="285" name="Google Shape;285;p26"/>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86" name="Google Shape;286;p2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Screen Clipping" id="287" name="Google Shape;287;p26"/>
          <p:cNvPicPr preferRelativeResize="0"/>
          <p:nvPr/>
        </p:nvPicPr>
        <p:blipFill rotWithShape="1">
          <a:blip r:embed="rId3">
            <a:alphaModFix/>
          </a:blip>
          <a:srcRect b="0" l="0" r="0" t="0"/>
          <a:stretch/>
        </p:blipFill>
        <p:spPr>
          <a:xfrm>
            <a:off x="1143000" y="2590800"/>
            <a:ext cx="6086475" cy="316071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SUMMARY</a:t>
            </a:r>
            <a:endParaRPr/>
          </a:p>
        </p:txBody>
      </p:sp>
      <p:sp>
        <p:nvSpPr>
          <p:cNvPr id="293" name="Google Shape;293;p27"/>
          <p:cNvSpPr txBox="1"/>
          <p:nvPr>
            <p:ph idx="1" type="body"/>
          </p:nvPr>
        </p:nvSpPr>
        <p:spPr>
          <a:xfrm>
            <a:off x="457200" y="1600200"/>
            <a:ext cx="8229600" cy="5257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70C0"/>
              </a:buClr>
              <a:buSzPts val="4200"/>
              <a:buFont typeface="Noto Sans Symbols"/>
              <a:buChar char="▪"/>
            </a:pPr>
            <a:r>
              <a:rPr b="1" i="0" lang="en-US" sz="2800" u="none">
                <a:solidFill>
                  <a:schemeClr val="dk1"/>
                </a:solidFill>
                <a:latin typeface="Calibri"/>
                <a:ea typeface="Calibri"/>
                <a:cs typeface="Calibri"/>
                <a:sym typeface="Calibri"/>
              </a:rPr>
              <a:t>Moving from logical to physical process models</a:t>
            </a:r>
            <a:r>
              <a:rPr b="0" i="0" lang="en-US" sz="2800" u="none">
                <a:solidFill>
                  <a:schemeClr val="dk1"/>
                </a:solidFill>
                <a:latin typeface="Calibri"/>
                <a:ea typeface="Calibri"/>
                <a:cs typeface="Calibri"/>
                <a:sym typeface="Calibri"/>
              </a:rPr>
              <a:t>.</a:t>
            </a:r>
            <a:endParaRPr/>
          </a:p>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    - </a:t>
            </a:r>
            <a:r>
              <a:rPr b="0" i="0" lang="en-US" sz="2600" u="none">
                <a:solidFill>
                  <a:srgbClr val="FF0000"/>
                </a:solidFill>
                <a:latin typeface="Calibri"/>
                <a:ea typeface="Calibri"/>
                <a:cs typeface="Calibri"/>
                <a:sym typeface="Calibri"/>
              </a:rPr>
              <a:t>Physical DFDs </a:t>
            </a:r>
            <a:r>
              <a:rPr b="0" i="0" lang="en-US" sz="2600" u="none">
                <a:solidFill>
                  <a:schemeClr val="dk1"/>
                </a:solidFill>
                <a:latin typeface="Calibri"/>
                <a:ea typeface="Calibri"/>
                <a:cs typeface="Calibri"/>
                <a:sym typeface="Calibri"/>
              </a:rPr>
              <a:t>show implementation details.</a:t>
            </a:r>
            <a:endParaRPr/>
          </a:p>
          <a:p>
            <a:pPr indent="-342900" lvl="0" marL="342900" marR="0" rtl="0" algn="l">
              <a:lnSpc>
                <a:spcPct val="100000"/>
              </a:lnSpc>
              <a:spcBef>
                <a:spcPts val="0"/>
              </a:spcBef>
              <a:spcAft>
                <a:spcPts val="0"/>
              </a:spcAft>
              <a:buClr>
                <a:srgbClr val="0070C0"/>
              </a:buClr>
              <a:buSzPts val="4200"/>
              <a:buFont typeface="Noto Sans Symbols"/>
              <a:buChar char="▪"/>
            </a:pPr>
            <a:r>
              <a:rPr b="1" i="0" lang="en-US" sz="2800" u="none">
                <a:solidFill>
                  <a:srgbClr val="FF0000"/>
                </a:solidFill>
                <a:latin typeface="Calibri"/>
                <a:ea typeface="Calibri"/>
                <a:cs typeface="Calibri"/>
                <a:sym typeface="Calibri"/>
              </a:rPr>
              <a:t>Structure chart</a:t>
            </a:r>
            <a:r>
              <a:rPr b="0" i="0" lang="en-US" sz="2800" u="none">
                <a:solidFill>
                  <a:schemeClr val="dk1"/>
                </a:solidFill>
                <a:latin typeface="Calibri"/>
                <a:ea typeface="Calibri"/>
                <a:cs typeface="Calibri"/>
                <a:sym typeface="Calibri"/>
              </a:rPr>
              <a:t>. </a:t>
            </a:r>
            <a:endParaRPr/>
          </a:p>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    - The structure chart shows all of the functional components needed in the program at a high level.  </a:t>
            </a:r>
            <a:endParaRPr/>
          </a:p>
          <a:p>
            <a:pPr indent="-342900" lvl="0" marL="342900" marR="0" rtl="0" algn="l">
              <a:lnSpc>
                <a:spcPct val="100000"/>
              </a:lnSpc>
              <a:spcBef>
                <a:spcPts val="0"/>
              </a:spcBef>
              <a:spcAft>
                <a:spcPts val="0"/>
              </a:spcAft>
              <a:buClr>
                <a:srgbClr val="0070C0"/>
              </a:buClr>
              <a:buSzPts val="4200"/>
              <a:buFont typeface="Noto Sans Symbols"/>
              <a:buChar char="▪"/>
            </a:pPr>
            <a:r>
              <a:rPr b="1" i="0" lang="en-US" sz="2800" u="none">
                <a:solidFill>
                  <a:schemeClr val="dk1"/>
                </a:solidFill>
                <a:latin typeface="Calibri"/>
                <a:ea typeface="Calibri"/>
                <a:cs typeface="Calibri"/>
                <a:sym typeface="Calibri"/>
              </a:rPr>
              <a:t>Building structure chart</a:t>
            </a:r>
            <a:r>
              <a:rPr b="0" i="0" lang="en-US" sz="2800" u="none">
                <a:solidFill>
                  <a:schemeClr val="dk1"/>
                </a:solidFill>
                <a:latin typeface="Calibri"/>
                <a:ea typeface="Calibri"/>
                <a:cs typeface="Calibri"/>
                <a:sym typeface="Calibri"/>
              </a:rPr>
              <a:t>.</a:t>
            </a:r>
            <a:endParaRPr/>
          </a:p>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    - Module, control connection, couples, review.</a:t>
            </a:r>
            <a:endParaRPr/>
          </a:p>
          <a:p>
            <a:pPr indent="-342900" lvl="0" marL="342900" marR="0" rtl="0" algn="l">
              <a:lnSpc>
                <a:spcPct val="100000"/>
              </a:lnSpc>
              <a:spcBef>
                <a:spcPts val="0"/>
              </a:spcBef>
              <a:spcAft>
                <a:spcPts val="0"/>
              </a:spcAft>
              <a:buClr>
                <a:srgbClr val="0070C0"/>
              </a:buClr>
              <a:buSzPts val="4200"/>
              <a:buFont typeface="Noto Sans Symbols"/>
              <a:buChar char="▪"/>
            </a:pPr>
            <a:r>
              <a:rPr b="1" i="0" lang="en-US" sz="2800" u="none">
                <a:solidFill>
                  <a:schemeClr val="dk1"/>
                </a:solidFill>
                <a:latin typeface="Calibri"/>
                <a:ea typeface="Calibri"/>
                <a:cs typeface="Calibri"/>
                <a:sym typeface="Calibri"/>
              </a:rPr>
              <a:t>Structure chart design guidelines</a:t>
            </a:r>
            <a:r>
              <a:rPr b="0" i="0" lang="en-US" sz="2800" u="none">
                <a:solidFill>
                  <a:schemeClr val="dk1"/>
                </a:solidFill>
                <a:latin typeface="Calibri"/>
                <a:ea typeface="Calibri"/>
                <a:cs typeface="Calibri"/>
                <a:sym typeface="Calibri"/>
              </a:rPr>
              <a:t>.</a:t>
            </a:r>
            <a:endParaRPr/>
          </a:p>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    - Cohesion, coupling, and fan-in/fan-out.</a:t>
            </a:r>
            <a:endParaRPr/>
          </a:p>
          <a:p>
            <a:pPr indent="-342900" lvl="0" marL="342900" marR="0" rtl="0" algn="l">
              <a:lnSpc>
                <a:spcPct val="100000"/>
              </a:lnSpc>
              <a:spcBef>
                <a:spcPts val="0"/>
              </a:spcBef>
              <a:spcAft>
                <a:spcPts val="0"/>
              </a:spcAft>
              <a:buClr>
                <a:srgbClr val="0070C0"/>
              </a:buClr>
              <a:buSzPts val="4200"/>
              <a:buFont typeface="Noto Sans Symbols"/>
              <a:buChar char="▪"/>
            </a:pPr>
            <a:r>
              <a:rPr b="1" i="0" lang="en-US" sz="2800" u="none">
                <a:solidFill>
                  <a:srgbClr val="FF0000"/>
                </a:solidFill>
                <a:latin typeface="Calibri"/>
                <a:ea typeface="Calibri"/>
                <a:cs typeface="Calibri"/>
                <a:sym typeface="Calibri"/>
              </a:rPr>
              <a:t>Program specifications</a:t>
            </a:r>
            <a:r>
              <a:rPr b="0" i="0" lang="en-US" sz="2800" u="none">
                <a:solidFill>
                  <a:schemeClr val="dk1"/>
                </a:solidFill>
                <a:latin typeface="Calibri"/>
                <a:ea typeface="Calibri"/>
                <a:cs typeface="Calibri"/>
                <a:sym typeface="Calibri"/>
              </a:rPr>
              <a:t>. </a:t>
            </a:r>
            <a:endParaRPr/>
          </a:p>
          <a:p>
            <a:pPr indent="-342900" lvl="0" marL="34290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    - Program specifications provide more detailed instructions to the programmers.</a:t>
            </a:r>
            <a:endParaRPr/>
          </a:p>
          <a:p>
            <a:pPr indent="-177800" lvl="0" marL="342900" marR="0" rtl="0" algn="l">
              <a:spcBef>
                <a:spcPts val="52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p:txBody>
      </p:sp>
      <p:sp>
        <p:nvSpPr>
          <p:cNvPr id="294" name="Google Shape;294;p27"/>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95" name="Google Shape;295;p2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2011-06-16T14:45:20Z</dcterms:created>
  <dc:creator>Windows User</dc:creator>
</cp:coreProperties>
</file>