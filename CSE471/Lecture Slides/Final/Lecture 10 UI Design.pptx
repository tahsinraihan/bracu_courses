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Master+xml" PartName="/ppt/slideMasters/slideMaster6.xml"/>
  <Override ContentType="application/vnd.openxmlformats-officedocument.presentationml.slideMaster+xml" PartName="/ppt/slideMasters/slideMaster5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7.xml"/>
  <Override ContentType="application/vnd.openxmlformats-officedocument.theme+xml" PartName="/ppt/theme/theme6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firstSlideNum="0" strictFirstAndLastChars="0" saveSubsetFonts="1">
  <p:sldMasterIdLst>
    <p:sldMasterId id="2147483648" r:id="rId4"/>
    <p:sldMasterId id="2147483650" r:id="rId5"/>
    <p:sldMasterId id="2147483652" r:id="rId6"/>
    <p:sldMasterId id="2147483654" r:id="rId7"/>
    <p:sldMasterId id="2147483656" r:id="rId8"/>
    <p:sldMasterId id="2147483657" r:id="rId9"/>
  </p:sldMasterIdLst>
  <p:notesMasterIdLst>
    <p:notesMasterId r:id="rId10"/>
  </p:notes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272" r:id="rId27"/>
    <p:sldId id="273" r:id="rId28"/>
    <p:sldId id="274" r:id="rId29"/>
    <p:sldId id="275" r:id="rId30"/>
    <p:sldId id="276" r:id="rId31"/>
    <p:sldId id="277" r:id="rId32"/>
    <p:sldId id="278" r:id="rId33"/>
    <p:sldId id="279" r:id="rId34"/>
    <p:sldId id="280" r:id="rId35"/>
    <p:sldId id="281" r:id="rId36"/>
    <p:sldId id="282" r:id="rId37"/>
    <p:sldId id="283" r:id="rId38"/>
    <p:sldId id="284" r:id="rId39"/>
    <p:sldId id="285" r:id="rId40"/>
  </p:sldIdLst>
  <p:sldSz cy="6858000" cx="9144000"/>
  <p:notesSz cx="6858000" cy="9144000"/>
  <p:embeddedFontLst>
    <p:embeddedFont>
      <p:font typeface="Tahoma"/>
      <p:regular r:id="rId41"/>
      <p:bold r:id="rId4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43" roundtripDataSignature="AMtx7mh9fMooeaKrPn5En/CMa137IXrcq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0.xml"/><Relationship Id="rId20" Type="http://schemas.openxmlformats.org/officeDocument/2006/relationships/slide" Target="slides/slide10.xml"/><Relationship Id="rId42" Type="http://schemas.openxmlformats.org/officeDocument/2006/relationships/font" Target="fonts/Tahoma-bold.fntdata"/><Relationship Id="rId41" Type="http://schemas.openxmlformats.org/officeDocument/2006/relationships/font" Target="fonts/Tahoma-regular.fntdata"/><Relationship Id="rId22" Type="http://schemas.openxmlformats.org/officeDocument/2006/relationships/slide" Target="slides/slide12.xml"/><Relationship Id="rId21" Type="http://schemas.openxmlformats.org/officeDocument/2006/relationships/slide" Target="slides/slide11.xml"/><Relationship Id="rId43" Type="http://customschemas.google.com/relationships/presentationmetadata" Target="metadata"/><Relationship Id="rId24" Type="http://schemas.openxmlformats.org/officeDocument/2006/relationships/slide" Target="slides/slide14.xml"/><Relationship Id="rId23" Type="http://schemas.openxmlformats.org/officeDocument/2006/relationships/slide" Target="slides/slide13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26" Type="http://schemas.openxmlformats.org/officeDocument/2006/relationships/slide" Target="slides/slide16.xml"/><Relationship Id="rId25" Type="http://schemas.openxmlformats.org/officeDocument/2006/relationships/slide" Target="slides/slide15.xml"/><Relationship Id="rId28" Type="http://schemas.openxmlformats.org/officeDocument/2006/relationships/slide" Target="slides/slide18.xml"/><Relationship Id="rId27" Type="http://schemas.openxmlformats.org/officeDocument/2006/relationships/slide" Target="slides/slide17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29" Type="http://schemas.openxmlformats.org/officeDocument/2006/relationships/slide" Target="slides/slide19.xml"/><Relationship Id="rId7" Type="http://schemas.openxmlformats.org/officeDocument/2006/relationships/slideMaster" Target="slideMasters/slideMaster4.xml"/><Relationship Id="rId8" Type="http://schemas.openxmlformats.org/officeDocument/2006/relationships/slideMaster" Target="slideMasters/slideMaster5.xml"/><Relationship Id="rId31" Type="http://schemas.openxmlformats.org/officeDocument/2006/relationships/slide" Target="slides/slide21.xml"/><Relationship Id="rId30" Type="http://schemas.openxmlformats.org/officeDocument/2006/relationships/slide" Target="slides/slide20.xml"/><Relationship Id="rId11" Type="http://schemas.openxmlformats.org/officeDocument/2006/relationships/slide" Target="slides/slide1.xml"/><Relationship Id="rId33" Type="http://schemas.openxmlformats.org/officeDocument/2006/relationships/slide" Target="slides/slide23.xml"/><Relationship Id="rId10" Type="http://schemas.openxmlformats.org/officeDocument/2006/relationships/notesMaster" Target="notesMasters/notesMaster1.xml"/><Relationship Id="rId32" Type="http://schemas.openxmlformats.org/officeDocument/2006/relationships/slide" Target="slides/slide22.xml"/><Relationship Id="rId13" Type="http://schemas.openxmlformats.org/officeDocument/2006/relationships/slide" Target="slides/slide3.xml"/><Relationship Id="rId35" Type="http://schemas.openxmlformats.org/officeDocument/2006/relationships/slide" Target="slides/slide25.xml"/><Relationship Id="rId12" Type="http://schemas.openxmlformats.org/officeDocument/2006/relationships/slide" Target="slides/slide2.xml"/><Relationship Id="rId34" Type="http://schemas.openxmlformats.org/officeDocument/2006/relationships/slide" Target="slides/slide24.xml"/><Relationship Id="rId15" Type="http://schemas.openxmlformats.org/officeDocument/2006/relationships/slide" Target="slides/slide5.xml"/><Relationship Id="rId37" Type="http://schemas.openxmlformats.org/officeDocument/2006/relationships/slide" Target="slides/slide27.xml"/><Relationship Id="rId14" Type="http://schemas.openxmlformats.org/officeDocument/2006/relationships/slide" Target="slides/slide4.xml"/><Relationship Id="rId36" Type="http://schemas.openxmlformats.org/officeDocument/2006/relationships/slide" Target="slides/slide26.xml"/><Relationship Id="rId17" Type="http://schemas.openxmlformats.org/officeDocument/2006/relationships/slide" Target="slides/slide7.xml"/><Relationship Id="rId39" Type="http://schemas.openxmlformats.org/officeDocument/2006/relationships/slide" Target="slides/slide29.xml"/><Relationship Id="rId16" Type="http://schemas.openxmlformats.org/officeDocument/2006/relationships/slide" Target="slides/slide6.xml"/><Relationship Id="rId38" Type="http://schemas.openxmlformats.org/officeDocument/2006/relationships/slide" Target="slides/slide28.xml"/><Relationship Id="rId19" Type="http://schemas.openxmlformats.org/officeDocument/2006/relationships/slide" Target="slides/slide9.xml"/><Relationship Id="rId18" Type="http://schemas.openxmlformats.org/officeDocument/2006/relationships/slide" Target="slides/slide8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2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2" name="Google Shape;72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0" name="Google Shape;80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8" name="Google Shape;88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6" name="Google Shape;96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4" name="Google Shape;104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2" name="Google Shape;112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0" name="Google Shape;120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9" name="Google Shape;129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8" name="Google Shape;138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6" name="Google Shape;146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5" name="Google Shape;155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3" name="Google Shape;163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2" name="Google Shape;172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0" name="Google Shape;180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8" name="Google Shape;188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196" name="Google Shape;19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7" name="Google Shape;197;p16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5" name="Google Shape;205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2" name="Google Shape;212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0" name="Google Shape;220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8" name="Google Shape;228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1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237" name="Google Shape;237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Here is another example of a WND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Can you construct its related UIDM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4" name="Google Shape;244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1" name="Google Shape;251;p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9" name="Google Shape;259;p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8" name="Google Shape;268;p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6" name="Google Shape;276;p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4" name="Google Shape;284;p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2" name="Google Shape;292;p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1" name="Google Shape;301;p2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9" name="Google Shape;309;p3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2"/>
          <p:cNvSpPr txBox="1"/>
          <p:nvPr>
            <p:ph type="ctrTitle"/>
          </p:nvPr>
        </p:nvSpPr>
        <p:spPr>
          <a:xfrm>
            <a:off x="685800" y="838200"/>
            <a:ext cx="77724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2"/>
          <p:cNvSpPr txBox="1"/>
          <p:nvPr>
            <p:ph idx="1" type="subTitle"/>
          </p:nvPr>
        </p:nvSpPr>
        <p:spPr>
          <a:xfrm>
            <a:off x="304800" y="4953000"/>
            <a:ext cx="8534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 sz="3200"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2"/>
          <p:cNvSpPr txBox="1"/>
          <p:nvPr>
            <p:ph idx="10" type="dt"/>
          </p:nvPr>
        </p:nvSpPr>
        <p:spPr>
          <a:xfrm>
            <a:off x="457200" y="6356350"/>
            <a:ext cx="152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9-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4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34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609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6000"/>
              <a:buFont typeface="Noto Sans"/>
              <a:buChar char="▪"/>
              <a:defRPr sz="40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3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3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9-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3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8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3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3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1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41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66" name="Google Shape;66;p41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67" name="Google Shape;67;p4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4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4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5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theme" Target="../theme/theme6.xml"/></Relationships>
</file>

<file path=ppt/slideMasters/_rels/slideMaster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theme" Target="../theme/theme2.xml"/></Relationships>
</file>

<file path=ppt/slideMasters/_rels/slideMaster5.xml.rels><?xml version="1.0" encoding="UTF-8" standalone="yes"?><Relationships xmlns="http://schemas.openxmlformats.org/package/2006/relationships"><Relationship Id="rId1" Type="http://schemas.openxmlformats.org/officeDocument/2006/relationships/theme" Target="../theme/theme4.xml"/></Relationships>
</file>

<file path=ppt/slideMasters/_rels/slideMaster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theme" Target="../theme/theme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1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31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31"/>
          <p:cNvSpPr txBox="1"/>
          <p:nvPr>
            <p:ph idx="10" type="dt"/>
          </p:nvPr>
        </p:nvSpPr>
        <p:spPr>
          <a:xfrm>
            <a:off x="457200" y="6356350"/>
            <a:ext cx="152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9-</a:t>
            </a: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33"/>
          <p:cNvCxnSpPr/>
          <p:nvPr/>
        </p:nvCxnSpPr>
        <p:spPr>
          <a:xfrm>
            <a:off x="457200" y="1447800"/>
            <a:ext cx="8229600" cy="0"/>
          </a:xfrm>
          <a:prstGeom prst="straightConnector1">
            <a:avLst/>
          </a:prstGeom>
          <a:noFill/>
          <a:ln cap="flat" cmpd="sng" w="76200">
            <a:solidFill>
              <a:srgbClr val="558ED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3" name="Google Shape;23;p33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" name="Google Shape;24;p33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" name="Google Shape;25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6" name="Google Shape;26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" name="Google Shape;27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9-</a:t>
            </a: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5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6" name="Google Shape;36;p35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7" name="Google Shape;37;p3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8" name="Google Shape;38;p3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3" r:id="rId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7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4" name="Google Shape;44;p37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5" name="Google Shape;45;p3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6" name="Google Shape;46;p3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9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39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3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5" name="Google Shape;55;p3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6" name="Google Shape;56;p3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9-</a:t>
            </a: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/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0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9" name="Google Shape;59;p40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0" name="Google Shape;60;p4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1" name="Google Shape;61;p4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2" name="Google Shape;62;p4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8" r:id="rId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1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"/>
          <p:cNvSpPr txBox="1"/>
          <p:nvPr>
            <p:ph type="ctrTitle"/>
          </p:nvPr>
        </p:nvSpPr>
        <p:spPr>
          <a:xfrm>
            <a:off x="685800" y="1066800"/>
            <a:ext cx="7772400" cy="281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75E"/>
              </a:buClr>
              <a:buSzPts val="4800"/>
              <a:buFont typeface="Calibri"/>
              <a:buNone/>
            </a:pPr>
            <a:r>
              <a:rPr b="1" i="0" lang="en-US" sz="4800" u="none">
                <a:solidFill>
                  <a:srgbClr val="17375E"/>
                </a:solidFill>
                <a:latin typeface="Calibri"/>
                <a:ea typeface="Calibri"/>
                <a:cs typeface="Calibri"/>
                <a:sym typeface="Calibri"/>
              </a:rPr>
              <a:t>Systems Analysis and Design</a:t>
            </a:r>
            <a:br>
              <a:rPr b="1" i="0" lang="en-US" sz="3200" u="none">
                <a:solidFill>
                  <a:srgbClr val="17375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2800" u="none">
                <a:solidFill>
                  <a:srgbClr val="17375E"/>
                </a:solidFill>
                <a:latin typeface="Calibri"/>
                <a:ea typeface="Calibri"/>
                <a:cs typeface="Calibri"/>
                <a:sym typeface="Calibri"/>
              </a:rPr>
              <a:t>5th Edition</a:t>
            </a:r>
            <a:br>
              <a:rPr b="1" i="0" lang="en-US" sz="2800" u="none">
                <a:solidFill>
                  <a:srgbClr val="17375E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1" i="0" lang="en-US" sz="2800" u="none">
                <a:solidFill>
                  <a:srgbClr val="17375E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1" i="0" lang="en-US" sz="2800" u="none">
                <a:solidFill>
                  <a:srgbClr val="17375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000" u="none">
                <a:solidFill>
                  <a:srgbClr val="17375E"/>
                </a:solidFill>
                <a:latin typeface="Calibri"/>
                <a:ea typeface="Calibri"/>
                <a:cs typeface="Calibri"/>
                <a:sym typeface="Calibri"/>
              </a:rPr>
              <a:t>Chapter 9. </a:t>
            </a:r>
            <a:r>
              <a:rPr b="1" i="0" lang="en-US" sz="4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User Interface Design</a:t>
            </a:r>
            <a:endParaRPr/>
          </a:p>
        </p:txBody>
      </p:sp>
      <p:sp>
        <p:nvSpPr>
          <p:cNvPr id="75" name="Google Shape;75;p1"/>
          <p:cNvSpPr txBox="1"/>
          <p:nvPr>
            <p:ph idx="1" type="subTitle"/>
          </p:nvPr>
        </p:nvSpPr>
        <p:spPr>
          <a:xfrm>
            <a:off x="533400" y="4800600"/>
            <a:ext cx="83058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600"/>
              <a:buNone/>
            </a:pPr>
            <a:r>
              <a:rPr b="1" i="0" lang="en-US" sz="2600" u="non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Alan Dennis, Barbara Haley Wixom, and Roberta Roth</a:t>
            </a:r>
            <a:br>
              <a:rPr b="0" i="0" lang="en-US" sz="30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sp>
        <p:nvSpPr>
          <p:cNvPr id="76" name="Google Shape;76;p1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9-</a:t>
            </a: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1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© Copyright 2011 John Wiley &amp; Sons, Inc.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Chapter 9 Outline</a:t>
            </a:r>
            <a:endParaRPr/>
          </a:p>
        </p:txBody>
      </p:sp>
      <p:sp>
        <p:nvSpPr>
          <p:cNvPr id="83" name="Google Shape;83;p2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5700"/>
              <a:buFont typeface="Noto Sans"/>
              <a:buChar char="▪"/>
            </a:pPr>
            <a:r>
              <a:rPr b="0" i="0" lang="en-US" sz="3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Principles of user interface design.</a:t>
            </a:r>
            <a:endParaRPr sz="3100"/>
          </a:p>
          <a:p>
            <a:pPr indent="-2857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5700"/>
              <a:buFont typeface="Noto Sans"/>
              <a:buChar char="▪"/>
            </a:pPr>
            <a:r>
              <a:rPr b="0" i="0" lang="en-US" sz="3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User interface design process.</a:t>
            </a:r>
            <a:endParaRPr sz="3100"/>
          </a:p>
          <a:p>
            <a:pPr indent="-2857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5700"/>
              <a:buFont typeface="Noto Sans"/>
              <a:buChar char="▪"/>
            </a:pPr>
            <a:r>
              <a:rPr b="0" i="0" lang="en-US" sz="3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Navigation design.</a:t>
            </a:r>
            <a:endParaRPr sz="3100"/>
          </a:p>
          <a:p>
            <a:pPr indent="-2857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5700"/>
              <a:buFont typeface="Noto Sans"/>
              <a:buChar char="▪"/>
            </a:pPr>
            <a:r>
              <a:rPr b="0" i="0" lang="en-US" sz="3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Input design.</a:t>
            </a:r>
            <a:endParaRPr sz="3100"/>
          </a:p>
          <a:p>
            <a:pPr indent="-2857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5700"/>
              <a:buFont typeface="Noto Sans"/>
              <a:buChar char="▪"/>
            </a:pPr>
            <a:r>
              <a:rPr b="0" i="0" lang="en-US" sz="3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 design.</a:t>
            </a:r>
            <a:endParaRPr sz="3100"/>
          </a:p>
        </p:txBody>
      </p:sp>
      <p:sp>
        <p:nvSpPr>
          <p:cNvPr id="84" name="Google Shape;84;p2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© Copyright 2011 John Wiley &amp; Sons, Inc.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2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9-</a:t>
            </a: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3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/>
          </a:p>
        </p:txBody>
      </p:sp>
      <p:sp>
        <p:nvSpPr>
          <p:cNvPr id="91" name="Google Shape;91;p3"/>
          <p:cNvSpPr txBox="1"/>
          <p:nvPr>
            <p:ph idx="1" type="body"/>
          </p:nvPr>
        </p:nvSpPr>
        <p:spPr>
          <a:xfrm>
            <a:off x="457200" y="1246700"/>
            <a:ext cx="8172000" cy="46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11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900"/>
              <a:buFont typeface="Noto Sans"/>
              <a:buChar char="▪"/>
            </a:pPr>
            <a:r>
              <a:rPr b="1" i="0" lang="en-US" sz="31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Interface design </a:t>
            </a:r>
            <a:r>
              <a:rPr b="0" i="0" lang="en-US" sz="3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the process of defining how the system will interact with external entities.</a:t>
            </a:r>
            <a:endParaRPr sz="3500"/>
          </a:p>
          <a:p>
            <a:pPr indent="-3111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900"/>
              <a:buFont typeface="Noto Sans"/>
              <a:buChar char="▪"/>
            </a:pPr>
            <a:r>
              <a:rPr b="0" i="0" lang="en-US" sz="3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this chapter, we focus on the design of </a:t>
            </a:r>
            <a:r>
              <a:rPr b="1" i="1" lang="en-US" sz="31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user interfaces</a:t>
            </a:r>
            <a:r>
              <a:rPr b="0" i="0" lang="en-US" sz="31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3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– how the system will interact with the </a:t>
            </a:r>
            <a:r>
              <a:rPr b="0" i="0" lang="en-US" sz="31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users</a:t>
            </a:r>
            <a:r>
              <a:rPr b="0" i="0" lang="en-US" sz="3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3500"/>
          </a:p>
          <a:p>
            <a:pPr indent="-3111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900"/>
              <a:buFont typeface="Noto Sans"/>
              <a:buChar char="▪"/>
            </a:pPr>
            <a:r>
              <a:rPr b="0" i="0" lang="en-US" sz="3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design of </a:t>
            </a:r>
            <a:r>
              <a:rPr b="0" i="0" lang="en-US" sz="3100" u="none" cap="none" strike="noStrike">
                <a:solidFill>
                  <a:srgbClr val="3333FF"/>
                </a:solidFill>
                <a:latin typeface="Calibri"/>
                <a:ea typeface="Calibri"/>
                <a:cs typeface="Calibri"/>
                <a:sym typeface="Calibri"/>
              </a:rPr>
              <a:t>system interfaces</a:t>
            </a:r>
            <a:r>
              <a:rPr b="0" i="0" lang="en-US" sz="3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defines how the systems exchange information with </a:t>
            </a:r>
            <a:r>
              <a:rPr b="0" i="0" lang="en-US" sz="31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other systems</a:t>
            </a:r>
            <a:r>
              <a:rPr b="0" i="0" lang="en-US" sz="3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3500"/>
          </a:p>
          <a:p>
            <a:pPr indent="-114300" lvl="0" marL="34290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t/>
            </a:r>
            <a:endParaRPr b="0" i="0" sz="31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3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© Copyright 2011 John Wiley &amp; Sons, Inc.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3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9-</a:t>
            </a: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(cont’d)</a:t>
            </a:r>
            <a:endParaRPr/>
          </a:p>
        </p:txBody>
      </p:sp>
      <p:sp>
        <p:nvSpPr>
          <p:cNvPr id="99" name="Google Shape;99;p4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200"/>
              <a:buFont typeface="Noto Sans"/>
              <a:buChar char="▪"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user interface includes three fundamental parts: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1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b="1" i="1" lang="en-US" sz="2800" u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Navigation mechanism </a:t>
            </a: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the way in which the user tells the system what to do.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The </a:t>
            </a:r>
            <a:r>
              <a:rPr b="1" i="1" lang="en-US" sz="2800" u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input mechanism</a:t>
            </a:r>
            <a:r>
              <a:rPr b="0" i="1" lang="en-US" sz="2800" u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– the way in which the system captures  information.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The </a:t>
            </a:r>
            <a:r>
              <a:rPr b="1" i="0" lang="en-US" sz="2800" u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output mechanism</a:t>
            </a:r>
            <a:r>
              <a:rPr b="0" i="0" lang="en-US" sz="2800" u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the way in which the system provides information to the user or to other systems.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200"/>
              <a:buFont typeface="Noto Sans"/>
              <a:buChar char="▪"/>
            </a:pPr>
            <a:r>
              <a:rPr b="1" i="0" lang="en-US" sz="2800" u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Graphical user interfaces (GUI)</a:t>
            </a:r>
            <a:r>
              <a:rPr b="0" i="0" lang="en-US" sz="2800" u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windows, menus, icons, etc., and are the most common type of user interfaces.</a:t>
            </a:r>
            <a:endParaRPr b="0" i="0" sz="34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342900" marR="0" rtl="0" algn="l">
              <a:lnSpc>
                <a:spcPct val="100000"/>
              </a:lnSpc>
              <a:spcBef>
                <a:spcPts val="68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rial"/>
              <a:buNone/>
            </a:pPr>
            <a:r>
              <a:t/>
            </a:r>
            <a:endParaRPr b="0" i="0" sz="34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© Copyright 2011 John Wiley &amp; Sons, Inc.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4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9-</a:t>
            </a: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1" i="0" lang="en-US" sz="4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PRINCIPLES FOR USER INTERFACE DESIGN</a:t>
            </a:r>
            <a:endParaRPr/>
          </a:p>
        </p:txBody>
      </p:sp>
      <p:sp>
        <p:nvSpPr>
          <p:cNvPr id="107" name="Google Shape;107;p5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6000"/>
              <a:buFont typeface="Noto Sans"/>
              <a:buChar char="▪"/>
            </a:pPr>
            <a:r>
              <a:rPr b="0" i="0" lang="en-US" sz="4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User interface design is an art.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6000"/>
              <a:buFont typeface="Noto Sans"/>
              <a:buChar char="▪"/>
            </a:pPr>
            <a:r>
              <a:rPr b="0" i="0" lang="en-US" sz="4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goal is to make the interface pleasing to the eye and simple to use, while minimizing the user’s effort.</a:t>
            </a:r>
            <a:endParaRPr/>
          </a:p>
          <a:p>
            <a:pPr indent="-8890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t/>
            </a:r>
            <a:endParaRPr b="0" i="0" sz="40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5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© Copyright 2011 John Wiley &amp; Sons, Inc.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5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9-</a:t>
            </a: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(cont’d)</a:t>
            </a:r>
            <a:endParaRPr/>
          </a:p>
        </p:txBody>
      </p:sp>
      <p:sp>
        <p:nvSpPr>
          <p:cNvPr id="115" name="Google Shape;115;p6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© Copyright 2011 John Wiley &amp; Sons, Inc.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6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9-</a:t>
            </a: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ig_09_01" id="117" name="Google Shape;117;p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4450"/>
            <a:ext cx="9239250" cy="6584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7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(cont’d)</a:t>
            </a:r>
            <a:endParaRPr/>
          </a:p>
        </p:txBody>
      </p:sp>
      <p:sp>
        <p:nvSpPr>
          <p:cNvPr id="123" name="Google Shape;123;p7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5400"/>
              <a:buFont typeface="Noto Sans"/>
              <a:buChar char="▪"/>
            </a:pPr>
            <a:r>
              <a:rPr b="0" i="0" lang="en-US" sz="3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Web page layout with multiple navigation areas</a:t>
            </a:r>
            <a:endParaRPr/>
          </a:p>
        </p:txBody>
      </p:sp>
      <p:sp>
        <p:nvSpPr>
          <p:cNvPr id="124" name="Google Shape;124;p7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© Copyright 2011 John Wiley &amp; Sons, Inc.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7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9-</a:t>
            </a: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tp://pmcfadden2:jws&amp;zi$@ftp.wiley.com/pmcfadden2/Dennis.SAD.4e/JPEGS/jpge_300_dpi/Ch09/fig_09_02.jpg" id="126" name="Google Shape;12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4800" y="76200"/>
            <a:ext cx="7986712" cy="66246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8"/>
          <p:cNvSpPr txBox="1"/>
          <p:nvPr>
            <p:ph idx="1" type="body"/>
          </p:nvPr>
        </p:nvSpPr>
        <p:spPr>
          <a:xfrm>
            <a:off x="457200" y="12954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flow between sections should also be consistent</a:t>
            </a:r>
            <a:r>
              <a:rPr b="0" i="0" lang="en-US" sz="4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</p:txBody>
      </p:sp>
      <p:sp>
        <p:nvSpPr>
          <p:cNvPr id="132" name="Google Shape;132;p8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© Copyright 2011 John Wiley &amp; Sons, Inc.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8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9-</a:t>
            </a: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tp://pmcfadden2:jws&amp;zi$@ftp.wiley.com/pmcfadden2/Dennis.SAD.4e/JPEGS/jpge_300_dpi/Ch09/fig_09_03.jpg" id="134" name="Google Shape;13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05000" y="1905000"/>
            <a:ext cx="4592637" cy="495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8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Consistency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9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b="0" i="0" lang="en-US" sz="3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 example of form with high </a:t>
            </a:r>
            <a:r>
              <a:rPr b="0" i="1" lang="en-US" sz="3600" u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density</a:t>
            </a:r>
            <a:endParaRPr/>
          </a:p>
        </p:txBody>
      </p:sp>
      <p:sp>
        <p:nvSpPr>
          <p:cNvPr id="141" name="Google Shape;141;p9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© Copyright 2011 John Wiley &amp; Sons, Inc.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9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9-</a:t>
            </a: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hapter_10_illus10" id="143" name="Google Shape;143;p9"/>
          <p:cNvPicPr preferRelativeResize="0"/>
          <p:nvPr/>
        </p:nvPicPr>
        <p:blipFill rotWithShape="1">
          <a:blip r:embed="rId3">
            <a:alphaModFix/>
          </a:blip>
          <a:srcRect b="10784" l="9091" r="9848" t="10784"/>
          <a:stretch/>
        </p:blipFill>
        <p:spPr>
          <a:xfrm>
            <a:off x="457200" y="1447800"/>
            <a:ext cx="8229600" cy="5394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0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USER INTERFACE DESIGN PROCESS</a:t>
            </a:r>
            <a:endParaRPr/>
          </a:p>
        </p:txBody>
      </p:sp>
      <p:sp>
        <p:nvSpPr>
          <p:cNvPr id="149" name="Google Shape;149;p10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© Copyright 2011 John Wiley &amp; Sons, Inc.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10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9-</a:t>
            </a: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10"/>
          <p:cNvSpPr txBox="1"/>
          <p:nvPr>
            <p:ph idx="1" type="body"/>
          </p:nvPr>
        </p:nvSpPr>
        <p:spPr>
          <a:xfrm>
            <a:off x="457200" y="1385887"/>
            <a:ext cx="8229600" cy="3338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6000"/>
              <a:buFont typeface="Noto Sans"/>
              <a:buChar char="▪"/>
            </a:pPr>
            <a:r>
              <a:rPr b="0" i="0" lang="en-US" sz="4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en-US" sz="3200" u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User interface design </a:t>
            </a: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a five-step process that is iterative.</a:t>
            </a:r>
            <a:endParaRPr/>
          </a:p>
        </p:txBody>
      </p:sp>
      <p:pic>
        <p:nvPicPr>
          <p:cNvPr descr="Chapter_10_illus10" id="152" name="Google Shape;152;p10"/>
          <p:cNvPicPr preferRelativeResize="0"/>
          <p:nvPr/>
        </p:nvPicPr>
        <p:blipFill rotWithShape="1">
          <a:blip r:embed="rId3">
            <a:alphaModFix/>
          </a:blip>
          <a:srcRect b="32575" l="21567" r="20588" t="32575"/>
          <a:stretch/>
        </p:blipFill>
        <p:spPr>
          <a:xfrm>
            <a:off x="1600200" y="2819400"/>
            <a:ext cx="5791200" cy="4114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1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Scenario Development</a:t>
            </a:r>
            <a:endParaRPr/>
          </a:p>
        </p:txBody>
      </p:sp>
      <p:sp>
        <p:nvSpPr>
          <p:cNvPr id="158" name="Google Shape;158;p11"/>
          <p:cNvSpPr txBox="1"/>
          <p:nvPr>
            <p:ph idx="1" type="body"/>
          </p:nvPr>
        </p:nvSpPr>
        <p:spPr>
          <a:xfrm>
            <a:off x="457200" y="1600200"/>
            <a:ext cx="82296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6000"/>
              <a:buFont typeface="Noto Sans"/>
              <a:buChar char="▪"/>
            </a:pPr>
            <a:r>
              <a:rPr b="0" i="0" lang="en-US" sz="4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b="1" i="1" lang="en-US" sz="4000" u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use scenario </a:t>
            </a:r>
            <a:r>
              <a:rPr b="0" i="0" lang="en-US" sz="4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an outline of steps that users perform to accomplish some part of their work.</a:t>
            </a:r>
            <a:endParaRPr/>
          </a:p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6000"/>
              <a:buFont typeface="Noto Sans"/>
              <a:buChar char="▪"/>
            </a:pPr>
            <a:r>
              <a:rPr b="0" i="0" lang="en-US" sz="4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scenarios are presented in a simple narrative description that is tied to the DFD.</a:t>
            </a:r>
            <a:endParaRPr/>
          </a:p>
          <a:p>
            <a:pPr indent="-8890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t/>
            </a:r>
            <a:endParaRPr b="0" i="0" sz="40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1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© Copyright 2011 John Wiley &amp; Sons, Inc.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11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9-</a:t>
            </a: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2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(cont’d)</a:t>
            </a:r>
            <a:endParaRPr/>
          </a:p>
        </p:txBody>
      </p:sp>
      <p:sp>
        <p:nvSpPr>
          <p:cNvPr id="166" name="Google Shape;166;p12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b="0" i="0" lang="en-US" sz="4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Examples of use scenarios</a:t>
            </a:r>
            <a:endParaRPr/>
          </a:p>
          <a:p>
            <a:pPr indent="-8890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t/>
            </a:r>
            <a:endParaRPr b="0" i="0" sz="40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2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© Copyright 2011 John Wiley &amp; Sons, Inc.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12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9-</a:t>
            </a: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9" name="Google Shape;16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" y="1447800"/>
            <a:ext cx="8497887" cy="541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3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Interface Standards Design</a:t>
            </a:r>
            <a:endParaRPr/>
          </a:p>
        </p:txBody>
      </p:sp>
      <p:sp>
        <p:nvSpPr>
          <p:cNvPr id="175" name="Google Shape;175;p13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800"/>
              <a:buFont typeface="Noto Sans"/>
              <a:buChar char="▪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interface standards are the basic design elements that are common across the individual screens, forms, and reports within the system.</a:t>
            </a:r>
            <a:endParaRPr/>
          </a:p>
          <a:p>
            <a:pPr indent="-381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800"/>
              <a:buFont typeface="Noto Sans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800"/>
              <a:buFont typeface="Noto Sans"/>
              <a:buChar char="▪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b="1" i="1" lang="en-US" sz="3200" u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interface template </a:t>
            </a: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defines the general appearance of all screens and the paper-based forms and reports.</a:t>
            </a:r>
            <a:endParaRPr/>
          </a:p>
        </p:txBody>
      </p:sp>
      <p:sp>
        <p:nvSpPr>
          <p:cNvPr id="176" name="Google Shape;176;p13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© Copyright 2011 John Wiley &amp; Sons, Inc.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13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9-</a:t>
            </a: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4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(cont’d)</a:t>
            </a:r>
            <a:endParaRPr/>
          </a:p>
        </p:txBody>
      </p:sp>
      <p:sp>
        <p:nvSpPr>
          <p:cNvPr id="183" name="Google Shape;183;p14"/>
          <p:cNvSpPr txBox="1"/>
          <p:nvPr>
            <p:ph idx="1" type="body"/>
          </p:nvPr>
        </p:nvSpPr>
        <p:spPr>
          <a:xfrm>
            <a:off x="457200" y="1600200"/>
            <a:ext cx="82296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650"/>
              <a:buFont typeface="Noto Sans"/>
              <a:buChar char="▪"/>
            </a:pPr>
            <a:r>
              <a:rPr b="0" i="0" lang="en-US" sz="31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template specifies the names that the interface will use for the major </a:t>
            </a:r>
            <a:r>
              <a:rPr b="1" i="1" lang="en-US" sz="3200" u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interface objects</a:t>
            </a: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the fundamental building blocks of the system.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800"/>
              <a:buFont typeface="Noto Sans"/>
              <a:buChar char="▪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The template gives names to the most commonly used  </a:t>
            </a:r>
            <a:r>
              <a:rPr b="0" i="1" lang="en-US" sz="3200" u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interface actions</a:t>
            </a: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800"/>
              <a:buFont typeface="Noto Sans"/>
              <a:buChar char="▪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interface objects and actions, and also their status, may be represented by </a:t>
            </a:r>
            <a:r>
              <a:rPr b="1" i="1" lang="en-US" sz="3200" u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interface icons</a:t>
            </a: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-1397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4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© Copyright 2011 John Wiley &amp; Sons, Inc.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14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9-</a:t>
            </a: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5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Interface Design Prototyping</a:t>
            </a:r>
            <a:endParaRPr/>
          </a:p>
        </p:txBody>
      </p:sp>
      <p:sp>
        <p:nvSpPr>
          <p:cNvPr id="191" name="Google Shape;191;p15"/>
          <p:cNvSpPr txBox="1"/>
          <p:nvPr>
            <p:ph idx="1" type="body"/>
          </p:nvPr>
        </p:nvSpPr>
        <p:spPr>
          <a:xfrm>
            <a:off x="457200" y="1600200"/>
            <a:ext cx="82296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5400"/>
              <a:buFont typeface="Noto Sans"/>
              <a:buChar char="▪"/>
            </a:pPr>
            <a:r>
              <a:rPr b="0" i="0" lang="en-US" sz="3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 </a:t>
            </a:r>
            <a:r>
              <a:rPr b="0" i="0" lang="en-US" sz="3600" u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interface design prototype </a:t>
            </a:r>
            <a:r>
              <a:rPr b="0" i="0" lang="en-US" sz="3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a mock-up or a simulation of a computer screen, form, or report.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5400"/>
              <a:buFont typeface="Noto Sans"/>
              <a:buChar char="▪"/>
            </a:pPr>
            <a:r>
              <a:rPr b="0" i="0" lang="en-US" sz="3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Common approaches to interface design prototyping: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Storyboards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HTML prototypes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Language prototypes.</a:t>
            </a:r>
            <a:endParaRPr/>
          </a:p>
          <a:p>
            <a:pPr indent="-1651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5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© Copyright 2011 John Wiley &amp; Sons, Inc.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15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9-</a:t>
            </a: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6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(cont’d)</a:t>
            </a:r>
            <a:endParaRPr/>
          </a:p>
        </p:txBody>
      </p:sp>
      <p:sp>
        <p:nvSpPr>
          <p:cNvPr id="200" name="Google Shape;200;p16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800"/>
              <a:buFont typeface="Noto Sans"/>
              <a:buChar char="▪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b="1" i="1" lang="en-US" sz="3200" u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storyboard </a:t>
            </a: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shows hand-drawn pictures of screens.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800"/>
              <a:buFont typeface="Noto Sans"/>
              <a:buChar char="▪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 </a:t>
            </a:r>
            <a:r>
              <a:rPr b="1" i="1" lang="en-US" sz="3200" u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HTML prototype </a:t>
            </a: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built with the use of Web pages created in HTML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800"/>
              <a:buFont typeface="Noto Sans"/>
              <a:buChar char="▪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b="1" i="1" lang="en-US" sz="3200" u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language prototype</a:t>
            </a: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an interface design prototype built in the actual language or by the actual that will be used to build the system.</a:t>
            </a:r>
            <a:endParaRPr/>
          </a:p>
          <a:p>
            <a:pPr indent="-381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800"/>
              <a:buFont typeface="Noto Sans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800"/>
              <a:buFont typeface="Noto Sans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97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6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© Copyright 2011 John Wiley &amp; Sons, Inc.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16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9-</a:t>
            </a: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7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</a:pPr>
            <a:r>
              <a:rPr b="0" i="0" lang="en-US" sz="12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rPr>
              <a:t>Slide </a:t>
            </a: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898989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08" name="Google Shape;208;p17"/>
          <p:cNvSpPr txBox="1"/>
          <p:nvPr/>
        </p:nvSpPr>
        <p:spPr>
          <a:xfrm>
            <a:off x="1752600" y="0"/>
            <a:ext cx="5486400" cy="71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Sample Storyboard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9" name="Google Shape;20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4800" y="685800"/>
            <a:ext cx="8534400" cy="5486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38100">
              <a:srgbClr val="000000">
                <a:alpha val="39215"/>
              </a:srgbClr>
            </a:outerShdw>
          </a:effec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8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Interface Evaluation</a:t>
            </a:r>
            <a:endParaRPr/>
          </a:p>
        </p:txBody>
      </p:sp>
      <p:sp>
        <p:nvSpPr>
          <p:cNvPr id="215" name="Google Shape;215;p18"/>
          <p:cNvSpPr txBox="1"/>
          <p:nvPr>
            <p:ph idx="1" type="body"/>
          </p:nvPr>
        </p:nvSpPr>
        <p:spPr>
          <a:xfrm>
            <a:off x="457200" y="1600200"/>
            <a:ext cx="82296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200"/>
              <a:buFont typeface="Noto Sans"/>
              <a:buChar char="▪"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objective of interface evaluation is to understand how to improve the interface design.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200"/>
              <a:buFont typeface="Noto Sans"/>
              <a:buChar char="▪"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There are four common approaches to interface evaluation.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 </a:t>
            </a:r>
            <a:r>
              <a:rPr b="1" i="1" lang="en-US" sz="2800" u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Heuristic evaluation - </a:t>
            </a: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Compare the interface to a checklist of design principles.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</a:t>
            </a:r>
            <a:r>
              <a:rPr b="1" i="1" lang="en-US" sz="2800" u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Walk-through evaluation - </a:t>
            </a: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is a meeting conducted with the users to walk through the interface.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 </a:t>
            </a:r>
            <a:r>
              <a:rPr b="1" i="1" lang="en-US" sz="2800" u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Interactive evaluation - </a:t>
            </a: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Users try out the interface.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  </a:t>
            </a:r>
            <a:r>
              <a:rPr b="1" i="1" lang="en-US" sz="2800" u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Formal usability testing - </a:t>
            </a: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is a formal testing process to understand how usable the interface is.</a:t>
            </a:r>
            <a:endParaRPr/>
          </a:p>
          <a:p>
            <a:pPr indent="-1651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8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© Copyright 2011 John Wiley &amp; Sons, Inc.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18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9-</a:t>
            </a: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9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NAVIGATION DESIGN</a:t>
            </a:r>
            <a:endParaRPr/>
          </a:p>
        </p:txBody>
      </p:sp>
      <p:sp>
        <p:nvSpPr>
          <p:cNvPr id="223" name="Google Shape;223;p19"/>
          <p:cNvSpPr txBox="1"/>
          <p:nvPr>
            <p:ph idx="1" type="body"/>
          </p:nvPr>
        </p:nvSpPr>
        <p:spPr>
          <a:xfrm>
            <a:off x="304800" y="1600200"/>
            <a:ext cx="84582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5400"/>
              <a:buFont typeface="Noto Sans"/>
              <a:buChar char="▪"/>
            </a:pPr>
            <a:r>
              <a:rPr b="1" i="0" lang="en-US" sz="3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Basic Principles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Analysts usually must assume that users have not read the manual, have not attended training, and do not have external help readily at hand.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All controls should be clear and understandable and placed in an intuitive location on the screen.</a:t>
            </a:r>
            <a:endParaRPr/>
          </a:p>
          <a:p>
            <a:pPr indent="-1397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9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© Copyright 2011 John Wiley &amp; Sons, Inc.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19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9-</a:t>
            </a: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0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(cont’d)</a:t>
            </a:r>
            <a:endParaRPr/>
          </a:p>
        </p:txBody>
      </p:sp>
      <p:sp>
        <p:nvSpPr>
          <p:cNvPr id="231" name="Google Shape;231;p20"/>
          <p:cNvSpPr txBox="1"/>
          <p:nvPr>
            <p:ph idx="1" type="body"/>
          </p:nvPr>
        </p:nvSpPr>
        <p:spPr>
          <a:xfrm>
            <a:off x="457200" y="1600200"/>
            <a:ext cx="8229600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02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000"/>
              <a:buFont typeface="Noto Sans"/>
              <a:buChar char="▪"/>
            </a:pPr>
            <a:r>
              <a:rPr b="1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Prevent Mistakes  </a:t>
            </a:r>
            <a:r>
              <a:rPr b="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The first of principle of designing navigation control is to prevent users from making mistakes.</a:t>
            </a:r>
            <a:endParaRPr sz="3800"/>
          </a:p>
          <a:p>
            <a:pPr indent="-273050" lvl="1" marL="74295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Labeling commands appropriately and limiting choices.</a:t>
            </a:r>
            <a:endParaRPr sz="2600"/>
          </a:p>
          <a:p>
            <a:pPr indent="-273050" lvl="1" marL="74295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Confirming with the user that the actions are difficult or impossible to undo.</a:t>
            </a:r>
            <a:endParaRPr sz="2600"/>
          </a:p>
          <a:p>
            <a:pPr indent="-3302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000"/>
              <a:buFont typeface="Noto Sans"/>
              <a:buChar char="▪"/>
            </a:pPr>
            <a:r>
              <a:rPr b="1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Simplify Recovery from Mistakes</a:t>
            </a:r>
            <a:r>
              <a:rPr b="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– making “undo” buttons whenever possible.</a:t>
            </a:r>
            <a:endParaRPr sz="3800"/>
          </a:p>
          <a:p>
            <a:pPr indent="-3302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000"/>
              <a:buFont typeface="Noto Sans"/>
              <a:buChar char="▪"/>
            </a:pPr>
            <a:r>
              <a:rPr b="1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Consistent Grammar Order </a:t>
            </a:r>
            <a:r>
              <a:rPr b="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– Windows application uses an </a:t>
            </a:r>
            <a:r>
              <a:rPr b="0" i="1" lang="en-US" sz="2600" u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object-action</a:t>
            </a:r>
            <a:r>
              <a:rPr b="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grammar order. </a:t>
            </a:r>
            <a:endParaRPr sz="3800"/>
          </a:p>
          <a:p>
            <a:pPr indent="-1651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0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© Copyright 2011 John Wiley &amp; Sons, Inc.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20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9-</a:t>
            </a: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1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omic Sans MS"/>
              <a:buNone/>
            </a:pPr>
            <a:r>
              <a:rPr b="0" i="0" lang="en-US" sz="36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Window Navigation Diagram</a:t>
            </a:r>
            <a:endParaRPr/>
          </a:p>
        </p:txBody>
      </p:sp>
      <p:sp>
        <p:nvSpPr>
          <p:cNvPr id="240" name="Google Shape;240;p21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</a:pPr>
            <a:r>
              <a:rPr b="0" i="0" lang="en-US" sz="12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rPr>
              <a:t>Slide </a:t>
            </a: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898989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41" name="Google Shape;24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0812" y="1676400"/>
            <a:ext cx="8764587" cy="411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2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</a:pPr>
            <a:r>
              <a:rPr b="0" i="0" lang="en-US" sz="12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rPr>
              <a:t>Slide </a:t>
            </a: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898989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47" name="Google Shape;247;p22"/>
          <p:cNvSpPr txBox="1"/>
          <p:nvPr/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Sample WND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8" name="Google Shape;24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676400"/>
            <a:ext cx="8888412" cy="3886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38100">
              <a:srgbClr val="000000">
                <a:alpha val="39215"/>
              </a:srgbClr>
            </a:outerShdw>
          </a:effec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3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INPUT DESIGN</a:t>
            </a:r>
            <a:endParaRPr/>
          </a:p>
        </p:txBody>
      </p:sp>
      <p:sp>
        <p:nvSpPr>
          <p:cNvPr id="254" name="Google Shape;254;p23"/>
          <p:cNvSpPr txBox="1"/>
          <p:nvPr>
            <p:ph idx="1" type="body"/>
          </p:nvPr>
        </p:nvSpPr>
        <p:spPr>
          <a:xfrm>
            <a:off x="457200" y="14478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5100"/>
              <a:buFont typeface="Noto Sans"/>
              <a:buChar char="▪"/>
            </a:pPr>
            <a:r>
              <a:rPr b="0" i="0" lang="en-US" sz="3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Input mechanisms facilitate the entry of data into the computer system.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5100"/>
              <a:buFont typeface="Noto Sans"/>
              <a:buChar char="▪"/>
            </a:pPr>
            <a:r>
              <a:rPr b="0" i="0" lang="en-US" sz="3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Input design means designing the screen used to enter information and forms on which the users write and type  information.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5100"/>
              <a:buFont typeface="Noto Sans"/>
              <a:buChar char="▪"/>
            </a:pPr>
            <a:r>
              <a:rPr b="0" i="0" lang="en-US" sz="3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goal of input design is to capture accurate information for the system simply and easily.</a:t>
            </a:r>
            <a:endParaRPr/>
          </a:p>
          <a:p>
            <a:pPr indent="-1905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5100"/>
              <a:buFont typeface="Noto Sans"/>
              <a:buNone/>
            </a:pPr>
            <a:r>
              <a:t/>
            </a:r>
            <a:endParaRPr b="0" i="0" sz="34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342900" marR="0" rtl="0" algn="l">
              <a:lnSpc>
                <a:spcPct val="100000"/>
              </a:lnSpc>
              <a:spcBef>
                <a:spcPts val="68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rial"/>
              <a:buNone/>
            </a:pPr>
            <a:r>
              <a:t/>
            </a:r>
            <a:endParaRPr b="0" i="0" sz="34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3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© Copyright 2011 John Wiley &amp; Sons, Inc.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23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9-</a:t>
            </a: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4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Types of Inputs</a:t>
            </a:r>
            <a:endParaRPr/>
          </a:p>
        </p:txBody>
      </p:sp>
      <p:sp>
        <p:nvSpPr>
          <p:cNvPr id="262" name="Google Shape;262;p24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Noto Sans"/>
              <a:buChar char="▪"/>
            </a:pP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There are many different types of inputs, in the same way that there are many different types of fields</a:t>
            </a:r>
            <a:r>
              <a:rPr b="0" i="0" lang="en-US" sz="4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</p:txBody>
      </p:sp>
      <p:sp>
        <p:nvSpPr>
          <p:cNvPr id="263" name="Google Shape;263;p24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© Copyright 2011 John Wiley &amp; Sons, Inc.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24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9-</a:t>
            </a: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ig_09_13" id="265" name="Google Shape;26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1447800"/>
            <a:ext cx="7848600" cy="495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5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Minimize Keystrokes</a:t>
            </a:r>
            <a:endParaRPr/>
          </a:p>
        </p:txBody>
      </p:sp>
      <p:sp>
        <p:nvSpPr>
          <p:cNvPr id="271" name="Google Shape;271;p25"/>
          <p:cNvSpPr txBox="1"/>
          <p:nvPr>
            <p:ph idx="1" type="body"/>
          </p:nvPr>
        </p:nvSpPr>
        <p:spPr>
          <a:xfrm>
            <a:off x="457200" y="1600200"/>
            <a:ext cx="8441700" cy="497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845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100"/>
              <a:buFont typeface="Noto Sans"/>
              <a:buChar char="▪"/>
            </a:pPr>
            <a:r>
              <a:rPr b="0" i="0" lang="en-US" sz="25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Keystrokes cost time and money.</a:t>
            </a:r>
            <a:endParaRPr sz="3300"/>
          </a:p>
          <a:p>
            <a:pPr indent="-29845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100"/>
              <a:buFont typeface="Noto Sans"/>
              <a:buChar char="▪"/>
            </a:pPr>
            <a:r>
              <a:rPr b="0" i="0" lang="en-US" sz="25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system should never ask for information that can be obtained in another way (e.g., by retrieving it from a database).</a:t>
            </a:r>
            <a:endParaRPr sz="3300"/>
          </a:p>
          <a:p>
            <a:pPr indent="-29845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100"/>
              <a:buFont typeface="Noto Sans"/>
              <a:buChar char="▪"/>
            </a:pPr>
            <a:r>
              <a:rPr b="0" i="0" lang="en-US" sz="25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system should not require a user to type information that can be selected from a list.</a:t>
            </a:r>
            <a:endParaRPr sz="3300"/>
          </a:p>
          <a:p>
            <a:pPr indent="-29845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100"/>
              <a:buFont typeface="Noto Sans"/>
              <a:buChar char="▪"/>
            </a:pPr>
            <a:r>
              <a:rPr b="0" i="0" lang="en-US" sz="25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frequent values should be used as the </a:t>
            </a:r>
            <a:r>
              <a:rPr b="1" i="1" lang="en-US" sz="2500" u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default value </a:t>
            </a:r>
            <a:r>
              <a:rPr b="0" i="0" lang="en-US" sz="25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the data.</a:t>
            </a:r>
            <a:endParaRPr sz="3300"/>
          </a:p>
        </p:txBody>
      </p:sp>
      <p:sp>
        <p:nvSpPr>
          <p:cNvPr id="272" name="Google Shape;272;p25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© Copyright 2011 John Wiley &amp; Sons, Inc.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25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9-</a:t>
            </a: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6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 DESIGN</a:t>
            </a:r>
            <a:endParaRPr/>
          </a:p>
        </p:txBody>
      </p:sp>
      <p:sp>
        <p:nvSpPr>
          <p:cNvPr id="279" name="Google Shape;279;p26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6000"/>
              <a:buFont typeface="Noto Sans"/>
              <a:buChar char="▪"/>
            </a:pPr>
            <a:r>
              <a:rPr b="0" i="0" lang="en-US" sz="4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Outputs are the reports that the system produces, whether on the screen, on paper, or in other media, such as the Web.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6000"/>
              <a:buFont typeface="Noto Sans"/>
              <a:buChar char="▪"/>
            </a:pPr>
            <a:r>
              <a:rPr b="0" i="0" lang="en-US" sz="4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Outputs are the most visible part of any system.</a:t>
            </a:r>
            <a:endParaRPr/>
          </a:p>
          <a:p>
            <a:pPr indent="-8890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t/>
            </a:r>
            <a:endParaRPr b="0" i="0" sz="40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6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© Copyright 2011 John Wiley &amp; Sons, Inc.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26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9-</a:t>
            </a: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7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Basic Principles</a:t>
            </a:r>
            <a:endParaRPr/>
          </a:p>
        </p:txBody>
      </p:sp>
      <p:sp>
        <p:nvSpPr>
          <p:cNvPr id="287" name="Google Shape;287;p27"/>
          <p:cNvSpPr txBox="1"/>
          <p:nvPr>
            <p:ph idx="1" type="body"/>
          </p:nvPr>
        </p:nvSpPr>
        <p:spPr>
          <a:xfrm>
            <a:off x="457200" y="1600200"/>
            <a:ext cx="8506200" cy="47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048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900"/>
              <a:buFont typeface="Noto Sans"/>
              <a:buChar char="▪"/>
            </a:pP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goal of the output mechanism is to present information to users so that they can accurately understand it with the least effort.</a:t>
            </a:r>
            <a:endParaRPr sz="3400"/>
          </a:p>
          <a:p>
            <a:pPr indent="-3048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900"/>
              <a:buFont typeface="Noto Sans"/>
              <a:buChar char="▪"/>
            </a:pPr>
            <a:r>
              <a:rPr b="1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Understand report usage</a:t>
            </a: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– the first principle in designing reports is to understand how they are used.</a:t>
            </a:r>
            <a:endParaRPr sz="3400"/>
          </a:p>
          <a:p>
            <a:pPr indent="-3048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900"/>
              <a:buFont typeface="Noto Sans"/>
              <a:buChar char="▪"/>
            </a:pPr>
            <a:r>
              <a:rPr b="1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Manage information load </a:t>
            </a: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– the goal of a well-designed report is to provide all needed information without information overload.</a:t>
            </a:r>
            <a:endParaRPr sz="3400"/>
          </a:p>
          <a:p>
            <a:pPr indent="-3048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900"/>
              <a:buFont typeface="Noto Sans"/>
              <a:buChar char="▪"/>
            </a:pPr>
            <a:r>
              <a:rPr b="1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Minimize bias </a:t>
            </a: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– no analyst sets out to design a biased report.</a:t>
            </a:r>
            <a:endParaRPr sz="3400"/>
          </a:p>
          <a:p>
            <a:pPr indent="-152400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t/>
            </a:r>
            <a:endParaRPr b="0" i="0" sz="30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7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© Copyright 2011 John Wiley &amp; Sons, Inc.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27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9-</a:t>
            </a: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8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(cont’d)</a:t>
            </a:r>
            <a:endParaRPr/>
          </a:p>
        </p:txBody>
      </p:sp>
      <p:sp>
        <p:nvSpPr>
          <p:cNvPr id="295" name="Google Shape;295;p28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© Copyright 2011 John Wiley &amp; Sons, Inc.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28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9-</a:t>
            </a: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28"/>
          <p:cNvSpPr txBox="1"/>
          <p:nvPr>
            <p:ph idx="1" type="body"/>
          </p:nvPr>
        </p:nvSpPr>
        <p:spPr>
          <a:xfrm>
            <a:off x="457200" y="1447800"/>
            <a:ext cx="82296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800"/>
              <a:buFont typeface="Noto Sans"/>
              <a:buChar char="▪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 of bias: Bias in graphs.</a:t>
            </a:r>
            <a:endParaRPr/>
          </a:p>
        </p:txBody>
      </p:sp>
      <p:pic>
        <p:nvPicPr>
          <p:cNvPr descr="Chapter_10_illus10" id="298" name="Google Shape;298;p28"/>
          <p:cNvPicPr preferRelativeResize="0"/>
          <p:nvPr/>
        </p:nvPicPr>
        <p:blipFill rotWithShape="1">
          <a:blip r:embed="rId3">
            <a:alphaModFix/>
          </a:blip>
          <a:srcRect b="25757" l="21567" r="20588" t="25756"/>
          <a:stretch/>
        </p:blipFill>
        <p:spPr>
          <a:xfrm>
            <a:off x="2133600" y="2133600"/>
            <a:ext cx="4600575" cy="470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9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SUMMARY</a:t>
            </a:r>
            <a:endParaRPr/>
          </a:p>
        </p:txBody>
      </p:sp>
      <p:sp>
        <p:nvSpPr>
          <p:cNvPr id="304" name="Google Shape;304;p29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6000"/>
              <a:buFont typeface="Noto Sans"/>
              <a:buChar char="▪"/>
            </a:pPr>
            <a:r>
              <a:rPr b="0" i="0" lang="en-US" sz="4000" u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User interface design </a:t>
            </a:r>
            <a:r>
              <a:rPr b="0" i="0" lang="en-US" sz="4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principles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Layout, content awareness, aesthetics, user experience, consistency, minimize user effort.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6000"/>
              <a:buFont typeface="Noto Sans"/>
              <a:buChar char="▪"/>
            </a:pPr>
            <a:r>
              <a:rPr b="0" i="0" lang="en-US" sz="4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user interface design process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b="0" i="0" lang="en-US" sz="4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Use scenario development, interface structure design, interface standards design, interface design prototyping, and interface evaluation. </a:t>
            </a:r>
            <a:endParaRPr/>
          </a:p>
        </p:txBody>
      </p:sp>
      <p:sp>
        <p:nvSpPr>
          <p:cNvPr id="305" name="Google Shape;305;p29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© Copyright 2011 John Wiley &amp; Sons, Inc.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29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9-</a:t>
            </a: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30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(cont’d)</a:t>
            </a:r>
            <a:endParaRPr/>
          </a:p>
        </p:txBody>
      </p:sp>
      <p:sp>
        <p:nvSpPr>
          <p:cNvPr id="312" name="Google Shape;312;p30"/>
          <p:cNvSpPr txBox="1"/>
          <p:nvPr>
            <p:ph idx="1" type="body"/>
          </p:nvPr>
        </p:nvSpPr>
        <p:spPr>
          <a:xfrm>
            <a:off x="457200" y="1600200"/>
            <a:ext cx="82296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800"/>
              <a:buFont typeface="Noto Sans"/>
              <a:buChar char="▪"/>
            </a:pPr>
            <a:r>
              <a:rPr b="0" i="0" lang="en-US" sz="3200" u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Navigation design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- The fundamental goal of navigation design is to make the system as simple to use as possible.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800"/>
              <a:buFont typeface="Noto Sans"/>
              <a:buChar char="▪"/>
            </a:pPr>
            <a:r>
              <a:rPr b="0" i="0" lang="en-US" sz="3200" u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Input design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- The goal of input design is to simply and easily capture accurate information for the system.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800"/>
              <a:buFont typeface="Noto Sans"/>
              <a:buChar char="▪"/>
            </a:pPr>
            <a:r>
              <a:rPr b="0" i="0" lang="en-US" sz="3200" u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Output design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- The goal of the output design is to present information to users so that they can accurately understand it with the least effort.</a:t>
            </a:r>
            <a:endParaRPr b="0" i="0" sz="31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76200" lvl="0" marL="34290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200"/>
              <a:buFont typeface="Noto Sans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51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30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© Copyright 2011 John Wiley &amp; Sons, Inc.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30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9-</a:t>
            </a: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5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2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4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3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2011-06-16T14:45:20Z</dcterms:created>
  <dc:creator>Windows User</dc:creator>
</cp:coreProperties>
</file>