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9" r:id="rId6"/>
    <p:sldMasterId id="2147483661" r:id="rId7"/>
    <p:sldMasterId id="2147483663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</p:sldIdLst>
  <p:sldSz cy="6858000" cx="9144000"/>
  <p:notesSz cx="6735750" cy="9866300"/>
  <p:embeddedFontLst>
    <p:embeddedFont>
      <p:font typeface="Tahoma"/>
      <p:regular r:id="rId46"/>
      <p:bold r:id="rId47"/>
    </p:embeddedFont>
    <p:embeddedFont>
      <p:font typeface="Century Schoolbook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331">
          <p15:clr>
            <a:srgbClr val="000000"/>
          </p15:clr>
        </p15:guide>
        <p15:guide id="2" pos="2829">
          <p15:clr>
            <a:srgbClr val="000000"/>
          </p15:clr>
        </p15:guide>
      </p15:notesGuideLst>
    </p:ext>
    <p:ext uri="http://customooxmlschemas.google.com/">
      <go:slidesCustomData xmlns:go="http://customooxmlschemas.google.com/" r:id="rId52" roundtripDataSignature="AMtx7mgg+Y4ce4Ubz0nvtASKjY84r/x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331" orient="horz"/>
        <p:guide pos="282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font" Target="fonts/Tahoma-regular.fntdata"/><Relationship Id="rId45" Type="http://schemas.openxmlformats.org/officeDocument/2006/relationships/slide" Target="slides/slide36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font" Target="fonts/CenturySchoolbook-regular.fntdata"/><Relationship Id="rId47" Type="http://schemas.openxmlformats.org/officeDocument/2006/relationships/font" Target="fonts/Tahoma-bold.fntdata"/><Relationship Id="rId49" Type="http://schemas.openxmlformats.org/officeDocument/2006/relationships/font" Target="fonts/CenturySchoolbook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font" Target="fonts/CenturySchoolbook-boldItalic.fntdata"/><Relationship Id="rId50" Type="http://schemas.openxmlformats.org/officeDocument/2006/relationships/font" Target="fonts/CenturySchoolbook-italic.fntdata"/><Relationship Id="rId52" Type="http://customschemas.google.com/relationships/presentationmetadata" Target="metadata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16350" y="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7" name="Google Shape;137;p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e204222c9d_0_0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e204222c9d_0_0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e204222c9d_0_0:notes"/>
          <p:cNvSpPr txBox="1"/>
          <p:nvPr>
            <p:ph idx="12" type="sldNum"/>
          </p:nvPr>
        </p:nvSpPr>
        <p:spPr>
          <a:xfrm>
            <a:off x="3816350" y="9372600"/>
            <a:ext cx="2919300" cy="4938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p1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:notes"/>
          <p:cNvSpPr txBox="1"/>
          <p:nvPr/>
        </p:nvSpPr>
        <p:spPr>
          <a:xfrm>
            <a:off x="3816350" y="9372600"/>
            <a:ext cx="2919412" cy="493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1:notes"/>
          <p:cNvSpPr txBox="1"/>
          <p:nvPr>
            <p:ph idx="1" type="body"/>
          </p:nvPr>
        </p:nvSpPr>
        <p:spPr>
          <a:xfrm>
            <a:off x="898525" y="4686300"/>
            <a:ext cx="4938600" cy="444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:notes"/>
          <p:cNvSpPr/>
          <p:nvPr>
            <p:ph idx="2" type="sldImg"/>
          </p:nvPr>
        </p:nvSpPr>
        <p:spPr>
          <a:xfrm>
            <a:off x="901700" y="739775"/>
            <a:ext cx="4932300" cy="3700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7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8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9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9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0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1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1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2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3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3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4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4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:notes"/>
          <p:cNvSpPr txBox="1"/>
          <p:nvPr>
            <p:ph idx="1" type="body"/>
          </p:nvPr>
        </p:nvSpPr>
        <p:spPr>
          <a:xfrm>
            <a:off x="898525" y="4686300"/>
            <a:ext cx="4938712" cy="44402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:notes"/>
          <p:cNvSpPr/>
          <p:nvPr>
            <p:ph idx="2" type="sldImg"/>
          </p:nvPr>
        </p:nvSpPr>
        <p:spPr>
          <a:xfrm>
            <a:off x="901700" y="739775"/>
            <a:ext cx="4932362" cy="37004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7"/>
          <p:cNvSpPr txBox="1"/>
          <p:nvPr>
            <p:ph type="ctrTitle"/>
          </p:nvPr>
        </p:nvSpPr>
        <p:spPr>
          <a:xfrm>
            <a:off x="946404" y="758952"/>
            <a:ext cx="7063740" cy="4041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7"/>
          <p:cNvSpPr txBox="1"/>
          <p:nvPr>
            <p:ph idx="1" type="subTitle"/>
          </p:nvPr>
        </p:nvSpPr>
        <p:spPr>
          <a:xfrm>
            <a:off x="946404" y="4800600"/>
            <a:ext cx="70637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D8D8D8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2" name="Google Shape;22;p37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9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9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2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2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2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2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3"/>
          <p:cNvSpPr txBox="1"/>
          <p:nvPr>
            <p:ph type="title"/>
          </p:nvPr>
        </p:nvSpPr>
        <p:spPr>
          <a:xfrm rot="5400000">
            <a:off x="4466431" y="2401094"/>
            <a:ext cx="5897562" cy="18573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" type="body"/>
          </p:nvPr>
        </p:nvSpPr>
        <p:spPr>
          <a:xfrm rot="5400000">
            <a:off x="523081" y="429419"/>
            <a:ext cx="5897562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4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4"/>
          <p:cNvSpPr txBox="1"/>
          <p:nvPr>
            <p:ph idx="1" type="body"/>
          </p:nvPr>
        </p:nvSpPr>
        <p:spPr>
          <a:xfrm rot="5400000">
            <a:off x="1993900" y="781050"/>
            <a:ext cx="4351337" cy="644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5"/>
          <p:cNvSpPr txBox="1"/>
          <p:nvPr>
            <p:ph type="title"/>
          </p:nvPr>
        </p:nvSpPr>
        <p:spPr>
          <a:xfrm>
            <a:off x="630936" y="457201"/>
            <a:ext cx="240030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8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" type="body"/>
          </p:nvPr>
        </p:nvSpPr>
        <p:spPr>
          <a:xfrm>
            <a:off x="3378200" y="685800"/>
            <a:ext cx="45593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61" name="Google Shape;61;p45"/>
          <p:cNvSpPr txBox="1"/>
          <p:nvPr>
            <p:ph idx="2" type="body"/>
          </p:nvPr>
        </p:nvSpPr>
        <p:spPr>
          <a:xfrm>
            <a:off x="630936" y="2099735"/>
            <a:ext cx="240030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45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6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7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" type="body"/>
          </p:nvPr>
        </p:nvSpPr>
        <p:spPr>
          <a:xfrm>
            <a:off x="946404" y="1717185"/>
            <a:ext cx="33604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" name="Google Shape;72;p47"/>
          <p:cNvSpPr txBox="1"/>
          <p:nvPr>
            <p:ph idx="2" type="body"/>
          </p:nvPr>
        </p:nvSpPr>
        <p:spPr>
          <a:xfrm>
            <a:off x="946404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3" name="Google Shape;73;p47"/>
          <p:cNvSpPr txBox="1"/>
          <p:nvPr>
            <p:ph idx="3" type="body"/>
          </p:nvPr>
        </p:nvSpPr>
        <p:spPr>
          <a:xfrm>
            <a:off x="4599432" y="1717185"/>
            <a:ext cx="3364992" cy="7315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Font typeface="Century Schoolbook"/>
              <a:buNone/>
              <a:defRPr b="0" sz="180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47"/>
          <p:cNvSpPr txBox="1"/>
          <p:nvPr>
            <p:ph idx="4" type="body"/>
          </p:nvPr>
        </p:nvSpPr>
        <p:spPr>
          <a:xfrm>
            <a:off x="4594860" y="2507550"/>
            <a:ext cx="3360420" cy="3664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75" name="Google Shape;75;p47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8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8"/>
          <p:cNvSpPr txBox="1"/>
          <p:nvPr>
            <p:ph idx="1" type="body"/>
          </p:nvPr>
        </p:nvSpPr>
        <p:spPr>
          <a:xfrm>
            <a:off x="946404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1" name="Google Shape;81;p48"/>
          <p:cNvSpPr txBox="1"/>
          <p:nvPr>
            <p:ph idx="2" type="body"/>
          </p:nvPr>
        </p:nvSpPr>
        <p:spPr>
          <a:xfrm>
            <a:off x="4594860" y="1828801"/>
            <a:ext cx="336042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indent="-3302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indent="-3175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indent="-3175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indent="-3175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/>
        </p:txBody>
      </p:sp>
      <p:sp>
        <p:nvSpPr>
          <p:cNvPr id="82" name="Google Shape;82;p48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8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8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1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" type="body"/>
          </p:nvPr>
        </p:nvSpPr>
        <p:spPr>
          <a:xfrm>
            <a:off x="5715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2" type="body"/>
          </p:nvPr>
        </p:nvSpPr>
        <p:spPr>
          <a:xfrm>
            <a:off x="4648200" y="1676400"/>
            <a:ext cx="39243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0"/>
          <p:cNvSpPr txBox="1"/>
          <p:nvPr>
            <p:ph type="title"/>
          </p:nvPr>
        </p:nvSpPr>
        <p:spPr>
          <a:xfrm>
            <a:off x="946404" y="758952"/>
            <a:ext cx="7063800" cy="404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6600"/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0"/>
          <p:cNvSpPr txBox="1"/>
          <p:nvPr>
            <p:ph idx="1" type="body"/>
          </p:nvPr>
        </p:nvSpPr>
        <p:spPr>
          <a:xfrm>
            <a:off x="946404" y="4800600"/>
            <a:ext cx="70638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50"/>
          <p:cNvSpPr txBox="1"/>
          <p:nvPr>
            <p:ph idx="10" type="dt"/>
          </p:nvPr>
        </p:nvSpPr>
        <p:spPr>
          <a:xfrm rot="-5400000">
            <a:off x="7831112" y="1044600"/>
            <a:ext cx="1905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0"/>
          <p:cNvSpPr txBox="1"/>
          <p:nvPr>
            <p:ph idx="11" type="ftr"/>
          </p:nvPr>
        </p:nvSpPr>
        <p:spPr>
          <a:xfrm rot="-5400000">
            <a:off x="6992912" y="4092600"/>
            <a:ext cx="3581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50"/>
          <p:cNvSpPr txBox="1"/>
          <p:nvPr>
            <p:ph idx="12" type="sldNum"/>
          </p:nvPr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2"/>
          <p:cNvSpPr txBox="1"/>
          <p:nvPr>
            <p:ph type="title"/>
          </p:nvPr>
        </p:nvSpPr>
        <p:spPr>
          <a:xfrm>
            <a:off x="685800" y="5257800"/>
            <a:ext cx="7486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800">
                <a:solidFill>
                  <a:schemeClr val="lt1"/>
                </a:solidFill>
              </a:defRPr>
            </a:lvl1pPr>
            <a:lvl2pPr lvl="1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2"/>
          <p:cNvSpPr/>
          <p:nvPr>
            <p:ph idx="2" type="pic"/>
          </p:nvPr>
        </p:nvSpPr>
        <p:spPr>
          <a:xfrm>
            <a:off x="0" y="1"/>
            <a:ext cx="8469600" cy="512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31" name="Google Shape;131;p52"/>
          <p:cNvSpPr txBox="1"/>
          <p:nvPr>
            <p:ph idx="1" type="body"/>
          </p:nvPr>
        </p:nvSpPr>
        <p:spPr>
          <a:xfrm>
            <a:off x="685800" y="6108590"/>
            <a:ext cx="7486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2" name="Google Shape;132;p52"/>
          <p:cNvSpPr txBox="1"/>
          <p:nvPr>
            <p:ph idx="10" type="dt"/>
          </p:nvPr>
        </p:nvSpPr>
        <p:spPr>
          <a:xfrm rot="-5400000">
            <a:off x="7831112" y="1044600"/>
            <a:ext cx="1905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52"/>
          <p:cNvSpPr txBox="1"/>
          <p:nvPr>
            <p:ph idx="11" type="ftr"/>
          </p:nvPr>
        </p:nvSpPr>
        <p:spPr>
          <a:xfrm rot="-5400000">
            <a:off x="6992912" y="4092600"/>
            <a:ext cx="3581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D9D9DB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2"/>
          <p:cNvSpPr txBox="1"/>
          <p:nvPr>
            <p:ph idx="12" type="sldNum"/>
          </p:nvPr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4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53537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11" name="Google Shape;11;p36"/>
          <p:cNvGrpSpPr/>
          <p:nvPr/>
        </p:nvGrpSpPr>
        <p:grpSpPr>
          <a:xfrm>
            <a:off x="990600" y="2762943"/>
            <a:ext cx="7597902" cy="281189"/>
            <a:chOff x="504" y="3634"/>
            <a:chExt cx="4786" cy="177"/>
          </a:xfrm>
        </p:grpSpPr>
        <p:sp>
          <p:nvSpPr>
            <p:cNvPr id="12" name="Google Shape;12;p36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14" name="Google Shape;14;p36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6" name="Google Shape;16;p36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7" name="Google Shape;17;p36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8"/>
          <p:cNvSpPr/>
          <p:nvPr/>
        </p:nvSpPr>
        <p:spPr>
          <a:xfrm>
            <a:off x="8418512" y="0"/>
            <a:ext cx="731837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7" name="Google Shape;27;p38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8" name="Google Shape;28;p38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 rot="-5400000">
            <a:off x="7831137" y="1044575"/>
            <a:ext cx="19050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32" name="Google Shape;32;p38"/>
          <p:cNvGrpSpPr/>
          <p:nvPr/>
        </p:nvGrpSpPr>
        <p:grpSpPr>
          <a:xfrm>
            <a:off x="533400" y="1315143"/>
            <a:ext cx="7597902" cy="281189"/>
            <a:chOff x="504" y="3634"/>
            <a:chExt cx="4786" cy="177"/>
          </a:xfrm>
        </p:grpSpPr>
        <p:sp>
          <p:nvSpPr>
            <p:cNvPr id="33" name="Google Shape;33;p38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34" name="Google Shape;34;p38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0"/>
          <p:cNvSpPr/>
          <p:nvPr/>
        </p:nvSpPr>
        <p:spPr>
          <a:xfrm>
            <a:off x="8418512" y="0"/>
            <a:ext cx="731837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87" name="Google Shape;87;p40"/>
          <p:cNvGrpSpPr/>
          <p:nvPr/>
        </p:nvGrpSpPr>
        <p:grpSpPr>
          <a:xfrm>
            <a:off x="533400" y="1315143"/>
            <a:ext cx="7597902" cy="281189"/>
            <a:chOff x="504" y="3634"/>
            <a:chExt cx="4786" cy="177"/>
          </a:xfrm>
        </p:grpSpPr>
        <p:sp>
          <p:nvSpPr>
            <p:cNvPr id="88" name="Google Shape;88;p40"/>
            <p:cNvSpPr txBox="1"/>
            <p:nvPr/>
          </p:nvSpPr>
          <p:spPr>
            <a:xfrm>
              <a:off x="504" y="3696"/>
              <a:ext cx="4752" cy="48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89" name="Google Shape;89;p40"/>
            <p:cNvSpPr/>
            <p:nvPr/>
          </p:nvSpPr>
          <p:spPr>
            <a:xfrm rot="-7500000">
              <a:off x="5142" y="3645"/>
              <a:ext cx="107" cy="156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90" name="Google Shape;90;p40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1" name="Google Shape;91;p40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2" name="Google Shape;92;p40"/>
          <p:cNvSpPr txBox="1"/>
          <p:nvPr>
            <p:ph idx="11" type="ftr"/>
          </p:nvPr>
        </p:nvSpPr>
        <p:spPr>
          <a:xfrm rot="-5400000">
            <a:off x="6992937" y="4092575"/>
            <a:ext cx="3581400" cy="27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93" name="Google Shape;93;p40"/>
          <p:cNvSpPr txBox="1"/>
          <p:nvPr>
            <p:ph idx="12" type="sldNum"/>
          </p:nvPr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9"/>
          <p:cNvSpPr/>
          <p:nvPr/>
        </p:nvSpPr>
        <p:spPr>
          <a:xfrm>
            <a:off x="8418512" y="0"/>
            <a:ext cx="73170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102" name="Google Shape;102;p49"/>
          <p:cNvGrpSpPr/>
          <p:nvPr/>
        </p:nvGrpSpPr>
        <p:grpSpPr>
          <a:xfrm>
            <a:off x="533400" y="1412875"/>
            <a:ext cx="7620000" cy="183455"/>
            <a:chOff x="504" y="3696"/>
            <a:chExt cx="4800" cy="116"/>
          </a:xfrm>
        </p:grpSpPr>
        <p:sp>
          <p:nvSpPr>
            <p:cNvPr id="103" name="Google Shape;103;p49"/>
            <p:cNvSpPr txBox="1"/>
            <p:nvPr/>
          </p:nvSpPr>
          <p:spPr>
            <a:xfrm>
              <a:off x="504" y="3696"/>
              <a:ext cx="4800" cy="0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104" name="Google Shape;104;p49"/>
            <p:cNvSpPr/>
            <p:nvPr/>
          </p:nvSpPr>
          <p:spPr>
            <a:xfrm>
              <a:off x="5162" y="3812"/>
              <a:ext cx="0" cy="0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105" name="Google Shape;105;p49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06" name="Google Shape;106;p49"/>
          <p:cNvSpPr txBox="1"/>
          <p:nvPr>
            <p:ph type="title"/>
          </p:nvPr>
        </p:nvSpPr>
        <p:spPr>
          <a:xfrm>
            <a:off x="946150" y="365125"/>
            <a:ext cx="726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07" name="Google Shape;107;p49"/>
          <p:cNvSpPr txBox="1"/>
          <p:nvPr>
            <p:ph idx="1" type="body"/>
          </p:nvPr>
        </p:nvSpPr>
        <p:spPr>
          <a:xfrm>
            <a:off x="946150" y="1828800"/>
            <a:ext cx="644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08" name="Google Shape;108;p49"/>
          <p:cNvSpPr txBox="1"/>
          <p:nvPr>
            <p:ph idx="10" type="dt"/>
          </p:nvPr>
        </p:nvSpPr>
        <p:spPr>
          <a:xfrm rot="-5400000">
            <a:off x="7831112" y="1044600"/>
            <a:ext cx="1905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09" name="Google Shape;109;p49"/>
          <p:cNvSpPr txBox="1"/>
          <p:nvPr>
            <p:ph idx="11" type="ftr"/>
          </p:nvPr>
        </p:nvSpPr>
        <p:spPr>
          <a:xfrm rot="-5400000">
            <a:off x="6992912" y="4092600"/>
            <a:ext cx="3581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10" name="Google Shape;110;p49"/>
          <p:cNvSpPr txBox="1"/>
          <p:nvPr>
            <p:ph idx="12" type="sldNum"/>
          </p:nvPr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1"/>
          <p:cNvSpPr/>
          <p:nvPr/>
        </p:nvSpPr>
        <p:spPr>
          <a:xfrm>
            <a:off x="8418512" y="0"/>
            <a:ext cx="731700" cy="6858000"/>
          </a:xfrm>
          <a:prstGeom prst="rect">
            <a:avLst/>
          </a:prstGeom>
          <a:solidFill>
            <a:srgbClr val="35353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grpSp>
        <p:nvGrpSpPr>
          <p:cNvPr id="119" name="Google Shape;119;p51"/>
          <p:cNvGrpSpPr/>
          <p:nvPr/>
        </p:nvGrpSpPr>
        <p:grpSpPr>
          <a:xfrm>
            <a:off x="533400" y="1412875"/>
            <a:ext cx="7620000" cy="183455"/>
            <a:chOff x="504" y="3696"/>
            <a:chExt cx="4800" cy="116"/>
          </a:xfrm>
        </p:grpSpPr>
        <p:sp>
          <p:nvSpPr>
            <p:cNvPr id="120" name="Google Shape;120;p51"/>
            <p:cNvSpPr txBox="1"/>
            <p:nvPr/>
          </p:nvSpPr>
          <p:spPr>
            <a:xfrm>
              <a:off x="504" y="3696"/>
              <a:ext cx="4800" cy="0"/>
            </a:xfrm>
            <a:prstGeom prst="rect">
              <a:avLst/>
            </a:prstGeom>
            <a:gradFill>
              <a:gsLst>
                <a:gs pos="0">
                  <a:srgbClr val="B0B6E0"/>
                </a:gs>
                <a:gs pos="100000">
                  <a:srgbClr val="868FD0"/>
                </a:gs>
              </a:gsLst>
              <a:lin ang="0" scaled="0"/>
            </a:gra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121" name="Google Shape;121;p51"/>
            <p:cNvSpPr/>
            <p:nvPr/>
          </p:nvSpPr>
          <p:spPr>
            <a:xfrm>
              <a:off x="5162" y="3812"/>
              <a:ext cx="0" cy="0"/>
            </a:xfrm>
            <a:prstGeom prst="triangle">
              <a:avLst>
                <a:gd fmla="val 0" name="adj"/>
              </a:avLst>
            </a:prstGeom>
            <a:solidFill>
              <a:srgbClr val="868FD0"/>
            </a:solidFill>
            <a:ln>
              <a:noFill/>
            </a:ln>
            <a:effectLst>
              <a:outerShdw blurRad="63500" dir="3542175" dist="74053">
                <a:srgbClr val="000060"/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</p:grpSp>
      <p:sp>
        <p:nvSpPr>
          <p:cNvPr id="122" name="Google Shape;122;p51"/>
          <p:cNvSpPr/>
          <p:nvPr/>
        </p:nvSpPr>
        <p:spPr>
          <a:xfrm>
            <a:off x="0" y="5105400"/>
            <a:ext cx="846930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23" name="Google Shape;123;p51"/>
          <p:cNvSpPr txBox="1"/>
          <p:nvPr>
            <p:ph type="title"/>
          </p:nvPr>
        </p:nvSpPr>
        <p:spPr>
          <a:xfrm>
            <a:off x="946150" y="365125"/>
            <a:ext cx="7269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24" name="Google Shape;124;p51"/>
          <p:cNvSpPr txBox="1"/>
          <p:nvPr>
            <p:ph idx="1" type="body"/>
          </p:nvPr>
        </p:nvSpPr>
        <p:spPr>
          <a:xfrm>
            <a:off x="946150" y="1828800"/>
            <a:ext cx="644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-33020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25" name="Google Shape;125;p51"/>
          <p:cNvSpPr txBox="1"/>
          <p:nvPr>
            <p:ph idx="10" type="dt"/>
          </p:nvPr>
        </p:nvSpPr>
        <p:spPr>
          <a:xfrm rot="-5400000">
            <a:off x="7831112" y="1044600"/>
            <a:ext cx="19050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26" name="Google Shape;126;p51"/>
          <p:cNvSpPr txBox="1"/>
          <p:nvPr>
            <p:ph idx="11" type="ftr"/>
          </p:nvPr>
        </p:nvSpPr>
        <p:spPr>
          <a:xfrm rot="-5400000">
            <a:off x="6992912" y="4092600"/>
            <a:ext cx="35814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D9D9DB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/>
        </p:txBody>
      </p:sp>
      <p:sp>
        <p:nvSpPr>
          <p:cNvPr id="127" name="Google Shape;127;p51"/>
          <p:cNvSpPr txBox="1"/>
          <p:nvPr>
            <p:ph idx="12" type="sldNum"/>
          </p:nvPr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ts val="3200"/>
              <a:buFont typeface="Century Schoolbook"/>
              <a:buNone/>
              <a:defRPr b="0" i="0" sz="3200" u="non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1" name="Google Shape;141;p1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2000">
              <a:solidFill>
                <a:srgbClr val="D8D8D8"/>
              </a:solidFill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48" name="Google Shape;148;p2"/>
          <p:cNvSpPr txBox="1"/>
          <p:nvPr>
            <p:ph idx="1" type="body"/>
          </p:nvPr>
        </p:nvSpPr>
        <p:spPr>
          <a:xfrm>
            <a:off x="393700" y="1820862"/>
            <a:ext cx="7832725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Projects initiated to create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from using </a:t>
            </a:r>
            <a:r>
              <a:rPr b="1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information technology</a:t>
            </a: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needs: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Lower cost/Increase revenue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Improve customer service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 latest/emerging technologies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…</a:t>
            </a:r>
            <a:endParaRPr/>
          </a:p>
          <a:p>
            <a:pPr indent="-40323" lvl="0" marL="182563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62626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"/>
          <p:cNvSpPr txBox="1"/>
          <p:nvPr>
            <p:ph type="title"/>
          </p:nvPr>
        </p:nvSpPr>
        <p:spPr>
          <a:xfrm>
            <a:off x="946150" y="365125"/>
            <a:ext cx="7269162" cy="9302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55" name="Google Shape;155;p3"/>
          <p:cNvSpPr txBox="1"/>
          <p:nvPr>
            <p:ph idx="1" type="body"/>
          </p:nvPr>
        </p:nvSpPr>
        <p:spPr>
          <a:xfrm>
            <a:off x="609600" y="1600200"/>
            <a:ext cx="7605712" cy="5165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presents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brief summary of a business need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explains how a system that supports the need will create business value.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 a key person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Recognize business need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Understand business value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Adoption of new IT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Want system to succeed</a:t>
            </a:r>
            <a:endParaRPr/>
          </a:p>
          <a:p>
            <a:pPr indent="-182562" lvl="0" marL="182562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1" lang="en-US" sz="24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approval committee 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reviews proposals from various groups and units </a:t>
            </a:r>
            <a:endParaRPr/>
          </a:p>
          <a:p>
            <a:pPr indent="-182561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Approve/decline/suspend projects</a:t>
            </a:r>
            <a:endParaRPr/>
          </a:p>
        </p:txBody>
      </p:sp>
      <p:sp>
        <p:nvSpPr>
          <p:cNvPr id="156" name="Google Shape;156;p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IDENTIFYING BUSINESS VALUE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62" name="Google Shape;162;p4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2000" u="none">
                <a:solidFill>
                  <a:srgbClr val="D9D9D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69" name="Google Shape;169;p5"/>
          <p:cNvSpPr txBox="1"/>
          <p:nvPr>
            <p:ph idx="1" type="body"/>
          </p:nvPr>
        </p:nvSpPr>
        <p:spPr>
          <a:xfrm>
            <a:off x="838200" y="1676400"/>
            <a:ext cx="74676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Tangible value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quantified and measured easily, e.g.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2% reduction in operating costs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5% increase in sales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Intangible value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– system provides important but hard-to-measure benefits, e.g.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improved customer service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better competitive position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 txBox="1"/>
          <p:nvPr>
            <p:ph type="title"/>
          </p:nvPr>
        </p:nvSpPr>
        <p:spPr>
          <a:xfrm>
            <a:off x="946150" y="365125"/>
            <a:ext cx="7269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76" name="Google Shape;176;p6"/>
          <p:cNvSpPr txBox="1"/>
          <p:nvPr>
            <p:ph idx="1" type="body"/>
          </p:nvPr>
        </p:nvSpPr>
        <p:spPr>
          <a:xfrm>
            <a:off x="946150" y="1828800"/>
            <a:ext cx="726916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Describes business reasons for building a system – the </a:t>
            </a: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prepares the document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Approval committee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reviews and judges the system request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184" name="Google Shape;184;p7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Lists key elements of the project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sponsor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need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requirements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⮚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Special issues or constraints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Clipping"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0"/>
            <a:ext cx="654843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Screen Clipping" id="197" name="Google Shape;197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1587"/>
            <a:ext cx="6283325" cy="688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e204222c9d_0_0"/>
          <p:cNvSpPr txBox="1"/>
          <p:nvPr>
            <p:ph type="title"/>
          </p:nvPr>
        </p:nvSpPr>
        <p:spPr>
          <a:xfrm>
            <a:off x="794600" y="87275"/>
            <a:ext cx="72693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Umm… Spotify?</a:t>
            </a:r>
            <a:endParaRPr/>
          </a:p>
        </p:txBody>
      </p:sp>
      <p:sp>
        <p:nvSpPr>
          <p:cNvPr id="205" name="Google Shape;205;ge204222c9d_0_0"/>
          <p:cNvSpPr txBox="1"/>
          <p:nvPr>
            <p:ph idx="1" type="body"/>
          </p:nvPr>
        </p:nvSpPr>
        <p:spPr>
          <a:xfrm>
            <a:off x="946150" y="1828800"/>
            <a:ext cx="6446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e204222c9d_0_0"/>
          <p:cNvSpPr txBox="1"/>
          <p:nvPr>
            <p:ph idx="12" type="sldNum"/>
          </p:nvPr>
        </p:nvSpPr>
        <p:spPr>
          <a:xfrm>
            <a:off x="8440737" y="6172200"/>
            <a:ext cx="685800" cy="593700"/>
          </a:xfrm>
          <a:prstGeom prst="rect">
            <a:avLst/>
          </a:prstGeom>
        </p:spPr>
        <p:txBody>
          <a:bodyPr anchorCtr="0" anchor="ctr" bIns="45700" lIns="27425" spcFirstLastPara="1" rIns="27425" wrap="square" tIns="45700">
            <a:normAutofit fontScale="47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E8E94"/>
              </a:buClr>
              <a:buSzPct val="100000"/>
              <a:buFont typeface="Century Schoolbook"/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207" name="Google Shape;207;ge204222c9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625" y="1828800"/>
            <a:ext cx="43434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Clipping" id="213" name="Google Shape;2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875"/>
            <a:ext cx="8458200" cy="6846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FF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rgbClr val="3333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Your Turn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19" name="Google Shape;219;p11"/>
          <p:cNvSpPr txBox="1"/>
          <p:nvPr>
            <p:ph idx="1" type="body"/>
          </p:nvPr>
        </p:nvSpPr>
        <p:spPr>
          <a:xfrm>
            <a:off x="609600" y="1828800"/>
            <a:ext cx="73914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you were building a web-based system for course enrollment --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would be the functionality?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would be the expected value?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What special issues or constraints would you foresee?</a:t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2"/>
          <p:cNvSpPr txBox="1"/>
          <p:nvPr>
            <p:ph type="ctrTitle"/>
          </p:nvPr>
        </p:nvSpPr>
        <p:spPr>
          <a:xfrm>
            <a:off x="946150" y="758825"/>
            <a:ext cx="7064375" cy="4041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entury Schoolbook"/>
              <a:buNone/>
            </a:pPr>
            <a:r>
              <a:rPr b="0" i="0" lang="en-US" sz="6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26" name="Google Shape;226;p12"/>
          <p:cNvSpPr txBox="1"/>
          <p:nvPr>
            <p:ph idx="1" type="subTitle"/>
          </p:nvPr>
        </p:nvSpPr>
        <p:spPr>
          <a:xfrm>
            <a:off x="946150" y="4800600"/>
            <a:ext cx="7064375" cy="1692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0" i="0" lang="en-US" sz="2000" u="none">
                <a:solidFill>
                  <a:srgbClr val="D9D9D9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endParaRPr/>
          </a:p>
        </p:txBody>
      </p:sp>
      <p:sp>
        <p:nvSpPr>
          <p:cNvPr id="227" name="Google Shape;227;p1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Key Ideas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33" name="Google Shape;233;p13"/>
          <p:cNvSpPr txBox="1"/>
          <p:nvPr>
            <p:ph idx="1" type="body"/>
          </p:nvPr>
        </p:nvSpPr>
        <p:spPr>
          <a:xfrm>
            <a:off x="533400" y="1828800"/>
            <a:ext cx="768191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 </a:t>
            </a: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 used to aid in the decision of whether or not to proceed with the IS project.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Also identifies project </a:t>
            </a:r>
            <a:r>
              <a:rPr b="1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risks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revised throughout SDLC</a:t>
            </a:r>
            <a:endParaRPr/>
          </a:p>
          <a:p>
            <a:pPr indent="-60642" lvl="0" marL="1825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"/>
          <p:cNvSpPr txBox="1"/>
          <p:nvPr>
            <p:ph type="title"/>
          </p:nvPr>
        </p:nvSpPr>
        <p:spPr>
          <a:xfrm>
            <a:off x="5715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Feasibility Analysis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41" name="Google Shape;241;p14"/>
          <p:cNvSpPr txBox="1"/>
          <p:nvPr>
            <p:ph idx="1" type="body"/>
          </p:nvPr>
        </p:nvSpPr>
        <p:spPr>
          <a:xfrm>
            <a:off x="571500" y="1676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Detailing Expected Costs and Benefits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Technical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  <a:p>
            <a:pPr indent="-182562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1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</a:t>
            </a:r>
            <a:r>
              <a:rPr b="0" i="0" lang="en-US" sz="2800" u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 txBox="1"/>
          <p:nvPr>
            <p:ph type="title"/>
          </p:nvPr>
        </p:nvSpPr>
        <p:spPr>
          <a:xfrm>
            <a:off x="946150" y="1524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Technical Feasibility: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1" lang="en-US" sz="40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</a:t>
            </a:r>
            <a:r>
              <a:rPr b="0" i="0" lang="en-US" sz="40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 Build It?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48" name="Google Shape;248;p15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Familiarity with application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Knowledge of business domain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Familiarity with technology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Extension of existing firm technologies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size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Number of people, time, and features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Compatibility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Ease of integrating the system with the company’s existing technology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"/>
          <p:cNvSpPr txBox="1"/>
          <p:nvPr>
            <p:ph type="title"/>
          </p:nvPr>
        </p:nvSpPr>
        <p:spPr>
          <a:xfrm>
            <a:off x="936625" y="23812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1" lang="en-US" sz="4000" u="none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Should</a:t>
            </a:r>
            <a:r>
              <a:rPr b="0" i="0" lang="en-US" sz="4000" u="none">
                <a:solidFill>
                  <a:srgbClr val="FF0033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 Build It?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255" name="Google Shape;255;p16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Perform cost benefit analysis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 costs and benefits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Assign values</a:t>
            </a:r>
            <a:endParaRPr/>
          </a:p>
          <a:p>
            <a:pPr indent="-182562" lvl="1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Calculate cash flow and ROI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7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Development costs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Annual operational costs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Annual benefits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Intangible costs and benefit</a:t>
            </a:r>
            <a:endParaRPr/>
          </a:p>
        </p:txBody>
      </p:sp>
      <p:sp>
        <p:nvSpPr>
          <p:cNvPr id="256" name="Google Shape;256;p1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"/>
          <p:cNvSpPr txBox="1"/>
          <p:nvPr>
            <p:ph type="title"/>
          </p:nvPr>
        </p:nvSpPr>
        <p:spPr>
          <a:xfrm>
            <a:off x="571500" y="152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Economic Feasibility Steps</a:t>
            </a:r>
            <a:endParaRPr/>
          </a:p>
        </p:txBody>
      </p:sp>
      <p:sp>
        <p:nvSpPr>
          <p:cNvPr id="263" name="Google Shape;263;p1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4 at 12.27.42 PM.png" id="264" name="Google Shape;2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838200"/>
            <a:ext cx="7572375" cy="551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type="title"/>
          </p:nvPr>
        </p:nvSpPr>
        <p:spPr>
          <a:xfrm>
            <a:off x="571500" y="304800"/>
            <a:ext cx="7772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Example Cost &amp; Benefits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1" name="Google Shape;2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143000"/>
            <a:ext cx="6858000" cy="504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 txBox="1"/>
          <p:nvPr>
            <p:ph type="title"/>
          </p:nvPr>
        </p:nvSpPr>
        <p:spPr>
          <a:xfrm>
            <a:off x="609600" y="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Assign Values</a:t>
            </a:r>
            <a:endParaRPr/>
          </a:p>
        </p:txBody>
      </p:sp>
      <p:sp>
        <p:nvSpPr>
          <p:cNvPr id="277" name="Google Shape;277;p1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8" name="Google Shape;2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609600"/>
            <a:ext cx="7620000" cy="60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0"/>
          <p:cNvSpPr txBox="1"/>
          <p:nvPr>
            <p:ph type="title"/>
          </p:nvPr>
        </p:nvSpPr>
        <p:spPr>
          <a:xfrm>
            <a:off x="784225" y="2286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Cash Flow Method for Cost Benefit Analysis</a:t>
            </a:r>
            <a:endParaRPr/>
          </a:p>
        </p:txBody>
      </p:sp>
      <p:sp>
        <p:nvSpPr>
          <p:cNvPr id="284" name="Google Shape;284;p2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5" name="Google Shape;2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768475"/>
            <a:ext cx="76200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1"/>
          <p:cNvSpPr txBox="1"/>
          <p:nvPr>
            <p:ph type="title"/>
          </p:nvPr>
        </p:nvSpPr>
        <p:spPr>
          <a:xfrm>
            <a:off x="609600" y="1524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Cost-Benefit Analysis</a:t>
            </a:r>
            <a:endParaRPr/>
          </a:p>
        </p:txBody>
      </p:sp>
      <p:sp>
        <p:nvSpPr>
          <p:cNvPr id="291" name="Google Shape;291;p21"/>
          <p:cNvSpPr txBox="1"/>
          <p:nvPr/>
        </p:nvSpPr>
        <p:spPr>
          <a:xfrm>
            <a:off x="8440737" y="6172200"/>
            <a:ext cx="685800" cy="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2" name="Google Shape;29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25" y="685800"/>
            <a:ext cx="7874575" cy="60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 txBox="1"/>
          <p:nvPr>
            <p:ph type="title"/>
          </p:nvPr>
        </p:nvSpPr>
        <p:spPr>
          <a:xfrm>
            <a:off x="946150" y="365125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Present Value Calculation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99" name="Google Shape;299;p22"/>
          <p:cNvGrpSpPr/>
          <p:nvPr/>
        </p:nvGrpSpPr>
        <p:grpSpPr>
          <a:xfrm>
            <a:off x="1447800" y="1600200"/>
            <a:ext cx="6340475" cy="3048000"/>
            <a:chOff x="864" y="1056"/>
            <a:chExt cx="3994" cy="3087"/>
          </a:xfrm>
        </p:grpSpPr>
        <p:sp>
          <p:nvSpPr>
            <p:cNvPr id="300" name="Google Shape;300;p22"/>
            <p:cNvSpPr txBox="1"/>
            <p:nvPr/>
          </p:nvSpPr>
          <p:spPr>
            <a:xfrm>
              <a:off x="874" y="2818"/>
              <a:ext cx="3984" cy="1325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(1 + interest rate)</a:t>
              </a:r>
              <a:r>
                <a:rPr b="0" baseline="30000" i="0" lang="en-US" sz="32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n</a:t>
              </a:r>
              <a:endParaRPr/>
            </a:p>
          </p:txBody>
        </p:sp>
        <p:sp>
          <p:nvSpPr>
            <p:cNvPr id="301" name="Google Shape;301;p22"/>
            <p:cNvSpPr txBox="1"/>
            <p:nvPr/>
          </p:nvSpPr>
          <p:spPr>
            <a:xfrm>
              <a:off x="874" y="1115"/>
              <a:ext cx="3984" cy="1703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Verdana"/>
                <a:buNone/>
              </a:pPr>
              <a:r>
                <a:rPr b="0" i="0" lang="en-US" sz="2400" u="none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Cash flow amount</a:t>
              </a:r>
              <a:endParaRPr/>
            </a:p>
          </p:txBody>
        </p:sp>
        <p:sp>
          <p:nvSpPr>
            <p:cNvPr id="302" name="Google Shape;302;p22"/>
            <p:cNvSpPr txBox="1"/>
            <p:nvPr/>
          </p:nvSpPr>
          <p:spPr>
            <a:xfrm>
              <a:off x="864" y="2496"/>
              <a:ext cx="3984" cy="384"/>
            </a:xfrm>
            <a:prstGeom prst="rect">
              <a:avLst/>
            </a:prstGeom>
            <a:solidFill>
              <a:srgbClr val="CCFFFF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endParaRPr>
            </a:p>
          </p:txBody>
        </p:sp>
        <p:sp>
          <p:nvSpPr>
            <p:cNvPr id="303" name="Google Shape;303;p22"/>
            <p:cNvSpPr txBox="1"/>
            <p:nvPr/>
          </p:nvSpPr>
          <p:spPr>
            <a:xfrm>
              <a:off x="874" y="1056"/>
              <a:ext cx="3984" cy="481"/>
            </a:xfrm>
            <a:prstGeom prst="rect">
              <a:avLst/>
            </a:prstGeom>
            <a:solidFill>
              <a:srgbClr val="EAEAEA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PRESENT VALUE EQUALS</a:t>
              </a:r>
              <a:endParaRPr/>
            </a:p>
          </p:txBody>
        </p:sp>
        <p:cxnSp>
          <p:nvCxnSpPr>
            <p:cNvPr id="304" name="Google Shape;304;p22"/>
            <p:cNvCxnSpPr/>
            <p:nvPr/>
          </p:nvCxnSpPr>
          <p:spPr>
            <a:xfrm>
              <a:off x="874" y="1109"/>
              <a:ext cx="0" cy="277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05" name="Google Shape;305;p22"/>
            <p:cNvCxnSpPr/>
            <p:nvPr/>
          </p:nvCxnSpPr>
          <p:spPr>
            <a:xfrm>
              <a:off x="864" y="2448"/>
              <a:ext cx="3984" cy="0"/>
            </a:xfrm>
            <a:prstGeom prst="straightConnector1">
              <a:avLst/>
            </a:prstGeom>
            <a:noFill/>
            <a:ln cap="flat" cmpd="tri" w="762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6" name="Google Shape;306;p22"/>
            <p:cNvSpPr txBox="1"/>
            <p:nvPr/>
          </p:nvSpPr>
          <p:spPr>
            <a:xfrm>
              <a:off x="1776" y="2445"/>
              <a:ext cx="154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2400"/>
                <a:buFont typeface="Tahoma"/>
                <a:buNone/>
              </a:pPr>
              <a:r>
                <a:rPr b="0" i="0" lang="en-US" sz="2400" u="none">
                  <a:solidFill>
                    <a:srgbClr val="FF0000"/>
                  </a:solidFill>
                  <a:latin typeface="Tahoma"/>
                  <a:ea typeface="Tahoma"/>
                  <a:cs typeface="Tahoma"/>
                  <a:sym typeface="Tahoma"/>
                </a:rPr>
                <a:t>         Divided by</a:t>
              </a:r>
              <a:endParaRPr/>
            </a:p>
          </p:txBody>
        </p:sp>
        <p:cxnSp>
          <p:nvCxnSpPr>
            <p:cNvPr id="307" name="Google Shape;307;p22"/>
            <p:cNvCxnSpPr/>
            <p:nvPr/>
          </p:nvCxnSpPr>
          <p:spPr>
            <a:xfrm>
              <a:off x="4858" y="1537"/>
              <a:ext cx="0" cy="13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08" name="Google Shape;308;p22"/>
            <p:cNvSpPr txBox="1"/>
            <p:nvPr/>
          </p:nvSpPr>
          <p:spPr>
            <a:xfrm>
              <a:off x="864" y="3623"/>
              <a:ext cx="2965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ahoma"/>
                <a:buNone/>
              </a:pPr>
              <a:r>
                <a:rPr b="0" i="0" lang="en-US" sz="20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Where “n” equals the number of periods</a:t>
              </a:r>
              <a:endParaRPr/>
            </a:p>
          </p:txBody>
        </p:sp>
        <p:cxnSp>
          <p:nvCxnSpPr>
            <p:cNvPr id="309" name="Google Shape;309;p22"/>
            <p:cNvCxnSpPr/>
            <p:nvPr/>
          </p:nvCxnSpPr>
          <p:spPr>
            <a:xfrm>
              <a:off x="864" y="2928"/>
              <a:ext cx="3984" cy="0"/>
            </a:xfrm>
            <a:prstGeom prst="straightConnector1">
              <a:avLst/>
            </a:prstGeom>
            <a:noFill/>
            <a:ln cap="flat" cmpd="tri" w="76200">
              <a:solidFill>
                <a:schemeClr val="dk1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sp>
        <p:nvSpPr>
          <p:cNvPr id="310" name="Google Shape;310;p22"/>
          <p:cNvSpPr txBox="1"/>
          <p:nvPr/>
        </p:nvSpPr>
        <p:spPr>
          <a:xfrm>
            <a:off x="533400" y="4732337"/>
            <a:ext cx="7848600" cy="830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$100 received in 3 years with a required rate of return of 10% has a PV of $75.13.</a:t>
            </a:r>
            <a:endParaRPr/>
          </a:p>
        </p:txBody>
      </p:sp>
      <p:pic>
        <p:nvPicPr>
          <p:cNvPr descr="Screen Shot 2018-01-25 at 10.34.18 AM.png" id="311" name="Google Shape;3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5638800"/>
            <a:ext cx="4310062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7850" y="5616575"/>
            <a:ext cx="2778125" cy="118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Net Present Value (NPV)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609600" y="1828800"/>
            <a:ext cx="76962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NPV is simply the difference between the total present value of the benefits and the total present value of the costs.</a:t>
            </a:r>
            <a:endParaRPr/>
          </a:p>
        </p:txBody>
      </p:sp>
      <p:pic>
        <p:nvPicPr>
          <p:cNvPr descr="Screen Shot 2018-01-24 at 12.56.30 PM.png" id="320" name="Google Shape;3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3886200"/>
            <a:ext cx="696912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3"/>
          <p:cNvSpPr txBox="1"/>
          <p:nvPr/>
        </p:nvSpPr>
        <p:spPr>
          <a:xfrm>
            <a:off x="1219200" y="5791200"/>
            <a:ext cx="2941637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Schoolbook"/>
              <a:buAutoNum type="arabicPlain" startAt="30000"/>
            </a:pPr>
            <a:r>
              <a:rPr b="0" i="0" lang="en-US" sz="1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 500000     252100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id="322" name="Google Shape;3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1425" y="5099050"/>
            <a:ext cx="7278687" cy="110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(ROI)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28" name="Google Shape;328;p24"/>
          <p:cNvSpPr txBox="1"/>
          <p:nvPr>
            <p:ph idx="1" type="body"/>
          </p:nvPr>
        </p:nvSpPr>
        <p:spPr>
          <a:xfrm>
            <a:off x="457200" y="1828800"/>
            <a:ext cx="7758112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Measures money received in return for money invested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High ROI is desirable when benefits exceed costs</a:t>
            </a:r>
            <a:endParaRPr/>
          </a:p>
          <a:p>
            <a:pPr indent="-182562" lvl="0" marL="182562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Can be determined per year, or for entire project completion period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>
            <p:ph type="title"/>
          </p:nvPr>
        </p:nvSpPr>
        <p:spPr>
          <a:xfrm>
            <a:off x="609600" y="36512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Calculation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1.48 AM.png" id="336" name="Google Shape;336;p25"/>
          <p:cNvPicPr preferRelativeResize="0"/>
          <p:nvPr/>
        </p:nvPicPr>
        <p:blipFill rotWithShape="1">
          <a:blip r:embed="rId3">
            <a:alphaModFix/>
          </a:blip>
          <a:srcRect b="42082" l="0" r="11911" t="0"/>
          <a:stretch/>
        </p:blipFill>
        <p:spPr>
          <a:xfrm>
            <a:off x="228600" y="2057400"/>
            <a:ext cx="8539162" cy="169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>
            <p:ph type="title"/>
          </p:nvPr>
        </p:nvSpPr>
        <p:spPr>
          <a:xfrm>
            <a:off x="533400" y="100012"/>
            <a:ext cx="726916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Return on Investment Calculation</a:t>
            </a:r>
            <a:endParaRPr/>
          </a:p>
        </p:txBody>
      </p:sp>
      <p:sp>
        <p:nvSpPr>
          <p:cNvPr id="342" name="Google Shape;342;p26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1.48 AM.png" id="343" name="Google Shape;34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731962"/>
            <a:ext cx="88233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1.59 AM.png" id="344" name="Google Shape;34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4419600"/>
            <a:ext cx="576897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/>
          <p:nvPr>
            <p:ph type="title"/>
          </p:nvPr>
        </p:nvSpPr>
        <p:spPr>
          <a:xfrm>
            <a:off x="946150" y="365125"/>
            <a:ext cx="7269162" cy="777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350" name="Google Shape;350;p27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439737" y="168275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Length of time when returns will match amount invested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Greater time -&gt; Greater risks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Easier to picture graphically – plot cumulative present value of benefits and costs for each year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point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Screen Shot 2018-01-25 at 10.48.20 AM.png" id="358" name="Google Shape;358;p28"/>
          <p:cNvPicPr preferRelativeResize="0"/>
          <p:nvPr/>
        </p:nvPicPr>
        <p:blipFill rotWithShape="1">
          <a:blip r:embed="rId3">
            <a:alphaModFix/>
          </a:blip>
          <a:srcRect b="0" l="0" r="0" t="6883"/>
          <a:stretch/>
        </p:blipFill>
        <p:spPr>
          <a:xfrm>
            <a:off x="76200" y="2074862"/>
            <a:ext cx="8907462" cy="1277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 Shot 2018-01-25 at 10.48.30 AM.png" id="359" name="Google Shape;35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962" y="4343400"/>
            <a:ext cx="8250237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9"/>
          <p:cNvSpPr txBox="1"/>
          <p:nvPr>
            <p:ph type="title"/>
          </p:nvPr>
        </p:nvSpPr>
        <p:spPr>
          <a:xfrm>
            <a:off x="946150" y="365125"/>
            <a:ext cx="7269162" cy="854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Break-Even Graph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66" name="Google Shape;36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62" y="1709737"/>
            <a:ext cx="8124825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0"/>
          <p:cNvSpPr txBox="1"/>
          <p:nvPr>
            <p:ph type="title"/>
          </p:nvPr>
        </p:nvSpPr>
        <p:spPr>
          <a:xfrm>
            <a:off x="571500" y="3048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Formulas</a:t>
            </a:r>
            <a:endParaRPr/>
          </a:p>
        </p:txBody>
      </p:sp>
      <p:sp>
        <p:nvSpPr>
          <p:cNvPr id="372" name="Google Shape;372;p30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3" name="Google Shape;37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685800"/>
            <a:ext cx="8534400" cy="594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1"/>
          <p:cNvSpPr txBox="1"/>
          <p:nvPr>
            <p:ph type="title"/>
          </p:nvPr>
        </p:nvSpPr>
        <p:spPr>
          <a:xfrm>
            <a:off x="533400" y="152400"/>
            <a:ext cx="7673975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8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we build it, will they come?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79" name="Google Shape;379;p31"/>
          <p:cNvSpPr txBox="1"/>
          <p:nvPr>
            <p:ph idx="1" type="body"/>
          </p:nvPr>
        </p:nvSpPr>
        <p:spPr>
          <a:xfrm>
            <a:off x="946150" y="1828800"/>
            <a:ext cx="7261225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182562" lvl="0" marL="182562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the </a:t>
            </a:r>
            <a:r>
              <a:rPr b="0" i="0" lang="en-US" sz="3200" u="sng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users accept</a:t>
            </a: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the system?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Will it be incorporated in the organization?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How to asses?</a:t>
            </a:r>
            <a:endParaRPr/>
          </a:p>
          <a:p>
            <a:pPr indent="0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1. Check </a:t>
            </a:r>
            <a:r>
              <a:rPr b="0" i="1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Strategic Alignment</a:t>
            </a:r>
            <a:r>
              <a:rPr b="0" i="0" lang="en-US" sz="28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fit between project and business strategy?</a:t>
            </a:r>
            <a:endParaRPr/>
          </a:p>
        </p:txBody>
      </p:sp>
      <p:sp>
        <p:nvSpPr>
          <p:cNvPr id="380" name="Google Shape;380;p31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"/>
          <p:cNvSpPr txBox="1"/>
          <p:nvPr>
            <p:ph type="title"/>
          </p:nvPr>
        </p:nvSpPr>
        <p:spPr>
          <a:xfrm>
            <a:off x="946150" y="152400"/>
            <a:ext cx="7269162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Feasibility</a:t>
            </a:r>
            <a:b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	</a:t>
            </a:r>
            <a:r>
              <a:rPr b="0" i="0" lang="en-US" sz="28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If we build it, will they come?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386" name="Google Shape;386;p32"/>
          <p:cNvSpPr txBox="1"/>
          <p:nvPr>
            <p:ph idx="1" type="body"/>
          </p:nvPr>
        </p:nvSpPr>
        <p:spPr>
          <a:xfrm>
            <a:off x="946150" y="1828800"/>
            <a:ext cx="6446837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0" lvl="0" marL="0" marR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2. 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Perform </a:t>
            </a:r>
            <a:r>
              <a:rPr b="0" i="1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 Analysis</a:t>
            </a:r>
            <a:endParaRPr b="0" i="0" sz="28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142240" lvl="0" marL="0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</a:t>
            </a: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– any person, group, or organization that can affect or will be affected by the system</a:t>
            </a:r>
            <a:endParaRPr/>
          </a:p>
          <a:p>
            <a:pPr indent="-142240" lvl="0" marL="0" marR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 analysis considers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champion(s)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Organizational management</a:t>
            </a:r>
            <a:endParaRPr/>
          </a:p>
          <a:p>
            <a:pPr indent="-182562" lvl="1" marL="457200" marR="0" rtl="0" algn="just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users</a:t>
            </a:r>
            <a:endParaRPr/>
          </a:p>
        </p:txBody>
      </p:sp>
      <p:sp>
        <p:nvSpPr>
          <p:cNvPr id="387" name="Google Shape;387;p32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3"/>
          <p:cNvSpPr txBox="1"/>
          <p:nvPr>
            <p:ph type="title"/>
          </p:nvPr>
        </p:nvSpPr>
        <p:spPr>
          <a:xfrm>
            <a:off x="571500" y="3048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entury Schoolbook"/>
              <a:buNone/>
            </a:pPr>
            <a:r>
              <a:rPr b="0" i="0" lang="en-US" sz="3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Stakeholders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94" name="Google Shape;39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14400"/>
            <a:ext cx="8915400" cy="533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Clipping" id="399" name="Google Shape;39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-17462"/>
            <a:ext cx="6705600" cy="6913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5"/>
          <p:cNvSpPr txBox="1"/>
          <p:nvPr>
            <p:ph type="title"/>
          </p:nvPr>
        </p:nvSpPr>
        <p:spPr>
          <a:xfrm>
            <a:off x="946150" y="365125"/>
            <a:ext cx="7269162" cy="7016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Schoolbook"/>
              <a:buNone/>
            </a:pPr>
            <a:r>
              <a:rPr b="0" i="0" lang="en-US" sz="40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Summary</a:t>
            </a:r>
            <a:endParaRPr/>
          </a:p>
        </p:txBody>
      </p:sp>
      <p:sp>
        <p:nvSpPr>
          <p:cNvPr descr="Rectangle: Click to edit Master text styles &#10;Second level &#10;Third level &#10;Fourth level &#10;Fifth level" id="405" name="Google Shape;405;p35"/>
          <p:cNvSpPr txBox="1"/>
          <p:nvPr>
            <p:ph idx="1" type="body"/>
          </p:nvPr>
        </p:nvSpPr>
        <p:spPr>
          <a:xfrm>
            <a:off x="571500" y="1524000"/>
            <a:ext cx="80391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562" lvl="0" marL="18256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initiation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involves creating and assessing goals and expectations for a new system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Identifying the 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business value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of the new project is a key to success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system request 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describes an overview of the proposed system.</a:t>
            </a:r>
            <a:endParaRPr/>
          </a:p>
          <a:p>
            <a:pPr indent="-182562" lvl="0" marL="182562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2080"/>
              <a:buFont typeface="Arial"/>
              <a:buChar char="•"/>
            </a:pP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2600" u="none">
                <a:solidFill>
                  <a:srgbClr val="FF0000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feasibility study</a:t>
            </a:r>
            <a:r>
              <a:rPr b="0" i="0" lang="en-US" sz="2600" u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is concerned with ensuring that technical, economic, and organizational benefits outweigh costs and risks</a:t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  <a:p>
            <a:pPr indent="-60642" lvl="0" marL="182563" marR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920"/>
              <a:buFont typeface="Arial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8440737" y="6172200"/>
            <a:ext cx="685800" cy="593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27425" spcFirstLastPara="1" rIns="27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ahoma"/>
              <a:buNone/>
            </a:pPr>
            <a:r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Slide </a:t>
            </a:r>
            <a:fld id="{00000000-1234-1234-1234-123412341234}" type="slidenum">
              <a:rPr b="0" i="0" lang="en-US" sz="10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4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1_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1999-03-22T21:30:00Z</dcterms:created>
  <dc:creator>Fred Niederman</dc:creator>
</cp:coreProperties>
</file>