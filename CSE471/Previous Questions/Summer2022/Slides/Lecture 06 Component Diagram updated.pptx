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Corbel"/>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32" roundtripDataSignature="AMtx7mjYh6hBiwzOGtNsZUfEcQ4dxaCl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orbel-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bel-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rbel-boldItalic.fntdata"/><Relationship Id="rId30" Type="http://schemas.openxmlformats.org/officeDocument/2006/relationships/font" Target="fonts/Corbel-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e37ad36e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e37ad36e5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e37ad36e5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e37ad36e5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e37ad36e5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e37ad36e5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e37ad36e5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e37ad36e57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e37ad36e57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37ad36e57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e37ad36e57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e37ad36e57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e37ad36e5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e37ad36e57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e37ad36e57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e37ad36e5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e37ad36e57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e37ad36e57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e37ad36e5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e37ad36e57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e37ad36e57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37ad36e57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e37ad36e57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e37ad36e57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e3965b57b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e3965b57be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e3965b57be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2951bb1c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e2951bb1c8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e2951bb1c8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e2951bb1c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e2951bb1c8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e2951bb1c8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2951bb1c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e2951bb1c8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e2951bb1c8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e2951bb1c8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e2951bb1c8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e2951bb1c8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e2951bb1c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e2951bb1c8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e2951bb1c8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e3a2a483e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e3a2a483e0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e3a2a483e0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2a41a3a3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e2a41a3a3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e2a41a3a3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e2a41a3a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e2a41a3a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e2a41a3a3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e2a41a3a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e2a41a3a37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e2a41a3a37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e2a41a3a3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e2a41a3a37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e2a41a3a37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e2951bb1c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e2951bb1c8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e2951bb1c8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e2951bb1c8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e2951bb1c8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e2951bb1c8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e2951bb1c8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e2951bb1c8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e2951bb1c8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6" name="Google Shape;26;p20"/>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latin typeface="Corbel"/>
                <a:ea typeface="Corbel"/>
                <a:cs typeface="Corbel"/>
                <a:sym typeface="Corbe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9" name="Shape 29"/>
        <p:cNvGrpSpPr/>
        <p:nvPr/>
      </p:nvGrpSpPr>
      <p:grpSpPr>
        <a:xfrm>
          <a:off x="0" y="0"/>
          <a:ext cx="0" cy="0"/>
          <a:chOff x="0" y="0"/>
          <a:chExt cx="0" cy="0"/>
        </a:xfrm>
      </p:grpSpPr>
      <p:grpSp>
        <p:nvGrpSpPr>
          <p:cNvPr id="30" name="Google Shape;30;p21"/>
          <p:cNvGrpSpPr/>
          <p:nvPr/>
        </p:nvGrpSpPr>
        <p:grpSpPr>
          <a:xfrm>
            <a:off x="270933" y="1"/>
            <a:ext cx="5037667" cy="6858001"/>
            <a:chOff x="203200" y="0"/>
            <a:chExt cx="3778250" cy="6858001"/>
          </a:xfrm>
        </p:grpSpPr>
        <p:sp>
          <p:nvSpPr>
            <p:cNvPr id="31" name="Google Shape;31;p2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32" name="Google Shape;32;p21"/>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33" name="Google Shape;33;p21"/>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34" name="Google Shape;34;p21"/>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35" name="Google Shape;35;p21"/>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6" name="Google Shape;36;p21"/>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7" name="Google Shape;37;p21"/>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39" name="Google Shape;39;p21"/>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21"/>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43" name="Google Shape;43;p21"/>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44" name="Google Shape;44;p21"/>
          <p:cNvPicPr preferRelativeResize="0"/>
          <p:nvPr/>
        </p:nvPicPr>
        <p:blipFill rotWithShape="1">
          <a:blip r:embed="rId2">
            <a:alphaModFix/>
          </a:blip>
          <a:srcRect b="0" l="0" r="0" t="0"/>
          <a:stretch/>
        </p:blipFill>
        <p:spPr>
          <a:xfrm>
            <a:off x="11240700" y="76200"/>
            <a:ext cx="825850" cy="7570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22"/>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48" name="Google Shape;48;p2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3"/>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4" name="Google Shape;54;p23"/>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5" name="Google Shape;55;p2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24"/>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1" name="Google Shape;61;p24"/>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2" name="Google Shape;62;p24"/>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3" name="Google Shape;63;p24"/>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4" name="Google Shape;64;p2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7"/>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79" name="Google Shape;79;p27"/>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0" name="Google Shape;80;p2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8"/>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8"/>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86" name="Google Shape;86;p28"/>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7" name="Google Shape;87;p2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29"/>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9"/>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93" name="Google Shape;93;p29"/>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94" name="Google Shape;94;p2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0"/>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0"/>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0" name="Google Shape;100;p3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31"/>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5" name="Google Shape;105;p31"/>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6" name="Google Shape;106;p31"/>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1"/>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08" name="Google Shape;108;p31"/>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9" name="Google Shape;109;p3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32"/>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2"/>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5" name="Google Shape;115;p3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33"/>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0" name="Google Shape;120;p33"/>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1" name="Google Shape;121;p33"/>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3"/>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3" name="Google Shape;123;p33"/>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4" name="Google Shape;124;p3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34"/>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4"/>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0" name="Google Shape;130;p34"/>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31" name="Google Shape;131;p3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3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5"/>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7" name="Google Shape;137;p3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6"/>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43" name="Google Shape;143;p3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1" y="1"/>
            <a:ext cx="2842684" cy="6858001"/>
            <a:chOff x="0" y="0"/>
            <a:chExt cx="2132013" cy="6858001"/>
          </a:xfrm>
        </p:grpSpPr>
        <p:sp>
          <p:nvSpPr>
            <p:cNvPr id="11" name="Google Shape;11;p1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1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1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9"/>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9"/>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19"/>
          <p:cNvPicPr preferRelativeResize="0"/>
          <p:nvPr/>
        </p:nvPicPr>
        <p:blipFill rotWithShape="1">
          <a:blip r:embed="rId2">
            <a:alphaModFix/>
          </a:blip>
          <a:srcRect b="0" l="0" r="0" t="0"/>
          <a:stretch/>
        </p:blipFill>
        <p:spPr>
          <a:xfrm>
            <a:off x="11198050" y="160925"/>
            <a:ext cx="892350" cy="7748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e37ad36e57_0_0"/>
          <p:cNvSpPr txBox="1"/>
          <p:nvPr>
            <p:ph type="ctrTitle"/>
          </p:nvPr>
        </p:nvSpPr>
        <p:spPr>
          <a:xfrm>
            <a:off x="2319565" y="914401"/>
            <a:ext cx="9262800" cy="3488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a:p>
            <a:pPr indent="0" lvl="0" marL="0" rtl="0" algn="r">
              <a:spcBef>
                <a:spcPts val="0"/>
              </a:spcBef>
              <a:spcAft>
                <a:spcPts val="0"/>
              </a:spcAft>
              <a:buNone/>
            </a:pPr>
            <a:r>
              <a:rPr lang="en-US"/>
              <a:t>Component Diagram</a:t>
            </a:r>
            <a:endParaRPr/>
          </a:p>
        </p:txBody>
      </p:sp>
      <p:sp>
        <p:nvSpPr>
          <p:cNvPr id="152" name="Google Shape;152;ge37ad36e57_0_0"/>
          <p:cNvSpPr txBox="1"/>
          <p:nvPr>
            <p:ph idx="1" type="subTitle"/>
          </p:nvPr>
        </p:nvSpPr>
        <p:spPr>
          <a:xfrm>
            <a:off x="3898985" y="4402667"/>
            <a:ext cx="7683300" cy="1364400"/>
          </a:xfrm>
          <a:prstGeom prst="rect">
            <a:avLst/>
          </a:prstGeom>
        </p:spPr>
        <p:txBody>
          <a:bodyPr anchorCtr="0" anchor="t" bIns="45700" lIns="91425" spcFirstLastPara="1" rIns="91425" wrap="square" tIns="45700">
            <a:normAutofit/>
          </a:bodyPr>
          <a:lstStyle/>
          <a:p>
            <a:pPr indent="0" lvl="0" marL="0" rtl="0" algn="r">
              <a:spcBef>
                <a:spcPts val="360"/>
              </a:spcBef>
              <a:spcAft>
                <a:spcPts val="600"/>
              </a:spcAft>
              <a:buNone/>
            </a:pPr>
            <a:r>
              <a:t/>
            </a:r>
            <a:endParaRPr/>
          </a:p>
        </p:txBody>
      </p:sp>
      <p:sp>
        <p:nvSpPr>
          <p:cNvPr id="153" name="Google Shape;153;ge37ad36e57_0_0"/>
          <p:cNvSpPr txBox="1"/>
          <p:nvPr>
            <p:ph idx="12" type="sldNum"/>
          </p:nvPr>
        </p:nvSpPr>
        <p:spPr>
          <a:xfrm>
            <a:off x="11033760" y="6117337"/>
            <a:ext cx="54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e37ad36e57_0_7"/>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Component Diagrams</a:t>
            </a:r>
            <a:endParaRPr/>
          </a:p>
        </p:txBody>
      </p:sp>
      <p:sp>
        <p:nvSpPr>
          <p:cNvPr id="160" name="Google Shape;160;ge37ad36e57_0_7"/>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394335" lvl="0" marL="457200" rtl="0" algn="l">
              <a:spcBef>
                <a:spcPts val="360"/>
              </a:spcBef>
              <a:spcAft>
                <a:spcPts val="0"/>
              </a:spcAft>
              <a:buSzPts val="2610"/>
              <a:buChar char="•"/>
            </a:pPr>
            <a:r>
              <a:rPr lang="en-US"/>
              <a:t>UML component diagrams describe software components and their dependencies to each others </a:t>
            </a:r>
            <a:endParaRPr/>
          </a:p>
          <a:p>
            <a:pPr indent="-394335" lvl="0" marL="457200" rtl="0" algn="l">
              <a:spcBef>
                <a:spcPts val="0"/>
              </a:spcBef>
              <a:spcAft>
                <a:spcPts val="0"/>
              </a:spcAft>
              <a:buSzPts val="2610"/>
              <a:buChar char="•"/>
            </a:pPr>
            <a:r>
              <a:rPr lang="en-US"/>
              <a:t>Models the physical implementation of the software (file resources) </a:t>
            </a:r>
            <a:endParaRPr/>
          </a:p>
          <a:p>
            <a:pPr indent="-394335" lvl="0" marL="457200" rtl="0" algn="l">
              <a:spcBef>
                <a:spcPts val="0"/>
              </a:spcBef>
              <a:spcAft>
                <a:spcPts val="0"/>
              </a:spcAft>
              <a:buSzPts val="2610"/>
              <a:buChar char="•"/>
            </a:pPr>
            <a:r>
              <a:rPr lang="en-US"/>
              <a:t>Models the high-level software components, and their interfaces</a:t>
            </a:r>
            <a:endParaRPr/>
          </a:p>
          <a:p>
            <a:pPr indent="-394335" lvl="0" marL="457200" rtl="0" algn="l">
              <a:spcBef>
                <a:spcPts val="0"/>
              </a:spcBef>
              <a:spcAft>
                <a:spcPts val="0"/>
              </a:spcAft>
              <a:buSzPts val="2610"/>
              <a:buChar char="•"/>
            </a:pPr>
            <a:r>
              <a:rPr lang="en-US"/>
              <a:t>We use component diagrams to model the static implementation view of a software system.</a:t>
            </a:r>
            <a:endParaRPr/>
          </a:p>
          <a:p>
            <a:pPr indent="-394335" lvl="0" marL="457200" rtl="0" algn="l">
              <a:spcBef>
                <a:spcPts val="0"/>
              </a:spcBef>
              <a:spcAft>
                <a:spcPts val="0"/>
              </a:spcAft>
              <a:buSzPts val="2610"/>
              <a:buChar char="•"/>
            </a:pPr>
            <a:r>
              <a:rPr lang="en-US"/>
              <a:t>It is a type of structural UML diagram</a:t>
            </a:r>
            <a:endParaRPr/>
          </a:p>
          <a:p>
            <a:pPr indent="0" lvl="0" marL="0" rtl="0" algn="l">
              <a:spcBef>
                <a:spcPts val="600"/>
              </a:spcBef>
              <a:spcAft>
                <a:spcPts val="600"/>
              </a:spcAft>
              <a:buNone/>
            </a:pPr>
            <a:r>
              <a:t/>
            </a:r>
            <a:endParaRPr/>
          </a:p>
        </p:txBody>
      </p:sp>
      <p:sp>
        <p:nvSpPr>
          <p:cNvPr id="161" name="Google Shape;161;ge37ad36e57_0_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e37ad36e57_0_17"/>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is a Component</a:t>
            </a:r>
            <a:endParaRPr/>
          </a:p>
        </p:txBody>
      </p:sp>
      <p:sp>
        <p:nvSpPr>
          <p:cNvPr id="168" name="Google Shape;168;ge37ad36e57_0_17"/>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394335" lvl="0" marL="457200" rtl="0" algn="l">
              <a:spcBef>
                <a:spcPts val="360"/>
              </a:spcBef>
              <a:spcAft>
                <a:spcPts val="0"/>
              </a:spcAft>
              <a:buSzPts val="2610"/>
              <a:buChar char="•"/>
            </a:pPr>
            <a:r>
              <a:rPr lang="en-US"/>
              <a:t>Modular unit with well-defined interfaces that is replaceable within its environment </a:t>
            </a:r>
            <a:endParaRPr/>
          </a:p>
          <a:p>
            <a:pPr indent="-394335" lvl="0" marL="457200" rtl="0" algn="l">
              <a:spcBef>
                <a:spcPts val="0"/>
              </a:spcBef>
              <a:spcAft>
                <a:spcPts val="0"/>
              </a:spcAft>
              <a:buSzPts val="2610"/>
              <a:buChar char="•"/>
            </a:pPr>
            <a:r>
              <a:rPr lang="en-US"/>
              <a:t>Autonomous unit within a system</a:t>
            </a:r>
            <a:endParaRPr/>
          </a:p>
          <a:p>
            <a:pPr indent="-394335" lvl="0" marL="457200" rtl="0" algn="l">
              <a:spcBef>
                <a:spcPts val="0"/>
              </a:spcBef>
              <a:spcAft>
                <a:spcPts val="0"/>
              </a:spcAft>
              <a:buSzPts val="2610"/>
              <a:buChar char="•"/>
            </a:pPr>
            <a:r>
              <a:rPr lang="en-US"/>
              <a:t>Has one or more provided and required interfaces</a:t>
            </a:r>
            <a:endParaRPr/>
          </a:p>
          <a:p>
            <a:pPr indent="-394335" lvl="0" marL="457200" rtl="0" algn="l">
              <a:spcBef>
                <a:spcPts val="0"/>
              </a:spcBef>
              <a:spcAft>
                <a:spcPts val="0"/>
              </a:spcAft>
              <a:buSzPts val="2610"/>
              <a:buChar char="•"/>
            </a:pPr>
            <a:r>
              <a:rPr lang="en-US"/>
              <a:t>Its internals are encapsulated, hidden and inaccessible </a:t>
            </a:r>
            <a:endParaRPr/>
          </a:p>
          <a:p>
            <a:pPr indent="-394335" lvl="0" marL="457200" rtl="0" algn="l">
              <a:spcBef>
                <a:spcPts val="0"/>
              </a:spcBef>
              <a:spcAft>
                <a:spcPts val="0"/>
              </a:spcAft>
              <a:buSzPts val="2610"/>
              <a:buChar char="•"/>
            </a:pPr>
            <a:r>
              <a:rPr lang="en-US"/>
              <a:t>Its dependencies are designed such that it can be treated as independently as possible</a:t>
            </a:r>
            <a:endParaRPr/>
          </a:p>
          <a:p>
            <a:pPr indent="-394335" lvl="0" marL="457200" rtl="0" algn="l">
              <a:spcBef>
                <a:spcPts val="0"/>
              </a:spcBef>
              <a:spcAft>
                <a:spcPts val="0"/>
              </a:spcAft>
              <a:buSzPts val="2610"/>
              <a:buChar char="•"/>
            </a:pPr>
            <a:r>
              <a:rPr lang="en-US"/>
              <a:t>The components can be a software component such as a database or user interface; or a hardware component such as a circuit, microchip or device; or a business unit such as supplier, payroll or shipping.</a:t>
            </a:r>
            <a:endParaRPr/>
          </a:p>
        </p:txBody>
      </p:sp>
      <p:sp>
        <p:nvSpPr>
          <p:cNvPr id="169" name="Google Shape;169;ge37ad36e57_0_1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e37ad36e57_0_28"/>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Component Notation</a:t>
            </a:r>
            <a:endParaRPr/>
          </a:p>
        </p:txBody>
      </p:sp>
      <p:sp>
        <p:nvSpPr>
          <p:cNvPr id="176" name="Google Shape;176;ge37ad36e57_0_28"/>
          <p:cNvSpPr txBox="1"/>
          <p:nvPr>
            <p:ph idx="1" type="body"/>
          </p:nvPr>
        </p:nvSpPr>
        <p:spPr>
          <a:xfrm>
            <a:off x="1309500" y="1600200"/>
            <a:ext cx="55584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1600"/>
              <a:t>1) Rectangle with the component stereotype (the text &lt;&lt;component&gt;&gt;). The component stereotype is usually used above the component name to avoid confusing the shape with a class icon.Components can be labelled with a number of standard stereotypes</a:t>
            </a:r>
            <a:endParaRPr sz="1600"/>
          </a:p>
          <a:p>
            <a:pPr indent="0" lvl="0" marL="0" rtl="0" algn="l">
              <a:spcBef>
                <a:spcPts val="600"/>
              </a:spcBef>
              <a:spcAft>
                <a:spcPts val="0"/>
              </a:spcAft>
              <a:buClr>
                <a:schemeClr val="dk1"/>
              </a:buClr>
              <a:buSzPts val="1100"/>
              <a:buFont typeface="Arial"/>
              <a:buNone/>
            </a:pPr>
            <a:r>
              <a:rPr lang="en-US" sz="1600"/>
              <a:t>ex: &lt;&lt;entity&gt;&gt;, &lt;&lt;subsystem&gt;&gt;,&lt;&lt;table&gt;&gt;,&lt;&lt;library&gt;&gt;, etc</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0"/>
              </a:spcAft>
              <a:buClr>
                <a:schemeClr val="dk1"/>
              </a:buClr>
              <a:buSzPts val="1100"/>
              <a:buFont typeface="Arial"/>
              <a:buNone/>
            </a:pPr>
            <a:r>
              <a:rPr lang="en-US" sz="1600"/>
              <a:t>2) Rectangle with the component icon in the top right corner and the name of the component.</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0"/>
              </a:spcAft>
              <a:buClr>
                <a:schemeClr val="dk1"/>
              </a:buClr>
              <a:buSzPts val="1100"/>
              <a:buFont typeface="Arial"/>
              <a:buNone/>
            </a:pPr>
            <a:r>
              <a:rPr lang="en-US" sz="1600"/>
              <a:t>3) Rectangle with the component icon and the component stereotype.</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0"/>
              </a:spcAft>
              <a:buClr>
                <a:schemeClr val="dk1"/>
              </a:buClr>
              <a:buSzPts val="1100"/>
              <a:buFont typeface="Arial"/>
              <a:buNone/>
            </a:pPr>
            <a:r>
              <a:t/>
            </a:r>
            <a:endParaRPr sz="1600"/>
          </a:p>
          <a:p>
            <a:pPr indent="0" lvl="0" marL="0" rtl="0" algn="l">
              <a:spcBef>
                <a:spcPts val="600"/>
              </a:spcBef>
              <a:spcAft>
                <a:spcPts val="600"/>
              </a:spcAft>
              <a:buNone/>
            </a:pPr>
            <a:r>
              <a:t/>
            </a:r>
            <a:endParaRPr sz="1600"/>
          </a:p>
        </p:txBody>
      </p:sp>
      <p:sp>
        <p:nvSpPr>
          <p:cNvPr id="177" name="Google Shape;177;ge37ad36e57_0_28"/>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78" name="Google Shape;178;ge37ad36e57_0_28"/>
          <p:cNvPicPr preferRelativeResize="0"/>
          <p:nvPr/>
        </p:nvPicPr>
        <p:blipFill>
          <a:blip r:embed="rId3">
            <a:alphaModFix/>
          </a:blip>
          <a:stretch>
            <a:fillRect/>
          </a:stretch>
        </p:blipFill>
        <p:spPr>
          <a:xfrm>
            <a:off x="7115176" y="1600200"/>
            <a:ext cx="2584700" cy="1396900"/>
          </a:xfrm>
          <a:prstGeom prst="rect">
            <a:avLst/>
          </a:prstGeom>
          <a:noFill/>
          <a:ln>
            <a:noFill/>
          </a:ln>
        </p:spPr>
      </p:pic>
      <p:pic>
        <p:nvPicPr>
          <p:cNvPr id="179" name="Google Shape;179;ge37ad36e57_0_28"/>
          <p:cNvPicPr preferRelativeResize="0"/>
          <p:nvPr/>
        </p:nvPicPr>
        <p:blipFill>
          <a:blip r:embed="rId4">
            <a:alphaModFix/>
          </a:blip>
          <a:stretch>
            <a:fillRect/>
          </a:stretch>
        </p:blipFill>
        <p:spPr>
          <a:xfrm>
            <a:off x="7129474" y="3382750"/>
            <a:ext cx="2575008" cy="1396900"/>
          </a:xfrm>
          <a:prstGeom prst="rect">
            <a:avLst/>
          </a:prstGeom>
          <a:noFill/>
          <a:ln>
            <a:noFill/>
          </a:ln>
        </p:spPr>
      </p:pic>
      <p:pic>
        <p:nvPicPr>
          <p:cNvPr id="180" name="Google Shape;180;ge37ad36e57_0_28"/>
          <p:cNvPicPr preferRelativeResize="0"/>
          <p:nvPr/>
        </p:nvPicPr>
        <p:blipFill>
          <a:blip r:embed="rId5">
            <a:alphaModFix/>
          </a:blip>
          <a:stretch>
            <a:fillRect/>
          </a:stretch>
        </p:blipFill>
        <p:spPr>
          <a:xfrm>
            <a:off x="7129475" y="5002375"/>
            <a:ext cx="2575000" cy="13534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e37ad36e57_0_47"/>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Component Elements</a:t>
            </a:r>
            <a:endParaRPr/>
          </a:p>
        </p:txBody>
      </p:sp>
      <p:sp>
        <p:nvSpPr>
          <p:cNvPr id="187" name="Google Shape;187;ge37ad36e57_0_47"/>
          <p:cNvSpPr txBox="1"/>
          <p:nvPr>
            <p:ph idx="1" type="body"/>
          </p:nvPr>
        </p:nvSpPr>
        <p:spPr>
          <a:xfrm>
            <a:off x="1309500" y="1600200"/>
            <a:ext cx="105711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t>1. </a:t>
            </a:r>
            <a:r>
              <a:rPr b="1" lang="en-US"/>
              <a:t>Interfaces</a:t>
            </a:r>
            <a:endParaRPr b="1"/>
          </a:p>
          <a:p>
            <a:pPr indent="0" lvl="0" marL="0" rtl="0" algn="l">
              <a:spcBef>
                <a:spcPts val="600"/>
              </a:spcBef>
              <a:spcAft>
                <a:spcPts val="0"/>
              </a:spcAft>
              <a:buNone/>
            </a:pPr>
            <a:r>
              <a:rPr lang="en-US"/>
              <a:t>An interface represents a declaration of a set of operations and obligations  </a:t>
            </a:r>
            <a:endParaRPr/>
          </a:p>
          <a:p>
            <a:pPr indent="0" lvl="0" marL="0" rtl="0" algn="l">
              <a:spcBef>
                <a:spcPts val="600"/>
              </a:spcBef>
              <a:spcAft>
                <a:spcPts val="0"/>
              </a:spcAft>
              <a:buNone/>
            </a:pPr>
            <a:r>
              <a:rPr b="1" lang="en-US"/>
              <a:t>2. Usage dependencies</a:t>
            </a:r>
            <a:endParaRPr b="1"/>
          </a:p>
          <a:p>
            <a:pPr indent="0" lvl="0" marL="0" rtl="0" algn="l">
              <a:spcBef>
                <a:spcPts val="600"/>
              </a:spcBef>
              <a:spcAft>
                <a:spcPts val="0"/>
              </a:spcAft>
              <a:buNone/>
            </a:pPr>
            <a:r>
              <a:rPr lang="en-US"/>
              <a:t>A usage dependency is relationship which one element requires another element for its full implementation</a:t>
            </a:r>
            <a:endParaRPr/>
          </a:p>
          <a:p>
            <a:pPr indent="0" lvl="0" marL="0" rtl="0" algn="l">
              <a:spcBef>
                <a:spcPts val="600"/>
              </a:spcBef>
              <a:spcAft>
                <a:spcPts val="0"/>
              </a:spcAft>
              <a:buNone/>
            </a:pPr>
            <a:r>
              <a:rPr b="1" lang="en-US"/>
              <a:t>3. Ports</a:t>
            </a:r>
            <a:endParaRPr b="1"/>
          </a:p>
          <a:p>
            <a:pPr indent="0" lvl="0" marL="0" rtl="0" algn="l">
              <a:spcBef>
                <a:spcPts val="600"/>
              </a:spcBef>
              <a:spcAft>
                <a:spcPts val="0"/>
              </a:spcAft>
              <a:buNone/>
            </a:pPr>
            <a:r>
              <a:rPr lang="en-US"/>
              <a:t>Port represents an interaction point between a component and its environment  </a:t>
            </a:r>
            <a:endParaRPr/>
          </a:p>
          <a:p>
            <a:pPr indent="0" lvl="0" marL="0" rtl="0" algn="l">
              <a:spcBef>
                <a:spcPts val="600"/>
              </a:spcBef>
              <a:spcAft>
                <a:spcPts val="0"/>
              </a:spcAft>
              <a:buNone/>
            </a:pPr>
            <a:r>
              <a:rPr b="1" lang="en-US"/>
              <a:t>4.</a:t>
            </a:r>
            <a:r>
              <a:rPr lang="en-US"/>
              <a:t> </a:t>
            </a:r>
            <a:r>
              <a:rPr b="1" lang="en-US"/>
              <a:t>Connectors</a:t>
            </a:r>
            <a:endParaRPr b="1"/>
          </a:p>
          <a:p>
            <a:pPr indent="0" lvl="0" marL="0" rtl="0" algn="l">
              <a:spcBef>
                <a:spcPts val="600"/>
              </a:spcBef>
              <a:spcAft>
                <a:spcPts val="0"/>
              </a:spcAft>
              <a:buNone/>
            </a:pPr>
            <a:r>
              <a:rPr lang="en-US"/>
              <a:t>Connect two components through interface.</a:t>
            </a:r>
            <a:endParaRPr/>
          </a:p>
          <a:p>
            <a:pPr indent="0" lvl="0" marL="0" rtl="0" algn="l">
              <a:spcBef>
                <a:spcPts val="600"/>
              </a:spcBef>
              <a:spcAft>
                <a:spcPts val="600"/>
              </a:spcAft>
              <a:buNone/>
            </a:pPr>
            <a:r>
              <a:t/>
            </a:r>
            <a:endParaRPr/>
          </a:p>
        </p:txBody>
      </p:sp>
      <p:sp>
        <p:nvSpPr>
          <p:cNvPr id="188" name="Google Shape;188;ge37ad36e57_0_4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e37ad36e57_0_58"/>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INTERFACE</a:t>
            </a:r>
            <a:endParaRPr/>
          </a:p>
        </p:txBody>
      </p:sp>
      <p:sp>
        <p:nvSpPr>
          <p:cNvPr id="195" name="Google Shape;195;ge37ad36e57_0_58"/>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394335" lvl="0" marL="457200" rtl="0" algn="l">
              <a:spcBef>
                <a:spcPts val="360"/>
              </a:spcBef>
              <a:spcAft>
                <a:spcPts val="0"/>
              </a:spcAft>
              <a:buSzPts val="2610"/>
              <a:buChar char="•"/>
            </a:pPr>
            <a:r>
              <a:rPr lang="en-US"/>
              <a:t>A component defines its behaviour in terms of provided and required interfaces</a:t>
            </a:r>
            <a:endParaRPr/>
          </a:p>
          <a:p>
            <a:pPr indent="-394335" lvl="0" marL="457200" rtl="0" algn="l">
              <a:spcBef>
                <a:spcPts val="0"/>
              </a:spcBef>
              <a:spcAft>
                <a:spcPts val="0"/>
              </a:spcAft>
              <a:buSzPts val="2610"/>
              <a:buChar char="•"/>
            </a:pPr>
            <a:r>
              <a:rPr lang="en-US"/>
              <a:t>An interface</a:t>
            </a:r>
            <a:endParaRPr/>
          </a:p>
          <a:p>
            <a:pPr indent="-394335" lvl="1" marL="914400" rtl="0" algn="l">
              <a:spcBef>
                <a:spcPts val="0"/>
              </a:spcBef>
              <a:spcAft>
                <a:spcPts val="0"/>
              </a:spcAft>
              <a:buSzPts val="2610"/>
              <a:buChar char="•"/>
            </a:pPr>
            <a:r>
              <a:rPr lang="en-US"/>
              <a:t>Is the definition of a collection of one or more operations </a:t>
            </a:r>
            <a:endParaRPr/>
          </a:p>
          <a:p>
            <a:pPr indent="-394335" lvl="1" marL="914400" rtl="0" algn="l">
              <a:spcBef>
                <a:spcPts val="0"/>
              </a:spcBef>
              <a:spcAft>
                <a:spcPts val="0"/>
              </a:spcAft>
              <a:buSzPts val="2610"/>
              <a:buChar char="•"/>
            </a:pPr>
            <a:r>
              <a:rPr lang="en-US"/>
              <a:t>Provides only the operations but not the implementation</a:t>
            </a:r>
            <a:endParaRPr/>
          </a:p>
          <a:p>
            <a:pPr indent="-394335" lvl="1" marL="914400" rtl="0" algn="l">
              <a:spcBef>
                <a:spcPts val="0"/>
              </a:spcBef>
              <a:spcAft>
                <a:spcPts val="0"/>
              </a:spcAft>
              <a:buSzPts val="2610"/>
              <a:buChar char="•"/>
            </a:pPr>
            <a:r>
              <a:rPr lang="en-US"/>
              <a:t>Implementation is normally provided by a class/ component</a:t>
            </a:r>
            <a:endParaRPr/>
          </a:p>
          <a:p>
            <a:pPr indent="-394335" lvl="1" marL="914400" rtl="0" algn="l">
              <a:spcBef>
                <a:spcPts val="0"/>
              </a:spcBef>
              <a:spcAft>
                <a:spcPts val="0"/>
              </a:spcAft>
              <a:buSzPts val="2610"/>
              <a:buChar char="•"/>
            </a:pPr>
            <a:r>
              <a:rPr lang="en-US"/>
              <a:t>In complex systems, the physical implementation is provided by a group of classes rather than a single class</a:t>
            </a:r>
            <a:endParaRPr/>
          </a:p>
          <a:p>
            <a:pPr indent="-394335" lvl="0" marL="457200" rtl="0" algn="l">
              <a:spcBef>
                <a:spcPts val="0"/>
              </a:spcBef>
              <a:spcAft>
                <a:spcPts val="0"/>
              </a:spcAft>
              <a:buSzPts val="2610"/>
              <a:buChar char="•"/>
            </a:pPr>
            <a:r>
              <a:rPr lang="en-US"/>
              <a:t>2 types</a:t>
            </a:r>
            <a:endParaRPr/>
          </a:p>
          <a:p>
            <a:pPr indent="-394335" lvl="1" marL="914400" rtl="0" algn="l">
              <a:spcBef>
                <a:spcPts val="0"/>
              </a:spcBef>
              <a:spcAft>
                <a:spcPts val="0"/>
              </a:spcAft>
              <a:buSzPts val="2610"/>
              <a:buChar char="•"/>
            </a:pPr>
            <a:r>
              <a:rPr lang="en-US"/>
              <a:t>Provided Interface</a:t>
            </a:r>
            <a:endParaRPr/>
          </a:p>
          <a:p>
            <a:pPr indent="-394335" lvl="1" marL="914400" rtl="0" algn="l">
              <a:spcBef>
                <a:spcPts val="0"/>
              </a:spcBef>
              <a:spcAft>
                <a:spcPts val="0"/>
              </a:spcAft>
              <a:buSzPts val="2610"/>
              <a:buChar char="•"/>
            </a:pPr>
            <a:r>
              <a:rPr lang="en-US"/>
              <a:t>Required interface</a:t>
            </a:r>
            <a:endParaRPr/>
          </a:p>
        </p:txBody>
      </p:sp>
      <p:sp>
        <p:nvSpPr>
          <p:cNvPr id="196" name="Google Shape;196;ge37ad36e57_0_58"/>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e37ad36e57_0_68"/>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INTERFACE</a:t>
            </a:r>
            <a:endParaRPr/>
          </a:p>
        </p:txBody>
      </p:sp>
      <p:sp>
        <p:nvSpPr>
          <p:cNvPr id="203" name="Google Shape;203;ge37ad36e57_0_68"/>
          <p:cNvSpPr txBox="1"/>
          <p:nvPr>
            <p:ph idx="1" type="body"/>
          </p:nvPr>
        </p:nvSpPr>
        <p:spPr>
          <a:xfrm>
            <a:off x="1309500" y="1600200"/>
            <a:ext cx="70977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t>P</a:t>
            </a:r>
            <a:r>
              <a:rPr b="1" lang="en-US"/>
              <a:t>rovided Interface</a:t>
            </a:r>
            <a:endParaRPr b="1"/>
          </a:p>
          <a:p>
            <a:pPr indent="-394335" lvl="0" marL="457200" rtl="0" algn="l">
              <a:spcBef>
                <a:spcPts val="600"/>
              </a:spcBef>
              <a:spcAft>
                <a:spcPts val="0"/>
              </a:spcAft>
              <a:buSzPts val="2610"/>
              <a:buChar char="•"/>
            </a:pPr>
            <a:r>
              <a:rPr lang="en-US"/>
              <a:t>A component's provided interface describes the services provided by the component.</a:t>
            </a:r>
            <a:endParaRPr/>
          </a:p>
          <a:p>
            <a:pPr indent="-394335" lvl="0" marL="457200" rtl="0" algn="l">
              <a:spcBef>
                <a:spcPts val="0"/>
              </a:spcBef>
              <a:spcAft>
                <a:spcPts val="0"/>
              </a:spcAft>
              <a:buSzPts val="2610"/>
              <a:buChar char="•"/>
            </a:pPr>
            <a:r>
              <a:rPr lang="en-US"/>
              <a:t>Is modeled using a ball, labelled with the name, attached by a solid line to the component</a:t>
            </a:r>
            <a:endParaRPr/>
          </a:p>
          <a:p>
            <a:pPr indent="0" lvl="0" marL="0" rtl="0" algn="l">
              <a:spcBef>
                <a:spcPts val="600"/>
              </a:spcBef>
              <a:spcAft>
                <a:spcPts val="0"/>
              </a:spcAft>
              <a:buNone/>
            </a:pPr>
            <a:r>
              <a:rPr b="1" lang="en-US"/>
              <a:t>Required Interface</a:t>
            </a:r>
            <a:endParaRPr b="1"/>
          </a:p>
          <a:p>
            <a:pPr indent="-394335" lvl="0" marL="457200" rtl="0" algn="l">
              <a:spcBef>
                <a:spcPts val="600"/>
              </a:spcBef>
              <a:spcAft>
                <a:spcPts val="0"/>
              </a:spcAft>
              <a:buSzPts val="2610"/>
              <a:buChar char="•"/>
            </a:pPr>
            <a:r>
              <a:rPr lang="en-US"/>
              <a:t>A required interface declares the services a component will need.</a:t>
            </a:r>
            <a:endParaRPr/>
          </a:p>
          <a:p>
            <a:pPr indent="-394335" lvl="0" marL="457200" rtl="0" algn="l">
              <a:spcBef>
                <a:spcPts val="0"/>
              </a:spcBef>
              <a:spcAft>
                <a:spcPts val="0"/>
              </a:spcAft>
              <a:buSzPts val="2610"/>
              <a:buChar char="•"/>
            </a:pPr>
            <a:r>
              <a:rPr lang="en-US"/>
              <a:t>Is modeled using a socket, labelled with the name, attached by a solid line to the component</a:t>
            </a:r>
            <a:endParaRPr/>
          </a:p>
        </p:txBody>
      </p:sp>
      <p:sp>
        <p:nvSpPr>
          <p:cNvPr id="204" name="Google Shape;204;ge37ad36e57_0_68"/>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05" name="Google Shape;205;ge37ad36e57_0_68"/>
          <p:cNvPicPr preferRelativeResize="0"/>
          <p:nvPr/>
        </p:nvPicPr>
        <p:blipFill rotWithShape="1">
          <a:blip r:embed="rId3">
            <a:alphaModFix/>
          </a:blip>
          <a:srcRect b="0" l="0" r="29913" t="0"/>
          <a:stretch/>
        </p:blipFill>
        <p:spPr>
          <a:xfrm>
            <a:off x="8603621" y="1993975"/>
            <a:ext cx="3037475" cy="1685925"/>
          </a:xfrm>
          <a:prstGeom prst="rect">
            <a:avLst/>
          </a:prstGeom>
          <a:noFill/>
          <a:ln>
            <a:noFill/>
          </a:ln>
        </p:spPr>
      </p:pic>
      <p:pic>
        <p:nvPicPr>
          <p:cNvPr id="206" name="Google Shape;206;ge37ad36e57_0_68"/>
          <p:cNvPicPr preferRelativeResize="0"/>
          <p:nvPr/>
        </p:nvPicPr>
        <p:blipFill rotWithShape="1">
          <a:blip r:embed="rId4">
            <a:alphaModFix/>
          </a:blip>
          <a:srcRect b="0" l="28341" r="0" t="0"/>
          <a:stretch/>
        </p:blipFill>
        <p:spPr>
          <a:xfrm>
            <a:off x="8535496" y="4073675"/>
            <a:ext cx="3105600" cy="168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e37ad36e57_0_79"/>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INTERFACE</a:t>
            </a:r>
            <a:endParaRPr/>
          </a:p>
        </p:txBody>
      </p:sp>
      <p:sp>
        <p:nvSpPr>
          <p:cNvPr id="213" name="Google Shape;213;ge37ad36e57_0_79"/>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Where two components/classes provide and require the same interface, these two notations may be combined</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600"/>
              </a:spcAft>
              <a:buNone/>
            </a:pPr>
            <a:r>
              <a:rPr lang="en-US"/>
              <a:t>In a system context where there are multiple components that require or provide a particular interface, a notation abstraction can be used that combines by joining the interfaces</a:t>
            </a:r>
            <a:endParaRPr/>
          </a:p>
        </p:txBody>
      </p:sp>
      <p:sp>
        <p:nvSpPr>
          <p:cNvPr id="214" name="Google Shape;214;ge37ad36e57_0_79"/>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15" name="Google Shape;215;ge37ad36e57_0_79"/>
          <p:cNvPicPr preferRelativeResize="0"/>
          <p:nvPr/>
        </p:nvPicPr>
        <p:blipFill>
          <a:blip r:embed="rId3">
            <a:alphaModFix/>
          </a:blip>
          <a:stretch>
            <a:fillRect/>
          </a:stretch>
        </p:blipFill>
        <p:spPr>
          <a:xfrm>
            <a:off x="4012450" y="2571750"/>
            <a:ext cx="4305300" cy="857250"/>
          </a:xfrm>
          <a:prstGeom prst="rect">
            <a:avLst/>
          </a:prstGeom>
          <a:noFill/>
          <a:ln>
            <a:noFill/>
          </a:ln>
        </p:spPr>
      </p:pic>
      <p:pic>
        <p:nvPicPr>
          <p:cNvPr id="216" name="Google Shape;216;ge37ad36e57_0_79"/>
          <p:cNvPicPr preferRelativeResize="0"/>
          <p:nvPr/>
        </p:nvPicPr>
        <p:blipFill>
          <a:blip r:embed="rId4">
            <a:alphaModFix/>
          </a:blip>
          <a:stretch>
            <a:fillRect/>
          </a:stretch>
        </p:blipFill>
        <p:spPr>
          <a:xfrm>
            <a:off x="4205925" y="4762500"/>
            <a:ext cx="3543300" cy="163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e3965b57be_0_4"/>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Usage Dependency</a:t>
            </a:r>
            <a:endParaRPr/>
          </a:p>
        </p:txBody>
      </p:sp>
      <p:sp>
        <p:nvSpPr>
          <p:cNvPr id="223" name="Google Shape;223;ge3965b57be_0_4"/>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394335" lvl="0" marL="457200" rtl="0" algn="l">
              <a:spcBef>
                <a:spcPts val="360"/>
              </a:spcBef>
              <a:spcAft>
                <a:spcPts val="0"/>
              </a:spcAft>
              <a:buSzPts val="2610"/>
              <a:buChar char="•"/>
            </a:pPr>
            <a:r>
              <a:rPr lang="en-US"/>
              <a:t>A usage dependency is relationship which one element requires another element for its full implementation</a:t>
            </a:r>
            <a:endParaRPr/>
          </a:p>
          <a:p>
            <a:pPr indent="-394335" lvl="0" marL="457200" rtl="0" algn="l">
              <a:spcBef>
                <a:spcPts val="0"/>
              </a:spcBef>
              <a:spcAft>
                <a:spcPts val="0"/>
              </a:spcAft>
              <a:buSzPts val="2610"/>
              <a:buChar char="•"/>
            </a:pPr>
            <a:r>
              <a:rPr lang="en-US"/>
              <a:t>Is a dependency in which the client requires the presence of the supplier </a:t>
            </a:r>
            <a:endParaRPr/>
          </a:p>
          <a:p>
            <a:pPr indent="-394335" lvl="0" marL="457200" rtl="0" algn="l">
              <a:spcBef>
                <a:spcPts val="0"/>
              </a:spcBef>
              <a:spcAft>
                <a:spcPts val="0"/>
              </a:spcAft>
              <a:buSzPts val="2610"/>
              <a:buChar char="•"/>
            </a:pPr>
            <a:r>
              <a:rPr lang="en-US"/>
              <a:t>Is shown as dashed arrow with a &lt;&gt; keyword  </a:t>
            </a:r>
            <a:endParaRPr/>
          </a:p>
          <a:p>
            <a:pPr indent="-394335" lvl="0" marL="457200" rtl="0" algn="l">
              <a:spcBef>
                <a:spcPts val="0"/>
              </a:spcBef>
              <a:spcAft>
                <a:spcPts val="0"/>
              </a:spcAft>
              <a:buSzPts val="2610"/>
              <a:buChar char="•"/>
            </a:pPr>
            <a:r>
              <a:rPr lang="en-US"/>
              <a:t>The arrowhead point from the dependent component to the one of which it is dependent</a:t>
            </a:r>
            <a:endParaRPr/>
          </a:p>
        </p:txBody>
      </p:sp>
      <p:sp>
        <p:nvSpPr>
          <p:cNvPr id="224" name="Google Shape;224;ge3965b57be_0_4"/>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5" name="Google Shape;225;ge3965b57be_0_4"/>
          <p:cNvPicPr preferRelativeResize="0"/>
          <p:nvPr/>
        </p:nvPicPr>
        <p:blipFill>
          <a:blip r:embed="rId3">
            <a:alphaModFix/>
          </a:blip>
          <a:stretch>
            <a:fillRect/>
          </a:stretch>
        </p:blipFill>
        <p:spPr>
          <a:xfrm>
            <a:off x="4200525" y="4160388"/>
            <a:ext cx="3790950" cy="130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e2951bb1c8_0_1"/>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Port</a:t>
            </a:r>
            <a:endParaRPr/>
          </a:p>
        </p:txBody>
      </p:sp>
      <p:sp>
        <p:nvSpPr>
          <p:cNvPr id="232" name="Google Shape;232;ge2951bb1c8_0_1"/>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Specifies a distinct interaction point  </a:t>
            </a:r>
            <a:endParaRPr/>
          </a:p>
          <a:p>
            <a:pPr indent="-394335" lvl="0" marL="457200" rtl="0" algn="l">
              <a:spcBef>
                <a:spcPts val="600"/>
              </a:spcBef>
              <a:spcAft>
                <a:spcPts val="0"/>
              </a:spcAft>
              <a:buSzPts val="2610"/>
              <a:buChar char="•"/>
            </a:pPr>
            <a:r>
              <a:rPr lang="en-US"/>
              <a:t>Between that component and its environment  </a:t>
            </a:r>
            <a:endParaRPr/>
          </a:p>
          <a:p>
            <a:pPr indent="-394335" lvl="0" marL="457200" rtl="0" algn="l">
              <a:spcBef>
                <a:spcPts val="0"/>
              </a:spcBef>
              <a:spcAft>
                <a:spcPts val="0"/>
              </a:spcAft>
              <a:buSzPts val="2610"/>
              <a:buChar char="•"/>
            </a:pPr>
            <a:r>
              <a:rPr lang="en-US"/>
              <a:t>Between that component and its internal parts</a:t>
            </a:r>
            <a:endParaRPr/>
          </a:p>
          <a:p>
            <a:pPr indent="-394335" lvl="0" marL="457200" rtl="0" algn="l">
              <a:spcBef>
                <a:spcPts val="0"/>
              </a:spcBef>
              <a:spcAft>
                <a:spcPts val="0"/>
              </a:spcAft>
              <a:buSzPts val="2610"/>
              <a:buChar char="•"/>
            </a:pPr>
            <a:r>
              <a:rPr lang="en-US"/>
              <a:t> port may have visibility. When a port is drawn over the boundary of a component, then it means that the port is public. It also means that all the interfaces used are made as public.</a:t>
            </a:r>
            <a:endParaRPr/>
          </a:p>
          <a:p>
            <a:pPr indent="-394335" lvl="0" marL="457200" rtl="0" algn="l">
              <a:spcBef>
                <a:spcPts val="0"/>
              </a:spcBef>
              <a:spcAft>
                <a:spcPts val="0"/>
              </a:spcAft>
              <a:buSzPts val="2610"/>
              <a:buChar char="•"/>
            </a:pPr>
            <a:r>
              <a:rPr lang="en-US"/>
              <a:t>When a port is drawn inside the component, then it is either protected or private.</a:t>
            </a:r>
            <a:endParaRPr/>
          </a:p>
          <a:p>
            <a:pPr indent="0" lvl="0" marL="457200" rtl="0" algn="l">
              <a:spcBef>
                <a:spcPts val="600"/>
              </a:spcBef>
              <a:spcAft>
                <a:spcPts val="600"/>
              </a:spcAft>
              <a:buNone/>
            </a:pPr>
            <a:r>
              <a:t/>
            </a:r>
            <a:endParaRPr/>
          </a:p>
        </p:txBody>
      </p:sp>
      <p:sp>
        <p:nvSpPr>
          <p:cNvPr id="233" name="Google Shape;233;ge2951bb1c8_0_1"/>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e2951bb1c8_0_12"/>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40" name="Google Shape;240;ge2951bb1c8_0_12"/>
          <p:cNvPicPr preferRelativeResize="0"/>
          <p:nvPr/>
        </p:nvPicPr>
        <p:blipFill>
          <a:blip r:embed="rId3">
            <a:alphaModFix/>
          </a:blip>
          <a:stretch>
            <a:fillRect/>
          </a:stretch>
        </p:blipFill>
        <p:spPr>
          <a:xfrm>
            <a:off x="1862138" y="1490888"/>
            <a:ext cx="8467725" cy="4505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e2951bb1c8_0_20"/>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Connector</a:t>
            </a:r>
            <a:endParaRPr/>
          </a:p>
        </p:txBody>
      </p:sp>
      <p:sp>
        <p:nvSpPr>
          <p:cNvPr id="247" name="Google Shape;247;ge2951bb1c8_0_20"/>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Two kinds of connectors:  </a:t>
            </a:r>
            <a:endParaRPr/>
          </a:p>
          <a:p>
            <a:pPr indent="-394335" lvl="0" marL="457200" rtl="0" algn="l">
              <a:spcBef>
                <a:spcPts val="600"/>
              </a:spcBef>
              <a:spcAft>
                <a:spcPts val="0"/>
              </a:spcAft>
              <a:buSzPts val="2610"/>
              <a:buChar char="•"/>
            </a:pPr>
            <a:r>
              <a:rPr lang="en-US"/>
              <a:t>Assembly</a:t>
            </a:r>
            <a:endParaRPr/>
          </a:p>
          <a:p>
            <a:pPr indent="-394335" lvl="0" marL="457200" rtl="0" algn="l">
              <a:spcBef>
                <a:spcPts val="0"/>
              </a:spcBef>
              <a:spcAft>
                <a:spcPts val="0"/>
              </a:spcAft>
              <a:buSzPts val="2610"/>
              <a:buChar char="•"/>
            </a:pPr>
            <a:r>
              <a:rPr lang="en-US"/>
              <a:t>Delegation </a:t>
            </a:r>
            <a:endParaRPr/>
          </a:p>
          <a:p>
            <a:pPr indent="0" lvl="0" marL="0" rtl="0" algn="l">
              <a:spcBef>
                <a:spcPts val="600"/>
              </a:spcBef>
              <a:spcAft>
                <a:spcPts val="0"/>
              </a:spcAft>
              <a:buNone/>
            </a:pPr>
            <a:r>
              <a:rPr b="1" lang="en-US"/>
              <a:t>ASSEMBLY CONNECTOR </a:t>
            </a:r>
            <a:endParaRPr b="1"/>
          </a:p>
          <a:p>
            <a:pPr indent="-394335" lvl="0" marL="457200" rtl="0" algn="l">
              <a:spcBef>
                <a:spcPts val="600"/>
              </a:spcBef>
              <a:spcAft>
                <a:spcPts val="0"/>
              </a:spcAft>
              <a:buSzPts val="2610"/>
              <a:buChar char="•"/>
            </a:pPr>
            <a:r>
              <a:rPr lang="en-US"/>
              <a:t>A connector between 2 components defines that one component provides the services that another component requires  </a:t>
            </a:r>
            <a:endParaRPr/>
          </a:p>
          <a:p>
            <a:pPr indent="-394335" lvl="0" marL="457200" rtl="0" algn="l">
              <a:spcBef>
                <a:spcPts val="0"/>
              </a:spcBef>
              <a:spcAft>
                <a:spcPts val="0"/>
              </a:spcAft>
              <a:buSzPts val="2610"/>
              <a:buChar char="•"/>
            </a:pPr>
            <a:r>
              <a:rPr lang="en-US"/>
              <a:t>An assembly connector is notated by a “ball-and-socket” connection</a:t>
            </a:r>
            <a:endParaRPr/>
          </a:p>
        </p:txBody>
      </p:sp>
      <p:sp>
        <p:nvSpPr>
          <p:cNvPr id="248" name="Google Shape;248;ge2951bb1c8_0_20"/>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49" name="Google Shape;249;ge2951bb1c8_0_20"/>
          <p:cNvPicPr preferRelativeResize="0"/>
          <p:nvPr/>
        </p:nvPicPr>
        <p:blipFill>
          <a:blip r:embed="rId3">
            <a:alphaModFix/>
          </a:blip>
          <a:stretch>
            <a:fillRect/>
          </a:stretch>
        </p:blipFill>
        <p:spPr>
          <a:xfrm>
            <a:off x="4143375" y="4966100"/>
            <a:ext cx="3905250" cy="97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e2951bb1c8_0_29"/>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Multiple connections directed from a single required interface to provided interfaces indicates that the instance that will handle the signal will be determined at execution time</a:t>
            </a:r>
            <a:endParaRPr/>
          </a:p>
          <a:p>
            <a:pPr indent="0" lvl="0" marL="0" rtl="0" algn="l">
              <a:spcBef>
                <a:spcPts val="600"/>
              </a:spcBef>
              <a:spcAft>
                <a:spcPts val="600"/>
              </a:spcAft>
              <a:buNone/>
            </a:pPr>
            <a:r>
              <a:t/>
            </a:r>
            <a:endParaRPr/>
          </a:p>
        </p:txBody>
      </p:sp>
      <p:sp>
        <p:nvSpPr>
          <p:cNvPr id="256" name="Google Shape;256;ge2951bb1c8_0_29"/>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57" name="Google Shape;257;ge2951bb1c8_0_29"/>
          <p:cNvPicPr preferRelativeResize="0"/>
          <p:nvPr/>
        </p:nvPicPr>
        <p:blipFill>
          <a:blip r:embed="rId3">
            <a:alphaModFix/>
          </a:blip>
          <a:stretch>
            <a:fillRect/>
          </a:stretch>
        </p:blipFill>
        <p:spPr>
          <a:xfrm>
            <a:off x="2500300" y="3429000"/>
            <a:ext cx="7191375" cy="2609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e2951bb1c8_0_39"/>
          <p:cNvSpPr txBox="1"/>
          <p:nvPr>
            <p:ph idx="1" type="body"/>
          </p:nvPr>
        </p:nvSpPr>
        <p:spPr>
          <a:xfrm>
            <a:off x="1309500" y="789400"/>
            <a:ext cx="10476000" cy="5611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t>DELEGATION CONNECTOR</a:t>
            </a:r>
            <a:endParaRPr b="1"/>
          </a:p>
          <a:p>
            <a:pPr indent="-394335" lvl="0" marL="457200" rtl="0" algn="l">
              <a:spcBef>
                <a:spcPts val="600"/>
              </a:spcBef>
              <a:spcAft>
                <a:spcPts val="0"/>
              </a:spcAft>
              <a:buSzPts val="2610"/>
              <a:buChar char="•"/>
            </a:pPr>
            <a:r>
              <a:rPr lang="en-US"/>
              <a:t>Links the external contract of a component to the internal component</a:t>
            </a:r>
            <a:endParaRPr/>
          </a:p>
          <a:p>
            <a:pPr indent="-394335" lvl="0" marL="457200" rtl="0" algn="l">
              <a:spcBef>
                <a:spcPts val="0"/>
              </a:spcBef>
              <a:spcAft>
                <a:spcPts val="0"/>
              </a:spcAft>
              <a:buSzPts val="2610"/>
              <a:buChar char="•"/>
            </a:pPr>
            <a:r>
              <a:rPr lang="en-US"/>
              <a:t>Represents the forwarding of signals  </a:t>
            </a:r>
            <a:endParaRPr/>
          </a:p>
          <a:p>
            <a:pPr indent="-394335" lvl="0" marL="457200" rtl="0" algn="l">
              <a:spcBef>
                <a:spcPts val="0"/>
              </a:spcBef>
              <a:spcAft>
                <a:spcPts val="0"/>
              </a:spcAft>
              <a:buSzPts val="2610"/>
              <a:buChar char="•"/>
            </a:pPr>
            <a:r>
              <a:rPr lang="en-US"/>
              <a:t>It must only be defined between used interfaces or ports of the same kind</a:t>
            </a:r>
            <a:endParaRPr/>
          </a:p>
        </p:txBody>
      </p:sp>
      <p:sp>
        <p:nvSpPr>
          <p:cNvPr id="264" name="Google Shape;264;ge2951bb1c8_0_39"/>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65" name="Google Shape;265;ge2951bb1c8_0_39"/>
          <p:cNvPicPr preferRelativeResize="0"/>
          <p:nvPr/>
        </p:nvPicPr>
        <p:blipFill rotWithShape="1">
          <a:blip r:embed="rId3">
            <a:alphaModFix/>
          </a:blip>
          <a:srcRect b="3873" l="0" r="0" t="17719"/>
          <a:stretch/>
        </p:blipFill>
        <p:spPr>
          <a:xfrm>
            <a:off x="1862125" y="2989900"/>
            <a:ext cx="8467725" cy="3532601"/>
          </a:xfrm>
          <a:prstGeom prst="rect">
            <a:avLst/>
          </a:prstGeom>
          <a:noFill/>
          <a:ln>
            <a:noFill/>
          </a:ln>
        </p:spPr>
      </p:pic>
      <p:sp>
        <p:nvSpPr>
          <p:cNvPr id="266" name="Google Shape;266;ge2951bb1c8_0_39"/>
          <p:cNvSpPr/>
          <p:nvPr/>
        </p:nvSpPr>
        <p:spPr>
          <a:xfrm>
            <a:off x="7104700" y="4154275"/>
            <a:ext cx="2220300" cy="532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e2951bb1c8_0_39"/>
          <p:cNvSpPr/>
          <p:nvPr/>
        </p:nvSpPr>
        <p:spPr>
          <a:xfrm>
            <a:off x="2772800" y="3710225"/>
            <a:ext cx="1598700" cy="10164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e3a2a483e0_0_9"/>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Dependency Relation</a:t>
            </a:r>
            <a:endParaRPr/>
          </a:p>
        </p:txBody>
      </p:sp>
      <p:sp>
        <p:nvSpPr>
          <p:cNvPr id="274" name="Google Shape;274;ge3a2a483e0_0_9"/>
          <p:cNvSpPr txBox="1"/>
          <p:nvPr>
            <p:ph idx="1" type="body"/>
          </p:nvPr>
        </p:nvSpPr>
        <p:spPr>
          <a:xfrm>
            <a:off x="1309500" y="1600200"/>
            <a:ext cx="10476000" cy="3367800"/>
          </a:xfrm>
          <a:prstGeom prst="rect">
            <a:avLst/>
          </a:prstGeom>
        </p:spPr>
        <p:txBody>
          <a:bodyPr anchorCtr="0" anchor="t" bIns="45700" lIns="91425" spcFirstLastPara="1" rIns="91425" wrap="square" tIns="45700">
            <a:normAutofit/>
          </a:bodyPr>
          <a:lstStyle/>
          <a:p>
            <a:pPr indent="0" lvl="0" marL="0" rtl="0" algn="l">
              <a:spcBef>
                <a:spcPts val="360"/>
              </a:spcBef>
              <a:spcAft>
                <a:spcPts val="600"/>
              </a:spcAft>
              <a:buNone/>
            </a:pPr>
            <a:r>
              <a:rPr lang="en-US"/>
              <a:t>One component is dependent on data from another component </a:t>
            </a:r>
            <a:endParaRPr/>
          </a:p>
        </p:txBody>
      </p:sp>
      <p:sp>
        <p:nvSpPr>
          <p:cNvPr id="275" name="Google Shape;275;ge3a2a483e0_0_9"/>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76" name="Google Shape;276;ge3a2a483e0_0_9"/>
          <p:cNvPicPr preferRelativeResize="0"/>
          <p:nvPr/>
        </p:nvPicPr>
        <p:blipFill>
          <a:blip r:embed="rId3">
            <a:alphaModFix/>
          </a:blip>
          <a:stretch>
            <a:fillRect/>
          </a:stretch>
        </p:blipFill>
        <p:spPr>
          <a:xfrm>
            <a:off x="3984488" y="2129375"/>
            <a:ext cx="5126024" cy="2838600"/>
          </a:xfrm>
          <a:prstGeom prst="rect">
            <a:avLst/>
          </a:prstGeom>
          <a:noFill/>
          <a:ln>
            <a:noFill/>
          </a:ln>
        </p:spPr>
      </p:pic>
      <p:sp>
        <p:nvSpPr>
          <p:cNvPr id="277" name="Google Shape;277;ge3a2a483e0_0_9"/>
          <p:cNvSpPr txBox="1"/>
          <p:nvPr>
            <p:ph idx="1" type="body"/>
          </p:nvPr>
        </p:nvSpPr>
        <p:spPr>
          <a:xfrm>
            <a:off x="1425150" y="5144875"/>
            <a:ext cx="10476000" cy="3367800"/>
          </a:xfrm>
          <a:prstGeom prst="rect">
            <a:avLst/>
          </a:prstGeom>
        </p:spPr>
        <p:txBody>
          <a:bodyPr anchorCtr="0" anchor="t" bIns="45700" lIns="91425" spcFirstLastPara="1" rIns="91425" wrap="square" tIns="45700">
            <a:normAutofit/>
          </a:bodyPr>
          <a:lstStyle/>
          <a:p>
            <a:pPr indent="0" lvl="0" marL="0" rtl="0" algn="l">
              <a:spcBef>
                <a:spcPts val="360"/>
              </a:spcBef>
              <a:spcAft>
                <a:spcPts val="600"/>
              </a:spcAft>
              <a:buNone/>
            </a:pPr>
            <a:r>
              <a:rPr lang="en-US"/>
              <a:t>Here order and customer component depends on data from online shopping database</a:t>
            </a:r>
            <a:endParaRPr/>
          </a:p>
        </p:txBody>
      </p:sp>
      <p:sp>
        <p:nvSpPr>
          <p:cNvPr id="278" name="Google Shape;278;ge3a2a483e0_0_9"/>
          <p:cNvSpPr txBox="1"/>
          <p:nvPr/>
        </p:nvSpPr>
        <p:spPr>
          <a:xfrm>
            <a:off x="4286450" y="3028800"/>
            <a:ext cx="133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rbel"/>
                <a:ea typeface="Corbel"/>
                <a:cs typeface="Corbel"/>
                <a:sym typeface="Corbel"/>
              </a:rPr>
              <a:t>&lt;&lt;database&gt;&gt;</a:t>
            </a:r>
            <a:endParaRPr>
              <a:latin typeface="Corbel"/>
              <a:ea typeface="Corbel"/>
              <a:cs typeface="Corbel"/>
              <a:sym typeface="Corbel"/>
            </a:endParaRPr>
          </a:p>
        </p:txBody>
      </p:sp>
      <p:sp>
        <p:nvSpPr>
          <p:cNvPr id="279" name="Google Shape;279;ge3a2a483e0_0_9"/>
          <p:cNvSpPr txBox="1"/>
          <p:nvPr/>
        </p:nvSpPr>
        <p:spPr>
          <a:xfrm>
            <a:off x="7696400" y="2458675"/>
            <a:ext cx="152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rbel"/>
                <a:ea typeface="Corbel"/>
                <a:cs typeface="Corbel"/>
                <a:sym typeface="Corbel"/>
              </a:rPr>
              <a:t>&lt;&lt;component&gt;&gt;</a:t>
            </a:r>
            <a:endParaRPr>
              <a:latin typeface="Corbel"/>
              <a:ea typeface="Corbel"/>
              <a:cs typeface="Corbel"/>
              <a:sym typeface="Corbel"/>
            </a:endParaRPr>
          </a:p>
        </p:txBody>
      </p:sp>
      <p:sp>
        <p:nvSpPr>
          <p:cNvPr id="280" name="Google Shape;280;ge3a2a483e0_0_9"/>
          <p:cNvSpPr txBox="1"/>
          <p:nvPr/>
        </p:nvSpPr>
        <p:spPr>
          <a:xfrm>
            <a:off x="7696400" y="3801775"/>
            <a:ext cx="152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rbel"/>
                <a:ea typeface="Corbel"/>
                <a:cs typeface="Corbel"/>
                <a:sym typeface="Corbel"/>
              </a:rPr>
              <a:t>&lt;&lt;component&gt;&gt;</a:t>
            </a:r>
            <a:endParaRPr>
              <a:latin typeface="Corbel"/>
              <a:ea typeface="Corbel"/>
              <a:cs typeface="Corbel"/>
              <a:sym typeface="Corbel"/>
            </a:endParaRPr>
          </a:p>
        </p:txBody>
      </p:sp>
      <p:pic>
        <p:nvPicPr>
          <p:cNvPr id="281" name="Google Shape;281;ge3a2a483e0_0_9"/>
          <p:cNvPicPr preferRelativeResize="0"/>
          <p:nvPr/>
        </p:nvPicPr>
        <p:blipFill>
          <a:blip r:embed="rId4">
            <a:alphaModFix/>
          </a:blip>
          <a:stretch>
            <a:fillRect/>
          </a:stretch>
        </p:blipFill>
        <p:spPr>
          <a:xfrm>
            <a:off x="2234300" y="2995250"/>
            <a:ext cx="1004712" cy="5777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e2a41a3a37_0_7"/>
          <p:cNvSpPr txBox="1"/>
          <p:nvPr>
            <p:ph idx="1" type="body"/>
          </p:nvPr>
        </p:nvSpPr>
        <p:spPr>
          <a:xfrm>
            <a:off x="1309500" y="4825275"/>
            <a:ext cx="10331700" cy="1575600"/>
          </a:xfrm>
          <a:prstGeom prst="rect">
            <a:avLst/>
          </a:prstGeom>
        </p:spPr>
        <p:txBody>
          <a:bodyPr anchorCtr="0" anchor="t" bIns="45700" lIns="91425" spcFirstLastPara="1" rIns="91425" wrap="square" tIns="45700">
            <a:normAutofit/>
          </a:bodyPr>
          <a:lstStyle/>
          <a:p>
            <a:pPr indent="0" lvl="0" marL="0" rtl="0" algn="l">
              <a:spcBef>
                <a:spcPts val="360"/>
              </a:spcBef>
              <a:spcAft>
                <a:spcPts val="600"/>
              </a:spcAft>
              <a:buNone/>
            </a:pPr>
            <a:r>
              <a:rPr lang="en-US"/>
              <a:t>Here the payment interface depends on data from Account Component for it’s full implementation. The dependency maps a customer's associated account details to the required interface "Payment"</a:t>
            </a:r>
            <a:endParaRPr/>
          </a:p>
        </p:txBody>
      </p:sp>
      <p:sp>
        <p:nvSpPr>
          <p:cNvPr id="288" name="Google Shape;288;ge2a41a3a37_0_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89" name="Google Shape;289;ge2a41a3a37_0_7"/>
          <p:cNvPicPr preferRelativeResize="0"/>
          <p:nvPr/>
        </p:nvPicPr>
        <p:blipFill>
          <a:blip r:embed="rId3">
            <a:alphaModFix/>
          </a:blip>
          <a:stretch>
            <a:fillRect/>
          </a:stretch>
        </p:blipFill>
        <p:spPr>
          <a:xfrm>
            <a:off x="3789888" y="179675"/>
            <a:ext cx="4612226" cy="4550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e2a41a3a37_0_0"/>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Where to use</a:t>
            </a:r>
            <a:endParaRPr/>
          </a:p>
        </p:txBody>
      </p:sp>
      <p:sp>
        <p:nvSpPr>
          <p:cNvPr id="296" name="Google Shape;296;ge2a41a3a37_0_0"/>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285750" lvl="0" marL="285750" rtl="0" algn="l">
              <a:spcBef>
                <a:spcPts val="0"/>
              </a:spcBef>
              <a:spcAft>
                <a:spcPts val="0"/>
              </a:spcAft>
              <a:buSzPts val="4060"/>
              <a:buChar char="•"/>
            </a:pPr>
            <a:r>
              <a:rPr lang="en-US" sz="2800"/>
              <a:t>To model the component of the system</a:t>
            </a:r>
            <a:endParaRPr/>
          </a:p>
          <a:p>
            <a:pPr indent="-285750" lvl="0" marL="285750" rtl="0" algn="l">
              <a:spcBef>
                <a:spcPts val="1160"/>
              </a:spcBef>
              <a:spcAft>
                <a:spcPts val="0"/>
              </a:spcAft>
              <a:buSzPts val="4060"/>
              <a:buChar char="•"/>
            </a:pPr>
            <a:r>
              <a:rPr lang="en-US" sz="2800"/>
              <a:t>To model source code</a:t>
            </a:r>
            <a:endParaRPr/>
          </a:p>
          <a:p>
            <a:pPr indent="-285750" lvl="0" marL="285750" rtl="0" algn="l">
              <a:spcBef>
                <a:spcPts val="1160"/>
              </a:spcBef>
              <a:spcAft>
                <a:spcPts val="0"/>
              </a:spcAft>
              <a:buSzPts val="4060"/>
              <a:buChar char="•"/>
            </a:pPr>
            <a:r>
              <a:rPr lang="en-US" sz="2800"/>
              <a:t>To model executable releases</a:t>
            </a:r>
            <a:endParaRPr/>
          </a:p>
          <a:p>
            <a:pPr indent="-285750" lvl="0" marL="285750" rtl="0" algn="l">
              <a:spcBef>
                <a:spcPts val="1160"/>
              </a:spcBef>
              <a:spcAft>
                <a:spcPts val="0"/>
              </a:spcAft>
              <a:buSzPts val="4060"/>
              <a:buChar char="•"/>
            </a:pPr>
            <a:r>
              <a:rPr lang="en-US" sz="2800"/>
              <a:t>To model physical databases</a:t>
            </a:r>
            <a:endParaRPr/>
          </a:p>
          <a:p>
            <a:pPr indent="-285750" lvl="0" marL="285750" rtl="0" algn="l">
              <a:spcBef>
                <a:spcPts val="1160"/>
              </a:spcBef>
              <a:spcAft>
                <a:spcPts val="0"/>
              </a:spcAft>
              <a:buSzPts val="4060"/>
              <a:buChar char="•"/>
            </a:pPr>
            <a:r>
              <a:rPr lang="en-US" sz="2800"/>
              <a:t>To model adaptable systems</a:t>
            </a:r>
            <a:endParaRPr/>
          </a:p>
        </p:txBody>
      </p:sp>
      <p:sp>
        <p:nvSpPr>
          <p:cNvPr id="297" name="Google Shape;297;ge2a41a3a37_0_0"/>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e2a41a3a37_0_17"/>
          <p:cNvSpPr txBox="1"/>
          <p:nvPr>
            <p:ph type="title"/>
          </p:nvPr>
        </p:nvSpPr>
        <p:spPr>
          <a:xfrm>
            <a:off x="1309500" y="338800"/>
            <a:ext cx="86964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Order Processing System Component diagram example</a:t>
            </a:r>
            <a:endParaRPr/>
          </a:p>
        </p:txBody>
      </p:sp>
      <p:sp>
        <p:nvSpPr>
          <p:cNvPr id="304" name="Google Shape;304;ge2a41a3a37_0_17"/>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Here the Storefront component</a:t>
            </a:r>
            <a:endParaRPr/>
          </a:p>
          <a:p>
            <a:pPr indent="0" lvl="0" marL="0" rtl="0" algn="l">
              <a:spcBef>
                <a:spcPts val="600"/>
              </a:spcBef>
              <a:spcAft>
                <a:spcPts val="0"/>
              </a:spcAft>
              <a:buNone/>
            </a:pPr>
            <a:r>
              <a:rPr lang="en-US"/>
              <a:t>provides interfaces for Order and</a:t>
            </a:r>
            <a:endParaRPr/>
          </a:p>
          <a:p>
            <a:pPr indent="0" lvl="0" marL="0" rtl="0" algn="l">
              <a:spcBef>
                <a:spcPts val="600"/>
              </a:spcBef>
              <a:spcAft>
                <a:spcPts val="0"/>
              </a:spcAft>
              <a:buNone/>
            </a:pPr>
            <a:r>
              <a:rPr lang="en-US"/>
              <a:t>ProductDetails. CustomerService</a:t>
            </a:r>
            <a:endParaRPr/>
          </a:p>
          <a:p>
            <a:pPr indent="0" lvl="0" marL="0" rtl="0" algn="l">
              <a:spcBef>
                <a:spcPts val="600"/>
              </a:spcBef>
              <a:spcAft>
                <a:spcPts val="0"/>
              </a:spcAft>
              <a:buNone/>
            </a:pPr>
            <a:r>
              <a:rPr lang="en-US"/>
              <a:t>implements this interface as this</a:t>
            </a:r>
            <a:endParaRPr/>
          </a:p>
          <a:p>
            <a:pPr indent="0" lvl="0" marL="0" rtl="0" algn="l">
              <a:spcBef>
                <a:spcPts val="600"/>
              </a:spcBef>
              <a:spcAft>
                <a:spcPts val="0"/>
              </a:spcAft>
              <a:buNone/>
            </a:pPr>
            <a:r>
              <a:rPr lang="en-US"/>
              <a:t>component needs access to </a:t>
            </a:r>
            <a:endParaRPr/>
          </a:p>
          <a:p>
            <a:pPr indent="0" lvl="0" marL="0" rtl="0" algn="l">
              <a:spcBef>
                <a:spcPts val="600"/>
              </a:spcBef>
              <a:spcAft>
                <a:spcPts val="600"/>
              </a:spcAft>
              <a:buNone/>
            </a:pPr>
            <a:r>
              <a:rPr lang="en-US"/>
              <a:t>ProductDetails of the products available in storefront. Again CustomerService is able to order and override orders. All these operations are handled by the Orderprocessor component. Then this component provide Customer data to analytics component and shipping data to the shipping component</a:t>
            </a:r>
            <a:endParaRPr/>
          </a:p>
        </p:txBody>
      </p:sp>
      <p:sp>
        <p:nvSpPr>
          <p:cNvPr id="305" name="Google Shape;305;ge2a41a3a37_0_1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06" name="Google Shape;306;ge2a41a3a37_0_17"/>
          <p:cNvPicPr preferRelativeResize="0"/>
          <p:nvPr/>
        </p:nvPicPr>
        <p:blipFill>
          <a:blip r:embed="rId3">
            <a:alphaModFix/>
          </a:blip>
          <a:stretch>
            <a:fillRect/>
          </a:stretch>
        </p:blipFill>
        <p:spPr>
          <a:xfrm>
            <a:off x="5889513" y="1600188"/>
            <a:ext cx="5895975" cy="206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e2a41a3a37_0_27"/>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Nested Component Structure</a:t>
            </a:r>
            <a:endParaRPr/>
          </a:p>
        </p:txBody>
      </p:sp>
      <p:sp>
        <p:nvSpPr>
          <p:cNvPr id="313" name="Google Shape;313;ge2a41a3a37_0_27"/>
          <p:cNvSpPr txBox="1"/>
          <p:nvPr>
            <p:ph idx="1" type="body"/>
          </p:nvPr>
        </p:nvSpPr>
        <p:spPr>
          <a:xfrm>
            <a:off x="1309512" y="17410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Here the Store component has</a:t>
            </a:r>
            <a:endParaRPr/>
          </a:p>
          <a:p>
            <a:pPr indent="0" lvl="0" marL="0" rtl="0" algn="l">
              <a:spcBef>
                <a:spcPts val="600"/>
              </a:spcBef>
              <a:spcAft>
                <a:spcPts val="0"/>
              </a:spcAft>
              <a:buNone/>
            </a:pPr>
            <a:r>
              <a:rPr lang="en-US"/>
              <a:t>some components inside it. In </a:t>
            </a:r>
            <a:endParaRPr/>
          </a:p>
          <a:p>
            <a:pPr indent="0" lvl="0" marL="0" rtl="0" algn="l">
              <a:spcBef>
                <a:spcPts val="600"/>
              </a:spcBef>
              <a:spcAft>
                <a:spcPts val="0"/>
              </a:spcAft>
              <a:buNone/>
            </a:pPr>
            <a:r>
              <a:rPr lang="en-US"/>
              <a:t>such cases delegation connector</a:t>
            </a:r>
            <a:endParaRPr/>
          </a:p>
          <a:p>
            <a:pPr indent="0" lvl="0" marL="0" rtl="0" algn="l">
              <a:spcBef>
                <a:spcPts val="600"/>
              </a:spcBef>
              <a:spcAft>
                <a:spcPts val="0"/>
              </a:spcAft>
              <a:buNone/>
            </a:pPr>
            <a:r>
              <a:rPr lang="en-US"/>
              <a:t>and port is used to pass signal </a:t>
            </a:r>
            <a:endParaRPr/>
          </a:p>
          <a:p>
            <a:pPr indent="0" lvl="0" marL="0" rtl="0" algn="l">
              <a:spcBef>
                <a:spcPts val="600"/>
              </a:spcBef>
              <a:spcAft>
                <a:spcPts val="0"/>
              </a:spcAft>
              <a:buNone/>
            </a:pPr>
            <a:r>
              <a:rPr lang="en-US"/>
              <a:t>from external component to the </a:t>
            </a:r>
            <a:endParaRPr/>
          </a:p>
          <a:p>
            <a:pPr indent="0" lvl="0" marL="0" rtl="0" algn="l">
              <a:spcBef>
                <a:spcPts val="600"/>
              </a:spcBef>
              <a:spcAft>
                <a:spcPts val="0"/>
              </a:spcAft>
              <a:buNone/>
            </a:pPr>
            <a:r>
              <a:rPr lang="en-US"/>
              <a:t>internal ones. Here we see that</a:t>
            </a:r>
            <a:endParaRPr/>
          </a:p>
          <a:p>
            <a:pPr indent="0" lvl="0" marL="0" rtl="0" algn="l">
              <a:spcBef>
                <a:spcPts val="600"/>
              </a:spcBef>
              <a:spcAft>
                <a:spcPts val="600"/>
              </a:spcAft>
              <a:buNone/>
            </a:pPr>
            <a:r>
              <a:rPr lang="en-US"/>
              <a:t>Customer </a:t>
            </a:r>
            <a:r>
              <a:rPr lang="en-US"/>
              <a:t>component </a:t>
            </a:r>
            <a:r>
              <a:rPr lang="en-US"/>
              <a:t>requires the </a:t>
            </a:r>
            <a:r>
              <a:rPr lang="en-US"/>
              <a:t>account and and Order component provides order entry</a:t>
            </a:r>
            <a:r>
              <a:rPr lang="en-US"/>
              <a:t> </a:t>
            </a:r>
            <a:r>
              <a:rPr lang="en-US"/>
              <a:t>related</a:t>
            </a:r>
            <a:r>
              <a:rPr lang="en-US"/>
              <a:t> functionalities from an external component.</a:t>
            </a:r>
            <a:endParaRPr/>
          </a:p>
        </p:txBody>
      </p:sp>
      <p:sp>
        <p:nvSpPr>
          <p:cNvPr id="314" name="Google Shape;314;ge2a41a3a37_0_27"/>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15" name="Google Shape;315;ge2a41a3a37_0_27"/>
          <p:cNvPicPr preferRelativeResize="0"/>
          <p:nvPr/>
        </p:nvPicPr>
        <p:blipFill>
          <a:blip r:embed="rId3">
            <a:alphaModFix/>
          </a:blip>
          <a:stretch>
            <a:fillRect/>
          </a:stretch>
        </p:blipFill>
        <p:spPr>
          <a:xfrm>
            <a:off x="5665947" y="1600200"/>
            <a:ext cx="6119551" cy="28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e2951bb1c8_0_52"/>
          <p:cNvSpPr txBox="1"/>
          <p:nvPr>
            <p:ph type="title"/>
          </p:nvPr>
        </p:nvSpPr>
        <p:spPr>
          <a:xfrm>
            <a:off x="1309512" y="457202"/>
            <a:ext cx="87489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Some more examples</a:t>
            </a:r>
            <a:endParaRPr/>
          </a:p>
        </p:txBody>
      </p:sp>
      <p:sp>
        <p:nvSpPr>
          <p:cNvPr id="322" name="Google Shape;322;ge2951bb1c8_0_52"/>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600"/>
              </a:spcAft>
              <a:buNone/>
            </a:pPr>
            <a:r>
              <a:t/>
            </a:r>
            <a:endParaRPr/>
          </a:p>
        </p:txBody>
      </p:sp>
      <p:sp>
        <p:nvSpPr>
          <p:cNvPr id="323" name="Google Shape;323;ge2951bb1c8_0_52"/>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24" name="Google Shape;324;ge2951bb1c8_0_52"/>
          <p:cNvPicPr preferRelativeResize="0"/>
          <p:nvPr/>
        </p:nvPicPr>
        <p:blipFill>
          <a:blip r:embed="rId3">
            <a:alphaModFix/>
          </a:blip>
          <a:stretch>
            <a:fillRect/>
          </a:stretch>
        </p:blipFill>
        <p:spPr>
          <a:xfrm>
            <a:off x="1140150" y="1600200"/>
            <a:ext cx="10645350" cy="498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e2951bb1c8_0_60"/>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31" name="Google Shape;331;ge2951bb1c8_0_60"/>
          <p:cNvPicPr preferRelativeResize="0"/>
          <p:nvPr/>
        </p:nvPicPr>
        <p:blipFill>
          <a:blip r:embed="rId3">
            <a:alphaModFix/>
          </a:blip>
          <a:stretch>
            <a:fillRect/>
          </a:stretch>
        </p:blipFill>
        <p:spPr>
          <a:xfrm>
            <a:off x="3100789" y="0"/>
            <a:ext cx="5990421" cy="6857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e2951bb1c8_0_68"/>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38" name="Google Shape;338;ge2951bb1c8_0_68"/>
          <p:cNvPicPr preferRelativeResize="0"/>
          <p:nvPr/>
        </p:nvPicPr>
        <p:blipFill>
          <a:blip r:embed="rId3">
            <a:alphaModFix/>
          </a:blip>
          <a:stretch>
            <a:fillRect/>
          </a:stretch>
        </p:blipFill>
        <p:spPr>
          <a:xfrm>
            <a:off x="2614626" y="1119201"/>
            <a:ext cx="7361550" cy="4884200"/>
          </a:xfrm>
          <a:prstGeom prst="rect">
            <a:avLst/>
          </a:prstGeom>
          <a:noFill/>
          <a:ln>
            <a:noFill/>
          </a:ln>
        </p:spPr>
      </p:pic>
      <p:sp>
        <p:nvSpPr>
          <p:cNvPr id="339" name="Google Shape;339;ge2951bb1c8_0_68"/>
          <p:cNvSpPr/>
          <p:nvPr/>
        </p:nvSpPr>
        <p:spPr>
          <a:xfrm>
            <a:off x="5192700" y="19479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e2951bb1c8_0_68"/>
          <p:cNvSpPr/>
          <p:nvPr/>
        </p:nvSpPr>
        <p:spPr>
          <a:xfrm>
            <a:off x="5192700"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e2951bb1c8_0_68"/>
          <p:cNvSpPr/>
          <p:nvPr/>
        </p:nvSpPr>
        <p:spPr>
          <a:xfrm>
            <a:off x="7799825" y="30243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e2951bb1c8_0_68"/>
          <p:cNvSpPr/>
          <p:nvPr/>
        </p:nvSpPr>
        <p:spPr>
          <a:xfrm>
            <a:off x="7799825" y="35196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e2951bb1c8_0_68"/>
          <p:cNvSpPr/>
          <p:nvPr/>
        </p:nvSpPr>
        <p:spPr>
          <a:xfrm>
            <a:off x="3646925"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e2951bb1c8_0_68"/>
          <p:cNvSpPr/>
          <p:nvPr/>
        </p:nvSpPr>
        <p:spPr>
          <a:xfrm>
            <a:off x="6922175" y="5110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2019-04-05T13:18:49Z</dcterms:created>
  <dc:creator>Nazmus Sakib</dc:creator>
</cp:coreProperties>
</file>