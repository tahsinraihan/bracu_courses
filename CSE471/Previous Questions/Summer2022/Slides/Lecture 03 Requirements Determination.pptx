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9866300" cy="6735750"/>
  <p:embeddedFontLst>
    <p:embeddedFont>
      <p:font typeface="Garamond"/>
      <p:regular r:id="rId28"/>
      <p:bold r:id="rId29"/>
      <p:italic r:id="rId30"/>
      <p:boldItalic r:id="rId31"/>
    </p:embeddedFont>
    <p:embeddedFont>
      <p:font typeface="Corbel"/>
      <p:regular r:id="rId32"/>
      <p:bold r:id="rId33"/>
      <p:italic r:id="rId34"/>
      <p:boldItalic r:id="rId35"/>
    </p:embeddedFont>
    <p:embeddedFont>
      <p:font typeface="Tahoma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1591">
          <p15:clr>
            <a:srgbClr val="A4A3A4"/>
          </p15:clr>
        </p15:guide>
        <p15:guide id="2" pos="4144">
          <p15:clr>
            <a:srgbClr val="A4A3A4"/>
          </p15:clr>
        </p15:guide>
      </p15:notesGuideLst>
    </p:ext>
    <p:ext uri="http://customooxmlschemas.google.com/">
      <go:slidesCustomData xmlns:go="http://customooxmlschemas.google.com/" r:id="rId38" roundtripDataSignature="AMtx7mhFlUvisOn7DfzmT9Y7gSX0qfhf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1591" orient="horz"/>
        <p:guide pos="414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Garamond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aramon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aramond-boldItalic.fntdata"/><Relationship Id="rId30" Type="http://schemas.openxmlformats.org/officeDocument/2006/relationships/font" Target="fonts/Garamond-italic.fntdata"/><Relationship Id="rId11" Type="http://schemas.openxmlformats.org/officeDocument/2006/relationships/slide" Target="slides/slide6.xml"/><Relationship Id="rId33" Type="http://schemas.openxmlformats.org/officeDocument/2006/relationships/font" Target="fonts/Corbel-bold.fntdata"/><Relationship Id="rId10" Type="http://schemas.openxmlformats.org/officeDocument/2006/relationships/slide" Target="slides/slide5.xml"/><Relationship Id="rId32" Type="http://schemas.openxmlformats.org/officeDocument/2006/relationships/font" Target="fonts/Corbel-regular.fntdata"/><Relationship Id="rId13" Type="http://schemas.openxmlformats.org/officeDocument/2006/relationships/slide" Target="slides/slide8.xml"/><Relationship Id="rId35" Type="http://schemas.openxmlformats.org/officeDocument/2006/relationships/font" Target="fonts/Corbel-boldItalic.fntdata"/><Relationship Id="rId12" Type="http://schemas.openxmlformats.org/officeDocument/2006/relationships/slide" Target="slides/slide7.xml"/><Relationship Id="rId34" Type="http://schemas.openxmlformats.org/officeDocument/2006/relationships/font" Target="fonts/Corbel-italic.fntdata"/><Relationship Id="rId15" Type="http://schemas.openxmlformats.org/officeDocument/2006/relationships/slide" Target="slides/slide10.xml"/><Relationship Id="rId37" Type="http://schemas.openxmlformats.org/officeDocument/2006/relationships/font" Target="fonts/Tahoma-bold.fntdata"/><Relationship Id="rId14" Type="http://schemas.openxmlformats.org/officeDocument/2006/relationships/slide" Target="slides/slide9.xml"/><Relationship Id="rId36" Type="http://schemas.openxmlformats.org/officeDocument/2006/relationships/font" Target="fonts/Tahoma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591175" y="0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8" name="Google Shape;138;p1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9" name="Google Shape;239;p15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15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7" name="Google Shape;247;p16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5" name="Google Shape;255;p17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18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2" name="Google Shape;272;p19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0" name="Google Shape;280;p20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4"/>
          <p:cNvGrpSpPr/>
          <p:nvPr/>
        </p:nvGrpSpPr>
        <p:grpSpPr>
          <a:xfrm>
            <a:off x="203200" y="0"/>
            <a:ext cx="3778250" cy="6858000"/>
            <a:chOff x="203200" y="0"/>
            <a:chExt cx="3778250" cy="6858001"/>
          </a:xfrm>
        </p:grpSpPr>
        <p:sp>
          <p:nvSpPr>
            <p:cNvPr id="28" name="Google Shape;28;p24"/>
            <p:cNvSpPr/>
            <p:nvPr/>
          </p:nvSpPr>
          <p:spPr>
            <a:xfrm>
              <a:off x="641350" y="0"/>
              <a:ext cx="1365250" cy="3971925"/>
            </a:xfrm>
            <a:custGeom>
              <a:rect b="b" l="l" r="r" t="t"/>
              <a:pathLst>
                <a:path extrusionOk="0" h="2502" w="860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9" name="Google Shape;29;p24"/>
            <p:cNvSpPr/>
            <p:nvPr/>
          </p:nvSpPr>
          <p:spPr>
            <a:xfrm>
              <a:off x="203200" y="0"/>
              <a:ext cx="1336675" cy="3862389"/>
            </a:xfrm>
            <a:custGeom>
              <a:rect b="b" l="l" r="r" t="t"/>
              <a:pathLst>
                <a:path extrusionOk="0" h="2433" w="842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0" name="Google Shape;30;p24"/>
            <p:cNvSpPr/>
            <p:nvPr/>
          </p:nvSpPr>
          <p:spPr>
            <a:xfrm>
              <a:off x="207963" y="3776664"/>
              <a:ext cx="1936750" cy="3081337"/>
            </a:xfrm>
            <a:custGeom>
              <a:rect b="b" l="l" r="r" t="t"/>
              <a:pathLst>
                <a:path extrusionOk="0" h="1941" w="1220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31" name="Google Shape;31;p24"/>
            <p:cNvSpPr/>
            <p:nvPr/>
          </p:nvSpPr>
          <p:spPr>
            <a:xfrm>
              <a:off x="646113" y="3886201"/>
              <a:ext cx="2373312" cy="2971800"/>
            </a:xfrm>
            <a:custGeom>
              <a:rect b="b" l="l" r="r" t="t"/>
              <a:pathLst>
                <a:path extrusionOk="0" h="1872" w="1495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rgbClr val="244061"/>
            </a:solidFill>
            <a:ln>
              <a:noFill/>
            </a:ln>
          </p:spPr>
        </p:sp>
        <p:sp>
          <p:nvSpPr>
            <p:cNvPr id="32" name="Google Shape;32;p24"/>
            <p:cNvSpPr/>
            <p:nvPr/>
          </p:nvSpPr>
          <p:spPr>
            <a:xfrm>
              <a:off x="641350" y="3881439"/>
              <a:ext cx="3340100" cy="2976562"/>
            </a:xfrm>
            <a:custGeom>
              <a:rect b="b" l="l" r="r" t="t"/>
              <a:pathLst>
                <a:path extrusionOk="0" h="1875" w="2104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</p:sp>
        <p:sp>
          <p:nvSpPr>
            <p:cNvPr id="33" name="Google Shape;33;p24"/>
            <p:cNvSpPr/>
            <p:nvPr/>
          </p:nvSpPr>
          <p:spPr>
            <a:xfrm>
              <a:off x="203200" y="3771901"/>
              <a:ext cx="2660650" cy="3086100"/>
            </a:xfrm>
            <a:custGeom>
              <a:rect b="b" l="l" r="r" t="t"/>
              <a:pathLst>
                <a:path extrusionOk="0" h="1944" w="1676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4" name="Google Shape;34;p24"/>
          <p:cNvSpPr/>
          <p:nvPr/>
        </p:nvSpPr>
        <p:spPr>
          <a:xfrm>
            <a:off x="203200" y="3771900"/>
            <a:ext cx="361950" cy="90488"/>
          </a:xfrm>
          <a:custGeom>
            <a:rect b="b" l="l" r="r" t="t"/>
            <a:pathLst>
              <a:path extrusionOk="0" h="57" w="228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" name="Google Shape;35;p24"/>
          <p:cNvSpPr/>
          <p:nvPr/>
        </p:nvSpPr>
        <p:spPr>
          <a:xfrm>
            <a:off x="560388" y="3867150"/>
            <a:ext cx="61912" cy="80963"/>
          </a:xfrm>
          <a:custGeom>
            <a:rect b="b" l="l" r="r" t="t"/>
            <a:pathLst>
              <a:path extrusionOk="0" h="51" w="39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" name="Google Shape;3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4938" y="76200"/>
            <a:ext cx="1295400" cy="1189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24"/>
          <p:cNvGrpSpPr/>
          <p:nvPr/>
        </p:nvGrpSpPr>
        <p:grpSpPr>
          <a:xfrm>
            <a:off x="990600" y="2764533"/>
            <a:ext cx="7597902" cy="281185"/>
            <a:chOff x="504" y="3635"/>
            <a:chExt cx="4786" cy="177"/>
          </a:xfrm>
        </p:grpSpPr>
        <p:sp>
          <p:nvSpPr>
            <p:cNvPr id="38" name="Google Shape;38;p24"/>
            <p:cNvSpPr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" name="Google Shape;39;p24"/>
            <p:cNvSpPr/>
            <p:nvPr/>
          </p:nvSpPr>
          <p:spPr>
            <a:xfrm rot="-7499842">
              <a:off x="5142" y="3646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0" name="Google Shape;40;p24"/>
          <p:cNvSpPr txBox="1"/>
          <p:nvPr>
            <p:ph type="ctrTitle"/>
          </p:nvPr>
        </p:nvSpPr>
        <p:spPr>
          <a:xfrm>
            <a:off x="1739673" y="914401"/>
            <a:ext cx="6947127" cy="34882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" type="subTitle"/>
          </p:nvPr>
        </p:nvSpPr>
        <p:spPr>
          <a:xfrm>
            <a:off x="2924238" y="4402666"/>
            <a:ext cx="5762563" cy="136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7326313" y="611663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3624263" y="6116638"/>
            <a:ext cx="3608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7400925" y="6492875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1986995" y="2666998"/>
            <a:ext cx="6699805" cy="23600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1986998" y="5027070"/>
            <a:ext cx="6699802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27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 txBox="1"/>
          <p:nvPr>
            <p:ph type="title"/>
          </p:nvPr>
        </p:nvSpPr>
        <p:spPr>
          <a:xfrm>
            <a:off x="964122" y="158376"/>
            <a:ext cx="679026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" type="body"/>
          </p:nvPr>
        </p:nvSpPr>
        <p:spPr>
          <a:xfrm>
            <a:off x="982133" y="1676400"/>
            <a:ext cx="3739896" cy="4359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2" name="Google Shape;62;p28"/>
          <p:cNvSpPr txBox="1"/>
          <p:nvPr>
            <p:ph idx="2" type="body"/>
          </p:nvPr>
        </p:nvSpPr>
        <p:spPr>
          <a:xfrm>
            <a:off x="4946904" y="1676400"/>
            <a:ext cx="3739896" cy="4337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3" name="Google Shape;63;p28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" type="body"/>
          </p:nvPr>
        </p:nvSpPr>
        <p:spPr>
          <a:xfrm>
            <a:off x="1329481" y="2658533"/>
            <a:ext cx="345629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36609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8" name="Google Shape;68;p29"/>
          <p:cNvSpPr txBox="1"/>
          <p:nvPr>
            <p:ph idx="2" type="body"/>
          </p:nvPr>
        </p:nvSpPr>
        <p:spPr>
          <a:xfrm>
            <a:off x="1113523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9" name="Google Shape;69;p29"/>
          <p:cNvSpPr txBox="1"/>
          <p:nvPr>
            <p:ph idx="3" type="body"/>
          </p:nvPr>
        </p:nvSpPr>
        <p:spPr>
          <a:xfrm>
            <a:off x="5161710" y="2667000"/>
            <a:ext cx="346780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36609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0" name="Google Shape;70;p29"/>
          <p:cNvSpPr txBox="1"/>
          <p:nvPr>
            <p:ph idx="4" type="body"/>
          </p:nvPr>
        </p:nvSpPr>
        <p:spPr>
          <a:xfrm>
            <a:off x="4957266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/>
          <p:nvPr>
            <p:ph type="title"/>
          </p:nvPr>
        </p:nvSpPr>
        <p:spPr>
          <a:xfrm>
            <a:off x="1113524" y="1600200"/>
            <a:ext cx="266253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" type="body"/>
          </p:nvPr>
        </p:nvSpPr>
        <p:spPr>
          <a:xfrm>
            <a:off x="3947553" y="685800"/>
            <a:ext cx="4681962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9" name="Google Shape;79;p31"/>
          <p:cNvSpPr txBox="1"/>
          <p:nvPr>
            <p:ph idx="2" type="body"/>
          </p:nvPr>
        </p:nvSpPr>
        <p:spPr>
          <a:xfrm>
            <a:off x="1113524" y="2971800"/>
            <a:ext cx="266253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0" name="Google Shape;80;p31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2"/>
          <p:cNvSpPr txBox="1"/>
          <p:nvPr>
            <p:ph type="title"/>
          </p:nvPr>
        </p:nvSpPr>
        <p:spPr>
          <a:xfrm>
            <a:off x="1112332" y="1752599"/>
            <a:ext cx="40706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/>
          <p:nvPr>
            <p:ph idx="2" type="pic"/>
          </p:nvPr>
        </p:nvSpPr>
        <p:spPr>
          <a:xfrm>
            <a:off x="5697495" y="914400"/>
            <a:ext cx="2461371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rgbClr val="36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5" name="Google Shape;85;p32"/>
          <p:cNvSpPr txBox="1"/>
          <p:nvPr>
            <p:ph idx="1" type="body"/>
          </p:nvPr>
        </p:nvSpPr>
        <p:spPr>
          <a:xfrm>
            <a:off x="1112332" y="3124199"/>
            <a:ext cx="407067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6" name="Google Shape;86;p32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/>
          <p:nvPr>
            <p:ph type="title"/>
          </p:nvPr>
        </p:nvSpPr>
        <p:spPr>
          <a:xfrm>
            <a:off x="1113523" y="4732865"/>
            <a:ext cx="751599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/>
          <p:nvPr>
            <p:ph idx="2" type="pic"/>
          </p:nvPr>
        </p:nvSpPr>
        <p:spPr>
          <a:xfrm>
            <a:off x="1789975" y="932112"/>
            <a:ext cx="6171065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rgbClr val="366092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91" name="Google Shape;91;p33"/>
          <p:cNvSpPr txBox="1"/>
          <p:nvPr>
            <p:ph idx="1" type="body"/>
          </p:nvPr>
        </p:nvSpPr>
        <p:spPr>
          <a:xfrm>
            <a:off x="1113523" y="5299603"/>
            <a:ext cx="751599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2" name="Google Shape;92;p33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>
            <p:ph type="title"/>
          </p:nvPr>
        </p:nvSpPr>
        <p:spPr>
          <a:xfrm>
            <a:off x="1113524" y="685800"/>
            <a:ext cx="751599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" type="body"/>
          </p:nvPr>
        </p:nvSpPr>
        <p:spPr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34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4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/>
          <p:nvPr/>
        </p:nvSpPr>
        <p:spPr>
          <a:xfrm>
            <a:off x="969963" y="8636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lang="en-US" sz="8000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</a:t>
            </a:r>
            <a:endParaRPr/>
          </a:p>
        </p:txBody>
      </p:sp>
      <p:sp>
        <p:nvSpPr>
          <p:cNvPr id="101" name="Google Shape;101;p35"/>
          <p:cNvSpPr txBox="1"/>
          <p:nvPr/>
        </p:nvSpPr>
        <p:spPr>
          <a:xfrm>
            <a:off x="8172450" y="28194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lang="en-US" sz="8000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/>
          </a:p>
        </p:txBody>
      </p:sp>
      <p:sp>
        <p:nvSpPr>
          <p:cNvPr id="102" name="Google Shape;102;p35"/>
          <p:cNvSpPr txBox="1"/>
          <p:nvPr>
            <p:ph type="title"/>
          </p:nvPr>
        </p:nvSpPr>
        <p:spPr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5"/>
          <p:cNvSpPr txBox="1"/>
          <p:nvPr>
            <p:ph idx="1" type="body"/>
          </p:nvPr>
        </p:nvSpPr>
        <p:spPr>
          <a:xfrm>
            <a:off x="1598235" y="3428999"/>
            <a:ext cx="6631128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35"/>
          <p:cNvSpPr txBox="1"/>
          <p:nvPr>
            <p:ph idx="2" type="body"/>
          </p:nvPr>
        </p:nvSpPr>
        <p:spPr>
          <a:xfrm>
            <a:off x="1113523" y="4343400"/>
            <a:ext cx="751599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35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5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6"/>
          <p:cNvSpPr txBox="1"/>
          <p:nvPr>
            <p:ph type="title"/>
          </p:nvPr>
        </p:nvSpPr>
        <p:spPr>
          <a:xfrm>
            <a:off x="1113525" y="3308581"/>
            <a:ext cx="751598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6"/>
          <p:cNvSpPr txBox="1"/>
          <p:nvPr>
            <p:ph idx="1" type="body"/>
          </p:nvPr>
        </p:nvSpPr>
        <p:spPr>
          <a:xfrm>
            <a:off x="1113524" y="4777381"/>
            <a:ext cx="751599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36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6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/>
          <p:nvPr/>
        </p:nvSpPr>
        <p:spPr>
          <a:xfrm>
            <a:off x="969963" y="8636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lang="en-US" sz="8000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</a:t>
            </a:r>
            <a:endParaRPr/>
          </a:p>
        </p:txBody>
      </p:sp>
      <p:sp>
        <p:nvSpPr>
          <p:cNvPr id="114" name="Google Shape;114;p37"/>
          <p:cNvSpPr txBox="1"/>
          <p:nvPr/>
        </p:nvSpPr>
        <p:spPr>
          <a:xfrm>
            <a:off x="8172450" y="28194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lang="en-US" sz="8000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/>
          </a:p>
        </p:txBody>
      </p:sp>
      <p:sp>
        <p:nvSpPr>
          <p:cNvPr id="115" name="Google Shape;115;p37"/>
          <p:cNvSpPr txBox="1"/>
          <p:nvPr>
            <p:ph type="title"/>
          </p:nvPr>
        </p:nvSpPr>
        <p:spPr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7"/>
          <p:cNvSpPr txBox="1"/>
          <p:nvPr>
            <p:ph idx="1" type="body"/>
          </p:nvPr>
        </p:nvSpPr>
        <p:spPr>
          <a:xfrm>
            <a:off x="1113525" y="3886200"/>
            <a:ext cx="751599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37"/>
          <p:cNvSpPr txBox="1"/>
          <p:nvPr>
            <p:ph idx="2" type="body"/>
          </p:nvPr>
        </p:nvSpPr>
        <p:spPr>
          <a:xfrm>
            <a:off x="1113524" y="4775200"/>
            <a:ext cx="751599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37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7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8"/>
          <p:cNvSpPr txBox="1"/>
          <p:nvPr>
            <p:ph type="title"/>
          </p:nvPr>
        </p:nvSpPr>
        <p:spPr>
          <a:xfrm>
            <a:off x="1113525" y="685801"/>
            <a:ext cx="7515991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8"/>
          <p:cNvSpPr txBox="1"/>
          <p:nvPr>
            <p:ph idx="1" type="body"/>
          </p:nvPr>
        </p:nvSpPr>
        <p:spPr>
          <a:xfrm>
            <a:off x="1113524" y="3505200"/>
            <a:ext cx="751599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3" name="Google Shape;123;p38"/>
          <p:cNvSpPr txBox="1"/>
          <p:nvPr>
            <p:ph idx="2" type="body"/>
          </p:nvPr>
        </p:nvSpPr>
        <p:spPr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38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8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9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9"/>
          <p:cNvSpPr txBox="1"/>
          <p:nvPr>
            <p:ph idx="1" type="body"/>
          </p:nvPr>
        </p:nvSpPr>
        <p:spPr>
          <a:xfrm rot="5400000">
            <a:off x="2522538" y="274638"/>
            <a:ext cx="4624387" cy="770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9" name="Google Shape;129;p39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9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0"/>
          <p:cNvSpPr txBox="1"/>
          <p:nvPr>
            <p:ph type="title"/>
          </p:nvPr>
        </p:nvSpPr>
        <p:spPr>
          <a:xfrm rot="5400000">
            <a:off x="5412754" y="2574438"/>
            <a:ext cx="5105400" cy="1328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0"/>
          <p:cNvSpPr txBox="1"/>
          <p:nvPr>
            <p:ph idx="1" type="body"/>
          </p:nvPr>
        </p:nvSpPr>
        <p:spPr>
          <a:xfrm rot="5400000">
            <a:off x="1569010" y="230314"/>
            <a:ext cx="5105400" cy="6016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4" name="Google Shape;134;p40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0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6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3"/>
          <p:cNvGrpSpPr/>
          <p:nvPr/>
        </p:nvGrpSpPr>
        <p:grpSpPr>
          <a:xfrm>
            <a:off x="0" y="0"/>
            <a:ext cx="2132013" cy="6858000"/>
            <a:chOff x="0" y="0"/>
            <a:chExt cx="2132013" cy="6858001"/>
          </a:xfrm>
        </p:grpSpPr>
        <p:sp>
          <p:nvSpPr>
            <p:cNvPr id="11" name="Google Shape;11;p23"/>
            <p:cNvSpPr/>
            <p:nvPr/>
          </p:nvSpPr>
          <p:spPr>
            <a:xfrm>
              <a:off x="0" y="0"/>
              <a:ext cx="1073150" cy="5291138"/>
            </a:xfrm>
            <a:custGeom>
              <a:rect b="b" l="l" r="r" t="t"/>
              <a:pathLst>
                <a:path extrusionOk="0" h="3333" w="676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" name="Google Shape;12;p23"/>
            <p:cNvSpPr/>
            <p:nvPr/>
          </p:nvSpPr>
          <p:spPr>
            <a:xfrm>
              <a:off x="0" y="0"/>
              <a:ext cx="758825" cy="4624389"/>
            </a:xfrm>
            <a:custGeom>
              <a:rect b="b" l="l" r="r" t="t"/>
              <a:pathLst>
                <a:path extrusionOk="0" h="2913" w="478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3"/>
            <p:cNvSpPr/>
            <p:nvPr/>
          </p:nvSpPr>
          <p:spPr>
            <a:xfrm>
              <a:off x="0" y="5662614"/>
              <a:ext cx="906463" cy="1195387"/>
            </a:xfrm>
            <a:custGeom>
              <a:rect b="b" l="l" r="r" t="t"/>
              <a:pathLst>
                <a:path extrusionOk="0" h="753" w="571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3"/>
            <p:cNvSpPr/>
            <p:nvPr/>
          </p:nvSpPr>
          <p:spPr>
            <a:xfrm>
              <a:off x="0" y="5295901"/>
              <a:ext cx="1487488" cy="1562100"/>
            </a:xfrm>
            <a:custGeom>
              <a:rect b="b" l="l" r="r" t="t"/>
              <a:pathLst>
                <a:path extrusionOk="0" h="984" w="937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1"/>
            </a:solidFill>
            <a:ln>
              <a:noFill/>
            </a:ln>
          </p:spPr>
        </p:sp>
        <p:sp>
          <p:nvSpPr>
            <p:cNvPr id="15" name="Google Shape;15;p23"/>
            <p:cNvSpPr/>
            <p:nvPr/>
          </p:nvSpPr>
          <p:spPr>
            <a:xfrm>
              <a:off x="0" y="5257801"/>
              <a:ext cx="2132013" cy="1600200"/>
            </a:xfrm>
            <a:custGeom>
              <a:rect b="b" l="l" r="r" t="t"/>
              <a:pathLst>
                <a:path extrusionOk="0" h="1008" w="1343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</p:sp>
        <p:sp>
          <p:nvSpPr>
            <p:cNvPr id="16" name="Google Shape;16;p23"/>
            <p:cNvSpPr/>
            <p:nvPr/>
          </p:nvSpPr>
          <p:spPr>
            <a:xfrm>
              <a:off x="0" y="5357814"/>
              <a:ext cx="1377950" cy="1500187"/>
            </a:xfrm>
            <a:custGeom>
              <a:rect b="b" l="l" r="r" t="t"/>
              <a:pathLst>
                <a:path extrusionOk="0" h="945" w="868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3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" type="body"/>
          </p:nvPr>
        </p:nvSpPr>
        <p:spPr>
          <a:xfrm>
            <a:off x="982663" y="1814513"/>
            <a:ext cx="7704137" cy="4624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376092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3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160338"/>
            <a:ext cx="1295400" cy="118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23"/>
          <p:cNvGrpSpPr/>
          <p:nvPr/>
        </p:nvGrpSpPr>
        <p:grpSpPr>
          <a:xfrm>
            <a:off x="533400" y="1316733"/>
            <a:ext cx="7597902" cy="281185"/>
            <a:chOff x="504" y="3635"/>
            <a:chExt cx="4786" cy="177"/>
          </a:xfrm>
        </p:grpSpPr>
        <p:sp>
          <p:nvSpPr>
            <p:cNvPr id="24" name="Google Shape;24;p23"/>
            <p:cNvSpPr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" name="Google Shape;25;p23"/>
            <p:cNvSpPr/>
            <p:nvPr/>
          </p:nvSpPr>
          <p:spPr>
            <a:xfrm rot="-7499842">
              <a:off x="5142" y="3646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/>
          <p:nvPr>
            <p:ph type="ctrTitle"/>
          </p:nvPr>
        </p:nvSpPr>
        <p:spPr>
          <a:xfrm>
            <a:off x="1828800" y="2618581"/>
            <a:ext cx="6946900" cy="14200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Lecture 3: </a:t>
            </a:r>
            <a:r>
              <a:rPr b="1" lang="en-US" sz="2400"/>
              <a:t>Requirements Determination</a:t>
            </a:r>
            <a:endParaRPr b="1" sz="1800"/>
          </a:p>
        </p:txBody>
      </p:sp>
      <p:sp>
        <p:nvSpPr>
          <p:cNvPr descr="Rectangle: Click to edit Master text styles&#10;Second level&#10;Third level&#10;Fourth level&#10;Fifth level" id="142" name="Google Shape;142;p1"/>
          <p:cNvSpPr txBox="1"/>
          <p:nvPr>
            <p:ph idx="1" type="subTitle"/>
          </p:nvPr>
        </p:nvSpPr>
        <p:spPr>
          <a:xfrm>
            <a:off x="2751576" y="4953000"/>
            <a:ext cx="57626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b="1" lang="en-US" sz="2000"/>
              <a:t>Prepared by: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SzPts val="2900"/>
              <a:buNone/>
            </a:pPr>
            <a:r>
              <a:rPr b="1" lang="en-US" sz="2000"/>
              <a:t>Dr. Muhammad Iqbal Hossain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SzPts val="2610"/>
              <a:buNone/>
            </a:pPr>
            <a:r>
              <a:rPr b="1" lang="en-US"/>
              <a:t>Assistant professor</a:t>
            </a:r>
            <a:br>
              <a:rPr lang="en-US"/>
            </a:br>
            <a:r>
              <a:rPr lang="en-US"/>
              <a:t>Department of Computer Science &amp; Engineering</a:t>
            </a:r>
            <a:br>
              <a:rPr lang="en-US"/>
            </a:br>
            <a:r>
              <a:rPr lang="en-US"/>
              <a:t>BRAC University.</a:t>
            </a:r>
            <a:endParaRPr/>
          </a:p>
          <a:p>
            <a:pPr indent="0" lvl="0" marL="0" rtl="0" algn="r"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1828800" y="1664474"/>
            <a:ext cx="691400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Course ID: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CSE471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Course Title: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System Analysis and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7ED8"/>
                </a:solidFill>
              </a:rPr>
              <a:t>Objectives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49" name="Google Shape;149;p2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Understand how to create a requirements definition.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Become familiar with requirements analysis techniques.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Understand when to use each requirements analysis technique.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Understand what and where to use </a:t>
            </a:r>
            <a:r>
              <a:rPr lang="en-US"/>
              <a:t>REQUIREMENTS ANALYSIS STRATEGIES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t/>
            </a:r>
            <a:endParaRPr sz="2600"/>
          </a:p>
        </p:txBody>
      </p:sp>
      <p:sp>
        <p:nvSpPr>
          <p:cNvPr id="150" name="Google Shape;150;p2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1: </a:t>
            </a:r>
            <a:r>
              <a:rPr lang="en-US" sz="2800"/>
              <a:t>Requirements Specification</a:t>
            </a:r>
            <a:endParaRPr b="1" sz="2800"/>
          </a:p>
          <a:p>
            <a:pPr indent="0" lvl="0" marL="0" rtl="0" algn="l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2: </a:t>
            </a:r>
            <a:r>
              <a:rPr lang="en-US" sz="2800"/>
              <a:t>Requirement Gathering Techniques and Interview</a:t>
            </a:r>
            <a:endParaRPr/>
          </a:p>
          <a:p>
            <a:pPr indent="0" lvl="0" marL="0" rtl="0" algn="l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3</a:t>
            </a:r>
            <a:r>
              <a:rPr lang="en-US" sz="2800"/>
              <a:t>: JOINT APPLICATION DESIGN (JAD)</a:t>
            </a:r>
            <a:endParaRPr/>
          </a:p>
          <a:p>
            <a:pPr indent="0" lvl="0" marL="0" rtl="0" algn="l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4</a:t>
            </a:r>
            <a:r>
              <a:rPr lang="en-US" sz="2800"/>
              <a:t>: Other Requirement Gathering Techniques</a:t>
            </a:r>
            <a:endParaRPr/>
          </a:p>
          <a:p>
            <a:pPr indent="0" lvl="0" marL="0" rtl="0" algn="l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  <a:p>
            <a:pPr indent="-27940" lvl="0" marL="285750" rtl="0" algn="l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56" name="Google Shape;156;p3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7ED8"/>
                </a:solidFill>
              </a:rPr>
              <a:t>Key Ideas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63" name="Google Shape;163;p4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goal of the analysis phase is to truly understand the requirements of the new system and develop a system that addresses them.</a:t>
            </a:r>
            <a:endParaRPr/>
          </a:p>
          <a:p>
            <a:pPr indent="-285750" lvl="0" marL="2857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first challenge is </a:t>
            </a:r>
            <a:r>
              <a:rPr lang="en-US" sz="2800">
                <a:solidFill>
                  <a:srgbClr val="FF5050"/>
                </a:solidFill>
              </a:rPr>
              <a:t>collecting and integrating the information</a:t>
            </a:r>
            <a:r>
              <a:rPr lang="en-US" sz="2800"/>
              <a:t> </a:t>
            </a:r>
            <a:endParaRPr/>
          </a:p>
          <a:p>
            <a:pPr indent="-285750" lvl="0" marL="2857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second challenge is finding the </a:t>
            </a:r>
            <a:r>
              <a:rPr lang="en-US" sz="2800">
                <a:solidFill>
                  <a:srgbClr val="FF5050"/>
                </a:solidFill>
              </a:rPr>
              <a:t>right people</a:t>
            </a:r>
            <a:r>
              <a:rPr lang="en-US" sz="2800"/>
              <a:t> to participate.</a:t>
            </a:r>
            <a:endParaRPr/>
          </a:p>
          <a:p>
            <a:pPr indent="-27940" lvl="0" marL="285750" rtl="0" algn="l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64" name="Google Shape;164;p4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7ED8"/>
                </a:solidFill>
              </a:rPr>
              <a:t>Analysis Phase</a:t>
            </a:r>
            <a:endParaRPr/>
          </a:p>
        </p:txBody>
      </p:sp>
      <p:sp>
        <p:nvSpPr>
          <p:cNvPr descr="Rectangle: Click to edit Master text styles&#10;Second level&#10;Third level&#10;Fourth level&#10;Fifth level" id="170" name="Google Shape;170;p5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66414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800"/>
              <a:t>This phase takes the general ideas in the system request and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refines them into a detailed requirements definition (this chapter), 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functional models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structural models and 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behavioral models </a:t>
            </a:r>
            <a:endParaRPr/>
          </a:p>
          <a:p>
            <a:pPr indent="0" lvl="1" marL="67818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None/>
            </a:pPr>
            <a:r>
              <a:t/>
            </a:r>
            <a:endParaRPr sz="2400"/>
          </a:p>
          <a:p>
            <a:pPr indent="-266414" lvl="0" marL="2857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800"/>
              <a:t>This becomes the system proposal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Includes revised project management deliverables,</a:t>
            </a:r>
            <a:endParaRPr/>
          </a:p>
          <a:p>
            <a:pPr indent="-271938" lvl="2" marL="12001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000"/>
              <a:t>feasibility analysis and </a:t>
            </a:r>
            <a:endParaRPr/>
          </a:p>
          <a:p>
            <a:pPr indent="-271938" lvl="2" marL="12001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000"/>
              <a:t>workplan</a:t>
            </a:r>
            <a:endParaRPr/>
          </a:p>
        </p:txBody>
      </p:sp>
      <p:sp>
        <p:nvSpPr>
          <p:cNvPr id="171" name="Google Shape;171;p5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7ED8"/>
                </a:solidFill>
              </a:rPr>
              <a:t>Requirement Specification</a:t>
            </a:r>
            <a:endParaRPr/>
          </a:p>
        </p:txBody>
      </p:sp>
      <p:sp>
        <p:nvSpPr>
          <p:cNvPr descr="Rectangle: Click to edit Master text styles&#10;Second level&#10;Third level&#10;Fourth level&#10;Fifth level" id="177" name="Google Shape;177;p6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A statement of what </a:t>
            </a:r>
            <a:endParaRPr/>
          </a:p>
          <a:p>
            <a:pPr indent="-285750" lvl="1" marL="7429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system must do or </a:t>
            </a:r>
            <a:endParaRPr/>
          </a:p>
          <a:p>
            <a:pPr indent="-285750" lvl="1" marL="7429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characteristics it must have</a:t>
            </a:r>
            <a:endParaRPr/>
          </a:p>
          <a:p>
            <a:pPr indent="-285750" lvl="1" marL="7429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Written from business person perspective – </a:t>
            </a:r>
            <a:r>
              <a:rPr b="1" lang="en-US" sz="2800"/>
              <a:t>business requirement</a:t>
            </a:r>
            <a:endParaRPr/>
          </a:p>
          <a:p>
            <a:pPr indent="-285750" lvl="1" marL="7429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Later requirements become more technical – </a:t>
            </a:r>
            <a:r>
              <a:rPr b="1" lang="en-US" sz="2800"/>
              <a:t>system requirement</a:t>
            </a:r>
            <a:endParaRPr/>
          </a:p>
          <a:p>
            <a:pPr indent="0" lvl="0" marL="285750" rtl="0" algn="l"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 sz="3200"/>
          </a:p>
        </p:txBody>
      </p:sp>
      <p:sp>
        <p:nvSpPr>
          <p:cNvPr id="178" name="Google Shape;178;p6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37ED8"/>
                </a:solidFill>
              </a:rPr>
              <a:t>Functional vs. Nonfunctional</a:t>
            </a:r>
            <a:endParaRPr/>
          </a:p>
        </p:txBody>
      </p:sp>
      <p:sp>
        <p:nvSpPr>
          <p:cNvPr descr="Rectangle: Click to edit Master text styles&#10;Second level&#10;Third level&#10;Fourth level&#10;Fifth level" id="184" name="Google Shape;184;p7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 </a:t>
            </a:r>
            <a:r>
              <a:rPr b="1" i="1" lang="en-US" sz="2800"/>
              <a:t>functional requirement </a:t>
            </a:r>
            <a:r>
              <a:rPr lang="en-US" sz="2800"/>
              <a:t>relates directly to a process the system has to perform or information it needs to contain.</a:t>
            </a:r>
            <a:endParaRPr/>
          </a:p>
          <a:p>
            <a:pPr indent="-27940" lvl="0" marL="285750" rtl="0" algn="just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  <a:p>
            <a:pPr indent="-285750" lvl="0" marL="285750" rtl="0" algn="just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b="1" i="1" lang="en-US" sz="2800"/>
              <a:t>Nonfunctional requirements </a:t>
            </a:r>
            <a:r>
              <a:rPr lang="en-US" sz="2800"/>
              <a:t>refer to behavioral properties that the system must have, such as performance and usability.</a:t>
            </a:r>
            <a:endParaRPr/>
          </a:p>
          <a:p>
            <a:pPr indent="-27940" lvl="0" marL="285750" rtl="0" algn="just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85" name="Google Shape;185;p7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914400" y="304799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7ED8"/>
                </a:solidFill>
              </a:rPr>
              <a:t>Functional Requirements example</a:t>
            </a:r>
            <a:endParaRPr/>
          </a:p>
        </p:txBody>
      </p:sp>
      <p:pic>
        <p:nvPicPr>
          <p:cNvPr descr="Screen Clipping" id="191" name="Google Shape;1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00199"/>
            <a:ext cx="8839200" cy="4988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>
            <p:ph type="title"/>
          </p:nvPr>
        </p:nvSpPr>
        <p:spPr>
          <a:xfrm>
            <a:off x="685800" y="152400"/>
            <a:ext cx="7086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37ED8"/>
                </a:solidFill>
              </a:rPr>
              <a:t>Nonfunctional Requirements example</a:t>
            </a:r>
            <a:endParaRPr/>
          </a:p>
        </p:txBody>
      </p:sp>
      <p:pic>
        <p:nvPicPr>
          <p:cNvPr descr="Screen Clippi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00200"/>
            <a:ext cx="8839200" cy="5146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 txBox="1"/>
          <p:nvPr>
            <p:ph type="title"/>
          </p:nvPr>
        </p:nvSpPr>
        <p:spPr>
          <a:xfrm>
            <a:off x="381000" y="302476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37ED8"/>
                </a:solidFill>
              </a:rPr>
              <a:t>Types of Nonfunctional Requirements</a:t>
            </a:r>
            <a:endParaRPr/>
          </a:p>
        </p:txBody>
      </p:sp>
      <p:sp>
        <p:nvSpPr>
          <p:cNvPr id="203" name="Google Shape;203;p10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 Clipping"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396528"/>
            <a:ext cx="8760725" cy="5447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7ED8"/>
              </a:solidFill>
            </a:endParaRPr>
          </a:p>
        </p:txBody>
      </p:sp>
      <p:sp>
        <p:nvSpPr>
          <p:cNvPr descr="Rectangle: Click to edit Master text styles&#10;Second level&#10;Third level&#10;Fourth level&#10;Fifth level" id="210" name="Google Shape;210;p11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4770" lvl="0" marL="285750" rtl="0" algn="l"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descr="Screen Clipping" id="211" name="Google Shape;2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13" y="1417638"/>
            <a:ext cx="8791575" cy="521176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 txBox="1"/>
          <p:nvPr/>
        </p:nvSpPr>
        <p:spPr>
          <a:xfrm>
            <a:off x="6452968" y="6522522"/>
            <a:ext cx="19864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End of segment 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7ED8"/>
              </a:solidFill>
            </a:endParaRPr>
          </a:p>
        </p:txBody>
      </p:sp>
      <p:sp>
        <p:nvSpPr>
          <p:cNvPr descr="Rectangle: Click to edit Master text styles&#10;Second level&#10;Third level&#10;Fourth level&#10;Fifth level" id="220" name="Google Shape;220;p13"/>
          <p:cNvSpPr txBox="1"/>
          <p:nvPr>
            <p:ph idx="1" type="body"/>
          </p:nvPr>
        </p:nvSpPr>
        <p:spPr>
          <a:xfrm>
            <a:off x="982663" y="2667000"/>
            <a:ext cx="7856537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640"/>
              <a:buFont typeface="Arial"/>
              <a:buNone/>
            </a:pPr>
            <a:r>
              <a:rPr b="1" lang="en-US" sz="3200"/>
              <a:t>Segment 2</a:t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US"/>
              <a:t>REQUIREMENTS ANALYSIS STRATEGIES</a:t>
            </a:r>
            <a:endParaRPr/>
          </a:p>
        </p:txBody>
      </p:sp>
      <p:sp>
        <p:nvSpPr>
          <p:cNvPr id="221" name="Google Shape;221;p13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 txBox="1"/>
          <p:nvPr>
            <p:ph type="title"/>
          </p:nvPr>
        </p:nvSpPr>
        <p:spPr>
          <a:xfrm>
            <a:off x="982133" y="228600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337ED8"/>
                </a:solidFill>
              </a:rPr>
              <a:t>Requirement Gathering Techniques</a:t>
            </a:r>
            <a:endParaRPr sz="3200">
              <a:solidFill>
                <a:srgbClr val="337ED8"/>
              </a:solidFill>
            </a:endParaRPr>
          </a:p>
        </p:txBody>
      </p:sp>
      <p:sp>
        <p:nvSpPr>
          <p:cNvPr id="227" name="Google Shape;227;p12"/>
          <p:cNvSpPr txBox="1"/>
          <p:nvPr>
            <p:ph idx="1" type="body"/>
          </p:nvPr>
        </p:nvSpPr>
        <p:spPr>
          <a:xfrm>
            <a:off x="982125" y="1963675"/>
            <a:ext cx="80271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9070" lvl="0" marL="28575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An analyst search for requirements using a variety of techniques</a:t>
            </a:r>
            <a:endParaRPr sz="1800"/>
          </a:p>
          <a:p>
            <a:pPr indent="-179070" lvl="0" marL="285750" rtl="0" algn="l">
              <a:spcBef>
                <a:spcPts val="108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Make sure that the current business processes and the needs for the new system are well understood before moving into design.</a:t>
            </a:r>
            <a:endParaRPr sz="1800"/>
          </a:p>
          <a:p>
            <a:pPr indent="-179070" lvl="0" marL="285750" rtl="0" algn="l">
              <a:spcBef>
                <a:spcPts val="108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Five most commonly used requirements elicitation techniques:</a:t>
            </a:r>
            <a:endParaRPr sz="1800"/>
          </a:p>
          <a:p>
            <a:pPr indent="-38735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Interviews</a:t>
            </a:r>
            <a:endParaRPr sz="1800"/>
          </a:p>
          <a:p>
            <a:pPr indent="-38735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JAD sessions</a:t>
            </a:r>
            <a:endParaRPr sz="1800"/>
          </a:p>
          <a:p>
            <a:pPr indent="-38735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Questionnaires</a:t>
            </a:r>
            <a:endParaRPr sz="1800"/>
          </a:p>
          <a:p>
            <a:pPr indent="-38735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Document analysis</a:t>
            </a:r>
            <a:endParaRPr sz="1800"/>
          </a:p>
          <a:p>
            <a:pPr indent="-38735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Observation.</a:t>
            </a:r>
            <a:endParaRPr sz="1800"/>
          </a:p>
        </p:txBody>
      </p:sp>
      <p:sp>
        <p:nvSpPr>
          <p:cNvPr id="228" name="Google Shape;228;p12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Analysis</a:t>
            </a:r>
            <a:endParaRPr/>
          </a:p>
        </p:txBody>
      </p:sp>
      <p:sp>
        <p:nvSpPr>
          <p:cNvPr id="235" name="Google Shape;235;p14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Ask users to identify problems and solutions</a:t>
            </a:r>
            <a:endParaRPr/>
          </a:p>
          <a:p>
            <a:pPr indent="-294640" lvl="0" marL="285750" rtl="0" algn="l">
              <a:lnSpc>
                <a:spcPct val="8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Improvements tend to be small and incremental</a:t>
            </a:r>
            <a:endParaRPr/>
          </a:p>
          <a:p>
            <a:pPr indent="-294640" lvl="0" marL="285750" rtl="0" algn="l">
              <a:lnSpc>
                <a:spcPct val="8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Rarely finds improvements with significant business value</a:t>
            </a:r>
            <a:endParaRPr/>
          </a:p>
        </p:txBody>
      </p:sp>
      <p:sp>
        <p:nvSpPr>
          <p:cNvPr id="236" name="Google Shape;236;p14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Root Cause Analysis</a:t>
            </a:r>
            <a:endParaRPr/>
          </a:p>
        </p:txBody>
      </p:sp>
      <p:sp>
        <p:nvSpPr>
          <p:cNvPr id="243" name="Google Shape;243;p15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Users are not asked for solutions, but for: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 list of (prioritized) problems.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All possible root causes for those problems.</a:t>
            </a:r>
            <a:endParaRPr/>
          </a:p>
          <a:p>
            <a:pPr indent="-294640" lvl="0" marL="285750" rtl="0" algn="l">
              <a:lnSpc>
                <a:spcPct val="8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Analysts investigate each root cause to find: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Solutions for the highest priority problems.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Root causes that are common to multiple problems. </a:t>
            </a:r>
            <a:endParaRPr/>
          </a:p>
        </p:txBody>
      </p:sp>
      <p:sp>
        <p:nvSpPr>
          <p:cNvPr id="244" name="Google Shape;244;p15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982133" y="457201"/>
            <a:ext cx="6561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Duration Analysis</a:t>
            </a:r>
            <a:endParaRPr/>
          </a:p>
        </p:txBody>
      </p:sp>
      <p:sp>
        <p:nvSpPr>
          <p:cNvPr id="251" name="Google Shape;251;p16"/>
          <p:cNvSpPr txBox="1"/>
          <p:nvPr>
            <p:ph idx="1" type="body"/>
          </p:nvPr>
        </p:nvSpPr>
        <p:spPr>
          <a:xfrm>
            <a:off x="982133" y="2057399"/>
            <a:ext cx="7857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Calculate time needed for each process step</a:t>
            </a:r>
            <a:endParaRPr sz="1800"/>
          </a:p>
          <a:p>
            <a:pPr indent="-114300" lvl="0" marL="2857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Calculate time needed for overall process</a:t>
            </a:r>
            <a:endParaRPr sz="1800"/>
          </a:p>
          <a:p>
            <a:pPr indent="-114300" lvl="0" marL="2857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Compare the two – a large difference indicates a badly fragmented process</a:t>
            </a:r>
            <a:endParaRPr sz="1800"/>
          </a:p>
          <a:p>
            <a:pPr indent="-114300" lvl="0" marL="2857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Potential solutions:</a:t>
            </a:r>
            <a:endParaRPr sz="1800"/>
          </a:p>
          <a:p>
            <a:pPr indent="-142240" lvl="1" marL="7429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Process integration – change the process to use fewer people, each with broader responsibilities</a:t>
            </a:r>
            <a:endParaRPr sz="1800"/>
          </a:p>
          <a:p>
            <a:pPr indent="-142240" lvl="1" marL="7429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Parallelization – change the process so that individual step are performed simultaneously</a:t>
            </a:r>
            <a:endParaRPr sz="1800"/>
          </a:p>
          <a:p>
            <a:pPr indent="-27940" lvl="0" marL="285750" rtl="0" algn="l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1800"/>
          </a:p>
        </p:txBody>
      </p:sp>
      <p:sp>
        <p:nvSpPr>
          <p:cNvPr id="252" name="Google Shape;252;p16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rbel"/>
                <a:ea typeface="Corbel"/>
                <a:cs typeface="Corbel"/>
                <a:sym typeface="Corbel"/>
              </a:rPr>
              <a:t>Activity-Based Costing</a:t>
            </a:r>
            <a:endParaRPr/>
          </a:p>
        </p:txBody>
      </p:sp>
      <p:sp>
        <p:nvSpPr>
          <p:cNvPr id="259" name="Google Shape;259;p17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Calculate cost of each process step</a:t>
            </a:r>
            <a:endParaRPr/>
          </a:p>
          <a:p>
            <a:pPr indent="-294640" lvl="0" marL="285750" rtl="0" algn="l"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Consider both direct and indirect costs</a:t>
            </a:r>
            <a:endParaRPr/>
          </a:p>
          <a:p>
            <a:pPr indent="-294640" lvl="0" marL="285750" rtl="0" algn="l"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Identify most costly steps and focus improvement efforts on them</a:t>
            </a:r>
            <a:endParaRPr sz="3200"/>
          </a:p>
        </p:txBody>
      </p:sp>
      <p:sp>
        <p:nvSpPr>
          <p:cNvPr id="260" name="Google Shape;260;p17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Benchmarking</a:t>
            </a:r>
            <a:endParaRPr/>
          </a:p>
        </p:txBody>
      </p:sp>
      <p:sp>
        <p:nvSpPr>
          <p:cNvPr descr="Rectangle: Click to edit Master text styles&#10;Second level&#10;Third level&#10;Fourth level&#10;Fifth level" id="268" name="Google Shape;268;p18"/>
          <p:cNvSpPr txBox="1"/>
          <p:nvPr/>
        </p:nvSpPr>
        <p:spPr>
          <a:xfrm>
            <a:off x="571500" y="1676400"/>
            <a:ext cx="80391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Studying how other organizations perform the same business process</a:t>
            </a:r>
            <a:endParaRPr/>
          </a:p>
          <a:p>
            <a:pPr indent="-294640" lvl="0" marL="285750" marR="0" rtl="0" algn="l"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Informal benchmarking</a:t>
            </a:r>
            <a:endParaRPr/>
          </a:p>
          <a:p>
            <a:pPr indent="-294640" lvl="0" marL="285750" marR="0" rtl="0" algn="l"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Common for customer-facing processes</a:t>
            </a:r>
            <a:endParaRPr/>
          </a:p>
          <a:p>
            <a:pPr indent="-294640" lvl="0" marL="285750" marR="0" rtl="0" algn="l"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Interact with other business’ processes as if you are a customer</a:t>
            </a:r>
            <a:endParaRPr/>
          </a:p>
          <a:p>
            <a:pPr indent="0" lvl="0" marL="285750" marR="0" rtl="0" algn="l"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Rectangle: Click to edit Master text styles&#10;Second level&#10;Third level&#10;Fourth level&#10;Fifth level" id="269" name="Google Shape;269;p18"/>
          <p:cNvSpPr/>
          <p:nvPr/>
        </p:nvSpPr>
        <p:spPr>
          <a:xfrm>
            <a:off x="914400" y="3429000"/>
            <a:ext cx="55626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1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ECFF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 txBox="1"/>
          <p:nvPr>
            <p:ph idx="12" type="sldNum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4 - 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6" name="Google Shape;276;p19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Technology Analysis</a:t>
            </a:r>
            <a:endParaRPr/>
          </a:p>
        </p:txBody>
      </p:sp>
      <p:sp>
        <p:nvSpPr>
          <p:cNvPr descr="Rectangle: Click to edit Master text styles&#10;Second level&#10;Third level&#10;Fourth level&#10;Fifth level" id="277" name="Google Shape;277;p19"/>
          <p:cNvSpPr txBox="1"/>
          <p:nvPr>
            <p:ph idx="1" type="body"/>
          </p:nvPr>
        </p:nvSpPr>
        <p:spPr>
          <a:xfrm>
            <a:off x="762000" y="1855788"/>
            <a:ext cx="81618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Analysts list important and interesting technologies</a:t>
            </a:r>
            <a:endParaRPr/>
          </a:p>
          <a:p>
            <a:pPr indent="-285750" lvl="0" marL="2857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Managers list important and interesting technologies</a:t>
            </a:r>
            <a:endParaRPr/>
          </a:p>
          <a:p>
            <a:pPr indent="-285750" lvl="0" marL="2857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group identifies how each might be applied to the business and how the business might benefit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"/>
          <p:cNvSpPr txBox="1"/>
          <p:nvPr>
            <p:ph idx="12" type="sldNum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4 - 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4" name="Google Shape;284;p20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Activity Elimination</a:t>
            </a:r>
            <a:endParaRPr/>
          </a:p>
        </p:txBody>
      </p:sp>
      <p:sp>
        <p:nvSpPr>
          <p:cNvPr descr="Rectangle: Click to edit Master text styles&#10;Second level&#10;Third level&#10;Fourth level&#10;Fifth level" id="285" name="Google Shape;285;p20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Identify what would happen if each organizational activity were eliminated</a:t>
            </a:r>
            <a:endParaRPr/>
          </a:p>
          <a:p>
            <a:pPr indent="-285750" lvl="0" marL="2857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Use “force-fit” to test all possibilities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/>
          <p:nvPr>
            <p:ph idx="12" type="sldNum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4 - 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1" name="Google Shape;291;p21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Comparing Analysis Techniques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292" name="Google Shape;292;p21"/>
          <p:cNvSpPr txBox="1"/>
          <p:nvPr>
            <p:ph idx="1" type="body"/>
          </p:nvPr>
        </p:nvSpPr>
        <p:spPr>
          <a:xfrm>
            <a:off x="982133" y="1678542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94640" lvl="0" marL="285750" rtl="0" algn="l"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Potential business value</a:t>
            </a:r>
            <a:endParaRPr/>
          </a:p>
          <a:p>
            <a:pPr indent="-294640" lvl="0" marL="285750" rtl="0" algn="l"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Project cost</a:t>
            </a:r>
            <a:endParaRPr/>
          </a:p>
          <a:p>
            <a:pPr indent="-294640" lvl="0" marL="285750" rtl="0" algn="l"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Breadth of analysis</a:t>
            </a:r>
            <a:endParaRPr/>
          </a:p>
          <a:p>
            <a:pPr indent="-294640" lvl="0" marL="285750" rtl="0" algn="l"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Risk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2"/>
          <p:cNvSpPr txBox="1"/>
          <p:nvPr>
            <p:ph idx="1" type="body"/>
          </p:nvPr>
        </p:nvSpPr>
        <p:spPr>
          <a:xfrm>
            <a:off x="982133" y="4114800"/>
            <a:ext cx="7857067" cy="2285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830"/>
              <a:buNone/>
            </a:pPr>
            <a:r>
              <a:rPr lang="en-US" sz="5400"/>
              <a:t>Thank you</a:t>
            </a:r>
            <a:endParaRPr/>
          </a:p>
        </p:txBody>
      </p:sp>
      <p:sp>
        <p:nvSpPr>
          <p:cNvPr id="299" name="Google Shape;299;p22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racU Them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1999-03-22T21:30:00Z</dcterms:created>
  <dc:creator>Fred Niederman</dc:creator>
</cp:coreProperties>
</file>