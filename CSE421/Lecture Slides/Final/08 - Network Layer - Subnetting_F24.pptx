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Corbel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5ciI/oql7HdX01eNHlzrPeO/S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regular.fntdata"/><Relationship Id="rId11" Type="http://schemas.openxmlformats.org/officeDocument/2006/relationships/slide" Target="slides/slide7.xml"/><Relationship Id="rId22" Type="http://schemas.openxmlformats.org/officeDocument/2006/relationships/font" Target="fonts/Corbel-italic.fntdata"/><Relationship Id="rId10" Type="http://schemas.openxmlformats.org/officeDocument/2006/relationships/slide" Target="slides/slide6.xml"/><Relationship Id="rId21" Type="http://schemas.openxmlformats.org/officeDocument/2006/relationships/font" Target="fonts/Corbel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Subnets are designed by accepting bits from the IP address's host part and using these bits to assign a number of smaller sub-networks inside the original network. 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Allows an organization to add sub-networks without the need to acquire a new network number via the Internet service provider (ISP).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3fa41cc16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63fa41cc16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2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2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2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2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2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2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2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2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26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26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29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0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1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1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2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3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3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4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1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1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1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1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1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1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Subnetting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8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366050" y="1743150"/>
            <a:ext cx="10018800" cy="33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IPv4 Exhaustion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Solution to the depletion of IPv4 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Types of Subnetting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4280"/>
              <a:buChar char="•"/>
            </a:pPr>
            <a:r>
              <a:rPr lang="en-US" sz="3200"/>
              <a:t>Examples </a:t>
            </a:r>
            <a:endParaRPr sz="32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 Exhaustion</a:t>
            </a:r>
            <a:endParaRPr/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4349" y="1066799"/>
            <a:ext cx="6528825" cy="25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4124" y="1886250"/>
            <a:ext cx="5567226" cy="49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4700" y="3973750"/>
            <a:ext cx="3207625" cy="21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Solutions</a:t>
            </a:r>
            <a:endParaRPr/>
          </a:p>
        </p:txBody>
      </p:sp>
      <p:sp>
        <p:nvSpPr>
          <p:cNvPr id="171" name="Google Shape;171;p4"/>
          <p:cNvSpPr txBox="1"/>
          <p:nvPr>
            <p:ph idx="1" type="body"/>
          </p:nvPr>
        </p:nvSpPr>
        <p:spPr>
          <a:xfrm>
            <a:off x="1484300" y="1066800"/>
            <a:ext cx="10018800" cy="3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Long term:</a:t>
            </a:r>
            <a:endParaRPr sz="27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Change to IP version 6.</a:t>
            </a:r>
            <a:endParaRPr sz="23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Plenty of addresses using a different scheme</a:t>
            </a:r>
            <a:endParaRPr sz="2300"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Short term:</a:t>
            </a:r>
            <a:endParaRPr sz="27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Use </a:t>
            </a:r>
            <a:r>
              <a:rPr b="1" lang="en-US" sz="2300"/>
              <a:t>Subnetting </a:t>
            </a:r>
            <a:r>
              <a:rPr lang="en-US" sz="2300"/>
              <a:t> to avoid wasting addresses</a:t>
            </a:r>
            <a:endParaRPr sz="2300"/>
          </a:p>
          <a:p>
            <a:pPr indent="-304800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Use </a:t>
            </a:r>
            <a:r>
              <a:rPr b="1" lang="en-US" sz="2300"/>
              <a:t>private addresses </a:t>
            </a:r>
            <a:r>
              <a:rPr lang="en-US" sz="2300"/>
              <a:t>locally and </a:t>
            </a:r>
            <a:r>
              <a:rPr b="1" lang="en-US" sz="2300"/>
              <a:t>NAT</a:t>
            </a:r>
            <a:r>
              <a:rPr lang="en-US" sz="2300"/>
              <a:t> for internet access – lets many host share a few public addresses</a:t>
            </a:r>
            <a:endParaRPr sz="2300"/>
          </a:p>
          <a:p>
            <a:pPr indent="0" lvl="0" marL="9144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300"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700"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2692" y="4472696"/>
            <a:ext cx="4390025" cy="18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Subnetting</a:t>
            </a:r>
            <a:endParaRPr/>
          </a:p>
        </p:txBody>
      </p:sp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1591838" y="1304557"/>
            <a:ext cx="10018800" cy="2186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Partition a single physical network into more than one smaller logical sub-networks (subnets). 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D28CD"/>
                </a:solidFill>
              </a:rPr>
              <a:t>Borrow bits </a:t>
            </a:r>
            <a:r>
              <a:rPr lang="en-US"/>
              <a:t>from </a:t>
            </a:r>
            <a:r>
              <a:rPr b="1" lang="en-US">
                <a:solidFill>
                  <a:srgbClr val="7D28CD"/>
                </a:solidFill>
              </a:rPr>
              <a:t>the IP address's host part </a:t>
            </a:r>
            <a:endParaRPr b="1">
              <a:solidFill>
                <a:srgbClr val="7D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 these bits to create a number of smaller sub-networks inside the original network. 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737" y="3728671"/>
            <a:ext cx="7238551" cy="20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Subnetting</a:t>
            </a:r>
            <a:endParaRPr/>
          </a:p>
        </p:txBody>
      </p:sp>
      <p:sp>
        <p:nvSpPr>
          <p:cNvPr id="187" name="Google Shape;187;p6"/>
          <p:cNvSpPr txBox="1"/>
          <p:nvPr>
            <p:ph idx="1" type="body"/>
          </p:nvPr>
        </p:nvSpPr>
        <p:spPr>
          <a:xfrm>
            <a:off x="1484310" y="1673470"/>
            <a:ext cx="10018713" cy="1966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600"/>
              <a:t>Two methods of subnetting</a:t>
            </a:r>
            <a:endParaRPr sz="36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Fixed Length Subnet Masking</a:t>
            </a:r>
            <a:endParaRPr sz="32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3200"/>
              <a:t>Variable Length Masking</a:t>
            </a:r>
            <a:endParaRPr sz="3200"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Fixed length subnetting</a:t>
            </a:r>
            <a:endParaRPr/>
          </a:p>
        </p:txBody>
      </p:sp>
      <p:sp>
        <p:nvSpPr>
          <p:cNvPr id="194" name="Google Shape;194;p7"/>
          <p:cNvSpPr txBox="1"/>
          <p:nvPr>
            <p:ph idx="1" type="body"/>
          </p:nvPr>
        </p:nvSpPr>
        <p:spPr>
          <a:xfrm>
            <a:off x="1484300" y="1066800"/>
            <a:ext cx="100188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network addresses do you need for the organization? </a:t>
            </a:r>
            <a:endParaRPr/>
          </a:p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network addresses do you have?</a:t>
            </a:r>
            <a:endParaRPr/>
          </a:p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bits do you have for hosts? </a:t>
            </a:r>
            <a:endParaRPr/>
          </a:p>
          <a:p>
            <a:pPr indent="-228598" lvl="1" marL="7429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many host bits do you need to borrow to create the number of sub networks that you need? </a:t>
            </a:r>
            <a:endParaRPr/>
          </a:p>
          <a:p>
            <a:pPr indent="-6477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697"/>
              <a:buNone/>
            </a:pPr>
            <a:r>
              <a:t/>
            </a:r>
            <a:endParaRPr sz="1860"/>
          </a:p>
        </p:txBody>
      </p:sp>
      <p:pic>
        <p:nvPicPr>
          <p:cNvPr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939" y="3023400"/>
            <a:ext cx="7222917" cy="36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 txBox="1"/>
          <p:nvPr/>
        </p:nvSpPr>
        <p:spPr>
          <a:xfrm>
            <a:off x="2704658" y="3087476"/>
            <a:ext cx="156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Banani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6909762" y="4819085"/>
            <a:ext cx="157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Khulna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3591166" y="5814600"/>
            <a:ext cx="1813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Motijheel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 Hosts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9055325" y="1369625"/>
            <a:ext cx="23352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200.20.20.0/24</a:t>
            </a:r>
            <a:endParaRPr b="1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340050" y="3128700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267550" y="287175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461308" y="3087476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535150" y="4875057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285660" y="2958974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587708" y="5091052"/>
            <a:ext cx="1950900" cy="16752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665656" y="4025609"/>
            <a:ext cx="2335200" cy="1066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498394" y="347550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9907300" y="1127900"/>
            <a:ext cx="433500" cy="4908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1" i="0" sz="23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6483575" y="1694800"/>
            <a:ext cx="1024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8 bits</a:t>
            </a:r>
            <a:endParaRPr b="1" i="0" sz="22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3571550" y="2495700"/>
            <a:ext cx="1024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 bits</a:t>
            </a:r>
            <a:endParaRPr b="1" i="0" sz="22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Fixed Length Subnetting: Example</a:t>
            </a:r>
            <a:endParaRPr/>
          </a:p>
        </p:txBody>
      </p:sp>
      <p:pic>
        <p:nvPicPr>
          <p:cNvPr id="217" name="Google Shape;2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lsm01.jpg" id="218" name="Google Shape;2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6315" y="1066799"/>
            <a:ext cx="6045200" cy="5494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1992315" y="32003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192.168.80.0/27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7097715" y="18287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192.168.80.32/27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2830515" y="54863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192.168.80.64/27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7326315" y="5410199"/>
            <a:ext cx="22098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192.168.80.96/27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7402515" y="3733799"/>
            <a:ext cx="24384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192.168.80.128/27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287715" y="2514599"/>
            <a:ext cx="24384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192.168.80.160/27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5268915" y="1142999"/>
            <a:ext cx="24384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192.168.80.192/27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269290" y="1219199"/>
            <a:ext cx="2438400" cy="400050"/>
          </a:xfrm>
          <a:prstGeom prst="rect">
            <a:avLst/>
          </a:prstGeom>
          <a:solidFill>
            <a:srgbClr val="A26818"/>
          </a:solidFill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192.168.80.0/24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Lots of Waste!</a:t>
            </a:r>
            <a:endParaRPr/>
          </a:p>
        </p:txBody>
      </p:sp>
      <p:sp>
        <p:nvSpPr>
          <p:cNvPr id="232" name="Google Shape;232;p12"/>
          <p:cNvSpPr txBox="1"/>
          <p:nvPr>
            <p:ph idx="1" type="body"/>
          </p:nvPr>
        </p:nvSpPr>
        <p:spPr>
          <a:xfrm>
            <a:off x="1484300" y="1066800"/>
            <a:ext cx="10018800" cy="2152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Char char="•"/>
            </a:pPr>
            <a:r>
              <a:rPr b="1" lang="en-US" sz="2700"/>
              <a:t>Problem of Fixed Subnetting:</a:t>
            </a:r>
            <a:endParaRPr sz="2700"/>
          </a:p>
          <a:p>
            <a:pPr indent="-3048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Waste IPv4 addresses.</a:t>
            </a:r>
            <a:endParaRPr/>
          </a:p>
          <a:p>
            <a:pPr indent="-3048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For example : Router3 –Router2 Network requires 2 IP addresses.</a:t>
            </a:r>
            <a:endParaRPr/>
          </a:p>
          <a:p>
            <a:pPr indent="-3048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2300"/>
              <a:t>How many is available? How many wasted?</a:t>
            </a:r>
            <a:endParaRPr/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300"/>
          </a:p>
        </p:txBody>
      </p:sp>
      <p:pic>
        <p:nvPicPr>
          <p:cNvPr id="233" name="Google Shape;23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2"/>
          <p:cNvSpPr txBox="1"/>
          <p:nvPr/>
        </p:nvSpPr>
        <p:spPr>
          <a:xfrm>
            <a:off x="2105452" y="4907263"/>
            <a:ext cx="6966300" cy="16747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FF"/>
              </a:buClr>
              <a:buSzPts val="378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Solutions:</a:t>
            </a:r>
            <a:endParaRPr b="0" i="0" sz="27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Variable Length Subnet Masking (VLSM)</a:t>
            </a:r>
            <a:endParaRPr b="1" i="0" sz="23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1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Create subnets as per specific host requirements.</a:t>
            </a:r>
            <a:endParaRPr b="0" i="0" sz="21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514408" y="3348010"/>
            <a:ext cx="6096000" cy="1764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If you are using private addresses, then you may not be bothered.</a:t>
            </a:r>
            <a:endParaRPr/>
          </a:p>
          <a:p>
            <a:pPr indent="-3048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2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Waste of public addresses does matter.</a:t>
            </a:r>
            <a:endParaRPr/>
          </a:p>
          <a:p>
            <a:pPr indent="-1016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516" y="2499029"/>
            <a:ext cx="4396153" cy="189840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/>
          <p:nvPr/>
        </p:nvSpPr>
        <p:spPr>
          <a:xfrm>
            <a:off x="8995252" y="2881084"/>
            <a:ext cx="1686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200.20.20.192/26</a:t>
            </a:r>
            <a:endParaRPr b="0" i="0" sz="1600" u="none" cap="none" strike="noStrike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323443" y="2962489"/>
            <a:ext cx="453970" cy="4001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62</a:t>
            </a:r>
            <a:endParaRPr b="0" i="0" sz="20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840352" y="2947900"/>
            <a:ext cx="453970" cy="4001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20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</a:t>
            </a:r>
            <a:endParaRPr/>
          </a:p>
        </p:txBody>
      </p:sp>
      <p:sp>
        <p:nvSpPr>
          <p:cNvPr id="245" name="Google Shape;245;p9"/>
          <p:cNvSpPr txBox="1"/>
          <p:nvPr>
            <p:ph idx="1" type="body"/>
          </p:nvPr>
        </p:nvSpPr>
        <p:spPr>
          <a:xfrm>
            <a:off x="1484263" y="1342700"/>
            <a:ext cx="100188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0"/>
              <a:buChar char="•"/>
            </a:pPr>
            <a:r>
              <a:rPr lang="en-US" sz="2500"/>
              <a:t>Also known as </a:t>
            </a:r>
            <a:r>
              <a:rPr b="1" lang="en-US" sz="2500"/>
              <a:t>“Variable Length Subnet Masking”</a:t>
            </a:r>
            <a:endParaRPr sz="25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500"/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 txBox="1"/>
          <p:nvPr/>
        </p:nvSpPr>
        <p:spPr>
          <a:xfrm>
            <a:off x="1691225" y="2108700"/>
            <a:ext cx="8891400" cy="23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31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Assign a block of IP satisfying only that particular LAN.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256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1000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1024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8450" lvl="2" marL="120015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1186C3"/>
              </a:buClr>
              <a:buSzPts val="281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 Hosts?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Assign a block of size 2 IPs!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1842600" y="4867600"/>
            <a:ext cx="90849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Always satisfy the requirements of your biggest LAN and then work your way down to the smallest LAN.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 Example 1</a:t>
            </a:r>
            <a:endParaRPr/>
          </a:p>
        </p:txBody>
      </p:sp>
      <p:pic>
        <p:nvPicPr>
          <p:cNvPr id="254" name="Google Shape;2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lsm05.jpg" id="255" name="Google Shape;2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10" y="1201315"/>
            <a:ext cx="4544457" cy="5036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363fa41cc16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63fa41cc16_1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6596" y="1066799"/>
            <a:ext cx="6778808" cy="200198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63fa41cc16_1_12"/>
          <p:cNvSpPr txBox="1"/>
          <p:nvPr/>
        </p:nvSpPr>
        <p:spPr>
          <a:xfrm>
            <a:off x="3914741" y="3377950"/>
            <a:ext cx="17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192.168.16.0/24</a:t>
            </a:r>
            <a:endParaRPr/>
          </a:p>
        </p:txBody>
      </p:sp>
      <p:sp>
        <p:nvSpPr>
          <p:cNvPr id="263" name="Google Shape;263;g363fa41cc16_1_12"/>
          <p:cNvSpPr txBox="1"/>
          <p:nvPr/>
        </p:nvSpPr>
        <p:spPr>
          <a:xfrm>
            <a:off x="3914741" y="3964582"/>
            <a:ext cx="17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192.168.16.0/25</a:t>
            </a:r>
            <a:endParaRPr/>
          </a:p>
        </p:txBody>
      </p:sp>
      <p:sp>
        <p:nvSpPr>
          <p:cNvPr id="264" name="Google Shape;264;g363fa41cc16_1_12"/>
          <p:cNvSpPr txBox="1"/>
          <p:nvPr/>
        </p:nvSpPr>
        <p:spPr>
          <a:xfrm>
            <a:off x="3914741" y="4657687"/>
            <a:ext cx="19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192.168.16.128/26</a:t>
            </a:r>
            <a:endParaRPr/>
          </a:p>
        </p:txBody>
      </p:sp>
      <p:sp>
        <p:nvSpPr>
          <p:cNvPr id="265" name="Google Shape;265;g363fa41cc16_1_12"/>
          <p:cNvSpPr txBox="1"/>
          <p:nvPr/>
        </p:nvSpPr>
        <p:spPr>
          <a:xfrm>
            <a:off x="6189841" y="3964582"/>
            <a:ext cx="192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192.168.16.128/25</a:t>
            </a:r>
            <a:endParaRPr/>
          </a:p>
        </p:txBody>
      </p:sp>
      <p:sp>
        <p:nvSpPr>
          <p:cNvPr id="266" name="Google Shape;266;g363fa41cc16_1_12"/>
          <p:cNvSpPr txBox="1"/>
          <p:nvPr/>
        </p:nvSpPr>
        <p:spPr>
          <a:xfrm>
            <a:off x="3914741" y="6014311"/>
            <a:ext cx="19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192.168.16.224/30</a:t>
            </a:r>
            <a:endParaRPr/>
          </a:p>
        </p:txBody>
      </p:sp>
      <p:sp>
        <p:nvSpPr>
          <p:cNvPr id="267" name="Google Shape;267;g363fa41cc16_1_12"/>
          <p:cNvSpPr txBox="1"/>
          <p:nvPr/>
        </p:nvSpPr>
        <p:spPr>
          <a:xfrm>
            <a:off x="6189841" y="4654036"/>
            <a:ext cx="19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192.168.16.192/26</a:t>
            </a:r>
            <a:endParaRPr/>
          </a:p>
        </p:txBody>
      </p:sp>
      <p:sp>
        <p:nvSpPr>
          <p:cNvPr id="268" name="Google Shape;268;g363fa41cc16_1_12"/>
          <p:cNvSpPr txBox="1"/>
          <p:nvPr/>
        </p:nvSpPr>
        <p:spPr>
          <a:xfrm>
            <a:off x="3914741" y="5335999"/>
            <a:ext cx="192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192.168.16.192/27</a:t>
            </a:r>
            <a:endParaRPr/>
          </a:p>
        </p:txBody>
      </p:sp>
      <p:sp>
        <p:nvSpPr>
          <p:cNvPr id="269" name="Google Shape;269;g363fa41cc16_1_12"/>
          <p:cNvSpPr txBox="1"/>
          <p:nvPr/>
        </p:nvSpPr>
        <p:spPr>
          <a:xfrm>
            <a:off x="6189841" y="5335999"/>
            <a:ext cx="192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192.168.16.224/27</a:t>
            </a:r>
            <a:endParaRPr/>
          </a:p>
        </p:txBody>
      </p:sp>
      <p:sp>
        <p:nvSpPr>
          <p:cNvPr id="270" name="Google Shape;270;g363fa41cc16_1_12"/>
          <p:cNvSpPr txBox="1"/>
          <p:nvPr/>
        </p:nvSpPr>
        <p:spPr>
          <a:xfrm>
            <a:off x="6192962" y="6014311"/>
            <a:ext cx="19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192.168.16.228/30</a:t>
            </a:r>
            <a:endParaRPr/>
          </a:p>
        </p:txBody>
      </p:sp>
      <p:sp>
        <p:nvSpPr>
          <p:cNvPr id="271" name="Google Shape;271;g363fa41cc16_1_12"/>
          <p:cNvSpPr txBox="1"/>
          <p:nvPr/>
        </p:nvSpPr>
        <p:spPr>
          <a:xfrm>
            <a:off x="6189841" y="3002941"/>
            <a:ext cx="2363100" cy="369300"/>
          </a:xfrm>
          <a:prstGeom prst="rect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Given network address</a:t>
            </a:r>
            <a:endParaRPr/>
          </a:p>
        </p:txBody>
      </p:sp>
      <p:cxnSp>
        <p:nvCxnSpPr>
          <p:cNvPr id="272" name="Google Shape;272;g363fa41cc16_1_12"/>
          <p:cNvCxnSpPr>
            <a:stCxn id="271" idx="1"/>
          </p:cNvCxnSpPr>
          <p:nvPr/>
        </p:nvCxnSpPr>
        <p:spPr>
          <a:xfrm flipH="1">
            <a:off x="5546641" y="3187591"/>
            <a:ext cx="643200" cy="269100"/>
          </a:xfrm>
          <a:prstGeom prst="straightConnector1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g363fa41cc16_1_12"/>
          <p:cNvCxnSpPr>
            <a:stCxn id="262" idx="2"/>
            <a:endCxn id="263" idx="0"/>
          </p:cNvCxnSpPr>
          <p:nvPr/>
        </p:nvCxnSpPr>
        <p:spPr>
          <a:xfrm>
            <a:off x="4766141" y="3747250"/>
            <a:ext cx="0" cy="2172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g363fa41cc16_1_12"/>
          <p:cNvCxnSpPr>
            <a:stCxn id="262" idx="2"/>
            <a:endCxn id="265" idx="0"/>
          </p:cNvCxnSpPr>
          <p:nvPr/>
        </p:nvCxnSpPr>
        <p:spPr>
          <a:xfrm flipH="1" rot="-5400000">
            <a:off x="5850791" y="2662600"/>
            <a:ext cx="217200" cy="2386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g363fa41cc16_1_12"/>
          <p:cNvCxnSpPr>
            <a:stCxn id="265" idx="2"/>
            <a:endCxn id="264" idx="0"/>
          </p:cNvCxnSpPr>
          <p:nvPr/>
        </p:nvCxnSpPr>
        <p:spPr>
          <a:xfrm rot="5400000">
            <a:off x="5853991" y="3359032"/>
            <a:ext cx="323700" cy="227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g363fa41cc16_1_12"/>
          <p:cNvCxnSpPr/>
          <p:nvPr/>
        </p:nvCxnSpPr>
        <p:spPr>
          <a:xfrm flipH="1">
            <a:off x="4872185" y="5023368"/>
            <a:ext cx="2276700" cy="312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g363fa41cc16_1_12"/>
          <p:cNvCxnSpPr/>
          <p:nvPr/>
        </p:nvCxnSpPr>
        <p:spPr>
          <a:xfrm flipH="1">
            <a:off x="4864826" y="5705331"/>
            <a:ext cx="2283000" cy="3090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g363fa41cc16_1_12"/>
          <p:cNvCxnSpPr>
            <a:stCxn id="265" idx="2"/>
            <a:endCxn id="267" idx="0"/>
          </p:cNvCxnSpPr>
          <p:nvPr/>
        </p:nvCxnSpPr>
        <p:spPr>
          <a:xfrm>
            <a:off x="7152541" y="4333882"/>
            <a:ext cx="3300" cy="3201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g363fa41cc16_1_12"/>
          <p:cNvCxnSpPr>
            <a:stCxn id="267" idx="2"/>
            <a:endCxn id="269" idx="0"/>
          </p:cNvCxnSpPr>
          <p:nvPr/>
        </p:nvCxnSpPr>
        <p:spPr>
          <a:xfrm flipH="1">
            <a:off x="7154941" y="5023336"/>
            <a:ext cx="900" cy="3126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0" name="Google Shape;280;g363fa41cc16_1_12"/>
          <p:cNvCxnSpPr>
            <a:stCxn id="269" idx="2"/>
            <a:endCxn id="270" idx="0"/>
          </p:cNvCxnSpPr>
          <p:nvPr/>
        </p:nvCxnSpPr>
        <p:spPr>
          <a:xfrm flipH="1">
            <a:off x="7150591" y="5705299"/>
            <a:ext cx="4200" cy="309000"/>
          </a:xfrm>
          <a:prstGeom prst="straightConnector1">
            <a:avLst/>
          </a:prstGeom>
          <a:noFill/>
          <a:ln cap="flat" cmpd="sng" w="28575">
            <a:solidFill>
              <a:srgbClr val="0C0C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g363fa41cc16_1_12"/>
          <p:cNvCxnSpPr>
            <a:endCxn id="263" idx="1"/>
          </p:cNvCxnSpPr>
          <p:nvPr/>
        </p:nvCxnSpPr>
        <p:spPr>
          <a:xfrm flipH="1" rot="-5400000">
            <a:off x="2290391" y="2524882"/>
            <a:ext cx="2386500" cy="862200"/>
          </a:xfrm>
          <a:prstGeom prst="bentConnector2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" name="Google Shape;282;g363fa41cc16_1_12"/>
          <p:cNvCxnSpPr/>
          <p:nvPr/>
        </p:nvCxnSpPr>
        <p:spPr>
          <a:xfrm flipH="1" rot="-5400000">
            <a:off x="2070392" y="3006253"/>
            <a:ext cx="2828100" cy="870300"/>
          </a:xfrm>
          <a:prstGeom prst="bentConnector3">
            <a:avLst>
              <a:gd fmla="val 99967" name="adj1"/>
            </a:avLst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3" name="Google Shape;283;g363fa41cc16_1_12"/>
          <p:cNvCxnSpPr/>
          <p:nvPr/>
        </p:nvCxnSpPr>
        <p:spPr>
          <a:xfrm flipH="1" rot="-5400000">
            <a:off x="1858436" y="3502159"/>
            <a:ext cx="3249600" cy="872700"/>
          </a:xfrm>
          <a:prstGeom prst="bentConnector3">
            <a:avLst>
              <a:gd fmla="val 100308" name="adj1"/>
            </a:avLst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" name="Google Shape;284;g363fa41cc16_1_12"/>
          <p:cNvCxnSpPr>
            <a:endCxn id="266" idx="1"/>
          </p:cNvCxnSpPr>
          <p:nvPr/>
        </p:nvCxnSpPr>
        <p:spPr>
          <a:xfrm flipH="1" rot="-5400000">
            <a:off x="1674941" y="3959161"/>
            <a:ext cx="3611700" cy="867900"/>
          </a:xfrm>
          <a:prstGeom prst="bentConnector2">
            <a:avLst/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" name="Google Shape;285;g363fa41cc16_1_12"/>
          <p:cNvCxnSpPr>
            <a:endCxn id="270" idx="2"/>
          </p:cNvCxnSpPr>
          <p:nvPr/>
        </p:nvCxnSpPr>
        <p:spPr>
          <a:xfrm>
            <a:off x="2932112" y="2929411"/>
            <a:ext cx="4218600" cy="3454200"/>
          </a:xfrm>
          <a:prstGeom prst="bentConnector4">
            <a:avLst>
              <a:gd fmla="val 38651" name="adj1"/>
              <a:gd fmla="val 106618" name="adj2"/>
            </a:avLst>
          </a:prstGeom>
          <a:noFill/>
          <a:ln cap="flat" cmpd="sng" w="28575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g363fa41cc16_1_12"/>
          <p:cNvSpPr txBox="1"/>
          <p:nvPr/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VLSM Example 1</a:t>
            </a:r>
            <a:endParaRPr sz="4000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VLSM Example 2</a:t>
            </a:r>
            <a:endParaRPr/>
          </a:p>
        </p:txBody>
      </p:sp>
      <p:pic>
        <p:nvPicPr>
          <p:cNvPr id="292" name="Google Shape;2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 txBox="1"/>
          <p:nvPr/>
        </p:nvSpPr>
        <p:spPr>
          <a:xfrm>
            <a:off x="10633869" y="2650928"/>
            <a:ext cx="86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10682393" y="3061678"/>
            <a:ext cx="9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 WANs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9953243" y="3472422"/>
            <a:ext cx="209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 Switched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19200"/>
            <a:ext cx="9898276" cy="48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/>
          <p:nvPr>
            <p:ph type="title"/>
          </p:nvPr>
        </p:nvSpPr>
        <p:spPr>
          <a:xfrm>
            <a:off x="1264503" y="140677"/>
            <a:ext cx="10018713" cy="7737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VLSM Example 2</a:t>
            </a:r>
            <a:endParaRPr/>
          </a:p>
        </p:txBody>
      </p:sp>
      <p:pic>
        <p:nvPicPr>
          <p:cNvPr id="302" name="Google Shape;3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61" y="729763"/>
            <a:ext cx="4473665" cy="278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>
            <p:ph type="title"/>
          </p:nvPr>
        </p:nvSpPr>
        <p:spPr>
          <a:xfrm>
            <a:off x="1346360" y="1665470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308" name="Google Shape;3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