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9144000"/>
  <p:embeddedFontLst>
    <p:embeddedFont>
      <p:font typeface="Corbel"/>
      <p:regular r:id="rId55"/>
      <p:bold r:id="rId56"/>
      <p:italic r:id="rId57"/>
      <p:boldItalic r:id="rId58"/>
    </p:embeddedFont>
    <p:embeddedFont>
      <p:font typeface="Tahoma"/>
      <p:regular r:id="rId59"/>
      <p:bold r:id="rId60"/>
    </p:embeddedFont>
    <p:embeddedFont>
      <p:font typeface="Gill Sans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129sUec2O/9r2fLW12crCpBIA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F9C1CC-8E57-4F05-B7E9-D95DD0486A63}">
  <a:tblStyle styleId="{E6F9C1CC-8E57-4F05-B7E9-D95DD0486A63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illSans-bold.fntdata"/><Relationship Id="rId61" Type="http://schemas.openxmlformats.org/officeDocument/2006/relationships/font" Target="fonts/GillSans-regular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ahom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Corbel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orbel-italic.fntdata"/><Relationship Id="rId12" Type="http://schemas.openxmlformats.org/officeDocument/2006/relationships/slide" Target="slides/slide7.xml"/><Relationship Id="rId56" Type="http://schemas.openxmlformats.org/officeDocument/2006/relationships/font" Target="fonts/Corbel-bold.fntdata"/><Relationship Id="rId15" Type="http://schemas.openxmlformats.org/officeDocument/2006/relationships/slide" Target="slides/slide10.xml"/><Relationship Id="rId59" Type="http://schemas.openxmlformats.org/officeDocument/2006/relationships/font" Target="fonts/Tahoma-regular.fntdata"/><Relationship Id="rId14" Type="http://schemas.openxmlformats.org/officeDocument/2006/relationships/slide" Target="slides/slide9.xml"/><Relationship Id="rId58" Type="http://schemas.openxmlformats.org/officeDocument/2006/relationships/font" Target="fonts/Corbel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87f51a707_2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87f51a707_2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887f51a707_2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</a:pPr>
            <a:r>
              <a:rPr lang="en-US" sz="1200">
                <a:latin typeface="Gill Sans"/>
                <a:ea typeface="Gill Sans"/>
                <a:cs typeface="Gill Sans"/>
                <a:sym typeface="Gill Sans"/>
              </a:rPr>
              <a:t>until information becomes old (times out)</a:t>
            </a: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0" name="Google Shape;9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9" name="Google Shape;10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4" name="Google Shape;12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8" name="Google Shape;136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4" name="Google Shape;139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5" name="Google Shape;139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7" name="Google Shape;140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6" name="Google Shape;14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4" name="Google Shape;149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1" name="Google Shape;15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2" name="Google Shape;15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0" name="Google Shape;167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1" name="Google Shape;167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7" name="Google Shape;173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8" name="Google Shape;17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5" name="Google Shape;18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9" name="Google Shape;195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9" name="Google Shape;202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5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5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5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5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5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5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2" name="Google Shape;42;p5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3" name="Google Shape;43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6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6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6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6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0"/>
          <p:cNvSpPr txBox="1"/>
          <p:nvPr>
            <p:ph idx="1" type="body"/>
          </p:nvPr>
        </p:nvSpPr>
        <p:spPr>
          <a:xfrm rot="5400000">
            <a:off x="4632675" y="-2033941"/>
            <a:ext cx="3721979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5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5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5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5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5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54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8641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4958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300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94335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7592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9" Type="http://schemas.openxmlformats.org/officeDocument/2006/relationships/image" Target="../media/image12.jp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5.jp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jpg"/><Relationship Id="rId4" Type="http://schemas.openxmlformats.org/officeDocument/2006/relationships/image" Target="../media/image35.png"/><Relationship Id="rId5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Relationship Id="rId4" Type="http://schemas.openxmlformats.org/officeDocument/2006/relationships/image" Target="../media/image48.png"/><Relationship Id="rId5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Data Link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CSE421 –Computer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8710638" y="367188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3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000" u="none" cap="none" strike="noStrike">
              <a:solidFill>
                <a:srgbClr val="008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2473835" y="6096495"/>
            <a:ext cx="5378450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All material copyright 1996-2016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J.F Kurose and K.W. Ross,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352" y="6282464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rose7e_cover_small.jpg" id="157" name="Google Shape;1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638" y="325439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/>
          <p:nvPr/>
        </p:nvSpPr>
        <p:spPr>
          <a:xfrm>
            <a:off x="8710638" y="463073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baseline="3000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 edition 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Jim Kurose, Keith Ross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Pearson/Addison Wesley</a:t>
            </a:r>
            <a:b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April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451658" y="715964"/>
            <a:ext cx="6400627" cy="167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Based on Chapter 6</a:t>
            </a:r>
            <a:br>
              <a:rPr b="0" i="0" lang="en-US" sz="48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 Link Layer and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60" name="Google Shape;1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6438" y="2389189"/>
            <a:ext cx="4790122" cy="4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"/>
          <p:cNvSpPr txBox="1"/>
          <p:nvPr/>
        </p:nvSpPr>
        <p:spPr>
          <a:xfrm>
            <a:off x="1451658" y="4989093"/>
            <a:ext cx="6952934" cy="86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47" lvl="0" marL="2857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The slides are adapted from Kurose and Ross, Computer Networks 7th edition, Kurose and Ross.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11121673" y="616743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>
            <p:ph type="title"/>
          </p:nvPr>
        </p:nvSpPr>
        <p:spPr>
          <a:xfrm>
            <a:off x="1428893" y="354013"/>
            <a:ext cx="10018713" cy="53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6: Link layer and LANs</a:t>
            </a:r>
            <a:endParaRPr/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2057401" y="1447800"/>
            <a:ext cx="95163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Objectives:</a:t>
            </a:r>
            <a:r>
              <a:rPr i="1" lang="en-US" sz="4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understand principles behind link layer services: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error detection, correction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sharing a broadcast channel: multiple access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local area networks: Ethernet</a:t>
            </a:r>
            <a:endParaRPr sz="2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2705750" y="1614368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2863223" y="3940595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3600">
                <a:solidFill>
                  <a:srgbClr val="0070C0"/>
                </a:solidFill>
              </a:rPr>
              <a:t>Introduction to Link Layer</a:t>
            </a:r>
            <a:endParaRPr/>
          </a:p>
        </p:txBody>
      </p:sp>
      <p:grpSp>
        <p:nvGrpSpPr>
          <p:cNvPr id="178" name="Google Shape;178;p4"/>
          <p:cNvGrpSpPr/>
          <p:nvPr/>
        </p:nvGrpSpPr>
        <p:grpSpPr>
          <a:xfrm>
            <a:off x="2368694" y="1848562"/>
            <a:ext cx="2854469" cy="3789219"/>
            <a:chOff x="567" y="1933"/>
            <a:chExt cx="1270" cy="1920"/>
          </a:xfrm>
        </p:grpSpPr>
        <p:sp>
          <p:nvSpPr>
            <p:cNvPr id="179" name="Google Shape;179;p4"/>
            <p:cNvSpPr/>
            <p:nvPr/>
          </p:nvSpPr>
          <p:spPr>
            <a:xfrm>
              <a:off x="567" y="2205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67" y="2478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67" y="2750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67" y="3022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5882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567" y="3294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567" y="3566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567" y="1933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567" y="193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567" y="2205"/>
              <a:ext cx="127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567" y="2478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567" y="2750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567" y="3021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567" y="329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567" y="3565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Layer Terminology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410694" y="1066801"/>
            <a:ext cx="5591399" cy="5316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Nodes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hosts and routers</a:t>
            </a:r>
            <a:endParaRPr b="0" i="0" sz="32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wired 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links</a:t>
            </a:r>
            <a:endParaRPr b="1" i="0" sz="3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Frame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layer-2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6472" y="5055545"/>
            <a:ext cx="6314982" cy="155730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data-link layer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 responsible for transferring a datagram from one node to its directly connected 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physically adjacent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node over a link.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815" y="196207"/>
            <a:ext cx="4829508" cy="6307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09" y="9513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9488103" y="1057544"/>
            <a:ext cx="2457599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215631" y="5077009"/>
            <a:ext cx="2071206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2056823" y="94907"/>
            <a:ext cx="7772400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layer: context</a:t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1221515" y="467383"/>
            <a:ext cx="5475949" cy="621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As data moves through a network, it can travel over many types of links.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e.g.,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Ethernet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on first link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frame relay on intermediate links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802.11 on last link</a:t>
            </a:r>
            <a:endParaRPr>
              <a:solidFill>
                <a:srgbClr val="7D28C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Each link uses its own rules (protocols) to send the data</a:t>
            </a:r>
            <a:r>
              <a:rPr lang="en-US" sz="3200"/>
              <a:t>.</a:t>
            </a:r>
            <a:endParaRPr/>
          </a:p>
        </p:txBody>
      </p:sp>
      <p:pic>
        <p:nvPicPr>
          <p:cNvPr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26" y="1121826"/>
            <a:ext cx="5736374" cy="260331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11028219" y="1828800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825345" y="1395271"/>
            <a:ext cx="3103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WAN Protocol : Frame Relay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7595850" y="2064131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8634941" y="2546964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802.11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816" y="868170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0"/>
          <p:cNvSpPr txBox="1"/>
          <p:nvPr>
            <p:ph idx="2" type="body"/>
          </p:nvPr>
        </p:nvSpPr>
        <p:spPr>
          <a:xfrm>
            <a:off x="1054900" y="1215053"/>
            <a:ext cx="5127424" cy="52404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i="1" lang="en-US" sz="22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Transportation analogy: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trip from Home to Cox’s Bazaar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Uber Car :  Home to Dhaka Airport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Plane: Dhaka to Chittagong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Bus: Chittagong to Cox’s Bazaar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tourist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datagram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 segment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communication link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transportation mode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layer protocol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travel agent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routing algorithm</a:t>
            </a:r>
            <a:endParaRPr/>
          </a:p>
          <a:p>
            <a:pPr indent="-11541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0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Vector linear illustration with a cab driving from airport building to the  home. Concept for transfer and taxi service. Car, house and airport  terminal outline icons. Stylish flyer or banner. Stock Vector |" id="227" name="Google Shape;227;p10"/>
          <p:cNvSpPr txBox="1"/>
          <p:nvPr>
            <p:ph type="title"/>
          </p:nvPr>
        </p:nvSpPr>
        <p:spPr>
          <a:xfrm>
            <a:off x="1484313" y="411163"/>
            <a:ext cx="1001871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Analogy</a:t>
            </a:r>
            <a:endParaRPr/>
          </a:p>
        </p:txBody>
      </p:sp>
      <p:sp>
        <p:nvSpPr>
          <p:cNvPr descr="Car icon | Premium Vector" id="228" name="Google Shape;22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10"/>
          <p:cNvGrpSpPr/>
          <p:nvPr/>
        </p:nvGrpSpPr>
        <p:grpSpPr>
          <a:xfrm>
            <a:off x="6387551" y="1716399"/>
            <a:ext cx="3151195" cy="1694040"/>
            <a:chOff x="6387551" y="1716399"/>
            <a:chExt cx="3151195" cy="1694040"/>
          </a:xfrm>
        </p:grpSpPr>
        <p:pic>
          <p:nvPicPr>
            <p:cNvPr descr="Car icon | Premium Vector" id="230" name="Google Shape;23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3415" y="1716399"/>
              <a:ext cx="901755" cy="90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use building home - Real estate &amp; Building Icons" id="231" name="Google Shape;23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7551" y="1735175"/>
              <a:ext cx="864205" cy="864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irport - Free transport icons" id="232" name="Google Shape;23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53350" y="2325043"/>
              <a:ext cx="1085396" cy="108539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3" name="Google Shape;233;p10"/>
            <p:cNvCxnSpPr>
              <a:stCxn id="231" idx="3"/>
              <a:endCxn id="232" idx="1"/>
            </p:cNvCxnSpPr>
            <p:nvPr/>
          </p:nvCxnSpPr>
          <p:spPr>
            <a:xfrm>
              <a:off x="7251756" y="2167278"/>
              <a:ext cx="1201500" cy="7005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4" name="Google Shape;234;p10"/>
          <p:cNvGrpSpPr/>
          <p:nvPr/>
        </p:nvGrpSpPr>
        <p:grpSpPr>
          <a:xfrm>
            <a:off x="8996048" y="2985584"/>
            <a:ext cx="1798357" cy="2245840"/>
            <a:chOff x="8996048" y="2985584"/>
            <a:chExt cx="1798357" cy="2245840"/>
          </a:xfrm>
        </p:grpSpPr>
        <p:pic>
          <p:nvPicPr>
            <p:cNvPr descr="Plane - Free transport icons" id="235" name="Google Shape;23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8235" y="2985584"/>
              <a:ext cx="849710" cy="84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ngladesh chittagong skyline Stock Vector Images - Alamy" id="236" name="Google Shape;23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96048" y="4240944"/>
              <a:ext cx="1798357" cy="9904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7" name="Google Shape;237;p10"/>
            <p:cNvCxnSpPr>
              <a:stCxn id="232" idx="2"/>
              <a:endCxn id="236" idx="0"/>
            </p:cNvCxnSpPr>
            <p:nvPr/>
          </p:nvCxnSpPr>
          <p:spPr>
            <a:xfrm>
              <a:off x="8996048" y="3410439"/>
              <a:ext cx="899100" cy="8304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8" name="Google Shape;238;p10"/>
          <p:cNvGrpSpPr/>
          <p:nvPr/>
        </p:nvGrpSpPr>
        <p:grpSpPr>
          <a:xfrm>
            <a:off x="6721059" y="5231514"/>
            <a:ext cx="3174153" cy="1446377"/>
            <a:chOff x="6721059" y="5231515"/>
            <a:chExt cx="3174153" cy="1446377"/>
          </a:xfrm>
        </p:grpSpPr>
        <p:pic>
          <p:nvPicPr>
            <p:cNvPr descr="Bus - Free transport icons" id="239" name="Google Shape;23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9091" y="5637074"/>
              <a:ext cx="1009144" cy="100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x bazar - Fridge Magnet : Hat Bakso | Rokomari.com" id="240" name="Google Shape;24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21059" y="5509538"/>
              <a:ext cx="1168353" cy="11683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10"/>
            <p:cNvCxnSpPr>
              <a:stCxn id="240" idx="3"/>
              <a:endCxn id="236" idx="2"/>
            </p:cNvCxnSpPr>
            <p:nvPr/>
          </p:nvCxnSpPr>
          <p:spPr>
            <a:xfrm flipH="1" rot="10800000">
              <a:off x="7889412" y="5231515"/>
              <a:ext cx="2005800" cy="8622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erson - Free travel icons" id="242" name="Google Shape;24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35094" y="1437892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3" name="Google Shape;24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3462" y="2850490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4" name="Google Shape;24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7416" y="5442941"/>
            <a:ext cx="439256" cy="4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 rot="2450467">
            <a:off x="7373529" y="2541582"/>
            <a:ext cx="229963" cy="41992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 rot="2450467">
            <a:off x="8674277" y="3774423"/>
            <a:ext cx="239999" cy="44183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 flipH="1" rot="8126559">
            <a:off x="8229824" y="5249665"/>
            <a:ext cx="240517" cy="4601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vel agent - Free travel icons" id="248" name="Google Shape;24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34770" y="656819"/>
            <a:ext cx="1116467" cy="111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56" name="Google Shape;256;p7"/>
          <p:cNvSpPr txBox="1"/>
          <p:nvPr>
            <p:ph idx="1" type="body"/>
          </p:nvPr>
        </p:nvSpPr>
        <p:spPr>
          <a:xfrm>
            <a:off x="884497" y="1192162"/>
            <a:ext cx="6770337" cy="5102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08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Framing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Breaks data into frames (with header + trailer).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“MAC” addresses used in frame headers to identify source, destination devices. </a:t>
            </a:r>
            <a:endParaRPr/>
          </a:p>
          <a:p>
            <a:pPr indent="-64769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access: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Decides how to send a frame to the link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Manages sharing if many devices use the same channel. 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Prevents or controls collisions in multi-user networks.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Sets rules for sending data on the link.</a:t>
            </a:r>
            <a:endParaRPr/>
          </a:p>
          <a:p>
            <a:pPr indent="-11449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85946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1875" y="4143248"/>
            <a:ext cx="4789120" cy="2205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ing in Data Link Layer - GeeksforGeeks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5592" y="1051617"/>
            <a:ext cx="3204925" cy="2474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65" name="Google Shape;2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2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772396" y="1286045"/>
            <a:ext cx="10179460" cy="2399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Reliable delivery between adjacent nodes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Makes sure frames are delivered correctly to the next device.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Seldom used on low bit-error link (fiber, some twisted pair)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Important on wireless links: high error rates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why both link-level and end-end reliability?</a:t>
            </a:r>
            <a:endParaRPr/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1052921" y="4882539"/>
            <a:ext cx="9898935" cy="1518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Manages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speed of data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between sender and receiver.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Prevents the sender from overwhelming the receiver.</a:t>
            </a:r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5711" y="2897815"/>
            <a:ext cx="4106289" cy="189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713" y="10287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 txBox="1"/>
          <p:nvPr>
            <p:ph idx="1" type="body"/>
          </p:nvPr>
        </p:nvSpPr>
        <p:spPr>
          <a:xfrm>
            <a:off x="1021977" y="1371600"/>
            <a:ext cx="8746403" cy="478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detection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detects presence of errors: 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signals sender for retransmission or drops frame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correction: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bit error(s) without resorting to retransmission (there are various protocols)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Full Duplex and Half Duplex: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 </a:t>
            </a:r>
            <a:r>
              <a:rPr b="1" lang="en-US"/>
              <a:t>at the same time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receive, but </a:t>
            </a:r>
            <a:r>
              <a:rPr b="1" lang="en-US"/>
              <a:t>only one at a time</a:t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8"/>
          <p:cNvSpPr txBox="1"/>
          <p:nvPr>
            <p:ph type="title"/>
          </p:nvPr>
        </p:nvSpPr>
        <p:spPr>
          <a:xfrm>
            <a:off x="2057401" y="228600"/>
            <a:ext cx="61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services (more)</a:t>
            </a:r>
            <a:endParaRPr/>
          </a:p>
        </p:txBody>
      </p:sp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Half-Duplex vs Full-Duplex: What are ..." id="280" name="Google Shape;28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lf-Duplex vs Full-Duplex: What are the Differences?"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1149" y="4734131"/>
            <a:ext cx="2689594" cy="1800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7180264" y="2616200"/>
            <a:ext cx="2308225" cy="3028950"/>
          </a:xfrm>
          <a:custGeom>
            <a:rect b="b" l="l" r="r" t="t"/>
            <a:pathLst>
              <a:path extrusionOk="0" h="1908" w="1454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50000">
                <a:schemeClr val="lt1"/>
              </a:gs>
              <a:gs pos="100000">
                <a:srgbClr val="000099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underline_base"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64" y="887414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>
            <p:ph type="title"/>
          </p:nvPr>
        </p:nvSpPr>
        <p:spPr>
          <a:xfrm>
            <a:off x="1908176" y="100013"/>
            <a:ext cx="82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Where is the link layer implemented?</a:t>
            </a:r>
            <a:endParaRPr/>
          </a:p>
        </p:txBody>
      </p:sp>
      <p:sp>
        <p:nvSpPr>
          <p:cNvPr id="290" name="Google Shape;290;p9"/>
          <p:cNvSpPr txBox="1"/>
          <p:nvPr>
            <p:ph idx="1" type="body"/>
          </p:nvPr>
        </p:nvSpPr>
        <p:spPr>
          <a:xfrm>
            <a:off x="1349777" y="1099417"/>
            <a:ext cx="4496592" cy="556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 layer runs in the 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adaptor (NIC)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or chipset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Ethernet card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802.11 (WiFi card)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Provides both link-layer and physical-layer functions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Connects the computer to the network (via system bus)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Combination of hardware, software, firmware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Every device has one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13843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653339" y="2614614"/>
            <a:ext cx="1836737" cy="2401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102600" y="4552951"/>
            <a:ext cx="666750" cy="2825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102601" y="396557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904506" y="4562476"/>
            <a:ext cx="10454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154989" y="3484564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>
            <a:off x="8020050" y="3657600"/>
            <a:ext cx="1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/>
          <p:nvPr/>
        </p:nvCxnSpPr>
        <p:spPr>
          <a:xfrm rot="10800000">
            <a:off x="8415338" y="3665539"/>
            <a:ext cx="0" cy="300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7908926" y="2967038"/>
            <a:ext cx="657225" cy="519112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728076" y="296862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 rot="10800000">
            <a:off x="8212139" y="3487738"/>
            <a:ext cx="1587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9"/>
          <p:cNvCxnSpPr/>
          <p:nvPr/>
        </p:nvCxnSpPr>
        <p:spPr>
          <a:xfrm rot="10800000">
            <a:off x="9085264" y="3489325"/>
            <a:ext cx="1587" cy="171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 txBox="1"/>
          <p:nvPr/>
        </p:nvSpPr>
        <p:spPr>
          <a:xfrm>
            <a:off x="9532939" y="3786189"/>
            <a:ext cx="8867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 flipH="1">
            <a:off x="8415338" y="4273551"/>
            <a:ext cx="12700" cy="3397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8413750" y="4806951"/>
            <a:ext cx="0" cy="366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9"/>
          <p:cNvCxnSpPr/>
          <p:nvPr/>
        </p:nvCxnSpPr>
        <p:spPr>
          <a:xfrm rot="10800000">
            <a:off x="9210675" y="3662364"/>
            <a:ext cx="382588" cy="268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8820151" y="5356225"/>
            <a:ext cx="1273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 rot="10800000">
            <a:off x="9028113" y="4679950"/>
            <a:ext cx="271462" cy="750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7875588" y="3854451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09" name="Google Shape;309;p9"/>
          <p:cNvGrpSpPr/>
          <p:nvPr/>
        </p:nvGrpSpPr>
        <p:grpSpPr>
          <a:xfrm>
            <a:off x="6611939" y="2743200"/>
            <a:ext cx="1470025" cy="2065338"/>
            <a:chOff x="2689" y="1728"/>
            <a:chExt cx="926" cy="1301"/>
          </a:xfrm>
        </p:grpSpPr>
        <p:sp>
          <p:nvSpPr>
            <p:cNvPr id="310" name="Google Shape;310;p9"/>
            <p:cNvSpPr/>
            <p:nvPr/>
          </p:nvSpPr>
          <p:spPr>
            <a:xfrm>
              <a:off x="3225" y="2509"/>
              <a:ext cx="390" cy="520"/>
            </a:xfrm>
            <a:custGeom>
              <a:rect b="b" l="l" r="r" t="t"/>
              <a:pathLst>
                <a:path extrusionOk="0" h="520" w="39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2737" y="1775"/>
              <a:ext cx="489" cy="5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2689" y="1728"/>
              <a:ext cx="57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9"/>
            <p:cNvCxnSpPr/>
            <p:nvPr/>
          </p:nvCxnSpPr>
          <p:spPr>
            <a:xfrm>
              <a:off x="2737" y="18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2737" y="199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2735" y="20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2738" y="2206"/>
              <a:ext cx="484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19" name="Google Shape;319;p9"/>
            <p:cNvCxnSpPr/>
            <p:nvPr/>
          </p:nvCxnSpPr>
          <p:spPr>
            <a:xfrm>
              <a:off x="2738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21" name="Google Shape;321;p9"/>
            <p:cNvSpPr/>
            <p:nvPr/>
          </p:nvSpPr>
          <p:spPr>
            <a:xfrm>
              <a:off x="2737" y="2415"/>
              <a:ext cx="489" cy="52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9"/>
            <p:cNvCxnSpPr/>
            <p:nvPr/>
          </p:nvCxnSpPr>
          <p:spPr>
            <a:xfrm>
              <a:off x="2737" y="252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9"/>
            <p:cNvCxnSpPr/>
            <p:nvPr/>
          </p:nvCxnSpPr>
          <p:spPr>
            <a:xfrm>
              <a:off x="2737" y="2632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9"/>
            <p:cNvCxnSpPr/>
            <p:nvPr/>
          </p:nvCxnSpPr>
          <p:spPr>
            <a:xfrm>
              <a:off x="2735" y="272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2733" y="283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9"/>
            <p:cNvSpPr/>
            <p:nvPr/>
          </p:nvSpPr>
          <p:spPr>
            <a:xfrm>
              <a:off x="2719" y="2390"/>
              <a:ext cx="518" cy="2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8" name="Google Shape;328;p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9"/>
            <p:cNvSpPr/>
            <p:nvPr/>
          </p:nvSpPr>
          <p:spPr>
            <a:xfrm>
              <a:off x="2736" y="1778"/>
              <a:ext cx="490" cy="431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2733" y="2721"/>
              <a:ext cx="489" cy="219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1" y="1122363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1317626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9"/>
          <p:cNvGrpSpPr/>
          <p:nvPr/>
        </p:nvGrpSpPr>
        <p:grpSpPr>
          <a:xfrm>
            <a:off x="6586538" y="5251451"/>
            <a:ext cx="1109662" cy="1095375"/>
            <a:chOff x="-44" y="1473"/>
            <a:chExt cx="981" cy="1105"/>
          </a:xfrm>
        </p:grpSpPr>
        <p:pic>
          <p:nvPicPr>
            <p:cNvPr descr="desktop_computer_stylized_medium" id="335" name="Google Shape;33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37" name="Google Shape;337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 txBox="1"/>
          <p:nvPr>
            <p:ph idx="1" type="body"/>
          </p:nvPr>
        </p:nvSpPr>
        <p:spPr>
          <a:xfrm>
            <a:off x="2057401" y="1371600"/>
            <a:ext cx="8471409" cy="4855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Our objectives</a:t>
            </a:r>
            <a:endParaRPr i="1" sz="44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Link Layer Addressing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Types of MAC Addresses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 within LAN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096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LAN Switch</a:t>
            </a:r>
            <a:endParaRPr/>
          </a:p>
          <a:p>
            <a:pPr indent="-85946" lvl="0" marL="285750" rtl="0" algn="l">
              <a:lnSpc>
                <a:spcPct val="100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 – 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Link Layer Addressing</a:t>
            </a:r>
            <a:endParaRPr/>
          </a:p>
        </p:txBody>
      </p:sp>
      <p:sp>
        <p:nvSpPr>
          <p:cNvPr id="352" name="Google Shape;352;p12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1484310" y="1413164"/>
            <a:ext cx="10018713" cy="5694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b="1"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MAC address (Media Access Control address)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is a unique identifier assigned to a network interface card (NIC) or adaptor.</a:t>
            </a:r>
            <a:endParaRPr b="1" sz="2800"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Layer: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Works at the </a:t>
            </a:r>
            <a:r>
              <a:rPr b="1" lang="en-US" sz="2800">
                <a:latin typeface="Gill Sans"/>
                <a:ea typeface="Gill Sans"/>
                <a:cs typeface="Gill Sans"/>
                <a:sym typeface="Gill Sans"/>
              </a:rPr>
              <a:t>Data-Link Layer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(Layer 2 of the OSI model).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Purpose: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Used for hop to hop communication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Uniqueness: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Each device’s NIC has a unique MAC address worldwide.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Format: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48 bits (6 bytes), usually written as 6 pairs of hex numbers separated by colons or hyphens.</a:t>
            </a:r>
            <a:endParaRPr/>
          </a:p>
          <a:p>
            <a:pPr indent="-220980" lvl="1" marL="7429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1A:2F:BB:76:09:AD</a:t>
            </a:r>
            <a:endParaRPr sz="9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ts val="435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156" y="2972739"/>
            <a:ext cx="1350963" cy="135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idx="1" type="body"/>
          </p:nvPr>
        </p:nvSpPr>
        <p:spPr>
          <a:xfrm>
            <a:off x="1484310" y="1543592"/>
            <a:ext cx="4895055" cy="4857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35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IP address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32 bits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Dotted decimal notation</a:t>
            </a:r>
            <a:endParaRPr/>
          </a:p>
          <a:p>
            <a:pPr indent="-255508" lvl="1" marL="7429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3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192.168.10.1</a:t>
            </a:r>
            <a:endParaRPr sz="32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i="1" lang="en-US" sz="3000">
                <a:latin typeface="Gill Sans"/>
                <a:ea typeface="Gill Sans"/>
                <a:cs typeface="Gill Sans"/>
                <a:sym typeface="Gill Sans"/>
              </a:rPr>
              <a:t>Network-layer</a:t>
            </a: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Hierarchical</a:t>
            </a:r>
            <a:endParaRPr/>
          </a:p>
          <a:p>
            <a:pPr indent="-238474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Not portable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6493666" y="1131024"/>
            <a:ext cx="5445785" cy="5113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rPr b="0" i="0" lang="en-US" sz="35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12 Hexadecimal digits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b="0" i="0" lang="en-US" sz="36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Link-layer</a:t>
            </a: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Flat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portable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7305" lvl="0" marL="285750" marR="0" rtl="0" algn="l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9" name="Google Shape;369;p1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 vs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70" name="Google Shape;3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079" y="2121071"/>
            <a:ext cx="4514944" cy="107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02" y="1743809"/>
            <a:ext cx="5496201" cy="462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9977" y="4271162"/>
            <a:ext cx="4493046" cy="15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1203174" y="1306565"/>
            <a:ext cx="10479024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7313950" y="3370217"/>
            <a:ext cx="37446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hexadecimal (base 16) 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(each “numeral” represents 4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82" name="Google Shape;3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210697" y="2121071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5" name="Google Shape;385;p15"/>
          <p:cNvGrpSpPr/>
          <p:nvPr/>
        </p:nvGrpSpPr>
        <p:grpSpPr>
          <a:xfrm>
            <a:off x="7589520" y="1510058"/>
            <a:ext cx="1569405" cy="757130"/>
            <a:chOff x="7589520" y="1510058"/>
            <a:chExt cx="1569405" cy="757130"/>
          </a:xfrm>
        </p:grpSpPr>
        <p:sp>
          <p:nvSpPr>
            <p:cNvPr id="386" name="Google Shape;386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8" name="Google Shape;388;p15"/>
          <p:cNvSpPr/>
          <p:nvPr/>
        </p:nvSpPr>
        <p:spPr>
          <a:xfrm>
            <a:off x="9228697" y="2143715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9" name="Google Shape;389;p15"/>
          <p:cNvGrpSpPr/>
          <p:nvPr/>
        </p:nvGrpSpPr>
        <p:grpSpPr>
          <a:xfrm>
            <a:off x="9607520" y="1532702"/>
            <a:ext cx="1569405" cy="757130"/>
            <a:chOff x="7589520" y="1510058"/>
            <a:chExt cx="1569405" cy="757130"/>
          </a:xfrm>
        </p:grpSpPr>
        <p:sp>
          <p:nvSpPr>
            <p:cNvPr id="390" name="Google Shape;390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87f51a707_25_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887f51a707_25_0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887f51a707_25_0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887f51a707_25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6547428" cy="224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>
            <p:ph idx="1" type="body"/>
          </p:nvPr>
        </p:nvSpPr>
        <p:spPr>
          <a:xfrm>
            <a:off x="1091762" y="3311281"/>
            <a:ext cx="10018713" cy="305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Unicast vs. Multicast Bit (Last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200">
                <a:latin typeface="Gill Sans"/>
                <a:ea typeface="Gill Sans"/>
                <a:cs typeface="Gill Sans"/>
                <a:sym typeface="Gill Sans"/>
              </a:rPr>
              <a:t>who the MAC address is meant for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0</a:t>
            </a:r>
            <a:r>
              <a:rPr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unicast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address belongs to one single device.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multicast.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frame is delivered to a group of devices. </a:t>
            </a:r>
            <a:endParaRPr sz="3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09" name="Google Shape;40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5" name="Google Shape;4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5448300" cy="186721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>
            <p:ph idx="1" type="body"/>
          </p:nvPr>
        </p:nvSpPr>
        <p:spPr>
          <a:xfrm>
            <a:off x="1119471" y="3015762"/>
            <a:ext cx="10499874" cy="377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Globally Unique vs. Locally Administered (Second-last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400">
                <a:latin typeface="Gill Sans"/>
                <a:ea typeface="Gill Sans"/>
                <a:cs typeface="Gill Sans"/>
                <a:sym typeface="Gill Sans"/>
              </a:rPr>
              <a:t>who gave the address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the bit = 0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assigned by the manufacturer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The MAC address is guaranteed to be </a:t>
            </a:r>
            <a:r>
              <a:rPr b="1" lang="en-US" sz="22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Globally Unique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the bit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changed manually</a:t>
            </a:r>
            <a:r>
              <a:rPr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(by an admin or software).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Used when you want to override the default.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new address is not unique worldwide but works inside the local network.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502" y="1151388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 txBox="1"/>
          <p:nvPr>
            <p:ph type="title"/>
          </p:nvPr>
        </p:nvSpPr>
        <p:spPr>
          <a:xfrm>
            <a:off x="2482082" y="9490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or LAN  or Physical or Ethernet addresses (more)</a:t>
            </a:r>
            <a:endParaRPr/>
          </a:p>
        </p:txBody>
      </p:sp>
      <p:sp>
        <p:nvSpPr>
          <p:cNvPr id="426" name="Google Shape;426;p14"/>
          <p:cNvSpPr txBox="1"/>
          <p:nvPr>
            <p:ph idx="1" type="body"/>
          </p:nvPr>
        </p:nvSpPr>
        <p:spPr>
          <a:xfrm>
            <a:off x="1608999" y="1568010"/>
            <a:ext cx="10018713" cy="5195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 allocation administered by IEEE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Manufacturer buys portion of MAC address space (to assure uniqueness)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Analogy: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National ID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Postal Address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Types of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33" name="Google Shape;4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16"/>
          <p:cNvGrpSpPr/>
          <p:nvPr/>
        </p:nvGrpSpPr>
        <p:grpSpPr>
          <a:xfrm>
            <a:off x="3555081" y="1150287"/>
            <a:ext cx="5081843" cy="5418667"/>
            <a:chOff x="1523079" y="-1"/>
            <a:chExt cx="5081841" cy="5418667"/>
          </a:xfrm>
        </p:grpSpPr>
        <p:sp>
          <p:nvSpPr>
            <p:cNvPr id="435" name="Google Shape;435;p16"/>
            <p:cNvSpPr/>
            <p:nvPr/>
          </p:nvSpPr>
          <p:spPr>
            <a:xfrm>
              <a:off x="2552625" y="2709333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6"/>
            <p:cNvSpPr txBox="1"/>
            <p:nvPr/>
          </p:nvSpPr>
          <p:spPr>
            <a:xfrm>
              <a:off x="2853982" y="3316465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2552625" y="2663613"/>
              <a:ext cx="67538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2873432" y="2692448"/>
              <a:ext cx="33769" cy="33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2552625" y="1422400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6"/>
            <p:cNvSpPr txBox="1"/>
            <p:nvPr/>
          </p:nvSpPr>
          <p:spPr>
            <a:xfrm>
              <a:off x="2853982" y="2029532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6"/>
            <p:cNvSpPr txBox="1"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75" lIns="41275" spcFirstLastPara="1" rIns="41275" wrap="square" tIns="4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500"/>
                <a:buFont typeface="Corbel"/>
                <a:buNone/>
              </a:pPr>
              <a:r>
                <a:rPr b="0" i="0" lang="en-US" sz="65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MAC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solidFill>
              <a:srgbClr val="FFFF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Unicast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solidFill>
              <a:srgbClr val="EDC38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 txBox="1"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Multicast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solidFill>
              <a:srgbClr val="B1DB9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 txBox="1"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MAC Addresses</a:t>
            </a:r>
            <a:endParaRPr/>
          </a:p>
        </p:txBody>
      </p:sp>
      <p:sp>
        <p:nvSpPr>
          <p:cNvPr id="455" name="Google Shape;455;p17"/>
          <p:cNvSpPr txBox="1"/>
          <p:nvPr>
            <p:ph idx="1" type="body"/>
          </p:nvPr>
        </p:nvSpPr>
        <p:spPr>
          <a:xfrm>
            <a:off x="1484308" y="1114427"/>
            <a:ext cx="10591578" cy="1817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The unique address used when a frame is sent from a single transmitting device to a single destination device.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85" y="2160926"/>
            <a:ext cx="6781629" cy="4506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457" name="Google Shape;4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"/>
          <p:cNvSpPr txBox="1"/>
          <p:nvPr>
            <p:ph idx="1" type="body"/>
          </p:nvPr>
        </p:nvSpPr>
        <p:spPr>
          <a:xfrm>
            <a:off x="1513336" y="1114427"/>
            <a:ext cx="10018713" cy="1454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“ 01-00-5E” in an IPv4 multicast packet 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64" name="Google Shape;4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341" y="2032347"/>
            <a:ext cx="6739041" cy="463515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MAC Addresses</a:t>
            </a:r>
            <a:endParaRPr/>
          </a:p>
        </p:txBody>
      </p:sp>
      <p:pic>
        <p:nvPicPr>
          <p:cNvPr descr="underline_base" id="466" name="Google Shape;4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 MAC Address</a:t>
            </a:r>
            <a:endParaRPr/>
          </a:p>
        </p:txBody>
      </p:sp>
      <p:sp>
        <p:nvSpPr>
          <p:cNvPr id="473" name="Google Shape;473;p19"/>
          <p:cNvSpPr txBox="1"/>
          <p:nvPr>
            <p:ph idx="1" type="body"/>
          </p:nvPr>
        </p:nvSpPr>
        <p:spPr>
          <a:xfrm>
            <a:off x="1484308" y="1332140"/>
            <a:ext cx="10018713" cy="101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A destination MAC address of FF-FF-FF-FF-FF-FF</a:t>
            </a:r>
            <a:endParaRPr/>
          </a:p>
          <a:p>
            <a:pPr indent="-285747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To be processed by all devices in the network</a:t>
            </a:r>
            <a:endParaRPr/>
          </a:p>
          <a:p>
            <a:pPr indent="-47274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descr="underline_base" id="474" name="Google Shape;4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439" y="2090058"/>
            <a:ext cx="7039636" cy="4577442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"/>
          <p:cNvSpPr txBox="1"/>
          <p:nvPr>
            <p:ph type="title"/>
          </p:nvPr>
        </p:nvSpPr>
        <p:spPr>
          <a:xfrm>
            <a:off x="2057400" y="13566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LAN addresses and ARP</a:t>
            </a:r>
            <a:endParaRPr/>
          </a:p>
        </p:txBody>
      </p:sp>
      <p:sp>
        <p:nvSpPr>
          <p:cNvPr id="483" name="Google Shape;483;p20"/>
          <p:cNvSpPr txBox="1"/>
          <p:nvPr/>
        </p:nvSpPr>
        <p:spPr>
          <a:xfrm>
            <a:off x="2109789" y="1309688"/>
            <a:ext cx="68992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adapter on LAN has unique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8442325" y="3890963"/>
            <a:ext cx="958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3676650" y="3262313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86" name="Google Shape;486;p20"/>
          <p:cNvCxnSpPr/>
          <p:nvPr/>
        </p:nvCxnSpPr>
        <p:spPr>
          <a:xfrm>
            <a:off x="2824163" y="3940175"/>
            <a:ext cx="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20"/>
          <p:cNvCxnSpPr/>
          <p:nvPr/>
        </p:nvCxnSpPr>
        <p:spPr>
          <a:xfrm>
            <a:off x="4833938" y="2808289"/>
            <a:ext cx="0" cy="6556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20"/>
          <p:cNvCxnSpPr/>
          <p:nvPr/>
        </p:nvCxnSpPr>
        <p:spPr>
          <a:xfrm rot="10800000">
            <a:off x="5697539" y="4108450"/>
            <a:ext cx="796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0"/>
          <p:cNvCxnSpPr/>
          <p:nvPr/>
        </p:nvCxnSpPr>
        <p:spPr>
          <a:xfrm rot="10800000">
            <a:off x="4795838" y="5113338"/>
            <a:ext cx="0" cy="438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20"/>
          <p:cNvSpPr txBox="1"/>
          <p:nvPr/>
        </p:nvSpPr>
        <p:spPr>
          <a:xfrm>
            <a:off x="5154614" y="2513013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20"/>
          <p:cNvCxnSpPr/>
          <p:nvPr/>
        </p:nvCxnSpPr>
        <p:spPr>
          <a:xfrm rot="10800000">
            <a:off x="4973639" y="2652713"/>
            <a:ext cx="257175" cy="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20"/>
          <p:cNvCxnSpPr/>
          <p:nvPr/>
        </p:nvCxnSpPr>
        <p:spPr>
          <a:xfrm rot="10800000">
            <a:off x="6523038" y="428942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20"/>
          <p:cNvSpPr txBox="1"/>
          <p:nvPr/>
        </p:nvSpPr>
        <p:spPr>
          <a:xfrm>
            <a:off x="6003925" y="4662488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0"/>
          <p:cNvCxnSpPr/>
          <p:nvPr/>
        </p:nvCxnSpPr>
        <p:spPr>
          <a:xfrm rot="10800000">
            <a:off x="4899026" y="5667375"/>
            <a:ext cx="3603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5" name="Google Shape;495;p20"/>
          <p:cNvSpPr txBox="1"/>
          <p:nvPr/>
        </p:nvSpPr>
        <p:spPr>
          <a:xfrm>
            <a:off x="5321301" y="5551488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0"/>
          <p:cNvCxnSpPr/>
          <p:nvPr/>
        </p:nvCxnSpPr>
        <p:spPr>
          <a:xfrm rot="10800000">
            <a:off x="2760663" y="4095751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20"/>
          <p:cNvSpPr txBox="1"/>
          <p:nvPr/>
        </p:nvSpPr>
        <p:spPr>
          <a:xfrm>
            <a:off x="1843088" y="4470400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 txBox="1"/>
          <p:nvPr/>
        </p:nvSpPr>
        <p:spPr>
          <a:xfrm>
            <a:off x="4160838" y="3621089"/>
            <a:ext cx="1085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(wired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8251825" y="3941764"/>
            <a:ext cx="160338" cy="255587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00" name="Google Shape;500;p20"/>
          <p:cNvGrpSpPr/>
          <p:nvPr/>
        </p:nvGrpSpPr>
        <p:grpSpPr>
          <a:xfrm>
            <a:off x="1947864" y="3562351"/>
            <a:ext cx="922337" cy="658813"/>
            <a:chOff x="267" y="2244"/>
            <a:chExt cx="581" cy="415"/>
          </a:xfrm>
        </p:grpSpPr>
        <p:sp>
          <p:nvSpPr>
            <p:cNvPr id="501" name="Google Shape;501;p20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2" name="Google Shape;502;p20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3" name="Google Shape;50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4" name="Google Shape;50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05" name="Google Shape;505;p20"/>
          <p:cNvGrpSpPr/>
          <p:nvPr/>
        </p:nvGrpSpPr>
        <p:grpSpPr>
          <a:xfrm>
            <a:off x="4268788" y="5559425"/>
            <a:ext cx="812800" cy="833438"/>
            <a:chOff x="1729" y="3502"/>
            <a:chExt cx="512" cy="525"/>
          </a:xfrm>
        </p:grpSpPr>
        <p:sp>
          <p:nvSpPr>
            <p:cNvPr id="506" name="Google Shape;506;p20"/>
            <p:cNvSpPr/>
            <p:nvPr/>
          </p:nvSpPr>
          <p:spPr>
            <a:xfrm>
              <a:off x="2021" y="3502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7" name="Google Shape;507;p20"/>
            <p:cNvGrpSpPr/>
            <p:nvPr/>
          </p:nvGrpSpPr>
          <p:grpSpPr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8" name="Google Shape;50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0" name="Google Shape;510;p20"/>
          <p:cNvGrpSpPr/>
          <p:nvPr/>
        </p:nvGrpSpPr>
        <p:grpSpPr>
          <a:xfrm>
            <a:off x="4294188" y="2025650"/>
            <a:ext cx="812800" cy="776288"/>
            <a:chOff x="1745" y="1276"/>
            <a:chExt cx="512" cy="489"/>
          </a:xfrm>
        </p:grpSpPr>
        <p:sp>
          <p:nvSpPr>
            <p:cNvPr id="511" name="Google Shape;511;p20"/>
            <p:cNvSpPr/>
            <p:nvPr/>
          </p:nvSpPr>
          <p:spPr>
            <a:xfrm>
              <a:off x="2039" y="160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2" name="Google Shape;512;p20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3" name="Google Shape;51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5" name="Google Shape;515;p20"/>
          <p:cNvGrpSpPr/>
          <p:nvPr/>
        </p:nvGrpSpPr>
        <p:grpSpPr>
          <a:xfrm>
            <a:off x="6392863" y="3836988"/>
            <a:ext cx="812800" cy="658812"/>
            <a:chOff x="3067" y="2417"/>
            <a:chExt cx="512" cy="415"/>
          </a:xfrm>
        </p:grpSpPr>
        <p:sp>
          <p:nvSpPr>
            <p:cNvPr id="516" name="Google Shape;516;p20"/>
            <p:cNvSpPr/>
            <p:nvPr/>
          </p:nvSpPr>
          <p:spPr>
            <a:xfrm rot="-5400000">
              <a:off x="3162" y="251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7" name="Google Shape;517;p20"/>
            <p:cNvGrpSpPr/>
            <p:nvPr/>
          </p:nvGrpSpPr>
          <p:grpSpPr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8" name="Google Shape;51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pic>
        <p:nvPicPr>
          <p:cNvPr descr="underline_base" id="520" name="Google Shape;5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188" y="953224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sp>
        <p:nvSpPr>
          <p:cNvPr id="529" name="Google Shape;529;p21"/>
          <p:cNvSpPr txBox="1"/>
          <p:nvPr>
            <p:ph idx="1" type="body"/>
          </p:nvPr>
        </p:nvSpPr>
        <p:spPr>
          <a:xfrm>
            <a:off x="7061199" y="1298575"/>
            <a:ext cx="4789475" cy="5318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Mapping _</a:t>
            </a:r>
            <a:r>
              <a:rPr i="1" lang="en-US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IP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 to _</a:t>
            </a:r>
            <a:r>
              <a:rPr i="1" lang="en-US">
                <a:solidFill>
                  <a:srgbClr val="5E9934"/>
                </a:solidFill>
                <a:latin typeface="Gill Sans"/>
                <a:ea typeface="Gill Sans"/>
                <a:cs typeface="Gill Sans"/>
                <a:sym typeface="Gill Sans"/>
              </a:rPr>
              <a:t>MAC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____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ARP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TTL (Time To Live) Or Age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time after which address mapping will be forgotten (typically 20 min)</a:t>
            </a:r>
            <a:endParaRPr/>
          </a:p>
        </p:txBody>
      </p:sp>
      <p:grpSp>
        <p:nvGrpSpPr>
          <p:cNvPr id="530" name="Google Shape;530;p21"/>
          <p:cNvGrpSpPr/>
          <p:nvPr/>
        </p:nvGrpSpPr>
        <p:grpSpPr>
          <a:xfrm>
            <a:off x="1930399" y="1298575"/>
            <a:ext cx="4789475" cy="1277938"/>
            <a:chOff x="145" y="937"/>
            <a:chExt cx="2612" cy="805"/>
          </a:xfrm>
        </p:grpSpPr>
        <p:sp>
          <p:nvSpPr>
            <p:cNvPr id="531" name="Google Shape;531;p21"/>
            <p:cNvSpPr txBox="1"/>
            <p:nvPr/>
          </p:nvSpPr>
          <p:spPr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Question: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how to determine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interface’s MAC address, knowing its IP address?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145" y="937"/>
              <a:ext cx="2609" cy="805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33" name="Google Shape;533;p21"/>
          <p:cNvSpPr/>
          <p:nvPr/>
        </p:nvSpPr>
        <p:spPr>
          <a:xfrm>
            <a:off x="3324226" y="3944939"/>
            <a:ext cx="1393825" cy="1525587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34" name="Google Shape;534;p21"/>
          <p:cNvCxnSpPr/>
          <p:nvPr/>
        </p:nvCxnSpPr>
        <p:spPr>
          <a:xfrm>
            <a:off x="2881313" y="4449763"/>
            <a:ext cx="476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21"/>
          <p:cNvCxnSpPr/>
          <p:nvPr/>
        </p:nvCxnSpPr>
        <p:spPr>
          <a:xfrm>
            <a:off x="4111625" y="3606800"/>
            <a:ext cx="0" cy="488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1"/>
          <p:cNvCxnSpPr/>
          <p:nvPr/>
        </p:nvCxnSpPr>
        <p:spPr>
          <a:xfrm rot="10800000">
            <a:off x="4700589" y="4575175"/>
            <a:ext cx="4476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21"/>
          <p:cNvCxnSpPr/>
          <p:nvPr/>
        </p:nvCxnSpPr>
        <p:spPr>
          <a:xfrm rot="10800000">
            <a:off x="4086225" y="5322889"/>
            <a:ext cx="0" cy="327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21"/>
          <p:cNvSpPr txBox="1"/>
          <p:nvPr/>
        </p:nvSpPr>
        <p:spPr>
          <a:xfrm>
            <a:off x="4330701" y="3386138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1"/>
          <p:cNvCxnSpPr/>
          <p:nvPr/>
        </p:nvCxnSpPr>
        <p:spPr>
          <a:xfrm rot="10800000">
            <a:off x="4202114" y="3538538"/>
            <a:ext cx="204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0" name="Google Shape;540;p21"/>
          <p:cNvCxnSpPr/>
          <p:nvPr/>
        </p:nvCxnSpPr>
        <p:spPr>
          <a:xfrm rot="10800000">
            <a:off x="5157788" y="465137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1" name="Google Shape;541;p21"/>
          <p:cNvSpPr txBox="1"/>
          <p:nvPr/>
        </p:nvSpPr>
        <p:spPr>
          <a:xfrm>
            <a:off x="4711700" y="4953000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1"/>
          <p:cNvCxnSpPr/>
          <p:nvPr/>
        </p:nvCxnSpPr>
        <p:spPr>
          <a:xfrm rot="10800000">
            <a:off x="4156076" y="5735638"/>
            <a:ext cx="2460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1"/>
          <p:cNvSpPr txBox="1"/>
          <p:nvPr/>
        </p:nvSpPr>
        <p:spPr>
          <a:xfrm>
            <a:off x="4340226" y="5578475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21"/>
          <p:cNvCxnSpPr/>
          <p:nvPr/>
        </p:nvCxnSpPr>
        <p:spPr>
          <a:xfrm rot="10800000">
            <a:off x="2844800" y="4552950"/>
            <a:ext cx="0" cy="3317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5" name="Google Shape;545;p21"/>
          <p:cNvSpPr txBox="1"/>
          <p:nvPr/>
        </p:nvSpPr>
        <p:spPr>
          <a:xfrm>
            <a:off x="1690688" y="4811713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 txBox="1"/>
          <p:nvPr/>
        </p:nvSpPr>
        <p:spPr>
          <a:xfrm>
            <a:off x="3536950" y="4430713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1"/>
          <p:cNvSpPr txBox="1"/>
          <p:nvPr/>
        </p:nvSpPr>
        <p:spPr>
          <a:xfrm>
            <a:off x="1887538" y="366553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21"/>
          <p:cNvCxnSpPr/>
          <p:nvPr/>
        </p:nvCxnSpPr>
        <p:spPr>
          <a:xfrm>
            <a:off x="2533650" y="3921126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9" name="Google Shape;549;p21"/>
          <p:cNvSpPr txBox="1"/>
          <p:nvPr/>
        </p:nvSpPr>
        <p:spPr>
          <a:xfrm>
            <a:off x="4468813" y="298767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1"/>
          <p:cNvCxnSpPr/>
          <p:nvPr/>
        </p:nvCxnSpPr>
        <p:spPr>
          <a:xfrm rot="10800000">
            <a:off x="4298950" y="3125788"/>
            <a:ext cx="234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1"/>
          <p:cNvCxnSpPr/>
          <p:nvPr/>
        </p:nvCxnSpPr>
        <p:spPr>
          <a:xfrm>
            <a:off x="5478463" y="4121151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2" name="Google Shape;552;p21"/>
          <p:cNvSpPr txBox="1"/>
          <p:nvPr/>
        </p:nvSpPr>
        <p:spPr>
          <a:xfrm>
            <a:off x="4868863" y="388778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21"/>
          <p:cNvCxnSpPr/>
          <p:nvPr/>
        </p:nvCxnSpPr>
        <p:spPr>
          <a:xfrm>
            <a:off x="3660776" y="6002338"/>
            <a:ext cx="231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1"/>
          <p:cNvSpPr txBox="1"/>
          <p:nvPr/>
        </p:nvSpPr>
        <p:spPr>
          <a:xfrm>
            <a:off x="2479676" y="5848350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 rot="-5400000">
            <a:off x="5183982" y="4482307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56" name="Google Shape;556;p21"/>
          <p:cNvGrpSpPr/>
          <p:nvPr/>
        </p:nvGrpSpPr>
        <p:grpSpPr>
          <a:xfrm>
            <a:off x="5086350" y="4357688"/>
            <a:ext cx="598488" cy="520700"/>
            <a:chOff x="-44" y="1473"/>
            <a:chExt cx="981" cy="1105"/>
          </a:xfrm>
        </p:grpSpPr>
        <p:pic>
          <p:nvPicPr>
            <p:cNvPr descr="desktop_computer_stylized_medium" id="557" name="Google Shape;55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559" name="Google Shape;559;p21"/>
          <p:cNvGrpSpPr/>
          <p:nvPr/>
        </p:nvGrpSpPr>
        <p:grpSpPr>
          <a:xfrm>
            <a:off x="2181226" y="4160838"/>
            <a:ext cx="709613" cy="520700"/>
            <a:chOff x="267" y="2244"/>
            <a:chExt cx="581" cy="415"/>
          </a:xfrm>
        </p:grpSpPr>
        <p:sp>
          <p:nvSpPr>
            <p:cNvPr id="560" name="Google Shape;560;p21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1" name="Google Shape;561;p21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2" name="Google Shape;562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64" name="Google Shape;564;p21"/>
          <p:cNvGrpSpPr/>
          <p:nvPr/>
        </p:nvGrpSpPr>
        <p:grpSpPr>
          <a:xfrm>
            <a:off x="3681414" y="3048000"/>
            <a:ext cx="631825" cy="554038"/>
            <a:chOff x="1745" y="1276"/>
            <a:chExt cx="512" cy="489"/>
          </a:xfrm>
        </p:grpSpPr>
        <p:sp>
          <p:nvSpPr>
            <p:cNvPr id="565" name="Google Shape;565;p21"/>
            <p:cNvSpPr/>
            <p:nvPr/>
          </p:nvSpPr>
          <p:spPr>
            <a:xfrm>
              <a:off x="2040" y="1604"/>
              <a:ext cx="100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6" name="Google Shape;566;p21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7" name="Google Shape;567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8" name="Google Shape;568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569" name="Google Shape;569;p21"/>
          <p:cNvSpPr/>
          <p:nvPr/>
        </p:nvSpPr>
        <p:spPr>
          <a:xfrm>
            <a:off x="4025901" y="5645151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70" name="Google Shape;570;p21"/>
          <p:cNvGrpSpPr/>
          <p:nvPr/>
        </p:nvGrpSpPr>
        <p:grpSpPr>
          <a:xfrm>
            <a:off x="3690938" y="5784850"/>
            <a:ext cx="584200" cy="469900"/>
            <a:chOff x="-44" y="1473"/>
            <a:chExt cx="981" cy="1105"/>
          </a:xfrm>
        </p:grpSpPr>
        <p:pic>
          <p:nvPicPr>
            <p:cNvPr descr="desktop_computer_stylized_medium" id="571" name="Google Shape;57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73" name="Google Shape;573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ARP Tables</a:t>
            </a:r>
            <a:endParaRPr/>
          </a:p>
        </p:txBody>
      </p:sp>
      <p:pic>
        <p:nvPicPr>
          <p:cNvPr id="579" name="Google Shape;5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538" y="1097699"/>
            <a:ext cx="6672720" cy="278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03271"/>
            <a:ext cx="10668000" cy="170576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2"/>
          <p:cNvSpPr txBox="1"/>
          <p:nvPr/>
        </p:nvSpPr>
        <p:spPr>
          <a:xfrm>
            <a:off x="3933372" y="3880051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Host or 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 txBox="1"/>
          <p:nvPr/>
        </p:nvSpPr>
        <p:spPr>
          <a:xfrm>
            <a:off x="4020457" y="6139183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583" name="Google Shape;5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90" name="Google Shape;5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cxnSp>
        <p:nvCxnSpPr>
          <p:cNvPr id="592" name="Google Shape;592;p23"/>
          <p:cNvCxnSpPr/>
          <p:nvPr/>
        </p:nvCxnSpPr>
        <p:spPr>
          <a:xfrm>
            <a:off x="3897936" y="5134567"/>
            <a:ext cx="346334" cy="80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3" name="Google Shape;593;p23"/>
          <p:cNvSpPr/>
          <p:nvPr/>
        </p:nvSpPr>
        <p:spPr>
          <a:xfrm rot="-5400000">
            <a:off x="5821580" y="3442722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4455394" y="4813878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95" name="Google Shape;595;p23"/>
          <p:cNvGrpSpPr/>
          <p:nvPr/>
        </p:nvGrpSpPr>
        <p:grpSpPr>
          <a:xfrm>
            <a:off x="1565996" y="1689100"/>
            <a:ext cx="5804621" cy="3870325"/>
            <a:chOff x="1690688" y="2987675"/>
            <a:chExt cx="4760912" cy="3267075"/>
          </a:xfrm>
        </p:grpSpPr>
        <p:cxnSp>
          <p:nvCxnSpPr>
            <p:cNvPr id="596" name="Google Shape;596;p23"/>
            <p:cNvCxnSpPr/>
            <p:nvPr/>
          </p:nvCxnSpPr>
          <p:spPr>
            <a:xfrm>
              <a:off x="2881313" y="4449763"/>
              <a:ext cx="476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23"/>
            <p:cNvCxnSpPr/>
            <p:nvPr/>
          </p:nvCxnSpPr>
          <p:spPr>
            <a:xfrm rot="10800000">
              <a:off x="4700589" y="4575175"/>
              <a:ext cx="447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3"/>
            <p:cNvCxnSpPr/>
            <p:nvPr/>
          </p:nvCxnSpPr>
          <p:spPr>
            <a:xfrm rot="10800000">
              <a:off x="4086225" y="5322889"/>
              <a:ext cx="0" cy="327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9" name="Google Shape;599;p23"/>
            <p:cNvGrpSpPr/>
            <p:nvPr/>
          </p:nvGrpSpPr>
          <p:grpSpPr>
            <a:xfrm>
              <a:off x="1690688" y="2987675"/>
              <a:ext cx="4760912" cy="3267075"/>
              <a:chOff x="1690688" y="2987675"/>
              <a:chExt cx="4760912" cy="3267075"/>
            </a:xfrm>
          </p:grpSpPr>
          <p:cxnSp>
            <p:nvCxnSpPr>
              <p:cNvPr id="600" name="Google Shape;600;p23"/>
              <p:cNvCxnSpPr/>
              <p:nvPr/>
            </p:nvCxnSpPr>
            <p:spPr>
              <a:xfrm rot="10800000">
                <a:off x="4202114" y="3538538"/>
                <a:ext cx="2047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1" name="Google Shape;601;p23"/>
              <p:cNvCxnSpPr/>
              <p:nvPr/>
            </p:nvCxnSpPr>
            <p:spPr>
              <a:xfrm rot="10800000">
                <a:off x="5157788" y="4651376"/>
                <a:ext cx="0" cy="373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2" name="Google Shape;602;p23"/>
              <p:cNvCxnSpPr/>
              <p:nvPr/>
            </p:nvCxnSpPr>
            <p:spPr>
              <a:xfrm rot="10800000">
                <a:off x="4156076" y="5735638"/>
                <a:ext cx="246063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3" name="Google Shape;603;p23"/>
              <p:cNvCxnSpPr/>
              <p:nvPr/>
            </p:nvCxnSpPr>
            <p:spPr>
              <a:xfrm rot="10800000">
                <a:off x="2844800" y="4552950"/>
                <a:ext cx="0" cy="331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4" name="Google Shape;604;p23"/>
              <p:cNvCxnSpPr/>
              <p:nvPr/>
            </p:nvCxnSpPr>
            <p:spPr>
              <a:xfrm>
                <a:off x="2533650" y="3921126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5" name="Google Shape;605;p23"/>
              <p:cNvCxnSpPr/>
              <p:nvPr/>
            </p:nvCxnSpPr>
            <p:spPr>
              <a:xfrm rot="10800000">
                <a:off x="4298950" y="3125788"/>
                <a:ext cx="2349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6" name="Google Shape;606;p23"/>
              <p:cNvCxnSpPr/>
              <p:nvPr/>
            </p:nvCxnSpPr>
            <p:spPr>
              <a:xfrm>
                <a:off x="5478463" y="4121151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grpSp>
            <p:nvGrpSpPr>
              <p:cNvPr id="607" name="Google Shape;607;p23"/>
              <p:cNvGrpSpPr/>
              <p:nvPr/>
            </p:nvGrpSpPr>
            <p:grpSpPr>
              <a:xfrm>
                <a:off x="1690688" y="2987675"/>
                <a:ext cx="4760912" cy="3267075"/>
                <a:chOff x="1690688" y="2987675"/>
                <a:chExt cx="4760912" cy="3267075"/>
              </a:xfrm>
            </p:grpSpPr>
            <p:sp>
              <p:nvSpPr>
                <p:cNvPr id="608" name="Google Shape;608;p23"/>
                <p:cNvSpPr/>
                <p:nvPr/>
              </p:nvSpPr>
              <p:spPr>
                <a:xfrm>
                  <a:off x="3324226" y="3944939"/>
                  <a:ext cx="1393825" cy="1525587"/>
                </a:xfrm>
                <a:custGeom>
                  <a:rect b="b" l="l" r="r" t="t"/>
                  <a:pathLst>
                    <a:path extrusionOk="0" h="1255" w="1292">
                      <a:moveTo>
                        <a:pt x="239" y="7"/>
                      </a:moveTo>
                      <a:cubicBezTo>
                        <a:pt x="120" y="14"/>
                        <a:pt x="70" y="71"/>
                        <a:pt x="35" y="157"/>
                      </a:cubicBezTo>
                      <a:cubicBezTo>
                        <a:pt x="0" y="243"/>
                        <a:pt x="26" y="411"/>
                        <a:pt x="29" y="523"/>
                      </a:cubicBezTo>
                      <a:cubicBezTo>
                        <a:pt x="32" y="635"/>
                        <a:pt x="17" y="771"/>
                        <a:pt x="53" y="829"/>
                      </a:cubicBezTo>
                      <a:cubicBezTo>
                        <a:pt x="89" y="887"/>
                        <a:pt x="146" y="821"/>
                        <a:pt x="245" y="871"/>
                      </a:cubicBezTo>
                      <a:cubicBezTo>
                        <a:pt x="344" y="921"/>
                        <a:pt x="522" y="1068"/>
                        <a:pt x="647" y="1129"/>
                      </a:cubicBezTo>
                      <a:cubicBezTo>
                        <a:pt x="772" y="1190"/>
                        <a:pt x="903" y="1255"/>
                        <a:pt x="995" y="1237"/>
                      </a:cubicBezTo>
                      <a:cubicBezTo>
                        <a:pt x="1087" y="1219"/>
                        <a:pt x="1153" y="1153"/>
                        <a:pt x="1199" y="1021"/>
                      </a:cubicBezTo>
                      <a:cubicBezTo>
                        <a:pt x="1245" y="889"/>
                        <a:pt x="1270" y="580"/>
                        <a:pt x="1271" y="445"/>
                      </a:cubicBezTo>
                      <a:cubicBezTo>
                        <a:pt x="1272" y="310"/>
                        <a:pt x="1292" y="266"/>
                        <a:pt x="1205" y="211"/>
                      </a:cubicBezTo>
                      <a:cubicBezTo>
                        <a:pt x="1118" y="156"/>
                        <a:pt x="908" y="150"/>
                        <a:pt x="749" y="115"/>
                      </a:cubicBezTo>
                      <a:cubicBezTo>
                        <a:pt x="590" y="80"/>
                        <a:pt x="358" y="0"/>
                        <a:pt x="239" y="7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609" name="Google Shape;609;p23"/>
                <p:cNvCxnSpPr/>
                <p:nvPr/>
              </p:nvCxnSpPr>
              <p:spPr>
                <a:xfrm>
                  <a:off x="4111625" y="3606800"/>
                  <a:ext cx="0" cy="4889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10" name="Google Shape;610;p23"/>
                <p:cNvSpPr txBox="1"/>
                <p:nvPr/>
              </p:nvSpPr>
              <p:spPr>
                <a:xfrm>
                  <a:off x="4330701" y="3386138"/>
                  <a:ext cx="178117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1A-2F-BB-76-09-AD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23"/>
                <p:cNvSpPr txBox="1"/>
                <p:nvPr/>
              </p:nvSpPr>
              <p:spPr>
                <a:xfrm>
                  <a:off x="4711700" y="4953000"/>
                  <a:ext cx="17399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58-23-D7-FA-20-B0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23"/>
                <p:cNvSpPr txBox="1"/>
                <p:nvPr/>
              </p:nvSpPr>
              <p:spPr>
                <a:xfrm>
                  <a:off x="4340226" y="5578475"/>
                  <a:ext cx="174942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0C-C4-11-6F-E3-98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23"/>
                <p:cNvSpPr txBox="1"/>
                <p:nvPr/>
              </p:nvSpPr>
              <p:spPr>
                <a:xfrm>
                  <a:off x="1690688" y="4811713"/>
                  <a:ext cx="16891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71-65-F7-2B-08-53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3"/>
                <p:cNvSpPr txBox="1"/>
                <p:nvPr/>
              </p:nvSpPr>
              <p:spPr>
                <a:xfrm>
                  <a:off x="1887538" y="366553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137.196.7.23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p23"/>
                <p:cNvSpPr txBox="1"/>
                <p:nvPr/>
              </p:nvSpPr>
              <p:spPr>
                <a:xfrm>
                  <a:off x="4468813" y="2987675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137.196.7.78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23"/>
                <p:cNvSpPr txBox="1"/>
                <p:nvPr/>
              </p:nvSpPr>
              <p:spPr>
                <a:xfrm>
                  <a:off x="4868863" y="388778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137.196.7.14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23"/>
                <p:cNvSpPr txBox="1"/>
                <p:nvPr/>
              </p:nvSpPr>
              <p:spPr>
                <a:xfrm>
                  <a:off x="2631672" y="5814759"/>
                  <a:ext cx="121761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137.196.7.88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8" name="Google Shape;618;p23"/>
                <p:cNvGrpSpPr/>
                <p:nvPr/>
              </p:nvGrpSpPr>
              <p:grpSpPr>
                <a:xfrm>
                  <a:off x="5086350" y="4357688"/>
                  <a:ext cx="598488" cy="520700"/>
                  <a:chOff x="-44" y="1473"/>
                  <a:chExt cx="981" cy="1105"/>
                </a:xfrm>
              </p:grpSpPr>
              <p:pic>
                <p:nvPicPr>
                  <p:cNvPr descr="desktop_computer_stylized_medium" id="619" name="Google Shape;619;p2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0" name="Google Shape;620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grpSp>
              <p:nvGrpSpPr>
                <p:cNvPr id="621" name="Google Shape;621;p23"/>
                <p:cNvGrpSpPr/>
                <p:nvPr/>
              </p:nvGrpSpPr>
              <p:grpSpPr>
                <a:xfrm>
                  <a:off x="2181226" y="4160838"/>
                  <a:ext cx="709613" cy="520700"/>
                  <a:chOff x="267" y="2244"/>
                  <a:chExt cx="581" cy="415"/>
                </a:xfrm>
              </p:grpSpPr>
              <p:sp>
                <p:nvSpPr>
                  <p:cNvPr id="622" name="Google Shape;622;p23"/>
                  <p:cNvSpPr/>
                  <p:nvPr/>
                </p:nvSpPr>
                <p:spPr>
                  <a:xfrm rot="-5400000">
                    <a:off x="717" y="2400"/>
                    <a:ext cx="101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3" name="Google Shape;623;p23"/>
                  <p:cNvGrpSpPr/>
                  <p:nvPr/>
                </p:nvGrpSpPr>
                <p:grpSpPr>
                  <a:xfrm>
                    <a:off x="267" y="2244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4" name="Google Shape;624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25" name="Google Shape;625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26" name="Google Shape;626;p23"/>
                <p:cNvGrpSpPr/>
                <p:nvPr/>
              </p:nvGrpSpPr>
              <p:grpSpPr>
                <a:xfrm>
                  <a:off x="3681414" y="3048000"/>
                  <a:ext cx="631825" cy="554038"/>
                  <a:chOff x="1745" y="1276"/>
                  <a:chExt cx="512" cy="489"/>
                </a:xfrm>
              </p:grpSpPr>
              <p:sp>
                <p:nvSpPr>
                  <p:cNvPr id="627" name="Google Shape;627;p23"/>
                  <p:cNvSpPr/>
                  <p:nvPr/>
                </p:nvSpPr>
                <p:spPr>
                  <a:xfrm>
                    <a:off x="2040" y="1604"/>
                    <a:ext cx="100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8" name="Google Shape;628;p23"/>
                  <p:cNvGrpSpPr/>
                  <p:nvPr/>
                </p:nvGrpSpPr>
                <p:grpSpPr>
                  <a:xfrm>
                    <a:off x="1745" y="1276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9" name="Google Shape;629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30" name="Google Shape;630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31" name="Google Shape;631;p23"/>
                <p:cNvGrpSpPr/>
                <p:nvPr/>
              </p:nvGrpSpPr>
              <p:grpSpPr>
                <a:xfrm>
                  <a:off x="3690938" y="5784850"/>
                  <a:ext cx="584200" cy="469900"/>
                  <a:chOff x="-44" y="1473"/>
                  <a:chExt cx="981" cy="1105"/>
                </a:xfrm>
              </p:grpSpPr>
              <p:pic>
                <p:nvPicPr>
                  <p:cNvPr descr="desktop_computer_stylized_medium" id="632" name="Google Shape;632;p2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3" name="Google Shape;633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</p:grpSp>
        </p:grpSp>
      </p:grpSp>
      <p:sp>
        <p:nvSpPr>
          <p:cNvPr id="634" name="Google Shape;634;p23"/>
          <p:cNvSpPr txBox="1"/>
          <p:nvPr/>
        </p:nvSpPr>
        <p:spPr>
          <a:xfrm>
            <a:off x="3937008" y="3327288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2507906" y="3092043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5998974" y="334131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637" name="Google Shape;637;p23"/>
          <p:cNvGraphicFramePr/>
          <p:nvPr/>
        </p:nvGraphicFramePr>
        <p:xfrm>
          <a:off x="1590195" y="604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ARP Request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8" name="Google Shape;638;p23"/>
          <p:cNvGraphicFramePr/>
          <p:nvPr/>
        </p:nvGraphicFramePr>
        <p:xfrm>
          <a:off x="1590195" y="55537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58-23-D7-FA-20-B0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ARP Reply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9" name="Google Shape;639;p23"/>
          <p:cNvGraphicFramePr/>
          <p:nvPr/>
        </p:nvGraphicFramePr>
        <p:xfrm>
          <a:off x="1617905" y="6403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ARP Req/Reply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0" name="Google Shape;640;p23"/>
          <p:cNvSpPr/>
          <p:nvPr/>
        </p:nvSpPr>
        <p:spPr>
          <a:xfrm>
            <a:off x="2590439" y="27432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1666267" y="6067100"/>
            <a:ext cx="1789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FF-FF-FF-FF-FF-FF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4041904" y="339342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4153784" y="343618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4235161" y="346217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3875887" y="1661241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 txBox="1"/>
          <p:nvPr/>
        </p:nvSpPr>
        <p:spPr>
          <a:xfrm>
            <a:off x="4718556" y="504269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6572119" y="319976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5508648" y="313805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7370617" y="1820864"/>
            <a:ext cx="40671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/>
          <p:nvPr>
            <p:ph type="title"/>
          </p:nvPr>
        </p:nvSpPr>
        <p:spPr>
          <a:xfrm>
            <a:off x="2057400" y="666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 protocol: same LAN</a:t>
            </a:r>
            <a:endParaRPr/>
          </a:p>
        </p:txBody>
      </p:sp>
      <p:sp>
        <p:nvSpPr>
          <p:cNvPr id="657" name="Google Shape;657;p24"/>
          <p:cNvSpPr txBox="1"/>
          <p:nvPr>
            <p:ph idx="1" type="body"/>
          </p:nvPr>
        </p:nvSpPr>
        <p:spPr>
          <a:xfrm>
            <a:off x="1792436" y="1199140"/>
            <a:ext cx="4037610" cy="5485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31775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B’s MAC address not in A’s ARP table.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broadcasts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ARP query packet, containing B's IP address 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destination MAC address = FF-FF-FF-FF-FF-FF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all nodes on LAN receive ARP query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B receives ARP packet, replies to A with its (B's) MAC address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frame sent to A’s MAC address (unicast)</a:t>
            </a:r>
            <a:endParaRPr/>
          </a:p>
          <a:p>
            <a:pPr indent="-81343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8" name="Google Shape;658;p24"/>
          <p:cNvSpPr txBox="1"/>
          <p:nvPr>
            <p:ph idx="2" type="body"/>
          </p:nvPr>
        </p:nvSpPr>
        <p:spPr>
          <a:xfrm>
            <a:off x="6564307" y="1209675"/>
            <a:ext cx="4934965" cy="534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caches (saves) IP-to-MAC address pair in its ARP table </a:t>
            </a:r>
            <a:endParaRPr/>
          </a:p>
          <a:p>
            <a:pPr indent="-231775" lvl="1" marL="6889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Soft state: information that times out (goes away) unless refreshed</a:t>
            </a:r>
            <a:endParaRPr/>
          </a:p>
          <a:p>
            <a:pPr indent="-257809" lvl="0" marL="231775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ARP is “</a:t>
            </a:r>
            <a:r>
              <a:rPr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plug-and-play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”:</a:t>
            </a:r>
            <a:endParaRPr/>
          </a:p>
          <a:p>
            <a:pPr indent="-220980" lvl="1" marL="68103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nodes create their ARP tables 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without intervention from net administrator</a:t>
            </a:r>
            <a:endParaRPr/>
          </a:p>
        </p:txBody>
      </p:sp>
      <p:pic>
        <p:nvPicPr>
          <p:cNvPr descr="underline_base" id="659" name="Google Shape;6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3" y="8763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"/>
          <p:cNvSpPr txBox="1"/>
          <p:nvPr>
            <p:ph idx="1" type="body"/>
          </p:nvPr>
        </p:nvSpPr>
        <p:spPr>
          <a:xfrm>
            <a:off x="1876425" y="1057274"/>
            <a:ext cx="8675688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focus on addressing – at IP (datagram) and MAC layer (frame)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assume A knows B’s IP address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What will be the destination MAC Address?</a:t>
            </a:r>
            <a:endParaRPr/>
          </a:p>
        </p:txBody>
      </p:sp>
      <p:sp>
        <p:nvSpPr>
          <p:cNvPr id="667" name="Google Shape;667;p25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668" name="Google Shape;668;p25"/>
          <p:cNvGrpSpPr/>
          <p:nvPr/>
        </p:nvGrpSpPr>
        <p:grpSpPr>
          <a:xfrm>
            <a:off x="2096293" y="3451226"/>
            <a:ext cx="9034513" cy="2349500"/>
            <a:chOff x="709613" y="3962400"/>
            <a:chExt cx="9034513" cy="2349500"/>
          </a:xfrm>
        </p:grpSpPr>
        <p:grpSp>
          <p:nvGrpSpPr>
            <p:cNvPr id="669" name="Google Shape;669;p25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70" name="Google Shape;670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671" name="Google Shape;671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2" name="Google Shape;672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673" name="Google Shape;673;p25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674" name="Google Shape;674;p25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675" name="Google Shape;675;p25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76" name="Google Shape;676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677" name="Google Shape;677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8" name="Google Shape;678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679" name="Google Shape;679;p25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0" name="Google Shape;680;p25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5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" name="Google Shape;682;p25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683" name="Google Shape;683;p25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5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5" name="Google Shape;685;p25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5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5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5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690" name="Google Shape;690;p25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25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25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25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4" name="Google Shape;694;p25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5" name="Google Shape;695;p25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96" name="Google Shape;696;p25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97" name="Google Shape;697;p25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25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99" name="Google Shape;699;p25"/>
            <p:cNvGrpSpPr/>
            <p:nvPr/>
          </p:nvGrpSpPr>
          <p:grpSpPr>
            <a:xfrm>
              <a:off x="7373940" y="4845050"/>
              <a:ext cx="2370186" cy="786400"/>
              <a:chOff x="4352" y="2786"/>
              <a:chExt cx="1493" cy="495"/>
            </a:xfrm>
          </p:grpSpPr>
          <p:sp>
            <p:nvSpPr>
              <p:cNvPr id="700" name="Google Shape;700;p25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5"/>
              <p:cNvSpPr txBox="1"/>
              <p:nvPr/>
            </p:nvSpPr>
            <p:spPr>
              <a:xfrm>
                <a:off x="4945" y="2981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02" name="Google Shape;702;p25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25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04" name="Google Shape;704;p25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5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6" name="Google Shape;706;p25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7" name="Google Shape;707;p25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08" name="Google Shape;708;p25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0" name="Google Shape;710;p25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11" name="Google Shape;711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12" name="Google Shape;712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13" name="Google Shape;713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14" name="Google Shape;714;p25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15" name="Google Shape;715;p25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16" name="Google Shape;716;p25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17" name="Google Shape;717;p25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18" name="Google Shape;718;p25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" name="Google Shape;721;p25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722" name="Google Shape;722;p2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723" name="Google Shape;723;p2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724" name="Google Shape;724;p25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5" name="Google Shape;725;p25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26" name="Google Shape;726;p25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728" name="Google Shape;728;p25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29" name="Google Shape;729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30" name="Google Shape;730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31" name="Google Shape;731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732" name="Google Shape;7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3" name="Google Shape;733;p25"/>
          <p:cNvGraphicFramePr/>
          <p:nvPr/>
        </p:nvGraphicFramePr>
        <p:xfrm>
          <a:off x="1894997" y="588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25"/>
          <p:cNvGraphicFramePr/>
          <p:nvPr/>
        </p:nvGraphicFramePr>
        <p:xfrm>
          <a:off x="1904805" y="6305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Packet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5" name="Google Shape;735;p25"/>
          <p:cNvSpPr/>
          <p:nvPr/>
        </p:nvSpPr>
        <p:spPr>
          <a:xfrm>
            <a:off x="3795629" y="5927979"/>
            <a:ext cx="17443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2496343" y="5913564"/>
            <a:ext cx="5116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4069227" y="3162857"/>
            <a:ext cx="4557017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 never forward broadcast packets!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1706153" y="5889140"/>
            <a:ext cx="21573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Gateway’s 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4949825" y="4178027"/>
            <a:ext cx="617638" cy="5156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9807744" y="2135185"/>
            <a:ext cx="2143421" cy="1323439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ARP- To know B’s MAC address as B’s IP address is 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6"/>
          <p:cNvSpPr txBox="1"/>
          <p:nvPr>
            <p:ph idx="1" type="body"/>
          </p:nvPr>
        </p:nvSpPr>
        <p:spPr>
          <a:xfrm>
            <a:off x="1876424" y="1057274"/>
            <a:ext cx="9972686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Does A know the IP address of first hop router, R which is also known as </a:t>
            </a:r>
            <a:r>
              <a:rPr b="1" lang="en-US" sz="4000">
                <a:solidFill>
                  <a:srgbClr val="0070C0"/>
                </a:solidFill>
              </a:rPr>
              <a:t>Default Gateway</a:t>
            </a:r>
            <a:r>
              <a:rPr lang="en-US" sz="4000"/>
              <a:t>?  (how?)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Will A know R’s MAC address?</a:t>
            </a:r>
            <a:endParaRPr/>
          </a:p>
        </p:txBody>
      </p:sp>
      <p:sp>
        <p:nvSpPr>
          <p:cNvPr id="747" name="Google Shape;747;p26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748" name="Google Shape;748;p26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749" name="Google Shape;749;p26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750" name="Google Shape;750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51" name="Google Shape;751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2" name="Google Shape;752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53" name="Google Shape;753;p26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54" name="Google Shape;754;p26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755" name="Google Shape;755;p26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56" name="Google Shape;756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57" name="Google Shape;757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8" name="Google Shape;758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759" name="Google Shape;759;p26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0" name="Google Shape;760;p26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6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" name="Google Shape;762;p26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763" name="Google Shape;763;p26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6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5" name="Google Shape;765;p26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6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6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6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770" name="Google Shape;770;p26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1" name="Google Shape;771;p26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2" name="Google Shape;772;p26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26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4" name="Google Shape;774;p26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5" name="Google Shape;775;p26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76" name="Google Shape;776;p26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7" name="Google Shape;777;p26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8" name="Google Shape;778;p26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9" name="Google Shape;779;p26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780" name="Google Shape;780;p26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6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2" name="Google Shape;782;p26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26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84" name="Google Shape;784;p26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6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6" name="Google Shape;786;p26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26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88" name="Google Shape;788;p26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9" name="Google Shape;789;p26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0" name="Google Shape;790;p26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91" name="Google Shape;791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92" name="Google Shape;792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93" name="Google Shape;793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94" name="Google Shape;794;p26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95" name="Google Shape;795;p26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96" name="Google Shape;796;p26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97" name="Google Shape;797;p26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98" name="Google Shape;798;p26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9" name="Google Shape;799;p26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00" name="Google Shape;800;p26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01" name="Google Shape;801;p26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02" name="Google Shape;802;p26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03" name="Google Shape;803;p26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04" name="Google Shape;804;p26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05" name="Google Shape;805;p26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06" name="Google Shape;806;p26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07" name="Google Shape;807;p26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08" name="Google Shape;808;p26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09" name="Google Shape;809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10" name="Google Shape;810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11" name="Google Shape;811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812" name="Google Shape;81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6"/>
          <p:cNvSpPr txBox="1"/>
          <p:nvPr>
            <p:ph idx="12" type="sldNum"/>
          </p:nvPr>
        </p:nvSpPr>
        <p:spPr>
          <a:xfrm>
            <a:off x="9980155" y="6522366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4" name="Google Shape;814;p26"/>
          <p:cNvSpPr txBox="1"/>
          <p:nvPr>
            <p:ph idx="11" type="ftr"/>
          </p:nvPr>
        </p:nvSpPr>
        <p:spPr>
          <a:xfrm>
            <a:off x="7899497" y="6521552"/>
            <a:ext cx="2177473" cy="241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 Layer and LANs</a:t>
            </a:r>
            <a:endParaRPr/>
          </a:p>
        </p:txBody>
      </p:sp>
      <p:pic>
        <p:nvPicPr>
          <p:cNvPr id="815" name="Google Shape;81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528" y="3143975"/>
            <a:ext cx="5091584" cy="32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6"/>
          <p:cNvSpPr/>
          <p:nvPr/>
        </p:nvSpPr>
        <p:spPr>
          <a:xfrm>
            <a:off x="9259094" y="5993199"/>
            <a:ext cx="1976942" cy="43504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2876898" y="385095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4110229" y="4710300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4178837" y="4725152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5508648" y="4689789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1" name="Google Shape;821;p26"/>
          <p:cNvGraphicFramePr/>
          <p:nvPr/>
        </p:nvGraphicFramePr>
        <p:xfrm>
          <a:off x="2024064" y="6346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{E6F9C1CC-8E57-4F05-B7E9-D95DD0486A63}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74-29-9C-E8-FF-55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sp>
        <p:nvSpPr>
          <p:cNvPr id="822" name="Google Shape;822;p26"/>
          <p:cNvSpPr/>
          <p:nvPr/>
        </p:nvSpPr>
        <p:spPr>
          <a:xfrm>
            <a:off x="2047822" y="6385434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E6-E9-00-17-BB-4B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27"/>
          <p:cNvGrpSpPr/>
          <p:nvPr/>
        </p:nvGrpSpPr>
        <p:grpSpPr>
          <a:xfrm>
            <a:off x="2233613" y="3962400"/>
            <a:ext cx="8661715" cy="2664488"/>
            <a:chOff x="709613" y="3962400"/>
            <a:chExt cx="8661715" cy="2664488"/>
          </a:xfrm>
        </p:grpSpPr>
        <p:grpSp>
          <p:nvGrpSpPr>
            <p:cNvPr id="829" name="Google Shape;829;p27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830" name="Google Shape;830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31" name="Google Shape;831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2" name="Google Shape;832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33" name="Google Shape;833;p27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34" name="Google Shape;834;p27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835" name="Google Shape;835;p27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36" name="Google Shape;836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37" name="Google Shape;837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8" name="Google Shape;838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839" name="Google Shape;839;p27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0" name="Google Shape;840;p27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 txBox="1"/>
            <p:nvPr/>
          </p:nvSpPr>
          <p:spPr>
            <a:xfrm>
              <a:off x="4586300" y="57016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2" name="Google Shape;842;p27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843" name="Google Shape;843;p27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27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7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7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850" name="Google Shape;850;p27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7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7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7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4" name="Google Shape;854;p27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5" name="Google Shape;855;p27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56" name="Google Shape;856;p27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57" name="Google Shape;857;p27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8" name="Google Shape;858;p27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59" name="Google Shape;859;p27"/>
            <p:cNvGrpSpPr/>
            <p:nvPr/>
          </p:nvGrpSpPr>
          <p:grpSpPr>
            <a:xfrm>
              <a:off x="7373951" y="4845050"/>
              <a:ext cx="1997377" cy="743264"/>
              <a:chOff x="4352" y="2786"/>
              <a:chExt cx="1258" cy="468"/>
            </a:xfrm>
          </p:grpSpPr>
          <p:sp>
            <p:nvSpPr>
              <p:cNvPr id="860" name="Google Shape;860;p27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7"/>
              <p:cNvSpPr txBox="1"/>
              <p:nvPr/>
            </p:nvSpPr>
            <p:spPr>
              <a:xfrm>
                <a:off x="4710" y="295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2" name="Google Shape;862;p27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3" name="Google Shape;863;p27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4" name="Google Shape;864;p27"/>
            <p:cNvSpPr txBox="1"/>
            <p:nvPr/>
          </p:nvSpPr>
          <p:spPr>
            <a:xfrm>
              <a:off x="7073900" y="58118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 txBox="1"/>
            <p:nvPr/>
          </p:nvSpPr>
          <p:spPr>
            <a:xfrm>
              <a:off x="7740213" y="6165188"/>
              <a:ext cx="150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6" name="Google Shape;866;p27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27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868" name="Google Shape;868;p27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9" name="Google Shape;869;p27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p27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871" name="Google Shape;871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72" name="Google Shape;872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3" name="Google Shape;873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74" name="Google Shape;874;p27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75" name="Google Shape;875;p27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876" name="Google Shape;876;p27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77" name="Google Shape;877;p27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878" name="Google Shape;878;p27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79" name="Google Shape;879;p27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80" name="Google Shape;880;p27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81" name="Google Shape;881;p27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82" name="Google Shape;882;p27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83" name="Google Shape;883;p27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84" name="Google Shape;884;p27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5" name="Google Shape;885;p27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86" name="Google Shape;886;p27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87" name="Google Shape;887;p27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88" name="Google Shape;888;p27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89" name="Google Shape;889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90" name="Google Shape;890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91" name="Google Shape;891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892" name="Google Shape;892;p27"/>
          <p:cNvSpPr/>
          <p:nvPr/>
        </p:nvSpPr>
        <p:spPr>
          <a:xfrm>
            <a:off x="3911601" y="3086101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3" name="Google Shape;893;p27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894" name="Google Shape;894;p27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895" name="Google Shape;895;p27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7" name="Google Shape;897;p27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8" name="Google Shape;898;p2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9" name="Google Shape;899;p2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0" name="Google Shape;900;p2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27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2" name="Google Shape;902;p27"/>
          <p:cNvGrpSpPr/>
          <p:nvPr/>
        </p:nvGrpSpPr>
        <p:grpSpPr>
          <a:xfrm>
            <a:off x="3417888" y="2643188"/>
            <a:ext cx="2011362" cy="760412"/>
            <a:chOff x="1197" y="1665"/>
            <a:chExt cx="1267" cy="479"/>
          </a:xfrm>
        </p:grpSpPr>
        <p:grpSp>
          <p:nvGrpSpPr>
            <p:cNvPr id="903" name="Google Shape;903;p27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904" name="Google Shape;904;p27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05" name="Google Shape;905;p27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6" name="Google Shape;906;p27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7" name="Google Shape;907;p27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27"/>
          <p:cNvGrpSpPr/>
          <p:nvPr/>
        </p:nvGrpSpPr>
        <p:grpSpPr>
          <a:xfrm>
            <a:off x="3551238" y="2903538"/>
            <a:ext cx="146050" cy="385762"/>
            <a:chOff x="1272" y="1762"/>
            <a:chExt cx="92" cy="243"/>
          </a:xfrm>
        </p:grpSpPr>
        <p:cxnSp>
          <p:nvCxnSpPr>
            <p:cNvPr id="909" name="Google Shape;909;p27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0" name="Google Shape;910;p27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911" name="Google Shape;911;p27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IP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7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link-layer frame with R's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13" name="Google Shape;913;p27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914" name="Google Shape;914;p27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27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16" name="Google Shape;916;p27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917" name="Google Shape;917;p27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18" name="Google Shape;918;p27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9" name="Google Shape;919;p27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0" name="Google Shape;920;p27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" name="Google Shape;921;p27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922" name="Google Shape;922;p27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3" name="Google Shape;923;p27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4" name="Google Shape;924;p27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5" name="Google Shape;925;p27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underline_base" id="926" name="Google Shape;9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28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933" name="Google Shape;933;p28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934" name="Google Shape;934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35" name="Google Shape;935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36" name="Google Shape;936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37" name="Google Shape;937;p28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38" name="Google Shape;938;p28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939" name="Google Shape;939;p28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40" name="Google Shape;940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41" name="Google Shape;941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42" name="Google Shape;942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943" name="Google Shape;943;p28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4" name="Google Shape;944;p28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8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" name="Google Shape;946;p28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947" name="Google Shape;947;p28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28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9" name="Google Shape;949;p28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8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8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8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954" name="Google Shape;954;p28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28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28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28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8" name="Google Shape;958;p28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9" name="Google Shape;959;p28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60" name="Google Shape;960;p28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1" name="Google Shape;961;p28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28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3" name="Google Shape;963;p28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964" name="Google Shape;964;p28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28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66" name="Google Shape;966;p28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28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8" name="Google Shape;968;p28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8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0" name="Google Shape;970;p28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28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972" name="Google Shape;972;p28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3" name="Google Shape;973;p28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4" name="Google Shape;974;p28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975" name="Google Shape;975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76" name="Google Shape;976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7" name="Google Shape;977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78" name="Google Shape;978;p28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79" name="Google Shape;979;p28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980" name="Google Shape;980;p28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81" name="Google Shape;981;p28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982" name="Google Shape;982;p28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3" name="Google Shape;983;p28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4" name="Google Shape;984;p28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85" name="Google Shape;985;p28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986" name="Google Shape;986;p28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987" name="Google Shape;987;p28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988" name="Google Shape;988;p28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9" name="Google Shape;989;p28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90" name="Google Shape;990;p28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91" name="Google Shape;991;p28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992" name="Google Shape;992;p28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93" name="Google Shape;993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94" name="Google Shape;994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5" name="Google Shape;995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96" name="Google Shape;996;p28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997" name="Google Shape;997;p28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998" name="Google Shape;998;p28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0" name="Google Shape;1000;p28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2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2" name="Google Shape;1002;p2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2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28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5" name="Google Shape;1005;p28"/>
          <p:cNvSpPr/>
          <p:nvPr/>
        </p:nvSpPr>
        <p:spPr>
          <a:xfrm>
            <a:off x="2230438" y="10842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sent from A to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6" name="Google Shape;1006;p28"/>
          <p:cNvGrpSpPr/>
          <p:nvPr/>
        </p:nvGrpSpPr>
        <p:grpSpPr>
          <a:xfrm>
            <a:off x="4237038" y="3265489"/>
            <a:ext cx="1096962" cy="244475"/>
            <a:chOff x="1231" y="1990"/>
            <a:chExt cx="691" cy="154"/>
          </a:xfrm>
        </p:grpSpPr>
        <p:sp>
          <p:nvSpPr>
            <p:cNvPr id="1007" name="Google Shape;1007;p28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08" name="Google Shape;1008;p28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28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28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011" name="Google Shape;1011;p28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3" name="Google Shape;1013;p2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4" name="Google Shape;1014;p2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5" name="Google Shape;1015;p2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6" name="Google Shape;1016;p28"/>
          <p:cNvSpPr/>
          <p:nvPr/>
        </p:nvSpPr>
        <p:spPr>
          <a:xfrm>
            <a:off x="2233613" y="14398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received at R, datagram removed, passed up to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28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1018" name="Google Shape;1018;p28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9" name="Google Shape;1019;p28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020" name="Google Shape;1020;p28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21" name="Google Shape;1021;p28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022" name="Google Shape;1022;p28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28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28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28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26" name="Google Shape;1026;p28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7" name="Google Shape;1027;p28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8" name="Google Shape;1028;p28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9" name="Google Shape;1029;p28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0" name="Google Shape;1030;p28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28"/>
          <p:cNvGrpSpPr/>
          <p:nvPr/>
        </p:nvGrpSpPr>
        <p:grpSpPr>
          <a:xfrm>
            <a:off x="4191001" y="2435225"/>
            <a:ext cx="2011363" cy="979488"/>
            <a:chOff x="4493" y="1480"/>
            <a:chExt cx="1267" cy="617"/>
          </a:xfrm>
        </p:grpSpPr>
        <p:cxnSp>
          <p:nvCxnSpPr>
            <p:cNvPr id="1032" name="Google Shape;1032;p28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33" name="Google Shape;1033;p28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4" name="Google Shape;1034;p28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035" name="Google Shape;10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29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042" name="Google Shape;1042;p29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043" name="Google Shape;1043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44" name="Google Shape;1044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45" name="Google Shape;1045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46" name="Google Shape;1046;p29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47" name="Google Shape;1047;p29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048" name="Google Shape;1048;p29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49" name="Google Shape;1049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050" name="Google Shape;1050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51" name="Google Shape;1051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052" name="Google Shape;1052;p29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3" name="Google Shape;1053;p29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9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5" name="Google Shape;1055;p29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056" name="Google Shape;1056;p29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9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29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9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9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9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63" name="Google Shape;1063;p29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29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29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29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7" name="Google Shape;1067;p29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8" name="Google Shape;1068;p29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69" name="Google Shape;1069;p29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0" name="Google Shape;1070;p29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1" name="Google Shape;1071;p29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2" name="Google Shape;1072;p29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073" name="Google Shape;1073;p29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9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75" name="Google Shape;1075;p29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6" name="Google Shape;1076;p29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7" name="Google Shape;1077;p29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9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9" name="Google Shape;1079;p29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0" name="Google Shape;1080;p29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081" name="Google Shape;1081;p29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2" name="Google Shape;1082;p29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3" name="Google Shape;1083;p29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084" name="Google Shape;1084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85" name="Google Shape;1085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6" name="Google Shape;1086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87" name="Google Shape;1087;p29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88" name="Google Shape;1088;p29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089" name="Google Shape;1089;p29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90" name="Google Shape;1090;p29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091" name="Google Shape;1091;p29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2" name="Google Shape;1092;p29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3" name="Google Shape;1093;p29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94" name="Google Shape;1094;p29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095" name="Google Shape;1095;p2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096" name="Google Shape;1096;p29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097" name="Google Shape;1097;p29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98" name="Google Shape;1098;p29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99" name="Google Shape;1099;p29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00" name="Google Shape;1100;p29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101" name="Google Shape;1101;p29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02" name="Google Shape;1102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03" name="Google Shape;1103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04" name="Google Shape;1104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105" name="Google Shape;1105;p29"/>
          <p:cNvSpPr/>
          <p:nvPr/>
        </p:nvSpPr>
        <p:spPr>
          <a:xfrm>
            <a:off x="7234239" y="3144838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06" name="Google Shape;1106;p29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1107" name="Google Shape;1107;p29"/>
          <p:cNvGrpSpPr/>
          <p:nvPr/>
        </p:nvGrpSpPr>
        <p:grpSpPr>
          <a:xfrm>
            <a:off x="6740526" y="2701926"/>
            <a:ext cx="2011363" cy="760413"/>
            <a:chOff x="1197" y="1665"/>
            <a:chExt cx="1267" cy="479"/>
          </a:xfrm>
        </p:grpSpPr>
        <p:grpSp>
          <p:nvGrpSpPr>
            <p:cNvPr id="1108" name="Google Shape;1108;p29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109" name="Google Shape;1109;p29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10" name="Google Shape;1110;p29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29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12" name="Google Shape;1112;p29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29"/>
          <p:cNvGrpSpPr/>
          <p:nvPr/>
        </p:nvGrpSpPr>
        <p:grpSpPr>
          <a:xfrm>
            <a:off x="6864350" y="2952751"/>
            <a:ext cx="146050" cy="385763"/>
            <a:chOff x="1272" y="1762"/>
            <a:chExt cx="92" cy="243"/>
          </a:xfrm>
        </p:grpSpPr>
        <p:cxnSp>
          <p:nvCxnSpPr>
            <p:cNvPr id="1114" name="Google Shape;1114;p29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5" name="Google Shape;1115;p29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16" name="Google Shape;1116;p29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9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18" name="Google Shape;1118;p29"/>
          <p:cNvGrpSpPr/>
          <p:nvPr/>
        </p:nvGrpSpPr>
        <p:grpSpPr>
          <a:xfrm>
            <a:off x="6315075" y="2293939"/>
            <a:ext cx="2428876" cy="1519237"/>
            <a:chOff x="931" y="1414"/>
            <a:chExt cx="1530" cy="957"/>
          </a:xfrm>
        </p:grpSpPr>
        <p:sp>
          <p:nvSpPr>
            <p:cNvPr id="1119" name="Google Shape;1119;p29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0" name="Google Shape;1120;p29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121" name="Google Shape;1121;p29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22" name="Google Shape;1122;p29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23" name="Google Shape;1123;p29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29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5" name="Google Shape;1125;p29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6" name="Google Shape;1126;p29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27" name="Google Shape;1127;p29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8" name="Google Shape;1128;p29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9" name="Google Shape;1129;p29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30" name="Google Shape;1130;p29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31" name="Google Shape;1131;p29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132" name="Google Shape;1132;p29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4" name="Google Shape;1134;p29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5" name="Google Shape;1135;p29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6" name="Google Shape;1136;p29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7" name="Google Shape;1137;p29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138" name="Google Shape;1138;p29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0" name="Google Shape;1140;p29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1" name="Google Shape;1141;p29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p29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3" name="Google Shape;1143;p29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4" name="Google Shape;1144;p29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145" name="Google Shape;114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29"/>
          <p:cNvSpPr/>
          <p:nvPr/>
        </p:nvSpPr>
        <p:spPr>
          <a:xfrm>
            <a:off x="6274029" y="476528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7754108" y="4900024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9152388" y="418306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7806773" y="49799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5" name="Google Shape;1155;p30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156" name="Google Shape;1156;p30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157" name="Google Shape;1157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58" name="Google Shape;1158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59" name="Google Shape;1159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160" name="Google Shape;1160;p30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61" name="Google Shape;1161;p30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162" name="Google Shape;1162;p30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63" name="Google Shape;1163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64" name="Google Shape;1164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65" name="Google Shape;1165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166" name="Google Shape;1166;p30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7" name="Google Shape;1167;p30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0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30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170" name="Google Shape;1170;p30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30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30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0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0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0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177" name="Google Shape;1177;p30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30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30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30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1" name="Google Shape;1181;p30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2" name="Google Shape;1182;p30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83" name="Google Shape;1183;p30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84" name="Google Shape;1184;p30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5" name="Google Shape;1185;p30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86" name="Google Shape;1186;p30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187" name="Google Shape;1187;p30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30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9" name="Google Shape;1189;p30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0" name="Google Shape;1190;p30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91" name="Google Shape;1191;p30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0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3" name="Google Shape;1193;p30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4" name="Google Shape;1194;p30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195" name="Google Shape;1195;p30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6" name="Google Shape;1196;p30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7" name="Google Shape;1197;p30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198" name="Google Shape;1198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99" name="Google Shape;1199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00" name="Google Shape;1200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201" name="Google Shape;1201;p30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02" name="Google Shape;1202;p30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203" name="Google Shape;1203;p30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04" name="Google Shape;1204;p30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205" name="Google Shape;1205;p30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6" name="Google Shape;1206;p30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7" name="Google Shape;1207;p30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208" name="Google Shape;1208;p30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209" name="Google Shape;1209;p3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210" name="Google Shape;1210;p3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211" name="Google Shape;1211;p30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12" name="Google Shape;1212;p30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13" name="Google Shape;1213;p30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14" name="Google Shape;1214;p30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215" name="Google Shape;1215;p30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16" name="Google Shape;1216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217" name="Google Shape;1217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18" name="Google Shape;1218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30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22" name="Google Shape;1222;p30"/>
          <p:cNvGrpSpPr/>
          <p:nvPr/>
        </p:nvGrpSpPr>
        <p:grpSpPr>
          <a:xfrm>
            <a:off x="6315076" y="2293938"/>
            <a:ext cx="2436813" cy="1643062"/>
            <a:chOff x="3018" y="1445"/>
            <a:chExt cx="1535" cy="1035"/>
          </a:xfrm>
        </p:grpSpPr>
        <p:sp>
          <p:nvSpPr>
            <p:cNvPr id="1223" name="Google Shape;1223;p30"/>
            <p:cNvSpPr/>
            <p:nvPr/>
          </p:nvSpPr>
          <p:spPr>
            <a:xfrm>
              <a:off x="3597" y="1981"/>
              <a:ext cx="198" cy="499"/>
            </a:xfrm>
            <a:prstGeom prst="downArrow">
              <a:avLst>
                <a:gd fmla="val 50000" name="adj1"/>
                <a:gd fmla="val 63005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24" name="Google Shape;1224;p30"/>
            <p:cNvGrpSpPr/>
            <p:nvPr/>
          </p:nvGrpSpPr>
          <p:grpSpPr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225" name="Google Shape;1225;p30"/>
              <p:cNvGrpSpPr/>
              <p:nvPr/>
            </p:nvGrpSpPr>
            <p:grpSpPr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1226" name="Google Shape;1226;p30"/>
                <p:cNvSpPr/>
                <p:nvPr/>
              </p:nvSpPr>
              <p:spPr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27" name="Google Shape;1227;p30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28" name="Google Shape;1228;p30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29" name="Google Shape;1229;p30"/>
              <p:cNvSpPr txBox="1"/>
              <p:nvPr/>
            </p:nvSpPr>
            <p:spPr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0" name="Google Shape;1230;p30"/>
            <p:cNvGrpSpPr/>
            <p:nvPr/>
          </p:nvGrpSpPr>
          <p:grpSpPr>
            <a:xfrm>
              <a:off x="3364" y="1860"/>
              <a:ext cx="92" cy="243"/>
              <a:chOff x="1272" y="1762"/>
              <a:chExt cx="92" cy="243"/>
            </a:xfrm>
          </p:grpSpPr>
          <p:cxnSp>
            <p:nvCxnSpPr>
              <p:cNvPr id="1231" name="Google Shape;1231;p30"/>
              <p:cNvCxnSpPr/>
              <p:nvPr/>
            </p:nvCxnSpPr>
            <p:spPr>
              <a:xfrm>
                <a:off x="1272" y="1762"/>
                <a:ext cx="0" cy="2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32" name="Google Shape;1232;p30"/>
              <p:cNvCxnSpPr/>
              <p:nvPr/>
            </p:nvCxnSpPr>
            <p:spPr>
              <a:xfrm>
                <a:off x="1364" y="1878"/>
                <a:ext cx="0" cy="1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1233" name="Google Shape;1233;p30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234" name="Google Shape;1234;p30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5" name="Google Shape;1235;p30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236" name="Google Shape;1236;p30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37" name="Google Shape;1237;p30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38" name="Google Shape;1238;p30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9" name="Google Shape;1239;p30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0" name="Google Shape;1240;p30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1" name="Google Shape;1241;p30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242" name="Google Shape;1242;p30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3" name="Google Shape;1243;p30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4" name="Google Shape;1244;p30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5" name="Google Shape;1245;p30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1246" name="Google Shape;1246;p30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247" name="Google Shape;1247;p30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30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0" name="Google Shape;1250;p30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30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2" name="Google Shape;1252;p30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253" name="Google Shape;1253;p30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30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6" name="Google Shape;1256;p30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30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8" name="Google Shape;1258;p30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9" name="Google Shape;1259;p30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260" name="Google Shape;126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6" name="Google Shape;1266;p31"/>
          <p:cNvGrpSpPr/>
          <p:nvPr/>
        </p:nvGrpSpPr>
        <p:grpSpPr>
          <a:xfrm>
            <a:off x="8486095" y="5191352"/>
            <a:ext cx="711200" cy="600075"/>
            <a:chOff x="7179310" y="4033520"/>
            <a:chExt cx="1009650" cy="855028"/>
          </a:xfrm>
        </p:grpSpPr>
        <p:grpSp>
          <p:nvGrpSpPr>
            <p:cNvPr id="1267" name="Google Shape;1267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268" name="Google Shape;1268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270" name="Google Shape;1270;p31"/>
            <p:cNvSpPr/>
            <p:nvPr/>
          </p:nvSpPr>
          <p:spPr>
            <a:xfrm rot="-5400000">
              <a:off x="7439378" y="4308711"/>
              <a:ext cx="126671" cy="196070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271" name="Google Shape;1271;p31"/>
          <p:cNvGrpSpPr/>
          <p:nvPr/>
        </p:nvGrpSpPr>
        <p:grpSpPr>
          <a:xfrm>
            <a:off x="2552020" y="3799113"/>
            <a:ext cx="1027109" cy="762000"/>
            <a:chOff x="1046480" y="3962400"/>
            <a:chExt cx="1026163" cy="761428"/>
          </a:xfrm>
        </p:grpSpPr>
        <p:sp>
          <p:nvSpPr>
            <p:cNvPr id="1272" name="Google Shape;1272;p31"/>
            <p:cNvSpPr/>
            <p:nvPr/>
          </p:nvSpPr>
          <p:spPr>
            <a:xfrm rot="-5400000">
              <a:off x="1893411" y="4300306"/>
              <a:ext cx="111042" cy="24742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273" name="Google Shape;1273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274" name="Google Shape;1274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5" name="Google Shape;127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276" name="Google Shape;1276;p31"/>
          <p:cNvSpPr txBox="1"/>
          <p:nvPr/>
        </p:nvSpPr>
        <p:spPr>
          <a:xfrm>
            <a:off x="5730196" y="4218213"/>
            <a:ext cx="376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77" name="Google Shape;1277;p31"/>
          <p:cNvSpPr txBox="1"/>
          <p:nvPr/>
        </p:nvSpPr>
        <p:spPr>
          <a:xfrm>
            <a:off x="5374595" y="5215163"/>
            <a:ext cx="15430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1"/>
          <p:cNvSpPr txBox="1"/>
          <p:nvPr/>
        </p:nvSpPr>
        <p:spPr>
          <a:xfrm>
            <a:off x="5522232" y="5042127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9" name="Google Shape;1279;p31"/>
          <p:cNvGrpSpPr/>
          <p:nvPr/>
        </p:nvGrpSpPr>
        <p:grpSpPr>
          <a:xfrm>
            <a:off x="4550683" y="5631089"/>
            <a:ext cx="1541463" cy="449263"/>
            <a:chOff x="1934" y="2405"/>
            <a:chExt cx="971" cy="283"/>
          </a:xfrm>
        </p:grpSpPr>
        <p:sp>
          <p:nvSpPr>
            <p:cNvPr id="1280" name="Google Shape;1280;p31"/>
            <p:cNvSpPr txBox="1"/>
            <p:nvPr/>
          </p:nvSpPr>
          <p:spPr>
            <a:xfrm>
              <a:off x="1934" y="2405"/>
              <a:ext cx="79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1"/>
            <p:cNvSpPr txBox="1"/>
            <p:nvPr/>
          </p:nvSpPr>
          <p:spPr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2" name="Google Shape;1282;p31"/>
          <p:cNvSpPr txBox="1"/>
          <p:nvPr/>
        </p:nvSpPr>
        <p:spPr>
          <a:xfrm>
            <a:off x="2458357" y="5873977"/>
            <a:ext cx="16271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1"/>
          <p:cNvSpPr txBox="1"/>
          <p:nvPr/>
        </p:nvSpPr>
        <p:spPr>
          <a:xfrm>
            <a:off x="2448832" y="5691414"/>
            <a:ext cx="12541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 txBox="1"/>
          <p:nvPr/>
        </p:nvSpPr>
        <p:spPr>
          <a:xfrm>
            <a:off x="2215470" y="4578577"/>
            <a:ext cx="12427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1"/>
          <p:cNvSpPr txBox="1"/>
          <p:nvPr/>
        </p:nvSpPr>
        <p:spPr>
          <a:xfrm>
            <a:off x="2236108" y="4764313"/>
            <a:ext cx="1509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3871232" y="4273777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287" name="Google Shape;1287;p31"/>
          <p:cNvCxnSpPr/>
          <p:nvPr/>
        </p:nvCxnSpPr>
        <p:spPr>
          <a:xfrm>
            <a:off x="3568020" y="4253138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31"/>
          <p:cNvCxnSpPr/>
          <p:nvPr/>
        </p:nvCxnSpPr>
        <p:spPr>
          <a:xfrm flipH="1" rot="10800000">
            <a:off x="3691846" y="5197702"/>
            <a:ext cx="231775" cy="255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31"/>
          <p:cNvCxnSpPr/>
          <p:nvPr/>
        </p:nvCxnSpPr>
        <p:spPr>
          <a:xfrm>
            <a:off x="4690382" y="4791302"/>
            <a:ext cx="584200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31"/>
          <p:cNvCxnSpPr/>
          <p:nvPr/>
        </p:nvCxnSpPr>
        <p:spPr>
          <a:xfrm rot="10800000">
            <a:off x="3607707" y="554853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1" name="Google Shape;1291;p31"/>
          <p:cNvCxnSpPr/>
          <p:nvPr/>
        </p:nvCxnSpPr>
        <p:spPr>
          <a:xfrm rot="10800000">
            <a:off x="3482295" y="4326164"/>
            <a:ext cx="0" cy="3984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2" name="Google Shape;1292;p31"/>
          <p:cNvCxnSpPr/>
          <p:nvPr/>
        </p:nvCxnSpPr>
        <p:spPr>
          <a:xfrm>
            <a:off x="5360307" y="4857977"/>
            <a:ext cx="0" cy="750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93" name="Google Shape;1293;p31"/>
          <p:cNvCxnSpPr/>
          <p:nvPr/>
        </p:nvCxnSpPr>
        <p:spPr>
          <a:xfrm rot="10800000">
            <a:off x="6441395" y="484845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4" name="Google Shape;1294;p31"/>
          <p:cNvSpPr txBox="1"/>
          <p:nvPr/>
        </p:nvSpPr>
        <p:spPr>
          <a:xfrm>
            <a:off x="2224996" y="3992789"/>
            <a:ext cx="3905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5" name="Google Shape;1295;p31"/>
          <p:cNvCxnSpPr/>
          <p:nvPr/>
        </p:nvCxnSpPr>
        <p:spPr>
          <a:xfrm>
            <a:off x="6550933" y="4757963"/>
            <a:ext cx="11985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6" name="Google Shape;1296;p31"/>
          <p:cNvGrpSpPr/>
          <p:nvPr/>
        </p:nvGrpSpPr>
        <p:grpSpPr>
          <a:xfrm>
            <a:off x="8878210" y="4681763"/>
            <a:ext cx="1573213" cy="463550"/>
            <a:chOff x="4351" y="2786"/>
            <a:chExt cx="991" cy="292"/>
          </a:xfrm>
        </p:grpSpPr>
        <p:sp>
          <p:nvSpPr>
            <p:cNvPr id="1297" name="Google Shape;1297;p31"/>
            <p:cNvSpPr txBox="1"/>
            <p:nvPr/>
          </p:nvSpPr>
          <p:spPr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1"/>
            <p:cNvSpPr txBox="1"/>
            <p:nvPr/>
          </p:nvSpPr>
          <p:spPr>
            <a:xfrm>
              <a:off x="4351" y="2904"/>
              <a:ext cx="99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9" name="Google Shape;1299;p31"/>
          <p:cNvCxnSpPr/>
          <p:nvPr/>
        </p:nvCxnSpPr>
        <p:spPr>
          <a:xfrm flipH="1" rot="10800000">
            <a:off x="8449582" y="4253138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0" name="Google Shape;1300;p31"/>
          <p:cNvCxnSpPr/>
          <p:nvPr/>
        </p:nvCxnSpPr>
        <p:spPr>
          <a:xfrm rot="10800000">
            <a:off x="8975045" y="4329338"/>
            <a:ext cx="11112" cy="388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p31"/>
          <p:cNvSpPr txBox="1"/>
          <p:nvPr/>
        </p:nvSpPr>
        <p:spPr>
          <a:xfrm>
            <a:off x="8579757" y="5648552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1"/>
          <p:cNvSpPr txBox="1"/>
          <p:nvPr/>
        </p:nvSpPr>
        <p:spPr>
          <a:xfrm>
            <a:off x="8582933" y="5823177"/>
            <a:ext cx="150177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31"/>
          <p:cNvCxnSpPr/>
          <p:nvPr/>
        </p:nvCxnSpPr>
        <p:spPr>
          <a:xfrm rot="10800000">
            <a:off x="8379732" y="5150077"/>
            <a:ext cx="254000" cy="250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4" name="Google Shape;1304;p31"/>
          <p:cNvCxnSpPr/>
          <p:nvPr/>
        </p:nvCxnSpPr>
        <p:spPr>
          <a:xfrm flipH="1">
            <a:off x="8714695" y="5491389"/>
            <a:ext cx="4762" cy="2016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05" name="Google Shape;1305;p31"/>
          <p:cNvSpPr/>
          <p:nvPr/>
        </p:nvSpPr>
        <p:spPr>
          <a:xfrm>
            <a:off x="7709808" y="4276952"/>
            <a:ext cx="765175" cy="1081087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6" name="Google Shape;1306;p31"/>
          <p:cNvSpPr txBox="1"/>
          <p:nvPr/>
        </p:nvSpPr>
        <p:spPr>
          <a:xfrm>
            <a:off x="9813245" y="3910239"/>
            <a:ext cx="3674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7" name="Google Shape;1307;p31"/>
          <p:cNvGrpSpPr/>
          <p:nvPr/>
        </p:nvGrpSpPr>
        <p:grpSpPr>
          <a:xfrm>
            <a:off x="8684532" y="3870552"/>
            <a:ext cx="1009650" cy="854075"/>
            <a:chOff x="7179310" y="4033520"/>
            <a:chExt cx="1009650" cy="855028"/>
          </a:xfrm>
        </p:grpSpPr>
        <p:grpSp>
          <p:nvGrpSpPr>
            <p:cNvPr id="1308" name="Google Shape;1308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309" name="Google Shape;1309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0" name="Google Shape;1310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311" name="Google Shape;1311;p31"/>
            <p:cNvSpPr/>
            <p:nvPr/>
          </p:nvSpPr>
          <p:spPr>
            <a:xfrm rot="-5400000">
              <a:off x="7438796" y="4309366"/>
              <a:ext cx="127142" cy="195263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12" name="Google Shape;1312;p31"/>
          <p:cNvGrpSpPr/>
          <p:nvPr/>
        </p:nvGrpSpPr>
        <p:grpSpPr>
          <a:xfrm>
            <a:off x="5263474" y="4551588"/>
            <a:ext cx="1292224" cy="425450"/>
            <a:chOff x="4011931" y="3379152"/>
            <a:chExt cx="1262063" cy="390207"/>
          </a:xfrm>
        </p:grpSpPr>
        <p:sp>
          <p:nvSpPr>
            <p:cNvPr id="1313" name="Google Shape;1313;p31"/>
            <p:cNvSpPr/>
            <p:nvPr/>
          </p:nvSpPr>
          <p:spPr>
            <a:xfrm rot="-5400000">
              <a:off x="5112252" y="3476577"/>
              <a:ext cx="128128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14" name="Google Shape;1314;p31"/>
            <p:cNvGrpSpPr/>
            <p:nvPr/>
          </p:nvGrpSpPr>
          <p:grpSpPr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315" name="Google Shape;1315;p31"/>
              <p:cNvSpPr/>
              <p:nvPr/>
            </p:nvSpPr>
            <p:spPr>
              <a:xfrm>
                <a:off x="4651" y="1171"/>
                <a:ext cx="244" cy="53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4651" y="1165"/>
                <a:ext cx="245" cy="33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4650" y="1129"/>
                <a:ext cx="244" cy="62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18" name="Google Shape;1318;p31"/>
              <p:cNvGrpSpPr/>
              <p:nvPr/>
            </p:nvGrpSpPr>
            <p:grpSpPr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19" name="Google Shape;1319;p3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320" name="Google Shape;1320;p3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cxnSp>
            <p:nvCxnSpPr>
              <p:cNvPr id="1321" name="Google Shape;1321;p31"/>
              <p:cNvCxnSpPr/>
              <p:nvPr/>
            </p:nvCxnSpPr>
            <p:spPr>
              <a:xfrm>
                <a:off x="4651" y="1158"/>
                <a:ext cx="0" cy="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2" name="Google Shape;1322;p31"/>
              <p:cNvCxnSpPr/>
              <p:nvPr/>
            </p:nvCxnSpPr>
            <p:spPr>
              <a:xfrm>
                <a:off x="4894" y="1160"/>
                <a:ext cx="0" cy="4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23" name="Google Shape;1323;p31"/>
            <p:cNvSpPr/>
            <p:nvPr/>
          </p:nvSpPr>
          <p:spPr>
            <a:xfrm rot="-5400000">
              <a:off x="4046274" y="3486041"/>
              <a:ext cx="126671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24" name="Google Shape;1324;p31"/>
          <p:cNvGrpSpPr/>
          <p:nvPr/>
        </p:nvGrpSpPr>
        <p:grpSpPr>
          <a:xfrm>
            <a:off x="2988583" y="5150077"/>
            <a:ext cx="701675" cy="517525"/>
            <a:chOff x="1046480" y="3962400"/>
            <a:chExt cx="1026163" cy="761428"/>
          </a:xfrm>
        </p:grpSpPr>
        <p:sp>
          <p:nvSpPr>
            <p:cNvPr id="1325" name="Google Shape;1325;p31"/>
            <p:cNvSpPr/>
            <p:nvPr/>
          </p:nvSpPr>
          <p:spPr>
            <a:xfrm rot="-5400000">
              <a:off x="1893548" y="4299487"/>
              <a:ext cx="109776" cy="248414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26" name="Google Shape;1326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327" name="Google Shape;1327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8" name="Google Shape;1328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329" name="Google Shape;1329;p31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330" name="Google Shape;1330;p31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1"/>
          <p:cNvSpPr/>
          <p:nvPr/>
        </p:nvSpPr>
        <p:spPr>
          <a:xfrm>
            <a:off x="2224995" y="1405165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2" name="Google Shape;1332;p31"/>
          <p:cNvSpPr/>
          <p:nvPr/>
        </p:nvSpPr>
        <p:spPr>
          <a:xfrm>
            <a:off x="8225746" y="2733901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33" name="Google Shape;1333;p31"/>
          <p:cNvGrpSpPr/>
          <p:nvPr/>
        </p:nvGrpSpPr>
        <p:grpSpPr>
          <a:xfrm>
            <a:off x="7732033" y="2290989"/>
            <a:ext cx="2011363" cy="760413"/>
            <a:chOff x="1197" y="1665"/>
            <a:chExt cx="1267" cy="479"/>
          </a:xfrm>
        </p:grpSpPr>
        <p:grpSp>
          <p:nvGrpSpPr>
            <p:cNvPr id="1334" name="Google Shape;1334;p31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335" name="Google Shape;1335;p31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36" name="Google Shape;1336;p31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7" name="Google Shape;1337;p31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38" name="Google Shape;1338;p31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7855857" y="2541814"/>
            <a:ext cx="146050" cy="385763"/>
            <a:chOff x="1272" y="1762"/>
            <a:chExt cx="92" cy="243"/>
          </a:xfrm>
        </p:grpSpPr>
        <p:cxnSp>
          <p:nvCxnSpPr>
            <p:cNvPr id="1340" name="Google Shape;1340;p31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1" name="Google Shape;1341;p31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42" name="Google Shape;1342;p31"/>
          <p:cNvGrpSpPr/>
          <p:nvPr/>
        </p:nvGrpSpPr>
        <p:grpSpPr>
          <a:xfrm>
            <a:off x="7306582" y="1883002"/>
            <a:ext cx="2428876" cy="1519237"/>
            <a:chOff x="931" y="1414"/>
            <a:chExt cx="1530" cy="957"/>
          </a:xfrm>
        </p:grpSpPr>
        <p:sp>
          <p:nvSpPr>
            <p:cNvPr id="1343" name="Google Shape;1343;p31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31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345" name="Google Shape;1345;p31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47" name="Google Shape;1347;p31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8" name="Google Shape;1348;p31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31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31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351" name="Google Shape;1351;p31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2" name="Google Shape;1352;p31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3" name="Google Shape;1353;p31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4" name="Google Shape;1354;p31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55" name="Google Shape;1355;p31"/>
          <p:cNvGrpSpPr/>
          <p:nvPr/>
        </p:nvGrpSpPr>
        <p:grpSpPr>
          <a:xfrm>
            <a:off x="9567182" y="2314801"/>
            <a:ext cx="928688" cy="1954212"/>
            <a:chOff x="250" y="1380"/>
            <a:chExt cx="585" cy="1231"/>
          </a:xfrm>
        </p:grpSpPr>
        <p:sp>
          <p:nvSpPr>
            <p:cNvPr id="1356" name="Google Shape;1356;p31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31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9" name="Google Shape;1359;p31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0" name="Google Shape;1360;p31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1" name="Google Shape;1361;p31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2" name="Google Shape;1362;p31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363" name="Google Shape;13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83431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31"/>
          <p:cNvSpPr txBox="1"/>
          <p:nvPr/>
        </p:nvSpPr>
        <p:spPr>
          <a:xfrm>
            <a:off x="1863827" y="6271334"/>
            <a:ext cx="4507165" cy="4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370" name="Google Shape;13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42"/>
          <p:cNvSpPr txBox="1"/>
          <p:nvPr>
            <p:ph idx="1" type="body"/>
          </p:nvPr>
        </p:nvSpPr>
        <p:spPr>
          <a:xfrm>
            <a:off x="2057400" y="1371600"/>
            <a:ext cx="9445623" cy="479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 b="1" sz="34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Characteristics of a switch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Role of switch in a LAN</a:t>
            </a:r>
            <a:endParaRPr/>
          </a:p>
        </p:txBody>
      </p:sp>
      <p:sp>
        <p:nvSpPr>
          <p:cNvPr id="1372" name="Google Shape;1372;p42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3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79" name="Google Shape;1379;p43"/>
          <p:cNvSpPr txBox="1"/>
          <p:nvPr>
            <p:ph idx="1" type="body"/>
          </p:nvPr>
        </p:nvSpPr>
        <p:spPr>
          <a:xfrm>
            <a:off x="1503408" y="1061749"/>
            <a:ext cx="9926592" cy="5691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6641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link-layer device: takes an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active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role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store, forward frames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examine incoming frame’s MAC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address </a:t>
            </a:r>
            <a:r>
              <a:rPr lang="en-US" sz="2800"/>
              <a:t>in</a:t>
            </a:r>
            <a:r>
              <a:rPr lang="en-US" sz="2800"/>
              <a:t> each frame to decide where it should go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CSMA/CD when sending on a shared segment.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transparent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hosts are unaware of presence of switches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plug-and-play, self-learning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switches do not need to be configured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380" name="Google Shape;13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8481" y="888711"/>
            <a:ext cx="3656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6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 forwarding table</a:t>
            </a:r>
            <a:endParaRPr/>
          </a:p>
        </p:txBody>
      </p:sp>
      <p:sp>
        <p:nvSpPr>
          <p:cNvPr id="1386" name="Google Shape;1386;p3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7" name="Google Shape;13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372" y="1314041"/>
            <a:ext cx="6511651" cy="37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36"/>
          <p:cNvSpPr txBox="1"/>
          <p:nvPr>
            <p:ph idx="1" type="body"/>
          </p:nvPr>
        </p:nvSpPr>
        <p:spPr>
          <a:xfrm>
            <a:off x="849576" y="1314041"/>
            <a:ext cx="3892241" cy="2029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i="1" lang="en-US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how does switch know PC3 reachable via interface 8, Pc2 reachable via interface 2?</a:t>
            </a:r>
            <a:endParaRPr/>
          </a:p>
        </p:txBody>
      </p:sp>
      <p:pic>
        <p:nvPicPr>
          <p:cNvPr descr="underline_base" id="1389" name="Google Shape;1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626" y="8985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36"/>
          <p:cNvSpPr txBox="1"/>
          <p:nvPr/>
        </p:nvSpPr>
        <p:spPr>
          <a:xfrm>
            <a:off x="288865" y="3451704"/>
            <a:ext cx="4705729" cy="278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 table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 of host, interface to reach host, time stamp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1" name="Google Shape;1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122" y="5275501"/>
            <a:ext cx="4441772" cy="1183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4"/>
          <p:cNvSpPr txBox="1"/>
          <p:nvPr>
            <p:ph type="title"/>
          </p:nvPr>
        </p:nvSpPr>
        <p:spPr>
          <a:xfrm>
            <a:off x="1812926" y="136525"/>
            <a:ext cx="84693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98" name="Google Shape;1398;p44"/>
          <p:cNvSpPr txBox="1"/>
          <p:nvPr>
            <p:ph idx="1" type="body"/>
          </p:nvPr>
        </p:nvSpPr>
        <p:spPr>
          <a:xfrm>
            <a:off x="1475262" y="1213934"/>
            <a:ext cx="5163596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hosts have dedicated, direct connection to switch</a:t>
            </a:r>
            <a:endParaRPr sz="3200"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switches buffer packets</a:t>
            </a:r>
            <a:endParaRPr sz="3200"/>
          </a:p>
        </p:txBody>
      </p:sp>
      <p:pic>
        <p:nvPicPr>
          <p:cNvPr descr="underline_base" id="1399" name="Google Shape;13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9620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44"/>
          <p:cNvSpPr txBox="1"/>
          <p:nvPr/>
        </p:nvSpPr>
        <p:spPr>
          <a:xfrm>
            <a:off x="1244951" y="3222898"/>
            <a:ext cx="5040313" cy="113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are entries created, maintained in switch table?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1" name="Google Shape;14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532" y="1658481"/>
            <a:ext cx="5281609" cy="300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5264" y="5215272"/>
            <a:ext cx="5205181" cy="13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44"/>
          <p:cNvSpPr txBox="1"/>
          <p:nvPr/>
        </p:nvSpPr>
        <p:spPr>
          <a:xfrm>
            <a:off x="1622786" y="4358896"/>
            <a:ext cx="3189075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Manual?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9" name="Google Shape;1409;p46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10" name="Google Shape;1410;p46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6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6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6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46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6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6" name="Google Shape;1416;p46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7" name="Google Shape;1417;p46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p46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46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0" name="Google Shape;1420;p46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421" name="Google Shape;1421;p46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2" name="Google Shape;142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23" name="Google Shape;142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4" name="Google Shape;142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25" name="Google Shape;1425;p46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426" name="Google Shape;142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27" name="Google Shape;142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8" name="Google Shape;142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29" name="Google Shape;1429;p46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0" name="Google Shape;1430;p46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1" name="Google Shape;1431;p46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432" name="Google Shape;1432;p4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3" name="Google Shape;1433;p4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434" name="Google Shape;1434;p46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435" name="Google Shape;1435;p46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6" name="Google Shape;1436;p46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437" name="Google Shape;143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8" name="Google Shape;143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439" name="Google Shape;1439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0" name="Google Shape;1440;p46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441" name="Google Shape;1441;p46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42" name="Google Shape;144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43" name="Google Shape;144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4" name="Google Shape;144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45" name="Google Shape;1445;p46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446" name="Google Shape;144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47" name="Google Shape;144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8" name="Google Shape;144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49" name="Google Shape;1449;p46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50" name="Google Shape;1450;p46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1" name="Google Shape;1451;p46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2" name="Google Shape;1452;p46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46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46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46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6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6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8" name="Google Shape;1458;p46"/>
          <p:cNvSpPr txBox="1"/>
          <p:nvPr>
            <p:ph type="title"/>
          </p:nvPr>
        </p:nvSpPr>
        <p:spPr>
          <a:xfrm>
            <a:off x="1981200" y="873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self-learning</a:t>
            </a:r>
            <a:endParaRPr/>
          </a:p>
        </p:txBody>
      </p:sp>
      <p:sp>
        <p:nvSpPr>
          <p:cNvPr id="1459" name="Google Shape;1459;p46"/>
          <p:cNvSpPr txBox="1"/>
          <p:nvPr>
            <p:ph idx="1" type="body"/>
          </p:nvPr>
        </p:nvSpPr>
        <p:spPr>
          <a:xfrm>
            <a:off x="673923" y="999730"/>
            <a:ext cx="4538635" cy="516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The table is empty initially</a:t>
            </a:r>
            <a:endParaRPr sz="3200"/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When it receives a frame, it looks at the </a:t>
            </a:r>
            <a:r>
              <a:rPr b="1" lang="en-US">
                <a:solidFill>
                  <a:srgbClr val="7030A0"/>
                </a:solidFill>
              </a:rPr>
              <a:t>source MAC address</a:t>
            </a:r>
            <a:r>
              <a:rPr lang="en-US">
                <a:solidFill>
                  <a:srgbClr val="7030A0"/>
                </a:solidFill>
              </a:rPr>
              <a:t>.</a:t>
            </a:r>
            <a:endParaRPr>
              <a:solidFill>
                <a:srgbClr val="7030A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It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 </a:t>
            </a:r>
            <a:r>
              <a:rPr lang="en-US"/>
              <a:t>: </a:t>
            </a:r>
            <a:r>
              <a:rPr i="1" lang="en-US"/>
              <a:t>“This MAC address is reachable through this port.”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889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Saves this info in its </a:t>
            </a:r>
            <a:r>
              <a:rPr b="1" lang="en-US"/>
              <a:t>switching table</a:t>
            </a:r>
            <a:r>
              <a:rPr lang="en-US"/>
              <a:t> for future use. </a:t>
            </a:r>
            <a:endParaRPr/>
          </a:p>
        </p:txBody>
      </p:sp>
      <p:grpSp>
        <p:nvGrpSpPr>
          <p:cNvPr id="1460" name="Google Shape;1460;p46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461" name="Google Shape;1461;p46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6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3" name="Google Shape;1463;p46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46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5" name="Google Shape;1465;p46"/>
          <p:cNvGrpSpPr/>
          <p:nvPr/>
        </p:nvGrpSpPr>
        <p:grpSpPr>
          <a:xfrm>
            <a:off x="8518526" y="525464"/>
            <a:ext cx="1918697" cy="714375"/>
            <a:chOff x="4406" y="331"/>
            <a:chExt cx="914" cy="450"/>
          </a:xfrm>
        </p:grpSpPr>
        <p:cxnSp>
          <p:nvCxnSpPr>
            <p:cNvPr id="1466" name="Google Shape;1466;p46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67" name="Google Shape;1467;p46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468" name="Google Shape;1468;p46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46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0" name="Google Shape;1470;p46"/>
          <p:cNvGrpSpPr/>
          <p:nvPr/>
        </p:nvGrpSpPr>
        <p:grpSpPr>
          <a:xfrm>
            <a:off x="4904582" y="5043488"/>
            <a:ext cx="3017838" cy="1444625"/>
            <a:chOff x="3441" y="3154"/>
            <a:chExt cx="1901" cy="910"/>
          </a:xfrm>
        </p:grpSpPr>
        <p:sp>
          <p:nvSpPr>
            <p:cNvPr id="1471" name="Google Shape;1471;p46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46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3" name="Google Shape;1473;p46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46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5" name="Google Shape;1475;p46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6" name="Google Shape;1476;p46"/>
          <p:cNvSpPr txBox="1"/>
          <p:nvPr/>
        </p:nvSpPr>
        <p:spPr>
          <a:xfrm>
            <a:off x="7988301" y="5326063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7" name="Google Shape;1477;p46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478" name="Google Shape;1478;p46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46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6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481" name="Google Shape;148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5801" y="898525"/>
            <a:ext cx="5027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46"/>
          <p:cNvSpPr/>
          <p:nvPr/>
        </p:nvSpPr>
        <p:spPr>
          <a:xfrm>
            <a:off x="8597900" y="1605690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47"/>
          <p:cNvSpPr txBox="1"/>
          <p:nvPr>
            <p:ph type="title"/>
          </p:nvPr>
        </p:nvSpPr>
        <p:spPr>
          <a:xfrm>
            <a:off x="20335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frame filtering/forwarding</a:t>
            </a:r>
            <a:endParaRPr/>
          </a:p>
        </p:txBody>
      </p:sp>
      <p:sp>
        <p:nvSpPr>
          <p:cNvPr id="1489" name="Google Shape;1489;p47"/>
          <p:cNvSpPr txBox="1"/>
          <p:nvPr>
            <p:ph idx="1" type="body"/>
          </p:nvPr>
        </p:nvSpPr>
        <p:spPr>
          <a:xfrm>
            <a:off x="2154239" y="1370014"/>
            <a:ext cx="8201025" cy="509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when  frame received at switch: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1. record incoming link, MAC address of sending host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2. index switch table using MAC destination address</a:t>
            </a:r>
            <a:endParaRPr b="1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3. 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entry found for destination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 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destination on segment from which frame arrived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drop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forward frame on interface indicated by entry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flood  /* forward on all interfaces except arriving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               interface */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pic>
        <p:nvPicPr>
          <p:cNvPr descr="underline_base" id="1490" name="Google Shape;149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841375"/>
            <a:ext cx="6856412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8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97" name="Google Shape;1497;p48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48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8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8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8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8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3" name="Google Shape;1503;p48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4" name="Google Shape;1504;p48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5" name="Google Shape;1505;p48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6" name="Google Shape;1506;p48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07" name="Google Shape;1507;p48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08" name="Google Shape;1508;p48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9" name="Google Shape;150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10" name="Google Shape;151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1" name="Google Shape;151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12" name="Google Shape;1512;p48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513" name="Google Shape;151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14" name="Google Shape;151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5" name="Google Shape;151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16" name="Google Shape;1516;p48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7" name="Google Shape;1517;p48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8" name="Google Shape;1518;p48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519" name="Google Shape;1519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0" name="Google Shape;1520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21" name="Google Shape;1521;p48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522" name="Google Shape;1522;p48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3" name="Google Shape;1523;p48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524" name="Google Shape;152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25" name="Google Shape;152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526" name="Google Shape;1526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7" name="Google Shape;1527;p48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528" name="Google Shape;1528;p48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9" name="Google Shape;152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30" name="Google Shape;153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1" name="Google Shape;153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32" name="Google Shape;1532;p48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533" name="Google Shape;153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34" name="Google Shape;153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5" name="Google Shape;153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36" name="Google Shape;1536;p48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37" name="Google Shape;1537;p48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8" name="Google Shape;1538;p48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9" name="Google Shape;1539;p48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8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8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8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8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8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5" name="Google Shape;1545;p48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546" name="Google Shape;1546;p48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547" name="Google Shape;1547;p4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8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9" name="Google Shape;1549;p4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0" name="Google Shape;1550;p4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51" name="Google Shape;1551;p48"/>
          <p:cNvGrpSpPr/>
          <p:nvPr/>
        </p:nvGrpSpPr>
        <p:grpSpPr>
          <a:xfrm>
            <a:off x="8518526" y="525464"/>
            <a:ext cx="1761943" cy="714375"/>
            <a:chOff x="4406" y="331"/>
            <a:chExt cx="914" cy="450"/>
          </a:xfrm>
        </p:grpSpPr>
        <p:cxnSp>
          <p:nvCxnSpPr>
            <p:cNvPr id="1552" name="Google Shape;1552;p48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53" name="Google Shape;1553;p48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554" name="Google Shape;1554;p48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8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6" name="Google Shape;1556;p48"/>
          <p:cNvGrpSpPr/>
          <p:nvPr/>
        </p:nvGrpSpPr>
        <p:grpSpPr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1557" name="Google Shape;1557;p48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8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48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48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48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62" name="Google Shape;1562;p48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563" name="Google Shape;1563;p48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8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6" name="Google Shape;1566;p48"/>
          <p:cNvSpPr txBox="1"/>
          <p:nvPr>
            <p:ph idx="1" type="body"/>
          </p:nvPr>
        </p:nvSpPr>
        <p:spPr>
          <a:xfrm>
            <a:off x="1315742" y="1391326"/>
            <a:ext cx="4553937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frame destination, A’, location unknown:</a:t>
            </a:r>
            <a:endParaRPr i="1" sz="3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7" name="Google Shape;1567;p48"/>
          <p:cNvSpPr txBox="1"/>
          <p:nvPr/>
        </p:nvSpPr>
        <p:spPr>
          <a:xfrm>
            <a:off x="2496184" y="2553492"/>
            <a:ext cx="189293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4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flood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48"/>
          <p:cNvGrpSpPr/>
          <p:nvPr/>
        </p:nvGrpSpPr>
        <p:grpSpPr>
          <a:xfrm>
            <a:off x="9004301" y="4716464"/>
            <a:ext cx="2471738" cy="377825"/>
            <a:chOff x="2376" y="3383"/>
            <a:chExt cx="1557" cy="238"/>
          </a:xfrm>
        </p:grpSpPr>
        <p:sp>
          <p:nvSpPr>
            <p:cNvPr id="1569" name="Google Shape;1569;p48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8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572" name="Google Shape;157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48"/>
          <p:cNvSpPr/>
          <p:nvPr/>
        </p:nvSpPr>
        <p:spPr>
          <a:xfrm>
            <a:off x="8050214" y="1658907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48"/>
          <p:cNvSpPr/>
          <p:nvPr/>
        </p:nvSpPr>
        <p:spPr>
          <a:xfrm>
            <a:off x="7524750" y="28021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48"/>
          <p:cNvSpPr/>
          <p:nvPr/>
        </p:nvSpPr>
        <p:spPr>
          <a:xfrm>
            <a:off x="7677150" y="29545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48"/>
          <p:cNvSpPr/>
          <p:nvPr/>
        </p:nvSpPr>
        <p:spPr>
          <a:xfrm>
            <a:off x="7829550" y="31069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8"/>
          <p:cNvSpPr/>
          <p:nvPr/>
        </p:nvSpPr>
        <p:spPr>
          <a:xfrm>
            <a:off x="7733144" y="2970575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48"/>
          <p:cNvSpPr/>
          <p:nvPr/>
        </p:nvSpPr>
        <p:spPr>
          <a:xfrm>
            <a:off x="7786437" y="2983916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37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585" name="Google Shape;1585;p37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7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7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7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7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7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1" name="Google Shape;1591;p37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2" name="Google Shape;1592;p37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3" name="Google Shape;1593;p37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4" name="Google Shape;1594;p37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95" name="Google Shape;1595;p37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96" name="Google Shape;1596;p37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7" name="Google Shape;159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98" name="Google Shape;159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9" name="Google Shape;159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00" name="Google Shape;1600;p37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01" name="Google Shape;160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02" name="Google Shape;160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03" name="Google Shape;160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04" name="Google Shape;1604;p37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5" name="Google Shape;1605;p37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6" name="Google Shape;1606;p37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607" name="Google Shape;1607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8" name="Google Shape;1608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09" name="Google Shape;1609;p37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610" name="Google Shape;1610;p37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1" name="Google Shape;1611;p37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612" name="Google Shape;161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3" name="Google Shape;161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614" name="Google Shape;161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5" name="Google Shape;1615;p37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616" name="Google Shape;1616;p37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7" name="Google Shape;161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618" name="Google Shape;161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9" name="Google Shape;161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20" name="Google Shape;1620;p37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21" name="Google Shape;162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22" name="Google Shape;162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23" name="Google Shape;162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24" name="Google Shape;1624;p37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25" name="Google Shape;1625;p37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6" name="Google Shape;1626;p37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7" name="Google Shape;1627;p37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7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7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7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7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7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3" name="Google Shape;1633;p37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8800286" y="4632247"/>
            <a:ext cx="1428750" cy="369887"/>
            <a:chOff x="1750" y="3514"/>
            <a:chExt cx="900" cy="233"/>
          </a:xfrm>
        </p:grpSpPr>
        <p:sp>
          <p:nvSpPr>
            <p:cNvPr id="1635" name="Google Shape;1635;p3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7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7" name="Google Shape;1637;p3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8" name="Google Shape;1638;p3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9" name="Google Shape;1639;p37"/>
          <p:cNvGrpSpPr/>
          <p:nvPr/>
        </p:nvGrpSpPr>
        <p:grpSpPr>
          <a:xfrm>
            <a:off x="8949738" y="3868290"/>
            <a:ext cx="1761943" cy="714375"/>
            <a:chOff x="4406" y="331"/>
            <a:chExt cx="914" cy="450"/>
          </a:xfrm>
        </p:grpSpPr>
        <p:cxnSp>
          <p:nvCxnSpPr>
            <p:cNvPr id="1640" name="Google Shape;1640;p3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41" name="Google Shape;1641;p3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642" name="Google Shape;1642;p37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7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4" name="Google Shape;1644;p37"/>
          <p:cNvGrpSpPr/>
          <p:nvPr/>
        </p:nvGrpSpPr>
        <p:grpSpPr>
          <a:xfrm>
            <a:off x="6607248" y="5278071"/>
            <a:ext cx="3017838" cy="1444625"/>
            <a:chOff x="3441" y="3154"/>
            <a:chExt cx="1901" cy="910"/>
          </a:xfrm>
        </p:grpSpPr>
        <p:sp>
          <p:nvSpPr>
            <p:cNvPr id="1645" name="Google Shape;1645;p3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7" name="Google Shape;1647;p3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3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3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0" name="Google Shape;1650;p37"/>
          <p:cNvGrpSpPr/>
          <p:nvPr/>
        </p:nvGrpSpPr>
        <p:grpSpPr>
          <a:xfrm>
            <a:off x="6926643" y="5712145"/>
            <a:ext cx="2471738" cy="376237"/>
            <a:chOff x="2376" y="3383"/>
            <a:chExt cx="1557" cy="237"/>
          </a:xfrm>
        </p:grpSpPr>
        <p:sp>
          <p:nvSpPr>
            <p:cNvPr id="1651" name="Google Shape;1651;p3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4" name="Google Shape;1654;p37"/>
          <p:cNvSpPr txBox="1"/>
          <p:nvPr>
            <p:ph idx="1" type="body"/>
          </p:nvPr>
        </p:nvSpPr>
        <p:spPr>
          <a:xfrm>
            <a:off x="1130805" y="1273393"/>
            <a:ext cx="4994853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A’ now wants to reply</a:t>
            </a:r>
            <a:endParaRPr i="1"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5" name="Google Shape;1655;p37"/>
          <p:cNvSpPr txBox="1"/>
          <p:nvPr/>
        </p:nvSpPr>
        <p:spPr>
          <a:xfrm>
            <a:off x="2471884" y="3051355"/>
            <a:ext cx="189293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36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6" name="Google Shape;1656;p37"/>
          <p:cNvGrpSpPr/>
          <p:nvPr/>
        </p:nvGrpSpPr>
        <p:grpSpPr>
          <a:xfrm>
            <a:off x="6894515" y="6137384"/>
            <a:ext cx="2471738" cy="377825"/>
            <a:chOff x="2376" y="3383"/>
            <a:chExt cx="1557" cy="238"/>
          </a:xfrm>
        </p:grpSpPr>
        <p:sp>
          <p:nvSpPr>
            <p:cNvPr id="1657" name="Google Shape;1657;p37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660" name="Google Shape;166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7"/>
          <p:cNvSpPr/>
          <p:nvPr/>
        </p:nvSpPr>
        <p:spPr>
          <a:xfrm rot="176823">
            <a:off x="7749381" y="4010602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37"/>
          <p:cNvSpPr txBox="1"/>
          <p:nvPr/>
        </p:nvSpPr>
        <p:spPr>
          <a:xfrm>
            <a:off x="1043965" y="2001266"/>
            <a:ext cx="4994853" cy="1362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source MAC Address :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3" name="Google Shape;1663;p37"/>
          <p:cNvSpPr txBox="1"/>
          <p:nvPr/>
        </p:nvSpPr>
        <p:spPr>
          <a:xfrm>
            <a:off x="822755" y="3777527"/>
            <a:ext cx="5712931" cy="1082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destination MAC Address : ?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4" name="Google Shape;1664;p37"/>
          <p:cNvSpPr/>
          <p:nvPr/>
        </p:nvSpPr>
        <p:spPr>
          <a:xfrm>
            <a:off x="865980" y="4771717"/>
            <a:ext cx="5524502" cy="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destination A location is known</a:t>
            </a:r>
            <a:endParaRPr b="0" i="0" sz="2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5" name="Google Shape;1665;p37"/>
          <p:cNvSpPr/>
          <p:nvPr/>
        </p:nvSpPr>
        <p:spPr>
          <a:xfrm>
            <a:off x="291468" y="5523676"/>
            <a:ext cx="6592235" cy="756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selectively sends/forwards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7"/>
          <p:cNvSpPr/>
          <p:nvPr/>
        </p:nvSpPr>
        <p:spPr>
          <a:xfrm>
            <a:off x="8087709" y="5681297"/>
            <a:ext cx="423259" cy="385763"/>
          </a:xfrm>
          <a:prstGeom prst="ellipse">
            <a:avLst/>
          </a:prstGeom>
          <a:noFill/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37"/>
          <p:cNvSpPr/>
          <p:nvPr/>
        </p:nvSpPr>
        <p:spPr>
          <a:xfrm rot="176823">
            <a:off x="7770777" y="2805033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49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Interconnecting switches</a:t>
            </a:r>
            <a:endParaRPr/>
          </a:p>
        </p:txBody>
      </p:sp>
      <p:sp>
        <p:nvSpPr>
          <p:cNvPr id="1674" name="Google Shape;1674;p49"/>
          <p:cNvSpPr txBox="1"/>
          <p:nvPr>
            <p:ph idx="1" type="body"/>
          </p:nvPr>
        </p:nvSpPr>
        <p:spPr>
          <a:xfrm>
            <a:off x="2222500" y="1320801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switches can be connected together:</a:t>
            </a:r>
            <a:endParaRPr/>
          </a:p>
        </p:txBody>
      </p:sp>
      <p:sp>
        <p:nvSpPr>
          <p:cNvPr id="1675" name="Google Shape;1675;p49"/>
          <p:cNvSpPr/>
          <p:nvPr/>
        </p:nvSpPr>
        <p:spPr>
          <a:xfrm>
            <a:off x="2214564" y="4535488"/>
            <a:ext cx="788193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49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677" name="Google Shape;1677;p49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49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9" name="Google Shape;1679;p49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0" name="Google Shape;1680;p49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9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9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9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4" name="Google Shape;1684;p49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5" name="Google Shape;168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6" name="Google Shape;168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87" name="Google Shape;1687;p49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8" name="Google Shape;168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9" name="Google Shape;168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90" name="Google Shape;1690;p49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91" name="Google Shape;169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2" name="Google Shape;169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693" name="Google Shape;169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4" name="Google Shape;1694;p49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695" name="Google Shape;1695;p49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6" name="Google Shape;1696;p49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49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49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49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0" name="Google Shape;1700;p49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1" name="Google Shape;1701;p49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2" name="Google Shape;1702;p49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3" name="Google Shape;1703;p49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4" name="Google Shape;1704;p49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49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49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49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49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9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49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49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49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3" name="Google Shape;171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4" name="Google Shape;1714;p49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5" name="Google Shape;171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6" name="Google Shape;171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17" name="Google Shape;1717;p49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8" name="Google Shape;171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9" name="Google Shape;171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0" name="Google Shape;1720;p49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1" name="Google Shape;172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2" name="Google Shape;172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3" name="Google Shape;1723;p49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4" name="Google Shape;172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5" name="Google Shape;172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6" name="Google Shape;1726;p49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7" name="Google Shape;1727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8" name="Google Shape;172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9" name="Google Shape;1729;p49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30" name="Google Shape;1730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" name="Google Shape;1731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32" name="Google Shape;1732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734" name="Google Shape;173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9951" y="798514"/>
            <a:ext cx="54848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0"/>
          <p:cNvSpPr txBox="1"/>
          <p:nvPr>
            <p:ph type="title"/>
          </p:nvPr>
        </p:nvSpPr>
        <p:spPr>
          <a:xfrm>
            <a:off x="20193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multi-switch example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1" name="Google Shape;1741;p50"/>
          <p:cNvSpPr txBox="1"/>
          <p:nvPr>
            <p:ph idx="1" type="body"/>
          </p:nvPr>
        </p:nvSpPr>
        <p:spPr>
          <a:xfrm>
            <a:off x="2074863" y="1139825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Suppose C sends frame to I, I responds to C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2238375" y="4664075"/>
            <a:ext cx="77724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show switch tables and packet forwarding in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3" name="Google Shape;1743;p50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744" name="Google Shape;1744;p50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50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6" name="Google Shape;1746;p50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7" name="Google Shape;1747;p50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50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50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50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1" name="Google Shape;1751;p50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2" name="Google Shape;175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3" name="Google Shape;175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4" name="Google Shape;1754;p50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5" name="Google Shape;175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6" name="Google Shape;175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7" name="Google Shape;1757;p50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8" name="Google Shape;175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9" name="Google Shape;175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60" name="Google Shape;176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1" name="Google Shape;1761;p50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762" name="Google Shape;1762;p50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3" name="Google Shape;1763;p50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4" name="Google Shape;1764;p50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5" name="Google Shape;1765;p50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6" name="Google Shape;1766;p50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7" name="Google Shape;1767;p50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8" name="Google Shape;1768;p50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9" name="Google Shape;1769;p50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0" name="Google Shape;1770;p50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1" name="Google Shape;1771;p50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50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50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50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50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50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50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50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50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0" name="Google Shape;178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1" name="Google Shape;1781;p50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2" name="Google Shape;178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3" name="Google Shape;178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4" name="Google Shape;1784;p50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5" name="Google Shape;178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6" name="Google Shape;178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7" name="Google Shape;1787;p50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8" name="Google Shape;178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9" name="Google Shape;178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0" name="Google Shape;1790;p50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1" name="Google Shape;1791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2" name="Google Shape;1792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3" name="Google Shape;1793;p50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4" name="Google Shape;1794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5" name="Google Shape;1795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6" name="Google Shape;1796;p50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7" name="Google Shape;1797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8" name="Google Shape;1798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99" name="Google Shape;1799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0" name="Google Shape;180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801" name="Google Shape;180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5176" y="792164"/>
            <a:ext cx="73136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5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Institutional network</a:t>
            </a:r>
            <a:endParaRPr/>
          </a:p>
        </p:txBody>
      </p:sp>
      <p:sp>
        <p:nvSpPr>
          <p:cNvPr id="1808" name="Google Shape;1808;p51"/>
          <p:cNvSpPr/>
          <p:nvPr/>
        </p:nvSpPr>
        <p:spPr>
          <a:xfrm rot="5400000">
            <a:off x="3703638" y="24447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09" name="Google Shape;1809;p51"/>
          <p:cNvCxnSpPr/>
          <p:nvPr/>
        </p:nvCxnSpPr>
        <p:spPr>
          <a:xfrm flipH="1">
            <a:off x="3675064" y="338772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0" name="Google Shape;1810;p51"/>
          <p:cNvCxnSpPr/>
          <p:nvPr/>
        </p:nvCxnSpPr>
        <p:spPr>
          <a:xfrm>
            <a:off x="5915025" y="3375025"/>
            <a:ext cx="0" cy="1466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1" name="Google Shape;1811;p51"/>
          <p:cNvCxnSpPr/>
          <p:nvPr/>
        </p:nvCxnSpPr>
        <p:spPr>
          <a:xfrm rot="10800000">
            <a:off x="6108700" y="3309939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2" name="Google Shape;1812;p51"/>
          <p:cNvCxnSpPr/>
          <p:nvPr/>
        </p:nvCxnSpPr>
        <p:spPr>
          <a:xfrm flipH="1" rot="10800000">
            <a:off x="6211888" y="2692401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51"/>
          <p:cNvCxnSpPr/>
          <p:nvPr/>
        </p:nvCxnSpPr>
        <p:spPr>
          <a:xfrm flipH="1" rot="10800000">
            <a:off x="6005514" y="2370139"/>
            <a:ext cx="669925" cy="758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51"/>
          <p:cNvCxnSpPr/>
          <p:nvPr/>
        </p:nvCxnSpPr>
        <p:spPr>
          <a:xfrm>
            <a:off x="4911726" y="2524126"/>
            <a:ext cx="862013" cy="644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51"/>
          <p:cNvCxnSpPr/>
          <p:nvPr/>
        </p:nvCxnSpPr>
        <p:spPr>
          <a:xfrm rot="10800000">
            <a:off x="3519488" y="2420938"/>
            <a:ext cx="8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6" name="Google Shape;1816;p51"/>
          <p:cNvSpPr txBox="1"/>
          <p:nvPr/>
        </p:nvSpPr>
        <p:spPr>
          <a:xfrm>
            <a:off x="2268538" y="2041526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51"/>
          <p:cNvSpPr txBox="1"/>
          <p:nvPr/>
        </p:nvSpPr>
        <p:spPr>
          <a:xfrm>
            <a:off x="4240213" y="2608264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51"/>
          <p:cNvSpPr txBox="1"/>
          <p:nvPr/>
        </p:nvSpPr>
        <p:spPr>
          <a:xfrm>
            <a:off x="7959725" y="3516314"/>
            <a:ext cx="1473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51"/>
          <p:cNvSpPr txBox="1"/>
          <p:nvPr/>
        </p:nvSpPr>
        <p:spPr>
          <a:xfrm>
            <a:off x="6956425" y="1835151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51"/>
          <p:cNvSpPr txBox="1"/>
          <p:nvPr/>
        </p:nvSpPr>
        <p:spPr>
          <a:xfrm>
            <a:off x="7754939" y="2505076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1" name="Google Shape;1821;p51"/>
          <p:cNvCxnSpPr/>
          <p:nvPr/>
        </p:nvCxnSpPr>
        <p:spPr>
          <a:xfrm rot="10800000">
            <a:off x="2989264" y="47545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2" name="Google Shape;1822;p51"/>
          <p:cNvCxnSpPr/>
          <p:nvPr/>
        </p:nvCxnSpPr>
        <p:spPr>
          <a:xfrm flipH="1">
            <a:off x="3376613" y="4802189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3" name="Google Shape;1823;p51"/>
          <p:cNvCxnSpPr/>
          <p:nvPr/>
        </p:nvCxnSpPr>
        <p:spPr>
          <a:xfrm>
            <a:off x="3795714" y="4830764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4" name="Google Shape;1824;p51"/>
          <p:cNvGrpSpPr/>
          <p:nvPr/>
        </p:nvGrpSpPr>
        <p:grpSpPr>
          <a:xfrm>
            <a:off x="2533651" y="45577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5" name="Google Shape;182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27" name="Google Shape;1827;p51"/>
          <p:cNvGrpSpPr/>
          <p:nvPr/>
        </p:nvGrpSpPr>
        <p:grpSpPr>
          <a:xfrm>
            <a:off x="2940051" y="50149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8" name="Google Shape;182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9" name="Google Shape;182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0" name="Google Shape;1830;p51"/>
          <p:cNvGrpSpPr/>
          <p:nvPr/>
        </p:nvGrpSpPr>
        <p:grpSpPr>
          <a:xfrm>
            <a:off x="3468689" y="5046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31" name="Google Shape;183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2" name="Google Shape;183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33" name="Google Shape;1833;p51"/>
          <p:cNvCxnSpPr/>
          <p:nvPr/>
        </p:nvCxnSpPr>
        <p:spPr>
          <a:xfrm>
            <a:off x="4014789" y="476091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4" name="Google Shape;1834;p51"/>
          <p:cNvCxnSpPr/>
          <p:nvPr/>
        </p:nvCxnSpPr>
        <p:spPr>
          <a:xfrm flipH="1">
            <a:off x="4246563" y="5256214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5" name="Google Shape;1835;p51"/>
          <p:cNvCxnSpPr/>
          <p:nvPr/>
        </p:nvCxnSpPr>
        <p:spPr>
          <a:xfrm>
            <a:off x="4651376" y="52673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51"/>
          <p:cNvCxnSpPr/>
          <p:nvPr/>
        </p:nvCxnSpPr>
        <p:spPr>
          <a:xfrm rot="10800000">
            <a:off x="4549776" y="51482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7" name="Google Shape;1837;p51"/>
          <p:cNvGrpSpPr/>
          <p:nvPr/>
        </p:nvGrpSpPr>
        <p:grpSpPr>
          <a:xfrm>
            <a:off x="3873501" y="5419726"/>
            <a:ext cx="568325" cy="481013"/>
            <a:chOff x="-44" y="1473"/>
            <a:chExt cx="981" cy="1105"/>
          </a:xfrm>
        </p:grpSpPr>
        <p:pic>
          <p:nvPicPr>
            <p:cNvPr descr="desktop_computer_stylized_medium" id="1838" name="Google Shape;183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40" name="Google Shape;1840;p51"/>
          <p:cNvGrpSpPr/>
          <p:nvPr/>
        </p:nvGrpSpPr>
        <p:grpSpPr>
          <a:xfrm>
            <a:off x="4330701" y="5487988"/>
            <a:ext cx="568325" cy="481012"/>
            <a:chOff x="-44" y="1473"/>
            <a:chExt cx="981" cy="1105"/>
          </a:xfrm>
        </p:grpSpPr>
        <p:pic>
          <p:nvPicPr>
            <p:cNvPr descr="desktop_computer_stylized_medium" id="1841" name="Google Shape;184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43" name="Google Shape;184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1063" y="4602164"/>
            <a:ext cx="677862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1" y="5018089"/>
            <a:ext cx="677863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5" name="Google Shape;1845;p51"/>
          <p:cNvGrpSpPr/>
          <p:nvPr/>
        </p:nvGrpSpPr>
        <p:grpSpPr>
          <a:xfrm>
            <a:off x="4756151" y="4946651"/>
            <a:ext cx="568325" cy="481013"/>
            <a:chOff x="-44" y="1473"/>
            <a:chExt cx="981" cy="1105"/>
          </a:xfrm>
        </p:grpSpPr>
        <p:pic>
          <p:nvPicPr>
            <p:cNvPr descr="desktop_computer_stylized_medium" id="1846" name="Google Shape;184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48" name="Google Shape;1848;p51"/>
          <p:cNvCxnSpPr/>
          <p:nvPr/>
        </p:nvCxnSpPr>
        <p:spPr>
          <a:xfrm rot="10800000">
            <a:off x="7208839" y="5022850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51"/>
          <p:cNvCxnSpPr/>
          <p:nvPr/>
        </p:nvCxnSpPr>
        <p:spPr>
          <a:xfrm flipH="1">
            <a:off x="7596188" y="5070476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51"/>
          <p:cNvCxnSpPr/>
          <p:nvPr/>
        </p:nvCxnSpPr>
        <p:spPr>
          <a:xfrm>
            <a:off x="8015289" y="5099051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1" name="Google Shape;1851;p51"/>
          <p:cNvGrpSpPr/>
          <p:nvPr/>
        </p:nvGrpSpPr>
        <p:grpSpPr>
          <a:xfrm>
            <a:off x="6900864" y="48371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52" name="Google Shape;185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Google Shape;1853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4" name="Google Shape;1854;p51"/>
          <p:cNvGrpSpPr/>
          <p:nvPr/>
        </p:nvGrpSpPr>
        <p:grpSpPr>
          <a:xfrm>
            <a:off x="7159626" y="5283201"/>
            <a:ext cx="569913" cy="481013"/>
            <a:chOff x="-44" y="1473"/>
            <a:chExt cx="981" cy="1105"/>
          </a:xfrm>
        </p:grpSpPr>
        <p:pic>
          <p:nvPicPr>
            <p:cNvPr descr="desktop_computer_stylized_medium" id="1855" name="Google Shape;185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7" name="Google Shape;1857;p51"/>
          <p:cNvGrpSpPr/>
          <p:nvPr/>
        </p:nvGrpSpPr>
        <p:grpSpPr>
          <a:xfrm>
            <a:off x="7688264" y="5313363"/>
            <a:ext cx="568325" cy="482600"/>
            <a:chOff x="-44" y="1473"/>
            <a:chExt cx="981" cy="1105"/>
          </a:xfrm>
        </p:grpSpPr>
        <p:pic>
          <p:nvPicPr>
            <p:cNvPr descr="desktop_computer_stylized_medium" id="1858" name="Google Shape;185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9" name="Google Shape;185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60" name="Google Shape;1860;p51"/>
          <p:cNvCxnSpPr/>
          <p:nvPr/>
        </p:nvCxnSpPr>
        <p:spPr>
          <a:xfrm rot="10800000">
            <a:off x="6183314" y="5068889"/>
            <a:ext cx="606425" cy="312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51"/>
          <p:cNvCxnSpPr/>
          <p:nvPr/>
        </p:nvCxnSpPr>
        <p:spPr>
          <a:xfrm flipH="1">
            <a:off x="5719763" y="502285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2" name="Google Shape;1862;p51"/>
          <p:cNvCxnSpPr/>
          <p:nvPr/>
        </p:nvCxnSpPr>
        <p:spPr>
          <a:xfrm>
            <a:off x="6138864" y="50514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3" name="Google Shape;1863;p51"/>
          <p:cNvGrpSpPr/>
          <p:nvPr/>
        </p:nvGrpSpPr>
        <p:grpSpPr>
          <a:xfrm>
            <a:off x="6327776" y="5230813"/>
            <a:ext cx="569913" cy="481012"/>
            <a:chOff x="-44" y="1473"/>
            <a:chExt cx="981" cy="1105"/>
          </a:xfrm>
        </p:grpSpPr>
        <p:pic>
          <p:nvPicPr>
            <p:cNvPr descr="desktop_computer_stylized_medium" id="1864" name="Google Shape;186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6" name="Google Shape;1866;p51"/>
          <p:cNvGrpSpPr/>
          <p:nvPr/>
        </p:nvGrpSpPr>
        <p:grpSpPr>
          <a:xfrm>
            <a:off x="5283201" y="5235575"/>
            <a:ext cx="569913" cy="482600"/>
            <a:chOff x="-44" y="1473"/>
            <a:chExt cx="981" cy="1105"/>
          </a:xfrm>
        </p:grpSpPr>
        <p:pic>
          <p:nvPicPr>
            <p:cNvPr descr="desktop_computer_stylized_medium" id="1867" name="Google Shape;186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8" name="Google Shape;186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9" name="Google Shape;1869;p51"/>
          <p:cNvGrpSpPr/>
          <p:nvPr/>
        </p:nvGrpSpPr>
        <p:grpSpPr>
          <a:xfrm>
            <a:off x="5811838" y="5267326"/>
            <a:ext cx="569912" cy="481013"/>
            <a:chOff x="-44" y="1473"/>
            <a:chExt cx="981" cy="1105"/>
          </a:xfrm>
        </p:grpSpPr>
        <p:pic>
          <p:nvPicPr>
            <p:cNvPr descr="desktop_computer_stylized_medium" id="1870" name="Google Shape;187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1" name="Google Shape;187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2" name="Google Shape;187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4213" y="4822826"/>
            <a:ext cx="677862" cy="3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3" name="Google Shape;1873;p51"/>
          <p:cNvCxnSpPr/>
          <p:nvPr/>
        </p:nvCxnSpPr>
        <p:spPr>
          <a:xfrm rot="10800000">
            <a:off x="8043864" y="510063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74" name="Google Shape;187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638" y="4870451"/>
            <a:ext cx="677862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5" name="Google Shape;1875;p51"/>
          <p:cNvGrpSpPr/>
          <p:nvPr/>
        </p:nvGrpSpPr>
        <p:grpSpPr>
          <a:xfrm>
            <a:off x="8208963" y="4884738"/>
            <a:ext cx="569912" cy="481012"/>
            <a:chOff x="-44" y="1473"/>
            <a:chExt cx="981" cy="1105"/>
          </a:xfrm>
        </p:grpSpPr>
        <p:pic>
          <p:nvPicPr>
            <p:cNvPr descr="desktop_computer_stylized_medium" id="1876" name="Google Shape;187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7" name="Google Shape;187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8" name="Google Shape;187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3062289"/>
            <a:ext cx="935038" cy="41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9" name="Google Shape;1879;p51"/>
          <p:cNvGrpSpPr/>
          <p:nvPr/>
        </p:nvGrpSpPr>
        <p:grpSpPr>
          <a:xfrm>
            <a:off x="6664326" y="2111375"/>
            <a:ext cx="366713" cy="579438"/>
            <a:chOff x="4140" y="429"/>
            <a:chExt cx="1425" cy="2396"/>
          </a:xfrm>
        </p:grpSpPr>
        <p:sp>
          <p:nvSpPr>
            <p:cNvPr id="1880" name="Google Shape;1880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1" name="Google Shape;1881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3" name="Google Shape;1883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4" name="Google Shape;1884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5" name="Google Shape;1885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86" name="Google Shape;1886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8" name="Google Shape;1888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9" name="Google Shape;1889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890" name="Google Shape;1890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2" name="Google Shape;1892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4" name="Google Shape;1894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895" name="Google Shape;1895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7" name="Google Shape;1897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898" name="Google Shape;1898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899" name="Google Shape;1899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1" name="Google Shape;1901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3" name="Google Shape;1903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4" name="Google Shape;1904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6" name="Google Shape;1906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2" name="Google Shape;1912;p51"/>
          <p:cNvGrpSpPr/>
          <p:nvPr/>
        </p:nvGrpSpPr>
        <p:grpSpPr>
          <a:xfrm>
            <a:off x="7269163" y="2620964"/>
            <a:ext cx="366712" cy="579437"/>
            <a:chOff x="4140" y="429"/>
            <a:chExt cx="1425" cy="2396"/>
          </a:xfrm>
        </p:grpSpPr>
        <p:sp>
          <p:nvSpPr>
            <p:cNvPr id="1913" name="Google Shape;1913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4" name="Google Shape;1914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6" name="Google Shape;1916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7" name="Google Shape;1917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8" name="Google Shape;1918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919" name="Google Shape;1919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1" name="Google Shape;1921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2" name="Google Shape;1922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923" name="Google Shape;1923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5" name="Google Shape;1925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7" name="Google Shape;1927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928" name="Google Shape;1928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0" name="Google Shape;1930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931" name="Google Shape;1931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932" name="Google Shape;1932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4" name="Google Shape;1934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6" name="Google Shape;1936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7" name="Google Shape;1937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9" name="Google Shape;1939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945" name="Google Shape;194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1063" y="1039814"/>
            <a:ext cx="5027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6" name="Google Shape;1946;p51"/>
          <p:cNvGrpSpPr/>
          <p:nvPr/>
        </p:nvGrpSpPr>
        <p:grpSpPr>
          <a:xfrm>
            <a:off x="4275485" y="2148330"/>
            <a:ext cx="880316" cy="510540"/>
            <a:chOff x="1871277" y="1576300"/>
            <a:chExt cx="1128371" cy="437861"/>
          </a:xfrm>
        </p:grpSpPr>
        <p:sp>
          <p:nvSpPr>
            <p:cNvPr id="1947" name="Google Shape;1947;p5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8" name="Google Shape;1948;p5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9" name="Google Shape;1949;p5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0" name="Google Shape;1950;p5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1" name="Google Shape;1951;p5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2" name="Google Shape;1952;p5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3" name="Google Shape;1953;p5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954" name="Google Shape;1954;p51"/>
            <p:cNvCxnSpPr>
              <a:endCxn id="1949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1955" name="Google Shape;1955;p5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2"/>
          <p:cNvSpPr txBox="1"/>
          <p:nvPr>
            <p:ph type="title"/>
          </p:nvPr>
        </p:nvSpPr>
        <p:spPr>
          <a:xfrm>
            <a:off x="1939925" y="39688"/>
            <a:ext cx="45608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Switches vs. routers</a:t>
            </a:r>
            <a:endParaRPr/>
          </a:p>
        </p:txBody>
      </p:sp>
      <p:sp>
        <p:nvSpPr>
          <p:cNvPr id="1962" name="Google Shape;1962;p52"/>
          <p:cNvSpPr txBox="1"/>
          <p:nvPr>
            <p:ph idx="1" type="body"/>
          </p:nvPr>
        </p:nvSpPr>
        <p:spPr>
          <a:xfrm>
            <a:off x="1966913" y="1341439"/>
            <a:ext cx="3967162" cy="4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are store-and-forward: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network-layer devices (examine network-layer headers)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link-layer devices (examine link-layer headers)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have forwarding tables: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compute tables using routing algorithms, IP addresses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learn forwarding table using flooding, learning, MAC addresses </a:t>
            </a:r>
            <a:endParaRPr/>
          </a:p>
        </p:txBody>
      </p:sp>
      <p:sp>
        <p:nvSpPr>
          <p:cNvPr id="1963" name="Google Shape;1963;p52"/>
          <p:cNvSpPr/>
          <p:nvPr/>
        </p:nvSpPr>
        <p:spPr>
          <a:xfrm flipH="1">
            <a:off x="8067676" y="2103439"/>
            <a:ext cx="638175" cy="85248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4" name="Google Shape;1964;p52"/>
          <p:cNvSpPr/>
          <p:nvPr/>
        </p:nvSpPr>
        <p:spPr>
          <a:xfrm>
            <a:off x="8054976" y="844551"/>
            <a:ext cx="360363" cy="1577975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5" name="Google Shape;1965;p52"/>
          <p:cNvSpPr/>
          <p:nvPr/>
        </p:nvSpPr>
        <p:spPr>
          <a:xfrm>
            <a:off x="6831014" y="850901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52"/>
          <p:cNvSpPr/>
          <p:nvPr/>
        </p:nvSpPr>
        <p:spPr>
          <a:xfrm>
            <a:off x="6783389" y="922338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7" name="Google Shape;1967;p52"/>
          <p:cNvCxnSpPr/>
          <p:nvPr/>
        </p:nvCxnSpPr>
        <p:spPr>
          <a:xfrm>
            <a:off x="6783388" y="1239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8" name="Google Shape;1968;p52"/>
          <p:cNvSpPr txBox="1"/>
          <p:nvPr/>
        </p:nvSpPr>
        <p:spPr>
          <a:xfrm>
            <a:off x="6740526" y="889000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52"/>
          <p:cNvCxnSpPr/>
          <p:nvPr/>
        </p:nvCxnSpPr>
        <p:spPr>
          <a:xfrm>
            <a:off x="6791325" y="15605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52"/>
          <p:cNvCxnSpPr/>
          <p:nvPr/>
        </p:nvCxnSpPr>
        <p:spPr>
          <a:xfrm>
            <a:off x="6796088" y="184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52"/>
          <p:cNvCxnSpPr/>
          <p:nvPr/>
        </p:nvCxnSpPr>
        <p:spPr>
          <a:xfrm>
            <a:off x="6796088" y="21177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2" name="Google Shape;1972;p52"/>
          <p:cNvGrpSpPr/>
          <p:nvPr/>
        </p:nvGrpSpPr>
        <p:grpSpPr>
          <a:xfrm>
            <a:off x="8240714" y="3525838"/>
            <a:ext cx="1387475" cy="1035050"/>
            <a:chOff x="3601" y="168"/>
            <a:chExt cx="874" cy="652"/>
          </a:xfrm>
        </p:grpSpPr>
        <p:sp>
          <p:nvSpPr>
            <p:cNvPr id="1973" name="Google Shape;1973;p52"/>
            <p:cNvSpPr/>
            <p:nvPr/>
          </p:nvSpPr>
          <p:spPr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52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5" name="Google Shape;1975;p52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6" name="Google Shape;1976;p52"/>
            <p:cNvSpPr txBox="1"/>
            <p:nvPr/>
          </p:nvSpPr>
          <p:spPr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7" name="Google Shape;1977;p52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8" name="Google Shape;1978;p52"/>
          <p:cNvGrpSpPr/>
          <p:nvPr/>
        </p:nvGrpSpPr>
        <p:grpSpPr>
          <a:xfrm>
            <a:off x="8578851" y="2100264"/>
            <a:ext cx="1387475" cy="733425"/>
            <a:chOff x="4696" y="597"/>
            <a:chExt cx="874" cy="462"/>
          </a:xfrm>
        </p:grpSpPr>
        <p:sp>
          <p:nvSpPr>
            <p:cNvPr id="1979" name="Google Shape;1979;p52"/>
            <p:cNvSpPr/>
            <p:nvPr/>
          </p:nvSpPr>
          <p:spPr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52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1" name="Google Shape;1981;p52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2" name="Google Shape;1982;p52"/>
            <p:cNvSpPr txBox="1"/>
            <p:nvPr/>
          </p:nvSpPr>
          <p:spPr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3" name="Google Shape;1983;p52"/>
          <p:cNvSpPr txBox="1"/>
          <p:nvPr/>
        </p:nvSpPr>
        <p:spPr>
          <a:xfrm>
            <a:off x="7378700" y="3003550"/>
            <a:ext cx="9032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4" name="Google Shape;1984;p52"/>
          <p:cNvGrpSpPr/>
          <p:nvPr/>
        </p:nvGrpSpPr>
        <p:grpSpPr>
          <a:xfrm>
            <a:off x="5932489" y="1562100"/>
            <a:ext cx="962025" cy="304800"/>
            <a:chOff x="1070" y="918"/>
            <a:chExt cx="606" cy="192"/>
          </a:xfrm>
        </p:grpSpPr>
        <p:sp>
          <p:nvSpPr>
            <p:cNvPr id="1985" name="Google Shape;1985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7" name="Google Shape;1987;p52"/>
          <p:cNvSpPr/>
          <p:nvPr/>
        </p:nvSpPr>
        <p:spPr>
          <a:xfrm>
            <a:off x="6732589" y="4594226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52"/>
          <p:cNvSpPr/>
          <p:nvPr/>
        </p:nvSpPr>
        <p:spPr>
          <a:xfrm>
            <a:off x="6684964" y="466566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9" name="Google Shape;1989;p52"/>
          <p:cNvCxnSpPr/>
          <p:nvPr/>
        </p:nvCxnSpPr>
        <p:spPr>
          <a:xfrm>
            <a:off x="6684963" y="49831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0" name="Google Shape;1990;p52"/>
          <p:cNvSpPr txBox="1"/>
          <p:nvPr/>
        </p:nvSpPr>
        <p:spPr>
          <a:xfrm>
            <a:off x="6642101" y="4632325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1" name="Google Shape;1991;p52"/>
          <p:cNvCxnSpPr/>
          <p:nvPr/>
        </p:nvCxnSpPr>
        <p:spPr>
          <a:xfrm>
            <a:off x="6692900" y="5303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52"/>
          <p:cNvCxnSpPr/>
          <p:nvPr/>
        </p:nvCxnSpPr>
        <p:spPr>
          <a:xfrm>
            <a:off x="6697663" y="5584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3" name="Google Shape;1993;p52"/>
          <p:cNvCxnSpPr/>
          <p:nvPr/>
        </p:nvCxnSpPr>
        <p:spPr>
          <a:xfrm>
            <a:off x="6697663" y="58610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4" name="Google Shape;1994;p52"/>
          <p:cNvSpPr/>
          <p:nvPr/>
        </p:nvSpPr>
        <p:spPr>
          <a:xfrm>
            <a:off x="7996238" y="4600576"/>
            <a:ext cx="381000" cy="1857375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5" name="Google Shape;1995;p52"/>
          <p:cNvGrpSpPr/>
          <p:nvPr/>
        </p:nvGrpSpPr>
        <p:grpSpPr>
          <a:xfrm>
            <a:off x="5818189" y="1814514"/>
            <a:ext cx="1095375" cy="338137"/>
            <a:chOff x="998" y="1077"/>
            <a:chExt cx="690" cy="213"/>
          </a:xfrm>
        </p:grpSpPr>
        <p:sp>
          <p:nvSpPr>
            <p:cNvPr id="1996" name="Google Shape;1996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8" name="Google Shape;1998;p52"/>
          <p:cNvSpPr/>
          <p:nvPr/>
        </p:nvSpPr>
        <p:spPr>
          <a:xfrm>
            <a:off x="6805614" y="723900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9" name="Google Shape;1999;p52"/>
          <p:cNvGrpSpPr/>
          <p:nvPr/>
        </p:nvGrpSpPr>
        <p:grpSpPr>
          <a:xfrm>
            <a:off x="9590089" y="2166939"/>
            <a:ext cx="1095375" cy="338137"/>
            <a:chOff x="998" y="1077"/>
            <a:chExt cx="690" cy="213"/>
          </a:xfrm>
        </p:grpSpPr>
        <p:sp>
          <p:nvSpPr>
            <p:cNvPr id="2000" name="Google Shape;2000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2" name="Google Shape;2002;p52"/>
          <p:cNvGrpSpPr/>
          <p:nvPr/>
        </p:nvGrpSpPr>
        <p:grpSpPr>
          <a:xfrm>
            <a:off x="9266239" y="3919539"/>
            <a:ext cx="1095375" cy="338137"/>
            <a:chOff x="998" y="1077"/>
            <a:chExt cx="690" cy="213"/>
          </a:xfrm>
        </p:grpSpPr>
        <p:sp>
          <p:nvSpPr>
            <p:cNvPr id="2003" name="Google Shape;2003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52"/>
          <p:cNvGrpSpPr/>
          <p:nvPr/>
        </p:nvGrpSpPr>
        <p:grpSpPr>
          <a:xfrm>
            <a:off x="9332914" y="3638550"/>
            <a:ext cx="962025" cy="304800"/>
            <a:chOff x="1070" y="918"/>
            <a:chExt cx="606" cy="192"/>
          </a:xfrm>
        </p:grpSpPr>
        <p:sp>
          <p:nvSpPr>
            <p:cNvPr id="2006" name="Google Shape;2006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8" name="Google Shape;2008;p52"/>
          <p:cNvSpPr/>
          <p:nvPr/>
        </p:nvSpPr>
        <p:spPr>
          <a:xfrm>
            <a:off x="7948613" y="3533776"/>
            <a:ext cx="361950" cy="9239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000099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09" name="Google Shape;2009;p52"/>
          <p:cNvGrpSpPr/>
          <p:nvPr/>
        </p:nvGrpSpPr>
        <p:grpSpPr>
          <a:xfrm>
            <a:off x="8005763" y="134778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0" name="Google Shape;2010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1" name="Google Shape;2011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012" name="Google Shape;2012;p52"/>
          <p:cNvGrpSpPr/>
          <p:nvPr/>
        </p:nvGrpSpPr>
        <p:grpSpPr>
          <a:xfrm>
            <a:off x="7985125" y="600233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3" name="Google Shape;2013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4" name="Google Shape;2014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2015" name="Google Shape;201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7464" y="2671764"/>
            <a:ext cx="87788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16" name="Google Shape;201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488" y="847725"/>
            <a:ext cx="4113212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7" name="Google Shape;2017;p52"/>
          <p:cNvGrpSpPr/>
          <p:nvPr/>
        </p:nvGrpSpPr>
        <p:grpSpPr>
          <a:xfrm>
            <a:off x="7331755" y="3834927"/>
            <a:ext cx="781085" cy="431171"/>
            <a:chOff x="1871277" y="1576300"/>
            <a:chExt cx="1128371" cy="437861"/>
          </a:xfrm>
        </p:grpSpPr>
        <p:sp>
          <p:nvSpPr>
            <p:cNvPr id="2018" name="Google Shape;2018;p5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9" name="Google Shape;2019;p5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0" name="Google Shape;2020;p5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1" name="Google Shape;2021;p5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2" name="Google Shape;2022;p5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3" name="Google Shape;2023;p5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4" name="Google Shape;2024;p5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025" name="Google Shape;2025;p52"/>
            <p:cNvCxnSpPr>
              <a:endCxn id="20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2026" name="Google Shape;2026;p5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5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2032" name="Google Shape;2032;p5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