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  <p:sldMasterId id="2147483666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y="6858000" cx="12192000"/>
  <p:notesSz cx="6858000" cy="9144000"/>
  <p:embeddedFontLst>
    <p:embeddedFont>
      <p:font typeface="Corbel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38" roundtripDataSignature="AMtx7mgx70Og3FzNUnNGIOAnOXQcJ7dX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F01A82B-0A2B-4C9C-AFFF-90C5AF06392D}">
  <a:tblStyle styleId="{8F01A82B-0A2B-4C9C-AFFF-90C5AF06392D}" styleName="Table_0">
    <a:wholeTbl>
      <a:tcTxStyle b="off" i="off">
        <a:font>
          <a:latin typeface="Corbel"/>
          <a:ea typeface="Corbel"/>
          <a:cs typeface="Corbel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dk1">
              <a:alpha val="20000"/>
            </a:schemeClr>
          </a:solidFill>
        </a:fill>
      </a:tcStyle>
    </a:band1H>
    <a:band2H>
      <a:tcTxStyle b="off" i="off"/>
    </a:band2H>
    <a:band1V>
      <a:tcTxStyle b="off" i="off"/>
      <a:tcStyle>
        <a:fill>
          <a:solidFill>
            <a:schemeClr val="dk1">
              <a:alpha val="20000"/>
            </a:scheme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font" Target="fonts/Corbel-bold.fntdata"/><Relationship Id="rId12" Type="http://schemas.openxmlformats.org/officeDocument/2006/relationships/slide" Target="slides/slide5.xml"/><Relationship Id="rId34" Type="http://schemas.openxmlformats.org/officeDocument/2006/relationships/font" Target="fonts/Corbel-regular.fntdata"/><Relationship Id="rId15" Type="http://schemas.openxmlformats.org/officeDocument/2006/relationships/slide" Target="slides/slide8.xml"/><Relationship Id="rId37" Type="http://schemas.openxmlformats.org/officeDocument/2006/relationships/font" Target="fonts/Corbel-boldItalic.fntdata"/><Relationship Id="rId14" Type="http://schemas.openxmlformats.org/officeDocument/2006/relationships/slide" Target="slides/slide7.xml"/><Relationship Id="rId36" Type="http://schemas.openxmlformats.org/officeDocument/2006/relationships/font" Target="fonts/Corbel-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38" Type="http://customschemas.google.com/relationships/presentationmetadata" Target="meta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4" name="Google Shape;27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3" name="Google Shape;283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7" name="Google Shape;307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6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6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6" name="Google Shape;316;p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7" name="Google Shape;317;p6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5" name="Google Shape;32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en-US">
                <a:solidFill>
                  <a:srgbClr val="66FF33"/>
                </a:solidFill>
                <a:latin typeface="Arial"/>
                <a:ea typeface="Arial"/>
                <a:cs typeface="Arial"/>
                <a:sym typeface="Arial"/>
              </a:rPr>
              <a:t>How does a link-state routing protocol work?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i="1" lang="en-US">
                <a:solidFill>
                  <a:srgbClr val="66FF33"/>
                </a:solidFill>
                <a:latin typeface="Arial"/>
                <a:ea typeface="Arial"/>
                <a:cs typeface="Arial"/>
                <a:sym typeface="Arial"/>
              </a:rPr>
              <a:t>How does a link-state routing protocol work?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2" name="Google Shape;332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" name="Google Shape;343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" name="Google Shape;351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9" name="Google Shape;369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0" name="Google Shape;380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8" name="Google Shape;388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7" name="Google Shape;407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6" name="Google Shape;436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1" name="Google Shape;451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9" name="Google Shape;459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0" name="Google Shape;470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0" name="Google Shape;480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0" name="Google Shape;490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0" name="Google Shape;500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9" name="Google Shape;509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7" name="Google Shape;517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5" name="Google Shape;52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5" name="Google Shape;535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3" name="Google Shape;543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34"/>
          <p:cNvGrpSpPr/>
          <p:nvPr/>
        </p:nvGrpSpPr>
        <p:grpSpPr>
          <a:xfrm>
            <a:off x="546100" y="-4763"/>
            <a:ext cx="5014913" cy="6862763"/>
            <a:chOff x="2928938" y="-4763"/>
            <a:chExt cx="5014912" cy="6862763"/>
          </a:xfrm>
        </p:grpSpPr>
        <p:sp>
          <p:nvSpPr>
            <p:cNvPr id="24" name="Google Shape;24;p34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34"/>
            <p:cNvSpPr/>
            <p:nvPr/>
          </p:nvSpPr>
          <p:spPr>
            <a:xfrm>
              <a:off x="2928938" y="-4763"/>
              <a:ext cx="1035050" cy="2673351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Google Shape;26;p34"/>
            <p:cNvSpPr/>
            <p:nvPr/>
          </p:nvSpPr>
          <p:spPr>
            <a:xfrm>
              <a:off x="2928938" y="2582863"/>
              <a:ext cx="2693987" cy="4275137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Google Shape;27;p34"/>
            <p:cNvSpPr/>
            <p:nvPr/>
          </p:nvSpPr>
          <p:spPr>
            <a:xfrm>
              <a:off x="3371851" y="2692400"/>
              <a:ext cx="3332161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28" name="Google Shape;28;p34"/>
            <p:cNvSpPr/>
            <p:nvPr/>
          </p:nvSpPr>
          <p:spPr>
            <a:xfrm>
              <a:off x="3367088" y="2687638"/>
              <a:ext cx="4576762" cy="4170362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29" name="Google Shape;29;p34"/>
            <p:cNvSpPr/>
            <p:nvPr/>
          </p:nvSpPr>
          <p:spPr>
            <a:xfrm>
              <a:off x="2928938" y="2578100"/>
              <a:ext cx="3584574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pic>
        <p:nvPicPr>
          <p:cNvPr id="30" name="Google Shape;30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90188" y="201613"/>
            <a:ext cx="114300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4"/>
          <p:cNvSpPr txBox="1"/>
          <p:nvPr>
            <p:ph type="ctrTitle"/>
          </p:nvPr>
        </p:nvSpPr>
        <p:spPr>
          <a:xfrm>
            <a:off x="2928402" y="1380070"/>
            <a:ext cx="8574623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4"/>
          <p:cNvSpPr txBox="1"/>
          <p:nvPr>
            <p:ph idx="1" type="subTitle"/>
          </p:nvPr>
        </p:nvSpPr>
        <p:spPr>
          <a:xfrm>
            <a:off x="4515378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SzPts val="2284"/>
              <a:buNone/>
              <a:defRPr sz="1575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175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85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5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523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34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4"/>
          <p:cNvSpPr txBox="1"/>
          <p:nvPr>
            <p:ph idx="11" type="ftr"/>
          </p:nvPr>
        </p:nvSpPr>
        <p:spPr>
          <a:xfrm>
            <a:off x="5332413" y="5883275"/>
            <a:ext cx="43243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4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3"/>
          <p:cNvSpPr txBox="1"/>
          <p:nvPr>
            <p:ph type="title"/>
          </p:nvPr>
        </p:nvSpPr>
        <p:spPr>
          <a:xfrm>
            <a:off x="1484313" y="685800"/>
            <a:ext cx="10018712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3"/>
          <p:cNvSpPr txBox="1"/>
          <p:nvPr>
            <p:ph idx="1" type="body"/>
          </p:nvPr>
        </p:nvSpPr>
        <p:spPr>
          <a:xfrm>
            <a:off x="1484313" y="2667000"/>
            <a:ext cx="10018712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39" name="Google Shape;39;p53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3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3"/>
          <p:cNvSpPr txBox="1"/>
          <p:nvPr>
            <p:ph idx="12" type="sldNum"/>
          </p:nvPr>
        </p:nvSpPr>
        <p:spPr>
          <a:xfrm>
            <a:off x="10952163" y="5867400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4"/>
          <p:cNvSpPr txBox="1"/>
          <p:nvPr>
            <p:ph type="title"/>
          </p:nvPr>
        </p:nvSpPr>
        <p:spPr>
          <a:xfrm>
            <a:off x="2572280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3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4"/>
          <p:cNvSpPr txBox="1"/>
          <p:nvPr>
            <p:ph idx="1" type="body"/>
          </p:nvPr>
        </p:nvSpPr>
        <p:spPr>
          <a:xfrm>
            <a:off x="2572279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75"/>
              <a:buNone/>
              <a:defRPr sz="15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958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5" name="Google Shape;45;p54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4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4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5"/>
          <p:cNvSpPr txBox="1"/>
          <p:nvPr>
            <p:ph type="title"/>
          </p:nvPr>
        </p:nvSpPr>
        <p:spPr>
          <a:xfrm>
            <a:off x="1484313" y="685802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5"/>
          <p:cNvSpPr txBox="1"/>
          <p:nvPr>
            <p:ph idx="1" type="body"/>
          </p:nvPr>
        </p:nvSpPr>
        <p:spPr>
          <a:xfrm>
            <a:off x="1484314" y="2667001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52933" lvl="0" marL="4572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958"/>
              <a:buChar char="•"/>
              <a:defRPr sz="1350"/>
            </a:lvl1pPr>
            <a:lvl2pPr indent="-33909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Char char="•"/>
              <a:defRPr sz="1200"/>
            </a:lvl2pPr>
            <a:lvl3pPr indent="-32531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Char char="•"/>
              <a:defRPr sz="1050"/>
            </a:lvl3pPr>
            <a:lvl4pPr indent="-311467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4pPr>
            <a:lvl5pPr indent="-311467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5pPr>
            <a:lvl6pPr indent="-311467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6pPr>
            <a:lvl7pPr indent="-311467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7pPr>
            <a:lvl8pPr indent="-311467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8pPr>
            <a:lvl9pPr indent="-311467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305"/>
              <a:buChar char="•"/>
              <a:defRPr sz="900"/>
            </a:lvl9pPr>
          </a:lstStyle>
          <a:p/>
        </p:txBody>
      </p:sp>
      <p:sp>
        <p:nvSpPr>
          <p:cNvPr id="51" name="Google Shape;51;p55"/>
          <p:cNvSpPr txBox="1"/>
          <p:nvPr>
            <p:ph idx="2" type="body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52933" lvl="0" marL="4572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958"/>
              <a:buChar char="•"/>
              <a:defRPr sz="1350"/>
            </a:lvl1pPr>
            <a:lvl2pPr indent="-33909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Char char="•"/>
              <a:defRPr sz="1200"/>
            </a:lvl2pPr>
            <a:lvl3pPr indent="-32531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Char char="•"/>
              <a:defRPr sz="1050"/>
            </a:lvl3pPr>
            <a:lvl4pPr indent="-311467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4pPr>
            <a:lvl5pPr indent="-311467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5pPr>
            <a:lvl6pPr indent="-311467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6pPr>
            <a:lvl7pPr indent="-311467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7pPr>
            <a:lvl8pPr indent="-311467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8pPr>
            <a:lvl9pPr indent="-311467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305"/>
              <a:buChar char="•"/>
              <a:defRPr sz="900"/>
            </a:lvl9pPr>
          </a:lstStyle>
          <a:p/>
        </p:txBody>
      </p:sp>
      <p:sp>
        <p:nvSpPr>
          <p:cNvPr id="52" name="Google Shape;52;p55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5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5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6"/>
          <p:cNvSpPr txBox="1"/>
          <p:nvPr>
            <p:ph type="title"/>
          </p:nvPr>
        </p:nvSpPr>
        <p:spPr>
          <a:xfrm>
            <a:off x="1484313" y="685800"/>
            <a:ext cx="10018712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6"/>
          <p:cNvSpPr txBox="1"/>
          <p:nvPr>
            <p:ph idx="1" type="body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b="0" sz="21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175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958"/>
              <a:buNone/>
              <a:defRPr b="1" sz="1350"/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740"/>
              <a:buNone/>
              <a:defRPr b="1" sz="1200"/>
            </a:lvl9pPr>
          </a:lstStyle>
          <a:p/>
        </p:txBody>
      </p:sp>
      <p:sp>
        <p:nvSpPr>
          <p:cNvPr id="58" name="Google Shape;58;p56"/>
          <p:cNvSpPr txBox="1"/>
          <p:nvPr>
            <p:ph idx="2" type="body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2933" lvl="0" marL="4572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958"/>
              <a:buChar char="•"/>
              <a:defRPr sz="1350"/>
            </a:lvl1pPr>
            <a:lvl2pPr indent="-33909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Char char="•"/>
              <a:defRPr sz="1200"/>
            </a:lvl2pPr>
            <a:lvl3pPr indent="-32531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Char char="•"/>
              <a:defRPr sz="1050"/>
            </a:lvl3pPr>
            <a:lvl4pPr indent="-311467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4pPr>
            <a:lvl5pPr indent="-311467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5pPr>
            <a:lvl6pPr indent="-311467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6pPr>
            <a:lvl7pPr indent="-311467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7pPr>
            <a:lvl8pPr indent="-311467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8pPr>
            <a:lvl9pPr indent="-311467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305"/>
              <a:buChar char="•"/>
              <a:defRPr sz="900"/>
            </a:lvl9pPr>
          </a:lstStyle>
          <a:p/>
        </p:txBody>
      </p:sp>
      <p:sp>
        <p:nvSpPr>
          <p:cNvPr id="59" name="Google Shape;59;p56"/>
          <p:cNvSpPr txBox="1"/>
          <p:nvPr>
            <p:ph idx="3" type="body"/>
          </p:nvPr>
        </p:nvSpPr>
        <p:spPr>
          <a:xfrm>
            <a:off x="6880489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b="0" sz="21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175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958"/>
              <a:buNone/>
              <a:defRPr b="1" sz="1350"/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740"/>
              <a:buNone/>
              <a:defRPr b="1" sz="1200"/>
            </a:lvl9pPr>
          </a:lstStyle>
          <a:p/>
        </p:txBody>
      </p:sp>
      <p:sp>
        <p:nvSpPr>
          <p:cNvPr id="60" name="Google Shape;60;p56"/>
          <p:cNvSpPr txBox="1"/>
          <p:nvPr>
            <p:ph idx="4" type="body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2933" lvl="0" marL="4572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958"/>
              <a:buChar char="•"/>
              <a:defRPr sz="1350"/>
            </a:lvl1pPr>
            <a:lvl2pPr indent="-33909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Char char="•"/>
              <a:defRPr sz="1200"/>
            </a:lvl2pPr>
            <a:lvl3pPr indent="-32531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Char char="•"/>
              <a:defRPr sz="1050"/>
            </a:lvl3pPr>
            <a:lvl4pPr indent="-311467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4pPr>
            <a:lvl5pPr indent="-311467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5pPr>
            <a:lvl6pPr indent="-311467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6pPr>
            <a:lvl7pPr indent="-311467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7pPr>
            <a:lvl8pPr indent="-311467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8pPr>
            <a:lvl9pPr indent="-311467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305"/>
              <a:buChar char="•"/>
              <a:defRPr sz="900"/>
            </a:lvl9pPr>
          </a:lstStyle>
          <a:p/>
        </p:txBody>
      </p:sp>
      <p:sp>
        <p:nvSpPr>
          <p:cNvPr id="61" name="Google Shape;61;p56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56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6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7"/>
          <p:cNvSpPr txBox="1"/>
          <p:nvPr>
            <p:ph type="title"/>
          </p:nvPr>
        </p:nvSpPr>
        <p:spPr>
          <a:xfrm>
            <a:off x="1484313" y="685800"/>
            <a:ext cx="10018712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7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7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57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8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8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8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9"/>
          <p:cNvSpPr txBox="1"/>
          <p:nvPr>
            <p:ph type="title"/>
          </p:nvPr>
        </p:nvSpPr>
        <p:spPr>
          <a:xfrm>
            <a:off x="1484313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59"/>
          <p:cNvSpPr txBox="1"/>
          <p:nvPr>
            <p:ph idx="1" type="body"/>
          </p:nvPr>
        </p:nvSpPr>
        <p:spPr>
          <a:xfrm>
            <a:off x="5262034" y="685801"/>
            <a:ext cx="6240991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66712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75"/>
              <a:buChar char="•"/>
              <a:defRPr sz="1500"/>
            </a:lvl1pPr>
            <a:lvl2pPr indent="-352933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958"/>
              <a:buChar char="•"/>
              <a:defRPr sz="1350"/>
            </a:lvl2pPr>
            <a:lvl3pPr indent="-339089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Char char="•"/>
              <a:defRPr sz="1200"/>
            </a:lvl3pPr>
            <a:lvl4pPr indent="-32531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Char char="•"/>
              <a:defRPr sz="1050"/>
            </a:lvl4pPr>
            <a:lvl5pPr indent="-32531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Char char="•"/>
              <a:defRPr sz="1050"/>
            </a:lvl5pPr>
            <a:lvl6pPr indent="-32531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Char char="•"/>
              <a:defRPr sz="1050"/>
            </a:lvl6pPr>
            <a:lvl7pPr indent="-32531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Char char="•"/>
              <a:defRPr sz="1050"/>
            </a:lvl7pPr>
            <a:lvl8pPr indent="-32531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Char char="•"/>
              <a:defRPr sz="1050"/>
            </a:lvl8pPr>
            <a:lvl9pPr indent="-32531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523"/>
              <a:buChar char="•"/>
              <a:defRPr sz="1050"/>
            </a:lvl9pPr>
          </a:lstStyle>
          <a:p/>
        </p:txBody>
      </p:sp>
      <p:sp>
        <p:nvSpPr>
          <p:cNvPr id="76" name="Google Shape;76;p59"/>
          <p:cNvSpPr txBox="1"/>
          <p:nvPr>
            <p:ph idx="2" type="body"/>
          </p:nvPr>
        </p:nvSpPr>
        <p:spPr>
          <a:xfrm>
            <a:off x="1484313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74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88"/>
              <a:buNone/>
              <a:defRPr sz="750"/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979"/>
              <a:buNone/>
              <a:defRPr sz="675"/>
            </a:lvl9pPr>
          </a:lstStyle>
          <a:p/>
        </p:txBody>
      </p:sp>
      <p:sp>
        <p:nvSpPr>
          <p:cNvPr id="77" name="Google Shape;77;p59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9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9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0"/>
          <p:cNvSpPr txBox="1"/>
          <p:nvPr>
            <p:ph type="title"/>
          </p:nvPr>
        </p:nvSpPr>
        <p:spPr>
          <a:xfrm>
            <a:off x="1482725" y="1752599"/>
            <a:ext cx="5426159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60"/>
          <p:cNvSpPr/>
          <p:nvPr>
            <p:ph idx="2" type="pic"/>
          </p:nvPr>
        </p:nvSpPr>
        <p:spPr>
          <a:xfrm>
            <a:off x="7594682" y="914400"/>
            <a:ext cx="3280975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60"/>
          <p:cNvSpPr txBox="1"/>
          <p:nvPr>
            <p:ph idx="1" type="body"/>
          </p:nvPr>
        </p:nvSpPr>
        <p:spPr>
          <a:xfrm>
            <a:off x="1482725" y="3124199"/>
            <a:ext cx="5426159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958"/>
              <a:buNone/>
              <a:defRPr sz="1350"/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88"/>
              <a:buNone/>
              <a:defRPr sz="750"/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979"/>
              <a:buNone/>
              <a:defRPr sz="675"/>
            </a:lvl9pPr>
          </a:lstStyle>
          <a:p/>
        </p:txBody>
      </p:sp>
      <p:sp>
        <p:nvSpPr>
          <p:cNvPr id="84" name="Google Shape;84;p60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60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60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1"/>
          <p:cNvSpPr txBox="1"/>
          <p:nvPr>
            <p:ph type="title"/>
          </p:nvPr>
        </p:nvSpPr>
        <p:spPr>
          <a:xfrm>
            <a:off x="1484312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61"/>
          <p:cNvSpPr/>
          <p:nvPr>
            <p:ph idx="2" type="pic"/>
          </p:nvPr>
        </p:nvSpPr>
        <p:spPr>
          <a:xfrm>
            <a:off x="23860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61"/>
          <p:cNvSpPr txBox="1"/>
          <p:nvPr>
            <p:ph idx="1" type="body"/>
          </p:nvPr>
        </p:nvSpPr>
        <p:spPr>
          <a:xfrm>
            <a:off x="1484312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523"/>
              <a:buNone/>
              <a:defRPr sz="1050"/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88"/>
              <a:buNone/>
              <a:defRPr sz="750"/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979"/>
              <a:buNone/>
              <a:defRPr sz="675"/>
            </a:lvl9pPr>
          </a:lstStyle>
          <a:p/>
        </p:txBody>
      </p:sp>
      <p:sp>
        <p:nvSpPr>
          <p:cNvPr id="91" name="Google Shape;91;p61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61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61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2"/>
          <p:cNvSpPr txBox="1"/>
          <p:nvPr>
            <p:ph type="title"/>
          </p:nvPr>
        </p:nvSpPr>
        <p:spPr>
          <a:xfrm>
            <a:off x="1484314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24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62"/>
          <p:cNvSpPr txBox="1"/>
          <p:nvPr>
            <p:ph idx="1" type="body"/>
          </p:nvPr>
        </p:nvSpPr>
        <p:spPr>
          <a:xfrm>
            <a:off x="1484313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75"/>
              <a:buNone/>
              <a:defRPr sz="15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958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7" name="Google Shape;97;p62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62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62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3"/>
          <p:cNvSpPr txBox="1"/>
          <p:nvPr/>
        </p:nvSpPr>
        <p:spPr>
          <a:xfrm>
            <a:off x="1598613" y="863600"/>
            <a:ext cx="6096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orbel"/>
              <a:buNone/>
            </a:pPr>
            <a:r>
              <a:rPr b="0" i="0" lang="en-US" sz="6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63"/>
          <p:cNvSpPr txBox="1"/>
          <p:nvPr/>
        </p:nvSpPr>
        <p:spPr>
          <a:xfrm>
            <a:off x="10893425" y="2819400"/>
            <a:ext cx="6096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orbel"/>
              <a:buNone/>
            </a:pPr>
            <a:r>
              <a:rPr b="0" i="0" lang="en-US" sz="6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63"/>
          <p:cNvSpPr txBox="1"/>
          <p:nvPr>
            <p:ph type="title"/>
          </p:nvPr>
        </p:nvSpPr>
        <p:spPr>
          <a:xfrm>
            <a:off x="2208213" y="685801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2400" cap="none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63"/>
          <p:cNvSpPr txBox="1"/>
          <p:nvPr>
            <p:ph idx="1" type="body"/>
          </p:nvPr>
        </p:nvSpPr>
        <p:spPr>
          <a:xfrm>
            <a:off x="2436813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958"/>
              <a:buFont typeface="Corbel"/>
              <a:buNone/>
              <a:defRPr sz="1350"/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175"/>
              <a:buFont typeface="Corbel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85"/>
              <a:buFont typeface="Corbe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Font typeface="Corbe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50"/>
              <a:buFont typeface="Corbel"/>
              <a:buNone/>
              <a:defRPr/>
            </a:lvl5pPr>
            <a:lvl6pPr indent="-394335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05" name="Google Shape;105;p63"/>
          <p:cNvSpPr txBox="1"/>
          <p:nvPr>
            <p:ph idx="2" type="body"/>
          </p:nvPr>
        </p:nvSpPr>
        <p:spPr>
          <a:xfrm>
            <a:off x="1484312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75"/>
              <a:buNone/>
              <a:defRPr sz="15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958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6" name="Google Shape;106;p63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63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63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4"/>
          <p:cNvSpPr txBox="1"/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24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64"/>
          <p:cNvSpPr txBox="1"/>
          <p:nvPr>
            <p:ph idx="1" type="body"/>
          </p:nvPr>
        </p:nvSpPr>
        <p:spPr>
          <a:xfrm>
            <a:off x="1484312" y="4777381"/>
            <a:ext cx="10018711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75"/>
              <a:buNone/>
              <a:defRPr sz="15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958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2" name="Google Shape;112;p64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64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64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5"/>
          <p:cNvSpPr txBox="1"/>
          <p:nvPr/>
        </p:nvSpPr>
        <p:spPr>
          <a:xfrm>
            <a:off x="1598613" y="863600"/>
            <a:ext cx="6096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orbel"/>
              <a:buNone/>
            </a:pPr>
            <a:r>
              <a:rPr b="0" i="0" lang="en-US" sz="6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65"/>
          <p:cNvSpPr txBox="1"/>
          <p:nvPr/>
        </p:nvSpPr>
        <p:spPr>
          <a:xfrm>
            <a:off x="10893425" y="2819400"/>
            <a:ext cx="6096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orbel"/>
              <a:buNone/>
            </a:pPr>
            <a:r>
              <a:rPr b="0" i="0" lang="en-US" sz="6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65"/>
          <p:cNvSpPr txBox="1"/>
          <p:nvPr>
            <p:ph type="title"/>
          </p:nvPr>
        </p:nvSpPr>
        <p:spPr>
          <a:xfrm>
            <a:off x="2208213" y="685801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2400" cap="none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65"/>
          <p:cNvSpPr txBox="1"/>
          <p:nvPr>
            <p:ph idx="1" type="body"/>
          </p:nvPr>
        </p:nvSpPr>
        <p:spPr>
          <a:xfrm>
            <a:off x="1484314" y="3886200"/>
            <a:ext cx="10018711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b="0" sz="18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0" name="Google Shape;120;p65"/>
          <p:cNvSpPr txBox="1"/>
          <p:nvPr>
            <p:ph idx="2" type="body"/>
          </p:nvPr>
        </p:nvSpPr>
        <p:spPr>
          <a:xfrm>
            <a:off x="1484312" y="4775200"/>
            <a:ext cx="10018711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958"/>
              <a:buNone/>
              <a:defRPr sz="135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958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1" name="Google Shape;121;p65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65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65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6"/>
          <p:cNvSpPr txBox="1"/>
          <p:nvPr>
            <p:ph type="title"/>
          </p:nvPr>
        </p:nvSpPr>
        <p:spPr>
          <a:xfrm>
            <a:off x="1484313" y="685802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66"/>
          <p:cNvSpPr txBox="1"/>
          <p:nvPr>
            <p:ph idx="1" type="body"/>
          </p:nvPr>
        </p:nvSpPr>
        <p:spPr>
          <a:xfrm>
            <a:off x="1484313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b="0" sz="21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7" name="Google Shape;127;p66"/>
          <p:cNvSpPr txBox="1"/>
          <p:nvPr>
            <p:ph idx="2" type="body"/>
          </p:nvPr>
        </p:nvSpPr>
        <p:spPr>
          <a:xfrm>
            <a:off x="1484313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958"/>
              <a:buNone/>
              <a:defRPr sz="135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958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8" name="Google Shape;128;p66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66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66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7"/>
          <p:cNvSpPr txBox="1"/>
          <p:nvPr>
            <p:ph type="title"/>
          </p:nvPr>
        </p:nvSpPr>
        <p:spPr>
          <a:xfrm>
            <a:off x="1484313" y="685800"/>
            <a:ext cx="10018712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67"/>
          <p:cNvSpPr txBox="1"/>
          <p:nvPr>
            <p:ph idx="1" type="body"/>
          </p:nvPr>
        </p:nvSpPr>
        <p:spPr>
          <a:xfrm rot="5400000">
            <a:off x="4931569" y="-780256"/>
            <a:ext cx="3124200" cy="10018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4" name="Google Shape;134;p67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67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67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8"/>
          <p:cNvSpPr txBox="1"/>
          <p:nvPr>
            <p:ph type="title"/>
          </p:nvPr>
        </p:nvSpPr>
        <p:spPr>
          <a:xfrm rot="5400000">
            <a:off x="8065142" y="2353316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68"/>
          <p:cNvSpPr txBox="1"/>
          <p:nvPr>
            <p:ph idx="1" type="body"/>
          </p:nvPr>
        </p:nvSpPr>
        <p:spPr>
          <a:xfrm rot="5400000">
            <a:off x="2941485" y="-771371"/>
            <a:ext cx="5105400" cy="80197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40" name="Google Shape;140;p68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68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68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80663" y="304800"/>
            <a:ext cx="1143000" cy="1049338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36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6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36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7"/>
          <p:cNvSpPr txBox="1"/>
          <p:nvPr>
            <p:ph type="title"/>
          </p:nvPr>
        </p:nvSpPr>
        <p:spPr>
          <a:xfrm>
            <a:off x="1484313" y="685800"/>
            <a:ext cx="10018712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37"/>
          <p:cNvSpPr txBox="1"/>
          <p:nvPr>
            <p:ph idx="1" type="body"/>
          </p:nvPr>
        </p:nvSpPr>
        <p:spPr>
          <a:xfrm>
            <a:off x="1484313" y="2667000"/>
            <a:ext cx="10018712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64" name="Google Shape;164;p37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37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7"/>
          <p:cNvSpPr txBox="1"/>
          <p:nvPr>
            <p:ph idx="12" type="sldNum"/>
          </p:nvPr>
        </p:nvSpPr>
        <p:spPr>
          <a:xfrm>
            <a:off x="10952163" y="5867400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39"/>
          <p:cNvGrpSpPr/>
          <p:nvPr/>
        </p:nvGrpSpPr>
        <p:grpSpPr>
          <a:xfrm>
            <a:off x="546100" y="-4763"/>
            <a:ext cx="5014913" cy="6862763"/>
            <a:chOff x="2928938" y="-4763"/>
            <a:chExt cx="5014912" cy="6862763"/>
          </a:xfrm>
        </p:grpSpPr>
        <p:sp>
          <p:nvSpPr>
            <p:cNvPr id="169" name="Google Shape;169;p39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39"/>
            <p:cNvSpPr/>
            <p:nvPr/>
          </p:nvSpPr>
          <p:spPr>
            <a:xfrm>
              <a:off x="2928938" y="-4763"/>
              <a:ext cx="1035050" cy="2673351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71" name="Google Shape;171;p39"/>
            <p:cNvSpPr/>
            <p:nvPr/>
          </p:nvSpPr>
          <p:spPr>
            <a:xfrm>
              <a:off x="2928938" y="2582863"/>
              <a:ext cx="2693987" cy="4275137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72" name="Google Shape;172;p39"/>
            <p:cNvSpPr/>
            <p:nvPr/>
          </p:nvSpPr>
          <p:spPr>
            <a:xfrm>
              <a:off x="3371851" y="2692400"/>
              <a:ext cx="3332161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73" name="Google Shape;173;p39"/>
            <p:cNvSpPr/>
            <p:nvPr/>
          </p:nvSpPr>
          <p:spPr>
            <a:xfrm>
              <a:off x="3367088" y="2687638"/>
              <a:ext cx="4576762" cy="4170362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74" name="Google Shape;174;p39"/>
            <p:cNvSpPr/>
            <p:nvPr/>
          </p:nvSpPr>
          <p:spPr>
            <a:xfrm>
              <a:off x="2928938" y="2578100"/>
              <a:ext cx="3584574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5" name="Google Shape;175;p39"/>
          <p:cNvSpPr txBox="1"/>
          <p:nvPr>
            <p:ph type="ctrTitle"/>
          </p:nvPr>
        </p:nvSpPr>
        <p:spPr>
          <a:xfrm>
            <a:off x="2928402" y="1380070"/>
            <a:ext cx="8574623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39"/>
          <p:cNvSpPr txBox="1"/>
          <p:nvPr>
            <p:ph idx="1" type="subTitle"/>
          </p:nvPr>
        </p:nvSpPr>
        <p:spPr>
          <a:xfrm>
            <a:off x="4515378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SzPts val="2284"/>
              <a:buNone/>
              <a:defRPr sz="1575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175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85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5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523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7" name="Google Shape;177;p39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39"/>
          <p:cNvSpPr txBox="1"/>
          <p:nvPr>
            <p:ph idx="11" type="ftr"/>
          </p:nvPr>
        </p:nvSpPr>
        <p:spPr>
          <a:xfrm>
            <a:off x="5332413" y="5883275"/>
            <a:ext cx="43243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39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0"/>
          <p:cNvSpPr txBox="1"/>
          <p:nvPr>
            <p:ph type="title"/>
          </p:nvPr>
        </p:nvSpPr>
        <p:spPr>
          <a:xfrm>
            <a:off x="2572280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3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40"/>
          <p:cNvSpPr txBox="1"/>
          <p:nvPr>
            <p:ph idx="1" type="body"/>
          </p:nvPr>
        </p:nvSpPr>
        <p:spPr>
          <a:xfrm>
            <a:off x="2572279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75"/>
              <a:buNone/>
              <a:defRPr sz="15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958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3" name="Google Shape;183;p40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40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40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1"/>
          <p:cNvSpPr txBox="1"/>
          <p:nvPr>
            <p:ph type="title"/>
          </p:nvPr>
        </p:nvSpPr>
        <p:spPr>
          <a:xfrm>
            <a:off x="1484313" y="685802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41"/>
          <p:cNvSpPr txBox="1"/>
          <p:nvPr>
            <p:ph idx="1" type="body"/>
          </p:nvPr>
        </p:nvSpPr>
        <p:spPr>
          <a:xfrm>
            <a:off x="1484314" y="2667001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52933" lvl="0" marL="4572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958"/>
              <a:buChar char="•"/>
              <a:defRPr sz="1350"/>
            </a:lvl1pPr>
            <a:lvl2pPr indent="-33909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Char char="•"/>
              <a:defRPr sz="1200"/>
            </a:lvl2pPr>
            <a:lvl3pPr indent="-32531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Char char="•"/>
              <a:defRPr sz="1050"/>
            </a:lvl3pPr>
            <a:lvl4pPr indent="-311467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4pPr>
            <a:lvl5pPr indent="-311467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5pPr>
            <a:lvl6pPr indent="-311467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6pPr>
            <a:lvl7pPr indent="-311467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7pPr>
            <a:lvl8pPr indent="-311467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8pPr>
            <a:lvl9pPr indent="-311467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305"/>
              <a:buChar char="•"/>
              <a:defRPr sz="900"/>
            </a:lvl9pPr>
          </a:lstStyle>
          <a:p/>
        </p:txBody>
      </p:sp>
      <p:sp>
        <p:nvSpPr>
          <p:cNvPr id="189" name="Google Shape;189;p41"/>
          <p:cNvSpPr txBox="1"/>
          <p:nvPr>
            <p:ph idx="2" type="body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52933" lvl="0" marL="4572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958"/>
              <a:buChar char="•"/>
              <a:defRPr sz="1350"/>
            </a:lvl1pPr>
            <a:lvl2pPr indent="-33909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Char char="•"/>
              <a:defRPr sz="1200"/>
            </a:lvl2pPr>
            <a:lvl3pPr indent="-32531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Char char="•"/>
              <a:defRPr sz="1050"/>
            </a:lvl3pPr>
            <a:lvl4pPr indent="-311467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4pPr>
            <a:lvl5pPr indent="-311467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5pPr>
            <a:lvl6pPr indent="-311467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6pPr>
            <a:lvl7pPr indent="-311467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7pPr>
            <a:lvl8pPr indent="-311467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8pPr>
            <a:lvl9pPr indent="-311467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305"/>
              <a:buChar char="•"/>
              <a:defRPr sz="900"/>
            </a:lvl9pPr>
          </a:lstStyle>
          <a:p/>
        </p:txBody>
      </p:sp>
      <p:sp>
        <p:nvSpPr>
          <p:cNvPr id="190" name="Google Shape;190;p41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41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41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2"/>
          <p:cNvSpPr txBox="1"/>
          <p:nvPr>
            <p:ph type="title"/>
          </p:nvPr>
        </p:nvSpPr>
        <p:spPr>
          <a:xfrm>
            <a:off x="1484313" y="685800"/>
            <a:ext cx="10018712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42"/>
          <p:cNvSpPr txBox="1"/>
          <p:nvPr>
            <p:ph idx="1" type="body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b="0" sz="21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175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958"/>
              <a:buNone/>
              <a:defRPr b="1" sz="1350"/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740"/>
              <a:buNone/>
              <a:defRPr b="1" sz="1200"/>
            </a:lvl9pPr>
          </a:lstStyle>
          <a:p/>
        </p:txBody>
      </p:sp>
      <p:sp>
        <p:nvSpPr>
          <p:cNvPr id="196" name="Google Shape;196;p42"/>
          <p:cNvSpPr txBox="1"/>
          <p:nvPr>
            <p:ph idx="2" type="body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2933" lvl="0" marL="4572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958"/>
              <a:buChar char="•"/>
              <a:defRPr sz="1350"/>
            </a:lvl1pPr>
            <a:lvl2pPr indent="-33909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Char char="•"/>
              <a:defRPr sz="1200"/>
            </a:lvl2pPr>
            <a:lvl3pPr indent="-32531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Char char="•"/>
              <a:defRPr sz="1050"/>
            </a:lvl3pPr>
            <a:lvl4pPr indent="-311467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4pPr>
            <a:lvl5pPr indent="-311467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5pPr>
            <a:lvl6pPr indent="-311467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6pPr>
            <a:lvl7pPr indent="-311467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7pPr>
            <a:lvl8pPr indent="-311467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8pPr>
            <a:lvl9pPr indent="-311467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305"/>
              <a:buChar char="•"/>
              <a:defRPr sz="900"/>
            </a:lvl9pPr>
          </a:lstStyle>
          <a:p/>
        </p:txBody>
      </p:sp>
      <p:sp>
        <p:nvSpPr>
          <p:cNvPr id="197" name="Google Shape;197;p42"/>
          <p:cNvSpPr txBox="1"/>
          <p:nvPr>
            <p:ph idx="3" type="body"/>
          </p:nvPr>
        </p:nvSpPr>
        <p:spPr>
          <a:xfrm>
            <a:off x="6880489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b="0" sz="21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175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958"/>
              <a:buNone/>
              <a:defRPr b="1" sz="1350"/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740"/>
              <a:buNone/>
              <a:defRPr b="1" sz="1200"/>
            </a:lvl9pPr>
          </a:lstStyle>
          <a:p/>
        </p:txBody>
      </p:sp>
      <p:sp>
        <p:nvSpPr>
          <p:cNvPr id="198" name="Google Shape;198;p42"/>
          <p:cNvSpPr txBox="1"/>
          <p:nvPr>
            <p:ph idx="4" type="body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2933" lvl="0" marL="4572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958"/>
              <a:buChar char="•"/>
              <a:defRPr sz="1350"/>
            </a:lvl1pPr>
            <a:lvl2pPr indent="-33909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Char char="•"/>
              <a:defRPr sz="1200"/>
            </a:lvl2pPr>
            <a:lvl3pPr indent="-32531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Char char="•"/>
              <a:defRPr sz="1050"/>
            </a:lvl3pPr>
            <a:lvl4pPr indent="-311467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4pPr>
            <a:lvl5pPr indent="-311467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5pPr>
            <a:lvl6pPr indent="-311467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6pPr>
            <a:lvl7pPr indent="-311467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7pPr>
            <a:lvl8pPr indent="-311467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8pPr>
            <a:lvl9pPr indent="-311467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305"/>
              <a:buChar char="•"/>
              <a:defRPr sz="900"/>
            </a:lvl9pPr>
          </a:lstStyle>
          <a:p/>
        </p:txBody>
      </p:sp>
      <p:sp>
        <p:nvSpPr>
          <p:cNvPr id="199" name="Google Shape;199;p42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42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42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3"/>
          <p:cNvSpPr txBox="1"/>
          <p:nvPr>
            <p:ph type="title"/>
          </p:nvPr>
        </p:nvSpPr>
        <p:spPr>
          <a:xfrm>
            <a:off x="1484313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43"/>
          <p:cNvSpPr txBox="1"/>
          <p:nvPr>
            <p:ph idx="1" type="body"/>
          </p:nvPr>
        </p:nvSpPr>
        <p:spPr>
          <a:xfrm>
            <a:off x="5262034" y="685801"/>
            <a:ext cx="6240991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66712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75"/>
              <a:buChar char="•"/>
              <a:defRPr sz="1500"/>
            </a:lvl1pPr>
            <a:lvl2pPr indent="-352933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958"/>
              <a:buChar char="•"/>
              <a:defRPr sz="1350"/>
            </a:lvl2pPr>
            <a:lvl3pPr indent="-339089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Char char="•"/>
              <a:defRPr sz="1200"/>
            </a:lvl3pPr>
            <a:lvl4pPr indent="-32531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Char char="•"/>
              <a:defRPr sz="1050"/>
            </a:lvl4pPr>
            <a:lvl5pPr indent="-32531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Char char="•"/>
              <a:defRPr sz="1050"/>
            </a:lvl5pPr>
            <a:lvl6pPr indent="-32531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Char char="•"/>
              <a:defRPr sz="1050"/>
            </a:lvl6pPr>
            <a:lvl7pPr indent="-32531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Char char="•"/>
              <a:defRPr sz="1050"/>
            </a:lvl7pPr>
            <a:lvl8pPr indent="-32531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Char char="•"/>
              <a:defRPr sz="1050"/>
            </a:lvl8pPr>
            <a:lvl9pPr indent="-32531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523"/>
              <a:buChar char="•"/>
              <a:defRPr sz="1050"/>
            </a:lvl9pPr>
          </a:lstStyle>
          <a:p/>
        </p:txBody>
      </p:sp>
      <p:sp>
        <p:nvSpPr>
          <p:cNvPr id="205" name="Google Shape;205;p43"/>
          <p:cNvSpPr txBox="1"/>
          <p:nvPr>
            <p:ph idx="2" type="body"/>
          </p:nvPr>
        </p:nvSpPr>
        <p:spPr>
          <a:xfrm>
            <a:off x="1484313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74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88"/>
              <a:buNone/>
              <a:defRPr sz="750"/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979"/>
              <a:buNone/>
              <a:defRPr sz="675"/>
            </a:lvl9pPr>
          </a:lstStyle>
          <a:p/>
        </p:txBody>
      </p:sp>
      <p:sp>
        <p:nvSpPr>
          <p:cNvPr id="206" name="Google Shape;206;p43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43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43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4"/>
          <p:cNvSpPr txBox="1"/>
          <p:nvPr>
            <p:ph type="title"/>
          </p:nvPr>
        </p:nvSpPr>
        <p:spPr>
          <a:xfrm>
            <a:off x="1482725" y="1752599"/>
            <a:ext cx="5426159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44"/>
          <p:cNvSpPr/>
          <p:nvPr>
            <p:ph idx="2" type="pic"/>
          </p:nvPr>
        </p:nvSpPr>
        <p:spPr>
          <a:xfrm>
            <a:off x="7594682" y="914400"/>
            <a:ext cx="3280975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44"/>
          <p:cNvSpPr txBox="1"/>
          <p:nvPr>
            <p:ph idx="1" type="body"/>
          </p:nvPr>
        </p:nvSpPr>
        <p:spPr>
          <a:xfrm>
            <a:off x="1482725" y="3124199"/>
            <a:ext cx="5426159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958"/>
              <a:buNone/>
              <a:defRPr sz="1350"/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88"/>
              <a:buNone/>
              <a:defRPr sz="750"/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979"/>
              <a:buNone/>
              <a:defRPr sz="675"/>
            </a:lvl9pPr>
          </a:lstStyle>
          <a:p/>
        </p:txBody>
      </p:sp>
      <p:sp>
        <p:nvSpPr>
          <p:cNvPr id="213" name="Google Shape;213;p44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44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44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5"/>
          <p:cNvSpPr txBox="1"/>
          <p:nvPr>
            <p:ph type="title"/>
          </p:nvPr>
        </p:nvSpPr>
        <p:spPr>
          <a:xfrm>
            <a:off x="1484312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45"/>
          <p:cNvSpPr/>
          <p:nvPr>
            <p:ph idx="2" type="pic"/>
          </p:nvPr>
        </p:nvSpPr>
        <p:spPr>
          <a:xfrm>
            <a:off x="23860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45"/>
          <p:cNvSpPr txBox="1"/>
          <p:nvPr>
            <p:ph idx="1" type="body"/>
          </p:nvPr>
        </p:nvSpPr>
        <p:spPr>
          <a:xfrm>
            <a:off x="1484312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523"/>
              <a:buNone/>
              <a:defRPr sz="1050"/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88"/>
              <a:buNone/>
              <a:defRPr sz="750"/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979"/>
              <a:buNone/>
              <a:defRPr sz="675"/>
            </a:lvl9pPr>
          </a:lstStyle>
          <a:p/>
        </p:txBody>
      </p:sp>
      <p:sp>
        <p:nvSpPr>
          <p:cNvPr id="220" name="Google Shape;220;p45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45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45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6"/>
          <p:cNvSpPr txBox="1"/>
          <p:nvPr>
            <p:ph type="title"/>
          </p:nvPr>
        </p:nvSpPr>
        <p:spPr>
          <a:xfrm>
            <a:off x="1484314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24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46"/>
          <p:cNvSpPr txBox="1"/>
          <p:nvPr>
            <p:ph idx="1" type="body"/>
          </p:nvPr>
        </p:nvSpPr>
        <p:spPr>
          <a:xfrm>
            <a:off x="1484313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75"/>
              <a:buNone/>
              <a:defRPr sz="15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958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6" name="Google Shape;226;p46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46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46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7"/>
          <p:cNvSpPr txBox="1"/>
          <p:nvPr/>
        </p:nvSpPr>
        <p:spPr>
          <a:xfrm>
            <a:off x="1598613" y="863600"/>
            <a:ext cx="6096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47"/>
          <p:cNvSpPr txBox="1"/>
          <p:nvPr/>
        </p:nvSpPr>
        <p:spPr>
          <a:xfrm>
            <a:off x="10893425" y="2819400"/>
            <a:ext cx="6096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47"/>
          <p:cNvSpPr txBox="1"/>
          <p:nvPr>
            <p:ph type="title"/>
          </p:nvPr>
        </p:nvSpPr>
        <p:spPr>
          <a:xfrm>
            <a:off x="2208213" y="685801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2400" cap="none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47"/>
          <p:cNvSpPr txBox="1"/>
          <p:nvPr>
            <p:ph idx="1" type="body"/>
          </p:nvPr>
        </p:nvSpPr>
        <p:spPr>
          <a:xfrm>
            <a:off x="2436813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958"/>
              <a:buFont typeface="Corbel"/>
              <a:buNone/>
              <a:defRPr sz="1350"/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175"/>
              <a:buFont typeface="Corbel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85"/>
              <a:buFont typeface="Corbe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Font typeface="Corbe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50"/>
              <a:buFont typeface="Corbel"/>
              <a:buNone/>
              <a:defRPr/>
            </a:lvl5pPr>
            <a:lvl6pPr indent="-394335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234" name="Google Shape;234;p47"/>
          <p:cNvSpPr txBox="1"/>
          <p:nvPr>
            <p:ph idx="2" type="body"/>
          </p:nvPr>
        </p:nvSpPr>
        <p:spPr>
          <a:xfrm>
            <a:off x="1484312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75"/>
              <a:buNone/>
              <a:defRPr sz="15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958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35" name="Google Shape;235;p47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47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47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8"/>
          <p:cNvSpPr txBox="1"/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24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48"/>
          <p:cNvSpPr txBox="1"/>
          <p:nvPr>
            <p:ph idx="1" type="body"/>
          </p:nvPr>
        </p:nvSpPr>
        <p:spPr>
          <a:xfrm>
            <a:off x="1484312" y="4777381"/>
            <a:ext cx="10018711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75"/>
              <a:buNone/>
              <a:defRPr sz="15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958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1" name="Google Shape;241;p48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48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48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9"/>
          <p:cNvSpPr txBox="1"/>
          <p:nvPr/>
        </p:nvSpPr>
        <p:spPr>
          <a:xfrm>
            <a:off x="1598613" y="863600"/>
            <a:ext cx="6096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49"/>
          <p:cNvSpPr txBox="1"/>
          <p:nvPr/>
        </p:nvSpPr>
        <p:spPr>
          <a:xfrm>
            <a:off x="10893425" y="2819400"/>
            <a:ext cx="6096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49"/>
          <p:cNvSpPr txBox="1"/>
          <p:nvPr>
            <p:ph type="title"/>
          </p:nvPr>
        </p:nvSpPr>
        <p:spPr>
          <a:xfrm>
            <a:off x="2208213" y="685801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2400" cap="none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49"/>
          <p:cNvSpPr txBox="1"/>
          <p:nvPr>
            <p:ph idx="1" type="body"/>
          </p:nvPr>
        </p:nvSpPr>
        <p:spPr>
          <a:xfrm>
            <a:off x="1484314" y="3886200"/>
            <a:ext cx="10018711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b="0" sz="18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249" name="Google Shape;249;p49"/>
          <p:cNvSpPr txBox="1"/>
          <p:nvPr>
            <p:ph idx="2" type="body"/>
          </p:nvPr>
        </p:nvSpPr>
        <p:spPr>
          <a:xfrm>
            <a:off x="1484312" y="4775200"/>
            <a:ext cx="10018711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958"/>
              <a:buNone/>
              <a:defRPr sz="135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958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0" name="Google Shape;250;p49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49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49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50"/>
          <p:cNvSpPr txBox="1"/>
          <p:nvPr>
            <p:ph type="title"/>
          </p:nvPr>
        </p:nvSpPr>
        <p:spPr>
          <a:xfrm>
            <a:off x="1484313" y="685802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50"/>
          <p:cNvSpPr txBox="1"/>
          <p:nvPr>
            <p:ph idx="1" type="body"/>
          </p:nvPr>
        </p:nvSpPr>
        <p:spPr>
          <a:xfrm>
            <a:off x="1484313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b="0" sz="21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256" name="Google Shape;256;p50"/>
          <p:cNvSpPr txBox="1"/>
          <p:nvPr>
            <p:ph idx="2" type="body"/>
          </p:nvPr>
        </p:nvSpPr>
        <p:spPr>
          <a:xfrm>
            <a:off x="1484313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958"/>
              <a:buNone/>
              <a:defRPr sz="135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958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7" name="Google Shape;257;p50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50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50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51"/>
          <p:cNvSpPr txBox="1"/>
          <p:nvPr>
            <p:ph type="title"/>
          </p:nvPr>
        </p:nvSpPr>
        <p:spPr>
          <a:xfrm>
            <a:off x="1484313" y="685800"/>
            <a:ext cx="10018712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51"/>
          <p:cNvSpPr txBox="1"/>
          <p:nvPr>
            <p:ph idx="1" type="body"/>
          </p:nvPr>
        </p:nvSpPr>
        <p:spPr>
          <a:xfrm rot="5400000">
            <a:off x="4931569" y="-780256"/>
            <a:ext cx="3124200" cy="10018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263" name="Google Shape;263;p51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51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51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52"/>
          <p:cNvSpPr txBox="1"/>
          <p:nvPr>
            <p:ph type="title"/>
          </p:nvPr>
        </p:nvSpPr>
        <p:spPr>
          <a:xfrm rot="5400000">
            <a:off x="8065142" y="2353316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52"/>
          <p:cNvSpPr txBox="1"/>
          <p:nvPr>
            <p:ph idx="1" type="body"/>
          </p:nvPr>
        </p:nvSpPr>
        <p:spPr>
          <a:xfrm rot="5400000">
            <a:off x="2941485" y="-771371"/>
            <a:ext cx="5105400" cy="80197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269" name="Google Shape;269;p52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52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52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28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18" Type="http://schemas.openxmlformats.org/officeDocument/2006/relationships/theme" Target="../theme/theme3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33"/>
          <p:cNvGrpSpPr/>
          <p:nvPr/>
        </p:nvGrpSpPr>
        <p:grpSpPr>
          <a:xfrm>
            <a:off x="150813" y="0"/>
            <a:ext cx="2436812" cy="6858000"/>
            <a:chOff x="1320800" y="0"/>
            <a:chExt cx="2436813" cy="6858001"/>
          </a:xfrm>
        </p:grpSpPr>
        <p:sp>
          <p:nvSpPr>
            <p:cNvPr id="11" name="Google Shape;11;p33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33"/>
            <p:cNvSpPr/>
            <p:nvPr/>
          </p:nvSpPr>
          <p:spPr>
            <a:xfrm>
              <a:off x="1320800" y="0"/>
              <a:ext cx="1117600" cy="5276851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33"/>
            <p:cNvSpPr/>
            <p:nvPr/>
          </p:nvSpPr>
          <p:spPr>
            <a:xfrm>
              <a:off x="1320800" y="5238751"/>
              <a:ext cx="1228726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33"/>
            <p:cNvSpPr/>
            <p:nvPr/>
          </p:nvSpPr>
          <p:spPr>
            <a:xfrm>
              <a:off x="1627187" y="5291139"/>
              <a:ext cx="1495426" cy="1566862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" name="Google Shape;15;p33"/>
            <p:cNvSpPr/>
            <p:nvPr/>
          </p:nvSpPr>
          <p:spPr>
            <a:xfrm>
              <a:off x="1627187" y="5286376"/>
              <a:ext cx="2130426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6" name="Google Shape;16;p33"/>
            <p:cNvSpPr/>
            <p:nvPr/>
          </p:nvSpPr>
          <p:spPr>
            <a:xfrm>
              <a:off x="1320800" y="5238751"/>
              <a:ext cx="1695451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33"/>
          <p:cNvSpPr txBox="1"/>
          <p:nvPr>
            <p:ph type="title"/>
          </p:nvPr>
        </p:nvSpPr>
        <p:spPr>
          <a:xfrm>
            <a:off x="1484313" y="685800"/>
            <a:ext cx="10018712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33"/>
          <p:cNvSpPr txBox="1"/>
          <p:nvPr>
            <p:ph idx="1" type="body"/>
          </p:nvPr>
        </p:nvSpPr>
        <p:spPr>
          <a:xfrm>
            <a:off x="1484313" y="2667000"/>
            <a:ext cx="10018712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94335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287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66712" lvl="1" marL="9144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1287C3"/>
              </a:buClr>
              <a:buSzPts val="2175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48297" lvl="2" marL="1371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1287C3"/>
              </a:buClr>
              <a:buSzPts val="1885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39089" lvl="3" marL="18288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1287C3"/>
              </a:buClr>
              <a:buSzPts val="174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20675" lvl="4" marL="22860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1287C3"/>
              </a:buClr>
              <a:buSzPts val="145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25310" lvl="5" marL="27432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1186C3"/>
              </a:buClr>
              <a:buSzPts val="1523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25310" lvl="6" marL="32004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1186C3"/>
              </a:buClr>
              <a:buSzPts val="1523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25310" lvl="7" marL="3657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1186C3"/>
              </a:buClr>
              <a:buSzPts val="1523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25310" lvl="8" marL="4114800" marR="0" rtl="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Clr>
                <a:srgbClr val="1186C3"/>
              </a:buClr>
              <a:buSzPts val="1523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33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33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33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35"/>
          <p:cNvGrpSpPr/>
          <p:nvPr/>
        </p:nvGrpSpPr>
        <p:grpSpPr>
          <a:xfrm>
            <a:off x="150813" y="0"/>
            <a:ext cx="2436812" cy="6858000"/>
            <a:chOff x="1320800" y="0"/>
            <a:chExt cx="2436813" cy="6858001"/>
          </a:xfrm>
        </p:grpSpPr>
        <p:sp>
          <p:nvSpPr>
            <p:cNvPr id="145" name="Google Shape;145;p35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35"/>
            <p:cNvSpPr/>
            <p:nvPr/>
          </p:nvSpPr>
          <p:spPr>
            <a:xfrm>
              <a:off x="1320800" y="0"/>
              <a:ext cx="1117600" cy="5276851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47" name="Google Shape;147;p35"/>
            <p:cNvSpPr/>
            <p:nvPr/>
          </p:nvSpPr>
          <p:spPr>
            <a:xfrm>
              <a:off x="1320800" y="5238751"/>
              <a:ext cx="1228726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8" name="Google Shape;148;p35"/>
            <p:cNvSpPr/>
            <p:nvPr/>
          </p:nvSpPr>
          <p:spPr>
            <a:xfrm>
              <a:off x="1627187" y="5291139"/>
              <a:ext cx="1495426" cy="1566862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49" name="Google Shape;149;p35"/>
            <p:cNvSpPr/>
            <p:nvPr/>
          </p:nvSpPr>
          <p:spPr>
            <a:xfrm>
              <a:off x="1627187" y="5286376"/>
              <a:ext cx="2130426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50" name="Google Shape;150;p35"/>
            <p:cNvSpPr/>
            <p:nvPr/>
          </p:nvSpPr>
          <p:spPr>
            <a:xfrm>
              <a:off x="1320800" y="5238751"/>
              <a:ext cx="1695451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51" name="Google Shape;151;p35"/>
          <p:cNvSpPr txBox="1"/>
          <p:nvPr>
            <p:ph type="title"/>
          </p:nvPr>
        </p:nvSpPr>
        <p:spPr>
          <a:xfrm>
            <a:off x="1484313" y="685800"/>
            <a:ext cx="10018712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2" name="Google Shape;152;p35"/>
          <p:cNvSpPr txBox="1"/>
          <p:nvPr>
            <p:ph idx="1" type="body"/>
          </p:nvPr>
        </p:nvSpPr>
        <p:spPr>
          <a:xfrm>
            <a:off x="1484313" y="2667000"/>
            <a:ext cx="10018712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94335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287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66712" lvl="1" marL="9144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1287C3"/>
              </a:buClr>
              <a:buSzPts val="2175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48297" lvl="2" marL="1371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1287C3"/>
              </a:buClr>
              <a:buSzPts val="1885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39089" lvl="3" marL="18288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1287C3"/>
              </a:buClr>
              <a:buSzPts val="174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20675" lvl="4" marL="22860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1287C3"/>
              </a:buClr>
              <a:buSzPts val="145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25310" lvl="5" marL="27432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1186C3"/>
              </a:buClr>
              <a:buSzPts val="1523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25310" lvl="6" marL="32004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1186C3"/>
              </a:buClr>
              <a:buSzPts val="1523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25310" lvl="7" marL="3657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1186C3"/>
              </a:buClr>
              <a:buSzPts val="1523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25310" lvl="8" marL="4114800" marR="0" rtl="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Clr>
                <a:srgbClr val="1186C3"/>
              </a:buClr>
              <a:buSzPts val="1523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53" name="Google Shape;153;p35"/>
          <p:cNvSpPr txBox="1"/>
          <p:nvPr>
            <p:ph idx="10" type="dt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4" name="Google Shape;154;p35"/>
          <p:cNvSpPr txBox="1"/>
          <p:nvPr>
            <p:ph idx="11" type="ftr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5" name="Google Shape;155;p35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  <p:sldLayoutId id="2147483682" r:id="rId1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Relationship Id="rId4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Relationship Id="rId4" Type="http://schemas.openxmlformats.org/officeDocument/2006/relationships/image" Target="../media/image11.jpg"/><Relationship Id="rId5" Type="http://schemas.openxmlformats.org/officeDocument/2006/relationships/image" Target="../media/image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jpg"/><Relationship Id="rId4" Type="http://schemas.openxmlformats.org/officeDocument/2006/relationships/image" Target="../media/image1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jpg"/><Relationship Id="rId4" Type="http://schemas.openxmlformats.org/officeDocument/2006/relationships/image" Target="../media/image1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jpg"/><Relationship Id="rId4" Type="http://schemas.openxmlformats.org/officeDocument/2006/relationships/image" Target="../media/image1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jpg"/><Relationship Id="rId4" Type="http://schemas.openxmlformats.org/officeDocument/2006/relationships/image" Target="../media/image28.jpg"/><Relationship Id="rId5" Type="http://schemas.openxmlformats.org/officeDocument/2006/relationships/image" Target="../media/image29.jpg"/><Relationship Id="rId6" Type="http://schemas.openxmlformats.org/officeDocument/2006/relationships/image" Target="../media/image24.jpg"/><Relationship Id="rId7" Type="http://schemas.openxmlformats.org/officeDocument/2006/relationships/image" Target="../media/image20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jpg"/><Relationship Id="rId4" Type="http://schemas.openxmlformats.org/officeDocument/2006/relationships/image" Target="../media/image27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jpg"/><Relationship Id="rId4" Type="http://schemas.openxmlformats.org/officeDocument/2006/relationships/image" Target="../media/image3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1.jpg"/><Relationship Id="rId4" Type="http://schemas.openxmlformats.org/officeDocument/2006/relationships/image" Target="../media/image25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Relationship Id="rId4" Type="http://schemas.openxmlformats.org/officeDocument/2006/relationships/image" Target="../media/image22.jpg"/><Relationship Id="rId5" Type="http://schemas.openxmlformats.org/officeDocument/2006/relationships/image" Target="../media/image2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"/>
          <p:cNvSpPr txBox="1"/>
          <p:nvPr>
            <p:ph type="ctrTitle"/>
          </p:nvPr>
        </p:nvSpPr>
        <p:spPr>
          <a:xfrm>
            <a:off x="2928938" y="1379538"/>
            <a:ext cx="8574087" cy="261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5400"/>
              <a:t>Network Layer</a:t>
            </a:r>
            <a:br>
              <a:rPr lang="en-US" sz="5400"/>
            </a:br>
            <a:r>
              <a:rPr lang="en-US" sz="3200"/>
              <a:t>Routing Algorithm</a:t>
            </a:r>
            <a:br>
              <a:rPr lang="en-US" sz="2800"/>
            </a:br>
            <a:r>
              <a:rPr b="1" i="1" lang="en-US" sz="2400"/>
              <a:t>Link State Routing</a:t>
            </a:r>
            <a:endParaRPr b="1" i="1" sz="4800"/>
          </a:p>
        </p:txBody>
      </p:sp>
      <p:sp>
        <p:nvSpPr>
          <p:cNvPr id="278" name="Google Shape;278;p1"/>
          <p:cNvSpPr txBox="1"/>
          <p:nvPr>
            <p:ph idx="1" type="subTitle"/>
          </p:nvPr>
        </p:nvSpPr>
        <p:spPr>
          <a:xfrm>
            <a:off x="5481638" y="3995738"/>
            <a:ext cx="6035675" cy="1389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 sz="2000"/>
              <a:t>Lecture 13 | CSE421 – Computer Networks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SzPts val="2900"/>
              <a:buNone/>
            </a:pPr>
            <a:r>
              <a:rPr lang="en-US" sz="2000"/>
              <a:t>Department of Computer Science and Engineering</a:t>
            </a:r>
            <a:br>
              <a:rPr lang="en-US" sz="2000"/>
            </a:br>
            <a:r>
              <a:rPr lang="en-US" sz="2000"/>
              <a:t>School of Data &amp; Science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"/>
          <p:cNvSpPr txBox="1"/>
          <p:nvPr>
            <p:ph idx="4294967295" type="title"/>
          </p:nvPr>
        </p:nvSpPr>
        <p:spPr>
          <a:xfrm>
            <a:off x="1752600" y="25558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Chapter 4: Network Layer</a:t>
            </a:r>
            <a:endParaRPr/>
          </a:p>
        </p:txBody>
      </p:sp>
      <p:sp>
        <p:nvSpPr>
          <p:cNvPr id="286" name="Google Shape;286;p2"/>
          <p:cNvSpPr txBox="1"/>
          <p:nvPr>
            <p:ph idx="4294967295" type="body"/>
          </p:nvPr>
        </p:nvSpPr>
        <p:spPr>
          <a:xfrm>
            <a:off x="1752600" y="1398588"/>
            <a:ext cx="38100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0980" lvl="0" marL="21431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4. 1 Introduction</a:t>
            </a:r>
            <a:endParaRPr/>
          </a:p>
          <a:p>
            <a:pPr indent="-220980" lvl="0" marL="214313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4.2 Virtual circuit and datagram networks</a:t>
            </a:r>
            <a:endParaRPr/>
          </a:p>
          <a:p>
            <a:pPr indent="-220980" lvl="0" marL="214313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4.3 What’s inside a router</a:t>
            </a:r>
            <a:endParaRPr/>
          </a:p>
          <a:p>
            <a:pPr indent="-220980" lvl="0" marL="214313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4.4 IP: Internet Protocol</a:t>
            </a:r>
            <a:endParaRPr/>
          </a:p>
          <a:p>
            <a:pPr indent="-214312" lvl="1" marL="557213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SzPts val="2900"/>
              <a:buChar char="•"/>
            </a:pPr>
            <a:r>
              <a:rPr lang="en-US" sz="2000"/>
              <a:t>Datagram format</a:t>
            </a:r>
            <a:endParaRPr/>
          </a:p>
          <a:p>
            <a:pPr indent="-214312" lvl="1" marL="557213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SzPts val="2900"/>
              <a:buChar char="•"/>
            </a:pPr>
            <a:r>
              <a:rPr lang="en-US" sz="2000"/>
              <a:t>IPv4 addressing</a:t>
            </a:r>
            <a:endParaRPr/>
          </a:p>
          <a:p>
            <a:pPr indent="-214312" lvl="1" marL="557213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SzPts val="2900"/>
              <a:buChar char="•"/>
            </a:pPr>
            <a:r>
              <a:rPr lang="en-US" sz="2000"/>
              <a:t>ICMP</a:t>
            </a:r>
            <a:endParaRPr/>
          </a:p>
          <a:p>
            <a:pPr indent="-214312" lvl="1" marL="557213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SzPts val="2900"/>
              <a:buChar char="•"/>
            </a:pPr>
            <a:r>
              <a:rPr lang="en-US" sz="2000"/>
              <a:t>IPv6</a:t>
            </a:r>
            <a:endParaRPr/>
          </a:p>
        </p:txBody>
      </p:sp>
      <p:sp>
        <p:nvSpPr>
          <p:cNvPr id="287" name="Google Shape;287;p2"/>
          <p:cNvSpPr txBox="1"/>
          <p:nvPr>
            <p:ph idx="4294967295" type="body"/>
          </p:nvPr>
        </p:nvSpPr>
        <p:spPr>
          <a:xfrm>
            <a:off x="6352381" y="1417637"/>
            <a:ext cx="38100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0980" lvl="0" marL="21431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2400">
                <a:solidFill>
                  <a:srgbClr val="FF0000"/>
                </a:solidFill>
              </a:rPr>
              <a:t>4.5 Routing algorithms</a:t>
            </a:r>
            <a:endParaRPr/>
          </a:p>
          <a:p>
            <a:pPr indent="-214312" lvl="1" marL="557213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SzPts val="2900"/>
              <a:buChar char="•"/>
            </a:pPr>
            <a:r>
              <a:rPr lang="en-US" sz="2000"/>
              <a:t>Distance Vector</a:t>
            </a:r>
            <a:endParaRPr/>
          </a:p>
          <a:p>
            <a:pPr indent="-214312" lvl="1" marL="557213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SzPts val="2900"/>
              <a:buChar char="•"/>
            </a:pPr>
            <a:r>
              <a:rPr lang="en-US" sz="2000">
                <a:solidFill>
                  <a:srgbClr val="FF0000"/>
                </a:solidFill>
              </a:rPr>
              <a:t>Link state</a:t>
            </a:r>
            <a:endParaRPr/>
          </a:p>
          <a:p>
            <a:pPr indent="-214312" lvl="1" marL="557213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SzPts val="2900"/>
              <a:buChar char="•"/>
            </a:pPr>
            <a:r>
              <a:rPr lang="en-US" sz="2000"/>
              <a:t>Hierarchical routing</a:t>
            </a:r>
            <a:endParaRPr/>
          </a:p>
          <a:p>
            <a:pPr indent="-220980" lvl="0" marL="214313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4.6 Routing in the Internet</a:t>
            </a:r>
            <a:endParaRPr/>
          </a:p>
          <a:p>
            <a:pPr indent="-214312" lvl="1" marL="557213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SzPts val="2900"/>
              <a:buChar char="•"/>
            </a:pPr>
            <a:r>
              <a:rPr lang="en-US" sz="2000"/>
              <a:t>RIP</a:t>
            </a:r>
            <a:endParaRPr/>
          </a:p>
          <a:p>
            <a:pPr indent="-214312" lvl="1" marL="557213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SzPts val="2900"/>
              <a:buChar char="•"/>
            </a:pPr>
            <a:r>
              <a:rPr lang="en-US" sz="2000"/>
              <a:t>OSPF</a:t>
            </a:r>
            <a:endParaRPr/>
          </a:p>
          <a:p>
            <a:pPr indent="-214312" lvl="1" marL="557213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SzPts val="2900"/>
              <a:buChar char="•"/>
            </a:pPr>
            <a:r>
              <a:rPr lang="en-US" sz="2000"/>
              <a:t>BGP</a:t>
            </a:r>
            <a:endParaRPr/>
          </a:p>
        </p:txBody>
      </p:sp>
      <p:sp>
        <p:nvSpPr>
          <p:cNvPr id="288" name="Google Shape;288;p2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"/>
          <p:cNvSpPr txBox="1"/>
          <p:nvPr>
            <p:ph idx="4294967295" type="title"/>
          </p:nvPr>
        </p:nvSpPr>
        <p:spPr>
          <a:xfrm>
            <a:off x="1754187" y="152400"/>
            <a:ext cx="7794761" cy="852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Distance Vector Routing Protocols</a:t>
            </a:r>
            <a:endParaRPr/>
          </a:p>
        </p:txBody>
      </p:sp>
      <p:sp>
        <p:nvSpPr>
          <p:cNvPr id="294" name="Google Shape;294;p3"/>
          <p:cNvSpPr txBox="1"/>
          <p:nvPr>
            <p:ph idx="4294967295" type="body"/>
          </p:nvPr>
        </p:nvSpPr>
        <p:spPr>
          <a:xfrm>
            <a:off x="1667760" y="4166735"/>
            <a:ext cx="9559834" cy="281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0980" lvl="0" marL="21431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b="1" lang="en-US" sz="3200">
                <a:solidFill>
                  <a:srgbClr val="7030A0"/>
                </a:solidFill>
              </a:rPr>
              <a:t>Distance Vector</a:t>
            </a:r>
            <a:r>
              <a:rPr lang="en-US" sz="3200">
                <a:solidFill>
                  <a:srgbClr val="FFFF00"/>
                </a:solidFill>
              </a:rPr>
              <a:t> </a:t>
            </a:r>
            <a:r>
              <a:rPr lang="en-US" sz="3200"/>
              <a:t>routing protocols are like road signs.</a:t>
            </a:r>
            <a:endParaRPr sz="2400"/>
          </a:p>
          <a:p>
            <a:pPr indent="-288925" lvl="1" marL="855663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lang="en-US" sz="2800"/>
              <a:t>Routers must make preferred path decisions based on a distance or metric to a network.</a:t>
            </a:r>
            <a:endParaRPr sz="1800"/>
          </a:p>
        </p:txBody>
      </p:sp>
      <p:sp>
        <p:nvSpPr>
          <p:cNvPr id="295" name="Google Shape;295;p3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6" name="Google Shape;29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8398" y="1004898"/>
            <a:ext cx="5776961" cy="3048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"/>
          <p:cNvSpPr txBox="1"/>
          <p:nvPr>
            <p:ph idx="12" type="sldNum"/>
          </p:nvPr>
        </p:nvSpPr>
        <p:spPr>
          <a:xfrm>
            <a:off x="10952163" y="5867400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2" name="Google Shape;302;p5"/>
          <p:cNvSpPr txBox="1"/>
          <p:nvPr/>
        </p:nvSpPr>
        <p:spPr>
          <a:xfrm>
            <a:off x="6361610" y="1697853"/>
            <a:ext cx="5590903" cy="4049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0980" lvl="0" marL="214313" marR="0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b="1" i="0" lang="en-US" sz="3200" u="none" cap="none" strike="noStrike">
                <a:solidFill>
                  <a:srgbClr val="7030A0"/>
                </a:solidFill>
                <a:latin typeface="Corbel"/>
                <a:ea typeface="Corbel"/>
                <a:cs typeface="Corbel"/>
                <a:sym typeface="Corbel"/>
              </a:rPr>
              <a:t>Link-State</a:t>
            </a:r>
            <a:r>
              <a:rPr b="0" i="0" lang="en-US" sz="3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routing protocols are more like a road map.</a:t>
            </a:r>
            <a:endParaRPr b="0" i="0" sz="24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88925" lvl="1" marL="855663" marR="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They create a topological map of the network </a:t>
            </a:r>
            <a:endParaRPr/>
          </a:p>
          <a:p>
            <a:pPr indent="-288925" lvl="1" marL="855663" marR="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Each router uses this map to determine the shortest path to each network.</a:t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303" name="Google Shape;30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5303" y="1584906"/>
            <a:ext cx="4657143" cy="4647619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5"/>
          <p:cNvSpPr txBox="1"/>
          <p:nvPr>
            <p:ph idx="4294967295" type="title"/>
          </p:nvPr>
        </p:nvSpPr>
        <p:spPr>
          <a:xfrm>
            <a:off x="1754187" y="152400"/>
            <a:ext cx="7794761" cy="852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Link State Routing Protocols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"/>
          <p:cNvSpPr/>
          <p:nvPr/>
        </p:nvSpPr>
        <p:spPr>
          <a:xfrm>
            <a:off x="1161255" y="1580287"/>
            <a:ext cx="10341770" cy="49772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7809" lvl="0" marL="21431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287C3"/>
              </a:buClr>
              <a:buSzPts val="406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 </a:t>
            </a:r>
            <a:r>
              <a:rPr b="1" i="0" lang="en-US" sz="36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centralized algorithm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: finds the least-cost path using complete knowledge of the network.</a:t>
            </a:r>
            <a:endParaRPr/>
          </a:p>
          <a:p>
            <a:pPr indent="0" lvl="0" marL="21431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287C3"/>
              </a:buClr>
              <a:buSzPts val="406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57809" lvl="0" marL="21431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287C3"/>
              </a:buClr>
              <a:buSzPts val="406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Also called </a:t>
            </a:r>
            <a:r>
              <a:rPr b="1" i="0" lang="en-US" sz="36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Shortest Path First (SPF) 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protocols.</a:t>
            </a:r>
            <a:endParaRPr/>
          </a:p>
          <a:p>
            <a:pPr indent="0" lvl="0" marL="21431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287C3"/>
              </a:buClr>
              <a:buSzPts val="406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57809" lvl="0" marL="21431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287C3"/>
              </a:buClr>
              <a:buSzPts val="406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Uses </a:t>
            </a:r>
            <a:r>
              <a:rPr b="1" i="0" lang="en-US" sz="3200" u="none" cap="none" strike="noStrik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Dijkstra’s Algorithm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to compute the shortest path from one node to all others.</a:t>
            </a:r>
            <a:endParaRPr/>
          </a:p>
          <a:p>
            <a:pPr indent="0" lvl="0" marL="21431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287C3"/>
              </a:buClr>
              <a:buSzPts val="406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57809" lvl="0" marL="21431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287C3"/>
              </a:buClr>
              <a:buSzPts val="406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Though it sounds complex, the basic idea is simple and easy to configure.</a:t>
            </a:r>
            <a:endParaRPr/>
          </a:p>
        </p:txBody>
      </p:sp>
      <p:sp>
        <p:nvSpPr>
          <p:cNvPr id="310" name="Google Shape;310;p4"/>
          <p:cNvSpPr/>
          <p:nvPr/>
        </p:nvSpPr>
        <p:spPr>
          <a:xfrm>
            <a:off x="2057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Link-State Routing Protocols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1" name="Google Shape;31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9400" y="228600"/>
            <a:ext cx="1246188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4"/>
          <p:cNvSpPr txBox="1"/>
          <p:nvPr>
            <p:ph idx="12" type="sldNum"/>
          </p:nvPr>
        </p:nvSpPr>
        <p:spPr>
          <a:xfrm>
            <a:off x="10952163" y="5867400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69"/>
          <p:cNvSpPr txBox="1"/>
          <p:nvPr>
            <p:ph idx="4294967295" type="title"/>
          </p:nvPr>
        </p:nvSpPr>
        <p:spPr>
          <a:xfrm>
            <a:off x="1537063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How it works</a:t>
            </a:r>
            <a:endParaRPr sz="3200"/>
          </a:p>
        </p:txBody>
      </p:sp>
      <p:sp>
        <p:nvSpPr>
          <p:cNvPr id="320" name="Google Shape;320;p69"/>
          <p:cNvSpPr txBox="1"/>
          <p:nvPr>
            <p:ph idx="4294967295" type="body"/>
          </p:nvPr>
        </p:nvSpPr>
        <p:spPr>
          <a:xfrm>
            <a:off x="1340123" y="1188720"/>
            <a:ext cx="100584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71500" lvl="0" marL="5715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20"/>
              <a:buChar char="•"/>
            </a:pPr>
            <a:r>
              <a:rPr lang="en-US" sz="3200">
                <a:latin typeface="Corbel"/>
                <a:ea typeface="Corbel"/>
                <a:cs typeface="Corbel"/>
                <a:sym typeface="Corbel"/>
              </a:rPr>
              <a:t>Uses </a:t>
            </a:r>
            <a:r>
              <a:rPr b="1" lang="en-US" sz="3200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Dijkstra’s Algorithm (SPF)</a:t>
            </a:r>
            <a:r>
              <a:rPr lang="en-US" sz="3200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  <a:endParaRPr sz="3200">
              <a:solidFill>
                <a:srgbClr val="7D28CD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40030" lvl="0" marL="5715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20"/>
              <a:buNone/>
            </a:pPr>
            <a:r>
              <a:t/>
            </a:r>
            <a:endParaRPr sz="3200">
              <a:latin typeface="Corbel"/>
              <a:ea typeface="Corbel"/>
              <a:cs typeface="Corbel"/>
              <a:sym typeface="Corbel"/>
            </a:endParaRPr>
          </a:p>
          <a:p>
            <a:pPr indent="-571500" lvl="0" marL="5715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20"/>
              <a:buChar char="•"/>
            </a:pPr>
            <a:r>
              <a:rPr lang="en-US" sz="3200">
                <a:latin typeface="Corbel"/>
                <a:ea typeface="Corbel"/>
                <a:cs typeface="Corbel"/>
                <a:sym typeface="Corbel"/>
              </a:rPr>
              <a:t>Every router knows the </a:t>
            </a:r>
            <a:r>
              <a:rPr b="1" lang="en-US" sz="3200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full network map</a:t>
            </a:r>
            <a:r>
              <a:rPr lang="en-US" sz="3200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-US" sz="3200">
                <a:latin typeface="Corbel"/>
                <a:ea typeface="Corbel"/>
                <a:cs typeface="Corbel"/>
                <a:sym typeface="Corbel"/>
              </a:rPr>
              <a:t>(topology + link costs</a:t>
            </a:r>
            <a:endParaRPr/>
          </a:p>
          <a:p>
            <a:pPr indent="-240030" lvl="0" marL="5715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20"/>
              <a:buNone/>
            </a:pPr>
            <a:r>
              <a:t/>
            </a:r>
            <a:endParaRPr sz="3200">
              <a:latin typeface="Corbel"/>
              <a:ea typeface="Corbel"/>
              <a:cs typeface="Corbel"/>
              <a:sym typeface="Corbel"/>
            </a:endParaRPr>
          </a:p>
          <a:p>
            <a:pPr indent="-571500" lvl="0" marL="5715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20"/>
              <a:buChar char="•"/>
            </a:pPr>
            <a:r>
              <a:rPr lang="en-US" sz="3200">
                <a:latin typeface="Corbel"/>
                <a:ea typeface="Corbel"/>
                <a:cs typeface="Corbel"/>
                <a:sym typeface="Corbel"/>
              </a:rPr>
              <a:t>Each router computes the </a:t>
            </a:r>
            <a:r>
              <a:rPr b="1" lang="en-US" sz="3200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least-cost paths</a:t>
            </a:r>
            <a:r>
              <a:rPr lang="en-US" sz="3200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-US" sz="3200">
                <a:latin typeface="Corbel"/>
                <a:ea typeface="Corbel"/>
                <a:cs typeface="Corbel"/>
                <a:sym typeface="Corbel"/>
              </a:rPr>
              <a:t>from itself to all other</a:t>
            </a:r>
            <a:endParaRPr/>
          </a:p>
          <a:p>
            <a:pPr indent="-240030" lvl="0" marL="5715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20"/>
              <a:buNone/>
            </a:pPr>
            <a:r>
              <a:t/>
            </a:r>
            <a:endParaRPr sz="3200">
              <a:latin typeface="Corbel"/>
              <a:ea typeface="Corbel"/>
              <a:cs typeface="Corbel"/>
              <a:sym typeface="Corbel"/>
            </a:endParaRPr>
          </a:p>
          <a:p>
            <a:pPr indent="-571500" lvl="0" marL="5715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20"/>
              <a:buChar char="•"/>
            </a:pPr>
            <a:r>
              <a:rPr lang="en-US" sz="3200">
                <a:latin typeface="Corbel"/>
                <a:ea typeface="Corbel"/>
                <a:cs typeface="Corbel"/>
                <a:sym typeface="Corbel"/>
              </a:rPr>
              <a:t>The result is a </a:t>
            </a:r>
            <a:r>
              <a:rPr b="1" lang="en-US" sz="3200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forwarding/routing table</a:t>
            </a:r>
            <a:r>
              <a:rPr lang="en-US" sz="3200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-US" sz="3200">
                <a:latin typeface="Corbel"/>
                <a:ea typeface="Corbel"/>
                <a:cs typeface="Corbel"/>
                <a:sym typeface="Corbel"/>
              </a:rPr>
              <a:t>(tells where to send packets)</a:t>
            </a:r>
            <a:endParaRPr/>
          </a:p>
          <a:p>
            <a:pPr indent="-240030" lvl="0" marL="5715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20"/>
              <a:buNone/>
            </a:pPr>
            <a:r>
              <a:t/>
            </a:r>
            <a:endParaRPr sz="3200">
              <a:latin typeface="Corbel"/>
              <a:ea typeface="Corbel"/>
              <a:cs typeface="Corbel"/>
              <a:sym typeface="Corbel"/>
            </a:endParaRPr>
          </a:p>
          <a:p>
            <a:pPr indent="-571500" lvl="0" marL="5715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20"/>
              <a:buChar char="•"/>
            </a:pPr>
            <a:r>
              <a:rPr lang="en-US" sz="3200">
                <a:latin typeface="Corbel"/>
                <a:ea typeface="Corbel"/>
                <a:cs typeface="Corbel"/>
                <a:sym typeface="Corbel"/>
              </a:rPr>
              <a:t>Algorithm runs in steps: after </a:t>
            </a:r>
            <a:r>
              <a:rPr b="1" lang="en-US" sz="3200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k iterations</a:t>
            </a:r>
            <a:r>
              <a:rPr lang="en-US" sz="3200">
                <a:latin typeface="Corbel"/>
                <a:ea typeface="Corbel"/>
                <a:cs typeface="Corbel"/>
                <a:sym typeface="Corbel"/>
              </a:rPr>
              <a:t>, the router knows the best path to </a:t>
            </a:r>
            <a:r>
              <a:rPr b="1" lang="en-US" sz="3200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k destinations</a:t>
            </a:r>
            <a:r>
              <a:rPr lang="en-US"/>
              <a:t>.</a:t>
            </a:r>
            <a:endParaRPr/>
          </a:p>
        </p:txBody>
      </p:sp>
      <p:sp>
        <p:nvSpPr>
          <p:cNvPr id="321" name="Google Shape;321;p69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4"/>
          <p:cNvSpPr txBox="1"/>
          <p:nvPr>
            <p:ph idx="4294967295" type="title"/>
          </p:nvPr>
        </p:nvSpPr>
        <p:spPr>
          <a:xfrm>
            <a:off x="1800497" y="762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Link-State Routing Process</a:t>
            </a:r>
            <a:endParaRPr/>
          </a:p>
        </p:txBody>
      </p:sp>
      <p:sp>
        <p:nvSpPr>
          <p:cNvPr id="328" name="Google Shape;328;p14"/>
          <p:cNvSpPr txBox="1"/>
          <p:nvPr>
            <p:ph idx="4294967295" type="body"/>
          </p:nvPr>
        </p:nvSpPr>
        <p:spPr>
          <a:xfrm>
            <a:off x="1323702" y="1219200"/>
            <a:ext cx="10341429" cy="53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20"/>
              <a:buNone/>
            </a:pPr>
            <a:r>
              <a:rPr b="1" lang="en-US" sz="3600">
                <a:solidFill>
                  <a:srgbClr val="7D28CD"/>
                </a:solidFill>
              </a:rPr>
              <a:t>5 Step Process :</a:t>
            </a:r>
            <a:endParaRPr b="1">
              <a:solidFill>
                <a:srgbClr val="7D28CD"/>
              </a:solidFill>
            </a:endParaRPr>
          </a:p>
          <a:p>
            <a:pPr indent="-457200" lvl="1" marL="1023938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SzPts val="3480"/>
              <a:buFont typeface="Corbel"/>
              <a:buAutoNum type="arabicPeriod"/>
            </a:pPr>
            <a:r>
              <a:rPr lang="en-US" sz="3200"/>
              <a:t>Each router learns its </a:t>
            </a:r>
            <a:r>
              <a:rPr b="1" lang="en-US" sz="3200">
                <a:solidFill>
                  <a:srgbClr val="0070C0"/>
                </a:solidFill>
              </a:rPr>
              <a:t>directly connected networks</a:t>
            </a:r>
            <a:r>
              <a:rPr lang="en-US" sz="3200">
                <a:solidFill>
                  <a:srgbClr val="0070C0"/>
                </a:solidFill>
              </a:rPr>
              <a:t>.</a:t>
            </a:r>
            <a:endParaRPr/>
          </a:p>
          <a:p>
            <a:pPr indent="-457200" lvl="1" marL="1023938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SzPts val="3480"/>
              <a:buFont typeface="Corbel"/>
              <a:buAutoNum type="arabicPeriod"/>
            </a:pPr>
            <a:r>
              <a:rPr lang="en-US" sz="3200"/>
              <a:t>Each router </a:t>
            </a:r>
            <a:r>
              <a:rPr b="1" lang="en-US" sz="3200">
                <a:solidFill>
                  <a:srgbClr val="0070C0"/>
                </a:solidFill>
              </a:rPr>
              <a:t>talks to its neighbors</a:t>
            </a:r>
            <a:r>
              <a:rPr lang="en-US" sz="3200">
                <a:solidFill>
                  <a:srgbClr val="0070C0"/>
                </a:solidFill>
              </a:rPr>
              <a:t> </a:t>
            </a:r>
            <a:r>
              <a:rPr lang="en-US" sz="3200"/>
              <a:t>(sends Hello packets).</a:t>
            </a:r>
            <a:endParaRPr/>
          </a:p>
          <a:p>
            <a:pPr indent="-457200" lvl="1" marL="1023938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SzPts val="3480"/>
              <a:buFont typeface="Corbel"/>
              <a:buAutoNum type="arabicPeriod"/>
            </a:pPr>
            <a:r>
              <a:rPr lang="en-US" sz="3200"/>
              <a:t>Each router creates a </a:t>
            </a:r>
            <a:r>
              <a:rPr b="1" lang="en-US" sz="3200">
                <a:solidFill>
                  <a:srgbClr val="0070C0"/>
                </a:solidFill>
              </a:rPr>
              <a:t>Link-State Packet (LSP)</a:t>
            </a:r>
            <a:r>
              <a:rPr lang="en-US" sz="3200">
                <a:solidFill>
                  <a:srgbClr val="0070C0"/>
                </a:solidFill>
              </a:rPr>
              <a:t> </a:t>
            </a:r>
            <a:r>
              <a:rPr lang="en-US" sz="3200"/>
              <a:t>describing its links.</a:t>
            </a:r>
            <a:endParaRPr/>
          </a:p>
          <a:p>
            <a:pPr indent="-457200" lvl="1" marL="1023938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SzPts val="3480"/>
              <a:buFont typeface="Corbel"/>
              <a:buAutoNum type="arabicPeriod"/>
            </a:pPr>
            <a:r>
              <a:rPr lang="en-US" sz="3200"/>
              <a:t>Each router </a:t>
            </a:r>
            <a:r>
              <a:rPr b="1" lang="en-US" sz="3200">
                <a:solidFill>
                  <a:srgbClr val="0070C0"/>
                </a:solidFill>
              </a:rPr>
              <a:t>floods its LSP</a:t>
            </a:r>
            <a:r>
              <a:rPr lang="en-US" sz="3200">
                <a:solidFill>
                  <a:srgbClr val="0070C0"/>
                </a:solidFill>
              </a:rPr>
              <a:t> </a:t>
            </a:r>
            <a:r>
              <a:rPr lang="en-US" sz="3200"/>
              <a:t>to all other routers.</a:t>
            </a:r>
            <a:endParaRPr/>
          </a:p>
          <a:p>
            <a:pPr indent="-457200" lvl="1" marL="1023938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SzPts val="3480"/>
              <a:buFont typeface="Corbel"/>
              <a:buAutoNum type="arabicPeriod"/>
            </a:pPr>
            <a:r>
              <a:rPr lang="en-US" sz="3200"/>
              <a:t>Every router builds a </a:t>
            </a:r>
            <a:r>
              <a:rPr b="1" lang="en-US" sz="3200">
                <a:solidFill>
                  <a:srgbClr val="0070C0"/>
                </a:solidFill>
              </a:rPr>
              <a:t>complete network map</a:t>
            </a:r>
            <a:r>
              <a:rPr lang="en-US" sz="3200">
                <a:solidFill>
                  <a:srgbClr val="0070C0"/>
                </a:solidFill>
              </a:rPr>
              <a:t> </a:t>
            </a:r>
            <a:r>
              <a:rPr lang="en-US" sz="3200"/>
              <a:t>from all LSPs and runs Dijkstra to find the </a:t>
            </a:r>
            <a:r>
              <a:rPr b="1" lang="en-US" sz="3200">
                <a:solidFill>
                  <a:srgbClr val="7030A0"/>
                </a:solidFill>
              </a:rPr>
              <a:t>best paths</a:t>
            </a:r>
            <a:r>
              <a:rPr lang="en-US" sz="3200">
                <a:solidFill>
                  <a:srgbClr val="7030A0"/>
                </a:solidFill>
              </a:rPr>
              <a:t>.</a:t>
            </a:r>
            <a:endParaRPr sz="3200">
              <a:solidFill>
                <a:srgbClr val="7030A0"/>
              </a:solidFill>
            </a:endParaRPr>
          </a:p>
        </p:txBody>
      </p:sp>
      <p:sp>
        <p:nvSpPr>
          <p:cNvPr id="329" name="Google Shape;329;p14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5"/>
          <p:cNvSpPr txBox="1"/>
          <p:nvPr>
            <p:ph idx="4294967295" type="title"/>
          </p:nvPr>
        </p:nvSpPr>
        <p:spPr>
          <a:xfrm>
            <a:off x="15240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Step 1: Directly Connected Networks</a:t>
            </a:r>
            <a:endParaRPr/>
          </a:p>
        </p:txBody>
      </p:sp>
      <p:sp>
        <p:nvSpPr>
          <p:cNvPr id="335" name="Google Shape;335;p15"/>
          <p:cNvSpPr txBox="1"/>
          <p:nvPr>
            <p:ph idx="4294967295" type="body"/>
          </p:nvPr>
        </p:nvSpPr>
        <p:spPr>
          <a:xfrm>
            <a:off x="1752600" y="4414707"/>
            <a:ext cx="9982200" cy="22146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Tahoma"/>
              <a:buChar char="•"/>
            </a:pPr>
            <a:r>
              <a:rPr lang="en-US" sz="2400">
                <a:solidFill>
                  <a:srgbClr val="FF0000"/>
                </a:solidFill>
              </a:rPr>
              <a:t>Each router</a:t>
            </a:r>
            <a:r>
              <a:rPr lang="en-US" sz="2400"/>
              <a:t> learns about its own </a:t>
            </a:r>
            <a:r>
              <a:rPr lang="en-US" sz="2400">
                <a:solidFill>
                  <a:schemeClr val="accent2"/>
                </a:solidFill>
              </a:rPr>
              <a:t>directly connected networks.</a:t>
            </a:r>
            <a:endParaRPr/>
          </a:p>
          <a:p>
            <a:pPr indent="-342900" lvl="1" marL="342900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lang="en-US" sz="2400"/>
              <a:t>When a router interface is configured with an IP address and subnet mask and activated, the interface becomes part of that network.</a:t>
            </a:r>
            <a:endParaRPr/>
          </a:p>
          <a:p>
            <a:pPr indent="-342900" lvl="1" marL="342900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lang="en-US" sz="2400">
                <a:solidFill>
                  <a:srgbClr val="FF0000"/>
                </a:solidFill>
              </a:rPr>
              <a:t>Regardless of the routing protocols used</a:t>
            </a:r>
            <a:r>
              <a:rPr lang="en-US" sz="2400"/>
              <a:t>, these directly connected networks are now part of the routing table.</a:t>
            </a:r>
            <a:endParaRPr/>
          </a:p>
        </p:txBody>
      </p:sp>
      <p:pic>
        <p:nvPicPr>
          <p:cNvPr descr="ls05.jpg" id="336" name="Google Shape;33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3175" y="1422732"/>
            <a:ext cx="4794250" cy="2819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7" name="Google Shape;337;p15"/>
          <p:cNvGrpSpPr/>
          <p:nvPr/>
        </p:nvGrpSpPr>
        <p:grpSpPr>
          <a:xfrm>
            <a:off x="2552700" y="1544175"/>
            <a:ext cx="7315200" cy="2576513"/>
            <a:chOff x="685800" y="4114800"/>
            <a:chExt cx="7315200" cy="2576299"/>
          </a:xfrm>
        </p:grpSpPr>
        <p:pic>
          <p:nvPicPr>
            <p:cNvPr descr="ls11.jpg" id="338" name="Google Shape;338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876800" y="4114800"/>
              <a:ext cx="3124200" cy="25762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9" name="Google Shape;339;p15"/>
            <p:cNvSpPr txBox="1"/>
            <p:nvPr/>
          </p:nvSpPr>
          <p:spPr>
            <a:xfrm>
              <a:off x="685800" y="4571962"/>
              <a:ext cx="3505200" cy="1569908"/>
            </a:xfrm>
            <a:prstGeom prst="rect">
              <a:avLst/>
            </a:prstGeom>
            <a:solidFill>
              <a:srgbClr val="800000"/>
            </a:solidFill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We will focus on the Link-State routing process from the perspective of R1.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0" name="Google Shape;340;p15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6"/>
          <p:cNvSpPr txBox="1"/>
          <p:nvPr>
            <p:ph idx="4294967295" type="title"/>
          </p:nvPr>
        </p:nvSpPr>
        <p:spPr>
          <a:xfrm>
            <a:off x="1752600" y="28319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Step 2: Hello Packets</a:t>
            </a:r>
            <a:endParaRPr/>
          </a:p>
        </p:txBody>
      </p:sp>
      <p:sp>
        <p:nvSpPr>
          <p:cNvPr id="346" name="Google Shape;346;p16"/>
          <p:cNvSpPr txBox="1"/>
          <p:nvPr>
            <p:ph idx="4294967295" type="body"/>
          </p:nvPr>
        </p:nvSpPr>
        <p:spPr>
          <a:xfrm>
            <a:off x="1523999" y="4485564"/>
            <a:ext cx="10310949" cy="21438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Tahoma"/>
              <a:buChar char="•"/>
            </a:pPr>
            <a:r>
              <a:rPr lang="en-US" sz="2400">
                <a:solidFill>
                  <a:srgbClr val="FF0000"/>
                </a:solidFill>
              </a:rPr>
              <a:t>Each router</a:t>
            </a:r>
            <a:r>
              <a:rPr lang="en-US" sz="2400"/>
              <a:t> is responsible for </a:t>
            </a:r>
            <a:r>
              <a:rPr lang="en-US" sz="2400">
                <a:solidFill>
                  <a:srgbClr val="FF0000"/>
                </a:solidFill>
              </a:rPr>
              <a:t>contacting its neighbors</a:t>
            </a:r>
            <a:r>
              <a:rPr lang="en-US" sz="2400"/>
              <a:t> on directly connected networks.</a:t>
            </a:r>
            <a:endParaRPr sz="1600"/>
          </a:p>
          <a:p>
            <a:pPr indent="-342900" lvl="1" marL="34290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lang="en-US" sz="2400"/>
              <a:t>The router will not be aware of any neighbor routers on the link until it receives a </a:t>
            </a:r>
            <a:r>
              <a:rPr lang="en-US" sz="2400">
                <a:solidFill>
                  <a:srgbClr val="FF0000"/>
                </a:solidFill>
              </a:rPr>
              <a:t>Hello packet</a:t>
            </a:r>
            <a:r>
              <a:rPr lang="en-US" sz="2400"/>
              <a:t> from that neighbor.</a:t>
            </a:r>
            <a:endParaRPr sz="1600"/>
          </a:p>
          <a:p>
            <a:pPr indent="-342900" lvl="1" marL="34290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lang="en-US" sz="2400"/>
              <a:t>At that time, it establishes an adjacency with the neighboring router.</a:t>
            </a:r>
            <a:endParaRPr sz="1600"/>
          </a:p>
        </p:txBody>
      </p:sp>
      <p:pic>
        <p:nvPicPr>
          <p:cNvPr descr="ls13.jpg" id="347" name="Google Shape;34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1000" y="1431877"/>
            <a:ext cx="3756025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16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7"/>
          <p:cNvSpPr txBox="1"/>
          <p:nvPr>
            <p:ph idx="4294967295" type="title"/>
          </p:nvPr>
        </p:nvSpPr>
        <p:spPr>
          <a:xfrm>
            <a:off x="15240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Step 2: Hello Packets</a:t>
            </a:r>
            <a:endParaRPr/>
          </a:p>
        </p:txBody>
      </p:sp>
      <p:pic>
        <p:nvPicPr>
          <p:cNvPr descr="ls14.jpg" id="354" name="Google Shape;35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1800" y="1219200"/>
            <a:ext cx="6311900" cy="5410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5" name="Google Shape;355;p17"/>
          <p:cNvGrpSpPr/>
          <p:nvPr/>
        </p:nvGrpSpPr>
        <p:grpSpPr>
          <a:xfrm>
            <a:off x="2971800" y="1219200"/>
            <a:ext cx="6311900" cy="5410200"/>
            <a:chOff x="1447800" y="1219200"/>
            <a:chExt cx="6311900" cy="5410200"/>
          </a:xfrm>
        </p:grpSpPr>
        <p:pic>
          <p:nvPicPr>
            <p:cNvPr descr="ls15.jpg" id="356" name="Google Shape;356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447800" y="1219200"/>
              <a:ext cx="6311900" cy="54102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57" name="Google Shape;357;p17"/>
            <p:cNvCxnSpPr/>
            <p:nvPr/>
          </p:nvCxnSpPr>
          <p:spPr>
            <a:xfrm flipH="1" rot="10800000">
              <a:off x="4419600" y="3124200"/>
              <a:ext cx="685800" cy="3810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58" name="Google Shape;358;p17"/>
            <p:cNvCxnSpPr/>
            <p:nvPr/>
          </p:nvCxnSpPr>
          <p:spPr>
            <a:xfrm>
              <a:off x="4572000" y="4038600"/>
              <a:ext cx="762000" cy="1588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59" name="Google Shape;359;p17"/>
            <p:cNvCxnSpPr/>
            <p:nvPr/>
          </p:nvCxnSpPr>
          <p:spPr>
            <a:xfrm>
              <a:off x="4495800" y="4724400"/>
              <a:ext cx="609600" cy="3048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60" name="Google Shape;360;p17"/>
            <p:cNvCxnSpPr/>
            <p:nvPr/>
          </p:nvCxnSpPr>
          <p:spPr>
            <a:xfrm rot="10800000">
              <a:off x="2209800" y="4495800"/>
              <a:ext cx="685800" cy="1588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361" name="Google Shape;361;p17"/>
          <p:cNvGrpSpPr/>
          <p:nvPr/>
        </p:nvGrpSpPr>
        <p:grpSpPr>
          <a:xfrm>
            <a:off x="2971800" y="1219200"/>
            <a:ext cx="6311900" cy="5410200"/>
            <a:chOff x="1447800" y="1219200"/>
            <a:chExt cx="6311900" cy="5410200"/>
          </a:xfrm>
        </p:grpSpPr>
        <p:pic>
          <p:nvPicPr>
            <p:cNvPr descr="ls16.jpg" id="362" name="Google Shape;362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447800" y="1219200"/>
              <a:ext cx="6311900" cy="54102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63" name="Google Shape;363;p17"/>
            <p:cNvCxnSpPr/>
            <p:nvPr/>
          </p:nvCxnSpPr>
          <p:spPr>
            <a:xfrm flipH="1">
              <a:off x="5486400" y="2438400"/>
              <a:ext cx="762000" cy="4572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64" name="Google Shape;364;p17"/>
            <p:cNvCxnSpPr/>
            <p:nvPr/>
          </p:nvCxnSpPr>
          <p:spPr>
            <a:xfrm rot="10800000">
              <a:off x="5410200" y="4038600"/>
              <a:ext cx="914400" cy="1588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65" name="Google Shape;365;p17"/>
            <p:cNvCxnSpPr/>
            <p:nvPr/>
          </p:nvCxnSpPr>
          <p:spPr>
            <a:xfrm rot="10800000">
              <a:off x="5257800" y="5638800"/>
              <a:ext cx="838200" cy="4572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366" name="Google Shape;366;p17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8"/>
          <p:cNvSpPr txBox="1"/>
          <p:nvPr>
            <p:ph idx="4294967295" type="title"/>
          </p:nvPr>
        </p:nvSpPr>
        <p:spPr>
          <a:xfrm>
            <a:off x="1828800" y="381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Step 2: Hello Packets</a:t>
            </a:r>
            <a:endParaRPr/>
          </a:p>
        </p:txBody>
      </p:sp>
      <p:sp>
        <p:nvSpPr>
          <p:cNvPr id="372" name="Google Shape;372;p18"/>
          <p:cNvSpPr txBox="1"/>
          <p:nvPr>
            <p:ph idx="4294967295" type="body"/>
          </p:nvPr>
        </p:nvSpPr>
        <p:spPr>
          <a:xfrm>
            <a:off x="1257299" y="1616226"/>
            <a:ext cx="4232275" cy="47464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46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ct val="145000"/>
              <a:buFont typeface="Tahoma"/>
              <a:buChar char="•"/>
            </a:pPr>
            <a:r>
              <a:rPr lang="en-US" sz="3100"/>
              <a:t>A</a:t>
            </a:r>
            <a:r>
              <a:rPr lang="en-US" sz="3100">
                <a:solidFill>
                  <a:srgbClr val="FFFF00"/>
                </a:solidFill>
              </a:rPr>
              <a:t> </a:t>
            </a:r>
            <a:r>
              <a:rPr lang="en-US" sz="3100">
                <a:solidFill>
                  <a:srgbClr val="FF0000"/>
                </a:solidFill>
              </a:rPr>
              <a:t>neighbor</a:t>
            </a:r>
            <a:r>
              <a:rPr lang="en-US" sz="3100"/>
              <a:t> is any other router that is enabled with the </a:t>
            </a:r>
            <a:r>
              <a:rPr lang="en-US" sz="3100">
                <a:solidFill>
                  <a:srgbClr val="FF0000"/>
                </a:solidFill>
              </a:rPr>
              <a:t>same link-state routing protocol</a:t>
            </a:r>
            <a:r>
              <a:rPr lang="en-US" sz="3100"/>
              <a:t>.</a:t>
            </a:r>
            <a:endParaRPr sz="2300"/>
          </a:p>
          <a:p>
            <a:pPr indent="-238" lvl="0" marL="214313" rtl="0" algn="l">
              <a:lnSpc>
                <a:spcPct val="100000"/>
              </a:lnSpc>
              <a:spcBef>
                <a:spcPts val="931"/>
              </a:spcBef>
              <a:spcAft>
                <a:spcPts val="0"/>
              </a:spcAft>
              <a:buClr>
                <a:srgbClr val="1186C3"/>
              </a:buClr>
              <a:buSzPct val="145000"/>
              <a:buFont typeface="Arial"/>
              <a:buNone/>
            </a:pPr>
            <a:r>
              <a:t/>
            </a:r>
            <a:endParaRPr sz="3000"/>
          </a:p>
          <a:p>
            <a:pPr indent="-214313" lvl="0" marL="214313" rtl="0" algn="l">
              <a:lnSpc>
                <a:spcPct val="100000"/>
              </a:lnSpc>
              <a:spcBef>
                <a:spcPts val="931"/>
              </a:spcBef>
              <a:spcAft>
                <a:spcPts val="0"/>
              </a:spcAft>
              <a:buClr>
                <a:srgbClr val="1186C3"/>
              </a:buClr>
              <a:buSzPct val="145000"/>
              <a:buFont typeface="Arial"/>
              <a:buChar char="•"/>
            </a:pPr>
            <a:r>
              <a:rPr lang="en-US" sz="3000"/>
              <a:t>These small Hello packets continue to be exchanged between two adjacent neighbors.</a:t>
            </a:r>
            <a:endParaRPr sz="1900"/>
          </a:p>
          <a:p>
            <a:pPr indent="-238" lvl="0" marL="214313" rtl="0" algn="l">
              <a:lnSpc>
                <a:spcPct val="100000"/>
              </a:lnSpc>
              <a:spcBef>
                <a:spcPts val="931"/>
              </a:spcBef>
              <a:spcAft>
                <a:spcPts val="0"/>
              </a:spcAft>
              <a:buClr>
                <a:srgbClr val="1186C3"/>
              </a:buClr>
              <a:buSzPct val="145000"/>
              <a:buFont typeface="Arial"/>
              <a:buNone/>
            </a:pPr>
            <a:r>
              <a:t/>
            </a:r>
            <a:endParaRPr sz="3000"/>
          </a:p>
          <a:p>
            <a:pPr indent="-214313" lvl="0" marL="214313" rtl="0" algn="l">
              <a:lnSpc>
                <a:spcPct val="100000"/>
              </a:lnSpc>
              <a:spcBef>
                <a:spcPts val="931"/>
              </a:spcBef>
              <a:spcAft>
                <a:spcPts val="0"/>
              </a:spcAft>
              <a:buClr>
                <a:srgbClr val="1186C3"/>
              </a:buClr>
              <a:buSzPct val="145000"/>
              <a:buFont typeface="Arial"/>
              <a:buChar char="•"/>
            </a:pPr>
            <a:r>
              <a:rPr lang="en-US" sz="3000"/>
              <a:t>These packets serve as a </a:t>
            </a:r>
            <a:r>
              <a:rPr lang="en-US" sz="3000">
                <a:solidFill>
                  <a:srgbClr val="FF0000"/>
                </a:solidFill>
              </a:rPr>
              <a:t>keep alive </a:t>
            </a:r>
            <a:r>
              <a:rPr lang="en-US" sz="3000"/>
              <a:t>function to monitor the state of the neighbor.</a:t>
            </a:r>
            <a:endParaRPr sz="1900"/>
          </a:p>
          <a:p>
            <a:pPr indent="-215190" lvl="1" marL="342900" rtl="0" algn="l">
              <a:lnSpc>
                <a:spcPct val="100000"/>
              </a:lnSpc>
              <a:spcBef>
                <a:spcPts val="727"/>
              </a:spcBef>
              <a:spcAft>
                <a:spcPts val="0"/>
              </a:spcAft>
              <a:buClr>
                <a:srgbClr val="1186C3"/>
              </a:buClr>
              <a:buSzPct val="145000"/>
              <a:buFont typeface="Tahoma"/>
              <a:buNone/>
            </a:pPr>
            <a:r>
              <a:t/>
            </a:r>
            <a:endParaRPr/>
          </a:p>
        </p:txBody>
      </p:sp>
      <p:pic>
        <p:nvPicPr>
          <p:cNvPr descr="ls17.jpg" id="373" name="Google Shape;37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9300" y="1790700"/>
            <a:ext cx="5334000" cy="4572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4" name="Google Shape;374;p18"/>
          <p:cNvCxnSpPr/>
          <p:nvPr/>
        </p:nvCxnSpPr>
        <p:spPr>
          <a:xfrm flipH="1" rot="10800000">
            <a:off x="7810500" y="3438158"/>
            <a:ext cx="685800" cy="38100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75" name="Google Shape;375;p18"/>
          <p:cNvCxnSpPr/>
          <p:nvPr/>
        </p:nvCxnSpPr>
        <p:spPr>
          <a:xfrm>
            <a:off x="8115300" y="4053160"/>
            <a:ext cx="762000" cy="1588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76" name="Google Shape;376;p18"/>
          <p:cNvCxnSpPr/>
          <p:nvPr/>
        </p:nvCxnSpPr>
        <p:spPr>
          <a:xfrm>
            <a:off x="8039100" y="4479250"/>
            <a:ext cx="685800" cy="38100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77" name="Google Shape;377;p18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9"/>
          <p:cNvSpPr txBox="1"/>
          <p:nvPr>
            <p:ph idx="4294967295" type="title"/>
          </p:nvPr>
        </p:nvSpPr>
        <p:spPr>
          <a:xfrm>
            <a:off x="15240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Step 3: Build the Link-State Packet </a:t>
            </a:r>
            <a:endParaRPr/>
          </a:p>
        </p:txBody>
      </p:sp>
      <p:sp>
        <p:nvSpPr>
          <p:cNvPr id="383" name="Google Shape;383;p19"/>
          <p:cNvSpPr txBox="1"/>
          <p:nvPr>
            <p:ph idx="4294967295" type="body"/>
          </p:nvPr>
        </p:nvSpPr>
        <p:spPr>
          <a:xfrm>
            <a:off x="2057400" y="4648200"/>
            <a:ext cx="88392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Tahoma"/>
              <a:buChar char="•"/>
            </a:pPr>
            <a:r>
              <a:rPr lang="en-US" sz="2000">
                <a:solidFill>
                  <a:srgbClr val="FF0000"/>
                </a:solidFill>
              </a:rPr>
              <a:t>Each router</a:t>
            </a:r>
            <a:r>
              <a:rPr lang="en-US" sz="2000"/>
              <a:t> builds a </a:t>
            </a:r>
            <a:r>
              <a:rPr lang="en-US" sz="2000">
                <a:solidFill>
                  <a:srgbClr val="FF0000"/>
                </a:solidFill>
              </a:rPr>
              <a:t>link-state packet (LSP)</a:t>
            </a:r>
            <a:r>
              <a:rPr b="1" i="1" lang="en-US" sz="2000"/>
              <a:t> </a:t>
            </a:r>
            <a:r>
              <a:rPr lang="en-US" sz="2000"/>
              <a:t>containing the state of each directly connected link.</a:t>
            </a:r>
            <a:endParaRPr/>
          </a:p>
          <a:p>
            <a:pPr indent="-342900" lvl="1" marL="34290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lang="en-US" sz="2000"/>
              <a:t>The</a:t>
            </a:r>
            <a:r>
              <a:rPr lang="en-US" sz="2000">
                <a:solidFill>
                  <a:srgbClr val="FF0000"/>
                </a:solidFill>
              </a:rPr>
              <a:t> LSP contains the link-state information</a:t>
            </a:r>
            <a:r>
              <a:rPr lang="en-US" sz="2000"/>
              <a:t> about the sending router’s links. </a:t>
            </a:r>
            <a:endParaRPr/>
          </a:p>
          <a:p>
            <a:pPr indent="-342900" lvl="1" marL="34290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lang="en-US" sz="2000"/>
              <a:t>The router </a:t>
            </a:r>
            <a:r>
              <a:rPr lang="en-US" sz="2000">
                <a:solidFill>
                  <a:srgbClr val="FF0000"/>
                </a:solidFill>
              </a:rPr>
              <a:t>only sends LSPs</a:t>
            </a:r>
            <a:r>
              <a:rPr lang="en-US" sz="2000"/>
              <a:t> out interfaces where it has </a:t>
            </a:r>
            <a:r>
              <a:rPr lang="en-US" sz="2000">
                <a:solidFill>
                  <a:srgbClr val="FF0000"/>
                </a:solidFill>
              </a:rPr>
              <a:t>established adjacencies</a:t>
            </a:r>
            <a:r>
              <a:rPr lang="en-US" sz="2000"/>
              <a:t> with other routers.</a:t>
            </a:r>
            <a:endParaRPr/>
          </a:p>
        </p:txBody>
      </p:sp>
      <p:pic>
        <p:nvPicPr>
          <p:cNvPr descr="ls18.jpg" id="384" name="Google Shape;38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9636" y="1524000"/>
            <a:ext cx="6477000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19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0"/>
          <p:cNvSpPr txBox="1"/>
          <p:nvPr>
            <p:ph idx="4294967295" type="title"/>
          </p:nvPr>
        </p:nvSpPr>
        <p:spPr>
          <a:xfrm>
            <a:off x="15240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Step 4: Flooding Link-State Packets</a:t>
            </a:r>
            <a:endParaRPr/>
          </a:p>
        </p:txBody>
      </p:sp>
      <p:sp>
        <p:nvSpPr>
          <p:cNvPr id="391" name="Google Shape;391;p20"/>
          <p:cNvSpPr txBox="1"/>
          <p:nvPr>
            <p:ph idx="4294967295" type="body"/>
          </p:nvPr>
        </p:nvSpPr>
        <p:spPr>
          <a:xfrm>
            <a:off x="2209800" y="5302534"/>
            <a:ext cx="8839200" cy="13268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Tahoma"/>
              <a:buChar char="•"/>
            </a:pPr>
            <a:r>
              <a:rPr lang="en-US" sz="1800">
                <a:solidFill>
                  <a:srgbClr val="FF0000"/>
                </a:solidFill>
              </a:rPr>
              <a:t>Each router</a:t>
            </a:r>
            <a:r>
              <a:rPr lang="en-US" sz="1800"/>
              <a:t> </a:t>
            </a:r>
            <a:r>
              <a:rPr lang="en-US" sz="1800">
                <a:solidFill>
                  <a:srgbClr val="FF0000"/>
                </a:solidFill>
              </a:rPr>
              <a:t>floods the LSP to all neighbors</a:t>
            </a:r>
            <a:r>
              <a:rPr lang="en-US" sz="1800"/>
              <a:t>, who then store all LSPs received in a database.</a:t>
            </a:r>
            <a:endParaRPr/>
          </a:p>
          <a:p>
            <a:pPr indent="-342900" lvl="2" marL="796925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Tahoma"/>
              <a:buChar char="•"/>
            </a:pPr>
            <a:r>
              <a:rPr lang="en-US" sz="1600"/>
              <a:t>Whenever a router receives an LSP from a neighboring router, it immediately sends that LSP out all other interfaces, </a:t>
            </a:r>
            <a:r>
              <a:rPr lang="en-US" sz="1600">
                <a:solidFill>
                  <a:srgbClr val="FF0000"/>
                </a:solidFill>
              </a:rPr>
              <a:t>except the interface that received the LSP. </a:t>
            </a:r>
            <a:endParaRPr/>
          </a:p>
        </p:txBody>
      </p:sp>
      <p:pic>
        <p:nvPicPr>
          <p:cNvPr descr="ls19.jpg" id="392" name="Google Shape;39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5600" y="1314734"/>
            <a:ext cx="6705600" cy="3911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3" name="Google Shape;393;p20"/>
          <p:cNvGrpSpPr/>
          <p:nvPr/>
        </p:nvGrpSpPr>
        <p:grpSpPr>
          <a:xfrm>
            <a:off x="4331269" y="2014254"/>
            <a:ext cx="1752600" cy="2286000"/>
            <a:chOff x="2743200" y="1524000"/>
            <a:chExt cx="1752600" cy="2286000"/>
          </a:xfrm>
        </p:grpSpPr>
        <p:cxnSp>
          <p:nvCxnSpPr>
            <p:cNvPr id="394" name="Google Shape;394;p20"/>
            <p:cNvCxnSpPr/>
            <p:nvPr/>
          </p:nvCxnSpPr>
          <p:spPr>
            <a:xfrm flipH="1" rot="10800000">
              <a:off x="2743200" y="1524000"/>
              <a:ext cx="1752600" cy="914400"/>
            </a:xfrm>
            <a:prstGeom prst="straightConnector1">
              <a:avLst/>
            </a:prstGeom>
            <a:noFill/>
            <a:ln cap="flat" cmpd="sng" w="317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95" name="Google Shape;395;p20"/>
            <p:cNvCxnSpPr/>
            <p:nvPr/>
          </p:nvCxnSpPr>
          <p:spPr>
            <a:xfrm>
              <a:off x="2895600" y="2667000"/>
              <a:ext cx="1524000" cy="1588"/>
            </a:xfrm>
            <a:prstGeom prst="straightConnector1">
              <a:avLst/>
            </a:prstGeom>
            <a:noFill/>
            <a:ln cap="flat" cmpd="sng" w="317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96" name="Google Shape;396;p20"/>
            <p:cNvCxnSpPr/>
            <p:nvPr/>
          </p:nvCxnSpPr>
          <p:spPr>
            <a:xfrm>
              <a:off x="2743200" y="2895600"/>
              <a:ext cx="1676400" cy="914400"/>
            </a:xfrm>
            <a:prstGeom prst="straightConnector1">
              <a:avLst/>
            </a:prstGeom>
            <a:noFill/>
            <a:ln cap="flat" cmpd="sng" w="317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pic>
          <p:nvPicPr>
            <p:cNvPr descr="ls20.jpg" id="397" name="Google Shape;397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124200" y="2133600"/>
              <a:ext cx="444500" cy="292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s20.jpg" id="398" name="Google Shape;398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124200" y="2590800"/>
              <a:ext cx="444500" cy="292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s20.jpg" id="399" name="Google Shape;399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124200" y="3048000"/>
              <a:ext cx="444500" cy="292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0" name="Google Shape;400;p20"/>
          <p:cNvSpPr txBox="1"/>
          <p:nvPr/>
        </p:nvSpPr>
        <p:spPr>
          <a:xfrm>
            <a:off x="7391400" y="1496704"/>
            <a:ext cx="2895600" cy="461963"/>
          </a:xfrm>
          <a:prstGeom prst="rect">
            <a:avLst/>
          </a:prstGeom>
          <a:solidFill>
            <a:srgbClr val="80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Flooding of R1 LSP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1" name="Google Shape;401;p20"/>
          <p:cNvGrpSpPr/>
          <p:nvPr/>
        </p:nvGrpSpPr>
        <p:grpSpPr>
          <a:xfrm>
            <a:off x="1524000" y="1479266"/>
            <a:ext cx="3124200" cy="1677987"/>
            <a:chOff x="457200" y="990600"/>
            <a:chExt cx="3124200" cy="1677193"/>
          </a:xfrm>
        </p:grpSpPr>
        <p:cxnSp>
          <p:nvCxnSpPr>
            <p:cNvPr id="402" name="Google Shape;402;p20"/>
            <p:cNvCxnSpPr/>
            <p:nvPr/>
          </p:nvCxnSpPr>
          <p:spPr>
            <a:xfrm rot="5400000">
              <a:off x="1600453" y="2133058"/>
              <a:ext cx="1066295" cy="3175"/>
            </a:xfrm>
            <a:prstGeom prst="straightConnector1">
              <a:avLst/>
            </a:prstGeom>
            <a:noFill/>
            <a:ln cap="flat" cmpd="sng" w="50800">
              <a:solidFill>
                <a:srgbClr val="531A88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03" name="Google Shape;403;p20"/>
            <p:cNvSpPr txBox="1"/>
            <p:nvPr/>
          </p:nvSpPr>
          <p:spPr>
            <a:xfrm>
              <a:off x="457200" y="990600"/>
              <a:ext cx="3124200" cy="831456"/>
            </a:xfrm>
            <a:prstGeom prst="rect">
              <a:avLst/>
            </a:prstGeom>
            <a:solidFill>
              <a:srgbClr val="531A88"/>
            </a:solidFill>
            <a:ln cap="flat" cmpd="sng" w="2540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No response to Hello – no LSP sent.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4" name="Google Shape;404;p20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1"/>
          <p:cNvSpPr txBox="1"/>
          <p:nvPr>
            <p:ph idx="4294967295" type="title"/>
          </p:nvPr>
        </p:nvSpPr>
        <p:spPr>
          <a:xfrm>
            <a:off x="1676400" y="242343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Step 4: Flooding Link-State Packets</a:t>
            </a:r>
            <a:endParaRPr/>
          </a:p>
        </p:txBody>
      </p:sp>
      <p:sp>
        <p:nvSpPr>
          <p:cNvPr id="410" name="Google Shape;410;p21"/>
          <p:cNvSpPr txBox="1"/>
          <p:nvPr>
            <p:ph idx="4294967295" type="body"/>
          </p:nvPr>
        </p:nvSpPr>
        <p:spPr>
          <a:xfrm>
            <a:off x="2286000" y="5038988"/>
            <a:ext cx="8763000" cy="1666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-220980" lvl="0" marL="21431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lang="en-US" sz="2400"/>
              <a:t>Link-state routing protocols calculate the SPF algorithm </a:t>
            </a:r>
            <a:r>
              <a:rPr lang="en-US" sz="2400">
                <a:solidFill>
                  <a:srgbClr val="FF0000"/>
                </a:solidFill>
              </a:rPr>
              <a:t>after the flooding</a:t>
            </a:r>
            <a:r>
              <a:rPr lang="en-US" sz="2400">
                <a:solidFill>
                  <a:srgbClr val="FFFF00"/>
                </a:solidFill>
              </a:rPr>
              <a:t> </a:t>
            </a:r>
            <a:r>
              <a:rPr lang="en-US" sz="2400"/>
              <a:t>is complete. </a:t>
            </a:r>
            <a:endParaRPr/>
          </a:p>
          <a:p>
            <a:pPr indent="-220980" lvl="0" marL="214313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lang="en-US" sz="2400"/>
              <a:t>As a result, link-state routing protocols </a:t>
            </a:r>
            <a:r>
              <a:rPr lang="en-US" sz="2400">
                <a:solidFill>
                  <a:srgbClr val="FF0000"/>
                </a:solidFill>
              </a:rPr>
              <a:t>reach convergence much faster</a:t>
            </a:r>
            <a:r>
              <a:rPr lang="en-US" sz="2400">
                <a:solidFill>
                  <a:srgbClr val="FFFF00"/>
                </a:solidFill>
              </a:rPr>
              <a:t> </a:t>
            </a:r>
            <a:r>
              <a:rPr lang="en-US" sz="2400"/>
              <a:t>than distance vector routing protocols.</a:t>
            </a:r>
            <a:endParaRPr/>
          </a:p>
        </p:txBody>
      </p:sp>
      <p:pic>
        <p:nvPicPr>
          <p:cNvPr descr="ls19.jpg" id="411" name="Google Shape;41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0731" y="1083150"/>
            <a:ext cx="6705600" cy="3911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2" name="Google Shape;412;p21"/>
          <p:cNvGrpSpPr/>
          <p:nvPr/>
        </p:nvGrpSpPr>
        <p:grpSpPr>
          <a:xfrm>
            <a:off x="6019800" y="2971800"/>
            <a:ext cx="611188" cy="673100"/>
            <a:chOff x="4495800" y="2971800"/>
            <a:chExt cx="611188" cy="673100"/>
          </a:xfrm>
        </p:grpSpPr>
        <p:pic>
          <p:nvPicPr>
            <p:cNvPr descr="ls20.jpg" id="413" name="Google Shape;413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572000" y="2971800"/>
              <a:ext cx="444500" cy="292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s20.jpg" id="414" name="Google Shape;414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572000" y="3352800"/>
              <a:ext cx="444500" cy="2921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15" name="Google Shape;415;p21"/>
            <p:cNvCxnSpPr/>
            <p:nvPr/>
          </p:nvCxnSpPr>
          <p:spPr>
            <a:xfrm rot="5400000">
              <a:off x="4801394" y="3275806"/>
              <a:ext cx="609600" cy="1588"/>
            </a:xfrm>
            <a:prstGeom prst="straightConnector1">
              <a:avLst/>
            </a:prstGeom>
            <a:noFill/>
            <a:ln cap="flat" cmpd="sng" w="31750">
              <a:solidFill>
                <a:srgbClr val="FF0000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416" name="Google Shape;416;p21"/>
            <p:cNvCxnSpPr/>
            <p:nvPr/>
          </p:nvCxnSpPr>
          <p:spPr>
            <a:xfrm rot="5400000">
              <a:off x="4191794" y="3275806"/>
              <a:ext cx="609600" cy="1588"/>
            </a:xfrm>
            <a:prstGeom prst="straightConnector1">
              <a:avLst/>
            </a:prstGeom>
            <a:noFill/>
            <a:ln cap="flat" cmpd="sng" w="317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417" name="Google Shape;417;p21"/>
          <p:cNvGrpSpPr/>
          <p:nvPr/>
        </p:nvGrpSpPr>
        <p:grpSpPr>
          <a:xfrm>
            <a:off x="4267200" y="1524000"/>
            <a:ext cx="1752600" cy="2286000"/>
            <a:chOff x="2743200" y="1524000"/>
            <a:chExt cx="1752600" cy="2286000"/>
          </a:xfrm>
        </p:grpSpPr>
        <p:cxnSp>
          <p:nvCxnSpPr>
            <p:cNvPr id="418" name="Google Shape;418;p21"/>
            <p:cNvCxnSpPr/>
            <p:nvPr/>
          </p:nvCxnSpPr>
          <p:spPr>
            <a:xfrm flipH="1" rot="10800000">
              <a:off x="2743200" y="1524000"/>
              <a:ext cx="1752600" cy="914400"/>
            </a:xfrm>
            <a:prstGeom prst="straightConnector1">
              <a:avLst/>
            </a:prstGeom>
            <a:noFill/>
            <a:ln cap="flat" cmpd="sng" w="317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19" name="Google Shape;419;p21"/>
            <p:cNvCxnSpPr/>
            <p:nvPr/>
          </p:nvCxnSpPr>
          <p:spPr>
            <a:xfrm>
              <a:off x="2895600" y="2667000"/>
              <a:ext cx="1524000" cy="1588"/>
            </a:xfrm>
            <a:prstGeom prst="straightConnector1">
              <a:avLst/>
            </a:prstGeom>
            <a:noFill/>
            <a:ln cap="flat" cmpd="sng" w="317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20" name="Google Shape;420;p21"/>
            <p:cNvCxnSpPr/>
            <p:nvPr/>
          </p:nvCxnSpPr>
          <p:spPr>
            <a:xfrm>
              <a:off x="2743200" y="2895600"/>
              <a:ext cx="1676400" cy="914400"/>
            </a:xfrm>
            <a:prstGeom prst="straightConnector1">
              <a:avLst/>
            </a:prstGeom>
            <a:noFill/>
            <a:ln cap="flat" cmpd="sng" w="317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pic>
          <p:nvPicPr>
            <p:cNvPr descr="ls20.jpg" id="421" name="Google Shape;421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124200" y="2133600"/>
              <a:ext cx="444500" cy="292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s20.jpg" id="422" name="Google Shape;422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124200" y="2590800"/>
              <a:ext cx="444500" cy="292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s20.jpg" id="423" name="Google Shape;423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124200" y="3048000"/>
              <a:ext cx="444500" cy="2921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24" name="Google Shape;424;p21"/>
          <p:cNvCxnSpPr/>
          <p:nvPr/>
        </p:nvCxnSpPr>
        <p:spPr>
          <a:xfrm>
            <a:off x="6705600" y="1600200"/>
            <a:ext cx="1676400" cy="9144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25" name="Google Shape;425;p21"/>
          <p:cNvCxnSpPr/>
          <p:nvPr/>
        </p:nvCxnSpPr>
        <p:spPr>
          <a:xfrm flipH="1" rot="10800000">
            <a:off x="6629400" y="2959100"/>
            <a:ext cx="1752600" cy="8509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descr="ls20.jpg" id="426" name="Google Shape;42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81800" y="1752600"/>
            <a:ext cx="444500" cy="292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s20.jpg" id="427" name="Google Shape;42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39000" y="3124200"/>
            <a:ext cx="444500" cy="292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8" name="Google Shape;428;p21"/>
          <p:cNvCxnSpPr/>
          <p:nvPr/>
        </p:nvCxnSpPr>
        <p:spPr>
          <a:xfrm rot="10800000">
            <a:off x="4178300" y="2971800"/>
            <a:ext cx="1752600" cy="9906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29" name="Google Shape;429;p21"/>
          <p:cNvCxnSpPr/>
          <p:nvPr/>
        </p:nvCxnSpPr>
        <p:spPr>
          <a:xfrm rot="10800000">
            <a:off x="6540500" y="1816100"/>
            <a:ext cx="1587500" cy="803275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0" name="Google Shape;430;p21"/>
          <p:cNvCxnSpPr/>
          <p:nvPr/>
        </p:nvCxnSpPr>
        <p:spPr>
          <a:xfrm flipH="1">
            <a:off x="6629400" y="2819400"/>
            <a:ext cx="1600200" cy="7620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1" name="Google Shape;431;p21"/>
          <p:cNvCxnSpPr/>
          <p:nvPr/>
        </p:nvCxnSpPr>
        <p:spPr>
          <a:xfrm flipH="1">
            <a:off x="4648200" y="1816100"/>
            <a:ext cx="1447800" cy="6985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2" name="Google Shape;432;p21"/>
          <p:cNvCxnSpPr/>
          <p:nvPr/>
        </p:nvCxnSpPr>
        <p:spPr>
          <a:xfrm flipH="1">
            <a:off x="4432300" y="2806700"/>
            <a:ext cx="1535113" cy="127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3" name="Google Shape;433;p21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2"/>
          <p:cNvSpPr txBox="1"/>
          <p:nvPr>
            <p:ph idx="4294967295" type="title"/>
          </p:nvPr>
        </p:nvSpPr>
        <p:spPr>
          <a:xfrm>
            <a:off x="15240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Step 4: Flooding Link-State Packets</a:t>
            </a:r>
            <a:endParaRPr/>
          </a:p>
        </p:txBody>
      </p:sp>
      <p:sp>
        <p:nvSpPr>
          <p:cNvPr id="439" name="Google Shape;439;p22"/>
          <p:cNvSpPr txBox="1"/>
          <p:nvPr>
            <p:ph idx="4294967295" type="body"/>
          </p:nvPr>
        </p:nvSpPr>
        <p:spPr>
          <a:xfrm>
            <a:off x="1981200" y="4829175"/>
            <a:ext cx="88392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14313" lvl="0" marL="21431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</a:pPr>
            <a:r>
              <a:rPr lang="en-US"/>
              <a:t>An </a:t>
            </a:r>
            <a:r>
              <a:rPr lang="en-US">
                <a:solidFill>
                  <a:srgbClr val="FF0000"/>
                </a:solidFill>
              </a:rPr>
              <a:t>LSP</a:t>
            </a:r>
            <a:r>
              <a:rPr lang="en-US"/>
              <a:t> needs to be sent only:</a:t>
            </a:r>
            <a:endParaRPr/>
          </a:p>
          <a:p>
            <a:pPr indent="-288925" lvl="1" marL="855663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lang="en-US" sz="2000"/>
              <a:t>During </a:t>
            </a:r>
            <a:r>
              <a:rPr lang="en-US" sz="2000">
                <a:solidFill>
                  <a:srgbClr val="FF0000"/>
                </a:solidFill>
              </a:rPr>
              <a:t>initial startup</a:t>
            </a:r>
            <a:r>
              <a:rPr lang="en-US" sz="2000">
                <a:solidFill>
                  <a:srgbClr val="FFFF00"/>
                </a:solidFill>
              </a:rPr>
              <a:t> </a:t>
            </a:r>
            <a:r>
              <a:rPr lang="en-US" sz="2000"/>
              <a:t>of the router or routing protocol.</a:t>
            </a:r>
            <a:endParaRPr/>
          </a:p>
          <a:p>
            <a:pPr indent="-288925" lvl="1" marL="855663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lang="en-US" sz="2000"/>
              <a:t>Whenever there is a </a:t>
            </a:r>
            <a:r>
              <a:rPr lang="en-US" sz="2000">
                <a:solidFill>
                  <a:srgbClr val="FF0000"/>
                </a:solidFill>
              </a:rPr>
              <a:t>change in the topology</a:t>
            </a:r>
            <a:r>
              <a:rPr lang="en-US" sz="2000"/>
              <a:t> (link going down or coming up) or a neighbor adjacency being established or broken.</a:t>
            </a:r>
            <a:endParaRPr/>
          </a:p>
        </p:txBody>
      </p:sp>
      <p:pic>
        <p:nvPicPr>
          <p:cNvPr descr="ls19.jpg" id="440" name="Google Shape;44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9400" y="1144588"/>
            <a:ext cx="6705600" cy="3911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1" name="Google Shape;441;p22"/>
          <p:cNvGrpSpPr/>
          <p:nvPr/>
        </p:nvGrpSpPr>
        <p:grpSpPr>
          <a:xfrm>
            <a:off x="4267200" y="1524000"/>
            <a:ext cx="1752600" cy="2286000"/>
            <a:chOff x="2743200" y="1524000"/>
            <a:chExt cx="1752600" cy="2286000"/>
          </a:xfrm>
        </p:grpSpPr>
        <p:cxnSp>
          <p:nvCxnSpPr>
            <p:cNvPr id="442" name="Google Shape;442;p22"/>
            <p:cNvCxnSpPr/>
            <p:nvPr/>
          </p:nvCxnSpPr>
          <p:spPr>
            <a:xfrm flipH="1" rot="10800000">
              <a:off x="2743200" y="1524000"/>
              <a:ext cx="1752600" cy="914400"/>
            </a:xfrm>
            <a:prstGeom prst="straightConnector1">
              <a:avLst/>
            </a:prstGeom>
            <a:noFill/>
            <a:ln cap="flat" cmpd="sng" w="317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43" name="Google Shape;443;p22"/>
            <p:cNvCxnSpPr/>
            <p:nvPr/>
          </p:nvCxnSpPr>
          <p:spPr>
            <a:xfrm>
              <a:off x="2895600" y="2667000"/>
              <a:ext cx="1524000" cy="1588"/>
            </a:xfrm>
            <a:prstGeom prst="straightConnector1">
              <a:avLst/>
            </a:prstGeom>
            <a:noFill/>
            <a:ln cap="flat" cmpd="sng" w="317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44" name="Google Shape;444;p22"/>
            <p:cNvCxnSpPr/>
            <p:nvPr/>
          </p:nvCxnSpPr>
          <p:spPr>
            <a:xfrm>
              <a:off x="2743200" y="2895600"/>
              <a:ext cx="1676400" cy="914400"/>
            </a:xfrm>
            <a:prstGeom prst="straightConnector1">
              <a:avLst/>
            </a:prstGeom>
            <a:noFill/>
            <a:ln cap="flat" cmpd="sng" w="317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pic>
          <p:nvPicPr>
            <p:cNvPr descr="ls20.jpg" id="445" name="Google Shape;445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124200" y="2133600"/>
              <a:ext cx="444500" cy="292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s20.jpg" id="446" name="Google Shape;446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124200" y="2590800"/>
              <a:ext cx="444500" cy="292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s20.jpg" id="447" name="Google Shape;447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124200" y="3048000"/>
              <a:ext cx="444500" cy="292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8" name="Google Shape;448;p22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3"/>
          <p:cNvSpPr txBox="1"/>
          <p:nvPr>
            <p:ph idx="4294967295" type="title"/>
          </p:nvPr>
        </p:nvSpPr>
        <p:spPr>
          <a:xfrm>
            <a:off x="15240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3209"/>
              <a:buNone/>
            </a:pPr>
            <a:r>
              <a:rPr lang="en-US" sz="3600"/>
              <a:t>Step 5: Constructing a Link-State Database</a:t>
            </a:r>
            <a:endParaRPr/>
          </a:p>
        </p:txBody>
      </p:sp>
      <p:sp>
        <p:nvSpPr>
          <p:cNvPr id="454" name="Google Shape;454;p23"/>
          <p:cNvSpPr txBox="1"/>
          <p:nvPr>
            <p:ph idx="4294967295" type="body"/>
          </p:nvPr>
        </p:nvSpPr>
        <p:spPr>
          <a:xfrm>
            <a:off x="2514600" y="5245100"/>
            <a:ext cx="88392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060"/>
              <a:buFont typeface="Tahoma"/>
              <a:buChar char="•"/>
            </a:pPr>
            <a:r>
              <a:rPr lang="en-US" sz="2800"/>
              <a:t>Each router</a:t>
            </a:r>
            <a:r>
              <a:rPr lang="en-US" sz="2800">
                <a:solidFill>
                  <a:srgbClr val="FF0000"/>
                </a:solidFill>
              </a:rPr>
              <a:t> </a:t>
            </a:r>
            <a:r>
              <a:rPr lang="en-US" sz="2800"/>
              <a:t>uses the LSPs to </a:t>
            </a:r>
            <a:r>
              <a:rPr lang="en-US" sz="2800">
                <a:solidFill>
                  <a:srgbClr val="FF0000"/>
                </a:solidFill>
              </a:rPr>
              <a:t>construct a database</a:t>
            </a:r>
            <a:r>
              <a:rPr lang="en-US" sz="2800"/>
              <a:t> that is a </a:t>
            </a:r>
            <a:r>
              <a:rPr lang="en-US" sz="2800">
                <a:solidFill>
                  <a:srgbClr val="FF0000"/>
                </a:solidFill>
              </a:rPr>
              <a:t>complete map of the topology and computes the best path </a:t>
            </a:r>
            <a:r>
              <a:rPr lang="en-US" sz="2800"/>
              <a:t>to each destination network.</a:t>
            </a:r>
            <a:endParaRPr sz="2800">
              <a:solidFill>
                <a:srgbClr val="FFFF00"/>
              </a:solidFill>
            </a:endParaRPr>
          </a:p>
        </p:txBody>
      </p:sp>
      <p:pic>
        <p:nvPicPr>
          <p:cNvPr descr="ls19.jpg" id="455" name="Google Shape;45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9400" y="1143000"/>
            <a:ext cx="6705600" cy="3911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23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4"/>
          <p:cNvSpPr txBox="1"/>
          <p:nvPr>
            <p:ph idx="4294967295" type="title"/>
          </p:nvPr>
        </p:nvSpPr>
        <p:spPr>
          <a:xfrm>
            <a:off x="15240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R1: Building the SPF Tree</a:t>
            </a:r>
            <a:endParaRPr/>
          </a:p>
        </p:txBody>
      </p:sp>
      <p:pic>
        <p:nvPicPr>
          <p:cNvPr descr="ls22.jpg" id="462" name="Google Shape;46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0" y="1371600"/>
            <a:ext cx="84582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s23.jpg" id="463" name="Google Shape;46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05000" y="1371600"/>
            <a:ext cx="8451850" cy="51387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s24.jpg" id="464" name="Google Shape;46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05000" y="1371600"/>
            <a:ext cx="84582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s25.jpg" id="465" name="Google Shape;465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05000" y="1371600"/>
            <a:ext cx="84582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s26.jpg" id="466" name="Google Shape;466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05000" y="1371600"/>
            <a:ext cx="8458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24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5"/>
          <p:cNvSpPr txBox="1"/>
          <p:nvPr>
            <p:ph idx="4294967295" type="title"/>
          </p:nvPr>
        </p:nvSpPr>
        <p:spPr>
          <a:xfrm>
            <a:off x="15240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Step 5: Constructing a Link-State Database</a:t>
            </a:r>
            <a:endParaRPr/>
          </a:p>
        </p:txBody>
      </p:sp>
      <p:sp>
        <p:nvSpPr>
          <p:cNvPr id="473" name="Google Shape;473;p25"/>
          <p:cNvSpPr txBox="1"/>
          <p:nvPr>
            <p:ph idx="4294967295" type="body"/>
          </p:nvPr>
        </p:nvSpPr>
        <p:spPr>
          <a:xfrm>
            <a:off x="1981200" y="5867400"/>
            <a:ext cx="88392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175"/>
              <a:buFont typeface="Tahoma"/>
              <a:buChar char="•"/>
            </a:pPr>
            <a:r>
              <a:rPr lang="en-US"/>
              <a:t>As a result of the flooding process, router R1 has learned the link-state information for each router in its routing area.</a:t>
            </a:r>
            <a:endParaRPr/>
          </a:p>
        </p:txBody>
      </p:sp>
      <p:pic>
        <p:nvPicPr>
          <p:cNvPr descr="ls19.jpg" id="474" name="Google Shape;47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1910" y="2384675"/>
            <a:ext cx="3919538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s21.jpg" id="475" name="Google Shape;47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26536" y="1013075"/>
            <a:ext cx="4876800" cy="4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25"/>
          <p:cNvSpPr/>
          <p:nvPr/>
        </p:nvSpPr>
        <p:spPr>
          <a:xfrm>
            <a:off x="6529316" y="1165475"/>
            <a:ext cx="838200" cy="4724400"/>
          </a:xfrm>
          <a:prstGeom prst="rightBrace">
            <a:avLst>
              <a:gd fmla="val 65151" name="adj1"/>
              <a:gd fmla="val 50000" name="adj2"/>
            </a:avLst>
          </a:prstGeom>
          <a:noFill/>
          <a:ln cap="flat" cmpd="sng" w="508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25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6"/>
          <p:cNvSpPr txBox="1"/>
          <p:nvPr>
            <p:ph idx="4294967295" type="title"/>
          </p:nvPr>
        </p:nvSpPr>
        <p:spPr>
          <a:xfrm>
            <a:off x="15240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3209"/>
              <a:buNone/>
            </a:pPr>
            <a:r>
              <a:rPr lang="en-US" sz="3600"/>
              <a:t>Step 5: Constructing a Link-State Database</a:t>
            </a:r>
            <a:endParaRPr/>
          </a:p>
        </p:txBody>
      </p:sp>
      <p:sp>
        <p:nvSpPr>
          <p:cNvPr id="483" name="Google Shape;483;p26"/>
          <p:cNvSpPr txBox="1"/>
          <p:nvPr>
            <p:ph idx="4294967295" type="body"/>
          </p:nvPr>
        </p:nvSpPr>
        <p:spPr>
          <a:xfrm>
            <a:off x="1981200" y="5316538"/>
            <a:ext cx="883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0980" lvl="0" marL="21431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lang="en-US" sz="2400"/>
              <a:t>With a complete link-state database, R1 can now use the database and the shortest path first (SPF) algorithm to calculate the preferred path or </a:t>
            </a:r>
            <a:r>
              <a:rPr lang="en-US" sz="2400">
                <a:solidFill>
                  <a:srgbClr val="FF0000"/>
                </a:solidFill>
              </a:rPr>
              <a:t>shortest path</a:t>
            </a:r>
            <a:r>
              <a:rPr lang="en-US" sz="2400">
                <a:solidFill>
                  <a:srgbClr val="FFFF00"/>
                </a:solidFill>
              </a:rPr>
              <a:t> </a:t>
            </a:r>
            <a:r>
              <a:rPr lang="en-US" sz="2400"/>
              <a:t>to each network.</a:t>
            </a:r>
            <a:endParaRPr/>
          </a:p>
        </p:txBody>
      </p:sp>
      <p:pic>
        <p:nvPicPr>
          <p:cNvPr descr="ls19.jpg" id="484" name="Google Shape;48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2133600"/>
            <a:ext cx="5291138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s06.jpg" id="485" name="Google Shape;48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600" y="1066800"/>
            <a:ext cx="5626100" cy="210820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26"/>
          <p:cNvSpPr txBox="1"/>
          <p:nvPr/>
        </p:nvSpPr>
        <p:spPr>
          <a:xfrm>
            <a:off x="1828800" y="3276600"/>
            <a:ext cx="3048000" cy="1938338"/>
          </a:xfrm>
          <a:prstGeom prst="rect">
            <a:avLst/>
          </a:prstGeom>
          <a:solidFill>
            <a:srgbClr val="80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Each router</a:t>
            </a: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in the topology determines the shortest path </a:t>
            </a: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from its own perspective</a:t>
            </a: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6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7"/>
          <p:cNvSpPr txBox="1"/>
          <p:nvPr>
            <p:ph idx="4294967295" type="title"/>
          </p:nvPr>
        </p:nvSpPr>
        <p:spPr>
          <a:xfrm>
            <a:off x="15240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R1: Building the SPF Tree</a:t>
            </a:r>
            <a:endParaRPr/>
          </a:p>
        </p:txBody>
      </p:sp>
      <p:sp>
        <p:nvSpPr>
          <p:cNvPr id="493" name="Google Shape;493;p27"/>
          <p:cNvSpPr txBox="1"/>
          <p:nvPr>
            <p:ph idx="4294967295" type="body"/>
          </p:nvPr>
        </p:nvSpPr>
        <p:spPr>
          <a:xfrm>
            <a:off x="2209800" y="6025390"/>
            <a:ext cx="88392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Tahoma"/>
              <a:buChar char="•"/>
            </a:pPr>
            <a:r>
              <a:rPr lang="en-US" sz="2400"/>
              <a:t>All LSPs have been processed using the SPF algorithm and R1 has now constructed the complete SPF tree.</a:t>
            </a:r>
            <a:endParaRPr/>
          </a:p>
          <a:p>
            <a:pPr indent="-121920" lvl="1" marL="342900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Tahoma"/>
              <a:buNone/>
            </a:pPr>
            <a:r>
              <a:t/>
            </a:r>
            <a:endParaRPr sz="2400"/>
          </a:p>
        </p:txBody>
      </p:sp>
      <p:pic>
        <p:nvPicPr>
          <p:cNvPr descr="ls27.jpg" id="494" name="Google Shape;49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0596" y="1232563"/>
            <a:ext cx="6477000" cy="4679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5" name="Google Shape;495;p27"/>
          <p:cNvCxnSpPr/>
          <p:nvPr/>
        </p:nvCxnSpPr>
        <p:spPr>
          <a:xfrm flipH="1" rot="10800000">
            <a:off x="3559223" y="3603245"/>
            <a:ext cx="838200" cy="68580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96" name="Google Shape;496;p27"/>
          <p:cNvSpPr txBox="1"/>
          <p:nvPr/>
        </p:nvSpPr>
        <p:spPr>
          <a:xfrm>
            <a:off x="2562937" y="4058063"/>
            <a:ext cx="990600" cy="461963"/>
          </a:xfrm>
          <a:prstGeom prst="rect">
            <a:avLst/>
          </a:prstGeom>
          <a:solidFill>
            <a:srgbClr val="80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7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8"/>
          <p:cNvSpPr txBox="1"/>
          <p:nvPr>
            <p:ph idx="4294967295" type="title"/>
          </p:nvPr>
        </p:nvSpPr>
        <p:spPr>
          <a:xfrm>
            <a:off x="15240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Generating a Routing Table</a:t>
            </a:r>
            <a:endParaRPr/>
          </a:p>
        </p:txBody>
      </p:sp>
      <p:pic>
        <p:nvPicPr>
          <p:cNvPr descr="ls28.jpg" id="503" name="Google Shape;50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2170" y="1066800"/>
            <a:ext cx="8970963" cy="5421313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28"/>
          <p:cNvSpPr/>
          <p:nvPr/>
        </p:nvSpPr>
        <p:spPr>
          <a:xfrm>
            <a:off x="2057400" y="3048000"/>
            <a:ext cx="4572000" cy="33528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8"/>
          <p:cNvSpPr txBox="1"/>
          <p:nvPr>
            <p:ph idx="12" type="sldNum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ls27.jpg" id="506" name="Google Shape;50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9800" y="2971800"/>
            <a:ext cx="4932362" cy="3403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9"/>
          <p:cNvSpPr txBox="1"/>
          <p:nvPr>
            <p:ph type="title"/>
          </p:nvPr>
        </p:nvSpPr>
        <p:spPr>
          <a:xfrm>
            <a:off x="1484313" y="685800"/>
            <a:ext cx="10018712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/>
              <a:t>Building Routing Table</a:t>
            </a:r>
            <a:endParaRPr sz="4400"/>
          </a:p>
        </p:txBody>
      </p:sp>
      <p:sp>
        <p:nvSpPr>
          <p:cNvPr id="512" name="Google Shape;512;p29"/>
          <p:cNvSpPr txBox="1"/>
          <p:nvPr>
            <p:ph idx="1" type="body"/>
          </p:nvPr>
        </p:nvSpPr>
        <p:spPr>
          <a:xfrm>
            <a:off x="1484313" y="1676400"/>
            <a:ext cx="10018712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7809" lvl="0" marL="21431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Creation of the states of the links by each node, called the link state packets (LSP)</a:t>
            </a:r>
            <a:endParaRPr/>
          </a:p>
          <a:p>
            <a:pPr indent="-257809" lvl="0" marL="214313" rtl="0" algn="l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Dissemination of LSPs to every other routers, called flooding (efficiently)</a:t>
            </a:r>
            <a:endParaRPr/>
          </a:p>
          <a:p>
            <a:pPr indent="-257809" lvl="0" marL="214313" rtl="0" algn="l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 Constructing a Link-State Database using LSPs</a:t>
            </a:r>
            <a:endParaRPr sz="2800"/>
          </a:p>
          <a:p>
            <a:pPr indent="-257809" lvl="0" marL="214313" rtl="0" algn="l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Formation of a shortest path tree for each node</a:t>
            </a:r>
            <a:endParaRPr/>
          </a:p>
          <a:p>
            <a:pPr indent="-257809" lvl="0" marL="214313" rtl="0" algn="l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Calculation of a routing table based on the shortest path tree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/>
          </a:p>
        </p:txBody>
      </p:sp>
      <p:sp>
        <p:nvSpPr>
          <p:cNvPr id="513" name="Google Shape;513;p29"/>
          <p:cNvSpPr txBox="1"/>
          <p:nvPr>
            <p:ph idx="12" type="sldNum"/>
          </p:nvPr>
        </p:nvSpPr>
        <p:spPr>
          <a:xfrm>
            <a:off x="10952163" y="5867400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14" name="Google Shape;51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9400" y="228600"/>
            <a:ext cx="1246188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30"/>
          <p:cNvSpPr txBox="1"/>
          <p:nvPr>
            <p:ph type="title"/>
          </p:nvPr>
        </p:nvSpPr>
        <p:spPr>
          <a:xfrm>
            <a:off x="1484313" y="33564"/>
            <a:ext cx="100187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Advantages: Link-State Routing</a:t>
            </a:r>
            <a:endParaRPr sz="3600"/>
          </a:p>
        </p:txBody>
      </p:sp>
      <p:sp>
        <p:nvSpPr>
          <p:cNvPr id="520" name="Google Shape;520;p30"/>
          <p:cNvSpPr txBox="1"/>
          <p:nvPr>
            <p:ph idx="1" type="body"/>
          </p:nvPr>
        </p:nvSpPr>
        <p:spPr>
          <a:xfrm>
            <a:off x="1156448" y="947964"/>
            <a:ext cx="11035552" cy="55940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14313" lvl="0" marL="214313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Char char="•"/>
            </a:pPr>
            <a:r>
              <a:rPr b="1" lang="en-US" sz="3600">
                <a:solidFill>
                  <a:srgbClr val="7030A0"/>
                </a:solidFill>
              </a:rPr>
              <a:t>Fast Network Convergence</a:t>
            </a:r>
            <a:r>
              <a:rPr lang="en-US" sz="3200"/>
              <a:t>– </a:t>
            </a:r>
            <a:endParaRPr sz="3200"/>
          </a:p>
          <a:p>
            <a:pPr indent="-214312" lvl="1" marL="671513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Char char="•"/>
            </a:pPr>
            <a:r>
              <a:rPr lang="en-US" sz="2800"/>
              <a:t>When a router receives a new LSP, it quickly floods it to all other routers. </a:t>
            </a:r>
            <a:endParaRPr sz="2800"/>
          </a:p>
          <a:p>
            <a:pPr indent="-214312" lvl="1" marL="671513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Char char="•"/>
            </a:pPr>
            <a:r>
              <a:rPr lang="en-US" sz="2800"/>
              <a:t>Updates spread very fast across the network.</a:t>
            </a:r>
            <a:endParaRPr sz="2800"/>
          </a:p>
          <a:p>
            <a:pPr indent="-30163" lvl="0" marL="214313" rtl="0" algn="just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 b="1" sz="3600"/>
          </a:p>
          <a:p>
            <a:pPr indent="-214313" lvl="0" marL="214313" rtl="0" algn="just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SzPts val="2900"/>
              <a:buChar char="•"/>
            </a:pPr>
            <a:r>
              <a:rPr b="1" lang="en-US" sz="3600">
                <a:solidFill>
                  <a:srgbClr val="7030A0"/>
                </a:solidFill>
              </a:rPr>
              <a:t>Topological Map</a:t>
            </a:r>
            <a:r>
              <a:rPr lang="en-US" sz="3200">
                <a:solidFill>
                  <a:srgbClr val="7030A0"/>
                </a:solidFill>
              </a:rPr>
              <a:t>– </a:t>
            </a:r>
            <a:endParaRPr sz="3200">
              <a:solidFill>
                <a:srgbClr val="7030A0"/>
              </a:solidFill>
            </a:endParaRPr>
          </a:p>
          <a:p>
            <a:pPr indent="-214312" lvl="1" marL="671513" rtl="0" algn="just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SzPts val="2900"/>
              <a:buChar char="•"/>
            </a:pPr>
            <a:r>
              <a:rPr lang="en-US" sz="2800"/>
              <a:t>Each router builds a complete </a:t>
            </a:r>
            <a:r>
              <a:rPr b="1" lang="en-US" sz="2800">
                <a:solidFill>
                  <a:srgbClr val="0070C0"/>
                </a:solidFill>
              </a:rPr>
              <a:t>map of the network</a:t>
            </a:r>
            <a:r>
              <a:rPr lang="en-US" sz="2800">
                <a:solidFill>
                  <a:srgbClr val="0070C0"/>
                </a:solidFill>
              </a:rPr>
              <a:t> </a:t>
            </a:r>
            <a:r>
              <a:rPr lang="en-US" sz="2800"/>
              <a:t>(SPF tree). </a:t>
            </a:r>
            <a:endParaRPr sz="2800"/>
          </a:p>
          <a:p>
            <a:pPr indent="-214312" lvl="1" marL="671513" rtl="0" algn="just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SzPts val="2900"/>
              <a:buChar char="•"/>
            </a:pPr>
            <a:r>
              <a:rPr lang="en-US" sz="2800"/>
              <a:t>From this, it can calculate the </a:t>
            </a:r>
            <a:r>
              <a:rPr b="1" lang="en-US" sz="2800">
                <a:solidFill>
                  <a:srgbClr val="0070C0"/>
                </a:solidFill>
              </a:rPr>
              <a:t>shortest path</a:t>
            </a:r>
            <a:r>
              <a:rPr lang="en-US" sz="2800">
                <a:solidFill>
                  <a:srgbClr val="0070C0"/>
                </a:solidFill>
              </a:rPr>
              <a:t> </a:t>
            </a:r>
            <a:r>
              <a:rPr lang="en-US" sz="2800"/>
              <a:t>to every destination.</a:t>
            </a:r>
            <a:endParaRPr sz="2800"/>
          </a:p>
        </p:txBody>
      </p:sp>
      <p:sp>
        <p:nvSpPr>
          <p:cNvPr id="521" name="Google Shape;521;p30"/>
          <p:cNvSpPr txBox="1"/>
          <p:nvPr>
            <p:ph idx="12" type="sldNum"/>
          </p:nvPr>
        </p:nvSpPr>
        <p:spPr>
          <a:xfrm>
            <a:off x="10952163" y="5867400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22" name="Google Shape;52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9400" y="228600"/>
            <a:ext cx="1246188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6"/>
          <p:cNvSpPr txBox="1"/>
          <p:nvPr>
            <p:ph type="title"/>
          </p:nvPr>
        </p:nvSpPr>
        <p:spPr>
          <a:xfrm>
            <a:off x="1484313" y="342900"/>
            <a:ext cx="100187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Advantages: Link-State Routing</a:t>
            </a:r>
            <a:endParaRPr sz="3600"/>
          </a:p>
        </p:txBody>
      </p:sp>
      <p:sp>
        <p:nvSpPr>
          <p:cNvPr id="528" name="Google Shape;528;p6"/>
          <p:cNvSpPr txBox="1"/>
          <p:nvPr>
            <p:ph idx="1" type="body"/>
          </p:nvPr>
        </p:nvSpPr>
        <p:spPr>
          <a:xfrm>
            <a:off x="813082" y="887506"/>
            <a:ext cx="10139081" cy="55940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 sz="2100"/>
          </a:p>
          <a:p>
            <a:pPr indent="-214313" lvl="0" marL="214313" rtl="0" algn="just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SzPts val="2900"/>
              <a:buChar char="•"/>
            </a:pPr>
            <a:r>
              <a:rPr b="1" lang="en-US" sz="3600">
                <a:solidFill>
                  <a:srgbClr val="7030A0"/>
                </a:solidFill>
              </a:rPr>
              <a:t>Hierarchical Design</a:t>
            </a:r>
            <a:r>
              <a:rPr lang="en-US" sz="3200">
                <a:solidFill>
                  <a:srgbClr val="7030A0"/>
                </a:solidFill>
              </a:rPr>
              <a:t>–</a:t>
            </a:r>
            <a:endParaRPr/>
          </a:p>
          <a:p>
            <a:pPr indent="-214312" lvl="1" marL="671513" rtl="0" algn="just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SzPts val="2900"/>
              <a:buChar char="•"/>
            </a:pPr>
            <a:r>
              <a:rPr lang="en-US" sz="2800"/>
              <a:t>Large networks can be divided into </a:t>
            </a:r>
            <a:r>
              <a:rPr b="1" lang="en-US" sz="2800">
                <a:solidFill>
                  <a:srgbClr val="0070C0"/>
                </a:solidFill>
              </a:rPr>
              <a:t>areas</a:t>
            </a:r>
            <a:r>
              <a:rPr lang="en-US" sz="2800">
                <a:solidFill>
                  <a:srgbClr val="0070C0"/>
                </a:solidFill>
              </a:rPr>
              <a:t>. </a:t>
            </a:r>
            <a:endParaRPr sz="2800">
              <a:solidFill>
                <a:srgbClr val="0070C0"/>
              </a:solidFill>
            </a:endParaRPr>
          </a:p>
          <a:p>
            <a:pPr indent="-214312" lvl="1" marL="671513" rtl="0" algn="just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SzPts val="2900"/>
              <a:buChar char="•"/>
            </a:pPr>
            <a:r>
              <a:rPr lang="en-US" sz="2800"/>
              <a:t>This helps in </a:t>
            </a:r>
            <a:r>
              <a:rPr b="1" lang="en-US" sz="2800">
                <a:solidFill>
                  <a:srgbClr val="0070C0"/>
                </a:solidFill>
              </a:rPr>
              <a:t>summarizing routes</a:t>
            </a:r>
            <a:r>
              <a:rPr lang="en-US" sz="2800">
                <a:solidFill>
                  <a:srgbClr val="0070C0"/>
                </a:solidFill>
              </a:rPr>
              <a:t> </a:t>
            </a:r>
            <a:r>
              <a:rPr lang="en-US" sz="2800"/>
              <a:t>and makes the network easier to manage.</a:t>
            </a:r>
            <a:endParaRPr sz="2800"/>
          </a:p>
          <a:p>
            <a:pPr indent="-214313" lvl="0" marL="214313" rtl="0" algn="just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SzPts val="2900"/>
              <a:buChar char="•"/>
            </a:pPr>
            <a:r>
              <a:rPr b="1" lang="en-US" sz="3600">
                <a:solidFill>
                  <a:srgbClr val="7030A0"/>
                </a:solidFill>
              </a:rPr>
              <a:t>Event-driven Updates</a:t>
            </a:r>
            <a:r>
              <a:rPr lang="en-US" sz="3200">
                <a:solidFill>
                  <a:srgbClr val="7030A0"/>
                </a:solidFill>
              </a:rPr>
              <a:t>– </a:t>
            </a:r>
            <a:endParaRPr sz="3200">
              <a:solidFill>
                <a:srgbClr val="7030A0"/>
              </a:solidFill>
            </a:endParaRPr>
          </a:p>
          <a:p>
            <a:pPr indent="-214312" lvl="1" marL="671513" rtl="0" algn="just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SzPts val="2900"/>
              <a:buChar char="•"/>
            </a:pPr>
            <a:r>
              <a:rPr lang="en-US" sz="2800"/>
              <a:t>After the first flooding, updates are sent </a:t>
            </a:r>
            <a:r>
              <a:rPr b="1" lang="en-US" sz="2800">
                <a:solidFill>
                  <a:srgbClr val="0070C0"/>
                </a:solidFill>
              </a:rPr>
              <a:t>only when something changes</a:t>
            </a:r>
            <a:r>
              <a:rPr lang="en-US" sz="2800"/>
              <a:t> (like a link goes down). </a:t>
            </a:r>
            <a:endParaRPr sz="2800"/>
          </a:p>
          <a:p>
            <a:pPr indent="-214312" lvl="1" marL="671513" rtl="0" algn="just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SzPts val="2900"/>
              <a:buChar char="•"/>
            </a:pPr>
            <a:r>
              <a:rPr lang="en-US" sz="2800"/>
              <a:t>Only the changed info is shared, not the whole table.</a:t>
            </a:r>
            <a:endParaRPr sz="2800"/>
          </a:p>
        </p:txBody>
      </p:sp>
      <p:sp>
        <p:nvSpPr>
          <p:cNvPr id="529" name="Google Shape;529;p6"/>
          <p:cNvSpPr txBox="1"/>
          <p:nvPr>
            <p:ph idx="12" type="sldNum"/>
          </p:nvPr>
        </p:nvSpPr>
        <p:spPr>
          <a:xfrm>
            <a:off x="10952163" y="5867400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30" name="Google Shape;53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9400" y="228600"/>
            <a:ext cx="1246188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w OSPF Protocol Works &amp; Basic Concepts: OSPF Neighbor, Topology ..." id="531" name="Google Shape;53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85494" y="3754718"/>
            <a:ext cx="4417531" cy="27268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oute Summarization Advantages and Disadvantages" id="532" name="Google Shape;53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76324" y="3545476"/>
            <a:ext cx="4442551" cy="3145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1"/>
          <p:cNvSpPr txBox="1"/>
          <p:nvPr>
            <p:ph type="title"/>
          </p:nvPr>
        </p:nvSpPr>
        <p:spPr>
          <a:xfrm>
            <a:off x="1389016" y="214919"/>
            <a:ext cx="10018712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Comparison</a:t>
            </a:r>
            <a:endParaRPr sz="4000"/>
          </a:p>
        </p:txBody>
      </p:sp>
      <p:graphicFrame>
        <p:nvGraphicFramePr>
          <p:cNvPr id="538" name="Google Shape;538;p31"/>
          <p:cNvGraphicFramePr/>
          <p:nvPr/>
        </p:nvGraphicFramePr>
        <p:xfrm>
          <a:off x="1297148" y="1360714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{8F01A82B-0A2B-4C9C-AFFF-90C5AF06392D}</a:tableStyleId>
              </a:tblPr>
              <a:tblGrid>
                <a:gridCol w="2267975"/>
                <a:gridCol w="3946000"/>
                <a:gridCol w="3626200"/>
              </a:tblGrid>
              <a:tr h="585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u="none" cap="none" strike="noStrike"/>
                        <a:t> 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7030A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Distance Vector</a:t>
                      </a:r>
                      <a:endParaRPr sz="1800" u="none" cap="none" strike="noStrike">
                        <a:solidFill>
                          <a:srgbClr val="7030A0"/>
                        </a:solidFill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0070C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Link State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0" marB="0" marR="68575" marL="68575"/>
                </a:tc>
              </a:tr>
              <a:tr h="991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cap="none" strike="noStrike"/>
                        <a:t>Network view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7030A0"/>
                          </a:solidFill>
                        </a:rPr>
                        <a:t>Topology knowledge from the neighbor point of view </a:t>
                      </a:r>
                      <a:endParaRPr sz="2400" u="none" cap="none" strike="noStrike">
                        <a:solidFill>
                          <a:srgbClr val="7030A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0070C0"/>
                          </a:solidFill>
                        </a:rPr>
                        <a:t>Common and complete knowledge of the network topology</a:t>
                      </a:r>
                      <a:endParaRPr sz="24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702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cap="none" strike="noStrike"/>
                        <a:t>Best Path Calculation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7030A0"/>
                          </a:solidFill>
                        </a:rPr>
                        <a:t>Based on fewest number of hops </a:t>
                      </a:r>
                      <a:endParaRPr sz="2400" u="none" cap="none" strike="noStrike">
                        <a:solidFill>
                          <a:srgbClr val="7030A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0070C0"/>
                          </a:solidFill>
                        </a:rPr>
                        <a:t>Based on the link cost</a:t>
                      </a:r>
                      <a:endParaRPr sz="24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495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cap="none" strike="noStrike"/>
                        <a:t>Updates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7030A0"/>
                          </a:solidFill>
                        </a:rPr>
                        <a:t>Full routing table </a:t>
                      </a:r>
                      <a:endParaRPr sz="2400" u="none" cap="none" strike="noStrike">
                        <a:solidFill>
                          <a:srgbClr val="7030A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0070C0"/>
                          </a:solidFill>
                        </a:rPr>
                        <a:t>Link State Updates</a:t>
                      </a:r>
                      <a:endParaRPr sz="24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495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cap="none" strike="noStrike"/>
                        <a:t>Algorithm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7030A0"/>
                          </a:solidFill>
                        </a:rPr>
                        <a:t>Bellman-Ford </a:t>
                      </a:r>
                      <a:endParaRPr sz="2400" u="none" cap="none" strike="noStrike">
                        <a:solidFill>
                          <a:srgbClr val="7030A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0070C0"/>
                          </a:solidFill>
                        </a:rPr>
                        <a:t>Dijsktra</a:t>
                      </a:r>
                      <a:endParaRPr sz="24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495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cap="none" strike="noStrike"/>
                        <a:t>CPU and Memory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7030A0"/>
                          </a:solidFill>
                        </a:rPr>
                        <a:t>Low utilization </a:t>
                      </a:r>
                      <a:endParaRPr sz="2400" u="none" cap="none" strike="noStrike">
                        <a:solidFill>
                          <a:srgbClr val="7030A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0070C0"/>
                          </a:solidFill>
                        </a:rPr>
                        <a:t>Intensive</a:t>
                      </a:r>
                      <a:endParaRPr sz="24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687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cap="none" strike="noStrike"/>
                        <a:t>hierarchical Structure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7030A0"/>
                          </a:solidFill>
                        </a:rPr>
                        <a:t>No </a:t>
                      </a:r>
                      <a:endParaRPr sz="2400" u="none" cap="none" strike="noStrike">
                        <a:solidFill>
                          <a:srgbClr val="7030A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0070C0"/>
                          </a:solidFill>
                        </a:rPr>
                        <a:t>Yes</a:t>
                      </a:r>
                      <a:endParaRPr sz="24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495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u="none" cap="none" strike="noStrike"/>
                        <a:t>Convergence time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7030A0"/>
                          </a:solidFill>
                        </a:rPr>
                        <a:t>Moderate </a:t>
                      </a:r>
                      <a:endParaRPr sz="2400" u="none" cap="none" strike="noStrike">
                        <a:solidFill>
                          <a:srgbClr val="7030A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0070C0"/>
                          </a:solidFill>
                        </a:rPr>
                        <a:t>Fast</a:t>
                      </a:r>
                      <a:endParaRPr sz="24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  <p:sp>
        <p:nvSpPr>
          <p:cNvPr id="539" name="Google Shape;539;p31"/>
          <p:cNvSpPr txBox="1"/>
          <p:nvPr>
            <p:ph idx="12" type="sldNum"/>
          </p:nvPr>
        </p:nvSpPr>
        <p:spPr>
          <a:xfrm>
            <a:off x="10952163" y="5867400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40" name="Google Shape;54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4238" y="228600"/>
            <a:ext cx="1246188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32"/>
          <p:cNvSpPr txBox="1"/>
          <p:nvPr>
            <p:ph type="ctrTitle"/>
          </p:nvPr>
        </p:nvSpPr>
        <p:spPr>
          <a:xfrm>
            <a:off x="2928402" y="1380070"/>
            <a:ext cx="8574623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END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hemeCSE421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2011-10-16T10:21:50Z</dcterms:created>
  <dc:creator>Sadia</dc:creator>
</cp:coreProperties>
</file>