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12192000"/>
  <p:notesSz cx="6858000" cy="9144000"/>
  <p:embeddedFontLst>
    <p:embeddedFont>
      <p:font typeface="Corbel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1" roundtripDataSignature="AMtx7mgAnEiy20HLQAK0cVVD1aN6zXAZ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C4A9B5-D753-4CA7-BFB1-70B483EE8344}">
  <a:tblStyle styleId="{65C4A9B5-D753-4CA7-BFB1-70B483EE8344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1C888EB1-34AB-4A5A-A9AA-C63EC1D4F98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orbel-bold.fntdata"/><Relationship Id="rId47" Type="http://schemas.openxmlformats.org/officeDocument/2006/relationships/font" Target="fonts/Corbel-regular.fntdata"/><Relationship Id="rId49" Type="http://schemas.openxmlformats.org/officeDocument/2006/relationships/font" Target="fonts/Corbel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Corbel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When the client boots (or otherwise wants to join a network), it begins a four-step process to obtain a IP address: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Increases Forwarding Delays: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NAT adds a small delay because it needs to translate private IP addresses to a public one and vice versa, which takes some extra time.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Addressing Is Lost: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NAT, the original source and destination IP addresses are modified, meaning the devices on each end don't see each other's true IP addresses. This affects direct communication.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IPv4 Traceability Is Lost: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becomes difficult to trace the path or determine the source and destination of data packets across the internet because NAT modifies the IP addresses in transit.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Complicates Tunneling Protocols: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Protocols like IPsec, which secure internet communications, rely on knowing the IP addresses of the endpoints. NAT changes these addresses, which can break or complicate these security protocols.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p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p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p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0" name="Google Shape;61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52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52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52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52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52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52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52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52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2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2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3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6"/>
          <p:cNvSpPr txBox="1"/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6"/>
          <p:cNvSpPr txBox="1"/>
          <p:nvPr>
            <p:ph idx="1" type="body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6"/>
          <p:cNvSpPr txBox="1"/>
          <p:nvPr>
            <p:ph idx="2" type="body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5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5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55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5" name="Google Shape;55;p5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1" name="Google Shape;61;p56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2" name="Google Shape;62;p56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3" name="Google Shape;63;p56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4" name="Google Shape;64;p5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9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9" name="Google Shape;79;p59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0" name="Google Shape;80;p5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0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0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0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7" name="Google Shape;87;p6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1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1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1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4" name="Google Shape;94;p6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2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62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6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3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3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8" name="Google Shape;108;p63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6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4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4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6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6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5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5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5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5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3" name="Google Shape;123;p65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6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6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6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66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1" name="Google Shape;131;p6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6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7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7" name="Google Shape;137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8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8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3" name="Google Shape;143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6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1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51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1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1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51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1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1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5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5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5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5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27.jpg"/><Relationship Id="rId5" Type="http://schemas.openxmlformats.org/officeDocument/2006/relationships/image" Target="../media/image3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2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26.jpg"/><Relationship Id="rId5" Type="http://schemas.openxmlformats.org/officeDocument/2006/relationships/image" Target="../media/image44.jpg"/><Relationship Id="rId6" Type="http://schemas.openxmlformats.org/officeDocument/2006/relationships/image" Target="../media/image3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26.jpg"/><Relationship Id="rId5" Type="http://schemas.openxmlformats.org/officeDocument/2006/relationships/image" Target="../media/image44.jpg"/><Relationship Id="rId6" Type="http://schemas.openxmlformats.org/officeDocument/2006/relationships/image" Target="../media/image3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jpg"/><Relationship Id="rId4" Type="http://schemas.openxmlformats.org/officeDocument/2006/relationships/image" Target="../media/image3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jpg"/><Relationship Id="rId4" Type="http://schemas.openxmlformats.org/officeDocument/2006/relationships/image" Target="../media/image3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jpg"/><Relationship Id="rId4" Type="http://schemas.openxmlformats.org/officeDocument/2006/relationships/image" Target="../media/image44.jpg"/><Relationship Id="rId5" Type="http://schemas.openxmlformats.org/officeDocument/2006/relationships/image" Target="../media/image40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4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4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jpg"/><Relationship Id="rId4" Type="http://schemas.openxmlformats.org/officeDocument/2006/relationships/image" Target="../media/image39.png"/><Relationship Id="rId5" Type="http://schemas.openxmlformats.org/officeDocument/2006/relationships/image" Target="../media/image44.jpg"/><Relationship Id="rId6" Type="http://schemas.openxmlformats.org/officeDocument/2006/relationships/image" Target="../media/image40.jpg"/><Relationship Id="rId7" Type="http://schemas.openxmlformats.org/officeDocument/2006/relationships/hyperlink" Target="http://www.software.com/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DHCPv4 &amp; NAT</a:t>
            </a:r>
            <a:endParaRPr/>
          </a:p>
        </p:txBody>
      </p:sp>
      <p:sp>
        <p:nvSpPr>
          <p:cNvPr id="152" name="Google Shape;152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CSE 421 – Computer Netwroks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53" name="Google Shape;15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9"/>
          <p:cNvSpPr txBox="1"/>
          <p:nvPr>
            <p:ph type="ctrTitle"/>
          </p:nvPr>
        </p:nvSpPr>
        <p:spPr>
          <a:xfrm>
            <a:off x="2249133" y="3529000"/>
            <a:ext cx="8574622" cy="15811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 sz="4800"/>
              <a:t>Automatic IP Address Assignment</a:t>
            </a:r>
            <a:endParaRPr sz="4800"/>
          </a:p>
        </p:txBody>
      </p:sp>
      <p:pic>
        <p:nvPicPr>
          <p:cNvPr id="160" name="Google Shape;16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9"/>
          <p:cNvSpPr/>
          <p:nvPr/>
        </p:nvSpPr>
        <p:spPr>
          <a:xfrm>
            <a:off x="5276333" y="5110111"/>
            <a:ext cx="524694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Address Translation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9"/>
          <p:cNvSpPr txBox="1"/>
          <p:nvPr/>
        </p:nvSpPr>
        <p:spPr>
          <a:xfrm>
            <a:off x="1984555" y="2698003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Corbel"/>
              <a:buNone/>
            </a:pPr>
            <a:r>
              <a:rPr b="1" i="0" lang="en-US" sz="44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IP Addressing Services</a:t>
            </a:r>
            <a:endParaRPr b="1" i="0" sz="80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0"/>
          <p:cNvSpPr txBox="1"/>
          <p:nvPr>
            <p:ph type="title"/>
          </p:nvPr>
        </p:nvSpPr>
        <p:spPr>
          <a:xfrm>
            <a:off x="1997251" y="301198"/>
            <a:ext cx="7514035" cy="55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68" name="Google Shape;168;p70"/>
          <p:cNvSpPr txBox="1"/>
          <p:nvPr>
            <p:ph idx="1" type="body"/>
          </p:nvPr>
        </p:nvSpPr>
        <p:spPr>
          <a:xfrm>
            <a:off x="1903989" y="1372678"/>
            <a:ext cx="5254458" cy="4677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600"/>
              <a:t>DHCPv4 Concepts</a:t>
            </a:r>
            <a:endParaRPr/>
          </a:p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600"/>
              <a:t>DHCPv4 Operations</a:t>
            </a:r>
            <a:endParaRPr sz="3600"/>
          </a:p>
          <a:p>
            <a:pPr indent="0" lvl="0" marL="214313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3600"/>
          </a:p>
          <a:p>
            <a:pPr indent="-220980" lvl="0" marL="214313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480"/>
              <a:buChar char="•"/>
            </a:pPr>
            <a:r>
              <a:rPr lang="en-US" sz="3600"/>
              <a:t>NAT Concepts</a:t>
            </a:r>
            <a:endParaRPr sz="3600"/>
          </a:p>
          <a:p>
            <a:pPr indent="-214312" lvl="1" marL="557213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Introduction to NAT</a:t>
            </a:r>
            <a:endParaRPr sz="3200"/>
          </a:p>
          <a:p>
            <a:pPr indent="-214312" lvl="1" marL="557213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PAT (NAT Overloading)</a:t>
            </a:r>
            <a:endParaRPr sz="3200"/>
          </a:p>
          <a:p>
            <a:pPr indent="-214312" lvl="1" marL="557213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Port Forwarding</a:t>
            </a:r>
            <a:endParaRPr sz="3200"/>
          </a:p>
        </p:txBody>
      </p:sp>
      <p:pic>
        <p:nvPicPr>
          <p:cNvPr id="169" name="Google Shape;16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1286" y="179177"/>
            <a:ext cx="872043" cy="8000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70" name="Google Shape;170;p70"/>
          <p:cNvSpPr/>
          <p:nvPr/>
        </p:nvSpPr>
        <p:spPr>
          <a:xfrm>
            <a:off x="6430312" y="1768622"/>
            <a:ext cx="5195630" cy="9541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How devices get IP addresses automatically</a:t>
            </a:r>
            <a:endParaRPr b="1" i="0" sz="28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1" name="Google Shape;171;p70"/>
          <p:cNvSpPr/>
          <p:nvPr/>
        </p:nvSpPr>
        <p:spPr>
          <a:xfrm>
            <a:off x="6712189" y="4072781"/>
            <a:ext cx="5109091" cy="9541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How many devices share one IP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address</a:t>
            </a:r>
            <a:endParaRPr b="1" i="0" sz="28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1"/>
          <p:cNvSpPr txBox="1"/>
          <p:nvPr/>
        </p:nvSpPr>
        <p:spPr>
          <a:xfrm>
            <a:off x="2286000" y="1524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Dynamic Host Configuration</a:t>
            </a:r>
            <a:br>
              <a:rPr b="0" i="0" lang="en-US" sz="3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Protocol (DHCP)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What is an DHCP? | Dynamic IP ..." id="177" name="Google Shape;177;p7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1730" y="3124200"/>
            <a:ext cx="4244370" cy="2824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2"/>
          <p:cNvSpPr txBox="1"/>
          <p:nvPr>
            <p:ph type="title"/>
          </p:nvPr>
        </p:nvSpPr>
        <p:spPr>
          <a:xfrm>
            <a:off x="1109987" y="230038"/>
            <a:ext cx="7514035" cy="55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lang="en-US"/>
              <a:t>Assigning IPv4 Addresses : Static</a:t>
            </a:r>
            <a:endParaRPr/>
          </a:p>
        </p:txBody>
      </p:sp>
      <p:sp>
        <p:nvSpPr>
          <p:cNvPr id="184" name="Google Shape;184;p72"/>
          <p:cNvSpPr txBox="1"/>
          <p:nvPr>
            <p:ph idx="1" type="body"/>
          </p:nvPr>
        </p:nvSpPr>
        <p:spPr>
          <a:xfrm>
            <a:off x="800381" y="1021521"/>
            <a:ext cx="6434029" cy="29560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 fontScale="92500" lnSpcReduction="10000"/>
          </a:bodyPr>
          <a:lstStyle/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567"/>
              <a:buChar char="•"/>
            </a:pPr>
            <a:r>
              <a:rPr lang="en-US" sz="3200"/>
              <a:t>Every device that connects to a network needs </a:t>
            </a:r>
            <a:r>
              <a:rPr b="1" lang="en-US" sz="3200">
                <a:solidFill>
                  <a:srgbClr val="7D28CD"/>
                </a:solidFill>
              </a:rPr>
              <a:t>an IP address.</a:t>
            </a:r>
            <a:endParaRPr/>
          </a:p>
          <a:p>
            <a:pPr indent="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567"/>
              <a:buNone/>
            </a:pPr>
            <a:r>
              <a:t/>
            </a:r>
            <a:endParaRPr b="1" sz="3200">
              <a:solidFill>
                <a:srgbClr val="7D28CD"/>
              </a:solidFill>
            </a:endParaRPr>
          </a:p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567"/>
              <a:buChar char="•"/>
            </a:pPr>
            <a:r>
              <a:rPr lang="en-US" sz="3200">
                <a:solidFill>
                  <a:schemeClr val="dk1"/>
                </a:solidFill>
              </a:rPr>
              <a:t>How to assign an IP address to a device?</a:t>
            </a:r>
            <a:endParaRPr/>
          </a:p>
          <a:p>
            <a:pPr indent="-220980" lvl="1" marL="5572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5405"/>
              <a:buChar char="•"/>
            </a:pPr>
            <a:r>
              <a:rPr b="1" lang="en-US" sz="3000">
                <a:solidFill>
                  <a:srgbClr val="7D28CD"/>
                </a:solidFill>
              </a:rPr>
              <a:t>Static</a:t>
            </a:r>
            <a:endParaRPr/>
          </a:p>
          <a:p>
            <a:pPr indent="-220980" lvl="1" marL="5572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5405"/>
              <a:buChar char="•"/>
            </a:pPr>
            <a:r>
              <a:rPr b="1" lang="en-US" sz="3000">
                <a:solidFill>
                  <a:srgbClr val="7D28CD"/>
                </a:solidFill>
              </a:rPr>
              <a:t>Dynamic</a:t>
            </a:r>
            <a:endParaRPr b="1" sz="3000">
              <a:solidFill>
                <a:srgbClr val="7D28CD"/>
              </a:solidFill>
            </a:endParaRPr>
          </a:p>
          <a:p>
            <a:pPr indent="-48578" lvl="0" marL="214313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/>
          </a:p>
        </p:txBody>
      </p:sp>
      <p:pic>
        <p:nvPicPr>
          <p:cNvPr id="185" name="Google Shape;18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0292" y="1021521"/>
            <a:ext cx="4581708" cy="508070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2"/>
          <p:cNvSpPr/>
          <p:nvPr/>
        </p:nvSpPr>
        <p:spPr>
          <a:xfrm>
            <a:off x="531276" y="4091992"/>
            <a:ext cx="7563852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5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Static </a:t>
            </a:r>
            <a:r>
              <a:rPr b="0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/>
          </a:p>
          <a:p>
            <a:pPr indent="-342900" lvl="3" marL="6858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70C0"/>
              </a:buClr>
              <a:buSzPts val="35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manually assigning ; stays fixed</a:t>
            </a:r>
            <a:endParaRPr/>
          </a:p>
          <a:p>
            <a:pPr indent="-342900" lvl="3" marL="6858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70C0"/>
              </a:buClr>
              <a:buSzPts val="35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used for devices must always be reachable</a:t>
            </a:r>
            <a:endParaRPr b="1" i="0" sz="2800" u="none" cap="none" strike="noStrik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3" marL="6858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70C0"/>
              </a:buClr>
              <a:buSzPts val="35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Used for: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Web servers, Routers, printers etc.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3"/>
          <p:cNvSpPr txBox="1"/>
          <p:nvPr>
            <p:ph type="title"/>
          </p:nvPr>
        </p:nvSpPr>
        <p:spPr>
          <a:xfrm>
            <a:off x="2366747" y="166599"/>
            <a:ext cx="7514035" cy="652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Dynamic IPv4 Addressing</a:t>
            </a:r>
            <a:endParaRPr/>
          </a:p>
        </p:txBody>
      </p:sp>
      <p:sp>
        <p:nvSpPr>
          <p:cNvPr id="192" name="Google Shape;192;p73"/>
          <p:cNvSpPr txBox="1"/>
          <p:nvPr/>
        </p:nvSpPr>
        <p:spPr>
          <a:xfrm>
            <a:off x="662354" y="1090247"/>
            <a:ext cx="5503316" cy="52321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214312" lvl="1" marL="557213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Dynamic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: </a:t>
            </a:r>
            <a:endParaRPr/>
          </a:p>
          <a:p>
            <a:pPr indent="-214312" lvl="2" marL="1014413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assigns IP addresses automatically to devices.</a:t>
            </a:r>
            <a:endParaRPr/>
          </a:p>
          <a:p>
            <a:pPr indent="-214312" lvl="2" marL="1014413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Used for 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Laptops,phones, moving devices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14312" lvl="2" marL="1014413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Who does this??</a:t>
            </a:r>
            <a:endParaRPr/>
          </a:p>
          <a:p>
            <a:pPr indent="-48578" lvl="0" marL="214313" marR="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3" name="Google Shape;193;p73"/>
          <p:cNvSpPr/>
          <p:nvPr/>
        </p:nvSpPr>
        <p:spPr>
          <a:xfrm>
            <a:off x="4417759" y="4098219"/>
            <a:ext cx="492370" cy="52753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4286" y="42000"/>
                </a:moveTo>
                <a:cubicBezTo>
                  <a:pt x="34286" y="28745"/>
                  <a:pt x="45798" y="18000"/>
                  <a:pt x="60000" y="18000"/>
                </a:cubicBezTo>
                <a:cubicBezTo>
                  <a:pt x="74202" y="18000"/>
                  <a:pt x="85714" y="28745"/>
                  <a:pt x="85714" y="42000"/>
                </a:cubicBezTo>
                <a:lnTo>
                  <a:pt x="85714" y="42000"/>
                </a:lnTo>
                <a:cubicBezTo>
                  <a:pt x="85714" y="51941"/>
                  <a:pt x="79958" y="60000"/>
                  <a:pt x="72857" y="60000"/>
                </a:cubicBezTo>
                <a:cubicBezTo>
                  <a:pt x="69307" y="60000"/>
                  <a:pt x="66429" y="64029"/>
                  <a:pt x="66429" y="69000"/>
                </a:cubicBezTo>
                <a:lnTo>
                  <a:pt x="66429" y="81000"/>
                </a:lnTo>
                <a:lnTo>
                  <a:pt x="53571" y="81000"/>
                </a:lnTo>
                <a:lnTo>
                  <a:pt x="53571" y="69000"/>
                </a:lnTo>
                <a:lnTo>
                  <a:pt x="53571" y="69000"/>
                </a:lnTo>
                <a:cubicBezTo>
                  <a:pt x="53571" y="59059"/>
                  <a:pt x="59328" y="51000"/>
                  <a:pt x="66429" y="51000"/>
                </a:cubicBezTo>
                <a:cubicBezTo>
                  <a:pt x="69979" y="51000"/>
                  <a:pt x="72857" y="46971"/>
                  <a:pt x="72857" y="42000"/>
                </a:cubicBezTo>
                <a:cubicBezTo>
                  <a:pt x="72857" y="35373"/>
                  <a:pt x="67101" y="30000"/>
                  <a:pt x="60000" y="30000"/>
                </a:cubicBezTo>
                <a:cubicBezTo>
                  <a:pt x="52899" y="30000"/>
                  <a:pt x="47143" y="35373"/>
                  <a:pt x="47143" y="42000"/>
                </a:cubicBezTo>
                <a:close/>
                <a:moveTo>
                  <a:pt x="60000" y="84000"/>
                </a:moveTo>
                <a:lnTo>
                  <a:pt x="60000" y="84000"/>
                </a:lnTo>
                <a:cubicBezTo>
                  <a:pt x="65326" y="84000"/>
                  <a:pt x="69643" y="88029"/>
                  <a:pt x="69643" y="93000"/>
                </a:cubicBezTo>
                <a:cubicBezTo>
                  <a:pt x="69643" y="97971"/>
                  <a:pt x="65326" y="102000"/>
                  <a:pt x="60000" y="102000"/>
                </a:cubicBezTo>
                <a:cubicBezTo>
                  <a:pt x="54674" y="102000"/>
                  <a:pt x="50357" y="97971"/>
                  <a:pt x="50357" y="93000"/>
                </a:cubicBezTo>
                <a:cubicBezTo>
                  <a:pt x="50357" y="88029"/>
                  <a:pt x="54674" y="84000"/>
                  <a:pt x="60000" y="84000"/>
                </a:cubicBezTo>
                <a:close/>
              </a:path>
              <a:path extrusionOk="0" fill="darken" h="120000" w="120000">
                <a:moveTo>
                  <a:pt x="34286" y="42000"/>
                </a:moveTo>
                <a:cubicBezTo>
                  <a:pt x="34286" y="28745"/>
                  <a:pt x="45798" y="18000"/>
                  <a:pt x="60000" y="18000"/>
                </a:cubicBezTo>
                <a:cubicBezTo>
                  <a:pt x="74202" y="18000"/>
                  <a:pt x="85714" y="28745"/>
                  <a:pt x="85714" y="42000"/>
                </a:cubicBezTo>
                <a:lnTo>
                  <a:pt x="85714" y="42000"/>
                </a:lnTo>
                <a:cubicBezTo>
                  <a:pt x="85714" y="51941"/>
                  <a:pt x="79958" y="60000"/>
                  <a:pt x="72857" y="60000"/>
                </a:cubicBezTo>
                <a:cubicBezTo>
                  <a:pt x="69307" y="60000"/>
                  <a:pt x="66429" y="64029"/>
                  <a:pt x="66429" y="69000"/>
                </a:cubicBezTo>
                <a:lnTo>
                  <a:pt x="66429" y="81000"/>
                </a:lnTo>
                <a:lnTo>
                  <a:pt x="53571" y="81000"/>
                </a:lnTo>
                <a:lnTo>
                  <a:pt x="53571" y="69000"/>
                </a:lnTo>
                <a:lnTo>
                  <a:pt x="53571" y="69000"/>
                </a:lnTo>
                <a:cubicBezTo>
                  <a:pt x="53571" y="59059"/>
                  <a:pt x="59328" y="51000"/>
                  <a:pt x="66429" y="51000"/>
                </a:cubicBezTo>
                <a:cubicBezTo>
                  <a:pt x="69979" y="51000"/>
                  <a:pt x="72857" y="46971"/>
                  <a:pt x="72857" y="42000"/>
                </a:cubicBezTo>
                <a:cubicBezTo>
                  <a:pt x="72857" y="35373"/>
                  <a:pt x="67101" y="30000"/>
                  <a:pt x="60000" y="30000"/>
                </a:cubicBezTo>
                <a:cubicBezTo>
                  <a:pt x="52899" y="30000"/>
                  <a:pt x="47143" y="35373"/>
                  <a:pt x="47143" y="42000"/>
                </a:cubicBezTo>
                <a:close/>
                <a:moveTo>
                  <a:pt x="60000" y="84000"/>
                </a:moveTo>
                <a:lnTo>
                  <a:pt x="60000" y="84000"/>
                </a:lnTo>
                <a:cubicBezTo>
                  <a:pt x="65326" y="84000"/>
                  <a:pt x="69643" y="88029"/>
                  <a:pt x="69643" y="93000"/>
                </a:cubicBezTo>
                <a:cubicBezTo>
                  <a:pt x="69643" y="97971"/>
                  <a:pt x="65326" y="102000"/>
                  <a:pt x="60000" y="102000"/>
                </a:cubicBezTo>
                <a:cubicBezTo>
                  <a:pt x="54674" y="102000"/>
                  <a:pt x="50357" y="97971"/>
                  <a:pt x="50357" y="93000"/>
                </a:cubicBezTo>
                <a:cubicBezTo>
                  <a:pt x="50357" y="88029"/>
                  <a:pt x="54674" y="84000"/>
                  <a:pt x="60000" y="84000"/>
                </a:cubicBezTo>
                <a:close/>
              </a:path>
              <a:path extrusionOk="0" fill="none" h="120000" w="120000">
                <a:moveTo>
                  <a:pt x="34286" y="42000"/>
                </a:moveTo>
                <a:cubicBezTo>
                  <a:pt x="34286" y="28745"/>
                  <a:pt x="45798" y="18000"/>
                  <a:pt x="60000" y="18000"/>
                </a:cubicBezTo>
                <a:cubicBezTo>
                  <a:pt x="74202" y="18000"/>
                  <a:pt x="85714" y="28745"/>
                  <a:pt x="85714" y="42000"/>
                </a:cubicBezTo>
                <a:lnTo>
                  <a:pt x="85714" y="42000"/>
                </a:lnTo>
                <a:cubicBezTo>
                  <a:pt x="85714" y="51941"/>
                  <a:pt x="79958" y="60000"/>
                  <a:pt x="72857" y="60000"/>
                </a:cubicBezTo>
                <a:cubicBezTo>
                  <a:pt x="69307" y="60000"/>
                  <a:pt x="66429" y="64029"/>
                  <a:pt x="66429" y="69000"/>
                </a:cubicBezTo>
                <a:lnTo>
                  <a:pt x="66429" y="81000"/>
                </a:lnTo>
                <a:lnTo>
                  <a:pt x="53571" y="81000"/>
                </a:lnTo>
                <a:lnTo>
                  <a:pt x="53571" y="69000"/>
                </a:lnTo>
                <a:lnTo>
                  <a:pt x="53571" y="69000"/>
                </a:lnTo>
                <a:cubicBezTo>
                  <a:pt x="53571" y="59059"/>
                  <a:pt x="59328" y="51000"/>
                  <a:pt x="66429" y="51000"/>
                </a:cubicBezTo>
                <a:cubicBezTo>
                  <a:pt x="69979" y="51000"/>
                  <a:pt x="72857" y="46971"/>
                  <a:pt x="72857" y="42000"/>
                </a:cubicBezTo>
                <a:cubicBezTo>
                  <a:pt x="72857" y="35373"/>
                  <a:pt x="67101" y="30000"/>
                  <a:pt x="60000" y="30000"/>
                </a:cubicBezTo>
                <a:cubicBezTo>
                  <a:pt x="52899" y="30000"/>
                  <a:pt x="47143" y="35373"/>
                  <a:pt x="47143" y="42000"/>
                </a:cubicBezTo>
                <a:close/>
                <a:moveTo>
                  <a:pt x="60000" y="84000"/>
                </a:moveTo>
                <a:lnTo>
                  <a:pt x="60000" y="84000"/>
                </a:lnTo>
                <a:cubicBezTo>
                  <a:pt x="65326" y="84000"/>
                  <a:pt x="69643" y="88029"/>
                  <a:pt x="69643" y="93000"/>
                </a:cubicBezTo>
                <a:cubicBezTo>
                  <a:pt x="69643" y="97971"/>
                  <a:pt x="65326" y="102000"/>
                  <a:pt x="60000" y="102000"/>
                </a:cubicBezTo>
                <a:cubicBezTo>
                  <a:pt x="54674" y="102000"/>
                  <a:pt x="50357" y="97971"/>
                  <a:pt x="50357" y="93000"/>
                </a:cubicBezTo>
                <a:cubicBezTo>
                  <a:pt x="50357" y="88029"/>
                  <a:pt x="54674" y="84000"/>
                  <a:pt x="60000" y="84000"/>
                </a:cubicBez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3"/>
          <p:cNvSpPr/>
          <p:nvPr/>
        </p:nvSpPr>
        <p:spPr>
          <a:xfrm>
            <a:off x="1958516" y="4744833"/>
            <a:ext cx="2405735" cy="67323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DHCP</a:t>
            </a:r>
            <a:endParaRPr/>
          </a:p>
        </p:txBody>
      </p:sp>
      <p:sp>
        <p:nvSpPr>
          <p:cNvPr id="195" name="Google Shape;195;p73"/>
          <p:cNvSpPr/>
          <p:nvPr/>
        </p:nvSpPr>
        <p:spPr>
          <a:xfrm>
            <a:off x="662354" y="5440327"/>
            <a:ext cx="59779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Dynamic Host Configuration Protocol</a:t>
            </a:r>
            <a:endParaRPr/>
          </a:p>
        </p:txBody>
      </p:sp>
      <p:sp>
        <p:nvSpPr>
          <p:cNvPr descr="Internet of everything: 3.2.8 Automatic IP addressing | OpenLearn - Open  University" id="196" name="Google Shape;196;p7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7796" y="1311358"/>
            <a:ext cx="5267659" cy="385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9772" y="230038"/>
            <a:ext cx="6873131" cy="661306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4"/>
          <p:cNvSpPr/>
          <p:nvPr/>
        </p:nvSpPr>
        <p:spPr>
          <a:xfrm>
            <a:off x="8494817" y="515630"/>
            <a:ext cx="333617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Static Assignments?</a:t>
            </a:r>
            <a:endParaRPr/>
          </a:p>
        </p:txBody>
      </p:sp>
      <p:sp>
        <p:nvSpPr>
          <p:cNvPr id="204" name="Google Shape;204;p74"/>
          <p:cNvSpPr/>
          <p:nvPr/>
        </p:nvSpPr>
        <p:spPr>
          <a:xfrm>
            <a:off x="8266392" y="1038850"/>
            <a:ext cx="37930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Dynamic Assignments?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5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Host Configuration Protocol (DHCP)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0" name="Google Shape;210;p75"/>
          <p:cNvSpPr txBox="1"/>
          <p:nvPr>
            <p:ph idx="1" type="body"/>
          </p:nvPr>
        </p:nvSpPr>
        <p:spPr>
          <a:xfrm>
            <a:off x="1558834" y="1937531"/>
            <a:ext cx="6527074" cy="1672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24"/>
              <a:buChar char="•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in large organizations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24"/>
              <a:buChar char="•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More scalable.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24"/>
              <a:buChar char="•"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Easier to manage many clients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24"/>
              <a:buChar char="•"/>
            </a:pPr>
            <a:r>
              <a:rPr lang="en-US"/>
              <a:t>Usually part of a </a:t>
            </a:r>
            <a:r>
              <a:rPr b="1" lang="en-US"/>
              <a:t>central server</a:t>
            </a:r>
            <a:r>
              <a:rPr lang="en-US"/>
              <a:t> (Windows Server, Linux DHCP, etc.)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-188975" lvl="0" marL="4524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24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ips03.jpg" id="211" name="Google Shape;21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6726" y="4719501"/>
            <a:ext cx="14986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02.jpg" id="212" name="Google Shape;212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6726" y="1708805"/>
            <a:ext cx="1371600" cy="16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5"/>
          <p:cNvSpPr/>
          <p:nvPr/>
        </p:nvSpPr>
        <p:spPr>
          <a:xfrm>
            <a:off x="3797300" y="788378"/>
            <a:ext cx="3794991" cy="63304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Which device runs it?</a:t>
            </a:r>
            <a:endParaRPr/>
          </a:p>
        </p:txBody>
      </p:sp>
      <p:sp>
        <p:nvSpPr>
          <p:cNvPr id="214" name="Google Shape;214;p75"/>
          <p:cNvSpPr/>
          <p:nvPr/>
        </p:nvSpPr>
        <p:spPr>
          <a:xfrm>
            <a:off x="1496291" y="4347754"/>
            <a:ext cx="6096000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Common in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homes, small offices (SOHO)</a:t>
            </a:r>
            <a:endParaRPr b="0" i="0" sz="2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Cheaper</a:t>
            </a:r>
            <a:endParaRPr/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Simple to configure</a:t>
            </a:r>
            <a:endParaRPr/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Wi-Fi routers we use at home run DHCP automatically</a:t>
            </a:r>
            <a:endParaRPr/>
          </a:p>
        </p:txBody>
      </p:sp>
      <p:sp>
        <p:nvSpPr>
          <p:cNvPr id="215" name="Google Shape;215;p75"/>
          <p:cNvSpPr/>
          <p:nvPr/>
        </p:nvSpPr>
        <p:spPr>
          <a:xfrm>
            <a:off x="8219805" y="3397905"/>
            <a:ext cx="2332442" cy="54261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Servers</a:t>
            </a:r>
            <a:endParaRPr/>
          </a:p>
        </p:txBody>
      </p:sp>
      <p:sp>
        <p:nvSpPr>
          <p:cNvPr id="216" name="Google Shape;216;p75"/>
          <p:cNvSpPr/>
          <p:nvPr/>
        </p:nvSpPr>
        <p:spPr>
          <a:xfrm>
            <a:off x="8219805" y="5941436"/>
            <a:ext cx="2295795" cy="49919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Routers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3067" y="838200"/>
            <a:ext cx="8821984" cy="570629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6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DHCP Operations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77"/>
          <p:cNvGrpSpPr/>
          <p:nvPr/>
        </p:nvGrpSpPr>
        <p:grpSpPr>
          <a:xfrm>
            <a:off x="1312617" y="1337520"/>
            <a:ext cx="5469272" cy="4385297"/>
            <a:chOff x="1312617" y="1337520"/>
            <a:chExt cx="5469272" cy="4385297"/>
          </a:xfrm>
        </p:grpSpPr>
        <p:pic>
          <p:nvPicPr>
            <p:cNvPr id="228" name="Google Shape;228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12617" y="1337520"/>
              <a:ext cx="5469272" cy="43598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77"/>
            <p:cNvSpPr txBox="1"/>
            <p:nvPr/>
          </p:nvSpPr>
          <p:spPr>
            <a:xfrm>
              <a:off x="1534558" y="4770903"/>
              <a:ext cx="7806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A</a:t>
              </a:r>
              <a:endParaRPr/>
            </a:p>
          </p:txBody>
        </p:sp>
        <p:sp>
          <p:nvSpPr>
            <p:cNvPr id="230" name="Google Shape;230;p77"/>
            <p:cNvSpPr txBox="1"/>
            <p:nvPr/>
          </p:nvSpPr>
          <p:spPr>
            <a:xfrm>
              <a:off x="2845734" y="5233750"/>
              <a:ext cx="7806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B</a:t>
              </a:r>
              <a:endParaRPr/>
            </a:p>
          </p:txBody>
        </p:sp>
        <p:sp>
          <p:nvSpPr>
            <p:cNvPr id="231" name="Google Shape;231;p77"/>
            <p:cNvSpPr txBox="1"/>
            <p:nvPr/>
          </p:nvSpPr>
          <p:spPr>
            <a:xfrm>
              <a:off x="4576238" y="5415040"/>
              <a:ext cx="7806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C</a:t>
              </a:r>
              <a:endParaRPr/>
            </a:p>
          </p:txBody>
        </p:sp>
      </p:grpSp>
      <p:sp>
        <p:nvSpPr>
          <p:cNvPr id="232" name="Google Shape;232;p77"/>
          <p:cNvSpPr txBox="1"/>
          <p:nvPr>
            <p:ph type="title"/>
          </p:nvPr>
        </p:nvSpPr>
        <p:spPr>
          <a:xfrm>
            <a:off x="1484310" y="298939"/>
            <a:ext cx="10018713" cy="67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DHCP Operation - Start</a:t>
            </a:r>
            <a:endParaRPr/>
          </a:p>
        </p:txBody>
      </p:sp>
      <p:sp>
        <p:nvSpPr>
          <p:cNvPr id="233" name="Google Shape;233;p77"/>
          <p:cNvSpPr/>
          <p:nvPr/>
        </p:nvSpPr>
        <p:spPr>
          <a:xfrm>
            <a:off x="1735549" y="4165095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7"/>
          <p:cNvSpPr/>
          <p:nvPr/>
        </p:nvSpPr>
        <p:spPr>
          <a:xfrm>
            <a:off x="3757426" y="2861531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7"/>
          <p:cNvSpPr/>
          <p:nvPr/>
        </p:nvSpPr>
        <p:spPr>
          <a:xfrm>
            <a:off x="4029588" y="2861531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7"/>
          <p:cNvSpPr/>
          <p:nvPr/>
        </p:nvSpPr>
        <p:spPr>
          <a:xfrm>
            <a:off x="4316084" y="273305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7"/>
          <p:cNvSpPr/>
          <p:nvPr/>
        </p:nvSpPr>
        <p:spPr>
          <a:xfrm>
            <a:off x="4181988" y="3013931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7"/>
          <p:cNvSpPr/>
          <p:nvPr/>
        </p:nvSpPr>
        <p:spPr>
          <a:xfrm>
            <a:off x="3151183" y="4480647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7"/>
          <p:cNvSpPr/>
          <p:nvPr/>
        </p:nvSpPr>
        <p:spPr>
          <a:xfrm>
            <a:off x="4034403" y="1877853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7"/>
          <p:cNvSpPr/>
          <p:nvPr/>
        </p:nvSpPr>
        <p:spPr>
          <a:xfrm>
            <a:off x="4895739" y="4750494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7"/>
          <p:cNvSpPr txBox="1"/>
          <p:nvPr>
            <p:ph idx="1" type="body"/>
          </p:nvPr>
        </p:nvSpPr>
        <p:spPr>
          <a:xfrm>
            <a:off x="7068385" y="1735801"/>
            <a:ext cx="5020521" cy="2039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3200">
                <a:solidFill>
                  <a:srgbClr val="0070C0"/>
                </a:solidFill>
              </a:rPr>
              <a:t>DHCP Discover </a:t>
            </a:r>
            <a:r>
              <a:rPr b="1" lang="en-US" sz="3200">
                <a:solidFill>
                  <a:schemeClr val="dk1"/>
                </a:solidFill>
              </a:rPr>
              <a:t>(Broadcast packet)</a:t>
            </a:r>
            <a:endParaRPr sz="3600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Finds the DHCP server(s) on the network.</a:t>
            </a:r>
            <a:endParaRPr sz="32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800"/>
          </a:p>
        </p:txBody>
      </p:sp>
      <p:sp>
        <p:nvSpPr>
          <p:cNvPr id="242" name="Google Shape;242;p77"/>
          <p:cNvSpPr/>
          <p:nvPr/>
        </p:nvSpPr>
        <p:spPr>
          <a:xfrm>
            <a:off x="1630827" y="4636655"/>
            <a:ext cx="789100" cy="11083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3" name="Google Shape;243;p77"/>
          <p:cNvGraphicFramePr/>
          <p:nvPr/>
        </p:nvGraphicFramePr>
        <p:xfrm>
          <a:off x="362759" y="56974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454400"/>
                <a:gridCol w="1576475"/>
                <a:gridCol w="1672050"/>
                <a:gridCol w="1358525"/>
                <a:gridCol w="849075"/>
                <a:gridCol w="860275"/>
                <a:gridCol w="1295125"/>
              </a:tblGrid>
              <a:tr h="279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FFFF-FFFF-FFFF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Host</a:t>
                      </a:r>
                      <a:r>
                        <a:rPr lang="en-US" sz="1400" u="none" cap="none" strike="noStrike"/>
                        <a:t> A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255.255.255.255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0.0.0.0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67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68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4" name="Google Shape;244;p77"/>
          <p:cNvGraphicFramePr/>
          <p:nvPr/>
        </p:nvGraphicFramePr>
        <p:xfrm>
          <a:off x="362758" y="6288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536225"/>
                <a:gridCol w="1541425"/>
                <a:gridCol w="1645925"/>
                <a:gridCol w="1332400"/>
                <a:gridCol w="888275"/>
                <a:gridCol w="826575"/>
                <a:gridCol w="1295125"/>
              </a:tblGrid>
              <a:tr h="40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Dest MAC address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Source</a:t>
                      </a:r>
                      <a:r>
                        <a:rPr lang="en-US" sz="1400" u="none" cap="none" strike="noStrike"/>
                        <a:t> MAC address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IP address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IP address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Dest</a:t>
                      </a:r>
                      <a:r>
                        <a:rPr lang="en-US" sz="1400" u="none" cap="none" strike="noStrike"/>
                        <a:t> Port No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Source Port 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sp>
        <p:nvSpPr>
          <p:cNvPr id="245" name="Google Shape;245;p77"/>
          <p:cNvSpPr/>
          <p:nvPr/>
        </p:nvSpPr>
        <p:spPr>
          <a:xfrm flipH="1" rot="10800000">
            <a:off x="6296831" y="5628204"/>
            <a:ext cx="970115" cy="65656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7"/>
          <p:cNvSpPr/>
          <p:nvPr/>
        </p:nvSpPr>
        <p:spPr>
          <a:xfrm>
            <a:off x="1534558" y="4461230"/>
            <a:ext cx="981635" cy="20448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7"/>
          <p:cNvSpPr txBox="1"/>
          <p:nvPr/>
        </p:nvSpPr>
        <p:spPr>
          <a:xfrm>
            <a:off x="4265312" y="2293299"/>
            <a:ext cx="13510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172.16.4.254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9196" y="2926739"/>
            <a:ext cx="8858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06720" y="1906974"/>
            <a:ext cx="561975" cy="100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77"/>
          <p:cNvCxnSpPr/>
          <p:nvPr/>
        </p:nvCxnSpPr>
        <p:spPr>
          <a:xfrm>
            <a:off x="2668695" y="2407036"/>
            <a:ext cx="1204058" cy="32601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77"/>
          <p:cNvSpPr/>
          <p:nvPr/>
        </p:nvSpPr>
        <p:spPr>
          <a:xfrm>
            <a:off x="3600348" y="2820542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7"/>
          <p:cNvSpPr/>
          <p:nvPr/>
        </p:nvSpPr>
        <p:spPr>
          <a:xfrm>
            <a:off x="2122382" y="2342211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8"/>
          <p:cNvSpPr txBox="1"/>
          <p:nvPr>
            <p:ph type="title"/>
          </p:nvPr>
        </p:nvSpPr>
        <p:spPr>
          <a:xfrm>
            <a:off x="1484310" y="298939"/>
            <a:ext cx="10018713" cy="67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DHCP Operation </a:t>
            </a:r>
            <a:endParaRPr/>
          </a:p>
        </p:txBody>
      </p:sp>
      <p:pic>
        <p:nvPicPr>
          <p:cNvPr id="258" name="Google Shape;25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2617" y="1500381"/>
            <a:ext cx="5469272" cy="435988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8"/>
          <p:cNvSpPr/>
          <p:nvPr/>
        </p:nvSpPr>
        <p:spPr>
          <a:xfrm>
            <a:off x="5547045" y="3836292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8"/>
          <p:cNvSpPr/>
          <p:nvPr/>
        </p:nvSpPr>
        <p:spPr>
          <a:xfrm>
            <a:off x="3851576" y="2877778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8"/>
          <p:cNvSpPr txBox="1"/>
          <p:nvPr>
            <p:ph idx="1" type="body"/>
          </p:nvPr>
        </p:nvSpPr>
        <p:spPr>
          <a:xfrm>
            <a:off x="6973997" y="1616909"/>
            <a:ext cx="5218003" cy="152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2800">
                <a:solidFill>
                  <a:srgbClr val="0070C0"/>
                </a:solidFill>
              </a:rPr>
              <a:t>DHCP Offer </a:t>
            </a:r>
            <a:r>
              <a:rPr b="1" lang="en-US" sz="2800">
                <a:solidFill>
                  <a:schemeClr val="dk1"/>
                </a:solidFill>
              </a:rPr>
              <a:t>(Unicast)</a:t>
            </a:r>
            <a:endParaRPr sz="3200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sz="2400"/>
              <a:t>Contains an available IP address to lease</a:t>
            </a:r>
            <a:endParaRPr sz="28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800"/>
          </a:p>
        </p:txBody>
      </p:sp>
      <p:sp>
        <p:nvSpPr>
          <p:cNvPr id="262" name="Google Shape;262;p78"/>
          <p:cNvSpPr/>
          <p:nvPr/>
        </p:nvSpPr>
        <p:spPr>
          <a:xfrm>
            <a:off x="1630827" y="4636655"/>
            <a:ext cx="789100" cy="11083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3" name="Google Shape;263;p78"/>
          <p:cNvGraphicFramePr/>
          <p:nvPr/>
        </p:nvGraphicFramePr>
        <p:xfrm>
          <a:off x="1342589" y="59093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201275"/>
                <a:gridCol w="1201275"/>
                <a:gridCol w="1201275"/>
                <a:gridCol w="1201275"/>
                <a:gridCol w="1201275"/>
                <a:gridCol w="1201275"/>
                <a:gridCol w="12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Host</a:t>
                      </a:r>
                      <a:r>
                        <a:rPr lang="en-US" sz="1400" u="none" cap="none" strike="noStrike"/>
                        <a:t> 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DHCP Server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172.16.4.1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172.16.4.250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67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4" name="Google Shape;264;p78"/>
          <p:cNvGraphicFramePr/>
          <p:nvPr/>
        </p:nvGraphicFramePr>
        <p:xfrm>
          <a:off x="1342589" y="63778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201275"/>
                <a:gridCol w="1201275"/>
                <a:gridCol w="1201275"/>
                <a:gridCol w="1201275"/>
                <a:gridCol w="1201275"/>
                <a:gridCol w="1201275"/>
                <a:gridCol w="1201275"/>
              </a:tblGrid>
              <a:tr h="33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Dest MAC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Source</a:t>
                      </a:r>
                      <a:r>
                        <a:rPr lang="en-US" sz="1400" u="none" cap="none" strike="noStrike"/>
                        <a:t> MAC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IP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IP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Dest</a:t>
                      </a:r>
                      <a:r>
                        <a:rPr lang="en-US" sz="1400" u="none" cap="none" strike="noStrike"/>
                        <a:t> Port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Source 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sp>
        <p:nvSpPr>
          <p:cNvPr id="265" name="Google Shape;265;p78"/>
          <p:cNvSpPr txBox="1"/>
          <p:nvPr/>
        </p:nvSpPr>
        <p:spPr>
          <a:xfrm>
            <a:off x="1534558" y="4770903"/>
            <a:ext cx="7806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A</a:t>
            </a:r>
            <a:endParaRPr/>
          </a:p>
        </p:txBody>
      </p:sp>
      <p:sp>
        <p:nvSpPr>
          <p:cNvPr id="266" name="Google Shape;266;p78"/>
          <p:cNvSpPr txBox="1"/>
          <p:nvPr/>
        </p:nvSpPr>
        <p:spPr>
          <a:xfrm>
            <a:off x="2829958" y="5428333"/>
            <a:ext cx="7806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B</a:t>
            </a:r>
            <a:endParaRPr/>
          </a:p>
        </p:txBody>
      </p:sp>
      <p:sp>
        <p:nvSpPr>
          <p:cNvPr id="267" name="Google Shape;267;p78"/>
          <p:cNvSpPr txBox="1"/>
          <p:nvPr/>
        </p:nvSpPr>
        <p:spPr>
          <a:xfrm>
            <a:off x="4618417" y="5569105"/>
            <a:ext cx="7806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C</a:t>
            </a:r>
            <a:endParaRPr/>
          </a:p>
        </p:txBody>
      </p:sp>
      <p:sp>
        <p:nvSpPr>
          <p:cNvPr id="268" name="Google Shape;268;p78"/>
          <p:cNvSpPr txBox="1"/>
          <p:nvPr/>
        </p:nvSpPr>
        <p:spPr>
          <a:xfrm>
            <a:off x="7570693" y="3251516"/>
            <a:ext cx="3792071" cy="1631216"/>
          </a:xfrm>
          <a:prstGeom prst="rect">
            <a:avLst/>
          </a:prstGeom>
          <a:solidFill>
            <a:srgbClr val="82CCF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IP address : 172.16.4.1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Subnet Mask: 255.255.255.0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Default Gateway: 172.16.4.254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DNS Server : 172.16.4.160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Lease Time : 3 days</a:t>
            </a:r>
            <a:endParaRPr/>
          </a:p>
        </p:txBody>
      </p:sp>
      <p:pic>
        <p:nvPicPr>
          <p:cNvPr id="269" name="Google Shape;269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7472" y="3085729"/>
            <a:ext cx="8858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4996" y="2065964"/>
            <a:ext cx="561975" cy="100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p78"/>
          <p:cNvCxnSpPr/>
          <p:nvPr/>
        </p:nvCxnSpPr>
        <p:spPr>
          <a:xfrm>
            <a:off x="2636971" y="2566026"/>
            <a:ext cx="1182881" cy="47074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589" y="1592916"/>
            <a:ext cx="6658228" cy="40817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7" name="Google Shape;277;p79"/>
          <p:cNvGraphicFramePr/>
          <p:nvPr/>
        </p:nvGraphicFramePr>
        <p:xfrm>
          <a:off x="1342589" y="59093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319925"/>
                <a:gridCol w="845800"/>
                <a:gridCol w="1438100"/>
                <a:gridCol w="1201275"/>
                <a:gridCol w="1201275"/>
                <a:gridCol w="1201275"/>
                <a:gridCol w="12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FFFFFFFFFFFF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Host 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255.255.255.255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172.16.4.1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67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8" name="Google Shape;278;p79"/>
          <p:cNvGraphicFramePr/>
          <p:nvPr/>
        </p:nvGraphicFramePr>
        <p:xfrm>
          <a:off x="1342589" y="63778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201275"/>
                <a:gridCol w="1201275"/>
                <a:gridCol w="1201275"/>
                <a:gridCol w="1201275"/>
                <a:gridCol w="1201275"/>
                <a:gridCol w="1201275"/>
                <a:gridCol w="1201275"/>
              </a:tblGrid>
              <a:tr h="33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Dest MAC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Source</a:t>
                      </a:r>
                      <a:r>
                        <a:rPr lang="en-US" sz="1400" u="none" cap="none" strike="noStrike"/>
                        <a:t> MAC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IP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IP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Dest</a:t>
                      </a:r>
                      <a:r>
                        <a:rPr lang="en-US" sz="1400" u="none" cap="none" strike="noStrike"/>
                        <a:t> Port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Source 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sp>
        <p:nvSpPr>
          <p:cNvPr id="279" name="Google Shape;279;p79"/>
          <p:cNvSpPr/>
          <p:nvPr/>
        </p:nvSpPr>
        <p:spPr>
          <a:xfrm>
            <a:off x="1735549" y="4165095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9"/>
          <p:cNvSpPr/>
          <p:nvPr/>
        </p:nvSpPr>
        <p:spPr>
          <a:xfrm>
            <a:off x="4316084" y="273305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9"/>
          <p:cNvSpPr/>
          <p:nvPr/>
        </p:nvSpPr>
        <p:spPr>
          <a:xfrm>
            <a:off x="4181988" y="3013931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9"/>
          <p:cNvSpPr/>
          <p:nvPr/>
        </p:nvSpPr>
        <p:spPr>
          <a:xfrm>
            <a:off x="4026256" y="2661720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9"/>
          <p:cNvSpPr/>
          <p:nvPr/>
        </p:nvSpPr>
        <p:spPr>
          <a:xfrm>
            <a:off x="4468484" y="288545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9"/>
          <p:cNvSpPr/>
          <p:nvPr/>
        </p:nvSpPr>
        <p:spPr>
          <a:xfrm>
            <a:off x="4620884" y="303785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9"/>
          <p:cNvSpPr/>
          <p:nvPr/>
        </p:nvSpPr>
        <p:spPr>
          <a:xfrm>
            <a:off x="3830042" y="2749209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9"/>
          <p:cNvSpPr/>
          <p:nvPr/>
        </p:nvSpPr>
        <p:spPr>
          <a:xfrm>
            <a:off x="6104543" y="2391598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9"/>
          <p:cNvSpPr txBox="1"/>
          <p:nvPr>
            <p:ph idx="1" type="body"/>
          </p:nvPr>
        </p:nvSpPr>
        <p:spPr>
          <a:xfrm>
            <a:off x="8153216" y="1592915"/>
            <a:ext cx="3987413" cy="2466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2800">
                <a:solidFill>
                  <a:srgbClr val="0070C0"/>
                </a:solidFill>
              </a:rPr>
              <a:t>DHCP Request </a:t>
            </a:r>
            <a:r>
              <a:rPr b="1" lang="en-US" sz="2800">
                <a:solidFill>
                  <a:schemeClr val="dk1"/>
                </a:solidFill>
              </a:rPr>
              <a:t>(Broadcast)</a:t>
            </a:r>
            <a:endParaRPr sz="3200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Tells server which address host has accepted</a:t>
            </a:r>
            <a:endParaRPr sz="33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800"/>
          </a:p>
        </p:txBody>
      </p:sp>
      <p:sp>
        <p:nvSpPr>
          <p:cNvPr id="288" name="Google Shape;288;p79"/>
          <p:cNvSpPr/>
          <p:nvPr/>
        </p:nvSpPr>
        <p:spPr>
          <a:xfrm>
            <a:off x="2098764" y="2878062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9"/>
          <p:cNvSpPr/>
          <p:nvPr/>
        </p:nvSpPr>
        <p:spPr>
          <a:xfrm>
            <a:off x="3951078" y="2083699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9"/>
          <p:cNvSpPr/>
          <p:nvPr/>
        </p:nvSpPr>
        <p:spPr>
          <a:xfrm>
            <a:off x="6799021" y="3145814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9"/>
          <p:cNvSpPr/>
          <p:nvPr/>
        </p:nvSpPr>
        <p:spPr>
          <a:xfrm>
            <a:off x="4738720" y="4953500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9"/>
          <p:cNvSpPr/>
          <p:nvPr/>
        </p:nvSpPr>
        <p:spPr>
          <a:xfrm>
            <a:off x="3010656" y="4518218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9"/>
          <p:cNvSpPr txBox="1"/>
          <p:nvPr/>
        </p:nvSpPr>
        <p:spPr>
          <a:xfrm>
            <a:off x="7406640" y="3879669"/>
            <a:ext cx="2808514" cy="523220"/>
          </a:xfrm>
          <a:prstGeom prst="rect">
            <a:avLst/>
          </a:prstGeom>
          <a:solidFill>
            <a:srgbClr val="E6918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Did not take my IP address, so the address is free…. </a:t>
            </a:r>
            <a:endParaRPr/>
          </a:p>
        </p:txBody>
      </p:sp>
      <p:sp>
        <p:nvSpPr>
          <p:cNvPr id="294" name="Google Shape;294;p79"/>
          <p:cNvSpPr txBox="1"/>
          <p:nvPr/>
        </p:nvSpPr>
        <p:spPr>
          <a:xfrm>
            <a:off x="5625673" y="4605525"/>
            <a:ext cx="2808514" cy="523220"/>
          </a:xfrm>
          <a:prstGeom prst="rect">
            <a:avLst/>
          </a:prstGeom>
          <a:solidFill>
            <a:srgbClr val="B1DB9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Took my IP address, so the address is occupied…. </a:t>
            </a:r>
            <a:endParaRPr/>
          </a:p>
        </p:txBody>
      </p:sp>
      <p:sp>
        <p:nvSpPr>
          <p:cNvPr id="295" name="Google Shape;295;p79"/>
          <p:cNvSpPr txBox="1"/>
          <p:nvPr>
            <p:ph type="title"/>
          </p:nvPr>
        </p:nvSpPr>
        <p:spPr>
          <a:xfrm>
            <a:off x="1484310" y="298939"/>
            <a:ext cx="10018713" cy="67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DHCP Operation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598" y="1266345"/>
            <a:ext cx="6658228" cy="408174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80"/>
          <p:cNvSpPr/>
          <p:nvPr/>
        </p:nvSpPr>
        <p:spPr>
          <a:xfrm>
            <a:off x="5338039" y="3548740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0"/>
          <p:cNvSpPr/>
          <p:nvPr/>
        </p:nvSpPr>
        <p:spPr>
          <a:xfrm>
            <a:off x="3709493" y="2694379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0"/>
          <p:cNvSpPr txBox="1"/>
          <p:nvPr>
            <p:ph idx="1" type="body"/>
          </p:nvPr>
        </p:nvSpPr>
        <p:spPr>
          <a:xfrm>
            <a:off x="8153216" y="1592915"/>
            <a:ext cx="3987413" cy="2466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11969"/>
              <a:buChar char="•"/>
            </a:pPr>
            <a:r>
              <a:rPr b="1" lang="en-US" sz="2800">
                <a:solidFill>
                  <a:srgbClr val="0070C0"/>
                </a:solidFill>
              </a:rPr>
              <a:t>DHCP Acknowledgement </a:t>
            </a:r>
            <a:r>
              <a:rPr b="1" lang="en-US" sz="2800">
                <a:solidFill>
                  <a:schemeClr val="dk1"/>
                </a:solidFill>
              </a:rPr>
              <a:t>(Unicast)</a:t>
            </a:r>
            <a:endParaRPr sz="3200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00772"/>
              <a:buChar char="•"/>
            </a:pPr>
            <a:r>
              <a:rPr lang="en-US" sz="2800"/>
              <a:t>Server Gives the OK to host to use the IP address.</a:t>
            </a:r>
            <a:endParaRPr sz="33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34362"/>
              <a:buNone/>
            </a:pPr>
            <a:r>
              <a:t/>
            </a:r>
            <a:endParaRPr sz="2800"/>
          </a:p>
        </p:txBody>
      </p:sp>
      <p:sp>
        <p:nvSpPr>
          <p:cNvPr id="304" name="Google Shape;304;p80"/>
          <p:cNvSpPr txBox="1"/>
          <p:nvPr>
            <p:ph type="title"/>
          </p:nvPr>
        </p:nvSpPr>
        <p:spPr>
          <a:xfrm>
            <a:off x="1484310" y="298939"/>
            <a:ext cx="10018713" cy="67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DHCP Operation </a:t>
            </a:r>
            <a:endParaRPr/>
          </a:p>
        </p:txBody>
      </p:sp>
      <p:graphicFrame>
        <p:nvGraphicFramePr>
          <p:cNvPr id="305" name="Google Shape;305;p80"/>
          <p:cNvGraphicFramePr/>
          <p:nvPr/>
        </p:nvGraphicFramePr>
        <p:xfrm>
          <a:off x="1342589" y="59093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201275"/>
                <a:gridCol w="1201275"/>
                <a:gridCol w="1201275"/>
                <a:gridCol w="1201275"/>
                <a:gridCol w="1201275"/>
                <a:gridCol w="1201275"/>
                <a:gridCol w="12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Host</a:t>
                      </a:r>
                      <a:r>
                        <a:rPr lang="en-US" sz="1400" u="none" cap="none" strike="noStrike"/>
                        <a:t> 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DHCP Server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172.16.4.1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172.16.4.250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67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6" name="Google Shape;306;p80"/>
          <p:cNvGraphicFramePr/>
          <p:nvPr/>
        </p:nvGraphicFramePr>
        <p:xfrm>
          <a:off x="1342589" y="6400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201275"/>
                <a:gridCol w="1201275"/>
                <a:gridCol w="1201275"/>
                <a:gridCol w="1201275"/>
                <a:gridCol w="1201275"/>
                <a:gridCol w="1201275"/>
                <a:gridCol w="1201275"/>
              </a:tblGrid>
              <a:tr h="30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Dest MAC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Source</a:t>
                      </a:r>
                      <a:r>
                        <a:rPr lang="en-US" sz="1400" u="none" cap="none" strike="noStrike"/>
                        <a:t> MAC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IP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IP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Dest</a:t>
                      </a:r>
                      <a:r>
                        <a:rPr lang="en-US" sz="1400" u="none" cap="none" strike="noStrike"/>
                        <a:t> Port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Source 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DHCP Operation (DORA)</a:t>
            </a:r>
            <a:endParaRPr/>
          </a:p>
        </p:txBody>
      </p:sp>
      <p:pic>
        <p:nvPicPr>
          <p:cNvPr id="312" name="Google Shape;312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7389" y="1392194"/>
            <a:ext cx="9281887" cy="417684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81"/>
          <p:cNvSpPr txBox="1"/>
          <p:nvPr/>
        </p:nvSpPr>
        <p:spPr>
          <a:xfrm>
            <a:off x="4396419" y="5226784"/>
            <a:ext cx="3558861" cy="1631216"/>
          </a:xfrm>
          <a:prstGeom prst="rect">
            <a:avLst/>
          </a:prstGeom>
          <a:solidFill>
            <a:srgbClr val="82CCF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IP address : 172.16.4.1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Subnet Mask: 255.255.255.0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Default Gateway: 172.16.4.254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DNS Server : 172.16.4.160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Lease Time : 3 days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Steps to Renew a Lease</a:t>
            </a:r>
            <a:endParaRPr/>
          </a:p>
        </p:txBody>
      </p:sp>
      <p:pic>
        <p:nvPicPr>
          <p:cNvPr id="320" name="Google Shape;320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2803" y="1849638"/>
            <a:ext cx="8641726" cy="432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3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DHCP Operation</a:t>
            </a:r>
            <a:endParaRPr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7" name="Google Shape;327;p83"/>
          <p:cNvSpPr txBox="1"/>
          <p:nvPr>
            <p:ph idx="1" type="body"/>
          </p:nvPr>
        </p:nvSpPr>
        <p:spPr>
          <a:xfrm>
            <a:off x="1260763" y="2202873"/>
            <a:ext cx="10678687" cy="4262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4" lvl="0" marL="3984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4200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DHCP works in a </a:t>
            </a:r>
            <a:r>
              <a:rPr b="1" lang="en-US" sz="28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client/server mode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1312" lvl="0" marL="3968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4500"/>
              <a:buChar char="•"/>
            </a:pP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the client connects, the server assigns or </a:t>
            </a:r>
            <a:r>
              <a:rPr b="1" lang="en-US" sz="30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leases </a:t>
            </a: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an IP address to the device.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1312" lvl="0" marL="3968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4500"/>
              <a:buChar char="•"/>
            </a:pP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host must contact the DHCP server periodically to </a:t>
            </a:r>
            <a:r>
              <a:rPr b="1" lang="en-US" sz="30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extend the lease</a:t>
            </a: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1312" lvl="0" marL="3968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4500"/>
              <a:buChar char="•"/>
            </a:pP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leasing of addresses assures that addresses that are no longer used are returned to the address pool for use by other devices. 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t/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ips04.jpg" id="328" name="Google Shape;328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1090" y="1161544"/>
            <a:ext cx="5410200" cy="782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4"/>
          <p:cNvSpPr txBox="1"/>
          <p:nvPr/>
        </p:nvSpPr>
        <p:spPr>
          <a:xfrm>
            <a:off x="2555631" y="17584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DHCP RELAY</a:t>
            </a:r>
            <a:endParaRPr b="1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What is an DHCP? | Dynamic IP ..." id="334" name="Google Shape;334;p8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lay race icon in colors | Free Vector" id="335" name="Google Shape;335;p84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5188" y="3084634"/>
            <a:ext cx="3457217" cy="2425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5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DHCP related issues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42" name="Google Shape;342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767387"/>
            <a:ext cx="9074331" cy="58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85"/>
          <p:cNvSpPr/>
          <p:nvPr/>
        </p:nvSpPr>
        <p:spPr>
          <a:xfrm>
            <a:off x="1879868" y="1222354"/>
            <a:ext cx="4249881" cy="523220"/>
          </a:xfrm>
          <a:prstGeom prst="rect">
            <a:avLst/>
          </a:prstGeom>
          <a:solidFill>
            <a:srgbClr val="82CCF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What is the problem here?</a:t>
            </a:r>
            <a:endParaRPr b="1" i="0" sz="2800" u="none" cap="none" strike="noStrike">
              <a:solidFill>
                <a:srgbClr val="C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606" y="951075"/>
            <a:ext cx="9433559" cy="58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86"/>
          <p:cNvSpPr txBox="1"/>
          <p:nvPr>
            <p:ph type="title"/>
          </p:nvPr>
        </p:nvSpPr>
        <p:spPr>
          <a:xfrm>
            <a:off x="1676399" y="152400"/>
            <a:ext cx="98043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with DHCP Server not in the same network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p86"/>
          <p:cNvSpPr txBox="1"/>
          <p:nvPr>
            <p:ph idx="1" type="body"/>
          </p:nvPr>
        </p:nvSpPr>
        <p:spPr>
          <a:xfrm>
            <a:off x="1811382" y="1104900"/>
            <a:ext cx="3979818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b="1" lang="en-US" sz="28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PC1 tries to obtain an IP configuration</a:t>
            </a:r>
            <a:endParaRPr b="1" sz="2800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1" name="Google Shape;351;p86"/>
          <p:cNvSpPr/>
          <p:nvPr/>
        </p:nvSpPr>
        <p:spPr>
          <a:xfrm>
            <a:off x="4589418" y="5487825"/>
            <a:ext cx="1201782" cy="965226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6"/>
          <p:cNvSpPr txBox="1"/>
          <p:nvPr/>
        </p:nvSpPr>
        <p:spPr>
          <a:xfrm>
            <a:off x="3361509" y="5678325"/>
            <a:ext cx="1828800" cy="4572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Broadcast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6"/>
          <p:cNvSpPr/>
          <p:nvPr/>
        </p:nvSpPr>
        <p:spPr>
          <a:xfrm>
            <a:off x="6222996" y="2296171"/>
            <a:ext cx="822039" cy="696411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6"/>
          <p:cNvSpPr txBox="1"/>
          <p:nvPr/>
        </p:nvSpPr>
        <p:spPr>
          <a:xfrm>
            <a:off x="7039691" y="1600200"/>
            <a:ext cx="3979818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b="1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Routers never forward broadcast packets!</a:t>
            </a:r>
            <a:endParaRPr b="1" i="0" sz="2800" u="none" cap="none" strike="noStrike">
              <a:solidFill>
                <a:srgbClr val="C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5" name="Google Shape;355;p86"/>
          <p:cNvSpPr txBox="1"/>
          <p:nvPr/>
        </p:nvSpPr>
        <p:spPr>
          <a:xfrm>
            <a:off x="8125153" y="2498101"/>
            <a:ext cx="2482510" cy="587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b="1" i="0" lang="en-US" sz="2800" u="none" cap="none" strike="noStrike">
                <a:solidFill>
                  <a:srgbClr val="3F6622"/>
                </a:solidFill>
                <a:latin typeface="Corbel"/>
                <a:ea typeface="Corbel"/>
                <a:cs typeface="Corbel"/>
                <a:sym typeface="Corbel"/>
              </a:rPr>
              <a:t>Solution??</a:t>
            </a:r>
            <a:endParaRPr b="1" i="0" sz="2800" u="none" cap="none" strike="noStrike">
              <a:solidFill>
                <a:srgbClr val="3F662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5559" y="351626"/>
            <a:ext cx="7085412" cy="440906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87"/>
          <p:cNvSpPr txBox="1"/>
          <p:nvPr>
            <p:ph idx="1" type="body"/>
          </p:nvPr>
        </p:nvSpPr>
        <p:spPr>
          <a:xfrm>
            <a:off x="1285173" y="4760687"/>
            <a:ext cx="10543412" cy="1229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Configure </a:t>
            </a: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R1 Fa0/0 </a:t>
            </a:r>
            <a:r>
              <a:rPr i="1"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(the interface that receives the PC1broadcasts)</a:t>
            </a: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relay DHCP broadcasts </a:t>
            </a: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the DHCP server, use the following commands:</a:t>
            </a:r>
            <a:endParaRPr>
              <a:solidFill>
                <a:schemeClr val="dk2"/>
              </a:solidFill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FFFF00"/>
              </a:buClr>
              <a:buSzPts val="1200"/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>
              <a:solidFill>
                <a:srgbClr val="7030A0"/>
              </a:solidFill>
            </a:endParaRPr>
          </a:p>
        </p:txBody>
      </p:sp>
      <p:graphicFrame>
        <p:nvGraphicFramePr>
          <p:cNvPr id="362" name="Google Shape;362;p87"/>
          <p:cNvGraphicFramePr/>
          <p:nvPr/>
        </p:nvGraphicFramePr>
        <p:xfrm>
          <a:off x="1615928" y="3516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319925"/>
                <a:gridCol w="850700"/>
                <a:gridCol w="1433200"/>
                <a:gridCol w="1201275"/>
                <a:gridCol w="1201275"/>
                <a:gridCol w="1201275"/>
                <a:gridCol w="12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FFFFFFFFFFFF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PC1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255.255.255.255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0.0.0.0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68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sp>
        <p:nvSpPr>
          <p:cNvPr id="363" name="Google Shape;363;p87"/>
          <p:cNvSpPr/>
          <p:nvPr/>
        </p:nvSpPr>
        <p:spPr>
          <a:xfrm>
            <a:off x="3352801" y="5826370"/>
            <a:ext cx="6096000" cy="772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R1(config)#</a:t>
            </a:r>
            <a:r>
              <a:rPr b="1" i="0" lang="en-US" sz="20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interface fa0/0</a:t>
            </a:r>
            <a:endParaRPr b="0" i="0" sz="20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R1(config-if)#</a:t>
            </a:r>
            <a:r>
              <a:rPr b="1" i="0" lang="en-US" sz="20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ip helper-address 192.168.11.5</a:t>
            </a:r>
            <a:endParaRPr b="0" i="0" sz="20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6171" y="3955284"/>
            <a:ext cx="486875" cy="36745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87"/>
          <p:cNvSpPr/>
          <p:nvPr/>
        </p:nvSpPr>
        <p:spPr>
          <a:xfrm>
            <a:off x="3821723" y="408092"/>
            <a:ext cx="1242646" cy="257907"/>
          </a:xfrm>
          <a:prstGeom prst="rect">
            <a:avLst/>
          </a:prstGeom>
          <a:solidFill>
            <a:srgbClr val="5E9934"/>
          </a:solidFill>
          <a:ln cap="flat" cmpd="sng" w="254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192.168.11.5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87"/>
          <p:cNvSpPr/>
          <p:nvPr/>
        </p:nvSpPr>
        <p:spPr>
          <a:xfrm>
            <a:off x="2980854" y="387996"/>
            <a:ext cx="840869" cy="298097"/>
          </a:xfrm>
          <a:prstGeom prst="rect">
            <a:avLst/>
          </a:prstGeom>
          <a:solidFill>
            <a:srgbClr val="C9A2ED"/>
          </a:solidFill>
          <a:ln cap="flat" cmpd="sng" w="25400">
            <a:solidFill>
              <a:srgbClr val="C9A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R1 Fa0/1 Mac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1186" y="1604422"/>
            <a:ext cx="486875" cy="367453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87"/>
          <p:cNvSpPr/>
          <p:nvPr/>
        </p:nvSpPr>
        <p:spPr>
          <a:xfrm>
            <a:off x="9244223" y="2410145"/>
            <a:ext cx="258436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Known as </a:t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DHCP Relay</a:t>
            </a:r>
            <a:endParaRPr b="0" i="0" sz="36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9" name="Google Shape;369;p87"/>
          <p:cNvSpPr/>
          <p:nvPr/>
        </p:nvSpPr>
        <p:spPr>
          <a:xfrm>
            <a:off x="1612307" y="387995"/>
            <a:ext cx="1291116" cy="298097"/>
          </a:xfrm>
          <a:prstGeom prst="rect">
            <a:avLst/>
          </a:prstGeom>
          <a:solidFill>
            <a:srgbClr val="C9A2ED"/>
          </a:solidFill>
          <a:ln cap="flat" cmpd="sng" w="25400">
            <a:solidFill>
              <a:srgbClr val="C9A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DHCP Server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0" name="Google Shape;370;p87"/>
          <p:cNvGraphicFramePr/>
          <p:nvPr/>
        </p:nvGraphicFramePr>
        <p:xfrm>
          <a:off x="1615919" y="355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201275"/>
                <a:gridCol w="1201275"/>
                <a:gridCol w="1201275"/>
                <a:gridCol w="1201275"/>
                <a:gridCol w="1201275"/>
                <a:gridCol w="1201275"/>
                <a:gridCol w="1201275"/>
              </a:tblGrid>
              <a:tr h="30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Dest MAC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Source</a:t>
                      </a:r>
                      <a:r>
                        <a:rPr lang="en-US" sz="1400" u="none" cap="none" strike="noStrike"/>
                        <a:t> MAC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IP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IP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Dest</a:t>
                      </a:r>
                      <a:r>
                        <a:rPr lang="en-US" sz="1400" u="none" cap="none" strike="noStrike"/>
                        <a:t> Port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Source 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sp>
        <p:nvSpPr>
          <p:cNvPr id="371" name="Google Shape;371;p87"/>
          <p:cNvSpPr/>
          <p:nvPr/>
        </p:nvSpPr>
        <p:spPr>
          <a:xfrm>
            <a:off x="4678567" y="1754099"/>
            <a:ext cx="739367" cy="29277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fference Between NAT and PAT (with Comparison Chart, Advantages and  Disadvantages) - Tech Differences" id="377" name="Google Shape;37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717" y="1066799"/>
            <a:ext cx="5579932" cy="432926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6"/>
          <p:cNvSpPr/>
          <p:nvPr/>
        </p:nvSpPr>
        <p:spPr>
          <a:xfrm>
            <a:off x="6638330" y="2490622"/>
            <a:ext cx="5109091" cy="9541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How many devices share one IP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address</a:t>
            </a:r>
            <a:endParaRPr b="1" i="0" sz="28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6638330" y="3845295"/>
            <a:ext cx="4390946" cy="523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Why do we need to share??</a:t>
            </a:r>
            <a:endParaRPr b="1" i="0" sz="2800" u="none" cap="none" strike="noStrik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Running out of IPv4 Addresses? Here are two options." id="380" name="Google Shape;38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33640" y="4522697"/>
            <a:ext cx="3086463" cy="2091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88"/>
          <p:cNvSpPr txBox="1"/>
          <p:nvPr>
            <p:ph idx="1" type="body"/>
          </p:nvPr>
        </p:nvSpPr>
        <p:spPr>
          <a:xfrm>
            <a:off x="1288367" y="929579"/>
            <a:ext cx="6523221" cy="5683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0070C0"/>
                </a:solidFill>
              </a:rPr>
              <a:t>Two Categories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Private IP addresses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Public  IP addresses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>
              <a:solidFill>
                <a:srgbClr val="7D28CD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7D28CD"/>
                </a:solidFill>
              </a:rPr>
              <a:t>Private IP Addresses: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 sz="2800">
              <a:solidFill>
                <a:srgbClr val="7D28CD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</a:t>
            </a: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inside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homes, offices, universities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Cannot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be used on the internet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Safe and reusable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Assigned manually or via DHCP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Example : </a:t>
            </a: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Separate three IP ranges</a:t>
            </a:r>
            <a:endParaRPr/>
          </a:p>
        </p:txBody>
      </p:sp>
      <p:sp>
        <p:nvSpPr>
          <p:cNvPr id="387" name="Google Shape;387;p88"/>
          <p:cNvSpPr txBox="1"/>
          <p:nvPr>
            <p:ph type="title"/>
          </p:nvPr>
        </p:nvSpPr>
        <p:spPr>
          <a:xfrm>
            <a:off x="1484310" y="162696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Category of IP Addresses</a:t>
            </a:r>
            <a:endParaRPr/>
          </a:p>
        </p:txBody>
      </p:sp>
      <p:pic>
        <p:nvPicPr>
          <p:cNvPr id="388" name="Google Shape;388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Public and Private IP addresses ..." id="389" name="Google Shape;389;p8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and Private IP addresses - Homenet Howto" id="390" name="Google Shape;390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2299" y="4218656"/>
            <a:ext cx="5899701" cy="242002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88"/>
          <p:cNvSpPr txBox="1"/>
          <p:nvPr/>
        </p:nvSpPr>
        <p:spPr>
          <a:xfrm>
            <a:off x="7717804" y="5244002"/>
            <a:ext cx="12151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10.0.0.0/8</a:t>
            </a:r>
            <a:endParaRPr b="1" i="0" sz="18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8"/>
          <p:cNvSpPr txBox="1"/>
          <p:nvPr/>
        </p:nvSpPr>
        <p:spPr>
          <a:xfrm>
            <a:off x="7569769" y="5743936"/>
            <a:ext cx="17309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172.16.0.0/12</a:t>
            </a:r>
            <a:endParaRPr b="1" i="0" sz="18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8"/>
          <p:cNvSpPr txBox="1"/>
          <p:nvPr/>
        </p:nvSpPr>
        <p:spPr>
          <a:xfrm>
            <a:off x="7569769" y="6168608"/>
            <a:ext cx="17309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192.168.0.0/16</a:t>
            </a:r>
            <a:endParaRPr b="1" i="0" sz="18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Category of IP Addresses</a:t>
            </a:r>
            <a:endParaRPr/>
          </a:p>
        </p:txBody>
      </p:sp>
      <p:pic>
        <p:nvPicPr>
          <p:cNvPr id="400" name="Google Shape;4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8"/>
          <p:cNvSpPr txBox="1"/>
          <p:nvPr>
            <p:ph idx="1" type="body"/>
          </p:nvPr>
        </p:nvSpPr>
        <p:spPr>
          <a:xfrm>
            <a:off x="1142565" y="990600"/>
            <a:ext cx="10470315" cy="5683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>
              <a:solidFill>
                <a:srgbClr val="7D28CD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3600">
                <a:solidFill>
                  <a:srgbClr val="7D28CD"/>
                </a:solidFill>
              </a:rPr>
              <a:t>Public IP Addresses: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 sz="3600">
              <a:solidFill>
                <a:srgbClr val="7D28CD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</a:t>
            </a:r>
            <a:r>
              <a:rPr b="1"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on the internet</a:t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Must be unique globally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Provided by ISP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Expensive and limited</a:t>
            </a:r>
            <a:endParaRPr/>
          </a:p>
          <a:p>
            <a:pPr indent="-64769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Example :</a:t>
            </a:r>
            <a:r>
              <a:rPr b="1"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Any IP address not within the above private ranges can be considered a public IP address. </a:t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IP - Free technology icons" id="402" name="Google Shape;4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7787" y="1732005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Public Addresses</a:t>
            </a:r>
            <a:endParaRPr/>
          </a:p>
        </p:txBody>
      </p:sp>
      <p:sp>
        <p:nvSpPr>
          <p:cNvPr id="408" name="Google Shape;408;p27"/>
          <p:cNvSpPr txBox="1"/>
          <p:nvPr>
            <p:ph idx="1" type="body"/>
          </p:nvPr>
        </p:nvSpPr>
        <p:spPr>
          <a:xfrm>
            <a:off x="1484310" y="1242291"/>
            <a:ext cx="10018713" cy="319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Must be unique worldwide</a:t>
            </a:r>
            <a:endParaRPr/>
          </a:p>
          <a:p>
            <a:pPr indent="-1016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Given by ISPs and regulated by global organizations called </a:t>
            </a:r>
            <a:r>
              <a:rPr b="1" lang="en-US" sz="3200">
                <a:solidFill>
                  <a:srgbClr val="7D28CD"/>
                </a:solidFill>
              </a:rPr>
              <a:t>Regional Internet Registries (RIRs).</a:t>
            </a:r>
            <a:endParaRPr/>
          </a:p>
          <a:p>
            <a:pPr indent="-1016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Organizations that owns the public IP can use it on their network.</a:t>
            </a:r>
            <a:endParaRPr/>
          </a:p>
        </p:txBody>
      </p:sp>
      <p:pic>
        <p:nvPicPr>
          <p:cNvPr id="409" name="Google Shape;4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6114" y="4813466"/>
            <a:ext cx="7935515" cy="190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WHY??</a:t>
            </a:r>
            <a:endParaRPr/>
          </a:p>
        </p:txBody>
      </p:sp>
      <p:sp>
        <p:nvSpPr>
          <p:cNvPr id="416" name="Google Shape;416;p29"/>
          <p:cNvSpPr txBox="1"/>
          <p:nvPr>
            <p:ph idx="1" type="body"/>
          </p:nvPr>
        </p:nvSpPr>
        <p:spPr>
          <a:xfrm>
            <a:off x="1484310" y="1392194"/>
            <a:ext cx="10533519" cy="3419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Why categorise into Public and Private IP addresses?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How does using Private IP addresses help us save IP addresses?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Private addresses cannot be routed in the Internet– Do we want this? 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800"/>
          </a:p>
        </p:txBody>
      </p:sp>
      <p:pic>
        <p:nvPicPr>
          <p:cNvPr id="417" name="Google Shape;4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9"/>
          <p:cNvSpPr txBox="1"/>
          <p:nvPr/>
        </p:nvSpPr>
        <p:spPr>
          <a:xfrm>
            <a:off x="2170545" y="5551055"/>
            <a:ext cx="3356196" cy="369291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Private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9"/>
          <p:cNvSpPr txBox="1"/>
          <p:nvPr/>
        </p:nvSpPr>
        <p:spPr>
          <a:xfrm>
            <a:off x="7355541" y="5551014"/>
            <a:ext cx="2590800" cy="369332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Public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29"/>
          <p:cNvCxnSpPr/>
          <p:nvPr/>
        </p:nvCxnSpPr>
        <p:spPr>
          <a:xfrm>
            <a:off x="5654488" y="5623542"/>
            <a:ext cx="15240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50800" rotWithShape="0" algn="tl" dir="2700000" dist="38100">
              <a:srgbClr val="000000">
                <a:alpha val="76862"/>
              </a:srgbClr>
            </a:outerShdw>
          </a:effectLst>
        </p:spPr>
      </p:cxnSp>
      <p:cxnSp>
        <p:nvCxnSpPr>
          <p:cNvPr id="421" name="Google Shape;421;p29"/>
          <p:cNvCxnSpPr/>
          <p:nvPr/>
        </p:nvCxnSpPr>
        <p:spPr>
          <a:xfrm rot="10800000">
            <a:off x="5616388" y="5865151"/>
            <a:ext cx="16002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50800" rotWithShape="0" algn="tl" dir="2700000" dist="38100">
              <a:srgbClr val="000000">
                <a:alpha val="76862"/>
              </a:srgbClr>
            </a:outerShdw>
          </a:effectLst>
        </p:spPr>
      </p:cxnSp>
      <p:sp>
        <p:nvSpPr>
          <p:cNvPr id="422" name="Google Shape;422;p29"/>
          <p:cNvSpPr txBox="1"/>
          <p:nvPr/>
        </p:nvSpPr>
        <p:spPr>
          <a:xfrm>
            <a:off x="5890391" y="6106761"/>
            <a:ext cx="914400" cy="369300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66FF6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Example: NAT; Sending</a:t>
            </a:r>
            <a:endParaRPr/>
          </a:p>
        </p:txBody>
      </p:sp>
      <p:pic>
        <p:nvPicPr>
          <p:cNvPr id="428" name="Google Shape;42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27.jpg" id="429" name="Google Shape;42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1193" y="1605005"/>
            <a:ext cx="8483600" cy="492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28.jpg" id="430" name="Google Shape;43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2193" y="5338805"/>
            <a:ext cx="520700" cy="330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1" name="Google Shape;431;p33"/>
          <p:cNvGraphicFramePr/>
          <p:nvPr/>
        </p:nvGraphicFramePr>
        <p:xfrm>
          <a:off x="3462793" y="54150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676400"/>
                <a:gridCol w="1752600"/>
              </a:tblGrid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209.165.201.1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192.168.10.10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2" name="Google Shape;432;p33"/>
          <p:cNvSpPr txBox="1"/>
          <p:nvPr/>
        </p:nvSpPr>
        <p:spPr>
          <a:xfrm>
            <a:off x="1938793" y="1147805"/>
            <a:ext cx="6324600" cy="646331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R2: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have a packet for the </a:t>
            </a:r>
            <a:r>
              <a:rPr b="1" i="0" lang="en-US" sz="180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outside network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must translate the IP address.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3" name="Google Shape;433;p33"/>
          <p:cNvGrpSpPr/>
          <p:nvPr/>
        </p:nvGrpSpPr>
        <p:grpSpPr>
          <a:xfrm>
            <a:off x="3843793" y="2824205"/>
            <a:ext cx="4978400" cy="2209800"/>
            <a:chOff x="2133600" y="2590800"/>
            <a:chExt cx="4978400" cy="2209800"/>
          </a:xfrm>
        </p:grpSpPr>
        <p:pic>
          <p:nvPicPr>
            <p:cNvPr descr="ips29.jpg" id="434" name="Google Shape;434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133600" y="3429000"/>
              <a:ext cx="4978400" cy="1371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35" name="Google Shape;435;p33"/>
            <p:cNvCxnSpPr/>
            <p:nvPr/>
          </p:nvCxnSpPr>
          <p:spPr>
            <a:xfrm rot="5400000">
              <a:off x="2971800" y="2819400"/>
              <a:ext cx="1066800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6862"/>
                </a:srgbClr>
              </a:outerShdw>
            </a:effectLst>
          </p:spPr>
        </p:cxnSp>
      </p:grpSp>
      <p:grpSp>
        <p:nvGrpSpPr>
          <p:cNvPr id="436" name="Google Shape;436;p33"/>
          <p:cNvGrpSpPr/>
          <p:nvPr/>
        </p:nvGrpSpPr>
        <p:grpSpPr>
          <a:xfrm>
            <a:off x="3996193" y="4424405"/>
            <a:ext cx="2895600" cy="457200"/>
            <a:chOff x="2286000" y="4191000"/>
            <a:chExt cx="2895600" cy="457200"/>
          </a:xfrm>
        </p:grpSpPr>
        <p:sp>
          <p:nvSpPr>
            <p:cNvPr id="437" name="Google Shape;437;p33"/>
            <p:cNvSpPr/>
            <p:nvPr/>
          </p:nvSpPr>
          <p:spPr>
            <a:xfrm>
              <a:off x="2286000" y="4343400"/>
              <a:ext cx="1143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3"/>
            <p:cNvSpPr/>
            <p:nvPr/>
          </p:nvSpPr>
          <p:spPr>
            <a:xfrm>
              <a:off x="3810000" y="4343400"/>
              <a:ext cx="13716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9" name="Google Shape;439;p33"/>
            <p:cNvCxnSpPr/>
            <p:nvPr/>
          </p:nvCxnSpPr>
          <p:spPr>
            <a:xfrm>
              <a:off x="3200400" y="4191000"/>
              <a:ext cx="6096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6862"/>
                </a:srgbClr>
              </a:outerShdw>
            </a:effectLst>
          </p:spPr>
        </p:cxnSp>
      </p:grpSp>
      <p:grpSp>
        <p:nvGrpSpPr>
          <p:cNvPr id="440" name="Google Shape;440;p33"/>
          <p:cNvGrpSpPr/>
          <p:nvPr/>
        </p:nvGrpSpPr>
        <p:grpSpPr>
          <a:xfrm>
            <a:off x="4758193" y="4576805"/>
            <a:ext cx="3505200" cy="990600"/>
            <a:chOff x="3048000" y="4343400"/>
            <a:chExt cx="3505200" cy="990600"/>
          </a:xfrm>
        </p:grpSpPr>
        <p:sp>
          <p:nvSpPr>
            <p:cNvPr id="441" name="Google Shape;441;p33"/>
            <p:cNvSpPr/>
            <p:nvPr/>
          </p:nvSpPr>
          <p:spPr>
            <a:xfrm>
              <a:off x="5410200" y="4343400"/>
              <a:ext cx="1143000" cy="304800"/>
            </a:xfrm>
            <a:prstGeom prst="rect">
              <a:avLst/>
            </a:prstGeom>
            <a:noFill/>
            <a:ln cap="flat" cmpd="sng" w="381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2" name="Google Shape;442;p33"/>
            <p:cNvCxnSpPr/>
            <p:nvPr/>
          </p:nvCxnSpPr>
          <p:spPr>
            <a:xfrm flipH="1" rot="10800000">
              <a:off x="3048000" y="4724400"/>
              <a:ext cx="2590800" cy="609600"/>
            </a:xfrm>
            <a:prstGeom prst="straightConnector1">
              <a:avLst/>
            </a:prstGeom>
            <a:noFill/>
            <a:ln cap="flat" cmpd="sng" w="50800">
              <a:solidFill>
                <a:srgbClr val="0070C0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6862"/>
                </a:srgbClr>
              </a:outerShdw>
            </a:effectLst>
          </p:spPr>
        </p:cxnSp>
      </p:grpSp>
      <p:graphicFrame>
        <p:nvGraphicFramePr>
          <p:cNvPr id="443" name="Google Shape;443;p33"/>
          <p:cNvGraphicFramePr/>
          <p:nvPr/>
        </p:nvGraphicFramePr>
        <p:xfrm>
          <a:off x="5596393" y="29004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676400"/>
                <a:gridCol w="1752600"/>
              </a:tblGrid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209.165.201.1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209.165.200.226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4" name="Google Shape;444;p33"/>
          <p:cNvSpPr txBox="1"/>
          <p:nvPr/>
        </p:nvSpPr>
        <p:spPr>
          <a:xfrm>
            <a:off x="5824993" y="2138405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ps28.jpg" id="445" name="Google Shape;44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0193" y="2484848"/>
            <a:ext cx="520700" cy="3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Example: NAT; Receiving</a:t>
            </a:r>
            <a:endParaRPr/>
          </a:p>
        </p:txBody>
      </p:sp>
      <p:pic>
        <p:nvPicPr>
          <p:cNvPr id="451" name="Google Shape;45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27.jpg" id="452" name="Google Shape;45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1165" y="1465729"/>
            <a:ext cx="8483600" cy="492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28.jpg" id="453" name="Google Shape;45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06965" y="4510876"/>
            <a:ext cx="520700" cy="330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4" name="Google Shape;454;p34"/>
          <p:cNvGraphicFramePr/>
          <p:nvPr/>
        </p:nvGraphicFramePr>
        <p:xfrm>
          <a:off x="7019365" y="54281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713650"/>
                <a:gridCol w="1791550"/>
              </a:tblGrid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209.165.200.226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209.165.201.1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5" name="Google Shape;455;p34"/>
          <p:cNvSpPr txBox="1"/>
          <p:nvPr/>
        </p:nvSpPr>
        <p:spPr>
          <a:xfrm>
            <a:off x="2218765" y="1008529"/>
            <a:ext cx="6324600" cy="646331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66FF6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R2: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have a packet for the </a:t>
            </a:r>
            <a:r>
              <a:rPr b="1" i="0" lang="en-US" sz="180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inside network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must translate the IP address.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6" name="Google Shape;456;p34"/>
          <p:cNvGrpSpPr/>
          <p:nvPr/>
        </p:nvGrpSpPr>
        <p:grpSpPr>
          <a:xfrm>
            <a:off x="4123765" y="2684929"/>
            <a:ext cx="4978400" cy="2209800"/>
            <a:chOff x="2133600" y="2590800"/>
            <a:chExt cx="4978400" cy="2209800"/>
          </a:xfrm>
        </p:grpSpPr>
        <p:pic>
          <p:nvPicPr>
            <p:cNvPr descr="ips29.jpg" id="457" name="Google Shape;457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133600" y="3429000"/>
              <a:ext cx="4978400" cy="1371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58" name="Google Shape;458;p34"/>
            <p:cNvCxnSpPr/>
            <p:nvPr/>
          </p:nvCxnSpPr>
          <p:spPr>
            <a:xfrm rot="5400000">
              <a:off x="2971800" y="2819400"/>
              <a:ext cx="1066800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6862"/>
                </a:srgbClr>
              </a:outerShdw>
            </a:effectLst>
          </p:spPr>
        </p:cxnSp>
      </p:grpSp>
      <p:graphicFrame>
        <p:nvGraphicFramePr>
          <p:cNvPr id="459" name="Google Shape;459;p34"/>
          <p:cNvGraphicFramePr/>
          <p:nvPr/>
        </p:nvGraphicFramePr>
        <p:xfrm>
          <a:off x="2218765" y="19991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{65C4A9B5-D753-4CA7-BFB1-70B483EE8344}</a:tableStyleId>
              </a:tblPr>
              <a:tblGrid>
                <a:gridCol w="1676400"/>
                <a:gridCol w="1752600"/>
              </a:tblGrid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192.168.10.10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209.165.201.1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0" name="Google Shape;460;p34"/>
          <p:cNvSpPr/>
          <p:nvPr/>
        </p:nvSpPr>
        <p:spPr>
          <a:xfrm>
            <a:off x="7400365" y="4437529"/>
            <a:ext cx="1143000" cy="304800"/>
          </a:xfrm>
          <a:prstGeom prst="rect">
            <a:avLst/>
          </a:prstGeom>
          <a:noFill/>
          <a:ln cap="flat" cmpd="sng" w="38100">
            <a:solidFill>
              <a:srgbClr val="66FF6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1" name="Google Shape;461;p34"/>
          <p:cNvGrpSpPr/>
          <p:nvPr/>
        </p:nvGrpSpPr>
        <p:grpSpPr>
          <a:xfrm>
            <a:off x="4276165" y="4208929"/>
            <a:ext cx="2895600" cy="533400"/>
            <a:chOff x="2286000" y="4114800"/>
            <a:chExt cx="2895600" cy="533400"/>
          </a:xfrm>
        </p:grpSpPr>
        <p:sp>
          <p:nvSpPr>
            <p:cNvPr id="462" name="Google Shape;462;p34"/>
            <p:cNvSpPr/>
            <p:nvPr/>
          </p:nvSpPr>
          <p:spPr>
            <a:xfrm>
              <a:off x="2286000" y="4343400"/>
              <a:ext cx="12192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3" name="Google Shape;463;p34"/>
            <p:cNvCxnSpPr/>
            <p:nvPr/>
          </p:nvCxnSpPr>
          <p:spPr>
            <a:xfrm rot="10800000">
              <a:off x="3048000" y="4114800"/>
              <a:ext cx="7620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6862"/>
                </a:srgbClr>
              </a:outerShdw>
            </a:effectLst>
          </p:spPr>
        </p:cxnSp>
        <p:sp>
          <p:nvSpPr>
            <p:cNvPr id="464" name="Google Shape;464;p34"/>
            <p:cNvSpPr/>
            <p:nvPr/>
          </p:nvSpPr>
          <p:spPr>
            <a:xfrm>
              <a:off x="3810000" y="4343400"/>
              <a:ext cx="13716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34"/>
          <p:cNvSpPr txBox="1"/>
          <p:nvPr/>
        </p:nvSpPr>
        <p:spPr>
          <a:xfrm>
            <a:off x="6104965" y="1999129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ps28.jpg" id="466" name="Google Shape;46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9266" y="2501291"/>
            <a:ext cx="520700" cy="3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Advantages of NAT</a:t>
            </a:r>
            <a:endParaRPr/>
          </a:p>
        </p:txBody>
      </p:sp>
      <p:sp>
        <p:nvSpPr>
          <p:cNvPr id="472" name="Google Shape;472;p35"/>
          <p:cNvSpPr txBox="1"/>
          <p:nvPr>
            <p:ph idx="1" type="body"/>
          </p:nvPr>
        </p:nvSpPr>
        <p:spPr>
          <a:xfrm>
            <a:off x="974857" y="1392194"/>
            <a:ext cx="10707691" cy="399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Helps save </a:t>
            </a:r>
            <a:r>
              <a:rPr b="1"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official IP addresses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Keeps internal network settings </a:t>
            </a:r>
            <a:r>
              <a:rPr b="1" lang="en-US" sz="36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consistent</a:t>
            </a:r>
            <a:r>
              <a:rPr b="1"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</a:t>
            </a:r>
            <a:r>
              <a:rPr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even when public IP configurations change.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keeps user and </a:t>
            </a:r>
            <a:r>
              <a:rPr b="1" lang="en-US" sz="36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device IPs private</a:t>
            </a:r>
            <a:r>
              <a:rPr lang="en-US" sz="36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the outside internet, enhancing security. </a:t>
            </a:r>
            <a:endParaRPr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pic>
        <p:nvPicPr>
          <p:cNvPr id="473" name="Google Shape;47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Disadvantages of NAT</a:t>
            </a:r>
            <a:endParaRPr/>
          </a:p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1429381" y="1392194"/>
            <a:ext cx="10128570" cy="3885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4000"/>
              <a:t>NAT </a:t>
            </a:r>
            <a:r>
              <a:rPr b="1" lang="en-US" sz="4000">
                <a:solidFill>
                  <a:srgbClr val="7030A0"/>
                </a:solidFill>
              </a:rPr>
              <a:t>increases</a:t>
            </a:r>
            <a:r>
              <a:rPr b="1" lang="en-US" sz="4000"/>
              <a:t> delays</a:t>
            </a:r>
            <a:r>
              <a:rPr lang="en-US" sz="4000"/>
              <a:t>.</a:t>
            </a:r>
            <a:endParaRPr sz="40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4000"/>
              <a:t>End-to-end </a:t>
            </a:r>
            <a:r>
              <a:rPr b="1" lang="en-US" sz="4000"/>
              <a:t>IPv4 </a:t>
            </a:r>
            <a:r>
              <a:rPr b="1" lang="en-US" sz="4000">
                <a:solidFill>
                  <a:srgbClr val="7030A0"/>
                </a:solidFill>
              </a:rPr>
              <a:t>traceability </a:t>
            </a:r>
            <a:r>
              <a:rPr b="1" lang="en-US" sz="4000"/>
              <a:t>is lost</a:t>
            </a:r>
            <a:r>
              <a:rPr lang="en-US" sz="4000"/>
              <a:t>.</a:t>
            </a:r>
            <a:endParaRPr sz="40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4000">
                <a:solidFill>
                  <a:srgbClr val="7030A0"/>
                </a:solidFill>
              </a:rPr>
              <a:t>Can cause problems</a:t>
            </a:r>
            <a:r>
              <a:rPr b="1" lang="en-US" sz="4000"/>
              <a:t> for some protocols</a:t>
            </a:r>
            <a:r>
              <a:rPr lang="en-US" sz="4000"/>
              <a:t>, such as Ipsec, VPN</a:t>
            </a:r>
            <a:endParaRPr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40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32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480" name="Google Shape;48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6"/>
          <p:cNvSpPr/>
          <p:nvPr/>
        </p:nvSpPr>
        <p:spPr>
          <a:xfrm>
            <a:off x="2170835" y="4865105"/>
            <a:ext cx="7534868" cy="7078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Main issue</a:t>
            </a:r>
            <a:r>
              <a:rPr b="0" i="0" lang="en-US" sz="4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not </a:t>
            </a:r>
            <a:r>
              <a:rPr b="1" i="0" lang="en-US" sz="40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7"/>
          <p:cNvSpPr txBox="1"/>
          <p:nvPr>
            <p:ph type="title"/>
          </p:nvPr>
        </p:nvSpPr>
        <p:spPr>
          <a:xfrm>
            <a:off x="1288367" y="1514115"/>
            <a:ext cx="10018713" cy="2391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PAT (NAT Overload)</a:t>
            </a:r>
            <a:endParaRPr/>
          </a:p>
        </p:txBody>
      </p:sp>
      <p:pic>
        <p:nvPicPr>
          <p:cNvPr id="487" name="Google Shape;48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9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Overload (PAT)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3" name="Google Shape;493;p89"/>
          <p:cNvSpPr txBox="1"/>
          <p:nvPr>
            <p:ph idx="1" type="body"/>
          </p:nvPr>
        </p:nvSpPr>
        <p:spPr>
          <a:xfrm>
            <a:off x="1358538" y="838199"/>
            <a:ext cx="10528662" cy="5601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b="1" lang="en-US" sz="36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Port Address Translation (PAT) = </a:t>
            </a:r>
            <a:r>
              <a:rPr lang="en-US" sz="3600"/>
              <a:t> </a:t>
            </a:r>
            <a:r>
              <a:rPr b="1" lang="en-US" sz="3600">
                <a:solidFill>
                  <a:srgbClr val="0070C0"/>
                </a:solidFill>
              </a:rPr>
              <a:t>Real-world NAT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Allows </a:t>
            </a:r>
            <a:r>
              <a:rPr b="1" lang="en-US" sz="3200">
                <a:solidFill>
                  <a:srgbClr val="0070C0"/>
                </a:solidFill>
              </a:rPr>
              <a:t>many devices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to share </a:t>
            </a:r>
            <a:r>
              <a:rPr b="1" lang="en-US" sz="3200">
                <a:solidFill>
                  <a:srgbClr val="7D28CD"/>
                </a:solidFill>
              </a:rPr>
              <a:t>one public IP</a:t>
            </a:r>
            <a:endParaRPr sz="3200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Uses </a:t>
            </a:r>
            <a:r>
              <a:rPr b="1" lang="en-US" sz="3200">
                <a:solidFill>
                  <a:srgbClr val="0070C0"/>
                </a:solidFill>
              </a:rPr>
              <a:t>port numbers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to differentiate the devices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Router keeps a table:</a:t>
            </a:r>
            <a:endParaRPr/>
          </a:p>
          <a:p>
            <a:pPr indent="0" lvl="0" marL="1143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	Private IP + Port → Public IP + New Port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Each connection becomes </a:t>
            </a:r>
            <a:r>
              <a:rPr b="1" lang="en-US" sz="3200">
                <a:solidFill>
                  <a:srgbClr val="7D28CD"/>
                </a:solidFill>
              </a:rPr>
              <a:t>unique</a:t>
            </a:r>
            <a:r>
              <a:rPr lang="en-US" sz="3200"/>
              <a:t> because of the port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PAT </a:t>
            </a:r>
            <a:r>
              <a:rPr b="1" lang="en-US" sz="3200">
                <a:solidFill>
                  <a:srgbClr val="0070C0"/>
                </a:solidFill>
              </a:rPr>
              <a:t>changes</a:t>
            </a:r>
            <a:r>
              <a:rPr lang="en-US" sz="3200"/>
              <a:t> both the </a:t>
            </a:r>
            <a:r>
              <a:rPr b="1" lang="en-US" sz="3200">
                <a:solidFill>
                  <a:srgbClr val="7D28CD"/>
                </a:solidFill>
              </a:rPr>
              <a:t>IP address </a:t>
            </a:r>
            <a:r>
              <a:rPr i="1" lang="en-US" sz="3200"/>
              <a:t>and</a:t>
            </a:r>
            <a:r>
              <a:rPr lang="en-US" sz="3200"/>
              <a:t> the </a:t>
            </a:r>
            <a:r>
              <a:rPr b="1" lang="en-US" sz="3200">
                <a:solidFill>
                  <a:srgbClr val="7D28CD"/>
                </a:solidFill>
              </a:rPr>
              <a:t>port number</a:t>
            </a:r>
            <a:r>
              <a:rPr lang="en-US" sz="3200"/>
              <a:t>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90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4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Operation</a:t>
            </a:r>
            <a:endParaRPr sz="6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ips30.jpg" id="499" name="Google Shape;499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676400"/>
            <a:ext cx="88138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0"/>
          <p:cNvSpPr txBox="1"/>
          <p:nvPr/>
        </p:nvSpPr>
        <p:spPr>
          <a:xfrm>
            <a:off x="6096000" y="1752601"/>
            <a:ext cx="19050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1" name="Google Shape;501;p90"/>
          <p:cNvCxnSpPr/>
          <p:nvPr/>
        </p:nvCxnSpPr>
        <p:spPr>
          <a:xfrm rot="5400000">
            <a:off x="6154738" y="2459037"/>
            <a:ext cx="1292225" cy="4953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63500" dir="2700000" dist="38100">
              <a:srgbClr val="000000">
                <a:alpha val="77254"/>
              </a:srgbClr>
            </a:outerShdw>
          </a:effectLst>
        </p:spPr>
      </p:cxnSp>
      <p:graphicFrame>
        <p:nvGraphicFramePr>
          <p:cNvPr id="502" name="Google Shape;502;p90"/>
          <p:cNvGraphicFramePr/>
          <p:nvPr/>
        </p:nvGraphicFramePr>
        <p:xfrm>
          <a:off x="4191001" y="281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2020875"/>
                <a:gridCol w="18653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209.165.200.226:1555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3" name="Google Shape;503;p90"/>
          <p:cNvGraphicFramePr/>
          <p:nvPr/>
        </p:nvGraphicFramePr>
        <p:xfrm>
          <a:off x="2514601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2020875"/>
                <a:gridCol w="18653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192.168.10.10:1555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Google Shape;504;p90"/>
          <p:cNvGraphicFramePr/>
          <p:nvPr/>
        </p:nvGraphicFramePr>
        <p:xfrm>
          <a:off x="2590800" y="472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1981200"/>
                <a:gridCol w="19050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192.168.10.11:1331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pSp>
        <p:nvGrpSpPr>
          <p:cNvPr id="505" name="Google Shape;505;p90"/>
          <p:cNvGrpSpPr/>
          <p:nvPr/>
        </p:nvGrpSpPr>
        <p:grpSpPr>
          <a:xfrm>
            <a:off x="2667000" y="3581400"/>
            <a:ext cx="7035800" cy="3111500"/>
            <a:chOff x="1143000" y="3581400"/>
            <a:chExt cx="7035800" cy="3111500"/>
          </a:xfrm>
        </p:grpSpPr>
        <p:pic>
          <p:nvPicPr>
            <p:cNvPr descr="ips31.jpg" id="506" name="Google Shape;506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3000" y="5334000"/>
              <a:ext cx="7035800" cy="13589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07" name="Google Shape;507;p90"/>
            <p:cNvCxnSpPr/>
            <p:nvPr/>
          </p:nvCxnSpPr>
          <p:spPr>
            <a:xfrm rot="5400000">
              <a:off x="3543300" y="4610100"/>
              <a:ext cx="20574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2700000" dist="38100">
                <a:srgbClr val="000000">
                  <a:alpha val="77254"/>
                </a:srgbClr>
              </a:outerShdw>
            </a:effectLst>
          </p:spPr>
        </p:cxnSp>
      </p:grpSp>
      <p:graphicFrame>
        <p:nvGraphicFramePr>
          <p:cNvPr id="508" name="Google Shape;508;p90"/>
          <p:cNvGraphicFramePr/>
          <p:nvPr/>
        </p:nvGraphicFramePr>
        <p:xfrm>
          <a:off x="4191000" y="358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1981200"/>
                <a:gridCol w="19050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209.165.200.226:1331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pSp>
        <p:nvGrpSpPr>
          <p:cNvPr id="509" name="Google Shape;509;p90"/>
          <p:cNvGrpSpPr/>
          <p:nvPr/>
        </p:nvGrpSpPr>
        <p:grpSpPr>
          <a:xfrm>
            <a:off x="2819400" y="5791200"/>
            <a:ext cx="4191000" cy="762000"/>
            <a:chOff x="1295400" y="5791200"/>
            <a:chExt cx="4191000" cy="762000"/>
          </a:xfrm>
        </p:grpSpPr>
        <p:sp>
          <p:nvSpPr>
            <p:cNvPr id="510" name="Google Shape;510;p90"/>
            <p:cNvSpPr txBox="1"/>
            <p:nvPr/>
          </p:nvSpPr>
          <p:spPr>
            <a:xfrm>
              <a:off x="1295400" y="5791200"/>
              <a:ext cx="4191000" cy="7620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dir="2700000" dist="38100">
                <a:srgbClr val="000000">
                  <a:alpha val="3921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1" name="Google Shape;511;p90"/>
            <p:cNvCxnSpPr/>
            <p:nvPr/>
          </p:nvCxnSpPr>
          <p:spPr>
            <a:xfrm>
              <a:off x="2895600" y="6324600"/>
              <a:ext cx="6096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med" w="med" type="triangle"/>
              <a:tailEnd len="med" w="med" type="triangle"/>
            </a:ln>
            <a:effectLst>
              <a:outerShdw blurRad="63500" dir="2700000" dist="38100">
                <a:srgbClr val="000000">
                  <a:alpha val="77254"/>
                </a:srgbClr>
              </a:outerShdw>
            </a:effectLst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ps30.jpg" id="516" name="Google Shape;516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676400"/>
            <a:ext cx="88138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91"/>
          <p:cNvSpPr txBox="1"/>
          <p:nvPr/>
        </p:nvSpPr>
        <p:spPr>
          <a:xfrm>
            <a:off x="6096000" y="1752601"/>
            <a:ext cx="19050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8" name="Google Shape;518;p91"/>
          <p:cNvCxnSpPr/>
          <p:nvPr/>
        </p:nvCxnSpPr>
        <p:spPr>
          <a:xfrm rot="5400000">
            <a:off x="6154738" y="2459037"/>
            <a:ext cx="1292225" cy="4953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63500" dir="2700000" dist="38100">
              <a:srgbClr val="000000">
                <a:alpha val="77254"/>
              </a:srgbClr>
            </a:outerShdw>
          </a:effectLst>
        </p:spPr>
      </p:cxnSp>
      <p:graphicFrame>
        <p:nvGraphicFramePr>
          <p:cNvPr id="519" name="Google Shape;519;p91"/>
          <p:cNvGraphicFramePr/>
          <p:nvPr/>
        </p:nvGraphicFramePr>
        <p:xfrm>
          <a:off x="4114801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2020875"/>
                <a:gridCol w="18653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192.168.10.10:1555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0" name="Google Shape;520;p91"/>
          <p:cNvGraphicFramePr/>
          <p:nvPr/>
        </p:nvGraphicFramePr>
        <p:xfrm>
          <a:off x="6477001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1871650"/>
                <a:gridCol w="20145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209.165.200.226:1555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1" name="Google Shape;521;p91"/>
          <p:cNvGraphicFramePr/>
          <p:nvPr/>
        </p:nvGraphicFramePr>
        <p:xfrm>
          <a:off x="41148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1981200"/>
                <a:gridCol w="19050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192.168.10.11:1331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2" name="Google Shape;522;p91"/>
          <p:cNvGraphicFramePr/>
          <p:nvPr/>
        </p:nvGraphicFramePr>
        <p:xfrm>
          <a:off x="6477000" y="464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{1C888EB1-34AB-4A5A-A9AA-C63EC1D4F984}</a:tableStyleId>
              </a:tblPr>
              <a:tblGrid>
                <a:gridCol w="1905000"/>
                <a:gridCol w="19812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209.165.200.226:1331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pSp>
        <p:nvGrpSpPr>
          <p:cNvPr id="523" name="Google Shape;523;p91"/>
          <p:cNvGrpSpPr/>
          <p:nvPr/>
        </p:nvGrpSpPr>
        <p:grpSpPr>
          <a:xfrm>
            <a:off x="2667000" y="3581400"/>
            <a:ext cx="7035800" cy="3111500"/>
            <a:chOff x="1143000" y="3581400"/>
            <a:chExt cx="7035800" cy="3111500"/>
          </a:xfrm>
        </p:grpSpPr>
        <p:pic>
          <p:nvPicPr>
            <p:cNvPr descr="ips31.jpg" id="524" name="Google Shape;524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3000" y="5334000"/>
              <a:ext cx="7035800" cy="13589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25" name="Google Shape;525;p91"/>
            <p:cNvCxnSpPr/>
            <p:nvPr/>
          </p:nvCxnSpPr>
          <p:spPr>
            <a:xfrm rot="5400000">
              <a:off x="3543300" y="4610100"/>
              <a:ext cx="20574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2700000" dist="38100">
                <a:srgbClr val="000000">
                  <a:alpha val="77254"/>
                </a:srgbClr>
              </a:outerShdw>
            </a:effectLst>
          </p:spPr>
        </p:cxnSp>
      </p:grpSp>
      <p:grpSp>
        <p:nvGrpSpPr>
          <p:cNvPr id="526" name="Google Shape;526;p91"/>
          <p:cNvGrpSpPr/>
          <p:nvPr/>
        </p:nvGrpSpPr>
        <p:grpSpPr>
          <a:xfrm>
            <a:off x="4419600" y="5791200"/>
            <a:ext cx="5105400" cy="762000"/>
            <a:chOff x="2895600" y="5791200"/>
            <a:chExt cx="5105400" cy="762000"/>
          </a:xfrm>
        </p:grpSpPr>
        <p:sp>
          <p:nvSpPr>
            <p:cNvPr id="527" name="Google Shape;527;p91"/>
            <p:cNvSpPr txBox="1"/>
            <p:nvPr/>
          </p:nvSpPr>
          <p:spPr>
            <a:xfrm>
              <a:off x="3505200" y="5791200"/>
              <a:ext cx="4495800" cy="7620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dir="2700000" dist="38100">
                <a:srgbClr val="000000">
                  <a:alpha val="3921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8" name="Google Shape;528;p91"/>
            <p:cNvCxnSpPr/>
            <p:nvPr/>
          </p:nvCxnSpPr>
          <p:spPr>
            <a:xfrm>
              <a:off x="2895600" y="6324600"/>
              <a:ext cx="6096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med" w="med" type="triangle"/>
              <a:tailEnd len="med" w="med" type="triangle"/>
            </a:ln>
            <a:effectLst>
              <a:outerShdw blurRad="63500" dir="2700000" dist="38100">
                <a:srgbClr val="000000">
                  <a:alpha val="77254"/>
                </a:srgbClr>
              </a:outerShdw>
            </a:effectLst>
          </p:spPr>
        </p:cxnSp>
      </p:grpSp>
      <p:sp>
        <p:nvSpPr>
          <p:cNvPr id="529" name="Google Shape;529;p91"/>
          <p:cNvSpPr txBox="1"/>
          <p:nvPr/>
        </p:nvSpPr>
        <p:spPr>
          <a:xfrm>
            <a:off x="1765300" y="94353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Corbel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Operation</a:t>
            </a:r>
            <a:endParaRPr b="0" i="0" sz="6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2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Operation</a:t>
            </a:r>
            <a:endParaRPr sz="4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5" name="Google Shape;535;p92"/>
          <p:cNvSpPr txBox="1"/>
          <p:nvPr>
            <p:ph idx="1" type="body"/>
          </p:nvPr>
        </p:nvSpPr>
        <p:spPr>
          <a:xfrm>
            <a:off x="1676400" y="11430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1" i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NEXT AVAILABLE PORT NUMBER</a:t>
            </a:r>
            <a:endParaRPr b="1">
              <a:solidFill>
                <a:srgbClr val="0070C0"/>
              </a:solidFill>
            </a:endParaRPr>
          </a:p>
        </p:txBody>
      </p:sp>
      <p:pic>
        <p:nvPicPr>
          <p:cNvPr descr="ips32.jpg" id="536" name="Google Shape;53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2057400"/>
            <a:ext cx="8839200" cy="403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7" name="Google Shape;537;p92"/>
          <p:cNvGrpSpPr/>
          <p:nvPr/>
        </p:nvGrpSpPr>
        <p:grpSpPr>
          <a:xfrm>
            <a:off x="2743200" y="3810001"/>
            <a:ext cx="2057400" cy="579437"/>
            <a:chOff x="1219200" y="3810000"/>
            <a:chExt cx="2057400" cy="579864"/>
          </a:xfrm>
        </p:grpSpPr>
        <p:pic>
          <p:nvPicPr>
            <p:cNvPr descr="ips28.jpg" id="538" name="Google Shape;538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52600" y="3810000"/>
              <a:ext cx="914400" cy="579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92"/>
            <p:cNvSpPr txBox="1"/>
            <p:nvPr/>
          </p:nvSpPr>
          <p:spPr>
            <a:xfrm>
              <a:off x="1219200" y="3962512"/>
              <a:ext cx="2057400" cy="338387"/>
            </a:xfrm>
            <a:prstGeom prst="rect">
              <a:avLst/>
            </a:prstGeom>
            <a:solidFill>
              <a:srgbClr val="ADAD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192.168.10.11:1444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0" name="Google Shape;540;p92"/>
          <p:cNvGrpSpPr/>
          <p:nvPr/>
        </p:nvGrpSpPr>
        <p:grpSpPr>
          <a:xfrm>
            <a:off x="2743200" y="4876801"/>
            <a:ext cx="2057400" cy="579437"/>
            <a:chOff x="1219200" y="3810000"/>
            <a:chExt cx="2057400" cy="579864"/>
          </a:xfrm>
        </p:grpSpPr>
        <p:pic>
          <p:nvPicPr>
            <p:cNvPr descr="ips28.jpg" id="541" name="Google Shape;541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52600" y="3810000"/>
              <a:ext cx="914400" cy="579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2" name="Google Shape;542;p92"/>
            <p:cNvSpPr txBox="1"/>
            <p:nvPr/>
          </p:nvSpPr>
          <p:spPr>
            <a:xfrm>
              <a:off x="1219200" y="3962512"/>
              <a:ext cx="2057400" cy="338387"/>
            </a:xfrm>
            <a:prstGeom prst="rect">
              <a:avLst/>
            </a:prstGeom>
            <a:solidFill>
              <a:srgbClr val="ADAD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192.168.10.12:1444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ps33.jpg" id="543" name="Google Shape;543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0" y="5122025"/>
            <a:ext cx="51435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92"/>
          <p:cNvSpPr txBox="1"/>
          <p:nvPr/>
        </p:nvSpPr>
        <p:spPr>
          <a:xfrm>
            <a:off x="5486400" y="6019800"/>
            <a:ext cx="4267200" cy="1524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5" name="Google Shape;545;p92"/>
          <p:cNvCxnSpPr/>
          <p:nvPr/>
        </p:nvCxnSpPr>
        <p:spPr>
          <a:xfrm flipH="1" rot="-5400000">
            <a:off x="6134100" y="4000500"/>
            <a:ext cx="1295400" cy="12192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63500" dir="2700000" dist="38100">
              <a:srgbClr val="000000">
                <a:alpha val="77254"/>
              </a:srgbClr>
            </a:outerShdw>
          </a:effectLst>
        </p:spPr>
      </p:cxnSp>
      <p:sp>
        <p:nvSpPr>
          <p:cNvPr id="546" name="Google Shape;546;p92"/>
          <p:cNvSpPr txBox="1"/>
          <p:nvPr/>
        </p:nvSpPr>
        <p:spPr>
          <a:xfrm>
            <a:off x="5410200" y="5715000"/>
            <a:ext cx="4267200" cy="30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92"/>
          <p:cNvSpPr txBox="1"/>
          <p:nvPr/>
        </p:nvSpPr>
        <p:spPr>
          <a:xfrm>
            <a:off x="7848600" y="5638800"/>
            <a:ext cx="1905000" cy="68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Packets without Ports</a:t>
            </a:r>
            <a:endParaRPr/>
          </a:p>
        </p:txBody>
      </p:sp>
      <p:sp>
        <p:nvSpPr>
          <p:cNvPr id="553" name="Google Shape;553;p40"/>
          <p:cNvSpPr txBox="1"/>
          <p:nvPr>
            <p:ph idx="1" type="body"/>
          </p:nvPr>
        </p:nvSpPr>
        <p:spPr>
          <a:xfrm>
            <a:off x="1400286" y="1275816"/>
            <a:ext cx="10186760" cy="4589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Some protocols (like </a:t>
            </a:r>
            <a:r>
              <a:rPr b="1" lang="en-US" sz="32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ICMP</a:t>
            </a: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) do </a:t>
            </a:r>
            <a:r>
              <a:rPr b="1" lang="en-US" sz="3200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not</a:t>
            </a: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have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TCP/UDP port numbers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048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still needs a way to identify each connection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048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ICMP uses a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Query ID</a:t>
            </a:r>
            <a:r>
              <a:rPr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match request  reply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048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uses this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Query ID </a:t>
            </a: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same way it uses port numbers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554" name="Google Shape;55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5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Port Forwarding</a:t>
            </a:r>
            <a:endParaRPr/>
          </a:p>
        </p:txBody>
      </p:sp>
      <p:pic>
        <p:nvPicPr>
          <p:cNvPr id="560" name="Google Shape;56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1063" y="3161147"/>
            <a:ext cx="5316039" cy="299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9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Forwarding</a:t>
            </a:r>
            <a:endParaRPr/>
          </a:p>
        </p:txBody>
      </p:sp>
      <p:sp>
        <p:nvSpPr>
          <p:cNvPr id="567" name="Google Shape;567;p93"/>
          <p:cNvSpPr txBox="1"/>
          <p:nvPr>
            <p:ph idx="1" type="body"/>
          </p:nvPr>
        </p:nvSpPr>
        <p:spPr>
          <a:xfrm>
            <a:off x="1290346" y="1406048"/>
            <a:ext cx="10486018" cy="1888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4362"/>
              <a:buChar char="•"/>
            </a:pPr>
            <a:r>
              <a:rPr lang="en-US" sz="2800"/>
              <a:t>Sometimes  we need access to services hosted on private IP addresses (like home security cameras or personal web servers) </a:t>
            </a:r>
            <a:r>
              <a:rPr b="1" lang="en-US" sz="2800">
                <a:solidFill>
                  <a:srgbClr val="7030A0"/>
                </a:solidFill>
              </a:rPr>
              <a:t>from the internet.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4362"/>
              <a:buNone/>
            </a:pPr>
            <a:r>
              <a:t/>
            </a:r>
            <a:endParaRPr sz="28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4362"/>
              <a:buChar char="•"/>
            </a:pPr>
            <a:r>
              <a:rPr lang="en-US" sz="2800"/>
              <a:t>Can we do that?? Why? Why not?</a:t>
            </a:r>
            <a:endParaRPr/>
          </a:p>
        </p:txBody>
      </p:sp>
      <p:pic>
        <p:nvPicPr>
          <p:cNvPr id="568" name="Google Shape;568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rt Forwarding Example" id="569" name="Google Shape;569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3014" y="3202165"/>
            <a:ext cx="8081750" cy="3517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ps32.jpg" id="574" name="Google Shape;574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6647" y="1375755"/>
            <a:ext cx="9712036" cy="4443153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94"/>
          <p:cNvSpPr txBox="1"/>
          <p:nvPr/>
        </p:nvSpPr>
        <p:spPr>
          <a:xfrm>
            <a:off x="1576647" y="2277686"/>
            <a:ext cx="23940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www.software.com</a:t>
            </a:r>
            <a:endParaRPr b="1" i="0" sz="2000" u="none" cap="none" strike="noStrik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6" name="Google Shape;576;p94"/>
          <p:cNvSpPr txBox="1"/>
          <p:nvPr/>
        </p:nvSpPr>
        <p:spPr>
          <a:xfrm>
            <a:off x="1576647" y="5818908"/>
            <a:ext cx="42450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One Public IP : 200.20.20.4</a:t>
            </a:r>
            <a:endParaRPr/>
          </a:p>
        </p:txBody>
      </p:sp>
      <p:pic>
        <p:nvPicPr>
          <p:cNvPr descr="a URL into a web browser ..." id="577" name="Google Shape;577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9228" y="722812"/>
            <a:ext cx="2156575" cy="130588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94"/>
          <p:cNvSpPr txBox="1"/>
          <p:nvPr/>
        </p:nvSpPr>
        <p:spPr>
          <a:xfrm>
            <a:off x="9202188" y="1375754"/>
            <a:ext cx="1903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www.software.com</a:t>
            </a:r>
            <a:endParaRPr b="1" i="0" sz="1400" u="none" cap="none" strike="noStrik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ips28.jpg" id="579" name="Google Shape;579;p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33295" y="2477741"/>
            <a:ext cx="520700" cy="33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0" name="Google Shape;580;p94"/>
          <p:cNvGrpSpPr/>
          <p:nvPr/>
        </p:nvGrpSpPr>
        <p:grpSpPr>
          <a:xfrm>
            <a:off x="4273664" y="3950609"/>
            <a:ext cx="5143500" cy="1219200"/>
            <a:chOff x="4489795" y="3950609"/>
            <a:chExt cx="5143500" cy="1219200"/>
          </a:xfrm>
        </p:grpSpPr>
        <p:pic>
          <p:nvPicPr>
            <p:cNvPr descr="ips33.jpg" id="581" name="Google Shape;581;p9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89795" y="3950609"/>
              <a:ext cx="5143500" cy="12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94"/>
            <p:cNvSpPr/>
            <p:nvPr/>
          </p:nvSpPr>
          <p:spPr>
            <a:xfrm>
              <a:off x="4655127" y="4560209"/>
              <a:ext cx="2244437" cy="477304"/>
            </a:xfrm>
            <a:prstGeom prst="rect">
              <a:avLst/>
            </a:prstGeom>
            <a:solidFill>
              <a:srgbClr val="E8E8E8"/>
            </a:solidFill>
            <a:ln cap="flat" cmpd="sng" w="2540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94"/>
            <p:cNvSpPr/>
            <p:nvPr/>
          </p:nvSpPr>
          <p:spPr>
            <a:xfrm>
              <a:off x="7061545" y="4576834"/>
              <a:ext cx="2365088" cy="477304"/>
            </a:xfrm>
            <a:prstGeom prst="rect">
              <a:avLst/>
            </a:prstGeom>
            <a:solidFill>
              <a:srgbClr val="E8E8E8"/>
            </a:solidFill>
            <a:ln cap="flat" cmpd="sng" w="2540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4" name="Google Shape;584;p94"/>
          <p:cNvSpPr/>
          <p:nvPr/>
        </p:nvSpPr>
        <p:spPr>
          <a:xfrm>
            <a:off x="6095999" y="2280402"/>
            <a:ext cx="587433" cy="62698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4286" y="41931"/>
                </a:moveTo>
                <a:cubicBezTo>
                  <a:pt x="34286" y="28625"/>
                  <a:pt x="45798" y="17839"/>
                  <a:pt x="60000" y="17839"/>
                </a:cubicBezTo>
                <a:cubicBezTo>
                  <a:pt x="74202" y="17839"/>
                  <a:pt x="85714" y="28625"/>
                  <a:pt x="85714" y="41931"/>
                </a:cubicBezTo>
                <a:lnTo>
                  <a:pt x="85714" y="41931"/>
                </a:lnTo>
                <a:cubicBezTo>
                  <a:pt x="85714" y="51910"/>
                  <a:pt x="79958" y="60000"/>
                  <a:pt x="72857" y="60000"/>
                </a:cubicBezTo>
                <a:cubicBezTo>
                  <a:pt x="69307" y="60000"/>
                  <a:pt x="66429" y="64045"/>
                  <a:pt x="66429" y="69035"/>
                </a:cubicBezTo>
                <a:lnTo>
                  <a:pt x="66429" y="81081"/>
                </a:lnTo>
                <a:lnTo>
                  <a:pt x="53571" y="81081"/>
                </a:lnTo>
                <a:lnTo>
                  <a:pt x="53571" y="69035"/>
                </a:lnTo>
                <a:lnTo>
                  <a:pt x="53571" y="69035"/>
                </a:lnTo>
                <a:cubicBezTo>
                  <a:pt x="53571" y="59055"/>
                  <a:pt x="59328" y="50965"/>
                  <a:pt x="66429" y="50965"/>
                </a:cubicBezTo>
                <a:cubicBezTo>
                  <a:pt x="69979" y="50965"/>
                  <a:pt x="72857" y="46921"/>
                  <a:pt x="72857" y="41931"/>
                </a:cubicBezTo>
                <a:cubicBezTo>
                  <a:pt x="72857" y="35278"/>
                  <a:pt x="67101" y="29885"/>
                  <a:pt x="60000" y="29885"/>
                </a:cubicBezTo>
                <a:cubicBezTo>
                  <a:pt x="52899" y="29885"/>
                  <a:pt x="47143" y="35278"/>
                  <a:pt x="47143" y="41931"/>
                </a:cubicBezTo>
                <a:close/>
                <a:moveTo>
                  <a:pt x="60000" y="84092"/>
                </a:moveTo>
                <a:lnTo>
                  <a:pt x="60000" y="84092"/>
                </a:lnTo>
                <a:cubicBezTo>
                  <a:pt x="65326" y="84092"/>
                  <a:pt x="69643" y="88137"/>
                  <a:pt x="69643" y="93127"/>
                </a:cubicBezTo>
                <a:cubicBezTo>
                  <a:pt x="69643" y="98116"/>
                  <a:pt x="65326" y="102161"/>
                  <a:pt x="60000" y="102161"/>
                </a:cubicBezTo>
                <a:cubicBezTo>
                  <a:pt x="54674" y="102161"/>
                  <a:pt x="50357" y="98116"/>
                  <a:pt x="50357" y="93127"/>
                </a:cubicBezTo>
                <a:cubicBezTo>
                  <a:pt x="50357" y="88137"/>
                  <a:pt x="54674" y="84092"/>
                  <a:pt x="60000" y="84092"/>
                </a:cubicBezTo>
                <a:close/>
              </a:path>
              <a:path extrusionOk="0" fill="darken" h="120000" w="120000">
                <a:moveTo>
                  <a:pt x="34286" y="41931"/>
                </a:moveTo>
                <a:cubicBezTo>
                  <a:pt x="34286" y="28625"/>
                  <a:pt x="45798" y="17839"/>
                  <a:pt x="60000" y="17839"/>
                </a:cubicBezTo>
                <a:cubicBezTo>
                  <a:pt x="74202" y="17839"/>
                  <a:pt x="85714" y="28625"/>
                  <a:pt x="85714" y="41931"/>
                </a:cubicBezTo>
                <a:lnTo>
                  <a:pt x="85714" y="41931"/>
                </a:lnTo>
                <a:cubicBezTo>
                  <a:pt x="85714" y="51910"/>
                  <a:pt x="79958" y="60000"/>
                  <a:pt x="72857" y="60000"/>
                </a:cubicBezTo>
                <a:cubicBezTo>
                  <a:pt x="69307" y="60000"/>
                  <a:pt x="66429" y="64045"/>
                  <a:pt x="66429" y="69035"/>
                </a:cubicBezTo>
                <a:lnTo>
                  <a:pt x="66429" y="81081"/>
                </a:lnTo>
                <a:lnTo>
                  <a:pt x="53571" y="81081"/>
                </a:lnTo>
                <a:lnTo>
                  <a:pt x="53571" y="69035"/>
                </a:lnTo>
                <a:lnTo>
                  <a:pt x="53571" y="69035"/>
                </a:lnTo>
                <a:cubicBezTo>
                  <a:pt x="53571" y="59055"/>
                  <a:pt x="59328" y="50965"/>
                  <a:pt x="66429" y="50965"/>
                </a:cubicBezTo>
                <a:cubicBezTo>
                  <a:pt x="69979" y="50965"/>
                  <a:pt x="72857" y="46921"/>
                  <a:pt x="72857" y="41931"/>
                </a:cubicBezTo>
                <a:cubicBezTo>
                  <a:pt x="72857" y="35278"/>
                  <a:pt x="67101" y="29885"/>
                  <a:pt x="60000" y="29885"/>
                </a:cubicBezTo>
                <a:cubicBezTo>
                  <a:pt x="52899" y="29885"/>
                  <a:pt x="47143" y="35278"/>
                  <a:pt x="47143" y="41931"/>
                </a:cubicBezTo>
                <a:close/>
                <a:moveTo>
                  <a:pt x="60000" y="84092"/>
                </a:moveTo>
                <a:lnTo>
                  <a:pt x="60000" y="84092"/>
                </a:lnTo>
                <a:cubicBezTo>
                  <a:pt x="65326" y="84092"/>
                  <a:pt x="69643" y="88137"/>
                  <a:pt x="69643" y="93127"/>
                </a:cubicBezTo>
                <a:cubicBezTo>
                  <a:pt x="69643" y="98116"/>
                  <a:pt x="65326" y="102161"/>
                  <a:pt x="60000" y="102161"/>
                </a:cubicBezTo>
                <a:cubicBezTo>
                  <a:pt x="54674" y="102161"/>
                  <a:pt x="50357" y="98116"/>
                  <a:pt x="50357" y="93127"/>
                </a:cubicBezTo>
                <a:cubicBezTo>
                  <a:pt x="50357" y="88137"/>
                  <a:pt x="54674" y="84092"/>
                  <a:pt x="60000" y="84092"/>
                </a:cubicBezTo>
                <a:close/>
              </a:path>
              <a:path extrusionOk="0" fill="none" h="120000" w="120000">
                <a:moveTo>
                  <a:pt x="34286" y="41931"/>
                </a:moveTo>
                <a:cubicBezTo>
                  <a:pt x="34286" y="28625"/>
                  <a:pt x="45798" y="17839"/>
                  <a:pt x="60000" y="17839"/>
                </a:cubicBezTo>
                <a:cubicBezTo>
                  <a:pt x="74202" y="17839"/>
                  <a:pt x="85714" y="28625"/>
                  <a:pt x="85714" y="41931"/>
                </a:cubicBezTo>
                <a:lnTo>
                  <a:pt x="85714" y="41931"/>
                </a:lnTo>
                <a:cubicBezTo>
                  <a:pt x="85714" y="51910"/>
                  <a:pt x="79958" y="60000"/>
                  <a:pt x="72857" y="60000"/>
                </a:cubicBezTo>
                <a:cubicBezTo>
                  <a:pt x="69307" y="60000"/>
                  <a:pt x="66429" y="64045"/>
                  <a:pt x="66429" y="69035"/>
                </a:cubicBezTo>
                <a:lnTo>
                  <a:pt x="66429" y="81081"/>
                </a:lnTo>
                <a:lnTo>
                  <a:pt x="53571" y="81081"/>
                </a:lnTo>
                <a:lnTo>
                  <a:pt x="53571" y="69035"/>
                </a:lnTo>
                <a:lnTo>
                  <a:pt x="53571" y="69035"/>
                </a:lnTo>
                <a:cubicBezTo>
                  <a:pt x="53571" y="59055"/>
                  <a:pt x="59328" y="50965"/>
                  <a:pt x="66429" y="50965"/>
                </a:cubicBezTo>
                <a:cubicBezTo>
                  <a:pt x="69979" y="50965"/>
                  <a:pt x="72857" y="46921"/>
                  <a:pt x="72857" y="41931"/>
                </a:cubicBezTo>
                <a:cubicBezTo>
                  <a:pt x="72857" y="35278"/>
                  <a:pt x="67101" y="29885"/>
                  <a:pt x="60000" y="29885"/>
                </a:cubicBezTo>
                <a:cubicBezTo>
                  <a:pt x="52899" y="29885"/>
                  <a:pt x="47143" y="35278"/>
                  <a:pt x="47143" y="41931"/>
                </a:cubicBezTo>
                <a:close/>
                <a:moveTo>
                  <a:pt x="60000" y="84092"/>
                </a:moveTo>
                <a:lnTo>
                  <a:pt x="60000" y="84092"/>
                </a:lnTo>
                <a:cubicBezTo>
                  <a:pt x="65326" y="84092"/>
                  <a:pt x="69643" y="88137"/>
                  <a:pt x="69643" y="93127"/>
                </a:cubicBezTo>
                <a:cubicBezTo>
                  <a:pt x="69643" y="98116"/>
                  <a:pt x="65326" y="102161"/>
                  <a:pt x="60000" y="102161"/>
                </a:cubicBezTo>
                <a:cubicBezTo>
                  <a:pt x="54674" y="102161"/>
                  <a:pt x="50357" y="98116"/>
                  <a:pt x="50357" y="93127"/>
                </a:cubicBezTo>
                <a:cubicBezTo>
                  <a:pt x="50357" y="88137"/>
                  <a:pt x="54674" y="84092"/>
                  <a:pt x="60000" y="84092"/>
                </a:cubicBez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94"/>
          <p:cNvSpPr txBox="1"/>
          <p:nvPr/>
        </p:nvSpPr>
        <p:spPr>
          <a:xfrm>
            <a:off x="1576647" y="245758"/>
            <a:ext cx="792260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Configure in Router :</a:t>
            </a:r>
            <a:b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If</a:t>
            </a: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Packet Dest IP 200.20.20.4 :80 =&gt; 192.168.10.10</a:t>
            </a:r>
            <a:endParaRPr/>
          </a:p>
        </p:txBody>
      </p:sp>
      <p:sp>
        <p:nvSpPr>
          <p:cNvPr id="586" name="Google Shape;586;p94"/>
          <p:cNvSpPr txBox="1"/>
          <p:nvPr/>
        </p:nvSpPr>
        <p:spPr>
          <a:xfrm>
            <a:off x="6687703" y="5904355"/>
            <a:ext cx="460098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F6622"/>
                </a:solidFill>
                <a:latin typeface="Corbel"/>
                <a:ea typeface="Corbel"/>
                <a:cs typeface="Corbel"/>
                <a:sym typeface="Corbel"/>
              </a:rPr>
              <a:t>DNS Records  for </a:t>
            </a:r>
            <a:r>
              <a:rPr b="1" i="0" lang="en-US" sz="2000" u="sng" cap="none" strike="noStrike">
                <a:solidFill>
                  <a:srgbClr val="3F6622"/>
                </a:solidFill>
                <a:latin typeface="Corbel"/>
                <a:ea typeface="Corbel"/>
                <a:cs typeface="Corbel"/>
                <a:sym typeface="Corbe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www.software.com</a:t>
            </a:r>
            <a:r>
              <a:rPr b="1" i="0" lang="en-US" sz="2000" u="none" cap="none" strike="noStrike">
                <a:solidFill>
                  <a:srgbClr val="3F6622"/>
                </a:solidFill>
                <a:latin typeface="Corbel"/>
                <a:ea typeface="Corbel"/>
                <a:cs typeface="Corbel"/>
                <a:sym typeface="Corbel"/>
              </a:rPr>
              <a:t> =&gt; 200.20.20.4</a:t>
            </a:r>
            <a:endParaRPr/>
          </a:p>
        </p:txBody>
      </p:sp>
      <p:sp>
        <p:nvSpPr>
          <p:cNvPr id="587" name="Google Shape;587;p94"/>
          <p:cNvSpPr txBox="1"/>
          <p:nvPr/>
        </p:nvSpPr>
        <p:spPr>
          <a:xfrm>
            <a:off x="7206500" y="4621420"/>
            <a:ext cx="22444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200.20.20.4 : 80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94"/>
          <p:cNvSpPr txBox="1"/>
          <p:nvPr/>
        </p:nvSpPr>
        <p:spPr>
          <a:xfrm>
            <a:off x="4273664" y="4622615"/>
            <a:ext cx="268818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192.168.10.10 : 80</a:t>
            </a:r>
            <a:endParaRPr b="0" i="0" sz="16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9" name="Google Shape;589;p94"/>
          <p:cNvCxnSpPr>
            <a:stCxn id="587" idx="1"/>
          </p:cNvCxnSpPr>
          <p:nvPr/>
        </p:nvCxnSpPr>
        <p:spPr>
          <a:xfrm flipH="1">
            <a:off x="6683300" y="4821475"/>
            <a:ext cx="523200" cy="1200"/>
          </a:xfrm>
          <a:prstGeom prst="straightConnector1">
            <a:avLst/>
          </a:prstGeom>
          <a:noFill/>
          <a:ln cap="flat" cmpd="sng" w="539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0" name="Google Shape;590;p94"/>
          <p:cNvSpPr txBox="1"/>
          <p:nvPr/>
        </p:nvSpPr>
        <p:spPr>
          <a:xfrm>
            <a:off x="5486399" y="5214395"/>
            <a:ext cx="30964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Port Forwarding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Forwarding</a:t>
            </a:r>
            <a:endParaRPr/>
          </a:p>
        </p:txBody>
      </p:sp>
      <p:sp>
        <p:nvSpPr>
          <p:cNvPr id="596" name="Google Shape;596;p46"/>
          <p:cNvSpPr txBox="1"/>
          <p:nvPr>
            <p:ph idx="1" type="body"/>
          </p:nvPr>
        </p:nvSpPr>
        <p:spPr>
          <a:xfrm>
            <a:off x="1484310" y="1611746"/>
            <a:ext cx="10018713" cy="3967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600"/>
              <a:t>Used when a server inside the network has a </a:t>
            </a:r>
            <a:r>
              <a:rPr b="1" lang="en-US" sz="3600"/>
              <a:t>private IP</a:t>
            </a:r>
            <a:endParaRPr sz="36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6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600"/>
              <a:t>Router maps </a:t>
            </a:r>
            <a:r>
              <a:rPr b="1" lang="en-US" sz="3600">
                <a:solidFill>
                  <a:srgbClr val="7D28CD"/>
                </a:solidFill>
              </a:rPr>
              <a:t>PublicIP:Port </a:t>
            </a:r>
            <a:r>
              <a:rPr lang="en-US" sz="3600"/>
              <a:t>to the </a:t>
            </a:r>
            <a:r>
              <a:rPr b="1" lang="en-US" sz="3600">
                <a:solidFill>
                  <a:srgbClr val="0070C0"/>
                </a:solidFill>
              </a:rPr>
              <a:t>correct PrivateIP:Port</a:t>
            </a:r>
            <a:r>
              <a:rPr lang="en-US" sz="3600">
                <a:solidFill>
                  <a:srgbClr val="0070C0"/>
                </a:solidFill>
              </a:rPr>
              <a:t> </a:t>
            </a:r>
            <a:r>
              <a:rPr lang="en-US" sz="3600"/>
              <a:t>inside the network.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6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600"/>
              <a:t>Allows Internet users to access inside services</a:t>
            </a:r>
            <a:endParaRPr/>
          </a:p>
        </p:txBody>
      </p:sp>
      <p:pic>
        <p:nvPicPr>
          <p:cNvPr id="597" name="Google Shape;59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rt Forwarding Example" id="602" name="Google Shape;60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628" y="1148863"/>
            <a:ext cx="9575910" cy="514643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95"/>
          <p:cNvSpPr txBox="1"/>
          <p:nvPr/>
        </p:nvSpPr>
        <p:spPr>
          <a:xfrm>
            <a:off x="4917007" y="5366118"/>
            <a:ext cx="31539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Public IP : 112.12.136.14</a:t>
            </a:r>
            <a:endParaRPr b="1" i="0" sz="2000" u="none" cap="none" strike="noStrike">
              <a:solidFill>
                <a:srgbClr val="7030A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4" name="Google Shape;604;p95"/>
          <p:cNvSpPr txBox="1"/>
          <p:nvPr/>
        </p:nvSpPr>
        <p:spPr>
          <a:xfrm>
            <a:off x="2615454" y="2010208"/>
            <a:ext cx="5614145" cy="400110"/>
          </a:xfrm>
          <a:prstGeom prst="rect">
            <a:avLst/>
          </a:prstGeom>
          <a:solidFill>
            <a:srgbClr val="EDC38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112.12.136.14 : 27105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==&gt;</a:t>
            </a:r>
            <a:r>
              <a:rPr b="1" i="0" lang="en-US" sz="2000" u="none" cap="none" strike="noStrik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192.168.1.105:27015</a:t>
            </a:r>
            <a:endParaRPr b="1" i="0" sz="2000" u="none" cap="none" strike="noStrik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5" name="Google Shape;605;p95"/>
          <p:cNvSpPr txBox="1"/>
          <p:nvPr/>
        </p:nvSpPr>
        <p:spPr>
          <a:xfrm>
            <a:off x="1971644" y="1532924"/>
            <a:ext cx="2395083" cy="400110"/>
          </a:xfrm>
          <a:prstGeom prst="rect">
            <a:avLst/>
          </a:prstGeom>
          <a:solidFill>
            <a:srgbClr val="5E993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Access from outside</a:t>
            </a:r>
            <a:endParaRPr b="1" i="0" sz="20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06" name="Google Shape;606;p95"/>
          <p:cNvCxnSpPr/>
          <p:nvPr/>
        </p:nvCxnSpPr>
        <p:spPr>
          <a:xfrm>
            <a:off x="4917007" y="2537927"/>
            <a:ext cx="569393" cy="699795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7" name="Google Shape;607;p95"/>
          <p:cNvSpPr txBox="1"/>
          <p:nvPr/>
        </p:nvSpPr>
        <p:spPr>
          <a:xfrm>
            <a:off x="4974488" y="1219533"/>
            <a:ext cx="30964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Port Forwarding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0"/>
          <p:cNvSpPr txBox="1"/>
          <p:nvPr>
            <p:ph type="title"/>
          </p:nvPr>
        </p:nvSpPr>
        <p:spPr>
          <a:xfrm>
            <a:off x="1401182" y="1800904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613" name="Google Shape;61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