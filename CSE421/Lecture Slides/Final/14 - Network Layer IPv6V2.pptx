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embeddedFontLst>
    <p:embeddedFont>
      <p:font typeface="Corbel"/>
      <p:regular r:id="rId36"/>
      <p:bold r:id="rId37"/>
      <p:italic r:id="rId38"/>
      <p:boldItalic r:id="rId39"/>
    </p:embeddedFont>
    <p:embeddedFont>
      <p:font typeface="Tahoma"/>
      <p:regular r:id="rId40"/>
      <p:bold r:id="rId41"/>
    </p:embeddedFon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hAd5+7yUuxWo8OnrYmjPWS7UHn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20" Type="http://schemas.openxmlformats.org/officeDocument/2006/relationships/slide" Target="slides/slide16.xml"/><Relationship Id="rId42" Type="http://schemas.openxmlformats.org/officeDocument/2006/relationships/font" Target="fonts/HelveticaNeue-regular.fntdata"/><Relationship Id="rId41" Type="http://schemas.openxmlformats.org/officeDocument/2006/relationships/font" Target="fonts/Tahoma-bold.fntdata"/><Relationship Id="rId22" Type="http://schemas.openxmlformats.org/officeDocument/2006/relationships/slide" Target="slides/slide18.xml"/><Relationship Id="rId44" Type="http://schemas.openxmlformats.org/officeDocument/2006/relationships/font" Target="fonts/HelveticaNeue-italic.fntdata"/><Relationship Id="rId21" Type="http://schemas.openxmlformats.org/officeDocument/2006/relationships/slide" Target="slides/slide17.xml"/><Relationship Id="rId43" Type="http://schemas.openxmlformats.org/officeDocument/2006/relationships/font" Target="fonts/HelveticaNeue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Corbel-bold.fntdata"/><Relationship Id="rId14" Type="http://schemas.openxmlformats.org/officeDocument/2006/relationships/slide" Target="slides/slide10.xml"/><Relationship Id="rId36" Type="http://schemas.openxmlformats.org/officeDocument/2006/relationships/font" Target="fonts/Corbel-regular.fntdata"/><Relationship Id="rId17" Type="http://schemas.openxmlformats.org/officeDocument/2006/relationships/slide" Target="slides/slide13.xml"/><Relationship Id="rId39" Type="http://schemas.openxmlformats.org/officeDocument/2006/relationships/font" Target="fonts/Corbel-boldItalic.fntdata"/><Relationship Id="rId16" Type="http://schemas.openxmlformats.org/officeDocument/2006/relationships/slide" Target="slides/slide12.xml"/><Relationship Id="rId38" Type="http://schemas.openxmlformats.org/officeDocument/2006/relationships/font" Target="fonts/Corbel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049588" y="631825"/>
            <a:ext cx="3078162" cy="17319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455613" y="2513013"/>
            <a:ext cx="5946775" cy="548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2950" lIns="85925" spcFirstLastPara="1" rIns="85925" wrap="square" tIns="42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8:notes"/>
          <p:cNvSpPr txBox="1"/>
          <p:nvPr/>
        </p:nvSpPr>
        <p:spPr>
          <a:xfrm>
            <a:off x="919163" y="685800"/>
            <a:ext cx="5018087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:notes"/>
          <p:cNvSpPr txBox="1"/>
          <p:nvPr>
            <p:ph idx="1" type="body"/>
          </p:nvPr>
        </p:nvSpPr>
        <p:spPr>
          <a:xfrm>
            <a:off x="915988" y="4343400"/>
            <a:ext cx="5026025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IETF Transition mechanisms come under V6ops charter (was NGTrans working group until feb03)‏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http://www.ietf.org/html.charters/v6ops-charter.html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This should be a big topic, but I keep shortening it: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Summary 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IPv6 traffic generally has to traverse IPv4 world or talk to IPv4 devices.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options: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Encapsulate it in IPv4 packets and route between two known end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Use tunnels such as 6to4 or Teredo for endpoints OR use compatible addresses OR mapped addresses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RFC1933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Transition Mechanisms for IPv6 Hosts and Routers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Rfc2766 NAT-pt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Network Address Translation - Protocol Translation (NAT-PT)‏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NOTE: [should make this a slide]: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Dual stack node (host and router) does not mean having both IPv4 and IPv6 applications.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name resolution doesn’t specify (IPv4/v6) version of peer application!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lookup of ip6streamer.example.org  may return IPv4 OR IPv6 OR BOTH v4&amp;v6 addresses.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Can have various versions of an application. [e.g.: ssh tries IPv6 first and then if that times out drops back to IPv4).</a:t>
            </a:r>
            <a:endParaRPr/>
          </a:p>
        </p:txBody>
      </p:sp>
      <p:sp>
        <p:nvSpPr>
          <p:cNvPr id="411" name="Google Shape;41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4" name="Google Shape;44;p7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5" name="Google Shape;4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2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2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4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74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74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74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6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6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76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7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7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7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8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8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8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9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9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2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82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3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3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83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8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4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8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5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5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8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7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7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7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7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7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7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7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jp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Relationship Id="rId4" Type="http://schemas.openxmlformats.org/officeDocument/2006/relationships/image" Target="../media/image6.jpg"/><Relationship Id="rId5" Type="http://schemas.openxmlformats.org/officeDocument/2006/relationships/image" Target="../media/image2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Internet Protocol, Version 6 (IPv6)</a:t>
            </a:r>
            <a:endParaRPr sz="4000"/>
          </a:p>
        </p:txBody>
      </p:sp>
      <p:sp>
        <p:nvSpPr>
          <p:cNvPr id="151" name="Google Shape;151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14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1484311" y="68580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1484310" y="1854559"/>
            <a:ext cx="10018713" cy="3936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Initial motivation:</a:t>
            </a:r>
            <a:r>
              <a:rPr i="1" lang="en-US" sz="3200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32-bit address space soon to be completely allocated.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Additional motivation: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Simpler header format helps speed processing/forwarding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header changes to facilitate QoS 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59" name="Google Shape;159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1484310" y="1661375"/>
            <a:ext cx="10018713" cy="412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7030A0"/>
                </a:solidFill>
              </a:rPr>
              <a:t>Address Availability: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IPv4:      </a:t>
            </a:r>
            <a:r>
              <a:rPr lang="en-US" sz="3200"/>
              <a:t>4 octets   -  32 bits</a:t>
            </a:r>
            <a:endParaRPr/>
          </a:p>
          <a:p>
            <a:pPr indent="-285842" lvl="2" marL="1200150" rtl="0" algn="l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2^32   </a:t>
            </a:r>
            <a:r>
              <a:rPr lang="en-US" sz="2900">
                <a:solidFill>
                  <a:srgbClr val="C00000"/>
                </a:solidFill>
              </a:rPr>
              <a:t>or   4,294,467,295   </a:t>
            </a:r>
            <a:r>
              <a:rPr lang="en-US" sz="2900"/>
              <a:t>IP Addresses.</a:t>
            </a:r>
            <a:endParaRPr/>
          </a:p>
          <a:p>
            <a:pPr indent="-230044" lvl="2" marL="1200150" rtl="0" algn="l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1100"/>
          </a:p>
          <a:p>
            <a:pPr indent="-123697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200"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IPv6:</a:t>
            </a:r>
            <a:r>
              <a:rPr lang="en-US" sz="3200"/>
              <a:t>    16 octets   -   128 bits</a:t>
            </a:r>
            <a:endParaRPr/>
          </a:p>
          <a:p>
            <a:pPr indent="-285842" lvl="2" marL="1200150" rtl="0" algn="l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3.4 x 10^38  or</a:t>
            </a:r>
            <a:endParaRPr sz="2900">
              <a:solidFill>
                <a:srgbClr val="FFFF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>
                <a:solidFill>
                  <a:srgbClr val="C00000"/>
                </a:solidFill>
              </a:rPr>
              <a:t>340,282,366,920,938,463,463,374,607,431,768,211,456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/>
              <a:t>			 (340 undecillion)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IP Addresses.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t/>
            </a:r>
            <a:endParaRPr sz="1100"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i="1" lang="en-US" sz="3200">
                <a:solidFill>
                  <a:srgbClr val="C00000"/>
                </a:solidFill>
              </a:rPr>
              <a:t>Every atom of every person on Earth </a:t>
            </a:r>
            <a:r>
              <a:rPr i="1" lang="en-US" sz="3200"/>
              <a:t>could be assigned </a:t>
            </a:r>
            <a:r>
              <a:rPr i="1" lang="en-US" sz="3200">
                <a:solidFill>
                  <a:srgbClr val="990099"/>
                </a:solidFill>
              </a:rPr>
              <a:t>7</a:t>
            </a:r>
            <a:r>
              <a:rPr i="1" lang="en-US" sz="3200">
                <a:solidFill>
                  <a:srgbClr val="FFFF00"/>
                </a:solidFill>
              </a:rPr>
              <a:t> </a:t>
            </a:r>
            <a:r>
              <a:rPr i="1" lang="en-US" sz="3200">
                <a:solidFill>
                  <a:srgbClr val="990099"/>
                </a:solidFill>
              </a:rPr>
              <a:t>unique addresses with </a:t>
            </a:r>
            <a:r>
              <a:rPr i="1" lang="en-US" sz="3200"/>
              <a:t>some to spare</a:t>
            </a:r>
            <a:r>
              <a:rPr i="1" lang="en-US" sz="3200">
                <a:solidFill>
                  <a:srgbClr val="66FF66"/>
                </a:solidFill>
              </a:rPr>
              <a:t> </a:t>
            </a:r>
            <a:r>
              <a:rPr i="1" lang="en-US" sz="3200"/>
              <a:t>(assuming</a:t>
            </a:r>
            <a:br>
              <a:rPr i="1" lang="en-US" sz="2900"/>
            </a:br>
            <a:r>
              <a:rPr i="1" lang="en-US" sz="2900"/>
              <a:t>7 × 10</a:t>
            </a:r>
            <a:r>
              <a:rPr baseline="30000" i="1" lang="en-US" sz="2900"/>
              <a:t>27</a:t>
            </a:r>
            <a:r>
              <a:rPr i="1" lang="en-US" sz="2900"/>
              <a:t> atoms per human x 6.5 Billion)</a:t>
            </a:r>
            <a:r>
              <a:rPr lang="en-US" sz="2900"/>
              <a:t>.</a:t>
            </a:r>
            <a:endParaRPr i="1" sz="2900"/>
          </a:p>
          <a:p>
            <a:pPr indent="0" lvl="0" marL="0" rtl="0" algn="l">
              <a:lnSpc>
                <a:spcPct val="100000"/>
              </a:lnSpc>
              <a:spcBef>
                <a:spcPts val="86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type="title"/>
          </p:nvPr>
        </p:nvSpPr>
        <p:spPr>
          <a:xfrm>
            <a:off x="1484311" y="685801"/>
            <a:ext cx="10018713" cy="705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 </a:t>
            </a:r>
            <a:endParaRPr/>
          </a:p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1484312" y="1648497"/>
            <a:ext cx="4895055" cy="41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rgbClr val="7030A0"/>
                </a:solidFill>
              </a:rPr>
              <a:t>IPv6 Features: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fixed-length 40 byte header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no fragmentation allowed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s50.jpg"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750" y="3006144"/>
            <a:ext cx="4068763" cy="266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51.jpg" id="176" name="Google Shape;176;p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805" y="1648497"/>
            <a:ext cx="3679564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1832041" y="258512"/>
            <a:ext cx="10018713" cy="1130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Datagram</a:t>
            </a:r>
            <a:endParaRPr/>
          </a:p>
        </p:txBody>
      </p:sp>
      <p:pic>
        <p:nvPicPr>
          <p:cNvPr id="182" name="Google Shape;18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5470" y="2060619"/>
            <a:ext cx="6722772" cy="360179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  <p:sp>
        <p:nvSpPr>
          <p:cNvPr id="183" name="Google Shape;183;p7"/>
          <p:cNvSpPr/>
          <p:nvPr/>
        </p:nvSpPr>
        <p:spPr>
          <a:xfrm>
            <a:off x="2395470" y="1388634"/>
            <a:ext cx="19613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40 Octets, 8 fields</a:t>
            </a:r>
            <a:endParaRPr b="0" i="0" sz="1800" u="none" cap="none" strike="noStrik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4" name="Google Shape;184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>
            <p:ph type="title"/>
          </p:nvPr>
        </p:nvSpPr>
        <p:spPr>
          <a:xfrm>
            <a:off x="1574462" y="467483"/>
            <a:ext cx="10018713" cy="756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pic>
        <p:nvPicPr>
          <p:cNvPr id="190" name="Google Shape;190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938" y="1640156"/>
            <a:ext cx="4369468" cy="100660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1960"/>
              </a:srgbClr>
            </a:outerShdw>
          </a:effectLst>
        </p:spPr>
      </p:pic>
      <p:sp>
        <p:nvSpPr>
          <p:cNvPr id="191" name="Google Shape;191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://www.cisco.com/en/US/technologies/tk648/tk872/images/technologies_white_paper0900aecd8054d37d-04.jpg"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3806" y="1558345"/>
            <a:ext cx="5745769" cy="420902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3072" y="2759222"/>
            <a:ext cx="4879200" cy="300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1484311" y="685801"/>
            <a:ext cx="10018713" cy="79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1484310" y="1557002"/>
            <a:ext cx="10018713" cy="431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8138" lvl="0" marL="338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Basic header simplified for ease of processing</a:t>
            </a:r>
            <a:endParaRPr/>
          </a:p>
          <a:p>
            <a:pPr indent="-181610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Additional information carried in extension headers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Hop-by-hop options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Routing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Fragment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Destination options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Authentication header (AH)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‏</a:t>
            </a:r>
            <a:endParaRPr sz="1800"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Encrypted security payload (ESP) header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Next Header field says what type of header follows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E.g. Fragment Header, TCP, ICMP,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7655" l="3842" r="4445" t="50683"/>
          <a:stretch/>
        </p:blipFill>
        <p:spPr>
          <a:xfrm>
            <a:off x="5623295" y="3110604"/>
            <a:ext cx="5550287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 rot="-5400000">
            <a:off x="4007644" y="-354012"/>
            <a:ext cx="4306888" cy="8364538"/>
          </a:xfrm>
          <a:prstGeom prst="rect">
            <a:avLst/>
          </a:prstGeom>
          <a:gradFill>
            <a:gsLst>
              <a:gs pos="0">
                <a:srgbClr val="278EC3"/>
              </a:gs>
              <a:gs pos="50000">
                <a:schemeClr val="accent1"/>
              </a:gs>
              <a:gs pos="100000">
                <a:srgbClr val="278EC3"/>
              </a:gs>
            </a:gsLst>
            <a:lin ang="2700000" scaled="0"/>
          </a:gradFill>
          <a:ln cap="flat" cmpd="sng" w="127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978800" y="1674825"/>
            <a:ext cx="8364538" cy="430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209800" y="2112964"/>
            <a:ext cx="7772400" cy="360203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1"/>
          <p:cNvCxnSpPr/>
          <p:nvPr/>
        </p:nvCxnSpPr>
        <p:spPr>
          <a:xfrm>
            <a:off x="2209800" y="2819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1"/>
          <p:cNvSpPr/>
          <p:nvPr/>
        </p:nvSpPr>
        <p:spPr>
          <a:xfrm>
            <a:off x="22098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601200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1"/>
          <p:cNvCxnSpPr/>
          <p:nvPr/>
        </p:nvCxnSpPr>
        <p:spPr>
          <a:xfrm>
            <a:off x="33528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1"/>
          <p:cNvCxnSpPr/>
          <p:nvPr/>
        </p:nvCxnSpPr>
        <p:spPr>
          <a:xfrm>
            <a:off x="2209800" y="34290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1"/>
          <p:cNvCxnSpPr/>
          <p:nvPr/>
        </p:nvCxnSpPr>
        <p:spPr>
          <a:xfrm>
            <a:off x="6019800" y="2057400"/>
            <a:ext cx="0" cy="190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1"/>
          <p:cNvCxnSpPr/>
          <p:nvPr/>
        </p:nvCxnSpPr>
        <p:spPr>
          <a:xfrm>
            <a:off x="7086600" y="2819400"/>
            <a:ext cx="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1"/>
          <p:cNvCxnSpPr/>
          <p:nvPr/>
        </p:nvCxnSpPr>
        <p:spPr>
          <a:xfrm>
            <a:off x="2209800" y="44958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1"/>
          <p:cNvSpPr/>
          <p:nvPr/>
        </p:nvSpPr>
        <p:spPr>
          <a:xfrm>
            <a:off x="2514600" y="2286001"/>
            <a:ext cx="6159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581400" y="2286001"/>
            <a:ext cx="552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IHL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216775" y="2286001"/>
            <a:ext cx="15557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Length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590800" y="2971801"/>
            <a:ext cx="29273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Identifier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172200" y="2971801"/>
            <a:ext cx="781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467600" y="2971801"/>
            <a:ext cx="2203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Fragment Offset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873625" y="4049713"/>
            <a:ext cx="2590800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Source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654550" y="4629151"/>
            <a:ext cx="306070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Destination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2766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1910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7688263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722938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419600" y="2286001"/>
            <a:ext cx="15938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2209800" y="5105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1"/>
          <p:cNvSpPr/>
          <p:nvPr/>
        </p:nvSpPr>
        <p:spPr>
          <a:xfrm>
            <a:off x="2819400" y="5181601"/>
            <a:ext cx="65849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Options and Padding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>
            <a:off x="2209800" y="3962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4343400" y="3429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2746376" y="3486151"/>
            <a:ext cx="1514475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to 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781800" y="3505201"/>
            <a:ext cx="2559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Header Checksum   </a:t>
            </a:r>
            <a:endParaRPr b="1" i="0" sz="2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710113" y="3486151"/>
            <a:ext cx="11112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43434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 txBox="1"/>
          <p:nvPr>
            <p:ph type="title"/>
          </p:nvPr>
        </p:nvSpPr>
        <p:spPr>
          <a:xfrm>
            <a:off x="1905001" y="304800"/>
            <a:ext cx="85709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IPv4 Header</a:t>
            </a:r>
            <a:r>
              <a:rPr lang="en-US" sz="3600"/>
              <a:t> </a:t>
            </a:r>
            <a:br>
              <a:rPr lang="en-US" sz="3600"/>
            </a:br>
            <a:endParaRPr b="1" sz="2000">
              <a:solidFill>
                <a:schemeClr val="lt2"/>
              </a:solidFill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2109934" y="6119141"/>
            <a:ext cx="8224837" cy="38100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8925" lvl="0" marL="288925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C5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shaded fields are absent from IPv6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>
            <p:ph type="title"/>
          </p:nvPr>
        </p:nvSpPr>
        <p:spPr>
          <a:xfrm>
            <a:off x="1484311" y="685801"/>
            <a:ext cx="10018713" cy="93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Header Changes between IPv4 and IPv6</a:t>
            </a:r>
            <a:endParaRPr/>
          </a:p>
        </p:txBody>
      </p:sp>
      <p:sp>
        <p:nvSpPr>
          <p:cNvPr id="248" name="Google Shape;248;p12"/>
          <p:cNvSpPr txBox="1"/>
          <p:nvPr>
            <p:ph idx="1" type="body"/>
          </p:nvPr>
        </p:nvSpPr>
        <p:spPr>
          <a:xfrm>
            <a:off x="1484310" y="1622739"/>
            <a:ext cx="10018713" cy="4168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52603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Revised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Time to Live (Hop Limit)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Addresses increased from 32 bits to 128 bits</a:t>
            </a:r>
            <a:endParaRPr sz="3000"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Protocol (Next Header)</a:t>
            </a:r>
            <a:endParaRPr sz="3000"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Precedence &amp; TOS (Traffic Class)</a:t>
            </a:r>
            <a:endParaRPr sz="3000"/>
          </a:p>
          <a:p>
            <a:pPr indent="-252603" lvl="0" marL="2857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Extended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Flow Label field added (Recommended read: Page 676 of Forouzan’s Book)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1484310" y="1725769"/>
            <a:ext cx="10018713" cy="4288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128 bits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2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Each block is then converted into Hexadecimal and separated by ‘:’ symbol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Font typeface="Arial"/>
              <a:buChar char="•"/>
            </a:pPr>
            <a:r>
              <a:rPr lang="en-US" sz="2800"/>
              <a:t>Called </a:t>
            </a:r>
            <a:r>
              <a:rPr b="1" lang="en-US" sz="2800"/>
              <a:t>string notation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276" y="3063265"/>
            <a:ext cx="11286404" cy="73147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  <p:pic>
        <p:nvPicPr>
          <p:cNvPr id="258" name="Google Shape;2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053" y="4884906"/>
            <a:ext cx="11790947" cy="4946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1981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</a:t>
            </a:r>
            <a:endParaRPr/>
          </a:p>
        </p:txBody>
      </p:sp>
      <p:sp>
        <p:nvSpPr>
          <p:cNvPr id="264" name="Google Shape;264;p20"/>
          <p:cNvSpPr txBox="1"/>
          <p:nvPr>
            <p:ph idx="1" type="body"/>
          </p:nvPr>
        </p:nvSpPr>
        <p:spPr>
          <a:xfrm>
            <a:off x="1981200" y="1371600"/>
            <a:ext cx="8229600" cy="327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unicast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specified 1 computer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multicast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group of computers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anycast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send group address that can receive multiple computers, but receive 1 computer</a:t>
            </a:r>
            <a:endParaRPr/>
          </a:p>
          <a:p>
            <a:pPr indent="-64769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/>
          </a:p>
        </p:txBody>
      </p:sp>
      <p:cxnSp>
        <p:nvCxnSpPr>
          <p:cNvPr id="265" name="Google Shape;265;p20"/>
          <p:cNvCxnSpPr/>
          <p:nvPr/>
        </p:nvCxnSpPr>
        <p:spPr>
          <a:xfrm>
            <a:off x="2895600" y="5257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66" name="Google Shape;266;p20"/>
          <p:cNvGrpSpPr/>
          <p:nvPr/>
        </p:nvGrpSpPr>
        <p:grpSpPr>
          <a:xfrm>
            <a:off x="2286000" y="4953000"/>
            <a:ext cx="762000" cy="457200"/>
            <a:chOff x="528" y="2928"/>
            <a:chExt cx="480" cy="288"/>
          </a:xfrm>
        </p:grpSpPr>
        <p:sp>
          <p:nvSpPr>
            <p:cNvPr id="267" name="Google Shape;267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5867400" y="4648200"/>
            <a:ext cx="762000" cy="457200"/>
            <a:chOff x="528" y="2928"/>
            <a:chExt cx="480" cy="288"/>
          </a:xfrm>
        </p:grpSpPr>
        <p:sp>
          <p:nvSpPr>
            <p:cNvPr id="270" name="Google Shape;270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5867400" y="5105400"/>
            <a:ext cx="762000" cy="457200"/>
            <a:chOff x="528" y="2928"/>
            <a:chExt cx="480" cy="288"/>
          </a:xfrm>
        </p:grpSpPr>
        <p:sp>
          <p:nvSpPr>
            <p:cNvPr id="273" name="Google Shape;273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20"/>
          <p:cNvGrpSpPr/>
          <p:nvPr/>
        </p:nvGrpSpPr>
        <p:grpSpPr>
          <a:xfrm>
            <a:off x="3505200" y="4953000"/>
            <a:ext cx="762000" cy="457200"/>
            <a:chOff x="528" y="2928"/>
            <a:chExt cx="480" cy="288"/>
          </a:xfrm>
        </p:grpSpPr>
        <p:sp>
          <p:nvSpPr>
            <p:cNvPr id="276" name="Google Shape;276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0"/>
          <p:cNvGrpSpPr/>
          <p:nvPr/>
        </p:nvGrpSpPr>
        <p:grpSpPr>
          <a:xfrm>
            <a:off x="4495800" y="4953000"/>
            <a:ext cx="762000" cy="457200"/>
            <a:chOff x="528" y="2928"/>
            <a:chExt cx="480" cy="288"/>
          </a:xfrm>
        </p:grpSpPr>
        <p:sp>
          <p:nvSpPr>
            <p:cNvPr id="279" name="Google Shape;27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20"/>
          <p:cNvGrpSpPr/>
          <p:nvPr/>
        </p:nvGrpSpPr>
        <p:grpSpPr>
          <a:xfrm>
            <a:off x="5867400" y="5638800"/>
            <a:ext cx="762000" cy="457200"/>
            <a:chOff x="528" y="2928"/>
            <a:chExt cx="480" cy="288"/>
          </a:xfrm>
        </p:grpSpPr>
        <p:sp>
          <p:nvSpPr>
            <p:cNvPr id="282" name="Google Shape;28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4" name="Google Shape;284;p20"/>
          <p:cNvCxnSpPr/>
          <p:nvPr/>
        </p:nvCxnSpPr>
        <p:spPr>
          <a:xfrm flipH="1" rot="10800000">
            <a:off x="5410200" y="50292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20"/>
          <p:cNvCxnSpPr/>
          <p:nvPr/>
        </p:nvCxnSpPr>
        <p:spPr>
          <a:xfrm>
            <a:off x="5410200" y="51816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20"/>
          <p:cNvCxnSpPr/>
          <p:nvPr/>
        </p:nvCxnSpPr>
        <p:spPr>
          <a:xfrm>
            <a:off x="54102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20"/>
          <p:cNvCxnSpPr/>
          <p:nvPr/>
        </p:nvCxnSpPr>
        <p:spPr>
          <a:xfrm>
            <a:off x="51054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88" name="Google Shape;288;p20"/>
          <p:cNvGrpSpPr/>
          <p:nvPr/>
        </p:nvGrpSpPr>
        <p:grpSpPr>
          <a:xfrm>
            <a:off x="8382000" y="4648200"/>
            <a:ext cx="762000" cy="457200"/>
            <a:chOff x="528" y="2928"/>
            <a:chExt cx="480" cy="288"/>
          </a:xfrm>
        </p:grpSpPr>
        <p:sp>
          <p:nvSpPr>
            <p:cNvPr id="289" name="Google Shape;28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8382000" y="5105400"/>
            <a:ext cx="762000" cy="457200"/>
            <a:chOff x="528" y="2928"/>
            <a:chExt cx="480" cy="288"/>
          </a:xfrm>
        </p:grpSpPr>
        <p:sp>
          <p:nvSpPr>
            <p:cNvPr id="292" name="Google Shape;29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7010400" y="4953000"/>
            <a:ext cx="762000" cy="457200"/>
            <a:chOff x="528" y="2928"/>
            <a:chExt cx="480" cy="288"/>
          </a:xfrm>
        </p:grpSpPr>
        <p:sp>
          <p:nvSpPr>
            <p:cNvPr id="295" name="Google Shape;295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8382000" y="5638800"/>
            <a:ext cx="762000" cy="457200"/>
            <a:chOff x="528" y="2928"/>
            <a:chExt cx="480" cy="288"/>
          </a:xfrm>
        </p:grpSpPr>
        <p:sp>
          <p:nvSpPr>
            <p:cNvPr id="298" name="Google Shape;298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0" name="Google Shape;300;p20"/>
          <p:cNvCxnSpPr/>
          <p:nvPr/>
        </p:nvCxnSpPr>
        <p:spPr>
          <a:xfrm flipH="1" rot="10800000">
            <a:off x="7924800" y="4876800"/>
            <a:ext cx="5334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01" name="Google Shape;301;p20"/>
          <p:cNvCxnSpPr/>
          <p:nvPr/>
        </p:nvCxnSpPr>
        <p:spPr>
          <a:xfrm>
            <a:off x="79248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p20"/>
          <p:cNvCxnSpPr/>
          <p:nvPr/>
        </p:nvCxnSpPr>
        <p:spPr>
          <a:xfrm>
            <a:off x="76200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20"/>
          <p:cNvCxnSpPr/>
          <p:nvPr/>
        </p:nvCxnSpPr>
        <p:spPr>
          <a:xfrm rot="10800000">
            <a:off x="7924800" y="5181600"/>
            <a:ext cx="457200" cy="609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04" name="Google Shape;304;p20"/>
          <p:cNvSpPr txBox="1"/>
          <p:nvPr/>
        </p:nvSpPr>
        <p:spPr>
          <a:xfrm>
            <a:off x="2362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70866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0"/>
          <p:cNvSpPr txBox="1"/>
          <p:nvPr/>
        </p:nvSpPr>
        <p:spPr>
          <a:xfrm>
            <a:off x="472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 </a:t>
            </a:r>
            <a:endParaRPr/>
          </a:p>
        </p:txBody>
      </p:sp>
      <p:sp>
        <p:nvSpPr>
          <p:cNvPr id="313" name="Google Shape;313;p21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Unlike IPv4, there is</a:t>
            </a:r>
            <a:r>
              <a:rPr lang="en-US" sz="4000">
                <a:solidFill>
                  <a:srgbClr val="FFFF00"/>
                </a:solidFill>
              </a:rPr>
              <a:t> </a:t>
            </a:r>
            <a:r>
              <a:rPr lang="en-US" sz="4000">
                <a:solidFill>
                  <a:srgbClr val="7030A0"/>
                </a:solidFill>
              </a:rPr>
              <a:t>no broadcast address.</a:t>
            </a:r>
            <a:endParaRPr/>
          </a:p>
          <a:p>
            <a:pPr indent="-368300" lvl="0" marL="2857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There is an </a:t>
            </a:r>
            <a:r>
              <a:rPr lang="en-US" sz="4000">
                <a:solidFill>
                  <a:srgbClr val="7030A0"/>
                </a:solidFill>
              </a:rPr>
              <a:t>“all nodes multicast” </a:t>
            </a:r>
            <a:r>
              <a:rPr lang="en-US" sz="4000"/>
              <a:t>which serves the same purpose.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Global Addresses</a:t>
            </a:r>
            <a:endParaRPr/>
          </a:p>
        </p:txBody>
      </p:sp>
      <p:sp>
        <p:nvSpPr>
          <p:cNvPr id="320" name="Google Shape;320;p22"/>
          <p:cNvSpPr txBox="1"/>
          <p:nvPr>
            <p:ph idx="1" type="body"/>
          </p:nvPr>
        </p:nvSpPr>
        <p:spPr>
          <a:xfrm>
            <a:off x="1484310" y="1803043"/>
            <a:ext cx="10018713" cy="3988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These are assigned by the IANA and used on </a:t>
            </a:r>
            <a:r>
              <a:rPr lang="en-US" sz="3200">
                <a:solidFill>
                  <a:srgbClr val="7030A0"/>
                </a:solidFill>
              </a:rPr>
              <a:t>public networks</a:t>
            </a:r>
            <a:r>
              <a:rPr lang="en-US" sz="3200">
                <a:solidFill>
                  <a:srgbClr val="000000"/>
                </a:solidFill>
              </a:rPr>
              <a:t>. 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They are equivalent to IPv4 global (sometimes called public) addresses.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Typically they start at </a:t>
            </a:r>
            <a:r>
              <a:rPr lang="en-US" sz="3200"/>
              <a:t>2000::/3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addresses </a:t>
            </a:r>
            <a:endParaRPr/>
          </a:p>
        </p:txBody>
      </p:sp>
      <p:sp>
        <p:nvSpPr>
          <p:cNvPr id="327" name="Google Shape;327;p23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/>
              <a:t>A </a:t>
            </a:r>
            <a:r>
              <a:rPr lang="en-US" sz="3200">
                <a:solidFill>
                  <a:srgbClr val="7030A0"/>
                </a:solidFill>
              </a:rPr>
              <a:t>unicast address </a:t>
            </a:r>
            <a:r>
              <a:rPr lang="en-US" sz="3200"/>
              <a:t>is an address that identifies a </a:t>
            </a:r>
            <a:r>
              <a:rPr lang="en-US" sz="3200">
                <a:solidFill>
                  <a:srgbClr val="7030A0"/>
                </a:solidFill>
              </a:rPr>
              <a:t>single device</a:t>
            </a:r>
            <a:r>
              <a:rPr lang="en-US" sz="3200"/>
              <a:t>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Types of Unicast Addresses: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546" y="3873906"/>
            <a:ext cx="10162229" cy="21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3.jpg" id="334" name="Google Shape;3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00" y="1320800"/>
            <a:ext cx="88138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>
            <p:ph idx="1" type="body"/>
          </p:nvPr>
        </p:nvSpPr>
        <p:spPr>
          <a:xfrm>
            <a:off x="1752600" y="2651617"/>
            <a:ext cx="8991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host portion of the address is called the </a:t>
            </a:r>
            <a:r>
              <a:rPr lang="en-US">
                <a:solidFill>
                  <a:srgbClr val="7030A0"/>
                </a:solidFill>
              </a:rPr>
              <a:t>Interface ID.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Can contain: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interface’s </a:t>
            </a:r>
            <a:r>
              <a:rPr lang="en-US" sz="2800">
                <a:solidFill>
                  <a:srgbClr val="7030A0"/>
                </a:solidFill>
              </a:rPr>
              <a:t>48-bit</a:t>
            </a:r>
            <a:r>
              <a:rPr lang="en-US" sz="2800"/>
              <a:t> MAC Address.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 identifier derived from the EUI-64 Address </a:t>
            </a:r>
            <a:br>
              <a:rPr lang="en-US" sz="2800"/>
            </a:br>
            <a:r>
              <a:rPr lang="en-US" sz="2800"/>
              <a:t>(more later).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manually configured address.</a:t>
            </a:r>
            <a:endParaRPr i="1" sz="2800">
              <a:solidFill>
                <a:srgbClr val="66FF66"/>
              </a:solidFill>
            </a:endParaRPr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i="1">
              <a:solidFill>
                <a:srgbClr val="66FF66"/>
              </a:solidFill>
            </a:endParaRPr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6261100" y="1835597"/>
            <a:ext cx="4343400" cy="45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1752600" y="193541"/>
            <a:ext cx="822960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1432794" y="46601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344" name="Google Shape;34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2" y="1955386"/>
            <a:ext cx="6123943" cy="318209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9"/>
          <p:cNvSpPr txBox="1"/>
          <p:nvPr>
            <p:ph idx="2" type="body"/>
          </p:nvPr>
        </p:nvSpPr>
        <p:spPr>
          <a:xfrm>
            <a:off x="6493667" y="1558344"/>
            <a:ext cx="4895056" cy="422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Unspecified Address: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::/128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a host, it refers to the host itself, and is used when a device does not know its own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For addressing purposes within a software. 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Loopback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::1/128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loopback  (same as 127.0.0.1 in many IPv4 implementations)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IPv6 there is just one address, not a whole block, for this function.</a:t>
            </a:r>
            <a:endParaRPr/>
          </a:p>
          <a:p>
            <a:pPr indent="-169735" lvl="0" marL="285750" rtl="0" algn="l">
              <a:lnSpc>
                <a:spcPct val="100000"/>
              </a:lnSpc>
              <a:spcBef>
                <a:spcPts val="8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46" name="Google Shape;346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Unique Local Unicast Address</a:t>
            </a:r>
            <a:endParaRPr/>
          </a:p>
        </p:txBody>
      </p:sp>
      <p:sp>
        <p:nvSpPr>
          <p:cNvPr id="352" name="Google Shape;352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1484313" y="1906588"/>
            <a:ext cx="10018712" cy="388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FC00::/7</a:t>
            </a:r>
            <a:endParaRPr>
              <a:solidFill>
                <a:srgbClr val="7030A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Globally unique,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it should be used in local communication. </a:t>
            </a:r>
            <a:endParaRPr/>
          </a:p>
        </p:txBody>
      </p:sp>
      <p:pic>
        <p:nvPicPr>
          <p:cNvPr id="354" name="Google Shape;3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301" y="3848894"/>
            <a:ext cx="8002117" cy="110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Local Unicast Address</a:t>
            </a:r>
            <a:endParaRPr/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1484310" y="1661375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FE80::/10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 addresses refer </a:t>
            </a:r>
            <a:r>
              <a:rPr lang="en-US">
                <a:solidFill>
                  <a:srgbClr val="7030A0"/>
                </a:solidFill>
              </a:rPr>
              <a:t>only to a particular physical network.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Routers do not forward </a:t>
            </a:r>
            <a:r>
              <a:rPr lang="en-US"/>
              <a:t>datagrams using link-local addresses.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are only for </a:t>
            </a:r>
            <a:r>
              <a:rPr lang="en-US">
                <a:solidFill>
                  <a:srgbClr val="7030A0"/>
                </a:solidFill>
              </a:rPr>
              <a:t>local communication </a:t>
            </a:r>
            <a:r>
              <a:rPr lang="en-US"/>
              <a:t>on a particular physical </a:t>
            </a:r>
            <a:r>
              <a:rPr lang="en-US">
                <a:solidFill>
                  <a:srgbClr val="7030A0"/>
                </a:solidFill>
              </a:rPr>
              <a:t>network segment</a:t>
            </a:r>
            <a:r>
              <a:rPr lang="en-US"/>
              <a:t>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Automatic address configuration.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Neighbor discovery.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Router discovery. etc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361" name="Google Shape;361;p3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153" y="5103372"/>
            <a:ext cx="877669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>
            <p:ph type="title"/>
          </p:nvPr>
        </p:nvSpPr>
        <p:spPr>
          <a:xfrm>
            <a:off x="1484310" y="505496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Scope of IPv6 Unicast Addresses</a:t>
            </a:r>
            <a:endParaRPr/>
          </a:p>
        </p:txBody>
      </p:sp>
      <p:pic>
        <p:nvPicPr>
          <p:cNvPr id="368" name="Google Shape;36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446" y="1982519"/>
            <a:ext cx="6297955" cy="38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1664615" y="441101"/>
            <a:ext cx="10018713" cy="859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375" name="Google Shape;375;p33"/>
          <p:cNvSpPr txBox="1"/>
          <p:nvPr>
            <p:ph idx="1" type="body"/>
          </p:nvPr>
        </p:nvSpPr>
        <p:spPr>
          <a:xfrm>
            <a:off x="1938338" y="1545465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Consisting of all addresses that begin with “</a:t>
            </a:r>
            <a:r>
              <a:rPr lang="en-US">
                <a:solidFill>
                  <a:srgbClr val="7030A0"/>
                </a:solidFill>
              </a:rPr>
              <a:t>1111 1111</a:t>
            </a:r>
            <a:r>
              <a:rPr lang="en-US"/>
              <a:t>” i.e “</a:t>
            </a:r>
            <a:r>
              <a:rPr lang="en-US">
                <a:solidFill>
                  <a:srgbClr val="7030A0"/>
                </a:solidFill>
              </a:rPr>
              <a:t>FF</a:t>
            </a:r>
            <a:r>
              <a:rPr lang="en-US"/>
              <a:t>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76" name="Google Shape;3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517048"/>
            <a:ext cx="7077075" cy="297656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33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type="title"/>
          </p:nvPr>
        </p:nvSpPr>
        <p:spPr>
          <a:xfrm>
            <a:off x="1690373" y="394936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1484310" y="1571223"/>
            <a:ext cx="10018713" cy="4219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Multicast addresses are used to send data to a number of devices on an internetwork simultaneously.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multicast address can be specified for a variety of </a:t>
            </a:r>
            <a:r>
              <a:rPr lang="en-US">
                <a:solidFill>
                  <a:srgbClr val="7030A0"/>
                </a:solidFill>
              </a:rPr>
              <a:t>different </a:t>
            </a:r>
            <a:r>
              <a:rPr i="1" lang="en-US">
                <a:solidFill>
                  <a:srgbClr val="7030A0"/>
                </a:solidFill>
              </a:rPr>
              <a:t>scopes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allowing a transmission to be targeted to either a wide or narrow audience of recipient devices.</a:t>
            </a:r>
            <a:endParaRPr/>
          </a:p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467" y="3804649"/>
            <a:ext cx="7725853" cy="169568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>
            <p:ph type="title"/>
          </p:nvPr>
        </p:nvSpPr>
        <p:spPr>
          <a:xfrm>
            <a:off x="1484311" y="685801"/>
            <a:ext cx="10018713" cy="846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391" name="Google Shape;391;p36"/>
          <p:cNvSpPr txBox="1"/>
          <p:nvPr>
            <p:ph idx="1" type="body"/>
          </p:nvPr>
        </p:nvSpPr>
        <p:spPr>
          <a:xfrm>
            <a:off x="1484311" y="1629179"/>
            <a:ext cx="10018713" cy="425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To provide flexibility in situations where we need a service that is provided by a number of different servers or routers but don't really care which one provides it.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In routing, anycast allows datagrams to be sent to </a:t>
            </a:r>
            <a:r>
              <a:rPr lang="en-US" sz="2800">
                <a:solidFill>
                  <a:srgbClr val="7030A0"/>
                </a:solidFill>
              </a:rPr>
              <a:t>whichever router in a group of equivalent routers is closest</a:t>
            </a:r>
            <a:endParaRPr sz="2800"/>
          </a:p>
        </p:txBody>
      </p:sp>
      <p:sp>
        <p:nvSpPr>
          <p:cNvPr id="392" name="Google Shape;392;p3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36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2152" y="4469851"/>
            <a:ext cx="3334215" cy="2172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/>
          <p:nvPr>
            <p:ph type="title"/>
          </p:nvPr>
        </p:nvSpPr>
        <p:spPr>
          <a:xfrm>
            <a:off x="1484311" y="685800"/>
            <a:ext cx="10018713" cy="110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399" name="Google Shape;399;p37"/>
          <p:cNvSpPr txBox="1"/>
          <p:nvPr>
            <p:ph idx="1" type="body"/>
          </p:nvPr>
        </p:nvSpPr>
        <p:spPr>
          <a:xfrm>
            <a:off x="1484311" y="1790163"/>
            <a:ext cx="10018713" cy="409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There is no special anycast addressing scheme: </a:t>
            </a:r>
            <a:r>
              <a:rPr lang="en-US" sz="3600">
                <a:solidFill>
                  <a:srgbClr val="7030A0"/>
                </a:solidFill>
              </a:rPr>
              <a:t>anycast addresses are the same as unicast addresses. 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An anycast address is created “automatically” when a unicast address is assigned to more than one interface.</a:t>
            </a:r>
            <a:endParaRPr sz="3600"/>
          </a:p>
        </p:txBody>
      </p:sp>
      <p:sp>
        <p:nvSpPr>
          <p:cNvPr id="400" name="Google Shape;400;p3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Transition from IPv4 to IPv6</a:t>
            </a:r>
            <a:endParaRPr/>
          </a:p>
        </p:txBody>
      </p:sp>
      <p:sp>
        <p:nvSpPr>
          <p:cNvPr id="406" name="Google Shape;406;p5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>
            <p:ph type="title"/>
          </p:nvPr>
        </p:nvSpPr>
        <p:spPr>
          <a:xfrm>
            <a:off x="1981200" y="457200"/>
            <a:ext cx="8231188" cy="1373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to IPv6 Transition</a:t>
            </a:r>
            <a:endParaRPr/>
          </a:p>
        </p:txBody>
      </p:sp>
      <p:sp>
        <p:nvSpPr>
          <p:cNvPr id="414" name="Google Shape;414;p58"/>
          <p:cNvSpPr txBox="1"/>
          <p:nvPr>
            <p:ph idx="1" type="body"/>
          </p:nvPr>
        </p:nvSpPr>
        <p:spPr>
          <a:xfrm>
            <a:off x="1981200" y="1981200"/>
            <a:ext cx="8231188" cy="38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1313" lvl="0" marL="341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US">
                <a:solidFill>
                  <a:schemeClr val="accent6"/>
                </a:solidFill>
              </a:rPr>
              <a:t>Strategies and mechanisms: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IPv4 to IPv6 transition is gradual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devices need to communicate to IPv4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needs to communicate over IPv4 links</a:t>
            </a:r>
            <a:endParaRPr/>
          </a:p>
        </p:txBody>
      </p:sp>
      <p:sp>
        <p:nvSpPr>
          <p:cNvPr id="415" name="Google Shape;415;p5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/>
          <p:nvPr>
            <p:ph type="title"/>
          </p:nvPr>
        </p:nvSpPr>
        <p:spPr>
          <a:xfrm>
            <a:off x="1565276" y="188711"/>
            <a:ext cx="8229600" cy="974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Transition Techniques</a:t>
            </a:r>
            <a:endParaRPr/>
          </a:p>
        </p:txBody>
      </p:sp>
      <p:sp>
        <p:nvSpPr>
          <p:cNvPr id="421" name="Google Shape;421;p59"/>
          <p:cNvSpPr txBox="1"/>
          <p:nvPr>
            <p:ph idx="1" type="body"/>
          </p:nvPr>
        </p:nvSpPr>
        <p:spPr>
          <a:xfrm>
            <a:off x="1565276" y="1027090"/>
            <a:ext cx="3581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>
                <a:solidFill>
                  <a:srgbClr val="7030A0"/>
                </a:solidFill>
              </a:rPr>
              <a:t>Three categories</a:t>
            </a:r>
            <a:r>
              <a:rPr lang="en-US" sz="2800"/>
              <a:t>: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Dual-stack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Tunneling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Translation techniques</a:t>
            </a:r>
            <a:endParaRPr/>
          </a:p>
        </p:txBody>
      </p:sp>
      <p:pic>
        <p:nvPicPr>
          <p:cNvPr descr="http://www.tutorialspoint.com/ipv6/images/dual_stack_router.jpg" id="422" name="Google Shape;42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176" y="831358"/>
            <a:ext cx="4254500" cy="205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tunneling.jpg" id="423" name="Google Shape;42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6676" y="3014864"/>
            <a:ext cx="5334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nat.jpg" id="424" name="Google Shape;42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6301" y="4197776"/>
            <a:ext cx="45243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59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 txBox="1"/>
          <p:nvPr>
            <p:ph idx="1" type="body"/>
          </p:nvPr>
        </p:nvSpPr>
        <p:spPr>
          <a:xfrm>
            <a:off x="1828800" y="1371601"/>
            <a:ext cx="8229600" cy="2440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Method in which a node has implementation and connectivity to </a:t>
            </a:r>
            <a:r>
              <a:rPr lang="en-US">
                <a:solidFill>
                  <a:srgbClr val="7030A0"/>
                </a:solidFill>
              </a:rPr>
              <a:t>both an IPv4 and IPv6 </a:t>
            </a:r>
            <a:r>
              <a:rPr lang="en-US"/>
              <a:t>network.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recommended</a:t>
            </a:r>
            <a:r>
              <a:rPr lang="en-US"/>
              <a:t> option.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Involves running IPv4 and IPv6 at the same time</a:t>
            </a:r>
            <a:r>
              <a:rPr lang="en-US">
                <a:solidFill>
                  <a:srgbClr val="FFFF00"/>
                </a:solidFill>
              </a:rPr>
              <a:t>.</a:t>
            </a:r>
            <a:endParaRPr/>
          </a:p>
        </p:txBody>
      </p:sp>
      <p:sp>
        <p:nvSpPr>
          <p:cNvPr id="431" name="Google Shape;431;p60"/>
          <p:cNvSpPr txBox="1"/>
          <p:nvPr>
            <p:ph type="title"/>
          </p:nvPr>
        </p:nvSpPr>
        <p:spPr>
          <a:xfrm>
            <a:off x="1981200" y="304800"/>
            <a:ext cx="823118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Dual Stack</a:t>
            </a:r>
            <a:endParaRPr/>
          </a:p>
        </p:txBody>
      </p:sp>
      <p:sp>
        <p:nvSpPr>
          <p:cNvPr id="432" name="Google Shape;432;p6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33" name="Google Shape;43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2136" y="3607352"/>
            <a:ext cx="5943600" cy="286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439" name="Google Shape;439;p63"/>
          <p:cNvSpPr txBox="1"/>
          <p:nvPr>
            <p:ph idx="1" type="body"/>
          </p:nvPr>
        </p:nvSpPr>
        <p:spPr>
          <a:xfrm>
            <a:off x="1752600" y="4297364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is an integration method where an </a:t>
            </a:r>
            <a:r>
              <a:rPr lang="en-US" sz="2800">
                <a:solidFill>
                  <a:srgbClr val="7030A0"/>
                </a:solidFill>
              </a:rPr>
              <a:t>IPv6 packet is encapsulated within another protocol.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encapsulates the IPv6 packet in the IPv4 packet. </a:t>
            </a:r>
            <a:endParaRPr/>
          </a:p>
        </p:txBody>
      </p:sp>
      <p:pic>
        <p:nvPicPr>
          <p:cNvPr descr="ips66.jpg" id="440" name="Google Shape;44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63"/>
          <p:cNvCxnSpPr/>
          <p:nvPr/>
        </p:nvCxnSpPr>
        <p:spPr>
          <a:xfrm flipH="1" rot="-5400000">
            <a:off x="3314700" y="1866900"/>
            <a:ext cx="1752600" cy="1676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442" name="Google Shape;442;p63"/>
          <p:cNvCxnSpPr/>
          <p:nvPr/>
        </p:nvCxnSpPr>
        <p:spPr>
          <a:xfrm>
            <a:off x="5181600" y="3581400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443" name="Google Shape;443;p63"/>
          <p:cNvCxnSpPr/>
          <p:nvPr/>
        </p:nvCxnSpPr>
        <p:spPr>
          <a:xfrm rot="-5400000">
            <a:off x="6667500" y="2019300"/>
            <a:ext cx="1828800" cy="1295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444" name="Google Shape;444;p63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sp>
        <p:nvSpPr>
          <p:cNvPr id="445" name="Google Shape;445;p6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63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4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451" name="Google Shape;451;p64"/>
          <p:cNvSpPr txBox="1"/>
          <p:nvPr>
            <p:ph idx="1" type="body"/>
          </p:nvPr>
        </p:nvSpPr>
        <p:spPr>
          <a:xfrm>
            <a:off x="1676400" y="4343400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/>
              <a:t>When IPv4 is used to encapsulate the IPv6 packet: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Protocol type of </a:t>
            </a:r>
            <a:r>
              <a:rPr lang="en-US" sz="2400">
                <a:solidFill>
                  <a:srgbClr val="7030A0"/>
                </a:solidFill>
              </a:rPr>
              <a:t>41.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solidFill>
                  <a:srgbClr val="7030A0"/>
                </a:solidFill>
              </a:rPr>
              <a:t>20-byte IPv4 header </a:t>
            </a:r>
            <a:r>
              <a:rPr lang="en-US" sz="2400"/>
              <a:t>with no options.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IPv6 header and payload.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Requires </a:t>
            </a:r>
            <a:r>
              <a:rPr lang="en-US" sz="2400">
                <a:solidFill>
                  <a:srgbClr val="7030A0"/>
                </a:solidFill>
              </a:rPr>
              <a:t>dual stacked </a:t>
            </a:r>
            <a:r>
              <a:rPr lang="en-US" sz="2400"/>
              <a:t>routers.</a:t>
            </a:r>
            <a:endParaRPr/>
          </a:p>
        </p:txBody>
      </p:sp>
      <p:pic>
        <p:nvPicPr>
          <p:cNvPr descr="ips66.jpg" id="452" name="Google Shape;45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64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sp>
        <p:nvSpPr>
          <p:cNvPr id="454" name="Google Shape;454;p64"/>
          <p:cNvSpPr/>
          <p:nvPr/>
        </p:nvSpPr>
        <p:spPr>
          <a:xfrm>
            <a:off x="3962400" y="3733800"/>
            <a:ext cx="39624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5"/>
          <p:cNvSpPr txBox="1"/>
          <p:nvPr>
            <p:ph type="title"/>
          </p:nvPr>
        </p:nvSpPr>
        <p:spPr>
          <a:xfrm>
            <a:off x="1587500" y="672922"/>
            <a:ext cx="10018713" cy="782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r>
              <a:rPr lang="en-US">
                <a:solidFill>
                  <a:srgbClr val="000000"/>
                </a:solidFill>
              </a:rPr>
              <a:t>NAT Protocol Translation</a:t>
            </a:r>
            <a:br>
              <a:rPr lang="en-US"/>
            </a:br>
            <a:endParaRPr/>
          </a:p>
        </p:txBody>
      </p:sp>
      <p:sp>
        <p:nvSpPr>
          <p:cNvPr id="461" name="Google Shape;461;p65"/>
          <p:cNvSpPr txBox="1"/>
          <p:nvPr>
            <p:ph idx="1" type="body"/>
          </p:nvPr>
        </p:nvSpPr>
        <p:spPr>
          <a:xfrm>
            <a:off x="1587500" y="161218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Important method of transition to IPv6 by means of a NAT-PT (Network Address Translation – Protocol Translation) enabled device.</a:t>
            </a:r>
            <a:endParaRPr/>
          </a:p>
        </p:txBody>
      </p:sp>
      <p:sp>
        <p:nvSpPr>
          <p:cNvPr descr="File:6to4.svg" id="462" name="Google Shape;462;p65"/>
          <p:cNvSpPr/>
          <p:nvPr/>
        </p:nvSpPr>
        <p:spPr>
          <a:xfrm>
            <a:off x="1587500" y="-136525"/>
            <a:ext cx="7620000" cy="503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0050" y="2448661"/>
            <a:ext cx="6126480" cy="230362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/>
          <p:nvPr/>
        </p:nvSpPr>
        <p:spPr>
          <a:xfrm>
            <a:off x="1954023" y="4762833"/>
            <a:ext cx="84528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IPv4 host sends a request packet to the IPv6 server, the NAT-PT device/router strips down the IPv4 packet, removes IPv4 header, and adds IPv6 header and passes it through the Internet. When a response from the IPv6 server comes for the IPv4 host, the router does vice versa.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65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2020-08-26T05:29:28Z</dcterms:created>
  <dc:creator>Mehnaz</dc:creator>
</cp:coreProperties>
</file>