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Corbel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XinnC0gOm6f9z1k9m7bef03zs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290321-1DC6-4062-9625-FBDD51B7DA85}">
  <a:tblStyle styleId="{FC290321-1DC6-4062-9625-FBDD51B7DA8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EAF9"/>
          </a:solidFill>
        </a:fill>
      </a:tcStyle>
    </a:wholeTbl>
    <a:band1H>
      <a:tcTxStyle b="off" i="off"/>
      <a:tcStyle>
        <a:fill>
          <a:solidFill>
            <a:srgbClr val="E0D2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D2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9F443D0F-CFBB-4555-BA24-CDC7F9DDB4C1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F4E8"/>
          </a:solidFill>
        </a:fill>
      </a:tcStyle>
    </a:wholeTbl>
    <a:band1H>
      <a:tcTxStyle b="off" i="off"/>
      <a:tcStyle>
        <a:fill>
          <a:solidFill>
            <a:srgbClr val="D7E9C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7E9C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Corbel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rbel-italic.fntdata"/><Relationship Id="rId25" Type="http://schemas.openxmlformats.org/officeDocument/2006/relationships/font" Target="fonts/Corbel-bold.fntdata"/><Relationship Id="rId28" Type="http://customschemas.google.com/relationships/presentationmetadata" Target="metadata"/><Relationship Id="rId27" Type="http://schemas.openxmlformats.org/officeDocument/2006/relationships/font" Target="fonts/Corbe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54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4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54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6.1.1.1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If there is no dynamic routing protocols</a:t>
            </a:r>
            <a:endParaRPr/>
          </a:p>
        </p:txBody>
      </p:sp>
      <p:sp>
        <p:nvSpPr>
          <p:cNvPr id="191" name="Google Shape;191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58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8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9" name="Google Shape;199;p58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number of routes advertised by summarizing several contiguous networks as one static route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60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0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7" name="Google Shape;207;p60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6.2.1.1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0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6.2.1.1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129da5eb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32129da5eb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129da5eb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2129da5eb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56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6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1" name="Google Shape;351;p56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 of static routing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most secure way of routing, since no information is shared with other routers.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puts no overhead on resources such as CPU or memory.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routing algorithm or update mechanisms are required. Therefore, extra resources (CPU and memory) are not required.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easy to implement.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57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7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9" name="Google Shape;359;p57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6.1.1.2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3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4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4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0" name="Google Shape;70;p44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5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8" name="Google Shape;78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6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6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5" name="Google Shape;85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7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9" name="Google Shape;99;p48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9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9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0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4" name="Google Shape;114;p50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1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1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1" name="Google Shape;121;p51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2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8" name="Google Shape;128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3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3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IPv4 Static Routing</a:t>
            </a:r>
            <a:endParaRPr/>
          </a:p>
        </p:txBody>
      </p:sp>
      <p:sp>
        <p:nvSpPr>
          <p:cNvPr id="143" name="Google Shape;143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11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0" name="Google Shape;150;p2"/>
          <p:cNvSpPr txBox="1"/>
          <p:nvPr>
            <p:ph idx="1" type="body"/>
          </p:nvPr>
        </p:nvSpPr>
        <p:spPr>
          <a:xfrm>
            <a:off x="1484310" y="1066800"/>
            <a:ext cx="10018713" cy="5414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lang="en-US" sz="3800"/>
              <a:t>Static Routing</a:t>
            </a:r>
            <a:endParaRPr sz="3800"/>
          </a:p>
          <a:p>
            <a:pPr indent="-431800" lvl="0" marL="45720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Standard static routing</a:t>
            </a:r>
            <a:endParaRPr sz="32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Directly Attached / Connected</a:t>
            </a:r>
            <a:endParaRPr sz="3000"/>
          </a:p>
          <a:p>
            <a:pPr indent="-419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Next Hop / Recursive</a:t>
            </a:r>
            <a:endParaRPr sz="3000"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Default Routing</a:t>
            </a:r>
            <a:endParaRPr sz="3200"/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Floating Static Routing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3400"/>
          </a:p>
        </p:txBody>
      </p:sp>
      <p:pic>
        <p:nvPicPr>
          <p:cNvPr id="151" name="Google Shape;15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4"/>
          <p:cNvSpPr txBox="1"/>
          <p:nvPr/>
        </p:nvSpPr>
        <p:spPr>
          <a:xfrm>
            <a:off x="1624987" y="1283677"/>
            <a:ext cx="9954482" cy="43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341313" lvl="0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 router can learn about remote networks in one of two ways:</a:t>
            </a:r>
            <a:endParaRPr b="0" i="0" sz="18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3" lvl="0" marL="4603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Manually</a:t>
            </a:r>
            <a:r>
              <a:rPr b="0" i="0" lang="en-US" sz="3600" u="none" cap="none" strike="noStrike">
                <a:solidFill>
                  <a:schemeClr val="accent4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Remote networks are manually entered into the route table using static routes.</a:t>
            </a:r>
            <a:endParaRPr b="0" i="0" sz="18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3" lvl="0" marL="4603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Dynamically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- Remote networks are automatically learned using a dynamic routing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3"/>
          <p:cNvGrpSpPr/>
          <p:nvPr/>
        </p:nvGrpSpPr>
        <p:grpSpPr>
          <a:xfrm>
            <a:off x="1086826" y="1230349"/>
            <a:ext cx="10245722" cy="5081954"/>
            <a:chOff x="1086826" y="1230349"/>
            <a:chExt cx="10245722" cy="5081954"/>
          </a:xfrm>
        </p:grpSpPr>
        <p:pic>
          <p:nvPicPr>
            <p:cNvPr id="165" name="Google Shape;16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3"/>
            <p:cNvSpPr txBox="1"/>
            <p:nvPr/>
          </p:nvSpPr>
          <p:spPr>
            <a:xfrm>
              <a:off x="7703403" y="1451597"/>
              <a:ext cx="168946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20.20.20.0/30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3"/>
          <p:cNvGraphicFramePr/>
          <p:nvPr/>
        </p:nvGraphicFramePr>
        <p:xfrm>
          <a:off x="1501011" y="998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{FC290321-1DC6-4062-9625-FBDD51B7DA85}</a:tableStyleId>
              </a:tblPr>
              <a:tblGrid>
                <a:gridCol w="1404025"/>
                <a:gridCol w="661200"/>
              </a:tblGrid>
              <a:tr h="3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Network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Exit Int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192.168.10.0/24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192.168.11.0/24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G0/1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209.165.200.224/30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S0/0/0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70" name="Google Shape;170;p3"/>
          <p:cNvGraphicFramePr/>
          <p:nvPr/>
        </p:nvGraphicFramePr>
        <p:xfrm>
          <a:off x="5112114" y="13389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{9F443D0F-CFBB-4555-BA24-CDC7F9DDB4C1}</a:tableStyleId>
              </a:tblPr>
              <a:tblGrid>
                <a:gridCol w="1404025"/>
                <a:gridCol w="661200"/>
              </a:tblGrid>
              <a:tr h="3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Network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Exit Int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10.1.1.0/24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10.1.2.0/24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G0/1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209.165.200.224/30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S0/0/0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/>
                        <a:t>220.20.20.0/30</a:t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/>
                        <a:t>G0/2</a:t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71" name="Google Shape;171;p3"/>
          <p:cNvGrpSpPr/>
          <p:nvPr/>
        </p:nvGrpSpPr>
        <p:grpSpPr>
          <a:xfrm>
            <a:off x="3598902" y="1351349"/>
            <a:ext cx="1485250" cy="877603"/>
            <a:chOff x="3598902" y="1351349"/>
            <a:chExt cx="1485250" cy="877603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3815741" y="1586174"/>
              <a:ext cx="12684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Directly connected </a:t>
              </a:r>
              <a:endParaRPr b="1" i="0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3598902" y="1351349"/>
              <a:ext cx="232996" cy="87760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28575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"/>
          <p:cNvSpPr txBox="1"/>
          <p:nvPr/>
        </p:nvSpPr>
        <p:spPr>
          <a:xfrm>
            <a:off x="7437128" y="2060936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b="1" i="0" sz="12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7169948" y="1683210"/>
            <a:ext cx="287460" cy="115498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6210600" y="4651483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6619443" y="3554589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987589" y="698010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Table of R1</a:t>
            </a:r>
            <a:endParaRPr b="1" i="0" sz="12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5632008" y="1036945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Table of R2</a:t>
            </a:r>
            <a:endParaRPr b="1" i="0" sz="12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1653309" y="2352856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2891266" y="2334005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669502" y="2670542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891266" y="2685931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224783" y="3041713"/>
            <a:ext cx="130210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192.168.10.0/24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6554849" y="3030020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5228062" y="3350992"/>
            <a:ext cx="129882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192.168.11.0/24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554849" y="3292979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5"/>
          <p:cNvSpPr txBox="1"/>
          <p:nvPr>
            <p:ph idx="1" type="body"/>
          </p:nvPr>
        </p:nvSpPr>
        <p:spPr>
          <a:xfrm>
            <a:off x="1369216" y="1339361"/>
            <a:ext cx="10248900" cy="4393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Manually configured route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to reach networks not directly connected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Does not update automatically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048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Changes must be applied manually</a:t>
            </a:r>
            <a:endParaRPr/>
          </a:p>
        </p:txBody>
      </p:sp>
      <p:sp>
        <p:nvSpPr>
          <p:cNvPr id="194" name="Google Shape;194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8"/>
          <p:cNvSpPr txBox="1"/>
          <p:nvPr/>
        </p:nvSpPr>
        <p:spPr>
          <a:xfrm>
            <a:off x="1634694" y="1389785"/>
            <a:ext cx="9689088" cy="5158797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Static Routes are often used to: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Reach a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specific remote network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Set a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default route</a:t>
            </a: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(gateway of last resort)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Provide 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 backup path 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(floating static route)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5715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Reduce routing table entries (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summarization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</a:t>
            </a:r>
            <a:endParaRPr/>
          </a:p>
          <a:p>
            <a:pPr indent="-3429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19100" lvl="0" marL="5715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58"/>
          <p:cNvSpPr txBox="1"/>
          <p:nvPr/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Types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0"/>
          <p:cNvSpPr txBox="1"/>
          <p:nvPr>
            <p:ph type="title"/>
          </p:nvPr>
        </p:nvSpPr>
        <p:spPr>
          <a:xfrm>
            <a:off x="2048453" y="233506"/>
            <a:ext cx="84566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Static Route : How??</a:t>
            </a:r>
            <a:endParaRPr/>
          </a:p>
        </p:txBody>
      </p:sp>
      <p:sp>
        <p:nvSpPr>
          <p:cNvPr id="210" name="Google Shape;210;p60"/>
          <p:cNvSpPr txBox="1"/>
          <p:nvPr/>
        </p:nvSpPr>
        <p:spPr>
          <a:xfrm>
            <a:off x="1948510" y="4933452"/>
            <a:ext cx="1431999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R1(config)#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60"/>
          <p:cNvGrpSpPr/>
          <p:nvPr/>
        </p:nvGrpSpPr>
        <p:grpSpPr>
          <a:xfrm>
            <a:off x="2479265" y="984971"/>
            <a:ext cx="7172735" cy="3688629"/>
            <a:chOff x="1086826" y="1230349"/>
            <a:chExt cx="10245722" cy="5081954"/>
          </a:xfrm>
        </p:grpSpPr>
        <p:pic>
          <p:nvPicPr>
            <p:cNvPr id="212" name="Google Shape;212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60"/>
            <p:cNvSpPr txBox="1"/>
            <p:nvPr/>
          </p:nvSpPr>
          <p:spPr>
            <a:xfrm>
              <a:off x="7294405" y="1395778"/>
              <a:ext cx="2111897" cy="4239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20.20.20.0/30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60"/>
          <p:cNvSpPr txBox="1"/>
          <p:nvPr/>
        </p:nvSpPr>
        <p:spPr>
          <a:xfrm>
            <a:off x="3086608" y="5292906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ip route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0"/>
          <p:cNvSpPr txBox="1"/>
          <p:nvPr/>
        </p:nvSpPr>
        <p:spPr>
          <a:xfrm>
            <a:off x="4403158" y="4956537"/>
            <a:ext cx="1505316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Parameter 1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0"/>
          <p:cNvSpPr/>
          <p:nvPr/>
        </p:nvSpPr>
        <p:spPr>
          <a:xfrm>
            <a:off x="7278255" y="2078182"/>
            <a:ext cx="1025235" cy="48029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0"/>
          <p:cNvSpPr/>
          <p:nvPr/>
        </p:nvSpPr>
        <p:spPr>
          <a:xfrm>
            <a:off x="7356764" y="4083090"/>
            <a:ext cx="1025235" cy="48029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0"/>
          <p:cNvSpPr/>
          <p:nvPr/>
        </p:nvSpPr>
        <p:spPr>
          <a:xfrm>
            <a:off x="4327237" y="3089564"/>
            <a:ext cx="1025235" cy="480291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0"/>
          <p:cNvSpPr txBox="1"/>
          <p:nvPr/>
        </p:nvSpPr>
        <p:spPr>
          <a:xfrm>
            <a:off x="5814294" y="4956537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Parameter 2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0"/>
          <p:cNvSpPr txBox="1"/>
          <p:nvPr/>
        </p:nvSpPr>
        <p:spPr>
          <a:xfrm>
            <a:off x="7218218" y="5339052"/>
            <a:ext cx="2452254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Exit interface or next hop IP address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0"/>
          <p:cNvSpPr txBox="1"/>
          <p:nvPr/>
        </p:nvSpPr>
        <p:spPr>
          <a:xfrm>
            <a:off x="4040729" y="5282146"/>
            <a:ext cx="1867745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The remote network address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0"/>
          <p:cNvSpPr txBox="1"/>
          <p:nvPr/>
        </p:nvSpPr>
        <p:spPr>
          <a:xfrm>
            <a:off x="3175521" y="4940619"/>
            <a:ext cx="1202855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command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0"/>
          <p:cNvSpPr txBox="1"/>
          <p:nvPr/>
        </p:nvSpPr>
        <p:spPr>
          <a:xfrm>
            <a:off x="5740404" y="5392649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Subnet Mask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0"/>
          <p:cNvSpPr txBox="1"/>
          <p:nvPr/>
        </p:nvSpPr>
        <p:spPr>
          <a:xfrm>
            <a:off x="7278255" y="4957771"/>
            <a:ext cx="2255981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Parameter 3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0"/>
          <p:cNvSpPr txBox="1"/>
          <p:nvPr/>
        </p:nvSpPr>
        <p:spPr>
          <a:xfrm>
            <a:off x="4040728" y="5933186"/>
            <a:ext cx="1867745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10.1.1.0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0"/>
          <p:cNvSpPr txBox="1"/>
          <p:nvPr/>
        </p:nvSpPr>
        <p:spPr>
          <a:xfrm>
            <a:off x="3086608" y="5918033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ip route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0"/>
          <p:cNvSpPr txBox="1"/>
          <p:nvPr/>
        </p:nvSpPr>
        <p:spPr>
          <a:xfrm>
            <a:off x="5740404" y="5933186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255.255.255.0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0"/>
          <p:cNvSpPr txBox="1"/>
          <p:nvPr/>
        </p:nvSpPr>
        <p:spPr>
          <a:xfrm>
            <a:off x="7241495" y="5942585"/>
            <a:ext cx="122825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0"/>
          <p:cNvSpPr txBox="1"/>
          <p:nvPr/>
        </p:nvSpPr>
        <p:spPr>
          <a:xfrm>
            <a:off x="7924982" y="5942585"/>
            <a:ext cx="2237818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209.165.200.226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0"/>
          <p:cNvSpPr txBox="1"/>
          <p:nvPr/>
        </p:nvSpPr>
        <p:spPr>
          <a:xfrm>
            <a:off x="1661069" y="5902880"/>
            <a:ext cx="1431999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R1(config)#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 txBox="1"/>
          <p:nvPr>
            <p:ph type="title"/>
          </p:nvPr>
        </p:nvSpPr>
        <p:spPr>
          <a:xfrm>
            <a:off x="1410418" y="288636"/>
            <a:ext cx="10018713" cy="708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Routing Table of R1 after the static route command</a:t>
            </a:r>
            <a:endParaRPr/>
          </a:p>
        </p:txBody>
      </p:sp>
      <p:sp>
        <p:nvSpPr>
          <p:cNvPr id="236" name="Google Shape;236;p5"/>
          <p:cNvSpPr txBox="1"/>
          <p:nvPr>
            <p:ph idx="1" type="body"/>
          </p:nvPr>
        </p:nvSpPr>
        <p:spPr>
          <a:xfrm>
            <a:off x="1548965" y="1407966"/>
            <a:ext cx="8592563" cy="25226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R1# show ip route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 192.168.10.0/24 is directly connected, GigabitEthernet0/0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 192.168.11.0/24 is directly connected, GigabitEthernet0/1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 209.165.200.224/30 is directly connected, Serial0/0/0</a:t>
            </a:r>
            <a:endParaRPr/>
          </a:p>
          <a:p>
            <a:pPr indent="0" lvl="0" marL="6286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 10.1.1.0/24 is directly connected, Serial0/0/0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1548965" y="4416837"/>
            <a:ext cx="8527908" cy="2429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R1# show ip route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192.168.10.0/24 is directly connected, GigabitEthernet0/0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192.168.11.0/24 is directly connected, GigabitEthernet0/1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209.165.200.224/30 is directly connected, Serial0/0/0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10.1.1.0/24 [1/0] via 209.165.200.226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1548965" y="934061"/>
            <a:ext cx="386541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Using Exit interface</a:t>
            </a:r>
            <a:endParaRPr b="0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1548964" y="3930650"/>
            <a:ext cx="4399254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Using next hop IP address</a:t>
            </a:r>
            <a:endParaRPr b="0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/>
          <p:nvPr>
            <p:ph type="title"/>
          </p:nvPr>
        </p:nvSpPr>
        <p:spPr>
          <a:xfrm>
            <a:off x="1410418" y="288636"/>
            <a:ext cx="10018713" cy="708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Recursive Lookup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1410418" y="1165634"/>
            <a:ext cx="7188638" cy="2429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R1# show ip route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192.168.10.0/24 is directly connected, GigabitEthernet0/0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192.168.11.0/24 is directly connected, GigabitEthernet0/1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209.165.200.224/30 is directly connected, Serial0/0/0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10.1.1.0/24 [1/0] via 209.165.200.226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6" name="Google Shape;246;p7"/>
          <p:cNvGrpSpPr/>
          <p:nvPr/>
        </p:nvGrpSpPr>
        <p:grpSpPr>
          <a:xfrm>
            <a:off x="7453745" y="3029527"/>
            <a:ext cx="4738255" cy="2650836"/>
            <a:chOff x="1086826" y="1230349"/>
            <a:chExt cx="10245722" cy="5081954"/>
          </a:xfrm>
        </p:grpSpPr>
        <p:pic>
          <p:nvPicPr>
            <p:cNvPr id="247" name="Google Shape;247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7"/>
            <p:cNvSpPr txBox="1"/>
            <p:nvPr/>
          </p:nvSpPr>
          <p:spPr>
            <a:xfrm>
              <a:off x="6535460" y="1555143"/>
              <a:ext cx="2939674" cy="501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20.20.20.0/30</a:t>
              </a:r>
              <a:endParaRPr b="1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p7"/>
          <p:cNvSpPr/>
          <p:nvPr/>
        </p:nvSpPr>
        <p:spPr>
          <a:xfrm>
            <a:off x="7647708" y="4922981"/>
            <a:ext cx="240146" cy="175491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1100036" y="3797224"/>
            <a:ext cx="61966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Router R1 receives a packet which has the  destination  address is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10.1.1.24 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1410418" y="2849439"/>
            <a:ext cx="1693000" cy="49412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945799" y="2849439"/>
            <a:ext cx="2133471" cy="49412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1426013" y="2434269"/>
            <a:ext cx="6554205" cy="494125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8926944" y="4505110"/>
            <a:ext cx="240146" cy="175491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167090" y="4809887"/>
            <a:ext cx="406399" cy="24706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022944" y="4922981"/>
            <a:ext cx="619669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How </a:t>
            </a:r>
            <a:r>
              <a:rPr b="1" i="0" lang="en-US" sz="2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many times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did the Router R1 look up the routing table?</a:t>
            </a:r>
            <a:endParaRPr b="0" i="0" sz="28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 txBox="1"/>
          <p:nvPr>
            <p:ph type="title"/>
          </p:nvPr>
        </p:nvSpPr>
        <p:spPr>
          <a:xfrm>
            <a:off x="1410418" y="288636"/>
            <a:ext cx="10018713" cy="708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lang="en-US"/>
              <a:t>Routing Table of R1 after the static route command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1410418" y="1793710"/>
            <a:ext cx="8527908" cy="2429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R1# show ip route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192.168.10.0/24 is directly connected, GigabitEthernet0/0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192.168.11.0/24 is directly connected, GigabitEthernet0/1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209.165.200.224/30 is directly connected, Serial0/0/0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10.1.1.0/24 [1/0] via 209.165.200.226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1410418" y="1215159"/>
            <a:ext cx="4399254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Using next hop IP address</a:t>
            </a:r>
            <a:endParaRPr b="0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502715" y="3737796"/>
            <a:ext cx="317122" cy="28925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653768" y="4378731"/>
            <a:ext cx="1513299" cy="64633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Type of route: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 - Static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p8"/>
          <p:cNvCxnSpPr>
            <a:stCxn id="264" idx="2"/>
            <a:endCxn id="265" idx="0"/>
          </p:cNvCxnSpPr>
          <p:nvPr/>
        </p:nvCxnSpPr>
        <p:spPr>
          <a:xfrm flipH="1">
            <a:off x="1410476" y="4027055"/>
            <a:ext cx="250800" cy="351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p8"/>
          <p:cNvSpPr/>
          <p:nvPr/>
        </p:nvSpPr>
        <p:spPr>
          <a:xfrm>
            <a:off x="1819837" y="3758084"/>
            <a:ext cx="1532963" cy="26897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2288358" y="4610760"/>
            <a:ext cx="1383731" cy="64629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Destination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8"/>
          <p:cNvCxnSpPr>
            <a:stCxn id="267" idx="2"/>
          </p:cNvCxnSpPr>
          <p:nvPr/>
        </p:nvCxnSpPr>
        <p:spPr>
          <a:xfrm>
            <a:off x="2586319" y="4027056"/>
            <a:ext cx="207300" cy="583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8"/>
          <p:cNvSpPr/>
          <p:nvPr/>
        </p:nvSpPr>
        <p:spPr>
          <a:xfrm>
            <a:off x="4544119" y="3737796"/>
            <a:ext cx="2327736" cy="28925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5551128" y="4787293"/>
            <a:ext cx="3429740" cy="64629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Next Hop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Or, Exit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8"/>
          <p:cNvCxnSpPr>
            <a:stCxn id="270" idx="2"/>
            <a:endCxn id="271" idx="0"/>
          </p:cNvCxnSpPr>
          <p:nvPr/>
        </p:nvCxnSpPr>
        <p:spPr>
          <a:xfrm>
            <a:off x="5707987" y="4027055"/>
            <a:ext cx="1557900" cy="760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8"/>
          <p:cNvSpPr/>
          <p:nvPr/>
        </p:nvSpPr>
        <p:spPr>
          <a:xfrm>
            <a:off x="3420309" y="3785537"/>
            <a:ext cx="245165" cy="21203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3765505" y="3792161"/>
            <a:ext cx="256931" cy="28925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2456621" y="5496046"/>
            <a:ext cx="2123256" cy="64629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Administrative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Distance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 txBox="1"/>
          <p:nvPr/>
        </p:nvSpPr>
        <p:spPr>
          <a:xfrm>
            <a:off x="3915535" y="4707265"/>
            <a:ext cx="1356462" cy="36933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Cost of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8"/>
          <p:cNvCxnSpPr>
            <a:stCxn id="273" idx="2"/>
          </p:cNvCxnSpPr>
          <p:nvPr/>
        </p:nvCxnSpPr>
        <p:spPr>
          <a:xfrm flipH="1">
            <a:off x="3463092" y="3997572"/>
            <a:ext cx="79800" cy="1555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8"/>
          <p:cNvCxnSpPr>
            <a:stCxn id="274" idx="2"/>
            <a:endCxn id="276" idx="0"/>
          </p:cNvCxnSpPr>
          <p:nvPr/>
        </p:nvCxnSpPr>
        <p:spPr>
          <a:xfrm>
            <a:off x="3893971" y="4081420"/>
            <a:ext cx="699900" cy="625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8"/>
          <p:cNvSpPr txBox="1"/>
          <p:nvPr/>
        </p:nvSpPr>
        <p:spPr>
          <a:xfrm>
            <a:off x="2167066" y="6142336"/>
            <a:ext cx="91024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AD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: The trustworthiness of the source of the route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884974"/>
            <a:ext cx="9457808" cy="468208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9"/>
          <p:cNvSpPr txBox="1"/>
          <p:nvPr>
            <p:ph type="title"/>
          </p:nvPr>
        </p:nvSpPr>
        <p:spPr>
          <a:xfrm>
            <a:off x="1410418" y="288636"/>
            <a:ext cx="10018713" cy="708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Default Route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1524000" y="997527"/>
            <a:ext cx="8315097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All PCs of R1 and R2 need to go to the Internet ….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1930400" y="2537374"/>
            <a:ext cx="5715000" cy="400050"/>
          </a:xfrm>
          <a:prstGeom prst="rect">
            <a:avLst/>
          </a:prstGeom>
          <a:solidFill>
            <a:srgbClr val="FF9300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 route 0.0.0.0 0.0.0.0 s0/0/1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9"/>
          <p:cNvCxnSpPr>
            <a:stCxn id="287" idx="2"/>
          </p:cNvCxnSpPr>
          <p:nvPr/>
        </p:nvCxnSpPr>
        <p:spPr>
          <a:xfrm>
            <a:off x="4787900" y="2937424"/>
            <a:ext cx="2164500" cy="1852200"/>
          </a:xfrm>
          <a:prstGeom prst="straightConnector1">
            <a:avLst/>
          </a:prstGeom>
          <a:noFill/>
          <a:ln cap="flat" cmpd="sng" w="38100">
            <a:solidFill>
              <a:srgbClr val="D44435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6934" y="860244"/>
            <a:ext cx="8456613" cy="418644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0"/>
          <p:cNvSpPr txBox="1"/>
          <p:nvPr>
            <p:ph type="title"/>
          </p:nvPr>
        </p:nvSpPr>
        <p:spPr>
          <a:xfrm>
            <a:off x="2048453" y="233506"/>
            <a:ext cx="84566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200">
                <a:solidFill>
                  <a:srgbClr val="708CA1"/>
                </a:solidFill>
              </a:rPr>
              <a:t>ip route Command</a:t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3016733" y="5377110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ip route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949366" y="3188854"/>
            <a:ext cx="956464" cy="657432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7241495" y="5234145"/>
            <a:ext cx="2452254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Exit interface or next hop IP address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4040729" y="5282146"/>
            <a:ext cx="1867745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The remote network address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5727840" y="5334909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Subnet Mask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4011914" y="5773328"/>
            <a:ext cx="1867745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0.0.0.0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2964328" y="5715624"/>
            <a:ext cx="107640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ip route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5727840" y="5761974"/>
            <a:ext cx="154247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0.0.0.0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7256009" y="5724874"/>
            <a:ext cx="1228250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S0/0/1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 txBox="1"/>
          <p:nvPr/>
        </p:nvSpPr>
        <p:spPr>
          <a:xfrm>
            <a:off x="1584734" y="5731163"/>
            <a:ext cx="1431999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R2(config)#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4465838" y="6084169"/>
            <a:ext cx="2223278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Any network</a:t>
            </a:r>
            <a:endParaRPr b="0" i="0" sz="18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10198279" y="2753429"/>
            <a:ext cx="2223278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What about R1?</a:t>
            </a:r>
            <a:endParaRPr b="0" i="0" sz="1800" u="none" cap="none" strike="noStrike">
              <a:solidFill>
                <a:srgbClr val="FF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9" name="Google Shape;309;p10"/>
          <p:cNvSpPr txBox="1"/>
          <p:nvPr/>
        </p:nvSpPr>
        <p:spPr>
          <a:xfrm>
            <a:off x="1183228" y="1243533"/>
            <a:ext cx="5715000" cy="400050"/>
          </a:xfrm>
          <a:prstGeom prst="rect">
            <a:avLst/>
          </a:prstGeom>
          <a:solidFill>
            <a:srgbClr val="5E9934"/>
          </a:solidFill>
          <a:ln cap="flat" cmpd="sng" w="2540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ip route 0.0.0.0 0.0.0.0 s0/0/0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0" name="Google Shape;310;p10"/>
          <p:cNvCxnSpPr>
            <a:stCxn id="309" idx="2"/>
          </p:cNvCxnSpPr>
          <p:nvPr/>
        </p:nvCxnSpPr>
        <p:spPr>
          <a:xfrm>
            <a:off x="4040728" y="1643583"/>
            <a:ext cx="425100" cy="1676700"/>
          </a:xfrm>
          <a:prstGeom prst="straightConnector1">
            <a:avLst/>
          </a:prstGeom>
          <a:noFill/>
          <a:ln cap="flat" cmpd="sng" w="38100">
            <a:solidFill>
              <a:srgbClr val="D4443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" name="Google Shape;311;p10"/>
          <p:cNvCxnSpPr/>
          <p:nvPr/>
        </p:nvCxnSpPr>
        <p:spPr>
          <a:xfrm>
            <a:off x="4905830" y="2812729"/>
            <a:ext cx="671647" cy="3729"/>
          </a:xfrm>
          <a:prstGeom prst="straightConnector1">
            <a:avLst/>
          </a:prstGeom>
          <a:noFill/>
          <a:ln cap="flat" cmpd="sng" w="69850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10"/>
          <p:cNvCxnSpPr/>
          <p:nvPr/>
        </p:nvCxnSpPr>
        <p:spPr>
          <a:xfrm flipH="1" rot="10800000">
            <a:off x="6851408" y="1831043"/>
            <a:ext cx="418902" cy="566356"/>
          </a:xfrm>
          <a:prstGeom prst="straightConnector1">
            <a:avLst/>
          </a:prstGeom>
          <a:noFill/>
          <a:ln cap="flat" cmpd="sng" w="69850">
            <a:solidFill>
              <a:srgbClr val="FF93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med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Default Static Route in the Routing Table</a:t>
            </a:r>
            <a:endParaRPr/>
          </a:p>
        </p:txBody>
      </p:sp>
      <p:pic>
        <p:nvPicPr>
          <p:cNvPr id="318" name="Google Shape;3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8"/>
          <p:cNvSpPr txBox="1"/>
          <p:nvPr/>
        </p:nvSpPr>
        <p:spPr>
          <a:xfrm>
            <a:off x="1410418" y="1793710"/>
            <a:ext cx="8527908" cy="24291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R1# show ip route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192.168.10.0/24 is directly connected, GigabitEthernet0/0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192.168.11.0/24 is directly connected, GigabitEthernet0/1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209.165.200.224/30 is directly connected, Serial0/0/0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10.1.1.0/24 [1/0] via 209.165.200.226</a:t>
            </a:r>
            <a:endParaRPr/>
          </a:p>
          <a:p>
            <a:pPr indent="0" lvl="0" marL="62864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S* 0.0.0.0/0 is directly connected, Serial0/0/0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1484309" y="3787836"/>
            <a:ext cx="6484033" cy="435038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129da5eb9_0_0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Static Routing</a:t>
            </a:r>
            <a:endParaRPr/>
          </a:p>
        </p:txBody>
      </p:sp>
      <p:pic>
        <p:nvPicPr>
          <p:cNvPr id="326" name="Google Shape;326;g32129da5eb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2129da5eb9_0_0"/>
          <p:cNvSpPr txBox="1"/>
          <p:nvPr/>
        </p:nvSpPr>
        <p:spPr>
          <a:xfrm>
            <a:off x="6751782" y="6191976"/>
            <a:ext cx="452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https://study-ccna.com/floating-static-route/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g32129da5eb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7717" y="1392195"/>
            <a:ext cx="9120361" cy="450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129da5eb9_0_7"/>
          <p:cNvSpPr txBox="1"/>
          <p:nvPr/>
        </p:nvSpPr>
        <p:spPr>
          <a:xfrm>
            <a:off x="572310" y="4721552"/>
            <a:ext cx="71400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R1(config)#ip route 0.0.0.0 0.0.0.0 S0/0/0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334" name="Google Shape;334;g32129da5eb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659" y="1542319"/>
            <a:ext cx="5761032" cy="284495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g32129da5eb9_0_7"/>
          <p:cNvSpPr txBox="1"/>
          <p:nvPr/>
        </p:nvSpPr>
        <p:spPr>
          <a:xfrm>
            <a:off x="6474691" y="1542319"/>
            <a:ext cx="59532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S* 0.0.0.0/0 is directly connected, S0/0/0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S* 0.0.0.0/0 is directly connected, S0/0/1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6" name="Google Shape;336;g32129da5eb9_0_7"/>
          <p:cNvSpPr txBox="1"/>
          <p:nvPr/>
        </p:nvSpPr>
        <p:spPr>
          <a:xfrm>
            <a:off x="6876472" y="2510213"/>
            <a:ext cx="51495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Both has same cost same AD. Which one to use?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7" name="Google Shape;337;g32129da5eb9_0_7"/>
          <p:cNvSpPr txBox="1"/>
          <p:nvPr/>
        </p:nvSpPr>
        <p:spPr>
          <a:xfrm>
            <a:off x="7453745" y="5191721"/>
            <a:ext cx="517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69459"/>
              <a:buFont typeface="Arial"/>
              <a:buNone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8" name="Google Shape;338;g32129da5eb9_0_7"/>
          <p:cNvSpPr/>
          <p:nvPr/>
        </p:nvSpPr>
        <p:spPr>
          <a:xfrm flipH="1" rot="2116559">
            <a:off x="7731327" y="5451165"/>
            <a:ext cx="481026" cy="2182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2129da5eb9_0_7"/>
          <p:cNvSpPr txBox="1"/>
          <p:nvPr/>
        </p:nvSpPr>
        <p:spPr>
          <a:xfrm>
            <a:off x="8229599" y="5498796"/>
            <a:ext cx="15492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207142"/>
              <a:buFont typeface="Arial"/>
              <a:buNone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AD &gt; default Value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0" name="Google Shape;340;g32129da5eb9_0_7"/>
          <p:cNvSpPr/>
          <p:nvPr/>
        </p:nvSpPr>
        <p:spPr>
          <a:xfrm>
            <a:off x="858968" y="5144853"/>
            <a:ext cx="66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R1(config)#ip route 0.0.0.0 0.0.0.0 S0/0/1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2129da5eb9_0_7"/>
          <p:cNvSpPr txBox="1"/>
          <p:nvPr/>
        </p:nvSpPr>
        <p:spPr>
          <a:xfrm>
            <a:off x="6765636" y="1024772"/>
            <a:ext cx="5149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A93023"/>
                </a:solidFill>
                <a:latin typeface="Courier New"/>
                <a:ea typeface="Courier New"/>
                <a:cs typeface="Courier New"/>
                <a:sym typeface="Courier New"/>
              </a:rPr>
              <a:t>R1 Routing Table (Partial)</a:t>
            </a:r>
            <a:endParaRPr b="0" i="0" sz="2400" u="none" cap="none" strike="noStrike">
              <a:solidFill>
                <a:srgbClr val="A9302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2" name="Google Shape;342;g32129da5eb9_0_7"/>
          <p:cNvSpPr/>
          <p:nvPr/>
        </p:nvSpPr>
        <p:spPr>
          <a:xfrm flipH="1" rot="-1204127">
            <a:off x="6998215" y="4378210"/>
            <a:ext cx="1473999" cy="24590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2129da5eb9_0_7"/>
          <p:cNvSpPr txBox="1"/>
          <p:nvPr/>
        </p:nvSpPr>
        <p:spPr>
          <a:xfrm>
            <a:off x="8565830" y="4290717"/>
            <a:ext cx="20097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Present in Routing Table</a:t>
            </a:r>
            <a:endParaRPr b="0" i="0" sz="1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4" name="Google Shape;344;g32129da5eb9_0_7"/>
          <p:cNvSpPr/>
          <p:nvPr/>
        </p:nvSpPr>
        <p:spPr>
          <a:xfrm flipH="1" rot="2530212">
            <a:off x="4407692" y="5688888"/>
            <a:ext cx="837883" cy="13593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2129da5eb9_0_7"/>
          <p:cNvSpPr txBox="1"/>
          <p:nvPr/>
        </p:nvSpPr>
        <p:spPr>
          <a:xfrm>
            <a:off x="5076345" y="5980419"/>
            <a:ext cx="24513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None/>
            </a:pPr>
            <a:r>
              <a:rPr b="1" i="0" lang="en-US" sz="1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Present in Router Configuration File </a:t>
            </a:r>
            <a:endParaRPr b="0" i="0" sz="1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6" name="Google Shape;346;g32129da5eb9_0_7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Floating Default Static Routing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/>
        </p:nvSpPr>
        <p:spPr>
          <a:xfrm>
            <a:off x="1484310" y="1332346"/>
            <a:ext cx="10449072" cy="307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Simple and predictable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secure (not advertised)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 CPU/memory usage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4" name="Google Shape;354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 Advantages</a:t>
            </a:r>
            <a:endParaRPr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7"/>
          <p:cNvSpPr txBox="1"/>
          <p:nvPr/>
        </p:nvSpPr>
        <p:spPr>
          <a:xfrm>
            <a:off x="1605665" y="1490065"/>
            <a:ext cx="9384288" cy="467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381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Time-consuming to configure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Not scalable for large networks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automatic failover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81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Char char="•"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Requires full network knowledge</a:t>
            </a:r>
            <a:endParaRPr/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7"/>
          <p:cNvSpPr txBox="1"/>
          <p:nvPr/>
        </p:nvSpPr>
        <p:spPr>
          <a:xfrm>
            <a:off x="1086643" y="449941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Disadvantages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368" name="Google Shape;3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