
<file path=[Content_Types].xml><?xml version="1.0" encoding="utf-8"?>
<Types xmlns="http://schemas.openxmlformats.org/package/2006/content-types"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oleObject" PartName="/ppt/embeddings/oleObject2.bin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6858000" cx="12192000"/>
  <p:notesSz cx="6858000" cy="9144000"/>
  <p:embeddedFontLst>
    <p:embeddedFont>
      <p:font typeface="Corbel"/>
      <p:regular r:id="rId42"/>
      <p:bold r:id="rId43"/>
      <p:italic r:id="rId44"/>
      <p:boldItalic r:id="rId45"/>
    </p:embeddedFont>
    <p:embeddedFont>
      <p:font typeface="Tahoma"/>
      <p:regular r:id="rId46"/>
      <p:bold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48" roundtripDataSignature="AMtx7miITASRb811VVWgZcWKacveWrFT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font" Target="fonts/Corbel-regular.fntdata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font" Target="fonts/Corbel-italic.fntdata"/><Relationship Id="rId21" Type="http://schemas.openxmlformats.org/officeDocument/2006/relationships/slide" Target="slides/slide16.xml"/><Relationship Id="rId43" Type="http://schemas.openxmlformats.org/officeDocument/2006/relationships/font" Target="fonts/Corbel-bold.fntdata"/><Relationship Id="rId24" Type="http://schemas.openxmlformats.org/officeDocument/2006/relationships/slide" Target="slides/slide19.xml"/><Relationship Id="rId46" Type="http://schemas.openxmlformats.org/officeDocument/2006/relationships/font" Target="fonts/Tahoma-regular.fntdata"/><Relationship Id="rId23" Type="http://schemas.openxmlformats.org/officeDocument/2006/relationships/slide" Target="slides/slide18.xml"/><Relationship Id="rId45" Type="http://schemas.openxmlformats.org/officeDocument/2006/relationships/font" Target="fonts/Corbel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8" Type="http://customschemas.google.com/relationships/presentationmetadata" Target="metadata"/><Relationship Id="rId25" Type="http://schemas.openxmlformats.org/officeDocument/2006/relationships/slide" Target="slides/slide20.xml"/><Relationship Id="rId47" Type="http://schemas.openxmlformats.org/officeDocument/2006/relationships/font" Target="fonts/Tahoma-bold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18.png"/></Relationships>
</file>

<file path=ppt/drawings/_rels/vmlDrawing2.vml.rels><?xml version="1.0" encoding="UTF-8" standalone="yes"?><Relationships xmlns="http://schemas.openxmlformats.org/package/2006/relationships"><Relationship Id="rId1" Type="http://schemas.openxmlformats.org/officeDocument/2006/relationships/image" Target="../media/image14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" name="Google Shape;16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7" name="Google Shape;22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5" name="Google Shape;23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8" name="Google Shape;24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4" name="Google Shape;254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1" name="Google Shape;261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" name="Google Shape;268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Google Shape;269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5" name="Google Shape;275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4" name="Google Shape;294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" name="Google Shape;300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1" name="Google Shape;301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7" name="Google Shape;307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" name="Google Shape;315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6" name="Google Shape;316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" name="Google Shape;325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6" name="Google Shape;326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5" name="Google Shape;335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6" name="Google Shape;336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4" name="Google Shape;344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5" name="Google Shape;345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1" name="Google Shape;351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7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7" name="Google Shape;357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8" name="Google Shape;358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6" name="Google Shape;36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7" name="Google Shape;36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7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3" name="Google Shape;373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4" name="Google Shape;374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7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0" name="Google Shape;380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1" name="Google Shape;381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a07f41303d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7" name="Google Shape;387;g3a07f41303d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8" name="Google Shape;388;g3a07f41303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0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4" name="Google Shape;394;p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27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4" name="Google Shape;24;p27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Google Shape;25;p27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Google Shape;26;p27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Google Shape;27;p27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28" name="Google Shape;28;p27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29" name="Google Shape;29;p27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30" name="Google Shape;30;p27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7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2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7"/>
          <p:cNvSpPr txBox="1"/>
          <p:nvPr>
            <p:ph idx="11" type="ftr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8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8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6600"/>
              </a:buClr>
              <a:buSzPts val="2610"/>
              <a:buFont typeface="Noto Sans"/>
              <a:buChar char="▪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38" name="Google Shape;38;p2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8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 type="tbl">
  <p:cSld name="TABLE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0"/>
          <p:cNvSpPr txBox="1"/>
          <p:nvPr>
            <p:ph type="title"/>
          </p:nvPr>
        </p:nvSpPr>
        <p:spPr>
          <a:xfrm>
            <a:off x="711200" y="2286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" type="body"/>
          </p:nvPr>
        </p:nvSpPr>
        <p:spPr>
          <a:xfrm>
            <a:off x="1484312" y="2666999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3" name="Google Shape;53;p11"/>
          <p:cNvSpPr txBox="1"/>
          <p:nvPr>
            <p:ph idx="2" type="body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4" name="Google Shape;54;p1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4"/>
          <p:cNvSpPr txBox="1"/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4"/>
          <p:cNvSpPr txBox="1"/>
          <p:nvPr>
            <p:ph idx="1" type="body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0" name="Google Shape;60;p3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5"/>
          <p:cNvSpPr txBox="1"/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5"/>
          <p:cNvSpPr txBox="1"/>
          <p:nvPr>
            <p:ph idx="1" type="body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27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indent="-37591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indent="-35750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indent="-357504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indent="-357504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indent="-357504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indent="-35750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indent="-35750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/>
        </p:txBody>
      </p:sp>
      <p:sp>
        <p:nvSpPr>
          <p:cNvPr id="66" name="Google Shape;66;p35"/>
          <p:cNvSpPr txBox="1"/>
          <p:nvPr>
            <p:ph idx="2" type="body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67" name="Google Shape;67;p3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6"/>
          <p:cNvSpPr txBox="1"/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b="0"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6"/>
          <p:cNvSpPr/>
          <p:nvPr>
            <p:ph idx="2" type="pic"/>
          </p:nvPr>
        </p:nvSpPr>
        <p:spPr>
          <a:xfrm>
            <a:off x="7594682" y="914400"/>
            <a:ext cx="3280974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6"/>
          <p:cNvSpPr txBox="1"/>
          <p:nvPr>
            <p:ph idx="1" type="body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74" name="Google Shape;74;p3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7"/>
          <p:cNvSpPr txBox="1"/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7"/>
          <p:cNvSpPr/>
          <p:nvPr>
            <p:ph idx="2" type="pic"/>
          </p:nvPr>
        </p:nvSpPr>
        <p:spPr>
          <a:xfrm>
            <a:off x="2386012" y="932112"/>
            <a:ext cx="8225944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37"/>
          <p:cNvSpPr txBox="1"/>
          <p:nvPr>
            <p:ph idx="1" type="body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1" name="Google Shape;81;p3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8"/>
          <p:cNvSpPr txBox="1"/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8"/>
          <p:cNvSpPr txBox="1"/>
          <p:nvPr>
            <p:ph idx="1" type="body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7" name="Google Shape;87;p3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9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9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9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9"/>
          <p:cNvSpPr txBox="1"/>
          <p:nvPr>
            <p:ph idx="1" type="body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95" name="Google Shape;95;p39"/>
          <p:cNvSpPr txBox="1"/>
          <p:nvPr>
            <p:ph idx="2" type="body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6" name="Google Shape;96;p3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0"/>
          <p:cNvSpPr txBox="1"/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40"/>
          <p:cNvSpPr txBox="1"/>
          <p:nvPr>
            <p:ph idx="1" type="body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2" name="Google Shape;102;p4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4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4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1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1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1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41"/>
          <p:cNvSpPr txBox="1"/>
          <p:nvPr>
            <p:ph idx="1" type="body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10" name="Google Shape;110;p41"/>
          <p:cNvSpPr txBox="1"/>
          <p:nvPr>
            <p:ph idx="2" type="body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1" name="Google Shape;111;p4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4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4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2"/>
          <p:cNvSpPr txBox="1"/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42"/>
          <p:cNvSpPr txBox="1"/>
          <p:nvPr>
            <p:ph idx="1" type="body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17" name="Google Shape;117;p42"/>
          <p:cNvSpPr txBox="1"/>
          <p:nvPr>
            <p:ph idx="2" type="body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8" name="Google Shape;118;p4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4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4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3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43"/>
          <p:cNvSpPr txBox="1"/>
          <p:nvPr>
            <p:ph idx="1" type="body"/>
          </p:nvPr>
        </p:nvSpPr>
        <p:spPr>
          <a:xfrm rot="5400000">
            <a:off x="4931566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4" name="Google Shape;124;p4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4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4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4"/>
          <p:cNvSpPr txBox="1"/>
          <p:nvPr>
            <p:ph type="title"/>
          </p:nvPr>
        </p:nvSpPr>
        <p:spPr>
          <a:xfrm rot="5400000">
            <a:off x="8065140" y="2353315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44"/>
          <p:cNvSpPr txBox="1"/>
          <p:nvPr>
            <p:ph idx="1" type="body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0" name="Google Shape;130;p4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4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4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Google Shape;11;p26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Google Shape;12;p26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Google Shape;13;p26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Google Shape;14;p26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5" name="Google Shape;15;p26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6" name="Google Shape;16;p26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" name="Google Shape;17;p26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6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1275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94335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75919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7504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4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4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4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4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" name="Google Shape;19;p2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0" name="Google Shape;20;p2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1" name="Google Shape;21;p2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transition spd="slow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vmlDrawing" Target="../drawings/vmlDrawing2.vml"/><Relationship Id="rId4" Type="http://schemas.openxmlformats.org/officeDocument/2006/relationships/oleObject" Target="../embeddings/oleObject2.bin"/><Relationship Id="rId5" Type="http://schemas.openxmlformats.org/officeDocument/2006/relationships/oleObject" Target="../embeddings/oleObject2.bin"/><Relationship Id="rId6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5"/>
          <p:cNvSpPr txBox="1"/>
          <p:nvPr>
            <p:ph type="ctrTitle"/>
          </p:nvPr>
        </p:nvSpPr>
        <p:spPr>
          <a:xfrm>
            <a:off x="3107201" y="1323943"/>
            <a:ext cx="8574600" cy="261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Transport Layer 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(TCP Congestion Control)</a:t>
            </a:r>
            <a:endParaRPr/>
          </a:p>
        </p:txBody>
      </p:sp>
      <p:sp>
        <p:nvSpPr>
          <p:cNvPr id="139" name="Google Shape;139;p45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/>
              <a:t>Lecture 6 | CSE421 – Computer Networks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rPr lang="en-US"/>
              <a:t>Department of Computer Science and Engineering</a:t>
            </a:r>
            <a:br>
              <a:rPr lang="en-US"/>
            </a:br>
            <a:r>
              <a:rPr lang="en-US"/>
              <a:t>School of Data &amp; Science</a:t>
            </a:r>
            <a:endParaRPr/>
          </a:p>
        </p:txBody>
      </p:sp>
      <p:pic>
        <p:nvPicPr>
          <p:cNvPr id="140" name="Google Shape;140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6333" y="217086"/>
            <a:ext cx="1639334" cy="1504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3600"/>
              <a:t>Congestion Control Vs Flow Control</a:t>
            </a:r>
            <a:endParaRPr/>
          </a:p>
        </p:txBody>
      </p:sp>
      <p:sp>
        <p:nvSpPr>
          <p:cNvPr id="146" name="Google Shape;146;p1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>
                <a:solidFill>
                  <a:schemeClr val="accent1"/>
                </a:solidFill>
              </a:rPr>
              <a:t>Congestion control </a:t>
            </a:r>
            <a:r>
              <a:rPr lang="en-US"/>
              <a:t>try to make sure subnet can carry oﬀered traﬃc, a global issue involving all the hosts and routers. 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/>
              <a:t>It can be open-loop based or involving feedback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>
                <a:solidFill>
                  <a:schemeClr val="accent1"/>
                </a:solidFill>
              </a:rPr>
              <a:t>Flow control </a:t>
            </a:r>
            <a:r>
              <a:rPr lang="en-US"/>
              <a:t>is related to point-to-point traﬃc between given sender and receiver.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/>
              <a:t>it always involves direct feedback from receiver to sender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"/>
          <p:cNvSpPr txBox="1"/>
          <p:nvPr/>
        </p:nvSpPr>
        <p:spPr>
          <a:xfrm>
            <a:off x="9753600" y="6400801"/>
            <a:ext cx="184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2"/>
          <p:cNvSpPr/>
          <p:nvPr/>
        </p:nvSpPr>
        <p:spPr>
          <a:xfrm>
            <a:off x="1905000" y="1371600"/>
            <a:ext cx="8229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-571500" lvl="0" marL="571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Congestion occurs</a:t>
            </a:r>
            <a:r>
              <a:rPr b="0" i="0" lang="en-US" sz="28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load on the network </a:t>
            </a:r>
            <a:r>
              <a:rPr b="0" i="0" lang="en-US" sz="4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&gt;</a:t>
            </a: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the capacity of the 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2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4" name="Google Shape;154;p2"/>
          <p:cNvSpPr/>
          <p:nvPr/>
        </p:nvSpPr>
        <p:spPr>
          <a:xfrm>
            <a:off x="1828800" y="15240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Congestion: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"/>
          <p:cNvSpPr/>
          <p:nvPr/>
        </p:nvSpPr>
        <p:spPr>
          <a:xfrm>
            <a:off x="5272087" y="3470274"/>
            <a:ext cx="530542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number of packets sent to the 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2057400" y="3124201"/>
            <a:ext cx="5487988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number of packets a network can handle.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"/>
          <p:cNvSpPr/>
          <p:nvPr/>
        </p:nvSpPr>
        <p:spPr>
          <a:xfrm>
            <a:off x="2590800" y="2057400"/>
            <a:ext cx="1066800" cy="6858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58" name="Google Shape;158;p2"/>
          <p:cNvSpPr/>
          <p:nvPr/>
        </p:nvSpPr>
        <p:spPr>
          <a:xfrm>
            <a:off x="7924800" y="2133600"/>
            <a:ext cx="1676400" cy="6858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59" name="Google Shape;15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0" y="3962400"/>
            <a:ext cx="7761288" cy="224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5" name="Google Shape;165;p3"/>
          <p:cNvCxnSpPr/>
          <p:nvPr/>
        </p:nvCxnSpPr>
        <p:spPr>
          <a:xfrm>
            <a:off x="1676400" y="1371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6" name="Google Shape;166;p3"/>
          <p:cNvSpPr txBox="1"/>
          <p:nvPr/>
        </p:nvSpPr>
        <p:spPr>
          <a:xfrm>
            <a:off x="1828801" y="481013"/>
            <a:ext cx="4792663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Queues in a router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1714500"/>
            <a:ext cx="7761288" cy="224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"/>
          <p:cNvSpPr/>
          <p:nvPr/>
        </p:nvSpPr>
        <p:spPr>
          <a:xfrm>
            <a:off x="2057400" y="4350217"/>
            <a:ext cx="8229600" cy="193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If packet arrival rate &gt; the  packet processing rate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input queues becomes longer and longer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1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If packet departure rate &lt; the  packet processing rate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output queues becomes longer and longer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"/>
          <p:cNvSpPr txBox="1"/>
          <p:nvPr/>
        </p:nvSpPr>
        <p:spPr>
          <a:xfrm>
            <a:off x="1828801" y="500063"/>
            <a:ext cx="55213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Network</a:t>
            </a:r>
            <a:r>
              <a:rPr b="0" i="0" lang="en-US" sz="44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US" sz="4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Performance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5" name="Google Shape;175;p4"/>
          <p:cNvGraphicFramePr/>
          <p:nvPr/>
        </p:nvGraphicFramePr>
        <p:xfrm>
          <a:off x="3829050" y="1438275"/>
          <a:ext cx="4324350" cy="3371850"/>
        </p:xfrm>
        <a:graphic>
          <a:graphicData uri="http://schemas.openxmlformats.org/presentationml/2006/ole">
            <mc:AlternateContent>
              <mc:Choice Requires="v">
                <p:oleObj r:id="rId4" imgH="3371850" imgW="4324350" progId="Paint.Picture" spid="_x0000_s1">
                  <p:embed/>
                </p:oleObj>
              </mc:Choice>
              <mc:Fallback>
                <p:oleObj r:id="rId5" imgH="3371850" imgW="4324350" progId="Paint.Picture">
                  <p:embed/>
                  <p:pic>
                    <p:nvPicPr>
                      <p:cNvPr id="175" name="Google Shape;175;p4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3829050" y="1438275"/>
                        <a:ext cx="4324350" cy="337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6" name="Google Shape;176;p4"/>
          <p:cNvSpPr/>
          <p:nvPr/>
        </p:nvSpPr>
        <p:spPr>
          <a:xfrm>
            <a:off x="1905000" y="4868258"/>
            <a:ext cx="822960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Delay has a negative effect on the load consequently the congestion.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When a packet is delayed, no ack for source, so source retransmits, making the delay and congestion worse.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1" name="Google Shape;181;p5"/>
          <p:cNvGraphicFramePr/>
          <p:nvPr/>
        </p:nvGraphicFramePr>
        <p:xfrm>
          <a:off x="3276600" y="1447800"/>
          <a:ext cx="4838700" cy="3754438"/>
        </p:xfrm>
        <a:graphic>
          <a:graphicData uri="http://schemas.openxmlformats.org/presentationml/2006/ole">
            <mc:AlternateContent>
              <mc:Choice Requires="v">
                <p:oleObj r:id="rId4" imgH="3754438" imgW="4838700" progId="Paint.Picture" spid="_x0000_s1">
                  <p:embed/>
                </p:oleObj>
              </mc:Choice>
              <mc:Fallback>
                <p:oleObj r:id="rId5" imgH="3754438" imgW="4838700" progId="Paint.Picture">
                  <p:embed/>
                  <p:pic>
                    <p:nvPicPr>
                      <p:cNvPr id="181" name="Google Shape;181;p5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3276600" y="1447800"/>
                        <a:ext cx="4838700" cy="3754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2" name="Google Shape;182;p5"/>
          <p:cNvSpPr/>
          <p:nvPr/>
        </p:nvSpPr>
        <p:spPr>
          <a:xfrm>
            <a:off x="2057400" y="5437615"/>
            <a:ext cx="82296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Why does the throughput sharply decline after the load reaches capacity instead of remaining constant?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5"/>
          <p:cNvSpPr txBox="1"/>
          <p:nvPr/>
        </p:nvSpPr>
        <p:spPr>
          <a:xfrm>
            <a:off x="1828801" y="500063"/>
            <a:ext cx="55213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Network</a:t>
            </a:r>
            <a:r>
              <a:rPr b="0" i="0" lang="en-US" sz="44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US" sz="4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Performance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"/>
          <p:cNvSpPr txBox="1"/>
          <p:nvPr>
            <p:ph type="title"/>
          </p:nvPr>
        </p:nvSpPr>
        <p:spPr>
          <a:xfrm>
            <a:off x="1484310" y="1905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Congestion Control</a:t>
            </a:r>
            <a:endParaRPr/>
          </a:p>
        </p:txBody>
      </p:sp>
      <p:sp>
        <p:nvSpPr>
          <p:cNvPr id="189" name="Google Shape;189;p6"/>
          <p:cNvSpPr/>
          <p:nvPr/>
        </p:nvSpPr>
        <p:spPr>
          <a:xfrm>
            <a:off x="1752599" y="1600201"/>
            <a:ext cx="9750423" cy="2123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71500" lvl="0" marL="571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What is Congestion Control?</a:t>
            </a:r>
            <a:endParaRPr b="0" i="0" sz="2800" u="none" cap="none" strike="noStrik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57200" lvl="2" marL="1600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mechanisms and techniques to control the congestion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2" marL="1600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and keep the load below the capacity.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1752600" y="4143375"/>
            <a:ext cx="9750422" cy="17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71500" lvl="0" marL="571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Two categories of Congestion Control</a:t>
            </a:r>
            <a:r>
              <a:rPr b="0" i="0" lang="en-US" sz="28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2" marL="1714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▪"/>
            </a:pPr>
            <a:r>
              <a:rPr b="0" i="0" lang="en-US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Open Loop  (Prevention)</a:t>
            </a: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2" marL="1714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▪"/>
            </a:pPr>
            <a:r>
              <a:rPr b="0" i="0" lang="en-US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Closed Loop ( Removal)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1828801"/>
            <a:ext cx="7924800" cy="402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7"/>
          <p:cNvSpPr/>
          <p:nvPr/>
        </p:nvSpPr>
        <p:spPr>
          <a:xfrm>
            <a:off x="2057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Congestion Control Categories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8"/>
          <p:cNvSpPr txBox="1"/>
          <p:nvPr>
            <p:ph type="ctrTitle"/>
          </p:nvPr>
        </p:nvSpPr>
        <p:spPr>
          <a:xfrm>
            <a:off x="3425822" y="1550894"/>
            <a:ext cx="8077200" cy="24453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Open Loop Congestion Control</a:t>
            </a:r>
            <a:endParaRPr/>
          </a:p>
        </p:txBody>
      </p:sp>
      <p:sp>
        <p:nvSpPr>
          <p:cNvPr id="203" name="Google Shape;203;p18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49580" lvl="0" marL="457200" rt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"/>
          <p:cNvSpPr txBox="1"/>
          <p:nvPr>
            <p:ph type="title"/>
          </p:nvPr>
        </p:nvSpPr>
        <p:spPr>
          <a:xfrm>
            <a:off x="1360486" y="123825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Open Loop Congestion Control</a:t>
            </a:r>
            <a:endParaRPr/>
          </a:p>
        </p:txBody>
      </p:sp>
      <p:sp>
        <p:nvSpPr>
          <p:cNvPr id="209" name="Google Shape;209;p19"/>
          <p:cNvSpPr/>
          <p:nvPr/>
        </p:nvSpPr>
        <p:spPr>
          <a:xfrm>
            <a:off x="1752599" y="1447800"/>
            <a:ext cx="9839325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71500" lvl="0" marL="571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Retransmission /Window Policy:</a:t>
            </a:r>
            <a:endParaRPr b="0" i="0" sz="2800" u="none" cap="none" strike="noStrik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57200" lvl="2" marL="1600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Retransmission in general increases congestion. (Example-later)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2" marL="1600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Go-Back N ARQ window vs Selective Repeat window.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9"/>
          <p:cNvSpPr/>
          <p:nvPr/>
        </p:nvSpPr>
        <p:spPr>
          <a:xfrm>
            <a:off x="1752600" y="4114800"/>
            <a:ext cx="9839324" cy="2616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71500" lvl="0" marL="571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Acknowledgement Policy:</a:t>
            </a:r>
            <a:r>
              <a:rPr b="0" i="0" lang="en-US" sz="28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2" marL="1600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Not acknowledging every packet slows down sender and helps prevent congestion.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2" marL="1600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Acks are also part of the load in the network.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0"/>
          <p:cNvSpPr txBox="1"/>
          <p:nvPr>
            <p:ph type="title"/>
          </p:nvPr>
        </p:nvSpPr>
        <p:spPr>
          <a:xfrm>
            <a:off x="1484310" y="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Open Loop Congestion Control</a:t>
            </a:r>
            <a:endParaRPr/>
          </a:p>
        </p:txBody>
      </p:sp>
      <p:sp>
        <p:nvSpPr>
          <p:cNvPr id="216" name="Google Shape;216;p20"/>
          <p:cNvSpPr/>
          <p:nvPr/>
        </p:nvSpPr>
        <p:spPr>
          <a:xfrm>
            <a:off x="1752599" y="1447800"/>
            <a:ext cx="9839325" cy="2123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71500" lvl="0" marL="571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Discarding Policy:</a:t>
            </a:r>
            <a:endParaRPr b="0" i="0" sz="2800" u="none" cap="none" strike="noStrik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57200" lvl="2" marL="1600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good policy by routers may prevent congestion and at the same time may not harm the integrity of the transmission.</a:t>
            </a:r>
            <a:endParaRPr b="0" i="0" sz="5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1752599" y="3779837"/>
            <a:ext cx="9750423" cy="2103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71500" lvl="0" marL="571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Admission Policy:</a:t>
            </a:r>
            <a:r>
              <a:rPr b="0" i="0" lang="en-US" sz="28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2" marL="1600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Check resource requirement before sending packet.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2" marL="1600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Allow no new virtual circuits.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1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Closed Loop</a:t>
            </a:r>
            <a:endParaRPr/>
          </a:p>
        </p:txBody>
      </p:sp>
      <p:sp>
        <p:nvSpPr>
          <p:cNvPr id="223" name="Google Shape;223;p21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49580" lvl="0" marL="457200" rt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8950" y="1828800"/>
            <a:ext cx="8528050" cy="13779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2"/>
          <p:cNvSpPr/>
          <p:nvPr/>
        </p:nvSpPr>
        <p:spPr>
          <a:xfrm>
            <a:off x="2057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rPr>
              <a:t>Backpressure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2057400" y="3886200"/>
            <a:ext cx="8820150" cy="28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❑"/>
            </a:pPr>
            <a:r>
              <a:rPr b="0" i="0" lang="en-US" sz="2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Congestion node stops receiving data from upstream nodes.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❑"/>
            </a:pPr>
            <a:r>
              <a:rPr b="0" i="0" lang="en-US" sz="2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Upstream nodes may get congested, they in turn reject data from their upstream nodes.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❑"/>
            </a:pPr>
            <a:r>
              <a:rPr b="0" i="0" lang="en-US" sz="2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Used in Virtual Circuits.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5150" y="1600200"/>
            <a:ext cx="8528050" cy="2338388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3"/>
          <p:cNvSpPr/>
          <p:nvPr/>
        </p:nvSpPr>
        <p:spPr>
          <a:xfrm>
            <a:off x="2057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Choke packet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2057400" y="4343400"/>
            <a:ext cx="77724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❑"/>
            </a:pPr>
            <a:r>
              <a:rPr b="0" i="0" lang="en-US" sz="2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From a router to source directly.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❑"/>
            </a:pPr>
            <a:r>
              <a:rPr b="0" i="0" lang="en-US" sz="2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Immediate nodes are not warned.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❑"/>
            </a:pPr>
            <a:r>
              <a:rPr b="0" i="0" lang="en-US" sz="2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 ICMP-source quench message. Immediate routers take no action.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4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Implicit Signaling</a:t>
            </a:r>
            <a:endParaRPr/>
          </a:p>
        </p:txBody>
      </p:sp>
      <p:sp>
        <p:nvSpPr>
          <p:cNvPr id="245" name="Google Shape;245;p24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3200"/>
              <a:t>No communication between the congested node or nodes and the source.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3200"/>
              <a:t>Source guesses congestion by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800"/>
              <a:t>No acknowledgement for sent packets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800"/>
              <a:t>Delayed acknowledgements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3200"/>
              <a:t>Then source slows down.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sz="3200"/>
          </a:p>
        </p:txBody>
      </p:sp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5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Explicit Signaling</a:t>
            </a:r>
            <a:endParaRPr/>
          </a:p>
        </p:txBody>
      </p:sp>
      <p:sp>
        <p:nvSpPr>
          <p:cNvPr id="251" name="Google Shape;251;p25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The node experiencing congestion sends signal to the source.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Not a separate packet like the “choke”packet.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Signal included in the data packet itself.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Can be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/>
              <a:t>Backward Signaling-Source warned, slows data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/>
              <a:t>Forward Signaling-Receiver warned, slows acks.  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9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Congestion Control in TCP</a:t>
            </a:r>
            <a:endParaRPr/>
          </a:p>
        </p:txBody>
      </p:sp>
      <p:sp>
        <p:nvSpPr>
          <p:cNvPr id="257" name="Google Shape;257;p29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49580" lvl="0" marL="457200" rt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3239" y="1123950"/>
            <a:ext cx="8613775" cy="2713038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0"/>
          <p:cNvSpPr txBox="1"/>
          <p:nvPr/>
        </p:nvSpPr>
        <p:spPr>
          <a:xfrm>
            <a:off x="1653988" y="165847"/>
            <a:ext cx="955189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TCP Window – Sender Window (Review)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30"/>
          <p:cNvSpPr txBox="1"/>
          <p:nvPr/>
        </p:nvSpPr>
        <p:spPr>
          <a:xfrm>
            <a:off x="1905000" y="4419600"/>
            <a:ext cx="84582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❑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Sender Window Size is dictated by the receiver window.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❑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Usually sender window size is determined by the available buffer space in the receiver (rwnd).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1"/>
          <p:cNvSpPr txBox="1"/>
          <p:nvPr/>
        </p:nvSpPr>
        <p:spPr>
          <a:xfrm>
            <a:off x="1618129" y="219635"/>
            <a:ext cx="982083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TCP Window – Receiver Window (Review)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2" name="Google Shape;27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1076325"/>
            <a:ext cx="7824788" cy="5259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2"/>
          <p:cNvSpPr txBox="1"/>
          <p:nvPr>
            <p:ph type="title"/>
          </p:nvPr>
        </p:nvSpPr>
        <p:spPr>
          <a:xfrm>
            <a:off x="711200" y="2286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/>
              <a:t>Normal Flow Control (Review)</a:t>
            </a:r>
            <a:endParaRPr/>
          </a:p>
        </p:txBody>
      </p:sp>
      <p:pic>
        <p:nvPicPr>
          <p:cNvPr id="278" name="Google Shape;27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0" y="1219201"/>
            <a:ext cx="5791200" cy="548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6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TCP Window</a:t>
            </a:r>
            <a:endParaRPr/>
          </a:p>
        </p:txBody>
      </p:sp>
      <p:sp>
        <p:nvSpPr>
          <p:cNvPr id="284" name="Google Shape;284;p46"/>
          <p:cNvSpPr txBox="1"/>
          <p:nvPr>
            <p:ph idx="1" type="body"/>
          </p:nvPr>
        </p:nvSpPr>
        <p:spPr>
          <a:xfrm>
            <a:off x="1484310" y="1990724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Today, TCP protocols include that the sender’s window size is not only determined by the receiver but also by congestion in the network.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Windows Size of TCP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/>
              <a:t>Minimum of rwnd and cwnd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/>
              <a:t>Where rwnd is the receiver advertised window size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/>
              <a:t>And cwnd is the networks congestion window size</a:t>
            </a:r>
            <a:endParaRPr/>
          </a:p>
        </p:txBody>
      </p:sp>
      <p:sp>
        <p:nvSpPr>
          <p:cNvPr id="285" name="Google Shape;285;p46"/>
          <p:cNvSpPr/>
          <p:nvPr/>
        </p:nvSpPr>
        <p:spPr>
          <a:xfrm>
            <a:off x="2113867" y="5239543"/>
            <a:ext cx="8001000" cy="5191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2"/>
                </a:solidFill>
                <a:latin typeface="Comic Sans MS"/>
                <a:ea typeface="Comic Sans MS"/>
                <a:cs typeface="Comic Sans MS"/>
                <a:sym typeface="Comic Sans MS"/>
              </a:rPr>
              <a:t>Actual window size = minimum of (rwnd,cwnd)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8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TCP congestion control</a:t>
            </a:r>
            <a:endParaRPr/>
          </a:p>
        </p:txBody>
      </p:sp>
      <p:sp>
        <p:nvSpPr>
          <p:cNvPr id="291" name="Google Shape;291;p48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4000"/>
              <a:t>TCP does congestion control in </a:t>
            </a:r>
            <a:r>
              <a:rPr lang="en-US" sz="4000">
                <a:solidFill>
                  <a:schemeClr val="accent1"/>
                </a:solidFill>
              </a:rPr>
              <a:t>three phases: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3600"/>
              <a:t>Slow Start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3600"/>
              <a:t>Congestion Avoidance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3600"/>
              <a:t>Congestion Detection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9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Slow Start</a:t>
            </a:r>
            <a:endParaRPr/>
          </a:p>
        </p:txBody>
      </p:sp>
      <p:sp>
        <p:nvSpPr>
          <p:cNvPr id="297" name="Google Shape;297;p49"/>
          <p:cNvSpPr txBox="1"/>
          <p:nvPr>
            <p:ph idx="1" type="body"/>
          </p:nvPr>
        </p:nvSpPr>
        <p:spPr>
          <a:xfrm>
            <a:off x="2057400" y="1600200"/>
            <a:ext cx="7772400" cy="35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cwnd starts with one maximum segment size(MSS).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MSS determined during connection establishment.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MSS increases exponentially after each acknowledgement.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2201" y="1600200"/>
            <a:ext cx="6149975" cy="449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50"/>
          <p:cNvSpPr txBox="1"/>
          <p:nvPr/>
        </p:nvSpPr>
        <p:spPr>
          <a:xfrm>
            <a:off x="1905000" y="2286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Slow Start- Exponential Increase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6500" y="1700213"/>
            <a:ext cx="6591300" cy="456565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51"/>
          <p:cNvSpPr txBox="1"/>
          <p:nvPr/>
        </p:nvSpPr>
        <p:spPr>
          <a:xfrm>
            <a:off x="2116139" y="1844675"/>
            <a:ext cx="273985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MSS (max. segment size)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1" name="Google Shape;311;p51"/>
          <p:cNvCxnSpPr/>
          <p:nvPr/>
        </p:nvCxnSpPr>
        <p:spPr>
          <a:xfrm>
            <a:off x="3052763" y="2133601"/>
            <a:ext cx="1223962" cy="574675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312" name="Google Shape;312;p51"/>
          <p:cNvSpPr txBox="1"/>
          <p:nvPr/>
        </p:nvSpPr>
        <p:spPr>
          <a:xfrm>
            <a:off x="1905000" y="2286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Slow Start- Exponential Increase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8" name="Google Shape;318;p52"/>
          <p:cNvCxnSpPr/>
          <p:nvPr/>
        </p:nvCxnSpPr>
        <p:spPr>
          <a:xfrm>
            <a:off x="1905000" y="4038600"/>
            <a:ext cx="8153400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9" name="Google Shape;319;p52"/>
          <p:cNvCxnSpPr/>
          <p:nvPr/>
        </p:nvCxnSpPr>
        <p:spPr>
          <a:xfrm>
            <a:off x="1905000" y="6248400"/>
            <a:ext cx="8153400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0" name="Google Shape;320;p52"/>
          <p:cNvSpPr/>
          <p:nvPr/>
        </p:nvSpPr>
        <p:spPr>
          <a:xfrm>
            <a:off x="1981200" y="4112449"/>
            <a:ext cx="8077200" cy="2062103"/>
          </a:xfrm>
          <a:prstGeom prst="rect">
            <a:avLst/>
          </a:prstGeom>
          <a:solidFill>
            <a:srgbClr val="82CCF3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slow-start algorithm, the size of the congestion window increases exponentially until it reaches a threshold.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52"/>
          <p:cNvSpPr txBox="1"/>
          <p:nvPr/>
        </p:nvSpPr>
        <p:spPr>
          <a:xfrm>
            <a:off x="2057400" y="1447800"/>
            <a:ext cx="77724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80"/>
              <a:buFont typeface="Noto Sans Symbols"/>
              <a:buChar char="❑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Assumptions: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380"/>
              <a:buFont typeface="Noto Sans Symbols"/>
              <a:buChar char="❑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rwnd&gt;cwnd , so sender window=cwnd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380"/>
              <a:buFont typeface="Noto Sans Symbols"/>
              <a:buChar char="❑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segment 1 byte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380"/>
              <a:buFont typeface="Noto Sans Symbols"/>
              <a:buChar char="❑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segment is acknowledged individually*.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177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38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52"/>
          <p:cNvSpPr txBox="1"/>
          <p:nvPr/>
        </p:nvSpPr>
        <p:spPr>
          <a:xfrm>
            <a:off x="1905000" y="2286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Slow Start- Exponential Increase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8" name="Google Shape;328;p53"/>
          <p:cNvCxnSpPr/>
          <p:nvPr/>
        </p:nvCxnSpPr>
        <p:spPr>
          <a:xfrm>
            <a:off x="2428875" y="4449762"/>
            <a:ext cx="8458200" cy="4603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9" name="Google Shape;329;p53"/>
          <p:cNvCxnSpPr/>
          <p:nvPr/>
        </p:nvCxnSpPr>
        <p:spPr>
          <a:xfrm>
            <a:off x="2352675" y="6583362"/>
            <a:ext cx="8534400" cy="4603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0" name="Google Shape;330;p53"/>
          <p:cNvSpPr/>
          <p:nvPr/>
        </p:nvSpPr>
        <p:spPr>
          <a:xfrm>
            <a:off x="2314575" y="4627562"/>
            <a:ext cx="8610600" cy="1816100"/>
          </a:xfrm>
          <a:prstGeom prst="rect">
            <a:avLst/>
          </a:prstGeom>
          <a:solidFill>
            <a:srgbClr val="82CCF3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Sender keeps track of a variable named </a:t>
            </a:r>
            <a:r>
              <a:rPr b="1" i="1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ssthresh</a:t>
            </a:r>
            <a:r>
              <a:rPr b="1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window reaches </a:t>
            </a:r>
            <a:r>
              <a:rPr b="1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ssthresh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next phase starts.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 implementation </a:t>
            </a:r>
            <a:r>
              <a:rPr b="1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ssthresh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65,535 bytes.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1" name="Google Shape;331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0" y="990600"/>
            <a:ext cx="6324600" cy="3335338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53"/>
          <p:cNvSpPr txBox="1"/>
          <p:nvPr/>
        </p:nvSpPr>
        <p:spPr>
          <a:xfrm>
            <a:off x="1905000" y="2286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Slow Start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8" name="Google Shape;338;p54"/>
          <p:cNvCxnSpPr/>
          <p:nvPr/>
        </p:nvCxnSpPr>
        <p:spPr>
          <a:xfrm>
            <a:off x="1981200" y="2286000"/>
            <a:ext cx="8153400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9" name="Google Shape;339;p54"/>
          <p:cNvCxnSpPr/>
          <p:nvPr/>
        </p:nvCxnSpPr>
        <p:spPr>
          <a:xfrm>
            <a:off x="1982788" y="4495800"/>
            <a:ext cx="8153400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0" name="Google Shape;340;p54"/>
          <p:cNvSpPr/>
          <p:nvPr/>
        </p:nvSpPr>
        <p:spPr>
          <a:xfrm>
            <a:off x="2019300" y="2378076"/>
            <a:ext cx="8077200" cy="2062163"/>
          </a:xfrm>
          <a:prstGeom prst="rect">
            <a:avLst/>
          </a:prstGeom>
          <a:solidFill>
            <a:srgbClr val="82CCF3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</a:t>
            </a:r>
            <a:r>
              <a:rPr b="1" i="0" lang="en-US" sz="3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congestion avoidance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algorithm, the size of the congestion window </a:t>
            </a:r>
            <a:r>
              <a:rPr b="1" i="0" lang="en-US" sz="3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increases additively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until </a:t>
            </a:r>
            <a:b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congestion is detected.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54"/>
          <p:cNvSpPr txBox="1"/>
          <p:nvPr/>
        </p:nvSpPr>
        <p:spPr>
          <a:xfrm>
            <a:off x="1905000" y="2286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Congestion Avoidance: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06714" y="1476376"/>
            <a:ext cx="5856287" cy="4314825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55"/>
          <p:cNvSpPr txBox="1"/>
          <p:nvPr/>
        </p:nvSpPr>
        <p:spPr>
          <a:xfrm>
            <a:off x="1905000" y="2286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Congestion Avoidance: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0" y="1524000"/>
            <a:ext cx="5715000" cy="462915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68"/>
          <p:cNvSpPr txBox="1"/>
          <p:nvPr/>
        </p:nvSpPr>
        <p:spPr>
          <a:xfrm>
            <a:off x="1905000" y="2286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Congestion Avoidance: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0" name="Google Shape;360;p74"/>
          <p:cNvCxnSpPr/>
          <p:nvPr/>
        </p:nvCxnSpPr>
        <p:spPr>
          <a:xfrm>
            <a:off x="2038350" y="2057400"/>
            <a:ext cx="8153400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1" name="Google Shape;361;p74"/>
          <p:cNvCxnSpPr/>
          <p:nvPr/>
        </p:nvCxnSpPr>
        <p:spPr>
          <a:xfrm>
            <a:off x="2038350" y="5257800"/>
            <a:ext cx="8153400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2" name="Google Shape;362;p74"/>
          <p:cNvSpPr/>
          <p:nvPr/>
        </p:nvSpPr>
        <p:spPr>
          <a:xfrm>
            <a:off x="1943100" y="2149476"/>
            <a:ext cx="8343900" cy="3046413"/>
          </a:xfrm>
          <a:prstGeom prst="rect">
            <a:avLst/>
          </a:prstGeom>
          <a:solidFill>
            <a:srgbClr val="82CCF3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implementation reacts to congestion detection in one of the following ways: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❏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If detection is by </a:t>
            </a:r>
            <a:r>
              <a:rPr b="1" i="0" lang="en-US" sz="3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time-out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 new </a:t>
            </a:r>
            <a:r>
              <a:rPr b="1" i="0" lang="en-US" sz="32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slow</a:t>
            </a:r>
            <a:br>
              <a:rPr b="1" i="0" lang="en-US" sz="32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2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 start phase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starts.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❏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detection is by </a:t>
            </a:r>
            <a:r>
              <a:rPr b="1" i="0" lang="en-US" sz="3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three ACKs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 new</a:t>
            </a:r>
            <a:b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b="1" i="0" lang="en-US" sz="32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congestion avoidance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phase starts.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74"/>
          <p:cNvSpPr txBox="1"/>
          <p:nvPr/>
        </p:nvSpPr>
        <p:spPr>
          <a:xfrm>
            <a:off x="1905000" y="2286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Congestion Detection: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7"/>
          <p:cNvSpPr txBox="1"/>
          <p:nvPr/>
        </p:nvSpPr>
        <p:spPr>
          <a:xfrm>
            <a:off x="1905000" y="20955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Congestion Detection: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7"/>
          <p:cNvSpPr txBox="1"/>
          <p:nvPr/>
        </p:nvSpPr>
        <p:spPr>
          <a:xfrm>
            <a:off x="1819275" y="1628774"/>
            <a:ext cx="10018713" cy="4524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-380897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ct val="80617"/>
              <a:buFont typeface="Arial"/>
              <a:buChar char="•"/>
            </a:pPr>
            <a:r>
              <a:rPr b="0" i="0" lang="en-US" sz="3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Congestion </a:t>
            </a:r>
            <a:r>
              <a:rPr lang="en-US" sz="3500"/>
              <a:t>d</a:t>
            </a:r>
            <a:r>
              <a:rPr b="0" i="0" lang="en-US" sz="3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etected by </a:t>
            </a:r>
            <a:r>
              <a:rPr b="0" i="0" lang="en-US" sz="3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time-out (severe congestion)</a:t>
            </a:r>
            <a:endParaRPr/>
          </a:p>
          <a:p>
            <a:pPr indent="-380897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88175"/>
              <a:buFont typeface="Arial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starts new slow start phase</a:t>
            </a:r>
            <a:endParaRPr/>
          </a:p>
          <a:p>
            <a:pPr indent="-380897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88175"/>
              <a:buFont typeface="Arial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ssthresh = max(2, floor(cwnd/2))</a:t>
            </a:r>
            <a:endParaRPr/>
          </a:p>
          <a:p>
            <a:pPr indent="-380897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88175"/>
              <a:buFont typeface="Arial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cwnd=1</a:t>
            </a:r>
            <a:endParaRPr b="0" i="0" sz="3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0897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ct val="80617"/>
              <a:buFont typeface="Arial"/>
              <a:buChar char="•"/>
            </a:pPr>
            <a:r>
              <a:rPr b="0" i="0" lang="en-US" sz="3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Congestion detected by three </a:t>
            </a:r>
            <a:r>
              <a:rPr b="0" i="0" lang="en-US" sz="3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ACKs (less severe congestion)</a:t>
            </a:r>
            <a:endParaRPr/>
          </a:p>
          <a:p>
            <a:pPr indent="-380897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88175"/>
              <a:buFont typeface="Arial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starts new congestion avoidance phase</a:t>
            </a:r>
            <a:endParaRPr/>
          </a:p>
          <a:p>
            <a:pPr indent="-380897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88175"/>
              <a:buFont typeface="Arial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ssthresh = max(2, floor(cwnd/2))</a:t>
            </a:r>
            <a:endParaRPr/>
          </a:p>
          <a:p>
            <a:pPr indent="-380897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88175"/>
              <a:buFont typeface="Arial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cwnd= ssthresh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ct val="80617"/>
              <a:buFont typeface="Arial"/>
              <a:buNone/>
            </a:pPr>
            <a:r>
              <a:t/>
            </a:r>
            <a:endParaRPr b="0" i="0" sz="3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52006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75"/>
          <p:cNvSpPr txBox="1"/>
          <p:nvPr/>
        </p:nvSpPr>
        <p:spPr>
          <a:xfrm>
            <a:off x="1828800" y="4572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TCP Congestion Policy: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7" name="Google Shape;377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2150" y="1700213"/>
            <a:ext cx="8401050" cy="4379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Google Shape;383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8176" y="1524000"/>
            <a:ext cx="8378825" cy="441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77"/>
          <p:cNvSpPr txBox="1"/>
          <p:nvPr/>
        </p:nvSpPr>
        <p:spPr>
          <a:xfrm>
            <a:off x="1828800" y="4572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TCP Congestion Example: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a07f41303d_0_4"/>
          <p:cNvSpPr txBox="1"/>
          <p:nvPr/>
        </p:nvSpPr>
        <p:spPr>
          <a:xfrm>
            <a:off x="1566450" y="438100"/>
            <a:ext cx="991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AIMD: Additive Increase Multiplicative Decrease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1" name="Google Shape;391;g3a07f41303d_0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0188" y="1471613"/>
            <a:ext cx="9496425" cy="421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05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The End </a:t>
            </a:r>
            <a:endParaRPr/>
          </a:p>
        </p:txBody>
      </p:sp>
      <p:sp>
        <p:nvSpPr>
          <p:cNvPr id="397" name="Google Shape;397;p105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49580" lvl="0" marL="457200" rt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Font typeface="Noto Sans"/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2020-06-17T13:03:26Z</dcterms:created>
  <dc:creator>Arif Shakil</dc:creator>
</cp:coreProperties>
</file>