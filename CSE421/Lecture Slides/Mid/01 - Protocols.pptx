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Corbel"/>
      <p:regular r:id="rId70"/>
      <p:bold r:id="rId71"/>
      <p:italic r:id="rId72"/>
      <p:boldItalic r:id="rId73"/>
    </p:embeddedFont>
    <p:embeddedFont>
      <p:font typeface="Arial Black"/>
      <p:regular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5" roundtripDataSignature="AMtx7mhCLZoqRpK7gSomoFUqA4MNdcS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B85B0B-30AF-4636-8480-9CDA48077CEF}">
  <a:tblStyle styleId="{42B85B0B-30AF-4636-8480-9CDA48077CEF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rbel-boldItalic.fntdata"/><Relationship Id="rId72" Type="http://schemas.openxmlformats.org/officeDocument/2006/relationships/font" Target="fonts/Corbel-italic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ArialBlack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Corbel-bold.fntdata"/><Relationship Id="rId70" Type="http://schemas.openxmlformats.org/officeDocument/2006/relationships/font" Target="fonts/Corbel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6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6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6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6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6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6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6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6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69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70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70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73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4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5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6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7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7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77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8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7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7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9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79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0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0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80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1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2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2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6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3.jpg"/><Relationship Id="rId5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31.jpg"/><Relationship Id="rId6" Type="http://schemas.openxmlformats.org/officeDocument/2006/relationships/image" Target="../media/image46.jpg"/><Relationship Id="rId7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3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Models &amp;</a:t>
            </a:r>
            <a:br>
              <a:rPr lang="en-US"/>
            </a:br>
            <a:r>
              <a:rPr lang="en-US"/>
              <a:t>Protocol Architectures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Layering in communication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 Suites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OSI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Model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Addressing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Layering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Tasks of communication are broken up into </a:t>
            </a:r>
            <a:r>
              <a:rPr b="1" lang="en-US"/>
              <a:t>layers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910914" y="2520778"/>
            <a:ext cx="2082113" cy="217478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Communication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49883" y="2520777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1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157563" y="3314698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2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157563" y="4108620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3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6023917" y="2814250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3"/>
          <p:cNvCxnSpPr/>
          <p:nvPr/>
        </p:nvCxnSpPr>
        <p:spPr>
          <a:xfrm>
            <a:off x="6025419" y="359684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3"/>
          <p:cNvCxnSpPr/>
          <p:nvPr/>
        </p:nvCxnSpPr>
        <p:spPr>
          <a:xfrm>
            <a:off x="6025419" y="440209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Layers: Sending a letter</a:t>
            </a:r>
            <a:endParaRPr/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779" y="141253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9601" y="1364907"/>
            <a:ext cx="733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136554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written, put in an envelope, and dropped in a mailbox.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136554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mailbox to a post office.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136554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delivered to a carrie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by the post office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941272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picked up, removed from the envelope, and read.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941272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post office to the mailbox.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941272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received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from the carrier to the post office.</a:t>
            </a:r>
            <a:endParaRPr/>
          </a:p>
        </p:txBody>
      </p:sp>
      <p:cxnSp>
        <p:nvCxnSpPr>
          <p:cNvPr id="184" name="Google Shape;184;p4"/>
          <p:cNvCxnSpPr>
            <a:stCxn id="176" idx="2"/>
            <a:endCxn id="178" idx="0"/>
          </p:cNvCxnSpPr>
          <p:nvPr/>
        </p:nvCxnSpPr>
        <p:spPr>
          <a:xfrm>
            <a:off x="4118917" y="2269782"/>
            <a:ext cx="0" cy="41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4"/>
          <p:cNvCxnSpPr>
            <a:stCxn id="178" idx="2"/>
            <a:endCxn id="179" idx="0"/>
          </p:cNvCxnSpPr>
          <p:nvPr/>
        </p:nvCxnSpPr>
        <p:spPr>
          <a:xfrm>
            <a:off x="4118916" y="3422822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4"/>
          <p:cNvCxnSpPr/>
          <p:nvPr/>
        </p:nvCxnSpPr>
        <p:spPr>
          <a:xfrm>
            <a:off x="4139508" y="4569941"/>
            <a:ext cx="0" cy="405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4"/>
          <p:cNvCxnSpPr>
            <a:stCxn id="183" idx="0"/>
          </p:cNvCxnSpPr>
          <p:nvPr/>
        </p:nvCxnSpPr>
        <p:spPr>
          <a:xfrm rot="10800000">
            <a:off x="8923634" y="4570055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4"/>
          <p:cNvCxnSpPr/>
          <p:nvPr/>
        </p:nvCxnSpPr>
        <p:spPr>
          <a:xfrm rot="10800000">
            <a:off x="8923634" y="3422824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4"/>
          <p:cNvCxnSpPr/>
          <p:nvPr/>
        </p:nvCxnSpPr>
        <p:spPr>
          <a:xfrm rot="10800000">
            <a:off x="8886313" y="2269782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4"/>
          <p:cNvSpPr txBox="1"/>
          <p:nvPr/>
        </p:nvSpPr>
        <p:spPr>
          <a:xfrm>
            <a:off x="5802168" y="2867453"/>
            <a:ext cx="143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Higher layers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5768147" y="4014572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Middle layers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824251" y="5161691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Lower layers</a:t>
            </a:r>
            <a:endParaRPr/>
          </a:p>
        </p:txBody>
      </p:sp>
      <p:cxnSp>
        <p:nvCxnSpPr>
          <p:cNvPr id="193" name="Google Shape;193;p4"/>
          <p:cNvCxnSpPr>
            <a:stCxn id="180" idx="2"/>
          </p:cNvCxnSpPr>
          <p:nvPr/>
        </p:nvCxnSpPr>
        <p:spPr>
          <a:xfrm>
            <a:off x="4118916" y="5717060"/>
            <a:ext cx="0" cy="3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4118916" y="6081585"/>
            <a:ext cx="480471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 rot="10800000">
            <a:off x="8923634" y="5717060"/>
            <a:ext cx="0" cy="364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4"/>
          <p:cNvSpPr txBox="1"/>
          <p:nvPr/>
        </p:nvSpPr>
        <p:spPr>
          <a:xfrm>
            <a:off x="5365349" y="5825012"/>
            <a:ext cx="2311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parcel is carried from</a:t>
            </a:r>
            <a:b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source to the destination</a:t>
            </a:r>
            <a:endParaRPr/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Benefits of using a layered model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Fosters </a:t>
            </a:r>
            <a:r>
              <a:rPr b="1" lang="en-US"/>
              <a:t>competition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Technology changes </a:t>
            </a:r>
            <a:r>
              <a:rPr lang="en-US"/>
              <a:t>in one layer do not affect other layers.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layer have </a:t>
            </a:r>
            <a:r>
              <a:rPr b="1" lang="en-US"/>
              <a:t>defined functions </a:t>
            </a:r>
            <a:r>
              <a:rPr lang="en-US"/>
              <a:t>that they act upon.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204" y="3311530"/>
            <a:ext cx="5943599" cy="35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Protocols</a:t>
            </a:r>
            <a:endParaRPr/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266" y="3095110"/>
            <a:ext cx="3352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 communications are governed by 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the rules that communications will follow.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These rules will vary depending on the protocol.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775" y="3572558"/>
            <a:ext cx="5333999" cy="321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26" name="Google Shape;226;p8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Protocols must account for the following requirements: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An identified sender and receiver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Common language and grammar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Speed and timing of delivery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Confirmation or acknowledgment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Common computer protocols must agree in: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encoding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formatting and encapsulation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size, timing, delivery option.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Standards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666" y="273290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 Organizations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Internet Standards</a:t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7" name="Google Shape;247;p11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Endorsed by the networking industry and approved by a standards organization. 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Benefits: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Create and maintain an open and competitive market.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Ensured greater compatibility and interoperability.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Categories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facto – TCP/IP Protocol Model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jure – OSI Reference Model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Open Standards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standards encourage: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Interoperability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Competition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Innovation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 organizations are: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vendor-neutral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non-profit organizations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established to develop and promote the concept of open standards. </a:t>
            </a:r>
            <a:endParaRPr b="1"/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548" y="1421027"/>
            <a:ext cx="43084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</a:t>
            </a:r>
            <a:endParaRPr/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Society (ISOC)</a:t>
            </a:r>
            <a:r>
              <a:rPr lang="en-US"/>
              <a:t> - Promotes the open development and evolution of internet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Architecture Board (IAB)</a:t>
            </a:r>
            <a:r>
              <a:rPr lang="en-US"/>
              <a:t> - Responsible for management and development of internet standards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Engineering Task Force (IETF) </a:t>
            </a:r>
            <a:r>
              <a:rPr lang="en-US"/>
              <a:t>- Develops, updates, and maintains internet and TCP/IP technologies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b="1" lang="en-US"/>
              <a:t>Internet Research Task Force (IRTF) </a:t>
            </a:r>
            <a:r>
              <a:rPr lang="en-US"/>
              <a:t>- Focused on long-term research related to internet and TCP/IP protocols</a:t>
            </a:r>
            <a:endParaRPr b="1" sz="2000"/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709" y="1392194"/>
            <a:ext cx="4289066" cy="43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rPr lang="en-US" sz="2000"/>
              <a:t>Standards organizations involved with the development and support of TCP/IP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Corporation for Assigned Names and Numbers (ICANN) </a:t>
            </a:r>
            <a:r>
              <a:rPr lang="en-US"/>
              <a:t>-  Coordinates IP address allocation, the management of domain names, and assignment of other information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Assigned Numbers Authority (IANA) </a:t>
            </a:r>
            <a:r>
              <a:rPr lang="en-US"/>
              <a:t>- Oversees and manages IP address allocation, domain name management, and protocol identifiers for ICANN</a:t>
            </a:r>
            <a:endParaRPr sz="1600"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8280" y="1920867"/>
            <a:ext cx="3614266" cy="301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1484310" y="1421027"/>
            <a:ext cx="5657895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Formalized regulations and specifications for the Internet by IETF.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Draft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 official status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month lifetime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Request for comment (RFC)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Upon recommendation from Internet authorities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Different maturity levels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Internet Protocol – RFC : 791</a:t>
            </a:r>
            <a:endParaRPr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5"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496" y="2156254"/>
            <a:ext cx="5565123" cy="403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Electronic and Communications Standards</a:t>
            </a:r>
            <a:endParaRPr/>
          </a:p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Institute of Electrical and Electronics Engineers </a:t>
            </a:r>
            <a:r>
              <a:rPr lang="en-US"/>
              <a:t>(</a:t>
            </a:r>
            <a:r>
              <a:rPr b="1" lang="en-US"/>
              <a:t>IEEE</a:t>
            </a:r>
            <a:r>
              <a:rPr lang="en-US"/>
              <a:t>, pronounced “I-triple-E”) - dedicated to creating standards in power and energy, healthcare, telecommunications, and networking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Electronic Industries Alliance (EIA) </a:t>
            </a:r>
            <a:r>
              <a:rPr lang="en-US"/>
              <a:t>- develops standards relating to electrical wiring, connectors, and the 19-inch racks used to mount networking equipment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Telecommunications Industry Association (TIA) </a:t>
            </a:r>
            <a:r>
              <a:rPr lang="en-US"/>
              <a:t>- develops communication standards in radio equipment, cellular towers, Voice over IP (VoIP) devices, satellite communications, and more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International Telecommunications Union-Telecommunication Standardization Sector (ITU-T</a:t>
            </a:r>
            <a:r>
              <a:rPr lang="en-US"/>
              <a:t>) - defines standards for video compression, Internet Protocol Television (IPTV), and broadband communications, such as a digital subscriber line (DSL)</a:t>
            </a:r>
            <a:endParaRPr/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Technology Independent Protocols</a:t>
            </a:r>
            <a:endParaRPr/>
          </a:p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not dependent upon any specific technology.</a:t>
            </a:r>
            <a:endParaRPr/>
          </a:p>
          <a:p>
            <a:pPr indent="-288925" lvl="1" marL="855663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describe </a:t>
            </a:r>
            <a:r>
              <a:rPr b="1" lang="en-US"/>
              <a:t>what</a:t>
            </a:r>
            <a:r>
              <a:rPr lang="en-US">
                <a:solidFill>
                  <a:schemeClr val="folHlink"/>
                </a:solidFill>
              </a:rPr>
              <a:t> </a:t>
            </a:r>
            <a:r>
              <a:rPr lang="en-US"/>
              <a:t>must be done to communicate but </a:t>
            </a:r>
            <a:r>
              <a:rPr b="1" lang="en-US"/>
              <a:t>not how </a:t>
            </a:r>
            <a:r>
              <a:rPr lang="en-US"/>
              <a:t>its is to be carried out.</a:t>
            </a:r>
            <a:endParaRPr/>
          </a:p>
        </p:txBody>
      </p:sp>
      <p:pic>
        <p:nvPicPr>
          <p:cNvPr id="294" name="Google Shape;2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422" y="2588741"/>
            <a:ext cx="5424488" cy="29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1484310" y="325395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 Suites</a:t>
            </a:r>
            <a:endParaRPr/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/IP vs OSI Model: What's the Difference?"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835321"/>
            <a:ext cx="4305300" cy="347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 Suites</a:t>
            </a:r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TCP/IP Protocol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Open De Facto Standard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Governed by IETF  Working</a:t>
            </a:r>
            <a:br>
              <a:rPr lang="en-US"/>
            </a:br>
            <a:r>
              <a:rPr lang="en-US"/>
              <a:t>Groups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OSI Reference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 Jure Standard</a:t>
            </a:r>
            <a:endParaRPr/>
          </a:p>
        </p:txBody>
      </p:sp>
      <p:pic>
        <p:nvPicPr>
          <p:cNvPr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OSI Model</a:t>
            </a:r>
            <a:br>
              <a:rPr lang="en-US" sz="7200"/>
            </a:br>
            <a:r>
              <a:rPr lang="en-US" sz="1800"/>
              <a:t>De Jure Standard</a:t>
            </a:r>
            <a:endParaRPr sz="7200"/>
          </a:p>
        </p:txBody>
      </p:sp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20"/>
          <p:cNvGraphicFramePr/>
          <p:nvPr/>
        </p:nvGraphicFramePr>
        <p:xfrm>
          <a:off x="5718228" y="3209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</a:t>
            </a:r>
            <a:endParaRPr/>
          </a:p>
        </p:txBody>
      </p:sp>
      <p:sp>
        <p:nvSpPr>
          <p:cNvPr id="322" name="Google Shape;322;p21"/>
          <p:cNvSpPr txBox="1"/>
          <p:nvPr>
            <p:ph idx="1" type="body"/>
          </p:nvPr>
        </p:nvSpPr>
        <p:spPr>
          <a:xfrm>
            <a:off x="1484310" y="1421027"/>
            <a:ext cx="5688787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Systems Interconnection (OSI)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Seven layers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theoretical system delivered too late!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is the de facto standard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International Organization for Standardization (ISO) in 1984.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8" id="324" name="Google Shape;3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340" y="3979270"/>
            <a:ext cx="4151871" cy="255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8451" y="1421027"/>
            <a:ext cx="3452417" cy="3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7247996" y="5369011"/>
            <a:ext cx="415187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ISO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organization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b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OSI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model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2"/>
          <p:cNvGraphicFramePr/>
          <p:nvPr/>
        </p:nvGraphicFramePr>
        <p:xfrm>
          <a:off x="2392062" y="1291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2712300"/>
                <a:gridCol w="630200"/>
                <a:gridCol w="1896750"/>
                <a:gridCol w="21686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Primary Concern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Layers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Cisco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Communications between applications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</a:t>
                      </a:r>
                      <a:r>
                        <a:rPr lang="en-US" sz="2400"/>
                        <a:t>ll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Presentation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eople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Session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</a:t>
                      </a:r>
                      <a:r>
                        <a:rPr lang="en-US" sz="2400"/>
                        <a:t>eem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T</a:t>
                      </a:r>
                      <a:r>
                        <a:rPr lang="en-US" sz="2400"/>
                        <a:t>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r>
                        <a:rPr lang="en-US" sz="2400"/>
                        <a:t>eed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Moving raw data across the 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Data Link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</a:t>
                      </a:r>
                      <a:r>
                        <a:rPr lang="en-US" sz="2400"/>
                        <a:t>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Physical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rocessing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/>
          <p:nvPr/>
        </p:nvSpPr>
        <p:spPr>
          <a:xfrm>
            <a:off x="2381250" y="1385888"/>
            <a:ext cx="7429500" cy="478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41" name="Google Shape;341;p23"/>
          <p:cNvCxnSpPr/>
          <p:nvPr/>
        </p:nvCxnSpPr>
        <p:spPr>
          <a:xfrm>
            <a:off x="51022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3"/>
          <p:cNvCxnSpPr/>
          <p:nvPr/>
        </p:nvCxnSpPr>
        <p:spPr>
          <a:xfrm>
            <a:off x="5732463" y="1974850"/>
            <a:ext cx="0" cy="412908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3"/>
          <p:cNvCxnSpPr/>
          <p:nvPr/>
        </p:nvCxnSpPr>
        <p:spPr>
          <a:xfrm>
            <a:off x="76295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3"/>
          <p:cNvCxnSpPr/>
          <p:nvPr/>
        </p:nvCxnSpPr>
        <p:spPr>
          <a:xfrm>
            <a:off x="2382838" y="198120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3"/>
          <p:cNvCxnSpPr/>
          <p:nvPr/>
        </p:nvCxnSpPr>
        <p:spPr>
          <a:xfrm>
            <a:off x="5095875" y="256857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3"/>
          <p:cNvCxnSpPr/>
          <p:nvPr/>
        </p:nvCxnSpPr>
        <p:spPr>
          <a:xfrm>
            <a:off x="5095875" y="315753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3"/>
          <p:cNvCxnSpPr/>
          <p:nvPr/>
        </p:nvCxnSpPr>
        <p:spPr>
          <a:xfrm>
            <a:off x="5095875" y="3744913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3"/>
          <p:cNvCxnSpPr/>
          <p:nvPr/>
        </p:nvCxnSpPr>
        <p:spPr>
          <a:xfrm>
            <a:off x="5095875" y="433228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3"/>
          <p:cNvCxnSpPr/>
          <p:nvPr/>
        </p:nvCxnSpPr>
        <p:spPr>
          <a:xfrm>
            <a:off x="2382838" y="492125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5095875" y="550862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2389188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9798050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2382838" y="1393825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2382838" y="6097588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3"/>
          <p:cNvSpPr/>
          <p:nvPr/>
        </p:nvSpPr>
        <p:spPr>
          <a:xfrm>
            <a:off x="2654300" y="1497013"/>
            <a:ext cx="2360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Primary Concern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930900" y="1497013"/>
            <a:ext cx="10366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Layers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8369300" y="1497013"/>
            <a:ext cx="854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Cisco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2481263" y="2895600"/>
            <a:ext cx="23637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Communications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2481263" y="3263900"/>
            <a:ext cx="13255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between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481263" y="3627438"/>
            <a:ext cx="16843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351463" y="2087563"/>
            <a:ext cx="2905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824538" y="2087563"/>
            <a:ext cx="16049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721600" y="2087563"/>
            <a:ext cx="3667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920038" y="2087563"/>
            <a:ext cx="304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337175" y="2673350"/>
            <a:ext cx="3222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824538" y="2673350"/>
            <a:ext cx="1781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7721600" y="267335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7904163" y="2673350"/>
            <a:ext cx="8604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eople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343525" y="3263900"/>
            <a:ext cx="3079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824538" y="3263900"/>
            <a:ext cx="11223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Session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7721600" y="3263900"/>
            <a:ext cx="3444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896225" y="3263900"/>
            <a:ext cx="7191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338763" y="3851275"/>
            <a:ext cx="3190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824538" y="3851275"/>
            <a:ext cx="13970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Transport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721600" y="3851275"/>
            <a:ext cx="3429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894638" y="3851275"/>
            <a:ext cx="3238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348288" y="4437063"/>
            <a:ext cx="3000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5824538" y="4437063"/>
            <a:ext cx="12620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721600" y="4437063"/>
            <a:ext cx="3889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7943850" y="4437063"/>
            <a:ext cx="6286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2481263" y="5138738"/>
            <a:ext cx="23272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Moving raw data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2481263" y="5502275"/>
            <a:ext cx="2543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across the 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338763" y="5027613"/>
            <a:ext cx="3175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824538" y="5027613"/>
            <a:ext cx="13700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721600" y="5027613"/>
            <a:ext cx="3762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931150" y="5027613"/>
            <a:ext cx="5667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348288" y="5613400"/>
            <a:ext cx="2984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824538" y="5613400"/>
            <a:ext cx="11922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Physical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7721600" y="561340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7904163" y="5613400"/>
            <a:ext cx="13525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rocessing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 exchange using the OSI Model</a:t>
            </a:r>
            <a:endParaRPr/>
          </a:p>
        </p:txBody>
      </p:sp>
      <p:pic>
        <p:nvPicPr>
          <p:cNvPr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927" y="1514989"/>
            <a:ext cx="1162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758" y="1514988"/>
            <a:ext cx="11620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/>
          <p:nvPr/>
        </p:nvSpPr>
        <p:spPr>
          <a:xfrm>
            <a:off x="4308518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3908983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3908983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3509447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3511379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3111843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3111844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2712309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2712310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312775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2312775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1913240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1913240" y="5583841"/>
            <a:ext cx="3375838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1513704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889543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10387783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9988248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9988248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9588712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9590644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9191108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9191109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8791574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8791575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8392040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8392040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7992505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7992505" y="5583841"/>
            <a:ext cx="297630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7592969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0968808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cxnSp>
        <p:nvCxnSpPr>
          <p:cNvPr id="429" name="Google Shape;429;p24"/>
          <p:cNvCxnSpPr>
            <a:stCxn id="399" idx="2"/>
            <a:endCxn id="401" idx="0"/>
          </p:cNvCxnSpPr>
          <p:nvPr/>
        </p:nvCxnSpPr>
        <p:spPr>
          <a:xfrm rot="5400000">
            <a:off x="4366831" y="2919151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4"/>
          <p:cNvCxnSpPr>
            <a:stCxn id="400" idx="2"/>
            <a:endCxn id="401" idx="0"/>
          </p:cNvCxnSpPr>
          <p:nvPr/>
        </p:nvCxnSpPr>
        <p:spPr>
          <a:xfrm flipH="1" rot="-5400000">
            <a:off x="4121651" y="2873851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4"/>
          <p:cNvCxnSpPr>
            <a:stCxn id="401" idx="2"/>
          </p:cNvCxnSpPr>
          <p:nvPr/>
        </p:nvCxnSpPr>
        <p:spPr>
          <a:xfrm rot="5400000">
            <a:off x="4166313" y="3402578"/>
            <a:ext cx="261900" cy="20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24"/>
          <p:cNvCxnSpPr>
            <a:stCxn id="402" idx="2"/>
            <a:endCxn id="403" idx="0"/>
          </p:cNvCxnSpPr>
          <p:nvPr/>
        </p:nvCxnSpPr>
        <p:spPr>
          <a:xfrm flipH="1" rot="-5400000">
            <a:off x="3822315" y="3260528"/>
            <a:ext cx="264900" cy="4911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4"/>
          <p:cNvCxnSpPr>
            <a:stCxn id="404" idx="2"/>
            <a:endCxn id="405" idx="0"/>
          </p:cNvCxnSpPr>
          <p:nvPr/>
        </p:nvCxnSpPr>
        <p:spPr>
          <a:xfrm flipH="1" rot="-5400000">
            <a:off x="3524161" y="3648420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p24"/>
          <p:cNvCxnSpPr>
            <a:stCxn id="403" idx="2"/>
            <a:endCxn id="405" idx="0"/>
          </p:cNvCxnSpPr>
          <p:nvPr/>
        </p:nvCxnSpPr>
        <p:spPr>
          <a:xfrm rot="5400000">
            <a:off x="3968561" y="3893070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24"/>
          <p:cNvCxnSpPr>
            <a:stCxn id="406" idx="2"/>
            <a:endCxn id="407" idx="0"/>
          </p:cNvCxnSpPr>
          <p:nvPr/>
        </p:nvCxnSpPr>
        <p:spPr>
          <a:xfrm flipH="1" rot="-5400000">
            <a:off x="3226477" y="403298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24"/>
          <p:cNvCxnSpPr>
            <a:stCxn id="405" idx="2"/>
            <a:endCxn id="407" idx="0"/>
          </p:cNvCxnSpPr>
          <p:nvPr/>
        </p:nvCxnSpPr>
        <p:spPr>
          <a:xfrm rot="5400000">
            <a:off x="3770744" y="437753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24"/>
          <p:cNvCxnSpPr>
            <a:stCxn id="408" idx="2"/>
            <a:endCxn id="409" idx="0"/>
          </p:cNvCxnSpPr>
          <p:nvPr/>
        </p:nvCxnSpPr>
        <p:spPr>
          <a:xfrm flipH="1" rot="-5400000">
            <a:off x="2924893" y="4417475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4"/>
          <p:cNvCxnSpPr>
            <a:stCxn id="407" idx="2"/>
            <a:endCxn id="409" idx="0"/>
          </p:cNvCxnSpPr>
          <p:nvPr/>
        </p:nvCxnSpPr>
        <p:spPr>
          <a:xfrm rot="5400000">
            <a:off x="3569028" y="4861925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24"/>
          <p:cNvCxnSpPr>
            <a:stCxn id="410" idx="2"/>
            <a:endCxn id="411" idx="0"/>
          </p:cNvCxnSpPr>
          <p:nvPr/>
        </p:nvCxnSpPr>
        <p:spPr>
          <a:xfrm flipH="1" rot="-5400000">
            <a:off x="2723358" y="4705888"/>
            <a:ext cx="2676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4"/>
          <p:cNvCxnSpPr>
            <a:stCxn id="409" idx="2"/>
            <a:endCxn id="411" idx="0"/>
          </p:cNvCxnSpPr>
          <p:nvPr/>
        </p:nvCxnSpPr>
        <p:spPr>
          <a:xfrm flipH="1" rot="-5400000">
            <a:off x="3467660" y="5449738"/>
            <a:ext cx="267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24"/>
          <p:cNvCxnSpPr>
            <a:stCxn id="411" idx="2"/>
            <a:endCxn id="426" idx="2"/>
          </p:cNvCxnSpPr>
          <p:nvPr/>
        </p:nvCxnSpPr>
        <p:spPr>
          <a:xfrm flipH="1" rot="-5400000">
            <a:off x="6540559" y="2866863"/>
            <a:ext cx="600" cy="5879400"/>
          </a:xfrm>
          <a:prstGeom prst="bentConnector3">
            <a:avLst>
              <a:gd fmla="val 3704166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24"/>
          <p:cNvCxnSpPr>
            <a:stCxn id="426" idx="0"/>
            <a:endCxn id="425" idx="2"/>
          </p:cNvCxnSpPr>
          <p:nvPr/>
        </p:nvCxnSpPr>
        <p:spPr>
          <a:xfrm flipH="1" rot="5400000">
            <a:off x="8702607" y="4805791"/>
            <a:ext cx="267600" cy="128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24"/>
          <p:cNvCxnSpPr>
            <a:stCxn id="426" idx="0"/>
            <a:endCxn id="424" idx="2"/>
          </p:cNvCxnSpPr>
          <p:nvPr/>
        </p:nvCxnSpPr>
        <p:spPr>
          <a:xfrm rot="-5400000">
            <a:off x="9446757" y="5350141"/>
            <a:ext cx="267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24"/>
          <p:cNvCxnSpPr>
            <a:stCxn id="424" idx="0"/>
            <a:endCxn id="423" idx="2"/>
          </p:cNvCxnSpPr>
          <p:nvPr/>
        </p:nvCxnSpPr>
        <p:spPr>
          <a:xfrm flipH="1" rot="5400000">
            <a:off x="9004075" y="4417466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24"/>
          <p:cNvCxnSpPr>
            <a:stCxn id="424" idx="0"/>
            <a:endCxn id="422" idx="2"/>
          </p:cNvCxnSpPr>
          <p:nvPr/>
        </p:nvCxnSpPr>
        <p:spPr>
          <a:xfrm rot="-5400000">
            <a:off x="9648325" y="4861916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24"/>
          <p:cNvCxnSpPr>
            <a:stCxn id="422" idx="0"/>
            <a:endCxn id="421" idx="2"/>
          </p:cNvCxnSpPr>
          <p:nvPr/>
        </p:nvCxnSpPr>
        <p:spPr>
          <a:xfrm flipH="1" rot="5400000">
            <a:off x="9305693" y="403290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24"/>
          <p:cNvCxnSpPr>
            <a:stCxn id="422" idx="0"/>
            <a:endCxn id="420" idx="2"/>
          </p:cNvCxnSpPr>
          <p:nvPr/>
        </p:nvCxnSpPr>
        <p:spPr>
          <a:xfrm rot="-5400000">
            <a:off x="9850043" y="437745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24"/>
          <p:cNvCxnSpPr>
            <a:stCxn id="420" idx="0"/>
            <a:endCxn id="419" idx="2"/>
          </p:cNvCxnSpPr>
          <p:nvPr/>
        </p:nvCxnSpPr>
        <p:spPr>
          <a:xfrm flipH="1" rot="5400000">
            <a:off x="9603409" y="3648411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9" name="Google Shape;449;p24"/>
          <p:cNvCxnSpPr>
            <a:stCxn id="420" idx="0"/>
            <a:endCxn id="418" idx="2"/>
          </p:cNvCxnSpPr>
          <p:nvPr/>
        </p:nvCxnSpPr>
        <p:spPr>
          <a:xfrm rot="-5400000">
            <a:off x="10047859" y="3893061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24"/>
          <p:cNvCxnSpPr>
            <a:stCxn id="418" idx="0"/>
            <a:endCxn id="417" idx="2"/>
          </p:cNvCxnSpPr>
          <p:nvPr/>
        </p:nvCxnSpPr>
        <p:spPr>
          <a:xfrm flipH="1" rot="5400000">
            <a:off x="9901726" y="3260548"/>
            <a:ext cx="264900" cy="491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24"/>
          <p:cNvCxnSpPr>
            <a:stCxn id="418" idx="0"/>
            <a:endCxn id="416" idx="2"/>
          </p:cNvCxnSpPr>
          <p:nvPr/>
        </p:nvCxnSpPr>
        <p:spPr>
          <a:xfrm rot="-5400000">
            <a:off x="10246726" y="3406648"/>
            <a:ext cx="264900" cy="19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24"/>
          <p:cNvCxnSpPr>
            <a:stCxn id="416" idx="0"/>
            <a:endCxn id="415" idx="2"/>
          </p:cNvCxnSpPr>
          <p:nvPr/>
        </p:nvCxnSpPr>
        <p:spPr>
          <a:xfrm flipH="1" rot="5400000">
            <a:off x="10201028" y="2873706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24"/>
          <p:cNvCxnSpPr>
            <a:stCxn id="416" idx="0"/>
            <a:endCxn id="414" idx="2"/>
          </p:cNvCxnSpPr>
          <p:nvPr/>
        </p:nvCxnSpPr>
        <p:spPr>
          <a:xfrm rot="-5400000">
            <a:off x="10446128" y="2919006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24"/>
          <p:cNvCxnSpPr>
            <a:stCxn id="413" idx="2"/>
            <a:endCxn id="411" idx="0"/>
          </p:cNvCxnSpPr>
          <p:nvPr/>
        </p:nvCxnSpPr>
        <p:spPr>
          <a:xfrm rot="5400000">
            <a:off x="4211061" y="4705712"/>
            <a:ext cx="2682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24"/>
          <p:cNvCxnSpPr>
            <a:stCxn id="426" idx="0"/>
            <a:endCxn id="428" idx="2"/>
          </p:cNvCxnSpPr>
          <p:nvPr/>
        </p:nvCxnSpPr>
        <p:spPr>
          <a:xfrm rot="-5400000">
            <a:off x="10190457" y="4605841"/>
            <a:ext cx="268200" cy="1687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24"/>
          <p:cNvCxnSpPr>
            <a:stCxn id="397" idx="2"/>
            <a:endCxn id="399" idx="0"/>
          </p:cNvCxnSpPr>
          <p:nvPr/>
        </p:nvCxnSpPr>
        <p:spPr>
          <a:xfrm flipH="1" rot="-5400000">
            <a:off x="4358852" y="2423914"/>
            <a:ext cx="263400" cy="217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24"/>
          <p:cNvCxnSpPr>
            <a:stCxn id="414" idx="0"/>
            <a:endCxn id="398" idx="2"/>
          </p:cNvCxnSpPr>
          <p:nvPr/>
        </p:nvCxnSpPr>
        <p:spPr>
          <a:xfrm flipH="1" rot="5400000">
            <a:off x="10401396" y="2387429"/>
            <a:ext cx="2634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24"/>
          <p:cNvSpPr txBox="1"/>
          <p:nvPr/>
        </p:nvSpPr>
        <p:spPr>
          <a:xfrm>
            <a:off x="3946180" y="120752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832814" y="1182420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sp>
        <p:nvSpPr>
          <p:cNvPr id="460" name="Google Shape;460;p24"/>
          <p:cNvSpPr txBox="1"/>
          <p:nvPr/>
        </p:nvSpPr>
        <p:spPr>
          <a:xfrm>
            <a:off x="5521217" y="6022333"/>
            <a:ext cx="2271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Transmission medium</a:t>
            </a:r>
            <a:endParaRPr/>
          </a:p>
        </p:txBody>
      </p:sp>
      <p:graphicFrame>
        <p:nvGraphicFramePr>
          <p:cNvPr id="461" name="Google Shape;461;p24"/>
          <p:cNvGraphicFramePr/>
          <p:nvPr/>
        </p:nvGraphicFramePr>
        <p:xfrm>
          <a:off x="6120837" y="1510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Application Layer</a:t>
            </a:r>
            <a:endParaRPr/>
          </a:p>
        </p:txBody>
      </p:sp>
      <p:pic>
        <p:nvPicPr>
          <p:cNvPr id="467" name="Google Shape;4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5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7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3058044" y="3510585"/>
            <a:ext cx="23952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Email/Other app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3077536" y="6046260"/>
            <a:ext cx="237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7478747" y="3524207"/>
            <a:ext cx="2114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Email/Other app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7282669" y="6046260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75" name="Google Shape;475;p25"/>
          <p:cNvCxnSpPr>
            <a:stCxn id="469" idx="2"/>
            <a:endCxn id="473" idx="0"/>
          </p:cNvCxnSpPr>
          <p:nvPr/>
        </p:nvCxnSpPr>
        <p:spPr>
          <a:xfrm flipH="1" rot="-5400000">
            <a:off x="4278448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5"/>
          <p:cNvCxnSpPr>
            <a:stCxn id="474" idx="2"/>
            <a:endCxn id="470" idx="0"/>
          </p:cNvCxnSpPr>
          <p:nvPr/>
        </p:nvCxnSpPr>
        <p:spPr>
          <a:xfrm flipH="1" rot="-5400000">
            <a:off x="3363413" y="5144290"/>
            <a:ext cx="731400" cy="107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5"/>
          <p:cNvCxnSpPr>
            <a:stCxn id="473" idx="2"/>
            <a:endCxn id="470" idx="0"/>
          </p:cNvCxnSpPr>
          <p:nvPr/>
        </p:nvCxnSpPr>
        <p:spPr>
          <a:xfrm rot="5400000">
            <a:off x="4173403" y="5406790"/>
            <a:ext cx="731400" cy="54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2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80" name="Google Shape;480;p25"/>
          <p:cNvCxnSpPr>
            <a:stCxn id="472" idx="0"/>
            <a:endCxn id="479" idx="2"/>
          </p:cNvCxnSpPr>
          <p:nvPr/>
        </p:nvCxnSpPr>
        <p:spPr>
          <a:xfrm flipH="1" rot="5400000">
            <a:off x="7692467" y="5127810"/>
            <a:ext cx="731400" cy="1105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5"/>
          <p:cNvCxnSpPr>
            <a:stCxn id="472" idx="0"/>
            <a:endCxn id="478" idx="2"/>
          </p:cNvCxnSpPr>
          <p:nvPr/>
        </p:nvCxnSpPr>
        <p:spPr>
          <a:xfrm rot="-5400000">
            <a:off x="8502467" y="5423310"/>
            <a:ext cx="731400" cy="514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5"/>
          <p:cNvCxnSpPr>
            <a:stCxn id="478" idx="0"/>
            <a:endCxn id="4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488" name="Google Shape;488;p2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Interface Between Human and Data Networks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Responsible for providing services to the user.</a:t>
            </a:r>
            <a:endParaRPr/>
          </a:p>
        </p:txBody>
      </p:sp>
      <p:pic>
        <p:nvPicPr>
          <p:cNvPr id="489" name="Google Shape;4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468" y="2720801"/>
            <a:ext cx="4629520" cy="2959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get a cutting-edge web browser | Computerworld" id="491" name="Google Shape;4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3769" y="1244484"/>
            <a:ext cx="2797054" cy="21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0471" y="3677622"/>
            <a:ext cx="3470352" cy="246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6096" y="4486292"/>
            <a:ext cx="3550894" cy="22193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 txBox="1"/>
          <p:nvPr/>
        </p:nvSpPr>
        <p:spPr>
          <a:xfrm>
            <a:off x="5972316" y="4116960"/>
            <a:ext cx="721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6693988" y="360164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Instant Messaging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8149054" y="2150759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Browsers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Examples: Application Layer Protocols</a:t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3" name="Google Shape;503;p27"/>
          <p:cNvGraphicFramePr/>
          <p:nvPr/>
        </p:nvGraphicFramePr>
        <p:xfrm>
          <a:off x="2093898" y="22713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1797475"/>
                <a:gridCol w="1400400"/>
                <a:gridCol w="1400400"/>
                <a:gridCol w="1400400"/>
                <a:gridCol w="1400400"/>
                <a:gridCol w="1400400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Application Layer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 System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Host Config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Email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File Transfer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Web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BOOTP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SMTP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DHCP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IMAP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Presentation Layer</a:t>
            </a:r>
            <a:endParaRPr/>
          </a:p>
        </p:txBody>
      </p:sp>
      <p:pic>
        <p:nvPicPr>
          <p:cNvPr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8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6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3006204" y="3510585"/>
            <a:ext cx="24988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Application Layer</a:t>
            </a:r>
            <a:endParaRPr/>
          </a:p>
        </p:txBody>
      </p:sp>
      <p:sp>
        <p:nvSpPr>
          <p:cNvPr id="512" name="Google Shape;512;p28"/>
          <p:cNvSpPr txBox="1"/>
          <p:nvPr/>
        </p:nvSpPr>
        <p:spPr>
          <a:xfrm>
            <a:off x="3077536" y="6046260"/>
            <a:ext cx="1841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7426906" y="3524207"/>
            <a:ext cx="22181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Application Layer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7282669" y="6046260"/>
            <a:ext cx="21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17" name="Google Shape;517;p28"/>
          <p:cNvCxnSpPr>
            <a:stCxn id="511" idx="2"/>
            <a:endCxn id="515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28"/>
          <p:cNvCxnSpPr>
            <a:stCxn id="516" idx="2"/>
            <a:endCxn id="512" idx="0"/>
          </p:cNvCxnSpPr>
          <p:nvPr/>
        </p:nvCxnSpPr>
        <p:spPr>
          <a:xfrm flipH="1" rot="-5400000">
            <a:off x="3229763" y="5277940"/>
            <a:ext cx="731400" cy="80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28"/>
          <p:cNvCxnSpPr>
            <a:stCxn id="515" idx="2"/>
            <a:endCxn id="512" idx="0"/>
          </p:cNvCxnSpPr>
          <p:nvPr/>
        </p:nvCxnSpPr>
        <p:spPr>
          <a:xfrm rot="5400000">
            <a:off x="4039753" y="5273140"/>
            <a:ext cx="731400" cy="814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8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22" name="Google Shape;522;p28"/>
          <p:cNvCxnSpPr>
            <a:stCxn id="514" idx="0"/>
            <a:endCxn id="521" idx="2"/>
          </p:cNvCxnSpPr>
          <p:nvPr/>
        </p:nvCxnSpPr>
        <p:spPr>
          <a:xfrm flipH="1" rot="5400000">
            <a:off x="7558801" y="5261460"/>
            <a:ext cx="731400" cy="838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8"/>
          <p:cNvCxnSpPr>
            <a:stCxn id="514" idx="0"/>
            <a:endCxn id="520" idx="2"/>
          </p:cNvCxnSpPr>
          <p:nvPr/>
        </p:nvCxnSpPr>
        <p:spPr>
          <a:xfrm rot="-5400000">
            <a:off x="8368801" y="5289660"/>
            <a:ext cx="731400" cy="781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28"/>
          <p:cNvCxnSpPr>
            <a:stCxn id="520" idx="0"/>
            <a:endCxn id="513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Presentation Layer</a:t>
            </a:r>
            <a:endParaRPr/>
          </a:p>
        </p:txBody>
      </p:sp>
      <p:sp>
        <p:nvSpPr>
          <p:cNvPr id="530" name="Google Shape;530;p2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presentation layer is responsible for translation, compression, and encryption. i.e. the three primary functions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Presentation layer implementations are not typically associated with a particular protocol stack.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Session Layer</a:t>
            </a:r>
            <a:endParaRPr/>
          </a:p>
        </p:txBody>
      </p:sp>
      <p:pic>
        <p:nvPicPr>
          <p:cNvPr id="537" name="Google Shape;5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0"/>
          <p:cNvSpPr txBox="1"/>
          <p:nvPr/>
        </p:nvSpPr>
        <p:spPr>
          <a:xfrm>
            <a:off x="6397529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5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2927401" y="3510585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540" name="Google Shape;540;p30"/>
          <p:cNvSpPr txBox="1"/>
          <p:nvPr/>
        </p:nvSpPr>
        <p:spPr>
          <a:xfrm>
            <a:off x="3077536" y="6046260"/>
            <a:ext cx="203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7348104" y="3524207"/>
            <a:ext cx="2375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7282669" y="6046260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45" name="Google Shape;545;p30"/>
          <p:cNvCxnSpPr>
            <a:stCxn id="539" idx="2"/>
            <a:endCxn id="543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6" name="Google Shape;546;p30"/>
          <p:cNvCxnSpPr>
            <a:stCxn id="544" idx="2"/>
            <a:endCxn id="540" idx="0"/>
          </p:cNvCxnSpPr>
          <p:nvPr/>
        </p:nvCxnSpPr>
        <p:spPr>
          <a:xfrm flipH="1" rot="-5400000">
            <a:off x="3278063" y="5229640"/>
            <a:ext cx="731400" cy="901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30"/>
          <p:cNvCxnSpPr>
            <a:stCxn id="543" idx="2"/>
            <a:endCxn id="540" idx="0"/>
          </p:cNvCxnSpPr>
          <p:nvPr/>
        </p:nvCxnSpPr>
        <p:spPr>
          <a:xfrm rot="5400000">
            <a:off x="4088053" y="5321440"/>
            <a:ext cx="731400" cy="718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3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50" name="Google Shape;550;p30"/>
          <p:cNvCxnSpPr>
            <a:stCxn id="542" idx="0"/>
            <a:endCxn id="549" idx="2"/>
          </p:cNvCxnSpPr>
          <p:nvPr/>
        </p:nvCxnSpPr>
        <p:spPr>
          <a:xfrm flipH="1" rot="5400000">
            <a:off x="7607098" y="5213160"/>
            <a:ext cx="731400" cy="934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0"/>
          <p:cNvCxnSpPr>
            <a:stCxn id="542" idx="0"/>
            <a:endCxn id="548" idx="2"/>
          </p:cNvCxnSpPr>
          <p:nvPr/>
        </p:nvCxnSpPr>
        <p:spPr>
          <a:xfrm rot="-5400000">
            <a:off x="8417098" y="5337960"/>
            <a:ext cx="731400" cy="685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0"/>
          <p:cNvCxnSpPr>
            <a:stCxn id="548" idx="0"/>
            <a:endCxn id="54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Session Layer</a:t>
            </a:r>
            <a:endParaRPr/>
          </a:p>
        </p:txBody>
      </p:sp>
      <p:sp>
        <p:nvSpPr>
          <p:cNvPr id="558" name="Google Shape;558;p31"/>
          <p:cNvSpPr txBox="1"/>
          <p:nvPr>
            <p:ph idx="1" type="body"/>
          </p:nvPr>
        </p:nvSpPr>
        <p:spPr>
          <a:xfrm>
            <a:off x="1484310" y="1421026"/>
            <a:ext cx="9927155" cy="2638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session layer is responsible for dialog control and synchronization.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handles the exchange of information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initiate dialogs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keep them active, and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restart sessions that are disrupted or idle for a long period of time</a:t>
            </a:r>
            <a:endParaRPr/>
          </a:p>
        </p:txBody>
      </p:sp>
      <p:pic>
        <p:nvPicPr>
          <p:cNvPr id="559" name="Google Shape;5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8733" y="4771064"/>
            <a:ext cx="5680614" cy="26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1"/>
          <p:cNvSpPr txBox="1"/>
          <p:nvPr/>
        </p:nvSpPr>
        <p:spPr>
          <a:xfrm>
            <a:off x="1252960" y="4699665"/>
            <a:ext cx="41814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applications, like web browsers or e-mail clients, incorporate functionality of the OSI layers 5, 6 and 7.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Transport Layer</a:t>
            </a:r>
            <a:endParaRPr/>
          </a:p>
        </p:txBody>
      </p:sp>
      <p:pic>
        <p:nvPicPr>
          <p:cNvPr id="567" name="Google Shape;5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2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4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3194718" y="3510585"/>
            <a:ext cx="2121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3077536" y="6046260"/>
            <a:ext cx="1960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7615421" y="3524207"/>
            <a:ext cx="1841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7282669" y="6046260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75" name="Google Shape;575;p32"/>
          <p:cNvCxnSpPr>
            <a:stCxn id="569" idx="2"/>
            <a:endCxn id="573" idx="0"/>
          </p:cNvCxnSpPr>
          <p:nvPr/>
        </p:nvCxnSpPr>
        <p:spPr>
          <a:xfrm flipH="1" rot="-5400000">
            <a:off x="4278450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32"/>
          <p:cNvCxnSpPr>
            <a:stCxn id="574" idx="2"/>
            <a:endCxn id="570" idx="0"/>
          </p:cNvCxnSpPr>
          <p:nvPr/>
        </p:nvCxnSpPr>
        <p:spPr>
          <a:xfrm flipH="1" rot="-5400000">
            <a:off x="3259613" y="5248090"/>
            <a:ext cx="731400" cy="864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32"/>
          <p:cNvCxnSpPr>
            <a:stCxn id="573" idx="2"/>
            <a:endCxn id="570" idx="0"/>
          </p:cNvCxnSpPr>
          <p:nvPr/>
        </p:nvCxnSpPr>
        <p:spPr>
          <a:xfrm rot="5400000">
            <a:off x="4069603" y="5302990"/>
            <a:ext cx="731400" cy="755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2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80" name="Google Shape;580;p32"/>
          <p:cNvCxnSpPr>
            <a:stCxn id="572" idx="0"/>
            <a:endCxn id="579" idx="2"/>
          </p:cNvCxnSpPr>
          <p:nvPr/>
        </p:nvCxnSpPr>
        <p:spPr>
          <a:xfrm flipH="1" rot="5400000">
            <a:off x="7588679" y="5231610"/>
            <a:ext cx="731400" cy="897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32"/>
          <p:cNvCxnSpPr>
            <a:stCxn id="572" idx="0"/>
            <a:endCxn id="578" idx="2"/>
          </p:cNvCxnSpPr>
          <p:nvPr/>
        </p:nvCxnSpPr>
        <p:spPr>
          <a:xfrm rot="-5400000">
            <a:off x="8398679" y="5319510"/>
            <a:ext cx="731400" cy="722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32"/>
          <p:cNvCxnSpPr>
            <a:stCxn id="578" idx="0"/>
            <a:endCxn id="5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588" name="Google Shape;588;p33"/>
          <p:cNvSpPr txBox="1"/>
          <p:nvPr>
            <p:ph idx="1" type="body"/>
          </p:nvPr>
        </p:nvSpPr>
        <p:spPr>
          <a:xfrm>
            <a:off x="1484310" y="1421027"/>
            <a:ext cx="9927155" cy="522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The transport layer is responsible for the delivery of a message from one process (sender) to another (receiver).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Transport Layer PDU is called  </a:t>
            </a:r>
            <a:r>
              <a:rPr b="1" lang="en-US"/>
              <a:t>Segments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Functions: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Segmentation and Reassembly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Adds Port Address and Sequence Number.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Connection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Flow and Error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Multiplexing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/>
              <a:t>Notes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/>
              <a:t>A common protocol used in Transport Layer is </a:t>
            </a:r>
            <a:r>
              <a:rPr b="1" lang="en-US" sz="1900"/>
              <a:t>TCP</a:t>
            </a:r>
            <a:r>
              <a:rPr lang="en-US" sz="1900"/>
              <a:t>.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i="1" lang="en-US" sz="1900"/>
              <a:t>*PDU – Packet Data Unit</a:t>
            </a:r>
            <a:endParaRPr/>
          </a:p>
        </p:txBody>
      </p:sp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8241" y="3444832"/>
            <a:ext cx="5383749" cy="221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4"/>
          <p:cNvSpPr/>
          <p:nvPr/>
        </p:nvSpPr>
        <p:spPr>
          <a:xfrm>
            <a:off x="7222102" y="3984016"/>
            <a:ext cx="4696748" cy="53551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7217953" y="3107536"/>
            <a:ext cx="4696747" cy="6265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endParaRPr/>
          </a:p>
        </p:txBody>
      </p:sp>
      <p:sp>
        <p:nvSpPr>
          <p:cNvPr id="597" name="Google Shape;597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– Segmentation/Reassembly</a:t>
            </a:r>
            <a:endParaRPr/>
          </a:p>
        </p:txBody>
      </p:sp>
      <p:pic>
        <p:nvPicPr>
          <p:cNvPr id="598" name="Google Shape;5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4"/>
          <p:cNvSpPr txBox="1"/>
          <p:nvPr>
            <p:ph idx="1" type="body"/>
          </p:nvPr>
        </p:nvSpPr>
        <p:spPr>
          <a:xfrm>
            <a:off x="1484310" y="1392194"/>
            <a:ext cx="10018713" cy="1048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Segments data received from application layer into small parts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1484310" y="1807479"/>
            <a:ext cx="6153620" cy="422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Steps (Sender):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Segments into small parts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to identify the application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sequence the segmented parts</a:t>
            </a:r>
            <a:endParaRPr/>
          </a:p>
          <a:p>
            <a:pPr indent="-285750" lvl="0" marL="285750" marR="0" rtl="0" algn="l"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do you think will happen at the Receiver end?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sequence number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order them sequentially, merges them and sends to the upper layer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811641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D_1</a:t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771687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961434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D_2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921480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11107226" y="3373893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D_3</a:t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10707691" y="337389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7734778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D_41</a:t>
            </a:r>
            <a:endParaRPr/>
          </a:p>
        </p:txBody>
      </p:sp>
      <p:sp>
        <p:nvSpPr>
          <p:cNvPr id="608" name="Google Shape;608;p34"/>
          <p:cNvSpPr/>
          <p:nvPr/>
        </p:nvSpPr>
        <p:spPr>
          <a:xfrm>
            <a:off x="7335243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0725591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D_43</a:t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10326056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9232709" y="413784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D_42</a:t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8833174" y="413784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7217953" y="2223956"/>
            <a:ext cx="4696747" cy="53551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8846146" y="2387753"/>
            <a:ext cx="207021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15" name="Google Shape;615;p34"/>
          <p:cNvSpPr/>
          <p:nvPr/>
        </p:nvSpPr>
        <p:spPr>
          <a:xfrm>
            <a:off x="8446611" y="238775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cxnSp>
        <p:nvCxnSpPr>
          <p:cNvPr id="616" name="Google Shape;616;p34"/>
          <p:cNvCxnSpPr>
            <a:stCxn id="613" idx="2"/>
            <a:endCxn id="601" idx="0"/>
          </p:cNvCxnSpPr>
          <p:nvPr/>
        </p:nvCxnSpPr>
        <p:spPr>
          <a:xfrm rot="5400000">
            <a:off x="8676677" y="2489616"/>
            <a:ext cx="619800" cy="115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34"/>
          <p:cNvCxnSpPr>
            <a:stCxn id="613" idx="2"/>
            <a:endCxn id="603" idx="0"/>
          </p:cNvCxnSpPr>
          <p:nvPr/>
        </p:nvCxnSpPr>
        <p:spPr>
          <a:xfrm flipH="1" rot="-5400000">
            <a:off x="9425627" y="2900166"/>
            <a:ext cx="619800" cy="33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4"/>
          <p:cNvCxnSpPr>
            <a:stCxn id="613" idx="2"/>
            <a:endCxn id="605" idx="0"/>
          </p:cNvCxnSpPr>
          <p:nvPr/>
        </p:nvCxnSpPr>
        <p:spPr>
          <a:xfrm flipH="1" rot="-5400000">
            <a:off x="10174877" y="2150916"/>
            <a:ext cx="614400" cy="1831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34"/>
          <p:cNvCxnSpPr>
            <a:stCxn id="602" idx="2"/>
            <a:endCxn id="607" idx="0"/>
          </p:cNvCxnSpPr>
          <p:nvPr/>
        </p:nvCxnSpPr>
        <p:spPr>
          <a:xfrm flipH="1" rot="-5400000">
            <a:off x="7804146" y="3714116"/>
            <a:ext cx="5334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34"/>
          <p:cNvCxnSpPr>
            <a:stCxn id="601" idx="2"/>
            <a:endCxn id="607" idx="0"/>
          </p:cNvCxnSpPr>
          <p:nvPr/>
        </p:nvCxnSpPr>
        <p:spPr>
          <a:xfrm rot="5400000">
            <a:off x="8049326" y="3777416"/>
            <a:ext cx="533400" cy="1818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34"/>
          <p:cNvCxnSpPr>
            <a:endCxn id="611" idx="0"/>
          </p:cNvCxnSpPr>
          <p:nvPr/>
        </p:nvCxnSpPr>
        <p:spPr>
          <a:xfrm rot="5400000">
            <a:off x="9543139" y="3776197"/>
            <a:ext cx="541500" cy="1818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34"/>
          <p:cNvCxnSpPr>
            <a:stCxn id="604" idx="2"/>
            <a:endCxn id="611" idx="0"/>
          </p:cNvCxnSpPr>
          <p:nvPr/>
        </p:nvCxnSpPr>
        <p:spPr>
          <a:xfrm flipH="1" rot="-5400000">
            <a:off x="9300726" y="3715466"/>
            <a:ext cx="536100" cy="3084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4"/>
          <p:cNvCxnSpPr>
            <a:stCxn id="606" idx="2"/>
            <a:endCxn id="609" idx="0"/>
          </p:cNvCxnSpPr>
          <p:nvPr/>
        </p:nvCxnSpPr>
        <p:spPr>
          <a:xfrm flipH="1" rot="-5400000">
            <a:off x="10792259" y="3711515"/>
            <a:ext cx="5388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34"/>
          <p:cNvCxnSpPr>
            <a:stCxn id="605" idx="2"/>
            <a:endCxn id="609" idx="0"/>
          </p:cNvCxnSpPr>
          <p:nvPr/>
        </p:nvCxnSpPr>
        <p:spPr>
          <a:xfrm rot="5400000">
            <a:off x="11037439" y="3774815"/>
            <a:ext cx="538800" cy="18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34"/>
          <p:cNvSpPr/>
          <p:nvPr/>
        </p:nvSpPr>
        <p:spPr>
          <a:xfrm>
            <a:off x="10536640" y="5220808"/>
            <a:ext cx="1378060" cy="31625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Session Layer</a:t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10536639" y="5543941"/>
            <a:ext cx="1378060" cy="3162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Layer</a:t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10536639" y="5871727"/>
            <a:ext cx="1378060" cy="31625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Layer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774263" y="4891970"/>
            <a:ext cx="902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Identification Using Port Address</a:t>
            </a:r>
            <a:endParaRPr/>
          </a:p>
        </p:txBody>
      </p:sp>
      <p:sp>
        <p:nvSpPr>
          <p:cNvPr id="634" name="Google Shape;634;p35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16-bit in length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Represented as one single decimal number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e.g. 80 – Web; 23 – TCP;</a:t>
            </a:r>
            <a:endParaRPr/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5127" y="3968990"/>
            <a:ext cx="5408796" cy="312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Connection Control</a:t>
            </a:r>
            <a:endParaRPr/>
          </a:p>
        </p:txBody>
      </p:sp>
      <p:sp>
        <p:nvSpPr>
          <p:cNvPr id="642" name="Google Shape;642;p36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43" name="Google Shape;6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/>
          <p:nvPr/>
        </p:nvSpPr>
        <p:spPr>
          <a:xfrm>
            <a:off x="3482788" y="2971800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Are you up?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8287870" y="3092823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Yes</a:t>
            </a:r>
            <a:endParaRPr/>
          </a:p>
        </p:txBody>
      </p:sp>
      <p:sp>
        <p:nvSpPr>
          <p:cNvPr id="647" name="Google Shape;647;p36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49" name="Google Shape;649;p36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Flow Control</a:t>
            </a:r>
            <a:endParaRPr/>
          </a:p>
        </p:txBody>
      </p:sp>
      <p:sp>
        <p:nvSpPr>
          <p:cNvPr id="655" name="Google Shape;655;p37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7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1" name="Google Shape;661;p37"/>
          <p:cNvSpPr txBox="1"/>
          <p:nvPr/>
        </p:nvSpPr>
        <p:spPr>
          <a:xfrm>
            <a:off x="7681021" y="1921613"/>
            <a:ext cx="317733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this point, this host has too many packets to process. Hence, the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buffer</a:t>
            </a: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store incoming packets overflows.</a:t>
            </a:r>
            <a:endParaRPr/>
          </a:p>
        </p:txBody>
      </p:sp>
      <p:sp>
        <p:nvSpPr>
          <p:cNvPr id="662" name="Google Shape;662;p37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Please, send less packets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Error Control</a:t>
            </a:r>
            <a:endParaRPr/>
          </a:p>
        </p:txBody>
      </p:sp>
      <p:sp>
        <p:nvSpPr>
          <p:cNvPr id="668" name="Google Shape;668;p38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69" name="Google Shape;6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8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4" name="Google Shape;674;p38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 send Packet 2</a:t>
            </a:r>
            <a:endParaRPr/>
          </a:p>
        </p:txBody>
      </p:sp>
      <p:sp>
        <p:nvSpPr>
          <p:cNvPr id="675" name="Google Shape;675;p38"/>
          <p:cNvSpPr/>
          <p:nvPr/>
        </p:nvSpPr>
        <p:spPr>
          <a:xfrm>
            <a:off x="6573460" y="3655478"/>
            <a:ext cx="356347" cy="295835"/>
          </a:xfrm>
          <a:prstGeom prst="rect">
            <a:avLst/>
          </a:prstGeom>
          <a:solidFill>
            <a:schemeClr val="accent4"/>
          </a:solidFill>
          <a:ln cap="rnd" cmpd="sng" w="15875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6" name="Google Shape;676;p38"/>
          <p:cNvSpPr txBox="1"/>
          <p:nvPr/>
        </p:nvSpPr>
        <p:spPr>
          <a:xfrm>
            <a:off x="6131857" y="3345761"/>
            <a:ext cx="1430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Lost in transition</a:t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4108077" y="3655478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Multiplexing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935" y="1464846"/>
            <a:ext cx="6867453" cy="5079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ENADU PRATIBHA ENGINEERING" id="685" name="Google Shape;68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343" y="1464846"/>
            <a:ext cx="3346282" cy="18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Network Layer</a:t>
            </a:r>
            <a:endParaRPr/>
          </a:p>
        </p:txBody>
      </p:sp>
      <p:pic>
        <p:nvPicPr>
          <p:cNvPr id="691" name="Google Shape;6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3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693" name="Google Shape;693;p40"/>
          <p:cNvSpPr txBox="1"/>
          <p:nvPr/>
        </p:nvSpPr>
        <p:spPr>
          <a:xfrm>
            <a:off x="3098122" y="3510585"/>
            <a:ext cx="2315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3077536" y="6046260"/>
            <a:ext cx="2045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695" name="Google Shape;695;p40"/>
          <p:cNvSpPr txBox="1"/>
          <p:nvPr/>
        </p:nvSpPr>
        <p:spPr>
          <a:xfrm>
            <a:off x="7518825" y="3524207"/>
            <a:ext cx="20342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696" name="Google Shape;696;p40"/>
          <p:cNvSpPr txBox="1"/>
          <p:nvPr/>
        </p:nvSpPr>
        <p:spPr>
          <a:xfrm>
            <a:off x="7282669" y="604626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697" name="Google Shape;697;p4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98" name="Google Shape;698;p4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699" name="Google Shape;699;p40"/>
          <p:cNvCxnSpPr>
            <a:stCxn id="693" idx="2"/>
            <a:endCxn id="697" idx="0"/>
          </p:cNvCxnSpPr>
          <p:nvPr/>
        </p:nvCxnSpPr>
        <p:spPr>
          <a:xfrm flipH="1" rot="-5400000">
            <a:off x="4278451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0" name="Google Shape;700;p40"/>
          <p:cNvCxnSpPr>
            <a:stCxn id="698" idx="2"/>
            <a:endCxn id="694" idx="0"/>
          </p:cNvCxnSpPr>
          <p:nvPr/>
        </p:nvCxnSpPr>
        <p:spPr>
          <a:xfrm flipH="1" rot="-5400000">
            <a:off x="3280913" y="5226790"/>
            <a:ext cx="731400" cy="90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40"/>
          <p:cNvCxnSpPr>
            <a:stCxn id="697" idx="2"/>
            <a:endCxn id="694" idx="0"/>
          </p:cNvCxnSpPr>
          <p:nvPr/>
        </p:nvCxnSpPr>
        <p:spPr>
          <a:xfrm rot="5400000">
            <a:off x="4090903" y="5324290"/>
            <a:ext cx="731400" cy="71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4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03" name="Google Shape;703;p4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04" name="Google Shape;704;p40"/>
          <p:cNvCxnSpPr>
            <a:stCxn id="696" idx="0"/>
            <a:endCxn id="703" idx="2"/>
          </p:cNvCxnSpPr>
          <p:nvPr/>
        </p:nvCxnSpPr>
        <p:spPr>
          <a:xfrm flipH="1" rot="5400000">
            <a:off x="7609858" y="5210310"/>
            <a:ext cx="731400" cy="940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40"/>
          <p:cNvCxnSpPr>
            <a:stCxn id="696" idx="0"/>
            <a:endCxn id="702" idx="2"/>
          </p:cNvCxnSpPr>
          <p:nvPr/>
        </p:nvCxnSpPr>
        <p:spPr>
          <a:xfrm rot="-5400000">
            <a:off x="8419858" y="5340810"/>
            <a:ext cx="731400" cy="67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6" name="Google Shape;706;p40"/>
          <p:cNvCxnSpPr>
            <a:stCxn id="702" idx="0"/>
            <a:endCxn id="695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712" name="Google Shape;712;p41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Network Layer PDU is called </a:t>
            </a:r>
            <a:r>
              <a:rPr b="1" lang="en-US"/>
              <a:t>Packet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layer is responsible for the delivery of  individual packets from  the </a:t>
            </a:r>
            <a:r>
              <a:rPr b="1" lang="en-US"/>
              <a:t>source host </a:t>
            </a:r>
            <a:r>
              <a:rPr lang="en-US"/>
              <a:t>to the </a:t>
            </a:r>
            <a:r>
              <a:rPr b="1" lang="en-US"/>
              <a:t>destination host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Common Network Layer Protocol is called </a:t>
            </a:r>
            <a:r>
              <a:rPr b="1" lang="en-US"/>
              <a:t>Internet Protocol (IP)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Adds an address (Logical Address) to identify sender and receiver hosts.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Decides which path to take (Routing).</a:t>
            </a:r>
            <a:endParaRPr/>
          </a:p>
        </p:txBody>
      </p:sp>
      <p:pic>
        <p:nvPicPr>
          <p:cNvPr id="713" name="Google Shape;7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Logical Address</a:t>
            </a:r>
            <a:endParaRPr/>
          </a:p>
        </p:txBody>
      </p:sp>
      <p:sp>
        <p:nvSpPr>
          <p:cNvPr id="719" name="Google Shape;719;p42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Universal address, each host uniquely defined.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32-bit address also known as IP Address.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bits are written in dotted decimal notation. Each decimal represented by 8 bits.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192.168.10.1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Independent of underlying physical networks.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720" name="Google Shape;7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3"/>
          <p:cNvPicPr preferRelativeResize="0"/>
          <p:nvPr/>
        </p:nvPicPr>
        <p:blipFill rotWithShape="1">
          <a:blip r:embed="rId3">
            <a:alphaModFix/>
          </a:blip>
          <a:srcRect b="39837" l="0" r="0" t="0"/>
          <a:stretch/>
        </p:blipFill>
        <p:spPr>
          <a:xfrm>
            <a:off x="3997781" y="2135265"/>
            <a:ext cx="5077362" cy="247111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- Example</a:t>
            </a:r>
            <a:endParaRPr/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/>
          <p:nvPr/>
        </p:nvSpPr>
        <p:spPr>
          <a:xfrm>
            <a:off x="4028862" y="2564138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8285749" y="3052275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1575876" y="1558020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to be delivered from A to F</a:t>
            </a:r>
            <a:endParaRPr/>
          </a:p>
        </p:txBody>
      </p:sp>
      <p:sp>
        <p:nvSpPr>
          <p:cNvPr id="731" name="Google Shape;731;p43"/>
          <p:cNvSpPr/>
          <p:nvPr/>
        </p:nvSpPr>
        <p:spPr>
          <a:xfrm>
            <a:off x="4283244" y="327785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5693804" y="3265406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7075717" y="277726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8540131" y="282195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7075717" y="3737083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8540131" y="376041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1575875" y="1098527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A,B,C,D,E and F are Logical addresses</a:t>
            </a:r>
            <a:endParaRPr/>
          </a:p>
        </p:txBody>
      </p:sp>
      <p:sp>
        <p:nvSpPr>
          <p:cNvPr id="738" name="Google Shape;738;p43"/>
          <p:cNvSpPr/>
          <p:nvPr/>
        </p:nvSpPr>
        <p:spPr>
          <a:xfrm>
            <a:off x="4276369" y="2887271"/>
            <a:ext cx="240632" cy="254226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9" name="Google Shape;73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781" y="4585441"/>
            <a:ext cx="5077362" cy="19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Another Example</a:t>
            </a:r>
            <a:endParaRPr/>
          </a:p>
        </p:txBody>
      </p:sp>
      <p:pic>
        <p:nvPicPr>
          <p:cNvPr id="745" name="Google Shape;7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1866" y="1084305"/>
            <a:ext cx="59436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4"/>
          <p:cNvSpPr/>
          <p:nvPr/>
        </p:nvSpPr>
        <p:spPr>
          <a:xfrm>
            <a:off x="3348217" y="1326911"/>
            <a:ext cx="2076306" cy="5307645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7562808" y="90752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352281" y="381421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5331810" y="1648931"/>
            <a:ext cx="2643408" cy="3882158"/>
          </a:xfrm>
          <a:prstGeom prst="ellipse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1" name="Google Shape;751;p44"/>
          <p:cNvSpPr txBox="1"/>
          <p:nvPr/>
        </p:nvSpPr>
        <p:spPr>
          <a:xfrm>
            <a:off x="3521866" y="12795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1</a:t>
            </a:r>
            <a:endParaRPr/>
          </a:p>
        </p:txBody>
      </p:sp>
      <p:sp>
        <p:nvSpPr>
          <p:cNvPr id="752" name="Google Shape;752;p44"/>
          <p:cNvSpPr txBox="1"/>
          <p:nvPr/>
        </p:nvSpPr>
        <p:spPr>
          <a:xfrm>
            <a:off x="7352281" y="1177648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2</a:t>
            </a:r>
            <a:endParaRPr/>
          </a:p>
        </p:txBody>
      </p:sp>
      <p:sp>
        <p:nvSpPr>
          <p:cNvPr id="753" name="Google Shape;753;p44"/>
          <p:cNvSpPr txBox="1"/>
          <p:nvPr/>
        </p:nvSpPr>
        <p:spPr>
          <a:xfrm>
            <a:off x="8725280" y="3777486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3</a:t>
            </a:r>
            <a:endParaRPr/>
          </a:p>
        </p:txBody>
      </p:sp>
      <p:sp>
        <p:nvSpPr>
          <p:cNvPr id="754" name="Google Shape;754;p44"/>
          <p:cNvSpPr txBox="1"/>
          <p:nvPr/>
        </p:nvSpPr>
        <p:spPr>
          <a:xfrm>
            <a:off x="4881845" y="1464265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Inter-connections</a:t>
            </a:r>
            <a:endParaRPr/>
          </a:p>
        </p:txBody>
      </p:sp>
      <p:sp>
        <p:nvSpPr>
          <p:cNvPr id="755" name="Google Shape;755;p44"/>
          <p:cNvSpPr/>
          <p:nvPr/>
        </p:nvSpPr>
        <p:spPr>
          <a:xfrm>
            <a:off x="3992507" y="557840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6" name="Google Shape;756;p44"/>
          <p:cNvCxnSpPr/>
          <p:nvPr/>
        </p:nvCxnSpPr>
        <p:spPr>
          <a:xfrm flipH="1" rot="10800000">
            <a:off x="5747657" y="2646947"/>
            <a:ext cx="226881" cy="467513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4"/>
          <p:cNvSpPr txBox="1"/>
          <p:nvPr/>
        </p:nvSpPr>
        <p:spPr>
          <a:xfrm>
            <a:off x="5584792" y="264694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58" name="Google Shape;758;p44"/>
          <p:cNvCxnSpPr/>
          <p:nvPr/>
        </p:nvCxnSpPr>
        <p:spPr>
          <a:xfrm flipH="1" rot="10800000">
            <a:off x="6311423" y="358001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4"/>
          <p:cNvSpPr txBox="1"/>
          <p:nvPr/>
        </p:nvSpPr>
        <p:spPr>
          <a:xfrm>
            <a:off x="6456647" y="358001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0" name="Google Shape;760;p44"/>
          <p:cNvCxnSpPr/>
          <p:nvPr/>
        </p:nvCxnSpPr>
        <p:spPr>
          <a:xfrm rot="10800000">
            <a:off x="7019398" y="2473049"/>
            <a:ext cx="361527" cy="39340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44"/>
          <p:cNvSpPr txBox="1"/>
          <p:nvPr/>
        </p:nvSpPr>
        <p:spPr>
          <a:xfrm>
            <a:off x="7141755" y="2443368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2" name="Google Shape;762;p44"/>
          <p:cNvCxnSpPr/>
          <p:nvPr/>
        </p:nvCxnSpPr>
        <p:spPr>
          <a:xfrm flipH="1">
            <a:off x="6961847" y="3715587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3" name="Google Shape;763;p44"/>
          <p:cNvSpPr txBox="1"/>
          <p:nvPr/>
        </p:nvSpPr>
        <p:spPr>
          <a:xfrm>
            <a:off x="6808109" y="371558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>
            <a:off x="5667814" y="321641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94114" y="2999823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3750006" y="5330342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44"/>
          <p:cNvSpPr txBox="1"/>
          <p:nvPr/>
        </p:nvSpPr>
        <p:spPr>
          <a:xfrm>
            <a:off x="4426763" y="5637654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768" name="Google Shape;768;p44"/>
          <p:cNvSpPr/>
          <p:nvPr/>
        </p:nvSpPr>
        <p:spPr>
          <a:xfrm>
            <a:off x="8539433" y="4968517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9195921" y="5268322"/>
            <a:ext cx="103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cxnSp>
        <p:nvCxnSpPr>
          <p:cNvPr id="770" name="Google Shape;770;p44"/>
          <p:cNvCxnSpPr/>
          <p:nvPr/>
        </p:nvCxnSpPr>
        <p:spPr>
          <a:xfrm flipH="1" rot="10800000">
            <a:off x="6312570" y="358116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44"/>
          <p:cNvCxnSpPr/>
          <p:nvPr/>
        </p:nvCxnSpPr>
        <p:spPr>
          <a:xfrm flipH="1">
            <a:off x="6962997" y="3709862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Data Link Layer</a:t>
            </a:r>
            <a:endParaRPr/>
          </a:p>
        </p:txBody>
      </p:sp>
      <p:pic>
        <p:nvPicPr>
          <p:cNvPr id="777" name="Google Shape;7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5"/>
          <p:cNvSpPr txBox="1"/>
          <p:nvPr/>
        </p:nvSpPr>
        <p:spPr>
          <a:xfrm>
            <a:off x="6791317" y="2563674"/>
            <a:ext cx="2854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2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3134992" y="3510585"/>
            <a:ext cx="22413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>
            <a:off x="3077536" y="6046260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781" name="Google Shape;781;p45"/>
          <p:cNvSpPr txBox="1"/>
          <p:nvPr/>
        </p:nvSpPr>
        <p:spPr>
          <a:xfrm>
            <a:off x="7555695" y="3524207"/>
            <a:ext cx="1960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782" name="Google Shape;782;p45"/>
          <p:cNvSpPr txBox="1"/>
          <p:nvPr/>
        </p:nvSpPr>
        <p:spPr>
          <a:xfrm>
            <a:off x="7282669" y="6046260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Physical Layer</a:t>
            </a:r>
            <a:endParaRPr/>
          </a:p>
        </p:txBody>
      </p:sp>
      <p:sp>
        <p:nvSpPr>
          <p:cNvPr id="783" name="Google Shape;783;p45"/>
          <p:cNvSpPr/>
          <p:nvPr/>
        </p:nvSpPr>
        <p:spPr>
          <a:xfrm>
            <a:off x="3029772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4" name="Google Shape;784;p45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85" name="Google Shape;785;p45"/>
          <p:cNvCxnSpPr>
            <a:stCxn id="779" idx="2"/>
            <a:endCxn id="783" idx="0"/>
          </p:cNvCxnSpPr>
          <p:nvPr/>
        </p:nvCxnSpPr>
        <p:spPr>
          <a:xfrm rot="5400000">
            <a:off x="3920252" y="4333016"/>
            <a:ext cx="5115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6" name="Google Shape;786;p45"/>
          <p:cNvCxnSpPr>
            <a:stCxn id="784" idx="2"/>
            <a:endCxn id="780" idx="0"/>
          </p:cNvCxnSpPr>
          <p:nvPr/>
        </p:nvCxnSpPr>
        <p:spPr>
          <a:xfrm flipH="1" rot="-5400000">
            <a:off x="2887350" y="4903840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7" name="Google Shape;787;p45"/>
          <p:cNvCxnSpPr>
            <a:stCxn id="783" idx="2"/>
            <a:endCxn id="780" idx="0"/>
          </p:cNvCxnSpPr>
          <p:nvPr/>
        </p:nvCxnSpPr>
        <p:spPr>
          <a:xfrm rot="5400000">
            <a:off x="3697339" y="5647240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4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9" name="Google Shape;789;p4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90" name="Google Shape;790;p45"/>
          <p:cNvCxnSpPr>
            <a:stCxn id="782" idx="0"/>
            <a:endCxn id="789" idx="2"/>
          </p:cNvCxnSpPr>
          <p:nvPr/>
        </p:nvCxnSpPr>
        <p:spPr>
          <a:xfrm flipH="1" rot="5400000">
            <a:off x="7574576" y="5245560"/>
            <a:ext cx="731400" cy="87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45"/>
          <p:cNvCxnSpPr>
            <a:stCxn id="782" idx="0"/>
            <a:endCxn id="788" idx="2"/>
          </p:cNvCxnSpPr>
          <p:nvPr/>
        </p:nvCxnSpPr>
        <p:spPr>
          <a:xfrm rot="-5400000">
            <a:off x="8384576" y="5305560"/>
            <a:ext cx="731400" cy="75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2" name="Google Shape;792;p45"/>
          <p:cNvCxnSpPr>
            <a:stCxn id="788" idx="0"/>
            <a:endCxn id="78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3" name="Google Shape;793;p45"/>
          <p:cNvSpPr/>
          <p:nvPr/>
        </p:nvSpPr>
        <p:spPr>
          <a:xfrm>
            <a:off x="516387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794" name="Google Shape;794;p45"/>
          <p:cNvSpPr/>
          <p:nvPr/>
        </p:nvSpPr>
        <p:spPr>
          <a:xfrm>
            <a:off x="10191599" y="466850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795" name="Google Shape;795;p45"/>
          <p:cNvCxnSpPr>
            <a:stCxn id="793" idx="2"/>
            <a:endCxn id="780" idx="0"/>
          </p:cNvCxnSpPr>
          <p:nvPr/>
        </p:nvCxnSpPr>
        <p:spPr>
          <a:xfrm rot="5400000">
            <a:off x="4507845" y="4836789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45"/>
          <p:cNvCxnSpPr>
            <a:stCxn id="782" idx="0"/>
            <a:endCxn id="794" idx="2"/>
          </p:cNvCxnSpPr>
          <p:nvPr/>
        </p:nvCxnSpPr>
        <p:spPr>
          <a:xfrm rot="-5400000">
            <a:off x="9194426" y="4495710"/>
            <a:ext cx="731400" cy="2369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Layer</a:t>
            </a:r>
            <a:endParaRPr/>
          </a:p>
        </p:txBody>
      </p:sp>
      <p:sp>
        <p:nvSpPr>
          <p:cNvPr id="802" name="Google Shape;802;p46"/>
          <p:cNvSpPr txBox="1"/>
          <p:nvPr>
            <p:ph idx="1" type="body"/>
          </p:nvPr>
        </p:nvSpPr>
        <p:spPr>
          <a:xfrm>
            <a:off x="1484310" y="1434775"/>
            <a:ext cx="9927155" cy="4631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Data Link Layer PDU is called </a:t>
            </a:r>
            <a:r>
              <a:rPr b="1" lang="en-US"/>
              <a:t>Frame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data link layer is responsible for moving frames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on this layer varies.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Framing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Addressing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Flow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Error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Access Control</a:t>
            </a:r>
            <a:endParaRPr/>
          </a:p>
        </p:txBody>
      </p:sp>
      <p:pic>
        <p:nvPicPr>
          <p:cNvPr id="803" name="Google Shape;8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6"/>
          <p:cNvSpPr txBox="1"/>
          <p:nvPr/>
        </p:nvSpPr>
        <p:spPr>
          <a:xfrm>
            <a:off x="7399917" y="3161423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7342461" y="5697098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806" name="Google Shape;806;p46"/>
          <p:cNvSpPr/>
          <p:nvPr/>
        </p:nvSpPr>
        <p:spPr>
          <a:xfrm>
            <a:off x="7294697" y="4319348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807" name="Google Shape;807;p46"/>
          <p:cNvSpPr/>
          <p:nvPr/>
        </p:nvSpPr>
        <p:spPr>
          <a:xfrm>
            <a:off x="6187852" y="431934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808" name="Google Shape;808;p46"/>
          <p:cNvCxnSpPr>
            <a:stCxn id="804" idx="2"/>
            <a:endCxn id="806" idx="0"/>
          </p:cNvCxnSpPr>
          <p:nvPr/>
        </p:nvCxnSpPr>
        <p:spPr>
          <a:xfrm rot="5400000">
            <a:off x="8046577" y="3845455"/>
            <a:ext cx="7887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6"/>
          <p:cNvCxnSpPr>
            <a:stCxn id="807" idx="2"/>
            <a:endCxn id="805" idx="0"/>
          </p:cNvCxnSpPr>
          <p:nvPr/>
        </p:nvCxnSpPr>
        <p:spPr>
          <a:xfrm flipH="1" rot="-5400000">
            <a:off x="7152274" y="4554678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46"/>
          <p:cNvCxnSpPr>
            <a:stCxn id="806" idx="2"/>
            <a:endCxn id="805" idx="0"/>
          </p:cNvCxnSpPr>
          <p:nvPr/>
        </p:nvCxnSpPr>
        <p:spPr>
          <a:xfrm rot="5400000">
            <a:off x="7962265" y="5298078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46"/>
          <p:cNvSpPr/>
          <p:nvPr/>
        </p:nvSpPr>
        <p:spPr>
          <a:xfrm>
            <a:off x="9428797" y="4319347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812" name="Google Shape;812;p46"/>
          <p:cNvCxnSpPr>
            <a:stCxn id="811" idx="2"/>
            <a:endCxn id="805" idx="0"/>
          </p:cNvCxnSpPr>
          <p:nvPr/>
        </p:nvCxnSpPr>
        <p:spPr>
          <a:xfrm rot="5400000">
            <a:off x="8772770" y="4487627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46"/>
          <p:cNvCxnSpPr/>
          <p:nvPr/>
        </p:nvCxnSpPr>
        <p:spPr>
          <a:xfrm>
            <a:off x="3370997" y="4046561"/>
            <a:ext cx="2627194" cy="272786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Hop-to-Hop Delivery</a:t>
            </a:r>
            <a:endParaRPr/>
          </a:p>
        </p:txBody>
      </p:sp>
      <p:pic>
        <p:nvPicPr>
          <p:cNvPr id="819" name="Google Shape;8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1146412"/>
            <a:ext cx="6781800" cy="49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– Physical Address</a:t>
            </a:r>
            <a:endParaRPr/>
          </a:p>
        </p:txBody>
      </p:sp>
      <p:sp>
        <p:nvSpPr>
          <p:cNvPr id="826" name="Google Shape;826;p4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 </a:t>
            </a:r>
            <a:r>
              <a:rPr b="1" lang="en-US"/>
              <a:t>MAC (Media Access Control)</a:t>
            </a:r>
            <a:r>
              <a:rPr lang="en-US"/>
              <a:t> Address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Every interface/port/device has an unique identifying number.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Given by manufacturer.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48 bits long, represented by 12 hexadecimal digits grouped in pairs and separated by </a:t>
            </a:r>
            <a:r>
              <a:rPr b="1" lang="en-US"/>
              <a:t>‘–’</a:t>
            </a:r>
            <a:r>
              <a:rPr lang="en-US"/>
              <a:t> or </a:t>
            </a:r>
            <a:r>
              <a:rPr b="1" lang="en-US"/>
              <a:t>‘:’</a:t>
            </a:r>
            <a:r>
              <a:rPr lang="en-US"/>
              <a:t> 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07:01:02:01:2C:4B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827" name="Google Shape;8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Physical Layer</a:t>
            </a:r>
            <a:endParaRPr/>
          </a:p>
        </p:txBody>
      </p:sp>
      <p:pic>
        <p:nvPicPr>
          <p:cNvPr id="833" name="Google Shape;8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9"/>
          <p:cNvSpPr txBox="1"/>
          <p:nvPr/>
        </p:nvSpPr>
        <p:spPr>
          <a:xfrm>
            <a:off x="6791317" y="2563674"/>
            <a:ext cx="28400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1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835" name="Google Shape;835;p49"/>
          <p:cNvSpPr txBox="1"/>
          <p:nvPr/>
        </p:nvSpPr>
        <p:spPr>
          <a:xfrm>
            <a:off x="3092514" y="3510585"/>
            <a:ext cx="2326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836" name="Google Shape;836;p49"/>
          <p:cNvSpPr txBox="1"/>
          <p:nvPr/>
        </p:nvSpPr>
        <p:spPr>
          <a:xfrm>
            <a:off x="3077536" y="6046260"/>
            <a:ext cx="2366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medium</a:t>
            </a:r>
            <a:endParaRPr/>
          </a:p>
        </p:txBody>
      </p:sp>
      <p:sp>
        <p:nvSpPr>
          <p:cNvPr id="837" name="Google Shape;837;p49"/>
          <p:cNvSpPr txBox="1"/>
          <p:nvPr/>
        </p:nvSpPr>
        <p:spPr>
          <a:xfrm>
            <a:off x="7513216" y="3524207"/>
            <a:ext cx="2045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838" name="Google Shape;838;p49"/>
          <p:cNvSpPr txBox="1"/>
          <p:nvPr/>
        </p:nvSpPr>
        <p:spPr>
          <a:xfrm>
            <a:off x="7282669" y="6046260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medium</a:t>
            </a:r>
            <a:endParaRPr/>
          </a:p>
        </p:txBody>
      </p:sp>
      <p:sp>
        <p:nvSpPr>
          <p:cNvPr id="839" name="Google Shape;839;p49"/>
          <p:cNvSpPr/>
          <p:nvPr/>
        </p:nvSpPr>
        <p:spPr>
          <a:xfrm>
            <a:off x="3029772" y="4668510"/>
            <a:ext cx="3292556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010100001111100110110111101010101001</a:t>
            </a:r>
            <a:endParaRPr/>
          </a:p>
        </p:txBody>
      </p:sp>
      <p:sp>
        <p:nvSpPr>
          <p:cNvPr id="840" name="Google Shape;840;p49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1" name="Google Shape;841;p49"/>
          <p:cNvCxnSpPr>
            <a:stCxn id="835" idx="2"/>
            <a:endCxn id="839" idx="0"/>
          </p:cNvCxnSpPr>
          <p:nvPr/>
        </p:nvCxnSpPr>
        <p:spPr>
          <a:xfrm flipH="1" rot="-5400000">
            <a:off x="4210053" y="4202516"/>
            <a:ext cx="511500" cy="420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p49"/>
          <p:cNvCxnSpPr>
            <a:stCxn id="840" idx="2"/>
            <a:endCxn id="836" idx="0"/>
          </p:cNvCxnSpPr>
          <p:nvPr/>
        </p:nvCxnSpPr>
        <p:spPr>
          <a:xfrm flipH="1" rot="-5400000">
            <a:off x="3002699" y="4788490"/>
            <a:ext cx="731400" cy="1784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3" name="Google Shape;843;p49"/>
          <p:cNvCxnSpPr>
            <a:stCxn id="839" idx="2"/>
            <a:endCxn id="836" idx="0"/>
          </p:cNvCxnSpPr>
          <p:nvPr/>
        </p:nvCxnSpPr>
        <p:spPr>
          <a:xfrm rot="5400000">
            <a:off x="4102600" y="5472790"/>
            <a:ext cx="731400" cy="415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4" name="Google Shape;844;p49"/>
          <p:cNvSpPr/>
          <p:nvPr/>
        </p:nvSpPr>
        <p:spPr>
          <a:xfrm>
            <a:off x="8058797" y="4668509"/>
            <a:ext cx="3132367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6" name="Google Shape;846;p49"/>
          <p:cNvCxnSpPr>
            <a:stCxn id="838" idx="0"/>
            <a:endCxn id="845" idx="2"/>
          </p:cNvCxnSpPr>
          <p:nvPr/>
        </p:nvCxnSpPr>
        <p:spPr>
          <a:xfrm flipH="1" rot="5400000">
            <a:off x="7690058" y="5130210"/>
            <a:ext cx="731400" cy="11007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7" name="Google Shape;847;p49"/>
          <p:cNvCxnSpPr>
            <a:stCxn id="838" idx="0"/>
            <a:endCxn id="844" idx="2"/>
          </p:cNvCxnSpPr>
          <p:nvPr/>
        </p:nvCxnSpPr>
        <p:spPr>
          <a:xfrm rot="-5400000">
            <a:off x="8749808" y="5171160"/>
            <a:ext cx="731400" cy="1018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8" name="Google Shape;848;p49"/>
          <p:cNvCxnSpPr>
            <a:stCxn id="844" idx="0"/>
            <a:endCxn id="837" idx="2"/>
          </p:cNvCxnSpPr>
          <p:nvPr/>
        </p:nvCxnSpPr>
        <p:spPr>
          <a:xfrm flipH="1" rot="5400000">
            <a:off x="8831481" y="3875009"/>
            <a:ext cx="498000" cy="1089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54" name="Google Shape;854;p50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physical layer is responsible for movements of individual bits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Characteristics of interfaces and medium.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Representation of bits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Data Rate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Synchronization of bits</a:t>
            </a:r>
            <a:endParaRPr/>
          </a:p>
        </p:txBody>
      </p:sp>
      <p:pic>
        <p:nvPicPr>
          <p:cNvPr id="855" name="Google Shape;8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428" y="2097245"/>
            <a:ext cx="3714750" cy="197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2959" y="4132061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63" name="Google Shape;863;p51"/>
          <p:cNvSpPr txBox="1"/>
          <p:nvPr>
            <p:ph idx="1" type="body"/>
          </p:nvPr>
        </p:nvSpPr>
        <p:spPr>
          <a:xfrm>
            <a:off x="1484310" y="1434775"/>
            <a:ext cx="9927155" cy="509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Physical Topology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Bus, ring, etc.</a:t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Transmission Modes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Simplex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Half Duplex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Full Duplex</a:t>
            </a:r>
            <a:endParaRPr/>
          </a:p>
        </p:txBody>
      </p:sp>
      <p:pic>
        <p:nvPicPr>
          <p:cNvPr id="864" name="Google Shape;86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549" y="151149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349" y="1511490"/>
            <a:ext cx="2971800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4837" y="4102238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Summary of OSI Layers</a:t>
            </a:r>
            <a:endParaRPr/>
          </a:p>
        </p:txBody>
      </p:sp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0" y="1568355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3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TCP/IP Model</a:t>
            </a:r>
            <a:br>
              <a:rPr lang="en-US" sz="7200"/>
            </a:br>
            <a:r>
              <a:rPr lang="en-US" sz="1800"/>
              <a:t>De Facto Standard</a:t>
            </a:r>
            <a:endParaRPr sz="7200"/>
          </a:p>
        </p:txBody>
      </p:sp>
      <p:pic>
        <p:nvPicPr>
          <p:cNvPr id="880" name="Google Shape;8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53"/>
          <p:cNvGraphicFramePr/>
          <p:nvPr/>
        </p:nvGraphicFramePr>
        <p:xfrm>
          <a:off x="4501001" y="3216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Model</a:t>
            </a:r>
            <a:endParaRPr/>
          </a:p>
        </p:txBody>
      </p:sp>
      <p:sp>
        <p:nvSpPr>
          <p:cNvPr id="887" name="Google Shape;887;p54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US Defense Advanced Research Project Agency (DARPA) for its packet switched network (ARPANET)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Used by the global Internet.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</a:t>
            </a:r>
            <a:r>
              <a:rPr b="1" lang="en-US"/>
              <a:t>De Facto Standard.</a:t>
            </a:r>
            <a:endParaRPr/>
          </a:p>
        </p:txBody>
      </p:sp>
      <p:pic>
        <p:nvPicPr>
          <p:cNvPr id="888" name="Google Shape;8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9" name="Google Shape;889;p54"/>
          <p:cNvGraphicFramePr/>
          <p:nvPr/>
        </p:nvGraphicFramePr>
        <p:xfrm>
          <a:off x="6722361" y="2964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{42B85B0B-30AF-4636-8480-9CDA48077CEF}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Encapsulation and PDU</a:t>
            </a:r>
            <a:endParaRPr/>
          </a:p>
        </p:txBody>
      </p:sp>
      <p:pic>
        <p:nvPicPr>
          <p:cNvPr id="895" name="Google Shape;8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5"/>
          <p:cNvSpPr/>
          <p:nvPr/>
        </p:nvSpPr>
        <p:spPr>
          <a:xfrm>
            <a:off x="3692741" y="1592842"/>
            <a:ext cx="1985755" cy="525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 Data</a:t>
            </a:r>
            <a:endParaRPr/>
          </a:p>
        </p:txBody>
      </p:sp>
      <p:pic>
        <p:nvPicPr>
          <p:cNvPr id="897" name="Google Shape;8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448" y="964799"/>
            <a:ext cx="1066800" cy="11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3636" y="5822176"/>
            <a:ext cx="1607096" cy="558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9" name="Google Shape;899;p55"/>
          <p:cNvCxnSpPr/>
          <p:nvPr/>
        </p:nvCxnSpPr>
        <p:spPr>
          <a:xfrm flipH="1" rot="10800000">
            <a:off x="3623481" y="1501253"/>
            <a:ext cx="337782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55"/>
          <p:cNvCxnSpPr/>
          <p:nvPr/>
        </p:nvCxnSpPr>
        <p:spPr>
          <a:xfrm rot="10800000">
            <a:off x="7001302" y="1501253"/>
            <a:ext cx="0" cy="436186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p55"/>
          <p:cNvSpPr/>
          <p:nvPr/>
        </p:nvSpPr>
        <p:spPr>
          <a:xfrm>
            <a:off x="5015546" y="2288699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2" name="Google Shape;902;p55"/>
          <p:cNvSpPr/>
          <p:nvPr/>
        </p:nvSpPr>
        <p:spPr>
          <a:xfrm>
            <a:off x="435569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3" name="Google Shape;903;p55"/>
          <p:cNvSpPr/>
          <p:nvPr/>
        </p:nvSpPr>
        <p:spPr>
          <a:xfrm>
            <a:off x="369274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4" name="Google Shape;904;p55"/>
          <p:cNvSpPr/>
          <p:nvPr/>
        </p:nvSpPr>
        <p:spPr>
          <a:xfrm>
            <a:off x="5015547" y="298455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5" name="Google Shape;905;p55"/>
          <p:cNvSpPr/>
          <p:nvPr/>
        </p:nvSpPr>
        <p:spPr>
          <a:xfrm>
            <a:off x="4005620" y="2980363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6" name="Google Shape;906;p55"/>
          <p:cNvSpPr/>
          <p:nvPr/>
        </p:nvSpPr>
        <p:spPr>
          <a:xfrm>
            <a:off x="5015546" y="3663175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7" name="Google Shape;907;p55"/>
          <p:cNvSpPr/>
          <p:nvPr/>
        </p:nvSpPr>
        <p:spPr>
          <a:xfrm>
            <a:off x="4005619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8" name="Google Shape;908;p55"/>
          <p:cNvSpPr/>
          <p:nvPr/>
        </p:nvSpPr>
        <p:spPr>
          <a:xfrm>
            <a:off x="2991050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09" name="Google Shape;909;p55"/>
          <p:cNvSpPr/>
          <p:nvPr/>
        </p:nvSpPr>
        <p:spPr>
          <a:xfrm>
            <a:off x="5013999" y="4339163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0" name="Google Shape;910;p55"/>
          <p:cNvSpPr/>
          <p:nvPr/>
        </p:nvSpPr>
        <p:spPr>
          <a:xfrm>
            <a:off x="4004072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11" name="Google Shape;911;p55"/>
          <p:cNvSpPr/>
          <p:nvPr/>
        </p:nvSpPr>
        <p:spPr>
          <a:xfrm>
            <a:off x="2989503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2" name="Google Shape;912;p55"/>
          <p:cNvSpPr/>
          <p:nvPr/>
        </p:nvSpPr>
        <p:spPr>
          <a:xfrm>
            <a:off x="1974934" y="4339162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3" name="Google Shape;913;p55"/>
          <p:cNvSpPr/>
          <p:nvPr/>
        </p:nvSpPr>
        <p:spPr>
          <a:xfrm>
            <a:off x="5684739" y="4339161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1974933" y="5054542"/>
            <a:ext cx="4722823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10011010111010101010101010101010101011010101010101010</a:t>
            </a:r>
            <a:endParaRPr/>
          </a:p>
        </p:txBody>
      </p:sp>
      <p:sp>
        <p:nvSpPr>
          <p:cNvPr id="915" name="Google Shape;915;p55"/>
          <p:cNvSpPr/>
          <p:nvPr/>
        </p:nvSpPr>
        <p:spPr>
          <a:xfrm>
            <a:off x="7508757" y="1592843"/>
            <a:ext cx="1218975" cy="121944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6" name="Google Shape;916;p55"/>
          <p:cNvSpPr/>
          <p:nvPr/>
        </p:nvSpPr>
        <p:spPr>
          <a:xfrm>
            <a:off x="7508758" y="2982704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</a:t>
            </a:r>
            <a:endParaRPr/>
          </a:p>
        </p:txBody>
      </p:sp>
      <p:sp>
        <p:nvSpPr>
          <p:cNvPr id="917" name="Google Shape;917;p55"/>
          <p:cNvSpPr/>
          <p:nvPr/>
        </p:nvSpPr>
        <p:spPr>
          <a:xfrm>
            <a:off x="7508757" y="3661323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/>
          </a:p>
        </p:txBody>
      </p:sp>
      <p:sp>
        <p:nvSpPr>
          <p:cNvPr id="918" name="Google Shape;918;p55"/>
          <p:cNvSpPr/>
          <p:nvPr/>
        </p:nvSpPr>
        <p:spPr>
          <a:xfrm>
            <a:off x="7507210" y="433731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(Medium Dependent)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7508757" y="505454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Bits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7795134" y="119701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PDU</a:t>
            </a:r>
            <a:endParaRPr/>
          </a:p>
        </p:txBody>
      </p:sp>
      <p:cxnSp>
        <p:nvCxnSpPr>
          <p:cNvPr id="921" name="Google Shape;921;p55"/>
          <p:cNvCxnSpPr>
            <a:stCxn id="896" idx="3"/>
            <a:endCxn id="915" idx="1"/>
          </p:cNvCxnSpPr>
          <p:nvPr/>
        </p:nvCxnSpPr>
        <p:spPr>
          <a:xfrm>
            <a:off x="5678496" y="1855562"/>
            <a:ext cx="1830300" cy="347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2" name="Google Shape;922;p55"/>
          <p:cNvCxnSpPr>
            <a:stCxn id="901" idx="3"/>
            <a:endCxn id="915" idx="1"/>
          </p:cNvCxnSpPr>
          <p:nvPr/>
        </p:nvCxnSpPr>
        <p:spPr>
          <a:xfrm flipH="1" rot="10800000">
            <a:off x="5678496" y="2202519"/>
            <a:ext cx="1830300" cy="34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3" name="Google Shape;923;p55"/>
          <p:cNvCxnSpPr>
            <a:stCxn id="904" idx="3"/>
            <a:endCxn id="916" idx="1"/>
          </p:cNvCxnSpPr>
          <p:nvPr/>
        </p:nvCxnSpPr>
        <p:spPr>
          <a:xfrm flipH="1" rot="10800000">
            <a:off x="5678497" y="3245476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p55"/>
          <p:cNvCxnSpPr>
            <a:stCxn id="906" idx="3"/>
            <a:endCxn id="917" idx="1"/>
          </p:cNvCxnSpPr>
          <p:nvPr/>
        </p:nvCxnSpPr>
        <p:spPr>
          <a:xfrm flipH="1" rot="10800000">
            <a:off x="5678496" y="3924095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p55"/>
          <p:cNvCxnSpPr>
            <a:stCxn id="913" idx="3"/>
            <a:endCxn id="918" idx="1"/>
          </p:cNvCxnSpPr>
          <p:nvPr/>
        </p:nvCxnSpPr>
        <p:spPr>
          <a:xfrm flipH="1" rot="10800000">
            <a:off x="6697761" y="4600081"/>
            <a:ext cx="8094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55"/>
          <p:cNvCxnSpPr>
            <a:stCxn id="914" idx="3"/>
            <a:endCxn id="919" idx="1"/>
          </p:cNvCxnSpPr>
          <p:nvPr/>
        </p:nvCxnSpPr>
        <p:spPr>
          <a:xfrm>
            <a:off x="6697756" y="5317262"/>
            <a:ext cx="810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55"/>
          <p:cNvCxnSpPr/>
          <p:nvPr/>
        </p:nvCxnSpPr>
        <p:spPr>
          <a:xfrm>
            <a:off x="9000699" y="1197018"/>
            <a:ext cx="0" cy="450092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55"/>
          <p:cNvSpPr txBox="1"/>
          <p:nvPr/>
        </p:nvSpPr>
        <p:spPr>
          <a:xfrm rot="-5400000">
            <a:off x="8034724" y="3198167"/>
            <a:ext cx="23124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Passing down the stack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and Other Models</a:t>
            </a:r>
            <a:endParaRPr/>
          </a:p>
        </p:txBody>
      </p:sp>
      <p:pic>
        <p:nvPicPr>
          <p:cNvPr descr="Introduction to Networks - Mozilla Firefox" id="934" name="Google Shape;934;p56"/>
          <p:cNvPicPr preferRelativeResize="0"/>
          <p:nvPr/>
        </p:nvPicPr>
        <p:blipFill rotWithShape="1">
          <a:blip r:embed="rId3">
            <a:alphaModFix/>
          </a:blip>
          <a:srcRect b="729" l="9470" r="37433" t="35641"/>
          <a:stretch/>
        </p:blipFill>
        <p:spPr>
          <a:xfrm>
            <a:off x="2200272" y="1066800"/>
            <a:ext cx="8586788" cy="52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Addressing in Networking</a:t>
            </a:r>
            <a:endParaRPr/>
          </a:p>
        </p:txBody>
      </p:sp>
      <p:pic>
        <p:nvPicPr>
          <p:cNvPr id="940" name="Google Shape;9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- Summary</a:t>
            </a:r>
            <a:endParaRPr/>
          </a:p>
        </p:txBody>
      </p:sp>
      <p:sp>
        <p:nvSpPr>
          <p:cNvPr id="946" name="Google Shape;946;p5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levels of addresses are used in an internet employing the TCP/IP protocols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47" name="Google Shape;9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343" y="2253066"/>
            <a:ext cx="7834313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9343" y="4468025"/>
            <a:ext cx="7848600" cy="191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Relationship of layers and address in TCP/IP</a:t>
            </a:r>
            <a:endParaRPr/>
          </a:p>
        </p:txBody>
      </p:sp>
      <p:pic>
        <p:nvPicPr>
          <p:cNvPr id="955" name="Google Shape;9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866" y="1273650"/>
            <a:ext cx="7467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Addresses</a:t>
            </a:r>
            <a:endParaRPr/>
          </a:p>
        </p:txBody>
      </p:sp>
      <p:sp>
        <p:nvSpPr>
          <p:cNvPr id="962" name="Google Shape;962;p60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Specific Address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Applications having user friendly addresses.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Email addresses or URLs.</a:t>
            </a:r>
            <a:endParaRPr/>
          </a:p>
          <a:p>
            <a:pPr indent="-285750" lvl="2" marL="1200150" rtl="0" algn="l"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u="sng"/>
              <a:t>john@gmail.com</a:t>
            </a:r>
            <a:r>
              <a:rPr lang="en-US"/>
              <a:t> or </a:t>
            </a:r>
            <a:r>
              <a:rPr lang="en-US" u="sng"/>
              <a:t>www.bracu.ac.bd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Theses are converted into corresponding port and logical addresses by the sending computer.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other addresses are already discussed in the earlier slides! Can you identify them?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i="1" lang="en-US" sz="1800"/>
              <a:t>**Port address (Slide </a:t>
            </a:r>
            <a:r>
              <a:rPr b="1" i="1" lang="en-US" sz="1800"/>
              <a:t>35</a:t>
            </a:r>
            <a:r>
              <a:rPr i="1" lang="en-US" sz="1800"/>
              <a:t>), Logical Address (Slide </a:t>
            </a:r>
            <a:r>
              <a:rPr b="1" i="1" lang="en-US" sz="1800"/>
              <a:t>42</a:t>
            </a:r>
            <a:r>
              <a:rPr i="1" lang="en-US" sz="1800"/>
              <a:t>), Physical Address (Slide </a:t>
            </a:r>
            <a:r>
              <a:rPr b="1" i="1" lang="en-US" sz="1800"/>
              <a:t>48</a:t>
            </a:r>
            <a:r>
              <a:rPr i="1" lang="en-US" sz="1800"/>
              <a:t>)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63" name="Google Shape;9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115733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1"/>
          <p:cNvSpPr/>
          <p:nvPr/>
        </p:nvSpPr>
        <p:spPr>
          <a:xfrm>
            <a:off x="4667534" y="569384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5061329" y="569293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5457114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2" name="Google Shape;972;p61"/>
          <p:cNvSpPr/>
          <p:nvPr/>
        </p:nvSpPr>
        <p:spPr>
          <a:xfrm>
            <a:off x="5850909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6246125" y="5689524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4" name="Google Shape;974;p61"/>
          <p:cNvSpPr/>
          <p:nvPr/>
        </p:nvSpPr>
        <p:spPr>
          <a:xfrm>
            <a:off x="4667534" y="568910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5061329" y="568819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5457114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5850909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6246125" y="5691605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0" name="Google Shape;980;p61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1" name="Google Shape;981;p6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Logical and Physical Address – Same Network</a:t>
            </a:r>
            <a:endParaRPr/>
          </a:p>
        </p:txBody>
      </p:sp>
      <p:pic>
        <p:nvPicPr>
          <p:cNvPr id="982" name="Google Shape;98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1"/>
          <p:cNvSpPr txBox="1"/>
          <p:nvPr/>
        </p:nvSpPr>
        <p:spPr>
          <a:xfrm>
            <a:off x="9116704" y="1157330"/>
            <a:ext cx="3075296" cy="9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Alphabets</a:t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3623481" y="5513696"/>
            <a:ext cx="320722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3036627" y="1528549"/>
            <a:ext cx="2317928" cy="5094586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61"/>
          <p:cNvSpPr txBox="1"/>
          <p:nvPr/>
        </p:nvSpPr>
        <p:spPr>
          <a:xfrm>
            <a:off x="2597316" y="5681369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987" name="Google Shape;987;p61"/>
          <p:cNvSpPr txBox="1"/>
          <p:nvPr/>
        </p:nvSpPr>
        <p:spPr>
          <a:xfrm>
            <a:off x="2134253" y="2660665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988" name="Google Shape;988;p61"/>
          <p:cNvSpPr txBox="1"/>
          <p:nvPr/>
        </p:nvSpPr>
        <p:spPr>
          <a:xfrm>
            <a:off x="3998319" y="562726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989" name="Google Shape;989;p61"/>
          <p:cNvSpPr txBox="1"/>
          <p:nvPr/>
        </p:nvSpPr>
        <p:spPr>
          <a:xfrm>
            <a:off x="3263615" y="4286635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990" name="Google Shape;990;p61"/>
          <p:cNvSpPr txBox="1"/>
          <p:nvPr/>
        </p:nvSpPr>
        <p:spPr>
          <a:xfrm>
            <a:off x="3201631" y="2353594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991" name="Google Shape;991;p61"/>
          <p:cNvSpPr txBox="1"/>
          <p:nvPr/>
        </p:nvSpPr>
        <p:spPr>
          <a:xfrm>
            <a:off x="3845826" y="152854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992" name="Google Shape;992;p61"/>
          <p:cNvSpPr txBox="1"/>
          <p:nvPr/>
        </p:nvSpPr>
        <p:spPr>
          <a:xfrm>
            <a:off x="4775092" y="289641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993" name="Google Shape;993;p61"/>
          <p:cNvCxnSpPr/>
          <p:nvPr/>
        </p:nvCxnSpPr>
        <p:spPr>
          <a:xfrm>
            <a:off x="5061329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61"/>
          <p:cNvSpPr txBox="1"/>
          <p:nvPr/>
        </p:nvSpPr>
        <p:spPr>
          <a:xfrm>
            <a:off x="4706203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653" y="1066799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62"/>
          <p:cNvSpPr/>
          <p:nvPr/>
        </p:nvSpPr>
        <p:spPr>
          <a:xfrm>
            <a:off x="4263260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4657055" y="116417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4267662" y="115929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4661457" y="115838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264727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658522" y="116179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4266717" y="116123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4660512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9148549" y="2080801"/>
            <a:ext cx="2941461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5054307" y="116270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5448102" y="116179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5843887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237682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6632898" y="1163146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6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/>
              <a:t>Port, Logical &amp; Physical Address – Different Network</a:t>
            </a:r>
            <a:endParaRPr/>
          </a:p>
        </p:txBody>
      </p:sp>
      <p:pic>
        <p:nvPicPr>
          <p:cNvPr id="1017" name="Google Shape;101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2"/>
          <p:cNvSpPr txBox="1"/>
          <p:nvPr/>
        </p:nvSpPr>
        <p:spPr>
          <a:xfrm>
            <a:off x="9127424" y="794193"/>
            <a:ext cx="3075296" cy="155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Capital Alphabets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Port Address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Small Alphabets</a:t>
            </a:r>
            <a:endParaRPr/>
          </a:p>
        </p:txBody>
      </p:sp>
      <p:sp>
        <p:nvSpPr>
          <p:cNvPr id="1019" name="Google Shape;1019;p62"/>
          <p:cNvSpPr txBox="1"/>
          <p:nvPr/>
        </p:nvSpPr>
        <p:spPr>
          <a:xfrm>
            <a:off x="2297068" y="5847420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1020" name="Google Shape;1020;p62"/>
          <p:cNvSpPr txBox="1"/>
          <p:nvPr/>
        </p:nvSpPr>
        <p:spPr>
          <a:xfrm>
            <a:off x="8651062" y="5403021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1021" name="Google Shape;1021;p62"/>
          <p:cNvSpPr txBox="1"/>
          <p:nvPr/>
        </p:nvSpPr>
        <p:spPr>
          <a:xfrm>
            <a:off x="3595168" y="579120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22" name="Google Shape;1022;p62"/>
          <p:cNvSpPr txBox="1"/>
          <p:nvPr/>
        </p:nvSpPr>
        <p:spPr>
          <a:xfrm>
            <a:off x="2894970" y="438223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1023" name="Google Shape;1023;p62"/>
          <p:cNvSpPr txBox="1"/>
          <p:nvPr/>
        </p:nvSpPr>
        <p:spPr>
          <a:xfrm>
            <a:off x="2831830" y="2291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1024" name="Google Shape;1024;p62"/>
          <p:cNvSpPr txBox="1"/>
          <p:nvPr/>
        </p:nvSpPr>
        <p:spPr>
          <a:xfrm>
            <a:off x="3496301" y="1403200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1025" name="Google Shape;1025;p62"/>
          <p:cNvSpPr txBox="1"/>
          <p:nvPr/>
        </p:nvSpPr>
        <p:spPr>
          <a:xfrm>
            <a:off x="4472096" y="2875002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1026" name="Google Shape;1026;p62"/>
          <p:cNvCxnSpPr/>
          <p:nvPr/>
        </p:nvCxnSpPr>
        <p:spPr>
          <a:xfrm>
            <a:off x="4761081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p62"/>
          <p:cNvSpPr txBox="1"/>
          <p:nvPr/>
        </p:nvSpPr>
        <p:spPr>
          <a:xfrm>
            <a:off x="4405955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  <p:sp>
        <p:nvSpPr>
          <p:cNvPr id="1028" name="Google Shape;1028;p62"/>
          <p:cNvSpPr txBox="1"/>
          <p:nvPr/>
        </p:nvSpPr>
        <p:spPr>
          <a:xfrm>
            <a:off x="5389608" y="3769680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29" name="Google Shape;1029;p62"/>
          <p:cNvSpPr txBox="1"/>
          <p:nvPr/>
        </p:nvSpPr>
        <p:spPr>
          <a:xfrm>
            <a:off x="5964995" y="295431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30" name="Google Shape;1030;p62"/>
          <p:cNvSpPr txBox="1"/>
          <p:nvPr/>
        </p:nvSpPr>
        <p:spPr>
          <a:xfrm>
            <a:off x="7185330" y="3914995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31" name="Google Shape;1031;p62"/>
          <p:cNvSpPr txBox="1"/>
          <p:nvPr/>
        </p:nvSpPr>
        <p:spPr>
          <a:xfrm>
            <a:off x="5510791" y="427360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32" name="Google Shape;1032;p62"/>
          <p:cNvSpPr txBox="1"/>
          <p:nvPr/>
        </p:nvSpPr>
        <p:spPr>
          <a:xfrm>
            <a:off x="6312356" y="547808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33" name="Google Shape;1033;p62"/>
          <p:cNvSpPr txBox="1"/>
          <p:nvPr/>
        </p:nvSpPr>
        <p:spPr>
          <a:xfrm>
            <a:off x="8193959" y="5033688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3801407" y="6296639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Web – c</a:t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7957568" y="6232222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k</a:t>
            </a:r>
            <a:endParaRPr/>
          </a:p>
        </p:txBody>
      </p:sp>
      <p:cxnSp>
        <p:nvCxnSpPr>
          <p:cNvPr id="1036" name="Google Shape;1036;p62"/>
          <p:cNvCxnSpPr/>
          <p:nvPr/>
        </p:nvCxnSpPr>
        <p:spPr>
          <a:xfrm>
            <a:off x="6435574" y="3221237"/>
            <a:ext cx="197324" cy="1328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7" name="Google Shape;1037;p62"/>
          <p:cNvCxnSpPr/>
          <p:nvPr/>
        </p:nvCxnSpPr>
        <p:spPr>
          <a:xfrm rot="10800000">
            <a:off x="5510792" y="3605330"/>
            <a:ext cx="71142" cy="26620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8" name="Google Shape;1038;p62"/>
          <p:cNvCxnSpPr/>
          <p:nvPr/>
        </p:nvCxnSpPr>
        <p:spPr>
          <a:xfrm rot="10800000">
            <a:off x="6835911" y="3708280"/>
            <a:ext cx="397598" cy="297338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62"/>
          <p:cNvCxnSpPr>
            <a:stCxn id="1031" idx="3"/>
          </p:cNvCxnSpPr>
          <p:nvPr/>
        </p:nvCxnSpPr>
        <p:spPr>
          <a:xfrm>
            <a:off x="6105826" y="4458275"/>
            <a:ext cx="276000" cy="10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62"/>
          <p:cNvCxnSpPr/>
          <p:nvPr/>
        </p:nvCxnSpPr>
        <p:spPr>
          <a:xfrm rot="10800000">
            <a:off x="6693194" y="5033688"/>
            <a:ext cx="200567" cy="45087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1" name="Google Shape;1041;p62"/>
          <p:cNvSpPr txBox="1"/>
          <p:nvPr/>
        </p:nvSpPr>
        <p:spPr>
          <a:xfrm>
            <a:off x="4289936" y="1444088"/>
            <a:ext cx="2315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 S      S     D      S     D</a:t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3067050" y="5648325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4806324" y="3487051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6929551" y="3102983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5" name="Google Shape;1045;p62"/>
          <p:cNvSpPr/>
          <p:nvPr/>
        </p:nvSpPr>
        <p:spPr>
          <a:xfrm>
            <a:off x="6364226" y="4545297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– Review</a:t>
            </a:r>
            <a:endParaRPr/>
          </a:p>
        </p:txBody>
      </p:sp>
      <p:pic>
        <p:nvPicPr>
          <p:cNvPr id="1051" name="Google Shape;10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63"/>
          <p:cNvSpPr txBox="1"/>
          <p:nvPr>
            <p:ph idx="1" type="body"/>
          </p:nvPr>
        </p:nvSpPr>
        <p:spPr>
          <a:xfrm>
            <a:off x="1484310" y="1153237"/>
            <a:ext cx="10018713" cy="4637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Although physical addresses change from hop to hop, logical and port addresses remain the same from the source to destination.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053" name="Google Shape;105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466" y="2090382"/>
            <a:ext cx="5486400" cy="411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059" name="Google Shape;1059;p64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References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[1] Chapter 2, The McGraw-Hill Companies, Inc.</a:t>
            </a:r>
            <a:endParaRPr b="1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[2] Chapter 3,The McGraw-Hill Companies, Inc.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[3] CCNA 1, CISCO.</a:t>
            </a:r>
            <a:endParaRPr/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