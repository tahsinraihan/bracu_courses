
<file path=[Content_Types].xml><?xml version="1.0" encoding="utf-8"?>
<Types xmlns="http://schemas.openxmlformats.org/package/2006/content-types">
  <Default ContentType="image/jpeg" Extension="jpg"/>
  <Default ContentType="application/vnd.openxmlformats-officedocument.vmlDrawing" Extension="vml"/>
  <Default ContentType="application/x-fontdata" Extension="fntdata"/>
  <Default ContentType="application/vnd.openxmlformats-officedocument.oleObject" Extension="bin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oleObject" PartName="/ppt/embeddings/oleObject3.bin"/>
  <Override ContentType="application/vnd.openxmlformats-officedocument.oleObject" PartName="/ppt/embeddings/oleObject4.bin"/>
  <Override ContentType="application/vnd.openxmlformats-officedocument.oleObject" PartName="/ppt/embeddings/oleObject2.bin"/>
  <Override ContentType="application/vnd.openxmlformats-officedocument.oleObject" PartName="/ppt/embeddings/oleObject1.bin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</p:sldIdLst>
  <p:sldSz cy="6858000" cx="12192000"/>
  <p:notesSz cx="6858000" cy="9144000"/>
  <p:embeddedFontLst>
    <p:embeddedFont>
      <p:font typeface="Corbel"/>
      <p:regular r:id="rId35"/>
      <p:bold r:id="rId36"/>
      <p:italic r:id="rId37"/>
      <p:boldItalic r:id="rId38"/>
    </p:embeddedFont>
    <p:embeddedFont>
      <p:font typeface="Tahoma"/>
      <p:regular r:id="rId39"/>
      <p:bold r:id="rId40"/>
    </p:embeddedFont>
    <p:embeddedFont>
      <p:font typeface="Gill Sans"/>
      <p:regular r:id="rId41"/>
      <p:bold r:id="rId4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r:id="rId43" roundtripDataSignature="AMtx7miI/D3rWKZJg3k+tjDcVpGjyYZO4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Tahoma-bold.fntdata"/><Relationship Id="rId20" Type="http://schemas.openxmlformats.org/officeDocument/2006/relationships/slide" Target="slides/slide15.xml"/><Relationship Id="rId42" Type="http://schemas.openxmlformats.org/officeDocument/2006/relationships/font" Target="fonts/GillSans-bold.fntdata"/><Relationship Id="rId41" Type="http://schemas.openxmlformats.org/officeDocument/2006/relationships/font" Target="fonts/GillSans-regular.fntdata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43" Type="http://customschemas.google.com/relationships/presentationmetadata" Target="metadata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font" Target="fonts/Corbel-regular.fntdata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font" Target="fonts/Corbel-italic.fntdata"/><Relationship Id="rId14" Type="http://schemas.openxmlformats.org/officeDocument/2006/relationships/slide" Target="slides/slide9.xml"/><Relationship Id="rId36" Type="http://schemas.openxmlformats.org/officeDocument/2006/relationships/font" Target="fonts/Corbel-bold.fntdata"/><Relationship Id="rId17" Type="http://schemas.openxmlformats.org/officeDocument/2006/relationships/slide" Target="slides/slide12.xml"/><Relationship Id="rId39" Type="http://schemas.openxmlformats.org/officeDocument/2006/relationships/font" Target="fonts/Tahoma-regular.fntdata"/><Relationship Id="rId16" Type="http://schemas.openxmlformats.org/officeDocument/2006/relationships/slide" Target="slides/slide11.xml"/><Relationship Id="rId38" Type="http://schemas.openxmlformats.org/officeDocument/2006/relationships/font" Target="fonts/Corbel-boldItalic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drawings/_rels/vmlDrawing1.vml.rels><?xml version="1.0" encoding="UTF-8" standalone="yes"?><Relationships xmlns="http://schemas.openxmlformats.org/package/2006/relationships"><Relationship Id="rId1" Type="http://schemas.openxmlformats.org/officeDocument/2006/relationships/image" Target="../media/image39.png"/><Relationship Id="rId2" Type="http://schemas.openxmlformats.org/officeDocument/2006/relationships/image" Target="../media/image41.png"/><Relationship Id="rId3" Type="http://schemas.openxmlformats.org/officeDocument/2006/relationships/image" Target="../media/image40.png"/><Relationship Id="rId4" Type="http://schemas.openxmlformats.org/officeDocument/2006/relationships/image" Target="../media/image29.png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4" name="Google Shape;144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5" name="Google Shape;145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2" name="Google Shape;152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3" name="Google Shape;153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1" name="Google Shape;161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2" name="Google Shape;172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1" name="Google Shape;181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3" name="Google Shape;203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3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9" name="Google Shape;239;p3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6" name="Google Shape;246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7" name="Google Shape;257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4" name="Google Shape;274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91" name="Google Shape;291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92" name="Google Shape;292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04" name="Google Shape;304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13" name="Google Shape;313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22" name="Google Shape;322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39" name="Google Shape;339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54" name="Google Shape;354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3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64" name="Google Shape;364;p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3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79" name="Google Shape;379;p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3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92" name="Google Shape;392;p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3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08" name="Google Shape;408;p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3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24" name="Google Shape;424;p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3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62" name="Google Shape;462;p3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6" name="Google Shape;496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497" name="Google Shape;497;p2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8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0" name="Google Shape;520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521" name="Google Shape;521;p2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g25527a8ce64_0_95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6" name="Google Shape;546;g25527a8ce64_0_95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47" name="Google Shape;547;g25527a8ce64_0_95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2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p4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54" name="Google Shape;554;p4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oogle Shape;23;p47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4" name="Google Shape;24;p47"/>
            <p:cNvSpPr/>
            <p:nvPr/>
          </p:nvSpPr>
          <p:spPr>
            <a:xfrm>
              <a:off x="3367088" y="-4763"/>
              <a:ext cx="1063625" cy="2782888"/>
            </a:xfrm>
            <a:custGeom>
              <a:rect b="b" l="l" r="r" t="t"/>
              <a:pathLst>
                <a:path extrusionOk="0" h="1753" w="670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5" name="Google Shape;25;p47"/>
            <p:cNvSpPr/>
            <p:nvPr/>
          </p:nvSpPr>
          <p:spPr>
            <a:xfrm>
              <a:off x="2928938" y="-4763"/>
              <a:ext cx="1035050" cy="2673350"/>
            </a:xfrm>
            <a:custGeom>
              <a:rect b="b" l="l" r="r" t="t"/>
              <a:pathLst>
                <a:path extrusionOk="0" h="1684" w="652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</p:sp>
        <p:sp>
          <p:nvSpPr>
            <p:cNvPr id="26" name="Google Shape;26;p47"/>
            <p:cNvSpPr/>
            <p:nvPr/>
          </p:nvSpPr>
          <p:spPr>
            <a:xfrm>
              <a:off x="2928938" y="2582862"/>
              <a:ext cx="2693987" cy="4275138"/>
            </a:xfrm>
            <a:custGeom>
              <a:rect b="b" l="l" r="r" t="t"/>
              <a:pathLst>
                <a:path extrusionOk="0" h="2693" w="1697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2626"/>
            </a:solidFill>
            <a:ln>
              <a:noFill/>
            </a:ln>
          </p:spPr>
        </p:sp>
        <p:sp>
          <p:nvSpPr>
            <p:cNvPr id="27" name="Google Shape;27;p47"/>
            <p:cNvSpPr/>
            <p:nvPr/>
          </p:nvSpPr>
          <p:spPr>
            <a:xfrm>
              <a:off x="3371850" y="2692400"/>
              <a:ext cx="3332162" cy="4165600"/>
            </a:xfrm>
            <a:custGeom>
              <a:rect b="b" l="l" r="r" t="t"/>
              <a:pathLst>
                <a:path extrusionOk="0" h="2624" w="2099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rgbClr val="0B5982"/>
            </a:solidFill>
            <a:ln>
              <a:noFill/>
            </a:ln>
          </p:spPr>
        </p:sp>
        <p:sp>
          <p:nvSpPr>
            <p:cNvPr id="28" name="Google Shape;28;p47"/>
            <p:cNvSpPr/>
            <p:nvPr/>
          </p:nvSpPr>
          <p:spPr>
            <a:xfrm>
              <a:off x="3367088" y="2687637"/>
              <a:ext cx="4576762" cy="4170363"/>
            </a:xfrm>
            <a:custGeom>
              <a:rect b="b" l="l" r="r" t="t"/>
              <a:pathLst>
                <a:path extrusionOk="0" h="2627" w="2883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186C3"/>
            </a:solidFill>
            <a:ln>
              <a:noFill/>
            </a:ln>
          </p:spPr>
        </p:sp>
        <p:sp>
          <p:nvSpPr>
            <p:cNvPr id="29" name="Google Shape;29;p47"/>
            <p:cNvSpPr/>
            <p:nvPr/>
          </p:nvSpPr>
          <p:spPr>
            <a:xfrm>
              <a:off x="2928938" y="2578100"/>
              <a:ext cx="3584575" cy="4279900"/>
            </a:xfrm>
            <a:custGeom>
              <a:rect b="b" l="l" r="r" t="t"/>
              <a:pathLst>
                <a:path extrusionOk="0" h="2696" w="2258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rgbClr val="3F3F3F"/>
            </a:solidFill>
            <a:ln>
              <a:noFill/>
            </a:ln>
          </p:spPr>
        </p:sp>
      </p:grpSp>
      <p:sp>
        <p:nvSpPr>
          <p:cNvPr id="30" name="Google Shape;30;p47"/>
          <p:cNvSpPr txBox="1"/>
          <p:nvPr>
            <p:ph type="ctrTitle"/>
          </p:nvPr>
        </p:nvSpPr>
        <p:spPr>
          <a:xfrm>
            <a:off x="2928401" y="1380068"/>
            <a:ext cx="8574622" cy="261619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orbel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47"/>
          <p:cNvSpPr txBox="1"/>
          <p:nvPr>
            <p:ph idx="1" type="subTitle"/>
          </p:nvPr>
        </p:nvSpPr>
        <p:spPr>
          <a:xfrm>
            <a:off x="4515377" y="3996267"/>
            <a:ext cx="6987645" cy="13885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r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SzPts val="3045"/>
              <a:buNone/>
              <a:defRPr sz="21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9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03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2" name="Google Shape;32;p47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47"/>
          <p:cNvSpPr txBox="1"/>
          <p:nvPr>
            <p:ph idx="11" type="ftr"/>
          </p:nvPr>
        </p:nvSpPr>
        <p:spPr>
          <a:xfrm>
            <a:off x="5332412" y="5883275"/>
            <a:ext cx="432404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7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48"/>
          <p:cNvSpPr txBox="1"/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48"/>
          <p:cNvSpPr txBox="1"/>
          <p:nvPr>
            <p:ph idx="1" type="body"/>
          </p:nvPr>
        </p:nvSpPr>
        <p:spPr>
          <a:xfrm>
            <a:off x="1484312" y="2666999"/>
            <a:ext cx="4895055" cy="3124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94335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  <a:defRPr sz="1800"/>
            </a:lvl1pPr>
            <a:lvl2pPr indent="-375919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Char char="•"/>
              <a:defRPr sz="1600"/>
            </a:lvl2pPr>
            <a:lvl3pPr indent="-357505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3pPr>
            <a:lvl4pPr indent="-339089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4pPr>
            <a:lvl5pPr indent="-339089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5pPr>
            <a:lvl6pPr indent="-339089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6pPr>
            <a:lvl7pPr indent="-339089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7pPr>
            <a:lvl8pPr indent="-33909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8pPr>
            <a:lvl9pPr indent="-33909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740"/>
              <a:buChar char="•"/>
              <a:defRPr sz="1200"/>
            </a:lvl9pPr>
          </a:lstStyle>
          <a:p/>
        </p:txBody>
      </p:sp>
      <p:sp>
        <p:nvSpPr>
          <p:cNvPr id="38" name="Google Shape;38;p48"/>
          <p:cNvSpPr txBox="1"/>
          <p:nvPr>
            <p:ph idx="2" type="body"/>
          </p:nvPr>
        </p:nvSpPr>
        <p:spPr>
          <a:xfrm>
            <a:off x="6607967" y="2667000"/>
            <a:ext cx="4895056" cy="312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94335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  <a:defRPr sz="1800"/>
            </a:lvl1pPr>
            <a:lvl2pPr indent="-375919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Char char="•"/>
              <a:defRPr sz="1600"/>
            </a:lvl2pPr>
            <a:lvl3pPr indent="-357505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3pPr>
            <a:lvl4pPr indent="-339089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4pPr>
            <a:lvl5pPr indent="-339089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5pPr>
            <a:lvl6pPr indent="-339089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6pPr>
            <a:lvl7pPr indent="-339089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7pPr>
            <a:lvl8pPr indent="-33909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8pPr>
            <a:lvl9pPr indent="-33909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740"/>
              <a:buChar char="•"/>
              <a:defRPr sz="1200"/>
            </a:lvl9pPr>
          </a:lstStyle>
          <a:p/>
        </p:txBody>
      </p:sp>
      <p:sp>
        <p:nvSpPr>
          <p:cNvPr id="39" name="Google Shape;39;p48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48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48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50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50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50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49"/>
          <p:cNvSpPr txBox="1"/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49"/>
          <p:cNvSpPr txBox="1"/>
          <p:nvPr>
            <p:ph idx="1" type="body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94335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  <a:defRPr/>
            </a:lvl1pPr>
            <a:lvl2pPr indent="-394335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2pPr>
            <a:lvl3pPr indent="-394335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3pPr>
            <a:lvl4pPr indent="-394335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4pPr>
            <a:lvl5pPr indent="-394335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5pPr>
            <a:lvl6pPr indent="-394335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6pPr>
            <a:lvl7pPr indent="-394335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7pPr>
            <a:lvl8pPr indent="-394334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8pPr>
            <a:lvl9pPr indent="-394334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610"/>
              <a:buChar char="•"/>
              <a:defRPr/>
            </a:lvl9pPr>
          </a:lstStyle>
          <a:p/>
        </p:txBody>
      </p:sp>
      <p:sp>
        <p:nvSpPr>
          <p:cNvPr id="49" name="Google Shape;49;p49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49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49"/>
          <p:cNvSpPr txBox="1"/>
          <p:nvPr>
            <p:ph idx="12" type="sldNum"/>
          </p:nvPr>
        </p:nvSpPr>
        <p:spPr>
          <a:xfrm>
            <a:off x="10951856" y="5867131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51"/>
          <p:cNvSpPr txBox="1"/>
          <p:nvPr>
            <p:ph type="title"/>
          </p:nvPr>
        </p:nvSpPr>
        <p:spPr>
          <a:xfrm>
            <a:off x="2572279" y="2666999"/>
            <a:ext cx="8930747" cy="211038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  <a:defRPr b="0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51"/>
          <p:cNvSpPr txBox="1"/>
          <p:nvPr>
            <p:ph idx="1" type="body"/>
          </p:nvPr>
        </p:nvSpPr>
        <p:spPr>
          <a:xfrm>
            <a:off x="2572278" y="4777381"/>
            <a:ext cx="8930748" cy="8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900"/>
              <a:buNone/>
              <a:defRPr sz="20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55" name="Google Shape;55;p51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51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51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52"/>
          <p:cNvSpPr txBox="1"/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52"/>
          <p:cNvSpPr txBox="1"/>
          <p:nvPr>
            <p:ph idx="1" type="body"/>
          </p:nvPr>
        </p:nvSpPr>
        <p:spPr>
          <a:xfrm>
            <a:off x="1772179" y="2658533"/>
            <a:ext cx="4607188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4060"/>
              <a:buNone/>
              <a:defRPr b="0" sz="2800">
                <a:solidFill>
                  <a:srgbClr val="1186C3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9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320"/>
              <a:buNone/>
              <a:defRPr b="1" sz="1600"/>
            </a:lvl9pPr>
          </a:lstStyle>
          <a:p/>
        </p:txBody>
      </p:sp>
      <p:sp>
        <p:nvSpPr>
          <p:cNvPr id="61" name="Google Shape;61;p52"/>
          <p:cNvSpPr txBox="1"/>
          <p:nvPr>
            <p:ph idx="2" type="body"/>
          </p:nvPr>
        </p:nvSpPr>
        <p:spPr>
          <a:xfrm>
            <a:off x="1484311" y="3335337"/>
            <a:ext cx="4895056" cy="2455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94335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  <a:defRPr sz="1800"/>
            </a:lvl1pPr>
            <a:lvl2pPr indent="-375919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Char char="•"/>
              <a:defRPr sz="1600"/>
            </a:lvl2pPr>
            <a:lvl3pPr indent="-357505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3pPr>
            <a:lvl4pPr indent="-339089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4pPr>
            <a:lvl5pPr indent="-339089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5pPr>
            <a:lvl6pPr indent="-339089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6pPr>
            <a:lvl7pPr indent="-339089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7pPr>
            <a:lvl8pPr indent="-33909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8pPr>
            <a:lvl9pPr indent="-33909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740"/>
              <a:buChar char="•"/>
              <a:defRPr sz="1200"/>
            </a:lvl9pPr>
          </a:lstStyle>
          <a:p/>
        </p:txBody>
      </p:sp>
      <p:sp>
        <p:nvSpPr>
          <p:cNvPr id="62" name="Google Shape;62;p52"/>
          <p:cNvSpPr txBox="1"/>
          <p:nvPr>
            <p:ph idx="3" type="body"/>
          </p:nvPr>
        </p:nvSpPr>
        <p:spPr>
          <a:xfrm>
            <a:off x="6880487" y="2667000"/>
            <a:ext cx="4622537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4060"/>
              <a:buNone/>
              <a:defRPr b="0" sz="2800">
                <a:solidFill>
                  <a:srgbClr val="1186C3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9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320"/>
              <a:buNone/>
              <a:defRPr b="1" sz="1600"/>
            </a:lvl9pPr>
          </a:lstStyle>
          <a:p/>
        </p:txBody>
      </p:sp>
      <p:sp>
        <p:nvSpPr>
          <p:cNvPr id="63" name="Google Shape;63;p52"/>
          <p:cNvSpPr txBox="1"/>
          <p:nvPr>
            <p:ph idx="4" type="body"/>
          </p:nvPr>
        </p:nvSpPr>
        <p:spPr>
          <a:xfrm>
            <a:off x="6607967" y="3335337"/>
            <a:ext cx="4895056" cy="2455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94335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  <a:defRPr sz="1800"/>
            </a:lvl1pPr>
            <a:lvl2pPr indent="-375919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Char char="•"/>
              <a:defRPr sz="1600"/>
            </a:lvl2pPr>
            <a:lvl3pPr indent="-357505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3pPr>
            <a:lvl4pPr indent="-339089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4pPr>
            <a:lvl5pPr indent="-339089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5pPr>
            <a:lvl6pPr indent="-339089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6pPr>
            <a:lvl7pPr indent="-339089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7pPr>
            <a:lvl8pPr indent="-33909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8pPr>
            <a:lvl9pPr indent="-33909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740"/>
              <a:buChar char="•"/>
              <a:defRPr sz="1200"/>
            </a:lvl9pPr>
          </a:lstStyle>
          <a:p/>
        </p:txBody>
      </p:sp>
      <p:sp>
        <p:nvSpPr>
          <p:cNvPr id="64" name="Google Shape;64;p52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52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52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53"/>
          <p:cNvSpPr txBox="1"/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53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53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53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54"/>
          <p:cNvSpPr txBox="1"/>
          <p:nvPr>
            <p:ph type="title"/>
          </p:nvPr>
        </p:nvSpPr>
        <p:spPr>
          <a:xfrm>
            <a:off x="1484312" y="1600200"/>
            <a:ext cx="3549121" cy="1371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rbel"/>
              <a:buNone/>
              <a:defRPr b="0"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54"/>
          <p:cNvSpPr txBox="1"/>
          <p:nvPr>
            <p:ph idx="1" type="body"/>
          </p:nvPr>
        </p:nvSpPr>
        <p:spPr>
          <a:xfrm>
            <a:off x="5262033" y="685799"/>
            <a:ext cx="6240990" cy="51054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41275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900"/>
              <a:buChar char="•"/>
              <a:defRPr sz="2000"/>
            </a:lvl1pPr>
            <a:lvl2pPr indent="-394335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 sz="1800"/>
            </a:lvl2pPr>
            <a:lvl3pPr indent="-375919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Char char="•"/>
              <a:defRPr sz="1600"/>
            </a:lvl3pPr>
            <a:lvl4pPr indent="-357505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4pPr>
            <a:lvl5pPr indent="-357504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5pPr>
            <a:lvl6pPr indent="-357504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6pPr>
            <a:lvl7pPr indent="-357504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7pPr>
            <a:lvl8pPr indent="-357504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8pPr>
            <a:lvl9pPr indent="-357504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030"/>
              <a:buChar char="•"/>
              <a:defRPr sz="1400"/>
            </a:lvl9pPr>
          </a:lstStyle>
          <a:p/>
        </p:txBody>
      </p:sp>
      <p:sp>
        <p:nvSpPr>
          <p:cNvPr id="75" name="Google Shape;75;p54"/>
          <p:cNvSpPr txBox="1"/>
          <p:nvPr>
            <p:ph idx="2" type="body"/>
          </p:nvPr>
        </p:nvSpPr>
        <p:spPr>
          <a:xfrm>
            <a:off x="1484312" y="2971800"/>
            <a:ext cx="3549121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2320"/>
              <a:buNone/>
              <a:defRPr sz="1600"/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5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305"/>
              <a:buNone/>
              <a:defRPr sz="900"/>
            </a:lvl9pPr>
          </a:lstStyle>
          <a:p/>
        </p:txBody>
      </p:sp>
      <p:sp>
        <p:nvSpPr>
          <p:cNvPr id="76" name="Google Shape;76;p54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54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54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55"/>
          <p:cNvSpPr txBox="1"/>
          <p:nvPr>
            <p:ph type="title"/>
          </p:nvPr>
        </p:nvSpPr>
        <p:spPr>
          <a:xfrm>
            <a:off x="1482724" y="1752599"/>
            <a:ext cx="5426158" cy="1371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orbel"/>
              <a:buNone/>
              <a:defRPr b="0" sz="2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55"/>
          <p:cNvSpPr/>
          <p:nvPr>
            <p:ph idx="2" type="pic"/>
          </p:nvPr>
        </p:nvSpPr>
        <p:spPr>
          <a:xfrm>
            <a:off x="7594682" y="914400"/>
            <a:ext cx="3280974" cy="4572000"/>
          </a:xfrm>
          <a:prstGeom prst="roundRect">
            <a:avLst>
              <a:gd fmla="val 4280" name="adj"/>
            </a:avLst>
          </a:prstGeom>
          <a:noFill/>
          <a:ln cap="flat" cmpd="sng" w="381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2" name="Google Shape;82;p55"/>
          <p:cNvSpPr txBox="1"/>
          <p:nvPr>
            <p:ph idx="1" type="body"/>
          </p:nvPr>
        </p:nvSpPr>
        <p:spPr>
          <a:xfrm>
            <a:off x="1482724" y="3124199"/>
            <a:ext cx="5426158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None/>
              <a:defRPr sz="1800"/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5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305"/>
              <a:buNone/>
              <a:defRPr sz="900"/>
            </a:lvl9pPr>
          </a:lstStyle>
          <a:p/>
        </p:txBody>
      </p:sp>
      <p:sp>
        <p:nvSpPr>
          <p:cNvPr id="83" name="Google Shape;83;p55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55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55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anoramic Picture with Caption">
  <p:cSld name="Panoramic Picture with Caption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56"/>
          <p:cNvSpPr txBox="1"/>
          <p:nvPr>
            <p:ph type="title"/>
          </p:nvPr>
        </p:nvSpPr>
        <p:spPr>
          <a:xfrm>
            <a:off x="1484311" y="4732865"/>
            <a:ext cx="10018711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rbel"/>
              <a:buNone/>
              <a:defRPr b="0"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56"/>
          <p:cNvSpPr/>
          <p:nvPr>
            <p:ph idx="2" type="pic"/>
          </p:nvPr>
        </p:nvSpPr>
        <p:spPr>
          <a:xfrm>
            <a:off x="2386012" y="932112"/>
            <a:ext cx="8225944" cy="3164976"/>
          </a:xfrm>
          <a:prstGeom prst="roundRect">
            <a:avLst>
              <a:gd fmla="val 4380" name="adj"/>
            </a:avLst>
          </a:prstGeom>
          <a:noFill/>
          <a:ln cap="flat" cmpd="sng" w="381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9" name="Google Shape;89;p56"/>
          <p:cNvSpPr txBox="1"/>
          <p:nvPr>
            <p:ph idx="1" type="body"/>
          </p:nvPr>
        </p:nvSpPr>
        <p:spPr>
          <a:xfrm>
            <a:off x="1484311" y="5299603"/>
            <a:ext cx="10018711" cy="4937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203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5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305"/>
              <a:buNone/>
              <a:defRPr sz="900"/>
            </a:lvl9pPr>
          </a:lstStyle>
          <a:p/>
        </p:txBody>
      </p:sp>
      <p:sp>
        <p:nvSpPr>
          <p:cNvPr id="90" name="Google Shape;90;p56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56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56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aption">
  <p:cSld name="Title and Caption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57"/>
          <p:cNvSpPr txBox="1"/>
          <p:nvPr>
            <p:ph type="title"/>
          </p:nvPr>
        </p:nvSpPr>
        <p:spPr>
          <a:xfrm>
            <a:off x="1484312" y="685800"/>
            <a:ext cx="10018711" cy="304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rbel"/>
              <a:buNone/>
              <a:defRPr b="0" sz="32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57"/>
          <p:cNvSpPr txBox="1"/>
          <p:nvPr>
            <p:ph idx="1" type="body"/>
          </p:nvPr>
        </p:nvSpPr>
        <p:spPr>
          <a:xfrm>
            <a:off x="1484312" y="4343400"/>
            <a:ext cx="10018713" cy="14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900"/>
              <a:buNone/>
              <a:defRPr sz="20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96" name="Google Shape;96;p57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57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57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with Caption">
  <p:cSld name="Quote with Caption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58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Corbel"/>
              <a:buNone/>
            </a:pPr>
            <a:r>
              <a:rPr b="0" i="0" lang="en-US" sz="8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“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58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Corbel"/>
              <a:buNone/>
            </a:pPr>
            <a:r>
              <a:rPr b="0" i="0" lang="en-US" sz="8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58"/>
          <p:cNvSpPr txBox="1"/>
          <p:nvPr>
            <p:ph type="title"/>
          </p:nvPr>
        </p:nvSpPr>
        <p:spPr>
          <a:xfrm>
            <a:off x="2208212" y="685800"/>
            <a:ext cx="8990012" cy="27431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rbel"/>
              <a:buNone/>
              <a:defRPr b="0" sz="3200" cap="none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3" name="Google Shape;103;p58"/>
          <p:cNvSpPr txBox="1"/>
          <p:nvPr>
            <p:ph idx="1" type="body"/>
          </p:nvPr>
        </p:nvSpPr>
        <p:spPr>
          <a:xfrm>
            <a:off x="2436811" y="3428999"/>
            <a:ext cx="8532815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Font typeface="Corbel"/>
              <a:buNone/>
              <a:defRPr sz="1800"/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900"/>
              <a:buFont typeface="Corbel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Font typeface="Corbel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Font typeface="Corbel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Font typeface="Corbel"/>
              <a:buNone/>
              <a:defRPr/>
            </a:lvl5pPr>
            <a:lvl6pPr indent="-394335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6pPr>
            <a:lvl7pPr indent="-394335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7pPr>
            <a:lvl8pPr indent="-394334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8pPr>
            <a:lvl9pPr indent="-394334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610"/>
              <a:buChar char="•"/>
              <a:defRPr/>
            </a:lvl9pPr>
          </a:lstStyle>
          <a:p/>
        </p:txBody>
      </p:sp>
      <p:sp>
        <p:nvSpPr>
          <p:cNvPr id="104" name="Google Shape;104;p58"/>
          <p:cNvSpPr txBox="1"/>
          <p:nvPr>
            <p:ph idx="2" type="body"/>
          </p:nvPr>
        </p:nvSpPr>
        <p:spPr>
          <a:xfrm>
            <a:off x="1484311" y="4343400"/>
            <a:ext cx="10018711" cy="14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900"/>
              <a:buNone/>
              <a:defRPr sz="20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05" name="Google Shape;105;p58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58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p58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ame Card">
  <p:cSld name="Name Card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59"/>
          <p:cNvSpPr txBox="1"/>
          <p:nvPr>
            <p:ph type="title"/>
          </p:nvPr>
        </p:nvSpPr>
        <p:spPr>
          <a:xfrm>
            <a:off x="1484313" y="3308581"/>
            <a:ext cx="10018709" cy="1468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rbel"/>
              <a:buNone/>
              <a:defRPr b="0" sz="32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59"/>
          <p:cNvSpPr txBox="1"/>
          <p:nvPr>
            <p:ph idx="1" type="body"/>
          </p:nvPr>
        </p:nvSpPr>
        <p:spPr>
          <a:xfrm>
            <a:off x="1484312" y="4777381"/>
            <a:ext cx="10018710" cy="8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900"/>
              <a:buNone/>
              <a:defRPr sz="20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11" name="Google Shape;111;p59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2" name="Google Shape;112;p59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59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Name Card">
  <p:cSld name="Quote Name Card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60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Corbel"/>
              <a:buNone/>
            </a:pPr>
            <a:r>
              <a:rPr b="0" i="0" lang="en-US" sz="8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“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60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Corbel"/>
              <a:buNone/>
            </a:pPr>
            <a:r>
              <a:rPr b="0" i="0" lang="en-US" sz="8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60"/>
          <p:cNvSpPr txBox="1"/>
          <p:nvPr>
            <p:ph type="title"/>
          </p:nvPr>
        </p:nvSpPr>
        <p:spPr>
          <a:xfrm>
            <a:off x="2208212" y="685800"/>
            <a:ext cx="8990012" cy="27431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rbel"/>
              <a:buNone/>
              <a:defRPr b="0" sz="3200" cap="none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8" name="Google Shape;118;p60"/>
          <p:cNvSpPr txBox="1"/>
          <p:nvPr>
            <p:ph idx="1" type="body"/>
          </p:nvPr>
        </p:nvSpPr>
        <p:spPr>
          <a:xfrm>
            <a:off x="1484313" y="3886200"/>
            <a:ext cx="10018710" cy="889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3480"/>
              <a:buNone/>
              <a:defRPr b="0" sz="2400" cap="none">
                <a:solidFill>
                  <a:schemeClr val="dk1"/>
                </a:solidFill>
              </a:defRPr>
            </a:lvl1pPr>
            <a:lvl2pPr indent="-394335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2pPr>
            <a:lvl3pPr indent="-394335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3pPr>
            <a:lvl4pPr indent="-394335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4pPr>
            <a:lvl5pPr indent="-394335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5pPr>
            <a:lvl6pPr indent="-394335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6pPr>
            <a:lvl7pPr indent="-394335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7pPr>
            <a:lvl8pPr indent="-394334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8pPr>
            <a:lvl9pPr indent="-394334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610"/>
              <a:buChar char="•"/>
              <a:defRPr/>
            </a:lvl9pPr>
          </a:lstStyle>
          <a:p/>
        </p:txBody>
      </p:sp>
      <p:sp>
        <p:nvSpPr>
          <p:cNvPr id="119" name="Google Shape;119;p60"/>
          <p:cNvSpPr txBox="1"/>
          <p:nvPr>
            <p:ph idx="2" type="body"/>
          </p:nvPr>
        </p:nvSpPr>
        <p:spPr>
          <a:xfrm>
            <a:off x="1484312" y="4775200"/>
            <a:ext cx="10018710" cy="10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None/>
              <a:defRPr sz="18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20" name="Google Shape;120;p60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1" name="Google Shape;121;p60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" name="Google Shape;122;p60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ue or False">
  <p:cSld name="True or False"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61"/>
          <p:cNvSpPr txBox="1"/>
          <p:nvPr>
            <p:ph type="title"/>
          </p:nvPr>
        </p:nvSpPr>
        <p:spPr>
          <a:xfrm>
            <a:off x="1484313" y="685800"/>
            <a:ext cx="10018712" cy="2727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  <a:defRPr b="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5" name="Google Shape;125;p61"/>
          <p:cNvSpPr txBox="1"/>
          <p:nvPr>
            <p:ph idx="1" type="body"/>
          </p:nvPr>
        </p:nvSpPr>
        <p:spPr>
          <a:xfrm>
            <a:off x="1484312" y="3505200"/>
            <a:ext cx="10018713" cy="838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4060"/>
              <a:buNone/>
              <a:defRPr b="0" sz="2800" cap="none">
                <a:solidFill>
                  <a:schemeClr val="dk1"/>
                </a:solidFill>
              </a:defRPr>
            </a:lvl1pPr>
            <a:lvl2pPr indent="-394335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2pPr>
            <a:lvl3pPr indent="-394335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3pPr>
            <a:lvl4pPr indent="-394335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4pPr>
            <a:lvl5pPr indent="-394335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5pPr>
            <a:lvl6pPr indent="-394335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6pPr>
            <a:lvl7pPr indent="-394335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7pPr>
            <a:lvl8pPr indent="-394334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8pPr>
            <a:lvl9pPr indent="-394334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610"/>
              <a:buChar char="•"/>
              <a:defRPr/>
            </a:lvl9pPr>
          </a:lstStyle>
          <a:p/>
        </p:txBody>
      </p:sp>
      <p:sp>
        <p:nvSpPr>
          <p:cNvPr id="126" name="Google Shape;126;p61"/>
          <p:cNvSpPr txBox="1"/>
          <p:nvPr>
            <p:ph idx="2" type="body"/>
          </p:nvPr>
        </p:nvSpPr>
        <p:spPr>
          <a:xfrm>
            <a:off x="1484311" y="4343400"/>
            <a:ext cx="10018713" cy="14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None/>
              <a:defRPr sz="18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27" name="Google Shape;127;p61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8" name="Google Shape;128;p61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9" name="Google Shape;129;p61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62"/>
          <p:cNvSpPr txBox="1"/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2" name="Google Shape;132;p62"/>
          <p:cNvSpPr txBox="1"/>
          <p:nvPr>
            <p:ph idx="1" type="body"/>
          </p:nvPr>
        </p:nvSpPr>
        <p:spPr>
          <a:xfrm rot="5400000">
            <a:off x="4931566" y="-780257"/>
            <a:ext cx="3124201" cy="10018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94335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  <a:defRPr/>
            </a:lvl1pPr>
            <a:lvl2pPr indent="-394335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2pPr>
            <a:lvl3pPr indent="-394335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3pPr>
            <a:lvl4pPr indent="-394335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4pPr>
            <a:lvl5pPr indent="-394335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5pPr>
            <a:lvl6pPr indent="-394335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6pPr>
            <a:lvl7pPr indent="-394335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7pPr>
            <a:lvl8pPr indent="-394334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8pPr>
            <a:lvl9pPr indent="-394334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610"/>
              <a:buChar char="•"/>
              <a:defRPr/>
            </a:lvl9pPr>
          </a:lstStyle>
          <a:p/>
        </p:txBody>
      </p:sp>
      <p:sp>
        <p:nvSpPr>
          <p:cNvPr id="133" name="Google Shape;133;p62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4" name="Google Shape;134;p62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" name="Google Shape;135;p62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63"/>
          <p:cNvSpPr txBox="1"/>
          <p:nvPr>
            <p:ph type="title"/>
          </p:nvPr>
        </p:nvSpPr>
        <p:spPr>
          <a:xfrm rot="5400000">
            <a:off x="8065140" y="2353316"/>
            <a:ext cx="5105400" cy="177036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8" name="Google Shape;138;p63"/>
          <p:cNvSpPr txBox="1"/>
          <p:nvPr>
            <p:ph idx="1" type="body"/>
          </p:nvPr>
        </p:nvSpPr>
        <p:spPr>
          <a:xfrm rot="5400000">
            <a:off x="2941483" y="-771371"/>
            <a:ext cx="5105400" cy="801974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94335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  <a:defRPr/>
            </a:lvl1pPr>
            <a:lvl2pPr indent="-394335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2pPr>
            <a:lvl3pPr indent="-394335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3pPr>
            <a:lvl4pPr indent="-394335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4pPr>
            <a:lvl5pPr indent="-394335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5pPr>
            <a:lvl6pPr indent="-394335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6pPr>
            <a:lvl7pPr indent="-394335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7pPr>
            <a:lvl8pPr indent="-394334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8pPr>
            <a:lvl9pPr indent="-394334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610"/>
              <a:buChar char="•"/>
              <a:defRPr/>
            </a:lvl9pPr>
          </a:lstStyle>
          <a:p/>
        </p:txBody>
      </p:sp>
      <p:sp>
        <p:nvSpPr>
          <p:cNvPr id="139" name="Google Shape;139;p63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0" name="Google Shape;140;p63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1" name="Google Shape;141;p63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15" Type="http://schemas.openxmlformats.org/officeDocument/2006/relationships/slideLayout" Target="../slideLayouts/slideLayout14.xml"/><Relationship Id="rId14" Type="http://schemas.openxmlformats.org/officeDocument/2006/relationships/slideLayout" Target="../slideLayouts/slideLayout13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5" Type="http://schemas.openxmlformats.org/officeDocument/2006/relationships/slideLayout" Target="../slideLayouts/slideLayout4.xml"/><Relationship Id="rId19" Type="http://schemas.openxmlformats.org/officeDocument/2006/relationships/theme" Target="../theme/theme2.xml"/><Relationship Id="rId6" Type="http://schemas.openxmlformats.org/officeDocument/2006/relationships/slideLayout" Target="../slideLayouts/slideLayout5.xml"/><Relationship Id="rId18" Type="http://schemas.openxmlformats.org/officeDocument/2006/relationships/slideLayout" Target="../slideLayouts/slideLayout17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4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11" name="Google Shape;11;p46"/>
            <p:cNvSpPr/>
            <p:nvPr/>
          </p:nvSpPr>
          <p:spPr>
            <a:xfrm>
              <a:off x="1627188" y="0"/>
              <a:ext cx="1122363" cy="5329238"/>
            </a:xfrm>
            <a:custGeom>
              <a:rect b="b" l="l" r="r" t="t"/>
              <a:pathLst>
                <a:path extrusionOk="0" h="3357" w="70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2" name="Google Shape;12;p46"/>
            <p:cNvSpPr/>
            <p:nvPr/>
          </p:nvSpPr>
          <p:spPr>
            <a:xfrm>
              <a:off x="1320800" y="0"/>
              <a:ext cx="1117600" cy="5276850"/>
            </a:xfrm>
            <a:custGeom>
              <a:rect b="b" l="l" r="r" t="t"/>
              <a:pathLst>
                <a:path extrusionOk="0" h="3324" w="70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</p:sp>
        <p:sp>
          <p:nvSpPr>
            <p:cNvPr id="13" name="Google Shape;13;p46"/>
            <p:cNvSpPr/>
            <p:nvPr/>
          </p:nvSpPr>
          <p:spPr>
            <a:xfrm>
              <a:off x="1320800" y="5238750"/>
              <a:ext cx="1228725" cy="1619250"/>
            </a:xfrm>
            <a:custGeom>
              <a:rect b="b" l="l" r="r" t="t"/>
              <a:pathLst>
                <a:path extrusionOk="0" h="1020" w="774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2626"/>
            </a:solidFill>
            <a:ln>
              <a:noFill/>
            </a:ln>
          </p:spPr>
        </p:sp>
        <p:sp>
          <p:nvSpPr>
            <p:cNvPr id="14" name="Google Shape;14;p46"/>
            <p:cNvSpPr/>
            <p:nvPr/>
          </p:nvSpPr>
          <p:spPr>
            <a:xfrm>
              <a:off x="1627188" y="5291138"/>
              <a:ext cx="1495425" cy="1566863"/>
            </a:xfrm>
            <a:custGeom>
              <a:rect b="b" l="l" r="r" t="t"/>
              <a:pathLst>
                <a:path extrusionOk="0" h="987" w="942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B5982"/>
            </a:solidFill>
            <a:ln>
              <a:noFill/>
            </a:ln>
          </p:spPr>
        </p:sp>
        <p:sp>
          <p:nvSpPr>
            <p:cNvPr id="15" name="Google Shape;15;p46"/>
            <p:cNvSpPr/>
            <p:nvPr/>
          </p:nvSpPr>
          <p:spPr>
            <a:xfrm>
              <a:off x="1627188" y="5286375"/>
              <a:ext cx="2130425" cy="1571625"/>
            </a:xfrm>
            <a:custGeom>
              <a:rect b="b" l="l" r="r" t="t"/>
              <a:pathLst>
                <a:path extrusionOk="0" h="990" w="1342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rgbClr val="1186C3"/>
            </a:solidFill>
            <a:ln>
              <a:noFill/>
            </a:ln>
          </p:spPr>
        </p:sp>
        <p:sp>
          <p:nvSpPr>
            <p:cNvPr id="16" name="Google Shape;16;p46"/>
            <p:cNvSpPr/>
            <p:nvPr/>
          </p:nvSpPr>
          <p:spPr>
            <a:xfrm>
              <a:off x="1320800" y="5238750"/>
              <a:ext cx="1695450" cy="1619250"/>
            </a:xfrm>
            <a:custGeom>
              <a:rect b="b" l="l" r="r" t="t"/>
              <a:pathLst>
                <a:path extrusionOk="0" h="1020" w="1068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rgbClr val="3F3F3F"/>
            </a:solidFill>
            <a:ln>
              <a:noFill/>
            </a:ln>
          </p:spPr>
        </p:sp>
      </p:grpSp>
      <p:sp>
        <p:nvSpPr>
          <p:cNvPr id="17" name="Google Shape;17;p46"/>
          <p:cNvSpPr txBox="1"/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  <a:defRPr b="0" i="0" sz="4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8" name="Google Shape;18;p46"/>
          <p:cNvSpPr txBox="1"/>
          <p:nvPr>
            <p:ph idx="1" type="body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449580" lvl="0" marL="4572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1186C3"/>
              </a:buClr>
              <a:buSzPts val="348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-412750" lvl="1" marL="9144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9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-394335" lvl="2" marL="13716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61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-375919" lvl="3" marL="18288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32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-357504" lvl="4" marL="22860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03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-357504" lvl="5" marL="2743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03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-357504" lvl="6" marL="32004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03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-357504" lvl="7" marL="36576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03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-357504" lvl="8" marL="4114800" marR="0" rtl="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1186C3"/>
              </a:buClr>
              <a:buSzPts val="203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/>
        </p:txBody>
      </p:sp>
      <p:sp>
        <p:nvSpPr>
          <p:cNvPr id="19" name="Google Shape;19;p46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/>
        </p:txBody>
      </p:sp>
      <p:sp>
        <p:nvSpPr>
          <p:cNvPr id="20" name="Google Shape;20;p46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/>
        </p:txBody>
      </p:sp>
      <p:sp>
        <p:nvSpPr>
          <p:cNvPr id="21" name="Google Shape;21;p46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jpg"/><Relationship Id="rId4" Type="http://schemas.openxmlformats.org/officeDocument/2006/relationships/image" Target="../media/image18.png"/><Relationship Id="rId5" Type="http://schemas.openxmlformats.org/officeDocument/2006/relationships/image" Target="../media/image15.png"/><Relationship Id="rId6" Type="http://schemas.openxmlformats.org/officeDocument/2006/relationships/image" Target="../media/image4.jpg"/><Relationship Id="rId7" Type="http://schemas.openxmlformats.org/officeDocument/2006/relationships/image" Target="../media/image5.jpg"/><Relationship Id="rId8" Type="http://schemas.openxmlformats.org/officeDocument/2006/relationships/image" Target="../media/image21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jpg"/><Relationship Id="rId4" Type="http://schemas.openxmlformats.org/officeDocument/2006/relationships/image" Target="../media/image5.jpg"/><Relationship Id="rId5" Type="http://schemas.openxmlformats.org/officeDocument/2006/relationships/image" Target="../media/image21.jpg"/><Relationship Id="rId6" Type="http://schemas.openxmlformats.org/officeDocument/2006/relationships/image" Target="../media/image2.jpg"/><Relationship Id="rId7" Type="http://schemas.openxmlformats.org/officeDocument/2006/relationships/image" Target="../media/image18.png"/><Relationship Id="rId8" Type="http://schemas.openxmlformats.org/officeDocument/2006/relationships/image" Target="../media/image1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.jpg"/><Relationship Id="rId4" Type="http://schemas.openxmlformats.org/officeDocument/2006/relationships/image" Target="../media/image12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3.png"/><Relationship Id="rId4" Type="http://schemas.openxmlformats.org/officeDocument/2006/relationships/image" Target="../media/image9.png"/><Relationship Id="rId5" Type="http://schemas.openxmlformats.org/officeDocument/2006/relationships/image" Target="../media/image1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0.png"/><Relationship Id="rId4" Type="http://schemas.openxmlformats.org/officeDocument/2006/relationships/image" Target="../media/image2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1.png"/><Relationship Id="rId4" Type="http://schemas.openxmlformats.org/officeDocument/2006/relationships/image" Target="../media/image1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6.jpg"/><Relationship Id="rId4" Type="http://schemas.openxmlformats.org/officeDocument/2006/relationships/image" Target="../media/image3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6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6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6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2.jpg"/><Relationship Id="rId4" Type="http://schemas.openxmlformats.org/officeDocument/2006/relationships/image" Target="../media/image28.jpg"/><Relationship Id="rId5" Type="http://schemas.openxmlformats.org/officeDocument/2006/relationships/image" Target="../media/image35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6.jpg"/><Relationship Id="rId4" Type="http://schemas.openxmlformats.org/officeDocument/2006/relationships/image" Target="../media/image28.jp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2.jpg"/><Relationship Id="rId4" Type="http://schemas.openxmlformats.org/officeDocument/2006/relationships/image" Target="../media/image28.jp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44.jp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44.jpg"/></Relationships>
</file>

<file path=ppt/slides/_rels/slide24.xml.rels><?xml version="1.0" encoding="UTF-8" standalone="yes"?><Relationships xmlns="http://schemas.openxmlformats.org/package/2006/relationships"><Relationship Id="rId11" Type="http://schemas.openxmlformats.org/officeDocument/2006/relationships/oleObject" Target="../embeddings/oleObject3.bin"/><Relationship Id="rId10" Type="http://schemas.openxmlformats.org/officeDocument/2006/relationships/oleObject" Target="../embeddings/oleObject3.bin"/><Relationship Id="rId13" Type="http://schemas.openxmlformats.org/officeDocument/2006/relationships/image" Target="../media/image42.png"/><Relationship Id="rId12" Type="http://schemas.openxmlformats.org/officeDocument/2006/relationships/image" Target="../media/image40.png"/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4.xml"/><Relationship Id="rId3" Type="http://schemas.openxmlformats.org/officeDocument/2006/relationships/vmlDrawing" Target="../drawings/vmlDrawing1.vml"/><Relationship Id="rId4" Type="http://schemas.openxmlformats.org/officeDocument/2006/relationships/oleObject" Target="../embeddings/oleObject1.bin"/><Relationship Id="rId9" Type="http://schemas.openxmlformats.org/officeDocument/2006/relationships/image" Target="../media/image41.png"/><Relationship Id="rId15" Type="http://schemas.openxmlformats.org/officeDocument/2006/relationships/oleObject" Target="../embeddings/oleObject4.bin"/><Relationship Id="rId14" Type="http://schemas.openxmlformats.org/officeDocument/2006/relationships/oleObject" Target="../embeddings/oleObject4.bin"/><Relationship Id="rId16" Type="http://schemas.openxmlformats.org/officeDocument/2006/relationships/image" Target="../media/image29.png"/><Relationship Id="rId5" Type="http://schemas.openxmlformats.org/officeDocument/2006/relationships/oleObject" Target="../embeddings/oleObject1.bin"/><Relationship Id="rId6" Type="http://schemas.openxmlformats.org/officeDocument/2006/relationships/image" Target="../media/image39.png"/><Relationship Id="rId7" Type="http://schemas.openxmlformats.org/officeDocument/2006/relationships/oleObject" Target="../embeddings/oleObject2.bin"/><Relationship Id="rId8" Type="http://schemas.openxmlformats.org/officeDocument/2006/relationships/oleObject" Target="../embeddings/oleObject2.bin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30.jp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38.png"/><Relationship Id="rId4" Type="http://schemas.openxmlformats.org/officeDocument/2006/relationships/image" Target="../media/image46.png"/><Relationship Id="rId5" Type="http://schemas.openxmlformats.org/officeDocument/2006/relationships/image" Target="../media/image49.png"/><Relationship Id="rId6" Type="http://schemas.openxmlformats.org/officeDocument/2006/relationships/image" Target="../media/image48.jp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38.png"/><Relationship Id="rId4" Type="http://schemas.openxmlformats.org/officeDocument/2006/relationships/image" Target="../media/image46.png"/><Relationship Id="rId5" Type="http://schemas.openxmlformats.org/officeDocument/2006/relationships/image" Target="../media/image49.png"/><Relationship Id="rId6" Type="http://schemas.openxmlformats.org/officeDocument/2006/relationships/image" Target="../media/image45.jp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"/>
          <p:cNvSpPr txBox="1"/>
          <p:nvPr>
            <p:ph type="ctrTitle"/>
          </p:nvPr>
        </p:nvSpPr>
        <p:spPr>
          <a:xfrm>
            <a:off x="2503357" y="3267856"/>
            <a:ext cx="9104597" cy="72841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orbel"/>
              <a:buNone/>
            </a:pPr>
            <a:br>
              <a:rPr lang="en-US"/>
            </a:br>
            <a:br>
              <a:rPr lang="en-US"/>
            </a:br>
            <a:br>
              <a:rPr lang="en-US"/>
            </a:br>
            <a:br>
              <a:rPr lang="en-US"/>
            </a:br>
            <a:br>
              <a:rPr lang="en-US"/>
            </a:br>
            <a:r>
              <a:rPr lang="en-US"/>
              <a:t>Introduction to Transport Layer</a:t>
            </a:r>
            <a:endParaRPr/>
          </a:p>
        </p:txBody>
      </p:sp>
      <p:sp>
        <p:nvSpPr>
          <p:cNvPr id="148" name="Google Shape;148;p1"/>
          <p:cNvSpPr txBox="1"/>
          <p:nvPr>
            <p:ph idx="1" type="subTitle"/>
          </p:nvPr>
        </p:nvSpPr>
        <p:spPr>
          <a:xfrm>
            <a:off x="4515377" y="3996267"/>
            <a:ext cx="6987645" cy="13885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45"/>
              <a:buNone/>
            </a:pPr>
            <a:r>
              <a:rPr lang="en-US"/>
              <a:t>Lecture 4 | CSE421 – Computer Networks</a:t>
            </a:r>
            <a:endParaRPr/>
          </a:p>
          <a:p>
            <a:pPr indent="0" lvl="0" marL="0" rtl="0" algn="r">
              <a:lnSpc>
                <a:spcPct val="100000"/>
              </a:lnSpc>
              <a:spcBef>
                <a:spcPts val="1020"/>
              </a:spcBef>
              <a:spcAft>
                <a:spcPts val="0"/>
              </a:spcAft>
              <a:buSzPts val="3045"/>
              <a:buNone/>
            </a:pPr>
            <a:r>
              <a:rPr lang="en-US"/>
              <a:t>Department of Computer Science and Engineering</a:t>
            </a:r>
            <a:br>
              <a:rPr lang="en-US"/>
            </a:br>
            <a:r>
              <a:rPr lang="en-US"/>
              <a:t>School of Data &amp; Science</a:t>
            </a:r>
            <a:endParaRPr/>
          </a:p>
        </p:txBody>
      </p:sp>
      <p:pic>
        <p:nvPicPr>
          <p:cNvPr id="149" name="Google Shape;149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76333" y="217086"/>
            <a:ext cx="1639334" cy="15040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"/>
          <p:cNvSpPr txBox="1"/>
          <p:nvPr>
            <p:ph type="title"/>
          </p:nvPr>
        </p:nvSpPr>
        <p:spPr>
          <a:xfrm>
            <a:off x="1484311" y="341652"/>
            <a:ext cx="10018713" cy="10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 sz="4400"/>
              <a:t>Objectives</a:t>
            </a:r>
            <a:endParaRPr sz="4400"/>
          </a:p>
        </p:txBody>
      </p:sp>
      <p:pic>
        <p:nvPicPr>
          <p:cNvPr id="156" name="Google Shape;156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2"/>
          <p:cNvSpPr txBox="1"/>
          <p:nvPr>
            <p:ph idx="1" type="body"/>
          </p:nvPr>
        </p:nvSpPr>
        <p:spPr>
          <a:xfrm>
            <a:off x="1298524" y="1487657"/>
            <a:ext cx="9653332" cy="427344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2500" lnSpcReduction="10000"/>
          </a:bodyPr>
          <a:lstStyle/>
          <a:p>
            <a:pPr indent="-28575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45000"/>
              <a:buFont typeface="Noto Sans Symbols"/>
              <a:buNone/>
            </a:pPr>
            <a:r>
              <a:rPr lang="en-US" sz="5600">
                <a:solidFill>
                  <a:srgbClr val="CC0000"/>
                </a:solidFill>
              </a:rPr>
              <a:t>Our goals: </a:t>
            </a:r>
            <a:endParaRPr sz="1600"/>
          </a:p>
          <a:p>
            <a:pPr indent="-357711" lvl="0" marL="285750" rtl="0" algn="l">
              <a:lnSpc>
                <a:spcPct val="100000"/>
              </a:lnSpc>
              <a:spcBef>
                <a:spcPts val="1244"/>
              </a:spcBef>
              <a:spcAft>
                <a:spcPts val="0"/>
              </a:spcAft>
              <a:buSzPct val="145000"/>
              <a:buChar char="•"/>
            </a:pPr>
            <a:r>
              <a:rPr lang="en-US" sz="4200"/>
              <a:t>understand principles behind transport layer services</a:t>
            </a:r>
            <a:endParaRPr/>
          </a:p>
          <a:p>
            <a:pPr indent="-374745" lvl="0" marL="285750" rtl="0" algn="l">
              <a:lnSpc>
                <a:spcPct val="100000"/>
              </a:lnSpc>
              <a:spcBef>
                <a:spcPts val="1244"/>
              </a:spcBef>
              <a:spcAft>
                <a:spcPts val="0"/>
              </a:spcAft>
              <a:buSzPct val="145000"/>
              <a:buChar char="•"/>
            </a:pPr>
            <a:r>
              <a:rPr lang="en-US" sz="4400"/>
              <a:t>learn about two transport layer protocols:</a:t>
            </a:r>
            <a:endParaRPr/>
          </a:p>
          <a:p>
            <a:pPr indent="-685846" lvl="1" marL="1132269" rtl="0" algn="l">
              <a:lnSpc>
                <a:spcPct val="100000"/>
              </a:lnSpc>
              <a:spcBef>
                <a:spcPts val="644"/>
              </a:spcBef>
              <a:spcAft>
                <a:spcPts val="0"/>
              </a:spcAft>
              <a:buSzPct val="145000"/>
              <a:buFont typeface="Noto Sans Symbols"/>
              <a:buChar char="❖"/>
            </a:pPr>
            <a:r>
              <a:rPr lang="en-US" sz="4300"/>
              <a:t>UDP: </a:t>
            </a:r>
            <a:r>
              <a:rPr lang="en-US" sz="3500"/>
              <a:t>User Datagram Protocol</a:t>
            </a:r>
            <a:endParaRPr sz="3000"/>
          </a:p>
          <a:p>
            <a:pPr indent="-685846" lvl="1" marL="1132269" rtl="0" algn="l">
              <a:lnSpc>
                <a:spcPct val="100000"/>
              </a:lnSpc>
              <a:spcBef>
                <a:spcPts val="1244"/>
              </a:spcBef>
              <a:spcAft>
                <a:spcPts val="0"/>
              </a:spcAft>
              <a:buSzPct val="145000"/>
              <a:buFont typeface="Noto Sans Symbols"/>
              <a:buChar char="❖"/>
            </a:pPr>
            <a:r>
              <a:rPr lang="en-US" sz="4300"/>
              <a:t>TCP: </a:t>
            </a:r>
            <a:r>
              <a:rPr lang="en-US" sz="3500"/>
              <a:t>Transmission Control Protocol</a:t>
            </a:r>
            <a:endParaRPr sz="3000"/>
          </a:p>
          <a:p>
            <a:pPr indent="0" lvl="0" marL="285750" rtl="0" algn="l">
              <a:lnSpc>
                <a:spcPct val="100000"/>
              </a:lnSpc>
              <a:spcBef>
                <a:spcPts val="1244"/>
              </a:spcBef>
              <a:spcAft>
                <a:spcPts val="0"/>
              </a:spcAft>
              <a:buSzPct val="145000"/>
              <a:buNone/>
            </a:pPr>
            <a:r>
              <a:t/>
            </a:r>
            <a:endParaRPr sz="4200"/>
          </a:p>
          <a:p>
            <a:pPr indent="-149479" lvl="0" marL="285750" rtl="0" algn="l">
              <a:lnSpc>
                <a:spcPct val="100000"/>
              </a:lnSpc>
              <a:spcBef>
                <a:spcPts val="1244"/>
              </a:spcBef>
              <a:spcAft>
                <a:spcPts val="0"/>
              </a:spcAft>
              <a:buSzPct val="145000"/>
              <a:buNone/>
            </a:pPr>
            <a:r>
              <a:t/>
            </a:r>
            <a:endParaRPr sz="1600"/>
          </a:p>
        </p:txBody>
      </p:sp>
      <p:sp>
        <p:nvSpPr>
          <p:cNvPr id="158" name="Google Shape;158;p2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4"/>
          <p:cNvSpPr txBox="1"/>
          <p:nvPr>
            <p:ph type="title"/>
          </p:nvPr>
        </p:nvSpPr>
        <p:spPr>
          <a:xfrm>
            <a:off x="1086643" y="241299"/>
            <a:ext cx="10018713" cy="1204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Transport vs. Network layer</a:t>
            </a:r>
            <a:endParaRPr/>
          </a:p>
        </p:txBody>
      </p:sp>
      <p:sp>
        <p:nvSpPr>
          <p:cNvPr id="164" name="Google Shape;164;p4"/>
          <p:cNvSpPr txBox="1"/>
          <p:nvPr>
            <p:ph idx="1" type="body"/>
          </p:nvPr>
        </p:nvSpPr>
        <p:spPr>
          <a:xfrm>
            <a:off x="1086642" y="1470022"/>
            <a:ext cx="5009358" cy="36346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331470" lvl="0" marL="28575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5220"/>
              <a:buFont typeface="Noto Sans Symbols"/>
              <a:buChar char="▪"/>
            </a:pPr>
            <a:r>
              <a:rPr b="1" i="1" lang="en-US" sz="3600">
                <a:solidFill>
                  <a:srgbClr val="7D28CD"/>
                </a:solidFill>
              </a:rPr>
              <a:t>transport layer:</a:t>
            </a:r>
            <a:r>
              <a:rPr b="1" lang="en-US" sz="3600">
                <a:solidFill>
                  <a:srgbClr val="7D28CD"/>
                </a:solidFill>
              </a:rPr>
              <a:t> </a:t>
            </a:r>
            <a:r>
              <a:rPr lang="en-US" sz="3600"/>
              <a:t>logical communication between </a:t>
            </a:r>
            <a:r>
              <a:rPr b="1" lang="en-US" sz="3600">
                <a:solidFill>
                  <a:srgbClr val="FF0000"/>
                </a:solidFill>
              </a:rPr>
              <a:t>processes</a:t>
            </a:r>
            <a:r>
              <a:rPr b="1" lang="en-US" sz="2000">
                <a:solidFill>
                  <a:srgbClr val="FF0000"/>
                </a:solidFill>
              </a:rPr>
              <a:t> </a:t>
            </a:r>
            <a:endParaRPr b="1" sz="3600">
              <a:solidFill>
                <a:srgbClr val="FF0000"/>
              </a:solidFill>
            </a:endParaRPr>
          </a:p>
          <a:p>
            <a:pPr indent="0" lvl="0" marL="28575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5220"/>
              <a:buFont typeface="Noto Sans Symbols"/>
              <a:buNone/>
            </a:pPr>
            <a:r>
              <a:t/>
            </a:r>
            <a:endParaRPr b="1" i="1" sz="3600">
              <a:solidFill>
                <a:srgbClr val="7D28CD"/>
              </a:solidFill>
            </a:endParaRPr>
          </a:p>
          <a:p>
            <a:pPr indent="-331470" lvl="0" marL="28575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5220"/>
              <a:buFont typeface="Noto Sans Symbols"/>
              <a:buChar char="▪"/>
            </a:pPr>
            <a:r>
              <a:rPr b="1" i="1" lang="en-US" sz="3600">
                <a:solidFill>
                  <a:srgbClr val="7D28CD"/>
                </a:solidFill>
              </a:rPr>
              <a:t>network layer:</a:t>
            </a:r>
            <a:r>
              <a:rPr b="1" lang="en-US" sz="3600">
                <a:solidFill>
                  <a:srgbClr val="7D28CD"/>
                </a:solidFill>
              </a:rPr>
              <a:t> </a:t>
            </a:r>
            <a:r>
              <a:rPr lang="en-US" sz="3600"/>
              <a:t>logical communication between </a:t>
            </a:r>
            <a:r>
              <a:rPr b="1" lang="en-US" sz="3600">
                <a:solidFill>
                  <a:srgbClr val="FF0000"/>
                </a:solidFill>
              </a:rPr>
              <a:t>hosts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165" name="Google Shape;165;p4"/>
          <p:cNvSpPr txBox="1"/>
          <p:nvPr>
            <p:ph idx="2" type="body"/>
          </p:nvPr>
        </p:nvSpPr>
        <p:spPr>
          <a:xfrm>
            <a:off x="6324602" y="2149729"/>
            <a:ext cx="5232397" cy="446697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285750" lvl="0" marL="28575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3480"/>
              <a:buFont typeface="Noto Sans Symbols"/>
              <a:buNone/>
            </a:pPr>
            <a:r>
              <a:rPr i="1" lang="en-US" sz="2400"/>
              <a:t>12 kids in Ann’s house sending letters to 12 kids in Bill’s house:</a:t>
            </a:r>
            <a:endParaRPr sz="2400"/>
          </a:p>
          <a:p>
            <a:pPr indent="-285750" lvl="0" marL="285750" rtl="0" algn="l">
              <a:lnSpc>
                <a:spcPct val="70000"/>
              </a:lnSpc>
              <a:spcBef>
                <a:spcPts val="1080"/>
              </a:spcBef>
              <a:spcAft>
                <a:spcPts val="0"/>
              </a:spcAft>
              <a:buSzPts val="3480"/>
              <a:buChar char="•"/>
            </a:pPr>
            <a:r>
              <a:rPr lang="en-US" sz="2400"/>
              <a:t>processes = kids</a:t>
            </a:r>
            <a:endParaRPr/>
          </a:p>
          <a:p>
            <a:pPr indent="-285750" lvl="0" marL="285750" rtl="0" algn="l">
              <a:lnSpc>
                <a:spcPct val="70000"/>
              </a:lnSpc>
              <a:spcBef>
                <a:spcPts val="1080"/>
              </a:spcBef>
              <a:spcAft>
                <a:spcPts val="0"/>
              </a:spcAft>
              <a:buSzPts val="3480"/>
              <a:buChar char="•"/>
            </a:pPr>
            <a:r>
              <a:rPr lang="en-US" sz="2400"/>
              <a:t>app messages = letters in envelopes</a:t>
            </a:r>
            <a:endParaRPr/>
          </a:p>
          <a:p>
            <a:pPr indent="-285750" lvl="0" marL="285750" rtl="0" algn="l">
              <a:lnSpc>
                <a:spcPct val="70000"/>
              </a:lnSpc>
              <a:spcBef>
                <a:spcPts val="1080"/>
              </a:spcBef>
              <a:spcAft>
                <a:spcPts val="0"/>
              </a:spcAft>
              <a:buSzPts val="3480"/>
              <a:buChar char="•"/>
            </a:pPr>
            <a:r>
              <a:rPr lang="en-US" sz="2400"/>
              <a:t>hosts = houses</a:t>
            </a:r>
            <a:endParaRPr/>
          </a:p>
          <a:p>
            <a:pPr indent="-285750" lvl="0" marL="285750" rtl="0" algn="l">
              <a:lnSpc>
                <a:spcPct val="70000"/>
              </a:lnSpc>
              <a:spcBef>
                <a:spcPts val="1080"/>
              </a:spcBef>
              <a:spcAft>
                <a:spcPts val="0"/>
              </a:spcAft>
              <a:buSzPts val="3480"/>
              <a:buChar char="•"/>
            </a:pPr>
            <a:r>
              <a:rPr lang="en-US" sz="2400"/>
              <a:t>transport protocol = Ann and Bill </a:t>
            </a:r>
            <a:endParaRPr sz="2400"/>
          </a:p>
          <a:p>
            <a:pPr indent="-285750" lvl="0" marL="285750" rtl="0" algn="l">
              <a:lnSpc>
                <a:spcPct val="70000"/>
              </a:lnSpc>
              <a:spcBef>
                <a:spcPts val="1080"/>
              </a:spcBef>
              <a:spcAft>
                <a:spcPts val="0"/>
              </a:spcAft>
              <a:buSzPts val="3480"/>
              <a:buChar char="•"/>
            </a:pPr>
            <a:r>
              <a:rPr lang="en-US" sz="2400"/>
              <a:t>network-layer protocol = postal service</a:t>
            </a:r>
            <a:endParaRPr/>
          </a:p>
          <a:p>
            <a:pPr indent="-285750" lvl="0" marL="285750" rtl="0" algn="l">
              <a:lnSpc>
                <a:spcPct val="70000"/>
              </a:lnSpc>
              <a:spcBef>
                <a:spcPts val="1080"/>
              </a:spcBef>
              <a:spcAft>
                <a:spcPts val="0"/>
              </a:spcAft>
              <a:buSzPts val="3480"/>
              <a:buFont typeface="Noto Sans Symbols"/>
              <a:buNone/>
            </a:pPr>
            <a:r>
              <a:t/>
            </a:r>
            <a:endParaRPr sz="2400"/>
          </a:p>
        </p:txBody>
      </p:sp>
      <p:sp>
        <p:nvSpPr>
          <p:cNvPr id="166" name="Google Shape;166;p4"/>
          <p:cNvSpPr/>
          <p:nvPr/>
        </p:nvSpPr>
        <p:spPr>
          <a:xfrm>
            <a:off x="6290458" y="1932497"/>
            <a:ext cx="5266541" cy="4684203"/>
          </a:xfrm>
          <a:prstGeom prst="rect">
            <a:avLst/>
          </a:prstGeom>
          <a:noFill/>
          <a:ln cap="flat" cmpd="sng" w="19050">
            <a:solidFill>
              <a:srgbClr val="CC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67" name="Google Shape;167;p4"/>
          <p:cNvSpPr txBox="1"/>
          <p:nvPr/>
        </p:nvSpPr>
        <p:spPr>
          <a:xfrm>
            <a:off x="6324602" y="1446211"/>
            <a:ext cx="4780754" cy="486287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080"/>
              <a:buFont typeface="Noto Sans Symbols"/>
              <a:buNone/>
            </a:pPr>
            <a:r>
              <a:rPr b="1" i="1" lang="en-US" sz="3200" u="none" cap="none" strike="noStrike">
                <a:solidFill>
                  <a:srgbClr val="7D28CD"/>
                </a:solidFill>
                <a:latin typeface="Gill Sans"/>
                <a:ea typeface="Gill Sans"/>
                <a:cs typeface="Gill Sans"/>
                <a:sym typeface="Gill Sans"/>
              </a:rPr>
              <a:t>household analogy: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4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9" name="Google Shape;169;p4"/>
          <p:cNvSpPr txBox="1"/>
          <p:nvPr/>
        </p:nvSpPr>
        <p:spPr>
          <a:xfrm>
            <a:off x="1086642" y="4890862"/>
            <a:ext cx="5237960" cy="1174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lnSpcReduction="10000"/>
          </a:bodyPr>
          <a:lstStyle/>
          <a:p>
            <a:pPr indent="0" lvl="0" marL="28575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1186C3"/>
              </a:buClr>
              <a:buSzPts val="5220"/>
              <a:buFont typeface="Noto Sans Symbols"/>
              <a:buNone/>
            </a:pPr>
            <a:r>
              <a:t/>
            </a:r>
            <a:endParaRPr b="1" i="1" sz="3600" u="none" cap="none" strike="noStrike">
              <a:solidFill>
                <a:srgbClr val="7D28CD"/>
              </a:solidFill>
              <a:latin typeface="Corbel"/>
              <a:ea typeface="Corbel"/>
              <a:cs typeface="Corbel"/>
              <a:sym typeface="Corbel"/>
            </a:endParaRPr>
          </a:p>
          <a:p>
            <a:pPr indent="-331470" lvl="0" marL="28575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1186C3"/>
              </a:buClr>
              <a:buSzPts val="5220"/>
              <a:buFont typeface="Noto Sans Symbols"/>
              <a:buChar char="▪"/>
            </a:pPr>
            <a:r>
              <a:rPr b="1" i="1" lang="en-US" sz="3600" u="none" cap="none" strike="noStrike">
                <a:solidFill>
                  <a:srgbClr val="7D28CD"/>
                </a:solidFill>
                <a:latin typeface="Corbel"/>
                <a:ea typeface="Corbel"/>
                <a:cs typeface="Corbel"/>
                <a:sym typeface="Corbel"/>
              </a:rPr>
              <a:t>Segments:</a:t>
            </a:r>
            <a:r>
              <a:rPr b="1" i="0" lang="en-US" sz="3600" u="none" cap="none" strike="noStrike">
                <a:solidFill>
                  <a:srgbClr val="7D28CD"/>
                </a:solidFill>
                <a:latin typeface="Corbel"/>
                <a:ea typeface="Corbel"/>
                <a:cs typeface="Corbel"/>
                <a:sym typeface="Corbel"/>
              </a:rPr>
              <a:t> </a:t>
            </a:r>
            <a:r>
              <a:rPr b="0" i="0" lang="en-US" sz="36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Transport Layer PDU</a:t>
            </a:r>
            <a:endParaRPr b="0" i="0" sz="1800" u="none" cap="none" strike="noStrik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6"/>
          <p:cNvSpPr txBox="1"/>
          <p:nvPr>
            <p:ph idx="4294967295" type="title"/>
          </p:nvPr>
        </p:nvSpPr>
        <p:spPr>
          <a:xfrm>
            <a:off x="1433511" y="304800"/>
            <a:ext cx="10018713" cy="8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Functions of the Transport Layer</a:t>
            </a:r>
            <a:endParaRPr/>
          </a:p>
        </p:txBody>
      </p:sp>
      <p:sp>
        <p:nvSpPr>
          <p:cNvPr id="175" name="Google Shape;175;p6"/>
          <p:cNvSpPr txBox="1"/>
          <p:nvPr>
            <p:ph idx="4294967295" type="body"/>
          </p:nvPr>
        </p:nvSpPr>
        <p:spPr>
          <a:xfrm>
            <a:off x="1676400" y="914400"/>
            <a:ext cx="8839200" cy="594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294640" lvl="0" marL="2857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640"/>
              <a:buChar char="•"/>
            </a:pPr>
            <a:r>
              <a:rPr lang="en-US" sz="3200">
                <a:solidFill>
                  <a:srgbClr val="6600CC"/>
                </a:solidFill>
              </a:rPr>
              <a:t>Primary responsibilities:</a:t>
            </a:r>
            <a:endParaRPr/>
          </a:p>
          <a:p>
            <a:pPr indent="-514350" lvl="1" marL="1081088" rtl="0" algn="l">
              <a:lnSpc>
                <a:spcPct val="90000"/>
              </a:lnSpc>
              <a:spcBef>
                <a:spcPts val="1160"/>
              </a:spcBef>
              <a:spcAft>
                <a:spcPts val="0"/>
              </a:spcAft>
              <a:buSzPts val="4060"/>
              <a:buFont typeface="Arial"/>
              <a:buAutoNum type="arabicPeriod"/>
            </a:pPr>
            <a:r>
              <a:rPr lang="en-US" sz="2800">
                <a:solidFill>
                  <a:srgbClr val="990099"/>
                </a:solidFill>
              </a:rPr>
              <a:t>Segmenting </a:t>
            </a:r>
            <a:r>
              <a:rPr lang="en-US" sz="2800"/>
              <a:t>the data and </a:t>
            </a:r>
            <a:r>
              <a:rPr lang="en-US" sz="2800">
                <a:solidFill>
                  <a:srgbClr val="990099"/>
                </a:solidFill>
              </a:rPr>
              <a:t>managing</a:t>
            </a:r>
            <a:r>
              <a:rPr lang="en-US" sz="2800"/>
              <a:t> each piece.</a:t>
            </a:r>
            <a:endParaRPr/>
          </a:p>
          <a:p>
            <a:pPr indent="-514350" lvl="1" marL="1081088" rtl="0" algn="l">
              <a:lnSpc>
                <a:spcPct val="90000"/>
              </a:lnSpc>
              <a:spcBef>
                <a:spcPts val="1160"/>
              </a:spcBef>
              <a:spcAft>
                <a:spcPts val="0"/>
              </a:spcAft>
              <a:buSzPts val="4060"/>
              <a:buFont typeface="Arial"/>
              <a:buAutoNum type="arabicPeriod"/>
            </a:pPr>
            <a:r>
              <a:rPr lang="en-US" sz="2800">
                <a:solidFill>
                  <a:srgbClr val="990099"/>
                </a:solidFill>
              </a:rPr>
              <a:t>Reassembling</a:t>
            </a:r>
            <a:r>
              <a:rPr lang="en-US" sz="2800"/>
              <a:t> the segments into streams of application data.</a:t>
            </a:r>
            <a:endParaRPr/>
          </a:p>
          <a:p>
            <a:pPr indent="-514350" lvl="1" marL="1081088" rtl="0" algn="l">
              <a:lnSpc>
                <a:spcPct val="90000"/>
              </a:lnSpc>
              <a:spcBef>
                <a:spcPts val="1160"/>
              </a:spcBef>
              <a:spcAft>
                <a:spcPts val="0"/>
              </a:spcAft>
              <a:buSzPts val="4060"/>
              <a:buFont typeface="Arial"/>
              <a:buAutoNum type="arabicPeriod"/>
            </a:pPr>
            <a:r>
              <a:rPr lang="en-US" sz="2800">
                <a:solidFill>
                  <a:srgbClr val="990099"/>
                </a:solidFill>
              </a:rPr>
              <a:t>Identifying </a:t>
            </a:r>
            <a:r>
              <a:rPr lang="en-US" sz="2800"/>
              <a:t>the different </a:t>
            </a:r>
            <a:r>
              <a:rPr lang="en-US" sz="2800">
                <a:solidFill>
                  <a:srgbClr val="990099"/>
                </a:solidFill>
              </a:rPr>
              <a:t>applications</a:t>
            </a:r>
            <a:r>
              <a:rPr lang="en-US" sz="2800"/>
              <a:t>.</a:t>
            </a:r>
            <a:endParaRPr/>
          </a:p>
          <a:p>
            <a:pPr indent="-514350" lvl="1" marL="1081088" rtl="0" algn="l">
              <a:lnSpc>
                <a:spcPct val="90000"/>
              </a:lnSpc>
              <a:spcBef>
                <a:spcPts val="1160"/>
              </a:spcBef>
              <a:spcAft>
                <a:spcPts val="0"/>
              </a:spcAft>
              <a:buSzPts val="4060"/>
              <a:buFont typeface="Arial"/>
              <a:buAutoNum type="arabicPeriod"/>
            </a:pPr>
            <a:r>
              <a:rPr lang="en-US" sz="2800"/>
              <a:t>Multiplexing</a:t>
            </a:r>
            <a:endParaRPr/>
          </a:p>
          <a:p>
            <a:pPr indent="-514350" lvl="1" marL="1081088" rtl="0" algn="l">
              <a:lnSpc>
                <a:spcPct val="90000"/>
              </a:lnSpc>
              <a:spcBef>
                <a:spcPts val="1160"/>
              </a:spcBef>
              <a:spcAft>
                <a:spcPts val="0"/>
              </a:spcAft>
              <a:buSzPts val="4060"/>
              <a:buFont typeface="Arial"/>
              <a:buAutoNum type="arabicPeriod"/>
            </a:pPr>
            <a:r>
              <a:rPr lang="en-US" sz="2800">
                <a:solidFill>
                  <a:srgbClr val="990099"/>
                </a:solidFill>
              </a:rPr>
              <a:t>Initiating and terminating </a:t>
            </a:r>
            <a:r>
              <a:rPr lang="en-US" sz="2800"/>
              <a:t>a session.</a:t>
            </a:r>
            <a:endParaRPr/>
          </a:p>
          <a:p>
            <a:pPr indent="-514350" lvl="1" marL="1081088" rtl="0" algn="l">
              <a:lnSpc>
                <a:spcPct val="90000"/>
              </a:lnSpc>
              <a:spcBef>
                <a:spcPts val="1160"/>
              </a:spcBef>
              <a:spcAft>
                <a:spcPts val="0"/>
              </a:spcAft>
              <a:buSzPts val="4060"/>
              <a:buFont typeface="Arial"/>
              <a:buAutoNum type="arabicPeriod"/>
            </a:pPr>
            <a:r>
              <a:rPr lang="en-US" sz="2800"/>
              <a:t>Performing </a:t>
            </a:r>
            <a:r>
              <a:rPr lang="en-US" sz="2800">
                <a:solidFill>
                  <a:srgbClr val="990099"/>
                </a:solidFill>
              </a:rPr>
              <a:t>flow control</a:t>
            </a:r>
            <a:r>
              <a:rPr lang="en-US" sz="2800">
                <a:solidFill>
                  <a:srgbClr val="FFFF00"/>
                </a:solidFill>
              </a:rPr>
              <a:t> </a:t>
            </a:r>
            <a:r>
              <a:rPr lang="en-US" sz="2800"/>
              <a:t>between end users.</a:t>
            </a:r>
            <a:endParaRPr/>
          </a:p>
          <a:p>
            <a:pPr indent="-514350" lvl="1" marL="1081088" rtl="0" algn="l">
              <a:lnSpc>
                <a:spcPct val="90000"/>
              </a:lnSpc>
              <a:spcBef>
                <a:spcPts val="1160"/>
              </a:spcBef>
              <a:spcAft>
                <a:spcPts val="0"/>
              </a:spcAft>
              <a:buSzPts val="4060"/>
              <a:buFont typeface="Arial"/>
              <a:buAutoNum type="arabicPeriod"/>
            </a:pPr>
            <a:r>
              <a:rPr lang="en-US" sz="2800"/>
              <a:t>Enabling </a:t>
            </a:r>
            <a:r>
              <a:rPr lang="en-US" sz="2800">
                <a:solidFill>
                  <a:srgbClr val="990099"/>
                </a:solidFill>
              </a:rPr>
              <a:t>error recovery</a:t>
            </a:r>
            <a:r>
              <a:rPr lang="en-US" sz="2800"/>
              <a:t>.</a:t>
            </a:r>
            <a:endParaRPr/>
          </a:p>
          <a:p>
            <a:pPr indent="-31113" lvl="1" marL="855663" rtl="0" algn="l">
              <a:lnSpc>
                <a:spcPct val="90000"/>
              </a:lnSpc>
              <a:spcBef>
                <a:spcPts val="1160"/>
              </a:spcBef>
              <a:spcAft>
                <a:spcPts val="0"/>
              </a:spcAft>
              <a:buSzPts val="4060"/>
              <a:buNone/>
            </a:pPr>
            <a:r>
              <a:t/>
            </a:r>
            <a:endParaRPr sz="2800"/>
          </a:p>
        </p:txBody>
      </p:sp>
      <p:sp>
        <p:nvSpPr>
          <p:cNvPr id="176" name="Google Shape;176;p6"/>
          <p:cNvSpPr/>
          <p:nvPr/>
        </p:nvSpPr>
        <p:spPr>
          <a:xfrm>
            <a:off x="1433511" y="4332302"/>
            <a:ext cx="8116889" cy="2218515"/>
          </a:xfrm>
          <a:prstGeom prst="ellipse">
            <a:avLst/>
          </a:prstGeom>
          <a:noFill/>
          <a:ln cap="flat" cmpd="sng" w="3810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77" name="Google Shape;177;p6"/>
          <p:cNvSpPr txBox="1"/>
          <p:nvPr/>
        </p:nvSpPr>
        <p:spPr>
          <a:xfrm>
            <a:off x="3835400" y="4498181"/>
            <a:ext cx="3505200" cy="833437"/>
          </a:xfrm>
          <a:prstGeom prst="rect">
            <a:avLst/>
          </a:prstGeom>
          <a:solidFill>
            <a:srgbClr val="800080"/>
          </a:solidFill>
          <a:ln cap="flat" cmpd="sng" w="9525">
            <a:solidFill>
              <a:srgbClr val="CC66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0" i="0" lang="en-US" sz="4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Reliability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6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8"/>
          <p:cNvSpPr txBox="1"/>
          <p:nvPr>
            <p:ph type="title"/>
          </p:nvPr>
        </p:nvSpPr>
        <p:spPr>
          <a:xfrm>
            <a:off x="1905000" y="70113"/>
            <a:ext cx="5029200" cy="8080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Different Applications</a:t>
            </a:r>
            <a:endParaRPr/>
          </a:p>
        </p:txBody>
      </p:sp>
      <p:sp>
        <p:nvSpPr>
          <p:cNvPr id="184" name="Google Shape;184;p8"/>
          <p:cNvSpPr txBox="1"/>
          <p:nvPr>
            <p:ph idx="1" type="body"/>
          </p:nvPr>
        </p:nvSpPr>
        <p:spPr>
          <a:xfrm>
            <a:off x="1040092" y="4090405"/>
            <a:ext cx="5118952" cy="266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28575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Some applications need their data to be complete with no errors or gaps.</a:t>
            </a:r>
            <a:endParaRPr/>
          </a:p>
          <a:p>
            <a:pPr indent="-28575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But can accept a slight delay to ensure this.</a:t>
            </a:r>
            <a:endParaRPr/>
          </a:p>
        </p:txBody>
      </p:sp>
      <p:sp>
        <p:nvSpPr>
          <p:cNvPr id="185" name="Google Shape;185;p8"/>
          <p:cNvSpPr/>
          <p:nvPr/>
        </p:nvSpPr>
        <p:spPr>
          <a:xfrm>
            <a:off x="6539183" y="4689571"/>
            <a:ext cx="5237180" cy="163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86C3"/>
              </a:buClr>
              <a:buSzPts val="3168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Some applications can accept occasional errors or gaps in the data.</a:t>
            </a:r>
            <a:endParaRPr/>
          </a:p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86C3"/>
              </a:buClr>
              <a:buSzPts val="3168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But they cannot accept any delay.</a:t>
            </a:r>
            <a:br>
              <a:rPr b="0" i="0" lang="en-US" sz="2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</a:br>
            <a:endParaRPr b="0" i="0" sz="2800" u="none" cap="none" strike="noStrik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86" name="Google Shape;186;p8"/>
          <p:cNvSpPr/>
          <p:nvPr/>
        </p:nvSpPr>
        <p:spPr>
          <a:xfrm>
            <a:off x="5596670" y="543089"/>
            <a:ext cx="6090138" cy="8080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rgbClr val="0033CC"/>
                </a:solidFill>
                <a:latin typeface="Corbel"/>
                <a:ea typeface="Corbel"/>
                <a:cs typeface="Corbel"/>
                <a:sym typeface="Corbel"/>
              </a:rPr>
              <a:t>Different Requirements</a:t>
            </a:r>
            <a:endParaRPr b="0" i="0" sz="1400" u="none" cap="none" strike="noStrike">
              <a:solidFill>
                <a:srgbClr val="000000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87" name="Google Shape;187;p8"/>
          <p:cNvSpPr txBox="1"/>
          <p:nvPr>
            <p:ph idx="12" type="sldNum"/>
          </p:nvPr>
        </p:nvSpPr>
        <p:spPr>
          <a:xfrm>
            <a:off x="10951856" y="5867131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descr="سیستم VOIP و نکاتی که قبل از راه‌اندازی آن باید بدانید - سانترال پاناسونیک  و تلفن سانترال" id="188" name="Google Shape;188;p8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89" name="Google Shape;189;p8"/>
          <p:cNvGrpSpPr/>
          <p:nvPr/>
        </p:nvGrpSpPr>
        <p:grpSpPr>
          <a:xfrm>
            <a:off x="6625368" y="1497042"/>
            <a:ext cx="3538540" cy="2817352"/>
            <a:chOff x="6625368" y="1497042"/>
            <a:chExt cx="3538540" cy="2817352"/>
          </a:xfrm>
        </p:grpSpPr>
        <p:pic>
          <p:nvPicPr>
            <p:cNvPr descr="IPTV: What is it and how does it work? - Less Wires" id="190" name="Google Shape;190;p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6625368" y="1515388"/>
              <a:ext cx="2016371" cy="115926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1" name="Google Shape;191;p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756039" y="1497042"/>
              <a:ext cx="1407869" cy="122715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2" name="Google Shape;192;p8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7225811" y="2772403"/>
              <a:ext cx="2185472" cy="122835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3" name="Google Shape;193;p8"/>
            <p:cNvSpPr/>
            <p:nvPr/>
          </p:nvSpPr>
          <p:spPr>
            <a:xfrm>
              <a:off x="7407883" y="3914964"/>
              <a:ext cx="2342786" cy="3994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000"/>
                <a:buFont typeface="Arial"/>
                <a:buNone/>
              </a:pPr>
              <a:r>
                <a:rPr b="1" i="0" lang="en-US" sz="2000" u="none" cap="none" strike="noStrike">
                  <a:solidFill>
                    <a:srgbClr val="0033CC"/>
                  </a:solidFill>
                  <a:latin typeface="Corbel"/>
                  <a:ea typeface="Corbel"/>
                  <a:cs typeface="Corbel"/>
                  <a:sym typeface="Corbel"/>
                </a:rPr>
                <a:t>Online Games </a:t>
              </a:r>
              <a:endParaRPr b="1" i="0" sz="9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</p:grpSp>
      <p:sp>
        <p:nvSpPr>
          <p:cNvPr descr="How to Switch Email Services Easily &amp; Keep All Your Mails, Contacts -  SiliconANGLE" id="194" name="Google Shape;194;p8"/>
          <p:cNvSpPr/>
          <p:nvPr/>
        </p:nvSpPr>
        <p:spPr>
          <a:xfrm>
            <a:off x="307975" y="7937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95" name="Google Shape;195;p8"/>
          <p:cNvGrpSpPr/>
          <p:nvPr/>
        </p:nvGrpSpPr>
        <p:grpSpPr>
          <a:xfrm>
            <a:off x="1290855" y="1153821"/>
            <a:ext cx="3597301" cy="2761143"/>
            <a:chOff x="1290855" y="1153821"/>
            <a:chExt cx="3597301" cy="2761143"/>
          </a:xfrm>
        </p:grpSpPr>
        <p:pic>
          <p:nvPicPr>
            <p:cNvPr descr="Password Manager Comparison: Top Password Managers for 2021" id="196" name="Google Shape;196;p8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290855" y="1433491"/>
              <a:ext cx="2308713" cy="140775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kamai discovers Active Directory DNS spoofing exploit - SiliconANGLE" id="197" name="Google Shape;197;p8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3206110" y="2363054"/>
              <a:ext cx="1682046" cy="13493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Email Tips and Tricks for Your Favorite Service​" id="198" name="Google Shape;198;p8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1341178" y="2872359"/>
              <a:ext cx="1814610" cy="10426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9" name="Google Shape;199;p8"/>
            <p:cNvSpPr/>
            <p:nvPr/>
          </p:nvSpPr>
          <p:spPr>
            <a:xfrm>
              <a:off x="1341178" y="2877406"/>
              <a:ext cx="2342786" cy="3994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000"/>
                <a:buFont typeface="Arial"/>
                <a:buNone/>
              </a:pPr>
              <a:r>
                <a:rPr b="1" i="0" lang="en-US" sz="2000" u="none" cap="none" strike="noStrike">
                  <a:solidFill>
                    <a:srgbClr val="313435"/>
                  </a:solidFill>
                  <a:latin typeface="Corbel"/>
                  <a:ea typeface="Corbel"/>
                  <a:cs typeface="Corbel"/>
                  <a:sym typeface="Corbel"/>
                </a:rPr>
                <a:t>Emails</a:t>
              </a:r>
              <a:endParaRPr b="1" i="0" sz="900" u="none" cap="none" strike="noStrike">
                <a:solidFill>
                  <a:srgbClr val="313435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00" name="Google Shape;200;p8"/>
            <p:cNvSpPr/>
            <p:nvPr/>
          </p:nvSpPr>
          <p:spPr>
            <a:xfrm>
              <a:off x="1341178" y="1153821"/>
              <a:ext cx="2342786" cy="3994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000"/>
                <a:buFont typeface="Arial"/>
                <a:buNone/>
              </a:pPr>
              <a:r>
                <a:rPr b="1" i="0" lang="en-US" sz="2000" u="none" cap="none" strike="noStrike">
                  <a:solidFill>
                    <a:srgbClr val="313435"/>
                  </a:solidFill>
                  <a:latin typeface="Corbel"/>
                  <a:ea typeface="Corbel"/>
                  <a:cs typeface="Corbel"/>
                  <a:sym typeface="Corbel"/>
                </a:rPr>
                <a:t>Web Applications</a:t>
              </a:r>
              <a:endParaRPr b="1" i="0" sz="900" u="none" cap="none" strike="noStrike">
                <a:solidFill>
                  <a:srgbClr val="313435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9"/>
          <p:cNvSpPr txBox="1"/>
          <p:nvPr>
            <p:ph type="title"/>
          </p:nvPr>
        </p:nvSpPr>
        <p:spPr>
          <a:xfrm>
            <a:off x="1383506" y="222179"/>
            <a:ext cx="10018713" cy="9858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Solution : Two transport protocols?</a:t>
            </a:r>
            <a:endParaRPr/>
          </a:p>
        </p:txBody>
      </p:sp>
      <p:sp>
        <p:nvSpPr>
          <p:cNvPr id="206" name="Google Shape;206;p9"/>
          <p:cNvSpPr txBox="1"/>
          <p:nvPr>
            <p:ph idx="12" type="sldNum"/>
          </p:nvPr>
        </p:nvSpPr>
        <p:spPr>
          <a:xfrm>
            <a:off x="10951856" y="5867131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207" name="Google Shape;207;p9"/>
          <p:cNvGrpSpPr/>
          <p:nvPr/>
        </p:nvGrpSpPr>
        <p:grpSpPr>
          <a:xfrm>
            <a:off x="4812216" y="848531"/>
            <a:ext cx="3597301" cy="3210477"/>
            <a:chOff x="1290855" y="1072801"/>
            <a:chExt cx="3597301" cy="3210477"/>
          </a:xfrm>
        </p:grpSpPr>
        <p:pic>
          <p:nvPicPr>
            <p:cNvPr descr="Password Manager Comparison: Top Password Managers for 2021" id="208" name="Google Shape;208;p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90855" y="1433491"/>
              <a:ext cx="2308713" cy="140775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kamai discovers Active Directory DNS spoofing exploit - SiliconANGLE" id="209" name="Google Shape;209;p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206110" y="2363054"/>
              <a:ext cx="1682046" cy="13493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Email Tips and Tricks for Your Favorite Service​" id="210" name="Google Shape;210;p9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341178" y="2872359"/>
              <a:ext cx="1814610" cy="10426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11" name="Google Shape;211;p9"/>
            <p:cNvSpPr/>
            <p:nvPr/>
          </p:nvSpPr>
          <p:spPr>
            <a:xfrm>
              <a:off x="1341178" y="3883848"/>
              <a:ext cx="2342786" cy="3994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000"/>
                <a:buFont typeface="Arial"/>
                <a:buNone/>
              </a:pPr>
              <a:r>
                <a:rPr b="1" i="0" lang="en-US" sz="2000" u="none" cap="none" strike="noStrike">
                  <a:solidFill>
                    <a:srgbClr val="0033CC"/>
                  </a:solidFill>
                  <a:latin typeface="Corbel"/>
                  <a:ea typeface="Corbel"/>
                  <a:cs typeface="Corbel"/>
                  <a:sym typeface="Corbel"/>
                </a:rPr>
                <a:t>Emails</a:t>
              </a:r>
              <a:endParaRPr b="1" i="0" sz="9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12" name="Google Shape;212;p9"/>
            <p:cNvSpPr/>
            <p:nvPr/>
          </p:nvSpPr>
          <p:spPr>
            <a:xfrm>
              <a:off x="1429114" y="1072801"/>
              <a:ext cx="2342786" cy="3994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000"/>
                <a:buFont typeface="Arial"/>
                <a:buNone/>
              </a:pPr>
              <a:r>
                <a:rPr b="1" i="0" lang="en-US" sz="2000" u="none" cap="none" strike="noStrike">
                  <a:solidFill>
                    <a:srgbClr val="0033CC"/>
                  </a:solidFill>
                  <a:latin typeface="Corbel"/>
                  <a:ea typeface="Corbel"/>
                  <a:cs typeface="Corbel"/>
                  <a:sym typeface="Corbel"/>
                </a:rPr>
                <a:t>Web Applications</a:t>
              </a:r>
              <a:endParaRPr b="1" i="0" sz="9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</p:grpSp>
      <p:grpSp>
        <p:nvGrpSpPr>
          <p:cNvPr id="213" name="Google Shape;213;p9"/>
          <p:cNvGrpSpPr/>
          <p:nvPr/>
        </p:nvGrpSpPr>
        <p:grpSpPr>
          <a:xfrm>
            <a:off x="2763354" y="1086464"/>
            <a:ext cx="4045815" cy="2495985"/>
            <a:chOff x="2627" y="1011"/>
            <a:chExt cx="2549" cy="1572"/>
          </a:xfrm>
        </p:grpSpPr>
        <p:sp>
          <p:nvSpPr>
            <p:cNvPr id="214" name="Google Shape;214;p9"/>
            <p:cNvSpPr/>
            <p:nvPr/>
          </p:nvSpPr>
          <p:spPr>
            <a:xfrm rot="448716">
              <a:off x="2699" y="1162"/>
              <a:ext cx="2404" cy="1270"/>
            </a:xfrm>
            <a:prstGeom prst="irregularSeal2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15" name="Google Shape;215;p9"/>
            <p:cNvSpPr txBox="1"/>
            <p:nvPr/>
          </p:nvSpPr>
          <p:spPr>
            <a:xfrm>
              <a:off x="3288" y="1616"/>
              <a:ext cx="1134" cy="3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b="1" i="0" lang="en-US" sz="3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Reliable</a:t>
              </a:r>
              <a:endParaRPr b="1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16" name="Google Shape;216;p9"/>
          <p:cNvGrpSpPr/>
          <p:nvPr/>
        </p:nvGrpSpPr>
        <p:grpSpPr>
          <a:xfrm>
            <a:off x="5904653" y="986568"/>
            <a:ext cx="4045815" cy="2495985"/>
            <a:chOff x="2627" y="1011"/>
            <a:chExt cx="2549" cy="1572"/>
          </a:xfrm>
        </p:grpSpPr>
        <p:sp>
          <p:nvSpPr>
            <p:cNvPr id="217" name="Google Shape;217;p9"/>
            <p:cNvSpPr/>
            <p:nvPr/>
          </p:nvSpPr>
          <p:spPr>
            <a:xfrm rot="448716">
              <a:off x="2699" y="1162"/>
              <a:ext cx="2404" cy="1270"/>
            </a:xfrm>
            <a:prstGeom prst="irregularSeal2">
              <a:avLst/>
            </a:prstGeom>
            <a:solidFill>
              <a:srgbClr val="CCECFF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18" name="Google Shape;218;p9"/>
            <p:cNvSpPr txBox="1"/>
            <p:nvPr/>
          </p:nvSpPr>
          <p:spPr>
            <a:xfrm>
              <a:off x="3288" y="1616"/>
              <a:ext cx="1134" cy="3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b="1" i="0" lang="en-US" sz="3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TCP</a:t>
              </a:r>
              <a:endParaRPr b="1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19" name="Google Shape;219;p9"/>
          <p:cNvGrpSpPr/>
          <p:nvPr/>
        </p:nvGrpSpPr>
        <p:grpSpPr>
          <a:xfrm>
            <a:off x="4907879" y="4037060"/>
            <a:ext cx="3100048" cy="2520758"/>
            <a:chOff x="6625368" y="1497042"/>
            <a:chExt cx="3538540" cy="2817352"/>
          </a:xfrm>
        </p:grpSpPr>
        <p:pic>
          <p:nvPicPr>
            <p:cNvPr descr="IPTV: What is it and how does it work? - Less Wires" id="220" name="Google Shape;220;p9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6625368" y="1515388"/>
              <a:ext cx="2016371" cy="115926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1" name="Google Shape;221;p9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8756039" y="1497042"/>
              <a:ext cx="1407869" cy="122715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2" name="Google Shape;222;p9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7225811" y="2772403"/>
              <a:ext cx="2185472" cy="122835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23" name="Google Shape;223;p9"/>
            <p:cNvSpPr/>
            <p:nvPr/>
          </p:nvSpPr>
          <p:spPr>
            <a:xfrm>
              <a:off x="7407883" y="3914964"/>
              <a:ext cx="2342786" cy="3994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000"/>
                <a:buFont typeface="Arial"/>
                <a:buNone/>
              </a:pPr>
              <a:r>
                <a:rPr b="1" i="0" lang="en-US" sz="2000" u="none" cap="none" strike="noStrike">
                  <a:solidFill>
                    <a:srgbClr val="0033CC"/>
                  </a:solidFill>
                  <a:latin typeface="Corbel"/>
                  <a:ea typeface="Corbel"/>
                  <a:cs typeface="Corbel"/>
                  <a:sym typeface="Corbel"/>
                </a:rPr>
                <a:t>Online Games </a:t>
              </a:r>
              <a:endParaRPr b="1" i="0" sz="9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</p:grpSp>
      <p:grpSp>
        <p:nvGrpSpPr>
          <p:cNvPr id="224" name="Google Shape;224;p9"/>
          <p:cNvGrpSpPr/>
          <p:nvPr/>
        </p:nvGrpSpPr>
        <p:grpSpPr>
          <a:xfrm>
            <a:off x="2483573" y="3930166"/>
            <a:ext cx="4045815" cy="2495985"/>
            <a:chOff x="2627" y="2327"/>
            <a:chExt cx="2549" cy="1572"/>
          </a:xfrm>
        </p:grpSpPr>
        <p:sp>
          <p:nvSpPr>
            <p:cNvPr id="225" name="Google Shape;225;p9"/>
            <p:cNvSpPr/>
            <p:nvPr/>
          </p:nvSpPr>
          <p:spPr>
            <a:xfrm rot="448716">
              <a:off x="2699" y="2478"/>
              <a:ext cx="2404" cy="1270"/>
            </a:xfrm>
            <a:prstGeom prst="irregularSeal2">
              <a:avLst/>
            </a:prstGeom>
            <a:solidFill>
              <a:srgbClr val="5E9934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26" name="Google Shape;226;p9"/>
            <p:cNvSpPr txBox="1"/>
            <p:nvPr/>
          </p:nvSpPr>
          <p:spPr>
            <a:xfrm>
              <a:off x="3288" y="2931"/>
              <a:ext cx="1134" cy="3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b="1" i="0" lang="en-US" sz="3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Fast</a:t>
              </a:r>
              <a:endParaRPr b="1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27" name="Google Shape;227;p9"/>
          <p:cNvGrpSpPr/>
          <p:nvPr/>
        </p:nvGrpSpPr>
        <p:grpSpPr>
          <a:xfrm>
            <a:off x="6268481" y="3808687"/>
            <a:ext cx="4045815" cy="2495985"/>
            <a:chOff x="2627" y="1011"/>
            <a:chExt cx="2549" cy="1572"/>
          </a:xfrm>
        </p:grpSpPr>
        <p:sp>
          <p:nvSpPr>
            <p:cNvPr id="228" name="Google Shape;228;p9"/>
            <p:cNvSpPr/>
            <p:nvPr/>
          </p:nvSpPr>
          <p:spPr>
            <a:xfrm rot="448716">
              <a:off x="2699" y="1162"/>
              <a:ext cx="2404" cy="1270"/>
            </a:xfrm>
            <a:prstGeom prst="irregularSeal2">
              <a:avLst/>
            </a:prstGeom>
            <a:solidFill>
              <a:srgbClr val="B1DB93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29" name="Google Shape;229;p9"/>
            <p:cNvSpPr txBox="1"/>
            <p:nvPr/>
          </p:nvSpPr>
          <p:spPr>
            <a:xfrm>
              <a:off x="3288" y="1616"/>
              <a:ext cx="1134" cy="3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b="1" i="0" lang="en-US" sz="3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UDP</a:t>
              </a:r>
              <a:endParaRPr b="1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20"/>
          <p:cNvSpPr txBox="1"/>
          <p:nvPr>
            <p:ph idx="12" type="sldNum"/>
          </p:nvPr>
        </p:nvSpPr>
        <p:spPr>
          <a:xfrm>
            <a:off x="10951856" y="5867131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35" name="Google Shape;235;p20"/>
          <p:cNvSpPr txBox="1"/>
          <p:nvPr/>
        </p:nvSpPr>
        <p:spPr>
          <a:xfrm>
            <a:off x="1069730" y="1310054"/>
            <a:ext cx="10433293" cy="545123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29464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186C3"/>
              </a:buClr>
              <a:buSzPts val="4640"/>
              <a:buFont typeface="Arial"/>
              <a:buChar char="•"/>
            </a:pPr>
            <a:r>
              <a:rPr b="0" i="0" lang="en-US" sz="3200" u="none" cap="none" strike="noStrike">
                <a:solidFill>
                  <a:srgbClr val="6600CC"/>
                </a:solidFill>
                <a:latin typeface="Corbel"/>
                <a:ea typeface="Corbel"/>
                <a:cs typeface="Corbel"/>
                <a:sym typeface="Corbel"/>
              </a:rPr>
              <a:t>UDP : User Datagram Protocol</a:t>
            </a:r>
            <a:endParaRPr b="0" i="0" sz="2400" u="none" cap="none" strike="noStrik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  <a:p>
            <a:pPr indent="-294639" lvl="1" marL="7429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186C3"/>
              </a:buClr>
              <a:buSzPts val="392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313435"/>
                </a:solidFill>
                <a:latin typeface="Corbel"/>
                <a:ea typeface="Corbel"/>
                <a:cs typeface="Corbel"/>
                <a:sym typeface="Corbel"/>
              </a:rPr>
              <a:t>Best Effort Service</a:t>
            </a:r>
            <a:endParaRPr/>
          </a:p>
          <a:p>
            <a:pPr indent="-294639" lvl="1" marL="7429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186C3"/>
              </a:buClr>
              <a:buSzPts val="392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313435"/>
                </a:solidFill>
                <a:latin typeface="Corbel"/>
                <a:ea typeface="Corbel"/>
                <a:cs typeface="Corbel"/>
                <a:sym typeface="Corbel"/>
              </a:rPr>
              <a:t>Used by applications that requires no delay in data delivery</a:t>
            </a:r>
            <a:endParaRPr/>
          </a:p>
          <a:p>
            <a:pPr indent="-29464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186C3"/>
              </a:buClr>
              <a:buSzPts val="464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6600CC"/>
                </a:solidFill>
                <a:latin typeface="Corbel"/>
                <a:ea typeface="Corbel"/>
                <a:cs typeface="Corbel"/>
                <a:sym typeface="Corbel"/>
              </a:rPr>
              <a:t>How does UDP deliver fast?</a:t>
            </a:r>
            <a:endParaRPr b="0" i="0" sz="2800" u="none" cap="none" strike="noStrik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  <a:p>
            <a:pPr indent="-4572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86C3"/>
              </a:buClr>
              <a:buSzPts val="392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no connection establishment (which can add delay)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1" marL="914400" marR="0" rtl="0" algn="l">
              <a:lnSpc>
                <a:spcPct val="100000"/>
              </a:lnSpc>
              <a:spcBef>
                <a:spcPts val="1044"/>
              </a:spcBef>
              <a:spcAft>
                <a:spcPts val="0"/>
              </a:spcAft>
              <a:buClr>
                <a:srgbClr val="1186C3"/>
              </a:buClr>
              <a:buSzPts val="392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small header size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1" marL="914400" marR="0" rtl="0" algn="l">
              <a:lnSpc>
                <a:spcPct val="100000"/>
              </a:lnSpc>
              <a:spcBef>
                <a:spcPts val="1044"/>
              </a:spcBef>
              <a:spcAft>
                <a:spcPts val="0"/>
              </a:spcAft>
              <a:buClr>
                <a:srgbClr val="1186C3"/>
              </a:buClr>
              <a:buSzPts val="392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no error or flow or congestion control: UDP can blast away as fast as desired</a:t>
            </a:r>
            <a:endParaRPr/>
          </a:p>
          <a:p>
            <a:pPr indent="-31113" lvl="1" marL="855663" marR="0" rtl="0" algn="l">
              <a:lnSpc>
                <a:spcPct val="90000"/>
              </a:lnSpc>
              <a:spcBef>
                <a:spcPts val="1160"/>
              </a:spcBef>
              <a:spcAft>
                <a:spcPts val="0"/>
              </a:spcAft>
              <a:buClr>
                <a:srgbClr val="1186C3"/>
              </a:buClr>
              <a:buSzPts val="406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236" name="Google Shape;236;p20"/>
          <p:cNvSpPr txBox="1"/>
          <p:nvPr/>
        </p:nvSpPr>
        <p:spPr>
          <a:xfrm>
            <a:off x="1820864" y="182564"/>
            <a:ext cx="8529637" cy="9223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b="0" i="0" lang="en-US" sz="4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UDP: User Datagram Protocol </a:t>
            </a:r>
            <a:r>
              <a:rPr b="0" i="0" lang="en-US" sz="3200" u="none" cap="none" strike="noStrike">
                <a:solidFill>
                  <a:srgbClr val="7D28CD"/>
                </a:solidFill>
                <a:latin typeface="Corbel"/>
                <a:ea typeface="Corbel"/>
                <a:cs typeface="Corbel"/>
                <a:sym typeface="Corbel"/>
              </a:rPr>
              <a:t>[RFC 768]</a:t>
            </a:r>
            <a:endParaRPr b="0" i="0" sz="4000" u="none" cap="none" strike="noStrike">
              <a:solidFill>
                <a:srgbClr val="7D28CD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39"/>
          <p:cNvSpPr txBox="1"/>
          <p:nvPr>
            <p:ph idx="12" type="sldNum"/>
          </p:nvPr>
        </p:nvSpPr>
        <p:spPr>
          <a:xfrm>
            <a:off x="10951856" y="5867131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42" name="Google Shape;242;p39"/>
          <p:cNvSpPr/>
          <p:nvPr/>
        </p:nvSpPr>
        <p:spPr>
          <a:xfrm>
            <a:off x="1484310" y="1271589"/>
            <a:ext cx="10189133" cy="51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1820"/>
              <a:buFont typeface="Noto Sans Symbols"/>
              <a:buChar char="❖"/>
            </a:pPr>
            <a:r>
              <a:rPr b="0" i="0" lang="en-US" sz="2800" u="none" cap="none" strike="noStrike">
                <a:solidFill>
                  <a:srgbClr val="7D28CD"/>
                </a:solidFill>
                <a:latin typeface="Gill Sans"/>
                <a:ea typeface="Gill Sans"/>
                <a:cs typeface="Gill Sans"/>
                <a:sym typeface="Gill Sans"/>
              </a:rPr>
              <a:t>UDP is used by:</a:t>
            </a:r>
            <a:endParaRPr b="0" i="0" sz="1400" u="none" cap="none" strike="noStrike">
              <a:solidFill>
                <a:srgbClr val="7D28CD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31775" lvl="1" marL="688975" marR="0" rtl="0" algn="l">
              <a:lnSpc>
                <a:spcPct val="85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streaming multimedia apps (loss tolerant, rate sensitive)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31775" lvl="1" marL="688975" marR="0" rtl="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SNMP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1" marL="457200" marR="0" rtl="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But sometimes ……</a:t>
            </a:r>
            <a:endParaRPr/>
          </a:p>
          <a:p>
            <a:pPr indent="-231775" lvl="1" marL="688975" marR="0" rtl="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70C0"/>
                </a:solidFill>
                <a:latin typeface="Gill Sans"/>
                <a:ea typeface="Gill Sans"/>
                <a:cs typeface="Gill Sans"/>
                <a:sym typeface="Gill Sans"/>
              </a:rPr>
              <a:t>DNS</a:t>
            </a:r>
            <a:endParaRPr b="0" i="0" sz="1400" u="none" cap="none" strike="noStrike">
              <a:solidFill>
                <a:srgbClr val="0070C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31775" lvl="1" marL="688975" marR="0" rtl="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70C0"/>
                </a:solidFill>
                <a:latin typeface="Gill Sans"/>
                <a:ea typeface="Gill Sans"/>
                <a:cs typeface="Gill Sans"/>
                <a:sym typeface="Gill Sans"/>
              </a:rPr>
              <a:t>HTTP/3</a:t>
            </a:r>
            <a:endParaRPr b="0" i="0" sz="1400" u="none" cap="none" strike="noStrike">
              <a:solidFill>
                <a:srgbClr val="0070C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7330" lvl="0" marL="342900" marR="0" rtl="0" algn="l">
              <a:lnSpc>
                <a:spcPct val="85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1820"/>
              <a:buFont typeface="Noto Sans Symbols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42900" lvl="0" marL="342900" marR="0" rtl="0" algn="l">
              <a:lnSpc>
                <a:spcPct val="85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1820"/>
              <a:buFont typeface="Noto Sans Symbols"/>
              <a:buChar char="❖"/>
            </a:pPr>
            <a:r>
              <a:rPr b="0" i="0" lang="en-US" sz="2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reliable transfer over UDP: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31775" lvl="1" marL="688975" marR="0" rtl="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add reliability at application layer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31775" lvl="1" marL="688975" marR="0" rtl="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application-specific error recovery!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39"/>
          <p:cNvSpPr txBox="1"/>
          <p:nvPr/>
        </p:nvSpPr>
        <p:spPr>
          <a:xfrm>
            <a:off x="1484310" y="31759"/>
            <a:ext cx="10018713" cy="11879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b="0" i="0" lang="en-US" sz="4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User Datagram Protocol (UDP)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21"/>
          <p:cNvSpPr txBox="1"/>
          <p:nvPr>
            <p:ph idx="4294967295" type="title"/>
          </p:nvPr>
        </p:nvSpPr>
        <p:spPr>
          <a:xfrm>
            <a:off x="1484311" y="304800"/>
            <a:ext cx="100188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Functions of the Transport Layer</a:t>
            </a:r>
            <a:endParaRPr/>
          </a:p>
        </p:txBody>
      </p:sp>
      <p:sp>
        <p:nvSpPr>
          <p:cNvPr id="249" name="Google Shape;249;p21"/>
          <p:cNvSpPr txBox="1"/>
          <p:nvPr>
            <p:ph idx="4294967295" type="body"/>
          </p:nvPr>
        </p:nvSpPr>
        <p:spPr>
          <a:xfrm>
            <a:off x="1676400" y="1143000"/>
            <a:ext cx="8839200" cy="550450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294640" lvl="0" marL="2857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640"/>
              <a:buChar char="•"/>
            </a:pPr>
            <a:r>
              <a:rPr lang="en-US" sz="3200">
                <a:solidFill>
                  <a:srgbClr val="6600CC"/>
                </a:solidFill>
              </a:rPr>
              <a:t>Primary responsibilities:</a:t>
            </a:r>
            <a:endParaRPr/>
          </a:p>
          <a:p>
            <a:pPr indent="-514350" lvl="1" marL="1081088" rtl="0" algn="l">
              <a:lnSpc>
                <a:spcPct val="90000"/>
              </a:lnSpc>
              <a:spcBef>
                <a:spcPts val="1160"/>
              </a:spcBef>
              <a:spcAft>
                <a:spcPts val="0"/>
              </a:spcAft>
              <a:buSzPts val="4060"/>
              <a:buFont typeface="Arial"/>
              <a:buAutoNum type="arabicPeriod"/>
            </a:pPr>
            <a:r>
              <a:rPr lang="en-US" sz="2800">
                <a:solidFill>
                  <a:srgbClr val="990099"/>
                </a:solidFill>
              </a:rPr>
              <a:t>Segmenting </a:t>
            </a:r>
            <a:r>
              <a:rPr lang="en-US" sz="2800"/>
              <a:t>the data and </a:t>
            </a:r>
            <a:r>
              <a:rPr lang="en-US" sz="2800">
                <a:solidFill>
                  <a:srgbClr val="990099"/>
                </a:solidFill>
              </a:rPr>
              <a:t>managing</a:t>
            </a:r>
            <a:r>
              <a:rPr lang="en-US" sz="2800"/>
              <a:t> each piece.</a:t>
            </a:r>
            <a:endParaRPr/>
          </a:p>
          <a:p>
            <a:pPr indent="-514350" lvl="1" marL="1081088" rtl="0" algn="l">
              <a:lnSpc>
                <a:spcPct val="90000"/>
              </a:lnSpc>
              <a:spcBef>
                <a:spcPts val="1160"/>
              </a:spcBef>
              <a:spcAft>
                <a:spcPts val="0"/>
              </a:spcAft>
              <a:buSzPts val="4060"/>
              <a:buFont typeface="Arial"/>
              <a:buAutoNum type="arabicPeriod"/>
            </a:pPr>
            <a:r>
              <a:rPr lang="en-US" sz="2800">
                <a:solidFill>
                  <a:srgbClr val="990099"/>
                </a:solidFill>
              </a:rPr>
              <a:t>Reassembling</a:t>
            </a:r>
            <a:r>
              <a:rPr lang="en-US" sz="2800"/>
              <a:t> the segments into streams of application data.</a:t>
            </a:r>
            <a:endParaRPr/>
          </a:p>
          <a:p>
            <a:pPr indent="-514350" lvl="1" marL="1081088" rtl="0" algn="l">
              <a:lnSpc>
                <a:spcPct val="90000"/>
              </a:lnSpc>
              <a:spcBef>
                <a:spcPts val="1160"/>
              </a:spcBef>
              <a:spcAft>
                <a:spcPts val="0"/>
              </a:spcAft>
              <a:buSzPts val="4060"/>
              <a:buFont typeface="Arial"/>
              <a:buAutoNum type="arabicPeriod"/>
            </a:pPr>
            <a:r>
              <a:rPr lang="en-US" sz="2800">
                <a:solidFill>
                  <a:srgbClr val="990099"/>
                </a:solidFill>
              </a:rPr>
              <a:t>Identifying </a:t>
            </a:r>
            <a:r>
              <a:rPr lang="en-US" sz="2800"/>
              <a:t>the different </a:t>
            </a:r>
            <a:r>
              <a:rPr lang="en-US" sz="2800">
                <a:solidFill>
                  <a:srgbClr val="990099"/>
                </a:solidFill>
              </a:rPr>
              <a:t>applications</a:t>
            </a:r>
            <a:r>
              <a:rPr lang="en-US" sz="2800"/>
              <a:t>.</a:t>
            </a:r>
            <a:endParaRPr/>
          </a:p>
          <a:p>
            <a:pPr indent="-514350" lvl="1" marL="1081088" rtl="0" algn="l">
              <a:lnSpc>
                <a:spcPct val="90000"/>
              </a:lnSpc>
              <a:spcBef>
                <a:spcPts val="1160"/>
              </a:spcBef>
              <a:spcAft>
                <a:spcPts val="0"/>
              </a:spcAft>
              <a:buSzPts val="4060"/>
              <a:buFont typeface="Arial"/>
              <a:buAutoNum type="arabicPeriod"/>
            </a:pPr>
            <a:r>
              <a:rPr lang="en-US" sz="2800"/>
              <a:t>Multiplexing</a:t>
            </a:r>
            <a:endParaRPr/>
          </a:p>
          <a:p>
            <a:pPr indent="-514350" lvl="1" marL="1081088" rtl="0" algn="l">
              <a:lnSpc>
                <a:spcPct val="90000"/>
              </a:lnSpc>
              <a:spcBef>
                <a:spcPts val="1160"/>
              </a:spcBef>
              <a:spcAft>
                <a:spcPts val="0"/>
              </a:spcAft>
              <a:buSzPts val="4060"/>
              <a:buFont typeface="Arial"/>
              <a:buAutoNum type="arabicPeriod"/>
            </a:pPr>
            <a:r>
              <a:rPr lang="en-US" sz="2800">
                <a:solidFill>
                  <a:srgbClr val="990099"/>
                </a:solidFill>
              </a:rPr>
              <a:t>Establishing and terminating </a:t>
            </a:r>
            <a:r>
              <a:rPr lang="en-US" sz="2800"/>
              <a:t>a connection </a:t>
            </a:r>
            <a:endParaRPr/>
          </a:p>
          <a:p>
            <a:pPr indent="-514350" lvl="1" marL="1081088" rtl="0" algn="l">
              <a:lnSpc>
                <a:spcPct val="90000"/>
              </a:lnSpc>
              <a:spcBef>
                <a:spcPts val="1160"/>
              </a:spcBef>
              <a:spcAft>
                <a:spcPts val="0"/>
              </a:spcAft>
              <a:buSzPts val="4060"/>
              <a:buFont typeface="Arial"/>
              <a:buAutoNum type="arabicPeriod"/>
            </a:pPr>
            <a:r>
              <a:rPr lang="en-US" sz="2800"/>
              <a:t>Enabling </a:t>
            </a:r>
            <a:r>
              <a:rPr lang="en-US" sz="2800">
                <a:solidFill>
                  <a:srgbClr val="990099"/>
                </a:solidFill>
              </a:rPr>
              <a:t>error recovery</a:t>
            </a:r>
            <a:r>
              <a:rPr lang="en-US" sz="2800"/>
              <a:t>.</a:t>
            </a:r>
            <a:endParaRPr/>
          </a:p>
          <a:p>
            <a:pPr indent="-514350" lvl="1" marL="1081088" rtl="0" algn="l">
              <a:lnSpc>
                <a:spcPct val="90000"/>
              </a:lnSpc>
              <a:spcBef>
                <a:spcPts val="1160"/>
              </a:spcBef>
              <a:spcAft>
                <a:spcPts val="0"/>
              </a:spcAft>
              <a:buSzPts val="4060"/>
              <a:buFont typeface="Arial"/>
              <a:buAutoNum type="arabicPeriod"/>
            </a:pPr>
            <a:r>
              <a:rPr lang="en-US" sz="2800"/>
              <a:t>Performing </a:t>
            </a:r>
            <a:r>
              <a:rPr lang="en-US" sz="2800">
                <a:solidFill>
                  <a:srgbClr val="990099"/>
                </a:solidFill>
              </a:rPr>
              <a:t>flow control</a:t>
            </a:r>
            <a:r>
              <a:rPr lang="en-US" sz="2800">
                <a:solidFill>
                  <a:srgbClr val="FFFF00"/>
                </a:solidFill>
              </a:rPr>
              <a:t> </a:t>
            </a:r>
            <a:r>
              <a:rPr lang="en-US" sz="2800"/>
              <a:t>between end users.</a:t>
            </a:r>
            <a:endParaRPr/>
          </a:p>
          <a:p>
            <a:pPr indent="-31113" lvl="1" marL="855663" rtl="0" algn="l">
              <a:lnSpc>
                <a:spcPct val="90000"/>
              </a:lnSpc>
              <a:spcBef>
                <a:spcPts val="1160"/>
              </a:spcBef>
              <a:spcAft>
                <a:spcPts val="0"/>
              </a:spcAft>
              <a:buSzPts val="4060"/>
              <a:buNone/>
            </a:pPr>
            <a:r>
              <a:t/>
            </a:r>
            <a:endParaRPr sz="2800"/>
          </a:p>
        </p:txBody>
      </p:sp>
      <p:sp>
        <p:nvSpPr>
          <p:cNvPr id="250" name="Google Shape;250;p21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51" name="Google Shape;251;p21"/>
          <p:cNvSpPr/>
          <p:nvPr/>
        </p:nvSpPr>
        <p:spPr>
          <a:xfrm>
            <a:off x="1676400" y="1935332"/>
            <a:ext cx="427608" cy="2263806"/>
          </a:xfrm>
          <a:prstGeom prst="leftBrace">
            <a:avLst>
              <a:gd fmla="val 8333" name="adj1"/>
              <a:gd fmla="val 50000" name="adj2"/>
            </a:avLst>
          </a:prstGeom>
          <a:noFill/>
          <a:ln cap="flat" cmpd="sng" w="38100">
            <a:solidFill>
              <a:srgbClr val="A260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p21"/>
          <p:cNvSpPr/>
          <p:nvPr/>
        </p:nvSpPr>
        <p:spPr>
          <a:xfrm>
            <a:off x="1676400" y="4570859"/>
            <a:ext cx="427608" cy="1312416"/>
          </a:xfrm>
          <a:prstGeom prst="leftBrace">
            <a:avLst>
              <a:gd fmla="val 8333" name="adj1"/>
              <a:gd fmla="val 50000" name="adj2"/>
            </a:avLst>
          </a:prstGeom>
          <a:noFill/>
          <a:ln cap="flat" cmpd="sng" w="38100">
            <a:solidFill>
              <a:srgbClr val="5E993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BB781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p21"/>
          <p:cNvSpPr txBox="1"/>
          <p:nvPr/>
        </p:nvSpPr>
        <p:spPr>
          <a:xfrm rot="-5400000">
            <a:off x="818052" y="5042400"/>
            <a:ext cx="122843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5E9934"/>
                </a:solidFill>
                <a:latin typeface="Arial"/>
                <a:ea typeface="Arial"/>
                <a:cs typeface="Arial"/>
                <a:sym typeface="Arial"/>
              </a:rPr>
              <a:t>Only TCP</a:t>
            </a:r>
            <a:endParaRPr/>
          </a:p>
        </p:txBody>
      </p:sp>
      <p:sp>
        <p:nvSpPr>
          <p:cNvPr id="254" name="Google Shape;254;p21"/>
          <p:cNvSpPr txBox="1"/>
          <p:nvPr/>
        </p:nvSpPr>
        <p:spPr>
          <a:xfrm rot="-5400000">
            <a:off x="657676" y="2908035"/>
            <a:ext cx="143026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7D28CD"/>
                </a:solidFill>
                <a:latin typeface="Arial"/>
                <a:ea typeface="Arial"/>
                <a:cs typeface="Arial"/>
                <a:sym typeface="Arial"/>
              </a:rPr>
              <a:t>UDP &amp;TCP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10"/>
          <p:cNvSpPr txBox="1"/>
          <p:nvPr/>
        </p:nvSpPr>
        <p:spPr>
          <a:xfrm>
            <a:off x="1472435" y="173037"/>
            <a:ext cx="10018713" cy="10699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b="0" i="0" lang="en-US" sz="4000" u="none" cap="none" strike="noStrike">
                <a:solidFill>
                  <a:srgbClr val="7D28CD"/>
                </a:solidFill>
                <a:latin typeface="Corbel"/>
                <a:ea typeface="Corbel"/>
                <a:cs typeface="Corbel"/>
                <a:sym typeface="Corbel"/>
              </a:rPr>
              <a:t>Function 1&amp;2</a:t>
            </a:r>
            <a:r>
              <a:rPr b="0" i="0" lang="en-US" sz="4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 – Segmentation and Reassembly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t/>
            </a:r>
            <a:endParaRPr b="0" i="0" sz="4000" u="none" cap="none" strike="noStrik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260" name="Google Shape;260;p10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61" name="Google Shape;261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12261" y="1445419"/>
            <a:ext cx="9139059" cy="4235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22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UDP connectionless and unreliable" id="267" name="Google Shape;267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990" y="1475715"/>
            <a:ext cx="6021010" cy="411701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CP segments are re-ordered at the destination" id="268" name="Google Shape;268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40346" y="1475715"/>
            <a:ext cx="5920366" cy="4117014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Google Shape;269;p22"/>
          <p:cNvSpPr txBox="1"/>
          <p:nvPr/>
        </p:nvSpPr>
        <p:spPr>
          <a:xfrm>
            <a:off x="1472435" y="173037"/>
            <a:ext cx="10018713" cy="10699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b="0" i="0" lang="en-US" sz="4000" u="none" cap="none" strike="noStrike">
                <a:solidFill>
                  <a:srgbClr val="7D28CD"/>
                </a:solidFill>
                <a:latin typeface="Corbel"/>
                <a:ea typeface="Corbel"/>
                <a:cs typeface="Corbel"/>
                <a:sym typeface="Corbel"/>
              </a:rPr>
              <a:t>Function 2</a:t>
            </a:r>
            <a:r>
              <a:rPr b="0" i="0" lang="en-US" sz="4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 – Reassembly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t/>
            </a:r>
            <a:endParaRPr b="0" i="0" sz="4000" u="none" cap="none" strike="noStrik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270" name="Google Shape;270;p22"/>
          <p:cNvSpPr txBox="1"/>
          <p:nvPr/>
        </p:nvSpPr>
        <p:spPr>
          <a:xfrm>
            <a:off x="2403030" y="5758060"/>
            <a:ext cx="1378998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7D28CD"/>
                </a:solidFill>
                <a:latin typeface="Arial"/>
                <a:ea typeface="Arial"/>
                <a:cs typeface="Arial"/>
                <a:sym typeface="Arial"/>
              </a:rPr>
              <a:t>UDP</a:t>
            </a:r>
            <a:endParaRPr/>
          </a:p>
        </p:txBody>
      </p:sp>
      <p:sp>
        <p:nvSpPr>
          <p:cNvPr id="271" name="Google Shape;271;p22"/>
          <p:cNvSpPr txBox="1"/>
          <p:nvPr/>
        </p:nvSpPr>
        <p:spPr>
          <a:xfrm>
            <a:off x="8639359" y="5729422"/>
            <a:ext cx="1378998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7D28CD"/>
                </a:solidFill>
                <a:latin typeface="Arial"/>
                <a:ea typeface="Arial"/>
                <a:cs typeface="Arial"/>
                <a:sym typeface="Arial"/>
              </a:rPr>
              <a:t>TCP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6" name="Google Shape;276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15669" y="3357135"/>
            <a:ext cx="7035842" cy="3260725"/>
          </a:xfrm>
          <a:prstGeom prst="rect">
            <a:avLst/>
          </a:prstGeom>
          <a:noFill/>
          <a:ln>
            <a:noFill/>
          </a:ln>
        </p:spPr>
      </p:pic>
      <p:sp>
        <p:nvSpPr>
          <p:cNvPr id="277" name="Google Shape;277;p12"/>
          <p:cNvSpPr txBox="1"/>
          <p:nvPr>
            <p:ph idx="4294967295" type="title"/>
          </p:nvPr>
        </p:nvSpPr>
        <p:spPr>
          <a:xfrm>
            <a:off x="1472435" y="173038"/>
            <a:ext cx="10018713" cy="8937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TCP and UDP Headers</a:t>
            </a:r>
            <a:endParaRPr/>
          </a:p>
        </p:txBody>
      </p:sp>
      <p:sp>
        <p:nvSpPr>
          <p:cNvPr id="278" name="Google Shape;278;p12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279" name="Google Shape;279;p12"/>
          <p:cNvGrpSpPr/>
          <p:nvPr/>
        </p:nvGrpSpPr>
        <p:grpSpPr>
          <a:xfrm>
            <a:off x="1508159" y="1110329"/>
            <a:ext cx="4133850" cy="4182640"/>
            <a:chOff x="4242971" y="2692127"/>
            <a:chExt cx="4133850" cy="4182640"/>
          </a:xfrm>
        </p:grpSpPr>
        <p:cxnSp>
          <p:nvCxnSpPr>
            <p:cNvPr id="280" name="Google Shape;280;p12"/>
            <p:cNvCxnSpPr/>
            <p:nvPr/>
          </p:nvCxnSpPr>
          <p:spPr>
            <a:xfrm>
              <a:off x="6248400" y="3657600"/>
              <a:ext cx="1792934" cy="3217167"/>
            </a:xfrm>
            <a:prstGeom prst="straightConnector1">
              <a:avLst/>
            </a:prstGeom>
            <a:noFill/>
            <a:ln cap="flat" cmpd="sng" w="57150">
              <a:solidFill>
                <a:srgbClr val="FF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grpSp>
          <p:nvGrpSpPr>
            <p:cNvPr id="281" name="Google Shape;281;p12"/>
            <p:cNvGrpSpPr/>
            <p:nvPr/>
          </p:nvGrpSpPr>
          <p:grpSpPr>
            <a:xfrm>
              <a:off x="4242971" y="2692127"/>
              <a:ext cx="4133850" cy="1081807"/>
              <a:chOff x="4242971" y="2692127"/>
              <a:chExt cx="4133850" cy="1081807"/>
            </a:xfrm>
          </p:grpSpPr>
          <p:pic>
            <p:nvPicPr>
              <p:cNvPr id="282" name="Google Shape;282;p12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4242971" y="2954784"/>
                <a:ext cx="4133850" cy="81915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83" name="Google Shape;283;p12"/>
              <p:cNvSpPr txBox="1"/>
              <p:nvPr/>
            </p:nvSpPr>
            <p:spPr>
              <a:xfrm>
                <a:off x="5943600" y="2692127"/>
                <a:ext cx="1378998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i="0" lang="en-US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UDP HEADER</a:t>
                </a:r>
                <a:endParaRPr/>
              </a:p>
            </p:txBody>
          </p:sp>
        </p:grpSp>
      </p:grpSp>
      <p:grpSp>
        <p:nvGrpSpPr>
          <p:cNvPr id="284" name="Google Shape;284;p12"/>
          <p:cNvGrpSpPr/>
          <p:nvPr/>
        </p:nvGrpSpPr>
        <p:grpSpPr>
          <a:xfrm>
            <a:off x="7111870" y="1005254"/>
            <a:ext cx="4551285" cy="4395985"/>
            <a:chOff x="711209" y="619919"/>
            <a:chExt cx="4551285" cy="4395985"/>
          </a:xfrm>
        </p:grpSpPr>
        <p:cxnSp>
          <p:nvCxnSpPr>
            <p:cNvPr id="285" name="Google Shape;285;p12"/>
            <p:cNvCxnSpPr/>
            <p:nvPr/>
          </p:nvCxnSpPr>
          <p:spPr>
            <a:xfrm flipH="1">
              <a:off x="1259192" y="2971800"/>
              <a:ext cx="1179208" cy="2044104"/>
            </a:xfrm>
            <a:prstGeom prst="straightConnector1">
              <a:avLst/>
            </a:prstGeom>
            <a:noFill/>
            <a:ln cap="flat" cmpd="sng" w="57150">
              <a:solidFill>
                <a:srgbClr val="FF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grpSp>
          <p:nvGrpSpPr>
            <p:cNvPr id="286" name="Google Shape;286;p12"/>
            <p:cNvGrpSpPr/>
            <p:nvPr/>
          </p:nvGrpSpPr>
          <p:grpSpPr>
            <a:xfrm>
              <a:off x="711209" y="619919"/>
              <a:ext cx="4551285" cy="2351881"/>
              <a:chOff x="711209" y="619919"/>
              <a:chExt cx="4551285" cy="2351881"/>
            </a:xfrm>
          </p:grpSpPr>
          <p:pic>
            <p:nvPicPr>
              <p:cNvPr id="287" name="Google Shape;287;p12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711209" y="926797"/>
                <a:ext cx="4551285" cy="2045003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88" name="Google Shape;288;p12"/>
              <p:cNvSpPr txBox="1"/>
              <p:nvPr/>
            </p:nvSpPr>
            <p:spPr>
              <a:xfrm>
                <a:off x="2068497" y="619919"/>
                <a:ext cx="1378998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i="0" lang="en-US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TCP HEADER</a:t>
                </a:r>
                <a:endParaRPr/>
              </a:p>
            </p:txBody>
          </p:sp>
        </p:grp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4" name="Google Shape;29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24200" y="1550634"/>
            <a:ext cx="5715000" cy="32273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95" name="Google Shape;29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76601" y="4884738"/>
            <a:ext cx="4170363" cy="1820862"/>
          </a:xfrm>
          <a:prstGeom prst="rect">
            <a:avLst/>
          </a:prstGeom>
          <a:noFill/>
          <a:ln>
            <a:noFill/>
          </a:ln>
        </p:spPr>
      </p:pic>
      <p:sp>
        <p:nvSpPr>
          <p:cNvPr id="296" name="Google Shape;296;p13"/>
          <p:cNvSpPr/>
          <p:nvPr/>
        </p:nvSpPr>
        <p:spPr>
          <a:xfrm>
            <a:off x="8991600" y="2895600"/>
            <a:ext cx="16764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00CC"/>
              </a:buClr>
              <a:buSzPts val="2160"/>
              <a:buFont typeface="Noto Sans Symbols"/>
              <a:buChar char="🞐"/>
            </a:pPr>
            <a:r>
              <a:rPr b="0" i="0" lang="en-US" sz="2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TCP Header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7" name="Google Shape;297;p13"/>
          <p:cNvSpPr/>
          <p:nvPr/>
        </p:nvSpPr>
        <p:spPr>
          <a:xfrm>
            <a:off x="7772400" y="5791200"/>
            <a:ext cx="16764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00CC"/>
              </a:buClr>
              <a:buSzPts val="2160"/>
              <a:buFont typeface="Noto Sans Symbols"/>
              <a:buChar char="🞐"/>
            </a:pPr>
            <a:r>
              <a:rPr b="0" i="0" lang="en-US" sz="2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UDP Header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" name="Google Shape;298;p13"/>
          <p:cNvSpPr/>
          <p:nvPr/>
        </p:nvSpPr>
        <p:spPr>
          <a:xfrm>
            <a:off x="3124200" y="2133600"/>
            <a:ext cx="5715000" cy="457200"/>
          </a:xfrm>
          <a:prstGeom prst="rect">
            <a:avLst/>
          </a:prstGeom>
          <a:noFill/>
          <a:ln cap="flat" cmpd="sng" w="5715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" name="Google Shape;299;p13"/>
          <p:cNvSpPr/>
          <p:nvPr/>
        </p:nvSpPr>
        <p:spPr>
          <a:xfrm>
            <a:off x="3276600" y="5867400"/>
            <a:ext cx="4191000" cy="381000"/>
          </a:xfrm>
          <a:prstGeom prst="rect">
            <a:avLst/>
          </a:prstGeom>
          <a:noFill/>
          <a:ln cap="flat" cmpd="sng" w="5715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0" name="Google Shape;300;p13"/>
          <p:cNvSpPr txBox="1"/>
          <p:nvPr/>
        </p:nvSpPr>
        <p:spPr>
          <a:xfrm>
            <a:off x="1472435" y="173038"/>
            <a:ext cx="10018713" cy="8937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b="0" i="0" lang="en-US" sz="4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TCP and UDP Headers</a:t>
            </a:r>
            <a:endParaRPr b="0" i="0" sz="4000" u="none" cap="none" strike="noStrik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301" name="Google Shape;301;p13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14"/>
          <p:cNvSpPr txBox="1"/>
          <p:nvPr>
            <p:ph type="title"/>
          </p:nvPr>
        </p:nvSpPr>
        <p:spPr>
          <a:xfrm>
            <a:off x="1484310" y="325395"/>
            <a:ext cx="10018713" cy="10667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b="1" lang="en-US">
                <a:solidFill>
                  <a:srgbClr val="7D28CD"/>
                </a:solidFill>
              </a:rPr>
              <a:t>Function 3</a:t>
            </a:r>
            <a:r>
              <a:rPr lang="en-US"/>
              <a:t> – Identifying Different Applications </a:t>
            </a:r>
            <a:endParaRPr/>
          </a:p>
        </p:txBody>
      </p:sp>
      <p:sp>
        <p:nvSpPr>
          <p:cNvPr id="307" name="Google Shape;307;p14"/>
          <p:cNvSpPr txBox="1"/>
          <p:nvPr>
            <p:ph idx="1" type="body"/>
          </p:nvPr>
        </p:nvSpPr>
        <p:spPr>
          <a:xfrm>
            <a:off x="1255710" y="1421026"/>
            <a:ext cx="10707690" cy="54369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Port Numbers/Addresses are used to identify different applications/processes running in a computer</a:t>
            </a:r>
            <a:endParaRPr/>
          </a:p>
          <a:p>
            <a:pPr indent="-285750" lvl="0" marL="28575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3480"/>
              <a:buChar char="•"/>
            </a:pPr>
            <a:r>
              <a:rPr lang="en-US" sz="2800"/>
              <a:t>16-bits in length</a:t>
            </a:r>
            <a:endParaRPr sz="2800"/>
          </a:p>
          <a:p>
            <a:pPr indent="-285750" lvl="1" marL="74295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 sz="2400"/>
              <a:t>Represented as one single decimal number</a:t>
            </a:r>
            <a:endParaRPr sz="2400"/>
          </a:p>
          <a:p>
            <a:pPr indent="-285750" lvl="1" marL="74295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2900"/>
              <a:buChar char="•"/>
            </a:pPr>
            <a:r>
              <a:rPr lang="en-US" sz="2400"/>
              <a:t>Range </a:t>
            </a:r>
            <a:r>
              <a:rPr b="1" lang="en-US" sz="2800"/>
              <a:t>0 - 65535</a:t>
            </a:r>
            <a:endParaRPr b="1" sz="2800"/>
          </a:p>
          <a:p>
            <a:pPr indent="-285750" lvl="1" marL="74295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 sz="2400"/>
              <a:t>e.g. </a:t>
            </a:r>
            <a:r>
              <a:rPr b="1" lang="en-US" sz="2400">
                <a:solidFill>
                  <a:srgbClr val="FF9900"/>
                </a:solidFill>
              </a:rPr>
              <a:t>80 – Web</a:t>
            </a:r>
            <a:endParaRPr sz="2400"/>
          </a:p>
          <a:p>
            <a:pPr indent="-285750" lvl="1" marL="74295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b="1" lang="en-US" sz="2400">
                <a:solidFill>
                  <a:srgbClr val="990000"/>
                </a:solidFill>
              </a:rPr>
              <a:t>25 – SMTP</a:t>
            </a:r>
            <a:endParaRPr sz="2400"/>
          </a:p>
          <a:p>
            <a:pPr indent="-285750" lvl="1" marL="74295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b="1" lang="en-US" sz="2400">
                <a:solidFill>
                  <a:srgbClr val="0070C0"/>
                </a:solidFill>
              </a:rPr>
              <a:t>4070 – Spotify</a:t>
            </a:r>
            <a:endParaRPr b="1" sz="2400">
              <a:solidFill>
                <a:srgbClr val="0070C0"/>
              </a:solidFill>
            </a:endParaRPr>
          </a:p>
        </p:txBody>
      </p:sp>
      <p:pic>
        <p:nvPicPr>
          <p:cNvPr id="308" name="Google Shape;308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309" name="Google Shape;309;p14"/>
          <p:cNvSpPr txBox="1"/>
          <p:nvPr>
            <p:ph idx="12" type="sldNum"/>
          </p:nvPr>
        </p:nvSpPr>
        <p:spPr>
          <a:xfrm>
            <a:off x="10951856" y="5867131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10" name="Google Shape;310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070114" y="3376247"/>
            <a:ext cx="5004718" cy="27692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15"/>
          <p:cNvSpPr txBox="1"/>
          <p:nvPr>
            <p:ph type="title"/>
          </p:nvPr>
        </p:nvSpPr>
        <p:spPr>
          <a:xfrm>
            <a:off x="1484311" y="361950"/>
            <a:ext cx="10018713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Port Numbers</a:t>
            </a:r>
            <a:endParaRPr/>
          </a:p>
        </p:txBody>
      </p:sp>
      <p:sp>
        <p:nvSpPr>
          <p:cNvPr id="316" name="Google Shape;316;p15"/>
          <p:cNvSpPr txBox="1"/>
          <p:nvPr>
            <p:ph idx="1" type="body"/>
          </p:nvPr>
        </p:nvSpPr>
        <p:spPr>
          <a:xfrm>
            <a:off x="1484311" y="1079500"/>
            <a:ext cx="9717089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28575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Internet Corporation for Assigned Names and Numbers </a:t>
            </a:r>
            <a:r>
              <a:rPr lang="en-US">
                <a:solidFill>
                  <a:srgbClr val="660066"/>
                </a:solidFill>
              </a:rPr>
              <a:t>(ICANN)</a:t>
            </a:r>
            <a:r>
              <a:rPr lang="en-US"/>
              <a:t> assigns port numbers</a:t>
            </a:r>
            <a:endParaRPr/>
          </a:p>
          <a:p>
            <a:pPr indent="-285750" lvl="0" marL="28575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3480"/>
              <a:buChar char="•"/>
            </a:pPr>
            <a:r>
              <a:rPr b="1" lang="en-US">
                <a:solidFill>
                  <a:srgbClr val="990000"/>
                </a:solidFill>
              </a:rPr>
              <a:t>Three</a:t>
            </a:r>
            <a:r>
              <a:rPr lang="en-US"/>
              <a:t> categories:</a:t>
            </a:r>
            <a:endParaRPr/>
          </a:p>
        </p:txBody>
      </p:sp>
      <p:pic>
        <p:nvPicPr>
          <p:cNvPr descr="port04" id="317" name="Google Shape;317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57597" y="4552426"/>
            <a:ext cx="8272139" cy="2086499"/>
          </a:xfrm>
          <a:prstGeom prst="rect">
            <a:avLst/>
          </a:prstGeom>
          <a:noFill/>
          <a:ln>
            <a:noFill/>
          </a:ln>
        </p:spPr>
      </p:pic>
      <p:pic>
        <p:nvPicPr>
          <p:cNvPr id="318" name="Google Shape;318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475955" y="2910951"/>
            <a:ext cx="3733800" cy="1709451"/>
          </a:xfrm>
          <a:prstGeom prst="rect">
            <a:avLst/>
          </a:prstGeom>
          <a:noFill/>
          <a:ln>
            <a:noFill/>
          </a:ln>
        </p:spPr>
      </p:pic>
      <p:sp>
        <p:nvSpPr>
          <p:cNvPr id="319" name="Google Shape;319;p15"/>
          <p:cNvSpPr txBox="1"/>
          <p:nvPr>
            <p:ph idx="12" type="sldNum"/>
          </p:nvPr>
        </p:nvSpPr>
        <p:spPr>
          <a:xfrm>
            <a:off x="10951856" y="5867131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16"/>
          <p:cNvSpPr txBox="1"/>
          <p:nvPr>
            <p:ph idx="4294967295" type="title"/>
          </p:nvPr>
        </p:nvSpPr>
        <p:spPr>
          <a:xfrm>
            <a:off x="1510917" y="104773"/>
            <a:ext cx="10018713" cy="98604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Port Number Types</a:t>
            </a:r>
            <a:endParaRPr/>
          </a:p>
        </p:txBody>
      </p:sp>
      <p:sp>
        <p:nvSpPr>
          <p:cNvPr id="325" name="Google Shape;325;p16"/>
          <p:cNvSpPr txBox="1"/>
          <p:nvPr>
            <p:ph idx="4294967295" type="body"/>
          </p:nvPr>
        </p:nvSpPr>
        <p:spPr>
          <a:xfrm>
            <a:off x="1623390" y="1002324"/>
            <a:ext cx="9328465" cy="1383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77500" lnSpcReduction="20000"/>
          </a:bodyPr>
          <a:lstStyle/>
          <a:p>
            <a:pPr indent="-28575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45000"/>
              <a:buChar char="•"/>
            </a:pPr>
            <a:r>
              <a:rPr b="1" lang="en-US" sz="3000">
                <a:solidFill>
                  <a:srgbClr val="0033CC"/>
                </a:solidFill>
              </a:rPr>
              <a:t>Well-Known Ports:</a:t>
            </a:r>
            <a:endParaRPr b="1" sz="3000"/>
          </a:p>
          <a:p>
            <a:pPr indent="-288925" lvl="1" marL="855663" rtl="0" algn="l">
              <a:lnSpc>
                <a:spcPct val="100000"/>
              </a:lnSpc>
              <a:spcBef>
                <a:spcPts val="1081"/>
              </a:spcBef>
              <a:spcAft>
                <a:spcPts val="0"/>
              </a:spcAft>
              <a:buSzPct val="145000"/>
              <a:buChar char="•"/>
            </a:pPr>
            <a:r>
              <a:rPr lang="en-US" sz="2600"/>
              <a:t>Assigned and controlled by IANA for standard services</a:t>
            </a:r>
            <a:endParaRPr sz="2600"/>
          </a:p>
          <a:p>
            <a:pPr indent="-288925" lvl="1" marL="855663" rtl="0" algn="l">
              <a:lnSpc>
                <a:spcPct val="100000"/>
              </a:lnSpc>
              <a:spcBef>
                <a:spcPts val="1081"/>
              </a:spcBef>
              <a:spcAft>
                <a:spcPts val="0"/>
              </a:spcAft>
              <a:buSzPct val="145000"/>
              <a:buChar char="•"/>
            </a:pPr>
            <a:r>
              <a:rPr lang="en-US" sz="2600"/>
              <a:t>Commonly used by system processes and standardized services and applications.</a:t>
            </a:r>
            <a:endParaRPr sz="2800"/>
          </a:p>
          <a:p>
            <a:pPr indent="-103393" lvl="1" marL="855663" rtl="0" algn="l">
              <a:lnSpc>
                <a:spcPct val="100000"/>
              </a:lnSpc>
              <a:spcBef>
                <a:spcPts val="1081"/>
              </a:spcBef>
              <a:spcAft>
                <a:spcPts val="0"/>
              </a:spcAft>
              <a:buSzPct val="145000"/>
              <a:buNone/>
            </a:pPr>
            <a:r>
              <a:t/>
            </a:r>
            <a:endParaRPr sz="2600"/>
          </a:p>
        </p:txBody>
      </p:sp>
      <p:pic>
        <p:nvPicPr>
          <p:cNvPr descr="port04" id="326" name="Google Shape;326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33600" y="2363788"/>
            <a:ext cx="8153400" cy="1674812"/>
          </a:xfrm>
          <a:prstGeom prst="rect">
            <a:avLst/>
          </a:prstGeom>
          <a:noFill/>
          <a:ln>
            <a:noFill/>
          </a:ln>
        </p:spPr>
      </p:pic>
      <p:sp>
        <p:nvSpPr>
          <p:cNvPr id="327" name="Google Shape;327;p16"/>
          <p:cNvSpPr txBox="1"/>
          <p:nvPr/>
        </p:nvSpPr>
        <p:spPr>
          <a:xfrm>
            <a:off x="2948710" y="6093768"/>
            <a:ext cx="2057400" cy="461665"/>
          </a:xfrm>
          <a:prstGeom prst="rect">
            <a:avLst/>
          </a:prstGeom>
          <a:solidFill>
            <a:srgbClr val="000080"/>
          </a:solidFill>
          <a:ln cap="flat" cmpd="sng" w="57150">
            <a:solidFill>
              <a:srgbClr val="99CC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143 – IMAP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8" name="Google Shape;328;p16"/>
          <p:cNvSpPr txBox="1"/>
          <p:nvPr/>
        </p:nvSpPr>
        <p:spPr>
          <a:xfrm>
            <a:off x="4895272" y="5316188"/>
            <a:ext cx="2057400" cy="461665"/>
          </a:xfrm>
          <a:prstGeom prst="rect">
            <a:avLst/>
          </a:prstGeom>
          <a:solidFill>
            <a:srgbClr val="003366"/>
          </a:solidFill>
          <a:ln cap="flat" cmpd="sng" w="57150">
            <a:solidFill>
              <a:srgbClr val="3366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110 – POP3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" name="Google Shape;329;p16"/>
          <p:cNvSpPr txBox="1"/>
          <p:nvPr/>
        </p:nvSpPr>
        <p:spPr>
          <a:xfrm>
            <a:off x="7391400" y="4191001"/>
            <a:ext cx="2362200" cy="461665"/>
          </a:xfrm>
          <a:prstGeom prst="rect">
            <a:avLst/>
          </a:prstGeom>
          <a:solidFill>
            <a:srgbClr val="000080"/>
          </a:solidFill>
          <a:ln cap="flat" cmpd="sng" w="57150">
            <a:solidFill>
              <a:srgbClr val="99CC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443 – HTTPS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0" name="Google Shape;330;p16"/>
          <p:cNvSpPr txBox="1"/>
          <p:nvPr/>
        </p:nvSpPr>
        <p:spPr>
          <a:xfrm>
            <a:off x="6781800" y="6100467"/>
            <a:ext cx="2057400" cy="461665"/>
          </a:xfrm>
          <a:prstGeom prst="rect">
            <a:avLst/>
          </a:prstGeom>
          <a:solidFill>
            <a:srgbClr val="333399"/>
          </a:solidFill>
          <a:ln cap="flat" cmpd="sng" w="57150">
            <a:solidFill>
              <a:srgbClr val="CC99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53 - DNS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1" name="Google Shape;331;p16"/>
          <p:cNvSpPr txBox="1"/>
          <p:nvPr/>
        </p:nvSpPr>
        <p:spPr>
          <a:xfrm>
            <a:off x="7467600" y="5029201"/>
            <a:ext cx="2057400" cy="461665"/>
          </a:xfrm>
          <a:prstGeom prst="rect">
            <a:avLst/>
          </a:prstGeom>
          <a:solidFill>
            <a:srgbClr val="333399"/>
          </a:solidFill>
          <a:ln cap="flat" cmpd="sng" w="57150">
            <a:solidFill>
              <a:srgbClr val="CC99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80 – HTTP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2" name="Google Shape;332;p16"/>
          <p:cNvSpPr/>
          <p:nvPr/>
        </p:nvSpPr>
        <p:spPr>
          <a:xfrm>
            <a:off x="2209800" y="2895600"/>
            <a:ext cx="8001000" cy="457200"/>
          </a:xfrm>
          <a:prstGeom prst="rect">
            <a:avLst/>
          </a:prstGeom>
          <a:noFill/>
          <a:ln cap="flat" cmpd="sng" w="5715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3" name="Google Shape;333;p16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34" name="Google Shape;334;p16"/>
          <p:cNvSpPr txBox="1"/>
          <p:nvPr/>
        </p:nvSpPr>
        <p:spPr>
          <a:xfrm>
            <a:off x="952500" y="4224635"/>
            <a:ext cx="2514600" cy="461665"/>
          </a:xfrm>
          <a:prstGeom prst="rect">
            <a:avLst/>
          </a:prstGeom>
          <a:solidFill>
            <a:srgbClr val="800080"/>
          </a:solidFill>
          <a:ln cap="flat" cmpd="sng" w="57150">
            <a:solidFill>
              <a:srgbClr val="CC66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67&amp;68 – DHCP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5" name="Google Shape;335;p16"/>
          <p:cNvSpPr txBox="1"/>
          <p:nvPr/>
        </p:nvSpPr>
        <p:spPr>
          <a:xfrm>
            <a:off x="1866900" y="4907088"/>
            <a:ext cx="2514600" cy="461665"/>
          </a:xfrm>
          <a:prstGeom prst="rect">
            <a:avLst/>
          </a:prstGeom>
          <a:solidFill>
            <a:srgbClr val="800080"/>
          </a:solidFill>
          <a:ln cap="flat" cmpd="sng" w="57150">
            <a:solidFill>
              <a:srgbClr val="CC66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123 – NTP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6" name="Google Shape;336;p16"/>
          <p:cNvSpPr txBox="1"/>
          <p:nvPr/>
        </p:nvSpPr>
        <p:spPr>
          <a:xfrm>
            <a:off x="4895272" y="4379268"/>
            <a:ext cx="2057400" cy="461665"/>
          </a:xfrm>
          <a:prstGeom prst="rect">
            <a:avLst/>
          </a:prstGeom>
          <a:solidFill>
            <a:srgbClr val="003366"/>
          </a:solidFill>
          <a:ln cap="flat" cmpd="sng" w="57150">
            <a:solidFill>
              <a:srgbClr val="3366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25 – SMTP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17"/>
          <p:cNvSpPr txBox="1"/>
          <p:nvPr>
            <p:ph idx="4294967295" type="title"/>
          </p:nvPr>
        </p:nvSpPr>
        <p:spPr>
          <a:xfrm>
            <a:off x="1484311" y="147141"/>
            <a:ext cx="10018713" cy="76279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Port Number Types</a:t>
            </a:r>
            <a:endParaRPr/>
          </a:p>
        </p:txBody>
      </p:sp>
      <p:sp>
        <p:nvSpPr>
          <p:cNvPr id="342" name="Google Shape;342;p17"/>
          <p:cNvSpPr txBox="1"/>
          <p:nvPr>
            <p:ph idx="4294967295" type="body"/>
          </p:nvPr>
        </p:nvSpPr>
        <p:spPr>
          <a:xfrm>
            <a:off x="1592125" y="1068387"/>
            <a:ext cx="10073402" cy="16748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85000" lnSpcReduction="20000"/>
          </a:bodyPr>
          <a:lstStyle/>
          <a:p>
            <a:pPr indent="-285750" lvl="0" marL="2857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24064"/>
              <a:buChar char="•"/>
            </a:pPr>
            <a:r>
              <a:rPr b="1" lang="en-US" sz="3300">
                <a:solidFill>
                  <a:srgbClr val="0033CC"/>
                </a:solidFill>
              </a:rPr>
              <a:t>Registered Ports:</a:t>
            </a:r>
            <a:endParaRPr b="1" sz="3300"/>
          </a:p>
          <a:p>
            <a:pPr indent="-288925" lvl="1" marL="855663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21848"/>
              <a:buChar char="•"/>
            </a:pP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Assigned by IANA but for specific applications requested by developers or organizations.</a:t>
            </a:r>
            <a:endParaRPr/>
          </a:p>
          <a:p>
            <a:pPr indent="-288925" lvl="1" marL="855663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21848"/>
              <a:buChar char="•"/>
            </a:pPr>
            <a:r>
              <a:rPr b="0" i="0" lang="en-US" sz="2800">
                <a:solidFill>
                  <a:srgbClr val="232629"/>
                </a:solidFill>
                <a:latin typeface="Arial"/>
                <a:ea typeface="Arial"/>
                <a:cs typeface="Arial"/>
                <a:sym typeface="Arial"/>
              </a:rPr>
              <a:t>Can be registered for a lot of not-so-well-known, especially corporate/proprietary protocols.</a:t>
            </a:r>
            <a:endParaRPr b="0" i="0" sz="2800">
              <a:solidFill>
                <a:srgbClr val="23262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ort04" id="343" name="Google Shape;343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33600" y="2820988"/>
            <a:ext cx="8153400" cy="1674812"/>
          </a:xfrm>
          <a:prstGeom prst="rect">
            <a:avLst/>
          </a:prstGeom>
          <a:noFill/>
          <a:ln>
            <a:noFill/>
          </a:ln>
        </p:spPr>
      </p:pic>
      <p:sp>
        <p:nvSpPr>
          <p:cNvPr id="344" name="Google Shape;344;p17"/>
          <p:cNvSpPr txBox="1"/>
          <p:nvPr/>
        </p:nvSpPr>
        <p:spPr>
          <a:xfrm>
            <a:off x="6781800" y="4800601"/>
            <a:ext cx="3657600" cy="461665"/>
          </a:xfrm>
          <a:prstGeom prst="rect">
            <a:avLst/>
          </a:prstGeom>
          <a:solidFill>
            <a:srgbClr val="800080"/>
          </a:solidFill>
          <a:ln cap="flat" cmpd="sng" w="57150">
            <a:solidFill>
              <a:srgbClr val="CC66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23399 – Skype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5" name="Google Shape;345;p17"/>
          <p:cNvSpPr txBox="1"/>
          <p:nvPr/>
        </p:nvSpPr>
        <p:spPr>
          <a:xfrm>
            <a:off x="2667000" y="4876801"/>
            <a:ext cx="3733800" cy="461665"/>
          </a:xfrm>
          <a:prstGeom prst="rect">
            <a:avLst/>
          </a:prstGeom>
          <a:solidFill>
            <a:srgbClr val="000080"/>
          </a:solidFill>
          <a:ln cap="flat" cmpd="sng" w="57150">
            <a:solidFill>
              <a:srgbClr val="99CC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8008 – Alternate HTTP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6" name="Google Shape;346;p17"/>
          <p:cNvSpPr txBox="1"/>
          <p:nvPr/>
        </p:nvSpPr>
        <p:spPr>
          <a:xfrm>
            <a:off x="1484311" y="5524501"/>
            <a:ext cx="3581400" cy="461665"/>
          </a:xfrm>
          <a:prstGeom prst="rect">
            <a:avLst/>
          </a:prstGeom>
          <a:solidFill>
            <a:srgbClr val="003300"/>
          </a:solidFill>
          <a:ln cap="flat" cmpd="sng" w="57150">
            <a:solidFill>
              <a:srgbClr val="CCFFCC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8080 – Alternate HTTP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7" name="Google Shape;347;p17"/>
          <p:cNvSpPr/>
          <p:nvPr/>
        </p:nvSpPr>
        <p:spPr>
          <a:xfrm>
            <a:off x="2209800" y="3581400"/>
            <a:ext cx="8001000" cy="457200"/>
          </a:xfrm>
          <a:prstGeom prst="rect">
            <a:avLst/>
          </a:prstGeom>
          <a:noFill/>
          <a:ln cap="flat" cmpd="sng" w="5715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8" name="Google Shape;348;p17"/>
          <p:cNvSpPr txBox="1"/>
          <p:nvPr/>
        </p:nvSpPr>
        <p:spPr>
          <a:xfrm>
            <a:off x="7620000" y="5486401"/>
            <a:ext cx="2209800" cy="461665"/>
          </a:xfrm>
          <a:prstGeom prst="rect">
            <a:avLst/>
          </a:prstGeom>
          <a:solidFill>
            <a:srgbClr val="333399"/>
          </a:solidFill>
          <a:ln cap="flat" cmpd="sng" w="57150">
            <a:solidFill>
              <a:srgbClr val="CC99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4070 – Spotify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9" name="Google Shape;349;p17"/>
          <p:cNvSpPr txBox="1"/>
          <p:nvPr/>
        </p:nvSpPr>
        <p:spPr>
          <a:xfrm>
            <a:off x="4124036" y="6268741"/>
            <a:ext cx="2895600" cy="461665"/>
          </a:xfrm>
          <a:prstGeom prst="rect">
            <a:avLst/>
          </a:prstGeom>
          <a:solidFill>
            <a:srgbClr val="333399"/>
          </a:solidFill>
          <a:ln cap="flat" cmpd="sng" w="57150">
            <a:solidFill>
              <a:srgbClr val="CC99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5060 – SIP (VoIP)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0" name="Google Shape;350;p17"/>
          <p:cNvSpPr txBox="1"/>
          <p:nvPr>
            <p:ph idx="12" type="sldNum"/>
          </p:nvPr>
        </p:nvSpPr>
        <p:spPr>
          <a:xfrm>
            <a:off x="11034983" y="6268741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51" name="Google Shape;351;p17"/>
          <p:cNvSpPr txBox="1"/>
          <p:nvPr/>
        </p:nvSpPr>
        <p:spPr>
          <a:xfrm>
            <a:off x="7729166" y="6174511"/>
            <a:ext cx="3581400" cy="461665"/>
          </a:xfrm>
          <a:prstGeom prst="rect">
            <a:avLst/>
          </a:prstGeom>
          <a:solidFill>
            <a:srgbClr val="003300"/>
          </a:solidFill>
          <a:ln cap="flat" cmpd="sng" w="57150">
            <a:solidFill>
              <a:srgbClr val="CCFFCC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3306 – MySQL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18"/>
          <p:cNvSpPr txBox="1"/>
          <p:nvPr>
            <p:ph idx="4294967295" type="title"/>
          </p:nvPr>
        </p:nvSpPr>
        <p:spPr>
          <a:xfrm>
            <a:off x="1484311" y="178110"/>
            <a:ext cx="10018713" cy="11164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Port Number Types</a:t>
            </a:r>
            <a:endParaRPr/>
          </a:p>
        </p:txBody>
      </p:sp>
      <p:sp>
        <p:nvSpPr>
          <p:cNvPr id="357" name="Google Shape;357;p18"/>
          <p:cNvSpPr txBox="1"/>
          <p:nvPr>
            <p:ph idx="4294967295" type="body"/>
          </p:nvPr>
        </p:nvSpPr>
        <p:spPr>
          <a:xfrm>
            <a:off x="1676400" y="1152525"/>
            <a:ext cx="9758218" cy="2061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28575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80"/>
              <a:buChar char="•"/>
            </a:pPr>
            <a:r>
              <a:rPr b="1" lang="en-US" sz="2800">
                <a:solidFill>
                  <a:srgbClr val="0033CC"/>
                </a:solidFill>
              </a:rPr>
              <a:t>Dynamic Ports:</a:t>
            </a:r>
            <a:endParaRPr b="1" sz="2800"/>
          </a:p>
          <a:p>
            <a:pPr indent="-288925" lvl="1" marL="855663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 sz="2800"/>
              <a:t>Also known as private or ephemeral ports</a:t>
            </a:r>
            <a:endParaRPr/>
          </a:p>
          <a:p>
            <a:pPr indent="-288925" lvl="1" marL="855663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 sz="2800"/>
              <a:t>Never assigned or controlled by IANA.</a:t>
            </a:r>
            <a:endParaRPr/>
          </a:p>
        </p:txBody>
      </p:sp>
      <p:pic>
        <p:nvPicPr>
          <p:cNvPr descr="port04" id="358" name="Google Shape;358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33600" y="3506788"/>
            <a:ext cx="8153400" cy="1674812"/>
          </a:xfrm>
          <a:prstGeom prst="rect">
            <a:avLst/>
          </a:prstGeom>
          <a:noFill/>
          <a:ln>
            <a:noFill/>
          </a:ln>
        </p:spPr>
      </p:pic>
      <p:sp>
        <p:nvSpPr>
          <p:cNvPr id="359" name="Google Shape;359;p18"/>
          <p:cNvSpPr/>
          <p:nvPr/>
        </p:nvSpPr>
        <p:spPr>
          <a:xfrm>
            <a:off x="2209800" y="4648200"/>
            <a:ext cx="8001000" cy="457200"/>
          </a:xfrm>
          <a:prstGeom prst="rect">
            <a:avLst/>
          </a:prstGeom>
          <a:noFill/>
          <a:ln cap="flat" cmpd="sng" w="5715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0" name="Google Shape;360;p18"/>
          <p:cNvSpPr txBox="1"/>
          <p:nvPr/>
        </p:nvSpPr>
        <p:spPr>
          <a:xfrm>
            <a:off x="3048000" y="5730876"/>
            <a:ext cx="6096000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990099"/>
                </a:solidFill>
                <a:latin typeface="Arial"/>
                <a:ea typeface="Arial"/>
                <a:cs typeface="Arial"/>
                <a:sym typeface="Arial"/>
              </a:rPr>
              <a:t>Dynamic port usage will become clearer as we move through the material.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1" name="Google Shape;361;p18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tcp02" id="366" name="Google Shape;366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39501" y="1154906"/>
            <a:ext cx="9312998" cy="3481388"/>
          </a:xfrm>
          <a:prstGeom prst="rect">
            <a:avLst/>
          </a:prstGeom>
          <a:noFill/>
          <a:ln>
            <a:noFill/>
          </a:ln>
        </p:spPr>
      </p:pic>
      <p:sp>
        <p:nvSpPr>
          <p:cNvPr id="367" name="Google Shape;367;p32"/>
          <p:cNvSpPr txBox="1"/>
          <p:nvPr>
            <p:ph idx="4294967295" type="title"/>
          </p:nvPr>
        </p:nvSpPr>
        <p:spPr>
          <a:xfrm>
            <a:off x="1484311" y="139703"/>
            <a:ext cx="10018713" cy="5143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orbel"/>
              <a:buNone/>
            </a:pPr>
            <a:r>
              <a:rPr lang="en-US"/>
              <a:t>More on Port Numbers</a:t>
            </a:r>
            <a:endParaRPr/>
          </a:p>
        </p:txBody>
      </p:sp>
      <p:sp>
        <p:nvSpPr>
          <p:cNvPr id="368" name="Google Shape;368;p32"/>
          <p:cNvSpPr txBox="1"/>
          <p:nvPr>
            <p:ph idx="4294967295" type="body"/>
          </p:nvPr>
        </p:nvSpPr>
        <p:spPr>
          <a:xfrm>
            <a:off x="1851891" y="4870665"/>
            <a:ext cx="8229600" cy="14874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28575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Server is listening on Port 80 for HTTP connections.</a:t>
            </a:r>
            <a:endParaRPr/>
          </a:p>
          <a:p>
            <a:pPr indent="-285750" lvl="0" marL="28575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The client sets the destination port to 80 and uses a dynamic port as its source.</a:t>
            </a:r>
            <a:endParaRPr/>
          </a:p>
        </p:txBody>
      </p:sp>
      <p:sp>
        <p:nvSpPr>
          <p:cNvPr id="369" name="Google Shape;369;p32"/>
          <p:cNvSpPr txBox="1"/>
          <p:nvPr/>
        </p:nvSpPr>
        <p:spPr>
          <a:xfrm>
            <a:off x="2057400" y="3657600"/>
            <a:ext cx="2133600" cy="707886"/>
          </a:xfrm>
          <a:prstGeom prst="rect">
            <a:avLst/>
          </a:prstGeom>
          <a:solidFill>
            <a:srgbClr val="000080"/>
          </a:solidFill>
          <a:ln cap="flat" cmpd="sng" w="57150">
            <a:solidFill>
              <a:srgbClr val="99CC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FF00"/>
                </a:solidFill>
                <a:latin typeface="Arial"/>
                <a:ea typeface="Arial"/>
                <a:cs typeface="Arial"/>
                <a:sym typeface="Arial"/>
              </a:rPr>
              <a:t>Source = 49650</a:t>
            </a:r>
            <a:br>
              <a:rPr b="0" i="0" lang="en-US" sz="20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0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Destination = 80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70" name="Google Shape;370;p32"/>
          <p:cNvCxnSpPr/>
          <p:nvPr/>
        </p:nvCxnSpPr>
        <p:spPr>
          <a:xfrm flipH="1" rot="10800000">
            <a:off x="3038764" y="3048000"/>
            <a:ext cx="4636654" cy="9236"/>
          </a:xfrm>
          <a:prstGeom prst="straightConnector1">
            <a:avLst/>
          </a:prstGeom>
          <a:noFill/>
          <a:ln cap="flat" cmpd="sng" w="57150">
            <a:solidFill>
              <a:srgbClr val="FF0000"/>
            </a:solidFill>
            <a:prstDash val="solid"/>
            <a:round/>
            <a:headEnd len="sm" w="sm" type="none"/>
            <a:tailEnd len="med" w="med" type="triangle"/>
          </a:ln>
        </p:spPr>
      </p:cxnSp>
      <p:pic>
        <p:nvPicPr>
          <p:cNvPr descr="tcpudp03" id="371" name="Google Shape;371;p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351448" y="758682"/>
            <a:ext cx="4392054" cy="1515629"/>
          </a:xfrm>
          <a:prstGeom prst="rect">
            <a:avLst/>
          </a:prstGeom>
          <a:noFill/>
          <a:ln>
            <a:noFill/>
          </a:ln>
        </p:spPr>
      </p:pic>
      <p:sp>
        <p:nvSpPr>
          <p:cNvPr id="372" name="Google Shape;372;p32"/>
          <p:cNvSpPr/>
          <p:nvPr/>
        </p:nvSpPr>
        <p:spPr>
          <a:xfrm>
            <a:off x="2422975" y="1166560"/>
            <a:ext cx="2057400" cy="152400"/>
          </a:xfrm>
          <a:prstGeom prst="rect">
            <a:avLst/>
          </a:prstGeom>
          <a:noFill/>
          <a:ln cap="flat" cmpd="sng" w="31750">
            <a:solidFill>
              <a:srgbClr val="00FF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FF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3" name="Google Shape;373;p32"/>
          <p:cNvSpPr/>
          <p:nvPr/>
        </p:nvSpPr>
        <p:spPr>
          <a:xfrm>
            <a:off x="4480375" y="1154906"/>
            <a:ext cx="2286000" cy="152400"/>
          </a:xfrm>
          <a:prstGeom prst="rect">
            <a:avLst/>
          </a:prstGeom>
          <a:noFill/>
          <a:ln cap="flat" cmpd="sng" w="3175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FF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4" name="Google Shape;374;p32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75" name="Google Shape;375;p3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350096" y="1553331"/>
            <a:ext cx="2002704" cy="986669"/>
          </a:xfrm>
          <a:prstGeom prst="rect">
            <a:avLst/>
          </a:prstGeom>
          <a:noFill/>
          <a:ln>
            <a:noFill/>
          </a:ln>
        </p:spPr>
      </p:pic>
      <p:sp>
        <p:nvSpPr>
          <p:cNvPr id="376" name="Google Shape;376;p32"/>
          <p:cNvSpPr txBox="1"/>
          <p:nvPr/>
        </p:nvSpPr>
        <p:spPr>
          <a:xfrm>
            <a:off x="7467600" y="3657600"/>
            <a:ext cx="1779768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Cisco.com Server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tcp03" id="381" name="Google Shape;381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05000" y="1143000"/>
            <a:ext cx="8534400" cy="3481388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82;p33"/>
          <p:cNvSpPr txBox="1"/>
          <p:nvPr>
            <p:ph idx="4294967295" type="body"/>
          </p:nvPr>
        </p:nvSpPr>
        <p:spPr>
          <a:xfrm>
            <a:off x="1676400" y="4800600"/>
            <a:ext cx="88392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28575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80"/>
              <a:buChar char="•"/>
            </a:pPr>
            <a:r>
              <a:rPr lang="en-US" sz="2800"/>
              <a:t>Server replies with the web page.</a:t>
            </a:r>
            <a:endParaRPr sz="2800"/>
          </a:p>
          <a:p>
            <a:pPr indent="-288925" lvl="1" marL="855663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 sz="2400"/>
              <a:t>Sets the source port to 80 and uses the client’s source port as the destination.</a:t>
            </a:r>
            <a:endParaRPr sz="2400"/>
          </a:p>
        </p:txBody>
      </p:sp>
      <p:cxnSp>
        <p:nvCxnSpPr>
          <p:cNvPr id="383" name="Google Shape;383;p33"/>
          <p:cNvCxnSpPr/>
          <p:nvPr/>
        </p:nvCxnSpPr>
        <p:spPr>
          <a:xfrm rot="10800000">
            <a:off x="3505200" y="3124200"/>
            <a:ext cx="4038600" cy="0"/>
          </a:xfrm>
          <a:prstGeom prst="straightConnector1">
            <a:avLst/>
          </a:prstGeom>
          <a:noFill/>
          <a:ln cap="flat" cmpd="sng" w="57150">
            <a:solidFill>
              <a:srgbClr val="FF0000"/>
            </a:solidFill>
            <a:prstDash val="solid"/>
            <a:round/>
            <a:headEnd len="sm" w="sm" type="none"/>
            <a:tailEnd len="med" w="med" type="triangle"/>
          </a:ln>
        </p:spPr>
      </p:cxnSp>
      <p:pic>
        <p:nvPicPr>
          <p:cNvPr descr="tcpudp03" id="384" name="Google Shape;384;p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67400" y="762000"/>
            <a:ext cx="4622800" cy="1670050"/>
          </a:xfrm>
          <a:prstGeom prst="rect">
            <a:avLst/>
          </a:prstGeom>
          <a:noFill/>
          <a:ln>
            <a:noFill/>
          </a:ln>
        </p:spPr>
      </p:pic>
      <p:sp>
        <p:nvSpPr>
          <p:cNvPr id="385" name="Google Shape;385;p33"/>
          <p:cNvSpPr/>
          <p:nvPr/>
        </p:nvSpPr>
        <p:spPr>
          <a:xfrm>
            <a:off x="5943600" y="1219200"/>
            <a:ext cx="2057400" cy="152400"/>
          </a:xfrm>
          <a:prstGeom prst="rect">
            <a:avLst/>
          </a:prstGeom>
          <a:noFill/>
          <a:ln cap="flat" cmpd="sng" w="31750">
            <a:solidFill>
              <a:srgbClr val="00FF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FF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6" name="Google Shape;386;p33"/>
          <p:cNvSpPr/>
          <p:nvPr/>
        </p:nvSpPr>
        <p:spPr>
          <a:xfrm>
            <a:off x="8077200" y="1219200"/>
            <a:ext cx="2286000" cy="152400"/>
          </a:xfrm>
          <a:prstGeom prst="rect">
            <a:avLst/>
          </a:prstGeom>
          <a:noFill/>
          <a:ln cap="flat" cmpd="sng" w="3175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FF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7" name="Google Shape;387;p33"/>
          <p:cNvSpPr txBox="1"/>
          <p:nvPr/>
        </p:nvSpPr>
        <p:spPr>
          <a:xfrm>
            <a:off x="6705600" y="3657600"/>
            <a:ext cx="2514600" cy="707886"/>
          </a:xfrm>
          <a:prstGeom prst="rect">
            <a:avLst/>
          </a:prstGeom>
          <a:solidFill>
            <a:srgbClr val="000080"/>
          </a:solidFill>
          <a:ln cap="flat" cmpd="sng" w="57150">
            <a:solidFill>
              <a:srgbClr val="99CC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FF00"/>
                </a:solidFill>
                <a:latin typeface="Arial"/>
                <a:ea typeface="Arial"/>
                <a:cs typeface="Arial"/>
                <a:sym typeface="Arial"/>
              </a:rPr>
              <a:t>Source = 80</a:t>
            </a:r>
            <a:br>
              <a:rPr b="0" i="0" lang="en-US" sz="20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0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Destination = 49650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8" name="Google Shape;388;p33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89" name="Google Shape;389;p33"/>
          <p:cNvSpPr txBox="1"/>
          <p:nvPr>
            <p:ph idx="4294967295" type="title"/>
          </p:nvPr>
        </p:nvSpPr>
        <p:spPr>
          <a:xfrm>
            <a:off x="1484311" y="139703"/>
            <a:ext cx="10018800" cy="51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orbel"/>
              <a:buNone/>
            </a:pPr>
            <a:r>
              <a:rPr lang="en-US"/>
              <a:t>Port Numbers in Action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tcp02" id="394" name="Google Shape;394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05000" y="800832"/>
            <a:ext cx="8534400" cy="3481388"/>
          </a:xfrm>
          <a:prstGeom prst="rect">
            <a:avLst/>
          </a:prstGeom>
          <a:noFill/>
          <a:ln>
            <a:noFill/>
          </a:ln>
        </p:spPr>
      </p:pic>
      <p:sp>
        <p:nvSpPr>
          <p:cNvPr id="395" name="Google Shape;395;p34"/>
          <p:cNvSpPr txBox="1"/>
          <p:nvPr/>
        </p:nvSpPr>
        <p:spPr>
          <a:xfrm>
            <a:off x="7315200" y="3375892"/>
            <a:ext cx="2514600" cy="707886"/>
          </a:xfrm>
          <a:prstGeom prst="rect">
            <a:avLst/>
          </a:prstGeom>
          <a:solidFill>
            <a:srgbClr val="000080"/>
          </a:solidFill>
          <a:ln cap="flat" cmpd="sng" w="57150">
            <a:solidFill>
              <a:srgbClr val="99CC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FF00"/>
                </a:solidFill>
                <a:latin typeface="Arial"/>
                <a:ea typeface="Arial"/>
                <a:cs typeface="Arial"/>
                <a:sym typeface="Arial"/>
              </a:rPr>
              <a:t>Source = 80</a:t>
            </a:r>
            <a:br>
              <a:rPr b="0" i="0" lang="en-US" sz="20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0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Destination = 49650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96" name="Google Shape;396;p34"/>
          <p:cNvCxnSpPr/>
          <p:nvPr/>
        </p:nvCxnSpPr>
        <p:spPr>
          <a:xfrm rot="10800000">
            <a:off x="3352800" y="2709816"/>
            <a:ext cx="4038600" cy="0"/>
          </a:xfrm>
          <a:prstGeom prst="straightConnector1">
            <a:avLst/>
          </a:prstGeom>
          <a:noFill/>
          <a:ln cap="flat" cmpd="sng" w="57150">
            <a:solidFill>
              <a:srgbClr val="FF0000"/>
            </a:solidFill>
            <a:prstDash val="solid"/>
            <a:round/>
            <a:headEnd len="med" w="med" type="triangle"/>
            <a:tailEnd len="med" w="med" type="triangle"/>
          </a:ln>
        </p:spPr>
      </p:cxnSp>
      <p:pic>
        <p:nvPicPr>
          <p:cNvPr descr="tcpudp03" id="397" name="Google Shape;397;p3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692400" y="688975"/>
            <a:ext cx="4622800" cy="1670050"/>
          </a:xfrm>
          <a:prstGeom prst="rect">
            <a:avLst/>
          </a:prstGeom>
          <a:noFill/>
          <a:ln>
            <a:noFill/>
          </a:ln>
        </p:spPr>
      </p:pic>
      <p:sp>
        <p:nvSpPr>
          <p:cNvPr id="398" name="Google Shape;398;p34"/>
          <p:cNvSpPr/>
          <p:nvPr/>
        </p:nvSpPr>
        <p:spPr>
          <a:xfrm>
            <a:off x="2763982" y="1148921"/>
            <a:ext cx="2057400" cy="152400"/>
          </a:xfrm>
          <a:prstGeom prst="rect">
            <a:avLst/>
          </a:prstGeom>
          <a:noFill/>
          <a:ln cap="flat" cmpd="sng" w="31750">
            <a:solidFill>
              <a:srgbClr val="00FF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FF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9" name="Google Shape;399;p34"/>
          <p:cNvSpPr/>
          <p:nvPr/>
        </p:nvSpPr>
        <p:spPr>
          <a:xfrm>
            <a:off x="5010727" y="1148921"/>
            <a:ext cx="2286000" cy="152400"/>
          </a:xfrm>
          <a:prstGeom prst="rect">
            <a:avLst/>
          </a:prstGeom>
          <a:noFill/>
          <a:ln cap="flat" cmpd="sng" w="3175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FF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0" name="Google Shape;400;p34"/>
          <p:cNvSpPr txBox="1"/>
          <p:nvPr/>
        </p:nvSpPr>
        <p:spPr>
          <a:xfrm>
            <a:off x="2209800" y="3366656"/>
            <a:ext cx="2133600" cy="707886"/>
          </a:xfrm>
          <a:prstGeom prst="rect">
            <a:avLst/>
          </a:prstGeom>
          <a:solidFill>
            <a:srgbClr val="000080"/>
          </a:solidFill>
          <a:ln cap="flat" cmpd="sng" w="57150">
            <a:solidFill>
              <a:srgbClr val="99CC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FF00"/>
                </a:solidFill>
                <a:latin typeface="Arial"/>
                <a:ea typeface="Arial"/>
                <a:cs typeface="Arial"/>
                <a:sym typeface="Arial"/>
              </a:rPr>
              <a:t>Source = 49650</a:t>
            </a:r>
            <a:br>
              <a:rPr b="0" i="0" lang="en-US" sz="20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0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Destination = 80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1" name="Google Shape;401;p34"/>
          <p:cNvSpPr/>
          <p:nvPr/>
        </p:nvSpPr>
        <p:spPr>
          <a:xfrm>
            <a:off x="4343400" y="3599145"/>
            <a:ext cx="2819400" cy="381000"/>
          </a:xfrm>
          <a:custGeom>
            <a:rect b="b" l="l" r="r" t="t"/>
            <a:pathLst>
              <a:path extrusionOk="0" h="288" w="1776">
                <a:moveTo>
                  <a:pt x="0" y="0"/>
                </a:moveTo>
                <a:lnTo>
                  <a:pt x="768" y="0"/>
                </a:lnTo>
                <a:lnTo>
                  <a:pt x="768" y="288"/>
                </a:lnTo>
                <a:lnTo>
                  <a:pt x="1776" y="288"/>
                </a:lnTo>
              </a:path>
            </a:pathLst>
          </a:custGeom>
          <a:noFill/>
          <a:ln cap="flat" cmpd="sng" w="57150">
            <a:solidFill>
              <a:srgbClr val="00FF00"/>
            </a:solidFill>
            <a:prstDash val="solid"/>
            <a:round/>
            <a:headEnd len="med" w="med" type="triangle"/>
            <a:tailEnd len="med" w="med" type="triangl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2" name="Google Shape;402;p34"/>
          <p:cNvSpPr/>
          <p:nvPr/>
        </p:nvSpPr>
        <p:spPr>
          <a:xfrm>
            <a:off x="4419600" y="3637245"/>
            <a:ext cx="2743200" cy="304800"/>
          </a:xfrm>
          <a:custGeom>
            <a:rect b="b" l="l" r="r" t="t"/>
            <a:pathLst>
              <a:path extrusionOk="0" h="192" w="1728">
                <a:moveTo>
                  <a:pt x="0" y="192"/>
                </a:moveTo>
                <a:lnTo>
                  <a:pt x="672" y="192"/>
                </a:lnTo>
                <a:lnTo>
                  <a:pt x="672" y="0"/>
                </a:lnTo>
                <a:lnTo>
                  <a:pt x="1728" y="0"/>
                </a:lnTo>
              </a:path>
            </a:pathLst>
          </a:custGeom>
          <a:noFill/>
          <a:ln cap="flat" cmpd="sng" w="57150">
            <a:solidFill>
              <a:srgbClr val="FF0000"/>
            </a:solidFill>
            <a:prstDash val="solid"/>
            <a:round/>
            <a:headEnd len="med" w="med" type="triangle"/>
            <a:tailEnd len="med" w="med" type="triangl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3" name="Google Shape;403;p34"/>
          <p:cNvSpPr/>
          <p:nvPr/>
        </p:nvSpPr>
        <p:spPr>
          <a:xfrm>
            <a:off x="1991878" y="4731381"/>
            <a:ext cx="9511145" cy="1261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86C3"/>
              </a:buClr>
              <a:buSzPts val="288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Clients can use any random port number, Servers can’t.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1" marL="800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86C3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Because clients won’t be able to identify server process otherwise</a:t>
            </a:r>
            <a:endParaRPr/>
          </a:p>
          <a:p>
            <a:pPr indent="-342900" lvl="1" marL="800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86C3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Servers thus must use </a:t>
            </a:r>
            <a:r>
              <a:rPr b="1" i="0" lang="en-US" sz="2400" u="none" cap="none" strike="noStrike">
                <a:solidFill>
                  <a:srgbClr val="7D28CD"/>
                </a:solidFill>
                <a:latin typeface="Corbel"/>
                <a:ea typeface="Corbel"/>
                <a:cs typeface="Corbel"/>
                <a:sym typeface="Corbel"/>
              </a:rPr>
              <a:t>well-known port numbers</a:t>
            </a:r>
            <a:r>
              <a:rPr b="0" i="0" lang="en-US" sz="2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! </a:t>
            </a:r>
            <a:endParaRPr b="0" i="0" sz="2000" u="none" cap="none" strike="noStrik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404" name="Google Shape;404;p34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05" name="Google Shape;405;p34"/>
          <p:cNvSpPr txBox="1"/>
          <p:nvPr>
            <p:ph idx="4294967295" type="title"/>
          </p:nvPr>
        </p:nvSpPr>
        <p:spPr>
          <a:xfrm>
            <a:off x="1484311" y="139703"/>
            <a:ext cx="10018800" cy="51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orbel"/>
              <a:buNone/>
            </a:pPr>
            <a:r>
              <a:rPr lang="en-US"/>
              <a:t>Port Numbers in Action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tcp04" id="410" name="Google Shape;410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52600" y="990600"/>
            <a:ext cx="8763000" cy="3581400"/>
          </a:xfrm>
          <a:prstGeom prst="rect">
            <a:avLst/>
          </a:prstGeom>
          <a:noFill/>
          <a:ln>
            <a:noFill/>
          </a:ln>
        </p:spPr>
      </p:pic>
      <p:sp>
        <p:nvSpPr>
          <p:cNvPr id="411" name="Google Shape;411;p35"/>
          <p:cNvSpPr txBox="1"/>
          <p:nvPr>
            <p:ph idx="4294967295" type="body"/>
          </p:nvPr>
        </p:nvSpPr>
        <p:spPr>
          <a:xfrm>
            <a:off x="1676400" y="4648200"/>
            <a:ext cx="8839200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285750" lvl="0" marL="2857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What if there are two sessions to the same server?</a:t>
            </a:r>
            <a:endParaRPr/>
          </a:p>
          <a:p>
            <a:pPr indent="-288925" lvl="1" marL="855663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/>
              <a:t>The client uses </a:t>
            </a:r>
            <a:r>
              <a:rPr lang="en-US">
                <a:solidFill>
                  <a:srgbClr val="990099"/>
                </a:solidFill>
              </a:rPr>
              <a:t>another dynamic port</a:t>
            </a:r>
            <a:r>
              <a:rPr lang="en-US"/>
              <a:t> as its source and the destination is </a:t>
            </a:r>
            <a:r>
              <a:rPr lang="en-US">
                <a:solidFill>
                  <a:srgbClr val="990099"/>
                </a:solidFill>
              </a:rPr>
              <a:t>still port 80</a:t>
            </a:r>
            <a:r>
              <a:rPr lang="en-US"/>
              <a:t>.</a:t>
            </a:r>
            <a:endParaRPr/>
          </a:p>
          <a:p>
            <a:pPr indent="-288925" lvl="1" marL="855663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>
                <a:solidFill>
                  <a:srgbClr val="990099"/>
                </a:solidFill>
              </a:rPr>
              <a:t>Different source ports</a:t>
            </a:r>
            <a:r>
              <a:rPr lang="en-US"/>
              <a:t> keep the sessions unique on the server. </a:t>
            </a:r>
            <a:endParaRPr/>
          </a:p>
        </p:txBody>
      </p:sp>
      <p:sp>
        <p:nvSpPr>
          <p:cNvPr id="412" name="Google Shape;412;p35"/>
          <p:cNvSpPr txBox="1"/>
          <p:nvPr/>
        </p:nvSpPr>
        <p:spPr>
          <a:xfrm>
            <a:off x="4191000" y="1295400"/>
            <a:ext cx="2133600" cy="707886"/>
          </a:xfrm>
          <a:prstGeom prst="rect">
            <a:avLst/>
          </a:prstGeom>
          <a:solidFill>
            <a:srgbClr val="000080"/>
          </a:solidFill>
          <a:ln cap="flat" cmpd="sng" w="57150">
            <a:solidFill>
              <a:srgbClr val="99CC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FF00"/>
                </a:solidFill>
                <a:latin typeface="Arial"/>
                <a:ea typeface="Arial"/>
                <a:cs typeface="Arial"/>
                <a:sym typeface="Arial"/>
              </a:rPr>
              <a:t>Source = 49650</a:t>
            </a:r>
            <a:br>
              <a:rPr b="0" i="0" lang="en-US" sz="20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0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Destination = 80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3" name="Google Shape;413;p35"/>
          <p:cNvSpPr txBox="1"/>
          <p:nvPr/>
        </p:nvSpPr>
        <p:spPr>
          <a:xfrm>
            <a:off x="4191000" y="3429000"/>
            <a:ext cx="2133600" cy="707886"/>
          </a:xfrm>
          <a:prstGeom prst="rect">
            <a:avLst/>
          </a:prstGeom>
          <a:solidFill>
            <a:srgbClr val="000080"/>
          </a:solidFill>
          <a:ln cap="flat" cmpd="sng" w="57150">
            <a:solidFill>
              <a:srgbClr val="99CC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FF00"/>
                </a:solidFill>
                <a:latin typeface="Arial"/>
                <a:ea typeface="Arial"/>
                <a:cs typeface="Arial"/>
                <a:sym typeface="Arial"/>
              </a:rPr>
              <a:t>Source = 49655</a:t>
            </a:r>
            <a:br>
              <a:rPr b="0" i="0" lang="en-US" sz="20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0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Destination = 80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4" name="Google Shape;414;p35"/>
          <p:cNvSpPr txBox="1"/>
          <p:nvPr/>
        </p:nvSpPr>
        <p:spPr>
          <a:xfrm>
            <a:off x="7772400" y="1295400"/>
            <a:ext cx="2514600" cy="707886"/>
          </a:xfrm>
          <a:prstGeom prst="rect">
            <a:avLst/>
          </a:prstGeom>
          <a:solidFill>
            <a:srgbClr val="000080"/>
          </a:solidFill>
          <a:ln cap="flat" cmpd="sng" w="57150">
            <a:solidFill>
              <a:srgbClr val="99CC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FF00"/>
                </a:solidFill>
                <a:latin typeface="Arial"/>
                <a:ea typeface="Arial"/>
                <a:cs typeface="Arial"/>
                <a:sym typeface="Arial"/>
              </a:rPr>
              <a:t>Source = 80</a:t>
            </a:r>
            <a:br>
              <a:rPr b="0" i="0" lang="en-US" sz="20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0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Destination = 49650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5" name="Google Shape;415;p35"/>
          <p:cNvSpPr txBox="1"/>
          <p:nvPr/>
        </p:nvSpPr>
        <p:spPr>
          <a:xfrm>
            <a:off x="7696200" y="3429000"/>
            <a:ext cx="2514600" cy="707886"/>
          </a:xfrm>
          <a:prstGeom prst="rect">
            <a:avLst/>
          </a:prstGeom>
          <a:solidFill>
            <a:srgbClr val="000080"/>
          </a:solidFill>
          <a:ln cap="flat" cmpd="sng" w="57150">
            <a:solidFill>
              <a:srgbClr val="99CC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FF00"/>
                </a:solidFill>
                <a:latin typeface="Arial"/>
                <a:ea typeface="Arial"/>
                <a:cs typeface="Arial"/>
                <a:sym typeface="Arial"/>
              </a:rPr>
              <a:t>Source = 80</a:t>
            </a:r>
            <a:br>
              <a:rPr b="0" i="0" lang="en-US" sz="20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0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Destination = 49655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16" name="Google Shape;416;p35"/>
          <p:cNvCxnSpPr/>
          <p:nvPr/>
        </p:nvCxnSpPr>
        <p:spPr>
          <a:xfrm>
            <a:off x="6477000" y="1676400"/>
            <a:ext cx="1066800" cy="0"/>
          </a:xfrm>
          <a:prstGeom prst="straightConnector1">
            <a:avLst/>
          </a:prstGeom>
          <a:noFill/>
          <a:ln cap="flat" cmpd="sng" w="57150">
            <a:solidFill>
              <a:srgbClr val="FF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417" name="Google Shape;417;p35"/>
          <p:cNvCxnSpPr/>
          <p:nvPr/>
        </p:nvCxnSpPr>
        <p:spPr>
          <a:xfrm>
            <a:off x="6477000" y="3810000"/>
            <a:ext cx="1066800" cy="0"/>
          </a:xfrm>
          <a:prstGeom prst="straightConnector1">
            <a:avLst/>
          </a:prstGeom>
          <a:noFill/>
          <a:ln cap="flat" cmpd="sng" w="57150">
            <a:solidFill>
              <a:srgbClr val="FF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418" name="Google Shape;418;p35"/>
          <p:cNvSpPr txBox="1"/>
          <p:nvPr/>
        </p:nvSpPr>
        <p:spPr>
          <a:xfrm>
            <a:off x="4724400" y="2438401"/>
            <a:ext cx="175260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172.16.230.5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9" name="Google Shape;419;p35"/>
          <p:cNvSpPr txBox="1"/>
          <p:nvPr/>
        </p:nvSpPr>
        <p:spPr>
          <a:xfrm>
            <a:off x="7315200" y="2438401"/>
            <a:ext cx="182880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207.22.146.33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0" name="Google Shape;420;p35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21" name="Google Shape;421;p35"/>
          <p:cNvSpPr txBox="1"/>
          <p:nvPr>
            <p:ph idx="4294967295" type="title"/>
          </p:nvPr>
        </p:nvSpPr>
        <p:spPr>
          <a:xfrm>
            <a:off x="1484311" y="139703"/>
            <a:ext cx="10018800" cy="51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orbel"/>
              <a:buNone/>
            </a:pPr>
            <a:r>
              <a:rPr lang="en-US"/>
              <a:t>Port Numbers in Action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tcp04" id="426" name="Google Shape;426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52600" y="1044576"/>
            <a:ext cx="8763000" cy="3581400"/>
          </a:xfrm>
          <a:prstGeom prst="rect">
            <a:avLst/>
          </a:prstGeom>
          <a:noFill/>
          <a:ln>
            <a:noFill/>
          </a:ln>
        </p:spPr>
      </p:pic>
      <p:sp>
        <p:nvSpPr>
          <p:cNvPr id="427" name="Google Shape;427;p36"/>
          <p:cNvSpPr txBox="1"/>
          <p:nvPr/>
        </p:nvSpPr>
        <p:spPr>
          <a:xfrm>
            <a:off x="4191000" y="1295400"/>
            <a:ext cx="2133600" cy="707886"/>
          </a:xfrm>
          <a:prstGeom prst="rect">
            <a:avLst/>
          </a:prstGeom>
          <a:solidFill>
            <a:srgbClr val="000080"/>
          </a:solidFill>
          <a:ln cap="flat" cmpd="sng" w="57150">
            <a:solidFill>
              <a:srgbClr val="99CC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FF00"/>
                </a:solidFill>
                <a:latin typeface="Arial"/>
                <a:ea typeface="Arial"/>
                <a:cs typeface="Arial"/>
                <a:sym typeface="Arial"/>
              </a:rPr>
              <a:t>Source = 49650</a:t>
            </a:r>
            <a:br>
              <a:rPr b="0" i="0" lang="en-US" sz="20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0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Destination = 80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8" name="Google Shape;428;p36"/>
          <p:cNvSpPr txBox="1"/>
          <p:nvPr/>
        </p:nvSpPr>
        <p:spPr>
          <a:xfrm>
            <a:off x="4191000" y="3429000"/>
            <a:ext cx="2133600" cy="707886"/>
          </a:xfrm>
          <a:prstGeom prst="rect">
            <a:avLst/>
          </a:prstGeom>
          <a:solidFill>
            <a:srgbClr val="000080"/>
          </a:solidFill>
          <a:ln cap="flat" cmpd="sng" w="57150">
            <a:solidFill>
              <a:srgbClr val="99CC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FF00"/>
                </a:solidFill>
                <a:latin typeface="Arial"/>
                <a:ea typeface="Arial"/>
                <a:cs typeface="Arial"/>
                <a:sym typeface="Arial"/>
              </a:rPr>
              <a:t>Source = 49655</a:t>
            </a:r>
            <a:br>
              <a:rPr b="0" i="0" lang="en-US" sz="20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0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Destination = 80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9" name="Google Shape;429;p36"/>
          <p:cNvSpPr txBox="1"/>
          <p:nvPr/>
        </p:nvSpPr>
        <p:spPr>
          <a:xfrm>
            <a:off x="7772400" y="1295400"/>
            <a:ext cx="2514600" cy="707886"/>
          </a:xfrm>
          <a:prstGeom prst="rect">
            <a:avLst/>
          </a:prstGeom>
          <a:solidFill>
            <a:srgbClr val="000080"/>
          </a:solidFill>
          <a:ln cap="flat" cmpd="sng" w="57150">
            <a:solidFill>
              <a:srgbClr val="99CC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FF00"/>
                </a:solidFill>
                <a:latin typeface="Arial"/>
                <a:ea typeface="Arial"/>
                <a:cs typeface="Arial"/>
                <a:sym typeface="Arial"/>
              </a:rPr>
              <a:t>Source = 80</a:t>
            </a:r>
            <a:br>
              <a:rPr b="0" i="0" lang="en-US" sz="20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0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Destination = 49650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0" name="Google Shape;430;p36"/>
          <p:cNvSpPr txBox="1"/>
          <p:nvPr/>
        </p:nvSpPr>
        <p:spPr>
          <a:xfrm>
            <a:off x="7696200" y="3429000"/>
            <a:ext cx="2514600" cy="707886"/>
          </a:xfrm>
          <a:prstGeom prst="rect">
            <a:avLst/>
          </a:prstGeom>
          <a:solidFill>
            <a:srgbClr val="000080"/>
          </a:solidFill>
          <a:ln cap="flat" cmpd="sng" w="57150">
            <a:solidFill>
              <a:srgbClr val="99CC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FF00"/>
                </a:solidFill>
                <a:latin typeface="Arial"/>
                <a:ea typeface="Arial"/>
                <a:cs typeface="Arial"/>
                <a:sym typeface="Arial"/>
              </a:rPr>
              <a:t>Source = 80</a:t>
            </a:r>
            <a:br>
              <a:rPr b="0" i="0" lang="en-US" sz="20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0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Destination = 49655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31" name="Google Shape;431;p36"/>
          <p:cNvCxnSpPr/>
          <p:nvPr/>
        </p:nvCxnSpPr>
        <p:spPr>
          <a:xfrm>
            <a:off x="6477000" y="1676400"/>
            <a:ext cx="1066800" cy="0"/>
          </a:xfrm>
          <a:prstGeom prst="straightConnector1">
            <a:avLst/>
          </a:prstGeom>
          <a:noFill/>
          <a:ln cap="flat" cmpd="sng" w="57150">
            <a:solidFill>
              <a:srgbClr val="FF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432" name="Google Shape;432;p36"/>
          <p:cNvCxnSpPr/>
          <p:nvPr/>
        </p:nvCxnSpPr>
        <p:spPr>
          <a:xfrm>
            <a:off x="6477000" y="3810000"/>
            <a:ext cx="1066800" cy="0"/>
          </a:xfrm>
          <a:prstGeom prst="straightConnector1">
            <a:avLst/>
          </a:prstGeom>
          <a:noFill/>
          <a:ln cap="flat" cmpd="sng" w="57150">
            <a:solidFill>
              <a:srgbClr val="FF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433" name="Google Shape;433;p36"/>
          <p:cNvSpPr txBox="1"/>
          <p:nvPr/>
        </p:nvSpPr>
        <p:spPr>
          <a:xfrm>
            <a:off x="4572000" y="2412433"/>
            <a:ext cx="175260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172.16.230.5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4" name="Google Shape;434;p36"/>
          <p:cNvSpPr txBox="1"/>
          <p:nvPr/>
        </p:nvSpPr>
        <p:spPr>
          <a:xfrm>
            <a:off x="7398327" y="2421670"/>
            <a:ext cx="182880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207.22.146.33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5" name="Google Shape;435;p36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36" name="Google Shape;436;p36"/>
          <p:cNvSpPr txBox="1"/>
          <p:nvPr>
            <p:ph idx="4294967295" type="title"/>
          </p:nvPr>
        </p:nvSpPr>
        <p:spPr>
          <a:xfrm>
            <a:off x="1484311" y="139703"/>
            <a:ext cx="10018800" cy="51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orbel"/>
              <a:buNone/>
            </a:pPr>
            <a:r>
              <a:rPr lang="en-US"/>
              <a:t>Port Numbers in Action</a:t>
            </a:r>
            <a:endParaRPr/>
          </a:p>
        </p:txBody>
      </p:sp>
      <p:sp>
        <p:nvSpPr>
          <p:cNvPr id="437" name="Google Shape;437;p36"/>
          <p:cNvSpPr/>
          <p:nvPr/>
        </p:nvSpPr>
        <p:spPr>
          <a:xfrm>
            <a:off x="1676400" y="4792322"/>
            <a:ext cx="8839200" cy="20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600CC"/>
              </a:buClr>
              <a:buSzPts val="2520"/>
              <a:buFont typeface="Noto Sans Symbols"/>
              <a:buChar char="🞐"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There are two tabs in the same PC, then?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8925" lvl="1" marL="855663" marR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040"/>
              <a:buFont typeface="Noto Sans Symbols"/>
              <a:buChar char="■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client uses </a:t>
            </a:r>
            <a:r>
              <a:rPr b="0" i="0" lang="en-US" sz="2400" u="none" cap="none" strike="noStrike">
                <a:solidFill>
                  <a:srgbClr val="990099"/>
                </a:solidFill>
                <a:latin typeface="Arial"/>
                <a:ea typeface="Arial"/>
                <a:cs typeface="Arial"/>
                <a:sym typeface="Arial"/>
              </a:rPr>
              <a:t>another dynamic port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as its source and the destination is </a:t>
            </a:r>
            <a:r>
              <a:rPr b="0" i="0" lang="en-US" sz="2400" u="none" cap="none" strike="noStrike">
                <a:solidFill>
                  <a:srgbClr val="990099"/>
                </a:solidFill>
                <a:latin typeface="Arial"/>
                <a:ea typeface="Arial"/>
                <a:cs typeface="Arial"/>
                <a:sym typeface="Arial"/>
              </a:rPr>
              <a:t>still port 80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-288925" lvl="1" marL="855663" marR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040"/>
              <a:buFont typeface="Noto Sans Symbols"/>
              <a:buChar char="■"/>
            </a:pPr>
            <a:r>
              <a:rPr b="0" i="0" lang="en-US" sz="2400" u="none" cap="none" strike="noStrike">
                <a:solidFill>
                  <a:srgbClr val="990099"/>
                </a:solidFill>
                <a:latin typeface="Arial"/>
                <a:ea typeface="Arial"/>
                <a:cs typeface="Arial"/>
                <a:sym typeface="Arial"/>
              </a:rPr>
              <a:t>Different source ports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keep the sessions unique.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23"/>
          <p:cNvSpPr txBox="1"/>
          <p:nvPr>
            <p:ph type="title"/>
          </p:nvPr>
        </p:nvSpPr>
        <p:spPr>
          <a:xfrm>
            <a:off x="1315243" y="186176"/>
            <a:ext cx="10018713" cy="5667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50000"/>
              <a:buNone/>
            </a:pPr>
            <a:r>
              <a:rPr lang="en-US"/>
              <a:t>More on Port Numbers in Action</a:t>
            </a:r>
            <a:endParaRPr/>
          </a:p>
        </p:txBody>
      </p:sp>
      <p:graphicFrame>
        <p:nvGraphicFramePr>
          <p:cNvPr id="443" name="Google Shape;443;p23"/>
          <p:cNvGraphicFramePr/>
          <p:nvPr/>
        </p:nvGraphicFramePr>
        <p:xfrm>
          <a:off x="7818263" y="2809685"/>
          <a:ext cx="1117950" cy="1429131"/>
        </p:xfrm>
        <a:graphic>
          <a:graphicData uri="http://schemas.openxmlformats.org/presentationml/2006/ole">
            <mc:AlternateContent>
              <mc:Choice Requires="v">
                <p:oleObj r:id="rId4" imgH="1429131" imgW="1117950" progId="Paint.Picture" spid="_x0000_s1">
                  <p:embed/>
                </p:oleObj>
              </mc:Choice>
              <mc:Fallback>
                <p:oleObj r:id="rId5" imgH="1429131" imgW="1117950" progId="Paint.Picture">
                  <p:embed/>
                  <p:pic>
                    <p:nvPicPr>
                      <p:cNvPr id="443" name="Google Shape;443;p23"/>
                      <p:cNvPicPr preferRelativeResize="0"/>
                      <p:nvPr/>
                    </p:nvPicPr>
                    <p:blipFill rotWithShape="1">
                      <a:blip r:embed="rId6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7818263" y="2809685"/>
                        <a:ext cx="1117950" cy="142913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4" name="Google Shape;444;p23"/>
          <p:cNvGraphicFramePr/>
          <p:nvPr/>
        </p:nvGraphicFramePr>
        <p:xfrm>
          <a:off x="1663780" y="1403985"/>
          <a:ext cx="1901667" cy="1383030"/>
        </p:xfrm>
        <a:graphic>
          <a:graphicData uri="http://schemas.openxmlformats.org/presentationml/2006/ole">
            <mc:AlternateContent>
              <mc:Choice Requires="v">
                <p:oleObj r:id="rId7" imgH="1383030" imgW="1901667" progId="Paint.Picture" spid="_x0000_s2">
                  <p:embed/>
                </p:oleObj>
              </mc:Choice>
              <mc:Fallback>
                <p:oleObj r:id="rId8" imgH="1383030" imgW="1901667" progId="Paint.Picture">
                  <p:embed/>
                  <p:pic>
                    <p:nvPicPr>
                      <p:cNvPr id="444" name="Google Shape;444;p23"/>
                      <p:cNvPicPr preferRelativeResize="0"/>
                      <p:nvPr/>
                    </p:nvPicPr>
                    <p:blipFill rotWithShape="1">
                      <a:blip r:embed="rId9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1663780" y="1403985"/>
                        <a:ext cx="1901667" cy="138303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5" name="Google Shape;445;p23"/>
          <p:cNvGraphicFramePr/>
          <p:nvPr/>
        </p:nvGraphicFramePr>
        <p:xfrm>
          <a:off x="1655731" y="3165142"/>
          <a:ext cx="1774889" cy="1540542"/>
        </p:xfrm>
        <a:graphic>
          <a:graphicData uri="http://schemas.openxmlformats.org/presentationml/2006/ole">
            <mc:AlternateContent>
              <mc:Choice Requires="v">
                <p:oleObj r:id="rId10" imgH="1540542" imgW="1774889" progId="Paint.Picture" spid="_x0000_s3">
                  <p:embed/>
                </p:oleObj>
              </mc:Choice>
              <mc:Fallback>
                <p:oleObj r:id="rId11" imgH="1540542" imgW="1774889" progId="Paint.Picture">
                  <p:embed/>
                  <p:pic>
                    <p:nvPicPr>
                      <p:cNvPr id="445" name="Google Shape;445;p23"/>
                      <p:cNvPicPr preferRelativeResize="0"/>
                      <p:nvPr/>
                    </p:nvPicPr>
                    <p:blipFill rotWithShape="1">
                      <a:blip r:embed="rId12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1655731" y="3165142"/>
                        <a:ext cx="1774889" cy="154054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46" name="Google Shape;446;p23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3036189" y="3494890"/>
            <a:ext cx="1014222" cy="996934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447" name="Google Shape;447;p23"/>
          <p:cNvGraphicFramePr/>
          <p:nvPr/>
        </p:nvGraphicFramePr>
        <p:xfrm>
          <a:off x="3112389" y="1666090"/>
          <a:ext cx="1014222" cy="996934"/>
        </p:xfrm>
        <a:graphic>
          <a:graphicData uri="http://schemas.openxmlformats.org/presentationml/2006/ole">
            <mc:AlternateContent>
              <mc:Choice Requires="v">
                <p:oleObj r:id="rId14" imgH="996934" imgW="1014222" progId="Paint.Picture" spid="_x0000_s4">
                  <p:embed/>
                </p:oleObj>
              </mc:Choice>
              <mc:Fallback>
                <p:oleObj r:id="rId15" imgH="996934" imgW="1014222" progId="Paint.Picture">
                  <p:embed/>
                  <p:pic>
                    <p:nvPicPr>
                      <p:cNvPr id="447" name="Google Shape;447;p23"/>
                      <p:cNvPicPr preferRelativeResize="0"/>
                      <p:nvPr/>
                    </p:nvPicPr>
                    <p:blipFill rotWithShape="1">
                      <a:blip r:embed="rId16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3112389" y="1666090"/>
                        <a:ext cx="1014222" cy="99693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48" name="Google Shape;448;p23"/>
          <p:cNvSpPr txBox="1"/>
          <p:nvPr/>
        </p:nvSpPr>
        <p:spPr>
          <a:xfrm>
            <a:off x="4114800" y="1602072"/>
            <a:ext cx="2133600" cy="856543"/>
          </a:xfrm>
          <a:prstGeom prst="rect">
            <a:avLst/>
          </a:prstGeom>
          <a:solidFill>
            <a:srgbClr val="000080"/>
          </a:solidFill>
          <a:ln cap="flat" cmpd="sng" w="57150">
            <a:solidFill>
              <a:srgbClr val="99CC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00FF00"/>
                </a:solidFill>
                <a:latin typeface="Arial"/>
                <a:ea typeface="Arial"/>
                <a:cs typeface="Arial"/>
                <a:sym typeface="Arial"/>
              </a:rPr>
              <a:t>Source = 49650</a:t>
            </a:r>
            <a:br>
              <a:rPr b="0" i="0" lang="en-US" sz="20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0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Destination = 80</a:t>
            </a:r>
            <a:endParaRPr/>
          </a:p>
        </p:txBody>
      </p:sp>
      <p:sp>
        <p:nvSpPr>
          <p:cNvPr id="449" name="Google Shape;449;p23"/>
          <p:cNvSpPr txBox="1"/>
          <p:nvPr/>
        </p:nvSpPr>
        <p:spPr>
          <a:xfrm>
            <a:off x="4191000" y="3507072"/>
            <a:ext cx="2133600" cy="856543"/>
          </a:xfrm>
          <a:prstGeom prst="rect">
            <a:avLst/>
          </a:prstGeom>
          <a:solidFill>
            <a:srgbClr val="000080"/>
          </a:solidFill>
          <a:ln cap="flat" cmpd="sng" w="57150">
            <a:solidFill>
              <a:srgbClr val="99CC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00FF00"/>
                </a:solidFill>
                <a:latin typeface="Arial"/>
                <a:ea typeface="Arial"/>
                <a:cs typeface="Arial"/>
                <a:sym typeface="Arial"/>
              </a:rPr>
              <a:t>Source = 49650</a:t>
            </a:r>
            <a:br>
              <a:rPr b="0" i="0" lang="en-US" sz="20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0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Destination = 80</a:t>
            </a:r>
            <a:endParaRPr/>
          </a:p>
        </p:txBody>
      </p:sp>
      <p:sp>
        <p:nvSpPr>
          <p:cNvPr id="450" name="Google Shape;450;p23"/>
          <p:cNvSpPr txBox="1"/>
          <p:nvPr/>
        </p:nvSpPr>
        <p:spPr>
          <a:xfrm>
            <a:off x="3108864" y="2524348"/>
            <a:ext cx="17526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172.16.230.5</a:t>
            </a:r>
            <a:endParaRPr/>
          </a:p>
        </p:txBody>
      </p:sp>
      <p:sp>
        <p:nvSpPr>
          <p:cNvPr id="451" name="Google Shape;451;p23"/>
          <p:cNvSpPr txBox="1"/>
          <p:nvPr/>
        </p:nvSpPr>
        <p:spPr>
          <a:xfrm>
            <a:off x="2971800" y="4364488"/>
            <a:ext cx="185508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172.16.230.6</a:t>
            </a:r>
            <a:endParaRPr/>
          </a:p>
        </p:txBody>
      </p:sp>
      <p:sp>
        <p:nvSpPr>
          <p:cNvPr id="452" name="Google Shape;452;p23"/>
          <p:cNvSpPr txBox="1"/>
          <p:nvPr/>
        </p:nvSpPr>
        <p:spPr>
          <a:xfrm>
            <a:off x="7696200" y="4073129"/>
            <a:ext cx="1828800" cy="4802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207.22.146.33</a:t>
            </a:r>
            <a:endParaRPr/>
          </a:p>
        </p:txBody>
      </p:sp>
      <p:sp>
        <p:nvSpPr>
          <p:cNvPr id="453" name="Google Shape;453;p23"/>
          <p:cNvSpPr/>
          <p:nvPr/>
        </p:nvSpPr>
        <p:spPr>
          <a:xfrm>
            <a:off x="1427430" y="4937302"/>
            <a:ext cx="9641940" cy="8112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00CC"/>
              </a:buClr>
              <a:buSzPts val="2160"/>
              <a:buFont typeface="Noto Sans Symbols"/>
              <a:buChar char="🞐"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How does the Server’s Transport Layer keep them separate?</a:t>
            </a:r>
            <a:endParaRPr/>
          </a:p>
          <a:p>
            <a:pPr indent="-288925" lvl="1" marL="855663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040"/>
              <a:buFont typeface="Noto Sans Symbols"/>
              <a:buChar char="■"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socket  </a:t>
            </a:r>
            <a:r>
              <a:rPr b="0" i="0" lang="en-US" sz="2400" u="none" cap="none" strike="noStrike">
                <a:solidFill>
                  <a:srgbClr val="990099"/>
                </a:solidFill>
                <a:latin typeface="Arial"/>
                <a:ea typeface="Arial"/>
                <a:cs typeface="Arial"/>
                <a:sym typeface="Arial"/>
              </a:rPr>
              <a:t>(IP Address:Port)</a:t>
            </a:r>
            <a:endParaRPr/>
          </a:p>
        </p:txBody>
      </p:sp>
      <p:sp>
        <p:nvSpPr>
          <p:cNvPr id="454" name="Google Shape;454;p23"/>
          <p:cNvSpPr txBox="1"/>
          <p:nvPr/>
        </p:nvSpPr>
        <p:spPr>
          <a:xfrm>
            <a:off x="1828800" y="5959476"/>
            <a:ext cx="31242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6600CC"/>
                </a:solidFill>
                <a:latin typeface="Arial"/>
                <a:ea typeface="Arial"/>
                <a:cs typeface="Arial"/>
                <a:sym typeface="Arial"/>
              </a:rPr>
              <a:t>172.16.230.5:</a:t>
            </a:r>
            <a:r>
              <a:rPr b="1" i="0" lang="en-US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49650</a:t>
            </a:r>
            <a:br>
              <a:rPr b="1" i="0" lang="en-US" sz="2400" u="none" cap="none" strike="noStrike">
                <a:solidFill>
                  <a:srgbClr val="6600CC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2400" u="none" cap="none" strike="noStrike">
                <a:solidFill>
                  <a:srgbClr val="6600CC"/>
                </a:solidFill>
                <a:latin typeface="Arial"/>
                <a:ea typeface="Arial"/>
                <a:cs typeface="Arial"/>
                <a:sym typeface="Arial"/>
              </a:rPr>
              <a:t>172.16.230.6:</a:t>
            </a:r>
            <a:r>
              <a:rPr b="1" i="0" lang="en-US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49650</a:t>
            </a:r>
            <a:endParaRPr/>
          </a:p>
        </p:txBody>
      </p:sp>
      <p:sp>
        <p:nvSpPr>
          <p:cNvPr id="455" name="Google Shape;455;p23"/>
          <p:cNvSpPr txBox="1"/>
          <p:nvPr/>
        </p:nvSpPr>
        <p:spPr>
          <a:xfrm>
            <a:off x="7010400" y="5883276"/>
            <a:ext cx="3124200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5A"/>
              </a:buClr>
              <a:buSzPts val="2400"/>
              <a:buFont typeface="Noto Sans Symbols"/>
              <a:buNone/>
            </a:pPr>
            <a:r>
              <a:rPr b="1" i="0" lang="en-US" sz="2400" u="none" cap="none" strike="noStrike">
                <a:solidFill>
                  <a:srgbClr val="00005A"/>
                </a:solidFill>
                <a:latin typeface="Arial"/>
                <a:ea typeface="Arial"/>
                <a:cs typeface="Arial"/>
                <a:sym typeface="Arial"/>
              </a:rPr>
              <a:t>207.22.146.33:</a:t>
            </a:r>
            <a:r>
              <a:rPr b="1" i="0" lang="en-US" sz="2400" u="none" cap="none" strike="noStrike">
                <a:solidFill>
                  <a:srgbClr val="C30601"/>
                </a:solidFill>
                <a:latin typeface="Arial"/>
                <a:ea typeface="Arial"/>
                <a:cs typeface="Arial"/>
                <a:sym typeface="Arial"/>
              </a:rPr>
              <a:t>80</a:t>
            </a:r>
            <a:br>
              <a:rPr b="1" i="0" lang="en-US" sz="2400" u="none" cap="none" strike="noStrike">
                <a:solidFill>
                  <a:srgbClr val="00005A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2400" u="none" cap="none" strike="noStrike">
                <a:solidFill>
                  <a:srgbClr val="00005A"/>
                </a:solidFill>
                <a:latin typeface="Arial"/>
                <a:ea typeface="Arial"/>
                <a:cs typeface="Arial"/>
                <a:sym typeface="Arial"/>
              </a:rPr>
              <a:t>207.22.146.33:</a:t>
            </a:r>
            <a:r>
              <a:rPr b="1" i="0" lang="en-US" sz="2400" u="none" cap="none" strike="noStrike">
                <a:solidFill>
                  <a:srgbClr val="C30601"/>
                </a:solidFill>
                <a:latin typeface="Arial"/>
                <a:ea typeface="Arial"/>
                <a:cs typeface="Arial"/>
                <a:sym typeface="Arial"/>
              </a:rPr>
              <a:t>80</a:t>
            </a:r>
            <a:endParaRPr/>
          </a:p>
        </p:txBody>
      </p:sp>
      <p:cxnSp>
        <p:nvCxnSpPr>
          <p:cNvPr id="456" name="Google Shape;456;p23"/>
          <p:cNvCxnSpPr/>
          <p:nvPr/>
        </p:nvCxnSpPr>
        <p:spPr>
          <a:xfrm>
            <a:off x="5029200" y="6096000"/>
            <a:ext cx="1752600" cy="0"/>
          </a:xfrm>
          <a:prstGeom prst="straightConnector1">
            <a:avLst/>
          </a:prstGeom>
          <a:noFill/>
          <a:ln cap="flat" cmpd="sng" w="57150">
            <a:solidFill>
              <a:srgbClr val="0000FF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457" name="Google Shape;457;p23"/>
          <p:cNvCxnSpPr/>
          <p:nvPr/>
        </p:nvCxnSpPr>
        <p:spPr>
          <a:xfrm>
            <a:off x="5029200" y="6553200"/>
            <a:ext cx="1752600" cy="0"/>
          </a:xfrm>
          <a:prstGeom prst="straightConnector1">
            <a:avLst/>
          </a:prstGeom>
          <a:noFill/>
          <a:ln cap="flat" cmpd="sng" w="57150">
            <a:solidFill>
              <a:srgbClr val="0000FF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458" name="Google Shape;458;p23"/>
          <p:cNvCxnSpPr/>
          <p:nvPr/>
        </p:nvCxnSpPr>
        <p:spPr>
          <a:xfrm>
            <a:off x="6477000" y="1937385"/>
            <a:ext cx="1371600" cy="1383030"/>
          </a:xfrm>
          <a:prstGeom prst="straightConnector1">
            <a:avLst/>
          </a:prstGeom>
          <a:noFill/>
          <a:ln cap="flat" cmpd="sng" w="57150">
            <a:solidFill>
              <a:srgbClr val="FF0000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459" name="Google Shape;459;p23"/>
          <p:cNvCxnSpPr/>
          <p:nvPr/>
        </p:nvCxnSpPr>
        <p:spPr>
          <a:xfrm flipH="1" rot="10800000">
            <a:off x="6553200" y="3280791"/>
            <a:ext cx="1143000" cy="829818"/>
          </a:xfrm>
          <a:prstGeom prst="straightConnector1">
            <a:avLst/>
          </a:prstGeom>
          <a:noFill/>
          <a:ln cap="flat" cmpd="sng" w="57150">
            <a:solidFill>
              <a:srgbClr val="FF0000"/>
            </a:solidFill>
            <a:prstDash val="solid"/>
            <a:round/>
            <a:headEnd len="med" w="med" type="oval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5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5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p37"/>
          <p:cNvSpPr txBox="1"/>
          <p:nvPr>
            <p:ph idx="4294967295"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Port Addressing Types and Tools</a:t>
            </a:r>
            <a:endParaRPr/>
          </a:p>
        </p:txBody>
      </p:sp>
      <p:pic>
        <p:nvPicPr>
          <p:cNvPr descr="pic_port 05" id="465" name="Google Shape;465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06742" y="304800"/>
            <a:ext cx="7550058" cy="5334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66" name="Google Shape;466;p37"/>
          <p:cNvGrpSpPr/>
          <p:nvPr/>
        </p:nvGrpSpPr>
        <p:grpSpPr>
          <a:xfrm>
            <a:off x="1752600" y="1524000"/>
            <a:ext cx="1295400" cy="1066800"/>
            <a:chOff x="144" y="960"/>
            <a:chExt cx="816" cy="672"/>
          </a:xfrm>
        </p:grpSpPr>
        <p:sp>
          <p:nvSpPr>
            <p:cNvPr id="467" name="Google Shape;467;p37"/>
            <p:cNvSpPr txBox="1"/>
            <p:nvPr/>
          </p:nvSpPr>
          <p:spPr>
            <a:xfrm>
              <a:off x="144" y="960"/>
              <a:ext cx="672" cy="233"/>
            </a:xfrm>
            <a:prstGeom prst="rect">
              <a:avLst/>
            </a:prstGeom>
            <a:solidFill>
              <a:srgbClr val="006699"/>
            </a:solidFill>
            <a:ln cap="flat" cmpd="sng" w="38100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0" spcFirstLastPara="1" rIns="0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TCP/UDP</a:t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68" name="Google Shape;468;p37"/>
            <p:cNvCxnSpPr/>
            <p:nvPr/>
          </p:nvCxnSpPr>
          <p:spPr>
            <a:xfrm>
              <a:off x="816" y="1200"/>
              <a:ext cx="144" cy="432"/>
            </a:xfrm>
            <a:prstGeom prst="straightConnector1">
              <a:avLst/>
            </a:prstGeom>
            <a:noFill/>
            <a:ln cap="flat" cmpd="sng" w="38100">
              <a:solidFill>
                <a:srgbClr val="FF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</p:grpSp>
      <p:grpSp>
        <p:nvGrpSpPr>
          <p:cNvPr id="469" name="Google Shape;469;p37"/>
          <p:cNvGrpSpPr/>
          <p:nvPr/>
        </p:nvGrpSpPr>
        <p:grpSpPr>
          <a:xfrm>
            <a:off x="2895600" y="609600"/>
            <a:ext cx="1447800" cy="2057400"/>
            <a:chOff x="864" y="384"/>
            <a:chExt cx="912" cy="1296"/>
          </a:xfrm>
        </p:grpSpPr>
        <p:sp>
          <p:nvSpPr>
            <p:cNvPr id="470" name="Google Shape;470;p37"/>
            <p:cNvSpPr txBox="1"/>
            <p:nvPr/>
          </p:nvSpPr>
          <p:spPr>
            <a:xfrm>
              <a:off x="864" y="384"/>
              <a:ext cx="720" cy="233"/>
            </a:xfrm>
            <a:prstGeom prst="rect">
              <a:avLst/>
            </a:prstGeom>
            <a:solidFill>
              <a:srgbClr val="006699"/>
            </a:solidFill>
            <a:ln cap="flat" cmpd="sng" w="38100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0" spcFirstLastPara="1" rIns="0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Source IP</a:t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71" name="Google Shape;471;p37"/>
            <p:cNvCxnSpPr/>
            <p:nvPr/>
          </p:nvCxnSpPr>
          <p:spPr>
            <a:xfrm>
              <a:off x="1440" y="624"/>
              <a:ext cx="336" cy="1056"/>
            </a:xfrm>
            <a:prstGeom prst="straightConnector1">
              <a:avLst/>
            </a:prstGeom>
            <a:noFill/>
            <a:ln cap="flat" cmpd="sng" w="38100">
              <a:solidFill>
                <a:srgbClr val="FF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</p:grpSp>
      <p:sp>
        <p:nvSpPr>
          <p:cNvPr id="472" name="Google Shape;472;p37"/>
          <p:cNvSpPr/>
          <p:nvPr/>
        </p:nvSpPr>
        <p:spPr>
          <a:xfrm>
            <a:off x="2667000" y="2398069"/>
            <a:ext cx="6781800" cy="461665"/>
          </a:xfrm>
          <a:prstGeom prst="rect">
            <a:avLst/>
          </a:prstGeom>
          <a:noFill/>
          <a:ln cap="flat" cmpd="sng" w="38100">
            <a:solidFill>
              <a:srgbClr val="FFFF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0" spcFirstLastPara="1" rIns="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73" name="Google Shape;473;p37"/>
          <p:cNvGrpSpPr/>
          <p:nvPr/>
        </p:nvGrpSpPr>
        <p:grpSpPr>
          <a:xfrm>
            <a:off x="4495800" y="609600"/>
            <a:ext cx="1295400" cy="2057400"/>
            <a:chOff x="1872" y="384"/>
            <a:chExt cx="816" cy="1296"/>
          </a:xfrm>
        </p:grpSpPr>
        <p:sp>
          <p:nvSpPr>
            <p:cNvPr id="474" name="Google Shape;474;p37"/>
            <p:cNvSpPr txBox="1"/>
            <p:nvPr/>
          </p:nvSpPr>
          <p:spPr>
            <a:xfrm>
              <a:off x="1872" y="384"/>
              <a:ext cx="816" cy="233"/>
            </a:xfrm>
            <a:prstGeom prst="rect">
              <a:avLst/>
            </a:prstGeom>
            <a:solidFill>
              <a:srgbClr val="006699"/>
            </a:solidFill>
            <a:ln cap="flat" cmpd="sng" w="38100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0" spcFirstLastPara="1" rIns="0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Source Port</a:t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75" name="Google Shape;475;p37"/>
            <p:cNvCxnSpPr/>
            <p:nvPr/>
          </p:nvCxnSpPr>
          <p:spPr>
            <a:xfrm>
              <a:off x="2160" y="624"/>
              <a:ext cx="192" cy="1056"/>
            </a:xfrm>
            <a:prstGeom prst="straightConnector1">
              <a:avLst/>
            </a:prstGeom>
            <a:noFill/>
            <a:ln cap="flat" cmpd="sng" w="38100">
              <a:solidFill>
                <a:srgbClr val="FF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</p:grpSp>
      <p:grpSp>
        <p:nvGrpSpPr>
          <p:cNvPr id="476" name="Google Shape;476;p37"/>
          <p:cNvGrpSpPr/>
          <p:nvPr/>
        </p:nvGrpSpPr>
        <p:grpSpPr>
          <a:xfrm>
            <a:off x="6400800" y="838200"/>
            <a:ext cx="1524000" cy="1828800"/>
            <a:chOff x="3072" y="528"/>
            <a:chExt cx="960" cy="1152"/>
          </a:xfrm>
        </p:grpSpPr>
        <p:sp>
          <p:nvSpPr>
            <p:cNvPr id="477" name="Google Shape;477;p37"/>
            <p:cNvSpPr txBox="1"/>
            <p:nvPr/>
          </p:nvSpPr>
          <p:spPr>
            <a:xfrm>
              <a:off x="3072" y="528"/>
              <a:ext cx="960" cy="233"/>
            </a:xfrm>
            <a:prstGeom prst="rect">
              <a:avLst/>
            </a:prstGeom>
            <a:solidFill>
              <a:srgbClr val="006699"/>
            </a:solidFill>
            <a:ln cap="flat" cmpd="sng" w="38100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0" spcFirstLastPara="1" rIns="0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Destination IP</a:t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78" name="Google Shape;478;p37"/>
            <p:cNvCxnSpPr/>
            <p:nvPr/>
          </p:nvCxnSpPr>
          <p:spPr>
            <a:xfrm flipH="1">
              <a:off x="3072" y="768"/>
              <a:ext cx="336" cy="912"/>
            </a:xfrm>
            <a:prstGeom prst="straightConnector1">
              <a:avLst/>
            </a:prstGeom>
            <a:noFill/>
            <a:ln cap="flat" cmpd="sng" w="38100">
              <a:solidFill>
                <a:srgbClr val="FF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</p:grpSp>
      <p:grpSp>
        <p:nvGrpSpPr>
          <p:cNvPr id="479" name="Google Shape;479;p37"/>
          <p:cNvGrpSpPr/>
          <p:nvPr/>
        </p:nvGrpSpPr>
        <p:grpSpPr>
          <a:xfrm>
            <a:off x="7391400" y="1371600"/>
            <a:ext cx="2209800" cy="1295400"/>
            <a:chOff x="3696" y="864"/>
            <a:chExt cx="1392" cy="816"/>
          </a:xfrm>
        </p:grpSpPr>
        <p:sp>
          <p:nvSpPr>
            <p:cNvPr id="480" name="Google Shape;480;p37"/>
            <p:cNvSpPr txBox="1"/>
            <p:nvPr/>
          </p:nvSpPr>
          <p:spPr>
            <a:xfrm>
              <a:off x="3984" y="864"/>
              <a:ext cx="1104" cy="233"/>
            </a:xfrm>
            <a:prstGeom prst="rect">
              <a:avLst/>
            </a:prstGeom>
            <a:solidFill>
              <a:srgbClr val="006699"/>
            </a:solidFill>
            <a:ln cap="flat" cmpd="sng" w="38100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0" spcFirstLastPara="1" rIns="0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Destination Port</a:t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81" name="Google Shape;481;p37"/>
            <p:cNvCxnSpPr/>
            <p:nvPr/>
          </p:nvCxnSpPr>
          <p:spPr>
            <a:xfrm flipH="1">
              <a:off x="3696" y="1104"/>
              <a:ext cx="288" cy="576"/>
            </a:xfrm>
            <a:prstGeom prst="straightConnector1">
              <a:avLst/>
            </a:prstGeom>
            <a:noFill/>
            <a:ln cap="flat" cmpd="sng" w="38100">
              <a:solidFill>
                <a:srgbClr val="FF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</p:grpSp>
      <p:grpSp>
        <p:nvGrpSpPr>
          <p:cNvPr id="482" name="Google Shape;482;p37"/>
          <p:cNvGrpSpPr/>
          <p:nvPr/>
        </p:nvGrpSpPr>
        <p:grpSpPr>
          <a:xfrm>
            <a:off x="7772400" y="2819402"/>
            <a:ext cx="1371600" cy="1636713"/>
            <a:chOff x="3936" y="1776"/>
            <a:chExt cx="864" cy="1031"/>
          </a:xfrm>
        </p:grpSpPr>
        <p:sp>
          <p:nvSpPr>
            <p:cNvPr id="483" name="Google Shape;483;p37"/>
            <p:cNvSpPr txBox="1"/>
            <p:nvPr/>
          </p:nvSpPr>
          <p:spPr>
            <a:xfrm>
              <a:off x="3936" y="2400"/>
              <a:ext cx="864" cy="407"/>
            </a:xfrm>
            <a:prstGeom prst="rect">
              <a:avLst/>
            </a:prstGeom>
            <a:solidFill>
              <a:srgbClr val="006699"/>
            </a:solidFill>
            <a:ln cap="flat" cmpd="sng" w="38100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0" spcFirstLastPara="1" rIns="0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Connection State</a:t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84" name="Google Shape;484;p37"/>
            <p:cNvCxnSpPr/>
            <p:nvPr/>
          </p:nvCxnSpPr>
          <p:spPr>
            <a:xfrm flipH="1" rot="10800000">
              <a:off x="4320" y="1776"/>
              <a:ext cx="336" cy="624"/>
            </a:xfrm>
            <a:prstGeom prst="straightConnector1">
              <a:avLst/>
            </a:prstGeom>
            <a:noFill/>
            <a:ln cap="flat" cmpd="sng" w="38100">
              <a:solidFill>
                <a:srgbClr val="FF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</p:grpSp>
      <p:grpSp>
        <p:nvGrpSpPr>
          <p:cNvPr id="485" name="Google Shape;485;p37"/>
          <p:cNvGrpSpPr/>
          <p:nvPr/>
        </p:nvGrpSpPr>
        <p:grpSpPr>
          <a:xfrm>
            <a:off x="2743200" y="2743202"/>
            <a:ext cx="1752600" cy="1484313"/>
            <a:chOff x="768" y="1728"/>
            <a:chExt cx="1104" cy="935"/>
          </a:xfrm>
        </p:grpSpPr>
        <p:sp>
          <p:nvSpPr>
            <p:cNvPr id="486" name="Google Shape;486;p37"/>
            <p:cNvSpPr txBox="1"/>
            <p:nvPr/>
          </p:nvSpPr>
          <p:spPr>
            <a:xfrm>
              <a:off x="768" y="2256"/>
              <a:ext cx="720" cy="407"/>
            </a:xfrm>
            <a:prstGeom prst="rect">
              <a:avLst/>
            </a:prstGeom>
            <a:solidFill>
              <a:srgbClr val="006699"/>
            </a:solidFill>
            <a:ln cap="flat" cmpd="sng" w="38100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0" spcFirstLastPara="1" rIns="0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FFFF00"/>
                  </a:solidFill>
                  <a:latin typeface="Arial"/>
                  <a:ea typeface="Arial"/>
                  <a:cs typeface="Arial"/>
                  <a:sym typeface="Arial"/>
                </a:rPr>
                <a:t>Source Socket</a:t>
              </a:r>
              <a:endParaRPr b="0" i="0" sz="18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87" name="Google Shape;487;p37"/>
            <p:cNvCxnSpPr/>
            <p:nvPr/>
          </p:nvCxnSpPr>
          <p:spPr>
            <a:xfrm flipH="1" rot="10800000">
              <a:off x="1440" y="1728"/>
              <a:ext cx="432" cy="528"/>
            </a:xfrm>
            <a:prstGeom prst="straightConnector1">
              <a:avLst/>
            </a:prstGeom>
            <a:noFill/>
            <a:ln cap="flat" cmpd="sng" w="38100">
              <a:solidFill>
                <a:srgbClr val="FF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</p:grpSp>
      <p:grpSp>
        <p:nvGrpSpPr>
          <p:cNvPr id="488" name="Google Shape;488;p37"/>
          <p:cNvGrpSpPr/>
          <p:nvPr/>
        </p:nvGrpSpPr>
        <p:grpSpPr>
          <a:xfrm>
            <a:off x="5334000" y="2743200"/>
            <a:ext cx="1447800" cy="1984375"/>
            <a:chOff x="2400" y="1728"/>
            <a:chExt cx="912" cy="1250"/>
          </a:xfrm>
        </p:grpSpPr>
        <p:sp>
          <p:nvSpPr>
            <p:cNvPr id="489" name="Google Shape;489;p37"/>
            <p:cNvSpPr txBox="1"/>
            <p:nvPr/>
          </p:nvSpPr>
          <p:spPr>
            <a:xfrm>
              <a:off x="2400" y="2571"/>
              <a:ext cx="864" cy="407"/>
            </a:xfrm>
            <a:prstGeom prst="rect">
              <a:avLst/>
            </a:prstGeom>
            <a:solidFill>
              <a:srgbClr val="006699"/>
            </a:solidFill>
            <a:ln cap="flat" cmpd="sng" w="38100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0" spcFirstLastPara="1" rIns="0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FFFF00"/>
                  </a:solidFill>
                  <a:latin typeface="Arial"/>
                  <a:ea typeface="Arial"/>
                  <a:cs typeface="Arial"/>
                  <a:sym typeface="Arial"/>
                </a:rPr>
                <a:t>Destination Socket</a:t>
              </a:r>
              <a:endParaRPr b="0" i="0" sz="18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90" name="Google Shape;490;p37"/>
            <p:cNvCxnSpPr/>
            <p:nvPr/>
          </p:nvCxnSpPr>
          <p:spPr>
            <a:xfrm flipH="1" rot="10800000">
              <a:off x="3043" y="1728"/>
              <a:ext cx="269" cy="843"/>
            </a:xfrm>
            <a:prstGeom prst="straightConnector1">
              <a:avLst/>
            </a:prstGeom>
            <a:noFill/>
            <a:ln cap="flat" cmpd="sng" w="38100">
              <a:solidFill>
                <a:srgbClr val="FF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</p:grpSp>
      <p:sp>
        <p:nvSpPr>
          <p:cNvPr id="491" name="Google Shape;491;p37"/>
          <p:cNvSpPr txBox="1"/>
          <p:nvPr/>
        </p:nvSpPr>
        <p:spPr>
          <a:xfrm>
            <a:off x="3124200" y="5029200"/>
            <a:ext cx="2743200" cy="369332"/>
          </a:xfrm>
          <a:prstGeom prst="rect">
            <a:avLst/>
          </a:prstGeom>
          <a:solidFill>
            <a:srgbClr val="006699"/>
          </a:solidFill>
          <a:ln cap="flat" cmpd="sng" w="381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0" spcFirstLastPara="1" rIns="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netstat –a –n command</a:t>
            </a:r>
            <a:endParaRPr b="0" i="0" sz="1800" u="none" cap="none" strike="noStrik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2" name="Google Shape;492;p37"/>
          <p:cNvSpPr txBox="1"/>
          <p:nvPr/>
        </p:nvSpPr>
        <p:spPr>
          <a:xfrm>
            <a:off x="9689717" y="1905000"/>
            <a:ext cx="2803907" cy="9144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orbe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Netstat - Network Utility Tool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3" name="Google Shape;493;p37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9" name="Google Shape;499;p24"/>
          <p:cNvGrpSpPr/>
          <p:nvPr/>
        </p:nvGrpSpPr>
        <p:grpSpPr>
          <a:xfrm>
            <a:off x="1835539" y="1621611"/>
            <a:ext cx="4032601" cy="3614777"/>
            <a:chOff x="3726482" y="1134776"/>
            <a:chExt cx="4710462" cy="4048126"/>
          </a:xfrm>
        </p:grpSpPr>
        <p:sp>
          <p:nvSpPr>
            <p:cNvPr id="500" name="Google Shape;500;p24"/>
            <p:cNvSpPr/>
            <p:nvPr/>
          </p:nvSpPr>
          <p:spPr>
            <a:xfrm>
              <a:off x="5319164" y="2825261"/>
              <a:ext cx="648720" cy="641384"/>
            </a:xfrm>
            <a:prstGeom prst="ellipse">
              <a:avLst/>
            </a:prstGeom>
            <a:solidFill>
              <a:schemeClr val="lt1"/>
            </a:solidFill>
            <a:ln cap="flat" cmpd="sng" w="28575">
              <a:solidFill>
                <a:srgbClr val="00009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501" name="Google Shape;501;p24"/>
            <p:cNvCxnSpPr/>
            <p:nvPr/>
          </p:nvCxnSpPr>
          <p:spPr>
            <a:xfrm rot="10800000">
              <a:off x="5616305" y="3517957"/>
              <a:ext cx="0" cy="799504"/>
            </a:xfrm>
            <a:prstGeom prst="straightConnector1">
              <a:avLst/>
            </a:prstGeom>
            <a:noFill/>
            <a:ln cap="flat" cmpd="sng" w="41275">
              <a:solidFill>
                <a:schemeClr val="dk1"/>
              </a:solidFill>
              <a:prstDash val="solid"/>
              <a:round/>
              <a:headEnd len="med" w="med" type="triangle"/>
              <a:tailEnd len="sm" w="sm" type="none"/>
            </a:ln>
            <a:effectLst>
              <a:outerShdw blurRad="40000" rotWithShape="0" dir="5400000" dist="20000">
                <a:srgbClr val="000000">
                  <a:alpha val="37647"/>
                </a:srgbClr>
              </a:outerShdw>
            </a:effectLst>
          </p:spPr>
        </p:cxnSp>
        <p:cxnSp>
          <p:nvCxnSpPr>
            <p:cNvPr id="502" name="Google Shape;502;p24"/>
            <p:cNvCxnSpPr/>
            <p:nvPr/>
          </p:nvCxnSpPr>
          <p:spPr>
            <a:xfrm rot="10800000">
              <a:off x="4639246" y="2076356"/>
              <a:ext cx="679918" cy="682403"/>
            </a:xfrm>
            <a:prstGeom prst="straightConnector1">
              <a:avLst/>
            </a:prstGeom>
            <a:noFill/>
            <a:ln cap="flat" cmpd="sng" w="41275">
              <a:solidFill>
                <a:schemeClr val="dk1"/>
              </a:solidFill>
              <a:prstDash val="solid"/>
              <a:round/>
              <a:headEnd len="med" w="med" type="triangle"/>
              <a:tailEnd len="sm" w="sm" type="none"/>
            </a:ln>
            <a:effectLst>
              <a:outerShdw blurRad="40000" rotWithShape="0" dir="5400000" dist="20000">
                <a:srgbClr val="000000">
                  <a:alpha val="37647"/>
                </a:srgbClr>
              </a:outerShdw>
            </a:effectLst>
          </p:spPr>
        </p:cxnSp>
        <p:cxnSp>
          <p:nvCxnSpPr>
            <p:cNvPr id="503" name="Google Shape;503;p24"/>
            <p:cNvCxnSpPr/>
            <p:nvPr/>
          </p:nvCxnSpPr>
          <p:spPr>
            <a:xfrm flipH="1" rot="10800000">
              <a:off x="5967884" y="2081010"/>
              <a:ext cx="679918" cy="682403"/>
            </a:xfrm>
            <a:prstGeom prst="straightConnector1">
              <a:avLst/>
            </a:prstGeom>
            <a:noFill/>
            <a:ln cap="flat" cmpd="sng" w="41275">
              <a:solidFill>
                <a:schemeClr val="dk1"/>
              </a:solidFill>
              <a:prstDash val="solid"/>
              <a:round/>
              <a:headEnd len="med" w="med" type="triangle"/>
              <a:tailEnd len="sm" w="sm" type="none"/>
            </a:ln>
            <a:effectLst>
              <a:outerShdw blurRad="40000" rotWithShape="0" dir="5400000" dist="20000">
                <a:srgbClr val="000000">
                  <a:alpha val="37647"/>
                </a:srgbClr>
              </a:outerShdw>
            </a:effectLst>
          </p:spPr>
        </p:cxnSp>
        <p:cxnSp>
          <p:nvCxnSpPr>
            <p:cNvPr id="504" name="Google Shape;504;p24"/>
            <p:cNvCxnSpPr/>
            <p:nvPr/>
          </p:nvCxnSpPr>
          <p:spPr>
            <a:xfrm rot="10800000">
              <a:off x="5612290" y="1873503"/>
              <a:ext cx="0" cy="799504"/>
            </a:xfrm>
            <a:prstGeom prst="straightConnector1">
              <a:avLst/>
            </a:prstGeom>
            <a:noFill/>
            <a:ln cap="flat" cmpd="sng" w="41275">
              <a:solidFill>
                <a:schemeClr val="dk1"/>
              </a:solidFill>
              <a:prstDash val="solid"/>
              <a:round/>
              <a:headEnd len="med" w="med" type="triangle"/>
              <a:tailEnd len="sm" w="sm" type="none"/>
            </a:ln>
            <a:effectLst>
              <a:outerShdw blurRad="40000" rotWithShape="0" dir="5400000" dist="20000">
                <a:srgbClr val="000000">
                  <a:alpha val="37647"/>
                </a:srgbClr>
              </a:outerShdw>
            </a:effectLst>
          </p:spPr>
        </p:cxnSp>
        <p:grpSp>
          <p:nvGrpSpPr>
            <p:cNvPr id="505" name="Google Shape;505;p24"/>
            <p:cNvGrpSpPr/>
            <p:nvPr/>
          </p:nvGrpSpPr>
          <p:grpSpPr>
            <a:xfrm>
              <a:off x="3726482" y="1134776"/>
              <a:ext cx="4710462" cy="4048126"/>
              <a:chOff x="3726482" y="1134776"/>
              <a:chExt cx="4710462" cy="4048126"/>
            </a:xfrm>
          </p:grpSpPr>
          <p:sp>
            <p:nvSpPr>
              <p:cNvPr id="506" name="Google Shape;506;p24"/>
              <p:cNvSpPr txBox="1"/>
              <p:nvPr/>
            </p:nvSpPr>
            <p:spPr>
              <a:xfrm>
                <a:off x="4503571" y="4598126"/>
                <a:ext cx="2245527" cy="58477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32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multiplexing</a:t>
                </a:r>
                <a:endParaRPr/>
              </a:p>
            </p:txBody>
          </p:sp>
          <p:grpSp>
            <p:nvGrpSpPr>
              <p:cNvPr id="507" name="Google Shape;507;p24"/>
              <p:cNvGrpSpPr/>
              <p:nvPr/>
            </p:nvGrpSpPr>
            <p:grpSpPr>
              <a:xfrm>
                <a:off x="3726482" y="1134776"/>
                <a:ext cx="4710462" cy="2780838"/>
                <a:chOff x="3726482" y="1134776"/>
                <a:chExt cx="4710462" cy="2780838"/>
              </a:xfrm>
            </p:grpSpPr>
            <p:pic>
              <p:nvPicPr>
                <p:cNvPr descr="Image result for firefox logo" id="508" name="Google Shape;508;p24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 b="0" l="0" r="0" t="0"/>
                <a:stretch/>
              </p:blipFill>
              <p:spPr>
                <a:xfrm>
                  <a:off x="5316466" y="1134776"/>
                  <a:ext cx="593575" cy="550669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descr="Image result for skype logo" id="509" name="Google Shape;509;p24"/>
                <p:cNvPicPr preferRelativeResize="0"/>
                <p:nvPr/>
              </p:nvPicPr>
              <p:blipFill rotWithShape="1">
                <a:blip r:embed="rId4">
                  <a:alphaModFix/>
                </a:blip>
                <a:srcRect b="0" l="0" r="0" t="0"/>
                <a:stretch/>
              </p:blipFill>
              <p:spPr>
                <a:xfrm>
                  <a:off x="3884338" y="1410111"/>
                  <a:ext cx="593575" cy="596651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descr="Image result for netflix logo png" id="510" name="Google Shape;510;p24"/>
                <p:cNvPicPr preferRelativeResize="0"/>
                <p:nvPr/>
              </p:nvPicPr>
              <p:blipFill rotWithShape="1">
                <a:blip r:embed="rId5">
                  <a:alphaModFix/>
                </a:blip>
                <a:srcRect b="0" l="0" r="0" t="0"/>
                <a:stretch/>
              </p:blipFill>
              <p:spPr>
                <a:xfrm>
                  <a:off x="6242637" y="1485789"/>
                  <a:ext cx="1059694" cy="590567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cxnSp>
              <p:nvCxnSpPr>
                <p:cNvPr id="511" name="Google Shape;511;p24"/>
                <p:cNvCxnSpPr/>
                <p:nvPr/>
              </p:nvCxnSpPr>
              <p:spPr>
                <a:xfrm>
                  <a:off x="3726482" y="3915614"/>
                  <a:ext cx="3925557" cy="0"/>
                </a:xfrm>
                <a:prstGeom prst="straightConnector1">
                  <a:avLst/>
                </a:prstGeom>
                <a:noFill/>
                <a:ln cap="flat" cmpd="sng" w="25400">
                  <a:solidFill>
                    <a:schemeClr val="dk1"/>
                  </a:solidFill>
                  <a:prstDash val="dash"/>
                  <a:round/>
                  <a:headEnd len="sm" w="sm" type="none"/>
                  <a:tailEnd len="sm" w="sm" type="none"/>
                </a:ln>
                <a:effectLst>
                  <a:outerShdw blurRad="40000" rotWithShape="0" dir="5400000" dist="20000">
                    <a:srgbClr val="000000">
                      <a:alpha val="37647"/>
                    </a:srgbClr>
                  </a:outerShdw>
                </a:effectLst>
              </p:spPr>
            </p:cxnSp>
            <p:cxnSp>
              <p:nvCxnSpPr>
                <p:cNvPr id="512" name="Google Shape;512;p24"/>
                <p:cNvCxnSpPr/>
                <p:nvPr/>
              </p:nvCxnSpPr>
              <p:spPr>
                <a:xfrm>
                  <a:off x="3726482" y="2464553"/>
                  <a:ext cx="4499617" cy="0"/>
                </a:xfrm>
                <a:prstGeom prst="straightConnector1">
                  <a:avLst/>
                </a:prstGeom>
                <a:noFill/>
                <a:ln cap="flat" cmpd="sng" w="25400">
                  <a:solidFill>
                    <a:schemeClr val="dk1"/>
                  </a:solidFill>
                  <a:prstDash val="dash"/>
                  <a:round/>
                  <a:headEnd len="sm" w="sm" type="none"/>
                  <a:tailEnd len="sm" w="sm" type="none"/>
                </a:ln>
                <a:effectLst>
                  <a:outerShdw blurRad="40000" rotWithShape="0" dir="5400000" dist="20000">
                    <a:srgbClr val="000000">
                      <a:alpha val="37647"/>
                    </a:srgbClr>
                  </a:outerShdw>
                </a:effectLst>
              </p:spPr>
            </p:cxnSp>
            <p:sp>
              <p:nvSpPr>
                <p:cNvPr id="513" name="Google Shape;513;p24"/>
                <p:cNvSpPr txBox="1"/>
                <p:nvPr/>
              </p:nvSpPr>
              <p:spPr>
                <a:xfrm>
                  <a:off x="6867133" y="2931106"/>
                  <a:ext cx="1358966" cy="46166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i="0" lang="en-US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transport</a:t>
                  </a:r>
                  <a:endParaRPr b="0" i="0" sz="32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14" name="Google Shape;514;p24"/>
                <p:cNvSpPr txBox="1"/>
                <p:nvPr/>
              </p:nvSpPr>
              <p:spPr>
                <a:xfrm>
                  <a:off x="6867133" y="2025176"/>
                  <a:ext cx="1569811" cy="46166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i="0" lang="en-US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application</a:t>
                  </a:r>
                  <a:endParaRPr b="0" i="0" sz="32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</p:grpSp>
      <p:pic>
        <p:nvPicPr>
          <p:cNvPr descr="Cars merge" id="515" name="Google Shape;515;p2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151266" y="1422747"/>
            <a:ext cx="5720462" cy="3813641"/>
          </a:xfrm>
          <a:prstGeom prst="rect">
            <a:avLst/>
          </a:prstGeom>
          <a:noFill/>
          <a:ln>
            <a:noFill/>
          </a:ln>
        </p:spPr>
      </p:pic>
      <p:sp>
        <p:nvSpPr>
          <p:cNvPr id="516" name="Google Shape;516;p24"/>
          <p:cNvSpPr txBox="1"/>
          <p:nvPr/>
        </p:nvSpPr>
        <p:spPr>
          <a:xfrm>
            <a:off x="7292917" y="4405391"/>
            <a:ext cx="3437159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Multiplexing</a:t>
            </a:r>
            <a:endParaRPr/>
          </a:p>
        </p:txBody>
      </p:sp>
      <p:sp>
        <p:nvSpPr>
          <p:cNvPr id="517" name="Google Shape;517;p24"/>
          <p:cNvSpPr txBox="1"/>
          <p:nvPr>
            <p:ph type="title"/>
          </p:nvPr>
        </p:nvSpPr>
        <p:spPr>
          <a:xfrm>
            <a:off x="823687" y="59747"/>
            <a:ext cx="11100600" cy="89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>
                <a:solidFill>
                  <a:srgbClr val="7D28CD"/>
                </a:solidFill>
              </a:rPr>
              <a:t>Function 4</a:t>
            </a:r>
            <a:r>
              <a:rPr lang="en-US"/>
              <a:t> –Multiplexing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p25"/>
          <p:cNvSpPr txBox="1"/>
          <p:nvPr>
            <p:ph type="title"/>
          </p:nvPr>
        </p:nvSpPr>
        <p:spPr>
          <a:xfrm>
            <a:off x="823687" y="59747"/>
            <a:ext cx="11100600" cy="89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>
                <a:solidFill>
                  <a:srgbClr val="7D28CD"/>
                </a:solidFill>
              </a:rPr>
              <a:t>Function 4</a:t>
            </a:r>
            <a:r>
              <a:rPr lang="en-US"/>
              <a:t> –DeMultiplexing</a:t>
            </a:r>
            <a:endParaRPr/>
          </a:p>
        </p:txBody>
      </p:sp>
      <p:grpSp>
        <p:nvGrpSpPr>
          <p:cNvPr id="524" name="Google Shape;524;p25"/>
          <p:cNvGrpSpPr/>
          <p:nvPr/>
        </p:nvGrpSpPr>
        <p:grpSpPr>
          <a:xfrm>
            <a:off x="1551453" y="1512252"/>
            <a:ext cx="3713005" cy="3627858"/>
            <a:chOff x="3726482" y="1134776"/>
            <a:chExt cx="4710462" cy="4128886"/>
          </a:xfrm>
        </p:grpSpPr>
        <p:cxnSp>
          <p:nvCxnSpPr>
            <p:cNvPr id="525" name="Google Shape;525;p25"/>
            <p:cNvCxnSpPr/>
            <p:nvPr/>
          </p:nvCxnSpPr>
          <p:spPr>
            <a:xfrm rot="10800000">
              <a:off x="4639246" y="2076356"/>
              <a:ext cx="679918" cy="682403"/>
            </a:xfrm>
            <a:prstGeom prst="straightConnector1">
              <a:avLst/>
            </a:prstGeom>
            <a:noFill/>
            <a:ln cap="flat" cmpd="sng" w="4127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  <a:effectLst>
              <a:outerShdw blurRad="40000" rotWithShape="0" dir="5400000" dist="20000">
                <a:srgbClr val="000000">
                  <a:alpha val="37647"/>
                </a:srgbClr>
              </a:outerShdw>
            </a:effectLst>
          </p:spPr>
        </p:cxnSp>
        <p:grpSp>
          <p:nvGrpSpPr>
            <p:cNvPr id="526" name="Google Shape;526;p25"/>
            <p:cNvGrpSpPr/>
            <p:nvPr/>
          </p:nvGrpSpPr>
          <p:grpSpPr>
            <a:xfrm>
              <a:off x="3726482" y="1134776"/>
              <a:ext cx="4710462" cy="4128886"/>
              <a:chOff x="3726482" y="1134776"/>
              <a:chExt cx="4710462" cy="4128886"/>
            </a:xfrm>
          </p:grpSpPr>
          <p:sp>
            <p:nvSpPr>
              <p:cNvPr id="527" name="Google Shape;527;p25"/>
              <p:cNvSpPr/>
              <p:nvPr/>
            </p:nvSpPr>
            <p:spPr>
              <a:xfrm>
                <a:off x="5319164" y="2825261"/>
                <a:ext cx="648720" cy="641384"/>
              </a:xfrm>
              <a:prstGeom prst="ellipse">
                <a:avLst/>
              </a:prstGeom>
              <a:solidFill>
                <a:schemeClr val="lt1"/>
              </a:solidFill>
              <a:ln cap="flat" cmpd="sng" w="28575">
                <a:solidFill>
                  <a:srgbClr val="000090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528" name="Google Shape;528;p25"/>
              <p:cNvGrpSpPr/>
              <p:nvPr/>
            </p:nvGrpSpPr>
            <p:grpSpPr>
              <a:xfrm>
                <a:off x="3726482" y="1134776"/>
                <a:ext cx="4710462" cy="4128886"/>
                <a:chOff x="3726482" y="1134776"/>
                <a:chExt cx="4710462" cy="4128886"/>
              </a:xfrm>
            </p:grpSpPr>
            <p:cxnSp>
              <p:nvCxnSpPr>
                <p:cNvPr id="529" name="Google Shape;529;p25"/>
                <p:cNvCxnSpPr/>
                <p:nvPr/>
              </p:nvCxnSpPr>
              <p:spPr>
                <a:xfrm rot="10800000">
                  <a:off x="5616305" y="3517957"/>
                  <a:ext cx="0" cy="799504"/>
                </a:xfrm>
                <a:prstGeom prst="straightConnector1">
                  <a:avLst/>
                </a:prstGeom>
                <a:noFill/>
                <a:ln cap="flat" cmpd="sng" w="4127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med" w="med" type="triangle"/>
                </a:ln>
                <a:effectLst>
                  <a:outerShdw blurRad="40000" rotWithShape="0" dir="5400000" dist="20000">
                    <a:srgbClr val="000000">
                      <a:alpha val="37647"/>
                    </a:srgbClr>
                  </a:outerShdw>
                </a:effectLst>
              </p:spPr>
            </p:cxnSp>
            <p:sp>
              <p:nvSpPr>
                <p:cNvPr id="530" name="Google Shape;530;p25"/>
                <p:cNvSpPr txBox="1"/>
                <p:nvPr/>
              </p:nvSpPr>
              <p:spPr>
                <a:xfrm>
                  <a:off x="5345885" y="2745220"/>
                  <a:ext cx="364906" cy="73559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i="0" lang="en-US" sz="36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?</a:t>
                  </a:r>
                  <a:endParaRPr/>
                </a:p>
              </p:txBody>
            </p:sp>
            <p:cxnSp>
              <p:nvCxnSpPr>
                <p:cNvPr id="531" name="Google Shape;531;p25"/>
                <p:cNvCxnSpPr/>
                <p:nvPr/>
              </p:nvCxnSpPr>
              <p:spPr>
                <a:xfrm flipH="1" rot="10800000">
                  <a:off x="5967884" y="2081010"/>
                  <a:ext cx="679918" cy="682403"/>
                </a:xfrm>
                <a:prstGeom prst="straightConnector1">
                  <a:avLst/>
                </a:prstGeom>
                <a:noFill/>
                <a:ln cap="flat" cmpd="sng" w="4127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med" w="med" type="triangle"/>
                </a:ln>
                <a:effectLst>
                  <a:outerShdw blurRad="40000" rotWithShape="0" dir="5400000" dist="20000">
                    <a:srgbClr val="000000">
                      <a:alpha val="37647"/>
                    </a:srgbClr>
                  </a:outerShdw>
                </a:effectLst>
              </p:spPr>
            </p:cxnSp>
            <p:cxnSp>
              <p:nvCxnSpPr>
                <p:cNvPr id="532" name="Google Shape;532;p25"/>
                <p:cNvCxnSpPr/>
                <p:nvPr/>
              </p:nvCxnSpPr>
              <p:spPr>
                <a:xfrm rot="10800000">
                  <a:off x="5612290" y="1873503"/>
                  <a:ext cx="0" cy="799504"/>
                </a:xfrm>
                <a:prstGeom prst="straightConnector1">
                  <a:avLst/>
                </a:prstGeom>
                <a:noFill/>
                <a:ln cap="flat" cmpd="sng" w="4127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med" w="med" type="triangle"/>
                </a:ln>
                <a:effectLst>
                  <a:outerShdw blurRad="40000" rotWithShape="0" dir="5400000" dist="20000">
                    <a:srgbClr val="000000">
                      <a:alpha val="37647"/>
                    </a:srgbClr>
                  </a:outerShdw>
                </a:effectLst>
              </p:spPr>
            </p:cxnSp>
            <p:sp>
              <p:nvSpPr>
                <p:cNvPr id="533" name="Google Shape;533;p25"/>
                <p:cNvSpPr txBox="1"/>
                <p:nvPr/>
              </p:nvSpPr>
              <p:spPr>
                <a:xfrm>
                  <a:off x="4216816" y="4598126"/>
                  <a:ext cx="3644675" cy="66553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i="0" lang="en-US" sz="32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Demultiplexing</a:t>
                  </a:r>
                  <a:endParaRPr/>
                </a:p>
              </p:txBody>
            </p:sp>
            <p:grpSp>
              <p:nvGrpSpPr>
                <p:cNvPr id="534" name="Google Shape;534;p25"/>
                <p:cNvGrpSpPr/>
                <p:nvPr/>
              </p:nvGrpSpPr>
              <p:grpSpPr>
                <a:xfrm>
                  <a:off x="3726482" y="1134776"/>
                  <a:ext cx="4710462" cy="2780838"/>
                  <a:chOff x="3726482" y="1134776"/>
                  <a:chExt cx="4710462" cy="2780838"/>
                </a:xfrm>
              </p:grpSpPr>
              <p:pic>
                <p:nvPicPr>
                  <p:cNvPr descr="Image result for firefox logo" id="535" name="Google Shape;535;p25"/>
                  <p:cNvPicPr preferRelativeResize="0"/>
                  <p:nvPr/>
                </p:nvPicPr>
                <p:blipFill rotWithShape="1">
                  <a:blip r:embed="rId3">
                    <a:alphaModFix/>
                  </a:blip>
                  <a:srcRect b="0" l="0" r="0" t="0"/>
                  <a:stretch/>
                </p:blipFill>
                <p:spPr>
                  <a:xfrm>
                    <a:off x="5316466" y="1134776"/>
                    <a:ext cx="593575" cy="550669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pic>
                <p:nvPicPr>
                  <p:cNvPr descr="Image result for skype logo" id="536" name="Google Shape;536;p25"/>
                  <p:cNvPicPr preferRelativeResize="0"/>
                  <p:nvPr/>
                </p:nvPicPr>
                <p:blipFill rotWithShape="1">
                  <a:blip r:embed="rId4">
                    <a:alphaModFix/>
                  </a:blip>
                  <a:srcRect b="0" l="0" r="0" t="0"/>
                  <a:stretch/>
                </p:blipFill>
                <p:spPr>
                  <a:xfrm>
                    <a:off x="3884338" y="1410111"/>
                    <a:ext cx="593575" cy="596651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pic>
                <p:nvPicPr>
                  <p:cNvPr descr="Image result for netflix logo png" id="537" name="Google Shape;537;p25"/>
                  <p:cNvPicPr preferRelativeResize="0"/>
                  <p:nvPr/>
                </p:nvPicPr>
                <p:blipFill rotWithShape="1">
                  <a:blip r:embed="rId5">
                    <a:alphaModFix/>
                  </a:blip>
                  <a:srcRect b="0" l="0" r="0" t="0"/>
                  <a:stretch/>
                </p:blipFill>
                <p:spPr>
                  <a:xfrm>
                    <a:off x="6242637" y="1485789"/>
                    <a:ext cx="1059694" cy="590567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cxnSp>
                <p:nvCxnSpPr>
                  <p:cNvPr id="538" name="Google Shape;538;p25"/>
                  <p:cNvCxnSpPr/>
                  <p:nvPr/>
                </p:nvCxnSpPr>
                <p:spPr>
                  <a:xfrm>
                    <a:off x="3726482" y="3915614"/>
                    <a:ext cx="3925557" cy="0"/>
                  </a:xfrm>
                  <a:prstGeom prst="straightConnector1">
                    <a:avLst/>
                  </a:prstGeom>
                  <a:noFill/>
                  <a:ln cap="flat" cmpd="sng" w="25400">
                    <a:solidFill>
                      <a:schemeClr val="dk1"/>
                    </a:solidFill>
                    <a:prstDash val="dash"/>
                    <a:round/>
                    <a:headEnd len="sm" w="sm" type="none"/>
                    <a:tailEnd len="sm" w="sm" type="none"/>
                  </a:ln>
                  <a:effectLst>
                    <a:outerShdw blurRad="40000" rotWithShape="0" dir="5400000" dist="20000">
                      <a:srgbClr val="000000">
                        <a:alpha val="37647"/>
                      </a:srgbClr>
                    </a:outerShdw>
                  </a:effectLst>
                </p:spPr>
              </p:cxnSp>
              <p:cxnSp>
                <p:nvCxnSpPr>
                  <p:cNvPr id="539" name="Google Shape;539;p25"/>
                  <p:cNvCxnSpPr/>
                  <p:nvPr/>
                </p:nvCxnSpPr>
                <p:spPr>
                  <a:xfrm>
                    <a:off x="3726482" y="2464553"/>
                    <a:ext cx="4499617" cy="0"/>
                  </a:xfrm>
                  <a:prstGeom prst="straightConnector1">
                    <a:avLst/>
                  </a:prstGeom>
                  <a:noFill/>
                  <a:ln cap="flat" cmpd="sng" w="25400">
                    <a:solidFill>
                      <a:schemeClr val="dk1"/>
                    </a:solidFill>
                    <a:prstDash val="dash"/>
                    <a:round/>
                    <a:headEnd len="sm" w="sm" type="none"/>
                    <a:tailEnd len="sm" w="sm" type="none"/>
                  </a:ln>
                  <a:effectLst>
                    <a:outerShdw blurRad="40000" rotWithShape="0" dir="5400000" dist="20000">
                      <a:srgbClr val="000000">
                        <a:alpha val="37647"/>
                      </a:srgbClr>
                    </a:outerShdw>
                  </a:effectLst>
                </p:spPr>
              </p:cxnSp>
              <p:sp>
                <p:nvSpPr>
                  <p:cNvPr id="540" name="Google Shape;540;p25"/>
                  <p:cNvSpPr txBox="1"/>
                  <p:nvPr/>
                </p:nvSpPr>
                <p:spPr>
                  <a:xfrm>
                    <a:off x="6867133" y="2931106"/>
                    <a:ext cx="1358966" cy="461665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b="0" i="0" lang="en-US" sz="2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a:t>transport</a:t>
                    </a:r>
                    <a:endParaRPr b="0" i="0" sz="32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541" name="Google Shape;541;p25"/>
                  <p:cNvSpPr txBox="1"/>
                  <p:nvPr/>
                </p:nvSpPr>
                <p:spPr>
                  <a:xfrm>
                    <a:off x="6867133" y="1908821"/>
                    <a:ext cx="1569811" cy="461665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b="0" i="0" lang="en-US" sz="2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a:t>application</a:t>
                    </a:r>
                    <a:endParaRPr b="0" i="0" sz="32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</p:grpSp>
      </p:grpSp>
      <p:pic>
        <p:nvPicPr>
          <p:cNvPr id="542" name="Google Shape;542;p2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807090" y="1612013"/>
            <a:ext cx="6332535" cy="3633973"/>
          </a:xfrm>
          <a:prstGeom prst="rect">
            <a:avLst/>
          </a:prstGeom>
          <a:noFill/>
          <a:ln>
            <a:noFill/>
          </a:ln>
        </p:spPr>
      </p:pic>
      <p:sp>
        <p:nvSpPr>
          <p:cNvPr id="543" name="Google Shape;543;p25"/>
          <p:cNvSpPr txBox="1"/>
          <p:nvPr/>
        </p:nvSpPr>
        <p:spPr>
          <a:xfrm>
            <a:off x="7369434" y="4555335"/>
            <a:ext cx="3546807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Demultiplexing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g25527a8ce64_0_958"/>
          <p:cNvSpPr txBox="1"/>
          <p:nvPr>
            <p:ph type="title"/>
          </p:nvPr>
        </p:nvSpPr>
        <p:spPr>
          <a:xfrm>
            <a:off x="798690" y="289325"/>
            <a:ext cx="11100600" cy="120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Corbel"/>
              <a:buNone/>
            </a:pPr>
            <a:r>
              <a:rPr lang="en-US" sz="5400"/>
              <a:t>DeMultiplexing/ Multiplexing</a:t>
            </a:r>
            <a:endParaRPr sz="6000"/>
          </a:p>
        </p:txBody>
      </p:sp>
      <p:sp>
        <p:nvSpPr>
          <p:cNvPr id="550" name="Google Shape;550;g25527a8ce64_0_958"/>
          <p:cNvSpPr txBox="1"/>
          <p:nvPr/>
        </p:nvSpPr>
        <p:spPr>
          <a:xfrm>
            <a:off x="798690" y="1610067"/>
            <a:ext cx="11100600" cy="3973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39725" lvl="0" marL="46355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Multiplexing, demultiplexing: based on segment, datagram header field values</a:t>
            </a:r>
            <a:endParaRPr/>
          </a:p>
          <a:p>
            <a:pPr indent="-136525" lvl="0" marL="46355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9725" lvl="0" marL="46355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b="1" i="0" lang="en-US" sz="32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UDP: </a:t>
            </a: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demultiplexing using </a:t>
            </a:r>
            <a:r>
              <a:rPr b="1" i="0" lang="en-US" sz="3200" u="none" cap="none" strike="noStrike">
                <a:solidFill>
                  <a:srgbClr val="7D28CD"/>
                </a:solidFill>
                <a:latin typeface="Calibri"/>
                <a:ea typeface="Calibri"/>
                <a:cs typeface="Calibri"/>
                <a:sym typeface="Calibri"/>
              </a:rPr>
              <a:t>destination port number</a:t>
            </a: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(only)</a:t>
            </a:r>
            <a:endParaRPr/>
          </a:p>
          <a:p>
            <a:pPr indent="-136525" lvl="0" marL="46355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9725" lvl="0" marL="46355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600"/>
              <a:buFont typeface="Noto Sans Symbols"/>
              <a:buChar char="▪"/>
            </a:pPr>
            <a:r>
              <a:rPr b="1" i="0" lang="en-US" sz="36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TCP: </a:t>
            </a: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demultiplexing using 4-tuple: </a:t>
            </a:r>
            <a:r>
              <a:rPr b="1" i="0" lang="en-US" sz="3200" u="none" cap="none" strike="noStrike">
                <a:solidFill>
                  <a:srgbClr val="7D28CD"/>
                </a:solidFill>
                <a:latin typeface="Calibri"/>
                <a:ea typeface="Calibri"/>
                <a:cs typeface="Calibri"/>
                <a:sym typeface="Calibri"/>
              </a:rPr>
              <a:t>source and destination IP addresses, and port numbers</a:t>
            </a:r>
            <a:endParaRPr b="1" i="0" sz="1400" u="none" cap="none" strike="noStrike">
              <a:solidFill>
                <a:srgbClr val="7D28C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1" name="Google Shape;551;g25527a8ce64_0_958"/>
          <p:cNvSpPr txBox="1"/>
          <p:nvPr>
            <p:ph idx="12" type="sldNum"/>
          </p:nvPr>
        </p:nvSpPr>
        <p:spPr>
          <a:xfrm>
            <a:off x="10951856" y="5883275"/>
            <a:ext cx="551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5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p45"/>
          <p:cNvSpPr txBox="1"/>
          <p:nvPr>
            <p:ph type="ctrTitle"/>
          </p:nvPr>
        </p:nvSpPr>
        <p:spPr>
          <a:xfrm>
            <a:off x="2928401" y="1380068"/>
            <a:ext cx="8574622" cy="261619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orbel"/>
              <a:buNone/>
            </a:pPr>
            <a:r>
              <a:rPr lang="en-US"/>
              <a:t>And Now more on TCP!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Parallax">
  <a:themeElements>
    <a:clrScheme name="Parallax">
      <a:dk1>
        <a:srgbClr val="000000"/>
      </a:dk1>
      <a:lt1>
        <a:srgbClr val="FFFFFF"/>
      </a:lt1>
      <a:dk2>
        <a:srgbClr val="212121"/>
      </a:dk2>
      <a:lt2>
        <a:srgbClr val="CDD0D1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2020-06-17T13:03:26Z</dcterms:created>
  <dc:creator>Mehnaz Seraj</dc:creator>
</cp:coreProperties>
</file>