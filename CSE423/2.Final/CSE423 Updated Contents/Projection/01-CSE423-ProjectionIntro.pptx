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5143500" cx="9144000"/>
  <p:notesSz cx="6858000" cy="9144000"/>
  <p:embeddedFontLst>
    <p:embeddedFont>
      <p:font typeface="Lexend Medium"/>
      <p:regular r:id="rId34"/>
      <p:bold r:id="rId35"/>
    </p:embeddedFont>
    <p:embeddedFont>
      <p:font typeface="Lexend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BF8F109-D120-44F9-AFB1-3E76AFC5283C}">
  <a:tblStyle styleId="{FBF8F109-D120-44F9-AFB1-3E76AFC5283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LexendMedium-bold.fntdata"/><Relationship Id="rId12" Type="http://schemas.openxmlformats.org/officeDocument/2006/relationships/slide" Target="slides/slide6.xml"/><Relationship Id="rId34" Type="http://schemas.openxmlformats.org/officeDocument/2006/relationships/font" Target="fonts/LexendMedium-regular.fntdata"/><Relationship Id="rId15" Type="http://schemas.openxmlformats.org/officeDocument/2006/relationships/slide" Target="slides/slide9.xml"/><Relationship Id="rId37" Type="http://schemas.openxmlformats.org/officeDocument/2006/relationships/font" Target="fonts/Lexend-bold.fntdata"/><Relationship Id="rId14" Type="http://schemas.openxmlformats.org/officeDocument/2006/relationships/slide" Target="slides/slide8.xml"/><Relationship Id="rId36" Type="http://schemas.openxmlformats.org/officeDocument/2006/relationships/font" Target="fonts/Lexend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1f657aaed6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1f657aaed6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1f657aaed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1f657aaed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1f6ed527e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1f6ed527e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1f657aaed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1f657aaed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1f657aaed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1f657aaed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1f657aaed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1f657aaed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23f03c4661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23f03c4661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1f657aaed6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1f657aaed6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1f657aaed6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1f657aaed6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1f657aaed6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1f657aaed6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1f657aaed6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1f657aaed6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1f657aaed6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1f657aaed6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1f657aaed6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1f657aaed6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1f657aaed6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1f657aaed6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1f657aaed6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1f657aaed6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23f03c4661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23f03c4661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23f03c4661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23f03c4661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23f03c4661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23f03c4661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23f03c4661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23f03c466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2130f29359_3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2130f29359_3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23f03c4661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23f03c4661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23f03c4661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23f03c4661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23f03c4661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23f03c4661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2130f29359_3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2130f29359_3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23f03c4661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23f03c4661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1f6ed527e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1f6ed527e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Relationship Id="rId4" Type="http://schemas.openxmlformats.org/officeDocument/2006/relationships/image" Target="../media/image24.png"/><Relationship Id="rId5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Relationship Id="rId4" Type="http://schemas.openxmlformats.org/officeDocument/2006/relationships/image" Target="../media/image13.png"/><Relationship Id="rId5" Type="http://schemas.openxmlformats.org/officeDocument/2006/relationships/image" Target="../media/image1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png"/><Relationship Id="rId4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9.png"/><Relationship Id="rId4" Type="http://schemas.openxmlformats.org/officeDocument/2006/relationships/image" Target="../media/image26.png"/><Relationship Id="rId5" Type="http://schemas.openxmlformats.org/officeDocument/2006/relationships/image" Target="../media/image3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708550" y="1706100"/>
            <a:ext cx="3726900" cy="16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Projection</a:t>
            </a:r>
            <a:endParaRPr sz="44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Introduction</a:t>
            </a:r>
            <a:endParaRPr sz="28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683250" y="1063600"/>
            <a:ext cx="7618200" cy="39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Is a type of Transformation</a:t>
            </a:r>
            <a:endParaRPr sz="22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Transforming points in a coordinate of dimension </a:t>
            </a:r>
            <a:r>
              <a:rPr lang="en" sz="2200">
                <a:solidFill>
                  <a:srgbClr val="3C78D8"/>
                </a:solidFill>
                <a:latin typeface="Lexend Medium"/>
                <a:ea typeface="Lexend Medium"/>
                <a:cs typeface="Lexend Medium"/>
                <a:sym typeface="Lexend Medium"/>
              </a:rPr>
              <a:t>n</a:t>
            </a:r>
            <a:r>
              <a:rPr lang="en" sz="22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into a coordinate system of dimension </a:t>
            </a:r>
            <a:r>
              <a:rPr lang="en" sz="2200">
                <a:solidFill>
                  <a:srgbClr val="38761D"/>
                </a:solidFill>
                <a:latin typeface="Lexend Medium"/>
                <a:ea typeface="Lexend Medium"/>
                <a:cs typeface="Lexend Medium"/>
                <a:sym typeface="Lexend Medium"/>
              </a:rPr>
              <a:t>m</a:t>
            </a:r>
            <a:r>
              <a:rPr lang="en" sz="22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where </a:t>
            </a:r>
            <a:r>
              <a:rPr lang="en" sz="2200">
                <a:solidFill>
                  <a:srgbClr val="38761D"/>
                </a:solidFill>
                <a:latin typeface="Lexend Medium"/>
                <a:ea typeface="Lexend Medium"/>
                <a:cs typeface="Lexend Medium"/>
                <a:sym typeface="Lexend Medium"/>
              </a:rPr>
              <a:t>m</a:t>
            </a:r>
            <a:r>
              <a:rPr lang="en" sz="22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&lt; </a:t>
            </a:r>
            <a:r>
              <a:rPr lang="en" sz="2200">
                <a:solidFill>
                  <a:srgbClr val="3C78D8"/>
                </a:solidFill>
                <a:latin typeface="Lexend Medium"/>
                <a:ea typeface="Lexend Medium"/>
                <a:cs typeface="Lexend Medium"/>
                <a:sym typeface="Lexend Medium"/>
              </a:rPr>
              <a:t>n</a:t>
            </a:r>
            <a:r>
              <a:rPr lang="en" sz="22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</a:t>
            </a:r>
            <a:endParaRPr sz="22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Planar Geometric Projection</a:t>
            </a:r>
            <a:r>
              <a:rPr lang="en" sz="22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: Projecting an object on to a flat plane</a:t>
            </a:r>
            <a:endParaRPr sz="22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Lexend Medium"/>
              <a:buChar char="●"/>
            </a:pPr>
            <a:r>
              <a:rPr lang="en" sz="22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Turning 3D shapes to its 2D plane (this chapter)</a:t>
            </a:r>
            <a:endParaRPr sz="22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Lexend Medium"/>
              <a:buChar char="●"/>
            </a:pPr>
            <a:r>
              <a:rPr lang="en" sz="22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From 2D to 1D also possible</a:t>
            </a:r>
            <a:endParaRPr sz="22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327300" y="234700"/>
            <a:ext cx="2335500" cy="8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Projection</a:t>
            </a:r>
            <a:endParaRPr sz="32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/>
        </p:nvSpPr>
        <p:spPr>
          <a:xfrm>
            <a:off x="683250" y="1063600"/>
            <a:ext cx="7618200" cy="39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 Medium"/>
              <a:buChar char="●"/>
            </a:pPr>
            <a:r>
              <a:rPr lang="en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Object/Target Point (P)</a:t>
            </a: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: A single point on an object/</a:t>
            </a: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geometry</a:t>
            </a: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we're trying to project (calculate projection of)</a:t>
            </a:r>
            <a:endParaRPr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 Medium"/>
              <a:buChar char="●"/>
            </a:pPr>
            <a:r>
              <a:rPr lang="en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Projected Point (P')</a:t>
            </a: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: The projected point after a projection transformation is applied for a given point P'. Projected points together </a:t>
            </a: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constitutes</a:t>
            </a: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the projected image</a:t>
            </a:r>
            <a:endParaRPr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 Medium"/>
              <a:buChar char="●"/>
            </a:pPr>
            <a:r>
              <a:rPr lang="en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Projectors</a:t>
            </a: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: The "rays" responsible for projection. They'll intersect the projection plane.</a:t>
            </a:r>
            <a:endParaRPr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 Medium"/>
              <a:buChar char="●"/>
            </a:pPr>
            <a:r>
              <a:rPr lang="en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Projection Plane (PP)</a:t>
            </a: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: The plane where the projected image of the object will appear on. This plane holds all of the P' points. Also known as view plane.</a:t>
            </a:r>
            <a:endParaRPr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 Medium"/>
              <a:buChar char="●"/>
            </a:pPr>
            <a:r>
              <a:rPr lang="en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Center Of Projection (COP)</a:t>
            </a: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: The singular point where all the projectors/projection rays converge (only applicable to perspective projection).</a:t>
            </a:r>
            <a:endParaRPr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400"/>
              <a:buFont typeface="Lexend Medium"/>
              <a:buChar char="●"/>
            </a:pPr>
            <a:r>
              <a:rPr lang="en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Direction Of Projection (DOP)</a:t>
            </a:r>
            <a:r>
              <a:rPr lang="en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: The direction towards which the parallel projection rays go towards (only applicable to parallel projection).</a:t>
            </a:r>
            <a:endParaRPr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66" name="Google Shape;66;p15"/>
          <p:cNvSpPr txBox="1"/>
          <p:nvPr/>
        </p:nvSpPr>
        <p:spPr>
          <a:xfrm>
            <a:off x="403500" y="234700"/>
            <a:ext cx="6526200" cy="8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Projection (Terminologies)</a:t>
            </a:r>
            <a:endParaRPr sz="32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/>
        </p:nvSpPr>
        <p:spPr>
          <a:xfrm>
            <a:off x="327300" y="234700"/>
            <a:ext cx="5193000" cy="8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Projection (Anatomy)</a:t>
            </a:r>
            <a:endParaRPr sz="32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2574" y="467275"/>
            <a:ext cx="6307650" cy="4482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/>
        </p:nvSpPr>
        <p:spPr>
          <a:xfrm>
            <a:off x="481725" y="1953225"/>
            <a:ext cx="2236200" cy="11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Projection</a:t>
            </a:r>
            <a:endParaRPr sz="3100">
              <a:solidFill>
                <a:srgbClr val="4A4A4A"/>
              </a:solidFill>
              <a:highlight>
                <a:srgbClr val="FFFFFF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(Types)</a:t>
            </a:r>
            <a:endParaRPr sz="32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78" name="Google Shape;7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0041" y="241950"/>
            <a:ext cx="5372868" cy="4825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6000" y="0"/>
            <a:ext cx="6857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/>
        </p:nvSpPr>
        <p:spPr>
          <a:xfrm>
            <a:off x="683300" y="165175"/>
            <a:ext cx="2479800" cy="18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Perspective</a:t>
            </a:r>
            <a:endParaRPr sz="25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vs</a:t>
            </a:r>
            <a:endParaRPr sz="25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Parallel</a:t>
            </a:r>
            <a:endParaRPr sz="25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89" name="Google Shape;8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3850" y="77275"/>
            <a:ext cx="4921499" cy="1809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0" name="Google Shape;90;p19"/>
          <p:cNvGraphicFramePr/>
          <p:nvPr/>
        </p:nvGraphicFramePr>
        <p:xfrm>
          <a:off x="314750" y="2228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{FBF8F109-D120-44F9-AFB1-3E76AFC5283C}</a:tableStyleId>
              </a:tblPr>
              <a:tblGrid>
                <a:gridCol w="1538725"/>
                <a:gridCol w="3347975"/>
                <a:gridCol w="36609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Perspective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Parallel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Nature of Projectors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Projectors aren't parallel, and will </a:t>
                      </a:r>
                      <a:r>
                        <a:rPr lang="en" sz="1200"/>
                        <a:t>converge</a:t>
                      </a:r>
                      <a:r>
                        <a:rPr lang="en" sz="1200"/>
                        <a:t> at a point called COP.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The projectors are always parallel, will never converge.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Configured By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The Center of Projection (COP) and the distance between COP and the projection plane (PP)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The angles those eventually control the Direction of Projection (DOP)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Foreshortening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Yes, so more </a:t>
                      </a:r>
                      <a:r>
                        <a:rPr lang="en" sz="1200"/>
                        <a:t>familiar</a:t>
                      </a:r>
                      <a:r>
                        <a:rPr lang="en" sz="1200"/>
                        <a:t> to human eye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No, appears less realistic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Examples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Cabinet, Cavalier, Orthographic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1-point, 2-point, 3-point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/>
        </p:nvSpPr>
        <p:spPr>
          <a:xfrm>
            <a:off x="1974025" y="62025"/>
            <a:ext cx="4963800" cy="11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Perspective Projection</a:t>
            </a:r>
            <a:endParaRPr sz="32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96" name="Google Shape;9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2875" y="786412"/>
            <a:ext cx="6656724" cy="418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/>
        </p:nvSpPr>
        <p:spPr>
          <a:xfrm>
            <a:off x="297625" y="366825"/>
            <a:ext cx="7035600" cy="11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Perspective Projection (Attributes)</a:t>
            </a:r>
            <a:endParaRPr sz="32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02" name="Google Shape;102;p21"/>
          <p:cNvSpPr txBox="1"/>
          <p:nvPr/>
        </p:nvSpPr>
        <p:spPr>
          <a:xfrm>
            <a:off x="327300" y="1301500"/>
            <a:ext cx="7658100" cy="3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6AA84F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Vanishing Point:</a:t>
            </a:r>
            <a:r>
              <a:rPr lang="en" sz="1500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 All lines that are parallel to each other (in 3D space)</a:t>
            </a:r>
            <a:endParaRPr sz="1500">
              <a:solidFill>
                <a:srgbClr val="4A4A4A"/>
              </a:solidFill>
              <a:highlight>
                <a:srgbClr val="FFFFFF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appear to converge into a single point (in projected space)</a:t>
            </a:r>
            <a:endParaRPr sz="1500">
              <a:solidFill>
                <a:srgbClr val="4A4A4A"/>
              </a:solidFill>
              <a:highlight>
                <a:srgbClr val="FFFFFF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A4A4A"/>
              </a:solidFill>
              <a:highlight>
                <a:srgbClr val="FFFFFF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500"/>
              <a:buFont typeface="Lexend Medium"/>
              <a:buChar char="●"/>
            </a:pPr>
            <a:r>
              <a:rPr lang="en" sz="1500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One-point Perspective Projection: 1 vanishing point</a:t>
            </a:r>
            <a:endParaRPr sz="1500">
              <a:solidFill>
                <a:srgbClr val="4A4A4A"/>
              </a:solidFill>
              <a:highlight>
                <a:srgbClr val="FFFFFF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500"/>
              <a:buFont typeface="Lexend Medium"/>
              <a:buChar char="●"/>
            </a:pPr>
            <a:r>
              <a:rPr lang="en" sz="1500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Two</a:t>
            </a:r>
            <a:r>
              <a:rPr lang="en" sz="1500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-point Perspective Projection: 2 vanishing points</a:t>
            </a:r>
            <a:endParaRPr sz="1500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500"/>
              <a:buFont typeface="Lexend Medium"/>
              <a:buChar char="●"/>
            </a:pPr>
            <a:r>
              <a:rPr lang="en" sz="1500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Three-point Perspective Projection: 3 vanishing points</a:t>
            </a:r>
            <a:endParaRPr sz="1500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In reality, there are infinite number of vanishing points.</a:t>
            </a:r>
            <a:endParaRPr sz="1500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6AA84F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Foreshortening:</a:t>
            </a:r>
            <a:r>
              <a:rPr lang="en" sz="1500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 Basically the phenomenon of far-away objects appearing smaller than the closer ones (despite having equal size).</a:t>
            </a:r>
            <a:endParaRPr sz="1500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More realistic since resembles human vision. Used in video games, animation, VR</a:t>
            </a:r>
            <a:endParaRPr sz="1500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/>
        </p:nvSpPr>
        <p:spPr>
          <a:xfrm>
            <a:off x="297625" y="214425"/>
            <a:ext cx="7035600" cy="11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Perspective Projection (Types)</a:t>
            </a:r>
            <a:endParaRPr sz="32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08" name="Google Shape;10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900" y="1156850"/>
            <a:ext cx="7611149" cy="344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/>
        </p:nvSpPr>
        <p:spPr>
          <a:xfrm>
            <a:off x="297625" y="138225"/>
            <a:ext cx="8531100" cy="11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Perspective Projection (</a:t>
            </a:r>
            <a:r>
              <a:rPr lang="en" sz="3100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Geometric</a:t>
            </a:r>
            <a:r>
              <a:rPr lang="en" sz="3100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 Setup)</a:t>
            </a:r>
            <a:endParaRPr sz="32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14" name="Google Shape;11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2950" y="1041425"/>
            <a:ext cx="5069875" cy="392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/>
          <p:nvPr/>
        </p:nvSpPr>
        <p:spPr>
          <a:xfrm>
            <a:off x="815900" y="1886125"/>
            <a:ext cx="4963800" cy="11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Parallel</a:t>
            </a:r>
            <a:endParaRPr sz="3100">
              <a:solidFill>
                <a:srgbClr val="4A4A4A"/>
              </a:solidFill>
              <a:highlight>
                <a:srgbClr val="FFFFFF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Projection</a:t>
            </a:r>
            <a:endParaRPr sz="32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20" name="Google Shape;12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5275" y="50125"/>
            <a:ext cx="4803101" cy="5003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/>
          <p:nvPr/>
        </p:nvSpPr>
        <p:spPr>
          <a:xfrm>
            <a:off x="297625" y="138225"/>
            <a:ext cx="7035600" cy="11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Parallel Projection</a:t>
            </a:r>
            <a:r>
              <a:rPr lang="en" sz="3100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 (Attributes)</a:t>
            </a:r>
            <a:endParaRPr sz="32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26" name="Google Shape;126;p25"/>
          <p:cNvSpPr txBox="1"/>
          <p:nvPr/>
        </p:nvSpPr>
        <p:spPr>
          <a:xfrm>
            <a:off x="327300" y="844300"/>
            <a:ext cx="7969800" cy="3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6AA84F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Parallel Lines:</a:t>
            </a:r>
            <a:r>
              <a:rPr lang="en" sz="1500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 Lines that are parallel to each other (in 3D space) even still appear parallel to each other (in projected space)</a:t>
            </a:r>
            <a:endParaRPr sz="1500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6AA84F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No Convergence:</a:t>
            </a:r>
            <a:r>
              <a:rPr lang="en" sz="1500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 Since the lines remain parallel there are no single point the projectors converge into (in other words, they converge at infinity). So there are no COP, but there is a Direction Of Projection (DOP).</a:t>
            </a:r>
            <a:endParaRPr sz="1500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6AA84F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No Foreshortening:</a:t>
            </a:r>
            <a:r>
              <a:rPr lang="en" sz="1500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 Objects that are far-away appear the same size as the closer ones.</a:t>
            </a:r>
            <a:endParaRPr sz="1500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For Orthographic the DOP is equal to the normal vector of the plane, whereas they are not equal in case of Oblique.</a:t>
            </a:r>
            <a:endParaRPr sz="1500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Parallel Projected Images are less realistic, but they are good for </a:t>
            </a:r>
            <a:r>
              <a:rPr lang="en" sz="1500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architectural</a:t>
            </a:r>
            <a:r>
              <a:rPr lang="en" sz="1500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 planning and design.</a:t>
            </a:r>
            <a:endParaRPr sz="1500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(Some video games use isometric projection which is a type of parallel projection)</a:t>
            </a:r>
            <a:r>
              <a:rPr lang="en" sz="1500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 </a:t>
            </a:r>
            <a:endParaRPr sz="1500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/>
          <p:nvPr/>
        </p:nvSpPr>
        <p:spPr>
          <a:xfrm>
            <a:off x="665575" y="1897600"/>
            <a:ext cx="2702100" cy="16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Parallel</a:t>
            </a:r>
            <a:endParaRPr sz="3100">
              <a:solidFill>
                <a:srgbClr val="4A4A4A"/>
              </a:solidFill>
              <a:highlight>
                <a:srgbClr val="FFFFFF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Projection</a:t>
            </a:r>
            <a:endParaRPr sz="3100">
              <a:solidFill>
                <a:srgbClr val="4A4A4A"/>
              </a:solidFill>
              <a:highlight>
                <a:srgbClr val="FFFFFF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(Types)</a:t>
            </a:r>
            <a:endParaRPr sz="32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32" name="Google Shape;13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4435" y="0"/>
            <a:ext cx="492752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7"/>
          <p:cNvSpPr txBox="1"/>
          <p:nvPr/>
        </p:nvSpPr>
        <p:spPr>
          <a:xfrm>
            <a:off x="602425" y="138225"/>
            <a:ext cx="8531100" cy="11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Parallel</a:t>
            </a:r>
            <a:r>
              <a:rPr lang="en" sz="3100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 Projection (Geometric Setup)</a:t>
            </a:r>
            <a:endParaRPr sz="32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38" name="Google Shape;13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8825" y="929087"/>
            <a:ext cx="9144001" cy="404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8"/>
          <p:cNvSpPr txBox="1"/>
          <p:nvPr/>
        </p:nvSpPr>
        <p:spPr>
          <a:xfrm>
            <a:off x="327300" y="158500"/>
            <a:ext cx="76581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Performing Projection Math</a:t>
            </a:r>
            <a:endParaRPr sz="16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44" name="Google Shape;144;p28"/>
          <p:cNvSpPr txBox="1"/>
          <p:nvPr/>
        </p:nvSpPr>
        <p:spPr>
          <a:xfrm>
            <a:off x="327300" y="615700"/>
            <a:ext cx="7658100" cy="21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exend Medium"/>
              <a:buChar char="●"/>
            </a:pPr>
            <a:r>
              <a:rPr lang="en" sz="13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Depending on the </a:t>
            </a:r>
            <a:r>
              <a:rPr lang="en" sz="13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scenario</a:t>
            </a:r>
            <a:r>
              <a:rPr lang="en" sz="13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, we need to use a specific projection matrix. A 4x4 </a:t>
            </a:r>
            <a:r>
              <a:rPr lang="en" sz="13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homogeneous</a:t>
            </a:r>
            <a:r>
              <a:rPr lang="en" sz="13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coordinate matrix since we're in 3D.</a:t>
            </a:r>
            <a:endParaRPr sz="13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exend Medium"/>
              <a:buChar char="●"/>
            </a:pPr>
            <a:r>
              <a:rPr lang="en" sz="13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The point to be projected P(x,y,z) will need to be converted into a 4x1 column-matrix, the w/last value will be 1.</a:t>
            </a:r>
            <a:endParaRPr sz="13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exend Medium"/>
              <a:buChar char="●"/>
            </a:pPr>
            <a:r>
              <a:rPr lang="en" sz="13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Multiplying the projection matrix and the point column-matrix will give a 4x1 result </a:t>
            </a:r>
            <a:r>
              <a:rPr lang="en" sz="13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containing</a:t>
            </a:r>
            <a:r>
              <a:rPr lang="en" sz="13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the transformation point.</a:t>
            </a:r>
            <a:endParaRPr sz="13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exend Medium"/>
              <a:buChar char="●"/>
            </a:pPr>
            <a:r>
              <a:rPr lang="en" sz="13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The w/last value of result won't necessarily be 1. In this case, we need to divide all values in the result by w to get the actual result called P'(x',y',z').</a:t>
            </a:r>
            <a:endParaRPr sz="13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45" name="Google Shape;14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8943" y="2727200"/>
            <a:ext cx="6726990" cy="219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/>
          <p:nvPr/>
        </p:nvSpPr>
        <p:spPr>
          <a:xfrm>
            <a:off x="683300" y="317575"/>
            <a:ext cx="61671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Deriving Parallel Projection Matrix</a:t>
            </a:r>
            <a:endParaRPr sz="20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51" name="Google Shape;151;p29"/>
          <p:cNvSpPr txBox="1"/>
          <p:nvPr/>
        </p:nvSpPr>
        <p:spPr>
          <a:xfrm>
            <a:off x="530900" y="3289375"/>
            <a:ext cx="8643600" cy="15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The projection rays don't converge, so there are no Center Of Projection (COP)</a:t>
            </a:r>
            <a:endParaRPr sz="16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There is however, a Direction Of Projection (DOP)</a:t>
            </a:r>
            <a:endParaRPr sz="16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This DOP is steered by some angles/scaling factors, which control the ultimate projection transformation</a:t>
            </a:r>
            <a:endParaRPr sz="16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Different angle/scaling factor configuration for Cabinet, Cavalier, Orthographic</a:t>
            </a:r>
            <a:endParaRPr sz="16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52" name="Google Shape;15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0400" y="881275"/>
            <a:ext cx="3043537" cy="225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23900"/>
            <a:ext cx="5586201" cy="349569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30"/>
          <p:cNvSpPr txBox="1"/>
          <p:nvPr/>
        </p:nvSpPr>
        <p:spPr>
          <a:xfrm>
            <a:off x="5765250" y="774775"/>
            <a:ext cx="3409200" cy="3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P' is the projected point on plane for P</a:t>
            </a:r>
            <a:endParaRPr sz="16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The distance between the plane and P is Δz</a:t>
            </a:r>
            <a:endParaRPr sz="16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(x, y, 0) is an equivalent point for P(x, y, z) put on the projection plane</a:t>
            </a:r>
            <a:endParaRPr sz="16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4A4A4A"/>
                </a:solidFill>
                <a:highlight>
                  <a:schemeClr val="lt1"/>
                </a:highlight>
              </a:rPr>
              <a:t>β </a:t>
            </a:r>
            <a:r>
              <a:rPr lang="en" sz="1500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is inclination angle</a:t>
            </a:r>
            <a:endParaRPr sz="16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x' = x + </a:t>
            </a:r>
            <a:r>
              <a:rPr b="1" lang="en" sz="1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λ</a:t>
            </a: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cos(</a:t>
            </a:r>
            <a:r>
              <a:rPr lang="en" sz="1500">
                <a:solidFill>
                  <a:srgbClr val="4A4A4A"/>
                </a:solidFill>
                <a:highlight>
                  <a:srgbClr val="FFFFFF"/>
                </a:highlight>
              </a:rPr>
              <a:t>β</a:t>
            </a: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    </a:t>
            </a:r>
            <a:r>
              <a:rPr lang="en" sz="1600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….1(a)</a:t>
            </a:r>
            <a:endParaRPr sz="1600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y' = y + </a:t>
            </a:r>
            <a:r>
              <a:rPr b="1" lang="en" sz="1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λ</a:t>
            </a: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sin(</a:t>
            </a:r>
            <a:r>
              <a:rPr lang="en" sz="1500">
                <a:solidFill>
                  <a:srgbClr val="4A4A4A"/>
                </a:solidFill>
                <a:highlight>
                  <a:srgbClr val="FFFFFF"/>
                </a:highlight>
              </a:rPr>
              <a:t>β</a:t>
            </a: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    </a:t>
            </a:r>
            <a:r>
              <a:rPr lang="en" sz="1600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…..1(b)</a:t>
            </a:r>
            <a:endParaRPr sz="1600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9525"/>
            <a:ext cx="8831612" cy="3712376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31"/>
          <p:cNvSpPr txBox="1"/>
          <p:nvPr/>
        </p:nvSpPr>
        <p:spPr>
          <a:xfrm>
            <a:off x="6489300" y="159725"/>
            <a:ext cx="2794500" cy="8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A4A4A"/>
                </a:solidFill>
                <a:highlight>
                  <a:srgbClr val="FFFFFF"/>
                </a:highlight>
              </a:rPr>
              <a:t>α </a:t>
            </a:r>
            <a:r>
              <a:rPr lang="en" sz="1500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is the angle between the projection plane and projection ray, this is the angle of skewness.</a:t>
            </a:r>
            <a:endParaRPr sz="16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65" name="Google Shape;165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525" y="4047150"/>
            <a:ext cx="5520575" cy="8045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31"/>
          <p:cNvSpPr txBox="1"/>
          <p:nvPr/>
        </p:nvSpPr>
        <p:spPr>
          <a:xfrm>
            <a:off x="6384500" y="3816000"/>
            <a:ext cx="2442000" cy="10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We will address </a:t>
            </a:r>
            <a:r>
              <a:rPr lang="en" sz="1500">
                <a:solidFill>
                  <a:srgbClr val="4A4A4A"/>
                </a:solidFill>
                <a:highlight>
                  <a:srgbClr val="FFFFFF"/>
                </a:highlight>
              </a:rPr>
              <a:t>Δ</a:t>
            </a:r>
            <a:r>
              <a:rPr lang="en" sz="1500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lang="en" sz="1500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 as just z since:</a:t>
            </a:r>
            <a:endParaRPr sz="1500">
              <a:solidFill>
                <a:srgbClr val="4A4A4A"/>
              </a:solidFill>
              <a:highlight>
                <a:srgbClr val="FFFFFF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A4A4A"/>
              </a:solidFill>
              <a:highlight>
                <a:srgbClr val="FFFFFF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A4A4A"/>
                </a:solidFill>
                <a:highlight>
                  <a:srgbClr val="FFFFFF"/>
                </a:highlight>
              </a:rPr>
              <a:t>Δ</a:t>
            </a:r>
            <a:r>
              <a:rPr lang="en" sz="1500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z = (z - 0) = z</a:t>
            </a:r>
            <a:endParaRPr sz="16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2"/>
          <p:cNvSpPr txBox="1"/>
          <p:nvPr/>
        </p:nvSpPr>
        <p:spPr>
          <a:xfrm>
            <a:off x="327300" y="310900"/>
            <a:ext cx="4243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From equations 1(a) and 1(b), we can write</a:t>
            </a:r>
            <a:endParaRPr sz="16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72" name="Google Shape;17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1175" y="1042925"/>
            <a:ext cx="2957275" cy="194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2"/>
          <p:cNvSpPr txBox="1"/>
          <p:nvPr/>
        </p:nvSpPr>
        <p:spPr>
          <a:xfrm>
            <a:off x="264275" y="3263975"/>
            <a:ext cx="4243500" cy="6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Since on the projection plane, all z values are 0 (for this particular scenario)</a:t>
            </a:r>
            <a:endParaRPr sz="16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74" name="Google Shape;17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5300" y="4100000"/>
            <a:ext cx="876700" cy="30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32"/>
          <p:cNvSpPr txBox="1"/>
          <p:nvPr/>
        </p:nvSpPr>
        <p:spPr>
          <a:xfrm>
            <a:off x="5098600" y="310900"/>
            <a:ext cx="38886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Rewriting with color coded coefficients</a:t>
            </a:r>
            <a:endParaRPr sz="16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76" name="Google Shape;176;p32"/>
          <p:cNvSpPr/>
          <p:nvPr/>
        </p:nvSpPr>
        <p:spPr>
          <a:xfrm>
            <a:off x="4770194" y="338550"/>
            <a:ext cx="33300" cy="446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7" name="Google Shape;177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12300" y="890075"/>
            <a:ext cx="3522900" cy="26405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32"/>
          <p:cNvSpPr txBox="1"/>
          <p:nvPr/>
        </p:nvSpPr>
        <p:spPr>
          <a:xfrm>
            <a:off x="5150100" y="4168625"/>
            <a:ext cx="3246000" cy="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Coefficients Color Coding:</a:t>
            </a:r>
            <a:endParaRPr sz="10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(x = red, y = green, z = blue, leftover = purple)</a:t>
            </a:r>
            <a:endParaRPr sz="10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3"/>
          <p:cNvSpPr txBox="1"/>
          <p:nvPr/>
        </p:nvSpPr>
        <p:spPr>
          <a:xfrm>
            <a:off x="203400" y="209600"/>
            <a:ext cx="79752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Strategy: Converting x', y', z' equations to a 4x4 matrix</a:t>
            </a:r>
            <a:endParaRPr sz="18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84" name="Google Shape;18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450" y="593475"/>
            <a:ext cx="4355750" cy="183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7821" y="3173288"/>
            <a:ext cx="4975960" cy="183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33"/>
          <p:cNvSpPr/>
          <p:nvPr/>
        </p:nvSpPr>
        <p:spPr>
          <a:xfrm>
            <a:off x="2783075" y="2557225"/>
            <a:ext cx="532500" cy="6042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33"/>
          <p:cNvSpPr txBox="1"/>
          <p:nvPr/>
        </p:nvSpPr>
        <p:spPr>
          <a:xfrm>
            <a:off x="5904975" y="985200"/>
            <a:ext cx="3238500" cy="13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don't have any w equation.</a:t>
            </a:r>
            <a:endParaRPr sz="18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will consider w = 1</a:t>
            </a:r>
            <a:endParaRPr sz="18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(since parallel projection)</a:t>
            </a:r>
            <a:endParaRPr sz="18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88" name="Google Shape;188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42457" y="2997484"/>
            <a:ext cx="1526017" cy="156436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33"/>
          <p:cNvSpPr/>
          <p:nvPr/>
        </p:nvSpPr>
        <p:spPr>
          <a:xfrm>
            <a:off x="6340575" y="2856075"/>
            <a:ext cx="1905000" cy="1913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200" y="165575"/>
            <a:ext cx="2581974" cy="2031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78650" y="240100"/>
            <a:ext cx="4652351" cy="18820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4"/>
          <p:cNvSpPr/>
          <p:nvPr/>
        </p:nvSpPr>
        <p:spPr>
          <a:xfrm>
            <a:off x="3206500" y="979125"/>
            <a:ext cx="670800" cy="447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4"/>
          <p:cNvSpPr txBox="1"/>
          <p:nvPr/>
        </p:nvSpPr>
        <p:spPr>
          <a:xfrm>
            <a:off x="2616800" y="2365075"/>
            <a:ext cx="46035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Since, </a:t>
            </a:r>
            <a:r>
              <a:rPr lang="en" sz="18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 = 1 </a:t>
            </a:r>
            <a:r>
              <a:rPr lang="en" sz="1800">
                <a:solidFill>
                  <a:srgbClr val="FF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(only for this scenario)</a:t>
            </a:r>
            <a:endParaRPr sz="1800">
              <a:solidFill>
                <a:srgbClr val="FF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98" name="Google Shape;198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52800" y="3092875"/>
            <a:ext cx="2389438" cy="182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5"/>
          <p:cNvSpPr txBox="1"/>
          <p:nvPr/>
        </p:nvSpPr>
        <p:spPr>
          <a:xfrm>
            <a:off x="223125" y="277850"/>
            <a:ext cx="61773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Considering</a:t>
            </a:r>
            <a:r>
              <a:rPr lang="en" sz="18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</a:t>
            </a:r>
            <a:r>
              <a:rPr lang="en" sz="1600">
                <a:solidFill>
                  <a:srgbClr val="4A4A4A"/>
                </a:solidFill>
                <a:highlight>
                  <a:srgbClr val="FFFFFF"/>
                </a:highlight>
              </a:rPr>
              <a:t>Δ</a:t>
            </a:r>
            <a:r>
              <a:rPr lang="en" sz="1600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z = z as 1, we can get this relation:</a:t>
            </a:r>
            <a:endParaRPr sz="1900">
              <a:solidFill>
                <a:srgbClr val="FF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204" name="Google Shape;20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875" y="3219775"/>
            <a:ext cx="4722324" cy="152487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5"/>
          <p:cNvSpPr txBox="1"/>
          <p:nvPr/>
        </p:nvSpPr>
        <p:spPr>
          <a:xfrm>
            <a:off x="223125" y="2259050"/>
            <a:ext cx="47886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By which, we can get an alternate matrix:</a:t>
            </a:r>
            <a:endParaRPr sz="1900">
              <a:solidFill>
                <a:srgbClr val="FF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206" name="Google Shape;206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7192" y="1151325"/>
            <a:ext cx="4926316" cy="7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5"/>
          <p:cNvSpPr/>
          <p:nvPr/>
        </p:nvSpPr>
        <p:spPr>
          <a:xfrm>
            <a:off x="5913194" y="338550"/>
            <a:ext cx="33300" cy="446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5"/>
          <p:cNvSpPr txBox="1"/>
          <p:nvPr/>
        </p:nvSpPr>
        <p:spPr>
          <a:xfrm>
            <a:off x="6171375" y="2111625"/>
            <a:ext cx="2724900" cy="16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For the math,</a:t>
            </a:r>
            <a:endParaRPr sz="16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can either build the matrix using</a:t>
            </a:r>
            <a:endParaRPr sz="16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(</a:t>
            </a:r>
            <a:r>
              <a:rPr b="1" lang="en" sz="1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α, β</a:t>
            </a: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 or (</a:t>
            </a:r>
            <a:r>
              <a:rPr b="1" lang="en" sz="1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λ, β</a:t>
            </a:r>
            <a:r>
              <a:rPr lang="en" sz="16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</a:t>
            </a:r>
            <a:endParaRPr sz="16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6"/>
          <p:cNvSpPr txBox="1"/>
          <p:nvPr/>
        </p:nvSpPr>
        <p:spPr>
          <a:xfrm>
            <a:off x="305925" y="79075"/>
            <a:ext cx="80838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Configurations for different types of parallel projections</a:t>
            </a:r>
            <a:endParaRPr sz="1800">
              <a:solidFill>
                <a:srgbClr val="FF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graphicFrame>
        <p:nvGraphicFramePr>
          <p:cNvPr id="214" name="Google Shape;214;p36"/>
          <p:cNvGraphicFramePr/>
          <p:nvPr/>
        </p:nvGraphicFramePr>
        <p:xfrm>
          <a:off x="314750" y="578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{FBF8F109-D120-44F9-AFB1-3E76AFC5283C}</a:tableStyleId>
              </a:tblPr>
              <a:tblGrid>
                <a:gridCol w="1428750"/>
                <a:gridCol w="989775"/>
                <a:gridCol w="915225"/>
                <a:gridCol w="923500"/>
                <a:gridCol w="1271400"/>
                <a:gridCol w="3043850"/>
              </a:tblGrid>
              <a:tr h="467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Type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Oblique?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λ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α </a:t>
                      </a:r>
                      <a:r>
                        <a:rPr b="1" lang="en"/>
                        <a:t>(deg)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β</a:t>
                      </a:r>
                      <a:r>
                        <a:rPr b="1" lang="en"/>
                        <a:t> (deg)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Preview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1280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Cabinet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Yes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63.4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0-360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1280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Cavalier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Yes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45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0-360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1280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Orthographic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0-360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id="215" name="Google Shape;21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9750" y="1058800"/>
            <a:ext cx="1190500" cy="1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49750" y="2392150"/>
            <a:ext cx="1190500" cy="1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9750" y="3614650"/>
            <a:ext cx="1190500" cy="1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7"/>
          <p:cNvSpPr txBox="1"/>
          <p:nvPr/>
        </p:nvSpPr>
        <p:spPr>
          <a:xfrm>
            <a:off x="644800" y="177650"/>
            <a:ext cx="7975200" cy="7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Example</a:t>
            </a:r>
            <a:r>
              <a:rPr lang="en" sz="18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: For a point P (10, 20, -40), calculate the projected point P' using Cavalier Projection, orientation angle is 30°</a:t>
            </a:r>
            <a:endParaRPr sz="18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223" name="Google Shape;223;p37"/>
          <p:cNvSpPr txBox="1"/>
          <p:nvPr/>
        </p:nvSpPr>
        <p:spPr>
          <a:xfrm>
            <a:off x="644800" y="863450"/>
            <a:ext cx="7975200" cy="7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For Cavalier, </a:t>
            </a:r>
            <a:r>
              <a:rPr b="1" lang="en" sz="15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α</a:t>
            </a:r>
            <a:r>
              <a:rPr lang="en" sz="15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45°. And it is given that, </a:t>
            </a:r>
            <a:r>
              <a:rPr b="1" lang="en" sz="15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β</a:t>
            </a:r>
            <a:r>
              <a:rPr lang="en" sz="15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30°</a:t>
            </a:r>
            <a:endParaRPr sz="15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The whole calculated matrix with the point multiplied is:</a:t>
            </a:r>
            <a:endParaRPr sz="15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224" name="Google Shape;22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7975" y="1634600"/>
            <a:ext cx="6749925" cy="19285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37"/>
          <p:cNvSpPr txBox="1"/>
          <p:nvPr/>
        </p:nvSpPr>
        <p:spPr>
          <a:xfrm>
            <a:off x="644800" y="3911450"/>
            <a:ext cx="7975200" cy="9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don't need to divide values by w since w is already 1</a:t>
            </a:r>
            <a:endParaRPr sz="15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P' is (-24.64, 0, 0)</a:t>
            </a:r>
            <a:endParaRPr sz="15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8"/>
          <p:cNvSpPr txBox="1"/>
          <p:nvPr/>
        </p:nvSpPr>
        <p:spPr>
          <a:xfrm>
            <a:off x="644800" y="177650"/>
            <a:ext cx="7975200" cy="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Example</a:t>
            </a:r>
            <a:r>
              <a:rPr lang="en" sz="18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: Derive the matrix for orthographic projection</a:t>
            </a:r>
            <a:endParaRPr sz="18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231" name="Google Shape;231;p38"/>
          <p:cNvSpPr txBox="1"/>
          <p:nvPr/>
        </p:nvSpPr>
        <p:spPr>
          <a:xfrm>
            <a:off x="644800" y="711050"/>
            <a:ext cx="79752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Here, the projection rays will be perpendicular to the projection plane,  α will be 90 degrees, making λ as 0, so the value of β won't even be considered.</a:t>
            </a:r>
            <a:endParaRPr sz="15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Butting these values into the formula matrix gives:</a:t>
            </a:r>
            <a:endParaRPr sz="15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232" name="Google Shape;23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7250" y="2038475"/>
            <a:ext cx="2634275" cy="21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9"/>
          <p:cNvSpPr txBox="1"/>
          <p:nvPr/>
        </p:nvSpPr>
        <p:spPr>
          <a:xfrm>
            <a:off x="644800" y="177650"/>
            <a:ext cx="7975200" cy="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Example</a:t>
            </a:r>
            <a:r>
              <a:rPr lang="en" sz="18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: Calculate Orthographic Projection for the point P (d, e, f)</a:t>
            </a:r>
            <a:endParaRPr sz="18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238" name="Google Shape;238;p39"/>
          <p:cNvSpPr txBox="1"/>
          <p:nvPr/>
        </p:nvSpPr>
        <p:spPr>
          <a:xfrm>
            <a:off x="644800" y="634850"/>
            <a:ext cx="79752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don't need to know any other value since the orthographic projection matrix is constant, we simply multiply our provided point P (as a homogenous column-matrix) with the matrix.</a:t>
            </a:r>
            <a:endParaRPr sz="15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239" name="Google Shape;23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4425" y="1583750"/>
            <a:ext cx="5415950" cy="222692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9"/>
          <p:cNvSpPr txBox="1"/>
          <p:nvPr/>
        </p:nvSpPr>
        <p:spPr>
          <a:xfrm>
            <a:off x="644800" y="3987650"/>
            <a:ext cx="7975200" cy="9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In fact, applying orthographic projection to a point is equivalent to copying the point's x and y values, while setting its z value to 0. [(x, y, z) becomes (x, y, 0)]</a:t>
            </a:r>
            <a:endParaRPr sz="15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