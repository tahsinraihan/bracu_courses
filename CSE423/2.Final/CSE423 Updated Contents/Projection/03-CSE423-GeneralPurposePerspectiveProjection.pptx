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Lexend Medium"/>
      <p:regular r:id="rId30"/>
      <p:bold r:id="rId31"/>
    </p:embeddedFont>
    <p:embeddedFont>
      <p:font typeface="Lexend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exendMedium-bold.fntdata"/><Relationship Id="rId30" Type="http://schemas.openxmlformats.org/officeDocument/2006/relationships/font" Target="fonts/LexendMedium-regular.fntdata"/><Relationship Id="rId11" Type="http://schemas.openxmlformats.org/officeDocument/2006/relationships/slide" Target="slides/slide6.xml"/><Relationship Id="rId33" Type="http://schemas.openxmlformats.org/officeDocument/2006/relationships/font" Target="fonts/Lexend-bold.fntdata"/><Relationship Id="rId10" Type="http://schemas.openxmlformats.org/officeDocument/2006/relationships/slide" Target="slides/slide5.xml"/><Relationship Id="rId32" Type="http://schemas.openxmlformats.org/officeDocument/2006/relationships/font" Target="fonts/Lexen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ec5a1d70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ec5a1d70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1ec5a1d7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1ec5a1d7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e70cc34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1e70cc34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e70cc349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e70cc349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1e70cc349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1e70cc349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e70cc349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1e70cc349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e70cc349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1e70cc349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1e70cc349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1e70cc349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130f29359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130f29359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e62e443a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1e62e443a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e62e443a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1e62e443a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e62e443a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1e62e443a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1e62e443a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1e62e443a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1e62e443a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1e62e443a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1e62e443a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1e62e443a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2130f29359_3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2130f29359_3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1e62e443a3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1e62e443a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1e62e443a3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1e62e443a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1ec5a1d70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1ec5a1d70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1e62e443a3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1e62e443a3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1ec5a1d70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1ec5a1d70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1e6dee3a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1e6dee3a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1e6dee3ab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1e6dee3ab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1e6dee3ab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1e6dee3ab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349875" y="983550"/>
            <a:ext cx="4647900" cy="30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595959"/>
                </a:solidFill>
                <a:latin typeface="Lexend Medium"/>
                <a:ea typeface="Lexend Medium"/>
                <a:cs typeface="Lexend Medium"/>
                <a:sym typeface="Lexend Medium"/>
              </a:rPr>
              <a:t>Perspective Projection</a:t>
            </a:r>
            <a:endParaRPr sz="2800">
              <a:solidFill>
                <a:srgbClr val="595959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(General Purpose)</a:t>
            </a:r>
            <a:endParaRPr sz="2800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179875" y="234875"/>
            <a:ext cx="8604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Perspective Projection Overview</a:t>
            </a:r>
            <a:endParaRPr baseline="-25000"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49" y="885325"/>
            <a:ext cx="5742825" cy="36545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6161875" y="1767100"/>
            <a:ext cx="2622600" cy="17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In case of General Purpose Perspective Projection, the COP is not necessarily on the z-axis</a:t>
            </a:r>
            <a:endParaRPr baseline="-25000"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4875" y="642325"/>
            <a:ext cx="6044651" cy="27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179850" y="3353275"/>
            <a:ext cx="8604600" cy="12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 is at an arbitrary point, not necessarily on the z-axis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don't care if COP or PP is at origin or not.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distance between COP and PP (expressed as d) is the z-distance between them.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390250" y="35587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sz="1600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637050" y="3353275"/>
            <a:ext cx="7211700" cy="10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 is 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expressed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component-wise as </a:t>
            </a:r>
            <a:r>
              <a:rPr lang="en" sz="1600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(cop</a:t>
            </a:r>
            <a:r>
              <a:rPr baseline="-25000" lang="en" sz="1600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lang="en" sz="1600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baseline="-25000" lang="en" sz="1600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lang="en" sz="1600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baseline="-25000" lang="en" sz="1600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600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endParaRPr sz="1600">
              <a:solidFill>
                <a:srgbClr val="171CF3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z-axis pierces through the PP, the piercing point is </a:t>
            </a:r>
            <a:r>
              <a:rPr lang="en" sz="1600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baseline="-25000" lang="en" sz="1600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600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endParaRPr sz="1600">
              <a:solidFill>
                <a:srgbClr val="1F662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difference between </a:t>
            </a:r>
            <a:r>
              <a:rPr lang="en" sz="1600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</a:t>
            </a:r>
            <a:r>
              <a:rPr baseline="-25000" lang="en" sz="1600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lang="en" sz="1600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aseline="-25000" lang="en" sz="1600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is equals to </a:t>
            </a:r>
            <a:r>
              <a:rPr lang="en" sz="1600">
                <a:solidFill>
                  <a:srgbClr val="99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d</a:t>
            </a:r>
            <a:endParaRPr sz="1600">
              <a:solidFill>
                <a:srgbClr val="99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37850" y="27967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sz="1600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9250" y="720750"/>
            <a:ext cx="4926851" cy="252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408450" y="3505675"/>
            <a:ext cx="7868100" cy="10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consider a vector called q that goes from (0, 0, z</a:t>
            </a:r>
            <a:r>
              <a:rPr baseline="-25000"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to COP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q = (qx, qy, qz) = </a:t>
            </a:r>
            <a:r>
              <a:rPr lang="en" sz="1600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(cop</a:t>
            </a:r>
            <a:r>
              <a:rPr baseline="-25000" lang="en" sz="1600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lang="en" sz="1600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baseline="-25000" lang="en" sz="1600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lang="en" sz="1600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baseline="-25000" lang="en" sz="1600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600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- </a:t>
            </a:r>
            <a:r>
              <a:rPr lang="en" sz="1600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baseline="-25000" lang="en" sz="1600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600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lang="en" sz="1600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(cop</a:t>
            </a:r>
            <a:r>
              <a:rPr baseline="-25000" lang="en" sz="1600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lang="en" sz="1600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baseline="-25000" lang="en" sz="1600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lang="en" sz="1600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baseline="-25000" lang="en" sz="1600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600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-z</a:t>
            </a:r>
            <a:r>
              <a:rPr baseline="-25000" lang="en" sz="1600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600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endParaRPr sz="1600">
              <a:solidFill>
                <a:srgbClr val="C504C5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(qx, qy, qz) is sometimes expressed as (Qdx, Qdy, Qdz)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9250" y="27967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sz="1600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6400" y="812725"/>
            <a:ext cx="4994149" cy="249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/>
        </p:nvSpPr>
        <p:spPr>
          <a:xfrm>
            <a:off x="9250" y="27967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sz="1600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250" y="1442475"/>
            <a:ext cx="4994149" cy="249472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5880125" y="1221800"/>
            <a:ext cx="1710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aseline="-25000"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cop</a:t>
            </a:r>
            <a:r>
              <a:rPr baseline="-25000"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endParaRPr baseline="-25000"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aseline="-25000"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cop</a:t>
            </a:r>
            <a:r>
              <a:rPr baseline="-25000"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endParaRPr baseline="-25000"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aseline="-25000"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cop</a:t>
            </a:r>
            <a:r>
              <a:rPr baseline="-25000"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- z</a:t>
            </a:r>
            <a:r>
              <a:rPr baseline="-25000"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endParaRPr baseline="-25000"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5652775" y="2856325"/>
            <a:ext cx="3235200" cy="4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5880125" y="3279200"/>
            <a:ext cx="1710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op</a:t>
            </a:r>
            <a:r>
              <a:rPr baseline="-25000"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q</a:t>
            </a:r>
            <a:r>
              <a:rPr baseline="-25000"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endParaRPr baseline="-25000"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op</a:t>
            </a:r>
            <a:r>
              <a:rPr baseline="-25000"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q</a:t>
            </a:r>
            <a:r>
              <a:rPr baseline="-25000"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endParaRPr baseline="-25000"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</a:t>
            </a:r>
            <a:r>
              <a:rPr baseline="-25000"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z</a:t>
            </a:r>
            <a:r>
              <a:rPr baseline="-25000"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+ q</a:t>
            </a:r>
            <a:r>
              <a:rPr baseline="-25000"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endParaRPr baseline="-25000"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6911025" y="335539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……..1(a)</a:t>
            </a:r>
            <a:endParaRPr baseline="-250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6911025" y="366019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……..1(b)</a:t>
            </a:r>
            <a:endParaRPr baseline="-250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7215825" y="404119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……..1(c)</a:t>
            </a:r>
            <a:endParaRPr baseline="-250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/>
        </p:nvSpPr>
        <p:spPr>
          <a:xfrm>
            <a:off x="795450" y="3975350"/>
            <a:ext cx="73875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consider a parametric line segment that goes between COP and P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This line segment is basically our projection ray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-122050" y="40562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sz="1600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1211" y="1027250"/>
            <a:ext cx="4883828" cy="2789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/>
        </p:nvSpPr>
        <p:spPr>
          <a:xfrm>
            <a:off x="338250" y="3504350"/>
            <a:ext cx="73875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At some point, for a certain value of t, P(t) will be the same as P'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call that t value t</a:t>
            </a:r>
            <a:r>
              <a:rPr baseline="-25000"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endParaRPr baseline="-25000"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-122050" y="40562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sz="1600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011" y="798650"/>
            <a:ext cx="4883828" cy="2789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5599" y="635549"/>
            <a:ext cx="2797250" cy="2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5100" y="4415150"/>
            <a:ext cx="5101024" cy="36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/>
        </p:nvSpPr>
        <p:spPr>
          <a:xfrm>
            <a:off x="6646850" y="433669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……..(2)</a:t>
            </a:r>
            <a:endParaRPr baseline="-25000" sz="16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45000" y="702400"/>
            <a:ext cx="7596050" cy="203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/>
        </p:nvSpPr>
        <p:spPr>
          <a:xfrm>
            <a:off x="172000" y="2796625"/>
            <a:ext cx="86046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need to remove t</a:t>
            </a:r>
            <a:r>
              <a:rPr baseline="-25000"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from these equations, since we don't know the value of t</a:t>
            </a:r>
            <a:r>
              <a:rPr baseline="-25000"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Using the equation of z' we can write:</a:t>
            </a:r>
            <a:endParaRPr baseline="-25000"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3489025"/>
            <a:ext cx="3562350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/>
        </p:nvSpPr>
        <p:spPr>
          <a:xfrm>
            <a:off x="4663125" y="10009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……..3(a)</a:t>
            </a:r>
            <a:endParaRPr baseline="-25000" sz="16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4663125" y="15343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……..3(b)</a:t>
            </a:r>
            <a:endParaRPr baseline="-25000" sz="16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6644325" y="21439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……..3(c)</a:t>
            </a:r>
            <a:endParaRPr baseline="-25000" sz="16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256075" y="234875"/>
            <a:ext cx="8604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Breaking the equation the last equation into x, y, z components</a:t>
            </a:r>
            <a:endParaRPr baseline="-25000"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/>
        </p:nvSpPr>
        <p:spPr>
          <a:xfrm>
            <a:off x="6487975" y="113600"/>
            <a:ext cx="2517300" cy="26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Since </a:t>
            </a:r>
            <a:r>
              <a:rPr b="1" lang="en" sz="1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P'(x',y',z')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1" lang="en" sz="1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(0,0,z</a:t>
            </a:r>
            <a:r>
              <a:rPr b="1" baseline="-25000" lang="en" sz="1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r>
              <a:rPr b="1" lang="en" sz="1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both reside on the same plane (the PP), their z value are the same.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which means: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' = z</a:t>
            </a:r>
            <a:r>
              <a:rPr baseline="-25000"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r>
              <a:rPr lang="en" sz="1600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……..(4)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(Remember this equation)</a:t>
            </a:r>
            <a:endParaRPr>
              <a:solidFill>
                <a:srgbClr val="99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450" y="2926450"/>
            <a:ext cx="8202999" cy="13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324400" y="4473025"/>
            <a:ext cx="76029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 we substitute the value of t</a:t>
            </a:r>
            <a:r>
              <a:rPr baseline="-25000"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in the equations of x'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y' from before</a:t>
            </a:r>
            <a:endParaRPr baseline="-25000"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950" y="431725"/>
            <a:ext cx="4994149" cy="249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/>
        </p:nvSpPr>
        <p:spPr>
          <a:xfrm>
            <a:off x="248200" y="129625"/>
            <a:ext cx="7476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x'</a:t>
            </a:r>
            <a:endParaRPr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2850" y="276247"/>
            <a:ext cx="4905199" cy="277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 txBox="1"/>
          <p:nvPr/>
        </p:nvSpPr>
        <p:spPr>
          <a:xfrm>
            <a:off x="248200" y="3330025"/>
            <a:ext cx="28938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y', 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following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the same way</a:t>
            </a:r>
            <a:endParaRPr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425" y="3408250"/>
            <a:ext cx="2641525" cy="12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3"/>
          <p:cNvSpPr txBox="1"/>
          <p:nvPr/>
        </p:nvSpPr>
        <p:spPr>
          <a:xfrm>
            <a:off x="3402450" y="24109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……..5(a)</a:t>
            </a:r>
            <a:endParaRPr baseline="-25000" sz="16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3437250" y="3976820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……..5(b)</a:t>
            </a:r>
            <a:endParaRPr baseline="-25000" sz="16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/>
        </p:nvSpPr>
        <p:spPr>
          <a:xfrm>
            <a:off x="248200" y="129625"/>
            <a:ext cx="7476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x'</a:t>
            </a:r>
            <a:endParaRPr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2850" y="276247"/>
            <a:ext cx="4905199" cy="277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4"/>
          <p:cNvSpPr txBox="1"/>
          <p:nvPr/>
        </p:nvSpPr>
        <p:spPr>
          <a:xfrm>
            <a:off x="248200" y="3330025"/>
            <a:ext cx="28938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y', following the same way</a:t>
            </a:r>
            <a:endParaRPr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425" y="3408250"/>
            <a:ext cx="2641525" cy="12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/>
        </p:nvSpPr>
        <p:spPr>
          <a:xfrm>
            <a:off x="3402450" y="24109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……..5(a)</a:t>
            </a:r>
            <a:endParaRPr baseline="-25000" sz="16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3437250" y="3976820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……..5(b)</a:t>
            </a:r>
            <a:endParaRPr baseline="-25000" sz="16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51" name="Google Shape;151;p24"/>
          <p:cNvSpPr txBox="1"/>
          <p:nvPr/>
        </p:nvSpPr>
        <p:spPr>
          <a:xfrm>
            <a:off x="5918700" y="1681200"/>
            <a:ext cx="28938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Notice how they have the same denominator</a:t>
            </a:r>
            <a:b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</a:br>
            <a:r>
              <a:rPr lang="en">
                <a:solidFill>
                  <a:srgbClr val="99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(Remember this)</a:t>
            </a:r>
            <a:endParaRPr baseline="-25000">
              <a:solidFill>
                <a:srgbClr val="99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cxnSp>
        <p:nvCxnSpPr>
          <p:cNvPr id="152" name="Google Shape;152;p24"/>
          <p:cNvCxnSpPr>
            <a:stCxn id="151" idx="2"/>
          </p:cNvCxnSpPr>
          <p:nvPr/>
        </p:nvCxnSpPr>
        <p:spPr>
          <a:xfrm rot="5400000">
            <a:off x="4311450" y="1439250"/>
            <a:ext cx="1955400" cy="4152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24"/>
          <p:cNvCxnSpPr>
            <a:stCxn id="151" idx="1"/>
          </p:cNvCxnSpPr>
          <p:nvPr/>
        </p:nvCxnSpPr>
        <p:spPr>
          <a:xfrm flipH="1">
            <a:off x="3149700" y="2109600"/>
            <a:ext cx="2769000" cy="805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/>
        </p:nvSpPr>
        <p:spPr>
          <a:xfrm>
            <a:off x="248200" y="129625"/>
            <a:ext cx="7476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z'</a:t>
            </a:r>
            <a:endParaRPr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59" name="Google Shape;159;p25"/>
          <p:cNvSpPr txBox="1"/>
          <p:nvPr/>
        </p:nvSpPr>
        <p:spPr>
          <a:xfrm>
            <a:off x="4132925" y="3081620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……..5(c)</a:t>
            </a:r>
            <a:endParaRPr baseline="-25000" sz="16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60" name="Google Shape;1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412394" y="562362"/>
            <a:ext cx="6984388" cy="327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5"/>
          <p:cNvSpPr txBox="1"/>
          <p:nvPr/>
        </p:nvSpPr>
        <p:spPr>
          <a:xfrm>
            <a:off x="1872225" y="512350"/>
            <a:ext cx="46752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[Ok, but it lacks the common denominator]</a:t>
            </a:r>
            <a:endParaRPr baseline="-25000" sz="16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4767325" y="1350275"/>
            <a:ext cx="42804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[multiply by denominator/</a:t>
            </a:r>
            <a:r>
              <a:rPr lang="en" sz="1600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denominator</a:t>
            </a:r>
            <a:r>
              <a:rPr lang="en" sz="1600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]</a:t>
            </a:r>
            <a:endParaRPr baseline="-25000" sz="16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3" name="Google Shape;163;p25"/>
          <p:cNvSpPr txBox="1"/>
          <p:nvPr/>
        </p:nvSpPr>
        <p:spPr>
          <a:xfrm>
            <a:off x="4767325" y="1596900"/>
            <a:ext cx="42804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[multiply the above part with z</a:t>
            </a:r>
            <a:r>
              <a:rPr baseline="-25000" lang="en" sz="1600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600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]</a:t>
            </a:r>
            <a:endParaRPr baseline="-25000" sz="16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4767325" y="1866100"/>
            <a:ext cx="42804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[keep the bottom part intact]</a:t>
            </a:r>
            <a:endParaRPr baseline="-25000" sz="16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5" name="Google Shape;165;p25"/>
          <p:cNvSpPr txBox="1"/>
          <p:nvPr/>
        </p:nvSpPr>
        <p:spPr>
          <a:xfrm>
            <a:off x="5737275" y="2546775"/>
            <a:ext cx="30594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We've brought the common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denominator present in x' and y'</a:t>
            </a:r>
            <a:b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</a:br>
            <a:r>
              <a:rPr lang="en">
                <a:solidFill>
                  <a:srgbClr val="99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(Remember this)</a:t>
            </a:r>
            <a:endParaRPr baseline="-25000">
              <a:solidFill>
                <a:srgbClr val="99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cxnSp>
        <p:nvCxnSpPr>
          <p:cNvPr id="166" name="Google Shape;166;p25"/>
          <p:cNvCxnSpPr>
            <a:stCxn id="165" idx="2"/>
          </p:cNvCxnSpPr>
          <p:nvPr/>
        </p:nvCxnSpPr>
        <p:spPr>
          <a:xfrm rot="5400000">
            <a:off x="5379225" y="1780425"/>
            <a:ext cx="264600" cy="3510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/>
        </p:nvSpPr>
        <p:spPr>
          <a:xfrm>
            <a:off x="248200" y="205825"/>
            <a:ext cx="16182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All in one place</a:t>
            </a:r>
            <a:endParaRPr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72" name="Google Shape;172;p26"/>
          <p:cNvSpPr/>
          <p:nvPr/>
        </p:nvSpPr>
        <p:spPr>
          <a:xfrm>
            <a:off x="4130650" y="277100"/>
            <a:ext cx="50100" cy="4298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6"/>
          <p:cNvSpPr txBox="1"/>
          <p:nvPr/>
        </p:nvSpPr>
        <p:spPr>
          <a:xfrm>
            <a:off x="4439200" y="129625"/>
            <a:ext cx="39372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can call the common denominator </a:t>
            </a:r>
            <a:r>
              <a:rPr lang="en">
                <a:solidFill>
                  <a:srgbClr val="B45F06"/>
                </a:solidFill>
                <a:latin typeface="Lexend Medium"/>
                <a:ea typeface="Lexend Medium"/>
                <a:cs typeface="Lexend Medium"/>
                <a:sym typeface="Lexend Medium"/>
              </a:rPr>
              <a:t>"w"</a:t>
            </a:r>
            <a:endParaRPr baseline="-25000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74" name="Google Shape;17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25925"/>
            <a:ext cx="3784863" cy="364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2724" y="716350"/>
            <a:ext cx="3611825" cy="392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/>
        </p:nvSpPr>
        <p:spPr>
          <a:xfrm>
            <a:off x="324400" y="129625"/>
            <a:ext cx="22611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Moving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r>
              <a:rPr lang="en">
                <a:solidFill>
                  <a:srgbClr val="B45F06"/>
                </a:solidFill>
                <a:latin typeface="Lexend Medium"/>
                <a:ea typeface="Lexend Medium"/>
                <a:cs typeface="Lexend Medium"/>
                <a:sym typeface="Lexend Medium"/>
              </a:rPr>
              <a:t>"w" 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to the L.H.S</a:t>
            </a:r>
            <a:endParaRPr baseline="-25000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4130650" y="277100"/>
            <a:ext cx="50100" cy="4298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7"/>
          <p:cNvSpPr txBox="1"/>
          <p:nvPr/>
        </p:nvSpPr>
        <p:spPr>
          <a:xfrm>
            <a:off x="4479850" y="129625"/>
            <a:ext cx="4282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Same thing, but with color coded coefficients</a:t>
            </a:r>
            <a:endParaRPr baseline="-25000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5073900" y="4625825"/>
            <a:ext cx="3246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95959"/>
                </a:solidFill>
                <a:latin typeface="Lexend Medium"/>
                <a:ea typeface="Lexend Medium"/>
                <a:cs typeface="Lexend Medium"/>
                <a:sym typeface="Lexend Medium"/>
              </a:rPr>
              <a:t>Coefficients Color Coding:</a:t>
            </a:r>
            <a:endParaRPr sz="1000">
              <a:solidFill>
                <a:srgbClr val="595959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95959"/>
                </a:solidFill>
                <a:latin typeface="Lexend Medium"/>
                <a:ea typeface="Lexend Medium"/>
                <a:cs typeface="Lexend Medium"/>
                <a:sym typeface="Lexend Medium"/>
              </a:rPr>
              <a:t>(x = red, y = green, z = blue, leftover = purple)</a:t>
            </a:r>
            <a:endParaRPr sz="1000">
              <a:solidFill>
                <a:srgbClr val="595959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84" name="Google Shape;18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1598" y="705525"/>
            <a:ext cx="4488703" cy="373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" y="673525"/>
            <a:ext cx="3825850" cy="3460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/>
        </p:nvSpPr>
        <p:spPr>
          <a:xfrm>
            <a:off x="203400" y="209600"/>
            <a:ext cx="7975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Strategy: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Converting x', y', z' equations to a 4x4 matrix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91" name="Google Shape;19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1250" y="593475"/>
            <a:ext cx="4355750" cy="18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5621" y="3173288"/>
            <a:ext cx="4975960" cy="18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8"/>
          <p:cNvSpPr/>
          <p:nvPr/>
        </p:nvSpPr>
        <p:spPr>
          <a:xfrm>
            <a:off x="4230875" y="2557225"/>
            <a:ext cx="532500" cy="604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/>
        </p:nvSpPr>
        <p:spPr>
          <a:xfrm>
            <a:off x="629200" y="129625"/>
            <a:ext cx="22611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Ultimate Matrix System</a:t>
            </a:r>
            <a:endParaRPr baseline="-25000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99" name="Google Shape;19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975" y="688450"/>
            <a:ext cx="7702499" cy="278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9"/>
          <p:cNvSpPr txBox="1"/>
          <p:nvPr/>
        </p:nvSpPr>
        <p:spPr>
          <a:xfrm>
            <a:off x="824425" y="4081325"/>
            <a:ext cx="68958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only need to know the constants q</a:t>
            </a:r>
            <a:r>
              <a:rPr baseline="-25000"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q</a:t>
            </a:r>
            <a:r>
              <a:rPr baseline="-25000"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q</a:t>
            </a:r>
            <a:r>
              <a:rPr baseline="-25000"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z</a:t>
            </a:r>
            <a:r>
              <a:rPr baseline="-25000"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to build the matrix</a:t>
            </a:r>
            <a:endParaRPr baseline="-25000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/>
        </p:nvSpPr>
        <p:spPr>
          <a:xfrm>
            <a:off x="248200" y="129625"/>
            <a:ext cx="77994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Getting Simple Perspective Projection Matrix from the General One (COP at Origin) </a:t>
            </a:r>
            <a:endParaRPr baseline="-25000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06" name="Google Shape;20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1175"/>
            <a:ext cx="5285001" cy="2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248200" y="3101425"/>
            <a:ext cx="7799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COP = A = (0, 0, 0)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baseline="-25000"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B = (0, 0, d)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aseline="-25000"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d</a:t>
            </a:r>
            <a:endParaRPr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Vector q(qx, qy, qx) = COP - (0, 0, z</a:t>
            </a:r>
            <a:r>
              <a:rPr baseline="-25000"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(0, 0, 0) 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- (0, 0, d) = (0, 0, -d)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aseline="-25000"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aseline="-25000"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aseline="-25000"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-d</a:t>
            </a:r>
            <a:endParaRPr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/>
          <p:nvPr/>
        </p:nvSpPr>
        <p:spPr>
          <a:xfrm>
            <a:off x="248200" y="129625"/>
            <a:ext cx="77994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Getting Simple Perspective Projection Matrix from the General One (COP at Origin) </a:t>
            </a:r>
            <a:endParaRPr baseline="-25000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13" name="Google Shape;21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1175"/>
            <a:ext cx="5285001" cy="2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1"/>
          <p:cNvSpPr txBox="1"/>
          <p:nvPr/>
        </p:nvSpPr>
        <p:spPr>
          <a:xfrm>
            <a:off x="248200" y="3101425"/>
            <a:ext cx="7799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COP = A = (0, 0, 0)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baseline="-25000"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B = (0, 0, d)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aseline="-25000"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d</a:t>
            </a:r>
            <a:endParaRPr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Vector q(qx, qy, qx) = COP - (0, 0, z</a:t>
            </a:r>
            <a:r>
              <a:rPr baseline="-25000"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(0, 0, 0) - (0, 0, d) = (0, 0, -d)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aseline="-25000"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aseline="-25000"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aseline="-25000"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-d</a:t>
            </a:r>
            <a:endParaRPr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15" name="Google Shape;21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8126" y="1042950"/>
            <a:ext cx="2930425" cy="265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/>
          <p:nvPr/>
        </p:nvSpPr>
        <p:spPr>
          <a:xfrm>
            <a:off x="248200" y="129625"/>
            <a:ext cx="77994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Getting Simple Perspective Projection Matrix from the General One (PP at Origin) </a:t>
            </a:r>
            <a:endParaRPr baseline="-25000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21" name="Google Shape;221;p32"/>
          <p:cNvSpPr txBox="1"/>
          <p:nvPr/>
        </p:nvSpPr>
        <p:spPr>
          <a:xfrm>
            <a:off x="248200" y="3101425"/>
            <a:ext cx="7799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COP = A = (0, 0, d)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baseline="-25000"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B = (0, 0, 0)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aseline="-25000"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endParaRPr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Vector q(qx, qy, qx) = COP - (0, 0, z</a:t>
            </a:r>
            <a:r>
              <a:rPr baseline="-25000"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(0, 0, d) - (0, 0, 0) = (0, 0, d)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aseline="-25000"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aseline="-25000"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aseline="-25000"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d</a:t>
            </a:r>
            <a:endParaRPr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22" name="Google Shape;22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1" y="678787"/>
            <a:ext cx="5045584" cy="229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/>
        </p:nvSpPr>
        <p:spPr>
          <a:xfrm>
            <a:off x="248200" y="129625"/>
            <a:ext cx="77994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Getting Simple Perspective Projection Matrix from the General One (PP at Origin) </a:t>
            </a:r>
            <a:endParaRPr baseline="-25000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28" name="Google Shape;228;p33"/>
          <p:cNvSpPr txBox="1"/>
          <p:nvPr/>
        </p:nvSpPr>
        <p:spPr>
          <a:xfrm>
            <a:off x="248200" y="3101425"/>
            <a:ext cx="7799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COP = A = (0, 0, d)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baseline="-25000"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B = (0, 0, 0)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aseline="-25000"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endParaRPr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Vector q(qx, qy, qx) = COP - (0, 0, z</a:t>
            </a:r>
            <a:r>
              <a:rPr baseline="-25000"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(0, 0, d) - (0, 0, 0) = (0, 0, d)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aseline="-25000"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aseline="-25000"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aseline="-25000"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d</a:t>
            </a:r>
            <a:endParaRPr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29" name="Google Shape;22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1" y="678787"/>
            <a:ext cx="5045584" cy="229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2800" y="981775"/>
            <a:ext cx="3184950" cy="24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/>
        </p:nvSpPr>
        <p:spPr>
          <a:xfrm>
            <a:off x="248200" y="129625"/>
            <a:ext cx="7799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For COP at (100, 90, 0), calculate the projected point P' for a point P(30, 50, -200) where the Projection Plane (PP) is 200 units away from COP</a:t>
            </a:r>
            <a:endParaRPr baseline="-25000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36" name="Google Shape;236;p34"/>
          <p:cNvSpPr txBox="1"/>
          <p:nvPr/>
        </p:nvSpPr>
        <p:spPr>
          <a:xfrm>
            <a:off x="248200" y="3101425"/>
            <a:ext cx="8555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z level of COP is </a:t>
            </a:r>
            <a:r>
              <a:rPr lang="en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0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while the z level of P is </a:t>
            </a:r>
            <a:r>
              <a:rPr lang="en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-250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.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Since there's a projection on the plane, the plane is likely to be between these two points.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plane itself will have a z value that's between </a:t>
            </a:r>
            <a:r>
              <a:rPr lang="en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0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lang="en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-250 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(which is a negative value)</a:t>
            </a:r>
            <a:r>
              <a:rPr lang="en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.</a:t>
            </a:r>
            <a:endParaRPr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It's already said the distance between COP and PP is </a:t>
            </a:r>
            <a:r>
              <a:rPr lang="en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200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units. This distance is across z-axis.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Thus, the z value of PP is </a:t>
            </a:r>
            <a:r>
              <a:rPr lang="en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(0-200)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lang="en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-200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. This is the z</a:t>
            </a:r>
            <a:r>
              <a:rPr baseline="-25000"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value.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z</a:t>
            </a:r>
            <a:r>
              <a:rPr baseline="-25000"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-200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37" name="Google Shape;23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600" y="749725"/>
            <a:ext cx="4378968" cy="227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 txBox="1"/>
          <p:nvPr/>
        </p:nvSpPr>
        <p:spPr>
          <a:xfrm>
            <a:off x="248200" y="129625"/>
            <a:ext cx="7799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Continued…</a:t>
            </a:r>
            <a:endParaRPr baseline="-25000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43" name="Google Shape;243;p35"/>
          <p:cNvSpPr txBox="1"/>
          <p:nvPr/>
        </p:nvSpPr>
        <p:spPr>
          <a:xfrm>
            <a:off x="248200" y="3101425"/>
            <a:ext cx="8555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Since we've got the z</a:t>
            </a:r>
            <a:r>
              <a:rPr baseline="-25000"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we can now calculate the q vector.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COP - (0,0,z</a:t>
            </a:r>
            <a:r>
              <a:rPr baseline="-25000"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(100,90,0) - (0,0,-200) = (100,90,200)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q</a:t>
            </a:r>
            <a:r>
              <a:rPr baseline="-25000"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lang="en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100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q</a:t>
            </a:r>
            <a:r>
              <a:rPr baseline="-25000"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lang="en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90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q</a:t>
            </a:r>
            <a:r>
              <a:rPr baseline="-25000"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lang="en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200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(and z</a:t>
            </a:r>
            <a:r>
              <a:rPr baseline="-25000"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lang="en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-200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from previously)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now but these values into the general purpose perspective projection matrix, we will get the matrix from the upper-right.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44" name="Google Shape;24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25" y="520250"/>
            <a:ext cx="4923949" cy="254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574" y="994350"/>
            <a:ext cx="2651225" cy="170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6"/>
          <p:cNvSpPr txBox="1"/>
          <p:nvPr/>
        </p:nvSpPr>
        <p:spPr>
          <a:xfrm>
            <a:off x="248200" y="129625"/>
            <a:ext cx="7799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Continued…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Now, simply multiply the point P as a column vector.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51" name="Google Shape;251;p36"/>
          <p:cNvSpPr txBox="1"/>
          <p:nvPr/>
        </p:nvSpPr>
        <p:spPr>
          <a:xfrm>
            <a:off x="248200" y="3025225"/>
            <a:ext cx="85554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Almost done, all we need to do is divide each value in the result by "w" which is </a:t>
            </a:r>
            <a:r>
              <a:rPr lang="en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1.25</a:t>
            </a:r>
            <a:endParaRPr>
              <a:solidFill>
                <a:srgbClr val="3C78D8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52" name="Google Shape;25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900025"/>
            <a:ext cx="6585010" cy="204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5700" y="3483100"/>
            <a:ext cx="3602400" cy="14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