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y="5143500" cx="9144000"/>
  <p:notesSz cx="6858000" cy="9144000"/>
  <p:embeddedFontLst>
    <p:embeddedFont>
      <p:font typeface="Lexend Medium"/>
      <p:regular r:id="rId21"/>
      <p:bold r:id="rId22"/>
    </p:embeddedFont>
    <p:embeddedFont>
      <p:font typeface="Lexend"/>
      <p:regular r:id="rId23"/>
      <p:bold r:id="rId2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22" Type="http://schemas.openxmlformats.org/officeDocument/2006/relationships/font" Target="fonts/LexendMedium-bold.fntdata"/><Relationship Id="rId10" Type="http://schemas.openxmlformats.org/officeDocument/2006/relationships/slide" Target="slides/slide5.xml"/><Relationship Id="rId21" Type="http://schemas.openxmlformats.org/officeDocument/2006/relationships/font" Target="fonts/LexendMedium-regular.fntdata"/><Relationship Id="rId13" Type="http://schemas.openxmlformats.org/officeDocument/2006/relationships/slide" Target="slides/slide8.xml"/><Relationship Id="rId24" Type="http://schemas.openxmlformats.org/officeDocument/2006/relationships/font" Target="fonts/Lexend-bold.fntdata"/><Relationship Id="rId12" Type="http://schemas.openxmlformats.org/officeDocument/2006/relationships/slide" Target="slides/slide7.xml"/><Relationship Id="rId23" Type="http://schemas.openxmlformats.org/officeDocument/2006/relationships/font" Target="fonts/Lexend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1ec440dfd3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1ec440dfd3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31ec440dfd3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31ec440dfd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2130f29359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2130f29359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2130f29359_3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32130f29359_3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2130f29359_3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32130f29359_3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2130f29359_3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32130f29359_3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2130f29359_3_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32130f29359_3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2130f29359_3_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32130f29359_3_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2130f29359_3_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32130f29359_3_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2130f29359_3_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32130f29359_3_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2130f29359_3_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32130f29359_3_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2130f29359_3_1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" name="Google Shape;160;g32130f29359_3_1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2130f29359_3_1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32130f29359_3_1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32130f29359_3_1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" name="Google Shape;177;g32130f29359_3_1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5.png"/><Relationship Id="rId4" Type="http://schemas.openxmlformats.org/officeDocument/2006/relationships/image" Target="../media/image1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2.png"/><Relationship Id="rId4" Type="http://schemas.openxmlformats.org/officeDocument/2006/relationships/image" Target="../media/image10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0.png"/><Relationship Id="rId4" Type="http://schemas.openxmlformats.org/officeDocument/2006/relationships/image" Target="../media/image6.png"/><Relationship Id="rId5" Type="http://schemas.openxmlformats.org/officeDocument/2006/relationships/image" Target="../media/image14.png"/><Relationship Id="rId6" Type="http://schemas.openxmlformats.org/officeDocument/2006/relationships/image" Target="../media/image8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Relationship Id="rId4" Type="http://schemas.openxmlformats.org/officeDocument/2006/relationships/image" Target="../media/image1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1.png"/><Relationship Id="rId4" Type="http://schemas.openxmlformats.org/officeDocument/2006/relationships/image" Target="../media/image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0.png"/><Relationship Id="rId4" Type="http://schemas.openxmlformats.org/officeDocument/2006/relationships/image" Target="../media/image3.png"/><Relationship Id="rId5" Type="http://schemas.openxmlformats.org/officeDocument/2006/relationships/image" Target="../media/image16.png"/><Relationship Id="rId6" Type="http://schemas.openxmlformats.org/officeDocument/2006/relationships/image" Target="../media/image9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Relationship Id="rId4" Type="http://schemas.openxmlformats.org/officeDocument/2006/relationships/image" Target="../media/image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7.png"/><Relationship Id="rId4" Type="http://schemas.openxmlformats.org/officeDocument/2006/relationships/image" Target="../media/image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7.png"/><Relationship Id="rId4" Type="http://schemas.openxmlformats.org/officeDocument/2006/relationships/image" Target="../media/image20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8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9.png"/><Relationship Id="rId4" Type="http://schemas.openxmlformats.org/officeDocument/2006/relationships/image" Target="../media/image2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/>
        </p:nvSpPr>
        <p:spPr>
          <a:xfrm>
            <a:off x="2349875" y="983550"/>
            <a:ext cx="4647900" cy="302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Perspective Projection</a:t>
            </a:r>
            <a:endParaRPr sz="2800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solidFill>
                  <a:srgbClr val="6AA84F"/>
                </a:solidFill>
                <a:latin typeface="Lexend Medium"/>
                <a:ea typeface="Lexend Medium"/>
                <a:cs typeface="Lexend Medium"/>
                <a:sym typeface="Lexend Medium"/>
              </a:rPr>
              <a:t>(Simple Purpose)</a:t>
            </a:r>
            <a:endParaRPr sz="2800">
              <a:solidFill>
                <a:srgbClr val="6AA84F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" name="Google Shape;59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05350"/>
            <a:ext cx="6037961" cy="3818950"/>
          </a:xfrm>
          <a:prstGeom prst="rect">
            <a:avLst/>
          </a:prstGeom>
          <a:noFill/>
          <a:ln>
            <a:noFill/>
          </a:ln>
        </p:spPr>
      </p:pic>
      <p:sp>
        <p:nvSpPr>
          <p:cNvPr id="60" name="Google Shape;60;p14"/>
          <p:cNvSpPr txBox="1"/>
          <p:nvPr/>
        </p:nvSpPr>
        <p:spPr>
          <a:xfrm>
            <a:off x="5064400" y="406250"/>
            <a:ext cx="3915300" cy="54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Perspective Projection Overview</a:t>
            </a:r>
            <a:endParaRPr sz="1800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pic>
        <p:nvPicPr>
          <p:cNvPr id="61" name="Google Shape;61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071475" y="2074500"/>
            <a:ext cx="3819801" cy="2948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/>
        </p:nvSpPr>
        <p:spPr>
          <a:xfrm>
            <a:off x="644800" y="406250"/>
            <a:ext cx="7975200" cy="84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6AA84F"/>
                </a:solidFill>
                <a:latin typeface="Lexend Medium"/>
                <a:ea typeface="Lexend Medium"/>
                <a:cs typeface="Lexend Medium"/>
                <a:sym typeface="Lexend Medium"/>
              </a:rPr>
              <a:t>Objective:</a:t>
            </a:r>
            <a:r>
              <a:rPr lang="en" sz="1800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 We need to calculate P'(x', y', z') from </a:t>
            </a:r>
            <a:r>
              <a:rPr lang="en" sz="1800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P(x, y, z)</a:t>
            </a:r>
            <a:r>
              <a:rPr lang="en" sz="1800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, so we need to derive the equations for x', y', z'</a:t>
            </a:r>
            <a:endParaRPr sz="1800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pic>
        <p:nvPicPr>
          <p:cNvPr id="67" name="Google Shape;67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095950"/>
            <a:ext cx="8839198" cy="2630642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15"/>
          <p:cNvSpPr txBox="1"/>
          <p:nvPr/>
        </p:nvSpPr>
        <p:spPr>
          <a:xfrm>
            <a:off x="644800" y="3885825"/>
            <a:ext cx="5010000" cy="60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We know that for such triangle,</a:t>
            </a:r>
            <a:endParaRPr sz="1800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pic>
        <p:nvPicPr>
          <p:cNvPr descr="{&quot;aid&quot;:null,&quot;font&quot;:{&quot;color&quot;:&quot;#595959&quot;,&quot;size&quot;:13.5,&quot;family&quot;:&quot;Arial&quot;},&quot;id&quot;:&quot;1&quot;,&quot;backgroundColorModified&quot;:false,&quot;code&quot;:&quot;$$\\frac{BC}{AB}=\\frac{DE}{AD}$$&quot;,&quot;backgroundColor&quot;:&quot;#FFFFFF&quot;,&quot;type&quot;:&quot;$$&quot;,&quot;ts&quot;:1733926811065,&quot;cs&quot;:&quot;PeM/Y5ikBHhSYAGAn4iS9A==&quot;,&quot;size&quot;:{&quot;width&quot;:108.72431496062994,&quot;height&quot;:44.12074488188978}}" id="69" name="Google Shape;69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367825" y="3948625"/>
            <a:ext cx="1035599" cy="420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6"/>
          <p:cNvSpPr txBox="1"/>
          <p:nvPr/>
        </p:nvSpPr>
        <p:spPr>
          <a:xfrm>
            <a:off x="203400" y="209600"/>
            <a:ext cx="7975200" cy="84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6AA84F"/>
                </a:solidFill>
                <a:latin typeface="Lexend Medium"/>
                <a:ea typeface="Lexend Medium"/>
                <a:cs typeface="Lexend Medium"/>
                <a:sym typeface="Lexend Medium"/>
              </a:rPr>
              <a:t>Scenario:</a:t>
            </a:r>
            <a:r>
              <a:rPr lang="en" sz="1800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 COP is at origin (0, 0, 0)</a:t>
            </a:r>
            <a:endParaRPr sz="1800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sp>
        <p:nvSpPr>
          <p:cNvPr id="75" name="Google Shape;75;p16"/>
          <p:cNvSpPr txBox="1"/>
          <p:nvPr/>
        </p:nvSpPr>
        <p:spPr>
          <a:xfrm>
            <a:off x="207750" y="615900"/>
            <a:ext cx="1363800" cy="60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Using the Relation</a:t>
            </a:r>
            <a:r>
              <a:rPr lang="en" sz="1800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             </a:t>
            </a:r>
            <a:endParaRPr sz="1800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pic>
        <p:nvPicPr>
          <p:cNvPr descr="{&quot;aid&quot;:null,&quot;font&quot;:{&quot;color&quot;:&quot;#595959&quot;,&quot;size&quot;:13.5,&quot;family&quot;:&quot;Arial&quot;},&quot;id&quot;:&quot;1&quot;,&quot;backgroundColorModified&quot;:false,&quot;code&quot;:&quot;$$\\frac{BC}{AB}=\\frac{DE}{AD}$$&quot;,&quot;backgroundColor&quot;:&quot;#FFFFFF&quot;,&quot;type&quot;:&quot;$$&quot;,&quot;ts&quot;:1733926811065,&quot;cs&quot;:&quot;PeM/Y5ikBHhSYAGAn4iS9A==&quot;,&quot;size&quot;:{&quot;width&quot;:108.72431496062994,&quot;height&quot;:44.12074488188978}}" id="76" name="Google Shape;76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71525" y="737875"/>
            <a:ext cx="694624" cy="281875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16"/>
          <p:cNvSpPr txBox="1"/>
          <p:nvPr/>
        </p:nvSpPr>
        <p:spPr>
          <a:xfrm>
            <a:off x="2253400" y="661675"/>
            <a:ext cx="3075900" cy="60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We perform for each axis</a:t>
            </a:r>
            <a:r>
              <a:rPr lang="en" sz="1800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             </a:t>
            </a:r>
            <a:endParaRPr sz="1800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pic>
        <p:nvPicPr>
          <p:cNvPr id="78" name="Google Shape;78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110775"/>
            <a:ext cx="5285001" cy="2437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472398" y="1323076"/>
            <a:ext cx="3027004" cy="2437925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6"/>
          <p:cNvSpPr txBox="1"/>
          <p:nvPr/>
        </p:nvSpPr>
        <p:spPr>
          <a:xfrm>
            <a:off x="207750" y="3562300"/>
            <a:ext cx="6957900" cy="70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We have got the equations for x', y', z'. Notice how their denominators are same </a:t>
            </a:r>
            <a:r>
              <a:rPr b="1" lang="en" sz="15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rPr>
              <a:t>(z/d)</a:t>
            </a:r>
            <a:r>
              <a:rPr lang="en" sz="1500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. We can declare this denominator as "w" </a:t>
            </a:r>
            <a:r>
              <a:rPr lang="en" sz="1800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      </a:t>
            </a:r>
            <a:endParaRPr sz="1800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pic>
        <p:nvPicPr>
          <p:cNvPr id="81" name="Google Shape;81;p1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072973" y="4198950"/>
            <a:ext cx="879911" cy="705000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16"/>
          <p:cNvSpPr/>
          <p:nvPr/>
        </p:nvSpPr>
        <p:spPr>
          <a:xfrm>
            <a:off x="5786425" y="329925"/>
            <a:ext cx="2544600" cy="522300"/>
          </a:xfrm>
          <a:prstGeom prst="roundRect">
            <a:avLst>
              <a:gd fmla="val 16667" name="adj"/>
            </a:avLst>
          </a:prstGeom>
          <a:solidFill>
            <a:srgbClr val="9FC5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Note: </a:t>
            </a:r>
            <a:r>
              <a:rPr lang="en"/>
              <a:t>value of d is inherently </a:t>
            </a:r>
            <a:r>
              <a:rPr b="1" lang="en"/>
              <a:t>negative</a:t>
            </a:r>
            <a:r>
              <a:rPr lang="en"/>
              <a:t> in this scenario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7"/>
          <p:cNvSpPr txBox="1"/>
          <p:nvPr/>
        </p:nvSpPr>
        <p:spPr>
          <a:xfrm>
            <a:off x="203400" y="209600"/>
            <a:ext cx="7975200" cy="84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6AA84F"/>
                </a:solidFill>
                <a:latin typeface="Lexend Medium"/>
                <a:ea typeface="Lexend Medium"/>
                <a:cs typeface="Lexend Medium"/>
                <a:sym typeface="Lexend Medium"/>
              </a:rPr>
              <a:t>Scenario:</a:t>
            </a:r>
            <a:r>
              <a:rPr lang="en" sz="1800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 COP is at origin (0, 0, 0)</a:t>
            </a:r>
            <a:endParaRPr sz="1800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sp>
        <p:nvSpPr>
          <p:cNvPr id="88" name="Google Shape;88;p17"/>
          <p:cNvSpPr txBox="1"/>
          <p:nvPr/>
        </p:nvSpPr>
        <p:spPr>
          <a:xfrm>
            <a:off x="207750" y="615900"/>
            <a:ext cx="5457000" cy="60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Rearranging</a:t>
            </a:r>
            <a:r>
              <a:rPr lang="en" sz="1000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 (and color coding coefficients for your convenience)</a:t>
            </a:r>
            <a:endParaRPr sz="1000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Moving the </a:t>
            </a:r>
            <a:r>
              <a:rPr lang="en" sz="1000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denominator</a:t>
            </a:r>
            <a:r>
              <a:rPr lang="en" sz="1000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 a.k.a "w" to the L.H.S.</a:t>
            </a:r>
            <a:endParaRPr sz="1000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pic>
        <p:nvPicPr>
          <p:cNvPr id="89" name="Google Shape;89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110775"/>
            <a:ext cx="5285001" cy="2437925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17"/>
          <p:cNvSpPr txBox="1"/>
          <p:nvPr/>
        </p:nvSpPr>
        <p:spPr>
          <a:xfrm>
            <a:off x="263625" y="4008125"/>
            <a:ext cx="7975200" cy="4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Now we can build the matrix!</a:t>
            </a:r>
            <a:endParaRPr sz="1800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sp>
        <p:nvSpPr>
          <p:cNvPr id="91" name="Google Shape;91;p17"/>
          <p:cNvSpPr txBox="1"/>
          <p:nvPr/>
        </p:nvSpPr>
        <p:spPr>
          <a:xfrm>
            <a:off x="5378700" y="4168625"/>
            <a:ext cx="3246000" cy="60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Coefficients Color Coding:</a:t>
            </a:r>
            <a:endParaRPr sz="1000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(x = red, y = green, z = blue, leftover = purple)</a:t>
            </a:r>
            <a:endParaRPr sz="1000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pic>
        <p:nvPicPr>
          <p:cNvPr id="92" name="Google Shape;92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817150" y="1127900"/>
            <a:ext cx="2264929" cy="2651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8"/>
          <p:cNvSpPr txBox="1"/>
          <p:nvPr/>
        </p:nvSpPr>
        <p:spPr>
          <a:xfrm>
            <a:off x="203400" y="209600"/>
            <a:ext cx="7975200" cy="40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6AA84F"/>
                </a:solidFill>
                <a:latin typeface="Lexend Medium"/>
                <a:ea typeface="Lexend Medium"/>
                <a:cs typeface="Lexend Medium"/>
                <a:sym typeface="Lexend Medium"/>
              </a:rPr>
              <a:t>Strategy:</a:t>
            </a:r>
            <a:r>
              <a:rPr lang="en" sz="1800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 Converting x', y', z' equations to a 4x4 matrix</a:t>
            </a:r>
            <a:endParaRPr sz="1800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pic>
        <p:nvPicPr>
          <p:cNvPr id="98" name="Google Shape;98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51250" y="593475"/>
            <a:ext cx="4355750" cy="1835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9" name="Google Shape;99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845621" y="3173288"/>
            <a:ext cx="4975960" cy="1835350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18"/>
          <p:cNvSpPr/>
          <p:nvPr/>
        </p:nvSpPr>
        <p:spPr>
          <a:xfrm>
            <a:off x="4230875" y="2557225"/>
            <a:ext cx="532500" cy="60420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9"/>
          <p:cNvSpPr txBox="1"/>
          <p:nvPr/>
        </p:nvSpPr>
        <p:spPr>
          <a:xfrm>
            <a:off x="203400" y="209600"/>
            <a:ext cx="7975200" cy="84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6AA84F"/>
                </a:solidFill>
                <a:latin typeface="Lexend Medium"/>
                <a:ea typeface="Lexend Medium"/>
                <a:cs typeface="Lexend Medium"/>
                <a:sym typeface="Lexend Medium"/>
              </a:rPr>
              <a:t>Scenario:</a:t>
            </a:r>
            <a:r>
              <a:rPr lang="en" sz="1800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 COP is at origin (0, 0, 0)</a:t>
            </a:r>
            <a:endParaRPr sz="1800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sp>
        <p:nvSpPr>
          <p:cNvPr id="106" name="Google Shape;106;p19"/>
          <p:cNvSpPr txBox="1"/>
          <p:nvPr/>
        </p:nvSpPr>
        <p:spPr>
          <a:xfrm>
            <a:off x="207750" y="615900"/>
            <a:ext cx="5457000" cy="60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Building the actual matrix from set of equations</a:t>
            </a:r>
            <a:endParaRPr sz="1000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pic>
        <p:nvPicPr>
          <p:cNvPr id="107" name="Google Shape;107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40350" y="1280300"/>
            <a:ext cx="2264929" cy="2651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" name="Google Shape;108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016879" y="1141200"/>
            <a:ext cx="3495675" cy="3162300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9"/>
          <p:cNvSpPr/>
          <p:nvPr/>
        </p:nvSpPr>
        <p:spPr>
          <a:xfrm>
            <a:off x="3780225" y="2510525"/>
            <a:ext cx="921900" cy="7272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0"/>
          <p:cNvSpPr txBox="1"/>
          <p:nvPr/>
        </p:nvSpPr>
        <p:spPr>
          <a:xfrm>
            <a:off x="203400" y="209600"/>
            <a:ext cx="7975200" cy="84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6AA84F"/>
                </a:solidFill>
                <a:latin typeface="Lexend Medium"/>
                <a:ea typeface="Lexend Medium"/>
                <a:cs typeface="Lexend Medium"/>
                <a:sym typeface="Lexend Medium"/>
              </a:rPr>
              <a:t>Scenario:</a:t>
            </a:r>
            <a:r>
              <a:rPr lang="en" sz="1800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 Projection Plane is at origin (0, 0, 0)</a:t>
            </a:r>
            <a:endParaRPr sz="1800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sp>
        <p:nvSpPr>
          <p:cNvPr id="115" name="Google Shape;115;p20"/>
          <p:cNvSpPr txBox="1"/>
          <p:nvPr/>
        </p:nvSpPr>
        <p:spPr>
          <a:xfrm>
            <a:off x="207750" y="615900"/>
            <a:ext cx="1363800" cy="60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Using the Relation</a:t>
            </a:r>
            <a:r>
              <a:rPr lang="en" sz="1800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             </a:t>
            </a:r>
            <a:endParaRPr sz="1800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pic>
        <p:nvPicPr>
          <p:cNvPr descr="{&quot;aid&quot;:null,&quot;font&quot;:{&quot;color&quot;:&quot;#595959&quot;,&quot;size&quot;:13.5,&quot;family&quot;:&quot;Arial&quot;},&quot;id&quot;:&quot;1&quot;,&quot;backgroundColorModified&quot;:false,&quot;code&quot;:&quot;$$\\frac{BC}{AB}=\\frac{DE}{AD}$$&quot;,&quot;backgroundColor&quot;:&quot;#FFFFFF&quot;,&quot;type&quot;:&quot;$$&quot;,&quot;ts&quot;:1733926811065,&quot;cs&quot;:&quot;PeM/Y5ikBHhSYAGAn4iS9A==&quot;,&quot;size&quot;:{&quot;width&quot;:108.72431496062994,&quot;height&quot;:44.12074488188978}}" id="116" name="Google Shape;116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71525" y="737875"/>
            <a:ext cx="694624" cy="281875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20"/>
          <p:cNvSpPr txBox="1"/>
          <p:nvPr/>
        </p:nvSpPr>
        <p:spPr>
          <a:xfrm>
            <a:off x="2253400" y="661675"/>
            <a:ext cx="3075900" cy="60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We perform for each axis</a:t>
            </a:r>
            <a:r>
              <a:rPr lang="en" sz="1800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             </a:t>
            </a:r>
            <a:endParaRPr sz="1800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sp>
        <p:nvSpPr>
          <p:cNvPr id="118" name="Google Shape;118;p20"/>
          <p:cNvSpPr txBox="1"/>
          <p:nvPr/>
        </p:nvSpPr>
        <p:spPr>
          <a:xfrm>
            <a:off x="207750" y="3486100"/>
            <a:ext cx="6957900" cy="84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z' is 0 because it is on the projection plane, which itself is at origin.</a:t>
            </a:r>
            <a:endParaRPr sz="1500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We have got the equations for x', y', z'. Notice how their denominators are same </a:t>
            </a:r>
            <a:r>
              <a:rPr b="1" lang="en" sz="15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rPr>
              <a:t>(1 - z/d)</a:t>
            </a:r>
            <a:r>
              <a:rPr lang="en" sz="1500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. We can declare this denominator as "w" </a:t>
            </a:r>
            <a:r>
              <a:rPr lang="en" sz="1800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      </a:t>
            </a:r>
            <a:endParaRPr sz="1800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pic>
        <p:nvPicPr>
          <p:cNvPr id="119" name="Google Shape;119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6526" y="1477750"/>
            <a:ext cx="4106122" cy="1869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" name="Google Shape;120;p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644568" y="1524413"/>
            <a:ext cx="4220415" cy="1869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" name="Google Shape;121;p2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787023" y="4393125"/>
            <a:ext cx="1569928" cy="601500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20"/>
          <p:cNvSpPr/>
          <p:nvPr/>
        </p:nvSpPr>
        <p:spPr>
          <a:xfrm>
            <a:off x="5786425" y="329925"/>
            <a:ext cx="2544600" cy="522300"/>
          </a:xfrm>
          <a:prstGeom prst="roundRect">
            <a:avLst>
              <a:gd fmla="val 16667" name="adj"/>
            </a:avLst>
          </a:prstGeom>
          <a:solidFill>
            <a:srgbClr val="9FC5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Note: </a:t>
            </a:r>
            <a:r>
              <a:rPr lang="en"/>
              <a:t>value of d is inherently </a:t>
            </a:r>
            <a:r>
              <a:rPr b="1" lang="en"/>
              <a:t>posi</a:t>
            </a:r>
            <a:r>
              <a:rPr b="1" lang="en"/>
              <a:t>tive</a:t>
            </a:r>
            <a:r>
              <a:rPr lang="en"/>
              <a:t> in this scenario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1"/>
          <p:cNvSpPr txBox="1"/>
          <p:nvPr/>
        </p:nvSpPr>
        <p:spPr>
          <a:xfrm>
            <a:off x="203400" y="209600"/>
            <a:ext cx="7975200" cy="84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rgbClr val="6AA84F"/>
                </a:solidFill>
                <a:latin typeface="Lexend Medium"/>
                <a:ea typeface="Lexend Medium"/>
                <a:cs typeface="Lexend Medium"/>
                <a:sym typeface="Lexend Medium"/>
              </a:rPr>
              <a:t>Scenario:</a:t>
            </a:r>
            <a:r>
              <a:rPr lang="en" sz="1800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 Projection Plane is at origin (0, 0, 0)</a:t>
            </a:r>
            <a:endParaRPr sz="1800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sp>
        <p:nvSpPr>
          <p:cNvPr id="128" name="Google Shape;128;p21"/>
          <p:cNvSpPr txBox="1"/>
          <p:nvPr/>
        </p:nvSpPr>
        <p:spPr>
          <a:xfrm>
            <a:off x="207750" y="615900"/>
            <a:ext cx="5457000" cy="60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Rearranging (and color coding coefficients for your convenience)</a:t>
            </a:r>
            <a:endParaRPr sz="1000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Moving the denominator a.k.a "w" to the L.H.S.</a:t>
            </a:r>
            <a:endParaRPr sz="1000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sp>
        <p:nvSpPr>
          <p:cNvPr id="129" name="Google Shape;129;p21"/>
          <p:cNvSpPr txBox="1"/>
          <p:nvPr/>
        </p:nvSpPr>
        <p:spPr>
          <a:xfrm>
            <a:off x="263625" y="4008125"/>
            <a:ext cx="7975200" cy="4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Now we can build the matrix!</a:t>
            </a:r>
            <a:endParaRPr sz="1800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sp>
        <p:nvSpPr>
          <p:cNvPr id="130" name="Google Shape;130;p21"/>
          <p:cNvSpPr txBox="1"/>
          <p:nvPr/>
        </p:nvSpPr>
        <p:spPr>
          <a:xfrm>
            <a:off x="5378700" y="4168625"/>
            <a:ext cx="3246000" cy="60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Coefficients Color Coding:</a:t>
            </a:r>
            <a:endParaRPr sz="1000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(x = red, y = green, z = blue, leftover = purple)</a:t>
            </a:r>
            <a:endParaRPr sz="1000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pic>
        <p:nvPicPr>
          <p:cNvPr id="131" name="Google Shape;131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3725" y="1351325"/>
            <a:ext cx="4661324" cy="2122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073900" y="1044725"/>
            <a:ext cx="3174450" cy="25822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2"/>
          <p:cNvSpPr txBox="1"/>
          <p:nvPr/>
        </p:nvSpPr>
        <p:spPr>
          <a:xfrm>
            <a:off x="203400" y="209600"/>
            <a:ext cx="7975200" cy="40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6AA84F"/>
                </a:solidFill>
                <a:latin typeface="Lexend Medium"/>
                <a:ea typeface="Lexend Medium"/>
                <a:cs typeface="Lexend Medium"/>
                <a:sym typeface="Lexend Medium"/>
              </a:rPr>
              <a:t>Recall the </a:t>
            </a:r>
            <a:r>
              <a:rPr lang="en" sz="1800">
                <a:solidFill>
                  <a:srgbClr val="6AA84F"/>
                </a:solidFill>
                <a:latin typeface="Lexend Medium"/>
                <a:ea typeface="Lexend Medium"/>
                <a:cs typeface="Lexend Medium"/>
                <a:sym typeface="Lexend Medium"/>
              </a:rPr>
              <a:t>Strategy:</a:t>
            </a:r>
            <a:r>
              <a:rPr lang="en" sz="1800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 Converting x', y', z' equations to a 4x4 matrix</a:t>
            </a:r>
            <a:endParaRPr sz="1800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pic>
        <p:nvPicPr>
          <p:cNvPr id="138" name="Google Shape;138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51250" y="593475"/>
            <a:ext cx="4355750" cy="1835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" name="Google Shape;139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845621" y="3173288"/>
            <a:ext cx="4975960" cy="1835350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22"/>
          <p:cNvSpPr/>
          <p:nvPr/>
        </p:nvSpPr>
        <p:spPr>
          <a:xfrm>
            <a:off x="4230875" y="2557225"/>
            <a:ext cx="532500" cy="60420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3"/>
          <p:cNvSpPr txBox="1"/>
          <p:nvPr/>
        </p:nvSpPr>
        <p:spPr>
          <a:xfrm>
            <a:off x="203400" y="209600"/>
            <a:ext cx="7975200" cy="84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rgbClr val="6AA84F"/>
                </a:solidFill>
                <a:latin typeface="Lexend Medium"/>
                <a:ea typeface="Lexend Medium"/>
                <a:cs typeface="Lexend Medium"/>
                <a:sym typeface="Lexend Medium"/>
              </a:rPr>
              <a:t>Scenario:</a:t>
            </a:r>
            <a:r>
              <a:rPr lang="en" sz="1800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 Projection Plane is at origin (0, 0, 0)</a:t>
            </a:r>
            <a:endParaRPr sz="1800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sp>
        <p:nvSpPr>
          <p:cNvPr id="146" name="Google Shape;146;p23"/>
          <p:cNvSpPr txBox="1"/>
          <p:nvPr/>
        </p:nvSpPr>
        <p:spPr>
          <a:xfrm>
            <a:off x="207750" y="615900"/>
            <a:ext cx="5457000" cy="60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Building the actual matrix from set of equations</a:t>
            </a:r>
            <a:endParaRPr sz="1000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sp>
        <p:nvSpPr>
          <p:cNvPr id="147" name="Google Shape;147;p23"/>
          <p:cNvSpPr/>
          <p:nvPr/>
        </p:nvSpPr>
        <p:spPr>
          <a:xfrm>
            <a:off x="3780225" y="2510525"/>
            <a:ext cx="921900" cy="7272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48" name="Google Shape;148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5200" y="1583650"/>
            <a:ext cx="3174450" cy="2582202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" name="Google Shape;149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30725" y="1369800"/>
            <a:ext cx="3771900" cy="2847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4"/>
          <p:cNvSpPr txBox="1"/>
          <p:nvPr/>
        </p:nvSpPr>
        <p:spPr>
          <a:xfrm>
            <a:off x="644800" y="177650"/>
            <a:ext cx="7975200" cy="93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6AA84F"/>
                </a:solidFill>
                <a:latin typeface="Lexend Medium"/>
                <a:ea typeface="Lexend Medium"/>
                <a:cs typeface="Lexend Medium"/>
                <a:sym typeface="Lexend Medium"/>
              </a:rPr>
              <a:t>Example:</a:t>
            </a:r>
            <a:r>
              <a:rPr lang="en" sz="1800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 For COP at origin, calculate the projected point P' for a given point P(50, 60, -300), if the plane is 200 </a:t>
            </a:r>
            <a:r>
              <a:rPr lang="en" sz="1800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units</a:t>
            </a:r>
            <a:r>
              <a:rPr lang="en" sz="1800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 away from the COP.</a:t>
            </a:r>
            <a:endParaRPr sz="1800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pic>
        <p:nvPicPr>
          <p:cNvPr id="155" name="Google Shape;155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95825" y="1131924"/>
            <a:ext cx="5066349" cy="2626975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24"/>
          <p:cNvSpPr/>
          <p:nvPr/>
        </p:nvSpPr>
        <p:spPr>
          <a:xfrm>
            <a:off x="943700" y="3914600"/>
            <a:ext cx="7474800" cy="717000"/>
          </a:xfrm>
          <a:prstGeom prst="roundRect">
            <a:avLst>
              <a:gd fmla="val 16667" name="adj"/>
            </a:avLst>
          </a:prstGeom>
          <a:solidFill>
            <a:srgbClr val="FCE5C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Since the Projection Plane (PP) lies on the </a:t>
            </a:r>
            <a:r>
              <a:rPr b="1" lang="en"/>
              <a:t>negative side</a:t>
            </a:r>
            <a:r>
              <a:rPr lang="en"/>
              <a:t> of the z-axis, all points on that plane will have a negative z value, which is why </a:t>
            </a:r>
            <a:r>
              <a:rPr b="1" lang="en"/>
              <a:t>d is negative</a:t>
            </a:r>
            <a:endParaRPr b="1"/>
          </a:p>
        </p:txBody>
      </p:sp>
      <p:sp>
        <p:nvSpPr>
          <p:cNvPr id="157" name="Google Shape;157;p24"/>
          <p:cNvSpPr txBox="1"/>
          <p:nvPr/>
        </p:nvSpPr>
        <p:spPr>
          <a:xfrm>
            <a:off x="6128925" y="2106450"/>
            <a:ext cx="2632200" cy="50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{ d = z value of PP }</a:t>
            </a:r>
            <a:endParaRPr baseline="-25000" sz="2300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5"/>
          <p:cNvSpPr txBox="1"/>
          <p:nvPr/>
        </p:nvSpPr>
        <p:spPr>
          <a:xfrm>
            <a:off x="644800" y="101450"/>
            <a:ext cx="7975200" cy="69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Now' using our matrix for "COP at Origin", we place the d value there, and </a:t>
            </a:r>
            <a:r>
              <a:rPr lang="en" sz="1800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multiply it by our point P (as a column vector)</a:t>
            </a:r>
            <a:endParaRPr sz="1800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pic>
        <p:nvPicPr>
          <p:cNvPr id="163" name="Google Shape;163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57704" y="963475"/>
            <a:ext cx="5809542" cy="1799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4" name="Google Shape;164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47274" y="3495000"/>
            <a:ext cx="2668000" cy="1533525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25"/>
          <p:cNvSpPr txBox="1"/>
          <p:nvPr/>
        </p:nvSpPr>
        <p:spPr>
          <a:xfrm>
            <a:off x="1128850" y="2847438"/>
            <a:ext cx="7007100" cy="50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Now, divide all the values by w = 3/2 to get the final answer</a:t>
            </a:r>
            <a:endParaRPr sz="1800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sp>
        <p:nvSpPr>
          <p:cNvPr id="166" name="Google Shape;166;p25"/>
          <p:cNvSpPr txBox="1"/>
          <p:nvPr/>
        </p:nvSpPr>
        <p:spPr>
          <a:xfrm>
            <a:off x="5328900" y="3918350"/>
            <a:ext cx="2509200" cy="50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P' = (33.33, 40, -200)</a:t>
            </a:r>
            <a:endParaRPr sz="1800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6"/>
          <p:cNvSpPr txBox="1"/>
          <p:nvPr/>
        </p:nvSpPr>
        <p:spPr>
          <a:xfrm>
            <a:off x="644800" y="177650"/>
            <a:ext cx="7975200" cy="93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6AA84F"/>
                </a:solidFill>
                <a:latin typeface="Lexend Medium"/>
                <a:ea typeface="Lexend Medium"/>
                <a:cs typeface="Lexend Medium"/>
                <a:sym typeface="Lexend Medium"/>
              </a:rPr>
              <a:t>Example:</a:t>
            </a:r>
            <a:r>
              <a:rPr lang="en" sz="1800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 For PP at origin, calculate the projected point P' for a given point P(50, 60, -100), if the plane is 200 units away from the COP.</a:t>
            </a:r>
            <a:endParaRPr sz="1800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sp>
        <p:nvSpPr>
          <p:cNvPr id="172" name="Google Shape;172;p26"/>
          <p:cNvSpPr/>
          <p:nvPr/>
        </p:nvSpPr>
        <p:spPr>
          <a:xfrm>
            <a:off x="943700" y="3914600"/>
            <a:ext cx="7474800" cy="7170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Since the COP lies on the </a:t>
            </a:r>
            <a:r>
              <a:rPr b="1" lang="en"/>
              <a:t>positive</a:t>
            </a:r>
            <a:r>
              <a:rPr b="1" lang="en"/>
              <a:t> side of the z-axis</a:t>
            </a:r>
            <a:r>
              <a:rPr lang="en"/>
              <a:t>, its z values will be positive, which makes the </a:t>
            </a:r>
            <a:r>
              <a:rPr b="1" lang="en"/>
              <a:t>value of d positive</a:t>
            </a:r>
            <a:endParaRPr b="1"/>
          </a:p>
        </p:txBody>
      </p:sp>
      <p:pic>
        <p:nvPicPr>
          <p:cNvPr id="173" name="Google Shape;173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14400" y="1032050"/>
            <a:ext cx="5046230" cy="2501550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26"/>
          <p:cNvSpPr txBox="1"/>
          <p:nvPr/>
        </p:nvSpPr>
        <p:spPr>
          <a:xfrm>
            <a:off x="5900325" y="2106450"/>
            <a:ext cx="2632200" cy="50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{ </a:t>
            </a:r>
            <a:r>
              <a:rPr lang="en" sz="1800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d</a:t>
            </a:r>
            <a:r>
              <a:rPr lang="en" sz="1800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 = z value of COP }</a:t>
            </a:r>
            <a:endParaRPr baseline="-25000" sz="2300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27"/>
          <p:cNvSpPr txBox="1"/>
          <p:nvPr/>
        </p:nvSpPr>
        <p:spPr>
          <a:xfrm>
            <a:off x="644800" y="101450"/>
            <a:ext cx="7975200" cy="69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Now' using our matrix for "PP at Origin", we place the d value there, and multiply it by our point P (as a column vector)</a:t>
            </a:r>
            <a:endParaRPr sz="1800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sp>
        <p:nvSpPr>
          <p:cNvPr id="180" name="Google Shape;180;p27"/>
          <p:cNvSpPr txBox="1"/>
          <p:nvPr/>
        </p:nvSpPr>
        <p:spPr>
          <a:xfrm>
            <a:off x="1128850" y="2847438"/>
            <a:ext cx="7007100" cy="50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Now, divide all the values by w = 3/2 to get the final answer</a:t>
            </a:r>
            <a:endParaRPr sz="1800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sp>
        <p:nvSpPr>
          <p:cNvPr id="181" name="Google Shape;181;p27"/>
          <p:cNvSpPr txBox="1"/>
          <p:nvPr/>
        </p:nvSpPr>
        <p:spPr>
          <a:xfrm>
            <a:off x="5328900" y="3918350"/>
            <a:ext cx="2509200" cy="50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P' = (33.33, 40, 0)</a:t>
            </a:r>
            <a:endParaRPr sz="1800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pic>
        <p:nvPicPr>
          <p:cNvPr id="182" name="Google Shape;182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28800" y="948950"/>
            <a:ext cx="5089521" cy="1746087"/>
          </a:xfrm>
          <a:prstGeom prst="rect">
            <a:avLst/>
          </a:prstGeom>
          <a:noFill/>
          <a:ln>
            <a:noFill/>
          </a:ln>
        </p:spPr>
      </p:pic>
      <p:pic>
        <p:nvPicPr>
          <p:cNvPr id="183" name="Google Shape;183;p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980325" y="3367000"/>
            <a:ext cx="2258500" cy="1500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