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9144000"/>
  <p:notesSz cx="6858000" cy="9144000"/>
  <p:embeddedFontLst>
    <p:embeddedFont>
      <p:font typeface="Average"/>
      <p:regular r:id="rId29"/>
    </p:embeddedFont>
    <p:embeddedFont>
      <p:font typeface="Oswal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59">
          <p15:clr>
            <a:srgbClr val="000000"/>
          </p15:clr>
        </p15:guide>
        <p15:guide id="2" pos="2455">
          <p15:clr>
            <a:srgbClr val="000000"/>
          </p15:clr>
        </p15:guide>
      </p15:sldGuideLst>
    </p:ext>
    <p:ext uri="GoogleSlidesCustomDataVersion2">
      <go:slidesCustomData xmlns:go="http://customooxmlschemas.google.com/" r:id="rId32" roundtripDataSignature="AMtx7mi35np/mBo9NpJ8Xm9L/SGdiLr6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9" orient="horz"/>
        <p:guide pos="245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verage-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bold.fntdata"/><Relationship Id="rId30" Type="http://schemas.openxmlformats.org/officeDocument/2006/relationships/font" Target="fonts/Oswald-regular.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abs/pii/S0045790615002827"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1e570970e3_0_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1e570970e3_0_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g31e570970e3_0_87: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1e570970e3_0_1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1e570970e3_0_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g31e570970e3_0_17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1e570970e3_0_2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1e570970e3_0_2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g31e570970e3_0_24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1e570970e3_0_2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1e570970e3_0_2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g31e570970e3_0_25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1e570970e3_0_2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1e570970e3_0_2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g31e570970e3_0_264: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e570970e3_2_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1e570970e3_2_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1e570970e3_2_4: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1e570970e3_2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1e570970e3_2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31e570970e3_2_13: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e570970e3_2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e570970e3_2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1e570970e3_2_25: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e570970e3_2_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e570970e3_2_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1e570970e3_2_4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23f5061d74_0_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23f5061d74_0_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323f5061d74_0_105: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1e570970e3_2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1e570970e3_2_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g31e570970e3_2_6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23f5061d7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23f5061d7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323f5061d74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23f5061d74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23f5061d74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23f5061d74_0_1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23f5061d74_0_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23f5061d74_0_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323f5061d74_0_23: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23f5061d74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23f5061d74_0_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u="sng">
                <a:solidFill>
                  <a:schemeClr val="hlink"/>
                </a:solidFill>
                <a:hlinkClick r:id="rId2"/>
              </a:rPr>
              <a:t>https://www.sciencedirect.com/science/article/abs/pii/S0045790615002827</a:t>
            </a:r>
            <a:endParaRPr/>
          </a:p>
        </p:txBody>
      </p:sp>
      <p:sp>
        <p:nvSpPr>
          <p:cNvPr id="218" name="Google Shape;218;g323f5061d74_0_33: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23f5061d74_0_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23f5061d74_0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323f5061d74_0_44: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3f5061d74_0_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23f5061d74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en-US">
                <a:solidFill>
                  <a:schemeClr val="dk1"/>
                </a:solidFill>
              </a:rPr>
              <a:t>C: Represents the strongest (maximum) RGB component in the segment.</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X: Represents the secondary color intensity (from blending the two adjacent hues).</a:t>
            </a:r>
            <a:endParaRPr>
              <a:solidFill>
                <a:schemeClr val="dk1"/>
              </a:solidFill>
            </a:endParaRPr>
          </a:p>
          <a:p>
            <a:pPr indent="0" lvl="0" marL="0" rtl="0" algn="l">
              <a:spcBef>
                <a:spcPts val="0"/>
              </a:spcBef>
              <a:spcAft>
                <a:spcPts val="0"/>
              </a:spcAft>
              <a:buClr>
                <a:schemeClr val="dk1"/>
              </a:buClr>
              <a:buSzPts val="1400"/>
              <a:buFont typeface="Arial"/>
              <a:buNone/>
            </a:pPr>
            <a:r>
              <a:rPr lang="en-US">
                <a:solidFill>
                  <a:schemeClr val="dk1"/>
                </a:solidFill>
              </a:rPr>
              <a:t>0: Represents the weakest RGB component in the segment.</a:t>
            </a:r>
            <a:endParaRPr/>
          </a:p>
          <a:p>
            <a:pPr indent="0" lvl="0" marL="0" rtl="0" algn="l">
              <a:spcBef>
                <a:spcPts val="0"/>
              </a:spcBef>
              <a:spcAft>
                <a:spcPts val="0"/>
              </a:spcAft>
              <a:buNone/>
            </a:pPr>
            <a:r>
              <a:t/>
            </a:r>
            <a:endParaRPr/>
          </a:p>
        </p:txBody>
      </p:sp>
      <p:sp>
        <p:nvSpPr>
          <p:cNvPr id="238" name="Google Shape;238;g323f5061d74_0_53: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23f5061d74_0_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23f5061d74_0_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g323f5061d74_0_8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23f5061d74_0_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23f5061d74_0_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g323f5061d74_0_96: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3f5061d74_0_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3f5061d74_0_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23f5061d74_0_115: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23f5061d74_0_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23f5061d74_0_1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23f5061d74_0_126: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23f5061d74_0_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23f5061d74_0_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23f5061d74_0_13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23f5061d74_0_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23f5061d74_0_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23f5061d74_0_147: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grpSp>
        <p:nvGrpSpPr>
          <p:cNvPr id="14" name="Google Shape;14;g31e570970e3_0_34"/>
          <p:cNvGrpSpPr/>
          <p:nvPr/>
        </p:nvGrpSpPr>
        <p:grpSpPr>
          <a:xfrm>
            <a:off x="4350279" y="3807170"/>
            <a:ext cx="443589" cy="140843"/>
            <a:chOff x="4137525" y="2915950"/>
            <a:chExt cx="869100" cy="207000"/>
          </a:xfrm>
        </p:grpSpPr>
        <p:sp>
          <p:nvSpPr>
            <p:cNvPr id="15" name="Google Shape;15;g31e570970e3_0_34"/>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g31e570970e3_0_34"/>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31e570970e3_0_34"/>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g31e570970e3_0_34"/>
          <p:cNvSpPr txBox="1"/>
          <p:nvPr>
            <p:ph type="ctrTitle"/>
          </p:nvPr>
        </p:nvSpPr>
        <p:spPr>
          <a:xfrm>
            <a:off x="671258" y="1321067"/>
            <a:ext cx="7801500" cy="23067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g31e570970e3_0_34"/>
          <p:cNvSpPr txBox="1"/>
          <p:nvPr>
            <p:ph idx="1" type="subTitle"/>
          </p:nvPr>
        </p:nvSpPr>
        <p:spPr>
          <a:xfrm>
            <a:off x="671250" y="4233168"/>
            <a:ext cx="78015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 name="Google Shape;20;g31e570970e3_0_34"/>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g31e570970e3_0_42"/>
          <p:cNvSpPr txBox="1"/>
          <p:nvPr>
            <p:ph type="title"/>
          </p:nvPr>
        </p:nvSpPr>
        <p:spPr>
          <a:xfrm>
            <a:off x="671250" y="2855000"/>
            <a:ext cx="7852200" cy="11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3" name="Google Shape;23;g31e570970e3_0_42"/>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31e570970e3_0_4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g31e570970e3_0_45"/>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g31e570970e3_0_45"/>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g31e570970e3_0_49"/>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g31e570970e3_0_49"/>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g31e570970e3_0_49"/>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g31e570970e3_0_49"/>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g31e570970e3_0_5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 name="Google Shape;35;g31e570970e3_0_54"/>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g31e570970e3_0_5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 name="Google Shape;38;g31e570970e3_0_5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9" name="Google Shape;39;g31e570970e3_0_57"/>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0" name="Shape 40"/>
        <p:cNvGrpSpPr/>
        <p:nvPr/>
      </p:nvGrpSpPr>
      <p:grpSpPr>
        <a:xfrm>
          <a:off x="0" y="0"/>
          <a:ext cx="0" cy="0"/>
          <a:chOff x="0" y="0"/>
          <a:chExt cx="0" cy="0"/>
        </a:xfrm>
      </p:grpSpPr>
      <p:sp>
        <p:nvSpPr>
          <p:cNvPr id="41" name="Google Shape;41;g31e570970e3_0_61"/>
          <p:cNvSpPr txBox="1"/>
          <p:nvPr>
            <p:ph type="title"/>
          </p:nvPr>
        </p:nvSpPr>
        <p:spPr>
          <a:xfrm>
            <a:off x="490250" y="701800"/>
            <a:ext cx="6227100" cy="5454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2" name="Google Shape;42;g31e570970e3_0_61"/>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g31e570970e3_0_64"/>
          <p:cNvSpPr/>
          <p:nvPr/>
        </p:nvSpPr>
        <p:spPr>
          <a:xfrm>
            <a:off x="4572000" y="0"/>
            <a:ext cx="457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 name="Google Shape;45;g31e570970e3_0_64"/>
          <p:cNvCxnSpPr/>
          <p:nvPr/>
        </p:nvCxnSpPr>
        <p:spPr>
          <a:xfrm>
            <a:off x="5029675" y="5994000"/>
            <a:ext cx="468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g31e570970e3_0_64"/>
          <p:cNvSpPr txBox="1"/>
          <p:nvPr>
            <p:ph type="title"/>
          </p:nvPr>
        </p:nvSpPr>
        <p:spPr>
          <a:xfrm>
            <a:off x="265500" y="1441867"/>
            <a:ext cx="4045200" cy="228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 name="Google Shape;47;g31e570970e3_0_64"/>
          <p:cNvSpPr txBox="1"/>
          <p:nvPr>
            <p:ph idx="1" type="subTitle"/>
          </p:nvPr>
        </p:nvSpPr>
        <p:spPr>
          <a:xfrm>
            <a:off x="265500" y="3793601"/>
            <a:ext cx="4045200" cy="1794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8" name="Google Shape;48;g31e570970e3_0_64"/>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9" name="Google Shape;49;g31e570970e3_0_64"/>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g31e570970e3_0_71"/>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52" name="Google Shape;52;g31e570970e3_0_71"/>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3" name="Shape 53"/>
        <p:cNvGrpSpPr/>
        <p:nvPr/>
      </p:nvGrpSpPr>
      <p:grpSpPr>
        <a:xfrm>
          <a:off x="0" y="0"/>
          <a:ext cx="0" cy="0"/>
          <a:chOff x="0" y="0"/>
          <a:chExt cx="0" cy="0"/>
        </a:xfrm>
      </p:grpSpPr>
      <p:sp>
        <p:nvSpPr>
          <p:cNvPr id="54" name="Google Shape;54;g31e570970e3_0_74"/>
          <p:cNvSpPr txBox="1"/>
          <p:nvPr>
            <p:ph hasCustomPrompt="1" type="title"/>
          </p:nvPr>
        </p:nvSpPr>
        <p:spPr>
          <a:xfrm>
            <a:off x="311700" y="1673700"/>
            <a:ext cx="8520600" cy="25209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5" name="Google Shape;55;g31e570970e3_0_74"/>
          <p:cNvSpPr txBox="1"/>
          <p:nvPr>
            <p:ph idx="1" type="body"/>
          </p:nvPr>
        </p:nvSpPr>
        <p:spPr>
          <a:xfrm>
            <a:off x="311700" y="43045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g31e570970e3_0_74"/>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g31e570970e3_0_78"/>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9" name="Shape 9"/>
        <p:cNvGrpSpPr/>
        <p:nvPr/>
      </p:nvGrpSpPr>
      <p:grpSpPr>
        <a:xfrm>
          <a:off x="0" y="0"/>
          <a:ext cx="0" cy="0"/>
          <a:chOff x="0" y="0"/>
          <a:chExt cx="0" cy="0"/>
        </a:xfrm>
      </p:grpSpPr>
      <p:sp>
        <p:nvSpPr>
          <p:cNvPr id="10" name="Google Shape;10;g31e570970e3_0_3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11" name="Google Shape;11;g31e570970e3_0_3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12" name="Google Shape;12;g31e570970e3_0_30"/>
          <p:cNvSpPr txBox="1"/>
          <p:nvPr>
            <p:ph idx="12" type="sldNum"/>
          </p:nvPr>
        </p:nvSpPr>
        <p:spPr>
          <a:xfrm>
            <a:off x="8490250" y="6241346"/>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15.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7.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63" name="Shape 63"/>
        <p:cNvGrpSpPr/>
        <p:nvPr/>
      </p:nvGrpSpPr>
      <p:grpSpPr>
        <a:xfrm>
          <a:off x="0" y="0"/>
          <a:ext cx="0" cy="0"/>
          <a:chOff x="0" y="0"/>
          <a:chExt cx="0" cy="0"/>
        </a:xfrm>
      </p:grpSpPr>
      <p:sp>
        <p:nvSpPr>
          <p:cNvPr id="64" name="Google Shape;64;g31e570970e3_0_87"/>
          <p:cNvSpPr txBox="1"/>
          <p:nvPr>
            <p:ph idx="12" type="sldNum"/>
          </p:nvPr>
        </p:nvSpPr>
        <p:spPr>
          <a:xfrm>
            <a:off x="7907200" y="5979327"/>
            <a:ext cx="1131600" cy="786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b="1" lang="en-US" sz="1500">
                <a:solidFill>
                  <a:srgbClr val="5B0F00"/>
                </a:solidFill>
                <a:latin typeface="Oswald"/>
                <a:ea typeface="Oswald"/>
                <a:cs typeface="Oswald"/>
                <a:sym typeface="Oswald"/>
              </a:rPr>
              <a:t>1</a:t>
            </a:r>
            <a:r>
              <a:rPr lang="en-US"/>
              <a:t>1</a:t>
            </a:r>
            <a:endParaRPr/>
          </a:p>
        </p:txBody>
      </p:sp>
      <p:pic>
        <p:nvPicPr>
          <p:cNvPr id="65" name="Google Shape;65;g31e570970e3_0_87"/>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66" name="Google Shape;66;g31e570970e3_0_87"/>
          <p:cNvCxnSpPr/>
          <p:nvPr/>
        </p:nvCxnSpPr>
        <p:spPr>
          <a:xfrm>
            <a:off x="684450" y="2286000"/>
            <a:ext cx="7775100" cy="41700"/>
          </a:xfrm>
          <a:prstGeom prst="straightConnector1">
            <a:avLst/>
          </a:prstGeom>
          <a:noFill/>
          <a:ln cap="flat" cmpd="sng" w="19050">
            <a:solidFill>
              <a:srgbClr val="5B0F00"/>
            </a:solidFill>
            <a:prstDash val="solid"/>
            <a:round/>
            <a:headEnd len="med" w="med" type="none"/>
            <a:tailEnd len="med" w="med" type="none"/>
          </a:ln>
        </p:spPr>
      </p:cxnSp>
      <p:sp>
        <p:nvSpPr>
          <p:cNvPr id="67" name="Google Shape;67;g31e570970e3_0_87"/>
          <p:cNvSpPr txBox="1"/>
          <p:nvPr/>
        </p:nvSpPr>
        <p:spPr>
          <a:xfrm>
            <a:off x="1841325" y="1202100"/>
            <a:ext cx="6190800" cy="108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5200">
                <a:solidFill>
                  <a:srgbClr val="783F04"/>
                </a:solidFill>
                <a:latin typeface="Oswald"/>
                <a:ea typeface="Oswald"/>
                <a:cs typeface="Oswald"/>
                <a:sym typeface="Oswald"/>
              </a:rPr>
              <a:t> Computer Graphics</a:t>
            </a:r>
            <a:endParaRPr b="1" sz="5200">
              <a:solidFill>
                <a:srgbClr val="783F04"/>
              </a:solidFill>
              <a:latin typeface="Oswald"/>
              <a:ea typeface="Oswald"/>
              <a:cs typeface="Oswald"/>
              <a:sym typeface="Oswald"/>
            </a:endParaRPr>
          </a:p>
        </p:txBody>
      </p:sp>
      <p:sp>
        <p:nvSpPr>
          <p:cNvPr id="68" name="Google Shape;68;g31e570970e3_0_87"/>
          <p:cNvSpPr txBox="1"/>
          <p:nvPr/>
        </p:nvSpPr>
        <p:spPr>
          <a:xfrm>
            <a:off x="2591725" y="2869650"/>
            <a:ext cx="4460700" cy="17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pic>
        <p:nvPicPr>
          <p:cNvPr id="69" name="Google Shape;69;g31e570970e3_0_87"/>
          <p:cNvPicPr preferRelativeResize="0"/>
          <p:nvPr/>
        </p:nvPicPr>
        <p:blipFill>
          <a:blip r:embed="rId4">
            <a:alphaModFix/>
          </a:blip>
          <a:stretch>
            <a:fillRect/>
          </a:stretch>
        </p:blipFill>
        <p:spPr>
          <a:xfrm>
            <a:off x="1882938" y="2793100"/>
            <a:ext cx="5628124" cy="2571250"/>
          </a:xfrm>
          <a:prstGeom prst="rect">
            <a:avLst/>
          </a:prstGeom>
          <a:noFill/>
          <a:ln>
            <a:noFill/>
          </a:ln>
        </p:spPr>
      </p:pic>
      <p:sp>
        <p:nvSpPr>
          <p:cNvPr id="70" name="Google Shape;70;g31e570970e3_0_87"/>
          <p:cNvSpPr txBox="1"/>
          <p:nvPr/>
        </p:nvSpPr>
        <p:spPr>
          <a:xfrm>
            <a:off x="3488025" y="3015550"/>
            <a:ext cx="2897400" cy="17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6300">
                <a:solidFill>
                  <a:schemeClr val="dk1"/>
                </a:solidFill>
                <a:latin typeface="Oswald"/>
                <a:ea typeface="Oswald"/>
                <a:cs typeface="Oswald"/>
                <a:sym typeface="Oswald"/>
              </a:rPr>
              <a:t> Color Models</a:t>
            </a:r>
            <a:endParaRPr b="1" sz="6300">
              <a:solidFill>
                <a:schemeClr val="dk1"/>
              </a:solidFill>
              <a:latin typeface="Oswald"/>
              <a:ea typeface="Oswald"/>
              <a:cs typeface="Oswald"/>
              <a:sym typeface="Oswa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75" name="Shape 75"/>
        <p:cNvGrpSpPr/>
        <p:nvPr/>
      </p:nvGrpSpPr>
      <p:grpSpPr>
        <a:xfrm>
          <a:off x="0" y="0"/>
          <a:ext cx="0" cy="0"/>
          <a:chOff x="0" y="0"/>
          <a:chExt cx="0" cy="0"/>
        </a:xfrm>
      </p:grpSpPr>
      <p:sp>
        <p:nvSpPr>
          <p:cNvPr id="76" name="Google Shape;76;g31e570970e3_0_178"/>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r>
              <a:t/>
            </a:r>
            <a:endParaRPr>
              <a:solidFill>
                <a:srgbClr val="5B0F00"/>
              </a:solidFill>
            </a:endParaRPr>
          </a:p>
          <a:p>
            <a:pPr indent="0" lvl="0" marL="0" rtl="0" algn="r">
              <a:spcBef>
                <a:spcPts val="0"/>
              </a:spcBef>
              <a:spcAft>
                <a:spcPts val="0"/>
              </a:spcAft>
              <a:buNone/>
            </a:pPr>
            <a:fld id="{00000000-1234-1234-1234-123412341234}" type="slidenum">
              <a:rPr b="1" lang="en-US" sz="1700">
                <a:solidFill>
                  <a:srgbClr val="5B0F00"/>
                </a:solidFill>
              </a:rPr>
              <a:t>‹#›</a:t>
            </a:fld>
            <a:endParaRPr b="1" sz="1700">
              <a:solidFill>
                <a:srgbClr val="5B0F00"/>
              </a:solidFill>
            </a:endParaRPr>
          </a:p>
        </p:txBody>
      </p:sp>
      <p:pic>
        <p:nvPicPr>
          <p:cNvPr id="77" name="Google Shape;77;g31e570970e3_0_178"/>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78" name="Google Shape;78;g31e570970e3_0_178"/>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79" name="Google Shape;79;g31e570970e3_0_178"/>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Achromatic or Monochrome</a:t>
            </a:r>
            <a:endParaRPr b="1" sz="3400">
              <a:solidFill>
                <a:srgbClr val="5B0F00"/>
              </a:solidFill>
              <a:latin typeface="Oswald"/>
              <a:ea typeface="Oswald"/>
              <a:cs typeface="Oswald"/>
              <a:sym typeface="Oswald"/>
            </a:endParaRPr>
          </a:p>
        </p:txBody>
      </p:sp>
      <p:sp>
        <p:nvSpPr>
          <p:cNvPr id="80" name="Google Shape;80;g31e570970e3_0_178"/>
          <p:cNvSpPr txBox="1"/>
          <p:nvPr/>
        </p:nvSpPr>
        <p:spPr>
          <a:xfrm>
            <a:off x="382150" y="1160375"/>
            <a:ext cx="8108100" cy="2647200"/>
          </a:xfrm>
          <a:prstGeom prst="rect">
            <a:avLst/>
          </a:prstGeom>
          <a:noFill/>
          <a:ln>
            <a:noFill/>
          </a:ln>
        </p:spPr>
        <p:txBody>
          <a:bodyPr anchorCtr="0" anchor="t" bIns="91425" lIns="91425" spcFirstLastPara="1" rIns="91425" wrap="square" tIns="91425">
            <a:noAutofit/>
          </a:bodyPr>
          <a:lstStyle/>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Used as a synonym for ‘black and white’</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All RGB values are equal ( r=g=b)</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Different intensities of grey</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Lack of hue (pure color), saturation (intensity of a color) and brightness</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Only measured using the quantity of light</a:t>
            </a:r>
            <a:endParaRPr sz="2700">
              <a:solidFill>
                <a:srgbClr val="5B0F00"/>
              </a:solidFill>
              <a:latin typeface="Oswald"/>
              <a:ea typeface="Oswald"/>
              <a:cs typeface="Oswald"/>
              <a:sym typeface="Oswald"/>
            </a:endParaRPr>
          </a:p>
        </p:txBody>
      </p:sp>
      <p:pic>
        <p:nvPicPr>
          <p:cNvPr id="81" name="Google Shape;81;g31e570970e3_0_178"/>
          <p:cNvPicPr preferRelativeResize="0"/>
          <p:nvPr/>
        </p:nvPicPr>
        <p:blipFill>
          <a:blip r:embed="rId4">
            <a:alphaModFix/>
          </a:blip>
          <a:stretch>
            <a:fillRect/>
          </a:stretch>
        </p:blipFill>
        <p:spPr>
          <a:xfrm>
            <a:off x="2104075" y="3959975"/>
            <a:ext cx="4664244" cy="20193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86" name="Shape 86"/>
        <p:cNvGrpSpPr/>
        <p:nvPr/>
      </p:nvGrpSpPr>
      <p:grpSpPr>
        <a:xfrm>
          <a:off x="0" y="0"/>
          <a:ext cx="0" cy="0"/>
          <a:chOff x="0" y="0"/>
          <a:chExt cx="0" cy="0"/>
        </a:xfrm>
      </p:grpSpPr>
      <p:sp>
        <p:nvSpPr>
          <p:cNvPr id="87" name="Google Shape;87;g31e570970e3_0_242"/>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88" name="Google Shape;88;g31e570970e3_0_242"/>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89" name="Google Shape;89;g31e570970e3_0_242"/>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90" name="Google Shape;90;g31e570970e3_0_242"/>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Color Systems</a:t>
            </a:r>
            <a:endParaRPr b="1" sz="3400">
              <a:solidFill>
                <a:srgbClr val="5B0F00"/>
              </a:solidFill>
              <a:latin typeface="Oswald"/>
              <a:ea typeface="Oswald"/>
              <a:cs typeface="Oswald"/>
              <a:sym typeface="Oswald"/>
            </a:endParaRPr>
          </a:p>
        </p:txBody>
      </p:sp>
      <p:sp>
        <p:nvSpPr>
          <p:cNvPr id="91" name="Google Shape;91;g31e570970e3_0_242"/>
          <p:cNvSpPr txBox="1"/>
          <p:nvPr/>
        </p:nvSpPr>
        <p:spPr>
          <a:xfrm>
            <a:off x="319625" y="1086850"/>
            <a:ext cx="8379600" cy="4736700"/>
          </a:xfrm>
          <a:prstGeom prst="rect">
            <a:avLst/>
          </a:prstGeom>
          <a:noFill/>
          <a:ln>
            <a:noFill/>
          </a:ln>
        </p:spPr>
        <p:txBody>
          <a:bodyPr anchorCtr="0" anchor="t" bIns="91425" lIns="91425" spcFirstLastPara="1" rIns="91425" wrap="square" tIns="91425">
            <a:noAutofit/>
          </a:bodyPr>
          <a:lstStyle/>
          <a:p>
            <a:pPr indent="-444500" lvl="0" marL="457200" rtl="0" algn="just">
              <a:lnSpc>
                <a:spcPct val="80000"/>
              </a:lnSpc>
              <a:spcBef>
                <a:spcPts val="0"/>
              </a:spcBef>
              <a:spcAft>
                <a:spcPts val="0"/>
              </a:spcAft>
              <a:buClr>
                <a:srgbClr val="5B0F00"/>
              </a:buClr>
              <a:buSzPts val="3400"/>
              <a:buFont typeface="Oswald"/>
              <a:buChar char="●"/>
            </a:pPr>
            <a:r>
              <a:rPr lang="en-US" sz="3100">
                <a:solidFill>
                  <a:srgbClr val="5B0F00"/>
                </a:solidFill>
                <a:latin typeface="Oswald"/>
                <a:ea typeface="Oswald"/>
                <a:cs typeface="Oswald"/>
                <a:sym typeface="Oswald"/>
              </a:rPr>
              <a:t>The purpose of a color model (also called Color Space or Color System) is to facilitate the specification of colors in some standard way.</a:t>
            </a:r>
            <a:br>
              <a:rPr lang="en-US" sz="3100">
                <a:solidFill>
                  <a:srgbClr val="5B0F00"/>
                </a:solidFill>
                <a:latin typeface="Oswald"/>
                <a:ea typeface="Oswald"/>
                <a:cs typeface="Oswald"/>
                <a:sym typeface="Oswald"/>
              </a:rPr>
            </a:br>
            <a:endParaRPr sz="4300">
              <a:solidFill>
                <a:srgbClr val="5B0F00"/>
              </a:solidFill>
              <a:latin typeface="Oswald"/>
              <a:ea typeface="Oswald"/>
              <a:cs typeface="Oswald"/>
              <a:sym typeface="Oswald"/>
            </a:endParaRPr>
          </a:p>
          <a:p>
            <a:pPr indent="-444500" lvl="0" marL="457200" rtl="0" algn="just">
              <a:lnSpc>
                <a:spcPct val="80000"/>
              </a:lnSpc>
              <a:spcBef>
                <a:spcPts val="400"/>
              </a:spcBef>
              <a:spcAft>
                <a:spcPts val="0"/>
              </a:spcAft>
              <a:buClr>
                <a:srgbClr val="5B0F00"/>
              </a:buClr>
              <a:buSzPts val="3400"/>
              <a:buFont typeface="Oswald"/>
              <a:buChar char="●"/>
            </a:pPr>
            <a:r>
              <a:rPr lang="en-US" sz="3100">
                <a:solidFill>
                  <a:srgbClr val="5B0F00"/>
                </a:solidFill>
                <a:latin typeface="Oswald"/>
                <a:ea typeface="Oswald"/>
                <a:cs typeface="Oswald"/>
                <a:sym typeface="Oswald"/>
              </a:rPr>
              <a:t>A color model is a specification of a coordinate system and a subspace within that system where each color is represented by a single point.</a:t>
            </a:r>
            <a:br>
              <a:rPr lang="en-US" sz="3100">
                <a:solidFill>
                  <a:srgbClr val="5B0F00"/>
                </a:solidFill>
                <a:latin typeface="Oswald"/>
                <a:ea typeface="Oswald"/>
                <a:cs typeface="Oswald"/>
                <a:sym typeface="Oswald"/>
              </a:rPr>
            </a:br>
            <a:endParaRPr sz="3100">
              <a:solidFill>
                <a:srgbClr val="5B0F00"/>
              </a:solidFill>
              <a:latin typeface="Oswald"/>
              <a:ea typeface="Oswald"/>
              <a:cs typeface="Oswald"/>
              <a:sym typeface="Oswald"/>
            </a:endParaRPr>
          </a:p>
          <a:p>
            <a:pPr indent="-393700" lvl="0" marL="457200" rtl="0" algn="l">
              <a:spcBef>
                <a:spcPts val="0"/>
              </a:spcBef>
              <a:spcAft>
                <a:spcPts val="0"/>
              </a:spcAft>
              <a:buClr>
                <a:srgbClr val="5B0F00"/>
              </a:buClr>
              <a:buSzPts val="2600"/>
              <a:buFont typeface="Oswald"/>
              <a:buChar char="●"/>
            </a:pPr>
            <a:r>
              <a:rPr lang="en-US" sz="3100">
                <a:solidFill>
                  <a:srgbClr val="5B0F00"/>
                </a:solidFill>
                <a:latin typeface="Oswald"/>
                <a:ea typeface="Oswald"/>
                <a:cs typeface="Oswald"/>
                <a:sym typeface="Oswald"/>
              </a:rPr>
              <a:t>Available color systems are dependent on the medium on which one is working.</a:t>
            </a:r>
            <a:endParaRPr sz="3000">
              <a:solidFill>
                <a:srgbClr val="5B0F00"/>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96" name="Shape 96"/>
        <p:cNvGrpSpPr/>
        <p:nvPr/>
      </p:nvGrpSpPr>
      <p:grpSpPr>
        <a:xfrm>
          <a:off x="0" y="0"/>
          <a:ext cx="0" cy="0"/>
          <a:chOff x="0" y="0"/>
          <a:chExt cx="0" cy="0"/>
        </a:xfrm>
      </p:grpSpPr>
      <p:sp>
        <p:nvSpPr>
          <p:cNvPr id="97" name="Google Shape;97;g31e570970e3_0_252"/>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1800">
              <a:solidFill>
                <a:srgbClr val="5B0F00"/>
              </a:solidFill>
            </a:endParaRPr>
          </a:p>
        </p:txBody>
      </p:sp>
      <p:pic>
        <p:nvPicPr>
          <p:cNvPr id="98" name="Google Shape;98;g31e570970e3_0_252"/>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99" name="Google Shape;99;g31e570970e3_0_252"/>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00" name="Google Shape;100;g31e570970e3_0_252"/>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Additive Color</a:t>
            </a:r>
            <a:endParaRPr b="1" sz="3400">
              <a:solidFill>
                <a:srgbClr val="5B0F00"/>
              </a:solidFill>
              <a:latin typeface="Oswald"/>
              <a:ea typeface="Oswald"/>
              <a:cs typeface="Oswald"/>
              <a:sym typeface="Oswald"/>
            </a:endParaRPr>
          </a:p>
        </p:txBody>
      </p:sp>
      <p:sp>
        <p:nvSpPr>
          <p:cNvPr id="101" name="Google Shape;101;g31e570970e3_0_252"/>
          <p:cNvSpPr txBox="1"/>
          <p:nvPr/>
        </p:nvSpPr>
        <p:spPr>
          <a:xfrm>
            <a:off x="382150" y="1160375"/>
            <a:ext cx="8108100" cy="26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3200"/>
              <a:buFont typeface="Arial"/>
              <a:buNone/>
            </a:pPr>
            <a:r>
              <a:rPr lang="en-US" sz="3100">
                <a:solidFill>
                  <a:srgbClr val="5B0F00"/>
                </a:solidFill>
                <a:latin typeface="Oswald"/>
                <a:ea typeface="Oswald"/>
                <a:cs typeface="Oswald"/>
                <a:sym typeface="Oswald"/>
              </a:rPr>
              <a:t>Additive color mixing begins with black and ends with white; as more color is added, the result is lighter and tends to white. If we are working on a computer, the colors we see on the screen are created with light using the additive color method. </a:t>
            </a:r>
            <a:endParaRPr sz="2500">
              <a:solidFill>
                <a:srgbClr val="5B0F00"/>
              </a:solidFill>
              <a:latin typeface="Oswald"/>
              <a:ea typeface="Oswald"/>
              <a:cs typeface="Oswald"/>
              <a:sym typeface="Oswald"/>
            </a:endParaRPr>
          </a:p>
        </p:txBody>
      </p:sp>
      <p:pic>
        <p:nvPicPr>
          <p:cNvPr id="102" name="Google Shape;102;g31e570970e3_0_252"/>
          <p:cNvPicPr preferRelativeResize="0"/>
          <p:nvPr/>
        </p:nvPicPr>
        <p:blipFill>
          <a:blip r:embed="rId4">
            <a:alphaModFix/>
          </a:blip>
          <a:stretch>
            <a:fillRect/>
          </a:stretch>
        </p:blipFill>
        <p:spPr>
          <a:xfrm>
            <a:off x="1851775" y="3807575"/>
            <a:ext cx="2647200" cy="2647200"/>
          </a:xfrm>
          <a:prstGeom prst="rect">
            <a:avLst/>
          </a:prstGeom>
          <a:noFill/>
          <a:ln>
            <a:noFill/>
          </a:ln>
        </p:spPr>
      </p:pic>
      <p:sp>
        <p:nvSpPr>
          <p:cNvPr id="103" name="Google Shape;103;g31e570970e3_0_252"/>
          <p:cNvSpPr txBox="1"/>
          <p:nvPr/>
        </p:nvSpPr>
        <p:spPr>
          <a:xfrm>
            <a:off x="4801300" y="4370500"/>
            <a:ext cx="4023000" cy="9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5B0F00"/>
                </a:solidFill>
                <a:latin typeface="Oswald"/>
                <a:ea typeface="Oswald"/>
                <a:cs typeface="Oswald"/>
                <a:sym typeface="Oswald"/>
              </a:rPr>
              <a:t>RGB </a:t>
            </a:r>
            <a:r>
              <a:rPr lang="en-US" sz="2700">
                <a:solidFill>
                  <a:srgbClr val="5B0F00"/>
                </a:solidFill>
                <a:latin typeface="Oswald"/>
                <a:ea typeface="Oswald"/>
                <a:cs typeface="Oswald"/>
                <a:sym typeface="Oswald"/>
              </a:rPr>
              <a:t>color model applies </a:t>
            </a:r>
            <a:r>
              <a:rPr b="1" lang="en-US" sz="2700">
                <a:solidFill>
                  <a:srgbClr val="5B0F00"/>
                </a:solidFill>
                <a:latin typeface="Oswald"/>
                <a:ea typeface="Oswald"/>
                <a:cs typeface="Oswald"/>
                <a:sym typeface="Oswald"/>
              </a:rPr>
              <a:t>Additive </a:t>
            </a:r>
            <a:r>
              <a:rPr lang="en-US" sz="2700">
                <a:solidFill>
                  <a:srgbClr val="5B0F00"/>
                </a:solidFill>
                <a:latin typeface="Oswald"/>
                <a:ea typeface="Oswald"/>
                <a:cs typeface="Oswald"/>
                <a:sym typeface="Oswald"/>
              </a:rPr>
              <a:t>model</a:t>
            </a:r>
            <a:endParaRPr sz="2700">
              <a:solidFill>
                <a:srgbClr val="5B0F00"/>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08" name="Shape 108"/>
        <p:cNvGrpSpPr/>
        <p:nvPr/>
      </p:nvGrpSpPr>
      <p:grpSpPr>
        <a:xfrm>
          <a:off x="0" y="0"/>
          <a:ext cx="0" cy="0"/>
          <a:chOff x="0" y="0"/>
          <a:chExt cx="0" cy="0"/>
        </a:xfrm>
      </p:grpSpPr>
      <p:sp>
        <p:nvSpPr>
          <p:cNvPr id="109" name="Google Shape;109;g31e570970e3_0_264"/>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r>
              <a:t/>
            </a:r>
            <a:endParaRPr>
              <a:solidFill>
                <a:srgbClr val="5B0F00"/>
              </a:solidFill>
            </a:endParaRPr>
          </a:p>
          <a:p>
            <a:pPr indent="0" lvl="0" marL="0" rtl="0" algn="r">
              <a:spcBef>
                <a:spcPts val="0"/>
              </a:spcBef>
              <a:spcAft>
                <a:spcPts val="0"/>
              </a:spcAft>
              <a:buNone/>
            </a:pPr>
            <a:fld id="{00000000-1234-1234-1234-123412341234}" type="slidenum">
              <a:rPr b="1" lang="en-US" sz="1700">
                <a:solidFill>
                  <a:srgbClr val="5B0F00"/>
                </a:solidFill>
              </a:rPr>
              <a:t>‹#›</a:t>
            </a:fld>
            <a:endParaRPr b="1" sz="1700">
              <a:solidFill>
                <a:srgbClr val="5B0F00"/>
              </a:solidFill>
            </a:endParaRPr>
          </a:p>
        </p:txBody>
      </p:sp>
      <p:pic>
        <p:nvPicPr>
          <p:cNvPr id="110" name="Google Shape;110;g31e570970e3_0_264"/>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11" name="Google Shape;111;g31e570970e3_0_264"/>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12" name="Google Shape;112;g31e570970e3_0_264"/>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RGB Model</a:t>
            </a:r>
            <a:endParaRPr b="1" sz="3400">
              <a:solidFill>
                <a:srgbClr val="5B0F00"/>
              </a:solidFill>
              <a:latin typeface="Oswald"/>
              <a:ea typeface="Oswald"/>
              <a:cs typeface="Oswald"/>
              <a:sym typeface="Oswald"/>
            </a:endParaRPr>
          </a:p>
        </p:txBody>
      </p:sp>
      <p:pic>
        <p:nvPicPr>
          <p:cNvPr id="113" name="Google Shape;113;g31e570970e3_0_264"/>
          <p:cNvPicPr preferRelativeResize="0"/>
          <p:nvPr/>
        </p:nvPicPr>
        <p:blipFill>
          <a:blip r:embed="rId4">
            <a:alphaModFix/>
          </a:blip>
          <a:stretch>
            <a:fillRect/>
          </a:stretch>
        </p:blipFill>
        <p:spPr>
          <a:xfrm>
            <a:off x="319625" y="1062625"/>
            <a:ext cx="5144675" cy="4099975"/>
          </a:xfrm>
          <a:prstGeom prst="rect">
            <a:avLst/>
          </a:prstGeom>
          <a:noFill/>
          <a:ln>
            <a:noFill/>
          </a:ln>
        </p:spPr>
      </p:pic>
      <p:sp>
        <p:nvSpPr>
          <p:cNvPr id="114" name="Google Shape;114;g31e570970e3_0_264"/>
          <p:cNvSpPr txBox="1"/>
          <p:nvPr/>
        </p:nvSpPr>
        <p:spPr>
          <a:xfrm>
            <a:off x="235775" y="5250563"/>
            <a:ext cx="5878200" cy="640800"/>
          </a:xfrm>
          <a:prstGeom prst="rect">
            <a:avLst/>
          </a:prstGeom>
          <a:noFill/>
          <a:ln>
            <a:noFill/>
          </a:ln>
        </p:spPr>
        <p:txBody>
          <a:bodyPr anchorCtr="0" anchor="t" bIns="91425" lIns="91425" spcFirstLastPara="1" rIns="91425" wrap="square" tIns="91425">
            <a:noAutofit/>
          </a:bodyPr>
          <a:lstStyle/>
          <a:p>
            <a:pPr indent="0" lvl="0" marL="0" rtl="0" algn="just">
              <a:spcBef>
                <a:spcPts val="500"/>
              </a:spcBef>
              <a:spcAft>
                <a:spcPts val="0"/>
              </a:spcAft>
              <a:buNone/>
            </a:pPr>
            <a:r>
              <a:rPr b="1" lang="en-US" sz="2200">
                <a:solidFill>
                  <a:srgbClr val="5B0F00"/>
                </a:solidFill>
                <a:latin typeface="Oswald"/>
                <a:ea typeface="Oswald"/>
                <a:cs typeface="Oswald"/>
                <a:sym typeface="Oswald"/>
              </a:rPr>
              <a:t>Model based on</a:t>
            </a:r>
            <a:r>
              <a:rPr lang="en-US" sz="1800">
                <a:solidFill>
                  <a:srgbClr val="5B0F00"/>
                </a:solidFill>
                <a:latin typeface="Oswald"/>
                <a:ea typeface="Oswald"/>
                <a:cs typeface="Oswald"/>
                <a:sym typeface="Oswald"/>
              </a:rPr>
              <a:t> </a:t>
            </a:r>
            <a:r>
              <a:rPr b="1" lang="en-US" sz="2100">
                <a:solidFill>
                  <a:srgbClr val="5B0F00"/>
                </a:solidFill>
                <a:latin typeface="Oswald"/>
                <a:ea typeface="Oswald"/>
                <a:cs typeface="Oswald"/>
                <a:sym typeface="Oswald"/>
              </a:rPr>
              <a:t>Cartesian Coordinate System</a:t>
            </a:r>
            <a:endParaRPr b="1" sz="1900">
              <a:solidFill>
                <a:schemeClr val="accent3"/>
              </a:solidFill>
              <a:latin typeface="Average"/>
              <a:ea typeface="Average"/>
              <a:cs typeface="Average"/>
              <a:sym typeface="Average"/>
            </a:endParaRPr>
          </a:p>
        </p:txBody>
      </p:sp>
      <p:pic>
        <p:nvPicPr>
          <p:cNvPr id="115" name="Google Shape;115;g31e570970e3_0_264"/>
          <p:cNvPicPr preferRelativeResize="0"/>
          <p:nvPr/>
        </p:nvPicPr>
        <p:blipFill>
          <a:blip r:embed="rId5">
            <a:alphaModFix/>
          </a:blip>
          <a:stretch>
            <a:fillRect/>
          </a:stretch>
        </p:blipFill>
        <p:spPr>
          <a:xfrm>
            <a:off x="4901475" y="878961"/>
            <a:ext cx="4932925" cy="4467290"/>
          </a:xfrm>
          <a:prstGeom prst="rect">
            <a:avLst/>
          </a:prstGeom>
          <a:noFill/>
          <a:ln>
            <a:noFill/>
          </a:ln>
        </p:spPr>
      </p:pic>
      <p:sp>
        <p:nvSpPr>
          <p:cNvPr id="116" name="Google Shape;116;g31e570970e3_0_264"/>
          <p:cNvSpPr txBox="1"/>
          <p:nvPr/>
        </p:nvSpPr>
        <p:spPr>
          <a:xfrm>
            <a:off x="6058150" y="5308625"/>
            <a:ext cx="29808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rgbClr val="5B0F00"/>
                </a:solidFill>
                <a:latin typeface="Oswald"/>
                <a:ea typeface="Oswald"/>
                <a:cs typeface="Oswald"/>
                <a:sym typeface="Oswald"/>
              </a:rPr>
              <a:t>RGB 24 bit color cube</a:t>
            </a:r>
            <a:endParaRPr b="1" sz="2200">
              <a:solidFill>
                <a:srgbClr val="5B0F00"/>
              </a:solidFill>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21" name="Shape 121"/>
        <p:cNvGrpSpPr/>
        <p:nvPr/>
      </p:nvGrpSpPr>
      <p:grpSpPr>
        <a:xfrm>
          <a:off x="0" y="0"/>
          <a:ext cx="0" cy="0"/>
          <a:chOff x="0" y="0"/>
          <a:chExt cx="0" cy="0"/>
        </a:xfrm>
      </p:grpSpPr>
      <p:sp>
        <p:nvSpPr>
          <p:cNvPr id="122" name="Google Shape;122;g31e570970e3_2_4"/>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123" name="Google Shape;123;g31e570970e3_2_4"/>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24" name="Google Shape;124;g31e570970e3_2_4"/>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25" name="Google Shape;125;g31e570970e3_2_4"/>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RGB Model</a:t>
            </a:r>
            <a:endParaRPr b="1" sz="3400">
              <a:solidFill>
                <a:srgbClr val="5B0F00"/>
              </a:solidFill>
              <a:latin typeface="Oswald"/>
              <a:ea typeface="Oswald"/>
              <a:cs typeface="Oswald"/>
              <a:sym typeface="Oswald"/>
            </a:endParaRPr>
          </a:p>
        </p:txBody>
      </p:sp>
      <p:sp>
        <p:nvSpPr>
          <p:cNvPr id="126" name="Google Shape;126;g31e570970e3_2_4"/>
          <p:cNvSpPr txBox="1"/>
          <p:nvPr/>
        </p:nvSpPr>
        <p:spPr>
          <a:xfrm>
            <a:off x="319625" y="1086850"/>
            <a:ext cx="8609100" cy="4892400"/>
          </a:xfrm>
          <a:prstGeom prst="rect">
            <a:avLst/>
          </a:prstGeom>
          <a:noFill/>
          <a:ln>
            <a:noFill/>
          </a:ln>
        </p:spPr>
        <p:txBody>
          <a:bodyPr anchorCtr="0" anchor="t" bIns="91425" lIns="91425" spcFirstLastPara="1" rIns="91425" wrap="square" tIns="91425">
            <a:noAutofit/>
          </a:bodyPr>
          <a:lstStyle/>
          <a:p>
            <a:pPr indent="-444500" lvl="0" marL="457200" rtl="0" algn="just">
              <a:lnSpc>
                <a:spcPct val="80000"/>
              </a:lnSpc>
              <a:spcBef>
                <a:spcPts val="0"/>
              </a:spcBef>
              <a:spcAft>
                <a:spcPts val="0"/>
              </a:spcAft>
              <a:buClr>
                <a:srgbClr val="5B0F00"/>
              </a:buClr>
              <a:buSzPts val="3400"/>
              <a:buFont typeface="Oswald"/>
              <a:buChar char="●"/>
            </a:pPr>
            <a:r>
              <a:rPr lang="en-US" sz="2700">
                <a:solidFill>
                  <a:srgbClr val="5B0F00"/>
                </a:solidFill>
                <a:latin typeface="Oswald"/>
                <a:ea typeface="Oswald"/>
                <a:cs typeface="Oswald"/>
                <a:sym typeface="Oswald"/>
              </a:rPr>
              <a:t>Primary colors are </a:t>
            </a:r>
            <a:r>
              <a:rPr b="1" lang="en-US" sz="2700">
                <a:solidFill>
                  <a:srgbClr val="FF0000"/>
                </a:solidFill>
                <a:latin typeface="Oswald"/>
                <a:ea typeface="Oswald"/>
                <a:cs typeface="Oswald"/>
                <a:sym typeface="Oswald"/>
              </a:rPr>
              <a:t>red</a:t>
            </a:r>
            <a:r>
              <a:rPr lang="en-US" sz="2700">
                <a:solidFill>
                  <a:srgbClr val="5B0F00"/>
                </a:solidFill>
                <a:latin typeface="Oswald"/>
                <a:ea typeface="Oswald"/>
                <a:cs typeface="Oswald"/>
                <a:sym typeface="Oswald"/>
              </a:rPr>
              <a:t>, </a:t>
            </a:r>
            <a:r>
              <a:rPr b="1" lang="en-US" sz="2700">
                <a:solidFill>
                  <a:srgbClr val="00FF00"/>
                </a:solidFill>
                <a:latin typeface="Oswald"/>
                <a:ea typeface="Oswald"/>
                <a:cs typeface="Oswald"/>
                <a:sym typeface="Oswald"/>
              </a:rPr>
              <a:t>green</a:t>
            </a:r>
            <a:r>
              <a:rPr lang="en-US" sz="2700">
                <a:solidFill>
                  <a:srgbClr val="5B0F00"/>
                </a:solidFill>
                <a:latin typeface="Oswald"/>
                <a:ea typeface="Oswald"/>
                <a:cs typeface="Oswald"/>
                <a:sym typeface="Oswald"/>
              </a:rPr>
              <a:t>, and </a:t>
            </a:r>
            <a:r>
              <a:rPr b="1" lang="en-US" sz="2700">
                <a:solidFill>
                  <a:srgbClr val="0000FF"/>
                </a:solidFill>
                <a:latin typeface="Oswald"/>
                <a:ea typeface="Oswald"/>
                <a:cs typeface="Oswald"/>
                <a:sym typeface="Oswald"/>
              </a:rPr>
              <a:t>blue</a:t>
            </a:r>
            <a:r>
              <a:rPr lang="en-US" sz="2700">
                <a:solidFill>
                  <a:srgbClr val="5B0F00"/>
                </a:solidFill>
                <a:latin typeface="Oswald"/>
                <a:ea typeface="Oswald"/>
                <a:cs typeface="Oswald"/>
                <a:sym typeface="Oswald"/>
              </a:rPr>
              <a:t>.</a:t>
            </a:r>
            <a:endParaRPr sz="2700">
              <a:solidFill>
                <a:srgbClr val="5B0F00"/>
              </a:solidFill>
              <a:latin typeface="Oswald"/>
              <a:ea typeface="Oswald"/>
              <a:cs typeface="Oswald"/>
              <a:sym typeface="Oswald"/>
            </a:endParaRPr>
          </a:p>
          <a:p>
            <a:pPr indent="-444500" lvl="0" marL="457200" rtl="0" algn="just">
              <a:lnSpc>
                <a:spcPct val="80000"/>
              </a:lnSpc>
              <a:spcBef>
                <a:spcPts val="0"/>
              </a:spcBef>
              <a:spcAft>
                <a:spcPts val="0"/>
              </a:spcAft>
              <a:buClr>
                <a:srgbClr val="5B0F00"/>
              </a:buClr>
              <a:buSzPts val="3400"/>
              <a:buFont typeface="Oswald"/>
              <a:buChar char="●"/>
            </a:pPr>
            <a:r>
              <a:rPr lang="en-US" sz="2700">
                <a:solidFill>
                  <a:srgbClr val="5B0F00"/>
                </a:solidFill>
                <a:latin typeface="Oswald"/>
                <a:ea typeface="Oswald"/>
                <a:cs typeface="Oswald"/>
                <a:sym typeface="Oswald"/>
              </a:rPr>
              <a:t>The RGB model is usually represented by a unit cube with one corner located at the origin of a three-dimensional color coordinate system, the axes being labeled R, G, B, and having a range of values [0, 1].</a:t>
            </a:r>
            <a:endParaRPr sz="2700">
              <a:solidFill>
                <a:srgbClr val="5B0F00"/>
              </a:solidFill>
              <a:latin typeface="Oswald"/>
              <a:ea typeface="Oswald"/>
              <a:cs typeface="Oswald"/>
              <a:sym typeface="Oswald"/>
            </a:endParaRPr>
          </a:p>
          <a:p>
            <a:pPr indent="-482600" lvl="0" marL="457200" rtl="0" algn="just">
              <a:spcBef>
                <a:spcPts val="400"/>
              </a:spcBef>
              <a:spcAft>
                <a:spcPts val="0"/>
              </a:spcAft>
              <a:buClr>
                <a:srgbClr val="5B0F00"/>
              </a:buClr>
              <a:buSzPts val="4000"/>
              <a:buFont typeface="Oswald"/>
              <a:buChar char="●"/>
            </a:pPr>
            <a:r>
              <a:rPr lang="en-US" sz="2600">
                <a:solidFill>
                  <a:srgbClr val="5B0F00"/>
                </a:solidFill>
                <a:latin typeface="Oswald"/>
                <a:ea typeface="Oswald"/>
                <a:cs typeface="Oswald"/>
                <a:sym typeface="Oswald"/>
              </a:rPr>
              <a:t>The origin (0, 0, 0) is considered </a:t>
            </a:r>
            <a:r>
              <a:rPr b="1" lang="en-US" sz="2600">
                <a:latin typeface="Oswald"/>
                <a:ea typeface="Oswald"/>
                <a:cs typeface="Oswald"/>
                <a:sym typeface="Oswald"/>
              </a:rPr>
              <a:t>black</a:t>
            </a:r>
            <a:r>
              <a:rPr lang="en-US" sz="2600">
                <a:solidFill>
                  <a:srgbClr val="5B0F00"/>
                </a:solidFill>
                <a:latin typeface="Oswald"/>
                <a:ea typeface="Oswald"/>
                <a:cs typeface="Oswald"/>
                <a:sym typeface="Oswald"/>
              </a:rPr>
              <a:t> and the diagonally opposite corner (1, 1, 1) is called </a:t>
            </a:r>
            <a:r>
              <a:rPr b="1" lang="en-US" sz="2600">
                <a:solidFill>
                  <a:schemeClr val="dk1"/>
                </a:solidFill>
                <a:highlight>
                  <a:srgbClr val="5B0F00"/>
                </a:highlight>
                <a:latin typeface="Oswald"/>
                <a:ea typeface="Oswald"/>
                <a:cs typeface="Oswald"/>
                <a:sym typeface="Oswald"/>
              </a:rPr>
              <a:t>white</a:t>
            </a:r>
            <a:r>
              <a:rPr lang="en-US" sz="2600">
                <a:solidFill>
                  <a:srgbClr val="5B0F00"/>
                </a:solidFill>
                <a:latin typeface="Oswald"/>
                <a:ea typeface="Oswald"/>
                <a:cs typeface="Oswald"/>
                <a:sym typeface="Oswald"/>
              </a:rPr>
              <a:t>. The line joining black to white represents a gray scale and has R=G=B.</a:t>
            </a:r>
            <a:endParaRPr sz="2000">
              <a:solidFill>
                <a:srgbClr val="5B0F00"/>
              </a:solidFill>
              <a:latin typeface="Oswald"/>
              <a:ea typeface="Oswald"/>
              <a:cs typeface="Oswald"/>
              <a:sym typeface="Oswald"/>
            </a:endParaRPr>
          </a:p>
          <a:p>
            <a:pPr indent="-482600" lvl="0" marL="457200" rtl="0" algn="just">
              <a:lnSpc>
                <a:spcPct val="80000"/>
              </a:lnSpc>
              <a:spcBef>
                <a:spcPts val="0"/>
              </a:spcBef>
              <a:spcAft>
                <a:spcPts val="0"/>
              </a:spcAft>
              <a:buClr>
                <a:srgbClr val="5B0F00"/>
              </a:buClr>
              <a:buSzPts val="4000"/>
              <a:buFont typeface="Oswald"/>
              <a:buChar char="●"/>
            </a:pPr>
            <a:r>
              <a:rPr lang="en-US" sz="2600">
                <a:solidFill>
                  <a:srgbClr val="5B0F00"/>
                </a:solidFill>
                <a:latin typeface="Oswald"/>
                <a:ea typeface="Oswald"/>
                <a:cs typeface="Oswald"/>
                <a:sym typeface="Oswald"/>
              </a:rPr>
              <a:t>This is the model used for active displays such as television and computer screens. </a:t>
            </a:r>
            <a:endParaRPr sz="3600">
              <a:solidFill>
                <a:srgbClr val="5B0F00"/>
              </a:solidFill>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31" name="Shape 131"/>
        <p:cNvGrpSpPr/>
        <p:nvPr/>
      </p:nvGrpSpPr>
      <p:grpSpPr>
        <a:xfrm>
          <a:off x="0" y="0"/>
          <a:ext cx="0" cy="0"/>
          <a:chOff x="0" y="0"/>
          <a:chExt cx="0" cy="0"/>
        </a:xfrm>
      </p:grpSpPr>
      <p:sp>
        <p:nvSpPr>
          <p:cNvPr id="132" name="Google Shape;132;g31e570970e3_2_13"/>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1800">
              <a:solidFill>
                <a:srgbClr val="5B0F00"/>
              </a:solidFill>
            </a:endParaRPr>
          </a:p>
        </p:txBody>
      </p:sp>
      <p:pic>
        <p:nvPicPr>
          <p:cNvPr id="133" name="Google Shape;133;g31e570970e3_2_13"/>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34" name="Google Shape;134;g31e570970e3_2_13"/>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35" name="Google Shape;135;g31e570970e3_2_13"/>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Subtractive</a:t>
            </a:r>
            <a:r>
              <a:rPr b="1" lang="en-US" sz="3400">
                <a:solidFill>
                  <a:srgbClr val="5B0F00"/>
                </a:solidFill>
                <a:latin typeface="Oswald"/>
                <a:ea typeface="Oswald"/>
                <a:cs typeface="Oswald"/>
                <a:sym typeface="Oswald"/>
              </a:rPr>
              <a:t> Color</a:t>
            </a:r>
            <a:endParaRPr b="1" sz="3400">
              <a:solidFill>
                <a:srgbClr val="5B0F00"/>
              </a:solidFill>
              <a:latin typeface="Oswald"/>
              <a:ea typeface="Oswald"/>
              <a:cs typeface="Oswald"/>
              <a:sym typeface="Oswald"/>
            </a:endParaRPr>
          </a:p>
        </p:txBody>
      </p:sp>
      <p:sp>
        <p:nvSpPr>
          <p:cNvPr id="136" name="Google Shape;136;g31e570970e3_2_13"/>
          <p:cNvSpPr txBox="1"/>
          <p:nvPr/>
        </p:nvSpPr>
        <p:spPr>
          <a:xfrm>
            <a:off x="382150" y="1160375"/>
            <a:ext cx="8108100" cy="26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3200"/>
              <a:buFont typeface="Arial"/>
              <a:buNone/>
            </a:pPr>
            <a:r>
              <a:rPr lang="en-US" sz="3100">
                <a:solidFill>
                  <a:srgbClr val="5B0F00"/>
                </a:solidFill>
                <a:latin typeface="Oswald"/>
                <a:ea typeface="Oswald"/>
                <a:cs typeface="Oswald"/>
                <a:sym typeface="Oswald"/>
              </a:rPr>
              <a:t>Subtractive color mixing means that one begins with white and ends with black; as one adds color, the result gets darker and tends to be black. When we mix colors using paint, or through the printing process, we are using the subtractive color method.</a:t>
            </a:r>
            <a:endParaRPr sz="2400">
              <a:solidFill>
                <a:srgbClr val="5B0F00"/>
              </a:solidFill>
              <a:latin typeface="Oswald"/>
              <a:ea typeface="Oswald"/>
              <a:cs typeface="Oswald"/>
              <a:sym typeface="Oswald"/>
            </a:endParaRPr>
          </a:p>
        </p:txBody>
      </p:sp>
      <p:sp>
        <p:nvSpPr>
          <p:cNvPr id="137" name="Google Shape;137;g31e570970e3_2_13"/>
          <p:cNvSpPr txBox="1"/>
          <p:nvPr/>
        </p:nvSpPr>
        <p:spPr>
          <a:xfrm>
            <a:off x="4801300" y="4370500"/>
            <a:ext cx="4023000" cy="93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00">
                <a:solidFill>
                  <a:srgbClr val="5B0F00"/>
                </a:solidFill>
                <a:latin typeface="Oswald"/>
                <a:ea typeface="Oswald"/>
                <a:cs typeface="Oswald"/>
                <a:sym typeface="Oswald"/>
              </a:rPr>
              <a:t>CMY</a:t>
            </a:r>
            <a:r>
              <a:rPr b="1" lang="en-US" sz="2700">
                <a:solidFill>
                  <a:srgbClr val="5B0F00"/>
                </a:solidFill>
                <a:latin typeface="Oswald"/>
                <a:ea typeface="Oswald"/>
                <a:cs typeface="Oswald"/>
                <a:sym typeface="Oswald"/>
              </a:rPr>
              <a:t> </a:t>
            </a:r>
            <a:r>
              <a:rPr lang="en-US" sz="2700">
                <a:solidFill>
                  <a:srgbClr val="5B0F00"/>
                </a:solidFill>
                <a:latin typeface="Oswald"/>
                <a:ea typeface="Oswald"/>
                <a:cs typeface="Oswald"/>
                <a:sym typeface="Oswald"/>
              </a:rPr>
              <a:t>color model applies </a:t>
            </a:r>
            <a:r>
              <a:rPr b="1" lang="en-US" sz="2700">
                <a:solidFill>
                  <a:srgbClr val="5B0F00"/>
                </a:solidFill>
                <a:latin typeface="Oswald"/>
                <a:ea typeface="Oswald"/>
                <a:cs typeface="Oswald"/>
                <a:sym typeface="Oswald"/>
              </a:rPr>
              <a:t>Subtractive</a:t>
            </a:r>
            <a:r>
              <a:rPr b="1" lang="en-US" sz="2700">
                <a:solidFill>
                  <a:srgbClr val="5B0F00"/>
                </a:solidFill>
                <a:latin typeface="Oswald"/>
                <a:ea typeface="Oswald"/>
                <a:cs typeface="Oswald"/>
                <a:sym typeface="Oswald"/>
              </a:rPr>
              <a:t> </a:t>
            </a:r>
            <a:r>
              <a:rPr lang="en-US" sz="2700">
                <a:solidFill>
                  <a:srgbClr val="5B0F00"/>
                </a:solidFill>
                <a:latin typeface="Oswald"/>
                <a:ea typeface="Oswald"/>
                <a:cs typeface="Oswald"/>
                <a:sym typeface="Oswald"/>
              </a:rPr>
              <a:t>model</a:t>
            </a:r>
            <a:endParaRPr sz="2700">
              <a:solidFill>
                <a:srgbClr val="5B0F00"/>
              </a:solidFill>
              <a:latin typeface="Oswald"/>
              <a:ea typeface="Oswald"/>
              <a:cs typeface="Oswald"/>
              <a:sym typeface="Oswald"/>
            </a:endParaRPr>
          </a:p>
        </p:txBody>
      </p:sp>
      <p:pic>
        <p:nvPicPr>
          <p:cNvPr id="138" name="Google Shape;138;g31e570970e3_2_13"/>
          <p:cNvPicPr preferRelativeResize="0"/>
          <p:nvPr/>
        </p:nvPicPr>
        <p:blipFill>
          <a:blip r:embed="rId4">
            <a:alphaModFix/>
          </a:blip>
          <a:stretch>
            <a:fillRect/>
          </a:stretch>
        </p:blipFill>
        <p:spPr>
          <a:xfrm>
            <a:off x="1910300" y="3807575"/>
            <a:ext cx="2731048" cy="2647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43" name="Shape 143"/>
        <p:cNvGrpSpPr/>
        <p:nvPr/>
      </p:nvGrpSpPr>
      <p:grpSpPr>
        <a:xfrm>
          <a:off x="0" y="0"/>
          <a:ext cx="0" cy="0"/>
          <a:chOff x="0" y="0"/>
          <a:chExt cx="0" cy="0"/>
        </a:xfrm>
      </p:grpSpPr>
      <p:sp>
        <p:nvSpPr>
          <p:cNvPr id="144" name="Google Shape;144;g31e570970e3_2_25"/>
          <p:cNvSpPr txBox="1"/>
          <p:nvPr>
            <p:ph idx="12" type="sldNum"/>
          </p:nvPr>
        </p:nvSpPr>
        <p:spPr>
          <a:xfrm>
            <a:off x="8490250" y="6241346"/>
            <a:ext cx="548700" cy="524700"/>
          </a:xfrm>
          <a:prstGeom prst="rect">
            <a:avLst/>
          </a:prstGeom>
        </p:spPr>
        <p:txBody>
          <a:bodyPr anchorCtr="0" anchor="ctr" bIns="91425" lIns="91425" spcFirstLastPara="1" rIns="91425" wrap="square" tIns="91425">
            <a:normAutofit lnSpcReduction="20000"/>
          </a:bodyPr>
          <a:lstStyle/>
          <a:p>
            <a:pPr indent="0" lvl="0" marL="0" rtl="0" algn="r">
              <a:spcBef>
                <a:spcPts val="0"/>
              </a:spcBef>
              <a:spcAft>
                <a:spcPts val="0"/>
              </a:spcAft>
              <a:buNone/>
            </a:pPr>
            <a:r>
              <a:t/>
            </a:r>
            <a:endParaRPr>
              <a:solidFill>
                <a:srgbClr val="5B0F00"/>
              </a:solidFill>
            </a:endParaRPr>
          </a:p>
          <a:p>
            <a:pPr indent="0" lvl="0" marL="0" rtl="0" algn="r">
              <a:spcBef>
                <a:spcPts val="0"/>
              </a:spcBef>
              <a:spcAft>
                <a:spcPts val="0"/>
              </a:spcAft>
              <a:buNone/>
            </a:pPr>
            <a:fld id="{00000000-1234-1234-1234-123412341234}" type="slidenum">
              <a:rPr b="1" lang="en-US" sz="1700">
                <a:solidFill>
                  <a:srgbClr val="5B0F00"/>
                </a:solidFill>
              </a:rPr>
              <a:t>‹#›</a:t>
            </a:fld>
            <a:endParaRPr b="1" sz="1700">
              <a:solidFill>
                <a:srgbClr val="5B0F00"/>
              </a:solidFill>
            </a:endParaRPr>
          </a:p>
        </p:txBody>
      </p:sp>
      <p:pic>
        <p:nvPicPr>
          <p:cNvPr id="145" name="Google Shape;145;g31e570970e3_2_25"/>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46" name="Google Shape;146;g31e570970e3_2_25"/>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47" name="Google Shape;147;g31e570970e3_2_25"/>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CMY</a:t>
            </a:r>
            <a:r>
              <a:rPr b="1" lang="en-US" sz="3400">
                <a:solidFill>
                  <a:srgbClr val="5B0F00"/>
                </a:solidFill>
                <a:latin typeface="Oswald"/>
                <a:ea typeface="Oswald"/>
                <a:cs typeface="Oswald"/>
                <a:sym typeface="Oswald"/>
              </a:rPr>
              <a:t> Model</a:t>
            </a:r>
            <a:endParaRPr b="1" sz="3400">
              <a:solidFill>
                <a:srgbClr val="5B0F00"/>
              </a:solidFill>
              <a:latin typeface="Oswald"/>
              <a:ea typeface="Oswald"/>
              <a:cs typeface="Oswald"/>
              <a:sym typeface="Oswald"/>
            </a:endParaRPr>
          </a:p>
        </p:txBody>
      </p:sp>
      <p:sp>
        <p:nvSpPr>
          <p:cNvPr id="148" name="Google Shape;148;g31e570970e3_2_25"/>
          <p:cNvSpPr txBox="1"/>
          <p:nvPr/>
        </p:nvSpPr>
        <p:spPr>
          <a:xfrm>
            <a:off x="235775" y="5250563"/>
            <a:ext cx="5878200" cy="640800"/>
          </a:xfrm>
          <a:prstGeom prst="rect">
            <a:avLst/>
          </a:prstGeom>
          <a:noFill/>
          <a:ln>
            <a:noFill/>
          </a:ln>
        </p:spPr>
        <p:txBody>
          <a:bodyPr anchorCtr="0" anchor="t" bIns="91425" lIns="91425" spcFirstLastPara="1" rIns="91425" wrap="square" tIns="91425">
            <a:noAutofit/>
          </a:bodyPr>
          <a:lstStyle/>
          <a:p>
            <a:pPr indent="0" lvl="0" marL="0" rtl="0" algn="just">
              <a:spcBef>
                <a:spcPts val="500"/>
              </a:spcBef>
              <a:spcAft>
                <a:spcPts val="0"/>
              </a:spcAft>
              <a:buNone/>
            </a:pPr>
            <a:r>
              <a:rPr b="1" lang="en-US" sz="2200">
                <a:solidFill>
                  <a:srgbClr val="5B0F00"/>
                </a:solidFill>
                <a:latin typeface="Oswald"/>
                <a:ea typeface="Oswald"/>
                <a:cs typeface="Oswald"/>
                <a:sym typeface="Oswald"/>
              </a:rPr>
              <a:t>Model based on</a:t>
            </a:r>
            <a:r>
              <a:rPr lang="en-US" sz="1800">
                <a:solidFill>
                  <a:srgbClr val="5B0F00"/>
                </a:solidFill>
                <a:latin typeface="Oswald"/>
                <a:ea typeface="Oswald"/>
                <a:cs typeface="Oswald"/>
                <a:sym typeface="Oswald"/>
              </a:rPr>
              <a:t> </a:t>
            </a:r>
            <a:r>
              <a:rPr b="1" lang="en-US" sz="2100">
                <a:solidFill>
                  <a:srgbClr val="5B0F00"/>
                </a:solidFill>
                <a:latin typeface="Oswald"/>
                <a:ea typeface="Oswald"/>
                <a:cs typeface="Oswald"/>
                <a:sym typeface="Oswald"/>
              </a:rPr>
              <a:t>Cartesian Coordinate System</a:t>
            </a:r>
            <a:endParaRPr b="1" sz="1900">
              <a:solidFill>
                <a:schemeClr val="accent3"/>
              </a:solidFill>
              <a:latin typeface="Average"/>
              <a:ea typeface="Average"/>
              <a:cs typeface="Average"/>
              <a:sym typeface="Average"/>
            </a:endParaRPr>
          </a:p>
        </p:txBody>
      </p:sp>
      <p:pic>
        <p:nvPicPr>
          <p:cNvPr id="149" name="Google Shape;149;g31e570970e3_2_25"/>
          <p:cNvPicPr preferRelativeResize="0"/>
          <p:nvPr/>
        </p:nvPicPr>
        <p:blipFill>
          <a:blip r:embed="rId4">
            <a:alphaModFix/>
          </a:blip>
          <a:stretch>
            <a:fillRect/>
          </a:stretch>
        </p:blipFill>
        <p:spPr>
          <a:xfrm>
            <a:off x="361325" y="1391925"/>
            <a:ext cx="4596675" cy="3770710"/>
          </a:xfrm>
          <a:prstGeom prst="rect">
            <a:avLst/>
          </a:prstGeom>
          <a:noFill/>
          <a:ln>
            <a:noFill/>
          </a:ln>
        </p:spPr>
      </p:pic>
      <p:pic>
        <p:nvPicPr>
          <p:cNvPr id="150" name="Google Shape;150;g31e570970e3_2_25"/>
          <p:cNvPicPr preferRelativeResize="0"/>
          <p:nvPr/>
        </p:nvPicPr>
        <p:blipFill>
          <a:blip r:embed="rId5">
            <a:alphaModFix/>
          </a:blip>
          <a:stretch>
            <a:fillRect/>
          </a:stretch>
        </p:blipFill>
        <p:spPr>
          <a:xfrm>
            <a:off x="5110400" y="1260000"/>
            <a:ext cx="4596675" cy="4337996"/>
          </a:xfrm>
          <a:prstGeom prst="rect">
            <a:avLst/>
          </a:prstGeom>
          <a:noFill/>
          <a:ln>
            <a:noFill/>
          </a:ln>
        </p:spPr>
      </p:pic>
      <p:sp>
        <p:nvSpPr>
          <p:cNvPr id="151" name="Google Shape;151;g31e570970e3_2_25"/>
          <p:cNvSpPr txBox="1"/>
          <p:nvPr/>
        </p:nvSpPr>
        <p:spPr>
          <a:xfrm>
            <a:off x="5801900" y="5338525"/>
            <a:ext cx="29385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100">
                <a:solidFill>
                  <a:srgbClr val="5B0F00"/>
                </a:solidFill>
                <a:latin typeface="Oswald"/>
                <a:ea typeface="Oswald"/>
                <a:cs typeface="Oswald"/>
                <a:sym typeface="Oswald"/>
              </a:rPr>
              <a:t>CMY color cube</a:t>
            </a:r>
            <a:endParaRPr b="1" sz="2100">
              <a:solidFill>
                <a:srgbClr val="5B0F00"/>
              </a:solidFill>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56" name="Shape 156"/>
        <p:cNvGrpSpPr/>
        <p:nvPr/>
      </p:nvGrpSpPr>
      <p:grpSpPr>
        <a:xfrm>
          <a:off x="0" y="0"/>
          <a:ext cx="0" cy="0"/>
          <a:chOff x="0" y="0"/>
          <a:chExt cx="0" cy="0"/>
        </a:xfrm>
      </p:grpSpPr>
      <p:sp>
        <p:nvSpPr>
          <p:cNvPr id="157" name="Google Shape;157;g31e570970e3_2_40"/>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158" name="Google Shape;158;g31e570970e3_2_40"/>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59" name="Google Shape;159;g31e570970e3_2_40"/>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60" name="Google Shape;160;g31e570970e3_2_40"/>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CMY</a:t>
            </a:r>
            <a:r>
              <a:rPr b="1" lang="en-US" sz="3400">
                <a:solidFill>
                  <a:srgbClr val="5B0F00"/>
                </a:solidFill>
                <a:latin typeface="Oswald"/>
                <a:ea typeface="Oswald"/>
                <a:cs typeface="Oswald"/>
                <a:sym typeface="Oswald"/>
              </a:rPr>
              <a:t> Model</a:t>
            </a:r>
            <a:endParaRPr b="1" sz="3400">
              <a:solidFill>
                <a:srgbClr val="5B0F00"/>
              </a:solidFill>
              <a:latin typeface="Oswald"/>
              <a:ea typeface="Oswald"/>
              <a:cs typeface="Oswald"/>
              <a:sym typeface="Oswald"/>
            </a:endParaRPr>
          </a:p>
        </p:txBody>
      </p:sp>
      <p:sp>
        <p:nvSpPr>
          <p:cNvPr id="161" name="Google Shape;161;g31e570970e3_2_40"/>
          <p:cNvSpPr txBox="1"/>
          <p:nvPr/>
        </p:nvSpPr>
        <p:spPr>
          <a:xfrm>
            <a:off x="267450" y="419825"/>
            <a:ext cx="8609100" cy="4892400"/>
          </a:xfrm>
          <a:prstGeom prst="rect">
            <a:avLst/>
          </a:prstGeom>
          <a:noFill/>
          <a:ln>
            <a:noFill/>
          </a:ln>
        </p:spPr>
        <p:txBody>
          <a:bodyPr anchorCtr="0" anchor="t" bIns="91425" lIns="91425" spcFirstLastPara="1" rIns="91425" wrap="square" tIns="91425">
            <a:noAutofit/>
          </a:bodyPr>
          <a:lstStyle/>
          <a:p>
            <a:pPr indent="0" lvl="0" marL="0" rtl="0" algn="just">
              <a:lnSpc>
                <a:spcPct val="80000"/>
              </a:lnSpc>
              <a:spcBef>
                <a:spcPts val="0"/>
              </a:spcBef>
              <a:spcAft>
                <a:spcPts val="0"/>
              </a:spcAft>
              <a:buNone/>
            </a:pPr>
            <a:r>
              <a:t/>
            </a:r>
            <a:endParaRPr sz="2700">
              <a:solidFill>
                <a:srgbClr val="5B0F00"/>
              </a:solidFill>
              <a:latin typeface="Oswald"/>
              <a:ea typeface="Oswald"/>
              <a:cs typeface="Oswald"/>
              <a:sym typeface="Oswald"/>
            </a:endParaRPr>
          </a:p>
          <a:p>
            <a:pPr indent="-469900" lvl="0" marL="457200" rtl="0" algn="just">
              <a:spcBef>
                <a:spcPts val="0"/>
              </a:spcBef>
              <a:spcAft>
                <a:spcPts val="0"/>
              </a:spcAft>
              <a:buClr>
                <a:srgbClr val="5B0F00"/>
              </a:buClr>
              <a:buSzPts val="3800"/>
              <a:buFont typeface="Oswald"/>
              <a:buChar char="●"/>
            </a:pPr>
            <a:r>
              <a:rPr lang="en-US" sz="2000">
                <a:solidFill>
                  <a:srgbClr val="5B0F00"/>
                </a:solidFill>
                <a:latin typeface="Oswald"/>
                <a:ea typeface="Oswald"/>
                <a:cs typeface="Oswald"/>
                <a:sym typeface="Oswald"/>
              </a:rPr>
              <a:t>Cyan, magenta, and yellow are the secondary colors with respect to the primary colors of red, green, and blue. However, in this subtractive model, they are the primary colors and red, green, and blue, are the secondaries.</a:t>
            </a:r>
            <a:endParaRPr sz="3100">
              <a:solidFill>
                <a:srgbClr val="5B0F00"/>
              </a:solidFill>
              <a:latin typeface="Oswald"/>
              <a:ea typeface="Oswald"/>
              <a:cs typeface="Oswald"/>
              <a:sym typeface="Oswald"/>
            </a:endParaRPr>
          </a:p>
          <a:p>
            <a:pPr indent="-508000" lvl="0" marL="457200" rtl="0" algn="just">
              <a:spcBef>
                <a:spcPts val="0"/>
              </a:spcBef>
              <a:spcAft>
                <a:spcPts val="0"/>
              </a:spcAft>
              <a:buClr>
                <a:srgbClr val="5B0F00"/>
              </a:buClr>
              <a:buSzPts val="4400"/>
              <a:buFont typeface="Oswald"/>
              <a:buChar char="●"/>
            </a:pPr>
            <a:r>
              <a:rPr lang="en-US" sz="2000">
                <a:solidFill>
                  <a:srgbClr val="5B0F00"/>
                </a:solidFill>
                <a:latin typeface="Oswald"/>
                <a:ea typeface="Oswald"/>
                <a:cs typeface="Oswald"/>
                <a:sym typeface="Oswald"/>
              </a:rPr>
              <a:t>In this model, colors are formed by subtraction, where adding different pigments causes various colors not to be reflected and thus not to be seen. Here, white is the absence of colors, and black is the sum of all of them.</a:t>
            </a:r>
            <a:endParaRPr sz="2400">
              <a:solidFill>
                <a:srgbClr val="5B0F00"/>
              </a:solidFill>
              <a:latin typeface="Oswald"/>
              <a:ea typeface="Oswald"/>
              <a:cs typeface="Oswald"/>
              <a:sym typeface="Oswald"/>
            </a:endParaRPr>
          </a:p>
          <a:p>
            <a:pPr indent="-508000" lvl="0" marL="457200" rtl="0" algn="just">
              <a:spcBef>
                <a:spcPts val="320"/>
              </a:spcBef>
              <a:spcAft>
                <a:spcPts val="0"/>
              </a:spcAft>
              <a:buClr>
                <a:srgbClr val="5B0F00"/>
              </a:buClr>
              <a:buSzPts val="4400"/>
              <a:buFont typeface="Oswald"/>
              <a:buChar char="●"/>
            </a:pPr>
            <a:r>
              <a:rPr lang="en-US" sz="2000">
                <a:solidFill>
                  <a:srgbClr val="5B0F00"/>
                </a:solidFill>
                <a:latin typeface="Oswald"/>
                <a:ea typeface="Oswald"/>
                <a:cs typeface="Oswald"/>
                <a:sym typeface="Oswald"/>
              </a:rPr>
              <a:t>Most devices that deposit color pigments on paper </a:t>
            </a:r>
            <a:r>
              <a:rPr b="1" lang="en-US" sz="2000">
                <a:solidFill>
                  <a:srgbClr val="5B0F00"/>
                </a:solidFill>
                <a:latin typeface="Oswald"/>
                <a:ea typeface="Oswald"/>
                <a:cs typeface="Oswald"/>
                <a:sym typeface="Oswald"/>
              </a:rPr>
              <a:t>(such as Color Printers and Copiers)</a:t>
            </a:r>
            <a:r>
              <a:rPr lang="en-US" sz="2000">
                <a:solidFill>
                  <a:srgbClr val="5B0F00"/>
                </a:solidFill>
                <a:latin typeface="Oswald"/>
                <a:ea typeface="Oswald"/>
                <a:cs typeface="Oswald"/>
                <a:sym typeface="Oswald"/>
              </a:rPr>
              <a:t> requires CMY data input or perform RGB to CMY conversion internally.</a:t>
            </a:r>
            <a:endParaRPr sz="4000">
              <a:solidFill>
                <a:srgbClr val="5B0F00"/>
              </a:solidFill>
              <a:latin typeface="Oswald"/>
              <a:ea typeface="Oswald"/>
              <a:cs typeface="Oswald"/>
              <a:sym typeface="Oswald"/>
            </a:endParaRPr>
          </a:p>
        </p:txBody>
      </p:sp>
      <p:pic>
        <p:nvPicPr>
          <p:cNvPr id="162" name="Google Shape;162;g31e570970e3_2_40"/>
          <p:cNvPicPr preferRelativeResize="0"/>
          <p:nvPr/>
        </p:nvPicPr>
        <p:blipFill>
          <a:blip r:embed="rId4">
            <a:alphaModFix/>
          </a:blip>
          <a:stretch>
            <a:fillRect/>
          </a:stretch>
        </p:blipFill>
        <p:spPr>
          <a:xfrm>
            <a:off x="2481600" y="4489553"/>
            <a:ext cx="3758000" cy="2276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67" name="Shape 167"/>
        <p:cNvGrpSpPr/>
        <p:nvPr/>
      </p:nvGrpSpPr>
      <p:grpSpPr>
        <a:xfrm>
          <a:off x="0" y="0"/>
          <a:ext cx="0" cy="0"/>
          <a:chOff x="0" y="0"/>
          <a:chExt cx="0" cy="0"/>
        </a:xfrm>
      </p:grpSpPr>
      <p:sp>
        <p:nvSpPr>
          <p:cNvPr id="168" name="Google Shape;168;g323f5061d74_0_105"/>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169" name="Google Shape;169;g323f5061d74_0_105"/>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70" name="Google Shape;170;g323f5061d74_0_105"/>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71" name="Google Shape;171;g323f5061d74_0_105"/>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RGB - CMY Conversion</a:t>
            </a:r>
            <a:r>
              <a:rPr b="1" lang="en-US" sz="3400">
                <a:solidFill>
                  <a:srgbClr val="5B0F00"/>
                </a:solidFill>
                <a:latin typeface="Oswald"/>
                <a:ea typeface="Oswald"/>
                <a:cs typeface="Oswald"/>
                <a:sym typeface="Oswald"/>
              </a:rPr>
              <a:t> </a:t>
            </a:r>
            <a:endParaRPr b="1" sz="3400">
              <a:solidFill>
                <a:srgbClr val="5B0F00"/>
              </a:solidFill>
              <a:latin typeface="Oswald"/>
              <a:ea typeface="Oswald"/>
              <a:cs typeface="Oswald"/>
              <a:sym typeface="Oswald"/>
            </a:endParaRPr>
          </a:p>
        </p:txBody>
      </p:sp>
      <p:pic>
        <p:nvPicPr>
          <p:cNvPr id="172" name="Google Shape;172;g323f5061d74_0_105"/>
          <p:cNvPicPr preferRelativeResize="0"/>
          <p:nvPr/>
        </p:nvPicPr>
        <p:blipFill>
          <a:blip r:embed="rId4">
            <a:alphaModFix/>
          </a:blip>
          <a:stretch>
            <a:fillRect/>
          </a:stretch>
        </p:blipFill>
        <p:spPr>
          <a:xfrm>
            <a:off x="356063" y="1624338"/>
            <a:ext cx="8431876" cy="3606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77" name="Shape 177"/>
        <p:cNvGrpSpPr/>
        <p:nvPr/>
      </p:nvGrpSpPr>
      <p:grpSpPr>
        <a:xfrm>
          <a:off x="0" y="0"/>
          <a:ext cx="0" cy="0"/>
          <a:chOff x="0" y="0"/>
          <a:chExt cx="0" cy="0"/>
        </a:xfrm>
      </p:grpSpPr>
      <p:sp>
        <p:nvSpPr>
          <p:cNvPr id="178" name="Google Shape;178;g31e570970e3_2_60"/>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179" name="Google Shape;179;g31e570970e3_2_60"/>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80" name="Google Shape;180;g31e570970e3_2_60"/>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81" name="Google Shape;181;g31e570970e3_2_60"/>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CMYK Model</a:t>
            </a:r>
            <a:endParaRPr b="1" sz="3400">
              <a:solidFill>
                <a:srgbClr val="5B0F00"/>
              </a:solidFill>
              <a:latin typeface="Oswald"/>
              <a:ea typeface="Oswald"/>
              <a:cs typeface="Oswald"/>
              <a:sym typeface="Oswald"/>
            </a:endParaRPr>
          </a:p>
        </p:txBody>
      </p:sp>
      <p:sp>
        <p:nvSpPr>
          <p:cNvPr id="182" name="Google Shape;182;g31e570970e3_2_60"/>
          <p:cNvSpPr txBox="1"/>
          <p:nvPr/>
        </p:nvSpPr>
        <p:spPr>
          <a:xfrm>
            <a:off x="267450" y="1139525"/>
            <a:ext cx="8786100" cy="2391300"/>
          </a:xfrm>
          <a:prstGeom prst="rect">
            <a:avLst/>
          </a:prstGeom>
          <a:noFill/>
          <a:ln>
            <a:noFill/>
          </a:ln>
        </p:spPr>
        <p:txBody>
          <a:bodyPr anchorCtr="0" anchor="t" bIns="91425" lIns="91425" spcFirstLastPara="1" rIns="91425" wrap="square" tIns="91425">
            <a:noAutofit/>
          </a:bodyPr>
          <a:lstStyle/>
          <a:p>
            <a:pPr indent="0" lvl="0" marL="0" rtl="0" algn="just">
              <a:spcBef>
                <a:spcPts val="400"/>
              </a:spcBef>
              <a:spcAft>
                <a:spcPts val="0"/>
              </a:spcAft>
              <a:buNone/>
            </a:pPr>
            <a:r>
              <a:rPr lang="en-US" sz="2200">
                <a:solidFill>
                  <a:srgbClr val="5B0F00"/>
                </a:solidFill>
                <a:latin typeface="Oswald"/>
                <a:ea typeface="Oswald"/>
                <a:cs typeface="Oswald"/>
                <a:sym typeface="Oswald"/>
              </a:rPr>
              <a:t>Equal amounts of pigment primaries (</a:t>
            </a:r>
            <a:r>
              <a:rPr b="1" lang="en-US" sz="2200">
                <a:solidFill>
                  <a:srgbClr val="00FFFF"/>
                </a:solidFill>
                <a:highlight>
                  <a:srgbClr val="434343"/>
                </a:highlight>
                <a:latin typeface="Oswald"/>
                <a:ea typeface="Oswald"/>
                <a:cs typeface="Oswald"/>
                <a:sym typeface="Oswald"/>
              </a:rPr>
              <a:t>Cyan</a:t>
            </a:r>
            <a:r>
              <a:rPr lang="en-US" sz="2200">
                <a:solidFill>
                  <a:srgbClr val="5B0F00"/>
                </a:solidFill>
                <a:latin typeface="Oswald"/>
                <a:ea typeface="Oswald"/>
                <a:cs typeface="Oswald"/>
                <a:sym typeface="Oswald"/>
              </a:rPr>
              <a:t>, </a:t>
            </a:r>
            <a:r>
              <a:rPr b="1" lang="en-US" sz="2200">
                <a:solidFill>
                  <a:srgbClr val="FF00FF"/>
                </a:solidFill>
                <a:latin typeface="Oswald"/>
                <a:ea typeface="Oswald"/>
                <a:cs typeface="Oswald"/>
                <a:sym typeface="Oswald"/>
              </a:rPr>
              <a:t>Magenta</a:t>
            </a:r>
            <a:r>
              <a:rPr lang="en-US" sz="2200">
                <a:solidFill>
                  <a:srgbClr val="5B0F00"/>
                </a:solidFill>
                <a:latin typeface="Oswald"/>
                <a:ea typeface="Oswald"/>
                <a:cs typeface="Oswald"/>
                <a:sym typeface="Oswald"/>
              </a:rPr>
              <a:t> and </a:t>
            </a:r>
            <a:r>
              <a:rPr b="1" lang="en-US" sz="2200">
                <a:solidFill>
                  <a:srgbClr val="FFFF00"/>
                </a:solidFill>
                <a:highlight>
                  <a:srgbClr val="434343"/>
                </a:highlight>
                <a:latin typeface="Oswald"/>
                <a:ea typeface="Oswald"/>
                <a:cs typeface="Oswald"/>
                <a:sym typeface="Oswald"/>
              </a:rPr>
              <a:t>Yellow</a:t>
            </a:r>
            <a:r>
              <a:rPr lang="en-US" sz="2200">
                <a:solidFill>
                  <a:srgbClr val="5B0F00"/>
                </a:solidFill>
                <a:latin typeface="Oswald"/>
                <a:ea typeface="Oswald"/>
                <a:cs typeface="Oswald"/>
                <a:sym typeface="Oswald"/>
              </a:rPr>
              <a:t>) should produce Black. In practice combining these colors for printing produces a “Muddy-Black” color. So in order to produce “</a:t>
            </a:r>
            <a:r>
              <a:rPr b="1" lang="en-US" sz="2200">
                <a:latin typeface="Oswald"/>
                <a:ea typeface="Oswald"/>
                <a:cs typeface="Oswald"/>
                <a:sym typeface="Oswald"/>
              </a:rPr>
              <a:t>True-Black”</a:t>
            </a:r>
            <a:r>
              <a:rPr lang="en-US" sz="2200">
                <a:solidFill>
                  <a:srgbClr val="5B0F00"/>
                </a:solidFill>
                <a:latin typeface="Oswald"/>
                <a:ea typeface="Oswald"/>
                <a:cs typeface="Oswald"/>
                <a:sym typeface="Oswald"/>
              </a:rPr>
              <a:t> a fourth color “Black” is added giving rise to CMYK model.</a:t>
            </a:r>
            <a:endParaRPr sz="2400">
              <a:solidFill>
                <a:srgbClr val="5B0F00"/>
              </a:solidFill>
              <a:latin typeface="Oswald"/>
              <a:ea typeface="Oswald"/>
              <a:cs typeface="Oswald"/>
              <a:sym typeface="Oswald"/>
            </a:endParaRPr>
          </a:p>
        </p:txBody>
      </p:sp>
      <p:pic>
        <p:nvPicPr>
          <p:cNvPr id="183" name="Google Shape;183;g31e570970e3_2_60"/>
          <p:cNvPicPr preferRelativeResize="0"/>
          <p:nvPr/>
        </p:nvPicPr>
        <p:blipFill>
          <a:blip r:embed="rId4">
            <a:alphaModFix/>
          </a:blip>
          <a:stretch>
            <a:fillRect/>
          </a:stretch>
        </p:blipFill>
        <p:spPr>
          <a:xfrm>
            <a:off x="2143736" y="2493503"/>
            <a:ext cx="5074613" cy="41266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88" name="Shape 188"/>
        <p:cNvGrpSpPr/>
        <p:nvPr/>
      </p:nvGrpSpPr>
      <p:grpSpPr>
        <a:xfrm>
          <a:off x="0" y="0"/>
          <a:ext cx="0" cy="0"/>
          <a:chOff x="0" y="0"/>
          <a:chExt cx="0" cy="0"/>
        </a:xfrm>
      </p:grpSpPr>
      <p:sp>
        <p:nvSpPr>
          <p:cNvPr id="189" name="Google Shape;189;g323f5061d74_0_0"/>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190" name="Google Shape;190;g323f5061d74_0_0"/>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191" name="Google Shape;191;g323f5061d74_0_0"/>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192" name="Google Shape;192;g323f5061d74_0_0"/>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HSV Color</a:t>
            </a:r>
            <a:r>
              <a:rPr b="1" lang="en-US" sz="3400">
                <a:solidFill>
                  <a:srgbClr val="5B0F00"/>
                </a:solidFill>
                <a:latin typeface="Oswald"/>
                <a:ea typeface="Oswald"/>
                <a:cs typeface="Oswald"/>
                <a:sym typeface="Oswald"/>
              </a:rPr>
              <a:t> Model</a:t>
            </a:r>
            <a:endParaRPr b="1" sz="3400">
              <a:solidFill>
                <a:srgbClr val="5B0F00"/>
              </a:solidFill>
              <a:latin typeface="Oswald"/>
              <a:ea typeface="Oswald"/>
              <a:cs typeface="Oswald"/>
              <a:sym typeface="Oswald"/>
            </a:endParaRPr>
          </a:p>
        </p:txBody>
      </p:sp>
      <p:pic>
        <p:nvPicPr>
          <p:cNvPr id="193" name="Google Shape;193;g323f5061d74_0_0"/>
          <p:cNvPicPr preferRelativeResize="0"/>
          <p:nvPr/>
        </p:nvPicPr>
        <p:blipFill>
          <a:blip r:embed="rId4">
            <a:alphaModFix/>
          </a:blip>
          <a:stretch>
            <a:fillRect/>
          </a:stretch>
        </p:blipFill>
        <p:spPr>
          <a:xfrm>
            <a:off x="361325" y="1533725"/>
            <a:ext cx="4616200" cy="3462150"/>
          </a:xfrm>
          <a:prstGeom prst="rect">
            <a:avLst/>
          </a:prstGeom>
          <a:noFill/>
          <a:ln>
            <a:noFill/>
          </a:ln>
        </p:spPr>
      </p:pic>
      <p:pic>
        <p:nvPicPr>
          <p:cNvPr id="194" name="Google Shape;194;g323f5061d74_0_0"/>
          <p:cNvPicPr preferRelativeResize="0"/>
          <p:nvPr/>
        </p:nvPicPr>
        <p:blipFill>
          <a:blip r:embed="rId5">
            <a:alphaModFix/>
          </a:blip>
          <a:stretch>
            <a:fillRect/>
          </a:stretch>
        </p:blipFill>
        <p:spPr>
          <a:xfrm>
            <a:off x="5124300" y="1533725"/>
            <a:ext cx="3929360" cy="3462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99" name="Shape 199"/>
        <p:cNvGrpSpPr/>
        <p:nvPr/>
      </p:nvGrpSpPr>
      <p:grpSpPr>
        <a:xfrm>
          <a:off x="0" y="0"/>
          <a:ext cx="0" cy="0"/>
          <a:chOff x="0" y="0"/>
          <a:chExt cx="0" cy="0"/>
        </a:xfrm>
      </p:grpSpPr>
      <p:sp>
        <p:nvSpPr>
          <p:cNvPr id="200" name="Google Shape;200;g323f5061d74_0_12"/>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01" name="Google Shape;201;g323f5061d74_0_12"/>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202" name="Google Shape;202;g323f5061d74_0_12"/>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03" name="Google Shape;203;g323f5061d74_0_12"/>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HSV Color Model</a:t>
            </a:r>
            <a:endParaRPr b="1" sz="3400">
              <a:solidFill>
                <a:srgbClr val="5B0F00"/>
              </a:solidFill>
              <a:latin typeface="Oswald"/>
              <a:ea typeface="Oswald"/>
              <a:cs typeface="Oswald"/>
              <a:sym typeface="Oswald"/>
            </a:endParaRPr>
          </a:p>
        </p:txBody>
      </p:sp>
      <p:sp>
        <p:nvSpPr>
          <p:cNvPr id="204" name="Google Shape;204;g323f5061d74_0_12"/>
          <p:cNvSpPr txBox="1"/>
          <p:nvPr/>
        </p:nvSpPr>
        <p:spPr>
          <a:xfrm>
            <a:off x="382150" y="1035300"/>
            <a:ext cx="8671500" cy="4944000"/>
          </a:xfrm>
          <a:prstGeom prst="rect">
            <a:avLst/>
          </a:prstGeom>
          <a:noFill/>
          <a:ln>
            <a:noFill/>
          </a:ln>
        </p:spPr>
        <p:txBody>
          <a:bodyPr anchorCtr="0" anchor="t" bIns="91425" lIns="91425" spcFirstLastPara="1" rIns="91425" wrap="square" tIns="91425">
            <a:noAutofit/>
          </a:bodyPr>
          <a:lstStyle/>
          <a:p>
            <a:pPr indent="0" lvl="0" marL="0" rtl="0" algn="just">
              <a:lnSpc>
                <a:spcPct val="90000"/>
              </a:lnSpc>
              <a:spcBef>
                <a:spcPts val="360"/>
              </a:spcBef>
              <a:spcAft>
                <a:spcPts val="0"/>
              </a:spcAft>
              <a:buNone/>
            </a:pPr>
            <a:r>
              <a:rPr b="1" lang="en-US" sz="1800">
                <a:solidFill>
                  <a:srgbClr val="3333CC"/>
                </a:solidFill>
                <a:latin typeface="Oswald"/>
                <a:ea typeface="Oswald"/>
                <a:cs typeface="Oswald"/>
                <a:sym typeface="Oswald"/>
              </a:rPr>
              <a:t>Hue (color wheel)</a:t>
            </a:r>
            <a:r>
              <a:rPr lang="en-US" sz="1800">
                <a:solidFill>
                  <a:srgbClr val="3333CC"/>
                </a:solidFill>
                <a:latin typeface="Oswald"/>
                <a:ea typeface="Oswald"/>
                <a:cs typeface="Oswald"/>
                <a:sym typeface="Oswald"/>
              </a:rPr>
              <a:t> </a:t>
            </a:r>
            <a:endParaRPr sz="1800">
              <a:latin typeface="Oswald"/>
              <a:ea typeface="Oswald"/>
              <a:cs typeface="Oswald"/>
              <a:sym typeface="Oswald"/>
            </a:endParaRPr>
          </a:p>
          <a:p>
            <a:pPr indent="-342900" lvl="0" marL="457200" rtl="0" algn="just">
              <a:lnSpc>
                <a:spcPct val="90000"/>
              </a:lnSpc>
              <a:spcBef>
                <a:spcPts val="40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Wavelength of the pure colour observed in the signal.</a:t>
            </a:r>
            <a:endParaRPr sz="1800">
              <a:solidFill>
                <a:srgbClr val="5B0F00"/>
              </a:solidFill>
              <a:latin typeface="Oswald"/>
              <a:ea typeface="Oswald"/>
              <a:cs typeface="Oswald"/>
              <a:sym typeface="Oswald"/>
            </a:endParaRPr>
          </a:p>
          <a:p>
            <a:pPr indent="-342900" lvl="0" marL="457200" rtl="0" algn="just">
              <a:lnSpc>
                <a:spcPct val="90000"/>
              </a:lnSpc>
              <a:spcBef>
                <a:spcPts val="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The cone represents the HSV model, the hue represents different colours in different angle ranges.</a:t>
            </a:r>
            <a:endParaRPr sz="1800">
              <a:solidFill>
                <a:srgbClr val="5B0F00"/>
              </a:solidFill>
              <a:latin typeface="Oswald"/>
              <a:ea typeface="Oswald"/>
              <a:cs typeface="Oswald"/>
              <a:sym typeface="Oswald"/>
            </a:endParaRPr>
          </a:p>
          <a:p>
            <a:pPr indent="-342900" lvl="0" marL="457200" rtl="0" algn="just">
              <a:lnSpc>
                <a:spcPct val="90000"/>
              </a:lnSpc>
              <a:spcBef>
                <a:spcPts val="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More than </a:t>
            </a:r>
            <a:r>
              <a:rPr b="1" lang="en-US" sz="1800">
                <a:solidFill>
                  <a:srgbClr val="5B0F00"/>
                </a:solidFill>
                <a:latin typeface="Oswald"/>
                <a:ea typeface="Oswald"/>
                <a:cs typeface="Oswald"/>
                <a:sym typeface="Oswald"/>
              </a:rPr>
              <a:t>400 hues</a:t>
            </a:r>
            <a:r>
              <a:rPr lang="en-US" sz="1800">
                <a:solidFill>
                  <a:srgbClr val="5B0F00"/>
                </a:solidFill>
                <a:latin typeface="Oswald"/>
                <a:ea typeface="Oswald"/>
                <a:cs typeface="Oswald"/>
                <a:sym typeface="Oswald"/>
              </a:rPr>
              <a:t> can be seen by the human eye.</a:t>
            </a:r>
            <a:endParaRPr sz="1800">
              <a:solidFill>
                <a:srgbClr val="5B0F00"/>
              </a:solidFill>
              <a:latin typeface="Oswald"/>
              <a:ea typeface="Oswald"/>
              <a:cs typeface="Oswald"/>
              <a:sym typeface="Oswald"/>
            </a:endParaRPr>
          </a:p>
          <a:p>
            <a:pPr indent="0" lvl="0" marL="0" rtl="0" algn="just">
              <a:lnSpc>
                <a:spcPct val="90000"/>
              </a:lnSpc>
              <a:spcBef>
                <a:spcPts val="360"/>
              </a:spcBef>
              <a:spcAft>
                <a:spcPts val="0"/>
              </a:spcAft>
              <a:buNone/>
            </a:pPr>
            <a:br>
              <a:rPr lang="en-US" sz="1800">
                <a:solidFill>
                  <a:srgbClr val="5B0F00"/>
                </a:solidFill>
                <a:latin typeface="Oswald"/>
                <a:ea typeface="Oswald"/>
                <a:cs typeface="Oswald"/>
                <a:sym typeface="Oswald"/>
              </a:rPr>
            </a:br>
            <a:r>
              <a:rPr b="1" lang="en-US" sz="1600">
                <a:solidFill>
                  <a:srgbClr val="3333CC"/>
                </a:solidFill>
                <a:latin typeface="Oswald"/>
                <a:ea typeface="Oswald"/>
                <a:cs typeface="Oswald"/>
                <a:sym typeface="Oswald"/>
              </a:rPr>
              <a:t>Saturation (percentage of the color)</a:t>
            </a:r>
            <a:endParaRPr b="1" sz="1600">
              <a:solidFill>
                <a:srgbClr val="3333CC"/>
              </a:solidFill>
              <a:latin typeface="Oswald"/>
              <a:ea typeface="Oswald"/>
              <a:cs typeface="Oswald"/>
              <a:sym typeface="Oswald"/>
            </a:endParaRPr>
          </a:p>
          <a:p>
            <a:pPr indent="-355600" lvl="0" marL="457200" rtl="0" algn="just">
              <a:lnSpc>
                <a:spcPct val="90000"/>
              </a:lnSpc>
              <a:spcBef>
                <a:spcPts val="400"/>
              </a:spcBef>
              <a:spcAft>
                <a:spcPts val="0"/>
              </a:spcAft>
              <a:buClr>
                <a:srgbClr val="5B0F00"/>
              </a:buClr>
              <a:buSzPts val="2000"/>
              <a:buFont typeface="Oswald"/>
              <a:buChar char="●"/>
            </a:pPr>
            <a:r>
              <a:rPr lang="en-US" sz="1800">
                <a:solidFill>
                  <a:srgbClr val="5B0F00"/>
                </a:solidFill>
                <a:latin typeface="Oswald"/>
                <a:ea typeface="Oswald"/>
                <a:cs typeface="Oswald"/>
                <a:sym typeface="Oswald"/>
              </a:rPr>
              <a:t>Inverse of the quantity of “white” present in the signal. A pure colour has 100% saturation, the white and grey have 0% saturation.</a:t>
            </a:r>
            <a:endParaRPr sz="1800">
              <a:solidFill>
                <a:srgbClr val="5B0F00"/>
              </a:solidFill>
              <a:latin typeface="Oswald"/>
              <a:ea typeface="Oswald"/>
              <a:cs typeface="Oswald"/>
              <a:sym typeface="Oswald"/>
            </a:endParaRPr>
          </a:p>
          <a:p>
            <a:pPr indent="-342900" lvl="0" marL="457200" rtl="0" algn="just">
              <a:lnSpc>
                <a:spcPct val="90000"/>
              </a:lnSpc>
              <a:spcBef>
                <a:spcPts val="40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About </a:t>
            </a:r>
            <a:r>
              <a:rPr b="1" lang="en-US" sz="1800">
                <a:solidFill>
                  <a:srgbClr val="5B0F00"/>
                </a:solidFill>
                <a:latin typeface="Oswald"/>
                <a:ea typeface="Oswald"/>
                <a:cs typeface="Oswald"/>
                <a:sym typeface="Oswald"/>
              </a:rPr>
              <a:t>20 saturation levels</a:t>
            </a:r>
            <a:r>
              <a:rPr lang="en-US" sz="1800">
                <a:solidFill>
                  <a:srgbClr val="5B0F00"/>
                </a:solidFill>
                <a:latin typeface="Oswald"/>
                <a:ea typeface="Oswald"/>
                <a:cs typeface="Oswald"/>
                <a:sym typeface="Oswald"/>
              </a:rPr>
              <a:t> are visible per hue.</a:t>
            </a:r>
            <a:endParaRPr sz="1800">
              <a:solidFill>
                <a:srgbClr val="5B0F00"/>
              </a:solidFill>
              <a:latin typeface="Oswald"/>
              <a:ea typeface="Oswald"/>
              <a:cs typeface="Oswald"/>
              <a:sym typeface="Oswald"/>
            </a:endParaRPr>
          </a:p>
          <a:p>
            <a:pPr indent="-342900" lvl="0" marL="457200" rtl="0" algn="just">
              <a:lnSpc>
                <a:spcPct val="90000"/>
              </a:lnSpc>
              <a:spcBef>
                <a:spcPts val="40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How far the color is from equal intensity grey</a:t>
            </a:r>
            <a:endParaRPr sz="1800">
              <a:solidFill>
                <a:srgbClr val="5B0F00"/>
              </a:solidFill>
              <a:latin typeface="Oswald"/>
              <a:ea typeface="Oswald"/>
              <a:cs typeface="Oswald"/>
              <a:sym typeface="Oswald"/>
            </a:endParaRPr>
          </a:p>
          <a:p>
            <a:pPr indent="-342900" lvl="0" marL="457200" rtl="0" algn="just">
              <a:lnSpc>
                <a:spcPct val="90000"/>
              </a:lnSpc>
              <a:spcBef>
                <a:spcPts val="40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Range </a:t>
            </a:r>
            <a:r>
              <a:rPr b="1" lang="en-US" sz="1800">
                <a:solidFill>
                  <a:srgbClr val="5B0F00"/>
                </a:solidFill>
                <a:latin typeface="Oswald"/>
                <a:ea typeface="Oswald"/>
                <a:cs typeface="Oswald"/>
                <a:sym typeface="Oswald"/>
              </a:rPr>
              <a:t>[0,1]</a:t>
            </a:r>
            <a:endParaRPr b="1" sz="2000">
              <a:solidFill>
                <a:srgbClr val="5B0F00"/>
              </a:solidFill>
              <a:latin typeface="Oswald"/>
              <a:ea typeface="Oswald"/>
              <a:cs typeface="Oswald"/>
              <a:sym typeface="Oswald"/>
            </a:endParaRPr>
          </a:p>
          <a:p>
            <a:pPr indent="0" lvl="0" marL="457200" rtl="0" algn="just">
              <a:lnSpc>
                <a:spcPct val="90000"/>
              </a:lnSpc>
              <a:spcBef>
                <a:spcPts val="400"/>
              </a:spcBef>
              <a:spcAft>
                <a:spcPts val="0"/>
              </a:spcAft>
              <a:buNone/>
            </a:pPr>
            <a:r>
              <a:t/>
            </a:r>
            <a:endParaRPr>
              <a:solidFill>
                <a:srgbClr val="273239"/>
              </a:solidFill>
              <a:highlight>
                <a:schemeClr val="dk1"/>
              </a:highlight>
              <a:latin typeface="Verdana"/>
              <a:ea typeface="Verdana"/>
              <a:cs typeface="Verdana"/>
              <a:sym typeface="Verdana"/>
            </a:endParaRPr>
          </a:p>
          <a:p>
            <a:pPr indent="0" lvl="0" marL="0" rtl="0" algn="just">
              <a:lnSpc>
                <a:spcPct val="90000"/>
              </a:lnSpc>
              <a:spcBef>
                <a:spcPts val="360"/>
              </a:spcBef>
              <a:spcAft>
                <a:spcPts val="0"/>
              </a:spcAft>
              <a:buNone/>
            </a:pPr>
            <a:r>
              <a:rPr b="1" lang="en-US" sz="1600">
                <a:solidFill>
                  <a:srgbClr val="3333CC"/>
                </a:solidFill>
                <a:latin typeface="Oswald"/>
                <a:ea typeface="Oswald"/>
                <a:cs typeface="Oswald"/>
                <a:sym typeface="Oswald"/>
              </a:rPr>
              <a:t>Value (brightness or intensity of a color)</a:t>
            </a:r>
            <a:endParaRPr b="1" sz="1600">
              <a:solidFill>
                <a:srgbClr val="3333CC"/>
              </a:solidFill>
              <a:latin typeface="Oswald"/>
              <a:ea typeface="Oswald"/>
              <a:cs typeface="Oswald"/>
              <a:sym typeface="Oswald"/>
            </a:endParaRPr>
          </a:p>
          <a:p>
            <a:pPr indent="-342900" lvl="0" marL="457200" rtl="0" algn="just">
              <a:lnSpc>
                <a:spcPct val="90000"/>
              </a:lnSpc>
              <a:spcBef>
                <a:spcPts val="40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Distinguishes the grey levels. Its value lies in percentages </a:t>
            </a:r>
            <a:r>
              <a:rPr b="1" lang="en-US" sz="1800">
                <a:solidFill>
                  <a:srgbClr val="5B0F00"/>
                </a:solidFill>
                <a:latin typeface="Oswald"/>
                <a:ea typeface="Oswald"/>
                <a:cs typeface="Oswald"/>
                <a:sym typeface="Oswald"/>
              </a:rPr>
              <a:t>from 0 to 100</a:t>
            </a:r>
            <a:r>
              <a:rPr lang="en-US" sz="1800">
                <a:solidFill>
                  <a:srgbClr val="5B0F00"/>
                </a:solidFill>
                <a:latin typeface="Oswald"/>
                <a:ea typeface="Oswald"/>
                <a:cs typeface="Oswald"/>
                <a:sym typeface="Oswald"/>
              </a:rPr>
              <a:t>. 0 is black and 1 is the brightest and reveals the colour. </a:t>
            </a:r>
            <a:endParaRPr sz="1800">
              <a:solidFill>
                <a:srgbClr val="5B0F00"/>
              </a:solidFill>
              <a:latin typeface="Oswald"/>
              <a:ea typeface="Oswald"/>
              <a:cs typeface="Oswald"/>
              <a:sym typeface="Oswald"/>
            </a:endParaRPr>
          </a:p>
          <a:p>
            <a:pPr indent="-342900" lvl="0" marL="457200" rtl="0" algn="just">
              <a:lnSpc>
                <a:spcPct val="90000"/>
              </a:lnSpc>
              <a:spcBef>
                <a:spcPts val="400"/>
              </a:spcBef>
              <a:spcAft>
                <a:spcPts val="0"/>
              </a:spcAft>
              <a:buClr>
                <a:srgbClr val="5B0F00"/>
              </a:buClr>
              <a:buSzPts val="1800"/>
              <a:buFont typeface="Oswald"/>
              <a:buChar char="●"/>
            </a:pPr>
            <a:r>
              <a:rPr lang="en-US" sz="1800">
                <a:solidFill>
                  <a:srgbClr val="5B0F00"/>
                </a:solidFill>
                <a:latin typeface="Oswald"/>
                <a:ea typeface="Oswald"/>
                <a:cs typeface="Oswald"/>
                <a:sym typeface="Oswald"/>
              </a:rPr>
              <a:t>Helps in generating shading or lighting effects in graphics. </a:t>
            </a:r>
            <a:endParaRPr sz="1800">
              <a:solidFill>
                <a:srgbClr val="5B0F00"/>
              </a:solidFill>
              <a:latin typeface="Oswald"/>
              <a:ea typeface="Oswald"/>
              <a:cs typeface="Oswald"/>
              <a:sym typeface="Oswald"/>
            </a:endParaRPr>
          </a:p>
          <a:p>
            <a:pPr indent="0" lvl="0" marL="1371600" rtl="0" algn="just">
              <a:lnSpc>
                <a:spcPct val="90000"/>
              </a:lnSpc>
              <a:spcBef>
                <a:spcPts val="400"/>
              </a:spcBef>
              <a:spcAft>
                <a:spcPts val="0"/>
              </a:spcAft>
              <a:buNone/>
            </a:pPr>
            <a:r>
              <a:t/>
            </a:r>
            <a:endParaRPr>
              <a:latin typeface="Verdana"/>
              <a:ea typeface="Verdana"/>
              <a:cs typeface="Verdana"/>
              <a:sym typeface="Verdana"/>
            </a:endParaRPr>
          </a:p>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09" name="Shape 209"/>
        <p:cNvGrpSpPr/>
        <p:nvPr/>
      </p:nvGrpSpPr>
      <p:grpSpPr>
        <a:xfrm>
          <a:off x="0" y="0"/>
          <a:ext cx="0" cy="0"/>
          <a:chOff x="0" y="0"/>
          <a:chExt cx="0" cy="0"/>
        </a:xfrm>
      </p:grpSpPr>
      <p:sp>
        <p:nvSpPr>
          <p:cNvPr id="210" name="Google Shape;210;g323f5061d74_0_23"/>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11" name="Google Shape;211;g323f5061d74_0_23"/>
          <p:cNvPicPr preferRelativeResize="0"/>
          <p:nvPr/>
        </p:nvPicPr>
        <p:blipFill>
          <a:blip r:embed="rId3">
            <a:alphaModFix/>
          </a:blip>
          <a:stretch>
            <a:fillRect/>
          </a:stretch>
        </p:blipFill>
        <p:spPr>
          <a:xfrm>
            <a:off x="235775" y="5979325"/>
            <a:ext cx="667500" cy="640800"/>
          </a:xfrm>
          <a:prstGeom prst="rect">
            <a:avLst/>
          </a:prstGeom>
          <a:noFill/>
          <a:ln>
            <a:noFill/>
          </a:ln>
        </p:spPr>
      </p:pic>
      <p:cxnSp>
        <p:nvCxnSpPr>
          <p:cNvPr id="212" name="Google Shape;212;g323f5061d74_0_23"/>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13" name="Google Shape;213;g323f5061d74_0_23"/>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HSV Color Model</a:t>
            </a:r>
            <a:endParaRPr b="1" sz="3400">
              <a:solidFill>
                <a:srgbClr val="5B0F00"/>
              </a:solidFill>
              <a:latin typeface="Oswald"/>
              <a:ea typeface="Oswald"/>
              <a:cs typeface="Oswald"/>
              <a:sym typeface="Oswald"/>
            </a:endParaRPr>
          </a:p>
        </p:txBody>
      </p:sp>
      <p:pic>
        <p:nvPicPr>
          <p:cNvPr id="214" name="Google Shape;214;g323f5061d74_0_23"/>
          <p:cNvPicPr preferRelativeResize="0"/>
          <p:nvPr/>
        </p:nvPicPr>
        <p:blipFill>
          <a:blip r:embed="rId4">
            <a:alphaModFix/>
          </a:blip>
          <a:stretch>
            <a:fillRect/>
          </a:stretch>
        </p:blipFill>
        <p:spPr>
          <a:xfrm>
            <a:off x="1507775" y="1167250"/>
            <a:ext cx="5914375" cy="495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19" name="Shape 219"/>
        <p:cNvGrpSpPr/>
        <p:nvPr/>
      </p:nvGrpSpPr>
      <p:grpSpPr>
        <a:xfrm>
          <a:off x="0" y="0"/>
          <a:ext cx="0" cy="0"/>
          <a:chOff x="0" y="0"/>
          <a:chExt cx="0" cy="0"/>
        </a:xfrm>
      </p:grpSpPr>
      <p:sp>
        <p:nvSpPr>
          <p:cNvPr id="220" name="Google Shape;220;g323f5061d74_0_33"/>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21" name="Google Shape;221;g323f5061d74_0_33"/>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22" name="Google Shape;222;g323f5061d74_0_33"/>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23" name="Google Shape;223;g323f5061d74_0_33"/>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RGB to </a:t>
            </a:r>
            <a:r>
              <a:rPr b="1" lang="en-US" sz="3400">
                <a:solidFill>
                  <a:srgbClr val="5B0F00"/>
                </a:solidFill>
                <a:latin typeface="Oswald"/>
                <a:ea typeface="Oswald"/>
                <a:cs typeface="Oswald"/>
                <a:sym typeface="Oswald"/>
              </a:rPr>
              <a:t>HSV Conversion</a:t>
            </a:r>
            <a:endParaRPr b="1" sz="3400">
              <a:solidFill>
                <a:srgbClr val="5B0F00"/>
              </a:solidFill>
              <a:latin typeface="Oswald"/>
              <a:ea typeface="Oswald"/>
              <a:cs typeface="Oswald"/>
              <a:sym typeface="Oswald"/>
            </a:endParaRPr>
          </a:p>
        </p:txBody>
      </p:sp>
      <p:sp>
        <p:nvSpPr>
          <p:cNvPr id="224" name="Google Shape;224;g323f5061d74_0_33"/>
          <p:cNvSpPr txBox="1"/>
          <p:nvPr/>
        </p:nvSpPr>
        <p:spPr>
          <a:xfrm>
            <a:off x="382150" y="1056150"/>
            <a:ext cx="8233800" cy="5185200"/>
          </a:xfrm>
          <a:prstGeom prst="rect">
            <a:avLst/>
          </a:prstGeom>
          <a:noFill/>
          <a:ln>
            <a:noFill/>
          </a:ln>
        </p:spPr>
        <p:txBody>
          <a:bodyPr anchorCtr="0" anchor="t" bIns="91425" lIns="91425" spcFirstLastPara="1" rIns="91425" wrap="square" tIns="91425">
            <a:noAutofit/>
          </a:bodyPr>
          <a:lstStyle/>
          <a:p>
            <a:pPr indent="-361950" lvl="0" marL="685800" rtl="0" algn="l">
              <a:lnSpc>
                <a:spcPct val="158000"/>
              </a:lnSpc>
              <a:spcBef>
                <a:spcPts val="800"/>
              </a:spcBef>
              <a:spcAft>
                <a:spcPts val="0"/>
              </a:spcAft>
              <a:buClr>
                <a:srgbClr val="5B0F00"/>
              </a:buClr>
              <a:buSzPts val="1500"/>
              <a:buFont typeface="Oswald"/>
              <a:buAutoNum type="arabicPeriod"/>
            </a:pPr>
            <a:r>
              <a:rPr lang="en-US" sz="1500">
                <a:solidFill>
                  <a:srgbClr val="5B0F00"/>
                </a:solidFill>
                <a:latin typeface="Oswald"/>
                <a:ea typeface="Oswald"/>
                <a:cs typeface="Oswald"/>
                <a:sym typeface="Oswald"/>
              </a:rPr>
              <a:t>Divide r, g, b by 255 (if the scale is 0-255, otherwise skip)</a:t>
            </a:r>
            <a:endParaRPr sz="1500">
              <a:solidFill>
                <a:srgbClr val="5B0F00"/>
              </a:solidFill>
              <a:latin typeface="Oswald"/>
              <a:ea typeface="Oswald"/>
              <a:cs typeface="Oswald"/>
              <a:sym typeface="Oswald"/>
            </a:endParaRPr>
          </a:p>
          <a:p>
            <a:pPr indent="-361950" lvl="0" marL="685800" rtl="0" algn="l">
              <a:lnSpc>
                <a:spcPct val="158000"/>
              </a:lnSpc>
              <a:spcBef>
                <a:spcPts val="800"/>
              </a:spcBef>
              <a:spcAft>
                <a:spcPts val="0"/>
              </a:spcAft>
              <a:buClr>
                <a:srgbClr val="5B0F00"/>
              </a:buClr>
              <a:buSzPts val="1500"/>
              <a:buFont typeface="Oswald"/>
              <a:buAutoNum type="arabicPeriod"/>
            </a:pPr>
            <a:r>
              <a:rPr lang="en-US" sz="1500">
                <a:solidFill>
                  <a:srgbClr val="5B0F00"/>
                </a:solidFill>
                <a:latin typeface="Oswald"/>
                <a:ea typeface="Oswald"/>
                <a:cs typeface="Oswald"/>
                <a:sym typeface="Oswald"/>
              </a:rPr>
              <a:t>Compute cmax, cmin, difference</a:t>
            </a:r>
            <a:endParaRPr sz="3300">
              <a:solidFill>
                <a:srgbClr val="5B0F00"/>
              </a:solidFill>
              <a:latin typeface="Oswald"/>
              <a:ea typeface="Oswald"/>
              <a:cs typeface="Oswald"/>
              <a:sym typeface="Oswald"/>
            </a:endParaRPr>
          </a:p>
          <a:p>
            <a:pPr indent="-361950" lvl="0" marL="685800" rtl="0" algn="l">
              <a:lnSpc>
                <a:spcPct val="158000"/>
              </a:lnSpc>
              <a:spcBef>
                <a:spcPts val="0"/>
              </a:spcBef>
              <a:spcAft>
                <a:spcPts val="0"/>
              </a:spcAft>
              <a:buClr>
                <a:srgbClr val="5B0F00"/>
              </a:buClr>
              <a:buSzPts val="1500"/>
              <a:buFont typeface="Oswald"/>
              <a:buAutoNum type="arabicPeriod"/>
            </a:pPr>
            <a:r>
              <a:rPr lang="en-US" sz="1500">
                <a:solidFill>
                  <a:srgbClr val="5B0F00"/>
                </a:solidFill>
                <a:latin typeface="Oswald"/>
                <a:ea typeface="Oswald"/>
                <a:cs typeface="Oswald"/>
                <a:sym typeface="Oswald"/>
              </a:rPr>
              <a:t>Hue calculation : </a:t>
            </a:r>
            <a:endParaRPr sz="33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cmax equal 0, then h = 0</a:t>
            </a:r>
            <a:endParaRPr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cmax equal r then compute h = </a:t>
            </a:r>
            <a:r>
              <a:rPr b="1" lang="en-US" sz="1500">
                <a:solidFill>
                  <a:srgbClr val="5B0F00"/>
                </a:solidFill>
                <a:latin typeface="Oswald"/>
                <a:ea typeface="Oswald"/>
                <a:cs typeface="Oswald"/>
                <a:sym typeface="Oswald"/>
              </a:rPr>
              <a:t>(g – b) / diff</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cmax equal g then compute h = </a:t>
            </a:r>
            <a:r>
              <a:rPr b="1" lang="en-US" sz="1500">
                <a:solidFill>
                  <a:srgbClr val="5B0F00"/>
                </a:solidFill>
                <a:latin typeface="Oswald"/>
                <a:ea typeface="Oswald"/>
                <a:cs typeface="Oswald"/>
                <a:sym typeface="Oswald"/>
              </a:rPr>
              <a:t>2 + (b – r) / diff</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cmax equal b then compute h = </a:t>
            </a:r>
            <a:r>
              <a:rPr b="1" lang="en-US" sz="1500">
                <a:solidFill>
                  <a:srgbClr val="5B0F00"/>
                </a:solidFill>
                <a:latin typeface="Oswald"/>
                <a:ea typeface="Oswald"/>
                <a:cs typeface="Oswald"/>
                <a:sym typeface="Oswald"/>
              </a:rPr>
              <a:t>4 + (r – g) / diff</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AutoNum type="arabicPeriod"/>
            </a:pPr>
            <a:r>
              <a:rPr b="1" lang="en-US" sz="1500">
                <a:solidFill>
                  <a:srgbClr val="5B0F00"/>
                </a:solidFill>
                <a:latin typeface="Oswald"/>
                <a:ea typeface="Oswald"/>
                <a:cs typeface="Oswald"/>
                <a:sym typeface="Oswald"/>
              </a:rPr>
              <a:t>h = h * 60</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AutoNum type="arabicPeriod"/>
            </a:pPr>
            <a:r>
              <a:rPr b="1" lang="en-US" sz="1500">
                <a:solidFill>
                  <a:srgbClr val="5B0F00"/>
                </a:solidFill>
                <a:latin typeface="Oswald"/>
                <a:ea typeface="Oswald"/>
                <a:cs typeface="Oswald"/>
                <a:sym typeface="Oswald"/>
              </a:rPr>
              <a:t>if h&lt;0 → h = h + 360</a:t>
            </a:r>
            <a:endParaRPr b="1" sz="2900">
              <a:solidFill>
                <a:srgbClr val="5B0F00"/>
              </a:solidFill>
              <a:latin typeface="Oswald"/>
              <a:ea typeface="Oswald"/>
              <a:cs typeface="Oswald"/>
              <a:sym typeface="Oswald"/>
            </a:endParaRPr>
          </a:p>
          <a:p>
            <a:pPr indent="-361950" lvl="0" marL="685800" rtl="0" algn="l">
              <a:lnSpc>
                <a:spcPct val="158000"/>
              </a:lnSpc>
              <a:spcBef>
                <a:spcPts val="800"/>
              </a:spcBef>
              <a:spcAft>
                <a:spcPts val="0"/>
              </a:spcAft>
              <a:buClr>
                <a:srgbClr val="5B0F00"/>
              </a:buClr>
              <a:buSzPts val="1500"/>
              <a:buFont typeface="Oswald"/>
              <a:buAutoNum type="arabicPeriod" startAt="4"/>
            </a:pPr>
            <a:r>
              <a:rPr lang="en-US" sz="1500">
                <a:solidFill>
                  <a:srgbClr val="5B0F00"/>
                </a:solidFill>
                <a:latin typeface="Oswald"/>
                <a:ea typeface="Oswald"/>
                <a:cs typeface="Oswald"/>
                <a:sym typeface="Oswald"/>
              </a:rPr>
              <a:t>Saturation computation :</a:t>
            </a:r>
            <a:endParaRPr sz="33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2100"/>
              <a:buFont typeface="Oswald"/>
              <a:buChar char="○"/>
            </a:pPr>
            <a:r>
              <a:rPr lang="en-US" sz="1500">
                <a:solidFill>
                  <a:srgbClr val="5B0F00"/>
                </a:solidFill>
                <a:latin typeface="Oswald"/>
                <a:ea typeface="Oswald"/>
                <a:cs typeface="Oswald"/>
                <a:sym typeface="Oswald"/>
              </a:rPr>
              <a:t>if cmax = 0, then s = 0</a:t>
            </a:r>
            <a:endParaRPr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2100"/>
              <a:buFont typeface="Oswald"/>
              <a:buChar char="○"/>
            </a:pPr>
            <a:r>
              <a:rPr lang="en-US" sz="1500">
                <a:solidFill>
                  <a:srgbClr val="5B0F00"/>
                </a:solidFill>
                <a:latin typeface="Oswald"/>
                <a:ea typeface="Oswald"/>
                <a:cs typeface="Oswald"/>
                <a:sym typeface="Oswald"/>
              </a:rPr>
              <a:t>if cmax does not equal 0 then compute s = </a:t>
            </a:r>
            <a:r>
              <a:rPr b="1" lang="en-US" sz="1500">
                <a:solidFill>
                  <a:srgbClr val="5B0F00"/>
                </a:solidFill>
                <a:latin typeface="Oswald"/>
                <a:ea typeface="Oswald"/>
                <a:cs typeface="Oswald"/>
                <a:sym typeface="Oswald"/>
              </a:rPr>
              <a:t>(diff/cmax)*100</a:t>
            </a:r>
            <a:endParaRPr b="1" sz="1500">
              <a:solidFill>
                <a:srgbClr val="5B0F00"/>
              </a:solidFill>
              <a:latin typeface="Oswald"/>
              <a:ea typeface="Oswald"/>
              <a:cs typeface="Oswald"/>
              <a:sym typeface="Oswald"/>
            </a:endParaRPr>
          </a:p>
          <a:p>
            <a:pPr indent="-368300" lvl="0" marL="685800" rtl="0" algn="l">
              <a:lnSpc>
                <a:spcPct val="158000"/>
              </a:lnSpc>
              <a:spcBef>
                <a:spcPts val="800"/>
              </a:spcBef>
              <a:spcAft>
                <a:spcPts val="0"/>
              </a:spcAft>
              <a:buClr>
                <a:srgbClr val="5B0F00"/>
              </a:buClr>
              <a:buSzPts val="1600"/>
              <a:buFont typeface="Oswald"/>
              <a:buAutoNum type="arabicPeriod" startAt="5"/>
            </a:pPr>
            <a:r>
              <a:rPr lang="en-US" sz="1500">
                <a:solidFill>
                  <a:srgbClr val="5B0F00"/>
                </a:solidFill>
                <a:latin typeface="Oswald"/>
                <a:ea typeface="Oswald"/>
                <a:cs typeface="Oswald"/>
                <a:sym typeface="Oswald"/>
              </a:rPr>
              <a:t>Value Computation:</a:t>
            </a:r>
            <a:r>
              <a:rPr lang="en-US" sz="3300">
                <a:solidFill>
                  <a:srgbClr val="5B0F00"/>
                </a:solidFill>
                <a:latin typeface="Oswald"/>
                <a:ea typeface="Oswald"/>
                <a:cs typeface="Oswald"/>
                <a:sym typeface="Oswald"/>
              </a:rPr>
              <a:t> </a:t>
            </a:r>
            <a:r>
              <a:rPr b="1" lang="en-US" sz="1500">
                <a:solidFill>
                  <a:srgbClr val="5B0F00"/>
                </a:solidFill>
                <a:latin typeface="Oswald"/>
                <a:ea typeface="Oswald"/>
                <a:cs typeface="Oswald"/>
                <a:sym typeface="Oswald"/>
              </a:rPr>
              <a:t>v = cmax*100</a:t>
            </a:r>
            <a:endParaRPr b="1" sz="1900">
              <a:solidFill>
                <a:srgbClr val="5B0F00"/>
              </a:solidFill>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29" name="Shape 229"/>
        <p:cNvGrpSpPr/>
        <p:nvPr/>
      </p:nvGrpSpPr>
      <p:grpSpPr>
        <a:xfrm>
          <a:off x="0" y="0"/>
          <a:ext cx="0" cy="0"/>
          <a:chOff x="0" y="0"/>
          <a:chExt cx="0" cy="0"/>
        </a:xfrm>
      </p:grpSpPr>
      <p:sp>
        <p:nvSpPr>
          <p:cNvPr id="230" name="Google Shape;230;g323f5061d74_0_44"/>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31" name="Google Shape;231;g323f5061d74_0_44"/>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32" name="Google Shape;232;g323f5061d74_0_44"/>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33" name="Google Shape;233;g323f5061d74_0_44"/>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RGB to HSV Conversion Example</a:t>
            </a:r>
            <a:endParaRPr b="1" sz="3400">
              <a:solidFill>
                <a:srgbClr val="5B0F00"/>
              </a:solidFill>
              <a:latin typeface="Oswald"/>
              <a:ea typeface="Oswald"/>
              <a:cs typeface="Oswald"/>
              <a:sym typeface="Oswald"/>
            </a:endParaRPr>
          </a:p>
        </p:txBody>
      </p:sp>
      <p:pic>
        <p:nvPicPr>
          <p:cNvPr id="234" name="Google Shape;234;g323f5061d74_0_44"/>
          <p:cNvPicPr preferRelativeResize="0"/>
          <p:nvPr/>
        </p:nvPicPr>
        <p:blipFill>
          <a:blip r:embed="rId4">
            <a:alphaModFix/>
          </a:blip>
          <a:stretch>
            <a:fillRect/>
          </a:stretch>
        </p:blipFill>
        <p:spPr>
          <a:xfrm>
            <a:off x="1319725" y="1143925"/>
            <a:ext cx="6236763" cy="5622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39" name="Shape 239"/>
        <p:cNvGrpSpPr/>
        <p:nvPr/>
      </p:nvGrpSpPr>
      <p:grpSpPr>
        <a:xfrm>
          <a:off x="0" y="0"/>
          <a:ext cx="0" cy="0"/>
          <a:chOff x="0" y="0"/>
          <a:chExt cx="0" cy="0"/>
        </a:xfrm>
      </p:grpSpPr>
      <p:sp>
        <p:nvSpPr>
          <p:cNvPr id="240" name="Google Shape;240;g323f5061d74_0_53"/>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41" name="Google Shape;241;g323f5061d74_0_53"/>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42" name="Google Shape;242;g323f5061d74_0_53"/>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43" name="Google Shape;243;g323f5061d74_0_53"/>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HSV to RGB Conversion</a:t>
            </a:r>
            <a:endParaRPr b="1" sz="3400">
              <a:solidFill>
                <a:srgbClr val="5B0F00"/>
              </a:solidFill>
              <a:latin typeface="Oswald"/>
              <a:ea typeface="Oswald"/>
              <a:cs typeface="Oswald"/>
              <a:sym typeface="Oswald"/>
            </a:endParaRPr>
          </a:p>
        </p:txBody>
      </p:sp>
      <p:sp>
        <p:nvSpPr>
          <p:cNvPr id="244" name="Google Shape;244;g323f5061d74_0_53"/>
          <p:cNvSpPr txBox="1"/>
          <p:nvPr/>
        </p:nvSpPr>
        <p:spPr>
          <a:xfrm>
            <a:off x="340475" y="993600"/>
            <a:ext cx="8149800" cy="546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300">
                <a:solidFill>
                  <a:srgbClr val="5B0F00"/>
                </a:solidFill>
                <a:latin typeface="Oswald"/>
                <a:ea typeface="Oswald"/>
                <a:cs typeface="Oswald"/>
                <a:sym typeface="Oswald"/>
              </a:rPr>
              <a:t>1. Calculate Chromatic Component </a:t>
            </a:r>
            <a:r>
              <a:rPr b="1" lang="en-US" sz="1300">
                <a:solidFill>
                  <a:srgbClr val="5B0F00"/>
                </a:solidFill>
                <a:latin typeface="Oswald"/>
                <a:ea typeface="Oswald"/>
                <a:cs typeface="Oswald"/>
                <a:sym typeface="Oswald"/>
              </a:rPr>
              <a:t>(</a:t>
            </a:r>
            <a:r>
              <a:rPr b="1" i="1" lang="en-US" sz="1300">
                <a:solidFill>
                  <a:srgbClr val="5B0F00"/>
                </a:solidFill>
                <a:latin typeface="Oswald"/>
                <a:ea typeface="Oswald"/>
                <a:cs typeface="Oswald"/>
                <a:sym typeface="Oswald"/>
              </a:rPr>
              <a:t>C </a:t>
            </a:r>
            <a:r>
              <a:rPr b="1" lang="en-US" sz="1300">
                <a:solidFill>
                  <a:srgbClr val="5B0F00"/>
                </a:solidFill>
                <a:latin typeface="Oswald"/>
                <a:ea typeface="Oswald"/>
                <a:cs typeface="Oswald"/>
                <a:sym typeface="Oswald"/>
              </a:rPr>
              <a:t>)</a:t>
            </a:r>
            <a:endParaRPr b="1" sz="1300">
              <a:solidFill>
                <a:srgbClr val="5B0F00"/>
              </a:solidFill>
              <a:latin typeface="Oswald"/>
              <a:ea typeface="Oswald"/>
              <a:cs typeface="Oswald"/>
              <a:sym typeface="Oswald"/>
            </a:endParaRPr>
          </a:p>
          <a:p>
            <a:pPr indent="0" lvl="0" marL="0" rtl="0" algn="l">
              <a:lnSpc>
                <a:spcPct val="115000"/>
              </a:lnSpc>
              <a:spcBef>
                <a:spcPts val="1200"/>
              </a:spcBef>
              <a:spcAft>
                <a:spcPts val="0"/>
              </a:spcAft>
              <a:buNone/>
            </a:pPr>
            <a:r>
              <a:rPr lang="en-US" sz="1300">
                <a:solidFill>
                  <a:srgbClr val="5B0F00"/>
                </a:solidFill>
                <a:latin typeface="Oswald"/>
                <a:ea typeface="Oswald"/>
                <a:cs typeface="Oswald"/>
                <a:sym typeface="Oswald"/>
              </a:rPr>
              <a:t>The chroma C, represents the difference between the maximum and minimum RGB components:</a:t>
            </a:r>
            <a:endParaRPr sz="1300">
              <a:solidFill>
                <a:srgbClr val="5B0F00"/>
              </a:solidFill>
              <a:latin typeface="Oswald"/>
              <a:ea typeface="Oswald"/>
              <a:cs typeface="Oswald"/>
              <a:sym typeface="Oswald"/>
            </a:endParaRPr>
          </a:p>
          <a:p>
            <a:pPr indent="0" lvl="0" marL="0" rtl="0" algn="l">
              <a:spcBef>
                <a:spcPts val="200"/>
              </a:spcBef>
              <a:spcAft>
                <a:spcPts val="0"/>
              </a:spcAft>
              <a:buNone/>
            </a:pPr>
            <a:r>
              <a:rPr lang="en-US" sz="1300">
                <a:solidFill>
                  <a:srgbClr val="5B0F00"/>
                </a:solidFill>
                <a:latin typeface="Oswald"/>
                <a:ea typeface="Oswald"/>
                <a:cs typeface="Oswald"/>
                <a:sym typeface="Oswald"/>
              </a:rPr>
              <a:t>                                                                                      </a:t>
            </a:r>
            <a:r>
              <a:rPr b="1" i="1" lang="en-US" sz="1300">
                <a:solidFill>
                  <a:srgbClr val="5B0F00"/>
                </a:solidFill>
                <a:latin typeface="Oswald"/>
                <a:ea typeface="Oswald"/>
                <a:cs typeface="Oswald"/>
                <a:sym typeface="Oswald"/>
              </a:rPr>
              <a:t>C = V × S</a:t>
            </a:r>
            <a:br>
              <a:rPr b="1" i="1" lang="en-US" sz="1300">
                <a:solidFill>
                  <a:srgbClr val="5B0F00"/>
                </a:solidFill>
                <a:latin typeface="Oswald"/>
                <a:ea typeface="Oswald"/>
                <a:cs typeface="Oswald"/>
                <a:sym typeface="Oswald"/>
              </a:rPr>
            </a:br>
            <a:r>
              <a:rPr b="1" lang="en-US" sz="1300">
                <a:solidFill>
                  <a:srgbClr val="5B0F00"/>
                </a:solidFill>
                <a:latin typeface="Oswald"/>
                <a:ea typeface="Oswald"/>
                <a:cs typeface="Oswald"/>
                <a:sym typeface="Oswald"/>
              </a:rPr>
              <a:t>2. Find the Intermediate Value (X)</a:t>
            </a:r>
            <a:endParaRPr b="1" sz="1300">
              <a:solidFill>
                <a:srgbClr val="5B0F00"/>
              </a:solidFill>
              <a:latin typeface="Oswald"/>
              <a:ea typeface="Oswald"/>
              <a:cs typeface="Oswald"/>
              <a:sym typeface="Oswald"/>
            </a:endParaRPr>
          </a:p>
          <a:p>
            <a:pPr indent="0" lvl="0" marL="0" rtl="0" algn="l">
              <a:lnSpc>
                <a:spcPct val="115000"/>
              </a:lnSpc>
              <a:spcBef>
                <a:spcPts val="1200"/>
              </a:spcBef>
              <a:spcAft>
                <a:spcPts val="0"/>
              </a:spcAft>
              <a:buNone/>
            </a:pPr>
            <a:r>
              <a:rPr lang="en-US" sz="1300">
                <a:solidFill>
                  <a:srgbClr val="5B0F00"/>
                </a:solidFill>
                <a:latin typeface="Oswald"/>
                <a:ea typeface="Oswald"/>
                <a:cs typeface="Oswald"/>
                <a:sym typeface="Oswald"/>
              </a:rPr>
              <a:t>The value X is a scaled component based on the current segment of the hue:</a:t>
            </a:r>
            <a:endParaRPr sz="1300">
              <a:solidFill>
                <a:srgbClr val="5B0F00"/>
              </a:solidFill>
              <a:latin typeface="Oswald"/>
              <a:ea typeface="Oswald"/>
              <a:cs typeface="Oswald"/>
              <a:sym typeface="Oswald"/>
            </a:endParaRPr>
          </a:p>
          <a:p>
            <a:pPr indent="0" lvl="0" marL="0" rtl="0" algn="l">
              <a:lnSpc>
                <a:spcPct val="115000"/>
              </a:lnSpc>
              <a:spcBef>
                <a:spcPts val="1200"/>
              </a:spcBef>
              <a:spcAft>
                <a:spcPts val="0"/>
              </a:spcAft>
              <a:buNone/>
            </a:pPr>
            <a:r>
              <a:rPr lang="en-US" sz="1300">
                <a:solidFill>
                  <a:srgbClr val="5B0F00"/>
                </a:solidFill>
                <a:latin typeface="Oswald"/>
                <a:ea typeface="Oswald"/>
                <a:cs typeface="Oswald"/>
                <a:sym typeface="Oswald"/>
              </a:rPr>
              <a:t>                                                               </a:t>
            </a:r>
            <a:r>
              <a:rPr b="1" i="1" lang="en-US">
                <a:solidFill>
                  <a:srgbClr val="5B0F00"/>
                </a:solidFill>
                <a:latin typeface="Oswald"/>
                <a:ea typeface="Oswald"/>
                <a:cs typeface="Oswald"/>
                <a:sym typeface="Oswald"/>
              </a:rPr>
              <a:t>X = C × ( 1 − </a:t>
            </a:r>
            <a:r>
              <a:rPr b="1" lang="en-US">
                <a:solidFill>
                  <a:srgbClr val="5B0F00"/>
                </a:solidFill>
                <a:latin typeface="Oswald"/>
                <a:ea typeface="Oswald"/>
                <a:cs typeface="Oswald"/>
                <a:sym typeface="Oswald"/>
              </a:rPr>
              <a:t>∣ </a:t>
            </a:r>
            <a:r>
              <a:rPr b="1" i="1" lang="en-US">
                <a:solidFill>
                  <a:srgbClr val="5B0F00"/>
                </a:solidFill>
                <a:latin typeface="Oswald"/>
                <a:ea typeface="Oswald"/>
                <a:cs typeface="Oswald"/>
                <a:sym typeface="Oswald"/>
              </a:rPr>
              <a:t>(H/60  mod 2 ) </a:t>
            </a:r>
            <a:r>
              <a:rPr b="1" i="1" lang="en-US">
                <a:solidFill>
                  <a:srgbClr val="5B0F00"/>
                </a:solidFill>
                <a:latin typeface="Oswald"/>
                <a:ea typeface="Oswald"/>
                <a:cs typeface="Oswald"/>
                <a:sym typeface="Oswald"/>
              </a:rPr>
              <a:t>− 1 </a:t>
            </a:r>
            <a:r>
              <a:rPr b="1" lang="en-US">
                <a:solidFill>
                  <a:srgbClr val="5B0F00"/>
                </a:solidFill>
                <a:latin typeface="Oswald"/>
                <a:ea typeface="Oswald"/>
                <a:cs typeface="Oswald"/>
                <a:sym typeface="Oswald"/>
              </a:rPr>
              <a:t>∣ </a:t>
            </a:r>
            <a:r>
              <a:rPr b="1" i="1" lang="en-US">
                <a:solidFill>
                  <a:srgbClr val="5B0F00"/>
                </a:solidFill>
                <a:latin typeface="Oswald"/>
                <a:ea typeface="Oswald"/>
                <a:cs typeface="Oswald"/>
                <a:sym typeface="Oswald"/>
              </a:rPr>
              <a:t>)</a:t>
            </a:r>
            <a:br>
              <a:rPr b="1" i="1" lang="en-US">
                <a:solidFill>
                  <a:srgbClr val="5B0F00"/>
                </a:solidFill>
                <a:latin typeface="Oswald"/>
                <a:ea typeface="Oswald"/>
                <a:cs typeface="Oswald"/>
                <a:sym typeface="Oswald"/>
              </a:rPr>
            </a:br>
            <a:r>
              <a:rPr b="1" lang="en-US" sz="1300">
                <a:solidFill>
                  <a:srgbClr val="5B0F00"/>
                </a:solidFill>
                <a:latin typeface="Oswald"/>
                <a:ea typeface="Oswald"/>
                <a:cs typeface="Oswald"/>
                <a:sym typeface="Oswald"/>
              </a:rPr>
              <a:t>3. Calculate the Adjustment (m)</a:t>
            </a:r>
            <a:endParaRPr b="1" sz="1300">
              <a:solidFill>
                <a:srgbClr val="5B0F00"/>
              </a:solidFill>
              <a:latin typeface="Oswald"/>
              <a:ea typeface="Oswald"/>
              <a:cs typeface="Oswald"/>
              <a:sym typeface="Oswald"/>
            </a:endParaRPr>
          </a:p>
          <a:p>
            <a:pPr indent="0" lvl="0" marL="0" rtl="0" algn="l">
              <a:lnSpc>
                <a:spcPct val="115000"/>
              </a:lnSpc>
              <a:spcBef>
                <a:spcPts val="1200"/>
              </a:spcBef>
              <a:spcAft>
                <a:spcPts val="0"/>
              </a:spcAft>
              <a:buNone/>
            </a:pPr>
            <a:r>
              <a:rPr lang="en-US" sz="1300">
                <a:solidFill>
                  <a:srgbClr val="5B0F00"/>
                </a:solidFill>
                <a:latin typeface="Oswald"/>
                <a:ea typeface="Oswald"/>
                <a:cs typeface="Oswald"/>
                <a:sym typeface="Oswald"/>
              </a:rPr>
              <a:t>The adjustment m, shifts the RGB values to match the value V (the maximum component):</a:t>
            </a:r>
            <a:endParaRPr sz="1300">
              <a:solidFill>
                <a:srgbClr val="5B0F00"/>
              </a:solidFill>
              <a:latin typeface="Oswald"/>
              <a:ea typeface="Oswald"/>
              <a:cs typeface="Oswald"/>
              <a:sym typeface="Oswald"/>
            </a:endParaRPr>
          </a:p>
          <a:p>
            <a:pPr indent="0" lvl="0" marL="0" rtl="0" algn="l">
              <a:lnSpc>
                <a:spcPct val="115000"/>
              </a:lnSpc>
              <a:spcBef>
                <a:spcPts val="1200"/>
              </a:spcBef>
              <a:spcAft>
                <a:spcPts val="0"/>
              </a:spcAft>
              <a:buNone/>
            </a:pPr>
            <a:r>
              <a:rPr lang="en-US" sz="1300">
                <a:solidFill>
                  <a:srgbClr val="5B0F00"/>
                </a:solidFill>
                <a:latin typeface="Oswald"/>
                <a:ea typeface="Oswald"/>
                <a:cs typeface="Oswald"/>
                <a:sym typeface="Oswald"/>
              </a:rPr>
              <a:t>                                                                                        </a:t>
            </a:r>
            <a:r>
              <a:rPr b="1" i="1" lang="en-US">
                <a:solidFill>
                  <a:srgbClr val="5B0F00"/>
                </a:solidFill>
                <a:latin typeface="Oswald"/>
                <a:ea typeface="Oswald"/>
                <a:cs typeface="Oswald"/>
                <a:sym typeface="Oswald"/>
              </a:rPr>
              <a:t> m = V − C</a:t>
            </a:r>
            <a:br>
              <a:rPr b="1" i="1" lang="en-US">
                <a:solidFill>
                  <a:srgbClr val="5B0F00"/>
                </a:solidFill>
                <a:latin typeface="Oswald"/>
                <a:ea typeface="Oswald"/>
                <a:cs typeface="Oswald"/>
                <a:sym typeface="Oswald"/>
              </a:rPr>
            </a:br>
            <a:r>
              <a:rPr b="1" lang="en-US" sz="1300">
                <a:solidFill>
                  <a:srgbClr val="5B0F00"/>
                </a:solidFill>
                <a:latin typeface="Oswald"/>
                <a:ea typeface="Oswald"/>
                <a:cs typeface="Oswald"/>
                <a:sym typeface="Oswald"/>
              </a:rPr>
              <a:t>4. Assign RGB Values Based on Hue Segment</a:t>
            </a:r>
            <a:endParaRPr b="1" sz="1300">
              <a:solidFill>
                <a:srgbClr val="5B0F00"/>
              </a:solidFill>
              <a:latin typeface="Oswald"/>
              <a:ea typeface="Oswald"/>
              <a:cs typeface="Oswald"/>
              <a:sym typeface="Oswald"/>
            </a:endParaRPr>
          </a:p>
          <a:p>
            <a:pPr indent="0" lvl="0" marL="0" rtl="0" algn="l">
              <a:lnSpc>
                <a:spcPct val="115000"/>
              </a:lnSpc>
              <a:spcBef>
                <a:spcPts val="1200"/>
              </a:spcBef>
              <a:spcAft>
                <a:spcPts val="0"/>
              </a:spcAft>
              <a:buNone/>
            </a:pPr>
            <a:r>
              <a:rPr lang="en-US" sz="1300">
                <a:solidFill>
                  <a:srgbClr val="5B0F00"/>
                </a:solidFill>
                <a:latin typeface="Oswald"/>
                <a:ea typeface="Oswald"/>
                <a:cs typeface="Oswald"/>
                <a:sym typeface="Oswald"/>
              </a:rPr>
              <a:t>The hue (</a:t>
            </a:r>
            <a:r>
              <a:rPr i="1" lang="en-US" sz="1300">
                <a:solidFill>
                  <a:srgbClr val="5B0F00"/>
                </a:solidFill>
                <a:latin typeface="Oswald"/>
                <a:ea typeface="Oswald"/>
                <a:cs typeface="Oswald"/>
                <a:sym typeface="Oswald"/>
              </a:rPr>
              <a:t>H </a:t>
            </a:r>
            <a:r>
              <a:rPr lang="en-US" sz="1300">
                <a:solidFill>
                  <a:srgbClr val="5B0F00"/>
                </a:solidFill>
                <a:latin typeface="Oswald"/>
                <a:ea typeface="Oswald"/>
                <a:cs typeface="Oswald"/>
                <a:sym typeface="Oswald"/>
              </a:rPr>
              <a:t>) determines the sequence of R,G,B. Divide </a:t>
            </a:r>
            <a:r>
              <a:rPr i="1" lang="en-US" sz="1300">
                <a:solidFill>
                  <a:srgbClr val="5B0F00"/>
                </a:solidFill>
                <a:latin typeface="Oswald"/>
                <a:ea typeface="Oswald"/>
                <a:cs typeface="Oswald"/>
                <a:sym typeface="Oswald"/>
              </a:rPr>
              <a:t>H</a:t>
            </a:r>
            <a:r>
              <a:rPr lang="en-US" sz="1300">
                <a:solidFill>
                  <a:srgbClr val="5B0F00"/>
                </a:solidFill>
                <a:latin typeface="Oswald"/>
                <a:ea typeface="Oswald"/>
                <a:cs typeface="Oswald"/>
                <a:sym typeface="Oswald"/>
              </a:rPr>
              <a:t> into 6 segments (0</a:t>
            </a:r>
            <a:r>
              <a:rPr baseline="30000" lang="en-US" sz="1300">
                <a:solidFill>
                  <a:srgbClr val="5B0F00"/>
                </a:solidFill>
                <a:latin typeface="Oswald"/>
                <a:ea typeface="Oswald"/>
                <a:cs typeface="Oswald"/>
                <a:sym typeface="Oswald"/>
              </a:rPr>
              <a:t>o</a:t>
            </a:r>
            <a:r>
              <a:rPr lang="en-US" sz="1300">
                <a:solidFill>
                  <a:srgbClr val="5B0F00"/>
                </a:solidFill>
                <a:latin typeface="Oswald"/>
                <a:ea typeface="Oswald"/>
                <a:cs typeface="Oswald"/>
                <a:sym typeface="Oswald"/>
              </a:rPr>
              <a:t>−360</a:t>
            </a:r>
            <a:r>
              <a:rPr baseline="30000" lang="en-US" sz="1300">
                <a:solidFill>
                  <a:srgbClr val="5B0F00"/>
                </a:solidFill>
                <a:latin typeface="Oswald"/>
                <a:ea typeface="Oswald"/>
                <a:cs typeface="Oswald"/>
                <a:sym typeface="Oswald"/>
              </a:rPr>
              <a:t>o</a:t>
            </a:r>
            <a:r>
              <a:rPr lang="en-US" sz="1300">
                <a:solidFill>
                  <a:srgbClr val="5B0F00"/>
                </a:solidFill>
                <a:latin typeface="Oswald"/>
                <a:ea typeface="Oswald"/>
                <a:cs typeface="Oswald"/>
                <a:sym typeface="Oswald"/>
              </a:rPr>
              <a:t>):</a:t>
            </a:r>
            <a:br>
              <a:rPr lang="en-US" sz="1300">
                <a:solidFill>
                  <a:srgbClr val="5B0F00"/>
                </a:solidFill>
                <a:latin typeface="Oswald"/>
                <a:ea typeface="Oswald"/>
                <a:cs typeface="Oswald"/>
                <a:sym typeface="Oswald"/>
              </a:rPr>
            </a:br>
            <a:endParaRPr sz="1300">
              <a:solidFill>
                <a:srgbClr val="5B0F00"/>
              </a:solidFill>
              <a:latin typeface="Oswald"/>
              <a:ea typeface="Oswald"/>
              <a:cs typeface="Oswald"/>
              <a:sym typeface="Oswald"/>
            </a:endParaRPr>
          </a:p>
          <a:p>
            <a:pPr indent="0" lvl="0" marL="0" rtl="0" algn="l">
              <a:lnSpc>
                <a:spcPct val="115000"/>
              </a:lnSpc>
              <a:spcBef>
                <a:spcPts val="1200"/>
              </a:spcBef>
              <a:spcAft>
                <a:spcPts val="0"/>
              </a:spcAft>
              <a:buNone/>
            </a:pPr>
            <a:r>
              <a:t/>
            </a:r>
            <a:endParaRPr b="1" i="1">
              <a:solidFill>
                <a:srgbClr val="5B0F00"/>
              </a:solidFill>
              <a:latin typeface="Oswald"/>
              <a:ea typeface="Oswald"/>
              <a:cs typeface="Oswald"/>
              <a:sym typeface="Oswald"/>
            </a:endParaRPr>
          </a:p>
          <a:p>
            <a:pPr indent="0" lvl="0" marL="0" rtl="0" algn="l">
              <a:spcBef>
                <a:spcPts val="1200"/>
              </a:spcBef>
              <a:spcAft>
                <a:spcPts val="0"/>
              </a:spcAft>
              <a:buNone/>
            </a:pPr>
            <a:r>
              <a:t/>
            </a:r>
            <a:endParaRPr b="1" i="1" sz="1300">
              <a:solidFill>
                <a:srgbClr val="5B0F00"/>
              </a:solidFill>
              <a:latin typeface="Oswald"/>
              <a:ea typeface="Oswald"/>
              <a:cs typeface="Oswald"/>
              <a:sym typeface="Oswald"/>
            </a:endParaRPr>
          </a:p>
        </p:txBody>
      </p:sp>
      <p:pic>
        <p:nvPicPr>
          <p:cNvPr id="245" name="Google Shape;245;g323f5061d74_0_53"/>
          <p:cNvPicPr preferRelativeResize="0"/>
          <p:nvPr/>
        </p:nvPicPr>
        <p:blipFill rotWithShape="1">
          <a:blip r:embed="rId4">
            <a:alphaModFix/>
          </a:blip>
          <a:srcRect b="0" l="0" r="0" t="14317"/>
          <a:stretch/>
        </p:blipFill>
        <p:spPr>
          <a:xfrm>
            <a:off x="470100" y="4683175"/>
            <a:ext cx="5057075" cy="1942750"/>
          </a:xfrm>
          <a:prstGeom prst="rect">
            <a:avLst/>
          </a:prstGeom>
          <a:noFill/>
          <a:ln>
            <a:noFill/>
          </a:ln>
        </p:spPr>
      </p:pic>
      <p:sp>
        <p:nvSpPr>
          <p:cNvPr id="246" name="Google Shape;246;g323f5061d74_0_53"/>
          <p:cNvSpPr txBox="1"/>
          <p:nvPr/>
        </p:nvSpPr>
        <p:spPr>
          <a:xfrm>
            <a:off x="5697625" y="4787400"/>
            <a:ext cx="3022500" cy="19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5B0F00"/>
                </a:solidFill>
                <a:latin typeface="Oswald"/>
                <a:ea typeface="Oswald"/>
                <a:cs typeface="Oswald"/>
                <a:sym typeface="Oswald"/>
              </a:rPr>
              <a:t>5. Adjustment</a:t>
            </a:r>
            <a:endParaRPr b="1" sz="1300">
              <a:solidFill>
                <a:srgbClr val="5B0F00"/>
              </a:solidFill>
              <a:latin typeface="Oswald"/>
              <a:ea typeface="Oswald"/>
              <a:cs typeface="Oswald"/>
              <a:sym typeface="Oswald"/>
            </a:endParaRPr>
          </a:p>
          <a:p>
            <a:pPr indent="0" lvl="0" marL="0" rtl="0" algn="l">
              <a:spcBef>
                <a:spcPts val="0"/>
              </a:spcBef>
              <a:spcAft>
                <a:spcPts val="0"/>
              </a:spcAft>
              <a:buNone/>
            </a:pPr>
            <a:br>
              <a:rPr lang="en-US" sz="1300">
                <a:solidFill>
                  <a:srgbClr val="5B0F00"/>
                </a:solidFill>
                <a:latin typeface="Oswald"/>
                <a:ea typeface="Oswald"/>
                <a:cs typeface="Oswald"/>
                <a:sym typeface="Oswald"/>
              </a:rPr>
            </a:br>
            <a:r>
              <a:rPr lang="en-US" sz="1300">
                <a:solidFill>
                  <a:srgbClr val="5B0F00"/>
                </a:solidFill>
                <a:latin typeface="Oswald"/>
                <a:ea typeface="Oswald"/>
                <a:cs typeface="Oswald"/>
                <a:sym typeface="Oswald"/>
              </a:rPr>
              <a:t>Adjust the RGB values to match the original value (V):</a:t>
            </a:r>
            <a:endParaRPr sz="1300">
              <a:solidFill>
                <a:srgbClr val="5B0F00"/>
              </a:solidFill>
              <a:latin typeface="Oswald"/>
              <a:ea typeface="Oswald"/>
              <a:cs typeface="Oswald"/>
              <a:sym typeface="Oswald"/>
            </a:endParaRPr>
          </a:p>
          <a:p>
            <a:pPr indent="0" lvl="0" marL="0" rtl="0" algn="l">
              <a:spcBef>
                <a:spcPts val="0"/>
              </a:spcBef>
              <a:spcAft>
                <a:spcPts val="0"/>
              </a:spcAft>
              <a:buNone/>
            </a:pPr>
            <a:r>
              <a:t/>
            </a:r>
            <a:endParaRPr sz="1600">
              <a:solidFill>
                <a:srgbClr val="5B0F00"/>
              </a:solidFill>
              <a:latin typeface="Oswald"/>
              <a:ea typeface="Oswald"/>
              <a:cs typeface="Oswald"/>
              <a:sym typeface="Oswald"/>
            </a:endParaRPr>
          </a:p>
          <a:p>
            <a:pPr indent="0" lvl="0" marL="0" rtl="0" algn="l">
              <a:spcBef>
                <a:spcPts val="0"/>
              </a:spcBef>
              <a:spcAft>
                <a:spcPts val="0"/>
              </a:spcAft>
              <a:buNone/>
            </a:pPr>
            <a:r>
              <a:rPr b="1" lang="en-US" sz="1600">
                <a:solidFill>
                  <a:srgbClr val="5B0F00"/>
                </a:solidFill>
                <a:latin typeface="Oswald"/>
                <a:ea typeface="Oswald"/>
                <a:cs typeface="Oswald"/>
                <a:sym typeface="Oswald"/>
              </a:rPr>
              <a:t>R</a:t>
            </a:r>
            <a:r>
              <a:rPr b="1" baseline="30000" lang="en-US" sz="1600">
                <a:solidFill>
                  <a:srgbClr val="5B0F00"/>
                </a:solidFill>
                <a:latin typeface="Oswald"/>
                <a:ea typeface="Oswald"/>
                <a:cs typeface="Oswald"/>
                <a:sym typeface="Oswald"/>
              </a:rPr>
              <a:t>’</a:t>
            </a:r>
            <a:r>
              <a:rPr b="1" lang="en-US" sz="1600">
                <a:solidFill>
                  <a:srgbClr val="5B0F00"/>
                </a:solidFill>
                <a:latin typeface="Oswald"/>
                <a:ea typeface="Oswald"/>
                <a:cs typeface="Oswald"/>
                <a:sym typeface="Oswald"/>
              </a:rPr>
              <a:t>=(R+m), G</a:t>
            </a:r>
            <a:r>
              <a:rPr b="1" baseline="30000" lang="en-US" sz="1600">
                <a:solidFill>
                  <a:srgbClr val="5B0F00"/>
                </a:solidFill>
                <a:latin typeface="Oswald"/>
                <a:ea typeface="Oswald"/>
                <a:cs typeface="Oswald"/>
                <a:sym typeface="Oswald"/>
              </a:rPr>
              <a:t>’</a:t>
            </a:r>
            <a:r>
              <a:rPr b="1" lang="en-US" sz="1600">
                <a:solidFill>
                  <a:srgbClr val="5B0F00"/>
                </a:solidFill>
                <a:latin typeface="Oswald"/>
                <a:ea typeface="Oswald"/>
                <a:cs typeface="Oswald"/>
                <a:sym typeface="Oswald"/>
              </a:rPr>
              <a:t>=(G+m), B</a:t>
            </a:r>
            <a:r>
              <a:rPr b="1" baseline="30000" lang="en-US" sz="1600">
                <a:solidFill>
                  <a:srgbClr val="5B0F00"/>
                </a:solidFill>
                <a:latin typeface="Oswald"/>
                <a:ea typeface="Oswald"/>
                <a:cs typeface="Oswald"/>
                <a:sym typeface="Oswald"/>
              </a:rPr>
              <a:t>’</a:t>
            </a:r>
            <a:r>
              <a:rPr b="1" lang="en-US" sz="1600">
                <a:solidFill>
                  <a:srgbClr val="5B0F00"/>
                </a:solidFill>
                <a:latin typeface="Oswald"/>
                <a:ea typeface="Oswald"/>
                <a:cs typeface="Oswald"/>
                <a:sym typeface="Oswald"/>
              </a:rPr>
              <a:t>=(B+m)</a:t>
            </a:r>
            <a:endParaRPr b="1" sz="1600">
              <a:solidFill>
                <a:srgbClr val="5B0F00"/>
              </a:solidFill>
              <a:latin typeface="Oswald"/>
              <a:ea typeface="Oswald"/>
              <a:cs typeface="Oswald"/>
              <a:sym typeface="Oswa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51" name="Shape 251"/>
        <p:cNvGrpSpPr/>
        <p:nvPr/>
      </p:nvGrpSpPr>
      <p:grpSpPr>
        <a:xfrm>
          <a:off x="0" y="0"/>
          <a:ext cx="0" cy="0"/>
          <a:chOff x="0" y="0"/>
          <a:chExt cx="0" cy="0"/>
        </a:xfrm>
      </p:grpSpPr>
      <p:sp>
        <p:nvSpPr>
          <p:cNvPr id="252" name="Google Shape;252;g323f5061d74_0_88"/>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53" name="Google Shape;253;g323f5061d74_0_88"/>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54" name="Google Shape;254;g323f5061d74_0_88"/>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55" name="Google Shape;255;g323f5061d74_0_88"/>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HSV to RGB Conversion Example</a:t>
            </a:r>
            <a:endParaRPr b="1" sz="3400">
              <a:solidFill>
                <a:srgbClr val="5B0F00"/>
              </a:solidFill>
              <a:latin typeface="Oswald"/>
              <a:ea typeface="Oswald"/>
              <a:cs typeface="Oswald"/>
              <a:sym typeface="Oswald"/>
            </a:endParaRPr>
          </a:p>
        </p:txBody>
      </p:sp>
      <p:pic>
        <p:nvPicPr>
          <p:cNvPr id="256" name="Google Shape;256;g323f5061d74_0_88"/>
          <p:cNvPicPr preferRelativeResize="0"/>
          <p:nvPr/>
        </p:nvPicPr>
        <p:blipFill>
          <a:blip r:embed="rId4">
            <a:alphaModFix/>
          </a:blip>
          <a:stretch>
            <a:fillRect/>
          </a:stretch>
        </p:blipFill>
        <p:spPr>
          <a:xfrm>
            <a:off x="1994550" y="1020950"/>
            <a:ext cx="5154911" cy="56221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61" name="Shape 261"/>
        <p:cNvGrpSpPr/>
        <p:nvPr/>
      </p:nvGrpSpPr>
      <p:grpSpPr>
        <a:xfrm>
          <a:off x="0" y="0"/>
          <a:ext cx="0" cy="0"/>
          <a:chOff x="0" y="0"/>
          <a:chExt cx="0" cy="0"/>
        </a:xfrm>
      </p:grpSpPr>
      <p:sp>
        <p:nvSpPr>
          <p:cNvPr id="262" name="Google Shape;262;g323f5061d74_0_96"/>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63" name="Google Shape;263;g323f5061d74_0_96"/>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64" name="Google Shape;264;g323f5061d74_0_96"/>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65" name="Google Shape;265;g323f5061d74_0_96"/>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HSV Color Model Application</a:t>
            </a:r>
            <a:endParaRPr b="1" sz="3400">
              <a:solidFill>
                <a:srgbClr val="5B0F00"/>
              </a:solidFill>
              <a:latin typeface="Oswald"/>
              <a:ea typeface="Oswald"/>
              <a:cs typeface="Oswald"/>
              <a:sym typeface="Oswald"/>
            </a:endParaRPr>
          </a:p>
        </p:txBody>
      </p:sp>
      <p:sp>
        <p:nvSpPr>
          <p:cNvPr id="266" name="Google Shape;266;g323f5061d74_0_96"/>
          <p:cNvSpPr txBox="1"/>
          <p:nvPr/>
        </p:nvSpPr>
        <p:spPr>
          <a:xfrm>
            <a:off x="340475" y="1014450"/>
            <a:ext cx="7951800" cy="5315400"/>
          </a:xfrm>
          <a:prstGeom prst="rect">
            <a:avLst/>
          </a:prstGeom>
          <a:noFill/>
          <a:ln>
            <a:noFill/>
          </a:ln>
        </p:spPr>
        <p:txBody>
          <a:bodyPr anchorCtr="0" anchor="t" bIns="91425" lIns="91425" spcFirstLastPara="1" rIns="91425" wrap="square" tIns="91425">
            <a:noAutofit/>
          </a:bodyPr>
          <a:lstStyle/>
          <a:p>
            <a:pPr indent="-266700" lvl="0" marL="457200" rtl="0" algn="l">
              <a:spcBef>
                <a:spcPts val="360"/>
              </a:spcBef>
              <a:spcAft>
                <a:spcPts val="0"/>
              </a:spcAft>
              <a:buClr>
                <a:srgbClr val="5B0F00"/>
              </a:buClr>
              <a:buSzPts val="2000"/>
              <a:buAutoNum type="arabicPeriod"/>
            </a:pPr>
            <a:r>
              <a:rPr lang="en-US" sz="2200">
                <a:solidFill>
                  <a:srgbClr val="5B0F00"/>
                </a:solidFill>
                <a:latin typeface="Oswald"/>
                <a:ea typeface="Oswald"/>
                <a:cs typeface="Oswald"/>
                <a:sym typeface="Oswald"/>
              </a:rPr>
              <a:t>The HSV model is widely used in computer graphics for intuitive </a:t>
            </a:r>
            <a:r>
              <a:rPr b="1" lang="en-US" sz="2200">
                <a:solidFill>
                  <a:srgbClr val="5B0F00"/>
                </a:solidFill>
                <a:latin typeface="Oswald"/>
                <a:ea typeface="Oswald"/>
                <a:cs typeface="Oswald"/>
                <a:sym typeface="Oswald"/>
              </a:rPr>
              <a:t>color selection</a:t>
            </a:r>
            <a:r>
              <a:rPr lang="en-US" sz="2200">
                <a:solidFill>
                  <a:srgbClr val="5B0F00"/>
                </a:solidFill>
                <a:latin typeface="Oswald"/>
                <a:ea typeface="Oswald"/>
                <a:cs typeface="Oswald"/>
                <a:sym typeface="Oswald"/>
              </a:rPr>
              <a:t> in tools like color pickers and gradient design. </a:t>
            </a:r>
            <a:endParaRPr sz="3800">
              <a:solidFill>
                <a:srgbClr val="5B0F00"/>
              </a:solidFill>
              <a:latin typeface="Oswald"/>
              <a:ea typeface="Oswald"/>
              <a:cs typeface="Oswald"/>
              <a:sym typeface="Oswald"/>
            </a:endParaRPr>
          </a:p>
          <a:p>
            <a:pPr indent="-266700" lvl="0" marL="457200" rtl="0" algn="l">
              <a:spcBef>
                <a:spcPts val="360"/>
              </a:spcBef>
              <a:spcAft>
                <a:spcPts val="0"/>
              </a:spcAft>
              <a:buClr>
                <a:srgbClr val="5B0F00"/>
              </a:buClr>
              <a:buSzPts val="2000"/>
              <a:buAutoNum type="arabicPeriod"/>
            </a:pPr>
            <a:r>
              <a:rPr lang="en-US" sz="2200">
                <a:solidFill>
                  <a:srgbClr val="5B0F00"/>
                </a:solidFill>
                <a:latin typeface="Oswald"/>
                <a:ea typeface="Oswald"/>
                <a:cs typeface="Oswald"/>
                <a:sym typeface="Oswald"/>
              </a:rPr>
              <a:t>It aids in </a:t>
            </a:r>
            <a:r>
              <a:rPr b="1" lang="en-US" sz="2200">
                <a:solidFill>
                  <a:srgbClr val="5B0F00"/>
                </a:solidFill>
                <a:latin typeface="Oswald"/>
                <a:ea typeface="Oswald"/>
                <a:cs typeface="Oswald"/>
                <a:sym typeface="Oswald"/>
              </a:rPr>
              <a:t>image processing</a:t>
            </a:r>
            <a:r>
              <a:rPr lang="en-US" sz="2200">
                <a:solidFill>
                  <a:srgbClr val="5B0F00"/>
                </a:solidFill>
                <a:latin typeface="Oswald"/>
                <a:ea typeface="Oswald"/>
                <a:cs typeface="Oswald"/>
                <a:sym typeface="Oswald"/>
              </a:rPr>
              <a:t> tasks such as color-based filtering, segmentation, and thresholding.</a:t>
            </a:r>
            <a:endParaRPr sz="3800">
              <a:solidFill>
                <a:srgbClr val="5B0F00"/>
              </a:solidFill>
              <a:latin typeface="Oswald"/>
              <a:ea typeface="Oswald"/>
              <a:cs typeface="Oswald"/>
              <a:sym typeface="Oswald"/>
            </a:endParaRPr>
          </a:p>
          <a:p>
            <a:pPr indent="-266700" lvl="0" marL="457200" rtl="0" algn="l">
              <a:spcBef>
                <a:spcPts val="360"/>
              </a:spcBef>
              <a:spcAft>
                <a:spcPts val="0"/>
              </a:spcAft>
              <a:buClr>
                <a:srgbClr val="5B0F00"/>
              </a:buClr>
              <a:buSzPts val="2000"/>
              <a:buAutoNum type="arabicPeriod"/>
            </a:pPr>
            <a:r>
              <a:rPr lang="en-US" sz="2200">
                <a:solidFill>
                  <a:srgbClr val="5B0F00"/>
                </a:solidFill>
                <a:latin typeface="Oswald"/>
                <a:ea typeface="Oswald"/>
                <a:cs typeface="Oswald"/>
                <a:sym typeface="Oswald"/>
              </a:rPr>
              <a:t>In </a:t>
            </a:r>
            <a:r>
              <a:rPr b="1" lang="en-US" sz="2200">
                <a:solidFill>
                  <a:srgbClr val="5B0F00"/>
                </a:solidFill>
                <a:latin typeface="Oswald"/>
                <a:ea typeface="Oswald"/>
                <a:cs typeface="Oswald"/>
                <a:sym typeface="Oswald"/>
              </a:rPr>
              <a:t>shading, lighting, and special effects</a:t>
            </a:r>
            <a:r>
              <a:rPr lang="en-US" sz="2200">
                <a:solidFill>
                  <a:srgbClr val="5B0F00"/>
                </a:solidFill>
                <a:latin typeface="Oswald"/>
                <a:ea typeface="Oswald"/>
                <a:cs typeface="Oswald"/>
                <a:sym typeface="Oswald"/>
              </a:rPr>
              <a:t>, HSV simplifies dynamic adjustments and smooth color transitions.</a:t>
            </a:r>
            <a:endParaRPr sz="3800">
              <a:solidFill>
                <a:srgbClr val="5B0F00"/>
              </a:solidFill>
              <a:latin typeface="Oswald"/>
              <a:ea typeface="Oswald"/>
              <a:cs typeface="Oswald"/>
              <a:sym typeface="Oswald"/>
            </a:endParaRPr>
          </a:p>
          <a:p>
            <a:pPr indent="-266700" lvl="0" marL="457200" rtl="0" algn="l">
              <a:spcBef>
                <a:spcPts val="360"/>
              </a:spcBef>
              <a:spcAft>
                <a:spcPts val="0"/>
              </a:spcAft>
              <a:buClr>
                <a:srgbClr val="5B0F00"/>
              </a:buClr>
              <a:buSzPts val="2000"/>
              <a:buAutoNum type="arabicPeriod"/>
            </a:pPr>
            <a:r>
              <a:rPr lang="en-US" sz="2200">
                <a:solidFill>
                  <a:srgbClr val="5B0F00"/>
                </a:solidFill>
                <a:latin typeface="Oswald"/>
                <a:ea typeface="Oswald"/>
                <a:cs typeface="Oswald"/>
                <a:sym typeface="Oswald"/>
              </a:rPr>
              <a:t>It's critical for </a:t>
            </a:r>
            <a:r>
              <a:rPr b="1" lang="en-US" sz="2200">
                <a:solidFill>
                  <a:srgbClr val="5B0F00"/>
                </a:solidFill>
                <a:latin typeface="Oswald"/>
                <a:ea typeface="Oswald"/>
                <a:cs typeface="Oswald"/>
                <a:sym typeface="Oswald"/>
              </a:rPr>
              <a:t>color grading</a:t>
            </a:r>
            <a:r>
              <a:rPr lang="en-US" sz="2200">
                <a:solidFill>
                  <a:srgbClr val="5B0F00"/>
                </a:solidFill>
                <a:latin typeface="Oswald"/>
                <a:ea typeface="Oswald"/>
                <a:cs typeface="Oswald"/>
                <a:sym typeface="Oswald"/>
              </a:rPr>
              <a:t> in video editing and </a:t>
            </a:r>
            <a:r>
              <a:rPr b="1" lang="en-US" sz="2200">
                <a:solidFill>
                  <a:srgbClr val="5B0F00"/>
                </a:solidFill>
                <a:latin typeface="Oswald"/>
                <a:ea typeface="Oswald"/>
                <a:cs typeface="Oswald"/>
                <a:sym typeface="Oswald"/>
              </a:rPr>
              <a:t>data visualization</a:t>
            </a:r>
            <a:r>
              <a:rPr lang="en-US" sz="2200">
                <a:solidFill>
                  <a:srgbClr val="5B0F00"/>
                </a:solidFill>
                <a:latin typeface="Oswald"/>
                <a:ea typeface="Oswald"/>
                <a:cs typeface="Oswald"/>
                <a:sym typeface="Oswald"/>
              </a:rPr>
              <a:t>, mapping values to colors effectively. </a:t>
            </a:r>
            <a:endParaRPr sz="3800">
              <a:solidFill>
                <a:srgbClr val="5B0F00"/>
              </a:solidFill>
              <a:latin typeface="Oswald"/>
              <a:ea typeface="Oswald"/>
              <a:cs typeface="Oswald"/>
              <a:sym typeface="Oswald"/>
            </a:endParaRPr>
          </a:p>
          <a:p>
            <a:pPr indent="-266700" lvl="0" marL="457200" rtl="0" algn="l">
              <a:spcBef>
                <a:spcPts val="360"/>
              </a:spcBef>
              <a:spcAft>
                <a:spcPts val="0"/>
              </a:spcAft>
              <a:buClr>
                <a:srgbClr val="5B0F00"/>
              </a:buClr>
              <a:buSzPts val="2000"/>
              <a:buAutoNum type="arabicPeriod"/>
            </a:pPr>
            <a:r>
              <a:rPr lang="en-US" sz="2200">
                <a:solidFill>
                  <a:srgbClr val="5B0F00"/>
                </a:solidFill>
                <a:latin typeface="Oswald"/>
                <a:ea typeface="Oswald"/>
                <a:cs typeface="Oswald"/>
                <a:sym typeface="Oswald"/>
              </a:rPr>
              <a:t>Additionally, HSV is essential in </a:t>
            </a:r>
            <a:r>
              <a:rPr b="1" lang="en-US" sz="2200">
                <a:solidFill>
                  <a:srgbClr val="5B0F00"/>
                </a:solidFill>
                <a:latin typeface="Oswald"/>
                <a:ea typeface="Oswald"/>
                <a:cs typeface="Oswald"/>
                <a:sym typeface="Oswald"/>
              </a:rPr>
              <a:t>gaming, AR/VR, and AI applications</a:t>
            </a:r>
            <a:r>
              <a:rPr lang="en-US" sz="2200">
                <a:solidFill>
                  <a:srgbClr val="5B0F00"/>
                </a:solidFill>
                <a:latin typeface="Oswald"/>
                <a:ea typeface="Oswald"/>
                <a:cs typeface="Oswald"/>
                <a:sym typeface="Oswald"/>
              </a:rPr>
              <a:t>, where it supports object highlighting, procedural content generation, and feature extraction.</a:t>
            </a:r>
            <a:endParaRPr sz="2400">
              <a:solidFill>
                <a:srgbClr val="5B0F00"/>
              </a:solidFill>
              <a:latin typeface="Oswald"/>
              <a:ea typeface="Oswald"/>
              <a:cs typeface="Oswald"/>
              <a:sym typeface="Oswa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71" name="Shape 271"/>
        <p:cNvGrpSpPr/>
        <p:nvPr/>
      </p:nvGrpSpPr>
      <p:grpSpPr>
        <a:xfrm>
          <a:off x="0" y="0"/>
          <a:ext cx="0" cy="0"/>
          <a:chOff x="0" y="0"/>
          <a:chExt cx="0" cy="0"/>
        </a:xfrm>
      </p:grpSpPr>
      <p:sp>
        <p:nvSpPr>
          <p:cNvPr id="272" name="Google Shape;272;g323f5061d74_0_115"/>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73" name="Google Shape;273;g323f5061d74_0_115"/>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74" name="Google Shape;274;g323f5061d74_0_115"/>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75" name="Google Shape;275;g323f5061d74_0_115"/>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HLS Color Model </a:t>
            </a:r>
            <a:endParaRPr b="1" sz="3400">
              <a:solidFill>
                <a:srgbClr val="5B0F00"/>
              </a:solidFill>
              <a:latin typeface="Oswald"/>
              <a:ea typeface="Oswald"/>
              <a:cs typeface="Oswald"/>
              <a:sym typeface="Oswald"/>
            </a:endParaRPr>
          </a:p>
        </p:txBody>
      </p:sp>
      <p:sp>
        <p:nvSpPr>
          <p:cNvPr id="276" name="Google Shape;276;g323f5061d74_0_115"/>
          <p:cNvSpPr txBox="1"/>
          <p:nvPr/>
        </p:nvSpPr>
        <p:spPr>
          <a:xfrm>
            <a:off x="340475" y="1014450"/>
            <a:ext cx="7951800" cy="5315400"/>
          </a:xfrm>
          <a:prstGeom prst="rect">
            <a:avLst/>
          </a:prstGeom>
          <a:noFill/>
          <a:ln>
            <a:noFill/>
          </a:ln>
        </p:spPr>
        <p:txBody>
          <a:bodyPr anchorCtr="0" anchor="t" bIns="91425" lIns="91425" spcFirstLastPara="1" rIns="91425" wrap="square" tIns="91425">
            <a:noAutofit/>
          </a:bodyPr>
          <a:lstStyle/>
          <a:p>
            <a:pPr indent="-336550" lvl="0" marL="457200" rtl="0" algn="l">
              <a:spcBef>
                <a:spcPts val="360"/>
              </a:spcBef>
              <a:spcAft>
                <a:spcPts val="0"/>
              </a:spcAft>
              <a:buClr>
                <a:srgbClr val="5B0F00"/>
              </a:buClr>
              <a:buSzPts val="1700"/>
              <a:buFont typeface="Oswald"/>
              <a:buAutoNum type="arabicPeriod"/>
            </a:pPr>
            <a:r>
              <a:rPr lang="en-US" sz="1900">
                <a:solidFill>
                  <a:srgbClr val="5B0F00"/>
                </a:solidFill>
                <a:latin typeface="Oswald"/>
                <a:ea typeface="Oswald"/>
                <a:cs typeface="Oswald"/>
                <a:sym typeface="Oswald"/>
              </a:rPr>
              <a:t>HLS (Hue, Lightness, Saturation) – A cylindrical color model.</a:t>
            </a:r>
            <a:endParaRPr sz="3500">
              <a:solidFill>
                <a:srgbClr val="5B0F00"/>
              </a:solidFill>
              <a:latin typeface="Oswald"/>
              <a:ea typeface="Oswald"/>
              <a:cs typeface="Oswald"/>
              <a:sym typeface="Oswald"/>
            </a:endParaRPr>
          </a:p>
          <a:p>
            <a:pPr indent="-336550" lvl="0" marL="457200" rtl="0" algn="l">
              <a:spcBef>
                <a:spcPts val="360"/>
              </a:spcBef>
              <a:spcAft>
                <a:spcPts val="0"/>
              </a:spcAft>
              <a:buClr>
                <a:srgbClr val="5B0F00"/>
              </a:buClr>
              <a:buSzPts val="1700"/>
              <a:buFont typeface="Oswald"/>
              <a:buAutoNum type="arabicPeriod"/>
            </a:pPr>
            <a:r>
              <a:rPr lang="en-US" sz="1900">
                <a:solidFill>
                  <a:srgbClr val="5B0F00"/>
                </a:solidFill>
                <a:latin typeface="Oswald"/>
                <a:ea typeface="Oswald"/>
                <a:cs typeface="Oswald"/>
                <a:sym typeface="Oswald"/>
              </a:rPr>
              <a:t>Hue: Angle on the color wheel (e.g., 0° = red, 120° = green, 240° = blue). </a:t>
            </a:r>
            <a:br>
              <a:rPr lang="en-US" sz="1900">
                <a:solidFill>
                  <a:srgbClr val="5B0F00"/>
                </a:solidFill>
                <a:latin typeface="Oswald"/>
                <a:ea typeface="Oswald"/>
                <a:cs typeface="Oswald"/>
                <a:sym typeface="Oswald"/>
              </a:rPr>
            </a:br>
            <a:r>
              <a:rPr lang="en-US" sz="1900">
                <a:solidFill>
                  <a:srgbClr val="5B0F00"/>
                </a:solidFill>
                <a:latin typeface="Oswald"/>
                <a:ea typeface="Oswald"/>
                <a:cs typeface="Oswald"/>
                <a:sym typeface="Oswald"/>
              </a:rPr>
              <a:t>Lightness: 0=black,1=white,0.5=pure color. </a:t>
            </a:r>
            <a:br>
              <a:rPr lang="en-US" sz="1900">
                <a:solidFill>
                  <a:srgbClr val="5B0F00"/>
                </a:solidFill>
                <a:latin typeface="Oswald"/>
                <a:ea typeface="Oswald"/>
                <a:cs typeface="Oswald"/>
                <a:sym typeface="Oswald"/>
              </a:rPr>
            </a:br>
            <a:r>
              <a:rPr lang="en-US" sz="1900">
                <a:solidFill>
                  <a:srgbClr val="5B0F00"/>
                </a:solidFill>
                <a:latin typeface="Oswald"/>
                <a:ea typeface="Oswald"/>
                <a:cs typeface="Oswald"/>
                <a:sym typeface="Oswald"/>
              </a:rPr>
              <a:t>Saturation: 0=gray,1=fully vivid color</a:t>
            </a:r>
            <a:endParaRPr sz="3500">
              <a:solidFill>
                <a:srgbClr val="5B0F00"/>
              </a:solidFill>
              <a:latin typeface="Oswald"/>
              <a:ea typeface="Oswald"/>
              <a:cs typeface="Oswald"/>
              <a:sym typeface="Oswald"/>
            </a:endParaRPr>
          </a:p>
          <a:p>
            <a:pPr indent="-336550" lvl="0" marL="457200" rtl="0" algn="l">
              <a:spcBef>
                <a:spcPts val="360"/>
              </a:spcBef>
              <a:spcAft>
                <a:spcPts val="0"/>
              </a:spcAft>
              <a:buClr>
                <a:srgbClr val="5B0F00"/>
              </a:buClr>
              <a:buSzPts val="1700"/>
              <a:buFont typeface="Oswald"/>
              <a:buAutoNum type="arabicPeriod"/>
            </a:pPr>
            <a:r>
              <a:rPr b="1" lang="en-US" sz="1900">
                <a:solidFill>
                  <a:srgbClr val="5B0F00"/>
                </a:solidFill>
                <a:latin typeface="Oswald"/>
                <a:ea typeface="Oswald"/>
                <a:cs typeface="Oswald"/>
                <a:sym typeface="Oswald"/>
              </a:rPr>
              <a:t>Application: Image editing, color pickers, and design tools. Useful for adjusting brightness without altering color hue.</a:t>
            </a:r>
            <a:endParaRPr b="1" sz="2500">
              <a:solidFill>
                <a:srgbClr val="5B0F00"/>
              </a:solidFill>
              <a:latin typeface="Oswald"/>
              <a:ea typeface="Oswald"/>
              <a:cs typeface="Oswald"/>
              <a:sym typeface="Oswald"/>
            </a:endParaRPr>
          </a:p>
        </p:txBody>
      </p:sp>
      <p:pic>
        <p:nvPicPr>
          <p:cNvPr id="277" name="Google Shape;277;g323f5061d74_0_115"/>
          <p:cNvPicPr preferRelativeResize="0"/>
          <p:nvPr/>
        </p:nvPicPr>
        <p:blipFill>
          <a:blip r:embed="rId4">
            <a:alphaModFix/>
          </a:blip>
          <a:stretch>
            <a:fillRect/>
          </a:stretch>
        </p:blipFill>
        <p:spPr>
          <a:xfrm>
            <a:off x="915750" y="3093238"/>
            <a:ext cx="2476500" cy="3381375"/>
          </a:xfrm>
          <a:prstGeom prst="rect">
            <a:avLst/>
          </a:prstGeom>
          <a:noFill/>
          <a:ln>
            <a:noFill/>
          </a:ln>
        </p:spPr>
      </p:pic>
      <p:pic>
        <p:nvPicPr>
          <p:cNvPr id="278" name="Google Shape;278;g323f5061d74_0_115"/>
          <p:cNvPicPr preferRelativeResize="0"/>
          <p:nvPr/>
        </p:nvPicPr>
        <p:blipFill>
          <a:blip r:embed="rId5">
            <a:alphaModFix/>
          </a:blip>
          <a:stretch>
            <a:fillRect/>
          </a:stretch>
        </p:blipFill>
        <p:spPr>
          <a:xfrm>
            <a:off x="4650250" y="2994725"/>
            <a:ext cx="3288025" cy="3683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83" name="Shape 283"/>
        <p:cNvGrpSpPr/>
        <p:nvPr/>
      </p:nvGrpSpPr>
      <p:grpSpPr>
        <a:xfrm>
          <a:off x="0" y="0"/>
          <a:ext cx="0" cy="0"/>
          <a:chOff x="0" y="0"/>
          <a:chExt cx="0" cy="0"/>
        </a:xfrm>
      </p:grpSpPr>
      <p:sp>
        <p:nvSpPr>
          <p:cNvPr id="284" name="Google Shape;284;g323f5061d74_0_126"/>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85" name="Google Shape;285;g323f5061d74_0_126"/>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86" name="Google Shape;286;g323f5061d74_0_126"/>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87" name="Google Shape;287;g323f5061d74_0_126"/>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HSV - HLS Comparison</a:t>
            </a:r>
            <a:endParaRPr b="1" sz="3400">
              <a:solidFill>
                <a:srgbClr val="5B0F00"/>
              </a:solidFill>
              <a:latin typeface="Oswald"/>
              <a:ea typeface="Oswald"/>
              <a:cs typeface="Oswald"/>
              <a:sym typeface="Oswald"/>
            </a:endParaRPr>
          </a:p>
        </p:txBody>
      </p:sp>
      <p:pic>
        <p:nvPicPr>
          <p:cNvPr id="288" name="Google Shape;288;g323f5061d74_0_126"/>
          <p:cNvPicPr preferRelativeResize="0"/>
          <p:nvPr/>
        </p:nvPicPr>
        <p:blipFill rotWithShape="1">
          <a:blip r:embed="rId4">
            <a:alphaModFix/>
          </a:blip>
          <a:srcRect b="0" l="18086" r="0" t="0"/>
          <a:stretch/>
        </p:blipFill>
        <p:spPr>
          <a:xfrm>
            <a:off x="1361850" y="1041800"/>
            <a:ext cx="6705000" cy="5404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293" name="Shape 293"/>
        <p:cNvGrpSpPr/>
        <p:nvPr/>
      </p:nvGrpSpPr>
      <p:grpSpPr>
        <a:xfrm>
          <a:off x="0" y="0"/>
          <a:ext cx="0" cy="0"/>
          <a:chOff x="0" y="0"/>
          <a:chExt cx="0" cy="0"/>
        </a:xfrm>
      </p:grpSpPr>
      <p:sp>
        <p:nvSpPr>
          <p:cNvPr id="294" name="Google Shape;294;g323f5061d74_0_138"/>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295" name="Google Shape;295;g323f5061d74_0_138"/>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296" name="Google Shape;296;g323f5061d74_0_138"/>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297" name="Google Shape;297;g323f5061d74_0_138"/>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RGB to HLS Conversion</a:t>
            </a:r>
            <a:endParaRPr b="1" sz="3400">
              <a:solidFill>
                <a:srgbClr val="5B0F00"/>
              </a:solidFill>
              <a:latin typeface="Oswald"/>
              <a:ea typeface="Oswald"/>
              <a:cs typeface="Oswald"/>
              <a:sym typeface="Oswald"/>
            </a:endParaRPr>
          </a:p>
        </p:txBody>
      </p:sp>
      <p:sp>
        <p:nvSpPr>
          <p:cNvPr id="298" name="Google Shape;298;g323f5061d74_0_138"/>
          <p:cNvSpPr txBox="1"/>
          <p:nvPr/>
        </p:nvSpPr>
        <p:spPr>
          <a:xfrm>
            <a:off x="319625" y="825250"/>
            <a:ext cx="8233800" cy="5709900"/>
          </a:xfrm>
          <a:prstGeom prst="rect">
            <a:avLst/>
          </a:prstGeom>
          <a:noFill/>
          <a:ln>
            <a:noFill/>
          </a:ln>
        </p:spPr>
        <p:txBody>
          <a:bodyPr anchorCtr="0" anchor="t" bIns="91425" lIns="91425" spcFirstLastPara="1" rIns="91425" wrap="square" tIns="91425">
            <a:noAutofit/>
          </a:bodyPr>
          <a:lstStyle/>
          <a:p>
            <a:pPr indent="-361950" lvl="0" marL="685800" rtl="0" algn="l">
              <a:lnSpc>
                <a:spcPct val="158000"/>
              </a:lnSpc>
              <a:spcBef>
                <a:spcPts val="800"/>
              </a:spcBef>
              <a:spcAft>
                <a:spcPts val="0"/>
              </a:spcAft>
              <a:buClr>
                <a:srgbClr val="5B0F00"/>
              </a:buClr>
              <a:buSzPts val="1500"/>
              <a:buFont typeface="Oswald"/>
              <a:buAutoNum type="arabicPeriod"/>
            </a:pPr>
            <a:r>
              <a:rPr lang="en-US" sz="1500">
                <a:solidFill>
                  <a:srgbClr val="5B0F00"/>
                </a:solidFill>
                <a:latin typeface="Oswald"/>
                <a:ea typeface="Oswald"/>
                <a:cs typeface="Oswald"/>
                <a:sym typeface="Oswald"/>
              </a:rPr>
              <a:t>Normalise</a:t>
            </a:r>
            <a:endParaRPr sz="1500">
              <a:solidFill>
                <a:srgbClr val="5B0F00"/>
              </a:solidFill>
              <a:latin typeface="Oswald"/>
              <a:ea typeface="Oswald"/>
              <a:cs typeface="Oswald"/>
              <a:sym typeface="Oswald"/>
            </a:endParaRPr>
          </a:p>
          <a:p>
            <a:pPr indent="-361950" lvl="0" marL="685800" rtl="0" algn="l">
              <a:lnSpc>
                <a:spcPct val="158000"/>
              </a:lnSpc>
              <a:spcBef>
                <a:spcPts val="800"/>
              </a:spcBef>
              <a:spcAft>
                <a:spcPts val="0"/>
              </a:spcAft>
              <a:buClr>
                <a:srgbClr val="5B0F00"/>
              </a:buClr>
              <a:buSzPts val="1500"/>
              <a:buFont typeface="Oswald"/>
              <a:buAutoNum type="arabicPeriod"/>
            </a:pPr>
            <a:r>
              <a:rPr lang="en-US" sz="1500">
                <a:solidFill>
                  <a:srgbClr val="5B0F00"/>
                </a:solidFill>
                <a:latin typeface="Oswald"/>
                <a:ea typeface="Oswald"/>
                <a:cs typeface="Oswald"/>
                <a:sym typeface="Oswald"/>
              </a:rPr>
              <a:t>Compute cmax, cmin, difference</a:t>
            </a:r>
            <a:endParaRPr sz="1500">
              <a:solidFill>
                <a:srgbClr val="5B0F00"/>
              </a:solidFill>
              <a:latin typeface="Oswald"/>
              <a:ea typeface="Oswald"/>
              <a:cs typeface="Oswald"/>
              <a:sym typeface="Oswald"/>
            </a:endParaRPr>
          </a:p>
          <a:p>
            <a:pPr indent="-361950" lvl="0" marL="685800" rtl="0" algn="l">
              <a:lnSpc>
                <a:spcPct val="158000"/>
              </a:lnSpc>
              <a:spcBef>
                <a:spcPts val="800"/>
              </a:spcBef>
              <a:spcAft>
                <a:spcPts val="0"/>
              </a:spcAft>
              <a:buClr>
                <a:srgbClr val="5B0F00"/>
              </a:buClr>
              <a:buSzPts val="1500"/>
              <a:buFont typeface="Oswald"/>
              <a:buAutoNum type="arabicPeriod"/>
            </a:pPr>
            <a:r>
              <a:rPr lang="en-US" sz="1500">
                <a:solidFill>
                  <a:srgbClr val="5B0F00"/>
                </a:solidFill>
                <a:latin typeface="Oswald"/>
                <a:ea typeface="Oswald"/>
                <a:cs typeface="Oswald"/>
                <a:sym typeface="Oswald"/>
              </a:rPr>
              <a:t>L = (cmax + cmin) / 2</a:t>
            </a:r>
            <a:endParaRPr sz="1500">
              <a:solidFill>
                <a:srgbClr val="5B0F00"/>
              </a:solidFill>
              <a:latin typeface="Oswald"/>
              <a:ea typeface="Oswald"/>
              <a:cs typeface="Oswald"/>
              <a:sym typeface="Oswald"/>
            </a:endParaRPr>
          </a:p>
          <a:p>
            <a:pPr indent="-361950" lvl="0" marL="685800" rtl="0" algn="l">
              <a:lnSpc>
                <a:spcPct val="158000"/>
              </a:lnSpc>
              <a:spcBef>
                <a:spcPts val="0"/>
              </a:spcBef>
              <a:spcAft>
                <a:spcPts val="0"/>
              </a:spcAft>
              <a:buClr>
                <a:srgbClr val="5B0F00"/>
              </a:buClr>
              <a:buSzPts val="1500"/>
              <a:buFont typeface="Oswald"/>
              <a:buAutoNum type="arabicPeriod"/>
            </a:pPr>
            <a:r>
              <a:rPr lang="en-US" sz="1500">
                <a:solidFill>
                  <a:srgbClr val="5B0F00"/>
                </a:solidFill>
                <a:latin typeface="Oswald"/>
                <a:ea typeface="Oswald"/>
                <a:cs typeface="Oswald"/>
                <a:sym typeface="Oswald"/>
              </a:rPr>
              <a:t>Hue calculation : </a:t>
            </a:r>
            <a:endParaRPr sz="33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diff = 0, then h = 0</a:t>
            </a:r>
            <a:endParaRPr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cmax equal r then compute H = </a:t>
            </a:r>
            <a:r>
              <a:rPr b="1" lang="en-US" sz="1500">
                <a:solidFill>
                  <a:srgbClr val="5B0F00"/>
                </a:solidFill>
                <a:latin typeface="Oswald"/>
                <a:ea typeface="Oswald"/>
                <a:cs typeface="Oswald"/>
                <a:sym typeface="Oswald"/>
              </a:rPr>
              <a:t>(g – b) / diff</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cmax equal g then compute H = </a:t>
            </a:r>
            <a:r>
              <a:rPr b="1" lang="en-US" sz="1500">
                <a:solidFill>
                  <a:srgbClr val="5B0F00"/>
                </a:solidFill>
                <a:latin typeface="Oswald"/>
                <a:ea typeface="Oswald"/>
                <a:cs typeface="Oswald"/>
                <a:sym typeface="Oswald"/>
              </a:rPr>
              <a:t>2 + (b – r) / diff</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Char char="o"/>
            </a:pPr>
            <a:r>
              <a:rPr lang="en-US" sz="1500">
                <a:solidFill>
                  <a:srgbClr val="5B0F00"/>
                </a:solidFill>
                <a:latin typeface="Oswald"/>
                <a:ea typeface="Oswald"/>
                <a:cs typeface="Oswald"/>
                <a:sym typeface="Oswald"/>
              </a:rPr>
              <a:t>if cmax equal b then compute H = </a:t>
            </a:r>
            <a:r>
              <a:rPr b="1" lang="en-US" sz="1500">
                <a:solidFill>
                  <a:srgbClr val="5B0F00"/>
                </a:solidFill>
                <a:latin typeface="Oswald"/>
                <a:ea typeface="Oswald"/>
                <a:cs typeface="Oswald"/>
                <a:sym typeface="Oswald"/>
              </a:rPr>
              <a:t>4 + (r – g) / diff</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AutoNum type="arabicPeriod"/>
            </a:pPr>
            <a:r>
              <a:rPr b="1" lang="en-US" sz="1500">
                <a:solidFill>
                  <a:srgbClr val="5B0F00"/>
                </a:solidFill>
                <a:latin typeface="Oswald"/>
                <a:ea typeface="Oswald"/>
                <a:cs typeface="Oswald"/>
                <a:sym typeface="Oswald"/>
              </a:rPr>
              <a:t>H</a:t>
            </a:r>
            <a:r>
              <a:rPr b="1" lang="en-US" sz="1500">
                <a:solidFill>
                  <a:srgbClr val="5B0F00"/>
                </a:solidFill>
                <a:latin typeface="Oswald"/>
                <a:ea typeface="Oswald"/>
                <a:cs typeface="Oswald"/>
                <a:sym typeface="Oswald"/>
              </a:rPr>
              <a:t> = H * 60</a:t>
            </a:r>
            <a:endParaRPr b="1"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1500"/>
              <a:buFont typeface="Oswald"/>
              <a:buAutoNum type="arabicPeriod"/>
            </a:pPr>
            <a:r>
              <a:rPr b="1" lang="en-US" sz="1500">
                <a:solidFill>
                  <a:srgbClr val="5B0F00"/>
                </a:solidFill>
                <a:latin typeface="Oswald"/>
                <a:ea typeface="Oswald"/>
                <a:cs typeface="Oswald"/>
                <a:sym typeface="Oswald"/>
              </a:rPr>
              <a:t>if H &lt; 0 → H = H + 360</a:t>
            </a:r>
            <a:endParaRPr b="1" sz="2900">
              <a:solidFill>
                <a:srgbClr val="5B0F00"/>
              </a:solidFill>
              <a:latin typeface="Oswald"/>
              <a:ea typeface="Oswald"/>
              <a:cs typeface="Oswald"/>
              <a:sym typeface="Oswald"/>
            </a:endParaRPr>
          </a:p>
          <a:p>
            <a:pPr indent="-361950" lvl="0" marL="685800" rtl="0" algn="l">
              <a:lnSpc>
                <a:spcPct val="158000"/>
              </a:lnSpc>
              <a:spcBef>
                <a:spcPts val="800"/>
              </a:spcBef>
              <a:spcAft>
                <a:spcPts val="0"/>
              </a:spcAft>
              <a:buClr>
                <a:srgbClr val="5B0F00"/>
              </a:buClr>
              <a:buSzPts val="1500"/>
              <a:buFont typeface="Oswald"/>
              <a:buAutoNum type="arabicPeriod" startAt="4"/>
            </a:pPr>
            <a:r>
              <a:rPr lang="en-US" sz="1500">
                <a:solidFill>
                  <a:srgbClr val="5B0F00"/>
                </a:solidFill>
                <a:latin typeface="Oswald"/>
                <a:ea typeface="Oswald"/>
                <a:cs typeface="Oswald"/>
                <a:sym typeface="Oswald"/>
              </a:rPr>
              <a:t>Saturation computation :</a:t>
            </a:r>
            <a:endParaRPr sz="33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2100"/>
              <a:buFont typeface="Oswald"/>
              <a:buChar char="○"/>
            </a:pPr>
            <a:r>
              <a:rPr lang="en-US" sz="1500">
                <a:solidFill>
                  <a:srgbClr val="5B0F00"/>
                </a:solidFill>
                <a:latin typeface="Oswald"/>
                <a:ea typeface="Oswald"/>
                <a:cs typeface="Oswald"/>
                <a:sym typeface="Oswald"/>
              </a:rPr>
              <a:t>if diff = 0, then S = 0</a:t>
            </a:r>
            <a:endParaRPr sz="2900">
              <a:solidFill>
                <a:srgbClr val="5B0F00"/>
              </a:solidFill>
              <a:latin typeface="Oswald"/>
              <a:ea typeface="Oswald"/>
              <a:cs typeface="Oswald"/>
              <a:sym typeface="Oswald"/>
            </a:endParaRPr>
          </a:p>
          <a:p>
            <a:pPr indent="-361950" lvl="1" marL="1371600" rtl="0" algn="l">
              <a:lnSpc>
                <a:spcPct val="158000"/>
              </a:lnSpc>
              <a:spcBef>
                <a:spcPts val="0"/>
              </a:spcBef>
              <a:spcAft>
                <a:spcPts val="0"/>
              </a:spcAft>
              <a:buClr>
                <a:srgbClr val="5B0F00"/>
              </a:buClr>
              <a:buSzPts val="2100"/>
              <a:buFont typeface="Oswald"/>
              <a:buChar char="○"/>
            </a:pPr>
            <a:r>
              <a:rPr lang="en-US" sz="1500">
                <a:solidFill>
                  <a:srgbClr val="5B0F00"/>
                </a:solidFill>
                <a:latin typeface="Oswald"/>
                <a:ea typeface="Oswald"/>
                <a:cs typeface="Oswald"/>
                <a:sym typeface="Oswald"/>
              </a:rPr>
              <a:t>S = diff/(cmax + cmin)  if L &lt;= 0.5</a:t>
            </a:r>
            <a:endParaRPr sz="1500">
              <a:solidFill>
                <a:srgbClr val="5B0F00"/>
              </a:solidFill>
              <a:latin typeface="Oswald"/>
              <a:ea typeface="Oswald"/>
              <a:cs typeface="Oswald"/>
              <a:sym typeface="Oswald"/>
            </a:endParaRPr>
          </a:p>
          <a:p>
            <a:pPr indent="-323850" lvl="1" marL="1371600" rtl="0" algn="l">
              <a:lnSpc>
                <a:spcPct val="158000"/>
              </a:lnSpc>
              <a:spcBef>
                <a:spcPts val="0"/>
              </a:spcBef>
              <a:spcAft>
                <a:spcPts val="0"/>
              </a:spcAft>
              <a:buClr>
                <a:srgbClr val="5B0F00"/>
              </a:buClr>
              <a:buSzPts val="1500"/>
              <a:buFont typeface="Oswald"/>
              <a:buChar char="○"/>
            </a:pPr>
            <a:r>
              <a:rPr lang="en-US" sz="1500">
                <a:solidFill>
                  <a:srgbClr val="5B0F00"/>
                </a:solidFill>
                <a:latin typeface="Oswald"/>
                <a:ea typeface="Oswald"/>
                <a:cs typeface="Oswald"/>
                <a:sym typeface="Oswald"/>
              </a:rPr>
              <a:t>S = diff/[2- (cmax + cmin)] if L &gt; 0.5</a:t>
            </a:r>
            <a:endParaRPr sz="1500">
              <a:solidFill>
                <a:srgbClr val="5B0F00"/>
              </a:solidFill>
              <a:latin typeface="Oswald"/>
              <a:ea typeface="Oswald"/>
              <a:cs typeface="Oswald"/>
              <a:sym typeface="Oswa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303" name="Shape 303"/>
        <p:cNvGrpSpPr/>
        <p:nvPr/>
      </p:nvGrpSpPr>
      <p:grpSpPr>
        <a:xfrm>
          <a:off x="0" y="0"/>
          <a:ext cx="0" cy="0"/>
          <a:chOff x="0" y="0"/>
          <a:chExt cx="0" cy="0"/>
        </a:xfrm>
      </p:grpSpPr>
      <p:sp>
        <p:nvSpPr>
          <p:cNvPr id="304" name="Google Shape;304;g323f5061d74_0_147"/>
          <p:cNvSpPr txBox="1"/>
          <p:nvPr>
            <p:ph idx="12" type="sldNum"/>
          </p:nvPr>
        </p:nvSpPr>
        <p:spPr>
          <a:xfrm>
            <a:off x="8490250" y="6241350"/>
            <a:ext cx="5634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en-US" sz="1800">
                <a:solidFill>
                  <a:srgbClr val="5B0F00"/>
                </a:solidFill>
              </a:rPr>
              <a:t>‹#›</a:t>
            </a:fld>
            <a:endParaRPr b="1" sz="2200">
              <a:solidFill>
                <a:srgbClr val="5B0F00"/>
              </a:solidFill>
            </a:endParaRPr>
          </a:p>
        </p:txBody>
      </p:sp>
      <p:pic>
        <p:nvPicPr>
          <p:cNvPr id="305" name="Google Shape;305;g323f5061d74_0_147"/>
          <p:cNvPicPr preferRelativeResize="0"/>
          <p:nvPr/>
        </p:nvPicPr>
        <p:blipFill>
          <a:blip r:embed="rId3">
            <a:alphaModFix/>
          </a:blip>
          <a:stretch>
            <a:fillRect/>
          </a:stretch>
        </p:blipFill>
        <p:spPr>
          <a:xfrm>
            <a:off x="8292275" y="184450"/>
            <a:ext cx="667500" cy="640800"/>
          </a:xfrm>
          <a:prstGeom prst="rect">
            <a:avLst/>
          </a:prstGeom>
          <a:noFill/>
          <a:ln>
            <a:noFill/>
          </a:ln>
        </p:spPr>
      </p:pic>
      <p:cxnSp>
        <p:nvCxnSpPr>
          <p:cNvPr id="306" name="Google Shape;306;g323f5061d74_0_147"/>
          <p:cNvCxnSpPr/>
          <p:nvPr/>
        </p:nvCxnSpPr>
        <p:spPr>
          <a:xfrm flipH="1" rot="10800000">
            <a:off x="319625" y="910375"/>
            <a:ext cx="6107700" cy="20700"/>
          </a:xfrm>
          <a:prstGeom prst="straightConnector1">
            <a:avLst/>
          </a:prstGeom>
          <a:noFill/>
          <a:ln cap="flat" cmpd="sng" w="9525">
            <a:solidFill>
              <a:srgbClr val="5B0F00"/>
            </a:solidFill>
            <a:prstDash val="solid"/>
            <a:round/>
            <a:headEnd len="med" w="med" type="none"/>
            <a:tailEnd len="med" w="med" type="none"/>
          </a:ln>
        </p:spPr>
      </p:cxnSp>
      <p:sp>
        <p:nvSpPr>
          <p:cNvPr id="307" name="Google Shape;307;g323f5061d74_0_147"/>
          <p:cNvSpPr txBox="1"/>
          <p:nvPr/>
        </p:nvSpPr>
        <p:spPr>
          <a:xfrm>
            <a:off x="361325" y="290275"/>
            <a:ext cx="6024300" cy="64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rgbClr val="5B0F00"/>
                </a:solidFill>
                <a:latin typeface="Oswald"/>
                <a:ea typeface="Oswald"/>
                <a:cs typeface="Oswald"/>
                <a:sym typeface="Oswald"/>
              </a:rPr>
              <a:t>RGB to HLS Conversion Example</a:t>
            </a:r>
            <a:endParaRPr b="1" sz="3400">
              <a:solidFill>
                <a:srgbClr val="5B0F00"/>
              </a:solidFill>
              <a:latin typeface="Oswald"/>
              <a:ea typeface="Oswald"/>
              <a:cs typeface="Oswald"/>
              <a:sym typeface="Oswald"/>
            </a:endParaRPr>
          </a:p>
        </p:txBody>
      </p:sp>
      <p:pic>
        <p:nvPicPr>
          <p:cNvPr id="308" name="Google Shape;308;g323f5061d74_0_147"/>
          <p:cNvPicPr preferRelativeResize="0"/>
          <p:nvPr/>
        </p:nvPicPr>
        <p:blipFill>
          <a:blip r:embed="rId4">
            <a:alphaModFix/>
          </a:blip>
          <a:stretch>
            <a:fillRect/>
          </a:stretch>
        </p:blipFill>
        <p:spPr>
          <a:xfrm>
            <a:off x="1267075" y="1143925"/>
            <a:ext cx="6609847" cy="56221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2005-12-05T11:35:29Z</dcterms:created>
  <dc:creator>Brian Mac Namee</dc:creator>
</cp:coreProperties>
</file>