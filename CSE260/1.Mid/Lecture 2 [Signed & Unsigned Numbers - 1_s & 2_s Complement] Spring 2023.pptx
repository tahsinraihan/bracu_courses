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ml" Extension="xml"/>
  <Default ContentType="image/png" Extension="png"/>
  <Default ContentType="application/msword" Extension="doc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msword" PartName="/ppt/embeddings/Microsoft_Office_Word_97_-_2003_Document8.doc"/>
  <Override ContentType="application/msword" PartName="/ppt/embeddings/Microsoft_Office_Word_97_-_2003_Document3.doc"/>
  <Override ContentType="application/msword" PartName="/ppt/embeddings/Microsoft_Office_Word_97_-_2003_Document2.doc"/>
  <Override ContentType="application/msword" PartName="/ppt/embeddings/Microsoft_Office_Word_97_-_2003_Document1.doc"/>
  <Override ContentType="application/msword" PartName="/ppt/embeddings/Microsoft_Office_Word_97_-_2003_Document4.doc"/>
  <Override ContentType="application/msword" PartName="/ppt/embeddings/Microsoft_Office_Word_97_-_2003_Document7.doc"/>
  <Override ContentType="application/msword" PartName="/ppt/embeddings/Microsoft_Office_Word_97_-_2003_Document6.doc"/>
  <Override ContentType="application/msword" PartName="/ppt/embeddings/Microsoft_Office_Word_97_-_2003_Document5.doc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j86UWRPiIQKfQ/T4qYAIjcgTJR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2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60462" y="746125"/>
            <a:ext cx="4549775" cy="341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643437"/>
            <a:ext cx="5486400" cy="439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01111111 = +127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01111110 = +126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01111101 = +125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00000001 =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00000000 = 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11111111 = 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10000010 = -126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10000001 = -127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10000000 = -128</a:t>
            </a:r>
            <a:endParaRPr/>
          </a:p>
        </p:txBody>
      </p:sp>
      <p:sp>
        <p:nvSpPr>
          <p:cNvPr id="237" name="Google Shape;237;p1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4e281dd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e4e281dd9f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7" name="Google Shape;37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8" name="Google Shape;38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9" name="Google Shape;39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0" name="Google Shape;40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71" name="Google Shape;71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7" name="Google Shape;87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8" name="Google Shape;88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1.doc"/><Relationship Id="rId5" Type="http://schemas.openxmlformats.org/officeDocument/2006/relationships/oleObject" Target="../embeddings/Microsoft_Office_Word_97_-_2003_Document1.doc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Microsoft_Office_Word_97_-_2003_Document2.doc"/><Relationship Id="rId5" Type="http://schemas.openxmlformats.org/officeDocument/2006/relationships/oleObject" Target="../embeddings/Microsoft_Office_Word_97_-_2003_Document2.doc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Microsoft_Office_Word_97_-_2003_Document3.doc"/><Relationship Id="rId5" Type="http://schemas.openxmlformats.org/officeDocument/2006/relationships/oleObject" Target="../embeddings/Microsoft_Office_Word_97_-_2003_Document3.doc"/><Relationship Id="rId6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Microsoft_Office_Word_97_-_2003_Document4.doc"/><Relationship Id="rId5" Type="http://schemas.openxmlformats.org/officeDocument/2006/relationships/oleObject" Target="../embeddings/Microsoft_Office_Word_97_-_2003_Document4.doc"/><Relationship Id="rId6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Microsoft_Office_Word_97_-_2003_Document5.doc"/><Relationship Id="rId9" Type="http://schemas.openxmlformats.org/officeDocument/2006/relationships/image" Target="../media/image12.png"/><Relationship Id="rId5" Type="http://schemas.openxmlformats.org/officeDocument/2006/relationships/oleObject" Target="../embeddings/Microsoft_Office_Word_97_-_2003_Document5.doc"/><Relationship Id="rId6" Type="http://schemas.openxmlformats.org/officeDocument/2006/relationships/image" Target="../media/image5.png"/><Relationship Id="rId7" Type="http://schemas.openxmlformats.org/officeDocument/2006/relationships/oleObject" Target="../embeddings/Microsoft_Office_Word_97_-_2003_Document6.doc"/><Relationship Id="rId8" Type="http://schemas.openxmlformats.org/officeDocument/2006/relationships/oleObject" Target="../embeddings/Microsoft_Office_Word_97_-_2003_Document6.doc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Microsoft_Office_Word_97_-_2003_Document7.doc"/><Relationship Id="rId9" Type="http://schemas.openxmlformats.org/officeDocument/2006/relationships/image" Target="../media/image11.png"/><Relationship Id="rId5" Type="http://schemas.openxmlformats.org/officeDocument/2006/relationships/oleObject" Target="../embeddings/Microsoft_Office_Word_97_-_2003_Document7.doc"/><Relationship Id="rId6" Type="http://schemas.openxmlformats.org/officeDocument/2006/relationships/image" Target="../media/image9.png"/><Relationship Id="rId7" Type="http://schemas.openxmlformats.org/officeDocument/2006/relationships/oleObject" Target="../embeddings/Microsoft_Office_Word_97_-_2003_Document8.doc"/><Relationship Id="rId8" Type="http://schemas.openxmlformats.org/officeDocument/2006/relationships/oleObject" Target="../embeddings/Microsoft_Office_Word_97_-_2003_Document8.doc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228600" y="838200"/>
            <a:ext cx="8610600" cy="7270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 260 : </a:t>
            </a:r>
            <a:r>
              <a:rPr b="1" i="0" lang="en-US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/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685800" y="2246312"/>
            <a:ext cx="7772400" cy="760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Number Systems and Codes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Coded Decimal (BCD)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 numbers are more natural to humans.  Binary numbers are natural to computers.  Quite expensive to convert between the two.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little calculation is involved, we can use some </a:t>
            </a:r>
            <a:r>
              <a:rPr b="0" i="1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coding schemes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decimal numbers.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such scheme is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also known as the </a:t>
            </a:r>
            <a:r>
              <a:rPr b="0" i="1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8421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code.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each decimal digit as a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4-bit binary code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65100" lvl="0" marL="342900" rtl="0" algn="l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Coded Decimal (BCD)</a:t>
            </a:r>
            <a:endParaRPr/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838200" y="1371600"/>
          <a:ext cx="7251700" cy="1312862"/>
        </p:xfrm>
        <a:graphic>
          <a:graphicData uri="http://schemas.openxmlformats.org/presentationml/2006/ole">
            <mc:AlternateContent>
              <mc:Choice Requires="v">
                <p:oleObj r:id="rId4" imgH="1312862" imgW="7251700" progId="Word.Document.8" spid="_x0000_s1">
                  <p:embed/>
                </p:oleObj>
              </mc:Choice>
              <mc:Fallback>
                <p:oleObj r:id="rId5" imgH="1312862" imgW="7251700" progId="Word.Document.8">
                  <p:embed/>
                  <p:pic>
                    <p:nvPicPr>
                      <p:cNvPr id="109" name="Google Shape;109;p3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371600"/>
                        <a:ext cx="7251700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Google Shape;110;p3"/>
          <p:cNvSpPr txBox="1"/>
          <p:nvPr/>
        </p:nvSpPr>
        <p:spPr>
          <a:xfrm>
            <a:off x="577850" y="2611437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known as the </a:t>
            </a:r>
            <a:r>
              <a:rPr b="0" i="1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8421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each decimal digit as a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4-bit binary code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codes are unused, eg: (1010)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(1011) 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(1111) 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These codes are considered as errors.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convert, but arithmetic operations are more complicated.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interfaces such as keypad inputs and digital readouts.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Coded Decimal (BCD)</a:t>
            </a:r>
            <a:endParaRPr/>
          </a:p>
        </p:txBody>
      </p:sp>
      <p:graphicFrame>
        <p:nvGraphicFramePr>
          <p:cNvPr id="116" name="Google Shape;116;p4"/>
          <p:cNvGraphicFramePr/>
          <p:nvPr/>
        </p:nvGraphicFramePr>
        <p:xfrm>
          <a:off x="685800" y="1219200"/>
          <a:ext cx="7251700" cy="1312862"/>
        </p:xfrm>
        <a:graphic>
          <a:graphicData uri="http://schemas.openxmlformats.org/presentationml/2006/ole">
            <mc:AlternateContent>
              <mc:Choice Requires="v">
                <p:oleObj r:id="rId4" imgH="1312862" imgW="7251700" progId="Word.Document.8" spid="_x0000_s1">
                  <p:embed/>
                </p:oleObj>
              </mc:Choice>
              <mc:Fallback>
                <p:oleObj r:id="rId5" imgH="1312862" imgW="7251700" progId="Word.Document.8">
                  <p:embed/>
                  <p:pic>
                    <p:nvPicPr>
                      <p:cNvPr id="116" name="Google Shape;116;p4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5800" y="1219200"/>
                        <a:ext cx="7251700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Google Shape;117;p4"/>
          <p:cNvSpPr txBox="1"/>
          <p:nvPr/>
        </p:nvSpPr>
        <p:spPr>
          <a:xfrm>
            <a:off x="609600" y="2590800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(234)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(0010 0011 0100)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(7093)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(0111 0000 1001 0011)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(1000 0110)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(86)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(1001 0100 0111 0010)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(9472)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Notes: BCD is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not equivalent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binary.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Example: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(234)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(11101010)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550862" y="504825"/>
            <a:ext cx="6978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Arial"/>
              <a:buNone/>
            </a:pPr>
            <a:r>
              <a:rPr b="0" i="0" lang="en-US" sz="2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Codes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817562" y="1020762"/>
            <a:ext cx="1851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Other Codes </a:t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1708150"/>
            <a:ext cx="50292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Negative Numbers Representation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three common ways of representing signed numbers (positive and negative numbers) for binary numbers: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Sign-and-Magnitude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1s Complement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2s Complement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Sign-and-Magnitude</a:t>
            </a:r>
            <a:endParaRPr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Negative numbers are usually written by writing a minus sign in front.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(12)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(1100)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computer memory of fixed width, this sign is usually represented by a bit: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0 for  +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1 for  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Sign-and-Magnitude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7200" y="1600200"/>
            <a:ext cx="8229600" cy="159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8-bit number can have 1-bit sign and 7-bits magnitude.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8"/>
          <p:cNvGrpSpPr/>
          <p:nvPr/>
        </p:nvGrpSpPr>
        <p:grpSpPr>
          <a:xfrm>
            <a:off x="1600200" y="3505200"/>
            <a:ext cx="5334000" cy="1616075"/>
            <a:chOff x="1248" y="1728"/>
            <a:chExt cx="3360" cy="1018"/>
          </a:xfrm>
        </p:grpSpPr>
        <p:sp>
          <p:nvSpPr>
            <p:cNvPr id="144" name="Google Shape;144;p8"/>
            <p:cNvSpPr txBox="1"/>
            <p:nvPr/>
          </p:nvSpPr>
          <p:spPr>
            <a:xfrm>
              <a:off x="1248" y="2496"/>
              <a:ext cx="57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sign</a:t>
              </a:r>
              <a:endParaRPr/>
            </a:p>
          </p:txBody>
        </p:sp>
        <p:sp>
          <p:nvSpPr>
            <p:cNvPr id="145" name="Google Shape;145;p8"/>
            <p:cNvSpPr txBox="1"/>
            <p:nvPr/>
          </p:nvSpPr>
          <p:spPr>
            <a:xfrm>
              <a:off x="1776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2256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"/>
            <p:cNvSpPr txBox="1"/>
            <p:nvPr/>
          </p:nvSpPr>
          <p:spPr>
            <a:xfrm>
              <a:off x="4272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 txBox="1"/>
            <p:nvPr/>
          </p:nvSpPr>
          <p:spPr>
            <a:xfrm>
              <a:off x="3936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 txBox="1"/>
            <p:nvPr/>
          </p:nvSpPr>
          <p:spPr>
            <a:xfrm>
              <a:off x="3600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2928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"/>
            <p:cNvSpPr txBox="1"/>
            <p:nvPr/>
          </p:nvSpPr>
          <p:spPr>
            <a:xfrm>
              <a:off x="3264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 txBox="1"/>
            <p:nvPr/>
          </p:nvSpPr>
          <p:spPr>
            <a:xfrm>
              <a:off x="2592" y="1728"/>
              <a:ext cx="336" cy="3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p8"/>
            <p:cNvCxnSpPr/>
            <p:nvPr/>
          </p:nvCxnSpPr>
          <p:spPr>
            <a:xfrm flipH="1" rot="10800000">
              <a:off x="1584" y="2160"/>
              <a:ext cx="240" cy="3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54" name="Google Shape;154;p8"/>
            <p:cNvCxnSpPr/>
            <p:nvPr/>
          </p:nvCxnSpPr>
          <p:spPr>
            <a:xfrm rot="10800000">
              <a:off x="3456" y="2160"/>
              <a:ext cx="336" cy="24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55" name="Google Shape;155;p8"/>
            <p:cNvSpPr txBox="1"/>
            <p:nvPr/>
          </p:nvSpPr>
          <p:spPr>
            <a:xfrm>
              <a:off x="3696" y="2448"/>
              <a:ext cx="86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magnitude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Subtraction (lvk)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sp>
        <p:nvSpPr>
          <p:cNvPr id="162" name="Google Shape;162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magnitude representation</a:t>
            </a:r>
            <a:endParaRPr/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454025" y="17208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1066800" y="2438400"/>
            <a:ext cx="6781800" cy="1327150"/>
          </a:xfrm>
          <a:prstGeom prst="rect">
            <a:avLst/>
          </a:prstGeom>
          <a:solidFill>
            <a:srgbClr val="CCFFFF"/>
          </a:solidFill>
          <a:ln cap="flat" cmpd="sng" w="25400">
            <a:solidFill>
              <a:srgbClr val="0000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1101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= 13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4-bit unsigned number)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	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1101	= +13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positive number in 5-bit signed magnitude)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	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1101	= -13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negative number in 5-bit signed magnitude)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1060450" y="3771900"/>
            <a:ext cx="6858000" cy="1052512"/>
          </a:xfrm>
          <a:prstGeom prst="rect">
            <a:avLst/>
          </a:prstGeom>
          <a:solidFill>
            <a:srgbClr val="FFFF99"/>
          </a:solidFill>
          <a:ln cap="flat" cmpd="sng" w="25400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0100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= 4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4-bit unsigned number)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0	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0100	= +4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positive number in 5-bit signed magnitude)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	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0100	= -4</a:t>
            </a:r>
            <a:r>
              <a:rPr b="0" baseline="-2500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(a negative number in 5-bit signed magnitude)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Sign-and-Magnitude</a:t>
            </a:r>
            <a:endParaRPr/>
          </a:p>
        </p:txBody>
      </p:sp>
      <p:sp>
        <p:nvSpPr>
          <p:cNvPr id="171" name="Google Shape;171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Positive Number:  0 1111111     +(127)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Negative Number: 1 1111111    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Zeroes:                               0 0000000     +(0)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1 0000000     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Range: </a:t>
            </a:r>
            <a:r>
              <a:rPr b="0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00FF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Signed numbers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needed for negative numbers.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Representation: Sign-and-magnitude.</a:t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34290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t/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457200" y="1524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1s Complement</a:t>
            </a:r>
            <a:endParaRPr/>
          </a:p>
        </p:txBody>
      </p:sp>
      <p:sp>
        <p:nvSpPr>
          <p:cNvPr id="177" name="Google Shape;177;p11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 number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can be expressed as an  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-bit binary number (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 integer part has </a:t>
            </a:r>
            <a:r>
              <a:rPr b="0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digits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fraction has </a:t>
            </a:r>
            <a:r>
              <a:rPr b="0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digit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its negative value can be obtained in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1s-complement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representation using: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+7		0111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+6		0110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+5		0101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+4		0100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+3		0011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+2		0010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+1		0001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+0		0000</a:t>
            </a:r>
            <a:endParaRPr/>
          </a:p>
        </p:txBody>
      </p:sp>
      <p:cxnSp>
        <p:nvCxnSpPr>
          <p:cNvPr id="178" name="Google Shape;178;p11"/>
          <p:cNvCxnSpPr/>
          <p:nvPr/>
        </p:nvCxnSpPr>
        <p:spPr>
          <a:xfrm>
            <a:off x="4572000" y="3276600"/>
            <a:ext cx="0" cy="3352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9" name="Google Shape;179;p11"/>
          <p:cNvSpPr txBox="1"/>
          <p:nvPr/>
        </p:nvSpPr>
        <p:spPr>
          <a:xfrm>
            <a:off x="5257800" y="3133725"/>
            <a:ext cx="3200400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-7		1000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		1001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		1010	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-4		1011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		1100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		1101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		1110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		1111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1’s complement</a:t>
            </a:r>
            <a:endParaRPr/>
          </a:p>
        </p:txBody>
      </p:sp>
      <p:sp>
        <p:nvSpPr>
          <p:cNvPr id="185" name="Google Shape;185;p12"/>
          <p:cNvSpPr txBox="1"/>
          <p:nvPr>
            <p:ph idx="1" type="body"/>
          </p:nvPr>
        </p:nvSpPr>
        <p:spPr>
          <a:xfrm>
            <a:off x="2398712" y="2057400"/>
            <a:ext cx="4346575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-(00001100)</a:t>
            </a:r>
            <a:r>
              <a:rPr b="0" baseline="-2500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baseline="-2500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baseline="-2500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b="0" baseline="-2500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(11110011)</a:t>
            </a:r>
            <a:r>
              <a:rPr b="0" baseline="-2500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342900" marR="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2"/>
          <p:cNvCxnSpPr/>
          <p:nvPr/>
        </p:nvCxnSpPr>
        <p:spPr>
          <a:xfrm>
            <a:off x="33162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87" name="Google Shape;187;p12"/>
          <p:cNvCxnSpPr/>
          <p:nvPr/>
        </p:nvCxnSpPr>
        <p:spPr>
          <a:xfrm>
            <a:off x="36210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88" name="Google Shape;188;p12"/>
          <p:cNvCxnSpPr/>
          <p:nvPr/>
        </p:nvCxnSpPr>
        <p:spPr>
          <a:xfrm>
            <a:off x="40020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89" name="Google Shape;189;p12"/>
          <p:cNvCxnSpPr/>
          <p:nvPr/>
        </p:nvCxnSpPr>
        <p:spPr>
          <a:xfrm>
            <a:off x="43068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0" name="Google Shape;190;p12"/>
          <p:cNvCxnSpPr/>
          <p:nvPr/>
        </p:nvCxnSpPr>
        <p:spPr>
          <a:xfrm>
            <a:off x="46116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1" name="Google Shape;191;p12"/>
          <p:cNvCxnSpPr/>
          <p:nvPr/>
        </p:nvCxnSpPr>
        <p:spPr>
          <a:xfrm>
            <a:off x="49164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2" name="Google Shape;192;p12"/>
          <p:cNvCxnSpPr/>
          <p:nvPr/>
        </p:nvCxnSpPr>
        <p:spPr>
          <a:xfrm>
            <a:off x="52212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93" name="Google Shape;193;p12"/>
          <p:cNvCxnSpPr/>
          <p:nvPr/>
        </p:nvCxnSpPr>
        <p:spPr>
          <a:xfrm>
            <a:off x="5526087" y="2778125"/>
            <a:ext cx="0" cy="990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triangl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type="title"/>
          </p:nvPr>
        </p:nvSpPr>
        <p:spPr>
          <a:xfrm>
            <a:off x="304800" y="0"/>
            <a:ext cx="8540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1s Complement</a:t>
            </a:r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304800" y="838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Essential technique: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invert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 the bits.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Examples: 1s complement of   00000001 = (11111110)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1s complement of   01111111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(10000000)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[in 8 bits]: -(127)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129540" lvl="0" marL="34290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None/>
            </a:pPr>
            <a:r>
              <a:t/>
            </a:r>
            <a:endParaRPr b="0" baseline="-25000" i="0" sz="28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rgbClr val="FF0000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General Formula=-(2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-1)  to  + (2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-1)</a:t>
            </a:r>
            <a:endParaRPr b="0" baseline="-25000" i="0" sz="28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significant bit still represents the sign: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         0 = +ve; 1 = -ve.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304800" y="5410200"/>
            <a:ext cx="8382000" cy="12192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Range for n bit no. is –(2^(n-1)-1) to (2^(n-1)-1)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1s Complement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(assuming 8-bit binary numbers):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(14)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-(14)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(11110001)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-(80)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-( ? 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 ? 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381000" y="990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 number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can be expressed as an    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-bit (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 integer part has </a:t>
            </a:r>
            <a:r>
              <a:rPr b="0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digits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fraction has </a:t>
            </a:r>
            <a:r>
              <a:rPr b="0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digit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number , its negative number can be obtained in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2s-complement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representation using: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    	</a:t>
            </a:r>
            <a:r>
              <a:rPr b="1" i="0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1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1" baseline="30000" i="1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1" lang="en-US" sz="28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800" u="none">
                <a:solidFill>
                  <a:srgbClr val="CC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Example: With an 8-bit number 00001100, its negative value in 2s complement is thus: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-(00001100)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(12)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                = (2</a:t>
            </a:r>
            <a:r>
              <a:rPr b="0" baseline="30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- 12)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                = (244)</a:t>
            </a:r>
            <a:r>
              <a:rPr b="0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                 = </a:t>
            </a:r>
            <a:r>
              <a:rPr b="1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(11110100)</a:t>
            </a:r>
            <a:r>
              <a:rPr b="1" baseline="-2500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34290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t/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457200" y="23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</a:t>
            </a:r>
            <a:endParaRPr/>
          </a:p>
        </p:txBody>
      </p:sp>
      <p:sp>
        <p:nvSpPr>
          <p:cNvPr id="219" name="Google Shape;219;p16"/>
          <p:cNvSpPr txBox="1"/>
          <p:nvPr>
            <p:ph idx="1" type="body"/>
          </p:nvPr>
        </p:nvSpPr>
        <p:spPr>
          <a:xfrm>
            <a:off x="457200" y="1166812"/>
            <a:ext cx="8229600" cy="5691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1: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Essential technique: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invert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 the bits and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add 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 complement of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(00000001)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(11111110)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(invert i.e 1’s complement)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	= (11111111)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(add 1)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	2s complement of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(01111110)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(10000001)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(invert i.e 1’s complement)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	= (10000010)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(add 1)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2: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unchanged till 1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occurrence of 1 from LSB and invert remaining 1’s into 0’s and 0’s into 1’s till MSB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(01111110)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(10000010)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16"/>
          <p:cNvGrpSpPr/>
          <p:nvPr/>
        </p:nvGrpSpPr>
        <p:grpSpPr>
          <a:xfrm>
            <a:off x="2590800" y="5791200"/>
            <a:ext cx="1879600" cy="350835"/>
            <a:chOff x="2590800" y="5791200"/>
            <a:chExt cx="1879980" cy="350517"/>
          </a:xfrm>
        </p:grpSpPr>
        <p:sp>
          <p:nvSpPr>
            <p:cNvPr id="221" name="Google Shape;221;p16"/>
            <p:cNvSpPr/>
            <p:nvPr/>
          </p:nvSpPr>
          <p:spPr>
            <a:xfrm flipH="1" rot="-5400000">
              <a:off x="3482429" y="5204177"/>
              <a:ext cx="122127" cy="1752954"/>
            </a:xfrm>
            <a:prstGeom prst="rightBracket">
              <a:avLst>
                <a:gd fmla="val 125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" name="Google Shape;222;p16"/>
            <p:cNvGrpSpPr/>
            <p:nvPr/>
          </p:nvGrpSpPr>
          <p:grpSpPr>
            <a:xfrm>
              <a:off x="2590800" y="5791200"/>
              <a:ext cx="1879980" cy="229979"/>
              <a:chOff x="2590800" y="5791200"/>
              <a:chExt cx="1879980" cy="229979"/>
            </a:xfrm>
          </p:grpSpPr>
          <p:sp>
            <p:nvSpPr>
              <p:cNvPr id="223" name="Google Shape;223;p16"/>
              <p:cNvSpPr/>
              <p:nvPr/>
            </p:nvSpPr>
            <p:spPr>
              <a:xfrm flipH="1" rot="-5400000">
                <a:off x="2552819" y="5829181"/>
                <a:ext cx="228393" cy="152431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6350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6"/>
              <p:cNvSpPr/>
              <p:nvPr/>
            </p:nvSpPr>
            <p:spPr>
              <a:xfrm flipH="1" rot="-5400000">
                <a:off x="4280368" y="5830767"/>
                <a:ext cx="228393" cy="152431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6350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5" name="Google Shape;225;p16"/>
          <p:cNvGrpSpPr/>
          <p:nvPr/>
        </p:nvGrpSpPr>
        <p:grpSpPr>
          <a:xfrm>
            <a:off x="1727200" y="5880100"/>
            <a:ext cx="2362200" cy="520700"/>
            <a:chOff x="2590799" y="5792682"/>
            <a:chExt cx="2362775" cy="521114"/>
          </a:xfrm>
        </p:grpSpPr>
        <p:sp>
          <p:nvSpPr>
            <p:cNvPr id="226" name="Google Shape;226;p16"/>
            <p:cNvSpPr/>
            <p:nvPr/>
          </p:nvSpPr>
          <p:spPr>
            <a:xfrm flipH="1" rot="-5400000">
              <a:off x="3429098" y="5170412"/>
              <a:ext cx="381303" cy="1905464"/>
            </a:xfrm>
            <a:prstGeom prst="rightBracket">
              <a:avLst>
                <a:gd fmla="val 360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" name="Google Shape;227;p16"/>
            <p:cNvGrpSpPr/>
            <p:nvPr/>
          </p:nvGrpSpPr>
          <p:grpSpPr>
            <a:xfrm>
              <a:off x="2590799" y="5792682"/>
              <a:ext cx="2362775" cy="139811"/>
              <a:chOff x="2590799" y="5792682"/>
              <a:chExt cx="2362775" cy="139811"/>
            </a:xfrm>
          </p:grpSpPr>
          <p:sp>
            <p:nvSpPr>
              <p:cNvPr id="228" name="Google Shape;228;p16"/>
              <p:cNvSpPr/>
              <p:nvPr/>
            </p:nvSpPr>
            <p:spPr>
              <a:xfrm flipH="1" rot="-5400000">
                <a:off x="2876580" y="5506901"/>
                <a:ext cx="139811" cy="711373"/>
              </a:xfrm>
              <a:prstGeom prst="rightBracket">
                <a:avLst>
                  <a:gd fmla="val 354" name="adj"/>
                </a:avLst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6350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 flipH="1" rot="-5400000">
                <a:off x="4566091" y="5545010"/>
                <a:ext cx="139811" cy="635155"/>
              </a:xfrm>
              <a:prstGeom prst="rightBracket">
                <a:avLst>
                  <a:gd fmla="val 396" name="adj"/>
                </a:avLst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6350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0" name="Google Shape;230;p16"/>
          <p:cNvSpPr txBox="1"/>
          <p:nvPr/>
        </p:nvSpPr>
        <p:spPr>
          <a:xfrm>
            <a:off x="2006600" y="6403975"/>
            <a:ext cx="1447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C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>Inverted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3721100" y="6130925"/>
            <a:ext cx="1447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Unchanged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5562600" y="5638800"/>
            <a:ext cx="2895600" cy="8604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Unofficial method!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5827712" y="1600200"/>
            <a:ext cx="2895600" cy="8604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Official method!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457200" y="285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439737" y="11715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in 8 bits: -(128)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+(127)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12954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None/>
            </a:pPr>
            <a:r>
              <a:t/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Formula= -(2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 to  + (2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significant bit still represents the sign: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 0 = +ve; 1 = -ve.</a:t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34290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t/>
            </a:r>
            <a:endParaRPr b="0" i="0" sz="3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457200" y="6126162"/>
            <a:ext cx="8077200" cy="6858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Range for n bit no. is -2^(n-1) to 2^(n-1)-1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</a:t>
            </a:r>
            <a:endParaRPr/>
          </a:p>
        </p:txBody>
      </p:sp>
      <p:sp>
        <p:nvSpPr>
          <p:cNvPr id="247" name="Google Shape;24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(assuming 8-bit binary numbers):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(14)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-(14)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-(00001110)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(11110010)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-(80)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-( ? 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 ? 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Comparisons of Sign-and-Magnitude and Complements</a:t>
            </a:r>
            <a:endParaRPr/>
          </a:p>
        </p:txBody>
      </p:sp>
      <p:sp>
        <p:nvSpPr>
          <p:cNvPr id="253" name="Google Shape;253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4-bit signed number (</a:t>
            </a:r>
            <a:r>
              <a:rPr b="0" i="1" lang="en-US" sz="3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positive values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Signed magnitude cannot be used for arithmetic calculations</a:t>
            </a:r>
            <a:endParaRPr/>
          </a:p>
        </p:txBody>
      </p:sp>
      <p:graphicFrame>
        <p:nvGraphicFramePr>
          <p:cNvPr id="254" name="Google Shape;254;p19"/>
          <p:cNvGraphicFramePr/>
          <p:nvPr/>
        </p:nvGraphicFramePr>
        <p:xfrm>
          <a:off x="2438400" y="2819400"/>
          <a:ext cx="4038600" cy="3025775"/>
        </p:xfrm>
        <a:graphic>
          <a:graphicData uri="http://schemas.openxmlformats.org/presentationml/2006/ole">
            <mc:AlternateContent>
              <mc:Choice Requires="v">
                <p:oleObj r:id="rId4" imgH="3025775" imgW="4038600" progId="Word.Document.8" spid="_x0000_s1">
                  <p:embed/>
                </p:oleObj>
              </mc:Choice>
              <mc:Fallback>
                <p:oleObj r:id="rId5" imgH="3025775" imgW="4038600" progId="Word.Document.8">
                  <p:embed/>
                  <p:pic>
                    <p:nvPicPr>
                      <p:cNvPr id="254" name="Google Shape;254;p19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438400" y="2819400"/>
                        <a:ext cx="4038600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Comparisons of Sign-and-Magnitude and Complements</a:t>
            </a:r>
            <a:endParaRPr/>
          </a:p>
        </p:txBody>
      </p:sp>
      <p:sp>
        <p:nvSpPr>
          <p:cNvPr id="260" name="Google Shape;260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Noto Sans Symbols"/>
              <a:buChar char="▪"/>
            </a:pP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4-bit signed number (</a:t>
            </a:r>
            <a:r>
              <a:rPr b="0" i="1" lang="en-US" sz="27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negative values</a:t>
            </a:r>
            <a:r>
              <a:rPr b="0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Signed magnitude cannot be used for arithmetic calculations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1" name="Google Shape;261;p20"/>
          <p:cNvGraphicFramePr/>
          <p:nvPr/>
        </p:nvGraphicFramePr>
        <p:xfrm>
          <a:off x="2362200" y="2895600"/>
          <a:ext cx="4038600" cy="3295650"/>
        </p:xfrm>
        <a:graphic>
          <a:graphicData uri="http://schemas.openxmlformats.org/presentationml/2006/ole">
            <mc:AlternateContent>
              <mc:Choice Requires="v">
                <p:oleObj r:id="rId4" imgH="3295650" imgW="4038600" progId="Word.Document.8" spid="_x0000_s1">
                  <p:embed/>
                </p:oleObj>
              </mc:Choice>
              <mc:Fallback>
                <p:oleObj r:id="rId5" imgH="3295650" imgW="4038600" progId="Word.Document.8">
                  <p:embed/>
                  <p:pic>
                    <p:nvPicPr>
                      <p:cNvPr id="261" name="Google Shape;261;p20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62200" y="2895600"/>
                        <a:ext cx="4038600" cy="329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type="title"/>
          </p:nvPr>
        </p:nvSpPr>
        <p:spPr>
          <a:xfrm>
            <a:off x="457200" y="460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Exercise:</a:t>
            </a:r>
            <a:endParaRPr/>
          </a:p>
        </p:txBody>
      </p:sp>
      <p:sp>
        <p:nvSpPr>
          <p:cNvPr id="267" name="Google Shape;267;p21"/>
          <p:cNvSpPr txBox="1"/>
          <p:nvPr>
            <p:ph idx="1" type="body"/>
          </p:nvPr>
        </p:nvSpPr>
        <p:spPr>
          <a:xfrm>
            <a:off x="381000" y="1166812"/>
            <a:ext cx="8229600" cy="23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For 2’s complement binary numbers, the range of values for 5-bit numbers is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a. 0 to 31              b. -8 to +7            c. -8 to +8 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d. -15 to +15        e. -16 to +15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 a 6-bit 2’s complement binary number system, what is the decimal value represented by (100100)</a:t>
            </a:r>
            <a:r>
              <a:rPr b="0" baseline="-2500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a. -4        b. 36        c. -36       d. -27      e. -28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446087" y="35147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Following numbers are in 1’s complement system. Turn them to their no. negative representation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1010101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0111000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0000001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Now perform 2’s complement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609600" y="25908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UNSIGNED NO. ARTHEMATIC OPERATION!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Arithmetic Operations for </a:t>
            </a:r>
            <a:r>
              <a:rPr b="1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Unsigned</a:t>
            </a: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numbers</a:t>
            </a:r>
            <a:endParaRPr/>
          </a:p>
        </p:txBody>
      </p:sp>
      <p:sp>
        <p:nvSpPr>
          <p:cNvPr id="279" name="Google Shape;279;p23"/>
          <p:cNvSpPr txBox="1"/>
          <p:nvPr>
            <p:ph idx="1" type="body"/>
          </p:nvPr>
        </p:nvSpPr>
        <p:spPr>
          <a:xfrm>
            <a:off x="457200" y="1600200"/>
            <a:ext cx="8229600" cy="2589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ADDITION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decimal numbers, two numbers can be added by adding each pair of digits together with carry propagation.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0" name="Google Shape;280;p23"/>
          <p:cNvGraphicFramePr/>
          <p:nvPr/>
        </p:nvGraphicFramePr>
        <p:xfrm>
          <a:off x="1600200" y="4191000"/>
          <a:ext cx="1812925" cy="1217612"/>
        </p:xfrm>
        <a:graphic>
          <a:graphicData uri="http://schemas.openxmlformats.org/presentationml/2006/ole">
            <mc:AlternateContent>
              <mc:Choice Requires="v">
                <p:oleObj r:id="rId4" imgH="1217612" imgW="1812925" progId="Word.Document.8" spid="_x0000_s1">
                  <p:embed/>
                </p:oleObj>
              </mc:Choice>
              <mc:Fallback>
                <p:oleObj r:id="rId5" imgH="1217612" imgW="1812925" progId="Word.Document.8">
                  <p:embed/>
                  <p:pic>
                    <p:nvPicPr>
                      <p:cNvPr id="280" name="Google Shape;280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00200" y="4191000"/>
                        <a:ext cx="1812925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" name="Google Shape;281;p23"/>
          <p:cNvGraphicFramePr/>
          <p:nvPr/>
        </p:nvGraphicFramePr>
        <p:xfrm>
          <a:off x="4800600" y="4191000"/>
          <a:ext cx="2098675" cy="1219200"/>
        </p:xfrm>
        <a:graphic>
          <a:graphicData uri="http://schemas.openxmlformats.org/presentationml/2006/ole">
            <mc:AlternateContent>
              <mc:Choice Requires="v">
                <p:oleObj r:id="rId7" imgH="1219200" imgW="2098675" progId="Word.Document.8" spid="_x0000_s2">
                  <p:embed/>
                </p:oleObj>
              </mc:Choice>
              <mc:Fallback>
                <p:oleObj r:id="rId8" imgH="1219200" imgW="2098675" progId="Word.Document.8">
                  <p:embed/>
                  <p:pic>
                    <p:nvPicPr>
                      <p:cNvPr id="281" name="Google Shape;281;p2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800600" y="4191000"/>
                        <a:ext cx="20986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Arithmetic Operations for Unsigned Numbers</a:t>
            </a:r>
            <a:endParaRPr/>
          </a:p>
        </p:txBody>
      </p:sp>
      <p:sp>
        <p:nvSpPr>
          <p:cNvPr id="287" name="Google Shape;287;p24"/>
          <p:cNvSpPr txBox="1"/>
          <p:nvPr>
            <p:ph idx="1" type="body"/>
          </p:nvPr>
        </p:nvSpPr>
        <p:spPr>
          <a:xfrm>
            <a:off x="457200" y="1600200"/>
            <a:ext cx="8229600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SUBTRACTION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numbers can be subtracted by subtracting each pair of digits together with borrowing, where needed.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24"/>
          <p:cNvGraphicFramePr/>
          <p:nvPr/>
        </p:nvGraphicFramePr>
        <p:xfrm>
          <a:off x="3048000" y="3886200"/>
          <a:ext cx="1565275" cy="1217612"/>
        </p:xfrm>
        <a:graphic>
          <a:graphicData uri="http://schemas.openxmlformats.org/presentationml/2006/ole">
            <mc:AlternateContent>
              <mc:Choice Requires="v">
                <p:oleObj r:id="rId4" imgH="1217612" imgW="1565275" progId="Word.Document.8" spid="_x0000_s1">
                  <p:embed/>
                </p:oleObj>
              </mc:Choice>
              <mc:Fallback>
                <p:oleObj r:id="rId5" imgH="1217612" imgW="1565275" progId="Word.Document.8">
                  <p:embed/>
                  <p:pic>
                    <p:nvPicPr>
                      <p:cNvPr id="288" name="Google Shape;288;p2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048000" y="3886200"/>
                        <a:ext cx="1565275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" name="Google Shape;289;p24"/>
          <p:cNvGraphicFramePr/>
          <p:nvPr/>
        </p:nvGraphicFramePr>
        <p:xfrm>
          <a:off x="5181600" y="3886200"/>
          <a:ext cx="1751012" cy="1217612"/>
        </p:xfrm>
        <a:graphic>
          <a:graphicData uri="http://schemas.openxmlformats.org/presentationml/2006/ole">
            <mc:AlternateContent>
              <mc:Choice Requires="v">
                <p:oleObj r:id="rId7" imgH="1217612" imgW="1751012" progId="Word.Document.8" spid="_x0000_s2">
                  <p:embed/>
                </p:oleObj>
              </mc:Choice>
              <mc:Fallback>
                <p:oleObj r:id="rId8" imgH="1217612" imgW="1751012" progId="Word.Document.8">
                  <p:embed/>
                  <p:pic>
                    <p:nvPicPr>
                      <p:cNvPr id="289" name="Google Shape;289;p2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81600" y="3886200"/>
                        <a:ext cx="1751012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>
            <p:ph idx="1" type="body"/>
          </p:nvPr>
        </p:nvSpPr>
        <p:spPr>
          <a:xfrm>
            <a:off x="2667000" y="2971800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Overflow!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75" y="-34925"/>
            <a:ext cx="9159875" cy="66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637"/>
            <a:ext cx="8991600" cy="710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162"/>
            <a:ext cx="8839200" cy="667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title"/>
          </p:nvPr>
        </p:nvSpPr>
        <p:spPr>
          <a:xfrm>
            <a:off x="838200" y="2362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OPERATIONS ON SIGNED NUMBER</a:t>
            </a:r>
            <a:b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2s Complement Addition/Subtraction</a:t>
            </a:r>
            <a:endParaRPr/>
          </a:p>
        </p:txBody>
      </p:sp>
      <p:sp>
        <p:nvSpPr>
          <p:cNvPr id="320" name="Google Shape;320;p30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Algorithm for addition, A + B: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binary addition on the two numbers.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Ignore the carry out of the MSB (most significant bit).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for overflow: Overflow occurs if the ‘carry in’ and ‘carry out’ of the MSB are different, or if result is opposite sign of A and B.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Algorithm for subtraction, A – B: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	A – B = A + (–B)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2s complement of B by inverting all the bits and adding 1.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2s complement of B to A.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 Addition/Subtraction</a:t>
            </a:r>
            <a:endParaRPr/>
          </a:p>
        </p:txBody>
      </p:sp>
      <p:sp>
        <p:nvSpPr>
          <p:cNvPr id="326" name="Google Shape;326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Examples: 4-bit binary system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66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of the above is/are overflow(s)?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1524000" y="2286000"/>
            <a:ext cx="2971800" cy="1519237"/>
          </a:xfrm>
          <a:prstGeom prst="rect">
            <a:avLst/>
          </a:prstGeom>
          <a:noFill/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+3       0011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+4     + 0100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+7       0111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1524000" y="3886200"/>
            <a:ext cx="2971800" cy="1519237"/>
          </a:xfrm>
          <a:prstGeom prst="rect">
            <a:avLst/>
          </a:prstGeom>
          <a:noFill/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+6      0110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-3    + 1101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+3    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5029200" y="3886200"/>
            <a:ext cx="2971800" cy="1519237"/>
          </a:xfrm>
          <a:prstGeom prst="rect">
            <a:avLst/>
          </a:prstGeom>
          <a:noFill/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+4     0100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-7   + 1001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-3     1101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-------</a:t>
            </a:r>
            <a:endParaRPr/>
          </a:p>
        </p:txBody>
      </p:sp>
      <p:pic>
        <p:nvPicPr>
          <p:cNvPr id="330" name="Google Shape;3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2202588"/>
            <a:ext cx="2971800" cy="168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 Complement Addition/Subtraction</a:t>
            </a:r>
            <a:endParaRPr/>
          </a:p>
        </p:txBody>
      </p:sp>
      <p:sp>
        <p:nvSpPr>
          <p:cNvPr id="336" name="Google Shape;336;p3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More examples: 4-bit binary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920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of the above is/are overflow(s)?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1600200" y="2438400"/>
            <a:ext cx="2971800" cy="1519237"/>
          </a:xfrm>
          <a:prstGeom prst="rect">
            <a:avLst/>
          </a:prstGeom>
          <a:noFill/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-3       1101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-6     + 1010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-9      </a:t>
            </a: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  <p:sp>
        <p:nvSpPr>
          <p:cNvPr id="338" name="Google Shape;338;p32"/>
          <p:cNvSpPr txBox="1"/>
          <p:nvPr/>
        </p:nvSpPr>
        <p:spPr>
          <a:xfrm>
            <a:off x="5029200" y="2438400"/>
            <a:ext cx="2971800" cy="1519237"/>
          </a:xfrm>
          <a:prstGeom prst="rect">
            <a:avLst/>
          </a:prstGeom>
          <a:noFill/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+5       0101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+6     + 0110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+11      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1s Complement Addition/Subtraction</a:t>
            </a:r>
            <a:endParaRPr/>
          </a:p>
        </p:txBody>
      </p:sp>
      <p:sp>
        <p:nvSpPr>
          <p:cNvPr id="344" name="Google Shape;344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Algorithm for addition, A + B: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binary addition on the two numbers.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there is a carry out of the MSB,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 1 to the result.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for overflow: Overflow occurs if result is opposite sign of A and B.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Algorithm for subtraction, A – B: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	A – B = A + (–B)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1s complement of B by inverting all the bits.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1s complement of B to A.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1s Complement Addition/Subtraction</a:t>
            </a:r>
            <a:endParaRPr/>
          </a:p>
        </p:txBody>
      </p:sp>
      <p:sp>
        <p:nvSpPr>
          <p:cNvPr id="350" name="Google Shape;350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Examples: 4-bit binary system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1676400" y="2209800"/>
            <a:ext cx="2971800" cy="1519237"/>
          </a:xfrm>
          <a:prstGeom prst="rect">
            <a:avLst/>
          </a:prstGeom>
          <a:solidFill>
            <a:srgbClr val="808000"/>
          </a:solidFill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+3       0011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+4     + 0100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+7      </a:t>
            </a:r>
            <a:r>
              <a:rPr b="1" i="0" lang="en-US" sz="20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  <p:sp>
        <p:nvSpPr>
          <p:cNvPr id="352" name="Google Shape;352;p34"/>
          <p:cNvSpPr txBox="1"/>
          <p:nvPr/>
        </p:nvSpPr>
        <p:spPr>
          <a:xfrm>
            <a:off x="5029200" y="2209800"/>
            <a:ext cx="2971800" cy="1519237"/>
          </a:xfrm>
          <a:prstGeom prst="rect">
            <a:avLst/>
          </a:prstGeom>
          <a:solidFill>
            <a:srgbClr val="808000"/>
          </a:solidFill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+5       0101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-5     + 1010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-0      </a:t>
            </a:r>
            <a:r>
              <a:rPr b="1" i="0" lang="en-US" sz="20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1111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</p:txBody>
      </p:sp>
      <p:sp>
        <p:nvSpPr>
          <p:cNvPr id="353" name="Google Shape;353;p34"/>
          <p:cNvSpPr txBox="1"/>
          <p:nvPr/>
        </p:nvSpPr>
        <p:spPr>
          <a:xfrm>
            <a:off x="1676400" y="3962400"/>
            <a:ext cx="2971800" cy="2097087"/>
          </a:xfrm>
          <a:prstGeom prst="rect">
            <a:avLst/>
          </a:prstGeom>
          <a:solidFill>
            <a:srgbClr val="808000"/>
          </a:solidFill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-2      1101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-5   +  1010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-7     </a:t>
            </a: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0111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+    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------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1000</a:t>
            </a:r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5105400" y="3962400"/>
            <a:ext cx="2971800" cy="2097087"/>
          </a:xfrm>
          <a:prstGeom prst="rect">
            <a:avLst/>
          </a:prstGeom>
          <a:solidFill>
            <a:srgbClr val="808000"/>
          </a:solidFill>
          <a:ln cap="flat" cmpd="sng" w="12700">
            <a:solidFill>
              <a:srgbClr val="66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-3       1100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-7     + 1000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-10      </a:t>
            </a: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0100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----     +    1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-------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0101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e4e281dd9f_1_0"/>
          <p:cNvSpPr txBox="1"/>
          <p:nvPr>
            <p:ph type="title"/>
          </p:nvPr>
        </p:nvSpPr>
        <p:spPr>
          <a:xfrm>
            <a:off x="502325" y="67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Sample Math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360" name="Google Shape;360;g2e4e281dd9f_1_0"/>
          <p:cNvSpPr txBox="1"/>
          <p:nvPr>
            <p:ph idx="1" type="body"/>
          </p:nvPr>
        </p:nvSpPr>
        <p:spPr>
          <a:xfrm>
            <a:off x="237625" y="1329500"/>
            <a:ext cx="4129800" cy="51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Add -3 with -6 in 6 bits using 2’s complement number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system and justify whether there is overflow or not.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Unsigned 3 = 11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+3               = 011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+3 in 6 bits = 000011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To get -3 in binary, we need to calculate 2’s complement.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So,    111100 (1’s complement)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+1 (Adding 1)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____________________________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-3 in 6 bits = 111101 (2’s complement)  -------- (1)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Unsigned 6 = 110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+6               = 0110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+6 in 6 bits = 000110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To get -6 in binary, we need to calculate 2’s complement.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So,    111001 (1’s complement)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+1 (Adding 1)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____________________________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-6 in 6 bits = 111010 (2’s complement) -------- (2)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2e4e281dd9f_1_0"/>
          <p:cNvSpPr txBox="1"/>
          <p:nvPr>
            <p:ph idx="1" type="body"/>
          </p:nvPr>
        </p:nvSpPr>
        <p:spPr>
          <a:xfrm>
            <a:off x="4874800" y="1417625"/>
            <a:ext cx="4129800" cy="51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Now, adding (1) and (2),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111101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111010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_______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110111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Ignoring the carry, final result is 110111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Here, we are adding two negative numbers and the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result is also a negative number. Hence, there is no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overflow.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khadija rasul</dc:creator>
</cp:coreProperties>
</file>