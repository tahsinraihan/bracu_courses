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msword" Extension="doc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msword" PartName="/ppt/embeddings/Microsoft_Office_Word_97_-_2003_Document3.doc"/>
  <Override ContentType="application/msword" PartName="/ppt/embeddings/Microsoft_Office_Word_97_-_2003_Document2.doc"/>
  <Override ContentType="application/msword" PartName="/ppt/embeddings/Microsoft_Office_Word_97_-_2003_Document1.doc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6858000" cy="9144000"/>
  <p:embeddedFontLst>
    <p:embeddedFont>
      <p:font typeface="Tahoma"/>
      <p:regular r:id="rId45"/>
      <p:bold r:id="rId46"/>
    </p:embeddedFont>
    <p:embeddedFont>
      <p:font typeface="Libre Baskerville"/>
      <p:regular r:id="rId47"/>
      <p:bold r:id="rId48"/>
      <p: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gLwiQ+mxEc3RpSlu/ovxMTXKna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7BB50C-47E9-44D7-9FDA-CDFB92654240}">
  <a:tblStyle styleId="{747BB50C-47E9-44D7-9FDA-CDFB9265424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Tahoma-bold.fntdata"/><Relationship Id="rId45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ibreBaskerville-bold.fntdata"/><Relationship Id="rId47" Type="http://schemas.openxmlformats.org/officeDocument/2006/relationships/font" Target="fonts/LibreBaskerville-regular.fntdata"/><Relationship Id="rId49" Type="http://schemas.openxmlformats.org/officeDocument/2006/relationships/font" Target="fonts/LibreBaskervill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Farazul H Bhuiyan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Lecturer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Dept. of CSE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BRAC University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Bangladesh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2bc6db01a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2bc6db01a4_0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2bc6db01a4_4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2bc6db01a4_4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2bc6db01a4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2bc6db01a4_4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2bd9a8754a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2bd9a8754a_0_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7" name="Google Shape;37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8" name="Google Shape;38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9" name="Google Shape;39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0" name="Google Shape;40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1" name="Google Shape;51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2" name="Google Shape;52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77" name="Google Shape;77;p4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8" name="Google Shape;78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88" name="Google Shape;88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9.jpg"/><Relationship Id="rId5" Type="http://schemas.openxmlformats.org/officeDocument/2006/relationships/oleObject" Target="../embeddings/Microsoft_Office_Word_97_-_2003_Document1.doc"/><Relationship Id="rId6" Type="http://schemas.openxmlformats.org/officeDocument/2006/relationships/oleObject" Target="../embeddings/Microsoft_Office_Word_97_-_2003_Document1.doc"/><Relationship Id="rId7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vmlDrawing" Target="../drawings/vmlDrawing2.vml"/><Relationship Id="rId4" Type="http://schemas.openxmlformats.org/officeDocument/2006/relationships/image" Target="../media/image9.jpg"/><Relationship Id="rId5" Type="http://schemas.openxmlformats.org/officeDocument/2006/relationships/oleObject" Target="../embeddings/Microsoft_Office_Word_97_-_2003_Document2.doc"/><Relationship Id="rId6" Type="http://schemas.openxmlformats.org/officeDocument/2006/relationships/oleObject" Target="../embeddings/Microsoft_Office_Word_97_-_2003_Document2.doc"/><Relationship Id="rId7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vmlDrawing" Target="../drawings/vmlDrawing3.vml"/><Relationship Id="rId4" Type="http://schemas.openxmlformats.org/officeDocument/2006/relationships/image" Target="../media/image9.jpg"/><Relationship Id="rId5" Type="http://schemas.openxmlformats.org/officeDocument/2006/relationships/oleObject" Target="../embeddings/Microsoft_Office_Word_97_-_2003_Document3.doc"/><Relationship Id="rId6" Type="http://schemas.openxmlformats.org/officeDocument/2006/relationships/oleObject" Target="../embeddings/Microsoft_Office_Word_97_-_2003_Document3.doc"/><Relationship Id="rId7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jp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jpg"/><Relationship Id="rId4" Type="http://schemas.openxmlformats.org/officeDocument/2006/relationships/image" Target="../media/image14.png"/><Relationship Id="rId5" Type="http://schemas.openxmlformats.org/officeDocument/2006/relationships/image" Target="../media/image1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jpg"/><Relationship Id="rId4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685800" y="71596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CSE 260</a:t>
            </a:r>
            <a:b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Logic Design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600200" y="3913187"/>
            <a:ext cx="54864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 Books: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685800" y="4160837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Texts: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38200" y="4618037"/>
            <a:ext cx="8153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Digital Logic And Computer Design, Morris Mano</a:t>
            </a:r>
            <a:b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681037" y="5145087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Reference material: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36612" y="5721350"/>
            <a:ext cx="7772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Digital Design Principles and Practices, John F. Wakerly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ctrTitle"/>
          </p:nvPr>
        </p:nvSpPr>
        <p:spPr>
          <a:xfrm>
            <a:off x="685800" y="71596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CSE 260</a:t>
            </a:r>
            <a:b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Logic Design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600200" y="2713037"/>
            <a:ext cx="5486400" cy="13858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System &amp; Calculations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3"/>
          <p:cNvGraphicFramePr/>
          <p:nvPr/>
        </p:nvGraphicFramePr>
        <p:xfrm>
          <a:off x="495300" y="414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{747BB50C-47E9-44D7-9FDA-CDFB92654240}</a:tableStyleId>
              </a:tblPr>
              <a:tblGrid>
                <a:gridCol w="4133850"/>
                <a:gridCol w="4133850"/>
              </a:tblGrid>
              <a:tr h="9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Analog vs. Digital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3600" u="none">
                        <a:solidFill>
                          <a:srgbClr val="22226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143500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Distinguish between analog and digital system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Understand the advantage and limitation of digital system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Understand the meaning of digital logic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8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Analog data can vary over a continuous range of values. Example: speedometer</a:t>
                      </a:r>
                      <a:endParaRPr/>
                    </a:p>
                    <a:p>
                      <a:pPr indent="-1333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33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Digital quantities can take on only discrete values (0 and 1, high and low).    Example: Digital Computer, Decimal Digits, Alphabets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System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digital system is a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combination of devices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designed to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manipulate physical quantities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information that are represented in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digital form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 discreet information processing system”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Signals: Discreet information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5"/>
          <p:cNvGraphicFramePr/>
          <p:nvPr/>
        </p:nvGraphicFramePr>
        <p:xfrm>
          <a:off x="457200" y="29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{747BB50C-47E9-44D7-9FDA-CDFB92654240}</a:tableStyleId>
              </a:tblPr>
              <a:tblGrid>
                <a:gridCol w="4152900"/>
                <a:gridCol w="4152900"/>
              </a:tblGrid>
              <a:tr h="812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1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Digital Technology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0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0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1096950">
                <a:tc rowSpan="3"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accuracy or precision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Easier to design (generality) 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Easier information storage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Programmability (instructions)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Economical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8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real world is mainly analog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6413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0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to Overcome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895600">
                <a:tc vMerge="1"/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Convert the real world analog input data into digital one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this digital data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 again convert into analog form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logic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477837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logic is a term used to denote the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digital system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logic is concerned with the interconnection among digital components and modules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logic design is engineering and engineering means problem solving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systems and codes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Digital Systems are built from circuits that process binary digits. BUT very few real-life problems are based on binary numbers.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SO a digital system designer must establish some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correspondence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between the binary digits processed by digital circuits and real-life numbers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events and conditions.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Information representation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decisions tends to be binary i.e. Yes or No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Elementary storage units inside computer are 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electronic switches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Each switch holds one of two states: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(1) or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(0).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a 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nary digi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0 or 1, to represent the state.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units can be grouped together to cater for larger range of numbers.  Example: 2 switches to represent 4 values.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8"/>
          <p:cNvGrpSpPr/>
          <p:nvPr/>
        </p:nvGrpSpPr>
        <p:grpSpPr>
          <a:xfrm>
            <a:off x="2209800" y="2743200"/>
            <a:ext cx="3733800" cy="892175"/>
            <a:chOff x="1632" y="2064"/>
            <a:chExt cx="2352" cy="562"/>
          </a:xfrm>
        </p:grpSpPr>
        <p:grpSp>
          <p:nvGrpSpPr>
            <p:cNvPr id="142" name="Google Shape;142;p8"/>
            <p:cNvGrpSpPr/>
            <p:nvPr/>
          </p:nvGrpSpPr>
          <p:grpSpPr>
            <a:xfrm>
              <a:off x="1632" y="2208"/>
              <a:ext cx="864" cy="48"/>
              <a:chOff x="1392" y="2376"/>
              <a:chExt cx="864" cy="48"/>
            </a:xfrm>
          </p:grpSpPr>
          <p:cxnSp>
            <p:nvCxnSpPr>
              <p:cNvPr id="143" name="Google Shape;143;p8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8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45" name="Google Shape;145;p8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7" name="Google Shape;147;p8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48" name="Google Shape;148;p8"/>
            <p:cNvGrpSpPr/>
            <p:nvPr/>
          </p:nvGrpSpPr>
          <p:grpSpPr>
            <a:xfrm>
              <a:off x="3120" y="2064"/>
              <a:ext cx="864" cy="216"/>
              <a:chOff x="2688" y="2208"/>
              <a:chExt cx="864" cy="216"/>
            </a:xfrm>
          </p:grpSpPr>
          <p:cxnSp>
            <p:nvCxnSpPr>
              <p:cNvPr id="149" name="Google Shape;149;p8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8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51" name="Google Shape;151;p8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3" name="Google Shape;153;p8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154" name="Google Shape;154;p8"/>
            <p:cNvSpPr txBox="1"/>
            <p:nvPr/>
          </p:nvSpPr>
          <p:spPr>
            <a:xfrm>
              <a:off x="1893" y="2338"/>
              <a:ext cx="48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</a:t>
              </a:r>
              <a:endParaRPr/>
            </a:p>
          </p:txBody>
        </p:sp>
        <p:sp>
          <p:nvSpPr>
            <p:cNvPr id="155" name="Google Shape;155;p8"/>
            <p:cNvSpPr txBox="1"/>
            <p:nvPr/>
          </p:nvSpPr>
          <p:spPr>
            <a:xfrm>
              <a:off x="3262" y="2326"/>
              <a:ext cx="5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</a:t>
              </a:r>
              <a:endParaRPr/>
            </a:p>
          </p:txBody>
        </p:sp>
      </p:grpSp>
      <p:grpSp>
        <p:nvGrpSpPr>
          <p:cNvPr id="156" name="Google Shape;156;p8"/>
          <p:cNvGrpSpPr/>
          <p:nvPr/>
        </p:nvGrpSpPr>
        <p:grpSpPr>
          <a:xfrm>
            <a:off x="2209800" y="4806950"/>
            <a:ext cx="4846637" cy="1768475"/>
            <a:chOff x="1392" y="1776"/>
            <a:chExt cx="3053" cy="1114"/>
          </a:xfrm>
        </p:grpSpPr>
        <p:grpSp>
          <p:nvGrpSpPr>
            <p:cNvPr id="157" name="Google Shape;157;p8"/>
            <p:cNvGrpSpPr/>
            <p:nvPr/>
          </p:nvGrpSpPr>
          <p:grpSpPr>
            <a:xfrm>
              <a:off x="1392" y="2784"/>
              <a:ext cx="864" cy="48"/>
              <a:chOff x="1392" y="2376"/>
              <a:chExt cx="864" cy="48"/>
            </a:xfrm>
          </p:grpSpPr>
          <p:cxnSp>
            <p:nvCxnSpPr>
              <p:cNvPr id="158" name="Google Shape;158;p8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8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60" name="Google Shape;160;p8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2" name="Google Shape;162;p8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63" name="Google Shape;163;p8"/>
            <p:cNvGrpSpPr/>
            <p:nvPr/>
          </p:nvGrpSpPr>
          <p:grpSpPr>
            <a:xfrm>
              <a:off x="1392" y="2496"/>
              <a:ext cx="864" cy="48"/>
              <a:chOff x="1392" y="2376"/>
              <a:chExt cx="864" cy="48"/>
            </a:xfrm>
          </p:grpSpPr>
          <p:cxnSp>
            <p:nvCxnSpPr>
              <p:cNvPr id="164" name="Google Shape;164;p8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8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66" name="Google Shape;166;p8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8" name="Google Shape;168;p8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69" name="Google Shape;169;p8"/>
            <p:cNvGrpSpPr/>
            <p:nvPr/>
          </p:nvGrpSpPr>
          <p:grpSpPr>
            <a:xfrm>
              <a:off x="2496" y="2208"/>
              <a:ext cx="864" cy="48"/>
              <a:chOff x="1392" y="2376"/>
              <a:chExt cx="864" cy="48"/>
            </a:xfrm>
          </p:grpSpPr>
          <p:cxnSp>
            <p:nvCxnSpPr>
              <p:cNvPr id="170" name="Google Shape;170;p8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8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72" name="Google Shape;172;p8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8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4" name="Google Shape;174;p8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75" name="Google Shape;175;p8"/>
            <p:cNvGrpSpPr/>
            <p:nvPr/>
          </p:nvGrpSpPr>
          <p:grpSpPr>
            <a:xfrm>
              <a:off x="2496" y="2784"/>
              <a:ext cx="864" cy="48"/>
              <a:chOff x="1392" y="2376"/>
              <a:chExt cx="864" cy="48"/>
            </a:xfrm>
          </p:grpSpPr>
          <p:cxnSp>
            <p:nvCxnSpPr>
              <p:cNvPr id="176" name="Google Shape;176;p8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8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0" name="Google Shape;180;p8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81" name="Google Shape;181;p8"/>
            <p:cNvGrpSpPr/>
            <p:nvPr/>
          </p:nvGrpSpPr>
          <p:grpSpPr>
            <a:xfrm>
              <a:off x="2496" y="2352"/>
              <a:ext cx="864" cy="216"/>
              <a:chOff x="2688" y="2208"/>
              <a:chExt cx="864" cy="216"/>
            </a:xfrm>
          </p:grpSpPr>
          <p:cxnSp>
            <p:nvCxnSpPr>
              <p:cNvPr id="182" name="Google Shape;182;p8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8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4" name="Google Shape;184;p8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6" name="Google Shape;186;p8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87" name="Google Shape;187;p8"/>
            <p:cNvGrpSpPr/>
            <p:nvPr/>
          </p:nvGrpSpPr>
          <p:grpSpPr>
            <a:xfrm>
              <a:off x="2496" y="1776"/>
              <a:ext cx="864" cy="216"/>
              <a:chOff x="2688" y="2208"/>
              <a:chExt cx="864" cy="216"/>
            </a:xfrm>
          </p:grpSpPr>
          <p:cxnSp>
            <p:nvCxnSpPr>
              <p:cNvPr id="188" name="Google Shape;188;p8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0" name="Google Shape;190;p8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2" name="Google Shape;192;p8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3" name="Google Shape;193;p8"/>
            <p:cNvGrpSpPr/>
            <p:nvPr/>
          </p:nvGrpSpPr>
          <p:grpSpPr>
            <a:xfrm>
              <a:off x="1392" y="1776"/>
              <a:ext cx="864" cy="216"/>
              <a:chOff x="2688" y="2208"/>
              <a:chExt cx="864" cy="216"/>
            </a:xfrm>
          </p:grpSpPr>
          <p:cxnSp>
            <p:nvCxnSpPr>
              <p:cNvPr id="194" name="Google Shape;194;p8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8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6" name="Google Shape;196;p8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8" name="Google Shape;198;p8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9" name="Google Shape;199;p8"/>
            <p:cNvGrpSpPr/>
            <p:nvPr/>
          </p:nvGrpSpPr>
          <p:grpSpPr>
            <a:xfrm>
              <a:off x="1392" y="2064"/>
              <a:ext cx="864" cy="216"/>
              <a:chOff x="2688" y="2208"/>
              <a:chExt cx="864" cy="216"/>
            </a:xfrm>
          </p:grpSpPr>
          <p:cxnSp>
            <p:nvCxnSpPr>
              <p:cNvPr id="200" name="Google Shape;200;p8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01" name="Google Shape;201;p8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02" name="Google Shape;202;p8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4" name="Google Shape;204;p8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05" name="Google Shape;205;p8"/>
            <p:cNvSpPr txBox="1"/>
            <p:nvPr/>
          </p:nvSpPr>
          <p:spPr>
            <a:xfrm>
              <a:off x="3696" y="1776"/>
              <a:ext cx="749" cy="1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(00)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(01)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(11)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Information representation</a:t>
            </a:r>
            <a:endParaRPr/>
          </a:p>
        </p:txBody>
      </p:sp>
      <p:sp>
        <p:nvSpPr>
          <p:cNvPr id="211" name="Google Shape;211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can represent 2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different values.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values,                  bits are needed.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2057400"/>
            <a:ext cx="1352550" cy="5159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 txBox="1"/>
          <p:nvPr/>
        </p:nvSpPr>
        <p:spPr>
          <a:xfrm>
            <a:off x="914400" y="2819400"/>
            <a:ext cx="7848600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 bit  → represents up to 2 values (0 or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 bits → rep. up to 4 values (00, 01, 10 or 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 bits → rep. up to 8 values (000, 001, 010. …, 110, 111)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 bits → rep. up to 16 values (0000, 0001, 0010, …, 1111)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32 values     → requires 5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64 values     → requires 6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1024 values → requires 10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40 values     → requires 6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100 values   → requires 7 bits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457200" y="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Positional Notations</a:t>
            </a:r>
            <a:endParaRPr/>
          </a:p>
        </p:txBody>
      </p:sp>
      <p:sp>
        <p:nvSpPr>
          <p:cNvPr id="219" name="Google Shape;219;p10"/>
          <p:cNvSpPr txBox="1"/>
          <p:nvPr>
            <p:ph idx="1" type="body"/>
          </p:nvPr>
        </p:nvSpPr>
        <p:spPr>
          <a:xfrm>
            <a:off x="457200" y="9144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Decimal number system, symbols = { 0, 1, 2, 3, …, 9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Position is important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Example:(7594)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(7x10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(5x10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(9x10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(4x10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…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(2.75)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(7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(5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… 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…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… + (f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Number Systems</a:t>
            </a:r>
            <a:endParaRPr/>
          </a:p>
        </p:txBody>
      </p:sp>
      <p:sp>
        <p:nvSpPr>
          <p:cNvPr id="225" name="Google Shape;225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(base 2): weights in powers-of-2. Binary digits (bits):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Octal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8): weights in powers-of-8. Octal digits: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Hexadecimal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16): weights in powers-of-16. Hexadecimal digits: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0,1,2,3,4,5,6,7,8,9,A,B,C,D,E,F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when base is r, coefficient values range from 0 to r-1.</a:t>
            </a:r>
            <a:endParaRPr/>
          </a:p>
          <a:p>
            <a:pPr indent="-99059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9059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1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type="title"/>
          </p:nvPr>
        </p:nvSpPr>
        <p:spPr>
          <a:xfrm>
            <a:off x="457200" y="-30162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Number System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381000" y="609600"/>
            <a:ext cx="8305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71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▪"/>
            </a:pPr>
            <a:r>
              <a:rPr b="0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(base 2): weights in powers-of-2. Binary digits (bits):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0,1.</a:t>
            </a:r>
            <a:endParaRPr/>
          </a:p>
          <a:p>
            <a:pPr indent="-1371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▪"/>
            </a:pPr>
            <a:r>
              <a:rPr b="0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Octal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8): weights in powers-of-8. Octal digits: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</a:t>
            </a:r>
            <a:endParaRPr/>
          </a:p>
          <a:p>
            <a:pPr indent="-1371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▪"/>
            </a:pPr>
            <a:r>
              <a:rPr b="0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Hexadecimal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16): weights in powers-of-16. Hexadecimal digits: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0,1,2,3,4,5,6,7,8,9,A,B,C,D,E,F</a:t>
            </a:r>
            <a:endParaRPr/>
          </a:p>
        </p:txBody>
      </p:sp>
      <p:graphicFrame>
        <p:nvGraphicFramePr>
          <p:cNvPr id="233" name="Google Shape;233;p12"/>
          <p:cNvGraphicFramePr/>
          <p:nvPr/>
        </p:nvGraphicFramePr>
        <p:xfrm>
          <a:off x="12573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{747BB50C-47E9-44D7-9FDA-CDFB92654240}</a:tableStyleId>
              </a:tblPr>
              <a:tblGrid>
                <a:gridCol w="1638300"/>
                <a:gridCol w="1638300"/>
                <a:gridCol w="1638300"/>
                <a:gridCol w="1638300"/>
              </a:tblGrid>
              <a:tr h="27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Octal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Decimal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Hexadecimal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Base-R to Decimal Conversion</a:t>
            </a:r>
            <a:endParaRPr/>
          </a:p>
        </p:txBody>
      </p:sp>
      <p:sp>
        <p:nvSpPr>
          <p:cNvPr id="239" name="Google Shape;239;p13"/>
          <p:cNvSpPr txBox="1"/>
          <p:nvPr>
            <p:ph idx="1" type="body"/>
          </p:nvPr>
        </p:nvSpPr>
        <p:spPr>
          <a:xfrm>
            <a:off x="457200" y="1600200"/>
            <a:ext cx="8686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***Formula= ∑ digit * source_base</a:t>
            </a:r>
            <a:r>
              <a:rPr b="1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position</a:t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(1101.101)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-3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= 8 + 4 + 1 + 0.5 + 0.125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= (13.625)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213359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(572.6)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7×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2×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+ 6×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= 320 + 56 + 2 + 0.75 = (378.75)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213359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(2A.8)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+ 10×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+ 8×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     = 32 + 10 + 0.5 = (42.5)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213359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(341.24)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4×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+ 2×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+ 4×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= 75 + 20 + 1 + 0.4 + 0.16 = (96.56)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-25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lang="en-US" sz="4000"/>
              <a:t>Decimal to Base-R Conversion</a:t>
            </a:r>
            <a:endParaRPr/>
          </a:p>
        </p:txBody>
      </p:sp>
      <p:sp>
        <p:nvSpPr>
          <p:cNvPr id="245" name="Google Shape;245;p15"/>
          <p:cNvSpPr txBox="1"/>
          <p:nvPr>
            <p:ph idx="1" type="body"/>
          </p:nvPr>
        </p:nvSpPr>
        <p:spPr>
          <a:xfrm>
            <a:off x="457200" y="17224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Decimal to base-R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lang="en-US"/>
              <a:t>W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hole numbers: repeated division-by-R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lang="en-US"/>
              <a:t>F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ractions: repeated multiplication-by-R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Repeated Division-by-2 Method</a:t>
            </a:r>
            <a:endParaRPr/>
          </a:p>
        </p:txBody>
      </p:sp>
      <p:sp>
        <p:nvSpPr>
          <p:cNvPr id="251" name="Google Shape;251;p16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convert a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whole number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binary, use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successive division by 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until the quotient is 0.  The remainders form the answer, with the first remainder as the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 significant bit (LSB)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last as the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significant bit (MSB)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(43)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(101011)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-25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16"/>
          <p:cNvGraphicFramePr/>
          <p:nvPr/>
        </p:nvGraphicFramePr>
        <p:xfrm>
          <a:off x="4876800" y="2286000"/>
          <a:ext cx="2784475" cy="2614612"/>
        </p:xfrm>
        <a:graphic>
          <a:graphicData uri="http://schemas.openxmlformats.org/presentationml/2006/ole">
            <mc:AlternateContent>
              <mc:Choice Requires="v">
                <p:oleObj r:id="rId5" imgH="2614612" imgW="2784475" progId="Word.Document.8" spid="_x0000_s1">
                  <p:embed/>
                </p:oleObj>
              </mc:Choice>
              <mc:Fallback>
                <p:oleObj r:id="rId6" imgH="2614612" imgW="2784475" progId="Word.Document.8">
                  <p:embed/>
                  <p:pic>
                    <p:nvPicPr>
                      <p:cNvPr id="252" name="Google Shape;252;p16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876800" y="2286000"/>
                        <a:ext cx="2784475" cy="261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Repeated Multiplication-by-2 Method</a:t>
            </a:r>
            <a:endParaRPr/>
          </a:p>
        </p:txBody>
      </p:sp>
      <p:sp>
        <p:nvSpPr>
          <p:cNvPr id="258" name="Google Shape;258;p17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convert </a:t>
            </a:r>
            <a:r>
              <a:rPr b="0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decimal fractions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binary, </a:t>
            </a:r>
            <a:r>
              <a:rPr b="0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repeated multiplication by 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used, until the fractional product is 0 (or until the desired number of decimal places). The carried digits, or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produce the answer, with the first carry as the MSB, and the last as the LSB.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(0.3125)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(.0101)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9" name="Google Shape;259;p17"/>
          <p:cNvGraphicFramePr/>
          <p:nvPr/>
        </p:nvGraphicFramePr>
        <p:xfrm>
          <a:off x="4648200" y="2897187"/>
          <a:ext cx="4038600" cy="1931987"/>
        </p:xfrm>
        <a:graphic>
          <a:graphicData uri="http://schemas.openxmlformats.org/presentationml/2006/ole">
            <mc:AlternateContent>
              <mc:Choice Requires="v">
                <p:oleObj r:id="rId5" imgH="1931987" imgW="4038600" progId="Word.Document.8" spid="_x0000_s1">
                  <p:embed/>
                </p:oleObj>
              </mc:Choice>
              <mc:Fallback>
                <p:oleObj r:id="rId6" imgH="1931987" imgW="4038600" progId="Word.Document.8">
                  <p:embed/>
                  <p:pic>
                    <p:nvPicPr>
                      <p:cNvPr id="259" name="Google Shape;259;p17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648200" y="2897187"/>
                        <a:ext cx="4038600" cy="193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difference between conversion of integer and fraction</a:t>
            </a:r>
            <a:endParaRPr/>
          </a:p>
        </p:txBody>
      </p:sp>
      <p:sp>
        <p:nvSpPr>
          <p:cNvPr id="265" name="Google Shape;265;p18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endParaRPr/>
          </a:p>
        </p:txBody>
      </p:sp>
      <p:sp>
        <p:nvSpPr>
          <p:cNvPr id="266" name="Google Shape;266;p18"/>
          <p:cNvSpPr txBox="1"/>
          <p:nvPr>
            <p:ph idx="1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Division by base of target no. system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Remainders are accumulated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division we obtain LSB to MSB</a:t>
            </a:r>
            <a:endParaRPr/>
          </a:p>
        </p:txBody>
      </p:sp>
      <p:sp>
        <p:nvSpPr>
          <p:cNvPr id="267" name="Google Shape;267;p18"/>
          <p:cNvSpPr txBox="1"/>
          <p:nvPr>
            <p:ph idx="1" type="body"/>
          </p:nvPr>
        </p:nvSpPr>
        <p:spPr>
          <a:xfrm>
            <a:off x="4645025" y="1535112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/>
          </a:p>
        </p:txBody>
      </p:sp>
      <p:sp>
        <p:nvSpPr>
          <p:cNvPr id="268" name="Google Shape;268;p18"/>
          <p:cNvSpPr txBox="1"/>
          <p:nvPr>
            <p:ph idx="2" type="body"/>
          </p:nvPr>
        </p:nvSpPr>
        <p:spPr>
          <a:xfrm>
            <a:off x="4645025" y="2174875"/>
            <a:ext cx="4041775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by base of target no. system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Integers are accumulated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multiplication we obtain MSB to LSB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Binary-Octal/Hexadecimal Conversion</a:t>
            </a:r>
            <a:endParaRPr/>
          </a:p>
        </p:txBody>
      </p:sp>
      <p:sp>
        <p:nvSpPr>
          <p:cNvPr id="274" name="Google Shape;274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 → Octal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Partition in groups of 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(10 111 011 001 . 101 110)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(2731.56)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Octal → Binary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reverse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(2731.56)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(10 111 011 001 . 101 110)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 → Hexadecimal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Partition in groups of 4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(101 1101 1001 . 1011 1000)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(5D9.B8)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Hexadecimal → Binary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reverse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(5D9.B8)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(101 1101 1001 . 1011 1000)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/>
          <p:nvPr/>
        </p:nvSpPr>
        <p:spPr>
          <a:xfrm rot="-5400000">
            <a:off x="156210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/>
          <p:nvPr/>
        </p:nvSpPr>
        <p:spPr>
          <a:xfrm rot="-5400000">
            <a:off x="217170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/>
          <p:nvPr/>
        </p:nvSpPr>
        <p:spPr>
          <a:xfrm rot="-5400000">
            <a:off x="278130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 rot="-5400000">
            <a:off x="3529012" y="2414587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 rot="-5400000">
            <a:off x="442595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/>
          <p:nvPr/>
        </p:nvSpPr>
        <p:spPr>
          <a:xfrm rot="-5400000">
            <a:off x="5140325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9"/>
          <p:cNvSpPr/>
          <p:nvPr/>
        </p:nvSpPr>
        <p:spPr>
          <a:xfrm rot="-5400000">
            <a:off x="1619250" y="51435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/>
          <p:nvPr/>
        </p:nvSpPr>
        <p:spPr>
          <a:xfrm rot="-5400000">
            <a:off x="2451893" y="5049043"/>
            <a:ext cx="158750" cy="576262"/>
          </a:xfrm>
          <a:prstGeom prst="leftBrace">
            <a:avLst>
              <a:gd fmla="val 496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/>
          <p:nvPr/>
        </p:nvSpPr>
        <p:spPr>
          <a:xfrm rot="-5400000">
            <a:off x="3290887" y="5029200"/>
            <a:ext cx="152400" cy="6096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/>
          <p:nvPr/>
        </p:nvSpPr>
        <p:spPr>
          <a:xfrm rot="-5400000">
            <a:off x="4448968" y="5012531"/>
            <a:ext cx="152400" cy="642937"/>
          </a:xfrm>
          <a:prstGeom prst="leftBrace">
            <a:avLst>
              <a:gd fmla="val 427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/>
          <p:nvPr/>
        </p:nvSpPr>
        <p:spPr>
          <a:xfrm rot="-5400000">
            <a:off x="5303043" y="4998243"/>
            <a:ext cx="152400" cy="671512"/>
          </a:xfrm>
          <a:prstGeom prst="leftBrace">
            <a:avLst>
              <a:gd fmla="val 408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037" y="800100"/>
            <a:ext cx="803592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Exercise:</a:t>
            </a:r>
            <a:endParaRPr/>
          </a:p>
        </p:txBody>
      </p:sp>
      <p:sp>
        <p:nvSpPr>
          <p:cNvPr id="296" name="Google Shape;296;p21"/>
          <p:cNvSpPr txBox="1"/>
          <p:nvPr>
            <p:ph idx="1" type="body"/>
          </p:nvPr>
        </p:nvSpPr>
        <p:spPr>
          <a:xfrm>
            <a:off x="454025" y="116522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(1)Try converting this to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(10110001101011.111100000110)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octal b) hexadecimal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Try converting these to binary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a) (673.124)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b) (306.D)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41325" y="33829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Answers: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430212" y="4357687"/>
            <a:ext cx="4572000" cy="266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Both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(26153.7406)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   b) (2C6B.F06)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a)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(110 111 011 . 001 010 100)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b)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(0011 0000 0110 . 1101)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baseline="-2500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baseline="-2500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operations: Addition: Addition Rules w/Carries</a:t>
            </a:r>
            <a:endParaRPr/>
          </a:p>
        </p:txBody>
      </p:sp>
      <p:sp>
        <p:nvSpPr>
          <p:cNvPr id="304" name="Google Shape;304;p22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2 bit</a:t>
            </a:r>
            <a:endParaRPr/>
          </a:p>
        </p:txBody>
      </p:sp>
      <p:sp>
        <p:nvSpPr>
          <p:cNvPr id="305" name="Google Shape;305;p22"/>
          <p:cNvSpPr txBox="1"/>
          <p:nvPr>
            <p:ph idx="1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+ 0 = 0 0 ( 0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+ 1 = 0 1 ( 1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+ 0 = 0 1 ( 1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+ 1 = 1 0 ( 0 with a 1 carry )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 txBox="1"/>
          <p:nvPr>
            <p:ph idx="1" type="body"/>
          </p:nvPr>
        </p:nvSpPr>
        <p:spPr>
          <a:xfrm>
            <a:off x="4645025" y="1535112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3 bit</a:t>
            </a:r>
            <a:endParaRPr/>
          </a:p>
        </p:txBody>
      </p:sp>
      <p:sp>
        <p:nvSpPr>
          <p:cNvPr id="307" name="Google Shape;307;p22"/>
          <p:cNvSpPr txBox="1"/>
          <p:nvPr>
            <p:ph idx="2" type="body"/>
          </p:nvPr>
        </p:nvSpPr>
        <p:spPr>
          <a:xfrm>
            <a:off x="4645025" y="2174875"/>
            <a:ext cx="4041775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0+0+0 = 0 0 (0 WITH 0 CARRY)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0+0+1 = 0 1 (1 WITH 0 CARRY)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0+1+1 = 1 0 (0 WITH 1 CARRY)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1+1+1 = 1 1 (1 WITH 1 CARRY)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 txBox="1"/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3" name="Google Shape;313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Adding Binary Numbers</a:t>
            </a:r>
            <a:endParaRPr/>
          </a:p>
        </p:txBody>
      </p:sp>
      <p:grpSp>
        <p:nvGrpSpPr>
          <p:cNvPr id="314" name="Google Shape;314;p23"/>
          <p:cNvGrpSpPr/>
          <p:nvPr/>
        </p:nvGrpSpPr>
        <p:grpSpPr>
          <a:xfrm>
            <a:off x="1905000" y="2209800"/>
            <a:ext cx="1098550" cy="1676400"/>
            <a:chOff x="338" y="1680"/>
            <a:chExt cx="692" cy="1056"/>
          </a:xfrm>
        </p:grpSpPr>
        <p:sp>
          <p:nvSpPr>
            <p:cNvPr id="315" name="Google Shape;315;p23"/>
            <p:cNvSpPr txBox="1"/>
            <p:nvPr/>
          </p:nvSpPr>
          <p:spPr>
            <a:xfrm>
              <a:off x="338" y="1680"/>
              <a:ext cx="692" cy="1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28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 43</a:t>
              </a:r>
              <a:endParaRPr/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71</a:t>
              </a:r>
              <a:endParaRPr/>
            </a:p>
          </p:txBody>
        </p:sp>
        <p:cxnSp>
          <p:nvCxnSpPr>
            <p:cNvPr id="316" name="Google Shape;316;p23"/>
            <p:cNvCxnSpPr/>
            <p:nvPr/>
          </p:nvCxnSpPr>
          <p:spPr>
            <a:xfrm>
              <a:off x="384" y="2352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17" name="Google Shape;317;p23"/>
          <p:cNvSpPr txBox="1"/>
          <p:nvPr/>
        </p:nvSpPr>
        <p:spPr>
          <a:xfrm>
            <a:off x="3276600" y="2211387"/>
            <a:ext cx="373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00011100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00101011</a:t>
            </a:r>
            <a:endParaRPr/>
          </a:p>
        </p:txBody>
      </p:sp>
      <p:cxnSp>
        <p:nvCxnSpPr>
          <p:cNvPr id="318" name="Google Shape;318;p23"/>
          <p:cNvCxnSpPr/>
          <p:nvPr/>
        </p:nvCxnSpPr>
        <p:spPr>
          <a:xfrm>
            <a:off x="4746625" y="3278187"/>
            <a:ext cx="219392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319" name="Google Shape;319;p23"/>
          <p:cNvGrpSpPr/>
          <p:nvPr/>
        </p:nvGrpSpPr>
        <p:grpSpPr>
          <a:xfrm>
            <a:off x="6426200" y="2030412"/>
            <a:ext cx="581025" cy="1865312"/>
            <a:chOff x="3252" y="1182"/>
            <a:chExt cx="366" cy="1175"/>
          </a:xfrm>
        </p:grpSpPr>
        <p:sp>
          <p:nvSpPr>
            <p:cNvPr id="320" name="Google Shape;320;p23"/>
            <p:cNvSpPr txBox="1"/>
            <p:nvPr/>
          </p:nvSpPr>
          <p:spPr>
            <a:xfrm>
              <a:off x="3360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3252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322" name="Google Shape;322;p23"/>
          <p:cNvGrpSpPr/>
          <p:nvPr/>
        </p:nvGrpSpPr>
        <p:grpSpPr>
          <a:xfrm>
            <a:off x="5753100" y="2030412"/>
            <a:ext cx="582612" cy="1865312"/>
            <a:chOff x="2828" y="1182"/>
            <a:chExt cx="367" cy="1175"/>
          </a:xfrm>
        </p:grpSpPr>
        <p:sp>
          <p:nvSpPr>
            <p:cNvPr id="323" name="Google Shape;323;p23"/>
            <p:cNvSpPr txBox="1"/>
            <p:nvPr/>
          </p:nvSpPr>
          <p:spPr>
            <a:xfrm>
              <a:off x="2937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828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25" name="Google Shape;325;p23"/>
          <p:cNvGrpSpPr/>
          <p:nvPr/>
        </p:nvGrpSpPr>
        <p:grpSpPr>
          <a:xfrm>
            <a:off x="6202362" y="2030412"/>
            <a:ext cx="581025" cy="1865312"/>
            <a:chOff x="3111" y="1182"/>
            <a:chExt cx="366" cy="1175"/>
          </a:xfrm>
        </p:grpSpPr>
        <p:sp>
          <p:nvSpPr>
            <p:cNvPr id="326" name="Google Shape;326;p23"/>
            <p:cNvSpPr txBox="1"/>
            <p:nvPr/>
          </p:nvSpPr>
          <p:spPr>
            <a:xfrm>
              <a:off x="3219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27" name="Google Shape;327;p23"/>
            <p:cNvSpPr txBox="1"/>
            <p:nvPr/>
          </p:nvSpPr>
          <p:spPr>
            <a:xfrm>
              <a:off x="3111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328" name="Google Shape;328;p23"/>
          <p:cNvGrpSpPr/>
          <p:nvPr/>
        </p:nvGrpSpPr>
        <p:grpSpPr>
          <a:xfrm>
            <a:off x="5976937" y="2030412"/>
            <a:ext cx="582612" cy="1865312"/>
            <a:chOff x="2969" y="1182"/>
            <a:chExt cx="367" cy="1175"/>
          </a:xfrm>
        </p:grpSpPr>
        <p:sp>
          <p:nvSpPr>
            <p:cNvPr id="329" name="Google Shape;329;p23"/>
            <p:cNvSpPr txBox="1"/>
            <p:nvPr/>
          </p:nvSpPr>
          <p:spPr>
            <a:xfrm>
              <a:off x="2969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3078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31" name="Google Shape;331;p23"/>
          <p:cNvGrpSpPr/>
          <p:nvPr/>
        </p:nvGrpSpPr>
        <p:grpSpPr>
          <a:xfrm>
            <a:off x="5527675" y="2030412"/>
            <a:ext cx="584200" cy="1865312"/>
            <a:chOff x="2686" y="1182"/>
            <a:chExt cx="368" cy="1175"/>
          </a:xfrm>
        </p:grpSpPr>
        <p:sp>
          <p:nvSpPr>
            <p:cNvPr id="332" name="Google Shape;332;p23"/>
            <p:cNvSpPr txBox="1"/>
            <p:nvPr/>
          </p:nvSpPr>
          <p:spPr>
            <a:xfrm>
              <a:off x="2796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33" name="Google Shape;333;p23"/>
            <p:cNvSpPr txBox="1"/>
            <p:nvPr/>
          </p:nvSpPr>
          <p:spPr>
            <a:xfrm>
              <a:off x="268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34" name="Google Shape;334;p23"/>
          <p:cNvGrpSpPr/>
          <p:nvPr/>
        </p:nvGrpSpPr>
        <p:grpSpPr>
          <a:xfrm>
            <a:off x="5302250" y="2030412"/>
            <a:ext cx="585787" cy="1865312"/>
            <a:chOff x="2544" y="1182"/>
            <a:chExt cx="369" cy="1175"/>
          </a:xfrm>
        </p:grpSpPr>
        <p:sp>
          <p:nvSpPr>
            <p:cNvPr id="335" name="Google Shape;335;p23"/>
            <p:cNvSpPr txBox="1"/>
            <p:nvPr/>
          </p:nvSpPr>
          <p:spPr>
            <a:xfrm>
              <a:off x="2655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2544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337" name="Google Shape;337;p23"/>
          <p:cNvSpPr txBox="1"/>
          <p:nvPr/>
        </p:nvSpPr>
        <p:spPr>
          <a:xfrm>
            <a:off x="5029200" y="3316287"/>
            <a:ext cx="4095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338" name="Google Shape;338;p23"/>
          <p:cNvGrpSpPr/>
          <p:nvPr/>
        </p:nvGrpSpPr>
        <p:grpSpPr>
          <a:xfrm>
            <a:off x="5083175" y="2030412"/>
            <a:ext cx="585787" cy="1865312"/>
            <a:chOff x="2544" y="1182"/>
            <a:chExt cx="369" cy="1175"/>
          </a:xfrm>
        </p:grpSpPr>
        <p:sp>
          <p:nvSpPr>
            <p:cNvPr id="339" name="Google Shape;339;p23"/>
            <p:cNvSpPr txBox="1"/>
            <p:nvPr/>
          </p:nvSpPr>
          <p:spPr>
            <a:xfrm>
              <a:off x="2655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2544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346" name="Google Shape;346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3(a) Add (101101)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(100111)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493712" y="2286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488950" y="338296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3(a) (1010100)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Working: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grpSp>
        <p:nvGrpSpPr>
          <p:cNvPr id="349" name="Google Shape;349;p24"/>
          <p:cNvGrpSpPr/>
          <p:nvPr/>
        </p:nvGrpSpPr>
        <p:grpSpPr>
          <a:xfrm>
            <a:off x="793750" y="5135562"/>
            <a:ext cx="3259137" cy="1570037"/>
            <a:chOff x="261" y="890"/>
            <a:chExt cx="2224" cy="1071"/>
          </a:xfrm>
        </p:grpSpPr>
        <p:sp>
          <p:nvSpPr>
            <p:cNvPr id="350" name="Google Shape;350;p24"/>
            <p:cNvSpPr txBox="1"/>
            <p:nvPr/>
          </p:nvSpPr>
          <p:spPr>
            <a:xfrm>
              <a:off x="467" y="890"/>
              <a:ext cx="1837" cy="1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Augend:    101101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Addend:  +100111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4"/>
            <p:cNvSpPr txBox="1"/>
            <p:nvPr/>
          </p:nvSpPr>
          <p:spPr>
            <a:xfrm>
              <a:off x="453" y="1498"/>
              <a:ext cx="2032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Sum:        1010100</a:t>
              </a:r>
              <a:endParaRPr/>
            </a:p>
          </p:txBody>
        </p:sp>
        <p:cxnSp>
          <p:nvCxnSpPr>
            <p:cNvPr id="352" name="Google Shape;352;p24"/>
            <p:cNvCxnSpPr/>
            <p:nvPr/>
          </p:nvCxnSpPr>
          <p:spPr>
            <a:xfrm>
              <a:off x="261" y="1468"/>
              <a:ext cx="2004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 of base-r</a:t>
            </a:r>
            <a:endParaRPr/>
          </a:p>
        </p:txBody>
      </p:sp>
      <p:sp>
        <p:nvSpPr>
          <p:cNvPr id="358" name="Google Shape;358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(41)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(24)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			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			  (34)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       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(41)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+ (24)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________________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(2 0 4)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6400800" y="2209800"/>
            <a:ext cx="18288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4+1+4= 9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9%5=4 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9/5=1 (carry)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533400" y="2895600"/>
            <a:ext cx="2286000" cy="20843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1+3+4+2= 10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10%5=0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10/5=2 (carry)</a:t>
            </a:r>
            <a:endParaRPr/>
          </a:p>
        </p:txBody>
      </p:sp>
      <p:cxnSp>
        <p:nvCxnSpPr>
          <p:cNvPr id="361" name="Google Shape;361;p25"/>
          <p:cNvCxnSpPr/>
          <p:nvPr/>
        </p:nvCxnSpPr>
        <p:spPr>
          <a:xfrm flipH="1" rot="10800000">
            <a:off x="4800600" y="2895600"/>
            <a:ext cx="1447800" cy="266700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2" name="Google Shape;362;p25"/>
          <p:cNvCxnSpPr/>
          <p:nvPr/>
        </p:nvCxnSpPr>
        <p:spPr>
          <a:xfrm flipH="1">
            <a:off x="2819400" y="3124200"/>
            <a:ext cx="1295400" cy="76200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368" name="Google Shape;368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Try: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(a) (FF)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+(F1)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(b) (66)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(55)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492125" y="3200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370" name="Google Shape;370;p26"/>
          <p:cNvSpPr txBox="1"/>
          <p:nvPr/>
        </p:nvSpPr>
        <p:spPr>
          <a:xfrm>
            <a:off x="492125" y="452596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2(a) (1F0)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16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2(b) (154)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Multiplication</a:t>
            </a:r>
            <a:endParaRPr/>
          </a:p>
        </p:txBody>
      </p:sp>
      <p:sp>
        <p:nvSpPr>
          <p:cNvPr id="376" name="Google Shape;376;p27"/>
          <p:cNvSpPr txBox="1"/>
          <p:nvPr>
            <p:ph idx="1" type="body"/>
          </p:nvPr>
        </p:nvSpPr>
        <p:spPr>
          <a:xfrm>
            <a:off x="1182687" y="2017712"/>
            <a:ext cx="7772400" cy="163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multiplication of two binary numbers can be carried out in the same manner as the decimal multiplication.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decimal multiplication, only two values are generated as the outcome of multiplying the multiplication bit by 0 or 1 in the binary multiplication. These values are either 0 or 1.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binary multiplication can also be considered as repeated binary addition. Therefore, the binary multiplication is performed in conjunction with the binary addition operation.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382" name="Google Shape;382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(a) Multiply 1011 with 101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3" name="Google Shape;383;p28"/>
          <p:cNvGraphicFramePr/>
          <p:nvPr/>
        </p:nvGraphicFramePr>
        <p:xfrm>
          <a:off x="1066800" y="2276475"/>
          <a:ext cx="6251575" cy="4032250"/>
        </p:xfrm>
        <a:graphic>
          <a:graphicData uri="http://schemas.openxmlformats.org/presentationml/2006/ole">
            <mc:AlternateContent>
              <mc:Choice Requires="v">
                <p:oleObj r:id="rId5" imgH="4032250" imgW="6251575" progId="Word.Document.8" spid="_x0000_s1">
                  <p:embed/>
                </p:oleObj>
              </mc:Choice>
              <mc:Fallback>
                <p:oleObj r:id="rId6" imgH="4032250" imgW="6251575" progId="Word.Document.8">
                  <p:embed/>
                  <p:pic>
                    <p:nvPicPr>
                      <p:cNvPr id="383" name="Google Shape;383;p28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4776" l="4852" r="23924" t="34806"/>
                      <a:stretch/>
                    </p:blipFill>
                    <p:spPr>
                      <a:xfrm>
                        <a:off x="1066800" y="2276475"/>
                        <a:ext cx="6251575" cy="403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 txBox="1"/>
          <p:nvPr>
            <p:ph type="title"/>
          </p:nvPr>
        </p:nvSpPr>
        <p:spPr>
          <a:xfrm>
            <a:off x="382587" y="-9525"/>
            <a:ext cx="82296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with base-r</a:t>
            </a:r>
            <a:endParaRPr/>
          </a:p>
        </p:txBody>
      </p:sp>
      <p:sp>
        <p:nvSpPr>
          <p:cNvPr id="389" name="Google Shape;389;p29"/>
          <p:cNvSpPr txBox="1"/>
          <p:nvPr>
            <p:ph idx="1" type="body"/>
          </p:nvPr>
        </p:nvSpPr>
        <p:spPr>
          <a:xfrm>
            <a:off x="76200" y="746125"/>
            <a:ext cx="2362200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2A3C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xB7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127A4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1D094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1E30E4</a:t>
            </a:r>
            <a:endParaRPr/>
          </a:p>
        </p:txBody>
      </p:sp>
      <p:sp>
        <p:nvSpPr>
          <p:cNvPr id="390" name="Google Shape;390;p29"/>
          <p:cNvSpPr txBox="1"/>
          <p:nvPr>
            <p:ph idx="1" type="body"/>
          </p:nvPr>
        </p:nvSpPr>
        <p:spPr>
          <a:xfrm>
            <a:off x="2133600" y="42545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</a:t>
            </a:r>
            <a:endParaRPr/>
          </a:p>
        </p:txBody>
      </p:sp>
      <p:sp>
        <p:nvSpPr>
          <p:cNvPr id="391" name="Google Shape;391;p29"/>
          <p:cNvSpPr txBox="1"/>
          <p:nvPr>
            <p:ph idx="2" type="body"/>
          </p:nvPr>
        </p:nvSpPr>
        <p:spPr>
          <a:xfrm>
            <a:off x="2132012" y="1044575"/>
            <a:ext cx="6858000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7*C = 7*12 = 84 =(write 4, carry 5)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7*3+5 = 26 = 1A (write A, carry 1)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7*A+1 = 71 = 0x47 (write 7, carry 4)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7*2+4 = 18 = 0x12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completes the 7*2A3C = 127A4 partial product.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B*C = 11*12 = 132 = (write 4, carry 8)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B*3+8 = 11*3+8 = 41 = (write 9, carry 2)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B*A+2 = 11*10+2 = 112 = (write 0, carry 7)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B*2+7 = 11*2+7 = 29 = 1D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completes the B[0]*2A3C = 1D094[0] partial product, where I'm noting the [0] digits to remind us this is in the 16s column.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the partial products: 127A4 + 1D0940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4+0 = 4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A+4 = E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7+9 = 16 = 0x10 (write 0, carry 1)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2+0+1 = 3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1+D = E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1 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/>
          <p:nvPr/>
        </p:nvSpPr>
        <p:spPr>
          <a:xfrm>
            <a:off x="762000" y="1676400"/>
            <a:ext cx="4648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(a) Multiply (34)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(42)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(b) Multiply (25)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(36)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152400" y="25034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838200" y="4210050"/>
            <a:ext cx="15176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(a) (3133)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(b) (1033)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operations: </a:t>
            </a:r>
            <a:b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Subtraction Rules w/Carries</a:t>
            </a:r>
            <a:endParaRPr/>
          </a:p>
        </p:txBody>
      </p:sp>
      <p:sp>
        <p:nvSpPr>
          <p:cNvPr id="405" name="Google Shape;405;p31"/>
          <p:cNvSpPr txBox="1"/>
          <p:nvPr>
            <p:ph idx="1" type="body"/>
          </p:nvPr>
        </p:nvSpPr>
        <p:spPr>
          <a:xfrm>
            <a:off x="473075" y="2438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0 - 0 = 0 0 ( 0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1 - 1 = 0 0 ( 0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1 - 0 = 0 1 ( 1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0 - 1 = ? ( ???)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1"/>
          <p:cNvSpPr txBox="1"/>
          <p:nvPr>
            <p:ph idx="1" type="body"/>
          </p:nvPr>
        </p:nvSpPr>
        <p:spPr>
          <a:xfrm>
            <a:off x="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2 bit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/>
        </p:nvSpPr>
        <p:spPr>
          <a:xfrm>
            <a:off x="6556375" y="55118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2" name="Google Shape;412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Subtracting Binary Numbers:</a:t>
            </a:r>
            <a:endParaRPr/>
          </a:p>
        </p:txBody>
      </p:sp>
      <p:grpSp>
        <p:nvGrpSpPr>
          <p:cNvPr id="413" name="Google Shape;413;p32"/>
          <p:cNvGrpSpPr/>
          <p:nvPr/>
        </p:nvGrpSpPr>
        <p:grpSpPr>
          <a:xfrm>
            <a:off x="1831975" y="1849437"/>
            <a:ext cx="1025525" cy="1692275"/>
            <a:chOff x="384" y="1680"/>
            <a:chExt cx="646" cy="1066"/>
          </a:xfrm>
        </p:grpSpPr>
        <p:sp>
          <p:nvSpPr>
            <p:cNvPr id="414" name="Google Shape;414;p32"/>
            <p:cNvSpPr txBox="1"/>
            <p:nvPr/>
          </p:nvSpPr>
          <p:spPr>
            <a:xfrm>
              <a:off x="541" y="1680"/>
              <a:ext cx="489" cy="1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2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 1</a:t>
              </a:r>
              <a:endParaRPr/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415" name="Google Shape;415;p32"/>
            <p:cNvCxnSpPr/>
            <p:nvPr/>
          </p:nvCxnSpPr>
          <p:spPr>
            <a:xfrm>
              <a:off x="384" y="2352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416" name="Google Shape;416;p32"/>
          <p:cNvSpPr txBox="1"/>
          <p:nvPr/>
        </p:nvSpPr>
        <p:spPr>
          <a:xfrm>
            <a:off x="3130550" y="1851025"/>
            <a:ext cx="373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01</a:t>
            </a:r>
            <a:endParaRPr/>
          </a:p>
        </p:txBody>
      </p:sp>
      <p:cxnSp>
        <p:nvCxnSpPr>
          <p:cNvPr id="417" name="Google Shape;417;p32"/>
          <p:cNvCxnSpPr/>
          <p:nvPr/>
        </p:nvCxnSpPr>
        <p:spPr>
          <a:xfrm>
            <a:off x="4600575" y="2917825"/>
            <a:ext cx="219392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418" name="Google Shape;418;p32"/>
          <p:cNvGrpSpPr/>
          <p:nvPr/>
        </p:nvGrpSpPr>
        <p:grpSpPr>
          <a:xfrm>
            <a:off x="6280150" y="1670050"/>
            <a:ext cx="581025" cy="1865312"/>
            <a:chOff x="3252" y="1182"/>
            <a:chExt cx="366" cy="1175"/>
          </a:xfrm>
        </p:grpSpPr>
        <p:sp>
          <p:nvSpPr>
            <p:cNvPr id="419" name="Google Shape;419;p32"/>
            <p:cNvSpPr txBox="1"/>
            <p:nvPr/>
          </p:nvSpPr>
          <p:spPr>
            <a:xfrm>
              <a:off x="3360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20" name="Google Shape;420;p32"/>
            <p:cNvSpPr txBox="1"/>
            <p:nvPr/>
          </p:nvSpPr>
          <p:spPr>
            <a:xfrm>
              <a:off x="3252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32"/>
          <p:cNvGrpSpPr/>
          <p:nvPr/>
        </p:nvGrpSpPr>
        <p:grpSpPr>
          <a:xfrm>
            <a:off x="5586412" y="1670050"/>
            <a:ext cx="377825" cy="1870075"/>
            <a:chOff x="2815" y="1182"/>
            <a:chExt cx="238" cy="1178"/>
          </a:xfrm>
        </p:grpSpPr>
        <p:sp>
          <p:nvSpPr>
            <p:cNvPr id="422" name="Google Shape;422;p32"/>
            <p:cNvSpPr txBox="1"/>
            <p:nvPr/>
          </p:nvSpPr>
          <p:spPr>
            <a:xfrm>
              <a:off x="2937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2"/>
            <p:cNvSpPr txBox="1"/>
            <p:nvPr/>
          </p:nvSpPr>
          <p:spPr>
            <a:xfrm>
              <a:off x="2815" y="1182"/>
              <a:ext cx="12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4" name="Google Shape;424;p32"/>
          <p:cNvGrpSpPr/>
          <p:nvPr/>
        </p:nvGrpSpPr>
        <p:grpSpPr>
          <a:xfrm>
            <a:off x="6227762" y="1682750"/>
            <a:ext cx="412750" cy="1857375"/>
            <a:chOff x="3219" y="1190"/>
            <a:chExt cx="260" cy="1170"/>
          </a:xfrm>
        </p:grpSpPr>
        <p:sp>
          <p:nvSpPr>
            <p:cNvPr id="425" name="Google Shape;425;p32"/>
            <p:cNvSpPr txBox="1"/>
            <p:nvPr/>
          </p:nvSpPr>
          <p:spPr>
            <a:xfrm>
              <a:off x="3219" y="1992"/>
              <a:ext cx="26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26" name="Google Shape;426;p32"/>
            <p:cNvSpPr txBox="1"/>
            <p:nvPr/>
          </p:nvSpPr>
          <p:spPr>
            <a:xfrm>
              <a:off x="3249" y="119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427" name="Google Shape;427;p32"/>
          <p:cNvGrpSpPr/>
          <p:nvPr/>
        </p:nvGrpSpPr>
        <p:grpSpPr>
          <a:xfrm>
            <a:off x="5830887" y="1670050"/>
            <a:ext cx="357187" cy="1870075"/>
            <a:chOff x="2969" y="1182"/>
            <a:chExt cx="225" cy="1178"/>
          </a:xfrm>
        </p:grpSpPr>
        <p:sp>
          <p:nvSpPr>
            <p:cNvPr id="428" name="Google Shape;428;p32"/>
            <p:cNvSpPr txBox="1"/>
            <p:nvPr/>
          </p:nvSpPr>
          <p:spPr>
            <a:xfrm>
              <a:off x="2969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2"/>
            <p:cNvSpPr txBox="1"/>
            <p:nvPr/>
          </p:nvSpPr>
          <p:spPr>
            <a:xfrm>
              <a:off x="3078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p32"/>
          <p:cNvGrpSpPr/>
          <p:nvPr/>
        </p:nvGrpSpPr>
        <p:grpSpPr>
          <a:xfrm>
            <a:off x="5381625" y="1670050"/>
            <a:ext cx="358775" cy="1870075"/>
            <a:chOff x="2686" y="1182"/>
            <a:chExt cx="226" cy="1178"/>
          </a:xfrm>
        </p:grpSpPr>
        <p:sp>
          <p:nvSpPr>
            <p:cNvPr id="431" name="Google Shape;431;p32"/>
            <p:cNvSpPr txBox="1"/>
            <p:nvPr/>
          </p:nvSpPr>
          <p:spPr>
            <a:xfrm>
              <a:off x="2796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2"/>
            <p:cNvSpPr txBox="1"/>
            <p:nvPr/>
          </p:nvSpPr>
          <p:spPr>
            <a:xfrm>
              <a:off x="2686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" name="Google Shape;433;p32"/>
          <p:cNvGrpSpPr/>
          <p:nvPr/>
        </p:nvGrpSpPr>
        <p:grpSpPr>
          <a:xfrm>
            <a:off x="4937125" y="1670050"/>
            <a:ext cx="360362" cy="1870075"/>
            <a:chOff x="2544" y="1182"/>
            <a:chExt cx="227" cy="1178"/>
          </a:xfrm>
        </p:grpSpPr>
        <p:sp>
          <p:nvSpPr>
            <p:cNvPr id="434" name="Google Shape;434;p32"/>
            <p:cNvSpPr txBox="1"/>
            <p:nvPr/>
          </p:nvSpPr>
          <p:spPr>
            <a:xfrm>
              <a:off x="2655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2"/>
            <p:cNvSpPr txBox="1"/>
            <p:nvPr/>
          </p:nvSpPr>
          <p:spPr>
            <a:xfrm>
              <a:off x="2544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" name="Google Shape;436;p32"/>
          <p:cNvSpPr txBox="1"/>
          <p:nvPr/>
        </p:nvSpPr>
        <p:spPr>
          <a:xfrm>
            <a:off x="6496050" y="1439862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437" name="Google Shape;437;p32"/>
          <p:cNvCxnSpPr/>
          <p:nvPr/>
        </p:nvCxnSpPr>
        <p:spPr>
          <a:xfrm>
            <a:off x="6592887" y="2544762"/>
            <a:ext cx="182562" cy="185737"/>
          </a:xfrm>
          <a:prstGeom prst="straightConnector1">
            <a:avLst/>
          </a:prstGeom>
          <a:noFill/>
          <a:ln cap="flat" cmpd="sng" w="38100">
            <a:solidFill>
              <a:srgbClr val="3C8C9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8" name="Google Shape;438;p32"/>
          <p:cNvCxnSpPr/>
          <p:nvPr/>
        </p:nvCxnSpPr>
        <p:spPr>
          <a:xfrm>
            <a:off x="6281737" y="2028825"/>
            <a:ext cx="258762" cy="21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439" name="Google Shape;439;p32"/>
          <p:cNvGrpSpPr/>
          <p:nvPr/>
        </p:nvGrpSpPr>
        <p:grpSpPr>
          <a:xfrm>
            <a:off x="1854200" y="4019550"/>
            <a:ext cx="1025525" cy="1692275"/>
            <a:chOff x="384" y="1680"/>
            <a:chExt cx="646" cy="1066"/>
          </a:xfrm>
        </p:grpSpPr>
        <p:sp>
          <p:nvSpPr>
            <p:cNvPr id="440" name="Google Shape;440;p32"/>
            <p:cNvSpPr txBox="1"/>
            <p:nvPr/>
          </p:nvSpPr>
          <p:spPr>
            <a:xfrm>
              <a:off x="541" y="1680"/>
              <a:ext cx="489" cy="1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4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 1</a:t>
              </a:r>
              <a:endParaRPr/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cxnSp>
          <p:nvCxnSpPr>
            <p:cNvPr id="441" name="Google Shape;441;p32"/>
            <p:cNvCxnSpPr/>
            <p:nvPr/>
          </p:nvCxnSpPr>
          <p:spPr>
            <a:xfrm>
              <a:off x="384" y="2352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442" name="Google Shape;442;p32"/>
          <p:cNvSpPr txBox="1"/>
          <p:nvPr/>
        </p:nvSpPr>
        <p:spPr>
          <a:xfrm>
            <a:off x="3152775" y="4021137"/>
            <a:ext cx="373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001</a:t>
            </a:r>
            <a:endParaRPr/>
          </a:p>
        </p:txBody>
      </p:sp>
      <p:cxnSp>
        <p:nvCxnSpPr>
          <p:cNvPr id="443" name="Google Shape;443;p32"/>
          <p:cNvCxnSpPr/>
          <p:nvPr/>
        </p:nvCxnSpPr>
        <p:spPr>
          <a:xfrm>
            <a:off x="4622800" y="5087937"/>
            <a:ext cx="219392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44" name="Google Shape;444;p32"/>
          <p:cNvSpPr txBox="1"/>
          <p:nvPr/>
        </p:nvSpPr>
        <p:spPr>
          <a:xfrm>
            <a:off x="6473825" y="5126037"/>
            <a:ext cx="4095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grpSp>
        <p:nvGrpSpPr>
          <p:cNvPr id="445" name="Google Shape;445;p32"/>
          <p:cNvGrpSpPr/>
          <p:nvPr/>
        </p:nvGrpSpPr>
        <p:grpSpPr>
          <a:xfrm>
            <a:off x="5608637" y="3840162"/>
            <a:ext cx="377825" cy="1870075"/>
            <a:chOff x="2815" y="1182"/>
            <a:chExt cx="238" cy="1178"/>
          </a:xfrm>
        </p:grpSpPr>
        <p:sp>
          <p:nvSpPr>
            <p:cNvPr id="446" name="Google Shape;446;p32"/>
            <p:cNvSpPr txBox="1"/>
            <p:nvPr/>
          </p:nvSpPr>
          <p:spPr>
            <a:xfrm>
              <a:off x="2937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2"/>
            <p:cNvSpPr txBox="1"/>
            <p:nvPr/>
          </p:nvSpPr>
          <p:spPr>
            <a:xfrm>
              <a:off x="2815" y="1182"/>
              <a:ext cx="12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32"/>
          <p:cNvSpPr txBox="1"/>
          <p:nvPr/>
        </p:nvSpPr>
        <p:spPr>
          <a:xfrm>
            <a:off x="6249987" y="5126037"/>
            <a:ext cx="4095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grpSp>
        <p:nvGrpSpPr>
          <p:cNvPr id="449" name="Google Shape;449;p32"/>
          <p:cNvGrpSpPr/>
          <p:nvPr/>
        </p:nvGrpSpPr>
        <p:grpSpPr>
          <a:xfrm>
            <a:off x="5853112" y="3840162"/>
            <a:ext cx="585787" cy="1870075"/>
            <a:chOff x="2969" y="1182"/>
            <a:chExt cx="369" cy="1178"/>
          </a:xfrm>
        </p:grpSpPr>
        <p:sp>
          <p:nvSpPr>
            <p:cNvPr id="450" name="Google Shape;450;p32"/>
            <p:cNvSpPr txBox="1"/>
            <p:nvPr/>
          </p:nvSpPr>
          <p:spPr>
            <a:xfrm>
              <a:off x="2969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2"/>
            <p:cNvSpPr txBox="1"/>
            <p:nvPr/>
          </p:nvSpPr>
          <p:spPr>
            <a:xfrm>
              <a:off x="3078" y="1992"/>
              <a:ext cx="26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452" name="Google Shape;452;p32"/>
          <p:cNvGrpSpPr/>
          <p:nvPr/>
        </p:nvGrpSpPr>
        <p:grpSpPr>
          <a:xfrm>
            <a:off x="5403850" y="3840162"/>
            <a:ext cx="358775" cy="1870075"/>
            <a:chOff x="2686" y="1182"/>
            <a:chExt cx="226" cy="1178"/>
          </a:xfrm>
        </p:grpSpPr>
        <p:sp>
          <p:nvSpPr>
            <p:cNvPr id="453" name="Google Shape;453;p32"/>
            <p:cNvSpPr txBox="1"/>
            <p:nvPr/>
          </p:nvSpPr>
          <p:spPr>
            <a:xfrm>
              <a:off x="2796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2"/>
            <p:cNvSpPr txBox="1"/>
            <p:nvPr/>
          </p:nvSpPr>
          <p:spPr>
            <a:xfrm>
              <a:off x="2686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32"/>
          <p:cNvGrpSpPr/>
          <p:nvPr/>
        </p:nvGrpSpPr>
        <p:grpSpPr>
          <a:xfrm>
            <a:off x="4959350" y="3840162"/>
            <a:ext cx="360362" cy="1870075"/>
            <a:chOff x="2544" y="1182"/>
            <a:chExt cx="227" cy="1178"/>
          </a:xfrm>
        </p:grpSpPr>
        <p:sp>
          <p:nvSpPr>
            <p:cNvPr id="456" name="Google Shape;456;p32"/>
            <p:cNvSpPr txBox="1"/>
            <p:nvPr/>
          </p:nvSpPr>
          <p:spPr>
            <a:xfrm>
              <a:off x="2655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2"/>
            <p:cNvSpPr txBox="1"/>
            <p:nvPr/>
          </p:nvSpPr>
          <p:spPr>
            <a:xfrm>
              <a:off x="2544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3"/>
          <p:cNvSpPr txBox="1"/>
          <p:nvPr>
            <p:ph type="title"/>
          </p:nvPr>
        </p:nvSpPr>
        <p:spPr>
          <a:xfrm>
            <a:off x="457200" y="984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463" name="Google Shape;463;p33"/>
          <p:cNvSpPr txBox="1"/>
          <p:nvPr>
            <p:ph idx="1" type="body"/>
          </p:nvPr>
        </p:nvSpPr>
        <p:spPr>
          <a:xfrm>
            <a:off x="457200" y="10906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5(b) Subtract (100111)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(101101)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/>
          </a:p>
        </p:txBody>
      </p:sp>
      <p:sp>
        <p:nvSpPr>
          <p:cNvPr id="464" name="Google Shape;464;p33"/>
          <p:cNvSpPr txBox="1"/>
          <p:nvPr/>
        </p:nvSpPr>
        <p:spPr>
          <a:xfrm>
            <a:off x="363537" y="165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65" name="Google Shape;465;p33"/>
          <p:cNvSpPr txBox="1"/>
          <p:nvPr/>
        </p:nvSpPr>
        <p:spPr>
          <a:xfrm>
            <a:off x="493712" y="27813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(b) (000110)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33"/>
          <p:cNvGrpSpPr/>
          <p:nvPr/>
        </p:nvGrpSpPr>
        <p:grpSpPr>
          <a:xfrm>
            <a:off x="460375" y="4621212"/>
            <a:ext cx="3586162" cy="1992312"/>
            <a:chOff x="2192" y="550"/>
            <a:chExt cx="2448" cy="1360"/>
          </a:xfrm>
        </p:grpSpPr>
        <p:sp>
          <p:nvSpPr>
            <p:cNvPr id="467" name="Google Shape;467;p33"/>
            <p:cNvSpPr txBox="1"/>
            <p:nvPr/>
          </p:nvSpPr>
          <p:spPr>
            <a:xfrm>
              <a:off x="2192" y="550"/>
              <a:ext cx="2219" cy="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5(b)Subtraction</a:t>
              </a:r>
              <a:endParaRPr/>
            </a:p>
          </p:txBody>
        </p:sp>
        <p:sp>
          <p:nvSpPr>
            <p:cNvPr id="468" name="Google Shape;468;p33"/>
            <p:cNvSpPr txBox="1"/>
            <p:nvPr/>
          </p:nvSpPr>
          <p:spPr>
            <a:xfrm>
              <a:off x="2382" y="839"/>
              <a:ext cx="2258" cy="1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Minuend:         101101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Subtrahend:  −100111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3"/>
            <p:cNvSpPr txBox="1"/>
            <p:nvPr/>
          </p:nvSpPr>
          <p:spPr>
            <a:xfrm>
              <a:off x="2372" y="1457"/>
              <a:ext cx="2177" cy="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Difference:       000110</a:t>
              </a:r>
              <a:endParaRPr/>
            </a:p>
          </p:txBody>
        </p:sp>
        <p:cxnSp>
          <p:nvCxnSpPr>
            <p:cNvPr id="470" name="Google Shape;470;p33"/>
            <p:cNvCxnSpPr/>
            <p:nvPr/>
          </p:nvCxnSpPr>
          <p:spPr>
            <a:xfrm>
              <a:off x="2213" y="1434"/>
              <a:ext cx="1996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Subtraction of Base-r</a:t>
            </a:r>
            <a:endParaRPr/>
          </a:p>
        </p:txBody>
      </p:sp>
      <p:sp>
        <p:nvSpPr>
          <p:cNvPr id="476" name="Google Shape;476;p34"/>
          <p:cNvSpPr txBox="1"/>
          <p:nvPr>
            <p:ph idx="4294967295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3   16</a:t>
            </a:r>
            <a:b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2800" u="none" cap="none" strike="sng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6)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-(1 B 3)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(2 F 3)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4"/>
          <p:cNvSpPr txBox="1"/>
          <p:nvPr>
            <p:ph idx="1" type="body"/>
          </p:nvPr>
        </p:nvSpPr>
        <p:spPr>
          <a:xfrm>
            <a:off x="4648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4 6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(54)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b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(35)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b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_____________</a:t>
            </a:r>
            <a:b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cxnSp>
        <p:nvCxnSpPr>
          <p:cNvPr id="478" name="Google Shape;478;p34"/>
          <p:cNvCxnSpPr/>
          <p:nvPr/>
        </p:nvCxnSpPr>
        <p:spPr>
          <a:xfrm>
            <a:off x="838200" y="2514600"/>
            <a:ext cx="304800" cy="228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79" name="Google Shape;479;p34"/>
          <p:cNvCxnSpPr/>
          <p:nvPr/>
        </p:nvCxnSpPr>
        <p:spPr>
          <a:xfrm>
            <a:off x="5105400" y="2659062"/>
            <a:ext cx="228600" cy="228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485" name="Google Shape;485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(a) (71)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-(56)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4(b) (21)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-(12)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609600" y="3124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87" name="Google Shape;487;p35"/>
          <p:cNvSpPr txBox="1"/>
          <p:nvPr/>
        </p:nvSpPr>
        <p:spPr>
          <a:xfrm>
            <a:off x="609600" y="444976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a) (13)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b) (2)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2bc6db01a4_0_7"/>
          <p:cNvSpPr txBox="1"/>
          <p:nvPr>
            <p:ph type="title"/>
          </p:nvPr>
        </p:nvSpPr>
        <p:spPr>
          <a:xfrm>
            <a:off x="1228225" y="274625"/>
            <a:ext cx="5973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/>
              <a:t>Division of Base-r</a:t>
            </a:r>
            <a:r>
              <a:rPr b="1" lang="en-US"/>
              <a:t> </a:t>
            </a:r>
            <a:endParaRPr/>
          </a:p>
        </p:txBody>
      </p:sp>
      <p:sp>
        <p:nvSpPr>
          <p:cNvPr id="493" name="Google Shape;493;g32bc6db01a4_0_7"/>
          <p:cNvSpPr txBox="1"/>
          <p:nvPr>
            <p:ph idx="1" type="body"/>
          </p:nvPr>
        </p:nvSpPr>
        <p:spPr>
          <a:xfrm>
            <a:off x="183800" y="1273121"/>
            <a:ext cx="7772400" cy="53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Dividend: x</a:t>
            </a:r>
            <a:r>
              <a:rPr baseline="-25000" lang="en-US" sz="1900"/>
              <a:t>1</a:t>
            </a:r>
            <a:r>
              <a:rPr lang="en-US" sz="1900"/>
              <a:t>x</a:t>
            </a:r>
            <a:r>
              <a:rPr baseline="-25000" lang="en-US" sz="1900"/>
              <a:t>2</a:t>
            </a:r>
            <a:r>
              <a:rPr lang="en-US" sz="1900"/>
              <a:t>x</a:t>
            </a:r>
            <a:r>
              <a:rPr baseline="-25000" lang="en-US" sz="1900"/>
              <a:t>3</a:t>
            </a:r>
            <a:r>
              <a:rPr lang="en-US" sz="1900"/>
              <a:t>...x</a:t>
            </a:r>
            <a:r>
              <a:rPr baseline="-25000" lang="en-US" sz="1900"/>
              <a:t>m</a:t>
            </a:r>
            <a:r>
              <a:rPr lang="en-US" sz="1900"/>
              <a:t>; Divisor: y</a:t>
            </a:r>
            <a:r>
              <a:rPr baseline="-25000" lang="en-US" sz="1900"/>
              <a:t>1</a:t>
            </a:r>
            <a:r>
              <a:rPr lang="en-US" sz="1900"/>
              <a:t>y</a:t>
            </a:r>
            <a:r>
              <a:rPr baseline="-25000" lang="en-US" sz="1900"/>
              <a:t>2</a:t>
            </a:r>
            <a:r>
              <a:rPr lang="en-US" sz="1900"/>
              <a:t>...y</a:t>
            </a:r>
            <a:r>
              <a:rPr baseline="-25000" lang="en-US" sz="1900"/>
              <a:t>n</a:t>
            </a:r>
            <a:r>
              <a:rPr lang="en-US" sz="1900"/>
              <a:t> = y;  </a:t>
            </a:r>
            <a:endParaRPr sz="1900"/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Perform 101</a:t>
            </a:r>
            <a:r>
              <a:rPr baseline="-25000" lang="en-US" sz="2000"/>
              <a:t>2 </a:t>
            </a:r>
            <a:r>
              <a:rPr lang="en-US" sz="2000"/>
              <a:t>/ 10</a:t>
            </a:r>
            <a:r>
              <a:rPr baseline="-25000" lang="en-US" sz="2000"/>
              <a:t>2</a:t>
            </a:r>
            <a:r>
              <a:rPr lang="en-US" sz="2000"/>
              <a:t>;</a:t>
            </a:r>
            <a:r>
              <a:rPr lang="en-US" sz="1900"/>
              <a:t>  Dividend = 101 and Divisor = 10</a:t>
            </a:r>
            <a:endParaRPr sz="1900"/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Step1: Start with the first digit of the dividend. (</a:t>
            </a:r>
            <a:r>
              <a:rPr lang="en-US" sz="1900"/>
              <a:t>x</a:t>
            </a:r>
            <a:r>
              <a:rPr baseline="-25000" lang="en-US" sz="1900"/>
              <a:t>1</a:t>
            </a:r>
            <a:r>
              <a:rPr lang="en-US" sz="1900"/>
              <a:t>)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Step2: Compare it with the divisor;</a:t>
            </a:r>
            <a:endParaRPr sz="1900"/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       If  (it is smaller, than the </a:t>
            </a:r>
            <a:r>
              <a:rPr lang="en-US" sz="1900"/>
              <a:t>divisor</a:t>
            </a:r>
            <a:r>
              <a:rPr lang="en-US" sz="1900"/>
              <a:t>): </a:t>
            </a:r>
            <a:r>
              <a:rPr lang="en-US" sz="1900"/>
              <a:t>(x</a:t>
            </a:r>
            <a:r>
              <a:rPr baseline="-25000" lang="en-US" sz="1900"/>
              <a:t>1</a:t>
            </a:r>
            <a:r>
              <a:rPr lang="en-US" sz="1900"/>
              <a:t>&lt;y)</a:t>
            </a:r>
            <a:endParaRPr sz="1900"/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          2.a append 0 to the quotient.</a:t>
            </a:r>
            <a:endParaRPr sz="1900"/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       </a:t>
            </a:r>
            <a:r>
              <a:rPr lang="en-US" sz="1900"/>
              <a:t>else:</a:t>
            </a:r>
            <a:r>
              <a:rPr lang="en-US" sz="1900"/>
              <a:t> </a:t>
            </a:r>
            <a:r>
              <a:rPr lang="en-US" sz="1900"/>
              <a:t>(x</a:t>
            </a:r>
            <a:r>
              <a:rPr baseline="-25000" lang="en-US" sz="1900"/>
              <a:t>1</a:t>
            </a:r>
            <a:r>
              <a:rPr lang="en-US" sz="1900"/>
              <a:t> &gt;= y)</a:t>
            </a:r>
            <a:br>
              <a:rPr lang="en-US" sz="1900"/>
            </a:br>
            <a:r>
              <a:rPr lang="en-US" sz="1900"/>
              <a:t>           proceed with division.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                2.a Find the largest multiple of the divisor that fits.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                2.b Append the multiplier to the quotient.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Step3: Subtract and bring down the next digit.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Step4: From now on compare the newly formed number 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           in step3 with the divisor while repeating step2.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Step5</a:t>
            </a:r>
            <a:r>
              <a:rPr lang="en-US" sz="1900"/>
              <a:t>. Repeat this step 2, 3 &amp; 4 until all digits of the dividend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           </a:t>
            </a:r>
            <a:r>
              <a:rPr lang="en-US" sz="1900"/>
              <a:t>(x</a:t>
            </a:r>
            <a:r>
              <a:rPr baseline="-25000" lang="en-US" sz="1900"/>
              <a:t>1</a:t>
            </a:r>
            <a:r>
              <a:rPr lang="en-US" sz="1900"/>
              <a:t>x</a:t>
            </a:r>
            <a:r>
              <a:rPr baseline="-25000" lang="en-US" sz="1900"/>
              <a:t>2</a:t>
            </a:r>
            <a:r>
              <a:rPr lang="en-US" sz="1900"/>
              <a:t>x</a:t>
            </a:r>
            <a:r>
              <a:rPr baseline="-25000" lang="en-US" sz="1900"/>
              <a:t>3</a:t>
            </a:r>
            <a:r>
              <a:rPr lang="en-US" sz="1900"/>
              <a:t>...x</a:t>
            </a:r>
            <a:r>
              <a:rPr baseline="-25000" lang="en-US" sz="1900"/>
              <a:t>m</a:t>
            </a:r>
            <a:r>
              <a:rPr lang="en-US" sz="1900"/>
              <a:t>)</a:t>
            </a:r>
            <a:r>
              <a:rPr lang="en-US" sz="1900"/>
              <a:t> are processed. </a:t>
            </a:r>
            <a:endParaRPr sz="1900"/>
          </a:p>
        </p:txBody>
      </p:sp>
      <p:sp>
        <p:nvSpPr>
          <p:cNvPr id="494" name="Google Shape;494;g32bc6db01a4_0_7"/>
          <p:cNvSpPr/>
          <p:nvPr/>
        </p:nvSpPr>
        <p:spPr>
          <a:xfrm>
            <a:off x="397100" y="1376225"/>
            <a:ext cx="132600" cy="1452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5" name="Google Shape;495;g32bc6db01a4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6760" y="1417622"/>
            <a:ext cx="1803026" cy="125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2bc6db01a4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2163" y="3082931"/>
            <a:ext cx="1652200" cy="146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g32bc6db01a4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1400" y="5010874"/>
            <a:ext cx="1652176" cy="17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2bc6db01a4_0_7"/>
          <p:cNvSpPr txBox="1"/>
          <p:nvPr/>
        </p:nvSpPr>
        <p:spPr>
          <a:xfrm>
            <a:off x="6667500" y="992150"/>
            <a:ext cx="2274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Iteration-1: (1 &lt; 10)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499" name="Google Shape;499;g32bc6db01a4_0_7"/>
          <p:cNvSpPr txBox="1"/>
          <p:nvPr/>
        </p:nvSpPr>
        <p:spPr>
          <a:xfrm>
            <a:off x="6667500" y="2680925"/>
            <a:ext cx="28464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Iteration-2: (10 == 10)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500" name="Google Shape;500;g32bc6db01a4_0_7"/>
          <p:cNvSpPr txBox="1"/>
          <p:nvPr/>
        </p:nvSpPr>
        <p:spPr>
          <a:xfrm>
            <a:off x="6667500" y="4615775"/>
            <a:ext cx="25023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Iteration-3: (01 &lt; 10)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2bc6db01a4_4_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Example - 1</a:t>
            </a:r>
            <a:endParaRPr/>
          </a:p>
        </p:txBody>
      </p:sp>
      <p:sp>
        <p:nvSpPr>
          <p:cNvPr id="506" name="Google Shape;506;g32bc6db01a4_4_11"/>
          <p:cNvSpPr txBox="1"/>
          <p:nvPr/>
        </p:nvSpPr>
        <p:spPr>
          <a:xfrm>
            <a:off x="1275300" y="1274750"/>
            <a:ext cx="72384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Perform 1011101</a:t>
            </a:r>
            <a:r>
              <a:rPr baseline="-25000" lang="en-US" sz="2000">
                <a:solidFill>
                  <a:schemeClr val="dk1"/>
                </a:solidFill>
              </a:rPr>
              <a:t>2</a:t>
            </a:r>
            <a:r>
              <a:rPr baseline="-25000"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/ 110</a:t>
            </a:r>
            <a:r>
              <a:rPr baseline="-25000" lang="en-US" sz="2000">
                <a:solidFill>
                  <a:schemeClr val="dk1"/>
                </a:solidFill>
              </a:rPr>
              <a:t>2</a:t>
            </a:r>
            <a:r>
              <a:rPr lang="en-US" sz="2000">
                <a:solidFill>
                  <a:schemeClr val="dk1"/>
                </a:solidFill>
              </a:rPr>
              <a:t>; Find the quotient and remainder.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07" name="Google Shape;507;g32bc6db01a4_4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0200" y="2943063"/>
            <a:ext cx="28384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2bc6db01a4_4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400" y="1970150"/>
            <a:ext cx="5916300" cy="458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bc6db01a4_4_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Example - 2</a:t>
            </a:r>
            <a:endParaRPr/>
          </a:p>
        </p:txBody>
      </p:sp>
      <p:sp>
        <p:nvSpPr>
          <p:cNvPr id="514" name="Google Shape;514;g32bc6db01a4_4_0"/>
          <p:cNvSpPr txBox="1"/>
          <p:nvPr/>
        </p:nvSpPr>
        <p:spPr>
          <a:xfrm>
            <a:off x="1275300" y="1274750"/>
            <a:ext cx="65934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Perform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234102</a:t>
            </a:r>
            <a:r>
              <a:rPr baseline="-25000" lang="en-US" sz="2000">
                <a:solidFill>
                  <a:schemeClr val="dk1"/>
                </a:solidFill>
              </a:rPr>
              <a:t>5 </a:t>
            </a:r>
            <a:r>
              <a:rPr lang="en-US" sz="2000">
                <a:solidFill>
                  <a:schemeClr val="dk1"/>
                </a:solidFill>
              </a:rPr>
              <a:t>/ 321</a:t>
            </a:r>
            <a:r>
              <a:rPr baseline="-25000" lang="en-US" sz="2000">
                <a:solidFill>
                  <a:schemeClr val="dk1"/>
                </a:solidFill>
              </a:rPr>
              <a:t>5</a:t>
            </a:r>
            <a:r>
              <a:rPr lang="en-US" sz="2000">
                <a:solidFill>
                  <a:schemeClr val="dk1"/>
                </a:solidFill>
              </a:rPr>
              <a:t>; Find the quotient and remainder.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15" name="Google Shape;515;g32bc6db01a4_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300" y="1970150"/>
            <a:ext cx="7298735" cy="458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2bd9a8754a_0_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521" name="Google Shape;521;g32bd9a8754a_0_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(a) (71)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/>
              <a:t>/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(56)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4(b) (21)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/>
              <a:t>/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2bd9a8754a_0_8"/>
          <p:cNvSpPr txBox="1"/>
          <p:nvPr/>
        </p:nvSpPr>
        <p:spPr>
          <a:xfrm>
            <a:off x="609600" y="3124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523" name="Google Shape;523;g32bd9a8754a_0_8"/>
          <p:cNvSpPr txBox="1"/>
          <p:nvPr/>
        </p:nvSpPr>
        <p:spPr>
          <a:xfrm>
            <a:off x="609600" y="444976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a)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Quotient = ()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3200">
                <a:solidFill>
                  <a:schemeClr val="dk1"/>
                </a:solidFill>
              </a:rPr>
              <a:t>, Remainder = ()</a:t>
            </a:r>
            <a:r>
              <a:rPr baseline="-25000" lang="en-US" sz="3200">
                <a:solidFill>
                  <a:schemeClr val="dk1"/>
                </a:solidFill>
              </a:rPr>
              <a:t>8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b) </a:t>
            </a:r>
            <a:r>
              <a:rPr lang="en-US" sz="3200">
                <a:solidFill>
                  <a:schemeClr val="dk1"/>
                </a:solidFill>
              </a:rPr>
              <a:t>Quotient = ()</a:t>
            </a:r>
            <a:r>
              <a:rPr baseline="-25000" lang="en-US" sz="3200">
                <a:solidFill>
                  <a:schemeClr val="dk1"/>
                </a:solidFill>
              </a:rPr>
              <a:t>3</a:t>
            </a:r>
            <a:r>
              <a:rPr lang="en-US" sz="3200">
                <a:solidFill>
                  <a:schemeClr val="dk1"/>
                </a:solidFill>
              </a:rPr>
              <a:t>, Remainder = ()</a:t>
            </a:r>
            <a:r>
              <a:rPr baseline="-25000" lang="en-US" sz="3200">
                <a:solidFill>
                  <a:schemeClr val="dk1"/>
                </a:solidFill>
              </a:rPr>
              <a:t>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khadija rasul</dc:creator>
</cp:coreProperties>
</file>