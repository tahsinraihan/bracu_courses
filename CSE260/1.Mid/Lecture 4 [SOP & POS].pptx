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9144000"/>
  <p:notesSz cx="9144000" cy="6858000"/>
  <p:embeddedFontLst>
    <p:embeddedFont>
      <p:font typeface="Noto Sans Symbols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iSvUMqYTomVqqDuL5dHA7zY9NX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02E5994-21A0-4436-AAEA-BBF84DFE68B1}">
  <a:tblStyle styleId="{802E5994-21A0-4436-AAEA-BBF84DFE68B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NotoSansSymbols-bold.fntdata"/><Relationship Id="rId10" Type="http://schemas.openxmlformats.org/officeDocument/2006/relationships/slide" Target="slides/slide4.xml"/><Relationship Id="rId21" Type="http://schemas.openxmlformats.org/officeDocument/2006/relationships/font" Target="fonts/NotoSansSymbols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p4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" name="Google Shape;63;p5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p7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p9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11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12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13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14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68e323f9a1_1_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268e323f9a1_1_8:notes"/>
          <p:cNvSpPr/>
          <p:nvPr>
            <p:ph idx="2" type="sldImg"/>
          </p:nvPr>
        </p:nvSpPr>
        <p:spPr>
          <a:xfrm>
            <a:off x="2857500" y="514350"/>
            <a:ext cx="3429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16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68e688a8cb_3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268e688a8cb_3_0:notes"/>
          <p:cNvSpPr/>
          <p:nvPr>
            <p:ph idx="2" type="sldImg"/>
          </p:nvPr>
        </p:nvSpPr>
        <p:spPr>
          <a:xfrm>
            <a:off x="2857500" y="514350"/>
            <a:ext cx="3429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17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title"/>
          </p:nvPr>
        </p:nvSpPr>
        <p:spPr>
          <a:xfrm>
            <a:off x="1455039" y="483488"/>
            <a:ext cx="623392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1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1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/>
          <p:nvPr>
            <p:ph type="title"/>
          </p:nvPr>
        </p:nvSpPr>
        <p:spPr>
          <a:xfrm>
            <a:off x="1455039" y="483488"/>
            <a:ext cx="623392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" type="body"/>
          </p:nvPr>
        </p:nvSpPr>
        <p:spPr>
          <a:xfrm>
            <a:off x="536244" y="1130935"/>
            <a:ext cx="8065134" cy="32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3"/>
          <p:cNvSpPr txBox="1"/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" type="subTitle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/>
          <p:nvPr>
            <p:ph type="title"/>
          </p:nvPr>
        </p:nvSpPr>
        <p:spPr>
          <a:xfrm>
            <a:off x="1455039" y="483488"/>
            <a:ext cx="623392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" type="body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2" type="body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 amt="19000"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1455039" y="483488"/>
            <a:ext cx="623392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536244" y="1130935"/>
            <a:ext cx="8065134" cy="32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/>
          <p:nvPr>
            <p:ph type="title"/>
          </p:nvPr>
        </p:nvSpPr>
        <p:spPr>
          <a:xfrm>
            <a:off x="2088642" y="1778584"/>
            <a:ext cx="4967700" cy="20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4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CSE260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Digital Logic Design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SOP &amp; POS</a:t>
            </a:r>
            <a:endParaRPr/>
          </a:p>
        </p:txBody>
      </p:sp>
      <p:sp>
        <p:nvSpPr>
          <p:cNvPr id="44" name="Google Shape;44;p1"/>
          <p:cNvSpPr/>
          <p:nvPr/>
        </p:nvSpPr>
        <p:spPr>
          <a:xfrm>
            <a:off x="8229600" y="0"/>
            <a:ext cx="914400" cy="84734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8382000" y="6096000"/>
            <a:ext cx="609600" cy="6096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8229600" y="0"/>
            <a:ext cx="914400" cy="84734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8382000" y="6109750"/>
            <a:ext cx="609600" cy="59584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 txBox="1"/>
          <p:nvPr/>
        </p:nvSpPr>
        <p:spPr>
          <a:xfrm>
            <a:off x="307340" y="1917573"/>
            <a:ext cx="8608060" cy="3942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-344805" lvl="0" marL="35687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Sum-of-Products (SOP) Expression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 product term or a logical sum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5687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(OR) of several product terms.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t/>
            </a:r>
            <a:endParaRPr b="0" i="0" sz="2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3306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Examples: x+yz', xy'+x'yz, AB+A'B’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50520" lvl="0" marL="12700" marR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Product-of-Sums (POS) Expression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 sum term or a logical product  (AND) of several sum terms.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t/>
            </a:r>
            <a:endParaRPr b="0" i="0" sz="2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6322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Examples: x(y+z'), (x+y')(x'+y+z), (A+B)(A'+B’)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805" lvl="0" marL="356870" marR="50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Every boolean expression can either be expressed as sum-of-products or  product-of-sums expression.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63220" marR="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" name="Google Shape;5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33600" y="5854601"/>
            <a:ext cx="4029075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"/>
          <p:cNvSpPr txBox="1"/>
          <p:nvPr/>
        </p:nvSpPr>
        <p:spPr>
          <a:xfrm>
            <a:off x="3201403" y="422217"/>
            <a:ext cx="3067685" cy="566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SOP &amp; POS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/>
          <p:nvPr/>
        </p:nvSpPr>
        <p:spPr>
          <a:xfrm>
            <a:off x="8229600" y="0"/>
            <a:ext cx="914400" cy="84734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 txBox="1"/>
          <p:nvPr>
            <p:ph type="title"/>
          </p:nvPr>
        </p:nvSpPr>
        <p:spPr>
          <a:xfrm>
            <a:off x="2869183" y="2795473"/>
            <a:ext cx="3410585" cy="512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/>
              <a:t>MIN &amp; MAX TERM</a:t>
            </a:r>
            <a:endParaRPr sz="3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 txBox="1"/>
          <p:nvPr/>
        </p:nvSpPr>
        <p:spPr>
          <a:xfrm>
            <a:off x="612444" y="1060526"/>
            <a:ext cx="8138795" cy="23640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C2C89"/>
                </a:solidFill>
                <a:latin typeface="Arial"/>
                <a:ea typeface="Arial"/>
                <a:cs typeface="Arial"/>
                <a:sym typeface="Arial"/>
              </a:rPr>
              <a:t>Minterms are sum terms.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C2C89"/>
                </a:solidFill>
                <a:latin typeface="Arial"/>
                <a:ea typeface="Arial"/>
                <a:cs typeface="Arial"/>
                <a:sym typeface="Arial"/>
              </a:rPr>
              <a:t>For Boolean functions, the minterms of a  function are the terms for which the result  is 1.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841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C2C89"/>
                </a:solidFill>
                <a:latin typeface="Arial"/>
                <a:ea typeface="Arial"/>
                <a:cs typeface="Arial"/>
                <a:sym typeface="Arial"/>
              </a:rPr>
              <a:t>Boolean functions can be expressed as sum-  of-Minterms.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8229600" y="0"/>
            <a:ext cx="914400" cy="84734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8382000" y="6109750"/>
            <a:ext cx="609600" cy="59584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 txBox="1"/>
          <p:nvPr/>
        </p:nvSpPr>
        <p:spPr>
          <a:xfrm>
            <a:off x="612444" y="3919136"/>
            <a:ext cx="8138795" cy="2302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C2C89"/>
                </a:solidFill>
                <a:latin typeface="Arial"/>
                <a:ea typeface="Arial"/>
                <a:cs typeface="Arial"/>
                <a:sym typeface="Arial"/>
              </a:rPr>
              <a:t>Maxterms are Product terms.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C2C89"/>
                </a:solidFill>
                <a:latin typeface="Arial"/>
                <a:ea typeface="Arial"/>
                <a:cs typeface="Arial"/>
                <a:sym typeface="Arial"/>
              </a:rPr>
              <a:t>For Boolean functions, the maxterms of a  function are the terms for which the result  is 0.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03822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C2C89"/>
                </a:solidFill>
                <a:latin typeface="Arial"/>
                <a:ea typeface="Arial"/>
                <a:cs typeface="Arial"/>
                <a:sym typeface="Arial"/>
              </a:rPr>
              <a:t>Boolean functions can be expressed as  Products-of-Maxterms.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5"/>
          <p:cNvSpPr txBox="1"/>
          <p:nvPr/>
        </p:nvSpPr>
        <p:spPr>
          <a:xfrm>
            <a:off x="2976548" y="167449"/>
            <a:ext cx="3410585" cy="512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 &amp; MAX TERM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"/>
          <p:cNvSpPr txBox="1"/>
          <p:nvPr>
            <p:ph type="title"/>
          </p:nvPr>
        </p:nvSpPr>
        <p:spPr>
          <a:xfrm>
            <a:off x="2823464" y="483488"/>
            <a:ext cx="350139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MIN and MAX</a:t>
            </a:r>
            <a:endParaRPr/>
          </a:p>
        </p:txBody>
      </p:sp>
      <p:sp>
        <p:nvSpPr>
          <p:cNvPr id="75" name="Google Shape;75;p7"/>
          <p:cNvSpPr/>
          <p:nvPr/>
        </p:nvSpPr>
        <p:spPr>
          <a:xfrm>
            <a:off x="8229600" y="0"/>
            <a:ext cx="914400" cy="84734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6" name="Google Shape;76;p7"/>
          <p:cNvGraphicFramePr/>
          <p:nvPr/>
        </p:nvGraphicFramePr>
        <p:xfrm>
          <a:off x="506998" y="17597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{802E5994-21A0-4436-AAEA-BBF84DFE68B1}</a:tableStyleId>
              </a:tblPr>
              <a:tblGrid>
                <a:gridCol w="457200"/>
                <a:gridCol w="457200"/>
                <a:gridCol w="533400"/>
                <a:gridCol w="609600"/>
                <a:gridCol w="8172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0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0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0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0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ADFE2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0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0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0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0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0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9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9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9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9"/>
                    </a:solidFill>
                  </a:tcPr>
                </a:tc>
              </a:tr>
            </a:tbl>
          </a:graphicData>
        </a:graphic>
      </p:graphicFrame>
      <p:sp>
        <p:nvSpPr>
          <p:cNvPr id="77" name="Google Shape;77;p7"/>
          <p:cNvSpPr txBox="1"/>
          <p:nvPr/>
        </p:nvSpPr>
        <p:spPr>
          <a:xfrm>
            <a:off x="4214370" y="2122231"/>
            <a:ext cx="4220967" cy="2613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Min Terms	: 0,1,4,5  [000,001,100,101]  F=∑(0,1,4,5)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20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Max Terms : 2,3,6,7  [010,011,110,111]  F=</a:t>
            </a:r>
            <a:r>
              <a:rPr b="1" i="0" lang="en-US" sz="2400" u="none" cap="none" strike="noStrike">
                <a:solidFill>
                  <a:srgbClr val="006FC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b="1" i="0" lang="en-US" sz="2400" u="none" cap="none" strike="noStrike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(2,3,6,7)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9"/>
          <p:cNvSpPr txBox="1"/>
          <p:nvPr>
            <p:ph type="title"/>
          </p:nvPr>
        </p:nvSpPr>
        <p:spPr>
          <a:xfrm>
            <a:off x="1455039" y="483488"/>
            <a:ext cx="623392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52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MIN-SOP and MAX-POS</a:t>
            </a:r>
            <a:endParaRPr/>
          </a:p>
        </p:txBody>
      </p:sp>
      <p:sp>
        <p:nvSpPr>
          <p:cNvPr id="83" name="Google Shape;83;p9"/>
          <p:cNvSpPr/>
          <p:nvPr/>
        </p:nvSpPr>
        <p:spPr>
          <a:xfrm>
            <a:off x="8229600" y="0"/>
            <a:ext cx="914400" cy="84734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4" name="Google Shape;84;p9"/>
          <p:cNvGraphicFramePr/>
          <p:nvPr/>
        </p:nvGraphicFramePr>
        <p:xfrm>
          <a:off x="471487" y="13827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{802E5994-21A0-4436-AAEA-BBF84DFE68B1}</a:tableStyleId>
              </a:tblPr>
              <a:tblGrid>
                <a:gridCol w="275600"/>
                <a:gridCol w="275600"/>
                <a:gridCol w="321300"/>
                <a:gridCol w="367025"/>
                <a:gridCol w="492125"/>
              </a:tblGrid>
              <a:tr h="423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5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1079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0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73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0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0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0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ADFE2"/>
                    </a:solidFill>
                  </a:tcPr>
                </a:tc>
              </a:tr>
              <a:tr h="424050">
                <a:tc>
                  <a:txBody>
                    <a:bodyPr/>
                    <a:lstStyle/>
                    <a:p>
                      <a:pPr indent="0" lvl="0" marL="0" marR="4889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0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4826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0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0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0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0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424050">
                <a:tc>
                  <a:txBody>
                    <a:bodyPr/>
                    <a:lstStyle/>
                    <a:p>
                      <a:pPr indent="0" lvl="0" marL="0" marR="4889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4826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254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9"/>
                    </a:solidFill>
                  </a:tcPr>
                </a:tc>
              </a:tr>
              <a:tr h="424050">
                <a:tc>
                  <a:txBody>
                    <a:bodyPr/>
                    <a:lstStyle/>
                    <a:p>
                      <a:pPr indent="0" lvl="0" marL="0" marR="4889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4826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254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424050">
                <a:tc>
                  <a:txBody>
                    <a:bodyPr/>
                    <a:lstStyle/>
                    <a:p>
                      <a:pPr indent="0" lvl="0" marL="0" marR="4889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4826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254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9"/>
                    </a:solidFill>
                  </a:tcPr>
                </a:tc>
              </a:tr>
              <a:tr h="424050">
                <a:tc>
                  <a:txBody>
                    <a:bodyPr/>
                    <a:lstStyle/>
                    <a:p>
                      <a:pPr indent="0" lvl="0" marL="0" marR="4889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4826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254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424050">
                <a:tc>
                  <a:txBody>
                    <a:bodyPr/>
                    <a:lstStyle/>
                    <a:p>
                      <a:pPr indent="0" lvl="0" marL="0" marR="4889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4826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9"/>
                    </a:solidFill>
                  </a:tcPr>
                </a:tc>
              </a:tr>
              <a:tr h="424050">
                <a:tc>
                  <a:txBody>
                    <a:bodyPr/>
                    <a:lstStyle/>
                    <a:p>
                      <a:pPr indent="0" lvl="0" marL="0" marR="4889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4826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254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424050">
                <a:tc>
                  <a:txBody>
                    <a:bodyPr/>
                    <a:lstStyle/>
                    <a:p>
                      <a:pPr indent="0" lvl="0" marL="0" marR="4889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4826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254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6F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9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9"/>
          <p:cNvSpPr txBox="1"/>
          <p:nvPr/>
        </p:nvSpPr>
        <p:spPr>
          <a:xfrm>
            <a:off x="2524708" y="1441792"/>
            <a:ext cx="6832500" cy="45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2559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Min Terms	: 0,1,4,5	[000,001,100,101]  F=∑(0,1,4,5)  </a:t>
            </a:r>
            <a:endParaRPr/>
          </a:p>
          <a:p>
            <a:pPr indent="0" lvl="0" marL="12700" marR="2559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F=A’B’C’+A’B’C+AB’C’+AB’C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0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Max Terms : 2,3,6,7 [010,011,110,111]  F=</a:t>
            </a:r>
            <a:r>
              <a:rPr b="1" i="0" lang="en-US" sz="2400" u="none" cap="none" strike="noStrike">
                <a:solidFill>
                  <a:srgbClr val="006FC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b="1" i="0" lang="en-US" sz="2400" u="none" cap="none" strike="noStrike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(2,3,6,7)  </a:t>
            </a:r>
            <a:endParaRPr/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F=(A+B’+C)(A+B’+C’)(A’+B’+C) (A’+B’+C’)</a:t>
            </a:r>
            <a:endParaRPr b="1" i="0" sz="2400" u="none" cap="none" strike="noStrike">
              <a:solidFill>
                <a:srgbClr val="006F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rgbClr val="006FC0"/>
              </a:solidFill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0000"/>
                </a:solidFill>
              </a:rPr>
              <a:t>Min/SOP</a:t>
            </a:r>
            <a:endParaRPr b="1" sz="2400">
              <a:solidFill>
                <a:srgbClr val="FF0000"/>
              </a:solidFill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06FC0"/>
                </a:solidFill>
              </a:rPr>
              <a:t>0-Prime, 1-No prime</a:t>
            </a:r>
            <a:endParaRPr b="1" sz="2400">
              <a:solidFill>
                <a:srgbClr val="006FC0"/>
              </a:solidFill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06FC0"/>
                </a:solidFill>
              </a:rPr>
              <a:t>AND among literals</a:t>
            </a:r>
            <a:endParaRPr b="1" sz="2400">
              <a:solidFill>
                <a:srgbClr val="006FC0"/>
              </a:solidFill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06FC0"/>
                </a:solidFill>
              </a:rPr>
              <a:t>OR among terms</a:t>
            </a:r>
            <a:endParaRPr b="1" sz="2400">
              <a:solidFill>
                <a:srgbClr val="006FC0"/>
              </a:solidFill>
            </a:endParaRPr>
          </a:p>
        </p:txBody>
      </p:sp>
      <p:sp>
        <p:nvSpPr>
          <p:cNvPr id="86" name="Google Shape;86;p9"/>
          <p:cNvSpPr txBox="1"/>
          <p:nvPr/>
        </p:nvSpPr>
        <p:spPr>
          <a:xfrm>
            <a:off x="5932725" y="4351000"/>
            <a:ext cx="32112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</a:rPr>
              <a:t>Max</a:t>
            </a:r>
            <a:r>
              <a:rPr b="1" lang="en-US" sz="2400">
                <a:solidFill>
                  <a:srgbClr val="FF0000"/>
                </a:solidFill>
              </a:rPr>
              <a:t>/POS</a:t>
            </a:r>
            <a:endParaRPr b="1" sz="2400">
              <a:solidFill>
                <a:srgbClr val="FF0000"/>
              </a:solidFill>
            </a:endParaRPr>
          </a:p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6FC0"/>
                </a:solidFill>
              </a:rPr>
              <a:t>1</a:t>
            </a:r>
            <a:r>
              <a:rPr b="1" lang="en-US" sz="2400">
                <a:solidFill>
                  <a:srgbClr val="006FC0"/>
                </a:solidFill>
              </a:rPr>
              <a:t>-Prime, 0-No prime</a:t>
            </a:r>
            <a:endParaRPr b="1" sz="2400">
              <a:solidFill>
                <a:srgbClr val="006FC0"/>
              </a:solidFill>
            </a:endParaRPr>
          </a:p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6FC0"/>
                </a:solidFill>
              </a:rPr>
              <a:t>OR among literals</a:t>
            </a:r>
            <a:endParaRPr b="1" sz="2400">
              <a:solidFill>
                <a:srgbClr val="006FC0"/>
              </a:solidFill>
            </a:endParaRPr>
          </a:p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6FC0"/>
                </a:solidFill>
              </a:rPr>
              <a:t>AND among terms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 txBox="1"/>
          <p:nvPr>
            <p:ph type="title"/>
          </p:nvPr>
        </p:nvSpPr>
        <p:spPr>
          <a:xfrm>
            <a:off x="1151551" y="1917950"/>
            <a:ext cx="6762300" cy="20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229360" lvl="0" marL="1698625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Conversion of Function</a:t>
            </a:r>
            <a:endParaRPr/>
          </a:p>
          <a:p>
            <a:pPr indent="-1229360" lvl="0" marL="1698625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  </a:t>
            </a:r>
            <a:endParaRPr/>
          </a:p>
          <a:p>
            <a:pPr indent="-1229360" lvl="0" marL="1698625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SOP &amp; POS</a:t>
            </a:r>
            <a:endParaRPr/>
          </a:p>
        </p:txBody>
      </p:sp>
      <p:sp>
        <p:nvSpPr>
          <p:cNvPr id="92" name="Google Shape;92;p11"/>
          <p:cNvSpPr/>
          <p:nvPr/>
        </p:nvSpPr>
        <p:spPr>
          <a:xfrm>
            <a:off x="8229600" y="0"/>
            <a:ext cx="914400" cy="84734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1"/>
          <p:cNvSpPr/>
          <p:nvPr/>
        </p:nvSpPr>
        <p:spPr>
          <a:xfrm>
            <a:off x="8382000" y="6109750"/>
            <a:ext cx="609600" cy="59584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2"/>
          <p:cNvSpPr txBox="1"/>
          <p:nvPr>
            <p:ph type="title"/>
          </p:nvPr>
        </p:nvSpPr>
        <p:spPr>
          <a:xfrm>
            <a:off x="2320552" y="1914225"/>
            <a:ext cx="59091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200">
                <a:latin typeface="Arial"/>
                <a:ea typeface="Arial"/>
                <a:cs typeface="Arial"/>
                <a:sym typeface="Arial"/>
              </a:rPr>
              <a:t>How to </a:t>
            </a:r>
            <a:r>
              <a:rPr b="1" lang="en-US" sz="3200"/>
              <a:t>Convert</a:t>
            </a:r>
            <a:r>
              <a:rPr b="1" lang="en-US" sz="3200">
                <a:latin typeface="Arial"/>
                <a:ea typeface="Arial"/>
                <a:cs typeface="Arial"/>
                <a:sym typeface="Arial"/>
              </a:rPr>
              <a:t> into SOP: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695350" y="2825953"/>
            <a:ext cx="7981200" cy="17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065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rgbClr val="2C2C89"/>
                </a:solidFill>
                <a:latin typeface="Arial"/>
                <a:ea typeface="Arial"/>
                <a:cs typeface="Arial"/>
                <a:sym typeface="Arial"/>
              </a:rPr>
              <a:t>Check if each term contains all variable, if not then  AND (x+x’) if x is the missing term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810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Function, F(A</a:t>
            </a:r>
            <a:r>
              <a:rPr lang="en-US" sz="2800">
                <a:solidFill>
                  <a:schemeClr val="dk1"/>
                </a:solidFill>
              </a:rPr>
              <a:t>,B,C)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=A+B’C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2"/>
          <p:cNvSpPr/>
          <p:nvPr/>
        </p:nvSpPr>
        <p:spPr>
          <a:xfrm>
            <a:off x="8229600" y="0"/>
            <a:ext cx="914400" cy="84734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2"/>
          <p:cNvSpPr/>
          <p:nvPr/>
        </p:nvSpPr>
        <p:spPr>
          <a:xfrm>
            <a:off x="8382000" y="6109750"/>
            <a:ext cx="609600" cy="59584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/>
          <p:nvPr>
            <p:ph type="title"/>
          </p:nvPr>
        </p:nvSpPr>
        <p:spPr>
          <a:xfrm>
            <a:off x="1344930" y="483488"/>
            <a:ext cx="645160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How To Convert into SOP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536244" y="1624965"/>
            <a:ext cx="7755600" cy="48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4805" lvl="0" marL="3568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800">
                <a:solidFill>
                  <a:schemeClr val="dk1"/>
                </a:solidFill>
              </a:rPr>
              <a:t>(A,B,C)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=A+B’C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=A(B+B’)(C+C’)+B’C(A+A’)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=(AB+AB’)(C+C’)+B’C(A+A’)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=AB(C+C’)+AB’(C+C’)+B’C(A+A’)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=ABC+ABC’+</a:t>
            </a:r>
            <a:r>
              <a:rPr b="1" i="1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AB’C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+AB’C’+</a:t>
            </a:r>
            <a:r>
              <a:rPr b="1" i="1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B’CA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+B’CA</a:t>
            </a:r>
            <a:r>
              <a:rPr lang="en-US" sz="2800">
                <a:solidFill>
                  <a:schemeClr val="dk1"/>
                </a:solidFill>
              </a:rPr>
              <a:t>’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</a:rPr>
              <a:t>Now, removing duplicates and writing the literals in order,</a:t>
            </a:r>
            <a:endParaRPr sz="2800">
              <a:solidFill>
                <a:schemeClr val="dk1"/>
              </a:solidFill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=ABC+ABC’+AB’C+AB’C’+A’B’C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</a:rPr>
              <a:t>    = 111, 110, 101, 100, 001</a:t>
            </a:r>
            <a:endParaRPr sz="2800">
              <a:solidFill>
                <a:schemeClr val="dk1"/>
              </a:solidFill>
            </a:endParaRPr>
          </a:p>
          <a:p>
            <a:pPr indent="0" lvl="0" marL="35687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=∑(1,4,5,6,7)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3"/>
          <p:cNvSpPr/>
          <p:nvPr/>
        </p:nvSpPr>
        <p:spPr>
          <a:xfrm>
            <a:off x="8229600" y="0"/>
            <a:ext cx="914400" cy="84734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 txBox="1"/>
          <p:nvPr>
            <p:ph type="title"/>
          </p:nvPr>
        </p:nvSpPr>
        <p:spPr>
          <a:xfrm>
            <a:off x="612453" y="633425"/>
            <a:ext cx="68142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200">
                <a:latin typeface="Arial"/>
                <a:ea typeface="Arial"/>
                <a:cs typeface="Arial"/>
                <a:sym typeface="Arial"/>
              </a:rPr>
              <a:t>How to </a:t>
            </a:r>
            <a:r>
              <a:rPr b="1" lang="en-US" sz="3200"/>
              <a:t>Convert</a:t>
            </a:r>
            <a:r>
              <a:rPr b="1" lang="en-US" sz="3200">
                <a:latin typeface="Arial"/>
                <a:ea typeface="Arial"/>
                <a:cs typeface="Arial"/>
                <a:sym typeface="Arial"/>
              </a:rPr>
              <a:t> into POS: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612451" y="1545725"/>
            <a:ext cx="8531400" cy="30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99085" lvl="0" marL="311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89"/>
              </a:buClr>
              <a:buSzPts val="2700"/>
              <a:buFont typeface="Arial"/>
              <a:buAutoNum type="arabicPeriod"/>
            </a:pPr>
            <a:r>
              <a:rPr b="0" i="0" lang="en-US" sz="2800" u="none" cap="none" strike="noStrike">
                <a:solidFill>
                  <a:srgbClr val="2C2C89"/>
                </a:solidFill>
                <a:latin typeface="Arial"/>
                <a:ea typeface="Arial"/>
                <a:cs typeface="Arial"/>
                <a:sym typeface="Arial"/>
              </a:rPr>
              <a:t>Often distributive law (x+yz)=(x+y)(x+z) is used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3105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89"/>
              </a:buClr>
              <a:buSzPts val="2700"/>
              <a:buFont typeface="Arial"/>
              <a:buAutoNum type="arabicPeriod"/>
            </a:pPr>
            <a:r>
              <a:rPr b="0" i="0" lang="en-US" sz="2800" u="none" cap="none" strike="noStrike">
                <a:solidFill>
                  <a:srgbClr val="2C2C89"/>
                </a:solidFill>
                <a:latin typeface="Arial"/>
                <a:ea typeface="Arial"/>
                <a:cs typeface="Arial"/>
                <a:sym typeface="Arial"/>
              </a:rPr>
              <a:t>If then terms, like x, are missing, OR xx’</a:t>
            </a:r>
            <a:endParaRPr sz="2800">
              <a:solidFill>
                <a:schemeClr val="dk1"/>
              </a:solidFill>
            </a:endParaRPr>
          </a:p>
          <a:p>
            <a:pPr indent="-298450" lvl="0" marL="3105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89"/>
              </a:buClr>
              <a:buSzPts val="2700"/>
              <a:buFont typeface="Arial"/>
              <a:buAutoNum type="arabicPeriod"/>
            </a:pPr>
            <a:r>
              <a:rPr b="0" i="0" lang="en-US" sz="2800" u="none" cap="none" strike="noStrike">
                <a:solidFill>
                  <a:srgbClr val="2C2C89"/>
                </a:solidFill>
                <a:latin typeface="Arial"/>
                <a:ea typeface="Arial"/>
                <a:cs typeface="Arial"/>
                <a:sym typeface="Arial"/>
              </a:rPr>
              <a:t>Each POS is missing a term so OR missing  terms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2800" u="none" cap="none" strike="noStrike">
                <a:solidFill>
                  <a:srgbClr val="2C2C89"/>
                </a:solidFill>
                <a:latin typeface="Arial"/>
                <a:ea typeface="Arial"/>
                <a:cs typeface="Arial"/>
                <a:sym typeface="Arial"/>
              </a:rPr>
              <a:t>Again apply distributive law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Function, F(A,B,C)=A+B’C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8229600" y="0"/>
            <a:ext cx="914400" cy="84734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8382000" y="6109750"/>
            <a:ext cx="609600" cy="59584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68e323f9a1_1_8"/>
          <p:cNvSpPr txBox="1"/>
          <p:nvPr>
            <p:ph type="title"/>
          </p:nvPr>
        </p:nvSpPr>
        <p:spPr>
          <a:xfrm>
            <a:off x="612452" y="633425"/>
            <a:ext cx="64713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200">
                <a:latin typeface="Arial"/>
                <a:ea typeface="Arial"/>
                <a:cs typeface="Arial"/>
                <a:sym typeface="Arial"/>
              </a:rPr>
              <a:t>How to </a:t>
            </a:r>
            <a:r>
              <a:rPr b="1" lang="en-US" sz="3200"/>
              <a:t>Convert</a:t>
            </a:r>
            <a:r>
              <a:rPr b="1" lang="en-US" sz="3200">
                <a:latin typeface="Arial"/>
                <a:ea typeface="Arial"/>
                <a:cs typeface="Arial"/>
                <a:sym typeface="Arial"/>
              </a:rPr>
              <a:t> into POS: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268e323f9a1_1_8"/>
          <p:cNvSpPr txBox="1"/>
          <p:nvPr/>
        </p:nvSpPr>
        <p:spPr>
          <a:xfrm>
            <a:off x="612444" y="1545717"/>
            <a:ext cx="7866300" cy="43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4805" lvl="0" marL="35687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800">
                <a:solidFill>
                  <a:schemeClr val="dk1"/>
                </a:solidFill>
              </a:rPr>
              <a:t>F(A,B,C)=A+B’C</a:t>
            </a:r>
            <a:endParaRPr sz="2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= (A+B’)(A+C)</a:t>
            </a:r>
            <a:endParaRPr sz="2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= (A+B’+CC’)(A+C+BB’)</a:t>
            </a:r>
            <a:endParaRPr sz="2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= </a:t>
            </a:r>
            <a:r>
              <a:rPr lang="en-US" sz="2800">
                <a:solidFill>
                  <a:srgbClr val="FF0000"/>
                </a:solidFill>
              </a:rPr>
              <a:t>(A+B’+C)</a:t>
            </a:r>
            <a:r>
              <a:rPr lang="en-US" sz="2800">
                <a:solidFill>
                  <a:schemeClr val="dk1"/>
                </a:solidFill>
              </a:rPr>
              <a:t>(A+B’+C’)(A+C+B)</a:t>
            </a:r>
            <a:r>
              <a:rPr lang="en-US" sz="2800">
                <a:solidFill>
                  <a:srgbClr val="FF0000"/>
                </a:solidFill>
              </a:rPr>
              <a:t>(A+C+B’)</a:t>
            </a:r>
            <a:endParaRPr sz="2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Now, removing duplicates and writing the literals in order,</a:t>
            </a:r>
            <a:endParaRPr sz="2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= (A+B’+C)(A+B’+C’)(A+B+C)</a:t>
            </a:r>
            <a:endParaRPr sz="2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= 010, 011, 000</a:t>
            </a:r>
            <a:endParaRPr sz="2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= π (2,3,0)</a:t>
            </a:r>
            <a:endParaRPr sz="2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= π (0,2,3)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23" name="Google Shape;123;g268e323f9a1_1_8"/>
          <p:cNvSpPr/>
          <p:nvPr/>
        </p:nvSpPr>
        <p:spPr>
          <a:xfrm>
            <a:off x="8229600" y="0"/>
            <a:ext cx="914400" cy="847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268e323f9a1_1_8"/>
          <p:cNvSpPr/>
          <p:nvPr/>
        </p:nvSpPr>
        <p:spPr>
          <a:xfrm>
            <a:off x="8382000" y="6109750"/>
            <a:ext cx="609600" cy="595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 amt="11000"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 txBox="1"/>
          <p:nvPr>
            <p:ph type="title"/>
          </p:nvPr>
        </p:nvSpPr>
        <p:spPr>
          <a:xfrm>
            <a:off x="2590800" y="152400"/>
            <a:ext cx="623392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Another Example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457200" y="1009900"/>
            <a:ext cx="777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381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</a:t>
            </a:r>
            <a:r>
              <a:rPr b="1" i="0" lang="en-US" sz="2300" u="none" cap="none" strike="noStrike">
                <a:solidFill>
                  <a:schemeClr val="dk1"/>
                </a:solidFill>
              </a:rPr>
              <a:t>SOP 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F(w,x,y,z) =wy+x’z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955300" y="1910700"/>
            <a:ext cx="7653300" cy="37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F(w,x,y,z) </a:t>
            </a:r>
            <a:endParaRPr sz="2300">
              <a:solidFill>
                <a:schemeClr val="dk1"/>
              </a:solidFill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=wy+x’z</a:t>
            </a:r>
            <a:endParaRPr sz="2300">
              <a:solidFill>
                <a:schemeClr val="dk1"/>
              </a:solidFill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=wy[(x+x’)(z+z’)] + x’z[(w+w’)(y+y’)]</a:t>
            </a:r>
            <a:endParaRPr sz="2300">
              <a:solidFill>
                <a:schemeClr val="dk1"/>
              </a:solidFill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=wy(xz+xz’+x’z+x’z’) + x’z(wy+wy’+w’y+w’y’)</a:t>
            </a:r>
            <a:endParaRPr sz="2300">
              <a:solidFill>
                <a:schemeClr val="dk1"/>
              </a:solidFill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=wyxz+wyxz’+</a:t>
            </a:r>
            <a:r>
              <a:rPr lang="en-US" sz="2300">
                <a:solidFill>
                  <a:srgbClr val="FF0000"/>
                </a:solidFill>
              </a:rPr>
              <a:t>wyx’z</a:t>
            </a:r>
            <a:r>
              <a:rPr lang="en-US" sz="2300">
                <a:solidFill>
                  <a:schemeClr val="dk1"/>
                </a:solidFill>
              </a:rPr>
              <a:t>+wyx’z’+</a:t>
            </a:r>
            <a:r>
              <a:rPr lang="en-US" sz="2300">
                <a:solidFill>
                  <a:srgbClr val="FF0000"/>
                </a:solidFill>
              </a:rPr>
              <a:t>x’zwy</a:t>
            </a:r>
            <a:r>
              <a:rPr lang="en-US" sz="2300">
                <a:solidFill>
                  <a:schemeClr val="dk1"/>
                </a:solidFill>
              </a:rPr>
              <a:t>+x’zwy’+x’zw’y+x’zw’y’</a:t>
            </a:r>
            <a:endParaRPr sz="2300">
              <a:solidFill>
                <a:schemeClr val="dk1"/>
              </a:solidFill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=wxyz+wxyz’+wx’yz+wx’yz’+wx’y’z+w’x’yz+w’x’y’z</a:t>
            </a:r>
            <a:endParaRPr sz="2300">
              <a:solidFill>
                <a:schemeClr val="dk1"/>
              </a:solidFill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=1111,1110,1011,1010,1001,0011,0001</a:t>
            </a:r>
            <a:endParaRPr sz="2300">
              <a:solidFill>
                <a:schemeClr val="dk1"/>
              </a:solidFill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=∑(15,14,11,10,9,3,1)</a:t>
            </a:r>
            <a:endParaRPr sz="2300">
              <a:solidFill>
                <a:schemeClr val="dk1"/>
              </a:solidFill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=∑(1,3,9,10,11,14,15)</a:t>
            </a:r>
            <a:endParaRPr sz="2300">
              <a:solidFill>
                <a:schemeClr val="dk1"/>
              </a:solidFill>
            </a:endParaRPr>
          </a:p>
          <a:p>
            <a:pPr indent="0" lvl="0" marL="381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68e688a8cb_3_0"/>
          <p:cNvSpPr txBox="1"/>
          <p:nvPr>
            <p:ph type="title"/>
          </p:nvPr>
        </p:nvSpPr>
        <p:spPr>
          <a:xfrm>
            <a:off x="2401300" y="0"/>
            <a:ext cx="6234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Another Example</a:t>
            </a:r>
            <a:endParaRPr/>
          </a:p>
        </p:txBody>
      </p:sp>
      <p:sp>
        <p:nvSpPr>
          <p:cNvPr id="137" name="Google Shape;137;g268e688a8cb_3_0"/>
          <p:cNvSpPr/>
          <p:nvPr/>
        </p:nvSpPr>
        <p:spPr>
          <a:xfrm>
            <a:off x="258700" y="676275"/>
            <a:ext cx="777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81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</a:t>
            </a:r>
            <a:r>
              <a:rPr b="1" i="0" lang="en-US" sz="1800" u="none" cap="none" strike="noStrike">
                <a:solidFill>
                  <a:schemeClr val="dk1"/>
                </a:solidFill>
              </a:rPr>
              <a:t>POS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F(w,x,y,z) =wy+x’z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268e688a8cb_3_0"/>
          <p:cNvSpPr txBox="1"/>
          <p:nvPr/>
        </p:nvSpPr>
        <p:spPr>
          <a:xfrm>
            <a:off x="72200" y="803650"/>
            <a:ext cx="11261700" cy="61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F(w,x,y,z) </a:t>
            </a:r>
            <a:endParaRPr sz="2300">
              <a:solidFill>
                <a:schemeClr val="dk1"/>
              </a:solidFill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= wy+x’z</a:t>
            </a:r>
            <a:endParaRPr sz="2300">
              <a:solidFill>
                <a:schemeClr val="dk1"/>
              </a:solidFill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= (wy+x’)(wy+z)</a:t>
            </a:r>
            <a:endParaRPr sz="2300">
              <a:solidFill>
                <a:schemeClr val="dk1"/>
              </a:solidFill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= (x’+w)(x’+y)(w+z)(y+z)</a:t>
            </a:r>
            <a:endParaRPr sz="2300">
              <a:solidFill>
                <a:schemeClr val="dk1"/>
              </a:solidFill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= (x’+w+yy’)(x’+y+zz’)(w+z+xx’)(y+z+xx’)</a:t>
            </a:r>
            <a:endParaRPr sz="2300">
              <a:solidFill>
                <a:schemeClr val="dk1"/>
              </a:solidFill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= (x’+w+y)(x’+w+y’)(x’+y+z)(x’+y+z’)(w+z+x)(w+z+x’)(y+z+x)(y+z+x’)</a:t>
            </a:r>
            <a:endParaRPr sz="2300">
              <a:solidFill>
                <a:schemeClr val="dk1"/>
              </a:solidFill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= (x’+w+y+zz’)(x’+w+y’+zz’)(x’+y+z+ww’)(x’+y+z’+ww’)</a:t>
            </a:r>
            <a:endParaRPr sz="2300">
              <a:solidFill>
                <a:schemeClr val="dk1"/>
              </a:solidFill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   (w+z+x+yy’)(w+z+x’+yy’)(y+z+x+ww’)(y+z+x’+ww’)</a:t>
            </a:r>
            <a:endParaRPr sz="2300">
              <a:solidFill>
                <a:schemeClr val="dk1"/>
              </a:solidFill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= (</a:t>
            </a:r>
            <a:r>
              <a:rPr lang="en-US" sz="2300">
                <a:solidFill>
                  <a:srgbClr val="4A86E8"/>
                </a:solidFill>
              </a:rPr>
              <a:t>w+x’+y+z</a:t>
            </a:r>
            <a:r>
              <a:rPr lang="en-US" sz="2300">
                <a:solidFill>
                  <a:schemeClr val="dk1"/>
                </a:solidFill>
              </a:rPr>
              <a:t>)(</a:t>
            </a:r>
            <a:r>
              <a:rPr lang="en-US" sz="2300">
                <a:solidFill>
                  <a:srgbClr val="FF0000"/>
                </a:solidFill>
              </a:rPr>
              <a:t>w+x’+y+z’</a:t>
            </a:r>
            <a:r>
              <a:rPr lang="en-US" sz="2300">
                <a:solidFill>
                  <a:schemeClr val="dk1"/>
                </a:solidFill>
              </a:rPr>
              <a:t>)(</a:t>
            </a:r>
            <a:r>
              <a:rPr lang="en-US" sz="2300">
                <a:solidFill>
                  <a:srgbClr val="980000"/>
                </a:solidFill>
              </a:rPr>
              <a:t>w+x’+y’+z</a:t>
            </a:r>
            <a:r>
              <a:rPr lang="en-US" sz="2300">
                <a:solidFill>
                  <a:schemeClr val="dk1"/>
                </a:solidFill>
              </a:rPr>
              <a:t>)(w+x’+y’+z’)</a:t>
            </a:r>
            <a:endParaRPr sz="2300">
              <a:solidFill>
                <a:schemeClr val="dk1"/>
              </a:solidFill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   </a:t>
            </a:r>
            <a:r>
              <a:rPr lang="en-US" sz="2300">
                <a:solidFill>
                  <a:srgbClr val="4A86E8"/>
                </a:solidFill>
              </a:rPr>
              <a:t>(w+x’+y+z)</a:t>
            </a:r>
            <a:r>
              <a:rPr lang="en-US" sz="2300">
                <a:solidFill>
                  <a:schemeClr val="dk1"/>
                </a:solidFill>
              </a:rPr>
              <a:t>(</a:t>
            </a:r>
            <a:r>
              <a:rPr lang="en-US" sz="2300">
                <a:solidFill>
                  <a:srgbClr val="FF9900"/>
                </a:solidFill>
              </a:rPr>
              <a:t>w’+x’+y+z</a:t>
            </a:r>
            <a:r>
              <a:rPr lang="en-US" sz="2300">
                <a:solidFill>
                  <a:schemeClr val="dk1"/>
                </a:solidFill>
              </a:rPr>
              <a:t>)(</a:t>
            </a:r>
            <a:r>
              <a:rPr lang="en-US" sz="2300">
                <a:solidFill>
                  <a:srgbClr val="FF0000"/>
                </a:solidFill>
              </a:rPr>
              <a:t>w+x’+y+z’</a:t>
            </a:r>
            <a:r>
              <a:rPr lang="en-US" sz="2300">
                <a:solidFill>
                  <a:schemeClr val="dk1"/>
                </a:solidFill>
              </a:rPr>
              <a:t>)(w’+x’+y+z’)</a:t>
            </a:r>
            <a:endParaRPr sz="2300">
              <a:solidFill>
                <a:schemeClr val="dk1"/>
              </a:solidFill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   (</a:t>
            </a:r>
            <a:r>
              <a:rPr lang="en-US" sz="2300">
                <a:solidFill>
                  <a:srgbClr val="FF00FF"/>
                </a:solidFill>
              </a:rPr>
              <a:t>w+x+y+z</a:t>
            </a:r>
            <a:r>
              <a:rPr lang="en-US" sz="2300">
                <a:solidFill>
                  <a:schemeClr val="dk1"/>
                </a:solidFill>
              </a:rPr>
              <a:t>)(w+x+y’+z)</a:t>
            </a:r>
            <a:r>
              <a:rPr lang="en-US" sz="2300">
                <a:solidFill>
                  <a:srgbClr val="4A86E8"/>
                </a:solidFill>
              </a:rPr>
              <a:t>(w+x’+y+z)</a:t>
            </a:r>
            <a:r>
              <a:rPr lang="en-US" sz="2300">
                <a:solidFill>
                  <a:schemeClr val="dk1"/>
                </a:solidFill>
              </a:rPr>
              <a:t>(</a:t>
            </a:r>
            <a:r>
              <a:rPr lang="en-US" sz="2300">
                <a:solidFill>
                  <a:srgbClr val="980000"/>
                </a:solidFill>
              </a:rPr>
              <a:t>w+x’+y’+z</a:t>
            </a:r>
            <a:r>
              <a:rPr lang="en-US" sz="2300">
                <a:solidFill>
                  <a:schemeClr val="dk1"/>
                </a:solidFill>
              </a:rPr>
              <a:t>)</a:t>
            </a:r>
            <a:endParaRPr sz="2300">
              <a:solidFill>
                <a:schemeClr val="dk1"/>
              </a:solidFill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   (</a:t>
            </a:r>
            <a:r>
              <a:rPr lang="en-US" sz="2300">
                <a:solidFill>
                  <a:srgbClr val="FF00FF"/>
                </a:solidFill>
              </a:rPr>
              <a:t>w+x+y+z</a:t>
            </a:r>
            <a:r>
              <a:rPr lang="en-US" sz="2300">
                <a:solidFill>
                  <a:schemeClr val="dk1"/>
                </a:solidFill>
              </a:rPr>
              <a:t>)(w’+x+y+z)(</a:t>
            </a:r>
            <a:r>
              <a:rPr lang="en-US" sz="2300">
                <a:solidFill>
                  <a:srgbClr val="4A86E8"/>
                </a:solidFill>
              </a:rPr>
              <a:t>w+x’+y+z</a:t>
            </a:r>
            <a:r>
              <a:rPr lang="en-US" sz="2300">
                <a:solidFill>
                  <a:schemeClr val="dk1"/>
                </a:solidFill>
              </a:rPr>
              <a:t>)(</a:t>
            </a:r>
            <a:r>
              <a:rPr lang="en-US" sz="2300">
                <a:solidFill>
                  <a:srgbClr val="FF9900"/>
                </a:solidFill>
              </a:rPr>
              <a:t>w’+x’+y+z</a:t>
            </a:r>
            <a:r>
              <a:rPr lang="en-US" sz="2300">
                <a:solidFill>
                  <a:schemeClr val="dk1"/>
                </a:solidFill>
              </a:rPr>
              <a:t>)</a:t>
            </a:r>
            <a:endParaRPr sz="2300">
              <a:solidFill>
                <a:schemeClr val="dk1"/>
              </a:solidFill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= (</a:t>
            </a:r>
            <a:r>
              <a:rPr lang="en-US" sz="2300">
                <a:solidFill>
                  <a:srgbClr val="4A86E8"/>
                </a:solidFill>
              </a:rPr>
              <a:t>w+x’+y+z</a:t>
            </a:r>
            <a:r>
              <a:rPr lang="en-US" sz="2300">
                <a:solidFill>
                  <a:schemeClr val="dk1"/>
                </a:solidFill>
              </a:rPr>
              <a:t>)(</a:t>
            </a:r>
            <a:r>
              <a:rPr lang="en-US" sz="2300">
                <a:solidFill>
                  <a:srgbClr val="FF0000"/>
                </a:solidFill>
              </a:rPr>
              <a:t>w+x’+y+z’</a:t>
            </a:r>
            <a:r>
              <a:rPr lang="en-US" sz="2300">
                <a:solidFill>
                  <a:schemeClr val="dk1"/>
                </a:solidFill>
              </a:rPr>
              <a:t>)(</a:t>
            </a:r>
            <a:r>
              <a:rPr lang="en-US" sz="2300">
                <a:solidFill>
                  <a:srgbClr val="980000"/>
                </a:solidFill>
              </a:rPr>
              <a:t>w+x’+y’+z</a:t>
            </a:r>
            <a:r>
              <a:rPr lang="en-US" sz="2300">
                <a:solidFill>
                  <a:schemeClr val="dk1"/>
                </a:solidFill>
              </a:rPr>
              <a:t>)(w+x’+y’+z’)(</a:t>
            </a:r>
            <a:r>
              <a:rPr lang="en-US" sz="2300">
                <a:solidFill>
                  <a:srgbClr val="FF9900"/>
                </a:solidFill>
              </a:rPr>
              <a:t>w’+x’+y+z</a:t>
            </a:r>
            <a:r>
              <a:rPr lang="en-US" sz="2300">
                <a:solidFill>
                  <a:schemeClr val="dk1"/>
                </a:solidFill>
              </a:rPr>
              <a:t>)</a:t>
            </a:r>
            <a:endParaRPr sz="2300">
              <a:solidFill>
                <a:schemeClr val="dk1"/>
              </a:solidFill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   (w’+x’+y+z’)(</a:t>
            </a:r>
            <a:r>
              <a:rPr lang="en-US" sz="2300">
                <a:solidFill>
                  <a:srgbClr val="FF00FF"/>
                </a:solidFill>
              </a:rPr>
              <a:t>w+x+y+z</a:t>
            </a:r>
            <a:r>
              <a:rPr lang="en-US" sz="2300">
                <a:solidFill>
                  <a:schemeClr val="dk1"/>
                </a:solidFill>
              </a:rPr>
              <a:t>)(w+x+y’+z)(w’+x+y+z)</a:t>
            </a:r>
            <a:endParaRPr sz="2300">
              <a:solidFill>
                <a:schemeClr val="dk1"/>
              </a:solidFill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= 0100,0101,0110,0111,1100,1101,0000,0010,1000</a:t>
            </a:r>
            <a:endParaRPr sz="2300">
              <a:solidFill>
                <a:schemeClr val="dk1"/>
              </a:solidFill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= 𝚷(4,5,6,7,12,13,0,2,8) = 𝚷(0,2,4,5,6,7,8,12,13)</a:t>
            </a:r>
            <a:endParaRPr sz="2300">
              <a:solidFill>
                <a:schemeClr val="dk1"/>
              </a:solidFill>
            </a:endParaRPr>
          </a:p>
          <a:p>
            <a:pPr indent="0" lvl="0" marL="381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/>
          <p:cNvSpPr txBox="1"/>
          <p:nvPr>
            <p:ph type="title"/>
          </p:nvPr>
        </p:nvSpPr>
        <p:spPr>
          <a:xfrm>
            <a:off x="721900" y="152400"/>
            <a:ext cx="810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Same thing can be done by taking all missing terms together</a:t>
            </a:r>
            <a:endParaRPr sz="2000"/>
          </a:p>
        </p:txBody>
      </p:sp>
      <p:sp>
        <p:nvSpPr>
          <p:cNvPr id="144" name="Google Shape;144;p17"/>
          <p:cNvSpPr txBox="1"/>
          <p:nvPr/>
        </p:nvSpPr>
        <p:spPr>
          <a:xfrm>
            <a:off x="454050" y="684625"/>
            <a:ext cx="8235900" cy="58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F(w,x,y,z) </a:t>
            </a:r>
            <a:endParaRPr sz="2300">
              <a:solidFill>
                <a:schemeClr val="dk1"/>
              </a:solidFill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= wy+x’z</a:t>
            </a:r>
            <a:endParaRPr sz="2300">
              <a:solidFill>
                <a:schemeClr val="dk1"/>
              </a:solidFill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= (wy+x’)(wy+z)</a:t>
            </a:r>
            <a:endParaRPr sz="2300">
              <a:solidFill>
                <a:schemeClr val="dk1"/>
              </a:solidFill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= (x’+w)(x’+y)(w+z)(y+z)</a:t>
            </a:r>
            <a:endParaRPr sz="2300">
              <a:solidFill>
                <a:schemeClr val="dk1"/>
              </a:solidFill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= </a:t>
            </a:r>
            <a:r>
              <a:rPr lang="en-US" sz="2300">
                <a:solidFill>
                  <a:schemeClr val="dk1"/>
                </a:solidFill>
              </a:rPr>
              <a:t>(x’+w+yy’+zz’)(x’+y+zz’+ww’)(w+z+xx’+yy’)(y+z+xx’+ww’)</a:t>
            </a:r>
            <a:endParaRPr sz="2300">
              <a:solidFill>
                <a:schemeClr val="dk1"/>
              </a:solidFill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= </a:t>
            </a:r>
            <a:r>
              <a:rPr lang="en-US" sz="2300">
                <a:solidFill>
                  <a:schemeClr val="dk1"/>
                </a:solidFill>
              </a:rPr>
              <a:t>(x’+w+y+zz’)(x’+w+y’+zz’)(x’+y+z+ww’)(x’+y+z’+ww’)</a:t>
            </a:r>
            <a:endParaRPr sz="2300">
              <a:solidFill>
                <a:schemeClr val="dk1"/>
              </a:solidFill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   (w+z+x+yy’)(w+z+x’+yy’)(y+z+x+ww’)(y+z+x’+ww’)</a:t>
            </a:r>
            <a:endParaRPr sz="2300">
              <a:solidFill>
                <a:schemeClr val="dk1"/>
              </a:solidFill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= (</a:t>
            </a:r>
            <a:r>
              <a:rPr lang="en-US" sz="2300">
                <a:solidFill>
                  <a:srgbClr val="4A86E8"/>
                </a:solidFill>
              </a:rPr>
              <a:t>w+x’+y+z</a:t>
            </a:r>
            <a:r>
              <a:rPr lang="en-US" sz="2300">
                <a:solidFill>
                  <a:schemeClr val="dk1"/>
                </a:solidFill>
              </a:rPr>
              <a:t>)(</a:t>
            </a:r>
            <a:r>
              <a:rPr lang="en-US" sz="2300">
                <a:solidFill>
                  <a:srgbClr val="FF0000"/>
                </a:solidFill>
              </a:rPr>
              <a:t>w+x’+y+z’</a:t>
            </a:r>
            <a:r>
              <a:rPr lang="en-US" sz="2300">
                <a:solidFill>
                  <a:schemeClr val="dk1"/>
                </a:solidFill>
              </a:rPr>
              <a:t>)(</a:t>
            </a:r>
            <a:r>
              <a:rPr lang="en-US" sz="2300">
                <a:solidFill>
                  <a:srgbClr val="980000"/>
                </a:solidFill>
              </a:rPr>
              <a:t>w+x’+y’+z</a:t>
            </a:r>
            <a:r>
              <a:rPr lang="en-US" sz="2300">
                <a:solidFill>
                  <a:schemeClr val="dk1"/>
                </a:solidFill>
              </a:rPr>
              <a:t>)(w+x’+y’+z’)</a:t>
            </a:r>
            <a:endParaRPr sz="2300">
              <a:solidFill>
                <a:schemeClr val="dk1"/>
              </a:solidFill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   </a:t>
            </a:r>
            <a:r>
              <a:rPr lang="en-US" sz="2300">
                <a:solidFill>
                  <a:srgbClr val="4A86E8"/>
                </a:solidFill>
              </a:rPr>
              <a:t>(w+x’+y+z)</a:t>
            </a:r>
            <a:r>
              <a:rPr lang="en-US" sz="2300">
                <a:solidFill>
                  <a:schemeClr val="dk1"/>
                </a:solidFill>
              </a:rPr>
              <a:t>(</a:t>
            </a:r>
            <a:r>
              <a:rPr lang="en-US" sz="2300">
                <a:solidFill>
                  <a:srgbClr val="FF9900"/>
                </a:solidFill>
              </a:rPr>
              <a:t>w’+x’+y+z</a:t>
            </a:r>
            <a:r>
              <a:rPr lang="en-US" sz="2300">
                <a:solidFill>
                  <a:schemeClr val="dk1"/>
                </a:solidFill>
              </a:rPr>
              <a:t>)(</a:t>
            </a:r>
            <a:r>
              <a:rPr lang="en-US" sz="2300">
                <a:solidFill>
                  <a:srgbClr val="FF0000"/>
                </a:solidFill>
              </a:rPr>
              <a:t>w+x’+y+z’</a:t>
            </a:r>
            <a:r>
              <a:rPr lang="en-US" sz="2300">
                <a:solidFill>
                  <a:schemeClr val="dk1"/>
                </a:solidFill>
              </a:rPr>
              <a:t>)(w’+x’+y+z’)</a:t>
            </a:r>
            <a:endParaRPr sz="2300">
              <a:solidFill>
                <a:schemeClr val="dk1"/>
              </a:solidFill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   (</a:t>
            </a:r>
            <a:r>
              <a:rPr lang="en-US" sz="2300">
                <a:solidFill>
                  <a:srgbClr val="FF00FF"/>
                </a:solidFill>
              </a:rPr>
              <a:t>w+x+y+z</a:t>
            </a:r>
            <a:r>
              <a:rPr lang="en-US" sz="2300">
                <a:solidFill>
                  <a:schemeClr val="dk1"/>
                </a:solidFill>
              </a:rPr>
              <a:t>)(w+x+y’+z)</a:t>
            </a:r>
            <a:r>
              <a:rPr lang="en-US" sz="2300">
                <a:solidFill>
                  <a:srgbClr val="4A86E8"/>
                </a:solidFill>
              </a:rPr>
              <a:t>(w+x’+y+z)</a:t>
            </a:r>
            <a:r>
              <a:rPr lang="en-US" sz="2300">
                <a:solidFill>
                  <a:schemeClr val="dk1"/>
                </a:solidFill>
              </a:rPr>
              <a:t>(</a:t>
            </a:r>
            <a:r>
              <a:rPr lang="en-US" sz="2300">
                <a:solidFill>
                  <a:srgbClr val="980000"/>
                </a:solidFill>
              </a:rPr>
              <a:t>w+x’+y’+z</a:t>
            </a:r>
            <a:r>
              <a:rPr lang="en-US" sz="2300">
                <a:solidFill>
                  <a:schemeClr val="dk1"/>
                </a:solidFill>
              </a:rPr>
              <a:t>)</a:t>
            </a:r>
            <a:endParaRPr sz="2300">
              <a:solidFill>
                <a:schemeClr val="dk1"/>
              </a:solidFill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   (</a:t>
            </a:r>
            <a:r>
              <a:rPr lang="en-US" sz="2300">
                <a:solidFill>
                  <a:srgbClr val="FF00FF"/>
                </a:solidFill>
              </a:rPr>
              <a:t>w+x+y+z</a:t>
            </a:r>
            <a:r>
              <a:rPr lang="en-US" sz="2300">
                <a:solidFill>
                  <a:schemeClr val="dk1"/>
                </a:solidFill>
              </a:rPr>
              <a:t>)(w’+x+y+z)(</a:t>
            </a:r>
            <a:r>
              <a:rPr lang="en-US" sz="2300">
                <a:solidFill>
                  <a:srgbClr val="4A86E8"/>
                </a:solidFill>
              </a:rPr>
              <a:t>w+x’+y+z</a:t>
            </a:r>
            <a:r>
              <a:rPr lang="en-US" sz="2300">
                <a:solidFill>
                  <a:schemeClr val="dk1"/>
                </a:solidFill>
              </a:rPr>
              <a:t>)(</a:t>
            </a:r>
            <a:r>
              <a:rPr lang="en-US" sz="2300">
                <a:solidFill>
                  <a:srgbClr val="FF9900"/>
                </a:solidFill>
              </a:rPr>
              <a:t>w’+x’+y+z</a:t>
            </a:r>
            <a:r>
              <a:rPr lang="en-US" sz="2300">
                <a:solidFill>
                  <a:schemeClr val="dk1"/>
                </a:solidFill>
              </a:rPr>
              <a:t>)</a:t>
            </a:r>
            <a:endParaRPr sz="2300">
              <a:solidFill>
                <a:schemeClr val="dk1"/>
              </a:solidFill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= (</a:t>
            </a:r>
            <a:r>
              <a:rPr lang="en-US" sz="2300">
                <a:solidFill>
                  <a:srgbClr val="4A86E8"/>
                </a:solidFill>
              </a:rPr>
              <a:t>w+x’+y+z</a:t>
            </a:r>
            <a:r>
              <a:rPr lang="en-US" sz="2300">
                <a:solidFill>
                  <a:schemeClr val="dk1"/>
                </a:solidFill>
              </a:rPr>
              <a:t>)(</a:t>
            </a:r>
            <a:r>
              <a:rPr lang="en-US" sz="2300">
                <a:solidFill>
                  <a:srgbClr val="FF0000"/>
                </a:solidFill>
              </a:rPr>
              <a:t>w+x’+y+z’</a:t>
            </a:r>
            <a:r>
              <a:rPr lang="en-US" sz="2300">
                <a:solidFill>
                  <a:schemeClr val="dk1"/>
                </a:solidFill>
              </a:rPr>
              <a:t>)(</a:t>
            </a:r>
            <a:r>
              <a:rPr lang="en-US" sz="2300">
                <a:solidFill>
                  <a:srgbClr val="980000"/>
                </a:solidFill>
              </a:rPr>
              <a:t>w+x’+y’+z</a:t>
            </a:r>
            <a:r>
              <a:rPr lang="en-US" sz="2300">
                <a:solidFill>
                  <a:schemeClr val="dk1"/>
                </a:solidFill>
              </a:rPr>
              <a:t>)(w+x’+y’+z’)(</a:t>
            </a:r>
            <a:r>
              <a:rPr lang="en-US" sz="2300">
                <a:solidFill>
                  <a:srgbClr val="FF9900"/>
                </a:solidFill>
              </a:rPr>
              <a:t>w’+x’+y+z</a:t>
            </a:r>
            <a:r>
              <a:rPr lang="en-US" sz="2300">
                <a:solidFill>
                  <a:schemeClr val="dk1"/>
                </a:solidFill>
              </a:rPr>
              <a:t>)</a:t>
            </a:r>
            <a:endParaRPr sz="2300">
              <a:solidFill>
                <a:schemeClr val="dk1"/>
              </a:solidFill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   (w’+x’+y+z’)(</a:t>
            </a:r>
            <a:r>
              <a:rPr lang="en-US" sz="2300">
                <a:solidFill>
                  <a:srgbClr val="FF00FF"/>
                </a:solidFill>
              </a:rPr>
              <a:t>w+x+y+z</a:t>
            </a:r>
            <a:r>
              <a:rPr lang="en-US" sz="2300">
                <a:solidFill>
                  <a:schemeClr val="dk1"/>
                </a:solidFill>
              </a:rPr>
              <a:t>)(w+x+y’+z)(w’+x+y+z)</a:t>
            </a:r>
            <a:endParaRPr sz="2300">
              <a:solidFill>
                <a:schemeClr val="dk1"/>
              </a:solidFill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= 0100,0101,0110,0111,1100,1101,0000,0010,1000</a:t>
            </a:r>
            <a:endParaRPr sz="2300">
              <a:solidFill>
                <a:schemeClr val="dk1"/>
              </a:solidFill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</a:rPr>
              <a:t>= 𝚷(4,5,6,7,12,13,0,2,8) = 𝚷(0,2,4,5,6,7,8,12,13)</a:t>
            </a:r>
            <a:endParaRPr sz="2300">
              <a:solidFill>
                <a:schemeClr val="dk1"/>
              </a:solidFill>
            </a:endParaRPr>
          </a:p>
          <a:p>
            <a:pPr indent="0" lvl="0" marL="381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2022-06-15T04:50:23Z</dcterms:created>
  <dc:creator>khadija rasul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2020-07-07T00:00:00Z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2022-06-15T00:00:00Z</vt:filetime>
  </property>
</Properties>
</file>