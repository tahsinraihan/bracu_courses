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24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7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00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4/19/2024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4/19/2024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8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4/19/2024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73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1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9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4/19/2024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29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7" orient="horz" pos="2160">
          <p15:clr>
            <a:srgbClr val="F26B43"/>
          </p15:clr>
        </p15:guide>
        <p15:guide id="1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B04182-BBFB-AB05-0885-6E210C002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45440"/>
            <a:ext cx="4797011" cy="3559859"/>
          </a:xfrm>
        </p:spPr>
        <p:txBody>
          <a:bodyPr anchor="t">
            <a:normAutofit/>
          </a:bodyPr>
          <a:lstStyle/>
          <a:p>
            <a:r>
              <a:rPr lang="en-US" sz="4800" dirty="0"/>
              <a:t> Introduction to Mutagens and DNA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C6E7F-3B01-296F-6338-0FEB5DF655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08" r="13288" b="6"/>
          <a:stretch/>
        </p:blipFill>
        <p:spPr>
          <a:xfrm>
            <a:off x="6101169" y="10"/>
            <a:ext cx="6090831" cy="6857990"/>
          </a:xfrm>
          <a:custGeom>
            <a:avLst/>
            <a:gdLst/>
            <a:ahLst/>
            <a:cxnLst/>
            <a:rect l="l" t="t" r="r" b="b"/>
            <a:pathLst>
              <a:path w="6090831" h="6858000">
                <a:moveTo>
                  <a:pt x="677913" y="0"/>
                </a:moveTo>
                <a:lnTo>
                  <a:pt x="6090831" y="0"/>
                </a:lnTo>
                <a:lnTo>
                  <a:pt x="6090831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9093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08389" y="874810"/>
            <a:ext cx="4764773" cy="3555491"/>
          </a:xfrm>
        </p:spPr>
        <p:txBody>
          <a:bodyPr anchor="b">
            <a:normAutofit/>
          </a:bodyPr>
          <a:lstStyle/>
          <a:p>
            <a:pPr lvl="0"/>
            <a:r>
              <a:rPr lang="en-US" dirty="0"/>
              <a:t> Mutagens are agents that can induce changes, or mutations, in the genetic material of an organism</a:t>
            </a:r>
          </a:p>
          <a:p>
            <a:pPr lvl="0"/>
            <a:r>
              <a:rPr lang="en-US" dirty="0"/>
              <a:t>Importance of Understanding Mutagens: Understanding mutagens is crucial for various fields including genetics, medicine, and environmental science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22EEF-CDF9-C5B8-CE4D-FBDA41256C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509" r="27490" b="-2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4465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dirty="0"/>
              <a:t> </a:t>
            </a:r>
            <a:r>
              <a:rPr lang="en-US" sz="3200" dirty="0"/>
              <a:t>Types of Mutagens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40627" y="2569464"/>
            <a:ext cx="4764773" cy="3555491"/>
          </a:xfrm>
        </p:spPr>
        <p:txBody>
          <a:bodyPr anchor="b">
            <a:normAutofit/>
          </a:bodyPr>
          <a:lstStyle/>
          <a:p>
            <a:pPr lvl="0"/>
            <a:r>
              <a:rPr lang="en-US" sz="1700" dirty="0"/>
              <a:t>Chemical Mutagens: Chemical mutagens are substances that can interact with DNA, leading to alterations in its structure</a:t>
            </a:r>
          </a:p>
          <a:p>
            <a:pPr lvl="0"/>
            <a:r>
              <a:rPr lang="en-US" sz="1700" dirty="0"/>
              <a:t>Physical Mutagens: Physical mutagens exert their effects on DNA through physical means rather than chemical interactions</a:t>
            </a:r>
          </a:p>
          <a:p>
            <a:pPr lvl="0"/>
            <a:r>
              <a:rPr lang="en-US" sz="1700" dirty="0"/>
              <a:t>Biological Mutagens: Biological mutagens are living organisms that can introduce mutations into DNA</a:t>
            </a:r>
          </a:p>
        </p:txBody>
      </p:sp>
      <p:pic>
        <p:nvPicPr>
          <p:cNvPr id="6" name="Picture 5" descr="Chemical formulae are written on paper">
            <a:extLst>
              <a:ext uri="{FF2B5EF4-FFF2-40B4-BE49-F238E27FC236}">
                <a16:creationId xmlns:a16="http://schemas.microsoft.com/office/drawing/2014/main" id="{F12ABECE-5564-0D48-5081-98BE2D3531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9" r="25880" b="-2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8366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sz="4100" dirty="0"/>
              <a:t> </a:t>
            </a:r>
            <a:r>
              <a:rPr lang="en-US" sz="3200" dirty="0"/>
              <a:t>Mechanisms of Mutagenesis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40627" y="2569464"/>
            <a:ext cx="4764773" cy="3555491"/>
          </a:xfrm>
        </p:spPr>
        <p:txBody>
          <a:bodyPr anchor="b"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700" dirty="0"/>
              <a:t>Point Mutations: Point mutations involve changes in a single nucleotide base pair within the DNA sequence</a:t>
            </a:r>
          </a:p>
          <a:p>
            <a:pPr lvl="0">
              <a:lnSpc>
                <a:spcPct val="110000"/>
              </a:lnSpc>
            </a:pPr>
            <a:r>
              <a:rPr lang="en-US" sz="1700" dirty="0"/>
              <a:t>Frameshift Mutations: Frameshift mutations occur when nucleotides are inserted or deleted from the DNA sequence in a quantity that is not a multiple of three</a:t>
            </a:r>
          </a:p>
          <a:p>
            <a:pPr lvl="0">
              <a:lnSpc>
                <a:spcPct val="110000"/>
              </a:lnSpc>
            </a:pPr>
            <a:r>
              <a:rPr lang="en-US" sz="1700" dirty="0"/>
              <a:t>Chromosomal Mutations: Chromosomal mutations involve changes in the structure or number of chromosomes</a:t>
            </a:r>
          </a:p>
        </p:txBody>
      </p:sp>
      <p:pic>
        <p:nvPicPr>
          <p:cNvPr id="6" name="Picture 5" descr="Chemical formulae are written on paper">
            <a:extLst>
              <a:ext uri="{FF2B5EF4-FFF2-40B4-BE49-F238E27FC236}">
                <a16:creationId xmlns:a16="http://schemas.microsoft.com/office/drawing/2014/main" id="{97360766-DB2B-0C0A-943F-301B76A1EE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19" r="25880" b="-2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7003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dirty="0"/>
              <a:t> </a:t>
            </a:r>
            <a:r>
              <a:rPr lang="en-US" sz="3200" dirty="0"/>
              <a:t>Effects of Mutations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209777" y="1129553"/>
            <a:ext cx="4764773" cy="4598893"/>
          </a:xfrm>
        </p:spPr>
        <p:txBody>
          <a:bodyPr anchor="b"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200" dirty="0"/>
              <a:t>Silent Mutations: Silent mutations are those that occur in regions of the genome that do not encode proteins or do not change the amino acid sequence of the protein</a:t>
            </a:r>
          </a:p>
          <a:p>
            <a:pPr lvl="0">
              <a:lnSpc>
                <a:spcPct val="110000"/>
              </a:lnSpc>
            </a:pPr>
            <a:r>
              <a:rPr lang="en-US" sz="1200" dirty="0"/>
              <a:t>Missense Mutations: Missense mutations result in a change in a single amino acid within the protein sequence</a:t>
            </a:r>
          </a:p>
          <a:p>
            <a:pPr lvl="0">
              <a:lnSpc>
                <a:spcPct val="110000"/>
              </a:lnSpc>
            </a:pPr>
            <a:r>
              <a:rPr lang="en-US" sz="1200" dirty="0"/>
              <a:t>Nonsense Mutations: Nonsense mutations introduce a premature stop codon into the mRNA sequence, resulting in the premature termination of protein synthesis</a:t>
            </a:r>
          </a:p>
          <a:p>
            <a:pPr lvl="0">
              <a:lnSpc>
                <a:spcPct val="110000"/>
              </a:lnSpc>
            </a:pPr>
            <a:r>
              <a:rPr lang="en-US" sz="1200" dirty="0"/>
              <a:t>Frameshift Mutations: Frameshift mutations can have drastic effects on protein structure and function due to the alteration of the reading frame of the genetic code</a:t>
            </a:r>
          </a:p>
          <a:p>
            <a:pPr lvl="0">
              <a:lnSpc>
                <a:spcPct val="110000"/>
              </a:lnSpc>
            </a:pPr>
            <a:r>
              <a:rPr lang="en-US" sz="1200" dirty="0"/>
              <a:t>Chromosomal Mutations: Chromosomal mutations can lead to genetic disorders, developmental abnormalities, or an increased risk of cancer</a:t>
            </a:r>
          </a:p>
        </p:txBody>
      </p:sp>
      <p:pic>
        <p:nvPicPr>
          <p:cNvPr id="6" name="Picture 5" descr="3D render of cells">
            <a:extLst>
              <a:ext uri="{FF2B5EF4-FFF2-40B4-BE49-F238E27FC236}">
                <a16:creationId xmlns:a16="http://schemas.microsoft.com/office/drawing/2014/main" id="{8F61FCB5-4B49-D141-A443-15638F5ED4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71" r="28428" b="-2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6986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sz="3200" dirty="0"/>
              <a:t> Implications and Conclusion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340627" y="2569464"/>
            <a:ext cx="4764773" cy="3555491"/>
          </a:xfrm>
        </p:spPr>
        <p:txBody>
          <a:bodyPr anchor="b">
            <a:normAutofit/>
          </a:bodyPr>
          <a:lstStyle/>
          <a:p>
            <a:pPr lvl="0">
              <a:lnSpc>
                <a:spcPct val="110000"/>
              </a:lnSpc>
            </a:pPr>
            <a:r>
              <a:rPr lang="en-US" sz="1300" dirty="0"/>
              <a:t>Assessing Environmental and Occupational Hazards: Understanding mutagens is essential for assessing the potential risks posed by environmental pollutants, occupational exposures, and lifestyle factors</a:t>
            </a:r>
          </a:p>
          <a:p>
            <a:pPr lvl="0">
              <a:lnSpc>
                <a:spcPct val="110000"/>
              </a:lnSpc>
            </a:pPr>
            <a:r>
              <a:rPr lang="en-US" sz="1300" dirty="0"/>
              <a:t>Cancer Research and Treatment: Mutagens play a critical role in the development of cancer</a:t>
            </a:r>
          </a:p>
          <a:p>
            <a:pPr lvl="0">
              <a:lnSpc>
                <a:spcPct val="110000"/>
              </a:lnSpc>
            </a:pPr>
            <a:r>
              <a:rPr lang="en-US" sz="1300" dirty="0"/>
              <a:t>Public Health Policies and Regulations: Awareness of mutagenic hazards informs the development of public health policies and regulations aimed at minimizing exposure to mutagens and reducing the incidence of genetic disorders and cancer</a:t>
            </a:r>
          </a:p>
          <a:p>
            <a:pPr lvl="0">
              <a:lnSpc>
                <a:spcPct val="110000"/>
              </a:lnSpc>
            </a:pPr>
            <a:r>
              <a:rPr lang="en-US" sz="1300" dirty="0"/>
              <a:t>Continued Research and Vigilance: Mutagenesis is a complex and ongoing area of research, with new mutagens and mechanisms continually being discovered</a:t>
            </a:r>
          </a:p>
        </p:txBody>
      </p:sp>
      <p:pic>
        <p:nvPicPr>
          <p:cNvPr id="6" name="Picture 5" descr="Two people holding each other's hands">
            <a:extLst>
              <a:ext uri="{FF2B5EF4-FFF2-40B4-BE49-F238E27FC236}">
                <a16:creationId xmlns:a16="http://schemas.microsoft.com/office/drawing/2014/main" id="{E9E9A17A-3799-69DE-E32D-2EC81023E7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74" r="23579" b="-3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7451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sz="4100" dirty="0"/>
              <a:t>  </a:t>
            </a:r>
            <a:r>
              <a:rPr lang="en-US" sz="3200" dirty="0"/>
              <a:t>Conclusion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523576" y="1030940"/>
            <a:ext cx="4290471" cy="3388659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dirty="0"/>
              <a:t> Understanding mutagens and their effects on DNA is essential for addressing a wide range of biological, medical, and environmental challenges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2324B-B5EE-5229-D3F6-83517E67FC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69" r="5" b="5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10282585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AnalogousFromLightSeedRightStep">
      <a:dk1>
        <a:srgbClr val="000000"/>
      </a:dk1>
      <a:lt1>
        <a:srgbClr val="FFFFFF"/>
      </a:lt1>
      <a:dk2>
        <a:srgbClr val="41243E"/>
      </a:dk2>
      <a:lt2>
        <a:srgbClr val="E7E2E8"/>
      </a:lt2>
      <a:accent1>
        <a:srgbClr val="44B838"/>
      </a:accent1>
      <a:accent2>
        <a:srgbClr val="38B760"/>
      </a:accent2>
      <a:accent3>
        <a:srgbClr val="3DB494"/>
      </a:accent3>
      <a:accent4>
        <a:srgbClr val="31AFC5"/>
      </a:accent4>
      <a:accent5>
        <a:srgbClr val="6EA4EB"/>
      </a:accent5>
      <a:accent6>
        <a:srgbClr val="5254E7"/>
      </a:accent6>
      <a:hlink>
        <a:srgbClr val="A769AE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DylanVTI</vt:lpstr>
      <vt:lpstr> Introduction to Mutagens and DNA</vt:lpstr>
      <vt:lpstr>PowerPoint Presentation</vt:lpstr>
      <vt:lpstr> Types of Mutagens</vt:lpstr>
      <vt:lpstr> Mechanisms of Mutagenesis</vt:lpstr>
      <vt:lpstr> Effects of Mutations</vt:lpstr>
      <vt:lpstr> Implications and Conclusion</vt:lpstr>
      <vt:lpstr>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Tahsin</cp:lastModifiedBy>
  <cp:revision>2</cp:revision>
  <dcterms:created xsi:type="dcterms:W3CDTF">2024-04-19T14:57:06Z</dcterms:created>
  <dcterms:modified xsi:type="dcterms:W3CDTF">2024-04-19T15:09:02Z</dcterms:modified>
</cp:coreProperties>
</file>