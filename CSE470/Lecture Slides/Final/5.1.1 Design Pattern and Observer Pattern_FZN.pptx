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iz5NHQPWETUNY7ppFQy75yE7uL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fntdata"/><Relationship Id="rId25" Type="http://schemas.openxmlformats.org/officeDocument/2006/relationships/font" Target="fonts/CenturyGothic-regular.fntdata"/><Relationship Id="rId28" Type="http://schemas.openxmlformats.org/officeDocument/2006/relationships/font" Target="fonts/CenturyGothic-boldItalic.fntdata"/><Relationship Id="rId27"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4f125a9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2c4f125a95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4f125a9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c4f125a95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4f125a95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2c4f125a958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b7e88452c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b7e88452c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c5b7793c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2c5b7793c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c5b7793c6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2c5b7793c6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4b7e88452c_0_40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g34b7e88452c_0_40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4b7e88452c_0_4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4b7e88452c_0_40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g34b7e88452c_0_4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4b7e88452c_0_41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g34b7e88452c_0_41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g34b7e88452c_0_4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4b7e88452c_0_4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4b7e88452c_0_4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g34b7e88452c_0_4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g34b7e88452c_0_4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4b7e88452c_0_4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g34b7e88452c_0_4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4b7e88452c_0_42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g34b7e88452c_0_42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34b7e88452c_0_4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4b7e88452c_0_42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g34b7e88452c_0_4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4b7e88452c_0_4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4b7e88452c_0_43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g34b7e88452c_0_43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4b7e88452c_0_43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g34b7e88452c_0_4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4b7e88452c_0_43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g34b7e88452c_0_4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4b7e88452c_0_43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4b7e88452c_0_43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g34b7e88452c_0_4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4b7e88452c_0_4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4b7e88452c_0_445"/>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g34b7e88452c_0_445"/>
          <p:cNvSpPr txBox="1"/>
          <p:nvPr>
            <p:ph idx="1" type="body"/>
          </p:nvPr>
        </p:nvSpPr>
        <p:spPr>
          <a:xfrm>
            <a:off x="827700" y="1539694"/>
            <a:ext cx="6711600" cy="3146700"/>
          </a:xfrm>
          <a:prstGeom prst="rect">
            <a:avLst/>
          </a:prstGeom>
          <a:noFill/>
          <a:ln>
            <a:noFill/>
          </a:ln>
        </p:spPr>
        <p:txBody>
          <a:bodyPr anchorCtr="0" anchor="t" bIns="45700" lIns="91425" spcFirstLastPara="1" rIns="91425" wrap="square" tIns="45700">
            <a:noAutofit/>
          </a:bodyPr>
          <a:lstStyle>
            <a:lvl1pPr indent="-320040" lvl="0" marL="457200" algn="l">
              <a:lnSpc>
                <a:spcPct val="115000"/>
              </a:lnSpc>
              <a:spcBef>
                <a:spcPts val="1000"/>
              </a:spcBef>
              <a:spcAft>
                <a:spcPts val="0"/>
              </a:spcAft>
              <a:buSzPts val="1440"/>
              <a:buChar char="●"/>
              <a:defRPr/>
            </a:lvl1pPr>
            <a:lvl2pPr indent="-320040" lvl="1" marL="914400" algn="l">
              <a:lnSpc>
                <a:spcPct val="115000"/>
              </a:lnSpc>
              <a:spcBef>
                <a:spcPts val="1000"/>
              </a:spcBef>
              <a:spcAft>
                <a:spcPts val="0"/>
              </a:spcAft>
              <a:buSzPts val="1440"/>
              <a:buChar char="○"/>
              <a:defRPr/>
            </a:lvl2pPr>
            <a:lvl3pPr indent="-320039" lvl="2" marL="1371600" algn="l">
              <a:lnSpc>
                <a:spcPct val="115000"/>
              </a:lnSpc>
              <a:spcBef>
                <a:spcPts val="1000"/>
              </a:spcBef>
              <a:spcAft>
                <a:spcPts val="0"/>
              </a:spcAft>
              <a:buSzPts val="1440"/>
              <a:buChar char="■"/>
              <a:defRPr/>
            </a:lvl3pPr>
            <a:lvl4pPr indent="-320039" lvl="3" marL="1828800" algn="l">
              <a:lnSpc>
                <a:spcPct val="115000"/>
              </a:lnSpc>
              <a:spcBef>
                <a:spcPts val="1000"/>
              </a:spcBef>
              <a:spcAft>
                <a:spcPts val="0"/>
              </a:spcAft>
              <a:buSzPts val="1440"/>
              <a:buChar char="●"/>
              <a:defRPr/>
            </a:lvl4pPr>
            <a:lvl5pPr indent="-320039" lvl="4" marL="2286000" algn="l">
              <a:lnSpc>
                <a:spcPct val="115000"/>
              </a:lnSpc>
              <a:spcBef>
                <a:spcPts val="1000"/>
              </a:spcBef>
              <a:spcAft>
                <a:spcPts val="0"/>
              </a:spcAft>
              <a:buSzPts val="1440"/>
              <a:buChar char="○"/>
              <a:defRPr/>
            </a:lvl5pPr>
            <a:lvl6pPr indent="-320039" lvl="5" marL="2743200" algn="l">
              <a:lnSpc>
                <a:spcPct val="115000"/>
              </a:lnSpc>
              <a:spcBef>
                <a:spcPts val="1000"/>
              </a:spcBef>
              <a:spcAft>
                <a:spcPts val="0"/>
              </a:spcAft>
              <a:buSzPts val="1440"/>
              <a:buChar char="■"/>
              <a:defRPr/>
            </a:lvl6pPr>
            <a:lvl7pPr indent="-320039" lvl="6" marL="3200400" algn="l">
              <a:lnSpc>
                <a:spcPct val="115000"/>
              </a:lnSpc>
              <a:spcBef>
                <a:spcPts val="1000"/>
              </a:spcBef>
              <a:spcAft>
                <a:spcPts val="0"/>
              </a:spcAft>
              <a:buSzPts val="1440"/>
              <a:buChar char="●"/>
              <a:defRPr/>
            </a:lvl7pPr>
            <a:lvl8pPr indent="-320040" lvl="7" marL="3657600" algn="l">
              <a:lnSpc>
                <a:spcPct val="115000"/>
              </a:lnSpc>
              <a:spcBef>
                <a:spcPts val="1000"/>
              </a:spcBef>
              <a:spcAft>
                <a:spcPts val="0"/>
              </a:spcAft>
              <a:buSzPts val="1440"/>
              <a:buChar char="○"/>
              <a:defRPr/>
            </a:lvl8pPr>
            <a:lvl9pPr indent="-320040" lvl="8" marL="4114800" algn="l">
              <a:lnSpc>
                <a:spcPct val="115000"/>
              </a:lnSpc>
              <a:spcBef>
                <a:spcPts val="1000"/>
              </a:spcBef>
              <a:spcAft>
                <a:spcPts val="0"/>
              </a:spcAft>
              <a:buSzPts val="1440"/>
              <a:buChar char="■"/>
              <a:defRPr/>
            </a:lvl9pPr>
          </a:lstStyle>
          <a:p/>
        </p:txBody>
      </p:sp>
      <p:sp>
        <p:nvSpPr>
          <p:cNvPr id="53" name="Google Shape;53;g34b7e88452c_0_445"/>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g34b7e88452c_0_445"/>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g34b7e88452c_0_44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4b7e88452c_0_4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4b7e88452c_0_40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4b7e88452c_0_4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olab.research.google.com/drive/1LE51e2mRX0CsJZq_JEA3uY00_ELBIGf6?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Design Pattern</a:t>
            </a:r>
            <a:endParaRPr b="1"/>
          </a:p>
        </p:txBody>
      </p:sp>
      <p:sp>
        <p:nvSpPr>
          <p:cNvPr id="61" name="Google Shape;61;p1"/>
          <p:cNvSpPr txBox="1"/>
          <p:nvPr>
            <p:ph idx="1" type="body"/>
          </p:nvPr>
        </p:nvSpPr>
        <p:spPr>
          <a:xfrm>
            <a:off x="311700" y="1152475"/>
            <a:ext cx="8520600" cy="2427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600"/>
              </a:spcBef>
              <a:spcAft>
                <a:spcPts val="0"/>
              </a:spcAft>
              <a:buClr>
                <a:schemeClr val="dk1"/>
              </a:buClr>
              <a:buSzPts val="2000"/>
              <a:buChar char="●"/>
            </a:pPr>
            <a:r>
              <a:rPr lang="en" sz="2000">
                <a:solidFill>
                  <a:schemeClr val="dk1"/>
                </a:solidFill>
                <a:highlight>
                  <a:srgbClr val="FFFFFF"/>
                </a:highlight>
              </a:rPr>
              <a:t>Design patterns represent the best practices used by experienced object-oriented software developers.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Design patterns are solutions to general problems that software developers faced during software development.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These solutions were obtained by trial and error by numerous software developers over quite a substantial period of time.</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highlight>
                  <a:srgbClr val="FFFFFF"/>
                </a:highlight>
              </a:rPr>
              <a:t>What is Gang of Four (GOF)?</a:t>
            </a:r>
            <a:endParaRPr b="1">
              <a:highlight>
                <a:srgbClr val="FFFFFF"/>
              </a:highlight>
            </a:endParaRPr>
          </a:p>
          <a:p>
            <a:pPr indent="0" lvl="0" marL="0" rtl="0" algn="l">
              <a:lnSpc>
                <a:spcPct val="100000"/>
              </a:lnSpc>
              <a:spcBef>
                <a:spcPts val="400"/>
              </a:spcBef>
              <a:spcAft>
                <a:spcPts val="0"/>
              </a:spcAft>
              <a:buSzPts val="2800"/>
              <a:buNone/>
            </a:pPr>
            <a:r>
              <a:t/>
            </a:r>
            <a:endParaRPr/>
          </a:p>
        </p:txBody>
      </p:sp>
      <p:sp>
        <p:nvSpPr>
          <p:cNvPr id="67" name="Google Shape;67;p2"/>
          <p:cNvSpPr txBox="1"/>
          <p:nvPr>
            <p:ph idx="1" type="body"/>
          </p:nvPr>
        </p:nvSpPr>
        <p:spPr>
          <a:xfrm>
            <a:off x="311700" y="1152475"/>
            <a:ext cx="8520600" cy="32061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Clr>
                <a:schemeClr val="dk1"/>
              </a:buClr>
              <a:buSzPts val="1100"/>
              <a:buFont typeface="Arial"/>
              <a:buNone/>
            </a:pPr>
            <a:r>
              <a:rPr lang="en">
                <a:solidFill>
                  <a:schemeClr val="dk1"/>
                </a:solidFill>
                <a:highlight>
                  <a:srgbClr val="FFFFFF"/>
                </a:highlight>
              </a:rPr>
              <a:t>In 1994, four authors Erich Gamma, Richard Helm, Ralph Johnson and John Vlissides published a book titled Design Patterns - Elements of Reusable Object-Oriented Software which initiated the concept of Design Pattern in Software development. </a:t>
            </a:r>
            <a:endParaRPr>
              <a:solidFill>
                <a:schemeClr val="dk1"/>
              </a:solidFill>
              <a:highlight>
                <a:srgbClr val="FFFFFF"/>
              </a:highlight>
            </a:endParaRPr>
          </a:p>
          <a:p>
            <a:pPr indent="0" lvl="0" marL="25400" marR="25400" rtl="0" algn="just">
              <a:lnSpc>
                <a:spcPct val="115000"/>
              </a:lnSpc>
              <a:spcBef>
                <a:spcPts val="700"/>
              </a:spcBef>
              <a:spcAft>
                <a:spcPts val="0"/>
              </a:spcAft>
              <a:buClr>
                <a:schemeClr val="dk1"/>
              </a:buClr>
              <a:buSzPts val="1100"/>
              <a:buFont typeface="Arial"/>
              <a:buNone/>
            </a:pPr>
            <a:r>
              <a:rPr lang="en">
                <a:solidFill>
                  <a:schemeClr val="dk1"/>
                </a:solidFill>
                <a:highlight>
                  <a:srgbClr val="FFFFFF"/>
                </a:highlight>
              </a:rPr>
              <a:t>These authors are collectively known as Gang of Four (GOF). According to these authors design patterns are primarily based on the following principles of object </a:t>
            </a:r>
            <a:r>
              <a:rPr lang="en">
                <a:solidFill>
                  <a:schemeClr val="dk1"/>
                </a:solidFill>
                <a:highlight>
                  <a:srgbClr val="FFFFFF"/>
                </a:highlight>
              </a:rPr>
              <a:t>oriented</a:t>
            </a:r>
            <a:r>
              <a:rPr lang="en">
                <a:solidFill>
                  <a:schemeClr val="dk1"/>
                </a:solidFill>
                <a:highlight>
                  <a:srgbClr val="FFFFFF"/>
                </a:highlight>
              </a:rPr>
              <a:t> design.</a:t>
            </a:r>
            <a:endParaRPr>
              <a:solidFill>
                <a:schemeClr val="dk1"/>
              </a:solidFill>
              <a:highlight>
                <a:srgbClr val="FFFFFF"/>
              </a:highlight>
            </a:endParaRPr>
          </a:p>
          <a:p>
            <a:pPr indent="-342900" lvl="0" marL="457200" rtl="0" algn="l">
              <a:lnSpc>
                <a:spcPct val="115000"/>
              </a:lnSpc>
              <a:spcBef>
                <a:spcPts val="700"/>
              </a:spcBef>
              <a:spcAft>
                <a:spcPts val="0"/>
              </a:spcAft>
              <a:buClr>
                <a:schemeClr val="dk1"/>
              </a:buClr>
              <a:buSzPts val="1800"/>
              <a:buChar char="●"/>
            </a:pPr>
            <a:r>
              <a:rPr lang="en">
                <a:solidFill>
                  <a:schemeClr val="dk1"/>
                </a:solidFill>
                <a:highlight>
                  <a:srgbClr val="FFFFFF"/>
                </a:highlight>
              </a:rPr>
              <a:t>Program to an interface not an implementation</a:t>
            </a:r>
            <a:endParaRPr>
              <a:solidFill>
                <a:schemeClr val="dk1"/>
              </a:solidFill>
              <a:highlight>
                <a:srgbClr val="FFFFFF"/>
              </a:highlight>
            </a:endParaRPr>
          </a:p>
          <a:p>
            <a:pPr indent="-342900" lvl="0" marL="457200" rtl="0" algn="l">
              <a:lnSpc>
                <a:spcPct val="115000"/>
              </a:lnSpc>
              <a:spcBef>
                <a:spcPts val="0"/>
              </a:spcBef>
              <a:spcAft>
                <a:spcPts val="0"/>
              </a:spcAft>
              <a:buClr>
                <a:schemeClr val="dk1"/>
              </a:buClr>
              <a:buSzPts val="1800"/>
              <a:buChar char="●"/>
            </a:pPr>
            <a:r>
              <a:rPr lang="en">
                <a:solidFill>
                  <a:schemeClr val="dk1"/>
                </a:solidFill>
                <a:highlight>
                  <a:srgbClr val="FFFFFF"/>
                </a:highlight>
              </a:rPr>
              <a:t>Favor object composition over inheritance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highlight>
                  <a:srgbClr val="FFFFFF"/>
                </a:highlight>
              </a:rPr>
              <a:t>Usage of Design Pattern</a:t>
            </a:r>
            <a:endParaRPr b="1">
              <a:highlight>
                <a:srgbClr val="FFFFFF"/>
              </a:highlight>
            </a:endParaRPr>
          </a:p>
          <a:p>
            <a:pPr indent="0" lvl="0" marL="0" rtl="0" algn="l">
              <a:lnSpc>
                <a:spcPct val="100000"/>
              </a:lnSpc>
              <a:spcBef>
                <a:spcPts val="400"/>
              </a:spcBef>
              <a:spcAft>
                <a:spcPts val="0"/>
              </a:spcAft>
              <a:buSzPts val="2800"/>
              <a:buNone/>
            </a:pPr>
            <a:r>
              <a:t/>
            </a:r>
            <a:endParaRPr/>
          </a:p>
        </p:txBody>
      </p:sp>
      <p:sp>
        <p:nvSpPr>
          <p:cNvPr id="73" name="Google Shape;7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chemeClr val="dk1"/>
                </a:solidFill>
                <a:highlight>
                  <a:srgbClr val="FFFFFF"/>
                </a:highlight>
              </a:rPr>
              <a:t>Design Patterns have two main usages in software development.</a:t>
            </a:r>
            <a:endParaRPr sz="1500">
              <a:solidFill>
                <a:schemeClr val="dk1"/>
              </a:solidFill>
              <a:highlight>
                <a:srgbClr val="FFFFFF"/>
              </a:highlight>
            </a:endParaRPr>
          </a:p>
          <a:p>
            <a:pPr indent="0" lvl="0" marL="0" rtl="0" algn="l">
              <a:lnSpc>
                <a:spcPct val="115000"/>
              </a:lnSpc>
              <a:spcBef>
                <a:spcPts val="1600"/>
              </a:spcBef>
              <a:spcAft>
                <a:spcPts val="0"/>
              </a:spcAft>
              <a:buClr>
                <a:schemeClr val="dk1"/>
              </a:buClr>
              <a:buSzPts val="1100"/>
              <a:buFont typeface="Arial"/>
              <a:buNone/>
            </a:pPr>
            <a:r>
              <a:rPr b="1" lang="en" sz="1650">
                <a:solidFill>
                  <a:schemeClr val="dk1"/>
                </a:solidFill>
                <a:highlight>
                  <a:srgbClr val="FFFFFF"/>
                </a:highlight>
              </a:rPr>
              <a:t>Common platform for developers</a:t>
            </a:r>
            <a:endParaRPr b="1"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15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b="1" lang="en" sz="1650">
                <a:solidFill>
                  <a:schemeClr val="dk1"/>
                </a:solidFill>
                <a:highlight>
                  <a:srgbClr val="FFFFFF"/>
                </a:highlight>
              </a:rPr>
              <a:t>Best Practices</a:t>
            </a:r>
            <a:endParaRPr b="1"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have been evolved over a long period of time and they provide best solutions to certain problems faced during software development. Learning these patterns helps inexperienced developers to learn software design in an easy and faster way.</a:t>
            </a:r>
            <a:endParaRPr sz="15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120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a:highlight>
                  <a:srgbClr val="FFFFFF"/>
                </a:highlight>
              </a:rPr>
              <a:t>Types of Design Patterns</a:t>
            </a:r>
            <a:endParaRPr b="1"/>
          </a:p>
        </p:txBody>
      </p:sp>
      <p:sp>
        <p:nvSpPr>
          <p:cNvPr id="79" name="Google Shape;79;p4"/>
          <p:cNvSpPr txBox="1"/>
          <p:nvPr>
            <p:ph idx="1" type="body"/>
          </p:nvPr>
        </p:nvSpPr>
        <p:spPr>
          <a:xfrm>
            <a:off x="311700" y="1561500"/>
            <a:ext cx="8520600" cy="1157700"/>
          </a:xfrm>
          <a:prstGeom prst="rect">
            <a:avLst/>
          </a:prstGeom>
          <a:noFill/>
          <a:ln>
            <a:noFill/>
          </a:ln>
        </p:spPr>
        <p:txBody>
          <a:bodyPr anchorCtr="0" anchor="t" bIns="91425" lIns="91425" spcFirstLastPara="1" rIns="91425" wrap="square" tIns="91425">
            <a:noAutofit/>
          </a:bodyPr>
          <a:lstStyle/>
          <a:p>
            <a:pPr indent="0" lvl="0" marL="0" marR="25400" rtl="0" algn="just">
              <a:lnSpc>
                <a:spcPct val="115000"/>
              </a:lnSpc>
              <a:spcBef>
                <a:spcPts val="600"/>
              </a:spcBef>
              <a:spcAft>
                <a:spcPts val="0"/>
              </a:spcAft>
              <a:buSzPts val="1800"/>
              <a:buNone/>
            </a:pPr>
            <a:r>
              <a:rPr lang="en" sz="1600">
                <a:solidFill>
                  <a:schemeClr val="dk1"/>
                </a:solidFill>
                <a:highlight>
                  <a:srgbClr val="FFFFFF"/>
                </a:highlight>
              </a:rPr>
              <a:t>As per the design pattern reference book Design Patterns - </a:t>
            </a:r>
            <a:endParaRPr sz="1600">
              <a:solidFill>
                <a:schemeClr val="dk1"/>
              </a:solidFill>
              <a:highlight>
                <a:srgbClr val="FFFFFF"/>
              </a:highlight>
            </a:endParaRPr>
          </a:p>
          <a:p>
            <a:pPr indent="0" lvl="0" marL="0" marR="25400" rtl="0" algn="just">
              <a:lnSpc>
                <a:spcPct val="115000"/>
              </a:lnSpc>
              <a:spcBef>
                <a:spcPts val="700"/>
              </a:spcBef>
              <a:spcAft>
                <a:spcPts val="0"/>
              </a:spcAft>
              <a:buSzPts val="1800"/>
              <a:buNone/>
            </a:pPr>
            <a:r>
              <a:rPr b="1" lang="en" sz="1600">
                <a:solidFill>
                  <a:schemeClr val="dk1"/>
                </a:solidFill>
                <a:highlight>
                  <a:srgbClr val="FFFFFF"/>
                </a:highlight>
              </a:rPr>
              <a:t>Elements of Reusable Object-Oriented Software</a:t>
            </a:r>
            <a:r>
              <a:rPr lang="en" sz="1600">
                <a:solidFill>
                  <a:schemeClr val="dk1"/>
                </a:solidFill>
                <a:highlight>
                  <a:srgbClr val="FFFFFF"/>
                </a:highlight>
              </a:rPr>
              <a:t>, there are 23 design patterns which can be classified in three categories: </a:t>
            </a:r>
            <a:r>
              <a:rPr b="1" lang="en" sz="1600">
                <a:solidFill>
                  <a:schemeClr val="dk1"/>
                </a:solidFill>
                <a:highlight>
                  <a:srgbClr val="FFFFFF"/>
                </a:highlight>
              </a:rPr>
              <a:t>Creational, Structural and Behavioral patterns.</a:t>
            </a:r>
            <a:endParaRPr b="1" sz="16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c4f125a958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Creational</a:t>
            </a:r>
            <a:endParaRPr b="1" sz="3400"/>
          </a:p>
        </p:txBody>
      </p:sp>
      <p:sp>
        <p:nvSpPr>
          <p:cNvPr id="85" name="Google Shape;85;g2c4f125a958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Talks about object creations.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To make design more readable and less complexity.</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Talks about efficiently object creation.</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Example: Singleton Pattern</a:t>
            </a:r>
            <a:endParaRPr>
              <a:solidFill>
                <a:schemeClr val="dk1"/>
              </a:solidFill>
            </a:endParaRPr>
          </a:p>
          <a:p>
            <a:pPr indent="0" lvl="0" marL="457200" rtl="0" algn="l">
              <a:lnSpc>
                <a:spcPct val="115000"/>
              </a:lnSpc>
              <a:spcBef>
                <a:spcPts val="0"/>
              </a:spcBef>
              <a:spcAft>
                <a:spcPts val="0"/>
              </a:spcAft>
              <a:buSzPts val="1800"/>
              <a:buNone/>
            </a:pPr>
            <a:r>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c4f125a958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Structural </a:t>
            </a:r>
            <a:endParaRPr b="1" sz="2200"/>
          </a:p>
        </p:txBody>
      </p:sp>
      <p:sp>
        <p:nvSpPr>
          <p:cNvPr id="91" name="Google Shape;91;g2c4f125a958_0_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Talks about how classes and objects can be composed.</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Parent-child relationship like inheritance used for structuring more than one classes.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Deals with simplicity in identifying relationships.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Example: Adapter Pattern</a:t>
            </a:r>
            <a:endParaRPr>
              <a:solidFill>
                <a:schemeClr val="dk1"/>
              </a:solidFill>
            </a:endParaRPr>
          </a:p>
          <a:p>
            <a:pPr indent="0" lvl="0" marL="457200" rtl="0" algn="l">
              <a:lnSpc>
                <a:spcPct val="115000"/>
              </a:lnSpc>
              <a:spcBef>
                <a:spcPts val="0"/>
              </a:spcBef>
              <a:spcAft>
                <a:spcPts val="0"/>
              </a:spcAft>
              <a:buSzPts val="1800"/>
              <a:buNone/>
            </a:pPr>
            <a:r>
              <a:t/>
            </a:r>
            <a:endParaRPr>
              <a:solidFill>
                <a:schemeClr val="dk1"/>
              </a:solidFill>
            </a:endParaRPr>
          </a:p>
          <a:p>
            <a:pPr indent="0" lvl="0" marL="457200" rtl="0" algn="l">
              <a:lnSpc>
                <a:spcPct val="115000"/>
              </a:lnSpc>
              <a:spcBef>
                <a:spcPts val="0"/>
              </a:spcBef>
              <a:spcAft>
                <a:spcPts val="0"/>
              </a:spcAft>
              <a:buSzPts val="1800"/>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c4f125a958_0_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sz="2200">
                <a:highlight>
                  <a:schemeClr val="lt1"/>
                </a:highlight>
              </a:rPr>
              <a:t>Behavioral</a:t>
            </a:r>
            <a:endParaRPr b="1" sz="2600"/>
          </a:p>
        </p:txBody>
      </p:sp>
      <p:sp>
        <p:nvSpPr>
          <p:cNvPr id="97" name="Google Shape;97;g2c4f125a958_0_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Deals with interactions and responsibility of objects.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Used for identifying and setting up common communication patterns among objects.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Example: Observer Pattern</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4200">
                <a:solidFill>
                  <a:srgbClr val="000000"/>
                </a:solidFill>
              </a:rPr>
              <a:t>Observer Pattern</a:t>
            </a:r>
            <a:endParaRPr>
              <a:solidFill>
                <a:srgbClr val="000000"/>
              </a:solidFill>
            </a:endParaRPr>
          </a:p>
        </p:txBody>
      </p:sp>
      <p:sp>
        <p:nvSpPr>
          <p:cNvPr id="103" name="Google Shape;103;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rgbClr val="000000"/>
                </a:solidFill>
              </a:rPr>
              <a:t>Intent: </a:t>
            </a:r>
            <a:r>
              <a:rPr lang="en" sz="1700">
                <a:solidFill>
                  <a:srgbClr val="000000"/>
                </a:solidFill>
              </a:rPr>
              <a:t>Define a one-to-many dependency between objects so that when </a:t>
            </a:r>
            <a:r>
              <a:rPr lang="en" sz="1700">
                <a:solidFill>
                  <a:srgbClr val="000000"/>
                </a:solidFill>
              </a:rPr>
              <a:t>one object change</a:t>
            </a:r>
            <a:r>
              <a:rPr lang="en" sz="1700">
                <a:solidFill>
                  <a:srgbClr val="000000"/>
                </a:solidFill>
              </a:rPr>
              <a:t> state, all its dependents are notified and updated automatically.</a:t>
            </a:r>
            <a:endParaRPr sz="1700">
              <a:solidFill>
                <a:srgbClr val="000000"/>
              </a:solidFill>
            </a:endParaRPr>
          </a:p>
          <a:p>
            <a:pPr indent="0" lvl="0" marL="0" rtl="0" algn="l">
              <a:lnSpc>
                <a:spcPct val="115000"/>
              </a:lnSpc>
              <a:spcBef>
                <a:spcPts val="0"/>
              </a:spcBef>
              <a:spcAft>
                <a:spcPts val="1600"/>
              </a:spcAft>
              <a:buSzPts val="1800"/>
              <a:buNone/>
            </a:pPr>
            <a:r>
              <a:t/>
            </a:r>
            <a:endParaRPr/>
          </a:p>
        </p:txBody>
      </p:sp>
      <p:pic>
        <p:nvPicPr>
          <p:cNvPr id="104" name="Google Shape;104;p7"/>
          <p:cNvPicPr preferRelativeResize="0"/>
          <p:nvPr/>
        </p:nvPicPr>
        <p:blipFill rotWithShape="1">
          <a:blip r:embed="rId3">
            <a:alphaModFix/>
          </a:blip>
          <a:srcRect b="0" l="0" r="0" t="0"/>
          <a:stretch/>
        </p:blipFill>
        <p:spPr>
          <a:xfrm>
            <a:off x="2018049" y="2096675"/>
            <a:ext cx="4191476" cy="2794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4b7e88452c_0_4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Colab File for Examples</a:t>
            </a:r>
            <a:endParaRPr/>
          </a:p>
        </p:txBody>
      </p:sp>
      <p:sp>
        <p:nvSpPr>
          <p:cNvPr id="110" name="Google Shape;110;g34b7e88452c_0_4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Design Patterns Example.ipynb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c5b7793c60_0_0"/>
          <p:cNvSpPr txBox="1"/>
          <p:nvPr>
            <p:ph type="title"/>
          </p:nvPr>
        </p:nvSpPr>
        <p:spPr>
          <a:xfrm>
            <a:off x="311700" y="686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Student-Teacher Example</a:t>
            </a:r>
            <a:endParaRPr/>
          </a:p>
        </p:txBody>
      </p:sp>
      <p:sp>
        <p:nvSpPr>
          <p:cNvPr id="116" name="Google Shape;116;g2c5b7793c60_0_0"/>
          <p:cNvSpPr txBox="1"/>
          <p:nvPr>
            <p:ph idx="1" type="body"/>
          </p:nvPr>
        </p:nvSpPr>
        <p:spPr>
          <a:xfrm>
            <a:off x="311700" y="760425"/>
            <a:ext cx="8520600" cy="421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Class Teacher:</a:t>
            </a:r>
            <a:endParaRPr/>
          </a:p>
          <a:p>
            <a:pPr indent="0" lvl="0" marL="0" rtl="0" algn="l">
              <a:lnSpc>
                <a:spcPct val="115000"/>
              </a:lnSpc>
              <a:spcBef>
                <a:spcPts val="0"/>
              </a:spcBef>
              <a:spcAft>
                <a:spcPts val="0"/>
              </a:spcAft>
              <a:buSzPts val="1800"/>
              <a:buNone/>
            </a:pPr>
            <a:r>
              <a:rPr lang="en"/>
              <a:t>	def __init__(self):</a:t>
            </a:r>
            <a:endParaRPr/>
          </a:p>
          <a:p>
            <a:pPr indent="0" lvl="0" marL="0" rtl="0" algn="l">
              <a:lnSpc>
                <a:spcPct val="115000"/>
              </a:lnSpc>
              <a:spcBef>
                <a:spcPts val="0"/>
              </a:spcBef>
              <a:spcAft>
                <a:spcPts val="0"/>
              </a:spcAft>
              <a:buSzPts val="1800"/>
              <a:buNone/>
            </a:pPr>
            <a:r>
              <a:rPr lang="en"/>
              <a:t>		self.students=[]</a:t>
            </a:r>
            <a:endParaRPr/>
          </a:p>
          <a:p>
            <a:pPr indent="0" lvl="0" marL="0" rtl="0" algn="l">
              <a:lnSpc>
                <a:spcPct val="115000"/>
              </a:lnSpc>
              <a:spcBef>
                <a:spcPts val="0"/>
              </a:spcBef>
              <a:spcAft>
                <a:spcPts val="0"/>
              </a:spcAft>
              <a:buSzPts val="1800"/>
              <a:buNone/>
            </a:pPr>
            <a:r>
              <a:rPr lang="en"/>
              <a:t>	def attach_student(self, student):</a:t>
            </a:r>
            <a:endParaRPr/>
          </a:p>
          <a:p>
            <a:pPr indent="0" lvl="0" marL="0" rtl="0" algn="l">
              <a:lnSpc>
                <a:spcPct val="115000"/>
              </a:lnSpc>
              <a:spcBef>
                <a:spcPts val="0"/>
              </a:spcBef>
              <a:spcAft>
                <a:spcPts val="0"/>
              </a:spcAft>
              <a:buSzPts val="1800"/>
              <a:buNone/>
            </a:pPr>
            <a:r>
              <a:rPr lang="en"/>
              <a:t>		self.students.append(student)</a:t>
            </a:r>
            <a:endParaRPr/>
          </a:p>
          <a:p>
            <a:pPr indent="0" lvl="0" marL="0" rtl="0" algn="l">
              <a:lnSpc>
                <a:spcPct val="115000"/>
              </a:lnSpc>
              <a:spcBef>
                <a:spcPts val="0"/>
              </a:spcBef>
              <a:spcAft>
                <a:spcPts val="0"/>
              </a:spcAft>
              <a:buSzPts val="1800"/>
              <a:buNone/>
            </a:pPr>
            <a:r>
              <a:rPr lang="en"/>
              <a:t>		print(f”{student.name} has been attached to {self.name}”)</a:t>
            </a:r>
            <a:endParaRPr/>
          </a:p>
          <a:p>
            <a:pPr indent="0" lvl="0" marL="0" rtl="0" algn="l">
              <a:lnSpc>
                <a:spcPct val="115000"/>
              </a:lnSpc>
              <a:spcBef>
                <a:spcPts val="0"/>
              </a:spcBef>
              <a:spcAft>
                <a:spcPts val="0"/>
              </a:spcAft>
              <a:buSzPts val="1800"/>
              <a:buNone/>
            </a:pPr>
            <a:r>
              <a:rPr lang="en"/>
              <a:t>Class Student:</a:t>
            </a:r>
            <a:endParaRPr/>
          </a:p>
          <a:p>
            <a:pPr indent="0" lvl="0" marL="0" rtl="0" algn="l">
              <a:lnSpc>
                <a:spcPct val="115000"/>
              </a:lnSpc>
              <a:spcBef>
                <a:spcPts val="0"/>
              </a:spcBef>
              <a:spcAft>
                <a:spcPts val="0"/>
              </a:spcAft>
              <a:buSzPts val="1800"/>
              <a:buNone/>
            </a:pPr>
            <a:r>
              <a:rPr lang="en"/>
              <a:t>	def__init__(self,name):                             </a:t>
            </a:r>
            <a:endParaRPr/>
          </a:p>
          <a:p>
            <a:pPr indent="0" lvl="0" marL="0" rtl="0" algn="l">
              <a:lnSpc>
                <a:spcPct val="115000"/>
              </a:lnSpc>
              <a:spcBef>
                <a:spcPts val="0"/>
              </a:spcBef>
              <a:spcAft>
                <a:spcPts val="0"/>
              </a:spcAft>
              <a:buSzPts val="1800"/>
              <a:buNone/>
            </a:pPr>
            <a:r>
              <a:rPr lang="en"/>
              <a:t>		self.teachers=[]</a:t>
            </a:r>
            <a:endParaRPr/>
          </a:p>
          <a:p>
            <a:pPr indent="0" lvl="0" marL="0" rtl="0" algn="l">
              <a:lnSpc>
                <a:spcPct val="115000"/>
              </a:lnSpc>
              <a:spcBef>
                <a:spcPts val="0"/>
              </a:spcBef>
              <a:spcAft>
                <a:spcPts val="0"/>
              </a:spcAft>
              <a:buSzPts val="1800"/>
              <a:buNone/>
            </a:pPr>
            <a:r>
              <a:rPr lang="en"/>
              <a:t>		self.name=name</a:t>
            </a:r>
            <a:endParaRPr/>
          </a:p>
          <a:p>
            <a:pPr indent="0" lvl="0" marL="0" rtl="0" algn="l">
              <a:lnSpc>
                <a:spcPct val="115000"/>
              </a:lnSpc>
              <a:spcBef>
                <a:spcPts val="0"/>
              </a:spcBef>
              <a:spcAft>
                <a:spcPts val="0"/>
              </a:spcAft>
              <a:buSzPts val="1800"/>
              <a:buNone/>
            </a:pPr>
            <a:r>
              <a:rPr lang="en"/>
              <a:t>	def add_teachers(self,teacher):</a:t>
            </a:r>
            <a:endParaRPr/>
          </a:p>
          <a:p>
            <a:pPr indent="0" lvl="0" marL="0" rtl="0" algn="l">
              <a:lnSpc>
                <a:spcPct val="115000"/>
              </a:lnSpc>
              <a:spcBef>
                <a:spcPts val="0"/>
              </a:spcBef>
              <a:spcAft>
                <a:spcPts val="0"/>
              </a:spcAft>
              <a:buSzPts val="1800"/>
              <a:buNone/>
            </a:pPr>
            <a:r>
              <a:rPr lang="en"/>
              <a:t>		self.teachers.append(teacher)</a:t>
            </a:r>
            <a:endParaRPr/>
          </a:p>
          <a:p>
            <a:pPr indent="0" lvl="0" marL="0" rtl="0" algn="l">
              <a:lnSpc>
                <a:spcPct val="115000"/>
              </a:lnSpc>
              <a:spcBef>
                <a:spcPts val="0"/>
              </a:spcBef>
              <a:spcAft>
                <a:spcPts val="0"/>
              </a:spcAft>
              <a:buSzPts val="1800"/>
              <a:buNone/>
            </a:pPr>
            <a:r>
              <a:rPr lang="en"/>
              <a:t>		teacher.</a:t>
            </a:r>
            <a:r>
              <a:rPr lang="en">
                <a:solidFill>
                  <a:srgbClr val="FF0000"/>
                </a:solidFill>
              </a:rPr>
              <a:t>attach_student</a:t>
            </a:r>
            <a:r>
              <a:rPr lang="en"/>
              <a:t>(self)</a:t>
            </a:r>
            <a:endParaRPr/>
          </a:p>
          <a:p>
            <a:pPr indent="0" lvl="0" marL="0" rtl="0" algn="l">
              <a:lnSpc>
                <a:spcPct val="115000"/>
              </a:lnSpc>
              <a:spcBef>
                <a:spcPts val="0"/>
              </a:spcBef>
              <a:spcAft>
                <a:spcPts val="0"/>
              </a:spcAft>
              <a:buSzPts val="1800"/>
              <a:buNone/>
            </a:pPr>
            <a:r>
              <a:t/>
            </a:r>
            <a:endParaRPr/>
          </a:p>
        </p:txBody>
      </p:sp>
      <p:pic>
        <p:nvPicPr>
          <p:cNvPr id="117" name="Google Shape;117;g2c5b7793c60_0_0"/>
          <p:cNvPicPr preferRelativeResize="0"/>
          <p:nvPr/>
        </p:nvPicPr>
        <p:blipFill rotWithShape="1">
          <a:blip r:embed="rId3">
            <a:alphaModFix/>
          </a:blip>
          <a:srcRect b="0" l="0" r="0" t="0"/>
          <a:stretch/>
        </p:blipFill>
        <p:spPr>
          <a:xfrm>
            <a:off x="4572000" y="2961100"/>
            <a:ext cx="4011025" cy="1623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c5b7793c60_0_6"/>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Fan-Celebrity Example</a:t>
            </a:r>
            <a:endParaRPr/>
          </a:p>
        </p:txBody>
      </p:sp>
      <p:sp>
        <p:nvSpPr>
          <p:cNvPr id="123" name="Google Shape;123;g2c5b7793c60_0_6"/>
          <p:cNvSpPr txBox="1"/>
          <p:nvPr>
            <p:ph idx="1" type="body"/>
          </p:nvPr>
        </p:nvSpPr>
        <p:spPr>
          <a:xfrm>
            <a:off x="0" y="572700"/>
            <a:ext cx="3492000" cy="457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Subject (Celebrity)</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class Celebrity:</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__init__(self):</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self._fans = []</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self._state = None</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attach(self, fan):</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self._fans.append(fan)</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detach(self, fan):</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self._fans.remove(fan)</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_notify(self):</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for fan in self._fans:</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fan.</a:t>
            </a:r>
            <a:r>
              <a:rPr b="1" lang="en" sz="1400">
                <a:solidFill>
                  <a:srgbClr val="F22C3D"/>
                </a:solidFill>
                <a:highlight>
                  <a:schemeClr val="lt1"/>
                </a:highlight>
                <a:latin typeface="Courier New"/>
                <a:ea typeface="Courier New"/>
                <a:cs typeface="Courier New"/>
                <a:sym typeface="Courier New"/>
              </a:rPr>
              <a:t>update</a:t>
            </a:r>
            <a:r>
              <a:rPr b="1" lang="en" sz="1400">
                <a:latin typeface="Courier New"/>
                <a:ea typeface="Courier New"/>
                <a:cs typeface="Courier New"/>
                <a:sym typeface="Courier New"/>
              </a:rPr>
              <a:t>(self)</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set_state(self, state):</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self._state = state</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self._notify()</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def get_state(self):</a:t>
            </a:r>
            <a:endParaRPr b="1"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400">
                <a:latin typeface="Courier New"/>
                <a:ea typeface="Courier New"/>
                <a:cs typeface="Courier New"/>
                <a:sym typeface="Courier New"/>
              </a:rPr>
              <a:t>        return self._state</a:t>
            </a:r>
            <a:endParaRPr b="1" sz="1400">
              <a:latin typeface="Courier New"/>
              <a:ea typeface="Courier New"/>
              <a:cs typeface="Courier New"/>
              <a:sym typeface="Courier New"/>
            </a:endParaRPr>
          </a:p>
        </p:txBody>
      </p:sp>
      <p:sp>
        <p:nvSpPr>
          <p:cNvPr id="124" name="Google Shape;124;g2c5b7793c60_0_6"/>
          <p:cNvSpPr txBox="1"/>
          <p:nvPr/>
        </p:nvSpPr>
        <p:spPr>
          <a:xfrm>
            <a:off x="4222775" y="125475"/>
            <a:ext cx="4870500" cy="302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Observer (Fan)</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class Fan:</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def __init__(self):</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self._celebrities = []</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def update(self, celebrity):</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state = celebrity.</a:t>
            </a:r>
            <a:r>
              <a:rPr b="1" i="0" lang="en" u="none" cap="none" strike="noStrike">
                <a:solidFill>
                  <a:srgbClr val="F22C3D"/>
                </a:solidFill>
                <a:latin typeface="Courier New"/>
                <a:ea typeface="Courier New"/>
                <a:cs typeface="Courier New"/>
                <a:sym typeface="Courier New"/>
              </a:rPr>
              <a:t>get_state</a:t>
            </a:r>
            <a:r>
              <a:rPr b="1" i="0" lang="en" u="none" cap="none" strike="noStrike">
                <a:solidFill>
                  <a:schemeClr val="dk2"/>
                </a:solidFill>
                <a:latin typeface="Courier New"/>
                <a:ea typeface="Courier New"/>
                <a:cs typeface="Courier New"/>
                <a:sym typeface="Courier New"/>
              </a:rPr>
              <a:t>()</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def add_celebrity(self, celebrity):         </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self._celebrities.append(celebrity)</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celebrity.attach(self)</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def remove_celebrity(self, celebrity):</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self._celebrities.remove(celebrity)</a:t>
            </a:r>
            <a:endParaRPr b="1" i="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u="none" cap="none" strike="noStrike">
                <a:solidFill>
                  <a:schemeClr val="dk2"/>
                </a:solidFill>
                <a:latin typeface="Courier New"/>
                <a:ea typeface="Courier New"/>
                <a:cs typeface="Courier New"/>
                <a:sym typeface="Courier New"/>
              </a:rPr>
              <a:t>        celebrity.detach(self)</a:t>
            </a:r>
            <a:endParaRPr b="1" i="0" u="none" cap="none" strike="noStrike">
              <a:solidFill>
                <a:schemeClr val="dk2"/>
              </a:solidFill>
              <a:latin typeface="Courier New"/>
              <a:ea typeface="Courier New"/>
              <a:cs typeface="Courier New"/>
              <a:sym typeface="Courier New"/>
            </a:endParaRPr>
          </a:p>
        </p:txBody>
      </p:sp>
      <p:sp>
        <p:nvSpPr>
          <p:cNvPr id="125" name="Google Shape;125;g2c5b7793c60_0_6"/>
          <p:cNvSpPr txBox="1"/>
          <p:nvPr/>
        </p:nvSpPr>
        <p:spPr>
          <a:xfrm>
            <a:off x="3864300" y="3010850"/>
            <a:ext cx="5143500" cy="202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celebrity = Celebrity()</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fan = Fan()</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#fan starts following…</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fan.add_celebrity(celebrity)</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#celeb changes status and #notification is received by fan.</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celebrity.set_state('New state')</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#fan can stop following…</a:t>
            </a:r>
            <a:endParaRPr b="1" i="0" sz="1300" u="none" cap="none" strike="noStrike">
              <a:solidFill>
                <a:schemeClr val="dk2"/>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 sz="1300" u="none" cap="none" strike="noStrike">
                <a:solidFill>
                  <a:schemeClr val="dk2"/>
                </a:solidFill>
                <a:latin typeface="Courier New"/>
                <a:ea typeface="Courier New"/>
                <a:cs typeface="Courier New"/>
                <a:sym typeface="Courier New"/>
              </a:rPr>
              <a:t>fan.remove_celebrity(celebrity)</a:t>
            </a:r>
            <a:endParaRPr b="1" i="0" sz="1300" u="none" cap="none" strike="noStrike">
              <a:solidFill>
                <a:schemeClr val="dk2"/>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31" name="Google Shape;131;p8"/>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b="1" i="1" lang="en">
                <a:solidFill>
                  <a:srgbClr val="EFD37E"/>
                </a:solidFill>
              </a:rPr>
              <a:t>Celebrity class may look like this.</a:t>
            </a:r>
            <a:endParaRPr/>
          </a:p>
        </p:txBody>
      </p:sp>
      <p:sp>
        <p:nvSpPr>
          <p:cNvPr id="132" name="Google Shape;132;p8"/>
          <p:cNvSpPr txBox="1"/>
          <p:nvPr/>
        </p:nvSpPr>
        <p:spPr>
          <a:xfrm>
            <a:off x="484700" y="864725"/>
            <a:ext cx="4827600" cy="395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public class Celebrity{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private List&lt;Fan&gt; fans =  new</a:t>
            </a:r>
            <a:r>
              <a:rPr lang="en" sz="1100">
                <a:latin typeface="Century Gothic"/>
                <a:ea typeface="Century Gothic"/>
                <a:cs typeface="Century Gothic"/>
                <a:sym typeface="Century Gothic"/>
              </a:rPr>
              <a:t> </a:t>
            </a:r>
            <a:r>
              <a:rPr b="0" i="0" lang="en" sz="1100" u="none" cap="none" strike="noStrike">
                <a:solidFill>
                  <a:srgbClr val="000000"/>
                </a:solidFill>
                <a:latin typeface="Century Gothic"/>
                <a:ea typeface="Century Gothic"/>
                <a:cs typeface="Century Gothic"/>
                <a:sym typeface="Century Gothic"/>
              </a:rPr>
              <a:t>ArrayList&lt;Fan&gt;();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lang="en" sz="1100">
                <a:latin typeface="Century Gothic"/>
                <a:ea typeface="Century Gothic"/>
                <a:cs typeface="Century Gothic"/>
                <a:sym typeface="Century Gothic"/>
              </a:rPr>
              <a:t>    </a:t>
            </a:r>
            <a:r>
              <a:rPr b="0" i="0" lang="en" sz="11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t/>
            </a:r>
            <a:endParaRPr sz="1100">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attach(Fan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fans.add(f);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remove(Fan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fans.remove(f);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foreach( Fan f: fans)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f.update(this);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void setState(int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state =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int 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return 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33" name="Google Shape;133;p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39" name="Google Shape;139;p9"/>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i="1" lang="en"/>
              <a:t>Celebrity class may look like this. </a:t>
            </a:r>
            <a:r>
              <a:rPr b="1" i="1" lang="en">
                <a:solidFill>
                  <a:srgbClr val="EFD37E"/>
                </a:solidFill>
              </a:rPr>
              <a:t>Now add the Fan class</a:t>
            </a:r>
            <a:endParaRPr/>
          </a:p>
        </p:txBody>
      </p:sp>
      <p:sp>
        <p:nvSpPr>
          <p:cNvPr id="140" name="Google Shape;140;p9"/>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41" name="Google Shape;141;p9"/>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47" name="Google Shape;147;p10"/>
          <p:cNvSpPr txBox="1"/>
          <p:nvPr>
            <p:ph idx="1" type="body"/>
          </p:nvPr>
        </p:nvSpPr>
        <p:spPr>
          <a:xfrm>
            <a:off x="457200" y="4191930"/>
            <a:ext cx="8229600" cy="402600"/>
          </a:xfrm>
          <a:prstGeom prst="rect">
            <a:avLst/>
          </a:prstGeom>
          <a:noFill/>
          <a:ln>
            <a:noFill/>
          </a:ln>
        </p:spPr>
        <p:txBody>
          <a:bodyPr anchorCtr="0" anchor="t" bIns="45700" lIns="91425" spcFirstLastPara="1" rIns="91425" wrap="square" tIns="45700">
            <a:noAutofit/>
          </a:bodyPr>
          <a:lstStyle/>
          <a:p>
            <a:pPr indent="-241306" lvl="0" marL="342906" rtl="0" algn="l">
              <a:lnSpc>
                <a:spcPct val="115000"/>
              </a:lnSpc>
              <a:spcBef>
                <a:spcPts val="0"/>
              </a:spcBef>
              <a:spcAft>
                <a:spcPts val="0"/>
              </a:spcAft>
              <a:buSzPts val="1600"/>
              <a:buNone/>
            </a:pPr>
            <a:r>
              <a:t/>
            </a:r>
            <a:endParaRPr/>
          </a:p>
        </p:txBody>
      </p:sp>
      <p:sp>
        <p:nvSpPr>
          <p:cNvPr id="148" name="Google Shape;148;p10"/>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49" name="Google Shape;149;p10"/>
          <p:cNvSpPr txBox="1"/>
          <p:nvPr/>
        </p:nvSpPr>
        <p:spPr>
          <a:xfrm>
            <a:off x="4313218" y="1176361"/>
            <a:ext cx="44163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public class Fan{</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private List&lt;Celebrity&gt; celebrities=  new ArrayList&lt;Celebrity&gt;();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update(Celebrity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addCelebrity(Celebrity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celebrities.add(c);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c.attach(this);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removeCelebrity(Celebrity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celebrities.remove(c);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c.remove(this);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50" name="Google Shape;150;p1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4572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56" name="Google Shape;156;p11"/>
          <p:cNvSpPr txBox="1"/>
          <p:nvPr>
            <p:ph idx="1" type="body"/>
          </p:nvPr>
        </p:nvSpPr>
        <p:spPr>
          <a:xfrm>
            <a:off x="457200" y="4407954"/>
            <a:ext cx="8229600" cy="186600"/>
          </a:xfrm>
          <a:prstGeom prst="rect">
            <a:avLst/>
          </a:prstGeom>
          <a:noFill/>
          <a:ln>
            <a:noFill/>
          </a:ln>
        </p:spPr>
        <p:txBody>
          <a:bodyPr anchorCtr="0" anchor="t" bIns="45700" lIns="91425" spcFirstLastPara="1" rIns="91425" wrap="square" tIns="45700">
            <a:noAutofit/>
          </a:bodyPr>
          <a:lstStyle/>
          <a:p>
            <a:pPr indent="-287026" lvl="0" marL="342906" rtl="0" algn="l">
              <a:lnSpc>
                <a:spcPct val="80000"/>
              </a:lnSpc>
              <a:spcBef>
                <a:spcPts val="0"/>
              </a:spcBef>
              <a:spcAft>
                <a:spcPts val="0"/>
              </a:spcAft>
              <a:buSzPts val="880"/>
              <a:buNone/>
            </a:pPr>
            <a:r>
              <a:t/>
            </a:r>
            <a:endParaRPr sz="1100"/>
          </a:p>
        </p:txBody>
      </p:sp>
      <p:sp>
        <p:nvSpPr>
          <p:cNvPr id="157" name="Google Shape;157;p11"/>
          <p:cNvSpPr txBox="1"/>
          <p:nvPr/>
        </p:nvSpPr>
        <p:spPr>
          <a:xfrm>
            <a:off x="1763688" y="1167594"/>
            <a:ext cx="48966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entury Gothic"/>
                <a:ea typeface="Century Gothic"/>
                <a:cs typeface="Century Gothic"/>
                <a:sym typeface="Century Gothic"/>
              </a:rPr>
              <a:t>From main method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f1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f2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c1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c2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f2.addCelebrity (c1);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c1.setState(5); //new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c2.setState(2);  //newState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
        <p:nvSpPr>
          <p:cNvPr id="158" name="Google Shape;158;p11"/>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Participants</a:t>
            </a:r>
            <a:endParaRPr/>
          </a:p>
        </p:txBody>
      </p:sp>
      <p:sp>
        <p:nvSpPr>
          <p:cNvPr id="164" name="Google Shape;164;p12"/>
          <p:cNvSpPr txBox="1"/>
          <p:nvPr>
            <p:ph idx="1" type="body"/>
          </p:nvPr>
        </p:nvSpPr>
        <p:spPr>
          <a:xfrm>
            <a:off x="395536" y="1113589"/>
            <a:ext cx="8064900" cy="3572700"/>
          </a:xfrm>
          <a:prstGeom prst="rect">
            <a:avLst/>
          </a:prstGeom>
          <a:noFill/>
          <a:ln>
            <a:noFill/>
          </a:ln>
        </p:spPr>
        <p:txBody>
          <a:bodyPr anchorCtr="0" anchor="t" bIns="45700" lIns="91425" spcFirstLastPara="1" rIns="91425" wrap="square" tIns="45700">
            <a:noAutofit/>
          </a:bodyPr>
          <a:lstStyle/>
          <a:p>
            <a:pPr indent="-342906" lvl="0" marL="342906" rtl="0" algn="l">
              <a:lnSpc>
                <a:spcPct val="115000"/>
              </a:lnSpc>
              <a:spcBef>
                <a:spcPts val="0"/>
              </a:spcBef>
              <a:spcAft>
                <a:spcPts val="0"/>
              </a:spcAft>
              <a:buSzPts val="1600"/>
              <a:buChar char="●"/>
            </a:pPr>
            <a:r>
              <a:rPr b="1" lang="en">
                <a:solidFill>
                  <a:srgbClr val="EFD37E"/>
                </a:solidFill>
              </a:rPr>
              <a:t>Subject: </a:t>
            </a:r>
            <a:r>
              <a:rPr lang="en"/>
              <a:t>knows its observers. Any number of Observer objects may observe a subject. It sends a notification to its observers when its state changes. (ex: Celebrity)</a:t>
            </a:r>
            <a:endParaRPr/>
          </a:p>
          <a:p>
            <a:pPr indent="-342906" lvl="0" marL="342906" rtl="0" algn="l">
              <a:lnSpc>
                <a:spcPct val="115000"/>
              </a:lnSpc>
              <a:spcBef>
                <a:spcPts val="1000"/>
              </a:spcBef>
              <a:spcAft>
                <a:spcPts val="0"/>
              </a:spcAft>
              <a:buSzPts val="1600"/>
              <a:buChar char="●"/>
            </a:pPr>
            <a:r>
              <a:rPr b="1" lang="en">
                <a:solidFill>
                  <a:srgbClr val="EFD37E"/>
                </a:solidFill>
              </a:rPr>
              <a:t>Observer: </a:t>
            </a:r>
            <a:r>
              <a:rPr lang="en"/>
              <a:t>defines an updating interface for objects that should be notified changes in a subject. (ex: Fans)</a:t>
            </a:r>
            <a:endParaRPr/>
          </a:p>
          <a:p>
            <a:pPr indent="-342906" lvl="0" marL="342906" rtl="0" algn="l">
              <a:lnSpc>
                <a:spcPct val="115000"/>
              </a:lnSpc>
              <a:spcBef>
                <a:spcPts val="1000"/>
              </a:spcBef>
              <a:spcAft>
                <a:spcPts val="0"/>
              </a:spcAft>
              <a:buSzPts val="1600"/>
              <a:buChar char="●"/>
            </a:pPr>
            <a:r>
              <a:rPr b="1" lang="en">
                <a:solidFill>
                  <a:srgbClr val="EFD37E"/>
                </a:solidFill>
              </a:rPr>
              <a:t>ConcreteSubject: </a:t>
            </a:r>
            <a:r>
              <a:rPr b="1" lang="en"/>
              <a:t>(ex: FilmCelebrity, FashionCelebrity)</a:t>
            </a:r>
            <a:endParaRPr/>
          </a:p>
          <a:p>
            <a:pPr indent="-342906" lvl="0" marL="342906" rtl="0" algn="l">
              <a:lnSpc>
                <a:spcPct val="115000"/>
              </a:lnSpc>
              <a:spcBef>
                <a:spcPts val="1000"/>
              </a:spcBef>
              <a:spcAft>
                <a:spcPts val="0"/>
              </a:spcAft>
              <a:buSzPts val="1600"/>
              <a:buChar char="●"/>
            </a:pPr>
            <a:r>
              <a:rPr b="1" lang="en">
                <a:solidFill>
                  <a:srgbClr val="EFD37E"/>
                </a:solidFill>
              </a:rPr>
              <a:t>ConcreteObserver</a:t>
            </a:r>
            <a:r>
              <a:rPr b="1" lang="en"/>
              <a:t> (ex: FilmFan, FashionFan)</a:t>
            </a:r>
            <a:endParaRPr/>
          </a:p>
        </p:txBody>
      </p:sp>
      <p:sp>
        <p:nvSpPr>
          <p:cNvPr id="165" name="Google Shape;165;p12"/>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Structure</a:t>
            </a:r>
            <a:endParaRPr/>
          </a:p>
        </p:txBody>
      </p:sp>
      <p:pic>
        <p:nvPicPr>
          <p:cNvPr id="171" name="Google Shape;171;p13"/>
          <p:cNvPicPr preferRelativeResize="0"/>
          <p:nvPr>
            <p:ph idx="1" type="body"/>
          </p:nvPr>
        </p:nvPicPr>
        <p:blipFill rotWithShape="1">
          <a:blip r:embed="rId3">
            <a:alphaModFix/>
          </a:blip>
          <a:srcRect b="0" l="0" r="0" t="0"/>
          <a:stretch/>
        </p:blipFill>
        <p:spPr>
          <a:xfrm>
            <a:off x="899592" y="1377300"/>
            <a:ext cx="7272900" cy="2598600"/>
          </a:xfrm>
          <a:prstGeom prst="rect">
            <a:avLst/>
          </a:prstGeom>
          <a:noFill/>
          <a:ln>
            <a:noFill/>
          </a:ln>
        </p:spPr>
      </p:pic>
      <p:sp>
        <p:nvSpPr>
          <p:cNvPr id="172" name="Google Shape;172;p13"/>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107500" y="339555"/>
            <a:ext cx="8229600" cy="116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380"/>
              <a:t>Advanced Observer with Concrete subjects and observers</a:t>
            </a:r>
            <a:endParaRPr sz="2400"/>
          </a:p>
        </p:txBody>
      </p:sp>
      <p:sp>
        <p:nvSpPr>
          <p:cNvPr id="178" name="Google Shape;178;p14"/>
          <p:cNvSpPr txBox="1"/>
          <p:nvPr>
            <p:ph idx="1" type="body"/>
          </p:nvPr>
        </p:nvSpPr>
        <p:spPr>
          <a:xfrm>
            <a:off x="457200" y="4353948"/>
            <a:ext cx="8229600" cy="240600"/>
          </a:xfrm>
          <a:prstGeom prst="rect">
            <a:avLst/>
          </a:prstGeom>
          <a:noFill/>
          <a:ln>
            <a:noFill/>
          </a:ln>
        </p:spPr>
        <p:txBody>
          <a:bodyPr anchorCtr="0" anchor="t" bIns="45700" lIns="91425" spcFirstLastPara="1" rIns="91425" wrap="square" tIns="45700">
            <a:noAutofit/>
          </a:bodyPr>
          <a:lstStyle/>
          <a:p>
            <a:pPr indent="-256546" lvl="0" marL="342906" rtl="0" algn="l">
              <a:lnSpc>
                <a:spcPct val="80000"/>
              </a:lnSpc>
              <a:spcBef>
                <a:spcPts val="0"/>
              </a:spcBef>
              <a:spcAft>
                <a:spcPts val="0"/>
              </a:spcAft>
              <a:buSzPts val="1360"/>
              <a:buNone/>
            </a:pPr>
            <a:r>
              <a:t/>
            </a:r>
            <a:endParaRPr sz="1700"/>
          </a:p>
        </p:txBody>
      </p:sp>
      <p:sp>
        <p:nvSpPr>
          <p:cNvPr id="179" name="Google Shape;179;p14"/>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80" name="Google Shape;180;p1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107500" y="339555"/>
            <a:ext cx="8229600" cy="1109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380"/>
              <a:t>Advanced Observer with Concrete subjects and observers</a:t>
            </a:r>
            <a:endParaRPr sz="2400"/>
          </a:p>
        </p:txBody>
      </p:sp>
      <p:sp>
        <p:nvSpPr>
          <p:cNvPr id="186" name="Google Shape;186;p15"/>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87" name="Google Shape;187;p15"/>
          <p:cNvSpPr txBox="1"/>
          <p:nvPr/>
        </p:nvSpPr>
        <p:spPr>
          <a:xfrm>
            <a:off x="4848425" y="1448650"/>
            <a:ext cx="4193100" cy="336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public class FilmFan extends Fan{</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private List&lt;FilmCelebrity&gt; filmCelebrities=  new ArrayList&lt;FilmCelebrity&gt;();</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void update(FilmCelebrity 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if(filmCelebrities.contain(fc){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fc.getState();</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void addCelebrity(FilmCelebrity 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celebrities.add(fc);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fc.attach(this);</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void removeCelebrity(FilmCelebrity 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celebrities.remove(fc);</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fc.remove(this);</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     }</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t/>
            </a:r>
            <a:endParaRPr i="0" sz="12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rPr i="0" lang="en" sz="1200" u="none" cap="none" strike="noStrike">
                <a:solidFill>
                  <a:srgbClr val="000000"/>
                </a:solidFill>
                <a:latin typeface="Century Gothic"/>
                <a:ea typeface="Century Gothic"/>
                <a:cs typeface="Century Gothic"/>
                <a:sym typeface="Century Gothic"/>
              </a:rPr>
              <a:t>}</a:t>
            </a:r>
            <a:endParaRPr i="0" sz="8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entury Gothic"/>
              <a:ea typeface="Century Gothic"/>
              <a:cs typeface="Century Gothic"/>
              <a:sym typeface="Century Gothic"/>
            </a:endParaRPr>
          </a:p>
        </p:txBody>
      </p:sp>
      <p:sp>
        <p:nvSpPr>
          <p:cNvPr id="188" name="Google Shape;188;p1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