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Helvetica Neue"/>
      <p:regular r:id="rId25"/>
      <p:bold r:id="rId26"/>
      <p:italic r:id="rId27"/>
      <p:boldItalic r:id="rId28"/>
    </p:embeddedFon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iMnjCSyuPX0+Eq4xXFH9q6/kWh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Gill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rgbClr val="888888"/>
                </a:solidFill>
              </a:defRPr>
            </a:lvl1pPr>
            <a:lvl2pPr indent="-228600" lvl="1" marL="914400" algn="l">
              <a:lnSpc>
                <a:spcPct val="100000"/>
              </a:lnSpc>
              <a:spcBef>
                <a:spcPts val="500"/>
              </a:spcBef>
              <a:spcAft>
                <a:spcPts val="0"/>
              </a:spcAft>
              <a:buSzPts val="1368"/>
              <a:buNone/>
              <a:defRPr sz="1800">
                <a:solidFill>
                  <a:srgbClr val="888888"/>
                </a:solidFill>
              </a:defRPr>
            </a:lvl2pPr>
            <a:lvl3pPr indent="-228600" lvl="2" marL="1371600" algn="l">
              <a:lnSpc>
                <a:spcPct val="100000"/>
              </a:lnSpc>
              <a:spcBef>
                <a:spcPts val="500"/>
              </a:spcBef>
              <a:spcAft>
                <a:spcPts val="0"/>
              </a:spcAft>
              <a:buSzPts val="1216"/>
              <a:buNone/>
              <a:defRPr sz="1600">
                <a:solidFill>
                  <a:srgbClr val="888888"/>
                </a:solidFill>
              </a:defRPr>
            </a:lvl3pPr>
            <a:lvl4pPr indent="-228600" lvl="3" marL="1828800" algn="l">
              <a:lnSpc>
                <a:spcPct val="100000"/>
              </a:lnSpc>
              <a:spcBef>
                <a:spcPts val="400"/>
              </a:spcBef>
              <a:spcAft>
                <a:spcPts val="0"/>
              </a:spcAft>
              <a:buSzPts val="980"/>
              <a:buNone/>
              <a:defRPr sz="1400">
                <a:solidFill>
                  <a:srgbClr val="888888"/>
                </a:solidFill>
              </a:defRPr>
            </a:lvl4pPr>
            <a:lvl5pPr indent="-228600" lvl="4" marL="2286000" algn="l">
              <a:lnSpc>
                <a:spcPct val="100000"/>
              </a:lnSpc>
              <a:spcBef>
                <a:spcPts val="300"/>
              </a:spcBef>
              <a:spcAft>
                <a:spcPts val="0"/>
              </a:spcAft>
              <a:buSzPts val="980"/>
              <a:buNone/>
              <a:defRPr sz="1400">
                <a:solidFill>
                  <a:srgbClr val="888888"/>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dk1"/>
              </a:buClr>
              <a:buSzPts val="2000"/>
              <a:buFont typeface="Bookman Old Style"/>
              <a:buNone/>
              <a:defRPr b="0" sz="2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4"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14.jpg"/><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3.jp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gif"/><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lnSpc>
                <a:spcPct val="100000"/>
              </a:lnSpc>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lnSpc>
                <a:spcPct val="100000"/>
              </a:lnSpc>
              <a:spcBef>
                <a:spcPts val="600"/>
              </a:spcBef>
              <a:spcAft>
                <a:spcPts val="0"/>
              </a:spcAft>
              <a:buSzPts val="2128"/>
              <a:buChar char="?"/>
            </a:pPr>
            <a:r>
              <a:rPr b="1" lang="en-GB" sz="2800"/>
              <a:t>The architectural model serves as an input to the development phase.</a:t>
            </a:r>
            <a:endParaRPr b="1" sz="2800"/>
          </a:p>
          <a:p>
            <a:pPr indent="-148844" lvl="0" marL="274320" rtl="0" algn="l">
              <a:lnSpc>
                <a:spcPct val="100000"/>
              </a:lnSpc>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4838950" y="4892725"/>
            <a:ext cx="2843875" cy="1463625"/>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lnSpc>
                <a:spcPct val="100000"/>
              </a:lnSpc>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2359025" y="2667625"/>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18" lvl="1" marL="548640" rtl="0" algn="just">
              <a:lnSpc>
                <a:spcPct val="90000"/>
              </a:lnSpc>
              <a:spcBef>
                <a:spcPts val="500"/>
              </a:spcBef>
              <a:spcAft>
                <a:spcPts val="0"/>
              </a:spcAft>
              <a:buSzPts val="1824"/>
              <a:buChar char="?"/>
            </a:pPr>
            <a:r>
              <a:rPr lang="en-GB" sz="2400"/>
              <a:t>The architecture may be reusable across a range of systems</a:t>
            </a:r>
            <a:endParaRPr sz="2400"/>
          </a:p>
          <a:p>
            <a:pPr indent="-310895" lvl="1" marL="548640" rtl="0" algn="just">
              <a:lnSpc>
                <a:spcPct val="90000"/>
              </a:lnSpc>
              <a:spcBef>
                <a:spcPts val="500"/>
              </a:spcBef>
              <a:spcAft>
                <a:spcPts val="0"/>
              </a:spcAft>
              <a:buSzPts val="2400"/>
              <a:buChar char="?"/>
            </a:pPr>
            <a:r>
              <a:rPr lang="en-GB" sz="2400"/>
              <a:t>Product-line architectures may be developed. (Softwares with common features like e-commerce)</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Architecture Design Decisions</a:t>
            </a:r>
            <a:endParaRPr/>
          </a:p>
        </p:txBody>
      </p:sp>
      <p:pic>
        <p:nvPicPr>
          <p:cNvPr descr="6.2 Arch design questions.eps" id="144" name="Google Shape;144;p5"/>
          <p:cNvPicPr preferRelativeResize="0"/>
          <p:nvPr/>
        </p:nvPicPr>
        <p:blipFill rotWithShape="1">
          <a:blip r:embed="rId3">
            <a:alphaModFix/>
          </a:blip>
          <a:srcRect b="0" l="0" r="0" t="0"/>
          <a:stretch/>
        </p:blipFill>
        <p:spPr>
          <a:xfrm>
            <a:off x="228600" y="1270375"/>
            <a:ext cx="8686799" cy="4924488"/>
          </a:xfrm>
          <a:prstGeom prst="rect">
            <a:avLst/>
          </a:prstGeom>
          <a:noFill/>
          <a:ln>
            <a:noFill/>
          </a:ln>
        </p:spPr>
      </p:pic>
      <p:pic>
        <p:nvPicPr>
          <p:cNvPr descr="brac.png" id="145" name="Google Shape;145;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6" name="Google Shape;146;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View</a:t>
            </a:r>
            <a:endParaRPr/>
          </a:p>
        </p:txBody>
      </p:sp>
      <p:sp>
        <p:nvSpPr>
          <p:cNvPr id="152" name="Google Shape;152;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There are four views from which the architecture of a software can be observed</a:t>
            </a:r>
            <a:endParaRPr/>
          </a:p>
          <a:p>
            <a:pPr indent="-274320" lvl="0" marL="274320" rtl="0" algn="l">
              <a:lnSpc>
                <a:spcPct val="100000"/>
              </a:lnSpc>
              <a:spcBef>
                <a:spcPts val="600"/>
              </a:spcBef>
              <a:spcAft>
                <a:spcPts val="0"/>
              </a:spcAft>
              <a:buSzPts val="2128"/>
              <a:buChar char="?"/>
            </a:pPr>
            <a:r>
              <a:rPr lang="en-GB" sz="2800"/>
              <a:t>Each architectural diagram only shows one view or perspective of the system. </a:t>
            </a:r>
            <a:endParaRPr/>
          </a:p>
          <a:p>
            <a:pPr indent="-148844" lvl="0" marL="274320" rtl="0" algn="l">
              <a:lnSpc>
                <a:spcPct val="100000"/>
              </a:lnSpc>
              <a:spcBef>
                <a:spcPts val="600"/>
              </a:spcBef>
              <a:spcAft>
                <a:spcPts val="0"/>
              </a:spcAft>
              <a:buSzPts val="1976"/>
              <a:buNone/>
            </a:pPr>
            <a:r>
              <a:t/>
            </a:r>
            <a:endParaRPr/>
          </a:p>
        </p:txBody>
      </p:sp>
      <p:pic>
        <p:nvPicPr>
          <p:cNvPr descr="6.3 Architectural views.eps" id="153" name="Google Shape;153;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4" name="Google Shape;154;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5" name="Google Shape;155;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GB"/>
              <a:t>4 + 1 view model of software architecture</a:t>
            </a:r>
            <a:endParaRPr/>
          </a:p>
        </p:txBody>
      </p:sp>
      <p:sp>
        <p:nvSpPr>
          <p:cNvPr id="161" name="Google Shape;161;p7"/>
          <p:cNvSpPr txBox="1"/>
          <p:nvPr>
            <p:ph idx="1" type="body"/>
          </p:nvPr>
        </p:nvSpPr>
        <p:spPr>
          <a:xfrm>
            <a:off x="457200" y="762000"/>
            <a:ext cx="5638800" cy="541020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just">
              <a:lnSpc>
                <a:spcPct val="100000"/>
              </a:lnSpc>
              <a:spcBef>
                <a:spcPts val="0"/>
              </a:spcBef>
              <a:spcAft>
                <a:spcPts val="0"/>
              </a:spcAft>
              <a:buSzPct val="76000"/>
              <a:buChar char="?"/>
            </a:pPr>
            <a:r>
              <a:rPr lang="en-GB" sz="2800"/>
              <a:t>A logical view, which shows the key abstractions in the system as objects or object classes. (class/state diagrams)</a:t>
            </a:r>
            <a:endParaRPr sz="2800"/>
          </a:p>
          <a:p>
            <a:pPr indent="-274320" lvl="0" marL="274320" rtl="0" algn="just">
              <a:lnSpc>
                <a:spcPct val="100000"/>
              </a:lnSpc>
              <a:spcBef>
                <a:spcPts val="600"/>
              </a:spcBef>
              <a:spcAft>
                <a:spcPts val="0"/>
              </a:spcAft>
              <a:buSzPct val="76000"/>
              <a:buChar char="?"/>
            </a:pPr>
            <a:r>
              <a:rPr lang="en-GB" sz="2800"/>
              <a:t>A process view, which shows how, at run-time, the system is composed of interacting processes. (activity diagram)</a:t>
            </a:r>
            <a:endParaRPr sz="2800"/>
          </a:p>
          <a:p>
            <a:pPr indent="-274320" lvl="0" marL="274320" rtl="0" algn="just">
              <a:lnSpc>
                <a:spcPct val="100000"/>
              </a:lnSpc>
              <a:spcBef>
                <a:spcPts val="600"/>
              </a:spcBef>
              <a:spcAft>
                <a:spcPts val="0"/>
              </a:spcAft>
              <a:buSzPct val="76000"/>
              <a:buChar char="?"/>
            </a:pPr>
            <a:r>
              <a:rPr lang="en-GB" sz="2800"/>
              <a:t>A development view, which shows how the software is decomposed for development. (Component/package diagram)</a:t>
            </a:r>
            <a:endParaRPr sz="2800"/>
          </a:p>
          <a:p>
            <a:pPr indent="-274320" lvl="0" marL="274320" rtl="0" algn="just">
              <a:lnSpc>
                <a:spcPct val="100000"/>
              </a:lnSpc>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74320" lvl="0" marL="274320" rtl="0" algn="just">
              <a:lnSpc>
                <a:spcPct val="100000"/>
              </a:lnSpc>
              <a:spcBef>
                <a:spcPts val="600"/>
              </a:spcBef>
              <a:spcAft>
                <a:spcPts val="0"/>
              </a:spcAft>
              <a:buSzPct val="76000"/>
              <a:buChar char="?"/>
            </a:pPr>
            <a:r>
              <a:rPr lang="en-GB" sz="2800"/>
              <a:t>Related using use cases or scenarios (+1) </a:t>
            </a:r>
            <a:endParaRPr sz="2800"/>
          </a:p>
          <a:p>
            <a:pPr indent="-167665" lvl="0" marL="274320" rtl="0" algn="l">
              <a:lnSpc>
                <a:spcPct val="100000"/>
              </a:lnSpc>
              <a:spcBef>
                <a:spcPts val="600"/>
              </a:spcBef>
              <a:spcAft>
                <a:spcPts val="0"/>
              </a:spcAft>
              <a:buSzPct val="76000"/>
              <a:buNone/>
            </a:pPr>
            <a:r>
              <a:t/>
            </a:r>
            <a:endParaRPr/>
          </a:p>
        </p:txBody>
      </p:sp>
      <p:pic>
        <p:nvPicPr>
          <p:cNvPr id="162" name="Google Shape;162;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3" name="Google Shape;163;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4" name="Google Shape;164;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5" name="Google Shape;165;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6" name="Google Shape;166;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7" name="Google Shape;167;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0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10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1000"/>
                                        <p:tgtEl>
                                          <p:spTgt spid="1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Effect filter="fade" transition="in">
                                      <p:cBhvr>
                                        <p:cTn dur="1000"/>
                                        <p:tgtEl>
                                          <p:spTgt spid="1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2"/>
                                        </p:tgtEl>
                                      </p:cBhvr>
                                    </p:animEffect>
                                    <p:set>
                                      <p:cBhvr>
                                        <p:cTn dur="1" fill="hold">
                                          <p:stCondLst>
                                            <p:cond delay="1000"/>
                                          </p:stCondLst>
                                        </p:cTn>
                                        <p:tgtEl>
                                          <p:spTgt spid="16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Pattern</a:t>
            </a:r>
            <a:endParaRPr/>
          </a:p>
        </p:txBody>
      </p:sp>
      <p:sp>
        <p:nvSpPr>
          <p:cNvPr id="173" name="Google Shape;173;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Lets think of some problems - </a:t>
            </a:r>
            <a:endParaRPr/>
          </a:p>
          <a:p>
            <a:pPr indent="-148844" lvl="0" marL="274320" rtl="0" algn="l">
              <a:lnSpc>
                <a:spcPct val="100000"/>
              </a:lnSpc>
              <a:spcBef>
                <a:spcPts val="600"/>
              </a:spcBef>
              <a:spcAft>
                <a:spcPts val="0"/>
              </a:spcAft>
              <a:buSzPts val="1976"/>
              <a:buNone/>
            </a:pPr>
            <a:r>
              <a:t/>
            </a:r>
            <a:endParaRPr/>
          </a:p>
        </p:txBody>
      </p:sp>
      <p:pic>
        <p:nvPicPr>
          <p:cNvPr id="174" name="Google Shape;174;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75" name="Google Shape;175;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76" name="Google Shape;176;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77" name="Google Shape;177;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10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Effect filter="fade" transition="in">
                                      <p:cBhvr>
                                        <p:cTn dur="1000"/>
                                        <p:tgtEl>
                                          <p:spTgt spid="1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2000"/>
                                        <p:tgtEl>
                                          <p:spTgt spid="1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Pattern</a:t>
            </a:r>
            <a:endParaRPr/>
          </a:p>
        </p:txBody>
      </p:sp>
      <p:sp>
        <p:nvSpPr>
          <p:cNvPr id="183" name="Google Shape;183;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lnSpc>
                <a:spcPct val="100000"/>
              </a:lnSpc>
              <a:spcBef>
                <a:spcPts val="600"/>
              </a:spcBef>
              <a:spcAft>
                <a:spcPts val="0"/>
              </a:spcAft>
              <a:buSzPts val="1976"/>
              <a:buChar char="?"/>
            </a:pPr>
            <a:r>
              <a:rPr lang="en-GB"/>
              <a:t>It’s a solution to a existing and commonly occurring problem.</a:t>
            </a:r>
            <a:endParaRPr/>
          </a:p>
          <a:p>
            <a:pPr indent="-274320" lvl="0" marL="274320" rtl="0" algn="l">
              <a:lnSpc>
                <a:spcPct val="100000"/>
              </a:lnSpc>
              <a:spcBef>
                <a:spcPts val="600"/>
              </a:spcBef>
              <a:spcAft>
                <a:spcPts val="0"/>
              </a:spcAft>
              <a:buSzPts val="2128"/>
              <a:buChar char="?"/>
            </a:pPr>
            <a:r>
              <a:rPr lang="en-GB" sz="2800"/>
              <a:t>Patterns include information about when they are and when the are not useful.</a:t>
            </a:r>
            <a:endParaRPr sz="2800"/>
          </a:p>
          <a:p>
            <a:pPr indent="-148844" lvl="0" marL="274320" rtl="0" algn="l">
              <a:lnSpc>
                <a:spcPct val="100000"/>
              </a:lnSpc>
              <a:spcBef>
                <a:spcPts val="600"/>
              </a:spcBef>
              <a:spcAft>
                <a:spcPts val="0"/>
              </a:spcAft>
              <a:buSzPts val="1976"/>
              <a:buNone/>
            </a:pPr>
            <a:r>
              <a:t/>
            </a:r>
            <a:endParaRPr/>
          </a:p>
        </p:txBody>
      </p:sp>
      <p:pic>
        <p:nvPicPr>
          <p:cNvPr descr="brac.png" id="184" name="Google Shape;184;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85" name="Google Shape;185;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Effect filter="fade" transition="in">
                                      <p:cBhvr>
                                        <p:cTn dur="1000"/>
                                        <p:tgtEl>
                                          <p:spTgt spid="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animEffect filter="fade" transition="in">
                                      <p:cBhvr>
                                        <p:cTn dur="1000"/>
                                        <p:tgtEl>
                                          <p:spTgt spid="1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animEffect filter="fade" transition="in">
                                      <p:cBhvr>
                                        <p:cTn dur="1000"/>
                                        <p:tgtEl>
                                          <p:spTgt spid="1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animEffect filter="fade" transition="in">
                                      <p:cBhvr>
                                        <p:cTn dur="1000"/>
                                        <p:tgtEl>
                                          <p:spTgt spid="18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89" name="Shape 189"/>
        <p:cNvGrpSpPr/>
        <p:nvPr/>
      </p:nvGrpSpPr>
      <p:grpSpPr>
        <a:xfrm>
          <a:off x="0" y="0"/>
          <a:ext cx="0" cy="0"/>
          <a:chOff x="0" y="0"/>
          <a:chExt cx="0" cy="0"/>
        </a:xfrm>
      </p:grpSpPr>
      <p:sp>
        <p:nvSpPr>
          <p:cNvPr id="190" name="Google Shape;190;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MVC Pattern</a:t>
            </a:r>
            <a:endParaRPr/>
          </a:p>
        </p:txBody>
      </p:sp>
      <p:sp>
        <p:nvSpPr>
          <p:cNvPr id="191" name="Google Shape;191;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MVC goes for Model-View-Controller Pattern</a:t>
            </a:r>
            <a:endParaRPr/>
          </a:p>
          <a:p>
            <a:pPr indent="-274320" lvl="0" marL="274320" rtl="0" algn="l">
              <a:lnSpc>
                <a:spcPct val="100000"/>
              </a:lnSpc>
              <a:spcBef>
                <a:spcPts val="600"/>
              </a:spcBef>
              <a:spcAft>
                <a:spcPts val="0"/>
              </a:spcAft>
              <a:buSzPts val="1976"/>
              <a:buChar char="?"/>
            </a:pPr>
            <a:r>
              <a:rPr lang="en-GB"/>
              <a:t>Separates presentation and interaction from the data handling logic.</a:t>
            </a:r>
            <a:endParaRPr/>
          </a:p>
          <a:p>
            <a:pPr indent="-274320" lvl="0" marL="274320" rtl="0" algn="l">
              <a:lnSpc>
                <a:spcPct val="100000"/>
              </a:lnSpc>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192" name="Google Shape;192;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193" name="Google Shape;193;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94" name="Google Shape;194;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Controller</a:t>
            </a:r>
            <a:endParaRPr/>
          </a:p>
        </p:txBody>
      </p:sp>
      <p:sp>
        <p:nvSpPr>
          <p:cNvPr id="200" name="Google Shape;200;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GB"/>
              <a:t>Handles all the user inputs through url</a:t>
            </a:r>
            <a:endParaRPr/>
          </a:p>
          <a:p>
            <a:pPr indent="-274320" lvl="0" marL="274320" rtl="0" algn="l">
              <a:lnSpc>
                <a:spcPct val="100000"/>
              </a:lnSpc>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lnSpc>
                <a:spcPct val="100000"/>
              </a:lnSpc>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lnSpc>
                <a:spcPct val="100000"/>
              </a:lnSpc>
              <a:spcBef>
                <a:spcPts val="500"/>
              </a:spcBef>
              <a:spcAft>
                <a:spcPts val="0"/>
              </a:spcAft>
              <a:buSzPts val="1748"/>
              <a:buChar char="?"/>
            </a:pPr>
            <a:r>
              <a:rPr i="1" lang="en-GB"/>
              <a:t>GET</a:t>
            </a:r>
            <a:r>
              <a:rPr lang="en-GB"/>
              <a:t>: for getting a data</a:t>
            </a:r>
            <a:endParaRPr/>
          </a:p>
          <a:p>
            <a:pPr indent="-274320" lvl="1" marL="548640" rtl="0" algn="l">
              <a:lnSpc>
                <a:spcPct val="100000"/>
              </a:lnSpc>
              <a:spcBef>
                <a:spcPts val="500"/>
              </a:spcBef>
              <a:spcAft>
                <a:spcPts val="0"/>
              </a:spcAft>
              <a:buSzPts val="1748"/>
              <a:buChar char="?"/>
            </a:pPr>
            <a:r>
              <a:rPr i="1" lang="en-GB"/>
              <a:t>POST</a:t>
            </a:r>
            <a:r>
              <a:rPr lang="en-GB"/>
              <a:t>: for posting / inserting a data</a:t>
            </a:r>
            <a:endParaRPr/>
          </a:p>
          <a:p>
            <a:pPr indent="-274320" lvl="1" marL="548640" rtl="0" algn="l">
              <a:lnSpc>
                <a:spcPct val="100000"/>
              </a:lnSpc>
              <a:spcBef>
                <a:spcPts val="500"/>
              </a:spcBef>
              <a:spcAft>
                <a:spcPts val="0"/>
              </a:spcAft>
              <a:buSzPts val="1748"/>
              <a:buChar char="?"/>
            </a:pPr>
            <a:r>
              <a:rPr i="1" lang="en-GB"/>
              <a:t>PUT</a:t>
            </a:r>
            <a:r>
              <a:rPr lang="en-GB"/>
              <a:t>: for updating a data</a:t>
            </a:r>
            <a:endParaRPr/>
          </a:p>
          <a:p>
            <a:pPr indent="-274320" lvl="1" marL="548640" rtl="0" algn="l">
              <a:lnSpc>
                <a:spcPct val="100000"/>
              </a:lnSpc>
              <a:spcBef>
                <a:spcPts val="500"/>
              </a:spcBef>
              <a:spcAft>
                <a:spcPts val="0"/>
              </a:spcAft>
              <a:buSzPts val="1748"/>
              <a:buChar char="?"/>
            </a:pPr>
            <a:r>
              <a:rPr i="1" lang="en-GB"/>
              <a:t>DELETE</a:t>
            </a:r>
            <a:r>
              <a:rPr lang="en-GB"/>
              <a:t>: for removing a data</a:t>
            </a:r>
            <a:endParaRPr/>
          </a:p>
          <a:p>
            <a:pPr indent="-274320" lvl="0" marL="274320" rtl="0" algn="l">
              <a:lnSpc>
                <a:spcPct val="100000"/>
              </a:lnSpc>
              <a:spcBef>
                <a:spcPts val="600"/>
              </a:spcBef>
              <a:spcAft>
                <a:spcPts val="0"/>
              </a:spcAft>
              <a:buSzPts val="1976"/>
              <a:buChar char="?"/>
            </a:pPr>
            <a:r>
              <a:rPr lang="en-GB"/>
              <a:t>Communicates with both Model and View</a:t>
            </a:r>
            <a:endParaRPr/>
          </a:p>
          <a:p>
            <a:pPr indent="-274320" lvl="0" marL="274320" rtl="0" algn="l">
              <a:lnSpc>
                <a:spcPct val="100000"/>
              </a:lnSpc>
              <a:spcBef>
                <a:spcPts val="600"/>
              </a:spcBef>
              <a:spcAft>
                <a:spcPts val="0"/>
              </a:spcAft>
              <a:buSzPts val="1976"/>
              <a:buChar char="?"/>
            </a:pPr>
            <a:r>
              <a:rPr lang="en-GB"/>
              <a:t>Contains all server side logic</a:t>
            </a:r>
            <a:endParaRPr/>
          </a:p>
          <a:p>
            <a:pPr indent="-274320" lvl="0" marL="274320" rtl="0" algn="l">
              <a:lnSpc>
                <a:spcPct val="100000"/>
              </a:lnSpc>
              <a:spcBef>
                <a:spcPts val="600"/>
              </a:spcBef>
              <a:spcAft>
                <a:spcPts val="0"/>
              </a:spcAft>
              <a:buSzPts val="1976"/>
              <a:buChar char="?"/>
            </a:pPr>
            <a:r>
              <a:rPr lang="en-GB"/>
              <a:t>In the example – ProductController, UserController, AccountController etc.</a:t>
            </a:r>
            <a:endParaRPr/>
          </a:p>
        </p:txBody>
      </p:sp>
      <p:pic>
        <p:nvPicPr>
          <p:cNvPr descr="brac.png" id="201" name="Google Shape;201;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02" name="Google Shape;202;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1000"/>
                                        <p:tgtEl>
                                          <p:spTgt spid="2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1000"/>
                                        <p:tgtEl>
                                          <p:spTgt spid="2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Effect filter="fade" transition="in">
                                      <p:cBhvr>
                                        <p:cTn dur="1000"/>
                                        <p:tgtEl>
                                          <p:spTgt spid="2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Effect filter="fade" transition="in">
                                      <p:cBhvr>
                                        <p:cTn dur="1000"/>
                                        <p:tgtEl>
                                          <p:spTgt spid="2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Effect filter="fade" transition="in">
                                      <p:cBhvr>
                                        <p:cTn dur="1000"/>
                                        <p:tgtEl>
                                          <p:spTgt spid="2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Effect filter="fade" transition="in">
                                      <p:cBhvr>
                                        <p:cTn dur="1000"/>
                                        <p:tgtEl>
                                          <p:spTgt spid="2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animEffect filter="fade" transition="in">
                                      <p:cBhvr>
                                        <p:cTn dur="1000"/>
                                        <p:tgtEl>
                                          <p:spTgt spid="2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7" st="7"/>
                                            </p:txEl>
                                          </p:spTgt>
                                        </p:tgtEl>
                                        <p:attrNameLst>
                                          <p:attrName>style.visibility</p:attrName>
                                        </p:attrNameLst>
                                      </p:cBhvr>
                                      <p:to>
                                        <p:strVal val="visible"/>
                                      </p:to>
                                    </p:set>
                                    <p:animEffect filter="fade" transition="in">
                                      <p:cBhvr>
                                        <p:cTn dur="1000"/>
                                        <p:tgtEl>
                                          <p:spTgt spid="2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8" st="8"/>
                                            </p:txEl>
                                          </p:spTgt>
                                        </p:tgtEl>
                                        <p:attrNameLst>
                                          <p:attrName>style.visibility</p:attrName>
                                        </p:attrNameLst>
                                      </p:cBhvr>
                                      <p:to>
                                        <p:strVal val="visible"/>
                                      </p:to>
                                    </p:set>
                                    <p:animEffect filter="fade" transition="in">
                                      <p:cBhvr>
                                        <p:cTn dur="1000"/>
                                        <p:tgtEl>
                                          <p:spTgt spid="2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9" st="9"/>
                                            </p:txEl>
                                          </p:spTgt>
                                        </p:tgtEl>
                                        <p:attrNameLst>
                                          <p:attrName>style.visibility</p:attrName>
                                        </p:attrNameLst>
                                      </p:cBhvr>
                                      <p:to>
                                        <p:strVal val="visible"/>
                                      </p:to>
                                    </p:set>
                                    <p:animEffect filter="fade" transition="in">
                                      <p:cBhvr>
                                        <p:cTn dur="1000"/>
                                        <p:tgtEl>
                                          <p:spTgt spid="200">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Model</a:t>
            </a:r>
            <a:endParaRPr/>
          </a:p>
        </p:txBody>
      </p:sp>
      <p:sp>
        <p:nvSpPr>
          <p:cNvPr id="208" name="Google Shape;208;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It refers to the Data Related Logic</a:t>
            </a:r>
            <a:endParaRPr/>
          </a:p>
          <a:p>
            <a:pPr indent="-274320" lvl="0" marL="274320" rtl="0" algn="l">
              <a:lnSpc>
                <a:spcPct val="100000"/>
              </a:lnSpc>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lnSpc>
                <a:spcPct val="100000"/>
              </a:lnSpc>
              <a:spcBef>
                <a:spcPts val="600"/>
              </a:spcBef>
              <a:spcAft>
                <a:spcPts val="0"/>
              </a:spcAft>
              <a:buSzPts val="1976"/>
              <a:buChar char="?"/>
            </a:pPr>
            <a:r>
              <a:rPr lang="en-GB"/>
              <a:t>It communicates with the controllers</a:t>
            </a:r>
            <a:endParaRPr/>
          </a:p>
          <a:p>
            <a:pPr indent="-274320" lvl="0" marL="274320" rtl="0" algn="l">
              <a:lnSpc>
                <a:spcPct val="100000"/>
              </a:lnSpc>
              <a:spcBef>
                <a:spcPts val="600"/>
              </a:spcBef>
              <a:spcAft>
                <a:spcPts val="0"/>
              </a:spcAft>
              <a:buSzPts val="1976"/>
              <a:buChar char="?"/>
            </a:pPr>
            <a:r>
              <a:rPr lang="en-GB"/>
              <a:t>Can sometimes update or collaborate with the view (Depends on framework)</a:t>
            </a:r>
            <a:endParaRPr/>
          </a:p>
          <a:p>
            <a:pPr indent="-274320" lvl="0" marL="274320" rtl="0" algn="l">
              <a:lnSpc>
                <a:spcPct val="100000"/>
              </a:lnSpc>
              <a:spcBef>
                <a:spcPts val="600"/>
              </a:spcBef>
              <a:spcAft>
                <a:spcPts val="0"/>
              </a:spcAft>
              <a:buSzPts val="1976"/>
              <a:buChar char="?"/>
            </a:pPr>
            <a:r>
              <a:rPr lang="en-GB"/>
              <a:t>In the example – Product, User, Transaction, Cart etc are model classes.</a:t>
            </a:r>
            <a:endParaRPr/>
          </a:p>
        </p:txBody>
      </p:sp>
      <p:pic>
        <p:nvPicPr>
          <p:cNvPr descr="brac.png" id="209" name="Google Shape;209;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0" name="Google Shape;210;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1000"/>
                                        <p:tgtEl>
                                          <p:spTgt spid="2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animEffect filter="fade" transition="in">
                                      <p:cBhvr>
                                        <p:cTn dur="1000"/>
                                        <p:tgtEl>
                                          <p:spTgt spid="20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View</a:t>
            </a:r>
            <a:endParaRPr/>
          </a:p>
        </p:txBody>
      </p:sp>
      <p:sp>
        <p:nvSpPr>
          <p:cNvPr id="216" name="Google Shape;216;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What the end users see (UI)</a:t>
            </a:r>
            <a:endParaRPr/>
          </a:p>
          <a:p>
            <a:pPr indent="-274320" lvl="0" marL="274320" rtl="0" algn="l">
              <a:lnSpc>
                <a:spcPct val="100000"/>
              </a:lnSpc>
              <a:spcBef>
                <a:spcPts val="600"/>
              </a:spcBef>
              <a:spcAft>
                <a:spcPts val="0"/>
              </a:spcAft>
              <a:buSzPts val="1976"/>
              <a:buChar char="?"/>
            </a:pPr>
            <a:r>
              <a:rPr lang="en-GB"/>
              <a:t>Usually Consists of </a:t>
            </a:r>
            <a:r>
              <a:rPr i="1" lang="en-GB"/>
              <a:t>html/css</a:t>
            </a:r>
            <a:endParaRPr i="1"/>
          </a:p>
          <a:p>
            <a:pPr indent="-274320" lvl="0" marL="274320" rtl="0" algn="l">
              <a:lnSpc>
                <a:spcPct val="100000"/>
              </a:lnSpc>
              <a:spcBef>
                <a:spcPts val="600"/>
              </a:spcBef>
              <a:spcAft>
                <a:spcPts val="0"/>
              </a:spcAft>
              <a:buSzPts val="1976"/>
              <a:buChar char="?"/>
            </a:pPr>
            <a:r>
              <a:rPr lang="en-GB"/>
              <a:t>Communicates with the controller</a:t>
            </a:r>
            <a:endParaRPr/>
          </a:p>
          <a:p>
            <a:pPr indent="-274320" lvl="0" marL="274320" rtl="0" algn="l">
              <a:lnSpc>
                <a:spcPct val="100000"/>
              </a:lnSpc>
              <a:spcBef>
                <a:spcPts val="600"/>
              </a:spcBef>
              <a:spcAft>
                <a:spcPts val="0"/>
              </a:spcAft>
              <a:buSzPts val="1976"/>
              <a:buChar char="?"/>
            </a:pPr>
            <a:r>
              <a:rPr lang="en-GB"/>
              <a:t>While coding are passed as dynamic values from the controller</a:t>
            </a:r>
            <a:endParaRPr/>
          </a:p>
          <a:p>
            <a:pPr indent="-274320" lvl="0" marL="274320" rtl="0" algn="l">
              <a:lnSpc>
                <a:spcPct val="100000"/>
              </a:lnSpc>
              <a:spcBef>
                <a:spcPts val="600"/>
              </a:spcBef>
              <a:spcAft>
                <a:spcPts val="0"/>
              </a:spcAft>
              <a:buSzPts val="1976"/>
              <a:buChar char="?"/>
            </a:pPr>
            <a:r>
              <a:rPr lang="en-GB"/>
              <a:t>A controller can have multiple associated views.</a:t>
            </a:r>
            <a:endParaRPr/>
          </a:p>
          <a:p>
            <a:pPr indent="-274320" lvl="0" marL="274320" rtl="0" algn="l">
              <a:lnSpc>
                <a:spcPct val="100000"/>
              </a:lnSpc>
              <a:spcBef>
                <a:spcPts val="600"/>
              </a:spcBef>
              <a:spcAft>
                <a:spcPts val="0"/>
              </a:spcAft>
              <a:buSzPts val="1976"/>
              <a:buChar char="?"/>
            </a:pPr>
            <a:r>
              <a:rPr lang="en-GB"/>
              <a:t>In the example – product.html, user.html to view a html file</a:t>
            </a:r>
            <a:endParaRPr/>
          </a:p>
          <a:p>
            <a:pPr indent="-148844" lvl="0" marL="274320" rtl="0" algn="l">
              <a:lnSpc>
                <a:spcPct val="100000"/>
              </a:lnSpc>
              <a:spcBef>
                <a:spcPts val="600"/>
              </a:spcBef>
              <a:spcAft>
                <a:spcPts val="0"/>
              </a:spcAft>
              <a:buSzPts val="1976"/>
              <a:buNone/>
            </a:pPr>
            <a:r>
              <a:t/>
            </a:r>
            <a:endParaRPr i="1"/>
          </a:p>
        </p:txBody>
      </p:sp>
      <p:pic>
        <p:nvPicPr>
          <p:cNvPr descr="brac.png" id="217" name="Google Shape;217;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8" name="Google Shape;218;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10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10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10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10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animEffect filter="fade" transition="in">
                                      <p:cBhvr>
                                        <p:cTn dur="1000"/>
                                        <p:tgtEl>
                                          <p:spTgt spid="2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5" st="5"/>
                                            </p:txEl>
                                          </p:spTgt>
                                        </p:tgtEl>
                                        <p:attrNameLst>
                                          <p:attrName>style.visibility</p:attrName>
                                        </p:attrNameLst>
                                      </p:cBhvr>
                                      <p:to>
                                        <p:strVal val="visible"/>
                                      </p:to>
                                    </p:set>
                                    <p:animEffect filter="fade" transition="in">
                                      <p:cBhvr>
                                        <p:cTn dur="1000"/>
                                        <p:tgtEl>
                                          <p:spTgt spid="2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6" st="6"/>
                                            </p:txEl>
                                          </p:spTgt>
                                        </p:tgtEl>
                                        <p:attrNameLst>
                                          <p:attrName>style.visibility</p:attrName>
                                        </p:attrNameLst>
                                      </p:cBhvr>
                                      <p:to>
                                        <p:strVal val="visible"/>
                                      </p:to>
                                    </p:set>
                                    <p:animEffect filter="fade" transition="in">
                                      <p:cBhvr>
                                        <p:cTn dur="1000"/>
                                        <p:tgtEl>
                                          <p:spTgt spid="2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14"/>
          <p:cNvPicPr preferRelativeResize="0"/>
          <p:nvPr>
            <p:ph idx="1" type="body"/>
          </p:nvPr>
        </p:nvPicPr>
        <p:blipFill rotWithShape="1">
          <a:blip r:embed="rId3">
            <a:alphaModFix/>
          </a:blip>
          <a:srcRect b="0" l="0" r="0" t="0"/>
          <a:stretch/>
        </p:blipFill>
        <p:spPr>
          <a:xfrm>
            <a:off x="228600" y="3962400"/>
            <a:ext cx="1524000" cy="1485900"/>
          </a:xfrm>
          <a:prstGeom prst="rect">
            <a:avLst/>
          </a:prstGeom>
          <a:noFill/>
          <a:ln>
            <a:noFill/>
          </a:ln>
        </p:spPr>
      </p:pic>
      <p:sp>
        <p:nvSpPr>
          <p:cNvPr id="224" name="Google Shape;224;p14"/>
          <p:cNvSpPr/>
          <p:nvPr/>
        </p:nvSpPr>
        <p:spPr>
          <a:xfrm>
            <a:off x="4572000" y="4114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Controller</a:t>
            </a:r>
            <a:endParaRPr b="0" i="0" sz="1800" u="none" cap="none" strike="noStrike">
              <a:solidFill>
                <a:schemeClr val="dk1"/>
              </a:solidFill>
              <a:latin typeface="Gill Sans"/>
              <a:ea typeface="Gill Sans"/>
              <a:cs typeface="Gill Sans"/>
              <a:sym typeface="Gill Sans"/>
            </a:endParaRPr>
          </a:p>
        </p:txBody>
      </p:sp>
      <p:sp>
        <p:nvSpPr>
          <p:cNvPr id="225" name="Google Shape;225;p14"/>
          <p:cNvSpPr/>
          <p:nvPr/>
        </p:nvSpPr>
        <p:spPr>
          <a:xfrm>
            <a:off x="2005469" y="685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Model</a:t>
            </a:r>
            <a:endParaRPr b="0" i="0" sz="1800" u="none" cap="none" strike="noStrike">
              <a:solidFill>
                <a:schemeClr val="dk1"/>
              </a:solidFill>
              <a:latin typeface="Gill Sans"/>
              <a:ea typeface="Gill Sans"/>
              <a:cs typeface="Gill Sans"/>
              <a:sym typeface="Gill Sans"/>
            </a:endParaRPr>
          </a:p>
        </p:txBody>
      </p:sp>
      <p:sp>
        <p:nvSpPr>
          <p:cNvPr id="226" name="Google Shape;226;p14"/>
          <p:cNvSpPr/>
          <p:nvPr/>
        </p:nvSpPr>
        <p:spPr>
          <a:xfrm>
            <a:off x="6649233" y="6732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View</a:t>
            </a:r>
            <a:endParaRPr b="0" i="0" sz="1800" u="none" cap="none" strike="noStrike">
              <a:solidFill>
                <a:schemeClr val="dk1"/>
              </a:solidFill>
              <a:latin typeface="Gill Sans"/>
              <a:ea typeface="Gill Sans"/>
              <a:cs typeface="Gill Sans"/>
              <a:sym typeface="Gill Sans"/>
            </a:endParaRPr>
          </a:p>
        </p:txBody>
      </p:sp>
      <p:cxnSp>
        <p:nvCxnSpPr>
          <p:cNvPr id="227" name="Google Shape;227;p14"/>
          <p:cNvCxnSpPr/>
          <p:nvPr/>
        </p:nvCxnSpPr>
        <p:spPr>
          <a:xfrm>
            <a:off x="1828800" y="4419600"/>
            <a:ext cx="2743200" cy="0"/>
          </a:xfrm>
          <a:prstGeom prst="straightConnector1">
            <a:avLst/>
          </a:prstGeom>
          <a:noFill/>
          <a:ln cap="flat" cmpd="sng" w="44450">
            <a:solidFill>
              <a:schemeClr val="dk1"/>
            </a:solidFill>
            <a:prstDash val="solid"/>
            <a:round/>
            <a:headEnd len="sm" w="sm" type="none"/>
            <a:tailEnd len="med" w="med" type="stealth"/>
          </a:ln>
        </p:spPr>
      </p:cxnSp>
      <p:sp>
        <p:nvSpPr>
          <p:cNvPr id="228" name="Google Shape;228;p14"/>
          <p:cNvSpPr txBox="1"/>
          <p:nvPr/>
        </p:nvSpPr>
        <p:spPr>
          <a:xfrm>
            <a:off x="1773280" y="3897868"/>
            <a:ext cx="2690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[1] Request: Get a product</a:t>
            </a:r>
            <a:endParaRPr b="0" i="0" sz="1800" u="none" cap="none" strike="noStrike">
              <a:solidFill>
                <a:schemeClr val="dk1"/>
              </a:solidFill>
              <a:latin typeface="Gill Sans"/>
              <a:ea typeface="Gill Sans"/>
              <a:cs typeface="Gill Sans"/>
              <a:sym typeface="Gill Sans"/>
            </a:endParaRPr>
          </a:p>
        </p:txBody>
      </p:sp>
      <p:cxnSp>
        <p:nvCxnSpPr>
          <p:cNvPr id="229" name="Google Shape;229;p14"/>
          <p:cNvCxnSpPr/>
          <p:nvPr/>
        </p:nvCxnSpPr>
        <p:spPr>
          <a:xfrm rot="10800000">
            <a:off x="3154897" y="1865859"/>
            <a:ext cx="1975980" cy="2216675"/>
          </a:xfrm>
          <a:prstGeom prst="straightConnector1">
            <a:avLst/>
          </a:prstGeom>
          <a:noFill/>
          <a:ln cap="flat" cmpd="sng" w="44450">
            <a:solidFill>
              <a:schemeClr val="dk1"/>
            </a:solidFill>
            <a:prstDash val="solid"/>
            <a:round/>
            <a:headEnd len="sm" w="sm" type="none"/>
            <a:tailEnd len="med" w="med" type="stealth"/>
          </a:ln>
        </p:spPr>
      </p:cxnSp>
      <p:sp>
        <p:nvSpPr>
          <p:cNvPr id="230" name="Google Shape;230;p14"/>
          <p:cNvSpPr txBox="1"/>
          <p:nvPr/>
        </p:nvSpPr>
        <p:spPr>
          <a:xfrm rot="2977198">
            <a:off x="3418573" y="2753191"/>
            <a:ext cx="2662635" cy="6463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[2] Get the product data from DB</a:t>
            </a:r>
            <a:endParaRPr b="0" i="0" sz="1800" u="none" cap="none" strike="noStrike">
              <a:solidFill>
                <a:schemeClr val="dk1"/>
              </a:solidFill>
              <a:latin typeface="Gill Sans"/>
              <a:ea typeface="Gill Sans"/>
              <a:cs typeface="Gill Sans"/>
              <a:sym typeface="Gill Sans"/>
            </a:endParaRPr>
          </a:p>
        </p:txBody>
      </p:sp>
      <p:cxnSp>
        <p:nvCxnSpPr>
          <p:cNvPr id="231" name="Google Shape;231;p14"/>
          <p:cNvCxnSpPr/>
          <p:nvPr/>
        </p:nvCxnSpPr>
        <p:spPr>
          <a:xfrm>
            <a:off x="2819400" y="1865859"/>
            <a:ext cx="1930478" cy="2248941"/>
          </a:xfrm>
          <a:prstGeom prst="straightConnector1">
            <a:avLst/>
          </a:prstGeom>
          <a:noFill/>
          <a:ln cap="flat" cmpd="sng" w="44450">
            <a:solidFill>
              <a:schemeClr val="dk1"/>
            </a:solidFill>
            <a:prstDash val="solid"/>
            <a:round/>
            <a:headEnd len="sm" w="sm" type="none"/>
            <a:tailEnd len="med" w="med" type="stealth"/>
          </a:ln>
        </p:spPr>
      </p:cxnSp>
      <p:sp>
        <p:nvSpPr>
          <p:cNvPr id="232" name="Google Shape;232;p14"/>
          <p:cNvSpPr txBox="1"/>
          <p:nvPr/>
        </p:nvSpPr>
        <p:spPr>
          <a:xfrm rot="2977217">
            <a:off x="2079628" y="2905584"/>
            <a:ext cx="266269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[3] Fetch the data and return to controller</a:t>
            </a:r>
            <a:endParaRPr b="0" i="0" sz="1800" u="none" cap="none" strike="noStrike">
              <a:solidFill>
                <a:schemeClr val="dk1"/>
              </a:solidFill>
              <a:latin typeface="Gill Sans"/>
              <a:ea typeface="Gill Sans"/>
              <a:cs typeface="Gill Sans"/>
              <a:sym typeface="Gill Sans"/>
            </a:endParaRPr>
          </a:p>
        </p:txBody>
      </p:sp>
      <p:cxnSp>
        <p:nvCxnSpPr>
          <p:cNvPr id="233" name="Google Shape;233;p14"/>
          <p:cNvCxnSpPr/>
          <p:nvPr/>
        </p:nvCxnSpPr>
        <p:spPr>
          <a:xfrm flipH="1" rot="10800000">
            <a:off x="5858570" y="1852809"/>
            <a:ext cx="1676400" cy="2216675"/>
          </a:xfrm>
          <a:prstGeom prst="straightConnector1">
            <a:avLst/>
          </a:prstGeom>
          <a:noFill/>
          <a:ln cap="flat" cmpd="sng" w="44450">
            <a:solidFill>
              <a:schemeClr val="dk1"/>
            </a:solidFill>
            <a:prstDash val="solid"/>
            <a:round/>
            <a:headEnd len="sm" w="sm" type="none"/>
            <a:tailEnd len="med" w="med" type="stealth"/>
          </a:ln>
        </p:spPr>
      </p:cxnSp>
      <p:sp>
        <p:nvSpPr>
          <p:cNvPr id="234" name="Google Shape;234;p14"/>
          <p:cNvSpPr txBox="1"/>
          <p:nvPr/>
        </p:nvSpPr>
        <p:spPr>
          <a:xfrm rot="-3071781">
            <a:off x="5283065" y="2312232"/>
            <a:ext cx="2332869" cy="646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[4] Get Presentation of the product data</a:t>
            </a:r>
            <a:endParaRPr b="0" i="0" sz="1800" u="none" cap="none" strike="noStrike">
              <a:solidFill>
                <a:schemeClr val="dk1"/>
              </a:solidFill>
              <a:latin typeface="Gill Sans"/>
              <a:ea typeface="Gill Sans"/>
              <a:cs typeface="Gill Sans"/>
              <a:sym typeface="Gill Sans"/>
            </a:endParaRPr>
          </a:p>
        </p:txBody>
      </p:sp>
      <p:sp>
        <p:nvSpPr>
          <p:cNvPr id="235" name="Google Shape;235;p14"/>
          <p:cNvSpPr txBox="1"/>
          <p:nvPr/>
        </p:nvSpPr>
        <p:spPr>
          <a:xfrm rot="-3190113">
            <a:off x="6399706" y="2654592"/>
            <a:ext cx="233284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[5] Returns the presentation with dynamic rendering</a:t>
            </a:r>
            <a:endParaRPr b="0" i="0" sz="1800" u="none" cap="none" strike="noStrike">
              <a:solidFill>
                <a:schemeClr val="dk1"/>
              </a:solidFill>
              <a:latin typeface="Gill Sans"/>
              <a:ea typeface="Gill Sans"/>
              <a:cs typeface="Gill Sans"/>
              <a:sym typeface="Gill Sans"/>
            </a:endParaRPr>
          </a:p>
        </p:txBody>
      </p:sp>
      <p:sp>
        <p:nvSpPr>
          <p:cNvPr id="236" name="Google Shape;236;p14"/>
          <p:cNvSpPr txBox="1"/>
          <p:nvPr/>
        </p:nvSpPr>
        <p:spPr>
          <a:xfrm>
            <a:off x="1860144" y="4759705"/>
            <a:ext cx="25284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[6] Returns the response</a:t>
            </a:r>
            <a:endParaRPr b="0" i="0" sz="1800" u="none" cap="none" strike="noStrike">
              <a:solidFill>
                <a:schemeClr val="dk1"/>
              </a:solidFill>
              <a:latin typeface="Gill Sans"/>
              <a:ea typeface="Gill Sans"/>
              <a:cs typeface="Gill Sans"/>
              <a:sym typeface="Gill Sans"/>
            </a:endParaRPr>
          </a:p>
        </p:txBody>
      </p:sp>
      <p:cxnSp>
        <p:nvCxnSpPr>
          <p:cNvPr id="237" name="Google Shape;237;p14"/>
          <p:cNvCxnSpPr>
            <a:stCxn id="224" idx="1"/>
          </p:cNvCxnSpPr>
          <p:nvPr/>
        </p:nvCxnSpPr>
        <p:spPr>
          <a:xfrm rot="10800000">
            <a:off x="1828800" y="4686300"/>
            <a:ext cx="2743200" cy="0"/>
          </a:xfrm>
          <a:prstGeom prst="straightConnector1">
            <a:avLst/>
          </a:prstGeom>
          <a:noFill/>
          <a:ln cap="flat" cmpd="sng" w="44450">
            <a:solidFill>
              <a:schemeClr val="dk1"/>
            </a:solidFill>
            <a:prstDash val="solid"/>
            <a:round/>
            <a:headEnd len="sm" w="sm" type="none"/>
            <a:tailEnd len="med" w="med" type="stealth"/>
          </a:ln>
        </p:spPr>
      </p:cxnSp>
      <p:sp>
        <p:nvSpPr>
          <p:cNvPr id="238" name="Google Shape;238;p14"/>
          <p:cNvSpPr/>
          <p:nvPr/>
        </p:nvSpPr>
        <p:spPr>
          <a:xfrm>
            <a:off x="6660715" y="4498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50000" scaled="0"/>
          </a:gradFill>
          <a:ln cap="flat" cmpd="sng" w="9525">
            <a:solidFill>
              <a:schemeClr val="accent5"/>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Routes</a:t>
            </a:r>
            <a:endParaRPr b="0" i="0" sz="1800" u="none" cap="none" strike="noStrike">
              <a:solidFill>
                <a:schemeClr val="dk1"/>
              </a:solidFill>
              <a:latin typeface="Gill Sans"/>
              <a:ea typeface="Gill Sans"/>
              <a:cs typeface="Gill Sans"/>
              <a:sym typeface="Gill Sans"/>
            </a:endParaRPr>
          </a:p>
        </p:txBody>
      </p:sp>
      <p:cxnSp>
        <p:nvCxnSpPr>
          <p:cNvPr id="239" name="Google Shape;239;p14"/>
          <p:cNvCxnSpPr/>
          <p:nvPr/>
        </p:nvCxnSpPr>
        <p:spPr>
          <a:xfrm flipH="1">
            <a:off x="6172200" y="1865859"/>
            <a:ext cx="1676400" cy="2248941"/>
          </a:xfrm>
          <a:prstGeom prst="straightConnector1">
            <a:avLst/>
          </a:prstGeom>
          <a:noFill/>
          <a:ln cap="flat" cmpd="sng" w="44450">
            <a:solidFill>
              <a:schemeClr val="dk1"/>
            </a:solidFill>
            <a:prstDash val="solid"/>
            <a:round/>
            <a:headEnd len="sm" w="sm" type="none"/>
            <a:tailEnd len="med" w="med" type="stealth"/>
          </a:ln>
        </p:spPr>
      </p:cxnSp>
      <p:pic>
        <p:nvPicPr>
          <p:cNvPr descr="brac.png" id="240" name="Google Shape;240;p14"/>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1" name="Google Shape;241;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1000"/>
                                        <p:tgtEl>
                                          <p:spTgt spid="2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Routes</a:t>
            </a:r>
            <a:endParaRPr/>
          </a:p>
        </p:txBody>
      </p:sp>
      <p:sp>
        <p:nvSpPr>
          <p:cNvPr id="247" name="Google Shape;247;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Are urls to access a resource</a:t>
            </a:r>
            <a:endParaRPr/>
          </a:p>
          <a:p>
            <a:pPr indent="-274320" lvl="0" marL="274320" rtl="0" algn="l">
              <a:lnSpc>
                <a:spcPct val="100000"/>
              </a:lnSpc>
              <a:spcBef>
                <a:spcPts val="600"/>
              </a:spcBef>
              <a:spcAft>
                <a:spcPts val="0"/>
              </a:spcAft>
              <a:buSzPts val="1976"/>
              <a:buChar char="?"/>
            </a:pPr>
            <a:r>
              <a:rPr lang="en-GB"/>
              <a:t>General structure - http://domainName/{controller}/{action}/{id}</a:t>
            </a:r>
            <a:endParaRPr/>
          </a:p>
          <a:p>
            <a:pPr indent="-274320" lvl="0" marL="274320" rtl="0" algn="l">
              <a:lnSpc>
                <a:spcPct val="100000"/>
              </a:lnSpc>
              <a:spcBef>
                <a:spcPts val="600"/>
              </a:spcBef>
              <a:spcAft>
                <a:spcPts val="0"/>
              </a:spcAft>
              <a:buSzPts val="1976"/>
              <a:buChar char="?"/>
            </a:pPr>
            <a:r>
              <a:rPr lang="en-GB"/>
              <a:t> http://YourApp.com/Users/Profile/25</a:t>
            </a:r>
            <a:endParaRPr/>
          </a:p>
        </p:txBody>
      </p:sp>
      <p:pic>
        <p:nvPicPr>
          <p:cNvPr id="248" name="Google Shape;248;p15"/>
          <p:cNvPicPr preferRelativeResize="0"/>
          <p:nvPr/>
        </p:nvPicPr>
        <p:blipFill rotWithShape="1">
          <a:blip r:embed="rId3">
            <a:alphaModFix/>
          </a:blip>
          <a:srcRect b="0" l="0" r="0" t="0"/>
          <a:stretch/>
        </p:blipFill>
        <p:spPr>
          <a:xfrm>
            <a:off x="3537559" y="3429000"/>
            <a:ext cx="5315692" cy="2648320"/>
          </a:xfrm>
          <a:prstGeom prst="rect">
            <a:avLst/>
          </a:prstGeom>
          <a:noFill/>
          <a:ln>
            <a:noFill/>
          </a:ln>
        </p:spPr>
      </p:pic>
      <p:pic>
        <p:nvPicPr>
          <p:cNvPr descr="brac.png" id="249" name="Google Shape;249;p15"/>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50" name="Google Shape;250;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56" name="Google Shape;256;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57" name="Google Shape;257;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t/>
            </a:r>
            <a:endParaRPr/>
          </a:p>
        </p:txBody>
      </p:sp>
      <p:pic>
        <p:nvPicPr>
          <p:cNvPr id="263" name="Google Shape;263;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64" name="Google Shape;264;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65" name="Google Shape;265;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pic>
        <p:nvPicPr>
          <p:cNvPr descr="Capture.PNG" id="266" name="Google Shape;266;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8"/>
          <p:cNvSpPr txBox="1"/>
          <p:nvPr/>
        </p:nvSpPr>
        <p:spPr>
          <a:xfrm>
            <a:off x="505217" y="914400"/>
            <a:ext cx="48006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Gill Sans"/>
                <a:ea typeface="Gill Sans"/>
                <a:cs typeface="Gill Sans"/>
                <a:sym typeface="Gill Sans"/>
              </a:rPr>
              <a:t>When Used: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b="0" i="0" sz="1400" u="none" cap="none" strike="noStrike">
              <a:solidFill>
                <a:srgbClr val="000000"/>
              </a:solidFill>
              <a:latin typeface="Arial"/>
              <a:ea typeface="Arial"/>
              <a:cs typeface="Arial"/>
              <a:sym typeface="Arial"/>
            </a:endParaRPr>
          </a:p>
        </p:txBody>
      </p:sp>
      <p:sp>
        <p:nvSpPr>
          <p:cNvPr id="272" name="Google Shape;272;p18"/>
          <p:cNvSpPr txBox="1"/>
          <p:nvPr/>
        </p:nvSpPr>
        <p:spPr>
          <a:xfrm>
            <a:off x="3200400" y="2590800"/>
            <a:ext cx="4800600"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Helvetica Neue"/>
                <a:ea typeface="Helvetica Neue"/>
                <a:cs typeface="Helvetica Neue"/>
                <a:sym typeface="Helvetica Neue"/>
              </a:rPr>
              <a:t>Advantages: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 </a:t>
            </a:r>
            <a:endParaRPr b="0" i="0" sz="1400" u="none" cap="none" strike="noStrike">
              <a:solidFill>
                <a:srgbClr val="000000"/>
              </a:solidFill>
              <a:latin typeface="Arial"/>
              <a:ea typeface="Arial"/>
              <a:cs typeface="Arial"/>
              <a:sym typeface="Arial"/>
            </a:endParaRPr>
          </a:p>
        </p:txBody>
      </p:sp>
      <p:sp>
        <p:nvSpPr>
          <p:cNvPr id="273" name="Google Shape;273;p18"/>
          <p:cNvSpPr txBox="1"/>
          <p:nvPr/>
        </p:nvSpPr>
        <p:spPr>
          <a:xfrm>
            <a:off x="762522" y="4648200"/>
            <a:ext cx="4800600" cy="1200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Helvetica Neue"/>
                <a:ea typeface="Helvetica Neue"/>
                <a:cs typeface="Helvetica Neue"/>
                <a:sym typeface="Helvetica Neue"/>
              </a:rPr>
              <a:t>Disadvantages: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Can involve additional code and code complexity when the data model and interactions are simple</a:t>
            </a:r>
            <a:r>
              <a:rPr lang="en-GB" sz="1800">
                <a:latin typeface="Helvetica Neue"/>
                <a:ea typeface="Helvetica Neue"/>
                <a:cs typeface="Helvetica Neue"/>
                <a:sym typeface="Helvetica Neue"/>
              </a:rPr>
              <a:t> (for simple projects)</a:t>
            </a:r>
            <a:endParaRPr b="0" i="0" sz="1400" u="none" cap="none" strike="noStrike">
              <a:solidFill>
                <a:srgbClr val="000000"/>
              </a:solidFill>
              <a:latin typeface="Arial"/>
              <a:ea typeface="Arial"/>
              <a:cs typeface="Arial"/>
              <a:sym typeface="Arial"/>
            </a:endParaRPr>
          </a:p>
        </p:txBody>
      </p:sp>
      <p:pic>
        <p:nvPicPr>
          <p:cNvPr descr="brac.png" id="274" name="Google Shape;274;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75" name="Google Shape;275;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Summary</a:t>
            </a:r>
            <a:endParaRPr/>
          </a:p>
        </p:txBody>
      </p:sp>
      <p:sp>
        <p:nvSpPr>
          <p:cNvPr id="281" name="Google Shape;281;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MVC is one of the most used architectural patterns.</a:t>
            </a:r>
            <a:endParaRPr/>
          </a:p>
          <a:p>
            <a:pPr indent="-274320" lvl="0" marL="274320" rtl="0" algn="l">
              <a:lnSpc>
                <a:spcPct val="100000"/>
              </a:lnSpc>
              <a:spcBef>
                <a:spcPts val="600"/>
              </a:spcBef>
              <a:spcAft>
                <a:spcPts val="0"/>
              </a:spcAft>
              <a:buSzPts val="1976"/>
              <a:buChar char="?"/>
            </a:pPr>
            <a:r>
              <a:rPr lang="en-GB"/>
              <a:t>It divides the system into three parts – model, view and controller</a:t>
            </a:r>
            <a:endParaRPr/>
          </a:p>
          <a:p>
            <a:pPr indent="-274320" lvl="0" marL="274320" rtl="0" algn="l">
              <a:lnSpc>
                <a:spcPct val="100000"/>
              </a:lnSpc>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82" name="Google Shape;282;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83" name="Google Shape;283;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84" name="Google Shape;284;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