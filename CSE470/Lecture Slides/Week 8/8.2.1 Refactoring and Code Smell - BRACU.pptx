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hUDYsuswO5qUnLIV2nCTOCG4V9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6" name="Google Shape;1196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1" name="Google Shape;1211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6" name="Google Shape;1226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3" name="Google Shape;1243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7" name="Google Shape;1277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6" name="Google Shape;1296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8" name="Google Shape;1318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7" name="Google Shape;1337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5" name="Google Shape;1355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19" lvl="0" marL="457200" algn="l">
              <a:lnSpc>
                <a:spcPct val="100000"/>
              </a:lnSpc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6" lvl="1" marL="9144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6" lvl="2" marL="1371600" algn="l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59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59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colab.research.google.com/drive/1mDlmASeBU9lKodWUyvvmaAAQcO2Jcs-T?usp=drive_link" TargetMode="External"/><Relationship Id="rId6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jpg"/><Relationship Id="rId5" Type="http://schemas.openxmlformats.org/officeDocument/2006/relationships/hyperlink" Target="https://thectoclub.com/tools/best-code-analysis-tool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techtarget.com/whatis/definition/technical-debt" TargetMode="External"/><Relationship Id="rId6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.jpg"/><Relationship Id="rId6" Type="http://schemas.openxmlformats.org/officeDocument/2006/relationships/hyperlink" Target="https://www.w3schools.com/python/ref_keyword_assert.asp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6.png"/><Relationship Id="rId6" Type="http://schemas.openxmlformats.org/officeDocument/2006/relationships/image" Target="../media/image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2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-16275" y="4"/>
            <a:ext cx="10160100" cy="44412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75" y="5161116"/>
            <a:ext cx="96165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Example Sheet: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Code Smells (SHRR Version).ipynb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/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0" y="515900"/>
            <a:ext cx="10101374" cy="39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74800" y="151825"/>
            <a:ext cx="10077287" cy="7277100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43000" y="2191250"/>
              <a:ext cx="9451500" cy="53427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❏"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series of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steps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each of which changes the program’s 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internal structure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without changing its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 behavior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Martin Fowler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Verify no change in external behavior by -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Using the right tool - IDE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Formal code analysis by </a:t>
              </a:r>
              <a:r>
                <a:rPr lang="en-US" sz="29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any tool</a:t>
              </a: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or team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Being very, very careful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700560" y="643100"/>
            <a:ext cx="5742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Refactoring?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9800" y="3576950"/>
            <a:ext cx="8675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9800" y="3898900"/>
            <a:ext cx="130904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39800" y="4441050"/>
            <a:ext cx="900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1" lang="en-US" sz="2500" u="sng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5"/>
                </a:rPr>
                <a:t>technical debt</a:t>
              </a:r>
              <a:endParaRPr b="1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68" name="Google Shape;1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45725" y="0"/>
            <a:ext cx="10096891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890" y="6017806"/>
              <a:ext cx="44775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i="0" lang="en-US" sz="20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endParaRPr i="0" sz="2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101300" y="5780775"/>
            <a:ext cx="3470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aseline="-25000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= WinterCharge(quantity);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0" name="Google Shape;200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3" name="Google Shape;20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29" name="Google Shape;2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6" name="Google Shape;236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3" name="Google Shape;24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looks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295" name="Google Shape;2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15" name="Google Shape;3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2" name="Google Shape;322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728350" y="2888725"/>
              <a:ext cx="9112800" cy="4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tightly couples code.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7" name="Google Shape;337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0" name="Google Shape;34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1" name="Google Shape;3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2"/>
          <p:cNvGrpSpPr/>
          <p:nvPr/>
        </p:nvGrpSpPr>
        <p:grpSpPr>
          <a:xfrm>
            <a:off x="0" y="0"/>
            <a:ext cx="10227807" cy="7873950"/>
            <a:chOff x="0" y="0"/>
            <a:chExt cx="10227807" cy="7873950"/>
          </a:xfrm>
        </p:grpSpPr>
        <p:cxnSp>
          <p:nvCxnSpPr>
            <p:cNvPr id="358" name="Google Shape;358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" name="Google Shape;359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1193800" y="2044700"/>
              <a:ext cx="3466851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5676900" y="2152650"/>
              <a:ext cx="3291600" cy="57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7453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85" name="Google Shape;3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71565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926" y="6439008"/>
            <a:ext cx="340320" cy="30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12" name="Google Shape;4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39800" y="2565400"/>
            <a:ext cx="870223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939800" y="4241800"/>
            <a:ext cx="37840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36" name="Google Shape;4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3" name="Google Shape;443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" name="Google Shape;444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51" name="Google Shape;451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60" name="Google Shape;460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1" name="Google Shape;461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/>
                <a:buNone/>
              </a:pPr>
              <a:r>
                <a:t/>
              </a:r>
              <a:endParaRPr b="0" i="0" sz="2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rPr b="0" i="0" lang="en-US" sz="178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0" name="Google Shape;470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/>
              <a:buNone/>
            </a:pPr>
            <a:r>
              <a:rPr b="0" i="0" lang="en-US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78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71" name="Google Shape;4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8" name="Google Shape;478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1" name="Google Shape;48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88" name="Google Shape;4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5" name="Google Shape;495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6" name="Google Shape;496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06" name="Google Shape;50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3" name="Google Shape;513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4" name="Google Shape;514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31" name="Google Shape;5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8" name="Google Shape;538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4" name="Google Shape;554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5" name="Google Shape;555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3" name="Google Shape;5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0" name="Google Shape;570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1" name="Google Shape;571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86" name="Google Shape;5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 txBox="1"/>
          <p:nvPr/>
        </p:nvSpPr>
        <p:spPr>
          <a:xfrm>
            <a:off x="574825" y="6789425"/>
            <a:ext cx="62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https://www.w3schools.com/python/ref_keyword_assert.asp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Object Oriented code is easiest to understand and maintain with shorter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891700" y="4226800"/>
            <a:ext cx="42459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4" name="Google Shape;6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21" name="Google Shape;621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29" name="Google Shape;6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7" name="Google Shape;637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47" name="Google Shape;6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4" name="Google Shape;654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4" name="Google Shape;6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87" name="Google Shape;6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5" name="Google Shape;695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8" name="Google Shape;69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07" name="Google Shape;7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7" name="Google Shape;717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26" name="Google Shape;7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4" name="Google Shape;734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37" name="Google Shape;73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4" name="Google Shape;7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2" name="Google Shape;752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3" name="Google Shape;753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61" name="Google Shape;7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9" name="Google Shape;769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0" name="Google Shape;770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81" name="Google Shape;7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8" name="Google Shape;788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9" name="Google Shape;789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1" name="Google Shape;79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/>
                <a:buNone/>
              </a:pPr>
              <a:r>
                <a:rPr b="0" i="0" lang="en-US" sz="49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4" name="Google Shape;8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1" name="Google Shape;811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4" name="Google Shape;81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20" name="Google Shape;82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6" name="Google Shape;826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9" name="Google Shape;8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43" name="Google Shape;84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0" name="Google Shape;850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1" name="Google Shape;851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58" name="Google Shape;85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5" name="Google Shape;865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79" name="Google Shape;8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6" name="Google Shape;886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7" name="Google Shape;887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5" name="Google Shape;89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08" name="Google Shape;9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5" name="Google Shape;915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4" name="Google Shape;9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1" name="Google Shape;931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2" name="Google Shape;932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40" name="Google Shape;9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6" name="Google Shape;946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7" name="Google Shape;947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t/>
              </a:r>
              <a:endParaRPr b="0" i="0" sz="22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5" name="Google Shape;955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956" name="Google Shape;9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3" name="Google Shape;963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4" name="Google Shape;964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71" name="Google Shape;9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8" name="Google Shape;978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9" name="Google Shape;979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89" name="Google Shape;98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6" name="Google Shape;996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13" name="Google Shape;101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0" name="Google Shape;1020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1" name="Google Shape;1021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t/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28" name="Google Shape;102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5" name="Google Shape;1035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6" name="Google Shape;1036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8" name="Google Shape;103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5" name="Google Shape;104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2" name="Google Shape;1052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3" name="Google Shape;1053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5" name="Google Shape;105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62" name="Google Shape;106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1" name="Google Shape;107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5" name="Google Shape;108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6" name="Google Shape;108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3" name="Google Shape;1093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4" name="Google Shape;1094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6" name="Google Shape;1096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02" name="Google Shape;110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50"/>
          <p:cNvGrpSpPr/>
          <p:nvPr/>
        </p:nvGrpSpPr>
        <p:grpSpPr>
          <a:xfrm>
            <a:off x="0" y="76200"/>
            <a:ext cx="10253202" cy="7708900"/>
            <a:chOff x="0" y="76200"/>
            <a:chExt cx="10253202" cy="7708900"/>
          </a:xfrm>
        </p:grpSpPr>
        <p:cxnSp>
          <p:nvCxnSpPr>
            <p:cNvPr id="1109" name="Google Shape;1109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0" name="Google Shape;1110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2" name="Google Shape;111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18" name="Google Shape;111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5" name="Google Shape;1125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31" name="Google Shape;113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4725" y="276900"/>
            <a:ext cx="5555450" cy="74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32" name="Google Shape;113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9" name="Google Shape;1139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/>
                <a:buNone/>
              </a:pPr>
              <a:r>
                <a:rPr b="0" i="0" lang="en-US" sz="69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5" name="Google Shape;11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2" name="Google Shape;1152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3" name="Google Shape;1153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8" name="Google Shape;1158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60" name="Google Shape;11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7" name="Google Shape;1167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Level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For and For Each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Level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Loop v/s Lines repeated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3" name="Google Shape;1173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i="0" lang="en-US" sz="1200" u="none" cap="none" strike="noStrike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77" name="Google Shape;117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425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5" name="Google Shape;1185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6" name="Google Shape;1186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93" name="Google Shape;11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0" name="Google Shape;1200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08" name="Google Shape;120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5" name="Google Shape;1215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6" name="Google Shape;1216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7"/>
            <p:cNvSpPr txBox="1"/>
            <p:nvPr/>
          </p:nvSpPr>
          <p:spPr>
            <a:xfrm>
              <a:off x="749300" y="3581400"/>
              <a:ext cx="8521800" cy="19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23" name="Google Shape;12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" name="Google Shape;1229;p58"/>
          <p:cNvGrpSpPr/>
          <p:nvPr/>
        </p:nvGrpSpPr>
        <p:grpSpPr>
          <a:xfrm>
            <a:off x="16900" y="88900"/>
            <a:ext cx="10189702" cy="7785100"/>
            <a:chOff x="63500" y="0"/>
            <a:chExt cx="10189702" cy="7785100"/>
          </a:xfrm>
        </p:grpSpPr>
        <p:cxnSp>
          <p:nvCxnSpPr>
            <p:cNvPr id="1230" name="Google Shape;1230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1" name="Google Shape;1231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3" name="Google Shape;1233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40" name="Google Shape;124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6" name="Google Shape;1246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47" name="Google Shape;1247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8" name="Google Shape;1248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0" name="Google Shape;125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5" name="Google Shape;1255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57" name="Google Shape;125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4" name="Google Shape;1264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5" name="Google Shape;1265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4" name="Google Shape;127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1" name="Google Shape;1281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2" name="Google Shape;1282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93" name="Google Shape;129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9" name="Google Shape;1299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0" name="Google Shape;1300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3" name="Google Shape;1303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723900" y="2679700"/>
              <a:ext cx="8688900" cy="11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5" name="Google Shape;131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1" name="Google Shape;1321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2" name="Google Shape;1322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3" name="Google Shape;1323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33" name="Google Shape;133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4" name="Google Shape;133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1" name="Google Shape;1341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2" name="Google Shape;1342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51" name="Google Shape;135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52" name="Google Shape;135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9" name="Google Shape;1359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0" name="Google Shape;1360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67" name="Google Shape;136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