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9144000"/>
  <p:notesSz cx="6858000" cy="9144000"/>
  <p:embeddedFontLst>
    <p:embeddedFont>
      <p:font typeface="Helvetica Neue"/>
      <p:regular r:id="rId26"/>
      <p:bold r:id="rId27"/>
      <p:italic r:id="rId28"/>
      <p:boldItalic r:id="rId29"/>
    </p:embeddedFont>
    <p:embeddedFont>
      <p:font typeface="Gill Sans"/>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2" roundtripDataSignature="AMtx7mi1K5eaonSylxAXM3T1UHUadpT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regular.fntdata"/><Relationship Id="rId25" Type="http://schemas.openxmlformats.org/officeDocument/2006/relationships/slide" Target="slides/slide20.xml"/><Relationship Id="rId28" Type="http://schemas.openxmlformats.org/officeDocument/2006/relationships/font" Target="fonts/HelveticaNeue-italic.fntdata"/><Relationship Id="rId27" Type="http://schemas.openxmlformats.org/officeDocument/2006/relationships/font" Target="fonts/HelveticaNeue-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GillSans-bold.fntdata"/><Relationship Id="rId30" Type="http://schemas.openxmlformats.org/officeDocument/2006/relationships/font" Target="fonts/GillSans-regular.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7504e12ba0_0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7504e12ba0_0_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27504e12ba0_0_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1"/>
          <p:cNvSpPr txBox="1"/>
          <p:nvPr>
            <p:ph type="ctrTitle"/>
          </p:nvPr>
        </p:nvSpPr>
        <p:spPr>
          <a:xfrm>
            <a:off x="1219200" y="3886200"/>
            <a:ext cx="6858000" cy="990600"/>
          </a:xfrm>
          <a:prstGeom prst="rect">
            <a:avLst/>
          </a:prstGeom>
          <a:noFill/>
          <a:ln>
            <a:noFill/>
          </a:ln>
        </p:spPr>
        <p:txBody>
          <a:bodyPr anchorCtr="0" anchor="t" bIns="45700" lIns="91425" spcFirstLastPara="1" rIns="91425" wrap="square" tIns="45700">
            <a:normAutofit/>
          </a:bodyPr>
          <a:lstStyle>
            <a:lvl1pPr lvl="0" algn="r">
              <a:spcBef>
                <a:spcPts val="0"/>
              </a:spcBef>
              <a:spcAft>
                <a:spcPts val="0"/>
              </a:spcAft>
              <a:buClr>
                <a:schemeClr val="dk1"/>
              </a:buClr>
              <a:buSzPts val="3200"/>
              <a:buFont typeface="Bookman Old Style"/>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21"/>
          <p:cNvSpPr txBox="1"/>
          <p:nvPr>
            <p:ph idx="1" type="subTitle"/>
          </p:nvPr>
        </p:nvSpPr>
        <p:spPr>
          <a:xfrm>
            <a:off x="1219200" y="5124450"/>
            <a:ext cx="6858000" cy="533400"/>
          </a:xfrm>
          <a:prstGeom prst="rect">
            <a:avLst/>
          </a:prstGeom>
          <a:noFill/>
          <a:ln>
            <a:noFill/>
          </a:ln>
        </p:spPr>
        <p:txBody>
          <a:bodyPr anchorCtr="0" anchor="t" bIns="45700" lIns="91425" spcFirstLastPara="1" rIns="91425" wrap="square" tIns="45700">
            <a:normAutofit/>
          </a:bodyPr>
          <a:lstStyle>
            <a:lvl1pPr lvl="0" algn="r">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spcBef>
                <a:spcPts val="500"/>
              </a:spcBef>
              <a:spcAft>
                <a:spcPts val="0"/>
              </a:spcAft>
              <a:buSzPts val="1368"/>
              <a:buNone/>
              <a:defRPr/>
            </a:lvl2pPr>
            <a:lvl3pPr lvl="2" algn="ctr">
              <a:spcBef>
                <a:spcPts val="500"/>
              </a:spcBef>
              <a:spcAft>
                <a:spcPts val="0"/>
              </a:spcAft>
              <a:buSzPts val="1368"/>
              <a:buNone/>
              <a:defRPr/>
            </a:lvl3pPr>
            <a:lvl4pPr lvl="3" algn="ctr">
              <a:spcBef>
                <a:spcPts val="400"/>
              </a:spcBef>
              <a:spcAft>
                <a:spcPts val="0"/>
              </a:spcAft>
              <a:buSzPts val="1260"/>
              <a:buNone/>
              <a:defRPr/>
            </a:lvl4pPr>
            <a:lvl5pPr lvl="4" algn="ctr">
              <a:spcBef>
                <a:spcPts val="300"/>
              </a:spcBef>
              <a:spcAft>
                <a:spcPts val="0"/>
              </a:spcAft>
              <a:buSzPts val="1260"/>
              <a:buNone/>
              <a:defRPr/>
            </a:lvl5pPr>
            <a:lvl6pPr lvl="5" algn="ctr">
              <a:spcBef>
                <a:spcPts val="300"/>
              </a:spcBef>
              <a:spcAft>
                <a:spcPts val="0"/>
              </a:spcAft>
              <a:buSzPts val="1350"/>
              <a:buNone/>
              <a:defRPr/>
            </a:lvl6pPr>
            <a:lvl7pPr lvl="6" algn="ctr">
              <a:spcBef>
                <a:spcPts val="300"/>
              </a:spcBef>
              <a:spcAft>
                <a:spcPts val="0"/>
              </a:spcAft>
              <a:buSzPts val="1350"/>
              <a:buNone/>
              <a:defRPr/>
            </a:lvl7pPr>
            <a:lvl8pPr lvl="7" algn="ctr">
              <a:spcBef>
                <a:spcPts val="300"/>
              </a:spcBef>
              <a:spcAft>
                <a:spcPts val="0"/>
              </a:spcAft>
              <a:buSzPts val="1350"/>
              <a:buNone/>
              <a:defRPr/>
            </a:lvl8pPr>
            <a:lvl9pPr lvl="8" algn="ctr">
              <a:spcBef>
                <a:spcPts val="300"/>
              </a:spcBef>
              <a:spcAft>
                <a:spcPts val="0"/>
              </a:spcAft>
              <a:buSzPts val="1350"/>
              <a:buNone/>
              <a:defRPr/>
            </a:lvl9pPr>
          </a:lstStyle>
          <a:p/>
        </p:txBody>
      </p:sp>
      <p:sp>
        <p:nvSpPr>
          <p:cNvPr id="21" name="Google Shape;21;p21"/>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1"/>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1"/>
          <p:cNvSpPr txBox="1"/>
          <p:nvPr>
            <p:ph idx="12" type="sldNum"/>
          </p:nvPr>
        </p:nvSpPr>
        <p:spPr>
          <a:xfrm>
            <a:off x="1216152" y="6355080"/>
            <a:ext cx="1219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24" name="Google Shape;24;p21"/>
          <p:cNvSpPr/>
          <p:nvPr/>
        </p:nvSpPr>
        <p:spPr>
          <a:xfrm>
            <a:off x="904875" y="3648075"/>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5" name="Google Shape;25;p21"/>
          <p:cNvSpPr/>
          <p:nvPr/>
        </p:nvSpPr>
        <p:spPr>
          <a:xfrm>
            <a:off x="914400" y="5048250"/>
            <a:ext cx="7315200" cy="685800"/>
          </a:xfrm>
          <a:prstGeom prst="rect">
            <a:avLst/>
          </a:prstGeom>
          <a:no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6" name="Google Shape;26;p21"/>
          <p:cNvSpPr/>
          <p:nvPr/>
        </p:nvSpPr>
        <p:spPr>
          <a:xfrm>
            <a:off x="904875" y="3648075"/>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7" name="Google Shape;27;p21"/>
          <p:cNvSpPr/>
          <p:nvPr/>
        </p:nvSpPr>
        <p:spPr>
          <a:xfrm>
            <a:off x="914400" y="5048250"/>
            <a:ext cx="228600" cy="685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2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2"/>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2"/>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33" name="Google Shape;33;p2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23"/>
          <p:cNvSpPr txBox="1"/>
          <p:nvPr>
            <p:ph type="title"/>
          </p:nvPr>
        </p:nvSpPr>
        <p:spPr>
          <a:xfrm>
            <a:off x="1219200" y="2971800"/>
            <a:ext cx="6858000" cy="1066800"/>
          </a:xfrm>
          <a:prstGeom prst="rect">
            <a:avLst/>
          </a:prstGeom>
          <a:noFill/>
          <a:ln>
            <a:noFill/>
          </a:ln>
        </p:spPr>
        <p:txBody>
          <a:bodyPr anchorCtr="0" anchor="t" bIns="45700" lIns="91425" spcFirstLastPara="1" rIns="91425" wrap="square" tIns="45700">
            <a:normAutofit/>
          </a:bodyPr>
          <a:lstStyle>
            <a:lvl1pPr lvl="0" algn="r">
              <a:spcBef>
                <a:spcPts val="0"/>
              </a:spcBef>
              <a:spcAft>
                <a:spcPts val="0"/>
              </a:spcAft>
              <a:buClr>
                <a:schemeClr val="dk2"/>
              </a:buClr>
              <a:buSzPts val="3200"/>
              <a:buFont typeface="Bookman Old Style"/>
              <a:buNone/>
              <a:defRPr b="0" sz="3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3"/>
          <p:cNvSpPr txBox="1"/>
          <p:nvPr>
            <p:ph idx="1" type="body"/>
          </p:nvPr>
        </p:nvSpPr>
        <p:spPr>
          <a:xfrm>
            <a:off x="1295400" y="4267200"/>
            <a:ext cx="6781800" cy="1143000"/>
          </a:xfrm>
          <a:prstGeom prst="rect">
            <a:avLst/>
          </a:prstGeom>
          <a:noFill/>
          <a:ln>
            <a:noFill/>
          </a:ln>
        </p:spPr>
        <p:txBody>
          <a:bodyPr anchorCtr="0" anchor="t" bIns="45700" lIns="91425" spcFirstLastPara="1" rIns="91425" wrap="square" tIns="45700">
            <a:normAutofit/>
          </a:bodyPr>
          <a:lstStyle>
            <a:lvl1pPr indent="-228600" lvl="0" marL="457200" algn="r">
              <a:spcBef>
                <a:spcPts val="600"/>
              </a:spcBef>
              <a:spcAft>
                <a:spcPts val="0"/>
              </a:spcAft>
              <a:buSzPts val="1520"/>
              <a:buNone/>
              <a:defRPr sz="2000">
                <a:solidFill>
                  <a:srgbClr val="888888"/>
                </a:solidFill>
              </a:defRPr>
            </a:lvl1pPr>
            <a:lvl2pPr indent="-228600" lvl="1" marL="914400" algn="l">
              <a:spcBef>
                <a:spcPts val="500"/>
              </a:spcBef>
              <a:spcAft>
                <a:spcPts val="0"/>
              </a:spcAft>
              <a:buSzPts val="1368"/>
              <a:buNone/>
              <a:defRPr sz="1800">
                <a:solidFill>
                  <a:srgbClr val="888888"/>
                </a:solidFill>
              </a:defRPr>
            </a:lvl2pPr>
            <a:lvl3pPr indent="-228600" lvl="2" marL="1371600" algn="l">
              <a:spcBef>
                <a:spcPts val="500"/>
              </a:spcBef>
              <a:spcAft>
                <a:spcPts val="0"/>
              </a:spcAft>
              <a:buSzPts val="1216"/>
              <a:buNone/>
              <a:defRPr sz="1600">
                <a:solidFill>
                  <a:srgbClr val="888888"/>
                </a:solidFill>
              </a:defRPr>
            </a:lvl3pPr>
            <a:lvl4pPr indent="-228600" lvl="3" marL="1828800" algn="l">
              <a:spcBef>
                <a:spcPts val="400"/>
              </a:spcBef>
              <a:spcAft>
                <a:spcPts val="0"/>
              </a:spcAft>
              <a:buSzPts val="980"/>
              <a:buNone/>
              <a:defRPr sz="1400">
                <a:solidFill>
                  <a:srgbClr val="888888"/>
                </a:solidFill>
              </a:defRPr>
            </a:lvl4pPr>
            <a:lvl5pPr indent="-228600" lvl="4" marL="2286000" algn="l">
              <a:spcBef>
                <a:spcPts val="300"/>
              </a:spcBef>
              <a:spcAft>
                <a:spcPts val="0"/>
              </a:spcAft>
              <a:buSzPts val="980"/>
              <a:buNone/>
              <a:defRPr sz="1400">
                <a:solidFill>
                  <a:srgbClr val="888888"/>
                </a:solidFill>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37" name="Google Shape;37;p23"/>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3"/>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3"/>
          <p:cNvSpPr txBox="1"/>
          <p:nvPr>
            <p:ph idx="12" type="sldNum"/>
          </p:nvPr>
        </p:nvSpPr>
        <p:spPr>
          <a:xfrm>
            <a:off x="1069848" y="6355080"/>
            <a:ext cx="1520952"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40" name="Google Shape;40;p23"/>
          <p:cNvSpPr/>
          <p:nvPr/>
        </p:nvSpPr>
        <p:spPr>
          <a:xfrm>
            <a:off x="914400" y="2819400"/>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1" name="Google Shape;41;p23"/>
          <p:cNvSpPr/>
          <p:nvPr/>
        </p:nvSpPr>
        <p:spPr>
          <a:xfrm>
            <a:off x="914400" y="2819400"/>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24"/>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24"/>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4"/>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47" name="Google Shape;47;p24"/>
          <p:cNvSpPr txBox="1"/>
          <p:nvPr>
            <p:ph idx="1" type="body"/>
          </p:nvPr>
        </p:nvSpPr>
        <p:spPr>
          <a:xfrm>
            <a:off x="457200" y="1219200"/>
            <a:ext cx="4041648"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48" name="Google Shape;48;p24"/>
          <p:cNvSpPr txBox="1"/>
          <p:nvPr>
            <p:ph idx="2" type="body"/>
          </p:nvPr>
        </p:nvSpPr>
        <p:spPr>
          <a:xfrm>
            <a:off x="4632198" y="1216152"/>
            <a:ext cx="4041648"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25"/>
          <p:cNvSpPr txBox="1"/>
          <p:nvPr>
            <p:ph type="title"/>
          </p:nvPr>
        </p:nvSpPr>
        <p:spPr>
          <a:xfrm>
            <a:off x="457200" y="228600"/>
            <a:ext cx="8229600" cy="914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3200"/>
              <a:buFont typeface="Bookman Old Styl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5"/>
          <p:cNvSpPr txBox="1"/>
          <p:nvPr>
            <p:ph idx="1" type="body"/>
          </p:nvPr>
        </p:nvSpPr>
        <p:spPr>
          <a:xfrm>
            <a:off x="457200" y="1285875"/>
            <a:ext cx="4040188" cy="685800"/>
          </a:xfrm>
          <a:prstGeom prst="rect">
            <a:avLst/>
          </a:prstGeom>
          <a:noFill/>
          <a:ln>
            <a:noFill/>
          </a:ln>
        </p:spPr>
        <p:txBody>
          <a:bodyPr anchorCtr="0" anchor="b" bIns="45700" lIns="91425" spcFirstLastPara="1" rIns="91425" wrap="square" tIns="45700">
            <a:noAutofit/>
          </a:bodyPr>
          <a:lstStyle>
            <a:lvl1pPr indent="-228600" lvl="0" marL="457200" algn="l">
              <a:spcBef>
                <a:spcPts val="600"/>
              </a:spcBef>
              <a:spcAft>
                <a:spcPts val="0"/>
              </a:spcAft>
              <a:buSzPts val="1824"/>
              <a:buNone/>
              <a:defRPr b="1" sz="2400">
                <a:solidFill>
                  <a:schemeClr val="accent2"/>
                </a:solidFill>
              </a:defRPr>
            </a:lvl1pPr>
            <a:lvl2pPr indent="-228600" lvl="1" marL="914400" algn="l">
              <a:spcBef>
                <a:spcPts val="500"/>
              </a:spcBef>
              <a:spcAft>
                <a:spcPts val="0"/>
              </a:spcAft>
              <a:buSzPts val="1520"/>
              <a:buNone/>
              <a:defRPr b="1" sz="2000"/>
            </a:lvl2pPr>
            <a:lvl3pPr indent="-228600" lvl="2" marL="1371600" algn="l">
              <a:spcBef>
                <a:spcPts val="500"/>
              </a:spcBef>
              <a:spcAft>
                <a:spcPts val="0"/>
              </a:spcAft>
              <a:buSzPts val="1368"/>
              <a:buNone/>
              <a:defRPr b="1" sz="1800"/>
            </a:lvl3pPr>
            <a:lvl4pPr indent="-228600" lvl="3" marL="1828800" algn="l">
              <a:spcBef>
                <a:spcPts val="400"/>
              </a:spcBef>
              <a:spcAft>
                <a:spcPts val="0"/>
              </a:spcAft>
              <a:buSzPts val="1120"/>
              <a:buNone/>
              <a:defRPr b="1" sz="1600"/>
            </a:lvl4pPr>
            <a:lvl5pPr indent="-228600" lvl="4" marL="2286000" algn="l">
              <a:spcBef>
                <a:spcPts val="300"/>
              </a:spcBef>
              <a:spcAft>
                <a:spcPts val="0"/>
              </a:spcAft>
              <a:buSzPts val="1120"/>
              <a:buNone/>
              <a:defRPr b="1" sz="16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2" name="Google Shape;52;p25"/>
          <p:cNvSpPr txBox="1"/>
          <p:nvPr>
            <p:ph idx="2" type="body"/>
          </p:nvPr>
        </p:nvSpPr>
        <p:spPr>
          <a:xfrm>
            <a:off x="4648200" y="1295400"/>
            <a:ext cx="4041775" cy="685800"/>
          </a:xfrm>
          <a:prstGeom prst="rect">
            <a:avLst/>
          </a:prstGeom>
          <a:noFill/>
          <a:ln>
            <a:noFill/>
          </a:ln>
        </p:spPr>
        <p:txBody>
          <a:bodyPr anchorCtr="0" anchor="b" bIns="45700" lIns="91425" spcFirstLastPara="1" rIns="91425" wrap="square" tIns="45700">
            <a:normAutofit/>
          </a:bodyPr>
          <a:lstStyle>
            <a:lvl1pPr indent="-228600" lvl="0" marL="457200" algn="l">
              <a:spcBef>
                <a:spcPts val="600"/>
              </a:spcBef>
              <a:spcAft>
                <a:spcPts val="0"/>
              </a:spcAft>
              <a:buSzPts val="1824"/>
              <a:buNone/>
              <a:defRPr b="1" sz="2400">
                <a:solidFill>
                  <a:schemeClr val="accent2"/>
                </a:solidFill>
              </a:defRPr>
            </a:lvl1pPr>
            <a:lvl2pPr indent="-228600" lvl="1" marL="914400" algn="l">
              <a:spcBef>
                <a:spcPts val="500"/>
              </a:spcBef>
              <a:spcAft>
                <a:spcPts val="0"/>
              </a:spcAft>
              <a:buSzPts val="1520"/>
              <a:buNone/>
              <a:defRPr b="1" sz="2000"/>
            </a:lvl2pPr>
            <a:lvl3pPr indent="-228600" lvl="2" marL="1371600" algn="l">
              <a:spcBef>
                <a:spcPts val="500"/>
              </a:spcBef>
              <a:spcAft>
                <a:spcPts val="0"/>
              </a:spcAft>
              <a:buSzPts val="1368"/>
              <a:buNone/>
              <a:defRPr b="1" sz="1800"/>
            </a:lvl3pPr>
            <a:lvl4pPr indent="-228600" lvl="3" marL="1828800" algn="l">
              <a:spcBef>
                <a:spcPts val="400"/>
              </a:spcBef>
              <a:spcAft>
                <a:spcPts val="0"/>
              </a:spcAft>
              <a:buSzPts val="1120"/>
              <a:buNone/>
              <a:defRPr b="1" sz="1600"/>
            </a:lvl4pPr>
            <a:lvl5pPr indent="-228600" lvl="4" marL="2286000" algn="l">
              <a:spcBef>
                <a:spcPts val="300"/>
              </a:spcBef>
              <a:spcAft>
                <a:spcPts val="0"/>
              </a:spcAft>
              <a:buSzPts val="1120"/>
              <a:buNone/>
              <a:defRPr b="1" sz="16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3" name="Google Shape;53;p25"/>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5"/>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56" name="Google Shape;56;p25"/>
          <p:cNvSpPr txBox="1"/>
          <p:nvPr>
            <p:ph idx="3" type="body"/>
          </p:nvPr>
        </p:nvSpPr>
        <p:spPr>
          <a:xfrm>
            <a:off x="457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7" name="Google Shape;57;p25"/>
          <p:cNvSpPr txBox="1"/>
          <p:nvPr>
            <p:ph idx="4" type="body"/>
          </p:nvPr>
        </p:nvSpPr>
        <p:spPr>
          <a:xfrm>
            <a:off x="4648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26"/>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6"/>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6"/>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63" name="Google Shape;63;p26"/>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27"/>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7"/>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68" name="Google Shape;68;p27"/>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69" name="Google Shape;69;p27"/>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28"/>
          <p:cNvSpPr txBox="1"/>
          <p:nvPr>
            <p:ph type="title"/>
          </p:nvPr>
        </p:nvSpPr>
        <p:spPr>
          <a:xfrm>
            <a:off x="6324600" y="304800"/>
            <a:ext cx="2514600" cy="838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2000"/>
              <a:buFont typeface="Gill Sans"/>
              <a:buNone/>
              <a:defRPr b="1" sz="2000">
                <a:solidFill>
                  <a:schemeClr val="dk2"/>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28"/>
          <p:cNvSpPr txBox="1"/>
          <p:nvPr>
            <p:ph idx="1" type="body"/>
          </p:nvPr>
        </p:nvSpPr>
        <p:spPr>
          <a:xfrm>
            <a:off x="6324600" y="1219200"/>
            <a:ext cx="2514600" cy="4843463"/>
          </a:xfrm>
          <a:prstGeom prst="rect">
            <a:avLst/>
          </a:prstGeom>
          <a:noFill/>
          <a:ln>
            <a:noFill/>
          </a:ln>
        </p:spPr>
        <p:txBody>
          <a:bodyPr anchorCtr="0" anchor="t" bIns="45700" lIns="91425" spcFirstLastPara="1" rIns="91425" wrap="square" tIns="45700">
            <a:normAutofit/>
          </a:bodyPr>
          <a:lstStyle>
            <a:lvl1pPr indent="-228600" lvl="0" marL="457200" algn="l">
              <a:lnSpc>
                <a:spcPct val="137500"/>
              </a:lnSpc>
              <a:spcBef>
                <a:spcPts val="600"/>
              </a:spcBef>
              <a:spcAft>
                <a:spcPts val="0"/>
              </a:spcAft>
              <a:buSzPts val="1216"/>
              <a:buNone/>
              <a:defRPr sz="1600">
                <a:solidFill>
                  <a:schemeClr val="dk2"/>
                </a:solidFill>
              </a:defRPr>
            </a:lvl1pPr>
            <a:lvl2pPr indent="-228600" lvl="1" marL="914400" algn="l">
              <a:spcBef>
                <a:spcPts val="1000"/>
              </a:spcBef>
              <a:spcAft>
                <a:spcPts val="0"/>
              </a:spcAft>
              <a:buSzPts val="912"/>
              <a:buNone/>
              <a:defRPr sz="1200"/>
            </a:lvl2pPr>
            <a:lvl3pPr indent="-228600" lvl="2" marL="1371600" algn="l">
              <a:spcBef>
                <a:spcPts val="500"/>
              </a:spcBef>
              <a:spcAft>
                <a:spcPts val="0"/>
              </a:spcAft>
              <a:buSzPts val="760"/>
              <a:buNone/>
              <a:defRPr sz="1000"/>
            </a:lvl3pPr>
            <a:lvl4pPr indent="-228600" lvl="3" marL="1828800" algn="l">
              <a:spcBef>
                <a:spcPts val="400"/>
              </a:spcBef>
              <a:spcAft>
                <a:spcPts val="0"/>
              </a:spcAft>
              <a:buSzPts val="630"/>
              <a:buNone/>
              <a:defRPr sz="900"/>
            </a:lvl4pPr>
            <a:lvl5pPr indent="-228600" lvl="4" marL="2286000" algn="l">
              <a:spcBef>
                <a:spcPts val="300"/>
              </a:spcBef>
              <a:spcAft>
                <a:spcPts val="0"/>
              </a:spcAft>
              <a:buSzPts val="630"/>
              <a:buNone/>
              <a:defRPr sz="9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73" name="Google Shape;73;p28"/>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8"/>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76" name="Google Shape;76;p28"/>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77" name="Google Shape;77;p28"/>
          <p:cNvCxnSpPr/>
          <p:nvPr/>
        </p:nvCxnSpPr>
        <p:spPr>
          <a:xfrm rot="5400000">
            <a:off x="3160645" y="3324225"/>
            <a:ext cx="6035040" cy="0"/>
          </a:xfrm>
          <a:prstGeom prst="straightConnector1">
            <a:avLst/>
          </a:prstGeom>
          <a:noFill/>
          <a:ln cap="flat" cmpd="sng" w="9525">
            <a:solidFill>
              <a:schemeClr val="accent2"/>
            </a:solidFill>
            <a:prstDash val="dash"/>
            <a:round/>
            <a:headEnd len="sm" w="sm" type="none"/>
            <a:tailEnd len="sm" w="sm" type="none"/>
          </a:ln>
        </p:spPr>
      </p:cxnSp>
      <p:sp>
        <p:nvSpPr>
          <p:cNvPr id="78" name="Google Shape;78;p28"/>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79" name="Google Shape;79;p28"/>
          <p:cNvSpPr txBox="1"/>
          <p:nvPr>
            <p:ph idx="2" type="body"/>
          </p:nvPr>
        </p:nvSpPr>
        <p:spPr>
          <a:xfrm>
            <a:off x="304800" y="304800"/>
            <a:ext cx="5715000" cy="57150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0" name="Shape 80"/>
        <p:cNvGrpSpPr/>
        <p:nvPr/>
      </p:nvGrpSpPr>
      <p:grpSpPr>
        <a:xfrm>
          <a:off x="0" y="0"/>
          <a:ext cx="0" cy="0"/>
          <a:chOff x="0" y="0"/>
          <a:chExt cx="0" cy="0"/>
        </a:xfrm>
      </p:grpSpPr>
      <p:sp>
        <p:nvSpPr>
          <p:cNvPr id="81" name="Google Shape;81;p29"/>
          <p:cNvSpPr txBox="1"/>
          <p:nvPr>
            <p:ph type="title"/>
          </p:nvPr>
        </p:nvSpPr>
        <p:spPr>
          <a:xfrm>
            <a:off x="457200" y="500856"/>
            <a:ext cx="8229600" cy="674688"/>
          </a:xfrm>
          <a:prstGeom prst="rect">
            <a:avLst/>
          </a:prstGeom>
          <a:noFill/>
          <a:ln cap="flat" cmpd="sng" w="9525">
            <a:solidFill>
              <a:schemeClr val="accent1"/>
            </a:solidFill>
            <a:prstDash val="solid"/>
            <a:round/>
            <a:headEnd len="sm" w="sm" type="none"/>
            <a:tailEnd len="sm" w="sm" type="none"/>
          </a:ln>
        </p:spPr>
        <p:txBody>
          <a:bodyPr anchorCtr="0" anchor="ctr" bIns="45700" lIns="274300" spcFirstLastPara="1" rIns="91425" wrap="square" tIns="45700">
            <a:normAutofit/>
          </a:bodyPr>
          <a:lstStyle>
            <a:lvl1pPr lvl="0" algn="r">
              <a:spcBef>
                <a:spcPts val="0"/>
              </a:spcBef>
              <a:spcAft>
                <a:spcPts val="0"/>
              </a:spcAft>
              <a:buClr>
                <a:schemeClr val="dk1"/>
              </a:buClr>
              <a:buSzPts val="2000"/>
              <a:buFont typeface="Bookman Old Style"/>
              <a:buNone/>
              <a:defRPr b="0" sz="2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29"/>
          <p:cNvSpPr/>
          <p:nvPr>
            <p:ph idx="2" type="pic"/>
          </p:nvPr>
        </p:nvSpPr>
        <p:spPr>
          <a:xfrm>
            <a:off x="457200" y="1905000"/>
            <a:ext cx="8229600" cy="4270248"/>
          </a:xfrm>
          <a:prstGeom prst="rect">
            <a:avLst/>
          </a:prstGeom>
          <a:solidFill>
            <a:schemeClr val="dk1"/>
          </a:solidFill>
          <a:ln>
            <a:noFill/>
          </a:ln>
        </p:spPr>
      </p:sp>
      <p:sp>
        <p:nvSpPr>
          <p:cNvPr id="83" name="Google Shape;83;p29"/>
          <p:cNvSpPr txBox="1"/>
          <p:nvPr>
            <p:ph idx="1" type="body"/>
          </p:nvPr>
        </p:nvSpPr>
        <p:spPr>
          <a:xfrm>
            <a:off x="457200" y="1219200"/>
            <a:ext cx="8229600" cy="533400"/>
          </a:xfrm>
          <a:prstGeom prst="rect">
            <a:avLst/>
          </a:prstGeom>
          <a:no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064"/>
              <a:buFont typeface="Gill Sans"/>
              <a:buNone/>
              <a:defRPr sz="1400"/>
            </a:lvl1pPr>
            <a:lvl2pPr indent="-286512" lvl="1" marL="914400" algn="l">
              <a:spcBef>
                <a:spcPts val="500"/>
              </a:spcBef>
              <a:spcAft>
                <a:spcPts val="0"/>
              </a:spcAft>
              <a:buSzPts val="912"/>
              <a:buChar char="🞂"/>
              <a:defRPr sz="1200"/>
            </a:lvl2pPr>
            <a:lvl3pPr indent="-276860" lvl="2" marL="1371600" algn="l">
              <a:spcBef>
                <a:spcPts val="500"/>
              </a:spcBef>
              <a:spcAft>
                <a:spcPts val="0"/>
              </a:spcAft>
              <a:buSzPts val="760"/>
              <a:buChar char="🞂"/>
              <a:defRPr sz="1000"/>
            </a:lvl3pPr>
            <a:lvl4pPr indent="-268605" lvl="3" marL="1828800" algn="l">
              <a:spcBef>
                <a:spcPts val="400"/>
              </a:spcBef>
              <a:spcAft>
                <a:spcPts val="0"/>
              </a:spcAft>
              <a:buSzPts val="630"/>
              <a:buChar char="◻"/>
              <a:defRPr sz="900"/>
            </a:lvl4pPr>
            <a:lvl5pPr indent="-268604" lvl="4" marL="2286000" algn="l">
              <a:spcBef>
                <a:spcPts val="300"/>
              </a:spcBef>
              <a:spcAft>
                <a:spcPts val="0"/>
              </a:spcAft>
              <a:buSzPts val="630"/>
              <a:buChar char="◻"/>
              <a:defRPr sz="9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84" name="Google Shape;84;p29"/>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9"/>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87" name="Google Shape;87;p29"/>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88" name="Google Shape;88;p29"/>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9" name="Google Shape;89;p29"/>
          <p:cNvSpPr/>
          <p:nvPr/>
        </p:nvSpPr>
        <p:spPr>
          <a:xfrm>
            <a:off x="457200" y="500856"/>
            <a:ext cx="18288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0" name="Shape 90"/>
        <p:cNvGrpSpPr/>
        <p:nvPr/>
      </p:nvGrpSpPr>
      <p:grpSpPr>
        <a:xfrm>
          <a:off x="0" y="0"/>
          <a:ext cx="0" cy="0"/>
          <a:chOff x="0" y="0"/>
          <a:chExt cx="0" cy="0"/>
        </a:xfrm>
      </p:grpSpPr>
      <p:sp>
        <p:nvSpPr>
          <p:cNvPr id="91" name="Google Shape;91;p3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30"/>
          <p:cNvSpPr txBox="1"/>
          <p:nvPr>
            <p:ph idx="1" type="body"/>
          </p:nvPr>
        </p:nvSpPr>
        <p:spPr>
          <a:xfrm rot="5400000">
            <a:off x="2116836" y="-440436"/>
            <a:ext cx="4910328" cy="8229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93" name="Google Shape;93;p3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6" name="Shape 96"/>
        <p:cNvGrpSpPr/>
        <p:nvPr/>
      </p:nvGrpSpPr>
      <p:grpSpPr>
        <a:xfrm>
          <a:off x="0" y="0"/>
          <a:ext cx="0" cy="0"/>
          <a:chOff x="0" y="0"/>
          <a:chExt cx="0" cy="0"/>
        </a:xfrm>
      </p:grpSpPr>
      <p:sp>
        <p:nvSpPr>
          <p:cNvPr id="97" name="Google Shape;97;p31"/>
          <p:cNvSpPr txBox="1"/>
          <p:nvPr>
            <p:ph type="title"/>
          </p:nvPr>
        </p:nvSpPr>
        <p:spPr>
          <a:xfrm rot="5400000">
            <a:off x="4732338" y="2171701"/>
            <a:ext cx="5851525" cy="2057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3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99" name="Google Shape;99;p31"/>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31"/>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3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102" name="Google Shape;102;p31"/>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103" name="Google Shape;103;p31"/>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cxnSp>
        <p:nvCxnSpPr>
          <p:cNvPr id="104" name="Google Shape;104;p31"/>
          <p:cNvCxnSpPr/>
          <p:nvPr/>
        </p:nvCxnSpPr>
        <p:spPr>
          <a:xfrm rot="5400000">
            <a:off x="3629607" y="3201952"/>
            <a:ext cx="5852160" cy="0"/>
          </a:xfrm>
          <a:prstGeom prst="straightConnector1">
            <a:avLst/>
          </a:prstGeom>
          <a:noFill/>
          <a:ln cap="flat" cmpd="sng" w="9525">
            <a:solidFill>
              <a:schemeClr val="accent2"/>
            </a:solidFill>
            <a:prstDash val="dash"/>
            <a:round/>
            <a:headEnd len="sm" w="sm" type="none"/>
            <a:tailEnd len="sm" w="sm" type="none"/>
          </a:ln>
        </p:spPr>
      </p:cxn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dk2"/>
              </a:buClr>
              <a:buSzPts val="3200"/>
              <a:buFont typeface="Bookman Old Style"/>
              <a:buNone/>
              <a:defRPr b="0" i="0" sz="3200" u="none" cap="none" strike="noStrike">
                <a:solidFill>
                  <a:schemeClr val="dk2"/>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0"/>
          <p:cNvSpPr txBox="1"/>
          <p:nvPr>
            <p:ph idx="1" type="body"/>
          </p:nvPr>
        </p:nvSpPr>
        <p:spPr>
          <a:xfrm>
            <a:off x="457200" y="1219200"/>
            <a:ext cx="8229600" cy="4910328"/>
          </a:xfrm>
          <a:prstGeom prst="rect">
            <a:avLst/>
          </a:prstGeom>
          <a:noFill/>
          <a:ln>
            <a:noFill/>
          </a:ln>
        </p:spPr>
        <p:txBody>
          <a:bodyPr anchorCtr="0" anchor="t" bIns="45700" lIns="91425" spcFirstLastPara="1" rIns="91425" wrap="square" tIns="45700">
            <a:normAutofit/>
          </a:bodyPr>
          <a:lstStyle>
            <a:lvl1pPr indent="-354076" lvl="0" marL="457200" marR="0" rtl="0" algn="l">
              <a:spcBef>
                <a:spcPts val="600"/>
              </a:spcBef>
              <a:spcAft>
                <a:spcPts val="0"/>
              </a:spcAft>
              <a:buClr>
                <a:schemeClr val="accent1"/>
              </a:buClr>
              <a:buSzPts val="1976"/>
              <a:buFont typeface="Noto Sans Symbols"/>
              <a:buChar char="🞂"/>
              <a:defRPr b="0" i="0" sz="2600" u="none" cap="none" strike="noStrike">
                <a:solidFill>
                  <a:schemeClr val="dk1"/>
                </a:solidFill>
                <a:latin typeface="Gill Sans"/>
                <a:ea typeface="Gill Sans"/>
                <a:cs typeface="Gill Sans"/>
                <a:sym typeface="Gill Sans"/>
              </a:defRPr>
            </a:lvl1pPr>
            <a:lvl2pPr indent="-339597" lvl="1" marL="914400" marR="0" rtl="0" algn="l">
              <a:spcBef>
                <a:spcPts val="500"/>
              </a:spcBef>
              <a:spcAft>
                <a:spcPts val="0"/>
              </a:spcAft>
              <a:buClr>
                <a:schemeClr val="accent2"/>
              </a:buClr>
              <a:buSzPts val="1748"/>
              <a:buFont typeface="Noto Sans Symbols"/>
              <a:buChar char="🞂"/>
              <a:defRPr b="0" i="0" sz="2300" u="none" cap="none" strike="noStrike">
                <a:solidFill>
                  <a:schemeClr val="dk2"/>
                </a:solidFill>
                <a:latin typeface="Gill Sans"/>
                <a:ea typeface="Gill Sans"/>
                <a:cs typeface="Gill Sans"/>
                <a:sym typeface="Gill Sans"/>
              </a:defRPr>
            </a:lvl2pPr>
            <a:lvl3pPr indent="-325119" lvl="2" marL="1371600" marR="0" rtl="0" algn="l">
              <a:spcBef>
                <a:spcPts val="500"/>
              </a:spcBef>
              <a:spcAft>
                <a:spcPts val="0"/>
              </a:spcAft>
              <a:buClr>
                <a:srgbClr val="BABABA"/>
              </a:buClr>
              <a:buSzPts val="1520"/>
              <a:buFont typeface="Noto Sans Symbols"/>
              <a:buChar char="🞂"/>
              <a:defRPr b="0" i="0" sz="2000" u="none" cap="none" strike="noStrike">
                <a:solidFill>
                  <a:schemeClr val="dk1"/>
                </a:solidFill>
                <a:latin typeface="Gill Sans"/>
                <a:ea typeface="Gill Sans"/>
                <a:cs typeface="Gill Sans"/>
                <a:sym typeface="Gill Sans"/>
              </a:defRPr>
            </a:lvl3pPr>
            <a:lvl4pPr indent="-308610" lvl="3" marL="1828800" marR="0" rtl="0" algn="l">
              <a:spcBef>
                <a:spcPts val="400"/>
              </a:spcBef>
              <a:spcAft>
                <a:spcPts val="0"/>
              </a:spcAft>
              <a:buClr>
                <a:srgbClr val="D58F3E"/>
              </a:buClr>
              <a:buSzPts val="1260"/>
              <a:buFont typeface="Noto Sans Symbols"/>
              <a:buChar char="◻"/>
              <a:defRPr b="0" i="0" sz="1800" u="none" cap="none" strike="noStrike">
                <a:solidFill>
                  <a:schemeClr val="dk1"/>
                </a:solidFill>
                <a:latin typeface="Gill Sans"/>
                <a:ea typeface="Gill Sans"/>
                <a:cs typeface="Gill Sans"/>
                <a:sym typeface="Gill Sans"/>
              </a:defRPr>
            </a:lvl4pPr>
            <a:lvl5pPr indent="-299720" lvl="4" marL="2286000" marR="0" rtl="0" algn="l">
              <a:spcBef>
                <a:spcPts val="300"/>
              </a:spcBef>
              <a:spcAft>
                <a:spcPts val="0"/>
              </a:spcAft>
              <a:buClr>
                <a:schemeClr val="accent2"/>
              </a:buClr>
              <a:buSzPts val="1120"/>
              <a:buFont typeface="Noto Sans Symbols"/>
              <a:buChar char="◻"/>
              <a:defRPr b="0" i="0" sz="1600" u="none" cap="none" strike="noStrike">
                <a:solidFill>
                  <a:schemeClr val="dk1"/>
                </a:solidFill>
                <a:latin typeface="Gill Sans"/>
                <a:ea typeface="Gill Sans"/>
                <a:cs typeface="Gill Sans"/>
                <a:sym typeface="Gill Sans"/>
              </a:defRPr>
            </a:lvl5pPr>
            <a:lvl6pPr indent="-304800" lvl="5" marL="2743200" marR="0" rtl="0" algn="l">
              <a:spcBef>
                <a:spcPts val="300"/>
              </a:spcBef>
              <a:spcAft>
                <a:spcPts val="0"/>
              </a:spcAft>
              <a:buClr>
                <a:srgbClr val="8BA1B3"/>
              </a:buClr>
              <a:buSzPts val="1200"/>
              <a:buFont typeface="Noto Sans Symbols"/>
              <a:buChar char="🞂"/>
              <a:defRPr b="0" i="0" sz="1600" u="none" cap="none" strike="noStrike">
                <a:solidFill>
                  <a:schemeClr val="dk1"/>
                </a:solidFill>
                <a:latin typeface="Gill Sans"/>
                <a:ea typeface="Gill Sans"/>
                <a:cs typeface="Gill Sans"/>
                <a:sym typeface="Gill Sans"/>
              </a:defRPr>
            </a:lvl6pPr>
            <a:lvl7pPr indent="-295275" lvl="6" marL="3200400" marR="0" rtl="0" algn="l">
              <a:spcBef>
                <a:spcPts val="300"/>
              </a:spcBef>
              <a:spcAft>
                <a:spcPts val="0"/>
              </a:spcAft>
              <a:buClr>
                <a:srgbClr val="646C8F"/>
              </a:buClr>
              <a:buSzPts val="1050"/>
              <a:buFont typeface="Noto Sans Symbols"/>
              <a:buChar char="🞂"/>
              <a:defRPr b="0" i="0" sz="1400" u="none" cap="none" strike="noStrike">
                <a:solidFill>
                  <a:schemeClr val="dk1"/>
                </a:solidFill>
                <a:latin typeface="Gill Sans"/>
                <a:ea typeface="Gill Sans"/>
                <a:cs typeface="Gill Sans"/>
                <a:sym typeface="Gill Sans"/>
              </a:defRPr>
            </a:lvl7pPr>
            <a:lvl8pPr indent="-295275" lvl="7" marL="3657600" marR="0" rtl="0" algn="l">
              <a:spcBef>
                <a:spcPts val="300"/>
              </a:spcBef>
              <a:spcAft>
                <a:spcPts val="0"/>
              </a:spcAft>
              <a:buClr>
                <a:srgbClr val="BABABA"/>
              </a:buClr>
              <a:buSzPts val="1050"/>
              <a:buFont typeface="Noto Sans Symbols"/>
              <a:buChar char="🞂"/>
              <a:defRPr b="0" i="0" sz="1400" u="none" cap="none" strike="noStrike">
                <a:solidFill>
                  <a:schemeClr val="dk1"/>
                </a:solidFill>
                <a:latin typeface="Gill Sans"/>
                <a:ea typeface="Gill Sans"/>
                <a:cs typeface="Gill Sans"/>
                <a:sym typeface="Gill Sans"/>
              </a:defRPr>
            </a:lvl8pPr>
            <a:lvl9pPr indent="-285750" lvl="8" marL="4114800" marR="0" rtl="0" algn="l">
              <a:spcBef>
                <a:spcPts val="300"/>
              </a:spcBef>
              <a:spcAft>
                <a:spcPts val="0"/>
              </a:spcAft>
              <a:buClr>
                <a:srgbClr val="9FB8CD"/>
              </a:buClr>
              <a:buSzPts val="900"/>
              <a:buFont typeface="Noto Sans Symbols"/>
              <a:buChar char="🞂"/>
              <a:defRPr b="0" i="0" sz="1200" u="none" cap="none" strike="noStrike">
                <a:solidFill>
                  <a:schemeClr val="dk1"/>
                </a:solidFill>
                <a:latin typeface="Gill Sans"/>
                <a:ea typeface="Gill Sans"/>
                <a:cs typeface="Gill Sans"/>
                <a:sym typeface="Gill Sans"/>
              </a:defRPr>
            </a:lvl9pPr>
          </a:lstStyle>
          <a:p/>
        </p:txBody>
      </p:sp>
      <p:sp>
        <p:nvSpPr>
          <p:cNvPr id="12" name="Google Shape;12;p2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3" name="Google Shape;13;p2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400" u="none" cap="none" strike="noStrike">
                <a:solidFill>
                  <a:schemeClr val="dk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4" name="Google Shape;14;p2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400" u="none" cap="none" strike="noStrike">
                <a:solidFill>
                  <a:schemeClr val="dk2"/>
                </a:solidFill>
                <a:latin typeface="Gill Sans"/>
                <a:ea typeface="Gill Sans"/>
                <a:cs typeface="Gill Sans"/>
                <a:sym typeface="Gill Sans"/>
              </a:defRPr>
            </a:lvl1pPr>
            <a:lvl2pPr indent="0" lvl="1" marL="0" marR="0" rtl="0" algn="l">
              <a:spcBef>
                <a:spcPts val="0"/>
              </a:spcBef>
              <a:buNone/>
              <a:defRPr b="0" i="0" sz="1400" u="none" cap="none" strike="noStrike">
                <a:solidFill>
                  <a:schemeClr val="dk2"/>
                </a:solidFill>
                <a:latin typeface="Gill Sans"/>
                <a:ea typeface="Gill Sans"/>
                <a:cs typeface="Gill Sans"/>
                <a:sym typeface="Gill Sans"/>
              </a:defRPr>
            </a:lvl2pPr>
            <a:lvl3pPr indent="0" lvl="2" marL="0" marR="0" rtl="0" algn="l">
              <a:spcBef>
                <a:spcPts val="0"/>
              </a:spcBef>
              <a:buNone/>
              <a:defRPr b="0" i="0" sz="1400" u="none" cap="none" strike="noStrike">
                <a:solidFill>
                  <a:schemeClr val="dk2"/>
                </a:solidFill>
                <a:latin typeface="Gill Sans"/>
                <a:ea typeface="Gill Sans"/>
                <a:cs typeface="Gill Sans"/>
                <a:sym typeface="Gill Sans"/>
              </a:defRPr>
            </a:lvl3pPr>
            <a:lvl4pPr indent="0" lvl="3" marL="0" marR="0" rtl="0" algn="l">
              <a:spcBef>
                <a:spcPts val="0"/>
              </a:spcBef>
              <a:buNone/>
              <a:defRPr b="0" i="0" sz="1400" u="none" cap="none" strike="noStrike">
                <a:solidFill>
                  <a:schemeClr val="dk2"/>
                </a:solidFill>
                <a:latin typeface="Gill Sans"/>
                <a:ea typeface="Gill Sans"/>
                <a:cs typeface="Gill Sans"/>
                <a:sym typeface="Gill Sans"/>
              </a:defRPr>
            </a:lvl4pPr>
            <a:lvl5pPr indent="0" lvl="4" marL="0" marR="0" rtl="0" algn="l">
              <a:spcBef>
                <a:spcPts val="0"/>
              </a:spcBef>
              <a:buNone/>
              <a:defRPr b="0" i="0" sz="1400" u="none" cap="none" strike="noStrike">
                <a:solidFill>
                  <a:schemeClr val="dk2"/>
                </a:solidFill>
                <a:latin typeface="Gill Sans"/>
                <a:ea typeface="Gill Sans"/>
                <a:cs typeface="Gill Sans"/>
                <a:sym typeface="Gill Sans"/>
              </a:defRPr>
            </a:lvl5pPr>
            <a:lvl6pPr indent="0" lvl="5" marL="0" marR="0" rtl="0" algn="l">
              <a:spcBef>
                <a:spcPts val="0"/>
              </a:spcBef>
              <a:buNone/>
              <a:defRPr b="0" i="0" sz="1400" u="none" cap="none" strike="noStrike">
                <a:solidFill>
                  <a:schemeClr val="dk2"/>
                </a:solidFill>
                <a:latin typeface="Gill Sans"/>
                <a:ea typeface="Gill Sans"/>
                <a:cs typeface="Gill Sans"/>
                <a:sym typeface="Gill Sans"/>
              </a:defRPr>
            </a:lvl6pPr>
            <a:lvl7pPr indent="0" lvl="6" marL="0" marR="0" rtl="0" algn="l">
              <a:spcBef>
                <a:spcPts val="0"/>
              </a:spcBef>
              <a:buNone/>
              <a:defRPr b="0" i="0" sz="1400" u="none" cap="none" strike="noStrike">
                <a:solidFill>
                  <a:schemeClr val="dk2"/>
                </a:solidFill>
                <a:latin typeface="Gill Sans"/>
                <a:ea typeface="Gill Sans"/>
                <a:cs typeface="Gill Sans"/>
                <a:sym typeface="Gill Sans"/>
              </a:defRPr>
            </a:lvl7pPr>
            <a:lvl8pPr indent="0" lvl="7" marL="0" marR="0" rtl="0" algn="l">
              <a:spcBef>
                <a:spcPts val="0"/>
              </a:spcBef>
              <a:buNone/>
              <a:defRPr b="0" i="0" sz="1400" u="none" cap="none" strike="noStrike">
                <a:solidFill>
                  <a:schemeClr val="dk2"/>
                </a:solidFill>
                <a:latin typeface="Gill Sans"/>
                <a:ea typeface="Gill Sans"/>
                <a:cs typeface="Gill Sans"/>
                <a:sym typeface="Gill Sans"/>
              </a:defRPr>
            </a:lvl8pPr>
            <a:lvl9pPr indent="0" lvl="8" marL="0" marR="0" rtl="0" algn="l">
              <a:spcBef>
                <a:spcPts val="0"/>
              </a:spcBef>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cxnSp>
        <p:nvCxnSpPr>
          <p:cNvPr id="15" name="Google Shape;15;p20"/>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16" name="Google Shape;16;p20"/>
          <p:cNvCxnSpPr/>
          <p:nvPr/>
        </p:nvCxnSpPr>
        <p:spPr>
          <a:xfrm>
            <a:off x="457200" y="1143000"/>
            <a:ext cx="8229600" cy="0"/>
          </a:xfrm>
          <a:prstGeom prst="straightConnector1">
            <a:avLst/>
          </a:prstGeom>
          <a:noFill/>
          <a:ln cap="flat" cmpd="sng" w="9525">
            <a:solidFill>
              <a:schemeClr val="accent2"/>
            </a:solidFill>
            <a:prstDash val="dash"/>
            <a:round/>
            <a:headEnd len="sm" w="sm" type="none"/>
            <a:tailEnd len="sm" w="sm" type="none"/>
          </a:ln>
        </p:spPr>
      </p:cxnSp>
      <p:sp>
        <p:nvSpPr>
          <p:cNvPr id="17" name="Google Shape;17;p20"/>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jpg"/><Relationship Id="rId4" Type="http://schemas.openxmlformats.org/officeDocument/2006/relationships/image" Target="../media/image9.png"/><Relationship Id="rId5" Type="http://schemas.openxmlformats.org/officeDocument/2006/relationships/image" Target="../media/image14.jpg"/><Relationship Id="rId6" Type="http://schemas.openxmlformats.org/officeDocument/2006/relationships/image" Target="../media/image13.jpg"/><Relationship Id="rId7"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jpg"/><Relationship Id="rId4" Type="http://schemas.openxmlformats.org/officeDocument/2006/relationships/image" Target="../media/image12.jp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jp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8.gif"/><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
          <p:cNvSpPr txBox="1"/>
          <p:nvPr>
            <p:ph type="ctrTitle"/>
          </p:nvPr>
        </p:nvSpPr>
        <p:spPr>
          <a:xfrm>
            <a:off x="1143000" y="3810000"/>
            <a:ext cx="6858000" cy="9906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Clr>
                <a:schemeClr val="dk1"/>
              </a:buClr>
              <a:buSzPts val="3200"/>
              <a:buFont typeface="Bookman Old Style"/>
              <a:buNone/>
            </a:pPr>
            <a:r>
              <a:rPr lang="en-GB"/>
              <a:t>CSE 470 - Software Architecture</a:t>
            </a:r>
            <a:endParaRPr/>
          </a:p>
        </p:txBody>
      </p:sp>
      <p:sp>
        <p:nvSpPr>
          <p:cNvPr id="110" name="Google Shape;110;p1"/>
          <p:cNvSpPr txBox="1"/>
          <p:nvPr>
            <p:ph idx="1" type="subTitle"/>
          </p:nvPr>
        </p:nvSpPr>
        <p:spPr>
          <a:xfrm>
            <a:off x="1219200" y="5410200"/>
            <a:ext cx="6858000" cy="5334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SzPts val="1520"/>
              <a:buNone/>
            </a:pPr>
            <a:r>
              <a:rPr lang="en-GB"/>
              <a:t>BRAC University</a:t>
            </a:r>
            <a:endParaRPr/>
          </a:p>
        </p:txBody>
      </p:sp>
      <p:pic>
        <p:nvPicPr>
          <p:cNvPr descr="software-engineering-5b4daa8bab12ae7f4848c482.jpg" id="111" name="Google Shape;111;p1"/>
          <p:cNvPicPr preferRelativeResize="0"/>
          <p:nvPr/>
        </p:nvPicPr>
        <p:blipFill rotWithShape="1">
          <a:blip r:embed="rId3">
            <a:alphaModFix/>
          </a:blip>
          <a:srcRect b="0" l="0" r="0" t="0"/>
          <a:stretch/>
        </p:blipFill>
        <p:spPr>
          <a:xfrm>
            <a:off x="0" y="0"/>
            <a:ext cx="9144000" cy="3581400"/>
          </a:xfrm>
          <a:prstGeom prst="rect">
            <a:avLst/>
          </a:prstGeom>
          <a:noFill/>
          <a:ln>
            <a:noFill/>
          </a:ln>
        </p:spPr>
      </p:pic>
      <p:pic>
        <p:nvPicPr>
          <p:cNvPr descr="brac.png" id="112" name="Google Shape;112;p1"/>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brac.png" id="117" name="Google Shape;117;p2"/>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118" name="Google Shape;118;p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Software Architecture</a:t>
            </a:r>
            <a:endParaRPr/>
          </a:p>
        </p:txBody>
      </p:sp>
      <p:sp>
        <p:nvSpPr>
          <p:cNvPr id="119" name="Google Shape;119;p2"/>
          <p:cNvSpPr txBox="1"/>
          <p:nvPr>
            <p:ph idx="1" type="body"/>
          </p:nvPr>
        </p:nvSpPr>
        <p:spPr>
          <a:xfrm>
            <a:off x="457200" y="1219200"/>
            <a:ext cx="8229600" cy="4953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128"/>
              <a:buChar char="🞂"/>
            </a:pPr>
            <a:r>
              <a:rPr lang="en-GB" sz="2800"/>
              <a:t>Architectural design is concerned with understanding how a software system should be organized and designing the overall structure of that system.</a:t>
            </a:r>
            <a:endParaRPr/>
          </a:p>
          <a:p>
            <a:pPr indent="-274320" lvl="0" marL="274320" rtl="0" algn="l">
              <a:spcBef>
                <a:spcPts val="600"/>
              </a:spcBef>
              <a:spcAft>
                <a:spcPts val="0"/>
              </a:spcAft>
              <a:buSzPts val="2128"/>
              <a:buChar char="🞂"/>
            </a:pPr>
            <a:r>
              <a:rPr lang="en-GB" sz="2800"/>
              <a:t>Software Architecture is how the defining components of a software system are </a:t>
            </a:r>
            <a:r>
              <a:rPr b="1" lang="en-GB" sz="2800"/>
              <a:t>organized and assembled.</a:t>
            </a:r>
            <a:r>
              <a:rPr lang="en-GB" sz="2800"/>
              <a:t> How they </a:t>
            </a:r>
            <a:r>
              <a:rPr b="1" lang="en-GB" sz="2800"/>
              <a:t>communicate</a:t>
            </a:r>
            <a:r>
              <a:rPr lang="en-GB" sz="2800"/>
              <a:t> each other. And how </a:t>
            </a:r>
            <a:r>
              <a:rPr b="1" lang="en-GB" sz="2800"/>
              <a:t>the constraints of the whole system is ruled</a:t>
            </a:r>
            <a:r>
              <a:rPr lang="en-GB" sz="2800"/>
              <a:t> by.</a:t>
            </a:r>
            <a:endParaRPr sz="2800"/>
          </a:p>
          <a:p>
            <a:pPr indent="-274320" lvl="0" marL="274320" rtl="0" algn="l">
              <a:spcBef>
                <a:spcPts val="600"/>
              </a:spcBef>
              <a:spcAft>
                <a:spcPts val="0"/>
              </a:spcAft>
              <a:buSzPts val="2128"/>
              <a:buChar char="🞂"/>
            </a:pPr>
            <a:r>
              <a:rPr b="1" lang="en-GB" sz="2800"/>
              <a:t>The architectural model serves as a input to the development phase.</a:t>
            </a:r>
            <a:endParaRPr b="1" sz="2800"/>
          </a:p>
          <a:p>
            <a:pPr indent="-148844" lvl="0" marL="274320" rtl="0" algn="l">
              <a:spcBef>
                <a:spcPts val="600"/>
              </a:spcBef>
              <a:spcAft>
                <a:spcPts val="0"/>
              </a:spcAft>
              <a:buSzPts val="1976"/>
              <a:buNone/>
            </a:pPr>
            <a:r>
              <a:t/>
            </a:r>
            <a:endParaRPr/>
          </a:p>
        </p:txBody>
      </p:sp>
      <p:pic>
        <p:nvPicPr>
          <p:cNvPr id="120" name="Google Shape;120;p2"/>
          <p:cNvPicPr preferRelativeResize="0"/>
          <p:nvPr/>
        </p:nvPicPr>
        <p:blipFill rotWithShape="1">
          <a:blip r:embed="rId4">
            <a:alphaModFix/>
          </a:blip>
          <a:srcRect b="0" l="0" r="0" t="0"/>
          <a:stretch/>
        </p:blipFill>
        <p:spPr>
          <a:xfrm>
            <a:off x="4517721" y="4267200"/>
            <a:ext cx="4481512" cy="2278693"/>
          </a:xfrm>
          <a:prstGeom prst="rect">
            <a:avLst/>
          </a:prstGeom>
          <a:noFill/>
          <a:ln>
            <a:noFill/>
          </a:ln>
        </p:spPr>
      </p:pic>
      <p:sp>
        <p:nvSpPr>
          <p:cNvPr id="121" name="Google Shape;121;p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animEffect filter="fade" transition="in">
                                      <p:cBhvr>
                                        <p:cTn dur="1000"/>
                                        <p:tgtEl>
                                          <p:spTgt spid="1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1" st="1"/>
                                            </p:txEl>
                                          </p:spTgt>
                                        </p:tgtEl>
                                        <p:attrNameLst>
                                          <p:attrName>style.visibility</p:attrName>
                                        </p:attrNameLst>
                                      </p:cBhvr>
                                      <p:to>
                                        <p:strVal val="visible"/>
                                      </p:to>
                                    </p:set>
                                    <p:animEffect filter="fade" transition="in">
                                      <p:cBhvr>
                                        <p:cTn dur="1000"/>
                                        <p:tgtEl>
                                          <p:spTgt spid="1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2" st="2"/>
                                            </p:txEl>
                                          </p:spTgt>
                                        </p:tgtEl>
                                        <p:attrNameLst>
                                          <p:attrName>style.visibility</p:attrName>
                                        </p:attrNameLst>
                                      </p:cBhvr>
                                      <p:to>
                                        <p:strVal val="visible"/>
                                      </p:to>
                                    </p:set>
                                    <p:animEffect filter="fade" transition="in">
                                      <p:cBhvr>
                                        <p:cTn dur="1000"/>
                                        <p:tgtEl>
                                          <p:spTgt spid="1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3" st="3"/>
                                            </p:txEl>
                                          </p:spTgt>
                                        </p:tgtEl>
                                        <p:attrNameLst>
                                          <p:attrName>style.visibility</p:attrName>
                                        </p:attrNameLst>
                                      </p:cBhvr>
                                      <p:to>
                                        <p:strVal val="visible"/>
                                      </p:to>
                                    </p:set>
                                    <p:animEffect filter="fade" transition="in">
                                      <p:cBhvr>
                                        <p:cTn dur="1000"/>
                                        <p:tgtEl>
                                          <p:spTgt spid="1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1000"/>
                                        <p:tgtEl>
                                          <p:spTgt spid="1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20"/>
                                        </p:tgtEl>
                                      </p:cBhvr>
                                    </p:animEffect>
                                    <p:set>
                                      <p:cBhvr>
                                        <p:cTn dur="1" fill="hold">
                                          <p:stCondLst>
                                            <p:cond delay="1000"/>
                                          </p:stCondLst>
                                        </p:cTn>
                                        <p:tgtEl>
                                          <p:spTgt spid="12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Architectural Representation</a:t>
            </a:r>
            <a:endParaRPr/>
          </a:p>
        </p:txBody>
      </p:sp>
      <p:sp>
        <p:nvSpPr>
          <p:cNvPr id="127" name="Google Shape;127;p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128"/>
              <a:buChar char="🞂"/>
            </a:pPr>
            <a:r>
              <a:rPr lang="en-GB" sz="2800"/>
              <a:t>Simple, informal block diagrams showing entities and relationships are the most frequently used method for documenting software architectures.</a:t>
            </a:r>
            <a:endParaRPr/>
          </a:p>
          <a:p>
            <a:pPr indent="-148844" lvl="0" marL="274320" rtl="0" algn="l">
              <a:spcBef>
                <a:spcPts val="600"/>
              </a:spcBef>
              <a:spcAft>
                <a:spcPts val="0"/>
              </a:spcAft>
              <a:buSzPts val="1976"/>
              <a:buNone/>
            </a:pPr>
            <a:r>
              <a:t/>
            </a:r>
            <a:endParaRPr/>
          </a:p>
        </p:txBody>
      </p:sp>
      <p:pic>
        <p:nvPicPr>
          <p:cNvPr descr="6" id="128" name="Google Shape;128;p3"/>
          <p:cNvPicPr preferRelativeResize="0"/>
          <p:nvPr/>
        </p:nvPicPr>
        <p:blipFill rotWithShape="1">
          <a:blip r:embed="rId3">
            <a:alphaModFix/>
          </a:blip>
          <a:srcRect b="-8765" l="0" r="0" t="0"/>
          <a:stretch/>
        </p:blipFill>
        <p:spPr>
          <a:xfrm>
            <a:off x="3505200" y="2667000"/>
            <a:ext cx="4648200" cy="4054475"/>
          </a:xfrm>
          <a:prstGeom prst="rect">
            <a:avLst/>
          </a:prstGeom>
          <a:noFill/>
          <a:ln>
            <a:noFill/>
          </a:ln>
        </p:spPr>
      </p:pic>
      <p:pic>
        <p:nvPicPr>
          <p:cNvPr descr="brac.png" id="129" name="Google Shape;129;p3"/>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130" name="Google Shape;130;p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animEffect filter="fade" transition="in">
                                      <p:cBhvr>
                                        <p:cTn dur="1000"/>
                                        <p:tgtEl>
                                          <p:spTgt spid="1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1" st="1"/>
                                            </p:txEl>
                                          </p:spTgt>
                                        </p:tgtEl>
                                        <p:attrNameLst>
                                          <p:attrName>style.visibility</p:attrName>
                                        </p:attrNameLst>
                                      </p:cBhvr>
                                      <p:to>
                                        <p:strVal val="visible"/>
                                      </p:to>
                                    </p:set>
                                    <p:animEffect filter="fade" transition="in">
                                      <p:cBhvr>
                                        <p:cTn dur="1000"/>
                                        <p:tgtEl>
                                          <p:spTgt spid="12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1000"/>
                                        <p:tgtEl>
                                          <p:spTgt spid="1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Advantages of explicit architecture</a:t>
            </a:r>
            <a:endParaRPr/>
          </a:p>
        </p:txBody>
      </p:sp>
      <p:sp>
        <p:nvSpPr>
          <p:cNvPr id="136" name="Google Shape;136;p4"/>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SzPts val="2128"/>
              <a:buChar char="🞂"/>
            </a:pPr>
            <a:r>
              <a:rPr lang="en-GB" sz="2800"/>
              <a:t>Stakeholder communication</a:t>
            </a:r>
            <a:endParaRPr/>
          </a:p>
          <a:p>
            <a:pPr indent="-274319" lvl="1" marL="548640" rtl="0" algn="just">
              <a:lnSpc>
                <a:spcPct val="90000"/>
              </a:lnSpc>
              <a:spcBef>
                <a:spcPts val="500"/>
              </a:spcBef>
              <a:spcAft>
                <a:spcPts val="0"/>
              </a:spcAft>
              <a:buSzPts val="1824"/>
              <a:buChar char="🞂"/>
            </a:pPr>
            <a:r>
              <a:rPr lang="en-GB" sz="2400"/>
              <a:t>Architecture may be used as a focus of discussion by system stakeholders.</a:t>
            </a:r>
            <a:endParaRPr/>
          </a:p>
          <a:p>
            <a:pPr indent="-274320" lvl="0" marL="274320" rtl="0" algn="just">
              <a:lnSpc>
                <a:spcPct val="90000"/>
              </a:lnSpc>
              <a:spcBef>
                <a:spcPts val="600"/>
              </a:spcBef>
              <a:spcAft>
                <a:spcPts val="0"/>
              </a:spcAft>
              <a:buSzPts val="2128"/>
              <a:buChar char="🞂"/>
            </a:pPr>
            <a:r>
              <a:rPr lang="en-GB" sz="2800"/>
              <a:t>System analysis</a:t>
            </a:r>
            <a:endParaRPr/>
          </a:p>
          <a:p>
            <a:pPr indent="-274319" lvl="1" marL="548640" rtl="0" algn="just">
              <a:lnSpc>
                <a:spcPct val="90000"/>
              </a:lnSpc>
              <a:spcBef>
                <a:spcPts val="500"/>
              </a:spcBef>
              <a:spcAft>
                <a:spcPts val="0"/>
              </a:spcAft>
              <a:buSzPts val="1824"/>
              <a:buChar char="🞂"/>
            </a:pPr>
            <a:r>
              <a:rPr lang="en-GB" sz="2400"/>
              <a:t>Means that analysis of whether the system can meet its non-functional requirements is possible.</a:t>
            </a:r>
            <a:endParaRPr/>
          </a:p>
          <a:p>
            <a:pPr indent="-274320" lvl="0" marL="274320" rtl="0" algn="just">
              <a:lnSpc>
                <a:spcPct val="90000"/>
              </a:lnSpc>
              <a:spcBef>
                <a:spcPts val="600"/>
              </a:spcBef>
              <a:spcAft>
                <a:spcPts val="0"/>
              </a:spcAft>
              <a:buSzPts val="2128"/>
              <a:buChar char="🞂"/>
            </a:pPr>
            <a:r>
              <a:rPr lang="en-GB" sz="2800"/>
              <a:t>Large-scale reuse</a:t>
            </a:r>
            <a:endParaRPr/>
          </a:p>
          <a:p>
            <a:pPr indent="-274320" lvl="1" marL="548640" rtl="0" algn="just">
              <a:lnSpc>
                <a:spcPct val="90000"/>
              </a:lnSpc>
              <a:spcBef>
                <a:spcPts val="500"/>
              </a:spcBef>
              <a:spcAft>
                <a:spcPts val="0"/>
              </a:spcAft>
              <a:buSzPts val="1824"/>
              <a:buChar char="🞂"/>
            </a:pPr>
            <a:r>
              <a:rPr lang="en-GB" sz="2400"/>
              <a:t>The architecture may be reusable across a range of systems</a:t>
            </a:r>
            <a:endParaRPr sz="2400"/>
          </a:p>
          <a:p>
            <a:pPr indent="-339852" lvl="1" marL="548640" rtl="0" algn="just">
              <a:lnSpc>
                <a:spcPct val="90000"/>
              </a:lnSpc>
              <a:spcBef>
                <a:spcPts val="500"/>
              </a:spcBef>
              <a:spcAft>
                <a:spcPts val="0"/>
              </a:spcAft>
              <a:buSzPts val="2400"/>
              <a:buChar char="🞂"/>
            </a:pPr>
            <a:r>
              <a:rPr lang="en-GB" sz="2400"/>
              <a:t>Product-line architectures may be developed. (Softwares with common features like e-commerce)</a:t>
            </a:r>
            <a:endParaRPr sz="2400"/>
          </a:p>
        </p:txBody>
      </p:sp>
      <p:pic>
        <p:nvPicPr>
          <p:cNvPr descr="brac.png" id="137" name="Google Shape;137;p4"/>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138" name="Google Shape;138;p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animEffect filter="fade" transition="in">
                                      <p:cBhvr>
                                        <p:cTn dur="1000"/>
                                        <p:tgtEl>
                                          <p:spTgt spid="1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1" st="1"/>
                                            </p:txEl>
                                          </p:spTgt>
                                        </p:tgtEl>
                                        <p:attrNameLst>
                                          <p:attrName>style.visibility</p:attrName>
                                        </p:attrNameLst>
                                      </p:cBhvr>
                                      <p:to>
                                        <p:strVal val="visible"/>
                                      </p:to>
                                    </p:set>
                                    <p:animEffect filter="fade" transition="in">
                                      <p:cBhvr>
                                        <p:cTn dur="1000"/>
                                        <p:tgtEl>
                                          <p:spTgt spid="1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2" st="2"/>
                                            </p:txEl>
                                          </p:spTgt>
                                        </p:tgtEl>
                                        <p:attrNameLst>
                                          <p:attrName>style.visibility</p:attrName>
                                        </p:attrNameLst>
                                      </p:cBhvr>
                                      <p:to>
                                        <p:strVal val="visible"/>
                                      </p:to>
                                    </p:set>
                                    <p:animEffect filter="fade" transition="in">
                                      <p:cBhvr>
                                        <p:cTn dur="1000"/>
                                        <p:tgtEl>
                                          <p:spTgt spid="13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3" st="3"/>
                                            </p:txEl>
                                          </p:spTgt>
                                        </p:tgtEl>
                                        <p:attrNameLst>
                                          <p:attrName>style.visibility</p:attrName>
                                        </p:attrNameLst>
                                      </p:cBhvr>
                                      <p:to>
                                        <p:strVal val="visible"/>
                                      </p:to>
                                    </p:set>
                                    <p:animEffect filter="fade" transition="in">
                                      <p:cBhvr>
                                        <p:cTn dur="1000"/>
                                        <p:tgtEl>
                                          <p:spTgt spid="13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4" st="4"/>
                                            </p:txEl>
                                          </p:spTgt>
                                        </p:tgtEl>
                                        <p:attrNameLst>
                                          <p:attrName>style.visibility</p:attrName>
                                        </p:attrNameLst>
                                      </p:cBhvr>
                                      <p:to>
                                        <p:strVal val="visible"/>
                                      </p:to>
                                    </p:set>
                                    <p:animEffect filter="fade" transition="in">
                                      <p:cBhvr>
                                        <p:cTn dur="1000"/>
                                        <p:tgtEl>
                                          <p:spTgt spid="13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5" st="5"/>
                                            </p:txEl>
                                          </p:spTgt>
                                        </p:tgtEl>
                                        <p:attrNameLst>
                                          <p:attrName>style.visibility</p:attrName>
                                        </p:attrNameLst>
                                      </p:cBhvr>
                                      <p:to>
                                        <p:strVal val="visible"/>
                                      </p:to>
                                    </p:set>
                                    <p:animEffect filter="fade" transition="in">
                                      <p:cBhvr>
                                        <p:cTn dur="1000"/>
                                        <p:tgtEl>
                                          <p:spTgt spid="13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6" st="6"/>
                                            </p:txEl>
                                          </p:spTgt>
                                        </p:tgtEl>
                                        <p:attrNameLst>
                                          <p:attrName>style.visibility</p:attrName>
                                        </p:attrNameLst>
                                      </p:cBhvr>
                                      <p:to>
                                        <p:strVal val="visible"/>
                                      </p:to>
                                    </p:set>
                                    <p:animEffect filter="fade" transition="in">
                                      <p:cBhvr>
                                        <p:cTn dur="1000"/>
                                        <p:tgtEl>
                                          <p:spTgt spid="13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Architecture Design Decisions</a:t>
            </a:r>
            <a:endParaRPr/>
          </a:p>
        </p:txBody>
      </p:sp>
      <p:pic>
        <p:nvPicPr>
          <p:cNvPr descr="6.2 Arch design questions.eps" id="144" name="Google Shape;144;p5"/>
          <p:cNvPicPr preferRelativeResize="0"/>
          <p:nvPr/>
        </p:nvPicPr>
        <p:blipFill rotWithShape="1">
          <a:blip r:embed="rId3">
            <a:alphaModFix/>
          </a:blip>
          <a:srcRect b="0" l="0" r="0" t="0"/>
          <a:stretch/>
        </p:blipFill>
        <p:spPr>
          <a:xfrm>
            <a:off x="219076" y="1413708"/>
            <a:ext cx="8705840" cy="4671930"/>
          </a:xfrm>
          <a:prstGeom prst="rect">
            <a:avLst/>
          </a:prstGeom>
          <a:noFill/>
          <a:ln>
            <a:noFill/>
          </a:ln>
        </p:spPr>
      </p:pic>
      <p:pic>
        <p:nvPicPr>
          <p:cNvPr descr="brac.png" id="145" name="Google Shape;145;p5"/>
          <p:cNvPicPr preferRelativeResize="0"/>
          <p:nvPr/>
        </p:nvPicPr>
        <p:blipFill rotWithShape="1">
          <a:blip r:embed="rId4">
            <a:alphaModFix/>
          </a:blip>
          <a:srcRect b="0" l="0" r="0" t="0"/>
          <a:stretch/>
        </p:blipFill>
        <p:spPr>
          <a:xfrm>
            <a:off x="7772400" y="0"/>
            <a:ext cx="1371600" cy="1066800"/>
          </a:xfrm>
          <a:prstGeom prst="rect">
            <a:avLst/>
          </a:prstGeom>
          <a:noFill/>
          <a:ln>
            <a:noFill/>
          </a:ln>
        </p:spPr>
      </p:pic>
      <p:sp>
        <p:nvSpPr>
          <p:cNvPr id="146" name="Google Shape;146;p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1000"/>
                                        <p:tgtEl>
                                          <p:spTgt spid="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Architectural View</a:t>
            </a:r>
            <a:endParaRPr/>
          </a:p>
        </p:txBody>
      </p:sp>
      <p:sp>
        <p:nvSpPr>
          <p:cNvPr id="152" name="Google Shape;152;p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128"/>
              <a:buChar char="🞂"/>
            </a:pPr>
            <a:r>
              <a:rPr lang="en-GB" sz="2800"/>
              <a:t>There are four views from which the architecture of a software can be observed</a:t>
            </a:r>
            <a:endParaRPr/>
          </a:p>
          <a:p>
            <a:pPr indent="-274320" lvl="0" marL="274320" rtl="0" algn="l">
              <a:spcBef>
                <a:spcPts val="600"/>
              </a:spcBef>
              <a:spcAft>
                <a:spcPts val="0"/>
              </a:spcAft>
              <a:buSzPts val="2128"/>
              <a:buChar char="🞂"/>
            </a:pPr>
            <a:r>
              <a:rPr lang="en-GB" sz="2800"/>
              <a:t>Each architectural diagram only shows one view or perspective of the system. </a:t>
            </a:r>
            <a:endParaRPr/>
          </a:p>
          <a:p>
            <a:pPr indent="-148844" lvl="0" marL="274320" rtl="0" algn="l">
              <a:spcBef>
                <a:spcPts val="600"/>
              </a:spcBef>
              <a:spcAft>
                <a:spcPts val="0"/>
              </a:spcAft>
              <a:buSzPts val="1976"/>
              <a:buNone/>
            </a:pPr>
            <a:r>
              <a:t/>
            </a:r>
            <a:endParaRPr/>
          </a:p>
        </p:txBody>
      </p:sp>
      <p:pic>
        <p:nvPicPr>
          <p:cNvPr descr="6.3 Architectural views.eps" id="153" name="Google Shape;153;p6"/>
          <p:cNvPicPr preferRelativeResize="0"/>
          <p:nvPr/>
        </p:nvPicPr>
        <p:blipFill rotWithShape="1">
          <a:blip r:embed="rId3">
            <a:alphaModFix/>
          </a:blip>
          <a:srcRect b="0" l="0" r="0" t="0"/>
          <a:stretch/>
        </p:blipFill>
        <p:spPr>
          <a:xfrm>
            <a:off x="2667000" y="3276600"/>
            <a:ext cx="4156555" cy="3206416"/>
          </a:xfrm>
          <a:prstGeom prst="rect">
            <a:avLst/>
          </a:prstGeom>
          <a:noFill/>
          <a:ln>
            <a:noFill/>
          </a:ln>
        </p:spPr>
      </p:pic>
      <p:pic>
        <p:nvPicPr>
          <p:cNvPr descr="brac.png" id="154" name="Google Shape;154;p6"/>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155" name="Google Shape;155;p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animEffect filter="fade" transition="in">
                                      <p:cBhvr>
                                        <p:cTn dur="1000"/>
                                        <p:tgtEl>
                                          <p:spTgt spid="1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animEffect filter="fade" transition="in">
                                      <p:cBhvr>
                                        <p:cTn dur="1000"/>
                                        <p:tgtEl>
                                          <p:spTgt spid="1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animEffect filter="fade" transition="in">
                                      <p:cBhvr>
                                        <p:cTn dur="1000"/>
                                        <p:tgtEl>
                                          <p:spTgt spid="152">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7"/>
          <p:cNvSpPr txBox="1"/>
          <p:nvPr>
            <p:ph type="title"/>
          </p:nvPr>
        </p:nvSpPr>
        <p:spPr>
          <a:xfrm>
            <a:off x="457200" y="152400"/>
            <a:ext cx="8229600" cy="6096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GB"/>
              <a:t>4 + 1 view model of software architecture</a:t>
            </a:r>
            <a:endParaRPr/>
          </a:p>
        </p:txBody>
      </p:sp>
      <p:sp>
        <p:nvSpPr>
          <p:cNvPr id="161" name="Google Shape;161;p7"/>
          <p:cNvSpPr txBox="1"/>
          <p:nvPr>
            <p:ph idx="1" type="body"/>
          </p:nvPr>
        </p:nvSpPr>
        <p:spPr>
          <a:xfrm>
            <a:off x="500650" y="1228025"/>
            <a:ext cx="5431500" cy="5016000"/>
          </a:xfrm>
          <a:prstGeom prst="rect">
            <a:avLst/>
          </a:prstGeom>
          <a:noFill/>
          <a:ln>
            <a:noFill/>
          </a:ln>
        </p:spPr>
        <p:txBody>
          <a:bodyPr anchorCtr="0" anchor="t" bIns="45700" lIns="91425" spcFirstLastPara="1" rIns="91425" wrap="square" tIns="45700">
            <a:normAutofit fontScale="77500" lnSpcReduction="10000"/>
          </a:bodyPr>
          <a:lstStyle/>
          <a:p>
            <a:pPr indent="-264185" lvl="0" marL="274320" rtl="0" algn="just">
              <a:spcBef>
                <a:spcPts val="0"/>
              </a:spcBef>
              <a:spcAft>
                <a:spcPts val="0"/>
              </a:spcAft>
              <a:buSzPct val="76000"/>
              <a:buChar char="🞂"/>
            </a:pPr>
            <a:r>
              <a:rPr lang="en-GB" sz="2800"/>
              <a:t>A logical view, which shows the key abstractions in the system as objects or object classes. (class/state diagrams)</a:t>
            </a:r>
            <a:endParaRPr sz="2800"/>
          </a:p>
          <a:p>
            <a:pPr indent="-264185" lvl="0" marL="274320" rtl="0" algn="just">
              <a:spcBef>
                <a:spcPts val="600"/>
              </a:spcBef>
              <a:spcAft>
                <a:spcPts val="0"/>
              </a:spcAft>
              <a:buSzPct val="76000"/>
              <a:buChar char="🞂"/>
            </a:pPr>
            <a:r>
              <a:rPr lang="en-GB" sz="2800"/>
              <a:t>A process view, which shows how, at run-time, the system is composed of interacting processes. (activity diagram)</a:t>
            </a:r>
            <a:endParaRPr sz="2800"/>
          </a:p>
          <a:p>
            <a:pPr indent="-264185" lvl="0" marL="274320" rtl="0" algn="just">
              <a:spcBef>
                <a:spcPts val="600"/>
              </a:spcBef>
              <a:spcAft>
                <a:spcPts val="0"/>
              </a:spcAft>
              <a:buSzPct val="76000"/>
              <a:buChar char="🞂"/>
            </a:pPr>
            <a:r>
              <a:rPr lang="en-GB" sz="2800"/>
              <a:t>A development view, which shows how the software is decomposed for development. (Component/package diagram)</a:t>
            </a:r>
            <a:endParaRPr sz="2800"/>
          </a:p>
          <a:p>
            <a:pPr indent="-264185" lvl="0" marL="274320" rtl="0" algn="just">
              <a:spcBef>
                <a:spcPts val="600"/>
              </a:spcBef>
              <a:spcAft>
                <a:spcPts val="0"/>
              </a:spcAft>
              <a:buSzPct val="76000"/>
              <a:buChar char="🞂"/>
            </a:pPr>
            <a:r>
              <a:rPr lang="en-GB" sz="2800"/>
              <a:t>A physical view, which shows the system hardware and how software components are distributed across the processors in the system. (Deployment diagram.)</a:t>
            </a:r>
            <a:endParaRPr/>
          </a:p>
          <a:p>
            <a:pPr indent="-264185" lvl="0" marL="274320" rtl="0" algn="just">
              <a:spcBef>
                <a:spcPts val="600"/>
              </a:spcBef>
              <a:spcAft>
                <a:spcPts val="0"/>
              </a:spcAft>
              <a:buSzPct val="76000"/>
              <a:buChar char="🞂"/>
            </a:pPr>
            <a:r>
              <a:rPr lang="en-GB" sz="2800"/>
              <a:t>Related using use cases or scenarios (+1) </a:t>
            </a:r>
            <a:endParaRPr/>
          </a:p>
        </p:txBody>
      </p:sp>
      <p:pic>
        <p:nvPicPr>
          <p:cNvPr id="162" name="Google Shape;162;p7"/>
          <p:cNvPicPr preferRelativeResize="0"/>
          <p:nvPr/>
        </p:nvPicPr>
        <p:blipFill rotWithShape="1">
          <a:blip r:embed="rId3">
            <a:alphaModFix/>
          </a:blip>
          <a:srcRect b="0" l="0" r="0" t="0"/>
          <a:stretch/>
        </p:blipFill>
        <p:spPr>
          <a:xfrm>
            <a:off x="6169068" y="685800"/>
            <a:ext cx="2971800" cy="1463040"/>
          </a:xfrm>
          <a:prstGeom prst="rect">
            <a:avLst/>
          </a:prstGeom>
          <a:noFill/>
          <a:ln>
            <a:noFill/>
          </a:ln>
        </p:spPr>
      </p:pic>
      <p:pic>
        <p:nvPicPr>
          <p:cNvPr id="163" name="Google Shape;163;p7"/>
          <p:cNvPicPr preferRelativeResize="0"/>
          <p:nvPr/>
        </p:nvPicPr>
        <p:blipFill rotWithShape="1">
          <a:blip r:embed="rId4">
            <a:alphaModFix/>
          </a:blip>
          <a:srcRect b="0" l="0" r="0" t="0"/>
          <a:stretch/>
        </p:blipFill>
        <p:spPr>
          <a:xfrm>
            <a:off x="6034936" y="1972851"/>
            <a:ext cx="3105932" cy="1845498"/>
          </a:xfrm>
          <a:prstGeom prst="rect">
            <a:avLst/>
          </a:prstGeom>
          <a:noFill/>
          <a:ln>
            <a:noFill/>
          </a:ln>
        </p:spPr>
      </p:pic>
      <p:pic>
        <p:nvPicPr>
          <p:cNvPr id="164" name="Google Shape;164;p7"/>
          <p:cNvPicPr preferRelativeResize="0"/>
          <p:nvPr/>
        </p:nvPicPr>
        <p:blipFill rotWithShape="1">
          <a:blip r:embed="rId5">
            <a:alphaModFix/>
          </a:blip>
          <a:srcRect b="0" l="0" r="0" t="0"/>
          <a:stretch/>
        </p:blipFill>
        <p:spPr>
          <a:xfrm>
            <a:off x="6034936" y="2148840"/>
            <a:ext cx="3025817" cy="2465546"/>
          </a:xfrm>
          <a:prstGeom prst="rect">
            <a:avLst/>
          </a:prstGeom>
          <a:noFill/>
          <a:ln>
            <a:noFill/>
          </a:ln>
        </p:spPr>
      </p:pic>
      <p:pic>
        <p:nvPicPr>
          <p:cNvPr id="165" name="Google Shape;165;p7"/>
          <p:cNvPicPr preferRelativeResize="0"/>
          <p:nvPr/>
        </p:nvPicPr>
        <p:blipFill rotWithShape="1">
          <a:blip r:embed="rId6">
            <a:alphaModFix/>
          </a:blip>
          <a:srcRect b="0" l="0" r="0" t="0"/>
          <a:stretch/>
        </p:blipFill>
        <p:spPr>
          <a:xfrm>
            <a:off x="6141798" y="2362200"/>
            <a:ext cx="2812092" cy="3240405"/>
          </a:xfrm>
          <a:prstGeom prst="rect">
            <a:avLst/>
          </a:prstGeom>
          <a:noFill/>
          <a:ln>
            <a:noFill/>
          </a:ln>
        </p:spPr>
      </p:pic>
      <p:pic>
        <p:nvPicPr>
          <p:cNvPr descr="brac.png" id="166" name="Google Shape;166;p7"/>
          <p:cNvPicPr preferRelativeResize="0"/>
          <p:nvPr/>
        </p:nvPicPr>
        <p:blipFill rotWithShape="1">
          <a:blip r:embed="rId7">
            <a:alphaModFix/>
          </a:blip>
          <a:srcRect b="0" l="0" r="0" t="0"/>
          <a:stretch/>
        </p:blipFill>
        <p:spPr>
          <a:xfrm>
            <a:off x="7772400" y="5791200"/>
            <a:ext cx="1371600" cy="1066800"/>
          </a:xfrm>
          <a:prstGeom prst="rect">
            <a:avLst/>
          </a:prstGeom>
          <a:noFill/>
          <a:ln>
            <a:noFill/>
          </a:ln>
        </p:spPr>
      </p:pic>
      <p:sp>
        <p:nvSpPr>
          <p:cNvPr id="167" name="Google Shape;167;p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0" st="0"/>
                                            </p:txEl>
                                          </p:spTgt>
                                        </p:tgtEl>
                                        <p:attrNameLst>
                                          <p:attrName>style.visibility</p:attrName>
                                        </p:attrNameLst>
                                      </p:cBhvr>
                                      <p:to>
                                        <p:strVal val="visible"/>
                                      </p:to>
                                    </p:set>
                                    <p:animEffect filter="fade" transition="in">
                                      <p:cBhvr>
                                        <p:cTn dur="1000"/>
                                        <p:tgtEl>
                                          <p:spTgt spid="1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1" st="1"/>
                                            </p:txEl>
                                          </p:spTgt>
                                        </p:tgtEl>
                                        <p:attrNameLst>
                                          <p:attrName>style.visibility</p:attrName>
                                        </p:attrNameLst>
                                      </p:cBhvr>
                                      <p:to>
                                        <p:strVal val="visible"/>
                                      </p:to>
                                    </p:set>
                                    <p:animEffect filter="fade" transition="in">
                                      <p:cBhvr>
                                        <p:cTn dur="1000"/>
                                        <p:tgtEl>
                                          <p:spTgt spid="1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2" st="2"/>
                                            </p:txEl>
                                          </p:spTgt>
                                        </p:tgtEl>
                                        <p:attrNameLst>
                                          <p:attrName>style.visibility</p:attrName>
                                        </p:attrNameLst>
                                      </p:cBhvr>
                                      <p:to>
                                        <p:strVal val="visible"/>
                                      </p:to>
                                    </p:set>
                                    <p:animEffect filter="fade" transition="in">
                                      <p:cBhvr>
                                        <p:cTn dur="1000"/>
                                        <p:tgtEl>
                                          <p:spTgt spid="16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3" st="3"/>
                                            </p:txEl>
                                          </p:spTgt>
                                        </p:tgtEl>
                                        <p:attrNameLst>
                                          <p:attrName>style.visibility</p:attrName>
                                        </p:attrNameLst>
                                      </p:cBhvr>
                                      <p:to>
                                        <p:strVal val="visible"/>
                                      </p:to>
                                    </p:set>
                                    <p:animEffect filter="fade" transition="in">
                                      <p:cBhvr>
                                        <p:cTn dur="1000"/>
                                        <p:tgtEl>
                                          <p:spTgt spid="16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4" st="4"/>
                                            </p:txEl>
                                          </p:spTgt>
                                        </p:tgtEl>
                                        <p:attrNameLst>
                                          <p:attrName>style.visibility</p:attrName>
                                        </p:attrNameLst>
                                      </p:cBhvr>
                                      <p:to>
                                        <p:strVal val="visible"/>
                                      </p:to>
                                    </p:set>
                                    <p:animEffect filter="fade" transition="in">
                                      <p:cBhvr>
                                        <p:cTn dur="1000"/>
                                        <p:tgtEl>
                                          <p:spTgt spid="161">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2"/>
                                        </p:tgtEl>
                                      </p:cBhvr>
                                    </p:animEffect>
                                    <p:set>
                                      <p:cBhvr>
                                        <p:cTn dur="1" fill="hold">
                                          <p:stCondLst>
                                            <p:cond delay="1000"/>
                                          </p:stCondLst>
                                        </p:cTn>
                                        <p:tgtEl>
                                          <p:spTgt spid="162"/>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3"/>
                                        </p:tgtEl>
                                      </p:cBhvr>
                                    </p:animEffect>
                                    <p:set>
                                      <p:cBhvr>
                                        <p:cTn dur="1" fill="hold">
                                          <p:stCondLst>
                                            <p:cond delay="1000"/>
                                          </p:stCondLst>
                                        </p:cTn>
                                        <p:tgtEl>
                                          <p:spTgt spid="16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4"/>
                                        </p:tgtEl>
                                      </p:cBhvr>
                                    </p:animEffect>
                                    <p:set>
                                      <p:cBhvr>
                                        <p:cTn dur="1" fill="hold">
                                          <p:stCondLst>
                                            <p:cond delay="1000"/>
                                          </p:stCondLst>
                                        </p:cTn>
                                        <p:tgtEl>
                                          <p:spTgt spid="16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000"/>
                                        <p:tgtEl>
                                          <p:spTgt spid="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5"/>
                                        </p:tgtEl>
                                      </p:cBhvr>
                                    </p:animEffect>
                                    <p:set>
                                      <p:cBhvr>
                                        <p:cTn dur="1" fill="hold">
                                          <p:stCondLst>
                                            <p:cond delay="1000"/>
                                          </p:stCondLst>
                                        </p:cTn>
                                        <p:tgtEl>
                                          <p:spTgt spid="16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27504e12ba0_0_1"/>
          <p:cNvSpPr txBox="1"/>
          <p:nvPr>
            <p:ph type="title"/>
          </p:nvPr>
        </p:nvSpPr>
        <p:spPr>
          <a:xfrm>
            <a:off x="457200" y="152400"/>
            <a:ext cx="8229600" cy="603300"/>
          </a:xfrm>
          <a:prstGeom prst="rect">
            <a:avLst/>
          </a:prstGeom>
        </p:spPr>
        <p:txBody>
          <a:bodyPr anchorCtr="0" anchor="b" bIns="45700" lIns="91425" spcFirstLastPara="1" rIns="91425" wrap="square" tIns="45700">
            <a:normAutofit fontScale="90000"/>
          </a:bodyPr>
          <a:lstStyle/>
          <a:p>
            <a:pPr indent="0" lvl="0" marL="0" rtl="0" algn="l">
              <a:spcBef>
                <a:spcPts val="0"/>
              </a:spcBef>
              <a:spcAft>
                <a:spcPts val="0"/>
              </a:spcAft>
              <a:buNone/>
            </a:pPr>
            <a:r>
              <a:rPr lang="en-GB"/>
              <a:t>4 + 1 view model of software architecture</a:t>
            </a:r>
            <a:endParaRPr/>
          </a:p>
        </p:txBody>
      </p:sp>
      <p:sp>
        <p:nvSpPr>
          <p:cNvPr id="174" name="Google Shape;174;g27504e12ba0_0_1"/>
          <p:cNvSpPr txBox="1"/>
          <p:nvPr>
            <p:ph idx="12" type="sldNum"/>
          </p:nvPr>
        </p:nvSpPr>
        <p:spPr>
          <a:xfrm>
            <a:off x="612648" y="6356350"/>
            <a:ext cx="1981200" cy="36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GB"/>
              <a:t>‹#›</a:t>
            </a:fld>
            <a:endParaRPr/>
          </a:p>
        </p:txBody>
      </p:sp>
      <p:pic>
        <p:nvPicPr>
          <p:cNvPr id="175" name="Google Shape;175;g27504e12ba0_0_1"/>
          <p:cNvPicPr preferRelativeResize="0"/>
          <p:nvPr/>
        </p:nvPicPr>
        <p:blipFill>
          <a:blip r:embed="rId3">
            <a:alphaModFix/>
          </a:blip>
          <a:stretch>
            <a:fillRect/>
          </a:stretch>
        </p:blipFill>
        <p:spPr>
          <a:xfrm>
            <a:off x="740451" y="1153100"/>
            <a:ext cx="7860624" cy="5203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Architectural Pattern</a:t>
            </a:r>
            <a:endParaRPr/>
          </a:p>
        </p:txBody>
      </p:sp>
      <p:sp>
        <p:nvSpPr>
          <p:cNvPr id="181" name="Google Shape;181;p8"/>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Let's</a:t>
            </a:r>
            <a:r>
              <a:rPr lang="en-GB"/>
              <a:t> think of some problems - </a:t>
            </a:r>
            <a:endParaRPr/>
          </a:p>
          <a:p>
            <a:pPr indent="-148844" lvl="0" marL="274320" rtl="0" algn="l">
              <a:spcBef>
                <a:spcPts val="600"/>
              </a:spcBef>
              <a:spcAft>
                <a:spcPts val="0"/>
              </a:spcAft>
              <a:buSzPts val="1976"/>
              <a:buNone/>
            </a:pPr>
            <a:r>
              <a:t/>
            </a:r>
            <a:endParaRPr/>
          </a:p>
        </p:txBody>
      </p:sp>
      <p:pic>
        <p:nvPicPr>
          <p:cNvPr id="182" name="Google Shape;182;p8"/>
          <p:cNvPicPr preferRelativeResize="0"/>
          <p:nvPr/>
        </p:nvPicPr>
        <p:blipFill rotWithShape="1">
          <a:blip r:embed="rId3">
            <a:alphaModFix/>
          </a:blip>
          <a:srcRect b="0" l="0" r="0" t="0"/>
          <a:stretch/>
        </p:blipFill>
        <p:spPr>
          <a:xfrm>
            <a:off x="4572000" y="2438400"/>
            <a:ext cx="4419600" cy="3200400"/>
          </a:xfrm>
          <a:prstGeom prst="rect">
            <a:avLst/>
          </a:prstGeom>
          <a:noFill/>
          <a:ln>
            <a:noFill/>
          </a:ln>
        </p:spPr>
      </p:pic>
      <p:pic>
        <p:nvPicPr>
          <p:cNvPr descr="Online_Grocery_Shopping18SlideCover-1024x640.jpg" id="183" name="Google Shape;183;p8"/>
          <p:cNvPicPr preferRelativeResize="0"/>
          <p:nvPr/>
        </p:nvPicPr>
        <p:blipFill rotWithShape="1">
          <a:blip r:embed="rId4">
            <a:alphaModFix/>
          </a:blip>
          <a:srcRect b="0" l="0" r="0" t="0"/>
          <a:stretch/>
        </p:blipFill>
        <p:spPr>
          <a:xfrm>
            <a:off x="152400" y="2133600"/>
            <a:ext cx="4267200" cy="3124200"/>
          </a:xfrm>
          <a:prstGeom prst="rect">
            <a:avLst/>
          </a:prstGeom>
          <a:noFill/>
          <a:ln>
            <a:noFill/>
          </a:ln>
        </p:spPr>
      </p:pic>
      <p:pic>
        <p:nvPicPr>
          <p:cNvPr descr="brac.png" id="184" name="Google Shape;184;p8"/>
          <p:cNvPicPr preferRelativeResize="0"/>
          <p:nvPr/>
        </p:nvPicPr>
        <p:blipFill rotWithShape="1">
          <a:blip r:embed="rId5">
            <a:alphaModFix/>
          </a:blip>
          <a:srcRect b="0" l="0" r="0" t="0"/>
          <a:stretch/>
        </p:blipFill>
        <p:spPr>
          <a:xfrm>
            <a:off x="7772400" y="5791200"/>
            <a:ext cx="1371600" cy="1066800"/>
          </a:xfrm>
          <a:prstGeom prst="rect">
            <a:avLst/>
          </a:prstGeom>
          <a:noFill/>
          <a:ln>
            <a:noFill/>
          </a:ln>
        </p:spPr>
      </p:pic>
      <p:sp>
        <p:nvSpPr>
          <p:cNvPr id="185" name="Google Shape;185;p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0" st="0"/>
                                            </p:txEl>
                                          </p:spTgt>
                                        </p:tgtEl>
                                        <p:attrNameLst>
                                          <p:attrName>style.visibility</p:attrName>
                                        </p:attrNameLst>
                                      </p:cBhvr>
                                      <p:to>
                                        <p:strVal val="visible"/>
                                      </p:to>
                                    </p:set>
                                    <p:animEffect filter="fade" transition="in">
                                      <p:cBhvr>
                                        <p:cTn dur="1000"/>
                                        <p:tgtEl>
                                          <p:spTgt spid="18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1" st="1"/>
                                            </p:txEl>
                                          </p:spTgt>
                                        </p:tgtEl>
                                        <p:attrNameLst>
                                          <p:attrName>style.visibility</p:attrName>
                                        </p:attrNameLst>
                                      </p:cBhvr>
                                      <p:to>
                                        <p:strVal val="visible"/>
                                      </p:to>
                                    </p:set>
                                    <p:animEffect filter="fade" transition="in">
                                      <p:cBhvr>
                                        <p:cTn dur="1000"/>
                                        <p:tgtEl>
                                          <p:spTgt spid="18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3"/>
                                        </p:tgtEl>
                                        <p:attrNameLst>
                                          <p:attrName>style.visibility</p:attrName>
                                        </p:attrNameLst>
                                      </p:cBhvr>
                                      <p:to>
                                        <p:strVal val="visible"/>
                                      </p:to>
                                    </p:set>
                                    <p:anim calcmode="lin" valueType="num">
                                      <p:cBhvr additive="base">
                                        <p:cTn dur="2000"/>
                                        <p:tgtEl>
                                          <p:spTgt spid="18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1000"/>
                                        <p:tgtEl>
                                          <p:spTgt spid="1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Architectural Pattern</a:t>
            </a:r>
            <a:endParaRPr/>
          </a:p>
        </p:txBody>
      </p:sp>
      <p:sp>
        <p:nvSpPr>
          <p:cNvPr id="191" name="Google Shape;191;p9"/>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128"/>
              <a:buChar char="🞂"/>
            </a:pPr>
            <a:r>
              <a:rPr lang="en-GB" sz="2800"/>
              <a:t>An architectural pattern is a stylized description of good design practice, which has been tried and tested in different environments.</a:t>
            </a:r>
            <a:endParaRPr/>
          </a:p>
          <a:p>
            <a:pPr indent="-274320" lvl="0" marL="274320" rtl="0" algn="l">
              <a:spcBef>
                <a:spcPts val="600"/>
              </a:spcBef>
              <a:spcAft>
                <a:spcPts val="0"/>
              </a:spcAft>
              <a:buSzPts val="1976"/>
              <a:buChar char="🞂"/>
            </a:pPr>
            <a:r>
              <a:rPr lang="en-GB"/>
              <a:t>It’s a solution to a existing and commonly occurring problem.</a:t>
            </a:r>
            <a:endParaRPr/>
          </a:p>
          <a:p>
            <a:pPr indent="-274320" lvl="0" marL="274320" rtl="0" algn="l">
              <a:spcBef>
                <a:spcPts val="600"/>
              </a:spcBef>
              <a:spcAft>
                <a:spcPts val="0"/>
              </a:spcAft>
              <a:buSzPts val="2128"/>
              <a:buChar char="🞂"/>
            </a:pPr>
            <a:r>
              <a:rPr lang="en-GB" sz="2800"/>
              <a:t>Patterns include information about when they are and when the are not useful.</a:t>
            </a:r>
            <a:endParaRPr sz="2800"/>
          </a:p>
          <a:p>
            <a:pPr indent="-148844" lvl="0" marL="274320" rtl="0" algn="l">
              <a:spcBef>
                <a:spcPts val="600"/>
              </a:spcBef>
              <a:spcAft>
                <a:spcPts val="0"/>
              </a:spcAft>
              <a:buSzPts val="1976"/>
              <a:buNone/>
            </a:pPr>
            <a:r>
              <a:t/>
            </a:r>
            <a:endParaRPr/>
          </a:p>
        </p:txBody>
      </p:sp>
      <p:pic>
        <p:nvPicPr>
          <p:cNvPr descr="brac.png" id="192" name="Google Shape;192;p9"/>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193" name="Google Shape;193;p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0" st="0"/>
                                            </p:txEl>
                                          </p:spTgt>
                                        </p:tgtEl>
                                        <p:attrNameLst>
                                          <p:attrName>style.visibility</p:attrName>
                                        </p:attrNameLst>
                                      </p:cBhvr>
                                      <p:to>
                                        <p:strVal val="visible"/>
                                      </p:to>
                                    </p:set>
                                    <p:animEffect filter="fade" transition="in">
                                      <p:cBhvr>
                                        <p:cTn dur="1000"/>
                                        <p:tgtEl>
                                          <p:spTgt spid="1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1" st="1"/>
                                            </p:txEl>
                                          </p:spTgt>
                                        </p:tgtEl>
                                        <p:attrNameLst>
                                          <p:attrName>style.visibility</p:attrName>
                                        </p:attrNameLst>
                                      </p:cBhvr>
                                      <p:to>
                                        <p:strVal val="visible"/>
                                      </p:to>
                                    </p:set>
                                    <p:animEffect filter="fade" transition="in">
                                      <p:cBhvr>
                                        <p:cTn dur="1000"/>
                                        <p:tgtEl>
                                          <p:spTgt spid="1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2" st="2"/>
                                            </p:txEl>
                                          </p:spTgt>
                                        </p:tgtEl>
                                        <p:attrNameLst>
                                          <p:attrName>style.visibility</p:attrName>
                                        </p:attrNameLst>
                                      </p:cBhvr>
                                      <p:to>
                                        <p:strVal val="visible"/>
                                      </p:to>
                                    </p:set>
                                    <p:animEffect filter="fade" transition="in">
                                      <p:cBhvr>
                                        <p:cTn dur="1000"/>
                                        <p:tgtEl>
                                          <p:spTgt spid="1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3" st="3"/>
                                            </p:txEl>
                                          </p:spTgt>
                                        </p:tgtEl>
                                        <p:attrNameLst>
                                          <p:attrName>style.visibility</p:attrName>
                                        </p:attrNameLst>
                                      </p:cBhvr>
                                      <p:to>
                                        <p:strVal val="visible"/>
                                      </p:to>
                                    </p:set>
                                    <p:animEffect filter="fade" transition="in">
                                      <p:cBhvr>
                                        <p:cTn dur="1000"/>
                                        <p:tgtEl>
                                          <p:spTgt spid="19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EEFF"/>
        </a:solidFill>
      </p:bgPr>
    </p:bg>
    <p:spTree>
      <p:nvGrpSpPr>
        <p:cNvPr id="197" name="Shape 197"/>
        <p:cNvGrpSpPr/>
        <p:nvPr/>
      </p:nvGrpSpPr>
      <p:grpSpPr>
        <a:xfrm>
          <a:off x="0" y="0"/>
          <a:ext cx="0" cy="0"/>
          <a:chOff x="0" y="0"/>
          <a:chExt cx="0" cy="0"/>
        </a:xfrm>
      </p:grpSpPr>
      <p:sp>
        <p:nvSpPr>
          <p:cNvPr id="198" name="Google Shape;198;p1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MVC Pattern</a:t>
            </a:r>
            <a:endParaRPr/>
          </a:p>
        </p:txBody>
      </p:sp>
      <p:sp>
        <p:nvSpPr>
          <p:cNvPr id="199" name="Google Shape;199;p10"/>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MVC goes for Model-View-Controller Pattern</a:t>
            </a:r>
            <a:endParaRPr/>
          </a:p>
          <a:p>
            <a:pPr indent="-274320" lvl="0" marL="274320" rtl="0" algn="l">
              <a:spcBef>
                <a:spcPts val="600"/>
              </a:spcBef>
              <a:spcAft>
                <a:spcPts val="0"/>
              </a:spcAft>
              <a:buSzPts val="1976"/>
              <a:buChar char="🞂"/>
            </a:pPr>
            <a:r>
              <a:rPr lang="en-GB"/>
              <a:t>Separates presentation and interaction from the data handling logic.</a:t>
            </a:r>
            <a:endParaRPr/>
          </a:p>
          <a:p>
            <a:pPr indent="-274320" lvl="0" marL="274320" rtl="0" algn="l">
              <a:spcBef>
                <a:spcPts val="600"/>
              </a:spcBef>
              <a:spcAft>
                <a:spcPts val="0"/>
              </a:spcAft>
              <a:buSzPts val="1976"/>
              <a:buChar char="🞂"/>
            </a:pPr>
            <a:r>
              <a:rPr lang="en-GB"/>
              <a:t>The system is structured into three logical components that interact with each other- Model, View and Controller</a:t>
            </a:r>
            <a:endParaRPr/>
          </a:p>
        </p:txBody>
      </p:sp>
      <p:pic>
        <p:nvPicPr>
          <p:cNvPr descr="Online_Grocery_Shopping18SlideCover-1024x640.jpg" id="200" name="Google Shape;200;p10"/>
          <p:cNvPicPr preferRelativeResize="0"/>
          <p:nvPr/>
        </p:nvPicPr>
        <p:blipFill rotWithShape="1">
          <a:blip r:embed="rId3">
            <a:alphaModFix/>
          </a:blip>
          <a:srcRect b="0" l="0" r="0" t="0"/>
          <a:stretch/>
        </p:blipFill>
        <p:spPr>
          <a:xfrm>
            <a:off x="2286000" y="3505200"/>
            <a:ext cx="3581400" cy="3086100"/>
          </a:xfrm>
          <a:prstGeom prst="rect">
            <a:avLst/>
          </a:prstGeom>
          <a:noFill/>
          <a:ln>
            <a:noFill/>
          </a:ln>
        </p:spPr>
      </p:pic>
      <p:pic>
        <p:nvPicPr>
          <p:cNvPr descr="brac.png" id="201" name="Google Shape;201;p10"/>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202" name="Google Shape;202;p1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000"/>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0" st="0"/>
                                            </p:txEl>
                                          </p:spTgt>
                                        </p:tgtEl>
                                        <p:attrNameLst>
                                          <p:attrName>style.visibility</p:attrName>
                                        </p:attrNameLst>
                                      </p:cBhvr>
                                      <p:to>
                                        <p:strVal val="visible"/>
                                      </p:to>
                                    </p:set>
                                    <p:animEffect filter="fade" transition="in">
                                      <p:cBhvr>
                                        <p:cTn dur="1000"/>
                                        <p:tgtEl>
                                          <p:spTgt spid="1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1" st="1"/>
                                            </p:txEl>
                                          </p:spTgt>
                                        </p:tgtEl>
                                        <p:attrNameLst>
                                          <p:attrName>style.visibility</p:attrName>
                                        </p:attrNameLst>
                                      </p:cBhvr>
                                      <p:to>
                                        <p:strVal val="visible"/>
                                      </p:to>
                                    </p:set>
                                    <p:animEffect filter="fade" transition="in">
                                      <p:cBhvr>
                                        <p:cTn dur="1000"/>
                                        <p:tgtEl>
                                          <p:spTgt spid="1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2" st="2"/>
                                            </p:txEl>
                                          </p:spTgt>
                                        </p:tgtEl>
                                        <p:attrNameLst>
                                          <p:attrName>style.visibility</p:attrName>
                                        </p:attrNameLst>
                                      </p:cBhvr>
                                      <p:to>
                                        <p:strVal val="visible"/>
                                      </p:to>
                                    </p:set>
                                    <p:animEffect filter="fade" transition="in">
                                      <p:cBhvr>
                                        <p:cTn dur="1000"/>
                                        <p:tgtEl>
                                          <p:spTgt spid="1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1000"/>
                                        <p:tgtEl>
                                          <p:spTgt spid="2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1"/>
          <p:cNvSpPr txBox="1"/>
          <p:nvPr>
            <p:ph type="title"/>
          </p:nvPr>
        </p:nvSpPr>
        <p:spPr>
          <a:xfrm>
            <a:off x="457200" y="152400"/>
            <a:ext cx="8229600" cy="83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Controller</a:t>
            </a:r>
            <a:endParaRPr/>
          </a:p>
        </p:txBody>
      </p:sp>
      <p:sp>
        <p:nvSpPr>
          <p:cNvPr id="208" name="Google Shape;208;p11"/>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1976"/>
              <a:buChar char="🞂"/>
            </a:pPr>
            <a:r>
              <a:rPr lang="en-GB"/>
              <a:t>Handles all the user inputs through url</a:t>
            </a:r>
            <a:endParaRPr/>
          </a:p>
          <a:p>
            <a:pPr indent="-274320" lvl="0" marL="274320" rtl="0" algn="l">
              <a:spcBef>
                <a:spcPts val="600"/>
              </a:spcBef>
              <a:spcAft>
                <a:spcPts val="0"/>
              </a:spcAft>
              <a:buSzPts val="1976"/>
              <a:buChar char="🞂"/>
            </a:pPr>
            <a:r>
              <a:rPr lang="en-GB"/>
              <a:t>The interaction to an application starts here by the user interactions – mouse click, key press etc</a:t>
            </a:r>
            <a:endParaRPr/>
          </a:p>
          <a:p>
            <a:pPr indent="-274320" lvl="0" marL="274320" rtl="0" algn="l">
              <a:spcBef>
                <a:spcPts val="600"/>
              </a:spcBef>
              <a:spcAft>
                <a:spcPts val="0"/>
              </a:spcAft>
              <a:buSzPts val="1976"/>
              <a:buChar char="🞂"/>
            </a:pPr>
            <a:r>
              <a:rPr lang="en-GB"/>
              <a:t>Process http url requests (</a:t>
            </a:r>
            <a:r>
              <a:rPr i="1" lang="en-GB"/>
              <a:t>GET, POST, PUT, DELETE</a:t>
            </a:r>
            <a:r>
              <a:rPr lang="en-GB"/>
              <a:t>)</a:t>
            </a:r>
            <a:endParaRPr/>
          </a:p>
          <a:p>
            <a:pPr indent="-274320" lvl="1" marL="548640" rtl="0" algn="l">
              <a:spcBef>
                <a:spcPts val="500"/>
              </a:spcBef>
              <a:spcAft>
                <a:spcPts val="0"/>
              </a:spcAft>
              <a:buSzPts val="1748"/>
              <a:buChar char="🞂"/>
            </a:pPr>
            <a:r>
              <a:rPr i="1" lang="en-GB"/>
              <a:t>GET</a:t>
            </a:r>
            <a:r>
              <a:rPr lang="en-GB"/>
              <a:t>: for getting a data</a:t>
            </a:r>
            <a:endParaRPr/>
          </a:p>
          <a:p>
            <a:pPr indent="-274320" lvl="1" marL="548640" rtl="0" algn="l">
              <a:spcBef>
                <a:spcPts val="500"/>
              </a:spcBef>
              <a:spcAft>
                <a:spcPts val="0"/>
              </a:spcAft>
              <a:buSzPts val="1748"/>
              <a:buChar char="🞂"/>
            </a:pPr>
            <a:r>
              <a:rPr i="1" lang="en-GB"/>
              <a:t>POST</a:t>
            </a:r>
            <a:r>
              <a:rPr lang="en-GB"/>
              <a:t>: for posting / inserting a data</a:t>
            </a:r>
            <a:endParaRPr/>
          </a:p>
          <a:p>
            <a:pPr indent="-274320" lvl="1" marL="548640" rtl="0" algn="l">
              <a:spcBef>
                <a:spcPts val="500"/>
              </a:spcBef>
              <a:spcAft>
                <a:spcPts val="0"/>
              </a:spcAft>
              <a:buSzPts val="1748"/>
              <a:buChar char="🞂"/>
            </a:pPr>
            <a:r>
              <a:rPr i="1" lang="en-GB"/>
              <a:t>PUT</a:t>
            </a:r>
            <a:r>
              <a:rPr lang="en-GB"/>
              <a:t>: for updating a data</a:t>
            </a:r>
            <a:endParaRPr/>
          </a:p>
          <a:p>
            <a:pPr indent="-274320" lvl="1" marL="548640" rtl="0" algn="l">
              <a:spcBef>
                <a:spcPts val="500"/>
              </a:spcBef>
              <a:spcAft>
                <a:spcPts val="0"/>
              </a:spcAft>
              <a:buSzPts val="1748"/>
              <a:buChar char="🞂"/>
            </a:pPr>
            <a:r>
              <a:rPr i="1" lang="en-GB"/>
              <a:t>DELETE</a:t>
            </a:r>
            <a:r>
              <a:rPr lang="en-GB"/>
              <a:t>: for removing a data</a:t>
            </a:r>
            <a:endParaRPr/>
          </a:p>
          <a:p>
            <a:pPr indent="-274320" lvl="0" marL="274320" rtl="0" algn="l">
              <a:spcBef>
                <a:spcPts val="600"/>
              </a:spcBef>
              <a:spcAft>
                <a:spcPts val="0"/>
              </a:spcAft>
              <a:buSzPts val="1976"/>
              <a:buChar char="🞂"/>
            </a:pPr>
            <a:r>
              <a:rPr lang="en-GB"/>
              <a:t>Communicates with both Model and View</a:t>
            </a:r>
            <a:endParaRPr/>
          </a:p>
          <a:p>
            <a:pPr indent="-274320" lvl="0" marL="274320" rtl="0" algn="l">
              <a:spcBef>
                <a:spcPts val="600"/>
              </a:spcBef>
              <a:spcAft>
                <a:spcPts val="0"/>
              </a:spcAft>
              <a:buSzPts val="1976"/>
              <a:buChar char="🞂"/>
            </a:pPr>
            <a:r>
              <a:rPr lang="en-GB"/>
              <a:t>Contains all server side logic</a:t>
            </a:r>
            <a:endParaRPr/>
          </a:p>
          <a:p>
            <a:pPr indent="-274320" lvl="0" marL="274320" rtl="0" algn="l">
              <a:spcBef>
                <a:spcPts val="600"/>
              </a:spcBef>
              <a:spcAft>
                <a:spcPts val="0"/>
              </a:spcAft>
              <a:buSzPts val="1976"/>
              <a:buChar char="🞂"/>
            </a:pPr>
            <a:r>
              <a:rPr lang="en-GB"/>
              <a:t>In the example – ProductController, UserController, AccountController etc.</a:t>
            </a:r>
            <a:endParaRPr/>
          </a:p>
        </p:txBody>
      </p:sp>
      <p:pic>
        <p:nvPicPr>
          <p:cNvPr descr="brac.png" id="209" name="Google Shape;209;p11"/>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10" name="Google Shape;210;p1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0" st="0"/>
                                            </p:txEl>
                                          </p:spTgt>
                                        </p:tgtEl>
                                        <p:attrNameLst>
                                          <p:attrName>style.visibility</p:attrName>
                                        </p:attrNameLst>
                                      </p:cBhvr>
                                      <p:to>
                                        <p:strVal val="visible"/>
                                      </p:to>
                                    </p:set>
                                    <p:animEffect filter="fade" transition="in">
                                      <p:cBhvr>
                                        <p:cTn dur="1000"/>
                                        <p:tgtEl>
                                          <p:spTgt spid="2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1" st="1"/>
                                            </p:txEl>
                                          </p:spTgt>
                                        </p:tgtEl>
                                        <p:attrNameLst>
                                          <p:attrName>style.visibility</p:attrName>
                                        </p:attrNameLst>
                                      </p:cBhvr>
                                      <p:to>
                                        <p:strVal val="visible"/>
                                      </p:to>
                                    </p:set>
                                    <p:animEffect filter="fade" transition="in">
                                      <p:cBhvr>
                                        <p:cTn dur="1000"/>
                                        <p:tgtEl>
                                          <p:spTgt spid="20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2" st="2"/>
                                            </p:txEl>
                                          </p:spTgt>
                                        </p:tgtEl>
                                        <p:attrNameLst>
                                          <p:attrName>style.visibility</p:attrName>
                                        </p:attrNameLst>
                                      </p:cBhvr>
                                      <p:to>
                                        <p:strVal val="visible"/>
                                      </p:to>
                                    </p:set>
                                    <p:animEffect filter="fade" transition="in">
                                      <p:cBhvr>
                                        <p:cTn dur="1000"/>
                                        <p:tgtEl>
                                          <p:spTgt spid="20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3" st="3"/>
                                            </p:txEl>
                                          </p:spTgt>
                                        </p:tgtEl>
                                        <p:attrNameLst>
                                          <p:attrName>style.visibility</p:attrName>
                                        </p:attrNameLst>
                                      </p:cBhvr>
                                      <p:to>
                                        <p:strVal val="visible"/>
                                      </p:to>
                                    </p:set>
                                    <p:animEffect filter="fade" transition="in">
                                      <p:cBhvr>
                                        <p:cTn dur="1000"/>
                                        <p:tgtEl>
                                          <p:spTgt spid="20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4" st="4"/>
                                            </p:txEl>
                                          </p:spTgt>
                                        </p:tgtEl>
                                        <p:attrNameLst>
                                          <p:attrName>style.visibility</p:attrName>
                                        </p:attrNameLst>
                                      </p:cBhvr>
                                      <p:to>
                                        <p:strVal val="visible"/>
                                      </p:to>
                                    </p:set>
                                    <p:animEffect filter="fade" transition="in">
                                      <p:cBhvr>
                                        <p:cTn dur="1000"/>
                                        <p:tgtEl>
                                          <p:spTgt spid="20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5" st="5"/>
                                            </p:txEl>
                                          </p:spTgt>
                                        </p:tgtEl>
                                        <p:attrNameLst>
                                          <p:attrName>style.visibility</p:attrName>
                                        </p:attrNameLst>
                                      </p:cBhvr>
                                      <p:to>
                                        <p:strVal val="visible"/>
                                      </p:to>
                                    </p:set>
                                    <p:animEffect filter="fade" transition="in">
                                      <p:cBhvr>
                                        <p:cTn dur="1000"/>
                                        <p:tgtEl>
                                          <p:spTgt spid="20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6" st="6"/>
                                            </p:txEl>
                                          </p:spTgt>
                                        </p:tgtEl>
                                        <p:attrNameLst>
                                          <p:attrName>style.visibility</p:attrName>
                                        </p:attrNameLst>
                                      </p:cBhvr>
                                      <p:to>
                                        <p:strVal val="visible"/>
                                      </p:to>
                                    </p:set>
                                    <p:animEffect filter="fade" transition="in">
                                      <p:cBhvr>
                                        <p:cTn dur="1000"/>
                                        <p:tgtEl>
                                          <p:spTgt spid="20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7" st="7"/>
                                            </p:txEl>
                                          </p:spTgt>
                                        </p:tgtEl>
                                        <p:attrNameLst>
                                          <p:attrName>style.visibility</p:attrName>
                                        </p:attrNameLst>
                                      </p:cBhvr>
                                      <p:to>
                                        <p:strVal val="visible"/>
                                      </p:to>
                                    </p:set>
                                    <p:animEffect filter="fade" transition="in">
                                      <p:cBhvr>
                                        <p:cTn dur="1000"/>
                                        <p:tgtEl>
                                          <p:spTgt spid="20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8" st="8"/>
                                            </p:txEl>
                                          </p:spTgt>
                                        </p:tgtEl>
                                        <p:attrNameLst>
                                          <p:attrName>style.visibility</p:attrName>
                                        </p:attrNameLst>
                                      </p:cBhvr>
                                      <p:to>
                                        <p:strVal val="visible"/>
                                      </p:to>
                                    </p:set>
                                    <p:animEffect filter="fade" transition="in">
                                      <p:cBhvr>
                                        <p:cTn dur="1000"/>
                                        <p:tgtEl>
                                          <p:spTgt spid="20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9" st="9"/>
                                            </p:txEl>
                                          </p:spTgt>
                                        </p:tgtEl>
                                        <p:attrNameLst>
                                          <p:attrName>style.visibility</p:attrName>
                                        </p:attrNameLst>
                                      </p:cBhvr>
                                      <p:to>
                                        <p:strVal val="visible"/>
                                      </p:to>
                                    </p:set>
                                    <p:animEffect filter="fade" transition="in">
                                      <p:cBhvr>
                                        <p:cTn dur="1000"/>
                                        <p:tgtEl>
                                          <p:spTgt spid="208">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2"/>
          <p:cNvSpPr txBox="1"/>
          <p:nvPr>
            <p:ph type="title"/>
          </p:nvPr>
        </p:nvSpPr>
        <p:spPr>
          <a:xfrm>
            <a:off x="457200" y="152400"/>
            <a:ext cx="8229600" cy="83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Model</a:t>
            </a:r>
            <a:endParaRPr/>
          </a:p>
        </p:txBody>
      </p:sp>
      <p:sp>
        <p:nvSpPr>
          <p:cNvPr id="216" name="Google Shape;216;p1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It refers to the Data Related Logic</a:t>
            </a:r>
            <a:endParaRPr/>
          </a:p>
          <a:p>
            <a:pPr indent="-274320" lvl="0" marL="274320" rtl="0" algn="l">
              <a:spcBef>
                <a:spcPts val="600"/>
              </a:spcBef>
              <a:spcAft>
                <a:spcPts val="0"/>
              </a:spcAft>
              <a:buSzPts val="1976"/>
              <a:buChar char="🞂"/>
            </a:pPr>
            <a:r>
              <a:rPr lang="en-GB"/>
              <a:t>Interaction with database (such as </a:t>
            </a:r>
            <a:r>
              <a:rPr i="1" lang="en-GB"/>
              <a:t>SELECT, INSERT, UPDATE, DELETE</a:t>
            </a:r>
            <a:r>
              <a:rPr lang="en-GB"/>
              <a:t>)</a:t>
            </a:r>
            <a:endParaRPr/>
          </a:p>
          <a:p>
            <a:pPr indent="-274320" lvl="0" marL="274320" rtl="0" algn="l">
              <a:spcBef>
                <a:spcPts val="600"/>
              </a:spcBef>
              <a:spcAft>
                <a:spcPts val="0"/>
              </a:spcAft>
              <a:buSzPts val="1976"/>
              <a:buChar char="🞂"/>
            </a:pPr>
            <a:r>
              <a:rPr lang="en-GB"/>
              <a:t>It communicates with the controllers</a:t>
            </a:r>
            <a:endParaRPr/>
          </a:p>
          <a:p>
            <a:pPr indent="-274320" lvl="0" marL="274320" rtl="0" algn="l">
              <a:spcBef>
                <a:spcPts val="600"/>
              </a:spcBef>
              <a:spcAft>
                <a:spcPts val="0"/>
              </a:spcAft>
              <a:buSzPts val="1976"/>
              <a:buChar char="🞂"/>
            </a:pPr>
            <a:r>
              <a:rPr lang="en-GB"/>
              <a:t>Can sometimes update or collaborate with the view (Depends on framework)</a:t>
            </a:r>
            <a:endParaRPr/>
          </a:p>
          <a:p>
            <a:pPr indent="-274320" lvl="0" marL="274320" rtl="0" algn="l">
              <a:spcBef>
                <a:spcPts val="600"/>
              </a:spcBef>
              <a:spcAft>
                <a:spcPts val="0"/>
              </a:spcAft>
              <a:buSzPts val="1976"/>
              <a:buChar char="🞂"/>
            </a:pPr>
            <a:r>
              <a:rPr lang="en-GB"/>
              <a:t>In the example – Product, User, Transaction, Cart etc are model classes.</a:t>
            </a:r>
            <a:endParaRPr/>
          </a:p>
        </p:txBody>
      </p:sp>
      <p:pic>
        <p:nvPicPr>
          <p:cNvPr descr="brac.png" id="217" name="Google Shape;217;p12"/>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18" name="Google Shape;218;p1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0" st="0"/>
                                            </p:txEl>
                                          </p:spTgt>
                                        </p:tgtEl>
                                        <p:attrNameLst>
                                          <p:attrName>style.visibility</p:attrName>
                                        </p:attrNameLst>
                                      </p:cBhvr>
                                      <p:to>
                                        <p:strVal val="visible"/>
                                      </p:to>
                                    </p:set>
                                    <p:animEffect filter="fade" transition="in">
                                      <p:cBhvr>
                                        <p:cTn dur="1000"/>
                                        <p:tgtEl>
                                          <p:spTgt spid="2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1" st="1"/>
                                            </p:txEl>
                                          </p:spTgt>
                                        </p:tgtEl>
                                        <p:attrNameLst>
                                          <p:attrName>style.visibility</p:attrName>
                                        </p:attrNameLst>
                                      </p:cBhvr>
                                      <p:to>
                                        <p:strVal val="visible"/>
                                      </p:to>
                                    </p:set>
                                    <p:animEffect filter="fade" transition="in">
                                      <p:cBhvr>
                                        <p:cTn dur="1000"/>
                                        <p:tgtEl>
                                          <p:spTgt spid="2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2" st="2"/>
                                            </p:txEl>
                                          </p:spTgt>
                                        </p:tgtEl>
                                        <p:attrNameLst>
                                          <p:attrName>style.visibility</p:attrName>
                                        </p:attrNameLst>
                                      </p:cBhvr>
                                      <p:to>
                                        <p:strVal val="visible"/>
                                      </p:to>
                                    </p:set>
                                    <p:animEffect filter="fade" transition="in">
                                      <p:cBhvr>
                                        <p:cTn dur="1000"/>
                                        <p:tgtEl>
                                          <p:spTgt spid="21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3" st="3"/>
                                            </p:txEl>
                                          </p:spTgt>
                                        </p:tgtEl>
                                        <p:attrNameLst>
                                          <p:attrName>style.visibility</p:attrName>
                                        </p:attrNameLst>
                                      </p:cBhvr>
                                      <p:to>
                                        <p:strVal val="visible"/>
                                      </p:to>
                                    </p:set>
                                    <p:animEffect filter="fade" transition="in">
                                      <p:cBhvr>
                                        <p:cTn dur="1000"/>
                                        <p:tgtEl>
                                          <p:spTgt spid="21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4" st="4"/>
                                            </p:txEl>
                                          </p:spTgt>
                                        </p:tgtEl>
                                        <p:attrNameLst>
                                          <p:attrName>style.visibility</p:attrName>
                                        </p:attrNameLst>
                                      </p:cBhvr>
                                      <p:to>
                                        <p:strVal val="visible"/>
                                      </p:to>
                                    </p:set>
                                    <p:animEffect filter="fade" transition="in">
                                      <p:cBhvr>
                                        <p:cTn dur="1000"/>
                                        <p:tgtEl>
                                          <p:spTgt spid="216">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3"/>
          <p:cNvSpPr txBox="1"/>
          <p:nvPr>
            <p:ph type="title"/>
          </p:nvPr>
        </p:nvSpPr>
        <p:spPr>
          <a:xfrm>
            <a:off x="457200" y="152400"/>
            <a:ext cx="8229600" cy="83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View</a:t>
            </a:r>
            <a:endParaRPr/>
          </a:p>
        </p:txBody>
      </p:sp>
      <p:sp>
        <p:nvSpPr>
          <p:cNvPr id="224" name="Google Shape;224;p1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What the end users see (UI)</a:t>
            </a:r>
            <a:endParaRPr/>
          </a:p>
          <a:p>
            <a:pPr indent="-274320" lvl="0" marL="274320" rtl="0" algn="l">
              <a:spcBef>
                <a:spcPts val="600"/>
              </a:spcBef>
              <a:spcAft>
                <a:spcPts val="0"/>
              </a:spcAft>
              <a:buSzPts val="1976"/>
              <a:buChar char="🞂"/>
            </a:pPr>
            <a:r>
              <a:rPr lang="en-GB"/>
              <a:t>Usually Consists of </a:t>
            </a:r>
            <a:r>
              <a:rPr i="1" lang="en-GB"/>
              <a:t>html/css</a:t>
            </a:r>
            <a:endParaRPr i="1"/>
          </a:p>
          <a:p>
            <a:pPr indent="-274320" lvl="0" marL="274320" rtl="0" algn="l">
              <a:spcBef>
                <a:spcPts val="600"/>
              </a:spcBef>
              <a:spcAft>
                <a:spcPts val="0"/>
              </a:spcAft>
              <a:buSzPts val="1976"/>
              <a:buChar char="🞂"/>
            </a:pPr>
            <a:r>
              <a:rPr lang="en-GB"/>
              <a:t>Communicates with the controller</a:t>
            </a:r>
            <a:endParaRPr/>
          </a:p>
          <a:p>
            <a:pPr indent="-274320" lvl="0" marL="274320" rtl="0" algn="l">
              <a:spcBef>
                <a:spcPts val="600"/>
              </a:spcBef>
              <a:spcAft>
                <a:spcPts val="0"/>
              </a:spcAft>
              <a:buSzPts val="1976"/>
              <a:buChar char="🞂"/>
            </a:pPr>
            <a:r>
              <a:rPr lang="en-GB"/>
              <a:t>While coding are passed as dynamic values from the controller</a:t>
            </a:r>
            <a:endParaRPr/>
          </a:p>
          <a:p>
            <a:pPr indent="-274320" lvl="0" marL="274320" rtl="0" algn="l">
              <a:spcBef>
                <a:spcPts val="600"/>
              </a:spcBef>
              <a:spcAft>
                <a:spcPts val="0"/>
              </a:spcAft>
              <a:buSzPts val="1976"/>
              <a:buChar char="🞂"/>
            </a:pPr>
            <a:r>
              <a:rPr lang="en-GB"/>
              <a:t>A controller can have multiple associated views.</a:t>
            </a:r>
            <a:endParaRPr/>
          </a:p>
          <a:p>
            <a:pPr indent="-274320" lvl="0" marL="274320" rtl="0" algn="l">
              <a:spcBef>
                <a:spcPts val="600"/>
              </a:spcBef>
              <a:spcAft>
                <a:spcPts val="0"/>
              </a:spcAft>
              <a:buSzPts val="1976"/>
              <a:buChar char="🞂"/>
            </a:pPr>
            <a:r>
              <a:rPr lang="en-GB"/>
              <a:t>In the example – product.html, user.html to view a html file</a:t>
            </a:r>
            <a:endParaRPr/>
          </a:p>
          <a:p>
            <a:pPr indent="-148844" lvl="0" marL="274320" rtl="0" algn="l">
              <a:spcBef>
                <a:spcPts val="600"/>
              </a:spcBef>
              <a:spcAft>
                <a:spcPts val="0"/>
              </a:spcAft>
              <a:buSzPts val="1976"/>
              <a:buNone/>
            </a:pPr>
            <a:r>
              <a:t/>
            </a:r>
            <a:endParaRPr i="1"/>
          </a:p>
        </p:txBody>
      </p:sp>
      <p:pic>
        <p:nvPicPr>
          <p:cNvPr descr="brac.png" id="225" name="Google Shape;225;p13"/>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26" name="Google Shape;226;p1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animEffect filter="fade" transition="in">
                                      <p:cBhvr>
                                        <p:cTn dur="1000"/>
                                        <p:tgtEl>
                                          <p:spTgt spid="2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1" st="1"/>
                                            </p:txEl>
                                          </p:spTgt>
                                        </p:tgtEl>
                                        <p:attrNameLst>
                                          <p:attrName>style.visibility</p:attrName>
                                        </p:attrNameLst>
                                      </p:cBhvr>
                                      <p:to>
                                        <p:strVal val="visible"/>
                                      </p:to>
                                    </p:set>
                                    <p:animEffect filter="fade" transition="in">
                                      <p:cBhvr>
                                        <p:cTn dur="1000"/>
                                        <p:tgtEl>
                                          <p:spTgt spid="2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2" st="2"/>
                                            </p:txEl>
                                          </p:spTgt>
                                        </p:tgtEl>
                                        <p:attrNameLst>
                                          <p:attrName>style.visibility</p:attrName>
                                        </p:attrNameLst>
                                      </p:cBhvr>
                                      <p:to>
                                        <p:strVal val="visible"/>
                                      </p:to>
                                    </p:set>
                                    <p:animEffect filter="fade" transition="in">
                                      <p:cBhvr>
                                        <p:cTn dur="1000"/>
                                        <p:tgtEl>
                                          <p:spTgt spid="2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3" st="3"/>
                                            </p:txEl>
                                          </p:spTgt>
                                        </p:tgtEl>
                                        <p:attrNameLst>
                                          <p:attrName>style.visibility</p:attrName>
                                        </p:attrNameLst>
                                      </p:cBhvr>
                                      <p:to>
                                        <p:strVal val="visible"/>
                                      </p:to>
                                    </p:set>
                                    <p:animEffect filter="fade" transition="in">
                                      <p:cBhvr>
                                        <p:cTn dur="1000"/>
                                        <p:tgtEl>
                                          <p:spTgt spid="2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4" st="4"/>
                                            </p:txEl>
                                          </p:spTgt>
                                        </p:tgtEl>
                                        <p:attrNameLst>
                                          <p:attrName>style.visibility</p:attrName>
                                        </p:attrNameLst>
                                      </p:cBhvr>
                                      <p:to>
                                        <p:strVal val="visible"/>
                                      </p:to>
                                    </p:set>
                                    <p:animEffect filter="fade" transition="in">
                                      <p:cBhvr>
                                        <p:cTn dur="1000"/>
                                        <p:tgtEl>
                                          <p:spTgt spid="2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5" st="5"/>
                                            </p:txEl>
                                          </p:spTgt>
                                        </p:tgtEl>
                                        <p:attrNameLst>
                                          <p:attrName>style.visibility</p:attrName>
                                        </p:attrNameLst>
                                      </p:cBhvr>
                                      <p:to>
                                        <p:strVal val="visible"/>
                                      </p:to>
                                    </p:set>
                                    <p:animEffect filter="fade" transition="in">
                                      <p:cBhvr>
                                        <p:cTn dur="1000"/>
                                        <p:tgtEl>
                                          <p:spTgt spid="22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6" st="6"/>
                                            </p:txEl>
                                          </p:spTgt>
                                        </p:tgtEl>
                                        <p:attrNameLst>
                                          <p:attrName>style.visibility</p:attrName>
                                        </p:attrNameLst>
                                      </p:cBhvr>
                                      <p:to>
                                        <p:strVal val="visible"/>
                                      </p:to>
                                    </p:set>
                                    <p:animEffect filter="fade" transition="in">
                                      <p:cBhvr>
                                        <p:cTn dur="1000"/>
                                        <p:tgtEl>
                                          <p:spTgt spid="22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id="231" name="Google Shape;231;p14"/>
          <p:cNvPicPr preferRelativeResize="0"/>
          <p:nvPr>
            <p:ph idx="1" type="body"/>
          </p:nvPr>
        </p:nvPicPr>
        <p:blipFill rotWithShape="1">
          <a:blip r:embed="rId3">
            <a:alphaModFix/>
          </a:blip>
          <a:srcRect b="0" l="0" r="0" t="0"/>
          <a:stretch/>
        </p:blipFill>
        <p:spPr>
          <a:xfrm>
            <a:off x="228600" y="3962400"/>
            <a:ext cx="1524000" cy="1485900"/>
          </a:xfrm>
          <a:prstGeom prst="rect">
            <a:avLst/>
          </a:prstGeom>
          <a:noFill/>
          <a:ln>
            <a:noFill/>
          </a:ln>
        </p:spPr>
      </p:pic>
      <p:sp>
        <p:nvSpPr>
          <p:cNvPr id="232" name="Google Shape;232;p14"/>
          <p:cNvSpPr/>
          <p:nvPr/>
        </p:nvSpPr>
        <p:spPr>
          <a:xfrm>
            <a:off x="4572000" y="4114800"/>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50000" scaled="0"/>
          </a:gradFill>
          <a:ln cap="flat" cmpd="sng" w="9525">
            <a:solidFill>
              <a:schemeClr val="accent6"/>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1800" u="none" cap="none" strike="noStrike">
                <a:solidFill>
                  <a:schemeClr val="dk1"/>
                </a:solidFill>
                <a:latin typeface="Gill Sans"/>
                <a:ea typeface="Gill Sans"/>
                <a:cs typeface="Gill Sans"/>
                <a:sym typeface="Gill Sans"/>
              </a:rPr>
              <a:t>Controller</a:t>
            </a:r>
            <a:endParaRPr b="0" i="0" sz="1800" u="none" cap="none" strike="noStrike">
              <a:solidFill>
                <a:schemeClr val="dk1"/>
              </a:solidFill>
              <a:latin typeface="Gill Sans"/>
              <a:ea typeface="Gill Sans"/>
              <a:cs typeface="Gill Sans"/>
              <a:sym typeface="Gill Sans"/>
            </a:endParaRPr>
          </a:p>
        </p:txBody>
      </p:sp>
      <p:sp>
        <p:nvSpPr>
          <p:cNvPr id="233" name="Google Shape;233;p14"/>
          <p:cNvSpPr/>
          <p:nvPr/>
        </p:nvSpPr>
        <p:spPr>
          <a:xfrm>
            <a:off x="2005469" y="685800"/>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50000" scaled="0"/>
          </a:gradFill>
          <a:ln cap="flat" cmpd="sng" w="9525">
            <a:solidFill>
              <a:schemeClr val="accent6"/>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1800" u="none" cap="none" strike="noStrike">
                <a:solidFill>
                  <a:schemeClr val="dk1"/>
                </a:solidFill>
                <a:latin typeface="Gill Sans"/>
                <a:ea typeface="Gill Sans"/>
                <a:cs typeface="Gill Sans"/>
                <a:sym typeface="Gill Sans"/>
              </a:rPr>
              <a:t>Model</a:t>
            </a:r>
            <a:endParaRPr b="0" i="0" sz="1800" u="none" cap="none" strike="noStrike">
              <a:solidFill>
                <a:schemeClr val="dk1"/>
              </a:solidFill>
              <a:latin typeface="Gill Sans"/>
              <a:ea typeface="Gill Sans"/>
              <a:cs typeface="Gill Sans"/>
              <a:sym typeface="Gill Sans"/>
            </a:endParaRPr>
          </a:p>
        </p:txBody>
      </p:sp>
      <p:sp>
        <p:nvSpPr>
          <p:cNvPr id="234" name="Google Shape;234;p14"/>
          <p:cNvSpPr/>
          <p:nvPr/>
        </p:nvSpPr>
        <p:spPr>
          <a:xfrm>
            <a:off x="6649233" y="673274"/>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50000" scaled="0"/>
          </a:gradFill>
          <a:ln cap="flat" cmpd="sng" w="9525">
            <a:solidFill>
              <a:schemeClr val="accent6"/>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1800" u="none" cap="none" strike="noStrike">
                <a:solidFill>
                  <a:schemeClr val="dk1"/>
                </a:solidFill>
                <a:latin typeface="Gill Sans"/>
                <a:ea typeface="Gill Sans"/>
                <a:cs typeface="Gill Sans"/>
                <a:sym typeface="Gill Sans"/>
              </a:rPr>
              <a:t>View</a:t>
            </a:r>
            <a:endParaRPr b="0" i="0" sz="1800" u="none" cap="none" strike="noStrike">
              <a:solidFill>
                <a:schemeClr val="dk1"/>
              </a:solidFill>
              <a:latin typeface="Gill Sans"/>
              <a:ea typeface="Gill Sans"/>
              <a:cs typeface="Gill Sans"/>
              <a:sym typeface="Gill Sans"/>
            </a:endParaRPr>
          </a:p>
        </p:txBody>
      </p:sp>
      <p:cxnSp>
        <p:nvCxnSpPr>
          <p:cNvPr id="235" name="Google Shape;235;p14"/>
          <p:cNvCxnSpPr/>
          <p:nvPr/>
        </p:nvCxnSpPr>
        <p:spPr>
          <a:xfrm>
            <a:off x="1828800" y="4419600"/>
            <a:ext cx="2743200" cy="0"/>
          </a:xfrm>
          <a:prstGeom prst="straightConnector1">
            <a:avLst/>
          </a:prstGeom>
          <a:noFill/>
          <a:ln cap="flat" cmpd="sng" w="44450">
            <a:solidFill>
              <a:schemeClr val="dk1"/>
            </a:solidFill>
            <a:prstDash val="solid"/>
            <a:round/>
            <a:headEnd len="sm" w="sm" type="none"/>
            <a:tailEnd len="med" w="med" type="stealth"/>
          </a:ln>
        </p:spPr>
      </p:cxnSp>
      <p:sp>
        <p:nvSpPr>
          <p:cNvPr id="236" name="Google Shape;236;p14"/>
          <p:cNvSpPr txBox="1"/>
          <p:nvPr/>
        </p:nvSpPr>
        <p:spPr>
          <a:xfrm>
            <a:off x="1773280" y="3897868"/>
            <a:ext cx="269016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800" u="none" cap="none" strike="noStrike">
                <a:solidFill>
                  <a:schemeClr val="dk1"/>
                </a:solidFill>
                <a:latin typeface="Gill Sans"/>
                <a:ea typeface="Gill Sans"/>
                <a:cs typeface="Gill Sans"/>
                <a:sym typeface="Gill Sans"/>
              </a:rPr>
              <a:t>[1] Request: Get a product</a:t>
            </a:r>
            <a:endParaRPr sz="1800">
              <a:solidFill>
                <a:schemeClr val="dk1"/>
              </a:solidFill>
              <a:latin typeface="Gill Sans"/>
              <a:ea typeface="Gill Sans"/>
              <a:cs typeface="Gill Sans"/>
              <a:sym typeface="Gill Sans"/>
            </a:endParaRPr>
          </a:p>
        </p:txBody>
      </p:sp>
      <p:cxnSp>
        <p:nvCxnSpPr>
          <p:cNvPr id="237" name="Google Shape;237;p14"/>
          <p:cNvCxnSpPr/>
          <p:nvPr/>
        </p:nvCxnSpPr>
        <p:spPr>
          <a:xfrm rot="10800000">
            <a:off x="3154897" y="1865859"/>
            <a:ext cx="1975980" cy="2216675"/>
          </a:xfrm>
          <a:prstGeom prst="straightConnector1">
            <a:avLst/>
          </a:prstGeom>
          <a:noFill/>
          <a:ln cap="flat" cmpd="sng" w="44450">
            <a:solidFill>
              <a:schemeClr val="dk1"/>
            </a:solidFill>
            <a:prstDash val="solid"/>
            <a:round/>
            <a:headEnd len="sm" w="sm" type="none"/>
            <a:tailEnd len="med" w="med" type="stealth"/>
          </a:ln>
        </p:spPr>
      </p:cxnSp>
      <p:sp>
        <p:nvSpPr>
          <p:cNvPr id="238" name="Google Shape;238;p14"/>
          <p:cNvSpPr txBox="1"/>
          <p:nvPr/>
        </p:nvSpPr>
        <p:spPr>
          <a:xfrm rot="2977217">
            <a:off x="3418529" y="2753186"/>
            <a:ext cx="266269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Gill Sans"/>
                <a:ea typeface="Gill Sans"/>
                <a:cs typeface="Gill Sans"/>
                <a:sym typeface="Gill Sans"/>
              </a:rPr>
              <a:t>[2] Get the product data from DB</a:t>
            </a:r>
            <a:endParaRPr sz="1800">
              <a:solidFill>
                <a:schemeClr val="dk1"/>
              </a:solidFill>
              <a:latin typeface="Gill Sans"/>
              <a:ea typeface="Gill Sans"/>
              <a:cs typeface="Gill Sans"/>
              <a:sym typeface="Gill Sans"/>
            </a:endParaRPr>
          </a:p>
        </p:txBody>
      </p:sp>
      <p:cxnSp>
        <p:nvCxnSpPr>
          <p:cNvPr id="239" name="Google Shape;239;p14"/>
          <p:cNvCxnSpPr/>
          <p:nvPr/>
        </p:nvCxnSpPr>
        <p:spPr>
          <a:xfrm>
            <a:off x="2819400" y="1865859"/>
            <a:ext cx="1930478" cy="2248941"/>
          </a:xfrm>
          <a:prstGeom prst="straightConnector1">
            <a:avLst/>
          </a:prstGeom>
          <a:noFill/>
          <a:ln cap="flat" cmpd="sng" w="44450">
            <a:solidFill>
              <a:schemeClr val="dk1"/>
            </a:solidFill>
            <a:prstDash val="solid"/>
            <a:round/>
            <a:headEnd len="sm" w="sm" type="none"/>
            <a:tailEnd len="med" w="med" type="stealth"/>
          </a:ln>
        </p:spPr>
      </p:cxnSp>
      <p:sp>
        <p:nvSpPr>
          <p:cNvPr id="240" name="Google Shape;240;p14"/>
          <p:cNvSpPr txBox="1"/>
          <p:nvPr/>
        </p:nvSpPr>
        <p:spPr>
          <a:xfrm rot="2977217">
            <a:off x="2079628" y="2905584"/>
            <a:ext cx="266269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Gill Sans"/>
                <a:ea typeface="Gill Sans"/>
                <a:cs typeface="Gill Sans"/>
                <a:sym typeface="Gill Sans"/>
              </a:rPr>
              <a:t>[3] Fetch the data and return to controller</a:t>
            </a:r>
            <a:endParaRPr sz="1800">
              <a:solidFill>
                <a:schemeClr val="dk1"/>
              </a:solidFill>
              <a:latin typeface="Gill Sans"/>
              <a:ea typeface="Gill Sans"/>
              <a:cs typeface="Gill Sans"/>
              <a:sym typeface="Gill Sans"/>
            </a:endParaRPr>
          </a:p>
        </p:txBody>
      </p:sp>
      <p:cxnSp>
        <p:nvCxnSpPr>
          <p:cNvPr id="241" name="Google Shape;241;p14"/>
          <p:cNvCxnSpPr/>
          <p:nvPr/>
        </p:nvCxnSpPr>
        <p:spPr>
          <a:xfrm flipH="1" rot="10800000">
            <a:off x="5858570" y="1852809"/>
            <a:ext cx="1676400" cy="2216675"/>
          </a:xfrm>
          <a:prstGeom prst="straightConnector1">
            <a:avLst/>
          </a:prstGeom>
          <a:noFill/>
          <a:ln cap="flat" cmpd="sng" w="44450">
            <a:solidFill>
              <a:schemeClr val="dk1"/>
            </a:solidFill>
            <a:prstDash val="solid"/>
            <a:round/>
            <a:headEnd len="sm" w="sm" type="none"/>
            <a:tailEnd len="med" w="med" type="stealth"/>
          </a:ln>
        </p:spPr>
      </p:cxnSp>
      <p:sp>
        <p:nvSpPr>
          <p:cNvPr id="242" name="Google Shape;242;p14"/>
          <p:cNvSpPr txBox="1"/>
          <p:nvPr/>
        </p:nvSpPr>
        <p:spPr>
          <a:xfrm rot="-3071590">
            <a:off x="5283102" y="2312309"/>
            <a:ext cx="233284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Gill Sans"/>
                <a:ea typeface="Gill Sans"/>
                <a:cs typeface="Gill Sans"/>
                <a:sym typeface="Gill Sans"/>
              </a:rPr>
              <a:t>[4] Get Presentation of the product data</a:t>
            </a:r>
            <a:endParaRPr sz="1800">
              <a:solidFill>
                <a:schemeClr val="dk1"/>
              </a:solidFill>
              <a:latin typeface="Gill Sans"/>
              <a:ea typeface="Gill Sans"/>
              <a:cs typeface="Gill Sans"/>
              <a:sym typeface="Gill Sans"/>
            </a:endParaRPr>
          </a:p>
        </p:txBody>
      </p:sp>
      <p:sp>
        <p:nvSpPr>
          <p:cNvPr id="243" name="Google Shape;243;p14"/>
          <p:cNvSpPr txBox="1"/>
          <p:nvPr/>
        </p:nvSpPr>
        <p:spPr>
          <a:xfrm rot="-3190113">
            <a:off x="6399706" y="2654592"/>
            <a:ext cx="233284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Gill Sans"/>
                <a:ea typeface="Gill Sans"/>
                <a:cs typeface="Gill Sans"/>
                <a:sym typeface="Gill Sans"/>
              </a:rPr>
              <a:t>[5] Returns the presentation with dynamic rendering</a:t>
            </a:r>
            <a:endParaRPr sz="1800">
              <a:solidFill>
                <a:schemeClr val="dk1"/>
              </a:solidFill>
              <a:latin typeface="Gill Sans"/>
              <a:ea typeface="Gill Sans"/>
              <a:cs typeface="Gill Sans"/>
              <a:sym typeface="Gill Sans"/>
            </a:endParaRPr>
          </a:p>
        </p:txBody>
      </p:sp>
      <p:sp>
        <p:nvSpPr>
          <p:cNvPr id="244" name="Google Shape;244;p14"/>
          <p:cNvSpPr txBox="1"/>
          <p:nvPr/>
        </p:nvSpPr>
        <p:spPr>
          <a:xfrm>
            <a:off x="1860144" y="4759705"/>
            <a:ext cx="252844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Gill Sans"/>
                <a:ea typeface="Gill Sans"/>
                <a:cs typeface="Gill Sans"/>
                <a:sym typeface="Gill Sans"/>
              </a:rPr>
              <a:t>[6] Returns the response</a:t>
            </a:r>
            <a:endParaRPr sz="1800">
              <a:solidFill>
                <a:schemeClr val="dk1"/>
              </a:solidFill>
              <a:latin typeface="Gill Sans"/>
              <a:ea typeface="Gill Sans"/>
              <a:cs typeface="Gill Sans"/>
              <a:sym typeface="Gill Sans"/>
            </a:endParaRPr>
          </a:p>
        </p:txBody>
      </p:sp>
      <p:cxnSp>
        <p:nvCxnSpPr>
          <p:cNvPr id="245" name="Google Shape;245;p14"/>
          <p:cNvCxnSpPr>
            <a:stCxn id="232" idx="1"/>
          </p:cNvCxnSpPr>
          <p:nvPr/>
        </p:nvCxnSpPr>
        <p:spPr>
          <a:xfrm rot="10800000">
            <a:off x="1828800" y="4686300"/>
            <a:ext cx="2743200" cy="0"/>
          </a:xfrm>
          <a:prstGeom prst="straightConnector1">
            <a:avLst/>
          </a:prstGeom>
          <a:noFill/>
          <a:ln cap="flat" cmpd="sng" w="44450">
            <a:solidFill>
              <a:schemeClr val="dk1"/>
            </a:solidFill>
            <a:prstDash val="solid"/>
            <a:round/>
            <a:headEnd len="sm" w="sm" type="none"/>
            <a:tailEnd len="med" w="med" type="stealth"/>
          </a:ln>
        </p:spPr>
      </p:cxnSp>
      <p:sp>
        <p:nvSpPr>
          <p:cNvPr id="246" name="Google Shape;246;p14"/>
          <p:cNvSpPr/>
          <p:nvPr/>
        </p:nvSpPr>
        <p:spPr>
          <a:xfrm>
            <a:off x="6660715" y="4498502"/>
            <a:ext cx="1943100" cy="1143000"/>
          </a:xfrm>
          <a:prstGeom prst="flowChartAlternateProcess">
            <a:avLst/>
          </a:prstGeom>
          <a:gradFill>
            <a:gsLst>
              <a:gs pos="0">
                <a:srgbClr val="D6CAEE"/>
              </a:gs>
              <a:gs pos="30000">
                <a:srgbClr val="C6B2E8"/>
              </a:gs>
              <a:gs pos="45000">
                <a:srgbClr val="C1ABE7"/>
              </a:gs>
              <a:gs pos="55000">
                <a:srgbClr val="C1ABE7"/>
              </a:gs>
              <a:gs pos="73000">
                <a:srgbClr val="C6B2E8"/>
              </a:gs>
              <a:gs pos="100000">
                <a:srgbClr val="D6CAEE"/>
              </a:gs>
            </a:gsLst>
            <a:lin ang="950000" scaled="0"/>
          </a:gradFill>
          <a:ln cap="flat" cmpd="sng" w="9525">
            <a:solidFill>
              <a:schemeClr val="accent5"/>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dk1"/>
                </a:solidFill>
                <a:latin typeface="Gill Sans"/>
                <a:ea typeface="Gill Sans"/>
                <a:cs typeface="Gill Sans"/>
                <a:sym typeface="Gill Sans"/>
              </a:rPr>
              <a:t>Routes</a:t>
            </a:r>
            <a:endParaRPr sz="1800">
              <a:solidFill>
                <a:schemeClr val="dk1"/>
              </a:solidFill>
              <a:latin typeface="Gill Sans"/>
              <a:ea typeface="Gill Sans"/>
              <a:cs typeface="Gill Sans"/>
              <a:sym typeface="Gill Sans"/>
            </a:endParaRPr>
          </a:p>
        </p:txBody>
      </p:sp>
      <p:cxnSp>
        <p:nvCxnSpPr>
          <p:cNvPr id="247" name="Google Shape;247;p14"/>
          <p:cNvCxnSpPr/>
          <p:nvPr/>
        </p:nvCxnSpPr>
        <p:spPr>
          <a:xfrm flipH="1">
            <a:off x="6172200" y="1865859"/>
            <a:ext cx="1676400" cy="2248941"/>
          </a:xfrm>
          <a:prstGeom prst="straightConnector1">
            <a:avLst/>
          </a:prstGeom>
          <a:noFill/>
          <a:ln cap="flat" cmpd="sng" w="44450">
            <a:solidFill>
              <a:schemeClr val="dk1"/>
            </a:solidFill>
            <a:prstDash val="solid"/>
            <a:round/>
            <a:headEnd len="sm" w="sm" type="none"/>
            <a:tailEnd len="med" w="med" type="stealth"/>
          </a:ln>
        </p:spPr>
      </p:cxnSp>
      <p:pic>
        <p:nvPicPr>
          <p:cNvPr descr="brac.png" id="248" name="Google Shape;248;p14"/>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249" name="Google Shape;249;p1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par>
                                <p:cTn fill="hold" nodeType="with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par>
                                <p:cTn fill="hold" nodeType="with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par>
                                <p:cTn fill="hold" nodeType="with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par>
                                <p:cTn fill="hold" nodeType="with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par>
                                <p:cTn fill="hold" nodeType="with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par>
                                <p:cTn fill="hold" nodeType="with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6"/>
                                        </p:tgtEl>
                                        <p:attrNameLst>
                                          <p:attrName>style.visibility</p:attrName>
                                        </p:attrNameLst>
                                      </p:cBhvr>
                                      <p:to>
                                        <p:strVal val="visible"/>
                                      </p:to>
                                    </p:set>
                                    <p:anim calcmode="lin" valueType="num">
                                      <p:cBhvr additive="base">
                                        <p:cTn dur="1000"/>
                                        <p:tgtEl>
                                          <p:spTgt spid="24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Routes</a:t>
            </a:r>
            <a:endParaRPr/>
          </a:p>
        </p:txBody>
      </p:sp>
      <p:sp>
        <p:nvSpPr>
          <p:cNvPr id="255" name="Google Shape;255;p15"/>
          <p:cNvSpPr txBox="1"/>
          <p:nvPr>
            <p:ph idx="1" type="body"/>
          </p:nvPr>
        </p:nvSpPr>
        <p:spPr>
          <a:xfrm>
            <a:off x="457200" y="1219200"/>
            <a:ext cx="8497800" cy="49377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Are urls to access a resource kept under App_Start folder</a:t>
            </a:r>
            <a:endParaRPr/>
          </a:p>
          <a:p>
            <a:pPr indent="-274320" lvl="0" marL="274320" rtl="0" algn="l">
              <a:spcBef>
                <a:spcPts val="600"/>
              </a:spcBef>
              <a:spcAft>
                <a:spcPts val="0"/>
              </a:spcAft>
              <a:buSzPts val="1976"/>
              <a:buChar char="🞂"/>
            </a:pPr>
            <a:r>
              <a:rPr lang="en-GB"/>
              <a:t>General structure - http://domainName/{controller}/{action}/{id}</a:t>
            </a:r>
            <a:endParaRPr/>
          </a:p>
          <a:p>
            <a:pPr indent="-274320" lvl="0" marL="274320" rtl="0" algn="l">
              <a:spcBef>
                <a:spcPts val="600"/>
              </a:spcBef>
              <a:spcAft>
                <a:spcPts val="0"/>
              </a:spcAft>
              <a:buSzPts val="1976"/>
              <a:buChar char="🞂"/>
            </a:pPr>
            <a:r>
              <a:rPr lang="en-GB"/>
              <a:t> http://YourApp.com/Users/Profile/25</a:t>
            </a:r>
            <a:endParaRPr/>
          </a:p>
        </p:txBody>
      </p:sp>
      <p:pic>
        <p:nvPicPr>
          <p:cNvPr descr="brac.png" id="256" name="Google Shape;256;p15"/>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57" name="Google Shape;257;p1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pic>
        <p:nvPicPr>
          <p:cNvPr id="258" name="Google Shape;258;p15"/>
          <p:cNvPicPr preferRelativeResize="0"/>
          <p:nvPr/>
        </p:nvPicPr>
        <p:blipFill>
          <a:blip r:embed="rId4">
            <a:alphaModFix/>
          </a:blip>
          <a:stretch>
            <a:fillRect/>
          </a:stretch>
        </p:blipFill>
        <p:spPr>
          <a:xfrm>
            <a:off x="933400" y="3098375"/>
            <a:ext cx="6718100" cy="3183400"/>
          </a:xfrm>
          <a:prstGeom prst="rect">
            <a:avLst/>
          </a:prstGeom>
          <a:noFill/>
          <a:ln>
            <a:noFill/>
          </a:ln>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t/>
            </a:r>
            <a:endParaRPr/>
          </a:p>
        </p:txBody>
      </p:sp>
      <p:pic>
        <p:nvPicPr>
          <p:cNvPr id="264" name="Google Shape;264;p16"/>
          <p:cNvPicPr preferRelativeResize="0"/>
          <p:nvPr>
            <p:ph idx="1" type="body"/>
          </p:nvPr>
        </p:nvPicPr>
        <p:blipFill rotWithShape="1">
          <a:blip r:embed="rId3">
            <a:alphaModFix/>
          </a:blip>
          <a:srcRect b="0" l="0" r="0" t="0"/>
          <a:stretch/>
        </p:blipFill>
        <p:spPr>
          <a:xfrm>
            <a:off x="2514600" y="990600"/>
            <a:ext cx="3962400" cy="5153025"/>
          </a:xfrm>
          <a:prstGeom prst="rect">
            <a:avLst/>
          </a:prstGeom>
          <a:noFill/>
          <a:ln>
            <a:noFill/>
          </a:ln>
        </p:spPr>
      </p:pic>
      <p:pic>
        <p:nvPicPr>
          <p:cNvPr descr="brac.png" id="265" name="Google Shape;265;p16"/>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266" name="Google Shape;266;p1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t/>
            </a:r>
            <a:endParaRPr/>
          </a:p>
        </p:txBody>
      </p:sp>
      <p:pic>
        <p:nvPicPr>
          <p:cNvPr id="272" name="Google Shape;272;p17"/>
          <p:cNvPicPr preferRelativeResize="0"/>
          <p:nvPr>
            <p:ph idx="1" type="body"/>
          </p:nvPr>
        </p:nvPicPr>
        <p:blipFill rotWithShape="1">
          <a:blip r:embed="rId3">
            <a:alphaModFix/>
          </a:blip>
          <a:srcRect b="0" l="0" r="0" t="0"/>
          <a:stretch/>
        </p:blipFill>
        <p:spPr>
          <a:xfrm>
            <a:off x="381000" y="304800"/>
            <a:ext cx="8382000" cy="6172200"/>
          </a:xfrm>
          <a:prstGeom prst="rect">
            <a:avLst/>
          </a:prstGeom>
          <a:noFill/>
          <a:ln>
            <a:noFill/>
          </a:ln>
        </p:spPr>
      </p:pic>
      <p:pic>
        <p:nvPicPr>
          <p:cNvPr descr="brac.png" id="273" name="Google Shape;273;p17"/>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274" name="Google Shape;274;p1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pic>
        <p:nvPicPr>
          <p:cNvPr descr="Capture.PNG" id="275" name="Google Shape;275;p17"/>
          <p:cNvPicPr preferRelativeResize="0"/>
          <p:nvPr/>
        </p:nvPicPr>
        <p:blipFill rotWithShape="1">
          <a:blip r:embed="rId5">
            <a:alphaModFix/>
          </a:blip>
          <a:srcRect b="0" l="0" r="0" t="0"/>
          <a:stretch/>
        </p:blipFill>
        <p:spPr>
          <a:xfrm>
            <a:off x="4800600" y="0"/>
            <a:ext cx="4343400" cy="3276600"/>
          </a:xfrm>
          <a:prstGeom prst="rect">
            <a:avLst/>
          </a:prstGeom>
          <a:noFill/>
          <a:ln>
            <a:noFill/>
          </a:ln>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t/>
            </a:r>
            <a:endParaRPr/>
          </a:p>
        </p:txBody>
      </p:sp>
      <p:sp>
        <p:nvSpPr>
          <p:cNvPr id="281" name="Google Shape;281;p18"/>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148844" lvl="0" marL="274320" rtl="0" algn="l">
              <a:spcBef>
                <a:spcPts val="0"/>
              </a:spcBef>
              <a:spcAft>
                <a:spcPts val="0"/>
              </a:spcAft>
              <a:buSzPts val="1976"/>
              <a:buNone/>
            </a:pPr>
            <a:r>
              <a:t/>
            </a:r>
            <a:endParaRPr/>
          </a:p>
        </p:txBody>
      </p:sp>
      <p:sp>
        <p:nvSpPr>
          <p:cNvPr id="282" name="Google Shape;282;p18"/>
          <p:cNvSpPr txBox="1"/>
          <p:nvPr/>
        </p:nvSpPr>
        <p:spPr>
          <a:xfrm>
            <a:off x="505217" y="914400"/>
            <a:ext cx="4800600"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00B0F0"/>
                </a:solidFill>
                <a:latin typeface="Gill Sans"/>
                <a:ea typeface="Gill Sans"/>
                <a:cs typeface="Gill Sans"/>
                <a:sym typeface="Gill Sans"/>
              </a:rPr>
              <a:t>When Used: </a:t>
            </a:r>
            <a:endParaRPr/>
          </a:p>
          <a:p>
            <a:pPr indent="0" lvl="0" marL="0" marR="0" rtl="0" algn="l">
              <a:spcBef>
                <a:spcPts val="0"/>
              </a:spcBef>
              <a:spcAft>
                <a:spcPts val="0"/>
              </a:spcAft>
              <a:buNone/>
            </a:pPr>
            <a:r>
              <a:rPr lang="en-GB" sz="1800">
                <a:solidFill>
                  <a:srgbClr val="000000"/>
                </a:solidFill>
                <a:latin typeface="Helvetica Neue"/>
                <a:ea typeface="Helvetica Neue"/>
                <a:cs typeface="Helvetica Neue"/>
                <a:sym typeface="Helvetica Neue"/>
              </a:rPr>
              <a:t>Used when there are multiple ways to view and interact with data. Also used when the future requirements for interaction and presentation of data are unknown. </a:t>
            </a:r>
            <a:endParaRPr/>
          </a:p>
        </p:txBody>
      </p:sp>
      <p:sp>
        <p:nvSpPr>
          <p:cNvPr id="283" name="Google Shape;283;p18"/>
          <p:cNvSpPr txBox="1"/>
          <p:nvPr/>
        </p:nvSpPr>
        <p:spPr>
          <a:xfrm>
            <a:off x="3200400" y="2590800"/>
            <a:ext cx="4800600" cy="175432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GB" sz="1800">
                <a:solidFill>
                  <a:srgbClr val="00B0F0"/>
                </a:solidFill>
                <a:latin typeface="Helvetica Neue"/>
                <a:ea typeface="Helvetica Neue"/>
                <a:cs typeface="Helvetica Neue"/>
                <a:sym typeface="Helvetica Neue"/>
              </a:rPr>
              <a:t>Advantages:</a:t>
            </a:r>
            <a:endParaRPr/>
          </a:p>
          <a:p>
            <a:pPr indent="0" lvl="0" marL="0" marR="0" rtl="0" algn="just">
              <a:spcBef>
                <a:spcPts val="0"/>
              </a:spcBef>
              <a:spcAft>
                <a:spcPts val="0"/>
              </a:spcAft>
              <a:buNone/>
            </a:pPr>
            <a:r>
              <a:rPr lang="en-GB" sz="1800">
                <a:solidFill>
                  <a:srgbClr val="000000"/>
                </a:solidFill>
                <a:latin typeface="Helvetica Neue"/>
                <a:ea typeface="Helvetica Neue"/>
                <a:cs typeface="Helvetica Neue"/>
                <a:sym typeface="Helvetica Neue"/>
              </a:rPr>
              <a:t>Allows the data to change independently of its representation and vice versa. Supports presentation of the same data in different ways with changes made in one representation shown in all of them. </a:t>
            </a:r>
            <a:endParaRPr/>
          </a:p>
        </p:txBody>
      </p:sp>
      <p:sp>
        <p:nvSpPr>
          <p:cNvPr id="284" name="Google Shape;284;p18"/>
          <p:cNvSpPr txBox="1"/>
          <p:nvPr/>
        </p:nvSpPr>
        <p:spPr>
          <a:xfrm>
            <a:off x="762522" y="4648200"/>
            <a:ext cx="4800600"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GB" sz="1800">
                <a:solidFill>
                  <a:srgbClr val="00B0F0"/>
                </a:solidFill>
                <a:latin typeface="Helvetica Neue"/>
                <a:ea typeface="Helvetica Neue"/>
                <a:cs typeface="Helvetica Neue"/>
                <a:sym typeface="Helvetica Neue"/>
              </a:rPr>
              <a:t>Disadvantages:</a:t>
            </a:r>
            <a:endParaRPr/>
          </a:p>
          <a:p>
            <a:pPr indent="0" lvl="0" marL="0" marR="0" rtl="0" algn="just">
              <a:spcBef>
                <a:spcPts val="0"/>
              </a:spcBef>
              <a:spcAft>
                <a:spcPts val="0"/>
              </a:spcAft>
              <a:buNone/>
            </a:pPr>
            <a:r>
              <a:rPr lang="en-GB" sz="1800">
                <a:solidFill>
                  <a:srgbClr val="000000"/>
                </a:solidFill>
                <a:latin typeface="Helvetica Neue"/>
                <a:ea typeface="Helvetica Neue"/>
                <a:cs typeface="Helvetica Neue"/>
                <a:sym typeface="Helvetica Neue"/>
              </a:rPr>
              <a:t>Can involve additional code and code complexity when the data model and interactions are simple.</a:t>
            </a:r>
            <a:endParaRPr/>
          </a:p>
        </p:txBody>
      </p:sp>
      <p:pic>
        <p:nvPicPr>
          <p:cNvPr descr="brac.png" id="285" name="Google Shape;285;p18"/>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86" name="Google Shape;286;p1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1000"/>
                                        <p:tgtEl>
                                          <p:spTgt spid="2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1000"/>
                                        <p:tgtEl>
                                          <p:spTgt spid="2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1000"/>
                                        <p:tgtEl>
                                          <p:spTgt spid="2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Summary</a:t>
            </a:r>
            <a:endParaRPr/>
          </a:p>
        </p:txBody>
      </p:sp>
      <p:sp>
        <p:nvSpPr>
          <p:cNvPr id="292" name="Google Shape;292;p19"/>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MVC is one of the most used architectural patterns.</a:t>
            </a:r>
            <a:endParaRPr/>
          </a:p>
          <a:p>
            <a:pPr indent="-274320" lvl="0" marL="274320" rtl="0" algn="l">
              <a:spcBef>
                <a:spcPts val="600"/>
              </a:spcBef>
              <a:spcAft>
                <a:spcPts val="0"/>
              </a:spcAft>
              <a:buSzPts val="1976"/>
              <a:buChar char="🞂"/>
            </a:pPr>
            <a:r>
              <a:rPr lang="en-GB"/>
              <a:t>It divides the system into three parts – model, view and controller</a:t>
            </a:r>
            <a:endParaRPr/>
          </a:p>
          <a:p>
            <a:pPr indent="-274320" lvl="0" marL="274320" rtl="0" algn="l">
              <a:spcBef>
                <a:spcPts val="600"/>
              </a:spcBef>
              <a:spcAft>
                <a:spcPts val="0"/>
              </a:spcAft>
              <a:buSzPts val="1976"/>
              <a:buChar char="🞂"/>
            </a:pPr>
            <a:r>
              <a:rPr lang="en-GB"/>
              <a:t>It provides a extensible separation of concern (SOC) from presentation view to data processing logic.</a:t>
            </a:r>
            <a:endParaRPr/>
          </a:p>
        </p:txBody>
      </p:sp>
      <p:pic>
        <p:nvPicPr>
          <p:cNvPr descr="1474612861_giphy (1).gif" id="293" name="Google Shape;293;p19"/>
          <p:cNvPicPr preferRelativeResize="0"/>
          <p:nvPr/>
        </p:nvPicPr>
        <p:blipFill rotWithShape="1">
          <a:blip r:embed="rId3">
            <a:alphaModFix/>
          </a:blip>
          <a:srcRect b="0" l="0" r="0" t="0"/>
          <a:stretch/>
        </p:blipFill>
        <p:spPr>
          <a:xfrm>
            <a:off x="6172200" y="4191000"/>
            <a:ext cx="2743200" cy="2362200"/>
          </a:xfrm>
          <a:prstGeom prst="rect">
            <a:avLst/>
          </a:prstGeom>
          <a:noFill/>
          <a:ln>
            <a:noFill/>
          </a:ln>
        </p:spPr>
      </p:pic>
      <p:pic>
        <p:nvPicPr>
          <p:cNvPr descr="brac.png" id="294" name="Google Shape;294;p19"/>
          <p:cNvPicPr preferRelativeResize="0"/>
          <p:nvPr/>
        </p:nvPicPr>
        <p:blipFill rotWithShape="1">
          <a:blip r:embed="rId4">
            <a:alphaModFix/>
          </a:blip>
          <a:srcRect b="0" l="0" r="0" t="0"/>
          <a:stretch/>
        </p:blipFill>
        <p:spPr>
          <a:xfrm>
            <a:off x="0" y="5791200"/>
            <a:ext cx="1371600" cy="1066800"/>
          </a:xfrm>
          <a:prstGeom prst="rect">
            <a:avLst/>
          </a:prstGeom>
          <a:noFill/>
          <a:ln>
            <a:noFill/>
          </a:ln>
        </p:spPr>
      </p:pic>
      <p:sp>
        <p:nvSpPr>
          <p:cNvPr id="295" name="Google Shape;295;p1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rigin">
  <a:themeElements>
    <a:clrScheme name="Pa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2020-05-26T17:53:17Z</dcterms:created>
  <dc:creator>User</dc:creator>
</cp:coreProperties>
</file>