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5"/>
  </p:notesMasterIdLst>
  <p:handoutMasterIdLst>
    <p:handoutMasterId r:id="rId46"/>
  </p:handoutMasterIdLst>
  <p:sldIdLst>
    <p:sldId id="256" r:id="rId2"/>
    <p:sldId id="321" r:id="rId3"/>
    <p:sldId id="400" r:id="rId4"/>
    <p:sldId id="383" r:id="rId5"/>
    <p:sldId id="384" r:id="rId6"/>
    <p:sldId id="385" r:id="rId7"/>
    <p:sldId id="386" r:id="rId8"/>
    <p:sldId id="387" r:id="rId9"/>
    <p:sldId id="398" r:id="rId10"/>
    <p:sldId id="395" r:id="rId11"/>
    <p:sldId id="394" r:id="rId12"/>
    <p:sldId id="396" r:id="rId13"/>
    <p:sldId id="397" r:id="rId14"/>
    <p:sldId id="401" r:id="rId15"/>
    <p:sldId id="323" r:id="rId16"/>
    <p:sldId id="324" r:id="rId17"/>
    <p:sldId id="326" r:id="rId18"/>
    <p:sldId id="327" r:id="rId19"/>
    <p:sldId id="328" r:id="rId20"/>
    <p:sldId id="329" r:id="rId21"/>
    <p:sldId id="330" r:id="rId22"/>
    <p:sldId id="331" r:id="rId23"/>
    <p:sldId id="332" r:id="rId24"/>
    <p:sldId id="334" r:id="rId25"/>
    <p:sldId id="338" r:id="rId26"/>
    <p:sldId id="339" r:id="rId27"/>
    <p:sldId id="341" r:id="rId28"/>
    <p:sldId id="342" r:id="rId29"/>
    <p:sldId id="399" r:id="rId30"/>
    <p:sldId id="352" r:id="rId31"/>
    <p:sldId id="353" r:id="rId32"/>
    <p:sldId id="389" r:id="rId33"/>
    <p:sldId id="390" r:id="rId34"/>
    <p:sldId id="391" r:id="rId35"/>
    <p:sldId id="367" r:id="rId36"/>
    <p:sldId id="368" r:id="rId37"/>
    <p:sldId id="369" r:id="rId38"/>
    <p:sldId id="370" r:id="rId39"/>
    <p:sldId id="392" r:id="rId40"/>
    <p:sldId id="372" r:id="rId41"/>
    <p:sldId id="374" r:id="rId42"/>
    <p:sldId id="402" r:id="rId43"/>
    <p:sldId id="380" r:id="rId44"/>
  </p:sldIdLst>
  <p:sldSz cx="9144000" cy="6858000" type="screen4x3"/>
  <p:notesSz cx="6735763" cy="9866313"/>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689" autoAdjust="0"/>
  </p:normalViewPr>
  <p:slideViewPr>
    <p:cSldViewPr snapToObjects="1">
      <p:cViewPr varScale="1">
        <p:scale>
          <a:sx n="60" d="100"/>
          <a:sy n="60" d="100"/>
        </p:scale>
        <p:origin x="168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6/15/2019</a:t>
            </a:fld>
            <a:endParaRPr lang="en-US"/>
          </a:p>
        </p:txBody>
      </p:sp>
      <p:sp>
        <p:nvSpPr>
          <p:cNvPr id="4" name="Footer Placeholder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1005576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6/15/2019</a:t>
            </a:fld>
            <a:endParaRPr lang="en-US"/>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73577" y="4686499"/>
            <a:ext cx="5388610" cy="4439841"/>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1616883313"/>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Interactor</a:t>
            </a:r>
            <a:r>
              <a:rPr lang="en-US" dirty="0"/>
              <a:t> viewpoints represent people or other systems that interact directly with the system. In the bank ATM system, examples of </a:t>
            </a:r>
            <a:r>
              <a:rPr lang="en-US" dirty="0" err="1"/>
              <a:t>interactor</a:t>
            </a:r>
            <a:r>
              <a:rPr lang="en-US" dirty="0"/>
              <a:t> viewpoints are the bank’s customers and the bank’s account database.</a:t>
            </a:r>
          </a:p>
          <a:p>
            <a:endParaRPr lang="en-US" dirty="0"/>
          </a:p>
          <a:p>
            <a:r>
              <a:rPr lang="en-US" dirty="0"/>
              <a:t>Indirect viewpoints represent stakeholders who do not use the system themselves but who influence the requirements in some way. In the bank ATM system, examples of indirect viewpoints are the management of the bank and the bank security staff.</a:t>
            </a:r>
          </a:p>
          <a:p>
            <a:endParaRPr lang="en-US" dirty="0"/>
          </a:p>
          <a:p>
            <a:r>
              <a:rPr lang="en-US" dirty="0"/>
              <a:t>Domain viewpoints represent domain characteristics and constraints that influence the system requirements. In the bank ATM system, an example of a domain viewpoint would be the standards that have been developed for interbank communications.</a:t>
            </a:r>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24</a:t>
            </a:fld>
            <a:endParaRPr lang="en-US"/>
          </a:p>
        </p:txBody>
      </p:sp>
    </p:spTree>
    <p:extLst>
      <p:ext uri="{BB962C8B-B14F-4D97-AF65-F5344CB8AC3E}">
        <p14:creationId xmlns:p14="http://schemas.microsoft.com/office/powerpoint/2010/main" val="1901559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7B8CCC-C6F6-C744-8767-7124C04F432F}" type="datetime1">
              <a:rPr lang="en-US" smtClean="0"/>
              <a:pPr>
                <a:defRPr/>
              </a:pPr>
              <a:t>6/15/2019</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pPr>
                <a:defRPr/>
              </a:pPr>
              <a:t>6/15/2019</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pPr>
                <a:defRPr/>
              </a:pPr>
              <a:t>6/15/2019</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pPr>
                <a:defRPr/>
              </a:pPr>
              <a:t>6/15/2019</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pPr>
                <a:defRPr/>
              </a:pPr>
              <a:t>6/15/2019</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pPr>
                <a:defRPr/>
              </a:pPr>
              <a:t>6/15/2019</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pPr>
                <a:defRPr/>
              </a:pPr>
              <a:t>6/15/2019</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pPr>
                <a:defRPr/>
              </a:pPr>
              <a:t>6/15/2019</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pPr>
                <a:defRPr/>
              </a:pPr>
              <a:t>6/15/2019</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pPr>
                <a:defRPr/>
              </a:pPr>
              <a:t>6/15/2019</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pPr>
                <a:defRPr/>
              </a:pPr>
              <a:t>6/15/2019</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pPr>
                <a:defRPr/>
              </a:pPr>
              <a:t>6/15/2019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p:spPr>
        <p:txBody>
          <a:bodyPr lIns="90487" tIns="44450" rIns="90487" bIns="44450"/>
          <a:lstStyle/>
          <a:p>
            <a:r>
              <a:rPr lang="en-GB" dirty="0"/>
              <a:t>Topics covered</a:t>
            </a:r>
          </a:p>
        </p:txBody>
      </p:sp>
      <p:sp>
        <p:nvSpPr>
          <p:cNvPr id="5123" name="Rectangle 3"/>
          <p:cNvSpPr>
            <a:spLocks noGrp="1" noChangeArrowheads="1"/>
          </p:cNvSpPr>
          <p:nvPr>
            <p:ph type="body" idx="1"/>
          </p:nvPr>
        </p:nvSpPr>
        <p:spPr>
          <a:xfrm>
            <a:off x="468313" y="1412875"/>
            <a:ext cx="8326437" cy="4895850"/>
          </a:xfrm>
          <a:noFill/>
        </p:spPr>
        <p:txBody>
          <a:bodyPr lIns="90487" tIns="44450" rIns="90487" bIns="44450"/>
          <a:lstStyle/>
          <a:p>
            <a:pPr>
              <a:buFont typeface="Zapf Dingbats" charset="2"/>
              <a:buNone/>
            </a:pPr>
            <a:endParaRPr lang="en-GB" dirty="0"/>
          </a:p>
          <a:p>
            <a:pPr>
              <a:buFont typeface="Zapf Dingbats" charset="2"/>
              <a:buAutoNum type="arabicPeriod"/>
            </a:pPr>
            <a:r>
              <a:rPr lang="en-GB" dirty="0"/>
              <a:t>What is requirements</a:t>
            </a:r>
          </a:p>
          <a:p>
            <a:pPr>
              <a:buFont typeface="Zapf Dingbats" charset="2"/>
              <a:buAutoNum type="arabicPeriod"/>
            </a:pPr>
            <a:r>
              <a:rPr lang="en-GB" dirty="0"/>
              <a:t>Types of requirements</a:t>
            </a:r>
          </a:p>
          <a:p>
            <a:pPr>
              <a:buFont typeface="Zapf Dingbats" charset="2"/>
              <a:buAutoNum type="arabicPeriod"/>
            </a:pPr>
            <a:r>
              <a:rPr lang="en-GB" dirty="0"/>
              <a:t>Requirements engineering processes</a:t>
            </a:r>
          </a:p>
          <a:p>
            <a:pPr marL="457200" lvl="1" indent="0">
              <a:buNone/>
            </a:pPr>
            <a:r>
              <a:rPr lang="en-GB" dirty="0"/>
              <a:t>The overall requirements engineering process includes four high-level requirements engineering sub-process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p:txBody>
      </p:sp>
    </p:spTree>
    <p:extLst>
      <p:ext uri="{BB962C8B-B14F-4D97-AF65-F5344CB8AC3E}">
        <p14:creationId xmlns:p14="http://schemas.microsoft.com/office/powerpoint/2010/main" val="191712569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Capture.PNG"/>
          <p:cNvPicPr>
            <a:picLocks noGrp="1" noChangeAspect="1"/>
          </p:cNvPicPr>
          <p:nvPr>
            <p:ph idx="1"/>
          </p:nvPr>
        </p:nvPicPr>
        <p:blipFill>
          <a:blip r:embed="rId2"/>
          <a:stretch>
            <a:fillRect/>
          </a:stretch>
        </p:blipFill>
        <p:spPr>
          <a:xfrm>
            <a:off x="1187624" y="1628800"/>
            <a:ext cx="6562808" cy="4474645"/>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dirty="0"/>
              <a:t>What is a requirements?</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dirty="0"/>
              <a:t>It </a:t>
            </a:r>
            <a:r>
              <a:rPr lang="en-GB" u="sng" dirty="0"/>
              <a:t>may range from a high-level abstract </a:t>
            </a:r>
            <a:r>
              <a:rPr lang="en-GB" b="1" u="sng" dirty="0"/>
              <a:t>statement of a service or of a system constraint </a:t>
            </a:r>
            <a:r>
              <a:rPr lang="en-GB" dirty="0"/>
              <a:t>to a detailed mathematical functional specification.</a:t>
            </a:r>
          </a:p>
          <a:p>
            <a:pPr>
              <a:lnSpc>
                <a:spcPct val="90000"/>
              </a:lnSpc>
            </a:pPr>
            <a:r>
              <a:rPr lang="en-GB" dirty="0"/>
              <a:t>This is inevitable as requirements may serve a dual function</a:t>
            </a:r>
          </a:p>
          <a:p>
            <a:pPr lvl="1">
              <a:lnSpc>
                <a:spcPct val="90000"/>
              </a:lnSpc>
            </a:pPr>
            <a:r>
              <a:rPr lang="en-GB" u="sng" dirty="0"/>
              <a:t>May be the basis for a bid for a contract – therefore must be open to interpretation;</a:t>
            </a:r>
          </a:p>
          <a:p>
            <a:pPr lvl="1">
              <a:lnSpc>
                <a:spcPct val="90000"/>
              </a:lnSpc>
            </a:pPr>
            <a:r>
              <a:rPr lang="en-GB" u="sng" dirty="0"/>
              <a:t>May be the basis for the contract itself – therefore must be defined in detail;</a:t>
            </a:r>
          </a:p>
          <a:p>
            <a:pPr lvl="1">
              <a:lnSpc>
                <a:spcPct val="90000"/>
              </a:lnSpc>
            </a:pPr>
            <a:r>
              <a:rPr lang="en-GB" dirty="0"/>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200667777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a:t>
            </a:r>
            <a:r>
              <a:rPr lang="en-GB" sz="2000" b="1" u="sng" dirty="0"/>
              <a:t>services the system should provide</a:t>
            </a:r>
            <a:r>
              <a:rPr lang="en-GB" sz="2000" u="sng" dirty="0"/>
              <a:t>, how the system should react to particular inputs </a:t>
            </a:r>
            <a:r>
              <a:rPr lang="en-GB" sz="2000" dirty="0"/>
              <a:t>and how the system should behave in particular situations.</a:t>
            </a:r>
          </a:p>
          <a:p>
            <a:pPr lvl="1">
              <a:lnSpc>
                <a:spcPct val="90000"/>
              </a:lnSpc>
            </a:pPr>
            <a:r>
              <a:rPr lang="en-GB" u="sng" dirty="0"/>
              <a:t>May state what the system should not do.</a:t>
            </a:r>
          </a:p>
          <a:p>
            <a:pPr lvl="1">
              <a:lnSpc>
                <a:spcPct val="90000"/>
              </a:lnSpc>
            </a:pPr>
            <a:endParaRPr lang="en-GB" sz="2000" dirty="0"/>
          </a:p>
          <a:p>
            <a:pPr>
              <a:lnSpc>
                <a:spcPct val="90000"/>
              </a:lnSpc>
            </a:pPr>
            <a:r>
              <a:rPr lang="en-GB" sz="2400" dirty="0"/>
              <a:t>Non-functional requirements</a:t>
            </a:r>
          </a:p>
          <a:p>
            <a:pPr lvl="1">
              <a:lnSpc>
                <a:spcPct val="90000"/>
              </a:lnSpc>
            </a:pPr>
            <a:r>
              <a:rPr lang="en-GB" b="1" u="sng" dirty="0"/>
              <a:t>C</a:t>
            </a:r>
            <a:r>
              <a:rPr lang="en-GB" sz="2000" b="1" u="sng" dirty="0"/>
              <a:t>onstraints on the services or functions </a:t>
            </a:r>
            <a:r>
              <a:rPr lang="en-GB" sz="2000" u="sng" dirty="0"/>
              <a:t>offered by the system such as timing constraints, constraints on the development process, standards</a:t>
            </a:r>
            <a:r>
              <a:rPr lang="en-GB" sz="2000" dirty="0"/>
              <a:t>, etc.</a:t>
            </a:r>
          </a:p>
          <a:p>
            <a:pPr lvl="1">
              <a:lnSpc>
                <a:spcPct val="90000"/>
              </a:lnSpc>
            </a:pPr>
            <a:r>
              <a:rPr lang="en-GB" u="sng" dirty="0"/>
              <a:t>Often apply to the system as a whole rather than individual features or services</a:t>
            </a:r>
            <a:r>
              <a:rPr lang="en-GB"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78330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a:t>
            </a:r>
            <a:r>
              <a:rPr lang="en-GB" b="1" dirty="0"/>
              <a:t>functionality or system services</a:t>
            </a:r>
            <a:r>
              <a:rPr lang="en-GB" dirty="0"/>
              <a:t>.</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3264483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a:t>
            </a:r>
            <a:r>
              <a:rPr lang="en-GB" b="1" u="sng" dirty="0"/>
              <a:t>system properties and constraints </a:t>
            </a:r>
            <a:r>
              <a:rPr lang="en-GB" dirty="0"/>
              <a:t>e.g. </a:t>
            </a:r>
            <a:r>
              <a:rPr lang="en-GB" u="sng" dirty="0"/>
              <a:t>reliability, response time and storage requirements</a:t>
            </a:r>
            <a:r>
              <a:rPr lang="en-GB" dirty="0"/>
              <a:t>. Constraints are I/O device capability, system representations, etc.</a:t>
            </a:r>
          </a:p>
          <a:p>
            <a:pPr>
              <a:lnSpc>
                <a:spcPct val="90000"/>
              </a:lnSpc>
            </a:pPr>
            <a:r>
              <a:rPr lang="en-GB" dirty="0"/>
              <a:t>Process requirements may also </a:t>
            </a:r>
            <a:r>
              <a:rPr lang="en-GB" u="sng" dirty="0"/>
              <a:t>be specified mandating a particular IDE, programming language or development method.</a:t>
            </a:r>
          </a:p>
          <a:p>
            <a:pPr>
              <a:lnSpc>
                <a:spcPct val="90000"/>
              </a:lnSpc>
            </a:pPr>
            <a:r>
              <a:rPr lang="en-GB" u="sng" dirty="0"/>
              <a:t>Non-functional requirements may be more critical than functional requirements. If these are not met, the system may be useless</a:t>
            </a:r>
            <a:r>
              <a:rPr lang="en-GB"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27447430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dirty="0"/>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dirty="0"/>
              <a:t>Product requirements</a:t>
            </a:r>
          </a:p>
          <a:p>
            <a:pPr lvl="1"/>
            <a:r>
              <a:rPr lang="en-GB" sz="2000" dirty="0"/>
              <a:t>Requirements which specify that the delivered </a:t>
            </a:r>
            <a:r>
              <a:rPr lang="en-GB" sz="2000" b="1" u="sng" dirty="0"/>
              <a:t>product must behave in a particular way</a:t>
            </a:r>
            <a:r>
              <a:rPr lang="en-GB" sz="2000" u="sng" dirty="0"/>
              <a:t> e.g. execution speed, reliability, etc</a:t>
            </a:r>
            <a:r>
              <a:rPr lang="en-GB" sz="2000" dirty="0"/>
              <a:t>.</a:t>
            </a:r>
          </a:p>
          <a:p>
            <a:r>
              <a:rPr lang="en-GB" sz="2400" dirty="0"/>
              <a:t>Organisational requirements</a:t>
            </a:r>
          </a:p>
          <a:p>
            <a:pPr lvl="1"/>
            <a:r>
              <a:rPr lang="en-GB" sz="2000" dirty="0"/>
              <a:t>Requirements which are a consequence of </a:t>
            </a:r>
            <a:r>
              <a:rPr lang="en-GB" sz="2000" b="1" u="sng" dirty="0"/>
              <a:t>organisational policies and procedures</a:t>
            </a:r>
            <a:r>
              <a:rPr lang="en-GB" sz="2000" u="sng" dirty="0"/>
              <a:t> e.g. process standards used, implementation requirements, etc.</a:t>
            </a:r>
          </a:p>
          <a:p>
            <a:r>
              <a:rPr lang="en-GB" sz="2400" dirty="0"/>
              <a:t>External requirements</a:t>
            </a:r>
          </a:p>
          <a:p>
            <a:pPr lvl="1"/>
            <a:r>
              <a:rPr lang="en-GB" sz="2000" dirty="0"/>
              <a:t>Requirements which arise from factors which </a:t>
            </a:r>
            <a:r>
              <a:rPr lang="en-GB" sz="2000" u="sng" dirty="0"/>
              <a:t>are </a:t>
            </a:r>
            <a:r>
              <a:rPr lang="en-GB" sz="2000" b="1" u="sng" dirty="0"/>
              <a:t>external to the system</a:t>
            </a:r>
            <a:r>
              <a:rPr lang="en-GB" sz="2000" u="sng" dirty="0"/>
              <a:t>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30481619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54" y="260648"/>
            <a:ext cx="9144000" cy="5180004"/>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Tree>
    <p:extLst>
      <p:ext uri="{BB962C8B-B14F-4D97-AF65-F5344CB8AC3E}">
        <p14:creationId xmlns:p14="http://schemas.microsoft.com/office/powerpoint/2010/main" val="365508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13" y="1417638"/>
            <a:ext cx="8790373" cy="5212080"/>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cxnSp>
        <p:nvCxnSpPr>
          <p:cNvPr id="7" name="Straight Connector 6">
            <a:extLst>
              <a:ext uri="{FF2B5EF4-FFF2-40B4-BE49-F238E27FC236}">
                <a16:creationId xmlns:a16="http://schemas.microsoft.com/office/drawing/2014/main" id="{5DFE5CB4-A129-42E1-AF8E-A2F86CDF2716}"/>
              </a:ext>
            </a:extLst>
          </p:cNvPr>
          <p:cNvCxnSpPr/>
          <p:nvPr/>
        </p:nvCxnSpPr>
        <p:spPr>
          <a:xfrm>
            <a:off x="1043608" y="4941168"/>
            <a:ext cx="734481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1DECBDB-E8DF-41F0-883B-7B5DB7B84600}"/>
              </a:ext>
            </a:extLst>
          </p:cNvPr>
          <p:cNvCxnSpPr/>
          <p:nvPr/>
        </p:nvCxnSpPr>
        <p:spPr>
          <a:xfrm>
            <a:off x="1043608" y="5589240"/>
            <a:ext cx="70567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C087D9B-2E73-4FFE-AC5C-B3CC813C88D3}"/>
              </a:ext>
            </a:extLst>
          </p:cNvPr>
          <p:cNvCxnSpPr/>
          <p:nvPr/>
        </p:nvCxnSpPr>
        <p:spPr>
          <a:xfrm>
            <a:off x="1043608" y="6395027"/>
            <a:ext cx="734481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905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MHC-PMS</a:t>
            </a:r>
          </a:p>
        </p:txBody>
      </p:sp>
      <p:graphicFrame>
        <p:nvGraphicFramePr>
          <p:cNvPr id="4" name="Table 3"/>
          <p:cNvGraphicFramePr>
            <a:graphicFrameLocks noGrp="1"/>
          </p:cNvGraphicFramePr>
          <p:nvPr>
            <p:extLst>
              <p:ext uri="{D42A27DB-BD31-4B8C-83A1-F6EECF244321}">
                <p14:modId xmlns:p14="http://schemas.microsoft.com/office/powerpoint/2010/main" val="2863102110"/>
              </p:ext>
            </p:extLst>
          </p:nvPr>
        </p:nvGraphicFramePr>
        <p:xfrm>
          <a:off x="755576" y="1484784"/>
          <a:ext cx="6781800" cy="530352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US" sz="1800" b="1" kern="1200" dirty="0"/>
                        <a:t>Functional requirement</a:t>
                      </a:r>
                    </a:p>
                    <a:p>
                      <a:r>
                        <a:rPr lang="en-US" sz="1800" b="0" kern="1200" dirty="0"/>
                        <a:t>1. A user shall be able to search the appointments lists for all clinics.</a:t>
                      </a:r>
                    </a:p>
                    <a:p>
                      <a:r>
                        <a:rPr lang="en-US" sz="1800" b="0" kern="1200" dirty="0"/>
                        <a:t>2. The system shall generate each day, for each clinic, a list of patients who are expected to attend appointments that day.</a:t>
                      </a:r>
                    </a:p>
                    <a:p>
                      <a:r>
                        <a:rPr lang="en-US" sz="1800" b="0" kern="1200" dirty="0"/>
                        <a:t>3. Each staff member using the system shall be uniquely identified by his or her eight-digit employee number.</a:t>
                      </a:r>
                    </a:p>
                    <a:p>
                      <a:endParaRPr lang="en-GB" sz="1800" b="0" kern="1200" dirty="0"/>
                    </a:p>
                    <a:p>
                      <a:r>
                        <a:rPr lang="en-GB" sz="1800" b="1" kern="1200" dirty="0"/>
                        <a:t>Product requirement</a:t>
                      </a:r>
                    </a:p>
                    <a:p>
                      <a:r>
                        <a:rPr lang="en-GB" sz="1800" b="0" kern="1200" dirty="0"/>
                        <a:t>The MHC-PMS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MHC-PMS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txBody>
                  <a:tcPr/>
                </a:tc>
                <a:extLst>
                  <a:ext uri="{0D108BD9-81ED-4DB2-BD59-A6C34878D82A}">
                    <a16:rowId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extLst>
      <p:ext uri="{BB962C8B-B14F-4D97-AF65-F5344CB8AC3E}">
        <p14:creationId xmlns:p14="http://schemas.microsoft.com/office/powerpoint/2010/main" val="31153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3504" t="48362" r="5243" b="13454"/>
          <a:stretch/>
        </p:blipFill>
        <p:spPr>
          <a:xfrm>
            <a:off x="58416" y="132811"/>
            <a:ext cx="9003461" cy="6588664"/>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Tree>
    <p:extLst>
      <p:ext uri="{BB962C8B-B14F-4D97-AF65-F5344CB8AC3E}">
        <p14:creationId xmlns:p14="http://schemas.microsoft.com/office/powerpoint/2010/main" val="2499996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510" y="274638"/>
            <a:ext cx="8945517" cy="5044925"/>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Tree>
    <p:extLst>
      <p:ext uri="{BB962C8B-B14F-4D97-AF65-F5344CB8AC3E}">
        <p14:creationId xmlns:p14="http://schemas.microsoft.com/office/powerpoint/2010/main" val="3186378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a:br>
            <a:r>
              <a:rPr lang="en-US"/>
              <a:t>Metrics </a:t>
            </a:r>
            <a:r>
              <a:rPr lang="en-US" dirty="0"/>
              <a:t>for specifying non-functional requirements</a:t>
            </a:r>
            <a:br>
              <a:rPr lang="en-US" dirty="0"/>
            </a:br>
            <a:br>
              <a:rPr lang="en-US" dirty="0"/>
            </a:br>
            <a:endParaRPr lang="en-US" dirty="0"/>
          </a:p>
        </p:txBody>
      </p:sp>
      <p:pic>
        <p:nvPicPr>
          <p:cNvPr id="6" name="Content Placeholder 5" descr="Capture.PNG"/>
          <p:cNvPicPr>
            <a:picLocks noGrp="1" noChangeAspect="1"/>
          </p:cNvPicPr>
          <p:nvPr>
            <p:ph idx="1"/>
          </p:nvPr>
        </p:nvPicPr>
        <p:blipFill>
          <a:blip r:embed="rId2"/>
          <a:stretch>
            <a:fillRect/>
          </a:stretch>
        </p:blipFill>
        <p:spPr>
          <a:xfrm>
            <a:off x="925384" y="1322359"/>
            <a:ext cx="7293232" cy="5303837"/>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sz="3200" dirty="0"/>
              <a:t>Requirements engineering processes</a:t>
            </a:r>
            <a:endParaRPr lang="en-GB" sz="2000" dirty="0"/>
          </a:p>
        </p:txBody>
      </p:sp>
      <p:sp>
        <p:nvSpPr>
          <p:cNvPr id="7171"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p:txBody>
      </p:sp>
    </p:spTree>
    <p:extLst>
      <p:ext uri="{BB962C8B-B14F-4D97-AF65-F5344CB8AC3E}">
        <p14:creationId xmlns:p14="http://schemas.microsoft.com/office/powerpoint/2010/main" val="68337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
          <p:cNvSpPr>
            <a:spLocks noChangeArrowheads="1"/>
          </p:cNvSpPr>
          <p:nvPr/>
        </p:nvSpPr>
        <p:spPr bwMode="auto">
          <a:xfrm>
            <a:off x="685800" y="1676400"/>
            <a:ext cx="7620000" cy="4495800"/>
          </a:xfrm>
          <a:prstGeom prst="rect">
            <a:avLst/>
          </a:prstGeom>
          <a:solidFill>
            <a:srgbClr val="CCFF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400" b="1" i="1">
                <a:solidFill>
                  <a:schemeClr val="tx1"/>
                </a:solidFill>
                <a:latin typeface="Times" panose="02020603050405020304" pitchFamily="18" charset="0"/>
              </a:defRPr>
            </a:lvl1pPr>
            <a:lvl2pPr marL="742950" indent="-285750">
              <a:defRPr sz="2400" b="1" i="1">
                <a:solidFill>
                  <a:schemeClr val="tx1"/>
                </a:solidFill>
                <a:latin typeface="Times" panose="02020603050405020304" pitchFamily="18" charset="0"/>
              </a:defRPr>
            </a:lvl2pPr>
            <a:lvl3pPr marL="1143000" indent="-228600">
              <a:defRPr sz="2400" b="1" i="1">
                <a:solidFill>
                  <a:schemeClr val="tx1"/>
                </a:solidFill>
                <a:latin typeface="Times" panose="02020603050405020304" pitchFamily="18" charset="0"/>
              </a:defRPr>
            </a:lvl3pPr>
            <a:lvl4pPr marL="1600200" indent="-228600">
              <a:defRPr sz="2400" b="1" i="1">
                <a:solidFill>
                  <a:schemeClr val="tx1"/>
                </a:solidFill>
                <a:latin typeface="Times" panose="02020603050405020304" pitchFamily="18" charset="0"/>
              </a:defRPr>
            </a:lvl4pPr>
            <a:lvl5pPr marL="2057400" indent="-228600">
              <a:defRPr sz="2400" b="1" i="1">
                <a:solidFill>
                  <a:schemeClr val="tx1"/>
                </a:solidFill>
                <a:latin typeface="Times" panose="02020603050405020304" pitchFamily="18" charset="0"/>
              </a:defRPr>
            </a:lvl5pPr>
            <a:lvl6pPr marL="2514600" indent="-228600" eaLnBrk="0" fontAlgn="base" hangingPunct="0">
              <a:spcBef>
                <a:spcPct val="0"/>
              </a:spcBef>
              <a:spcAft>
                <a:spcPct val="0"/>
              </a:spcAft>
              <a:defRPr sz="2400" b="1" i="1">
                <a:solidFill>
                  <a:schemeClr val="tx1"/>
                </a:solidFill>
                <a:latin typeface="Times" panose="02020603050405020304" pitchFamily="18" charset="0"/>
              </a:defRPr>
            </a:lvl6pPr>
            <a:lvl7pPr marL="2971800" indent="-228600" eaLnBrk="0" fontAlgn="base" hangingPunct="0">
              <a:spcBef>
                <a:spcPct val="0"/>
              </a:spcBef>
              <a:spcAft>
                <a:spcPct val="0"/>
              </a:spcAft>
              <a:defRPr sz="2400" b="1" i="1">
                <a:solidFill>
                  <a:schemeClr val="tx1"/>
                </a:solidFill>
                <a:latin typeface="Times" panose="02020603050405020304" pitchFamily="18" charset="0"/>
              </a:defRPr>
            </a:lvl7pPr>
            <a:lvl8pPr marL="3429000" indent="-228600" eaLnBrk="0" fontAlgn="base" hangingPunct="0">
              <a:spcBef>
                <a:spcPct val="0"/>
              </a:spcBef>
              <a:spcAft>
                <a:spcPct val="0"/>
              </a:spcAft>
              <a:defRPr sz="2400" b="1" i="1">
                <a:solidFill>
                  <a:schemeClr val="tx1"/>
                </a:solidFill>
                <a:latin typeface="Times" panose="02020603050405020304" pitchFamily="18" charset="0"/>
              </a:defRPr>
            </a:lvl8pPr>
            <a:lvl9pPr marL="3886200" indent="-228600" eaLnBrk="0" fontAlgn="base" hangingPunct="0">
              <a:spcBef>
                <a:spcPct val="0"/>
              </a:spcBef>
              <a:spcAft>
                <a:spcPct val="0"/>
              </a:spcAft>
              <a:defRPr sz="2400" b="1" i="1">
                <a:solidFill>
                  <a:schemeClr val="tx1"/>
                </a:solidFill>
                <a:latin typeface="Times" panose="02020603050405020304" pitchFamily="18" charset="0"/>
              </a:defRPr>
            </a:lvl9pPr>
          </a:lstStyle>
          <a:p>
            <a:endParaRPr lang="en-US"/>
          </a:p>
        </p:txBody>
      </p:sp>
      <p:sp>
        <p:nvSpPr>
          <p:cNvPr id="8195" name="Rectangle 2"/>
          <p:cNvSpPr>
            <a:spLocks noGrp="1" noChangeArrowheads="1"/>
          </p:cNvSpPr>
          <p:nvPr>
            <p:ph type="title"/>
          </p:nvPr>
        </p:nvSpPr>
        <p:spPr/>
        <p:txBody>
          <a:bodyPr/>
          <a:lstStyle/>
          <a:p>
            <a:r>
              <a:rPr lang="en-GB" sz="3200"/>
              <a:t>The requirements engineering process</a:t>
            </a:r>
            <a:endParaRPr lang="en-GB"/>
          </a:p>
        </p:txBody>
      </p:sp>
      <p:pic>
        <p:nvPicPr>
          <p:cNvPr id="819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905000"/>
            <a:ext cx="6400800" cy="4122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4451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a:t>Feasibility studies</a:t>
            </a:r>
          </a:p>
        </p:txBody>
      </p:sp>
      <p:sp>
        <p:nvSpPr>
          <p:cNvPr id="10243" name="Rectangle 3"/>
          <p:cNvSpPr>
            <a:spLocks noGrp="1" noChangeArrowheads="1"/>
          </p:cNvSpPr>
          <p:nvPr>
            <p:ph type="body" idx="1"/>
          </p:nvPr>
        </p:nvSpPr>
        <p:spPr/>
        <p:txBody>
          <a:bodyPr/>
          <a:lstStyle/>
          <a:p>
            <a:r>
              <a:rPr lang="en-GB" dirty="0"/>
              <a:t>A feasibility study decides whether or not the proposed system is worthwhile.</a:t>
            </a:r>
          </a:p>
          <a:p>
            <a:r>
              <a:rPr lang="en-GB" dirty="0"/>
              <a:t>A short focused study that checks</a:t>
            </a:r>
          </a:p>
          <a:p>
            <a:pPr lvl="1"/>
            <a:r>
              <a:rPr lang="en-GB" u="sng" dirty="0"/>
              <a:t>If the system contributes to organisational objectives;</a:t>
            </a:r>
          </a:p>
          <a:p>
            <a:pPr lvl="1"/>
            <a:r>
              <a:rPr lang="en-GB" u="sng" dirty="0"/>
              <a:t>If the system can be engineered using current technology and within budget;</a:t>
            </a:r>
          </a:p>
          <a:p>
            <a:pPr lvl="1"/>
            <a:r>
              <a:rPr lang="en-GB" u="sng" dirty="0"/>
              <a:t>If the system can be integrated with other systems that are already used.</a:t>
            </a:r>
          </a:p>
        </p:txBody>
      </p:sp>
    </p:spTree>
    <p:extLst>
      <p:ext uri="{BB962C8B-B14F-4D97-AF65-F5344CB8AC3E}">
        <p14:creationId xmlns:p14="http://schemas.microsoft.com/office/powerpoint/2010/main" val="3315460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a:t>Feasibility study implementation</a:t>
            </a:r>
          </a:p>
        </p:txBody>
      </p:sp>
      <p:sp>
        <p:nvSpPr>
          <p:cNvPr id="11267" name="Rectangle 3"/>
          <p:cNvSpPr>
            <a:spLocks noGrp="1" noChangeArrowheads="1"/>
          </p:cNvSpPr>
          <p:nvPr>
            <p:ph type="body" idx="1"/>
          </p:nvPr>
        </p:nvSpPr>
        <p:spPr/>
        <p:txBody>
          <a:bodyPr/>
          <a:lstStyle/>
          <a:p>
            <a:r>
              <a:rPr lang="en-GB" sz="2400" dirty="0"/>
              <a:t>Based on information assessment (what is required), information collection and report writing.</a:t>
            </a:r>
          </a:p>
          <a:p>
            <a:r>
              <a:rPr lang="en-GB" sz="2400" u="sng" dirty="0"/>
              <a:t>Questions for people in the organisation</a:t>
            </a:r>
          </a:p>
          <a:p>
            <a:pPr lvl="1"/>
            <a:r>
              <a:rPr lang="en-GB" sz="2000" dirty="0"/>
              <a:t>What if the system wasn’t implemented?</a:t>
            </a:r>
          </a:p>
          <a:p>
            <a:pPr lvl="1"/>
            <a:r>
              <a:rPr lang="en-GB" sz="2000" dirty="0"/>
              <a:t>What are current process problems?</a:t>
            </a:r>
          </a:p>
          <a:p>
            <a:pPr lvl="1"/>
            <a:r>
              <a:rPr lang="en-GB" sz="2000" dirty="0"/>
              <a:t>How will the proposed system help?</a:t>
            </a:r>
          </a:p>
          <a:p>
            <a:pPr lvl="1"/>
            <a:r>
              <a:rPr lang="en-GB" sz="2000" dirty="0"/>
              <a:t>What will be the integration problems?</a:t>
            </a:r>
          </a:p>
          <a:p>
            <a:pPr lvl="1"/>
            <a:r>
              <a:rPr lang="en-GB" sz="2000" dirty="0"/>
              <a:t>Is new technology needed? What skills?</a:t>
            </a:r>
          </a:p>
          <a:p>
            <a:pPr lvl="1"/>
            <a:r>
              <a:rPr lang="en-GB" sz="2000" dirty="0"/>
              <a:t>What facilities must be supported by the proposed system?</a:t>
            </a:r>
          </a:p>
        </p:txBody>
      </p:sp>
    </p:spTree>
    <p:extLst>
      <p:ext uri="{BB962C8B-B14F-4D97-AF65-F5344CB8AC3E}">
        <p14:creationId xmlns:p14="http://schemas.microsoft.com/office/powerpoint/2010/main" val="1679831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p:spPr>
        <p:txBody>
          <a:bodyPr lIns="90487" tIns="44450" rIns="90487" bIns="44450"/>
          <a:lstStyle/>
          <a:p>
            <a:r>
              <a:rPr lang="en-GB" dirty="0"/>
              <a:t>Elicitation and analysis</a:t>
            </a:r>
          </a:p>
        </p:txBody>
      </p:sp>
      <p:sp>
        <p:nvSpPr>
          <p:cNvPr id="12291" name="Rectangle 3"/>
          <p:cNvSpPr>
            <a:spLocks noGrp="1" noChangeArrowheads="1"/>
          </p:cNvSpPr>
          <p:nvPr>
            <p:ph type="body" idx="1"/>
          </p:nvPr>
        </p:nvSpPr>
        <p:spPr>
          <a:noFill/>
        </p:spPr>
        <p:txBody>
          <a:bodyPr lIns="90487" tIns="44450" rIns="90487" bIns="44450"/>
          <a:lstStyle/>
          <a:p>
            <a:r>
              <a:rPr lang="en-GB" sz="2400" dirty="0"/>
              <a:t>Sometimes called requirements elicitation or requirements discovery.</a:t>
            </a:r>
          </a:p>
          <a:p>
            <a:r>
              <a:rPr lang="en-GB" sz="2400" dirty="0"/>
              <a:t>Involves </a:t>
            </a:r>
            <a:r>
              <a:rPr lang="en-GB" sz="2400" b="1" i="1" dirty="0"/>
              <a:t>technical staff working with customers</a:t>
            </a:r>
            <a:r>
              <a:rPr lang="en-GB" sz="2400" dirty="0"/>
              <a:t> to find out about the </a:t>
            </a:r>
            <a:r>
              <a:rPr lang="en-GB" sz="2400" b="1" i="1" dirty="0"/>
              <a:t>application domain</a:t>
            </a:r>
            <a:r>
              <a:rPr lang="en-GB" sz="2400" dirty="0"/>
              <a:t>, the </a:t>
            </a:r>
            <a:r>
              <a:rPr lang="en-GB" sz="2400" b="1" i="1" dirty="0"/>
              <a:t>services</a:t>
            </a:r>
            <a:r>
              <a:rPr lang="en-GB" sz="2400" dirty="0"/>
              <a:t> that the system should provide and the system’s </a:t>
            </a:r>
            <a:r>
              <a:rPr lang="en-GB" sz="2400" b="1" i="1" dirty="0"/>
              <a:t>operational constraints</a:t>
            </a:r>
            <a:r>
              <a:rPr lang="en-GB" sz="2400" dirty="0"/>
              <a:t>.</a:t>
            </a:r>
          </a:p>
          <a:p>
            <a:r>
              <a:rPr lang="en-GB" sz="2400" dirty="0"/>
              <a:t>May involve end-users, managers, engineers involved in maintenance, domain experts, trade unions, etc. These are called </a:t>
            </a:r>
            <a:r>
              <a:rPr lang="en-GB" sz="2400" i="1" dirty="0"/>
              <a:t>stakeholders.</a:t>
            </a:r>
          </a:p>
        </p:txBody>
      </p:sp>
    </p:spTree>
    <p:extLst>
      <p:ext uri="{BB962C8B-B14F-4D97-AF65-F5344CB8AC3E}">
        <p14:creationId xmlns:p14="http://schemas.microsoft.com/office/powerpoint/2010/main" val="31643231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81000" y="266700"/>
            <a:ext cx="8458200" cy="1104900"/>
          </a:xfrm>
          <a:noFill/>
        </p:spPr>
        <p:txBody>
          <a:bodyPr lIns="90487" tIns="44450" rIns="90487" bIns="44450"/>
          <a:lstStyle/>
          <a:p>
            <a:r>
              <a:rPr lang="en-GB"/>
              <a:t>Problems of requirements analysis</a:t>
            </a:r>
          </a:p>
        </p:txBody>
      </p:sp>
      <p:sp>
        <p:nvSpPr>
          <p:cNvPr id="13315" name="Rectangle 3"/>
          <p:cNvSpPr>
            <a:spLocks noGrp="1" noChangeArrowheads="1"/>
          </p:cNvSpPr>
          <p:nvPr>
            <p:ph type="body" idx="1"/>
          </p:nvPr>
        </p:nvSpPr>
        <p:spPr>
          <a:noFill/>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change.</a:t>
            </a:r>
          </a:p>
        </p:txBody>
      </p:sp>
    </p:spTree>
    <p:extLst>
      <p:ext uri="{BB962C8B-B14F-4D97-AF65-F5344CB8AC3E}">
        <p14:creationId xmlns:p14="http://schemas.microsoft.com/office/powerpoint/2010/main" val="5440725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266700"/>
            <a:ext cx="8382000" cy="1104900"/>
          </a:xfrm>
          <a:noFill/>
        </p:spPr>
        <p:txBody>
          <a:bodyPr lIns="90487" tIns="44450" rIns="90487" bIns="44450"/>
          <a:lstStyle/>
          <a:p>
            <a:r>
              <a:rPr lang="en-GB" sz="2800" dirty="0"/>
              <a:t>The requirements spiral for elicitation </a:t>
            </a:r>
            <a:br>
              <a:rPr lang="en-GB" sz="2800" dirty="0"/>
            </a:br>
            <a:r>
              <a:rPr lang="en-GB" sz="2800" dirty="0"/>
              <a:t>and analysis process</a:t>
            </a:r>
          </a:p>
        </p:txBody>
      </p:sp>
      <p:sp>
        <p:nvSpPr>
          <p:cNvPr id="14339" name="Rectangle 4"/>
          <p:cNvSpPr>
            <a:spLocks noChangeArrowheads="1"/>
          </p:cNvSpPr>
          <p:nvPr/>
        </p:nvSpPr>
        <p:spPr bwMode="auto">
          <a:xfrm>
            <a:off x="381000" y="1600200"/>
            <a:ext cx="8458200" cy="4648200"/>
          </a:xfrm>
          <a:prstGeom prst="rect">
            <a:avLst/>
          </a:prstGeom>
          <a:solidFill>
            <a:srgbClr val="CCFF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400" b="1" i="1">
                <a:solidFill>
                  <a:schemeClr val="tx1"/>
                </a:solidFill>
                <a:latin typeface="Times" panose="02020603050405020304" pitchFamily="18" charset="0"/>
              </a:defRPr>
            </a:lvl1pPr>
            <a:lvl2pPr marL="742950" indent="-285750">
              <a:defRPr sz="2400" b="1" i="1">
                <a:solidFill>
                  <a:schemeClr val="tx1"/>
                </a:solidFill>
                <a:latin typeface="Times" panose="02020603050405020304" pitchFamily="18" charset="0"/>
              </a:defRPr>
            </a:lvl2pPr>
            <a:lvl3pPr marL="1143000" indent="-228600">
              <a:defRPr sz="2400" b="1" i="1">
                <a:solidFill>
                  <a:schemeClr val="tx1"/>
                </a:solidFill>
                <a:latin typeface="Times" panose="02020603050405020304" pitchFamily="18" charset="0"/>
              </a:defRPr>
            </a:lvl3pPr>
            <a:lvl4pPr marL="1600200" indent="-228600">
              <a:defRPr sz="2400" b="1" i="1">
                <a:solidFill>
                  <a:schemeClr val="tx1"/>
                </a:solidFill>
                <a:latin typeface="Times" panose="02020603050405020304" pitchFamily="18" charset="0"/>
              </a:defRPr>
            </a:lvl4pPr>
            <a:lvl5pPr marL="2057400" indent="-228600">
              <a:defRPr sz="2400" b="1" i="1">
                <a:solidFill>
                  <a:schemeClr val="tx1"/>
                </a:solidFill>
                <a:latin typeface="Times" panose="02020603050405020304" pitchFamily="18" charset="0"/>
              </a:defRPr>
            </a:lvl5pPr>
            <a:lvl6pPr marL="2514600" indent="-228600" eaLnBrk="0" fontAlgn="base" hangingPunct="0">
              <a:spcBef>
                <a:spcPct val="0"/>
              </a:spcBef>
              <a:spcAft>
                <a:spcPct val="0"/>
              </a:spcAft>
              <a:defRPr sz="2400" b="1" i="1">
                <a:solidFill>
                  <a:schemeClr val="tx1"/>
                </a:solidFill>
                <a:latin typeface="Times" panose="02020603050405020304" pitchFamily="18" charset="0"/>
              </a:defRPr>
            </a:lvl6pPr>
            <a:lvl7pPr marL="2971800" indent="-228600" eaLnBrk="0" fontAlgn="base" hangingPunct="0">
              <a:spcBef>
                <a:spcPct val="0"/>
              </a:spcBef>
              <a:spcAft>
                <a:spcPct val="0"/>
              </a:spcAft>
              <a:defRPr sz="2400" b="1" i="1">
                <a:solidFill>
                  <a:schemeClr val="tx1"/>
                </a:solidFill>
                <a:latin typeface="Times" panose="02020603050405020304" pitchFamily="18" charset="0"/>
              </a:defRPr>
            </a:lvl7pPr>
            <a:lvl8pPr marL="3429000" indent="-228600" eaLnBrk="0" fontAlgn="base" hangingPunct="0">
              <a:spcBef>
                <a:spcPct val="0"/>
              </a:spcBef>
              <a:spcAft>
                <a:spcPct val="0"/>
              </a:spcAft>
              <a:defRPr sz="2400" b="1" i="1">
                <a:solidFill>
                  <a:schemeClr val="tx1"/>
                </a:solidFill>
                <a:latin typeface="Times" panose="02020603050405020304" pitchFamily="18" charset="0"/>
              </a:defRPr>
            </a:lvl8pPr>
            <a:lvl9pPr marL="3886200" indent="-228600" eaLnBrk="0" fontAlgn="base" hangingPunct="0">
              <a:spcBef>
                <a:spcPct val="0"/>
              </a:spcBef>
              <a:spcAft>
                <a:spcPct val="0"/>
              </a:spcAft>
              <a:defRPr sz="2400" b="1" i="1">
                <a:solidFill>
                  <a:schemeClr val="tx1"/>
                </a:solidFill>
                <a:latin typeface="Times" panose="02020603050405020304" pitchFamily="18" charset="0"/>
              </a:defRPr>
            </a:lvl9pPr>
          </a:lstStyle>
          <a:p>
            <a:endParaRPr lang="en-US"/>
          </a:p>
        </p:txBody>
      </p:sp>
      <p:pic>
        <p:nvPicPr>
          <p:cNvPr id="1434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628775"/>
            <a:ext cx="4608512" cy="4530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42" name="Rectangle 8"/>
          <p:cNvSpPr>
            <a:spLocks noChangeArrowheads="1"/>
          </p:cNvSpPr>
          <p:nvPr/>
        </p:nvSpPr>
        <p:spPr bwMode="auto">
          <a:xfrm>
            <a:off x="5219700" y="1773238"/>
            <a:ext cx="3486150" cy="32400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7" tIns="44450" rIns="90487" bIns="44450" anchor="b"/>
          <a:lstStyle>
            <a:lvl1pPr defTabSz="962025">
              <a:spcBef>
                <a:spcPct val="20000"/>
              </a:spcBef>
              <a:buClr>
                <a:schemeClr val="tx2"/>
              </a:buClr>
              <a:buSzPct val="50000"/>
              <a:buFont typeface="Zapf Dingbats" charset="2"/>
              <a:buChar char="l"/>
              <a:defRPr sz="2800">
                <a:solidFill>
                  <a:schemeClr val="tx2"/>
                </a:solidFill>
                <a:latin typeface="Arial" panose="020B0604020202020204" pitchFamily="34" charset="0"/>
              </a:defRPr>
            </a:lvl1pPr>
            <a:lvl2pPr marL="1089025" indent="-479425" defTabSz="962025">
              <a:spcBef>
                <a:spcPct val="20000"/>
              </a:spcBef>
              <a:buClr>
                <a:schemeClr val="tx1"/>
              </a:buClr>
              <a:buSzPct val="100000"/>
              <a:buChar char="•"/>
              <a:defRPr sz="2400">
                <a:solidFill>
                  <a:schemeClr val="tx2"/>
                </a:solidFill>
                <a:latin typeface="Arial" panose="020B0604020202020204" pitchFamily="34" charset="0"/>
              </a:defRPr>
            </a:lvl2pPr>
            <a:lvl3pPr marL="1449388" indent="-241300" defTabSz="962025">
              <a:spcBef>
                <a:spcPct val="20000"/>
              </a:spcBef>
              <a:buClr>
                <a:schemeClr val="tx1"/>
              </a:buClr>
              <a:buSzPct val="100000"/>
              <a:buChar char="•"/>
              <a:defRPr sz="2000">
                <a:solidFill>
                  <a:schemeClr val="tx2"/>
                </a:solidFill>
                <a:latin typeface="Arial" panose="020B0604020202020204" pitchFamily="34" charset="0"/>
              </a:defRPr>
            </a:lvl3pPr>
            <a:lvl4pPr marL="1809750" indent="-239713" defTabSz="962025">
              <a:spcBef>
                <a:spcPct val="20000"/>
              </a:spcBef>
              <a:buClr>
                <a:schemeClr val="accent2"/>
              </a:buClr>
              <a:buSzPct val="65000"/>
              <a:buFont typeface="Monotype Sorts" charset="2"/>
              <a:buChar char=""/>
              <a:defRPr sz="2100">
                <a:solidFill>
                  <a:schemeClr val="tx2"/>
                </a:solidFill>
                <a:latin typeface="Arial" panose="020B0604020202020204" pitchFamily="34" charset="0"/>
              </a:defRPr>
            </a:lvl4pPr>
            <a:lvl5pPr marL="2170113" indent="-239713" defTabSz="962025">
              <a:spcBef>
                <a:spcPct val="20000"/>
              </a:spcBef>
              <a:buClr>
                <a:schemeClr val="tx1"/>
              </a:buClr>
              <a:buSzPct val="100000"/>
              <a:buChar char="•"/>
              <a:defRPr sz="2100">
                <a:solidFill>
                  <a:schemeClr val="tx2"/>
                </a:solidFill>
                <a:latin typeface="Arial" panose="020B0604020202020204" pitchFamily="34" charset="0"/>
              </a:defRPr>
            </a:lvl5pPr>
            <a:lvl6pPr marL="2627313" indent="-239713" defTabSz="962025" eaLnBrk="0" fontAlgn="base" hangingPunct="0">
              <a:spcBef>
                <a:spcPct val="20000"/>
              </a:spcBef>
              <a:spcAft>
                <a:spcPct val="0"/>
              </a:spcAft>
              <a:buClr>
                <a:schemeClr val="tx1"/>
              </a:buClr>
              <a:buSzPct val="100000"/>
              <a:buChar char="•"/>
              <a:defRPr sz="2100">
                <a:solidFill>
                  <a:schemeClr val="tx2"/>
                </a:solidFill>
                <a:latin typeface="Arial" panose="020B0604020202020204" pitchFamily="34" charset="0"/>
              </a:defRPr>
            </a:lvl6pPr>
            <a:lvl7pPr marL="3084513" indent="-239713" defTabSz="962025" eaLnBrk="0" fontAlgn="base" hangingPunct="0">
              <a:spcBef>
                <a:spcPct val="20000"/>
              </a:spcBef>
              <a:spcAft>
                <a:spcPct val="0"/>
              </a:spcAft>
              <a:buClr>
                <a:schemeClr val="tx1"/>
              </a:buClr>
              <a:buSzPct val="100000"/>
              <a:buChar char="•"/>
              <a:defRPr sz="2100">
                <a:solidFill>
                  <a:schemeClr val="tx2"/>
                </a:solidFill>
                <a:latin typeface="Arial" panose="020B0604020202020204" pitchFamily="34" charset="0"/>
              </a:defRPr>
            </a:lvl7pPr>
            <a:lvl8pPr marL="3541713" indent="-239713" defTabSz="962025" eaLnBrk="0" fontAlgn="base" hangingPunct="0">
              <a:spcBef>
                <a:spcPct val="20000"/>
              </a:spcBef>
              <a:spcAft>
                <a:spcPct val="0"/>
              </a:spcAft>
              <a:buClr>
                <a:schemeClr val="tx1"/>
              </a:buClr>
              <a:buSzPct val="100000"/>
              <a:buChar char="•"/>
              <a:defRPr sz="2100">
                <a:solidFill>
                  <a:schemeClr val="tx2"/>
                </a:solidFill>
                <a:latin typeface="Arial" panose="020B0604020202020204" pitchFamily="34" charset="0"/>
              </a:defRPr>
            </a:lvl8pPr>
            <a:lvl9pPr marL="3998913" indent="-239713" defTabSz="962025" eaLnBrk="0" fontAlgn="base" hangingPunct="0">
              <a:spcBef>
                <a:spcPct val="20000"/>
              </a:spcBef>
              <a:spcAft>
                <a:spcPct val="0"/>
              </a:spcAft>
              <a:buClr>
                <a:schemeClr val="tx1"/>
              </a:buClr>
              <a:buSzPct val="100000"/>
              <a:buChar char="•"/>
              <a:defRPr sz="2100">
                <a:solidFill>
                  <a:schemeClr val="tx2"/>
                </a:solidFill>
                <a:latin typeface="Arial" panose="020B0604020202020204" pitchFamily="34" charset="0"/>
              </a:defRPr>
            </a:lvl9pPr>
          </a:lstStyle>
          <a:p>
            <a:pPr>
              <a:spcBef>
                <a:spcPct val="0"/>
              </a:spcBef>
              <a:buClrTx/>
              <a:buSzTx/>
              <a:buFontTx/>
              <a:buNone/>
            </a:pPr>
            <a:r>
              <a:rPr lang="en-GB" b="0">
                <a:solidFill>
                  <a:srgbClr val="003399"/>
                </a:solidFill>
              </a:rPr>
              <a:t>This iterative process </a:t>
            </a:r>
            <a:r>
              <a:rPr lang="en-GB">
                <a:solidFill>
                  <a:srgbClr val="003399"/>
                </a:solidFill>
              </a:rPr>
              <a:t>starts from requirements discovery</a:t>
            </a:r>
            <a:r>
              <a:rPr lang="en-GB" b="0">
                <a:solidFill>
                  <a:srgbClr val="003399"/>
                </a:solidFill>
              </a:rPr>
              <a:t> and </a:t>
            </a:r>
            <a:r>
              <a:rPr lang="en-GB">
                <a:solidFill>
                  <a:srgbClr val="003399"/>
                </a:solidFill>
              </a:rPr>
              <a:t>ends with requirements documentation.</a:t>
            </a:r>
          </a:p>
        </p:txBody>
      </p:sp>
    </p:spTree>
    <p:extLst>
      <p:ext uri="{BB962C8B-B14F-4D97-AF65-F5344CB8AC3E}">
        <p14:creationId xmlns:p14="http://schemas.microsoft.com/office/powerpoint/2010/main" val="378357577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lIns="90487" tIns="44450" rIns="90487" bIns="44450"/>
          <a:lstStyle/>
          <a:p>
            <a:r>
              <a:rPr lang="en-GB"/>
              <a:t>Process activities</a:t>
            </a:r>
          </a:p>
        </p:txBody>
      </p:sp>
      <p:sp>
        <p:nvSpPr>
          <p:cNvPr id="15363" name="Rectangle 3"/>
          <p:cNvSpPr>
            <a:spLocks noGrp="1" noChangeArrowheads="1"/>
          </p:cNvSpPr>
          <p:nvPr>
            <p:ph type="body" idx="1"/>
          </p:nvPr>
        </p:nvSpPr>
        <p:spPr>
          <a:xfrm>
            <a:off x="179388" y="1341438"/>
            <a:ext cx="8785225" cy="5111750"/>
          </a:xfrm>
          <a:noFill/>
        </p:spPr>
        <p:txBody>
          <a:bodyPr lIns="90487" tIns="44450" rIns="90487" bIns="44450"/>
          <a:lstStyle/>
          <a:p>
            <a:pPr>
              <a:lnSpc>
                <a:spcPct val="85000"/>
              </a:lnSpc>
            </a:pPr>
            <a:endParaRPr lang="en-GB" sz="2000" b="1" i="1" dirty="0"/>
          </a:p>
          <a:p>
            <a:pPr>
              <a:lnSpc>
                <a:spcPct val="85000"/>
              </a:lnSpc>
            </a:pPr>
            <a:r>
              <a:rPr lang="en-GB" sz="2000" b="1" i="1" dirty="0"/>
              <a:t>Requirements discovery</a:t>
            </a:r>
          </a:p>
          <a:p>
            <a:pPr lvl="1">
              <a:lnSpc>
                <a:spcPct val="85000"/>
              </a:lnSpc>
            </a:pPr>
            <a:r>
              <a:rPr lang="en-GB" sz="1800" dirty="0"/>
              <a:t>Interacting with stakeholders to discover their requirements. Domain requirements are also discovered at this stage.</a:t>
            </a:r>
          </a:p>
          <a:p>
            <a:pPr>
              <a:lnSpc>
                <a:spcPct val="85000"/>
              </a:lnSpc>
            </a:pPr>
            <a:r>
              <a:rPr lang="en-GB" sz="2000" b="1" i="1" dirty="0"/>
              <a:t>Requirements classification and organisation</a:t>
            </a:r>
          </a:p>
          <a:p>
            <a:pPr lvl="1">
              <a:lnSpc>
                <a:spcPct val="85000"/>
              </a:lnSpc>
            </a:pPr>
            <a:r>
              <a:rPr lang="en-GB" sz="1800" dirty="0"/>
              <a:t>Groups related requirements and organises them into coherent clusters.</a:t>
            </a:r>
            <a:r>
              <a:rPr lang="en-GB" sz="1600" dirty="0"/>
              <a:t> </a:t>
            </a:r>
          </a:p>
          <a:p>
            <a:pPr lvl="2">
              <a:lnSpc>
                <a:spcPct val="85000"/>
              </a:lnSpc>
            </a:pPr>
            <a:r>
              <a:rPr lang="en-GB" sz="1400" i="1" dirty="0"/>
              <a:t>For example, it is possible to use model of the system architecture to identify subsystem and grouping related requirements.</a:t>
            </a:r>
          </a:p>
          <a:p>
            <a:pPr>
              <a:lnSpc>
                <a:spcPct val="85000"/>
              </a:lnSpc>
            </a:pPr>
            <a:r>
              <a:rPr lang="en-GB" sz="2000" b="1" i="1" dirty="0"/>
              <a:t>Prioritisation and negotiation</a:t>
            </a:r>
          </a:p>
          <a:p>
            <a:pPr lvl="1">
              <a:lnSpc>
                <a:spcPct val="85000"/>
              </a:lnSpc>
            </a:pPr>
            <a:r>
              <a:rPr lang="en-GB" sz="1800" dirty="0"/>
              <a:t>Prioritising requirements and resolving requirements conflicts.</a:t>
            </a:r>
            <a:r>
              <a:rPr lang="en-GB" sz="1400" dirty="0"/>
              <a:t> </a:t>
            </a:r>
          </a:p>
          <a:p>
            <a:pPr lvl="2">
              <a:lnSpc>
                <a:spcPct val="85000"/>
              </a:lnSpc>
            </a:pPr>
            <a:r>
              <a:rPr lang="en-GB" sz="1400" i="1" dirty="0"/>
              <a:t>For example it is possible to organize stakeholders negotiations so that compromises can be reached.</a:t>
            </a:r>
            <a:r>
              <a:rPr lang="en-GB" sz="1400" dirty="0"/>
              <a:t>  </a:t>
            </a:r>
          </a:p>
          <a:p>
            <a:pPr>
              <a:lnSpc>
                <a:spcPct val="85000"/>
              </a:lnSpc>
            </a:pPr>
            <a:r>
              <a:rPr lang="en-GB" sz="2000" b="1" i="1" dirty="0"/>
              <a:t>Requirements documentation</a:t>
            </a:r>
          </a:p>
          <a:p>
            <a:pPr lvl="1">
              <a:lnSpc>
                <a:spcPct val="85000"/>
              </a:lnSpc>
            </a:pPr>
            <a:r>
              <a:rPr lang="en-GB" sz="1800" dirty="0"/>
              <a:t>Requirements are documented and input into the next round of the spiral. The documentation can be formal or informal.</a:t>
            </a:r>
            <a:r>
              <a:rPr lang="en-GB" sz="1600" dirty="0"/>
              <a:t> </a:t>
            </a:r>
          </a:p>
          <a:p>
            <a:pPr lvl="2">
              <a:lnSpc>
                <a:spcPct val="85000"/>
              </a:lnSpc>
            </a:pPr>
            <a:r>
              <a:rPr lang="en-GB" sz="1400" i="1" dirty="0"/>
              <a:t>For example, extreme programming uses formal documents and cards and it is very easy for stakeholders to handle, change and organise requirements.</a:t>
            </a:r>
          </a:p>
        </p:txBody>
      </p:sp>
    </p:spTree>
    <p:extLst>
      <p:ext uri="{BB962C8B-B14F-4D97-AF65-F5344CB8AC3E}">
        <p14:creationId xmlns:p14="http://schemas.microsoft.com/office/powerpoint/2010/main" val="148865859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a:t>Requirements discovery</a:t>
            </a:r>
          </a:p>
        </p:txBody>
      </p:sp>
      <p:sp>
        <p:nvSpPr>
          <p:cNvPr id="16387" name="Rectangle 3"/>
          <p:cNvSpPr>
            <a:spLocks noGrp="1" noChangeArrowheads="1"/>
          </p:cNvSpPr>
          <p:nvPr>
            <p:ph type="body" idx="1"/>
          </p:nvPr>
        </p:nvSpPr>
        <p:spPr/>
        <p:txBody>
          <a:bodyPr/>
          <a:lstStyle/>
          <a:p>
            <a:r>
              <a:rPr lang="en-US"/>
              <a:t>The process of gathering information about the proposed and existing systems and distilling the user and system requirements from this information.</a:t>
            </a:r>
          </a:p>
          <a:p>
            <a:r>
              <a:rPr lang="en-US"/>
              <a:t>Sources of information include documentation, system stakeholders and the specifications of similar systems.</a:t>
            </a:r>
          </a:p>
        </p:txBody>
      </p:sp>
      <p:sp>
        <p:nvSpPr>
          <p:cNvPr id="2" name="Rectangle 1"/>
          <p:cNvSpPr/>
          <p:nvPr/>
        </p:nvSpPr>
        <p:spPr>
          <a:xfrm>
            <a:off x="225240" y="5264333"/>
            <a:ext cx="8712968" cy="646331"/>
          </a:xfrm>
          <a:prstGeom prst="rect">
            <a:avLst/>
          </a:prstGeom>
        </p:spPr>
        <p:txBody>
          <a:bodyPr wrap="square">
            <a:spAutoFit/>
          </a:bodyPr>
          <a:lstStyle/>
          <a:p>
            <a:r>
              <a:rPr lang="en-US" sz="1800" dirty="0"/>
              <a:t>http://www.navodayaengg.in/wp-content/uploads/2015/10/Lect6_Requirements-Discovery.pdf</a:t>
            </a:r>
          </a:p>
        </p:txBody>
      </p:sp>
    </p:spTree>
    <p:extLst>
      <p:ext uri="{BB962C8B-B14F-4D97-AF65-F5344CB8AC3E}">
        <p14:creationId xmlns:p14="http://schemas.microsoft.com/office/powerpoint/2010/main" val="4058507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15888"/>
            <a:ext cx="8016875" cy="1108075"/>
          </a:xfrm>
          <a:noFill/>
        </p:spPr>
        <p:txBody>
          <a:bodyPr lIns="90487" tIns="44450" rIns="90487" bIns="44450"/>
          <a:lstStyle/>
          <a:p>
            <a:r>
              <a:rPr lang="en-GB" sz="3600" dirty="0"/>
              <a:t>Requirements discovery and viewpoints</a:t>
            </a:r>
          </a:p>
        </p:txBody>
      </p:sp>
      <p:sp>
        <p:nvSpPr>
          <p:cNvPr id="18435" name="Rectangle 3"/>
          <p:cNvSpPr>
            <a:spLocks noGrp="1" noChangeArrowheads="1"/>
          </p:cNvSpPr>
          <p:nvPr>
            <p:ph type="body" idx="1"/>
          </p:nvPr>
        </p:nvSpPr>
        <p:spPr>
          <a:xfrm>
            <a:off x="457200" y="1600200"/>
            <a:ext cx="8229600" cy="4925144"/>
          </a:xfrm>
          <a:noFill/>
        </p:spPr>
        <p:txBody>
          <a:bodyPr lIns="90487" tIns="44450" rIns="90487" bIns="44450"/>
          <a:lstStyle/>
          <a:p>
            <a:pPr>
              <a:lnSpc>
                <a:spcPct val="90000"/>
              </a:lnSpc>
            </a:pPr>
            <a:r>
              <a:rPr lang="en-GB" dirty="0"/>
              <a:t>Viewpoints are a way of structuring the requirements </a:t>
            </a:r>
            <a:r>
              <a:rPr lang="en-GB" b="1" i="1" u="sng" dirty="0"/>
              <a:t>to represent the perspectives of different stakeholders</a:t>
            </a:r>
            <a:r>
              <a:rPr lang="en-GB" dirty="0"/>
              <a:t>. Stakeholders and other sources may be classified under different viewpoints.</a:t>
            </a:r>
          </a:p>
          <a:p>
            <a:pPr>
              <a:lnSpc>
                <a:spcPct val="90000"/>
              </a:lnSpc>
            </a:pPr>
            <a:r>
              <a:rPr lang="en-GB" dirty="0"/>
              <a:t>This multi-perspective analysis is important as there is no single correct way to analyse system requirements.</a:t>
            </a:r>
          </a:p>
          <a:p>
            <a:pPr>
              <a:lnSpc>
                <a:spcPct val="90000"/>
              </a:lnSpc>
            </a:pPr>
            <a:r>
              <a:rPr lang="en-GB" dirty="0"/>
              <a:t>Types of viewpoint</a:t>
            </a:r>
          </a:p>
          <a:p>
            <a:pPr lvl="1">
              <a:lnSpc>
                <a:spcPct val="90000"/>
              </a:lnSpc>
            </a:pPr>
            <a:r>
              <a:rPr lang="en-GB" dirty="0" err="1"/>
              <a:t>Interactor</a:t>
            </a:r>
            <a:r>
              <a:rPr lang="en-GB" dirty="0"/>
              <a:t> viewpoints (</a:t>
            </a:r>
            <a:r>
              <a:rPr lang="en-US" dirty="0"/>
              <a:t>customers and account database</a:t>
            </a:r>
            <a:r>
              <a:rPr lang="en-GB" dirty="0"/>
              <a:t>)</a:t>
            </a:r>
          </a:p>
          <a:p>
            <a:pPr lvl="1">
              <a:lnSpc>
                <a:spcPct val="90000"/>
              </a:lnSpc>
            </a:pPr>
            <a:r>
              <a:rPr lang="en-GB" dirty="0"/>
              <a:t>Indirect viewpoints (</a:t>
            </a:r>
            <a:r>
              <a:rPr lang="en-US" dirty="0"/>
              <a:t>management and security staff.</a:t>
            </a:r>
            <a:r>
              <a:rPr lang="en-GB" dirty="0"/>
              <a:t>)</a:t>
            </a:r>
          </a:p>
          <a:p>
            <a:pPr lvl="1">
              <a:lnSpc>
                <a:spcPct val="90000"/>
              </a:lnSpc>
            </a:pPr>
            <a:r>
              <a:rPr lang="en-GB" dirty="0"/>
              <a:t>Domain viewpoints (</a:t>
            </a:r>
            <a:r>
              <a:rPr lang="en-US" dirty="0"/>
              <a:t>standards that have been developed for interbank communications</a:t>
            </a:r>
            <a:r>
              <a:rPr lang="en-GB" dirty="0"/>
              <a:t>)</a:t>
            </a:r>
          </a:p>
          <a:p>
            <a:pPr>
              <a:lnSpc>
                <a:spcPct val="90000"/>
              </a:lnSpc>
            </a:pPr>
            <a:endParaRPr lang="en-GB" dirty="0"/>
          </a:p>
        </p:txBody>
      </p:sp>
    </p:spTree>
    <p:extLst>
      <p:ext uri="{BB962C8B-B14F-4D97-AF65-F5344CB8AC3E}">
        <p14:creationId xmlns:p14="http://schemas.microsoft.com/office/powerpoint/2010/main" val="320437547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69925" y="115888"/>
            <a:ext cx="7804150" cy="1108075"/>
          </a:xfrm>
        </p:spPr>
        <p:txBody>
          <a:bodyPr/>
          <a:lstStyle/>
          <a:p>
            <a:r>
              <a:rPr lang="en-GB" sz="3600"/>
              <a:t>Requirements discovery and </a:t>
            </a:r>
            <a:r>
              <a:rPr lang="en-US" sz="3600"/>
              <a:t>interviewing</a:t>
            </a:r>
          </a:p>
        </p:txBody>
      </p:sp>
      <p:sp>
        <p:nvSpPr>
          <p:cNvPr id="22531" name="Rectangle 3"/>
          <p:cNvSpPr>
            <a:spLocks noGrp="1" noChangeArrowheads="1"/>
          </p:cNvSpPr>
          <p:nvPr>
            <p:ph type="body" idx="1"/>
          </p:nvPr>
        </p:nvSpPr>
        <p:spPr/>
        <p:txBody>
          <a:bodyPr/>
          <a:lstStyle/>
          <a:p>
            <a:pPr>
              <a:lnSpc>
                <a:spcPct val="90000"/>
              </a:lnSpc>
            </a:pPr>
            <a:r>
              <a:rPr lang="en-US" sz="3200" dirty="0"/>
              <a:t>In formal or informal interviewing, the RE team puts questions to stakeholders about the system that they use and the system to be developed.</a:t>
            </a:r>
          </a:p>
          <a:p>
            <a:pPr>
              <a:lnSpc>
                <a:spcPct val="90000"/>
              </a:lnSpc>
            </a:pPr>
            <a:r>
              <a:rPr lang="en-US" sz="3200" dirty="0"/>
              <a:t>There are two types of interview</a:t>
            </a:r>
          </a:p>
          <a:p>
            <a:pPr lvl="1">
              <a:lnSpc>
                <a:spcPct val="90000"/>
              </a:lnSpc>
            </a:pPr>
            <a:r>
              <a:rPr lang="en-US" sz="2800" dirty="0"/>
              <a:t>Closed interviews where a pre-defined set of questions are answered.</a:t>
            </a:r>
          </a:p>
          <a:p>
            <a:pPr lvl="1">
              <a:lnSpc>
                <a:spcPct val="90000"/>
              </a:lnSpc>
            </a:pPr>
            <a:r>
              <a:rPr lang="en-US" sz="2800" dirty="0"/>
              <a:t>Open interviews where there is no pre-defined agenda and a range of issues are explored with stakeholders.</a:t>
            </a:r>
          </a:p>
        </p:txBody>
      </p:sp>
    </p:spTree>
    <p:extLst>
      <p:ext uri="{BB962C8B-B14F-4D97-AF65-F5344CB8AC3E}">
        <p14:creationId xmlns:p14="http://schemas.microsoft.com/office/powerpoint/2010/main" val="940986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Interviews in practice</a:t>
            </a:r>
          </a:p>
        </p:txBody>
      </p:sp>
      <p:sp>
        <p:nvSpPr>
          <p:cNvPr id="23555" name="Rectangle 3"/>
          <p:cNvSpPr>
            <a:spLocks noGrp="1" noChangeArrowheads="1"/>
          </p:cNvSpPr>
          <p:nvPr>
            <p:ph type="body" idx="1"/>
          </p:nvPr>
        </p:nvSpPr>
        <p:spPr/>
        <p:txBody>
          <a:bodyPr/>
          <a:lstStyle/>
          <a:p>
            <a:pPr>
              <a:lnSpc>
                <a:spcPct val="90000"/>
              </a:lnSpc>
            </a:pPr>
            <a:r>
              <a:rPr lang="en-US" sz="2800" dirty="0"/>
              <a:t>Normally a mix of closed and open-ended interviewing.</a:t>
            </a:r>
          </a:p>
          <a:p>
            <a:pPr>
              <a:lnSpc>
                <a:spcPct val="90000"/>
              </a:lnSpc>
            </a:pPr>
            <a:r>
              <a:rPr lang="en-US" sz="2800" dirty="0">
                <a:solidFill>
                  <a:schemeClr val="accent1"/>
                </a:solidFill>
              </a:rPr>
              <a:t>Interviews are good for getting an overall understanding</a:t>
            </a:r>
            <a:r>
              <a:rPr lang="en-US" sz="2800" dirty="0"/>
              <a:t> of what stakeholders do and how they might interact with the system.</a:t>
            </a:r>
          </a:p>
          <a:p>
            <a:pPr>
              <a:lnSpc>
                <a:spcPct val="90000"/>
              </a:lnSpc>
            </a:pPr>
            <a:r>
              <a:rPr lang="en-US" sz="2800" dirty="0">
                <a:solidFill>
                  <a:schemeClr val="accent1"/>
                </a:solidFill>
              </a:rPr>
              <a:t>Interviews are </a:t>
            </a:r>
            <a:r>
              <a:rPr lang="en-US" sz="2800" b="1" i="1" dirty="0">
                <a:solidFill>
                  <a:schemeClr val="accent1"/>
                </a:solidFill>
              </a:rPr>
              <a:t>not</a:t>
            </a:r>
            <a:r>
              <a:rPr lang="en-US" sz="2800" dirty="0">
                <a:solidFill>
                  <a:schemeClr val="accent1"/>
                </a:solidFill>
              </a:rPr>
              <a:t> good for understanding domain requirements</a:t>
            </a:r>
            <a:r>
              <a:rPr lang="en-US" sz="2800" dirty="0"/>
              <a:t> for two reasons:</a:t>
            </a:r>
          </a:p>
          <a:p>
            <a:pPr lvl="1">
              <a:lnSpc>
                <a:spcPct val="90000"/>
              </a:lnSpc>
            </a:pPr>
            <a:r>
              <a:rPr lang="en-US" sz="2400" dirty="0"/>
              <a:t>Requirements engineers cannot understand specific domain terminology;</a:t>
            </a:r>
          </a:p>
          <a:p>
            <a:pPr lvl="1">
              <a:lnSpc>
                <a:spcPct val="90000"/>
              </a:lnSpc>
            </a:pPr>
            <a:r>
              <a:rPr lang="en-US" sz="2400" dirty="0"/>
              <a:t>Some domain knowledge is so familiar that people find it hard to articulate or think that it isn’t worth articulating.</a:t>
            </a:r>
          </a:p>
        </p:txBody>
      </p:sp>
    </p:spTree>
    <p:extLst>
      <p:ext uri="{BB962C8B-B14F-4D97-AF65-F5344CB8AC3E}">
        <p14:creationId xmlns:p14="http://schemas.microsoft.com/office/powerpoint/2010/main" val="88370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69925" y="115888"/>
            <a:ext cx="7804150" cy="1108075"/>
          </a:xfrm>
        </p:spPr>
        <p:txBody>
          <a:bodyPr/>
          <a:lstStyle/>
          <a:p>
            <a:r>
              <a:rPr lang="en-GB" sz="3600"/>
              <a:t>Requirements discovery and </a:t>
            </a:r>
            <a:r>
              <a:rPr lang="en-US" sz="3600"/>
              <a:t>scenarios (1/2)</a:t>
            </a:r>
          </a:p>
        </p:txBody>
      </p:sp>
      <p:sp>
        <p:nvSpPr>
          <p:cNvPr id="25603" name="Rectangle 3"/>
          <p:cNvSpPr>
            <a:spLocks noGrp="1" noChangeArrowheads="1"/>
          </p:cNvSpPr>
          <p:nvPr>
            <p:ph type="body" idx="1"/>
          </p:nvPr>
        </p:nvSpPr>
        <p:spPr>
          <a:xfrm>
            <a:off x="323850" y="1484313"/>
            <a:ext cx="8820150" cy="4968875"/>
          </a:xfrm>
        </p:spPr>
        <p:txBody>
          <a:bodyPr/>
          <a:lstStyle/>
          <a:p>
            <a:pPr>
              <a:lnSpc>
                <a:spcPct val="80000"/>
              </a:lnSpc>
            </a:pPr>
            <a:r>
              <a:rPr lang="en-US" sz="2400"/>
              <a:t>People usually find it </a:t>
            </a:r>
            <a:r>
              <a:rPr lang="en-US" sz="2400">
                <a:solidFill>
                  <a:schemeClr val="accent1"/>
                </a:solidFill>
              </a:rPr>
              <a:t>easier to relate to real-life</a:t>
            </a:r>
            <a:r>
              <a:rPr lang="en-US" sz="2400"/>
              <a:t> examples </a:t>
            </a:r>
            <a:r>
              <a:rPr lang="en-US" sz="2400">
                <a:solidFill>
                  <a:schemeClr val="accent1"/>
                </a:solidFill>
              </a:rPr>
              <a:t>than to abstract</a:t>
            </a:r>
            <a:r>
              <a:rPr lang="en-US" sz="2400"/>
              <a:t> description.</a:t>
            </a:r>
          </a:p>
          <a:p>
            <a:pPr>
              <a:lnSpc>
                <a:spcPct val="80000"/>
              </a:lnSpc>
              <a:buFont typeface="Zapf Dingbats" charset="2"/>
              <a:buNone/>
            </a:pPr>
            <a:endParaRPr lang="en-US" sz="2400"/>
          </a:p>
          <a:p>
            <a:pPr>
              <a:lnSpc>
                <a:spcPct val="80000"/>
              </a:lnSpc>
            </a:pPr>
            <a:r>
              <a:rPr lang="en-US" sz="2400"/>
              <a:t>They can understand and critique a scenario of how they can interact with the system.</a:t>
            </a:r>
          </a:p>
          <a:p>
            <a:pPr>
              <a:lnSpc>
                <a:spcPct val="80000"/>
              </a:lnSpc>
              <a:buFont typeface="Zapf Dingbats" charset="2"/>
              <a:buNone/>
            </a:pPr>
            <a:endParaRPr lang="en-US" sz="2000"/>
          </a:p>
          <a:p>
            <a:pPr>
              <a:lnSpc>
                <a:spcPct val="80000"/>
              </a:lnSpc>
            </a:pPr>
            <a:r>
              <a:rPr lang="en-US" sz="2400"/>
              <a:t>That is, scenario can be </a:t>
            </a:r>
            <a:r>
              <a:rPr lang="en-US" sz="2400">
                <a:solidFill>
                  <a:schemeClr val="accent1"/>
                </a:solidFill>
              </a:rPr>
              <a:t>particularly useful for adding detail</a:t>
            </a:r>
            <a:r>
              <a:rPr lang="en-US" sz="2400"/>
              <a:t> to an outline requirements description:</a:t>
            </a:r>
          </a:p>
          <a:p>
            <a:pPr lvl="1">
              <a:lnSpc>
                <a:spcPct val="80000"/>
              </a:lnSpc>
            </a:pPr>
            <a:r>
              <a:rPr lang="en-US" sz="2000"/>
              <a:t>they are description of example interaction sessions;</a:t>
            </a:r>
          </a:p>
          <a:p>
            <a:pPr lvl="1">
              <a:lnSpc>
                <a:spcPct val="80000"/>
              </a:lnSpc>
            </a:pPr>
            <a:r>
              <a:rPr lang="en-US" sz="2000"/>
              <a:t>each scenario covers one or more possible interaction;</a:t>
            </a:r>
          </a:p>
          <a:p>
            <a:pPr lvl="1">
              <a:lnSpc>
                <a:spcPct val="80000"/>
              </a:lnSpc>
              <a:buFontTx/>
              <a:buNone/>
            </a:pPr>
            <a:endParaRPr lang="en-US" sz="2000"/>
          </a:p>
          <a:p>
            <a:pPr lvl="1">
              <a:lnSpc>
                <a:spcPct val="80000"/>
              </a:lnSpc>
              <a:buFontTx/>
              <a:buNone/>
            </a:pPr>
            <a:r>
              <a:rPr lang="en-US"/>
              <a:t>Several forms of scenarios have been developed, each of which provides different types of information at different level of detail about the system.</a:t>
            </a:r>
          </a:p>
        </p:txBody>
      </p:sp>
    </p:spTree>
    <p:extLst>
      <p:ext uri="{BB962C8B-B14F-4D97-AF65-F5344CB8AC3E}">
        <p14:creationId xmlns:p14="http://schemas.microsoft.com/office/powerpoint/2010/main" val="3443251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69925" y="115888"/>
            <a:ext cx="7804150" cy="1108075"/>
          </a:xfrm>
        </p:spPr>
        <p:txBody>
          <a:bodyPr/>
          <a:lstStyle/>
          <a:p>
            <a:r>
              <a:rPr lang="en-GB" sz="3600" dirty="0"/>
              <a:t>Requirements discovery and </a:t>
            </a:r>
            <a:r>
              <a:rPr lang="en-US" sz="3600" dirty="0"/>
              <a:t>scenarios (2/2)</a:t>
            </a:r>
          </a:p>
        </p:txBody>
      </p:sp>
      <p:sp>
        <p:nvSpPr>
          <p:cNvPr id="26627" name="Rectangle 3"/>
          <p:cNvSpPr>
            <a:spLocks noGrp="1" noChangeArrowheads="1"/>
          </p:cNvSpPr>
          <p:nvPr>
            <p:ph type="body" idx="1"/>
          </p:nvPr>
        </p:nvSpPr>
        <p:spPr>
          <a:xfrm>
            <a:off x="430816" y="1412776"/>
            <a:ext cx="8229600" cy="5112568"/>
          </a:xfrm>
        </p:spPr>
        <p:txBody>
          <a:bodyPr/>
          <a:lstStyle/>
          <a:p>
            <a:r>
              <a:rPr lang="en-US" dirty="0"/>
              <a:t>Scenarios are real-life examples of how a system can be used.</a:t>
            </a:r>
          </a:p>
          <a:p>
            <a:r>
              <a:rPr lang="en-US" dirty="0"/>
              <a:t>They should 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r>
              <a:rPr lang="en-US" dirty="0"/>
              <a:t>Scenarios described as text </a:t>
            </a:r>
            <a:r>
              <a:rPr lang="en-US" dirty="0">
                <a:solidFill>
                  <a:schemeClr val="accent1"/>
                </a:solidFill>
              </a:rPr>
              <a:t>might be supplemented</a:t>
            </a:r>
            <a:r>
              <a:rPr lang="en-US" dirty="0"/>
              <a:t> by some kind of diagrams, screen-shot and so on.</a:t>
            </a:r>
          </a:p>
          <a:p>
            <a:r>
              <a:rPr lang="en-US" dirty="0"/>
              <a:t>Alternatively, a more structured approach such as </a:t>
            </a:r>
            <a:r>
              <a:rPr lang="en-US" dirty="0">
                <a:solidFill>
                  <a:schemeClr val="accent1"/>
                </a:solidFill>
              </a:rPr>
              <a:t>event scenarios and/or use-case</a:t>
            </a:r>
            <a:r>
              <a:rPr lang="en-US" dirty="0"/>
              <a:t> may be adopted.</a:t>
            </a:r>
          </a:p>
        </p:txBody>
      </p:sp>
    </p:spTree>
    <p:extLst>
      <p:ext uri="{BB962C8B-B14F-4D97-AF65-F5344CB8AC3E}">
        <p14:creationId xmlns:p14="http://schemas.microsoft.com/office/powerpoint/2010/main" val="2287810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9672" y="-10822"/>
            <a:ext cx="6840760" cy="6815377"/>
          </a:xfrm>
        </p:spPr>
      </p:pic>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Tree>
    <p:extLst>
      <p:ext uri="{BB962C8B-B14F-4D97-AF65-F5344CB8AC3E}">
        <p14:creationId xmlns:p14="http://schemas.microsoft.com/office/powerpoint/2010/main" val="42172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Use-cases and scenarios (1/2)</a:t>
            </a:r>
          </a:p>
        </p:txBody>
      </p:sp>
      <p:sp>
        <p:nvSpPr>
          <p:cNvPr id="36867" name="Rectangle 3"/>
          <p:cNvSpPr>
            <a:spLocks noGrp="1" noChangeArrowheads="1"/>
          </p:cNvSpPr>
          <p:nvPr>
            <p:ph type="body" idx="1"/>
          </p:nvPr>
        </p:nvSpPr>
        <p:spPr>
          <a:xfrm>
            <a:off x="179388" y="1676400"/>
            <a:ext cx="8615362" cy="4776788"/>
          </a:xfrm>
        </p:spPr>
        <p:txBody>
          <a:bodyPr/>
          <a:lstStyle/>
          <a:p>
            <a:pPr algn="just"/>
            <a:r>
              <a:rPr lang="en-US" sz="2800" dirty="0"/>
              <a:t>Scenarios and use-cases are </a:t>
            </a:r>
            <a:r>
              <a:rPr lang="en-US" sz="2800" b="1" i="1" u="sng" dirty="0"/>
              <a:t>effective technique for eliciting</a:t>
            </a:r>
            <a:r>
              <a:rPr lang="en-US" sz="2800" dirty="0"/>
              <a:t> requirements for </a:t>
            </a:r>
            <a:r>
              <a:rPr lang="en-US" sz="2800" b="1" i="1" u="sng" dirty="0" err="1"/>
              <a:t>interactor</a:t>
            </a:r>
            <a:r>
              <a:rPr lang="en-US" sz="2800" dirty="0"/>
              <a:t> viewpoints. In fact each interaction can be represented as a use-case supplemented by scenarios.</a:t>
            </a:r>
          </a:p>
          <a:p>
            <a:pPr algn="just"/>
            <a:r>
              <a:rPr lang="en-US" sz="2800" dirty="0"/>
              <a:t>They may also be used for </a:t>
            </a:r>
            <a:r>
              <a:rPr lang="en-US" sz="2800" b="1" i="1" u="sng" dirty="0"/>
              <a:t>indirect viewpoint</a:t>
            </a:r>
            <a:r>
              <a:rPr lang="en-US" sz="2800" dirty="0"/>
              <a:t> when these viewpoint receive some result. For example consider the Library Manager of our example.  </a:t>
            </a:r>
            <a:endParaRPr lang="en-US" sz="2000" dirty="0"/>
          </a:p>
        </p:txBody>
      </p:sp>
    </p:spTree>
    <p:extLst>
      <p:ext uri="{BB962C8B-B14F-4D97-AF65-F5344CB8AC3E}">
        <p14:creationId xmlns:p14="http://schemas.microsoft.com/office/powerpoint/2010/main" val="2656367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Use-cases and scenarios (2/2)</a:t>
            </a:r>
          </a:p>
        </p:txBody>
      </p:sp>
      <p:sp>
        <p:nvSpPr>
          <p:cNvPr id="37891" name="Rectangle 3"/>
          <p:cNvSpPr>
            <a:spLocks noGrp="1" noChangeArrowheads="1"/>
          </p:cNvSpPr>
          <p:nvPr>
            <p:ph type="body" idx="1"/>
          </p:nvPr>
        </p:nvSpPr>
        <p:spPr>
          <a:xfrm>
            <a:off x="179388" y="1676400"/>
            <a:ext cx="8615362" cy="4776788"/>
          </a:xfrm>
        </p:spPr>
        <p:txBody>
          <a:bodyPr/>
          <a:lstStyle/>
          <a:p>
            <a:r>
              <a:rPr lang="en-US" sz="3600"/>
              <a:t>Due to their </a:t>
            </a:r>
            <a:r>
              <a:rPr lang="en-US" sz="3600" i="1"/>
              <a:t>“low-level nature”</a:t>
            </a:r>
            <a:r>
              <a:rPr lang="en-US" sz="3600"/>
              <a:t> in this context </a:t>
            </a:r>
            <a:r>
              <a:rPr lang="en-US" sz="2400"/>
              <a:t>(</a:t>
            </a:r>
            <a:r>
              <a:rPr lang="en-US" sz="2400" i="1"/>
              <a:t>requirements engineering process</a:t>
            </a:r>
            <a:r>
              <a:rPr lang="en-US" sz="2400"/>
              <a:t>)</a:t>
            </a:r>
            <a:r>
              <a:rPr lang="en-US" sz="3600"/>
              <a:t>,  scenarios and use-cases </a:t>
            </a:r>
            <a:r>
              <a:rPr lang="en-US" sz="3600" b="1" i="1"/>
              <a:t>are not so effective</a:t>
            </a:r>
            <a:endParaRPr lang="en-US" sz="3600"/>
          </a:p>
          <a:p>
            <a:pPr lvl="1"/>
            <a:r>
              <a:rPr lang="en-US" sz="3200"/>
              <a:t>for discovering constraints and/or </a:t>
            </a:r>
            <a:r>
              <a:rPr lang="en-US" sz="3200" b="1" i="1" u="sng"/>
              <a:t>high-level non-functional</a:t>
            </a:r>
            <a:r>
              <a:rPr lang="en-US" sz="3200"/>
              <a:t> requirements;</a:t>
            </a:r>
          </a:p>
          <a:p>
            <a:pPr lvl="1"/>
            <a:r>
              <a:rPr lang="en-US" sz="3200"/>
              <a:t>for discovering </a:t>
            </a:r>
            <a:r>
              <a:rPr lang="en-US" sz="3200" b="1" i="1" u="sng"/>
              <a:t>domain</a:t>
            </a:r>
            <a:r>
              <a:rPr lang="en-US" sz="3200"/>
              <a:t> requirements.</a:t>
            </a:r>
            <a:endParaRPr lang="en-US"/>
          </a:p>
        </p:txBody>
      </p:sp>
    </p:spTree>
    <p:extLst>
      <p:ext uri="{BB962C8B-B14F-4D97-AF65-F5344CB8AC3E}">
        <p14:creationId xmlns:p14="http://schemas.microsoft.com/office/powerpoint/2010/main" val="3969845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57200" y="274638"/>
            <a:ext cx="7293232" cy="1143000"/>
          </a:xfrm>
          <a:noFill/>
        </p:spPr>
        <p:txBody>
          <a:bodyPr lIns="90487" tIns="44450" rIns="90487" bIns="44450"/>
          <a:lstStyle/>
          <a:p>
            <a:r>
              <a:rPr lang="en-GB"/>
              <a:t>Requirements validation</a:t>
            </a:r>
          </a:p>
        </p:txBody>
      </p:sp>
      <p:sp>
        <p:nvSpPr>
          <p:cNvPr id="7" name="Rectangle 3"/>
          <p:cNvSpPr txBox="1">
            <a:spLocks noChangeArrowheads="1"/>
          </p:cNvSpPr>
          <p:nvPr/>
        </p:nvSpPr>
        <p:spPr>
          <a:xfrm>
            <a:off x="179388" y="1676400"/>
            <a:ext cx="8615362" cy="4776788"/>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Concerned with demonstrating that the requirements </a:t>
            </a:r>
            <a:r>
              <a:rPr lang="en-GB" b="1" i="1" u="sng" dirty="0"/>
              <a:t>define</a:t>
            </a:r>
            <a:r>
              <a:rPr lang="en-GB" dirty="0"/>
              <a:t> the system that the customer really wants.</a:t>
            </a:r>
          </a:p>
          <a:p>
            <a:r>
              <a:rPr lang="en-GB" dirty="0"/>
              <a:t>Requirements </a:t>
            </a:r>
            <a:r>
              <a:rPr lang="en-GB" b="1" i="1" u="sng" dirty="0"/>
              <a:t>validation covers a part of analysis</a:t>
            </a:r>
            <a:r>
              <a:rPr lang="en-GB" dirty="0"/>
              <a:t> in that it is concerned with </a:t>
            </a:r>
            <a:r>
              <a:rPr lang="en-GB" b="1" i="1" u="sng" dirty="0"/>
              <a:t>finding problems</a:t>
            </a:r>
            <a:r>
              <a:rPr lang="en-GB" dirty="0"/>
              <a:t> with requirements.</a:t>
            </a:r>
          </a:p>
          <a:p>
            <a:r>
              <a:rPr lang="en-GB" b="1" i="1" u="sng" dirty="0"/>
              <a:t>Requirements error costs are high</a:t>
            </a:r>
            <a:r>
              <a:rPr lang="en-GB" dirty="0"/>
              <a:t> so validation is very important</a:t>
            </a:r>
          </a:p>
          <a:p>
            <a:pPr lvl="1"/>
            <a:r>
              <a:rPr lang="en-GB" dirty="0"/>
              <a:t>Fixing a requirements error after delivery may cost up to 100 times the cost of fixing an implementation error.</a:t>
            </a:r>
          </a:p>
          <a:p>
            <a:pPr lvl="1"/>
            <a:r>
              <a:rPr lang="en-GB" dirty="0"/>
              <a:t>In fact, a change to the requirements usually means that the </a:t>
            </a:r>
            <a:r>
              <a:rPr lang="en-GB" b="1" i="1" u="sng" dirty="0"/>
              <a:t>system design</a:t>
            </a:r>
            <a:r>
              <a:rPr lang="en-GB" dirty="0"/>
              <a:t> and the </a:t>
            </a:r>
            <a:r>
              <a:rPr lang="en-GB" b="1" i="1" u="sng" dirty="0"/>
              <a:t>implementation </a:t>
            </a:r>
            <a:r>
              <a:rPr lang="en-GB" dirty="0"/>
              <a:t>must also be changed and the </a:t>
            </a:r>
            <a:r>
              <a:rPr lang="en-GB" b="1" i="1" u="sng" dirty="0"/>
              <a:t>testing</a:t>
            </a:r>
            <a:r>
              <a:rPr lang="en-GB" dirty="0"/>
              <a:t> has to be performed again</a:t>
            </a:r>
            <a:r>
              <a:rPr lang="en-GB" b="1" i="1" u="sng" dirty="0"/>
              <a:t>.</a:t>
            </a:r>
          </a:p>
        </p:txBody>
      </p:sp>
    </p:spTree>
    <p:extLst>
      <p:ext uri="{BB962C8B-B14F-4D97-AF65-F5344CB8AC3E}">
        <p14:creationId xmlns:p14="http://schemas.microsoft.com/office/powerpoint/2010/main" val="29617010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457200" y="274638"/>
            <a:ext cx="7293232" cy="1143000"/>
          </a:xfrm>
          <a:noFill/>
        </p:spPr>
        <p:txBody>
          <a:bodyPr lIns="90487" tIns="44450" rIns="90487" bIns="44450"/>
          <a:lstStyle/>
          <a:p>
            <a:r>
              <a:rPr lang="en-GB" sz="3600"/>
              <a:t>Checks required during the requirements validation process</a:t>
            </a:r>
          </a:p>
        </p:txBody>
      </p:sp>
      <p:sp>
        <p:nvSpPr>
          <p:cNvPr id="7" name="Rectangle 3"/>
          <p:cNvSpPr txBox="1">
            <a:spLocks noChangeArrowheads="1"/>
          </p:cNvSpPr>
          <p:nvPr/>
        </p:nvSpPr>
        <p:spPr>
          <a:xfrm>
            <a:off x="121022" y="1916832"/>
            <a:ext cx="8964612" cy="4104927"/>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pPr>
            <a:r>
              <a:rPr lang="en-GB" dirty="0">
                <a:solidFill>
                  <a:srgbClr val="FF0000"/>
                </a:solidFill>
              </a:rPr>
              <a:t>Validity checks</a:t>
            </a:r>
            <a:r>
              <a:rPr lang="en-GB" dirty="0"/>
              <a:t>. Does the system provide the functions which best support the customer’s needs? </a:t>
            </a:r>
            <a:r>
              <a:rPr lang="en-GB" sz="2000" dirty="0"/>
              <a:t>( Other functions maybe identified by a further analysis )</a:t>
            </a:r>
            <a:endParaRPr lang="en-GB" dirty="0"/>
          </a:p>
          <a:p>
            <a:pPr>
              <a:lnSpc>
                <a:spcPct val="90000"/>
              </a:lnSpc>
            </a:pPr>
            <a:r>
              <a:rPr lang="en-GB" dirty="0">
                <a:solidFill>
                  <a:srgbClr val="FF0000"/>
                </a:solidFill>
              </a:rPr>
              <a:t>Consistency checks</a:t>
            </a:r>
            <a:r>
              <a:rPr lang="en-GB" dirty="0"/>
              <a:t>. Are there any requirements conflicts?</a:t>
            </a:r>
          </a:p>
          <a:p>
            <a:pPr>
              <a:lnSpc>
                <a:spcPct val="90000"/>
              </a:lnSpc>
            </a:pPr>
            <a:r>
              <a:rPr lang="en-GB" dirty="0">
                <a:solidFill>
                  <a:srgbClr val="FF0000"/>
                </a:solidFill>
              </a:rPr>
              <a:t>Completeness checks</a:t>
            </a:r>
            <a:r>
              <a:rPr lang="en-GB" dirty="0"/>
              <a:t>. Are all the requirements needed to define all functions required by the customer sufficiently specified?</a:t>
            </a:r>
          </a:p>
          <a:p>
            <a:pPr>
              <a:lnSpc>
                <a:spcPct val="90000"/>
              </a:lnSpc>
            </a:pPr>
            <a:r>
              <a:rPr lang="en-GB" dirty="0">
                <a:solidFill>
                  <a:srgbClr val="FF0000"/>
                </a:solidFill>
              </a:rPr>
              <a:t>Realism checks</a:t>
            </a:r>
            <a:r>
              <a:rPr lang="en-GB" dirty="0"/>
              <a:t>. Can the requirements be implemented given available budget, technology and schedule?</a:t>
            </a:r>
          </a:p>
          <a:p>
            <a:pPr>
              <a:lnSpc>
                <a:spcPct val="90000"/>
              </a:lnSpc>
            </a:pPr>
            <a:r>
              <a:rPr lang="en-GB" dirty="0">
                <a:solidFill>
                  <a:srgbClr val="FF0000"/>
                </a:solidFill>
              </a:rPr>
              <a:t>Verifiability</a:t>
            </a:r>
            <a:r>
              <a:rPr lang="en-GB" dirty="0"/>
              <a:t>. Can the requirements be checked?</a:t>
            </a:r>
          </a:p>
        </p:txBody>
      </p:sp>
    </p:spTree>
    <p:extLst>
      <p:ext uri="{BB962C8B-B14F-4D97-AF65-F5344CB8AC3E}">
        <p14:creationId xmlns:p14="http://schemas.microsoft.com/office/powerpoint/2010/main" val="379012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9" name="Rectangle 3"/>
          <p:cNvSpPr txBox="1">
            <a:spLocks noChangeArrowheads="1"/>
          </p:cNvSpPr>
          <p:nvPr/>
        </p:nvSpPr>
        <p:spPr>
          <a:xfrm>
            <a:off x="107950" y="1484313"/>
            <a:ext cx="9036050" cy="5040312"/>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buFont typeface="Zapf Dingbats" charset="2"/>
              <a:buNone/>
            </a:pPr>
            <a:r>
              <a:rPr lang="en-GB" dirty="0"/>
              <a:t>The following techniques can be used </a:t>
            </a:r>
            <a:r>
              <a:rPr lang="en-GB" i="1" dirty="0"/>
              <a:t>individually</a:t>
            </a:r>
            <a:r>
              <a:rPr lang="en-GB" dirty="0"/>
              <a:t> or in </a:t>
            </a:r>
            <a:r>
              <a:rPr lang="en-GB" i="1" dirty="0"/>
              <a:t>conjunction</a:t>
            </a:r>
            <a:r>
              <a:rPr lang="en-GB" dirty="0"/>
              <a:t>.</a:t>
            </a:r>
          </a:p>
          <a:p>
            <a:pPr>
              <a:lnSpc>
                <a:spcPct val="90000"/>
              </a:lnSpc>
            </a:pPr>
            <a:r>
              <a:rPr lang="en-GB" b="1" i="1" u="sng" dirty="0"/>
              <a:t>Requirements reviews</a:t>
            </a:r>
          </a:p>
          <a:p>
            <a:pPr lvl="1">
              <a:lnSpc>
                <a:spcPct val="90000"/>
              </a:lnSpc>
            </a:pPr>
            <a:r>
              <a:rPr lang="en-GB" sz="2400" dirty="0"/>
              <a:t>Systematic manual analysis of the requirements performed by a team of reviewers.</a:t>
            </a:r>
          </a:p>
          <a:p>
            <a:pPr>
              <a:lnSpc>
                <a:spcPct val="90000"/>
              </a:lnSpc>
            </a:pPr>
            <a:r>
              <a:rPr lang="en-GB" b="1" i="1" u="sng" dirty="0"/>
              <a:t>Prototyping</a:t>
            </a:r>
          </a:p>
          <a:p>
            <a:pPr lvl="1">
              <a:lnSpc>
                <a:spcPct val="90000"/>
              </a:lnSpc>
            </a:pPr>
            <a:r>
              <a:rPr lang="en-GB" sz="2400" dirty="0"/>
              <a:t>Using an executable model of the system to check requirements. </a:t>
            </a:r>
          </a:p>
          <a:p>
            <a:pPr>
              <a:lnSpc>
                <a:spcPct val="90000"/>
              </a:lnSpc>
            </a:pPr>
            <a:r>
              <a:rPr lang="en-GB" b="1" i="1" u="sng" dirty="0"/>
              <a:t>Test-case generation</a:t>
            </a:r>
          </a:p>
          <a:p>
            <a:pPr lvl="1">
              <a:lnSpc>
                <a:spcPct val="90000"/>
              </a:lnSpc>
            </a:pPr>
            <a:r>
              <a:rPr lang="en-GB" sz="2400" dirty="0"/>
              <a:t>Developing tests for requirements to check testability. </a:t>
            </a:r>
          </a:p>
          <a:p>
            <a:pPr lvl="1">
              <a:lnSpc>
                <a:spcPct val="90000"/>
              </a:lnSpc>
            </a:pPr>
            <a:r>
              <a:rPr lang="en-GB" sz="2400" dirty="0"/>
              <a:t>If the test is difficult to design, usually the related requirements are difficult to implement.</a:t>
            </a:r>
          </a:p>
        </p:txBody>
      </p:sp>
    </p:spTree>
    <p:extLst>
      <p:ext uri="{BB962C8B-B14F-4D97-AF65-F5344CB8AC3E}">
        <p14:creationId xmlns:p14="http://schemas.microsoft.com/office/powerpoint/2010/main" val="3817695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GB"/>
              <a:t>Requirements management</a:t>
            </a:r>
          </a:p>
        </p:txBody>
      </p:sp>
      <p:sp>
        <p:nvSpPr>
          <p:cNvPr id="52227" name="Rectangle 3"/>
          <p:cNvSpPr>
            <a:spLocks noGrp="1" noChangeArrowheads="1"/>
          </p:cNvSpPr>
          <p:nvPr>
            <p:ph type="body" idx="1"/>
          </p:nvPr>
        </p:nvSpPr>
        <p:spPr>
          <a:xfrm>
            <a:off x="179388" y="1676400"/>
            <a:ext cx="8615362" cy="4776788"/>
          </a:xfrm>
        </p:spPr>
        <p:txBody>
          <a:bodyPr/>
          <a:lstStyle/>
          <a:p>
            <a:r>
              <a:rPr lang="en-GB" sz="2400" dirty="0"/>
              <a:t>The requirements for large systems are frequently changing.</a:t>
            </a:r>
          </a:p>
          <a:p>
            <a:r>
              <a:rPr lang="en-GB" sz="2400" dirty="0"/>
              <a:t>In fact, during the software process, the </a:t>
            </a:r>
            <a:r>
              <a:rPr lang="en-GB" sz="2400" b="1" i="1" u="sng" dirty="0"/>
              <a:t>stakeholders’ understanding of the problem</a:t>
            </a:r>
            <a:r>
              <a:rPr lang="en-GB" sz="2400" dirty="0"/>
              <a:t> is constantly changing.</a:t>
            </a:r>
          </a:p>
          <a:p>
            <a:r>
              <a:rPr lang="en-GB" sz="2400" dirty="0"/>
              <a:t>Requirements management is the process of managing </a:t>
            </a:r>
            <a:r>
              <a:rPr lang="en-GB" sz="2400" b="1" i="1" u="sng" dirty="0"/>
              <a:t>changing requirements</a:t>
            </a:r>
            <a:r>
              <a:rPr lang="en-GB" sz="2400" dirty="0"/>
              <a:t> during the </a:t>
            </a:r>
            <a:r>
              <a:rPr lang="en-GB" sz="2400" b="1" i="1" u="sng" dirty="0"/>
              <a:t>requirements engineering process</a:t>
            </a:r>
            <a:r>
              <a:rPr lang="en-GB" sz="2400" dirty="0"/>
              <a:t> and </a:t>
            </a:r>
            <a:r>
              <a:rPr lang="en-GB" sz="2400" b="1" i="1" u="sng" dirty="0"/>
              <a:t>system development.</a:t>
            </a:r>
          </a:p>
          <a:p>
            <a:r>
              <a:rPr lang="en-GB" sz="2400" dirty="0"/>
              <a:t>Requirements are inevitably incomplete and inconsistent</a:t>
            </a:r>
          </a:p>
          <a:p>
            <a:pPr lvl="1"/>
            <a:r>
              <a:rPr lang="en-GB" sz="2000" dirty="0"/>
              <a:t>New requirements emerge during the process as business needs change and a better understanding of the system is developed;</a:t>
            </a:r>
          </a:p>
          <a:p>
            <a:pPr lvl="1"/>
            <a:r>
              <a:rPr lang="en-GB" sz="2000" dirty="0"/>
              <a:t>Different viewpoints have different requirements and these are often contradictory.</a:t>
            </a:r>
          </a:p>
        </p:txBody>
      </p:sp>
    </p:spTree>
    <p:extLst>
      <p:ext uri="{BB962C8B-B14F-4D97-AF65-F5344CB8AC3E}">
        <p14:creationId xmlns:p14="http://schemas.microsoft.com/office/powerpoint/2010/main" val="3430702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Requirements management</a:t>
            </a:r>
          </a:p>
        </p:txBody>
      </p:sp>
      <p:sp>
        <p:nvSpPr>
          <p:cNvPr id="53251" name="Rectangle 3"/>
          <p:cNvSpPr>
            <a:spLocks noGrp="1" noChangeArrowheads="1"/>
          </p:cNvSpPr>
          <p:nvPr>
            <p:ph type="body" idx="1"/>
          </p:nvPr>
        </p:nvSpPr>
        <p:spPr>
          <a:xfrm>
            <a:off x="179388" y="1700808"/>
            <a:ext cx="8615362" cy="4776788"/>
          </a:xfrm>
        </p:spPr>
        <p:txBody>
          <a:bodyPr/>
          <a:lstStyle/>
          <a:p>
            <a:r>
              <a:rPr lang="en-GB" b="1" i="1" u="sng" dirty="0"/>
              <a:t>It is hard</a:t>
            </a:r>
            <a:r>
              <a:rPr lang="en-GB" dirty="0"/>
              <a:t> for the users and customers </a:t>
            </a:r>
            <a:r>
              <a:rPr lang="en-GB" b="1" i="1" u="sng" dirty="0"/>
              <a:t>to anticipate</a:t>
            </a:r>
            <a:r>
              <a:rPr lang="en-GB" dirty="0"/>
              <a:t> what effects the new system will have on the organization.</a:t>
            </a:r>
          </a:p>
          <a:p>
            <a:pPr>
              <a:buFont typeface="Zapf Dingbats" charset="2"/>
              <a:buNone/>
            </a:pPr>
            <a:endParaRPr lang="en-GB" dirty="0"/>
          </a:p>
          <a:p>
            <a:r>
              <a:rPr lang="en-GB" dirty="0"/>
              <a:t>Often, </a:t>
            </a:r>
            <a:r>
              <a:rPr lang="en-GB" b="1" i="1" u="sng" dirty="0"/>
              <a:t>only when the system has been deployed</a:t>
            </a:r>
            <a:r>
              <a:rPr lang="en-GB" dirty="0"/>
              <a:t>, new requirements inevitably emerge.</a:t>
            </a:r>
          </a:p>
          <a:p>
            <a:pPr>
              <a:buFont typeface="Zapf Dingbats" charset="2"/>
              <a:buNone/>
            </a:pPr>
            <a:endParaRPr lang="en-GB" dirty="0"/>
          </a:p>
          <a:p>
            <a:r>
              <a:rPr lang="en-GB" dirty="0"/>
              <a:t>This is mainly due to the fact that, </a:t>
            </a:r>
            <a:r>
              <a:rPr lang="en-GB" b="1" i="1" u="sng" dirty="0"/>
              <a:t>when the end-users have experience of the new system</a:t>
            </a:r>
            <a:r>
              <a:rPr lang="en-GB" dirty="0"/>
              <a:t>, they discover new needs and priority.</a:t>
            </a:r>
          </a:p>
        </p:txBody>
      </p:sp>
    </p:spTree>
    <p:extLst>
      <p:ext uri="{BB962C8B-B14F-4D97-AF65-F5344CB8AC3E}">
        <p14:creationId xmlns:p14="http://schemas.microsoft.com/office/powerpoint/2010/main" val="1753021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GB"/>
              <a:t>Requirements change</a:t>
            </a:r>
          </a:p>
        </p:txBody>
      </p:sp>
      <p:sp>
        <p:nvSpPr>
          <p:cNvPr id="54275" name="Rectangle 3"/>
          <p:cNvSpPr>
            <a:spLocks noGrp="1" noChangeArrowheads="1"/>
          </p:cNvSpPr>
          <p:nvPr>
            <p:ph type="body" idx="1"/>
          </p:nvPr>
        </p:nvSpPr>
        <p:spPr>
          <a:xfrm>
            <a:off x="34262" y="1700463"/>
            <a:ext cx="8785225" cy="4705350"/>
          </a:xfrm>
        </p:spPr>
        <p:txBody>
          <a:bodyPr/>
          <a:lstStyle/>
          <a:p>
            <a:pPr marL="533400" indent="-533400" algn="just">
              <a:lnSpc>
                <a:spcPct val="90000"/>
              </a:lnSpc>
              <a:buFont typeface="Zapf Dingbats" charset="2"/>
              <a:buAutoNum type="arabicPeriod"/>
            </a:pPr>
            <a:r>
              <a:rPr lang="en-GB" dirty="0"/>
              <a:t>The priority of requirements from different viewpoints changes during the development process. </a:t>
            </a:r>
            <a:r>
              <a:rPr lang="en-GB" b="1" i="1" u="sng" dirty="0"/>
              <a:t>Conflicts</a:t>
            </a:r>
            <a:r>
              <a:rPr lang="en-GB" dirty="0"/>
              <a:t> have to inevitably </a:t>
            </a:r>
            <a:r>
              <a:rPr lang="en-GB" b="1" i="1" u="sng" dirty="0"/>
              <a:t>converge</a:t>
            </a:r>
            <a:r>
              <a:rPr lang="en-GB" dirty="0"/>
              <a:t> in a </a:t>
            </a:r>
            <a:r>
              <a:rPr lang="en-GB" b="1" i="1" u="sng" dirty="0"/>
              <a:t>compromise</a:t>
            </a:r>
            <a:r>
              <a:rPr lang="en-GB" dirty="0"/>
              <a:t>. </a:t>
            </a:r>
          </a:p>
          <a:p>
            <a:pPr marL="533400" indent="-533400" algn="just">
              <a:lnSpc>
                <a:spcPct val="90000"/>
              </a:lnSpc>
              <a:buFont typeface="Zapf Dingbats" charset="2"/>
              <a:buAutoNum type="arabicPeriod"/>
            </a:pPr>
            <a:r>
              <a:rPr lang="en-GB" dirty="0"/>
              <a:t>System customers may specify requirements from a </a:t>
            </a:r>
            <a:r>
              <a:rPr lang="en-GB" b="1" i="1" u="sng" dirty="0"/>
              <a:t>business perspective that conflict with end-user</a:t>
            </a:r>
            <a:r>
              <a:rPr lang="en-GB" dirty="0"/>
              <a:t> requirements. </a:t>
            </a:r>
          </a:p>
          <a:p>
            <a:pPr marL="533400" indent="-533400" algn="just">
              <a:lnSpc>
                <a:spcPct val="90000"/>
              </a:lnSpc>
              <a:buFont typeface="Zapf Dingbats" charset="2"/>
              <a:buAutoNum type="arabicPeriod"/>
            </a:pPr>
            <a:r>
              <a:rPr lang="en-GB" dirty="0"/>
              <a:t>The </a:t>
            </a:r>
            <a:r>
              <a:rPr lang="en-GB" b="1" i="1" u="sng" dirty="0"/>
              <a:t>business and technical</a:t>
            </a:r>
            <a:r>
              <a:rPr lang="en-GB" dirty="0"/>
              <a:t> environment of the system </a:t>
            </a:r>
            <a:r>
              <a:rPr lang="en-GB" b="1" i="1" u="sng" dirty="0"/>
              <a:t>changes</a:t>
            </a:r>
            <a:r>
              <a:rPr lang="en-GB" dirty="0"/>
              <a:t> during its development.</a:t>
            </a:r>
          </a:p>
          <a:p>
            <a:pPr marL="533400" indent="-533400" algn="just">
              <a:lnSpc>
                <a:spcPct val="90000"/>
              </a:lnSpc>
              <a:buFont typeface="Zapf Dingbats" charset="2"/>
              <a:buAutoNum type="arabicPeriod"/>
            </a:pPr>
            <a:r>
              <a:rPr lang="en-GB" dirty="0"/>
              <a:t>New hardware, new interface, business priority, new regulations, etc.</a:t>
            </a:r>
          </a:p>
        </p:txBody>
      </p:sp>
    </p:spTree>
    <p:extLst>
      <p:ext uri="{BB962C8B-B14F-4D97-AF65-F5344CB8AC3E}">
        <p14:creationId xmlns:p14="http://schemas.microsoft.com/office/powerpoint/2010/main" val="1886934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116632"/>
            <a:ext cx="7804150" cy="1223963"/>
          </a:xfrm>
        </p:spPr>
        <p:txBody>
          <a:bodyPr/>
          <a:lstStyle/>
          <a:p>
            <a:r>
              <a:rPr lang="en-GB" sz="2800" dirty="0"/>
              <a:t>Requirement changes and the requirements management </a:t>
            </a:r>
          </a:p>
        </p:txBody>
      </p:sp>
      <p:sp>
        <p:nvSpPr>
          <p:cNvPr id="55299" name="Rectangle 3"/>
          <p:cNvSpPr>
            <a:spLocks noGrp="1" noChangeArrowheads="1"/>
          </p:cNvSpPr>
          <p:nvPr>
            <p:ph type="body" idx="1"/>
          </p:nvPr>
        </p:nvSpPr>
        <p:spPr>
          <a:xfrm>
            <a:off x="323528" y="1676400"/>
            <a:ext cx="8471222" cy="4776788"/>
          </a:xfrm>
        </p:spPr>
        <p:txBody>
          <a:bodyPr/>
          <a:lstStyle/>
          <a:p>
            <a:pPr algn="just">
              <a:buFont typeface="Zapf Dingbats" charset="2"/>
              <a:buNone/>
            </a:pPr>
            <a:r>
              <a:rPr lang="en-GB" dirty="0"/>
              <a:t>The </a:t>
            </a:r>
            <a:r>
              <a:rPr lang="en-GB" b="1" i="1" u="sng" dirty="0"/>
              <a:t>requirements management is the process</a:t>
            </a:r>
            <a:r>
              <a:rPr lang="en-GB" dirty="0"/>
              <a:t> of identifying, understanding and controlling changes to system requirements.</a:t>
            </a:r>
          </a:p>
          <a:p>
            <a:pPr algn="just"/>
            <a:r>
              <a:rPr lang="en-GB" dirty="0"/>
              <a:t>It might be useful </a:t>
            </a:r>
            <a:r>
              <a:rPr lang="en-GB" b="1" i="1" u="sng" dirty="0"/>
              <a:t>to keep track of individual requirements and maintain links</a:t>
            </a:r>
            <a:r>
              <a:rPr lang="en-GB" dirty="0"/>
              <a:t> between dependent requirements so that you can asset the impact of requirements changes.</a:t>
            </a:r>
          </a:p>
          <a:p>
            <a:pPr algn="just"/>
            <a:r>
              <a:rPr lang="en-GB" dirty="0"/>
              <a:t>The process of requirements management </a:t>
            </a:r>
            <a:r>
              <a:rPr lang="en-GB" b="1" i="1" u="sng" dirty="0"/>
              <a:t>should start as soon as</a:t>
            </a:r>
            <a:r>
              <a:rPr lang="en-GB" dirty="0"/>
              <a:t> a draft a version of the requirement document is available.</a:t>
            </a:r>
          </a:p>
        </p:txBody>
      </p:sp>
    </p:spTree>
    <p:extLst>
      <p:ext uri="{BB962C8B-B14F-4D97-AF65-F5344CB8AC3E}">
        <p14:creationId xmlns:p14="http://schemas.microsoft.com/office/powerpoint/2010/main" val="2703296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noFill/>
        </p:spPr>
        <p:txBody>
          <a:bodyPr lIns="90487" tIns="44450" rIns="90487" bIns="44450"/>
          <a:lstStyle/>
          <a:p>
            <a:r>
              <a:rPr lang="en-GB" dirty="0"/>
              <a:t>Requirements evolution</a:t>
            </a:r>
          </a:p>
        </p:txBody>
      </p:sp>
      <p:sp>
        <p:nvSpPr>
          <p:cNvPr id="56323" name="Rectangle 4"/>
          <p:cNvSpPr>
            <a:spLocks noChangeArrowheads="1"/>
          </p:cNvSpPr>
          <p:nvPr/>
        </p:nvSpPr>
        <p:spPr bwMode="auto">
          <a:xfrm>
            <a:off x="533400" y="1752600"/>
            <a:ext cx="8077200" cy="4267200"/>
          </a:xfrm>
          <a:prstGeom prst="rect">
            <a:avLst/>
          </a:prstGeom>
          <a:solidFill>
            <a:srgbClr val="CCFFFF"/>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lvl1pPr>
              <a:defRPr sz="2400" b="1" i="1">
                <a:solidFill>
                  <a:schemeClr val="tx1"/>
                </a:solidFill>
                <a:latin typeface="Times" panose="02020603050405020304" pitchFamily="18" charset="0"/>
              </a:defRPr>
            </a:lvl1pPr>
            <a:lvl2pPr marL="742950" indent="-285750">
              <a:defRPr sz="2400" b="1" i="1">
                <a:solidFill>
                  <a:schemeClr val="tx1"/>
                </a:solidFill>
                <a:latin typeface="Times" panose="02020603050405020304" pitchFamily="18" charset="0"/>
              </a:defRPr>
            </a:lvl2pPr>
            <a:lvl3pPr marL="1143000" indent="-228600">
              <a:defRPr sz="2400" b="1" i="1">
                <a:solidFill>
                  <a:schemeClr val="tx1"/>
                </a:solidFill>
                <a:latin typeface="Times" panose="02020603050405020304" pitchFamily="18" charset="0"/>
              </a:defRPr>
            </a:lvl3pPr>
            <a:lvl4pPr marL="1600200" indent="-228600">
              <a:defRPr sz="2400" b="1" i="1">
                <a:solidFill>
                  <a:schemeClr val="tx1"/>
                </a:solidFill>
                <a:latin typeface="Times" panose="02020603050405020304" pitchFamily="18" charset="0"/>
              </a:defRPr>
            </a:lvl4pPr>
            <a:lvl5pPr marL="2057400" indent="-228600">
              <a:defRPr sz="2400" b="1" i="1">
                <a:solidFill>
                  <a:schemeClr val="tx1"/>
                </a:solidFill>
                <a:latin typeface="Times" panose="02020603050405020304" pitchFamily="18" charset="0"/>
              </a:defRPr>
            </a:lvl5pPr>
            <a:lvl6pPr marL="2514600" indent="-228600" eaLnBrk="0" fontAlgn="base" hangingPunct="0">
              <a:spcBef>
                <a:spcPct val="0"/>
              </a:spcBef>
              <a:spcAft>
                <a:spcPct val="0"/>
              </a:spcAft>
              <a:defRPr sz="2400" b="1" i="1">
                <a:solidFill>
                  <a:schemeClr val="tx1"/>
                </a:solidFill>
                <a:latin typeface="Times" panose="02020603050405020304" pitchFamily="18" charset="0"/>
              </a:defRPr>
            </a:lvl6pPr>
            <a:lvl7pPr marL="2971800" indent="-228600" eaLnBrk="0" fontAlgn="base" hangingPunct="0">
              <a:spcBef>
                <a:spcPct val="0"/>
              </a:spcBef>
              <a:spcAft>
                <a:spcPct val="0"/>
              </a:spcAft>
              <a:defRPr sz="2400" b="1" i="1">
                <a:solidFill>
                  <a:schemeClr val="tx1"/>
                </a:solidFill>
                <a:latin typeface="Times" panose="02020603050405020304" pitchFamily="18" charset="0"/>
              </a:defRPr>
            </a:lvl7pPr>
            <a:lvl8pPr marL="3429000" indent="-228600" eaLnBrk="0" fontAlgn="base" hangingPunct="0">
              <a:spcBef>
                <a:spcPct val="0"/>
              </a:spcBef>
              <a:spcAft>
                <a:spcPct val="0"/>
              </a:spcAft>
              <a:defRPr sz="2400" b="1" i="1">
                <a:solidFill>
                  <a:schemeClr val="tx1"/>
                </a:solidFill>
                <a:latin typeface="Times" panose="02020603050405020304" pitchFamily="18" charset="0"/>
              </a:defRPr>
            </a:lvl8pPr>
            <a:lvl9pPr marL="3886200" indent="-228600" eaLnBrk="0" fontAlgn="base" hangingPunct="0">
              <a:spcBef>
                <a:spcPct val="0"/>
              </a:spcBef>
              <a:spcAft>
                <a:spcPct val="0"/>
              </a:spcAft>
              <a:defRPr sz="2400" b="1" i="1">
                <a:solidFill>
                  <a:schemeClr val="tx1"/>
                </a:solidFill>
                <a:latin typeface="Times" panose="02020603050405020304" pitchFamily="18" charset="0"/>
              </a:defRPr>
            </a:lvl9pPr>
          </a:lstStyle>
          <a:p>
            <a:endParaRPr lang="en-US"/>
          </a:p>
        </p:txBody>
      </p:sp>
      <p:pic>
        <p:nvPicPr>
          <p:cNvPr id="563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362200"/>
            <a:ext cx="6248400" cy="313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940207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266700"/>
            <a:ext cx="8153400" cy="1104900"/>
          </a:xfrm>
          <a:noFill/>
        </p:spPr>
        <p:txBody>
          <a:bodyPr lIns="90487" tIns="44450" rIns="90487" bIns="44450"/>
          <a:lstStyle/>
          <a:p>
            <a:r>
              <a:rPr lang="en-GB"/>
              <a:t>Enduring and volatile requirements</a:t>
            </a:r>
          </a:p>
        </p:txBody>
      </p:sp>
      <p:sp>
        <p:nvSpPr>
          <p:cNvPr id="57347" name="Rectangle 3"/>
          <p:cNvSpPr>
            <a:spLocks noGrp="1" noChangeArrowheads="1"/>
          </p:cNvSpPr>
          <p:nvPr>
            <p:ph type="body" idx="1"/>
          </p:nvPr>
        </p:nvSpPr>
        <p:spPr>
          <a:xfrm>
            <a:off x="179388" y="1676400"/>
            <a:ext cx="8856662" cy="4776788"/>
          </a:xfrm>
          <a:noFill/>
        </p:spPr>
        <p:txBody>
          <a:bodyPr lIns="90487" tIns="44450" rIns="90487" bIns="44450"/>
          <a:lstStyle/>
          <a:p>
            <a:r>
              <a:rPr lang="en-GB" sz="2400" dirty="0">
                <a:solidFill>
                  <a:schemeClr val="tx1"/>
                </a:solidFill>
              </a:rPr>
              <a:t>From an </a:t>
            </a:r>
            <a:r>
              <a:rPr lang="en-GB" sz="2400" b="1" i="1" u="sng" dirty="0">
                <a:solidFill>
                  <a:schemeClr val="tx1"/>
                </a:solidFill>
              </a:rPr>
              <a:t>evolution perspective</a:t>
            </a:r>
            <a:r>
              <a:rPr lang="en-GB" sz="2400" dirty="0">
                <a:solidFill>
                  <a:schemeClr val="tx1"/>
                </a:solidFill>
              </a:rPr>
              <a:t>, requirements fall into two classes:</a:t>
            </a:r>
          </a:p>
          <a:p>
            <a:r>
              <a:rPr lang="en-GB" sz="2400" dirty="0">
                <a:solidFill>
                  <a:srgbClr val="FF0000"/>
                </a:solidFill>
              </a:rPr>
              <a:t>Enduring requirements</a:t>
            </a:r>
            <a:r>
              <a:rPr lang="en-GB" sz="2400" dirty="0"/>
              <a:t>. Stable requirements derived from the </a:t>
            </a:r>
            <a:r>
              <a:rPr lang="en-GB" sz="2400" b="1" i="1" u="sng" dirty="0"/>
              <a:t>core activity</a:t>
            </a:r>
            <a:r>
              <a:rPr lang="en-GB" sz="2400" dirty="0"/>
              <a:t> of the customer organisation and </a:t>
            </a:r>
            <a:r>
              <a:rPr lang="en-GB" sz="2400" b="1" i="1" u="sng" dirty="0"/>
              <a:t>relate directly to the domain</a:t>
            </a:r>
            <a:r>
              <a:rPr lang="en-GB" sz="2400" dirty="0"/>
              <a:t> of the system. </a:t>
            </a:r>
          </a:p>
          <a:p>
            <a:pPr lvl="1"/>
            <a:r>
              <a:rPr lang="en-GB" sz="2000" dirty="0"/>
              <a:t>E.g., In a hospital, requirements will always relate to doctors, nurses, etc. </a:t>
            </a:r>
          </a:p>
          <a:p>
            <a:pPr lvl="1"/>
            <a:r>
              <a:rPr lang="en-GB" sz="2000" dirty="0"/>
              <a:t>These requirements may be derived from a </a:t>
            </a:r>
            <a:r>
              <a:rPr lang="en-GB" sz="2000" b="1" i="1" u="sng" dirty="0"/>
              <a:t>domain conceptual models</a:t>
            </a:r>
            <a:r>
              <a:rPr lang="en-GB" sz="2000" dirty="0"/>
              <a:t> that show </a:t>
            </a:r>
            <a:r>
              <a:rPr lang="en-GB" sz="2000" b="1" i="1" u="sng" dirty="0"/>
              <a:t>entities and relations</a:t>
            </a:r>
            <a:r>
              <a:rPr lang="en-GB" sz="2000" dirty="0"/>
              <a:t> between them.</a:t>
            </a:r>
          </a:p>
          <a:p>
            <a:r>
              <a:rPr lang="en-GB" sz="2400" dirty="0">
                <a:solidFill>
                  <a:srgbClr val="FF0000"/>
                </a:solidFill>
              </a:rPr>
              <a:t>Volatile requirements</a:t>
            </a:r>
            <a:r>
              <a:rPr lang="en-GB" sz="2400" dirty="0"/>
              <a:t>. Requirements which </a:t>
            </a:r>
            <a:r>
              <a:rPr lang="en-GB" sz="2400" b="1" i="1" u="sng" dirty="0"/>
              <a:t>change during development or when the system is in use</a:t>
            </a:r>
            <a:r>
              <a:rPr lang="en-GB" sz="2400" dirty="0"/>
              <a:t>.</a:t>
            </a:r>
          </a:p>
          <a:p>
            <a:pPr lvl="1"/>
            <a:r>
              <a:rPr lang="en-GB" sz="2000" dirty="0"/>
              <a:t>E.g., In a hospital, requirements derived from healthcare policy;</a:t>
            </a:r>
          </a:p>
        </p:txBody>
      </p:sp>
    </p:spTree>
    <p:extLst>
      <p:ext uri="{BB962C8B-B14F-4D97-AF65-F5344CB8AC3E}">
        <p14:creationId xmlns:p14="http://schemas.microsoft.com/office/powerpoint/2010/main" val="343533711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GB" sz="3600"/>
              <a:t>Requirements management planning</a:t>
            </a:r>
            <a:endParaRPr lang="en-GB"/>
          </a:p>
        </p:txBody>
      </p:sp>
      <p:sp>
        <p:nvSpPr>
          <p:cNvPr id="59395" name="Rectangle 3"/>
          <p:cNvSpPr>
            <a:spLocks noGrp="1" noChangeArrowheads="1"/>
          </p:cNvSpPr>
          <p:nvPr>
            <p:ph type="body" idx="1"/>
          </p:nvPr>
        </p:nvSpPr>
        <p:spPr>
          <a:xfrm>
            <a:off x="179388" y="1484313"/>
            <a:ext cx="8964612" cy="4968875"/>
          </a:xfrm>
        </p:spPr>
        <p:txBody>
          <a:bodyPr/>
          <a:lstStyle/>
          <a:p>
            <a:pPr>
              <a:lnSpc>
                <a:spcPct val="80000"/>
              </a:lnSpc>
            </a:pPr>
            <a:r>
              <a:rPr lang="en-GB" sz="2400" dirty="0"/>
              <a:t>Since the RE process is very expensive, it might be useful to establish a planning.  </a:t>
            </a:r>
          </a:p>
          <a:p>
            <a:pPr>
              <a:lnSpc>
                <a:spcPct val="80000"/>
              </a:lnSpc>
            </a:pPr>
            <a:r>
              <a:rPr lang="en-GB" sz="2400" dirty="0"/>
              <a:t>In fact, during the requirements engineering process, you have to plan:</a:t>
            </a:r>
          </a:p>
          <a:p>
            <a:pPr lvl="1">
              <a:lnSpc>
                <a:spcPct val="80000"/>
              </a:lnSpc>
            </a:pPr>
            <a:r>
              <a:rPr lang="en-GB" sz="2000" b="1" i="1" u="sng" dirty="0">
                <a:solidFill>
                  <a:schemeClr val="accent1"/>
                </a:solidFill>
              </a:rPr>
              <a:t>Requirements identification</a:t>
            </a:r>
          </a:p>
          <a:p>
            <a:pPr lvl="2">
              <a:lnSpc>
                <a:spcPct val="80000"/>
              </a:lnSpc>
            </a:pPr>
            <a:r>
              <a:rPr lang="en-GB" sz="1800" dirty="0"/>
              <a:t> How requirements are individually identified; they should be uniquely 	identified in order to keep a better traceability.</a:t>
            </a:r>
          </a:p>
          <a:p>
            <a:pPr lvl="1">
              <a:lnSpc>
                <a:spcPct val="80000"/>
              </a:lnSpc>
            </a:pPr>
            <a:r>
              <a:rPr lang="en-GB" sz="2000" b="1" i="1" u="sng" dirty="0">
                <a:solidFill>
                  <a:schemeClr val="accent1"/>
                </a:solidFill>
              </a:rPr>
              <a:t>A change management process</a:t>
            </a:r>
          </a:p>
          <a:p>
            <a:pPr lvl="2">
              <a:lnSpc>
                <a:spcPct val="80000"/>
              </a:lnSpc>
            </a:pPr>
            <a:r>
              <a:rPr lang="en-GB" sz="1800" dirty="0"/>
              <a:t>The process followed when requirements change: the </a:t>
            </a:r>
            <a:r>
              <a:rPr lang="en-GB" sz="1800" b="1" i="1" u="sng" dirty="0"/>
              <a:t>set of activities</a:t>
            </a:r>
            <a:r>
              <a:rPr lang="en-GB" sz="1800" dirty="0"/>
              <a:t> that estimate the </a:t>
            </a:r>
            <a:r>
              <a:rPr lang="en-GB" sz="1800" b="1" i="1" u="sng" dirty="0"/>
              <a:t>impact and cost of changes</a:t>
            </a:r>
            <a:r>
              <a:rPr lang="en-GB" sz="1800" dirty="0"/>
              <a:t>.</a:t>
            </a:r>
          </a:p>
          <a:p>
            <a:pPr lvl="1">
              <a:lnSpc>
                <a:spcPct val="80000"/>
              </a:lnSpc>
            </a:pPr>
            <a:r>
              <a:rPr lang="en-GB" sz="2000" b="1" i="1" u="sng" dirty="0">
                <a:solidFill>
                  <a:schemeClr val="accent1"/>
                </a:solidFill>
              </a:rPr>
              <a:t>Traceability policies</a:t>
            </a:r>
          </a:p>
          <a:p>
            <a:pPr lvl="2">
              <a:lnSpc>
                <a:spcPct val="80000"/>
              </a:lnSpc>
            </a:pPr>
            <a:r>
              <a:rPr lang="en-GB" sz="1800" i="1" u="sng" dirty="0"/>
              <a:t>The policy for managing</a:t>
            </a:r>
            <a:r>
              <a:rPr lang="en-GB" sz="1800" dirty="0"/>
              <a:t> the amount of information about relationships between requirements 	and between system design and requirements that should be maintained (e.g., in a Data Base)</a:t>
            </a:r>
          </a:p>
          <a:p>
            <a:pPr lvl="1">
              <a:lnSpc>
                <a:spcPct val="80000"/>
              </a:lnSpc>
            </a:pPr>
            <a:r>
              <a:rPr lang="en-GB" sz="2000" b="1" i="1" u="sng" dirty="0">
                <a:solidFill>
                  <a:schemeClr val="accent1"/>
                </a:solidFill>
              </a:rPr>
              <a:t>CASE tool support</a:t>
            </a:r>
          </a:p>
          <a:p>
            <a:pPr lvl="2">
              <a:lnSpc>
                <a:spcPct val="80000"/>
              </a:lnSpc>
            </a:pPr>
            <a:r>
              <a:rPr lang="en-GB" sz="1800" dirty="0"/>
              <a:t>The tool support required to help manage requirements change; tolls 	can range from specialist requirements management systems to 	simple data base systems.</a:t>
            </a:r>
          </a:p>
        </p:txBody>
      </p:sp>
    </p:spTree>
    <p:extLst>
      <p:ext uri="{BB962C8B-B14F-4D97-AF65-F5344CB8AC3E}">
        <p14:creationId xmlns:p14="http://schemas.microsoft.com/office/powerpoint/2010/main" val="1902992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4FD56-698F-4C3F-B47D-EE073C6CECFA}"/>
              </a:ext>
            </a:extLst>
          </p:cNvPr>
          <p:cNvSpPr>
            <a:spLocks noGrp="1"/>
          </p:cNvSpPr>
          <p:nvPr>
            <p:ph type="title"/>
          </p:nvPr>
        </p:nvSpPr>
        <p:spPr/>
        <p:txBody>
          <a:bodyPr/>
          <a:lstStyle/>
          <a:p>
            <a:r>
              <a:rPr lang="en-US" dirty="0"/>
              <a:t>Change Management Phases</a:t>
            </a:r>
          </a:p>
        </p:txBody>
      </p:sp>
      <p:sp>
        <p:nvSpPr>
          <p:cNvPr id="3" name="Content Placeholder 2">
            <a:extLst>
              <a:ext uri="{FF2B5EF4-FFF2-40B4-BE49-F238E27FC236}">
                <a16:creationId xmlns:a16="http://schemas.microsoft.com/office/drawing/2014/main" id="{A833C762-E117-4183-B7EC-155840D28798}"/>
              </a:ext>
            </a:extLst>
          </p:cNvPr>
          <p:cNvSpPr>
            <a:spLocks noGrp="1"/>
          </p:cNvSpPr>
          <p:nvPr>
            <p:ph idx="1"/>
          </p:nvPr>
        </p:nvSpPr>
        <p:spPr/>
        <p:txBody>
          <a:bodyPr/>
          <a:lstStyle/>
          <a:p>
            <a:r>
              <a:rPr lang="en-GB" i="1" dirty="0"/>
              <a:t>Problem analysis and change specification</a:t>
            </a:r>
          </a:p>
          <a:p>
            <a:r>
              <a:rPr lang="en-US" i="1" dirty="0"/>
              <a:t>Change analysis and costing</a:t>
            </a:r>
          </a:p>
          <a:p>
            <a:r>
              <a:rPr lang="en-US" i="1" dirty="0"/>
              <a:t>Change implementation</a:t>
            </a:r>
            <a:endParaRPr lang="en-US" dirty="0"/>
          </a:p>
        </p:txBody>
      </p:sp>
      <p:sp>
        <p:nvSpPr>
          <p:cNvPr id="4" name="Footer Placeholder 3">
            <a:extLst>
              <a:ext uri="{FF2B5EF4-FFF2-40B4-BE49-F238E27FC236}">
                <a16:creationId xmlns:a16="http://schemas.microsoft.com/office/drawing/2014/main" id="{04FAB9B9-BFE0-4528-82AF-43C9C36C54C7}"/>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350858D4-D128-4E86-8390-383B389400C0}"/>
              </a:ext>
            </a:extLst>
          </p:cNvPr>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pic>
        <p:nvPicPr>
          <p:cNvPr id="7" name="Picture 6">
            <a:extLst>
              <a:ext uri="{FF2B5EF4-FFF2-40B4-BE49-F238E27FC236}">
                <a16:creationId xmlns:a16="http://schemas.microsoft.com/office/drawing/2014/main" id="{50C53976-7263-4C7C-AE8C-AD4EBA432FD1}"/>
              </a:ext>
            </a:extLst>
          </p:cNvPr>
          <p:cNvPicPr>
            <a:picLocks noChangeAspect="1"/>
          </p:cNvPicPr>
          <p:nvPr/>
        </p:nvPicPr>
        <p:blipFill>
          <a:blip r:embed="rId2"/>
          <a:stretch>
            <a:fillRect/>
          </a:stretch>
        </p:blipFill>
        <p:spPr>
          <a:xfrm>
            <a:off x="719572" y="3499708"/>
            <a:ext cx="7704856" cy="1828800"/>
          </a:xfrm>
          <a:prstGeom prst="rect">
            <a:avLst/>
          </a:prstGeom>
        </p:spPr>
      </p:pic>
    </p:spTree>
    <p:extLst>
      <p:ext uri="{BB962C8B-B14F-4D97-AF65-F5344CB8AC3E}">
        <p14:creationId xmlns:p14="http://schemas.microsoft.com/office/powerpoint/2010/main" val="37221609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noFill/>
        </p:spPr>
        <p:txBody>
          <a:bodyPr lIns="90487" tIns="44450" rIns="90487" bIns="44450"/>
          <a:lstStyle/>
          <a:p>
            <a:r>
              <a:rPr lang="en-GB"/>
              <a:t>Key points</a:t>
            </a:r>
          </a:p>
        </p:txBody>
      </p:sp>
      <p:sp>
        <p:nvSpPr>
          <p:cNvPr id="65539" name="Rectangle 3"/>
          <p:cNvSpPr>
            <a:spLocks noGrp="1" noChangeArrowheads="1"/>
          </p:cNvSpPr>
          <p:nvPr>
            <p:ph type="body" idx="1"/>
          </p:nvPr>
        </p:nvSpPr>
        <p:spPr>
          <a:xfrm>
            <a:off x="457200" y="1600200"/>
            <a:ext cx="8229600" cy="5069160"/>
          </a:xfrm>
          <a:noFill/>
        </p:spPr>
        <p:txBody>
          <a:bodyPr lIns="90487" tIns="44450" rIns="90487" bIns="44450"/>
          <a:lstStyle/>
          <a:p>
            <a:pPr algn="just">
              <a:lnSpc>
                <a:spcPct val="90000"/>
              </a:lnSpc>
            </a:pPr>
            <a:r>
              <a:rPr lang="en-GB" sz="2200" dirty="0"/>
              <a:t>The requirements engineering process includes a feasibility study, requirements elicitation and analysis, requirements specification and requirements management.</a:t>
            </a:r>
          </a:p>
          <a:p>
            <a:pPr algn="just">
              <a:lnSpc>
                <a:spcPct val="90000"/>
              </a:lnSpc>
            </a:pPr>
            <a:r>
              <a:rPr lang="en-GB" sz="2200" dirty="0"/>
              <a:t>Requirements elicitation and analysis is iterative involving domain understanding, requirements collection, classification, structuring,  prioritisation and validation.</a:t>
            </a:r>
          </a:p>
          <a:p>
            <a:pPr algn="just">
              <a:lnSpc>
                <a:spcPct val="90000"/>
              </a:lnSpc>
            </a:pPr>
            <a:r>
              <a:rPr lang="en-GB" sz="2200" dirty="0"/>
              <a:t>Systems have multiple stakeholders with different requirements.</a:t>
            </a:r>
          </a:p>
          <a:p>
            <a:pPr algn="just">
              <a:lnSpc>
                <a:spcPct val="90000"/>
              </a:lnSpc>
            </a:pPr>
            <a:r>
              <a:rPr lang="en-GB" sz="2200" dirty="0"/>
              <a:t>Business changes inevitably lead to changing requirements.</a:t>
            </a:r>
          </a:p>
          <a:p>
            <a:pPr algn="just">
              <a:lnSpc>
                <a:spcPct val="90000"/>
              </a:lnSpc>
            </a:pPr>
            <a:r>
              <a:rPr lang="en-GB" sz="2200" dirty="0"/>
              <a:t>Requirements management includes planning and change management.</a:t>
            </a:r>
          </a:p>
          <a:p>
            <a:pPr algn="just">
              <a:lnSpc>
                <a:spcPct val="90000"/>
              </a:lnSpc>
            </a:pPr>
            <a:r>
              <a:rPr lang="en-GB" sz="2200" dirty="0"/>
              <a:t>Requirements validation is concerned with checks for validity, consistency, completeness, realism and verifiability.</a:t>
            </a:r>
          </a:p>
          <a:p>
            <a:pPr algn="just">
              <a:lnSpc>
                <a:spcPct val="90000"/>
              </a:lnSpc>
            </a:pPr>
            <a:endParaRPr lang="en-GB" sz="2200" dirty="0"/>
          </a:p>
          <a:p>
            <a:pPr algn="just">
              <a:lnSpc>
                <a:spcPct val="90000"/>
              </a:lnSpc>
            </a:pPr>
            <a:endParaRPr lang="en-GB" sz="2200" dirty="0"/>
          </a:p>
        </p:txBody>
      </p:sp>
    </p:spTree>
    <p:extLst>
      <p:ext uri="{BB962C8B-B14F-4D97-AF65-F5344CB8AC3E}">
        <p14:creationId xmlns:p14="http://schemas.microsoft.com/office/powerpoint/2010/main" val="1855403324"/>
      </p:ext>
    </p:extLst>
  </p:cSld>
  <p:clrMapOvr>
    <a:masterClrMapping/>
  </p:clrMapOvr>
  <p:transition/>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5201</TotalTime>
  <Words>2508</Words>
  <Application>Microsoft Office PowerPoint</Application>
  <PresentationFormat>On-screen Show (4:3)</PresentationFormat>
  <Paragraphs>260</Paragraphs>
  <Slides>43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Times</vt:lpstr>
      <vt:lpstr>Wingdings</vt:lpstr>
      <vt:lpstr>Zapf Dingbats</vt:lpstr>
      <vt:lpstr>SE9</vt:lpstr>
      <vt:lpstr>Chapter 4 – Requirements Engineering</vt:lpstr>
      <vt:lpstr>Topics covered</vt:lpstr>
      <vt:lpstr>PowerPoint Presentation</vt:lpstr>
      <vt:lpstr>What is a requirements?</vt:lpstr>
      <vt:lpstr>Functional and non-functional requirements</vt:lpstr>
      <vt:lpstr>Functional requirements</vt:lpstr>
      <vt:lpstr>Non-functional requirements</vt:lpstr>
      <vt:lpstr>Non-functional classifications</vt:lpstr>
      <vt:lpstr>PowerPoint Presentation</vt:lpstr>
      <vt:lpstr>PowerPoint Presentation</vt:lpstr>
      <vt:lpstr>Examples of nonfunctional requirements in the MHC-PMS</vt:lpstr>
      <vt:lpstr>PowerPoint Presentation</vt:lpstr>
      <vt:lpstr>PowerPoint Presentation</vt:lpstr>
      <vt:lpstr> Metrics for specifying non-functional requirements  </vt:lpstr>
      <vt:lpstr>Requirements engineering processes</vt:lpstr>
      <vt:lpstr>The requirements engineering process</vt:lpstr>
      <vt:lpstr>Feasibility studies</vt:lpstr>
      <vt:lpstr>Feasibility study implementation</vt:lpstr>
      <vt:lpstr>Elicitation and analysis</vt:lpstr>
      <vt:lpstr>Problems of requirements analysis</vt:lpstr>
      <vt:lpstr>The requirements spiral for elicitation  and analysis process</vt:lpstr>
      <vt:lpstr>Process activities</vt:lpstr>
      <vt:lpstr>Requirements discovery</vt:lpstr>
      <vt:lpstr>Requirements discovery and viewpoints</vt:lpstr>
      <vt:lpstr>Requirements discovery and interviewing</vt:lpstr>
      <vt:lpstr>Interviews in practice</vt:lpstr>
      <vt:lpstr>Requirements discovery and scenarios (1/2)</vt:lpstr>
      <vt:lpstr>Requirements discovery and scenarios (2/2)</vt:lpstr>
      <vt:lpstr>PowerPoint Presentation</vt:lpstr>
      <vt:lpstr>Use-cases and scenarios (1/2)</vt:lpstr>
      <vt:lpstr>Use-cases and scenarios (2/2)</vt:lpstr>
      <vt:lpstr>Requirements validation</vt:lpstr>
      <vt:lpstr>Checks required during the requirements validation process</vt:lpstr>
      <vt:lpstr>Requirements validation techniques</vt:lpstr>
      <vt:lpstr>Requirements management</vt:lpstr>
      <vt:lpstr>Requirements management</vt:lpstr>
      <vt:lpstr>Requirements change</vt:lpstr>
      <vt:lpstr>Requirement changes and the requirements management </vt:lpstr>
      <vt:lpstr>Requirements evolution</vt:lpstr>
      <vt:lpstr>Enduring and volatile requirements</vt:lpstr>
      <vt:lpstr>Requirements management planning</vt:lpstr>
      <vt:lpstr>Change Management Phases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Afrina Khatun</cp:lastModifiedBy>
  <cp:revision>61</cp:revision>
  <cp:lastPrinted>2010-01-11T10:54:43Z</cp:lastPrinted>
  <dcterms:created xsi:type="dcterms:W3CDTF">2010-01-08T19:43:52Z</dcterms:created>
  <dcterms:modified xsi:type="dcterms:W3CDTF">2019-06-15T06:20:07Z</dcterms:modified>
</cp:coreProperties>
</file>