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7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6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14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7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18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6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3" r:id="rId7"/>
    <p:sldMasterId id="2147483655" r:id="rId8"/>
    <p:sldMasterId id="2147483657" r:id="rId9"/>
    <p:sldMasterId id="2147483659" r:id="rId10"/>
    <p:sldMasterId id="2147483661" r:id="rId11"/>
    <p:sldMasterId id="2147483663" r:id="rId12"/>
    <p:sldMasterId id="2147483665" r:id="rId13"/>
    <p:sldMasterId id="2147483667" r:id="rId14"/>
    <p:sldMasterId id="2147483669" r:id="rId15"/>
    <p:sldMasterId id="2147483671" r:id="rId16"/>
    <p:sldMasterId id="2147483673" r:id="rId17"/>
    <p:sldMasterId id="2147483675" r:id="rId18"/>
    <p:sldMasterId id="2147483677" r:id="rId19"/>
    <p:sldMasterId id="2147483679" r:id="rId20"/>
  </p:sldMasterIdLst>
  <p:notesMasterIdLst>
    <p:notesMasterId r:id="rId21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3" r:id="rId49"/>
  </p:sldIdLst>
  <p:sldSz cy="6858000" cx="9144000"/>
  <p:notesSz cx="6858000" cy="9144000"/>
  <p:embeddedFontLst>
    <p:embeddedFont>
      <p:font typeface="Helvetica Neue"/>
      <p:regular r:id="rId50"/>
      <p:bold r:id="rId51"/>
      <p:italic r:id="rId52"/>
      <p:boldItalic r:id="rId53"/>
    </p:embeddedFont>
    <p:embeddedFont>
      <p:font typeface="Century Gothic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8" roundtripDataSignature="AMtx7mhMo5/IqFCJmv9CnUy7/lh756W3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19.xml"/><Relationship Id="rId42" Type="http://schemas.openxmlformats.org/officeDocument/2006/relationships/slide" Target="slides/slide21.xml"/><Relationship Id="rId41" Type="http://schemas.openxmlformats.org/officeDocument/2006/relationships/slide" Target="slides/slide20.xml"/><Relationship Id="rId44" Type="http://schemas.openxmlformats.org/officeDocument/2006/relationships/slide" Target="slides/slide23.xml"/><Relationship Id="rId43" Type="http://schemas.openxmlformats.org/officeDocument/2006/relationships/slide" Target="slides/slide22.xml"/><Relationship Id="rId46" Type="http://schemas.openxmlformats.org/officeDocument/2006/relationships/slide" Target="slides/slide25.xml"/><Relationship Id="rId45" Type="http://schemas.openxmlformats.org/officeDocument/2006/relationships/slide" Target="slides/slide2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27.xml"/><Relationship Id="rId47" Type="http://schemas.openxmlformats.org/officeDocument/2006/relationships/slide" Target="slides/slide26.xml"/><Relationship Id="rId49" Type="http://schemas.openxmlformats.org/officeDocument/2006/relationships/slide" Target="slides/slide2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0.xml"/><Relationship Id="rId30" Type="http://schemas.openxmlformats.org/officeDocument/2006/relationships/slide" Target="slides/slide9.xml"/><Relationship Id="rId33" Type="http://schemas.openxmlformats.org/officeDocument/2006/relationships/slide" Target="slides/slide12.xml"/><Relationship Id="rId32" Type="http://schemas.openxmlformats.org/officeDocument/2006/relationships/slide" Target="slides/slide11.xml"/><Relationship Id="rId35" Type="http://schemas.openxmlformats.org/officeDocument/2006/relationships/slide" Target="slides/slide14.xml"/><Relationship Id="rId34" Type="http://schemas.openxmlformats.org/officeDocument/2006/relationships/slide" Target="slides/slide13.xml"/><Relationship Id="rId37" Type="http://schemas.openxmlformats.org/officeDocument/2006/relationships/slide" Target="slides/slide16.xml"/><Relationship Id="rId36" Type="http://schemas.openxmlformats.org/officeDocument/2006/relationships/slide" Target="slides/slide15.xml"/><Relationship Id="rId39" Type="http://schemas.openxmlformats.org/officeDocument/2006/relationships/slide" Target="slides/slide18.xml"/><Relationship Id="rId38" Type="http://schemas.openxmlformats.org/officeDocument/2006/relationships/slide" Target="slides/slide17.xml"/><Relationship Id="rId20" Type="http://schemas.openxmlformats.org/officeDocument/2006/relationships/slideMaster" Target="slideMasters/slideMaster17.xml"/><Relationship Id="rId22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24" Type="http://schemas.openxmlformats.org/officeDocument/2006/relationships/slide" Target="slides/slide3.xml"/><Relationship Id="rId23" Type="http://schemas.openxmlformats.org/officeDocument/2006/relationships/slide" Target="slides/slide2.xml"/><Relationship Id="rId26" Type="http://schemas.openxmlformats.org/officeDocument/2006/relationships/slide" Target="slides/slide5.xml"/><Relationship Id="rId25" Type="http://schemas.openxmlformats.org/officeDocument/2006/relationships/slide" Target="slides/slide4.xml"/><Relationship Id="rId28" Type="http://schemas.openxmlformats.org/officeDocument/2006/relationships/slide" Target="slides/slide7.xml"/><Relationship Id="rId27" Type="http://schemas.openxmlformats.org/officeDocument/2006/relationships/slide" Target="slides/slide6.xml"/><Relationship Id="rId29" Type="http://schemas.openxmlformats.org/officeDocument/2006/relationships/slide" Target="slides/slide8.xml"/><Relationship Id="rId51" Type="http://schemas.openxmlformats.org/officeDocument/2006/relationships/font" Target="fonts/HelveticaNeue-bold.fntdata"/><Relationship Id="rId50" Type="http://schemas.openxmlformats.org/officeDocument/2006/relationships/font" Target="fonts/HelveticaNeue-regular.fntdata"/><Relationship Id="rId53" Type="http://schemas.openxmlformats.org/officeDocument/2006/relationships/font" Target="fonts/HelveticaNeue-boldItalic.fntdata"/><Relationship Id="rId52" Type="http://schemas.openxmlformats.org/officeDocument/2006/relationships/font" Target="fonts/HelveticaNeue-italic.fntdata"/><Relationship Id="rId11" Type="http://schemas.openxmlformats.org/officeDocument/2006/relationships/slideMaster" Target="slideMasters/slideMaster8.xml"/><Relationship Id="rId55" Type="http://schemas.openxmlformats.org/officeDocument/2006/relationships/font" Target="fonts/CenturyGothic-bold.fntdata"/><Relationship Id="rId10" Type="http://schemas.openxmlformats.org/officeDocument/2006/relationships/slideMaster" Target="slideMasters/slideMaster7.xml"/><Relationship Id="rId54" Type="http://schemas.openxmlformats.org/officeDocument/2006/relationships/font" Target="fonts/CenturyGothic-regular.fntdata"/><Relationship Id="rId13" Type="http://schemas.openxmlformats.org/officeDocument/2006/relationships/slideMaster" Target="slideMasters/slideMaster10.xml"/><Relationship Id="rId57" Type="http://schemas.openxmlformats.org/officeDocument/2006/relationships/font" Target="fonts/CenturyGothic-boldItalic.fntdata"/><Relationship Id="rId12" Type="http://schemas.openxmlformats.org/officeDocument/2006/relationships/slideMaster" Target="slideMasters/slideMaster9.xml"/><Relationship Id="rId56" Type="http://schemas.openxmlformats.org/officeDocument/2006/relationships/font" Target="fonts/CenturyGothic-italic.fntdata"/><Relationship Id="rId15" Type="http://schemas.openxmlformats.org/officeDocument/2006/relationships/slideMaster" Target="slideMasters/slideMaster12.xml"/><Relationship Id="rId14" Type="http://schemas.openxmlformats.org/officeDocument/2006/relationships/slideMaster" Target="slideMasters/slideMaster11.xml"/><Relationship Id="rId58" Type="http://customschemas.google.com/relationships/presentationmetadata" Target="metadata"/><Relationship Id="rId17" Type="http://schemas.openxmlformats.org/officeDocument/2006/relationships/slideMaster" Target="slideMasters/slideMaster14.xml"/><Relationship Id="rId16" Type="http://schemas.openxmlformats.org/officeDocument/2006/relationships/slideMaster" Target="slideMasters/slideMaster13.xml"/><Relationship Id="rId19" Type="http://schemas.openxmlformats.org/officeDocument/2006/relationships/slideMaster" Target="slideMasters/slideMaster16.xml"/><Relationship Id="rId18" Type="http://schemas.openxmlformats.org/officeDocument/2006/relationships/slideMaster" Target="slideMasters/slideMaster1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63" name="Google Shape;763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64" name="Google Shape;76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84" name="Google Shape;784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785" name="Google Shape;7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/>
          <p:nvPr>
            <p:ph type="ctrTitle"/>
          </p:nvPr>
        </p:nvSpPr>
        <p:spPr>
          <a:xfrm>
            <a:off x="1942416" y="2514601"/>
            <a:ext cx="6600451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1" type="subTitle"/>
          </p:nvPr>
        </p:nvSpPr>
        <p:spPr>
          <a:xfrm>
            <a:off x="1942416" y="4777380"/>
            <a:ext cx="6600451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423862" y="4529137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2"/>
          <p:cNvSpPr txBox="1"/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" type="body"/>
          </p:nvPr>
        </p:nvSpPr>
        <p:spPr>
          <a:xfrm>
            <a:off x="1942415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>
            <p:ph type="title"/>
          </p:nvPr>
        </p:nvSpPr>
        <p:spPr>
          <a:xfrm>
            <a:off x="1942415" y="2074562"/>
            <a:ext cx="6591985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5"/>
          <p:cNvSpPr txBox="1"/>
          <p:nvPr>
            <p:ph idx="1" type="body"/>
          </p:nvPr>
        </p:nvSpPr>
        <p:spPr>
          <a:xfrm>
            <a:off x="1942415" y="3581400"/>
            <a:ext cx="6591985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9" name="Google Shape;159;p35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5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1942416" y="2136706"/>
            <a:ext cx="3197531" cy="376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99" name="Google Shape;199;p37"/>
          <p:cNvSpPr txBox="1"/>
          <p:nvPr>
            <p:ph idx="2" type="body"/>
          </p:nvPr>
        </p:nvSpPr>
        <p:spPr>
          <a:xfrm>
            <a:off x="5337307" y="2136706"/>
            <a:ext cx="3197093" cy="376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00" name="Google Shape;200;p37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7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7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9"/>
          <p:cNvSpPr txBox="1"/>
          <p:nvPr>
            <p:ph idx="1" type="body"/>
          </p:nvPr>
        </p:nvSpPr>
        <p:spPr>
          <a:xfrm>
            <a:off x="2265352" y="2226626"/>
            <a:ext cx="287459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40" name="Google Shape;240;p39"/>
          <p:cNvSpPr txBox="1"/>
          <p:nvPr>
            <p:ph idx="2" type="body"/>
          </p:nvPr>
        </p:nvSpPr>
        <p:spPr>
          <a:xfrm>
            <a:off x="1942415" y="2802888"/>
            <a:ext cx="3197532" cy="3105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41" name="Google Shape;241;p39"/>
          <p:cNvSpPr txBox="1"/>
          <p:nvPr>
            <p:ph idx="3" type="body"/>
          </p:nvPr>
        </p:nvSpPr>
        <p:spPr>
          <a:xfrm>
            <a:off x="5656154" y="2223398"/>
            <a:ext cx="28732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42" name="Google Shape;242;p39"/>
          <p:cNvSpPr txBox="1"/>
          <p:nvPr>
            <p:ph idx="4" type="body"/>
          </p:nvPr>
        </p:nvSpPr>
        <p:spPr>
          <a:xfrm>
            <a:off x="5333715" y="2799660"/>
            <a:ext cx="3195680" cy="3105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243" name="Google Shape;243;p39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9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9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1"/>
          <p:cNvSpPr txBox="1"/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1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1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41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3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43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43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5"/>
          <p:cNvSpPr txBox="1"/>
          <p:nvPr>
            <p:ph type="title"/>
          </p:nvPr>
        </p:nvSpPr>
        <p:spPr>
          <a:xfrm>
            <a:off x="1942415" y="446088"/>
            <a:ext cx="2629584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45"/>
          <p:cNvSpPr txBox="1"/>
          <p:nvPr>
            <p:ph idx="1" type="body"/>
          </p:nvPr>
        </p:nvSpPr>
        <p:spPr>
          <a:xfrm>
            <a:off x="4743494" y="446089"/>
            <a:ext cx="3790906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360" name="Google Shape;360;p45"/>
          <p:cNvSpPr txBox="1"/>
          <p:nvPr>
            <p:ph idx="2" type="body"/>
          </p:nvPr>
        </p:nvSpPr>
        <p:spPr>
          <a:xfrm>
            <a:off x="1942415" y="1598613"/>
            <a:ext cx="2629584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61" name="Google Shape;361;p45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45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45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/>
          <p:nvPr>
            <p:ph type="title"/>
          </p:nvPr>
        </p:nvSpPr>
        <p:spPr>
          <a:xfrm>
            <a:off x="1942415" y="4800600"/>
            <a:ext cx="6591985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47"/>
          <p:cNvSpPr/>
          <p:nvPr>
            <p:ph idx="2" type="pic"/>
          </p:nvPr>
        </p:nvSpPr>
        <p:spPr>
          <a:xfrm>
            <a:off x="1942415" y="634965"/>
            <a:ext cx="6591985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47"/>
          <p:cNvSpPr txBox="1"/>
          <p:nvPr>
            <p:ph idx="1" type="body"/>
          </p:nvPr>
        </p:nvSpPr>
        <p:spPr>
          <a:xfrm>
            <a:off x="1942415" y="5367338"/>
            <a:ext cx="6591985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02" name="Google Shape;402;p47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7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7"/>
          <p:cNvSpPr txBox="1"/>
          <p:nvPr>
            <p:ph idx="12" type="sldNum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9"/>
          <p:cNvSpPr txBox="1"/>
          <p:nvPr>
            <p:ph type="title"/>
          </p:nvPr>
        </p:nvSpPr>
        <p:spPr>
          <a:xfrm>
            <a:off x="1942415" y="609600"/>
            <a:ext cx="6591985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49"/>
          <p:cNvSpPr txBox="1"/>
          <p:nvPr>
            <p:ph idx="1" type="body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2" name="Google Shape;442;p49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49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49"/>
          <p:cNvSpPr txBox="1"/>
          <p:nvPr>
            <p:ph idx="12" type="sldNum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1"/>
          <p:cNvSpPr txBox="1"/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51"/>
          <p:cNvSpPr txBox="1"/>
          <p:nvPr>
            <p:ph idx="1" type="body"/>
          </p:nvPr>
        </p:nvSpPr>
        <p:spPr>
          <a:xfrm>
            <a:off x="2415972" y="3505200"/>
            <a:ext cx="5653888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484" name="Google Shape;484;p51"/>
          <p:cNvSpPr txBox="1"/>
          <p:nvPr>
            <p:ph idx="2" type="body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5" name="Google Shape;485;p51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51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51"/>
          <p:cNvSpPr txBox="1"/>
          <p:nvPr>
            <p:ph idx="12" type="sldNum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3"/>
          <p:cNvSpPr txBox="1"/>
          <p:nvPr>
            <p:ph type="title"/>
          </p:nvPr>
        </p:nvSpPr>
        <p:spPr>
          <a:xfrm>
            <a:off x="1942415" y="2438401"/>
            <a:ext cx="6591985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4" name="Google Shape;524;p53"/>
          <p:cNvSpPr txBox="1"/>
          <p:nvPr>
            <p:ph idx="1" type="body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25" name="Google Shape;525;p53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p53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53"/>
          <p:cNvSpPr txBox="1"/>
          <p:nvPr>
            <p:ph idx="12" type="sldNum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5"/>
          <p:cNvSpPr txBox="1"/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55"/>
          <p:cNvSpPr txBox="1"/>
          <p:nvPr>
            <p:ph idx="1" type="body"/>
          </p:nvPr>
        </p:nvSpPr>
        <p:spPr>
          <a:xfrm>
            <a:off x="1942415" y="4343400"/>
            <a:ext cx="668829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67" name="Google Shape;567;p55"/>
          <p:cNvSpPr txBox="1"/>
          <p:nvPr>
            <p:ph idx="2" type="body"/>
          </p:nvPr>
        </p:nvSpPr>
        <p:spPr>
          <a:xfrm>
            <a:off x="1942415" y="5181600"/>
            <a:ext cx="6688292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68" name="Google Shape;568;p55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55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55"/>
          <p:cNvSpPr txBox="1"/>
          <p:nvPr>
            <p:ph idx="12" type="sldNum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7"/>
          <p:cNvSpPr txBox="1"/>
          <p:nvPr>
            <p:ph type="title"/>
          </p:nvPr>
        </p:nvSpPr>
        <p:spPr>
          <a:xfrm>
            <a:off x="1942416" y="627407"/>
            <a:ext cx="6591984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57"/>
          <p:cNvSpPr txBox="1"/>
          <p:nvPr>
            <p:ph idx="1" type="body"/>
          </p:nvPr>
        </p:nvSpPr>
        <p:spPr>
          <a:xfrm>
            <a:off x="1942415" y="4343400"/>
            <a:ext cx="659198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08" name="Google Shape;608;p57"/>
          <p:cNvSpPr txBox="1"/>
          <p:nvPr>
            <p:ph idx="2" type="body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09" name="Google Shape;609;p57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0" name="Google Shape;610;p57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57"/>
          <p:cNvSpPr txBox="1"/>
          <p:nvPr>
            <p:ph idx="12" type="sldNum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9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8" name="Google Shape;648;p59"/>
          <p:cNvSpPr txBox="1"/>
          <p:nvPr>
            <p:ph idx="1" type="body"/>
          </p:nvPr>
        </p:nvSpPr>
        <p:spPr>
          <a:xfrm rot="5400000">
            <a:off x="3295650" y="781050"/>
            <a:ext cx="3886200" cy="6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49" name="Google Shape;649;p59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0" name="Google Shape;650;p59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1" name="Google Shape;651;p59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1"/>
          <p:cNvSpPr txBox="1"/>
          <p:nvPr>
            <p:ph type="title"/>
          </p:nvPr>
        </p:nvSpPr>
        <p:spPr>
          <a:xfrm rot="5400000">
            <a:off x="5064693" y="2441248"/>
            <a:ext cx="5283817" cy="16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8" name="Google Shape;688;p61"/>
          <p:cNvSpPr txBox="1"/>
          <p:nvPr>
            <p:ph idx="1" type="body"/>
          </p:nvPr>
        </p:nvSpPr>
        <p:spPr>
          <a:xfrm rot="5400000">
            <a:off x="1658681" y="911140"/>
            <a:ext cx="5283817" cy="4716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89" name="Google Shape;689;p61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0" name="Google Shape;690;p61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1" name="Google Shape;691;p61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theme" Target="../theme/theme8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3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16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13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14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6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17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9.xml"/><Relationship Id="rId3" Type="http://schemas.openxmlformats.org/officeDocument/2006/relationships/theme" Target="../theme/theme5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18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1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12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9.xml"/></Relationships>
</file>

<file path=ppt/slideMasters/_rels/slideMaster1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11.xml"/></Relationships>
</file>

<file path=ppt/slideMasters/_rels/slideMaster1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5.xml"/><Relationship Id="rId3" Type="http://schemas.openxmlformats.org/officeDocument/2006/relationships/theme" Target="../theme/theme10.xml"/></Relationships>
</file>

<file path=ppt/slideMasters/_rels/slideMaster1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9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1" name="Google Shape;11;p29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23;p29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24" name="Google Shape;24;p29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29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9"/>
          <p:cNvSpPr/>
          <p:nvPr/>
        </p:nvSpPr>
        <p:spPr>
          <a:xfrm>
            <a:off x="-31750" y="4321175"/>
            <a:ext cx="1395412" cy="781050"/>
          </a:xfrm>
          <a:custGeom>
            <a:rect b="b" l="l" r="r" t="t"/>
            <a:pathLst>
              <a:path extrusionOk="0" h="10000" w="8042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29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29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29"/>
          <p:cNvSpPr txBox="1"/>
          <p:nvPr>
            <p:ph idx="12" type="sldNum"/>
          </p:nvPr>
        </p:nvSpPr>
        <p:spPr>
          <a:xfrm>
            <a:off x="423862" y="4529137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1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51" name="Google Shape;51;p31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1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1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1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1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1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1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1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1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1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1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1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" name="Google Shape;63;p31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64" name="Google Shape;64;p31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1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1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1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1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1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1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1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1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1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1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1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31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1"/>
          <p:cNvSpPr/>
          <p:nvPr/>
        </p:nvSpPr>
        <p:spPr>
          <a:xfrm flipH="1" rot="10800000">
            <a:off x="0" y="711200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1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31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0" name="Google Shape;80;p31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31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31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33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91" name="Google Shape;91;p33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3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3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3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3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3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3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3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3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3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3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3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33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104" name="Google Shape;104;p33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3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3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3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3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3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3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3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3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3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3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3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33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3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8" name="Google Shape;118;p33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9" name="Google Shape;119;p33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33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33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34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24" name="Google Shape;124;p34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4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4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4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4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4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4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4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4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4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4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4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34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137" name="Google Shape;137;p34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4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4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4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4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4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4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4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4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4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4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4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" name="Google Shape;149;p34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4"/>
          <p:cNvSpPr/>
          <p:nvPr/>
        </p:nvSpPr>
        <p:spPr>
          <a:xfrm flipH="1" rot="10800000">
            <a:off x="0" y="3167062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4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2" name="Google Shape;152;p34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3" name="Google Shape;153;p34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34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34"/>
          <p:cNvSpPr txBox="1"/>
          <p:nvPr>
            <p:ph idx="12" type="sldNum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36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64" name="Google Shape;164;p36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6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6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6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6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6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6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6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6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6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6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6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36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177" name="Google Shape;177;p36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6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6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6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6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6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6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6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6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6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6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6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p36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6"/>
          <p:cNvSpPr/>
          <p:nvPr/>
        </p:nvSpPr>
        <p:spPr>
          <a:xfrm flipH="1" rot="10800000">
            <a:off x="0" y="711200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6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2" name="Google Shape;192;p36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3" name="Google Shape;193;p36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4" name="Google Shape;194;p36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" name="Google Shape;195;p36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38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205" name="Google Shape;205;p38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8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8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8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8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8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8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8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8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8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8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8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38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218" name="Google Shape;218;p38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38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38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38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8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38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8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8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8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8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8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8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38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8"/>
          <p:cNvSpPr/>
          <p:nvPr/>
        </p:nvSpPr>
        <p:spPr>
          <a:xfrm flipH="1" rot="10800000">
            <a:off x="0" y="711200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8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4" name="Google Shape;234;p38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5" name="Google Shape;235;p38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38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40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248" name="Google Shape;248;p40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0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40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40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40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40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40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0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0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0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0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0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40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261" name="Google Shape;261;p40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0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0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0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0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0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0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0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0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0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0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0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3" name="Google Shape;273;p40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0"/>
          <p:cNvSpPr/>
          <p:nvPr/>
        </p:nvSpPr>
        <p:spPr>
          <a:xfrm flipH="1" rot="10800000">
            <a:off x="0" y="711200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0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6" name="Google Shape;276;p40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77" name="Google Shape;277;p40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8" name="Google Shape;278;p40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9" name="Google Shape;279;p40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42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287" name="Google Shape;287;p42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2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2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2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2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2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2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2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2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2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2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2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42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300" name="Google Shape;300;p42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2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2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2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2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42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2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2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2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2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2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2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2" name="Google Shape;312;p42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2"/>
          <p:cNvSpPr/>
          <p:nvPr/>
        </p:nvSpPr>
        <p:spPr>
          <a:xfrm flipH="1" rot="10800000">
            <a:off x="0" y="711200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2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5" name="Google Shape;315;p42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16" name="Google Shape;316;p42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7" name="Google Shape;317;p42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8" name="Google Shape;318;p42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44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325" name="Google Shape;325;p44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4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4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4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4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4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4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4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4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4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4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4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7" name="Google Shape;337;p44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338" name="Google Shape;338;p44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4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4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4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4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4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4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4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4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4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4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4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" name="Google Shape;350;p44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4"/>
          <p:cNvSpPr/>
          <p:nvPr/>
        </p:nvSpPr>
        <p:spPr>
          <a:xfrm flipH="1" rot="10800000">
            <a:off x="0" y="711200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4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3" name="Google Shape;353;p44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4" name="Google Shape;354;p44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5" name="Google Shape;355;p44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6" name="Google Shape;356;p44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Google Shape;365;p46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366" name="Google Shape;366;p46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6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6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6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6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6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6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6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46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46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46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6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" name="Google Shape;378;p46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379" name="Google Shape;379;p46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6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6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6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6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6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6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6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6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6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6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6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1" name="Google Shape;391;p46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6"/>
          <p:cNvSpPr/>
          <p:nvPr/>
        </p:nvSpPr>
        <p:spPr>
          <a:xfrm flipH="1" rot="10800000">
            <a:off x="0" y="4910137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6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4" name="Google Shape;394;p46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95" name="Google Shape;395;p46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6" name="Google Shape;396;p46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7" name="Google Shape;397;p46"/>
          <p:cNvSpPr txBox="1"/>
          <p:nvPr>
            <p:ph idx="12" type="sldNum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48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407" name="Google Shape;407;p48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8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8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8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8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8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8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8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8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8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8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8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" name="Google Shape;419;p48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420" name="Google Shape;420;p48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8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8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8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8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8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8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8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8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8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8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8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2" name="Google Shape;432;p48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8"/>
          <p:cNvSpPr/>
          <p:nvPr/>
        </p:nvSpPr>
        <p:spPr>
          <a:xfrm flipH="1" rot="10800000">
            <a:off x="0" y="3167062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8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5" name="Google Shape;435;p48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36" name="Google Shape;436;p48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7" name="Google Shape;437;p48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8" name="Google Shape;438;p48"/>
          <p:cNvSpPr txBox="1"/>
          <p:nvPr>
            <p:ph idx="12" type="sldNum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50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447" name="Google Shape;447;p50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50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50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50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0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0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50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50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50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50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50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50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" name="Google Shape;459;p50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460" name="Google Shape;460;p50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50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50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50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50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50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50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50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0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50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50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50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2" name="Google Shape;472;p50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0"/>
          <p:cNvSpPr/>
          <p:nvPr/>
        </p:nvSpPr>
        <p:spPr>
          <a:xfrm flipH="1" rot="10800000">
            <a:off x="0" y="3167062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50"/>
          <p:cNvSpPr txBox="1"/>
          <p:nvPr/>
        </p:nvSpPr>
        <p:spPr>
          <a:xfrm>
            <a:off x="1808162" y="647700"/>
            <a:ext cx="457200" cy="585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b="0" i="0" lang="en-US" sz="80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475" name="Google Shape;475;p50"/>
          <p:cNvSpPr txBox="1"/>
          <p:nvPr/>
        </p:nvSpPr>
        <p:spPr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b="0" i="0" lang="en-US" sz="80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476" name="Google Shape;476;p50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7" name="Google Shape;477;p50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78" name="Google Shape;478;p50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9" name="Google Shape;479;p50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0" name="Google Shape;480;p50"/>
          <p:cNvSpPr txBox="1"/>
          <p:nvPr>
            <p:ph idx="12" type="sldNum"/>
          </p:nvPr>
        </p:nvSpPr>
        <p:spPr>
          <a:xfrm>
            <a:off x="511175" y="324485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" name="Google Shape;489;p52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490" name="Google Shape;490;p52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2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2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2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2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2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2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2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2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2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2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2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2" name="Google Shape;502;p52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503" name="Google Shape;503;p52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2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2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2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2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2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2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2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2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2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2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2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5" name="Google Shape;515;p52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52"/>
          <p:cNvSpPr/>
          <p:nvPr/>
        </p:nvSpPr>
        <p:spPr>
          <a:xfrm flipH="1" rot="10800000">
            <a:off x="0" y="4910137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52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18" name="Google Shape;518;p52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19" name="Google Shape;519;p52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0" name="Google Shape;520;p52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1" name="Google Shape;521;p52"/>
          <p:cNvSpPr txBox="1"/>
          <p:nvPr>
            <p:ph idx="12" type="sldNum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54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530" name="Google Shape;530;p54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54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54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54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54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54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54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54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54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54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54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54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2" name="Google Shape;542;p54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543" name="Google Shape;543;p54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54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54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54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54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54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54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54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54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54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54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54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p54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54"/>
          <p:cNvSpPr/>
          <p:nvPr/>
        </p:nvSpPr>
        <p:spPr>
          <a:xfrm flipH="1" rot="10800000">
            <a:off x="0" y="4910137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54"/>
          <p:cNvSpPr txBox="1"/>
          <p:nvPr/>
        </p:nvSpPr>
        <p:spPr>
          <a:xfrm>
            <a:off x="1808162" y="647700"/>
            <a:ext cx="457200" cy="585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b="0" i="0" lang="en-US" sz="80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558" name="Google Shape;558;p54"/>
          <p:cNvSpPr txBox="1"/>
          <p:nvPr/>
        </p:nvSpPr>
        <p:spPr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Arial"/>
              <a:buNone/>
            </a:pPr>
            <a:r>
              <a:rPr b="0" i="0" lang="en-US" sz="80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559" name="Google Shape;559;p54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0" name="Google Shape;560;p54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61" name="Google Shape;561;p54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2" name="Google Shape;562;p54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3" name="Google Shape;563;p54"/>
          <p:cNvSpPr txBox="1"/>
          <p:nvPr>
            <p:ph idx="12" type="sldNum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oogle Shape;572;p56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573" name="Google Shape;573;p56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56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56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56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56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56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56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56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56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56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56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56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5" name="Google Shape;585;p56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586" name="Google Shape;586;p56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56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56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56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56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56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56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6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56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56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56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56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8" name="Google Shape;598;p56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6"/>
          <p:cNvSpPr/>
          <p:nvPr/>
        </p:nvSpPr>
        <p:spPr>
          <a:xfrm flipH="1" rot="10800000">
            <a:off x="0" y="4910137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6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1" name="Google Shape;601;p56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02" name="Google Shape;602;p56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3" name="Google Shape;603;p56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4" name="Google Shape;604;p56"/>
          <p:cNvSpPr txBox="1"/>
          <p:nvPr>
            <p:ph idx="12" type="sldNum"/>
          </p:nvPr>
        </p:nvSpPr>
        <p:spPr>
          <a:xfrm>
            <a:off x="511175" y="4983162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58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614" name="Google Shape;614;p58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58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58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58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58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58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58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58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58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58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58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58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6" name="Google Shape;626;p58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627" name="Google Shape;627;p58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58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58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58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58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58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58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58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58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8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8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8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9" name="Google Shape;639;p58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8"/>
          <p:cNvSpPr/>
          <p:nvPr/>
        </p:nvSpPr>
        <p:spPr>
          <a:xfrm flipH="1" rot="10800000">
            <a:off x="0" y="711200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8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2" name="Google Shape;642;p58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43" name="Google Shape;643;p58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4" name="Google Shape;644;p58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5" name="Google Shape;645;p58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3" name="Google Shape;653;p60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654" name="Google Shape;654;p60"/>
            <p:cNvSpPr/>
            <p:nvPr/>
          </p:nvSpPr>
          <p:spPr>
            <a:xfrm>
              <a:off x="2487613" y="2284222"/>
              <a:ext cx="85633" cy="534098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60"/>
            <p:cNvSpPr/>
            <p:nvPr/>
          </p:nvSpPr>
          <p:spPr>
            <a:xfrm>
              <a:off x="2596601" y="2779108"/>
              <a:ext cx="550779" cy="1978191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60"/>
            <p:cNvSpPr/>
            <p:nvPr/>
          </p:nvSpPr>
          <p:spPr>
            <a:xfrm>
              <a:off x="3174627" y="4730255"/>
              <a:ext cx="519639" cy="1210171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60"/>
            <p:cNvSpPr/>
            <p:nvPr/>
          </p:nvSpPr>
          <p:spPr>
            <a:xfrm>
              <a:off x="3305023" y="5630785"/>
              <a:ext cx="145967" cy="309641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60"/>
            <p:cNvSpPr/>
            <p:nvPr/>
          </p:nvSpPr>
          <p:spPr>
            <a:xfrm>
              <a:off x="2573246" y="2818321"/>
              <a:ext cx="700637" cy="2834099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60"/>
            <p:cNvSpPr/>
            <p:nvPr/>
          </p:nvSpPr>
          <p:spPr>
            <a:xfrm>
              <a:off x="2507075" y="285750"/>
              <a:ext cx="89526" cy="2493358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60"/>
            <p:cNvSpPr/>
            <p:nvPr/>
          </p:nvSpPr>
          <p:spPr>
            <a:xfrm>
              <a:off x="2553784" y="2599273"/>
              <a:ext cx="68118" cy="420517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60"/>
            <p:cNvSpPr/>
            <p:nvPr/>
          </p:nvSpPr>
          <p:spPr>
            <a:xfrm>
              <a:off x="3143488" y="4757298"/>
              <a:ext cx="161535" cy="873487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60"/>
            <p:cNvSpPr/>
            <p:nvPr/>
          </p:nvSpPr>
          <p:spPr>
            <a:xfrm>
              <a:off x="3147380" y="1282282"/>
              <a:ext cx="1769108" cy="3447973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60"/>
            <p:cNvSpPr/>
            <p:nvPr/>
          </p:nvSpPr>
          <p:spPr>
            <a:xfrm>
              <a:off x="3273883" y="5652419"/>
              <a:ext cx="138182" cy="288007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0"/>
            <p:cNvSpPr/>
            <p:nvPr/>
          </p:nvSpPr>
          <p:spPr>
            <a:xfrm>
              <a:off x="3143488" y="4655887"/>
              <a:ext cx="31139" cy="189300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0"/>
            <p:cNvSpPr/>
            <p:nvPr/>
          </p:nvSpPr>
          <p:spPr>
            <a:xfrm>
              <a:off x="3211605" y="5410385"/>
              <a:ext cx="202406" cy="530041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6" name="Google Shape;666;p60"/>
          <p:cNvGrpSpPr/>
          <p:nvPr/>
        </p:nvGrpSpPr>
        <p:grpSpPr>
          <a:xfrm>
            <a:off x="20637" y="0"/>
            <a:ext cx="1952625" cy="6853237"/>
            <a:chOff x="6627813" y="195717"/>
            <a:chExt cx="1952625" cy="5678034"/>
          </a:xfrm>
        </p:grpSpPr>
        <p:sp>
          <p:nvSpPr>
            <p:cNvPr id="667" name="Google Shape;667;p60"/>
            <p:cNvSpPr/>
            <p:nvPr/>
          </p:nvSpPr>
          <p:spPr>
            <a:xfrm>
              <a:off x="6627813" y="195717"/>
              <a:ext cx="409575" cy="3645937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60"/>
            <p:cNvSpPr/>
            <p:nvPr/>
          </p:nvSpPr>
          <p:spPr>
            <a:xfrm>
              <a:off x="7061200" y="3771945"/>
              <a:ext cx="350838" cy="1310012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60"/>
            <p:cNvSpPr/>
            <p:nvPr/>
          </p:nvSpPr>
          <p:spPr>
            <a:xfrm>
              <a:off x="7439025" y="5053021"/>
              <a:ext cx="357188" cy="820730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60"/>
            <p:cNvSpPr/>
            <p:nvPr/>
          </p:nvSpPr>
          <p:spPr>
            <a:xfrm>
              <a:off x="7037388" y="3811403"/>
              <a:ext cx="457200" cy="1853219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60"/>
            <p:cNvSpPr/>
            <p:nvPr/>
          </p:nvSpPr>
          <p:spPr>
            <a:xfrm>
              <a:off x="6992938" y="1263719"/>
              <a:ext cx="144462" cy="2508226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60"/>
            <p:cNvSpPr/>
            <p:nvPr/>
          </p:nvSpPr>
          <p:spPr>
            <a:xfrm>
              <a:off x="7526338" y="5640947"/>
              <a:ext cx="111125" cy="232804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0"/>
            <p:cNvSpPr/>
            <p:nvPr/>
          </p:nvSpPr>
          <p:spPr>
            <a:xfrm>
              <a:off x="7021513" y="3598329"/>
              <a:ext cx="68262" cy="42483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60"/>
            <p:cNvSpPr/>
            <p:nvPr/>
          </p:nvSpPr>
          <p:spPr>
            <a:xfrm>
              <a:off x="7412038" y="2802588"/>
              <a:ext cx="1168400" cy="2250433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60"/>
            <p:cNvSpPr/>
            <p:nvPr/>
          </p:nvSpPr>
          <p:spPr>
            <a:xfrm>
              <a:off x="7494588" y="5664622"/>
              <a:ext cx="100012" cy="209129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60"/>
            <p:cNvSpPr/>
            <p:nvPr/>
          </p:nvSpPr>
          <p:spPr>
            <a:xfrm>
              <a:off x="7412038" y="5081957"/>
              <a:ext cx="114300" cy="558991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60"/>
            <p:cNvSpPr/>
            <p:nvPr/>
          </p:nvSpPr>
          <p:spPr>
            <a:xfrm>
              <a:off x="7412038" y="4978050"/>
              <a:ext cx="31750" cy="189399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60"/>
            <p:cNvSpPr/>
            <p:nvPr/>
          </p:nvSpPr>
          <p:spPr>
            <a:xfrm>
              <a:off x="7439025" y="5434450"/>
              <a:ext cx="174625" cy="439301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9" name="Google Shape;679;p60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60"/>
          <p:cNvSpPr/>
          <p:nvPr/>
        </p:nvSpPr>
        <p:spPr>
          <a:xfrm flipH="1" rot="10800000">
            <a:off x="0" y="711200"/>
            <a:ext cx="1358900" cy="508000"/>
          </a:xfrm>
          <a:custGeom>
            <a:rect b="b" l="l" r="r" t="t"/>
            <a:pathLst>
              <a:path extrusionOk="0" h="10000" w="7908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0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2" name="Google Shape;682;p60"/>
          <p:cNvSpPr txBox="1"/>
          <p:nvPr>
            <p:ph idx="1" type="body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83" name="Google Shape;683;p60"/>
          <p:cNvSpPr txBox="1"/>
          <p:nvPr>
            <p:ph idx="10" type="dt"/>
          </p:nvPr>
        </p:nvSpPr>
        <p:spPr>
          <a:xfrm>
            <a:off x="7772400" y="6135687"/>
            <a:ext cx="7667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4" name="Google Shape;684;p60"/>
          <p:cNvSpPr txBox="1"/>
          <p:nvPr>
            <p:ph idx="11" type="ftr"/>
          </p:nvPr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5" name="Google Shape;685;p60"/>
          <p:cNvSpPr txBox="1"/>
          <p:nvPr>
            <p:ph idx="12" type="sldNum"/>
          </p:nvPr>
        </p:nvSpPr>
        <p:spPr>
          <a:xfrm>
            <a:off x="511175" y="787400"/>
            <a:ext cx="5857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b="0" i="0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"/>
          <p:cNvSpPr txBox="1"/>
          <p:nvPr>
            <p:ph type="ctrTitle"/>
          </p:nvPr>
        </p:nvSpPr>
        <p:spPr>
          <a:xfrm>
            <a:off x="914400" y="2743200"/>
            <a:ext cx="7772400" cy="784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1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CSE 470 : Software Engineering</a:t>
            </a:r>
            <a:endParaRPr/>
          </a:p>
        </p:txBody>
      </p:sp>
      <p:sp>
        <p:nvSpPr>
          <p:cNvPr id="697" name="Google Shape;697;p1"/>
          <p:cNvSpPr txBox="1"/>
          <p:nvPr>
            <p:ph idx="1" type="subTitle"/>
          </p:nvPr>
        </p:nvSpPr>
        <p:spPr>
          <a:xfrm>
            <a:off x="1943100" y="4776787"/>
            <a:ext cx="6599237" cy="112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Afrina Khatun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en-US" sz="1800" u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CSE, BRACU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"/>
          <p:cNvSpPr txBox="1"/>
          <p:nvPr>
            <p:ph type="ctrTitle"/>
          </p:nvPr>
        </p:nvSpPr>
        <p:spPr>
          <a:xfrm>
            <a:off x="1295400" y="419100"/>
            <a:ext cx="6858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Times New Roman"/>
              <a:buNone/>
            </a:pPr>
            <a:r>
              <a:rPr b="1" i="0" lang="en-US" sz="33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Marks Distribution</a:t>
            </a:r>
            <a:endParaRPr/>
          </a:p>
        </p:txBody>
      </p:sp>
      <p:sp>
        <p:nvSpPr>
          <p:cNvPr id="703" name="Google Shape;703;p2"/>
          <p:cNvSpPr txBox="1"/>
          <p:nvPr>
            <p:ph idx="1" type="subTitle"/>
          </p:nvPr>
        </p:nvSpPr>
        <p:spPr>
          <a:xfrm>
            <a:off x="1828800" y="1466850"/>
            <a:ext cx="6324600" cy="197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5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Attendance : 5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Quiz: 1</a:t>
            </a:r>
            <a:r>
              <a:rPr lang="en-US"/>
              <a:t>0</a:t>
            </a:r>
            <a:endParaRPr b="0" i="0" sz="1800" u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57175" lvl="0" marL="25717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Mid Term Exam : 2</a:t>
            </a:r>
            <a:r>
              <a:rPr lang="en-US"/>
              <a:t>5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and Assignments : </a:t>
            </a:r>
            <a:r>
              <a:rPr lang="en-US"/>
              <a:t>20</a:t>
            </a:r>
            <a:r>
              <a:rPr b="0" i="0" lang="en-US" sz="1800" u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  <a:p>
            <a:pPr indent="-257175" lvl="0" marL="25717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en-US" sz="1800" u="non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Final Exam : 4</a:t>
            </a:r>
            <a:r>
              <a:rPr lang="en-US"/>
              <a:t>0</a:t>
            </a:r>
            <a:endParaRPr b="0" i="0" sz="1800" u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 u="none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4" name="Google Shape;704;p2"/>
          <p:cNvSpPr txBox="1"/>
          <p:nvPr/>
        </p:nvSpPr>
        <p:spPr>
          <a:xfrm>
            <a:off x="423862" y="4529137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</a:pPr>
            <a:fld id="{00000000-1234-1234-1234-123412341234}" type="slidenum">
              <a:rPr b="0" i="0" lang="en-US" sz="2000" u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05" name="Google Shape;705;p2"/>
          <p:cNvSpPr txBox="1"/>
          <p:nvPr/>
        </p:nvSpPr>
        <p:spPr>
          <a:xfrm>
            <a:off x="-228600" y="3594100"/>
            <a:ext cx="6223000" cy="8985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Times New Roman"/>
              <a:buNone/>
            </a:pPr>
            <a:r>
              <a:rPr b="1" i="0" lang="en-US" sz="33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Books</a:t>
            </a:r>
            <a:endParaRPr/>
          </a:p>
        </p:txBody>
      </p:sp>
      <p:sp>
        <p:nvSpPr>
          <p:cNvPr id="706" name="Google Shape;706;p2"/>
          <p:cNvSpPr txBox="1"/>
          <p:nvPr/>
        </p:nvSpPr>
        <p:spPr>
          <a:xfrm>
            <a:off x="1657350" y="4646612"/>
            <a:ext cx="6858000" cy="18303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Ian Sommerville, "Software Engineering", Addison Wesley, 8th edition, 2007.</a:t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Roger S Pressman, Roger Pressman,"Software Engineering: A Practitioner's Approach", McGraw-Hill, 7th edition, 2010.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0" i="0" lang="en-US" sz="18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\\tsr\Fall-2019\CSE\AKH\CSE470\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0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Ground Rules</a:t>
            </a:r>
            <a:endParaRPr/>
          </a:p>
        </p:txBody>
      </p:sp>
      <p:sp>
        <p:nvSpPr>
          <p:cNvPr id="712" name="Google Shape;712;p3"/>
          <p:cNvSpPr txBox="1"/>
          <p:nvPr>
            <p:ph idx="1" type="body"/>
          </p:nvPr>
        </p:nvSpPr>
        <p:spPr>
          <a:xfrm>
            <a:off x="1676400" y="1447800"/>
            <a:ext cx="65913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Makeup </a:t>
            </a:r>
            <a:r>
              <a:rPr b="1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MID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b="1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FINAL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will be conducted as BRACU policy.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makeup quiz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1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Best (n-1) quiz 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will be considered.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1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Assignment/ Report Submission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needs to be submitted by given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deadline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Disciplinary action will be taken in case of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Cheating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need to maintain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 behavior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are </a:t>
            </a:r>
            <a:r>
              <a:rPr b="1" i="0" lang="en-US" sz="1800" u="none" cap="none" strike="noStrike">
                <a:solidFill>
                  <a:srgbClr val="4B866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encouraged</a:t>
            </a:r>
            <a:r>
              <a:rPr b="0" i="0" lang="en-US" sz="1800" u="none" cap="none" strike="noStrike">
                <a:solidFill>
                  <a:srgbClr val="4B866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ask questions in class.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can </a:t>
            </a:r>
            <a:r>
              <a:rPr b="1" i="0" lang="en-US" sz="1800" u="none" cap="none" strike="noStrike">
                <a:solidFill>
                  <a:srgbClr val="4B866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reach me 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by phone, email etc. in case of important (</a:t>
            </a:r>
            <a:r>
              <a:rPr b="0" i="0" lang="en-US" sz="1800" u="none" cap="none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valid and logical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query.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Visit me in my </a:t>
            </a:r>
            <a:r>
              <a:rPr b="1" i="0" lang="en-US" sz="1800" u="none" cap="none" strike="noStrike">
                <a:solidFill>
                  <a:srgbClr val="4B866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consultation hour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(available in tsr) for any query, discussion or even for gossiping.</a:t>
            </a:r>
            <a:endParaRPr/>
          </a:p>
          <a:p>
            <a:pPr indent="-2286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"/>
          <p:cNvSpPr txBox="1"/>
          <p:nvPr>
            <p:ph type="title"/>
          </p:nvPr>
        </p:nvSpPr>
        <p:spPr>
          <a:xfrm>
            <a:off x="1447800" y="609600"/>
            <a:ext cx="71993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3600"/>
              <a:buFont typeface="Century Gothic"/>
              <a:buNone/>
            </a:pPr>
            <a:r>
              <a:rPr b="0" i="0" lang="en-US" sz="3600" u="none">
                <a:solidFill>
                  <a:srgbClr val="7B98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Goals of Software Engineering</a:t>
            </a:r>
            <a:endParaRPr/>
          </a:p>
        </p:txBody>
      </p:sp>
      <p:sp>
        <p:nvSpPr>
          <p:cNvPr id="718" name="Google Shape;718;p4"/>
          <p:cNvSpPr txBox="1"/>
          <p:nvPr>
            <p:ph idx="1" type="body"/>
          </p:nvPr>
        </p:nvSpPr>
        <p:spPr>
          <a:xfrm>
            <a:off x="762000" y="1752600"/>
            <a:ext cx="8077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produce software that is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absolutely correct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produce software with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minimum effort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produce software at the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lowest possible cost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produce software in the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least possible time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produce software that is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easily maintained 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modified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maximize the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profitability 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software production effort.</a:t>
            </a:r>
            <a:endParaRPr/>
          </a:p>
          <a:p>
            <a:pPr indent="-215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practice, none of these ideal goals is completely achievable. The challenge of software engineering is to see how close we can get to achieving these goals.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b="0" i="1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art 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software engineering is balancing these goals for a particular project.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3600"/>
              <a:buFont typeface="Century Gothic"/>
              <a:buNone/>
            </a:pPr>
            <a:r>
              <a:rPr b="0" i="0" lang="en-US" sz="3600" u="none">
                <a:solidFill>
                  <a:srgbClr val="7B98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Real-life Software</a:t>
            </a:r>
            <a:endParaRPr/>
          </a:p>
        </p:txBody>
      </p:sp>
      <p:sp>
        <p:nvSpPr>
          <p:cNvPr id="724" name="Google Shape;724;p5"/>
          <p:cNvSpPr txBox="1"/>
          <p:nvPr>
            <p:ph idx="1" type="body"/>
          </p:nvPr>
        </p:nvSpPr>
        <p:spPr>
          <a:xfrm>
            <a:off x="914400" y="2133600"/>
            <a:ext cx="7620000" cy="377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Inevitably most software systems are LARGE  Systems.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means: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Many people involved in design, building and testing,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Team effort, not individual effort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Many millions of $ spent on design and implementation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Millions of lines of source code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Lifetime measured in years or decades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Continuing modification and maintenance</a:t>
            </a:r>
            <a:endParaRPr/>
          </a:p>
          <a:p>
            <a:pPr indent="-2032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"/>
          <p:cNvSpPr txBox="1"/>
          <p:nvPr>
            <p:ph type="title"/>
          </p:nvPr>
        </p:nvSpPr>
        <p:spPr>
          <a:xfrm>
            <a:off x="1447800" y="685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 — Eclipse</a:t>
            </a:r>
            <a:br>
              <a:rPr b="0" i="0" lang="en-US" sz="32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/>
          </a:p>
        </p:txBody>
      </p:sp>
      <p:sp>
        <p:nvSpPr>
          <p:cNvPr id="730" name="Google Shape;730;p6"/>
          <p:cNvSpPr txBox="1"/>
          <p:nvPr>
            <p:ph idx="1" type="body"/>
          </p:nvPr>
        </p:nvSpPr>
        <p:spPr>
          <a:xfrm>
            <a:off x="1447800" y="1676400"/>
            <a:ext cx="7467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Eclipse is a popular software development environment for Java.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Some interesting characteristics of a recent release: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Lines of source code &gt; 1,350,000.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Effort(person-years) &gt; 400.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17,456.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Inheritance relations 15,187.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Methods 124,359.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 instantiations 43,923.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Fields 48,441.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Call relations 1,066,838.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Lifetime bugs &gt; 40,000.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Est. Development cost &gt; $ 54,000,000.</a:t>
            </a:r>
            <a:endParaRPr/>
          </a:p>
          <a:p>
            <a:pPr indent="-215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7"/>
          <p:cNvSpPr txBox="1"/>
          <p:nvPr>
            <p:ph type="title"/>
          </p:nvPr>
        </p:nvSpPr>
        <p:spPr>
          <a:xfrm>
            <a:off x="152400" y="76200"/>
            <a:ext cx="8839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br>
              <a:rPr b="1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Is Software Engineering Important</a:t>
            </a:r>
            <a:endParaRPr/>
          </a:p>
        </p:txBody>
      </p:sp>
      <p:sp>
        <p:nvSpPr>
          <p:cNvPr id="736" name="Google Shape;736;p7"/>
          <p:cNvSpPr txBox="1"/>
          <p:nvPr>
            <p:ph idx="1" type="body"/>
          </p:nvPr>
        </p:nvSpPr>
        <p:spPr>
          <a:xfrm>
            <a:off x="762000" y="1676400"/>
            <a:ext cx="7924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Cost of getting software </a:t>
            </a:r>
            <a:r>
              <a:rPr b="0" i="1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wrong 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often terrible.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Bankruptcy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software producer.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Injury or loss of human life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broken software can KILL people.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producer profitability depends on producing software efficiently and minimizing maintenance effort.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reuse is an economic necessity.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Immense body of old software (legacy code or dusty decks) that must be rebuilt or redesigned to be usable on modern computer systems.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Very, very few contemporary systems work correctly when first installed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We need to do much better.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 $600,000,000,000 spent each year on producing software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  <a:p>
            <a:pPr indent="-215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"/>
          <p:cNvSpPr txBox="1"/>
          <p:nvPr>
            <p:ph type="title"/>
          </p:nvPr>
        </p:nvSpPr>
        <p:spPr>
          <a:xfrm>
            <a:off x="1524000" y="609600"/>
            <a:ext cx="7312025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Horror Stories</a:t>
            </a:r>
            <a:br>
              <a:rPr b="0" i="0" lang="en-US" sz="32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/>
          </a:p>
        </p:txBody>
      </p:sp>
      <p:sp>
        <p:nvSpPr>
          <p:cNvPr id="742" name="Google Shape;742;p8"/>
          <p:cNvSpPr txBox="1"/>
          <p:nvPr>
            <p:ph idx="1" type="body"/>
          </p:nvPr>
        </p:nvSpPr>
        <p:spPr>
          <a:xfrm>
            <a:off x="914400" y="1368425"/>
            <a:ext cx="7620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0" i="0" lang="en-US" sz="24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Bank of America spent $23,000,000 on a 5-year project to develop a new accounting system. Spent over $60,000,000 trying to make new system work, finally abandoned it. Loss of business estimated in excess of $1,000,000,000.</a:t>
            </a:r>
            <a:endParaRPr/>
          </a:p>
          <a:p>
            <a:pPr indent="-1905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0" i="0" lang="en-US" sz="24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B1 bomber required an additional $1,000,000,000 to improve its air defense software, but the software still isn’t working to specification.</a:t>
            </a:r>
            <a:endParaRPr/>
          </a:p>
          <a:p>
            <a:pPr indent="-1905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0" i="0" lang="en-US" sz="24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Ariane 5, flight 501.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loss of a $500,000,000 spacecraft was ultimately attributed to errors in requirements, specifications and inadequate software reuse practices.</a:t>
            </a:r>
            <a:endParaRPr/>
          </a:p>
          <a:p>
            <a:pPr indent="-1905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ee_swing_development_requirements.jpg" id="747" name="Google Shape;7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763000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0"/>
          <p:cNvSpPr txBox="1"/>
          <p:nvPr>
            <p:ph type="title"/>
          </p:nvPr>
        </p:nvSpPr>
        <p:spPr>
          <a:xfrm>
            <a:off x="1295400" y="609600"/>
            <a:ext cx="7620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What Is Software ?</a:t>
            </a:r>
            <a:endParaRPr/>
          </a:p>
        </p:txBody>
      </p:sp>
      <p:sp>
        <p:nvSpPr>
          <p:cNvPr id="753" name="Google Shape;753;p10"/>
          <p:cNvSpPr txBox="1"/>
          <p:nvPr>
            <p:ph idx="1" type="body"/>
          </p:nvPr>
        </p:nvSpPr>
        <p:spPr>
          <a:xfrm>
            <a:off x="1447800" y="1784350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0" i="0" lang="en-US" sz="24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 code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structures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0" i="0" lang="en-US" sz="24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Documents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Requirements and specification documents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Design documents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suites and test plans</a:t>
            </a:r>
            <a:endParaRPr/>
          </a:p>
          <a:p>
            <a:pPr indent="-215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1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0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Hardware Failure Curve</a:t>
            </a:r>
            <a:endParaRPr/>
          </a:p>
        </p:txBody>
      </p:sp>
      <p:pic>
        <p:nvPicPr>
          <p:cNvPr id="759" name="Google Shape;759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300" y="2057400"/>
            <a:ext cx="46863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11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2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767" name="Google Shape;767;p12"/>
          <p:cNvSpPr txBox="1"/>
          <p:nvPr/>
        </p:nvSpPr>
        <p:spPr>
          <a:xfrm>
            <a:off x="2171700" y="1885950"/>
            <a:ext cx="5086350" cy="4438650"/>
          </a:xfrm>
          <a:prstGeom prst="rect">
            <a:avLst/>
          </a:prstGeom>
          <a:solidFill>
            <a:srgbClr val="96E3FE"/>
          </a:solidFill>
          <a:ln>
            <a:noFill/>
          </a:ln>
          <a:effectLst>
            <a:outerShdw blurRad="63500" dir="2700000" dist="71842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2"/>
          <p:cNvSpPr txBox="1"/>
          <p:nvPr>
            <p:ph type="title"/>
          </p:nvPr>
        </p:nvSpPr>
        <p:spPr>
          <a:xfrm>
            <a:off x="482600" y="1066800"/>
            <a:ext cx="5559425" cy="6048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63500" spcFirstLastPara="1" rIns="63500" wrap="square" tIns="254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0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failures</a:t>
            </a:r>
            <a:endParaRPr/>
          </a:p>
        </p:txBody>
      </p:sp>
      <p:pic>
        <p:nvPicPr>
          <p:cNvPr id="769" name="Google Shape;7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700" y="1971675"/>
            <a:ext cx="4951412" cy="4208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3"/>
          <p:cNvSpPr txBox="1"/>
          <p:nvPr>
            <p:ph type="title"/>
          </p:nvPr>
        </p:nvSpPr>
        <p:spPr>
          <a:xfrm>
            <a:off x="1582737" y="609600"/>
            <a:ext cx="7312025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Good Software?</a:t>
            </a:r>
            <a:br>
              <a:rPr b="0" i="0" lang="en-US" sz="32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/>
          </a:p>
        </p:txBody>
      </p:sp>
      <p:sp>
        <p:nvSpPr>
          <p:cNvPr id="775" name="Google Shape;775;p13"/>
          <p:cNvSpPr txBox="1"/>
          <p:nvPr>
            <p:ph idx="1" type="body"/>
          </p:nvPr>
        </p:nvSpPr>
        <p:spPr>
          <a:xfrm>
            <a:off x="1447800" y="1600200"/>
            <a:ext cx="7446962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Correct, correct, correct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Maintainable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easy to modify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Well modularized with well-designed interfaces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Reliable and robust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Has a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good user interface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Well documented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Internal documentation for maintenance and modification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External documentation for end users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Efficient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 wasteful of system resources</a:t>
            </a:r>
            <a:r>
              <a:rPr b="0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cpu &amp; memory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Optimized data structures and algorithms</a:t>
            </a:r>
            <a:endParaRPr/>
          </a:p>
          <a:p>
            <a:pPr indent="-215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4"/>
          <p:cNvSpPr txBox="1"/>
          <p:nvPr>
            <p:ph type="title"/>
          </p:nvPr>
        </p:nvSpPr>
        <p:spPr>
          <a:xfrm>
            <a:off x="1320800" y="685800"/>
            <a:ext cx="7235825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Goodness Goals Conflict</a:t>
            </a:r>
            <a:br>
              <a:rPr b="0" i="0" lang="en-US" sz="32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/>
          </a:p>
        </p:txBody>
      </p:sp>
      <p:sp>
        <p:nvSpPr>
          <p:cNvPr id="781" name="Google Shape;781;p14"/>
          <p:cNvSpPr txBox="1"/>
          <p:nvPr>
            <p:ph idx="1" type="body"/>
          </p:nvPr>
        </p:nvSpPr>
        <p:spPr>
          <a:xfrm>
            <a:off x="1317625" y="1752600"/>
            <a:ext cx="723741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1" i="0" lang="en-US" sz="24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All goodness attributes cost $s to achieve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0" i="0" lang="en-US" sz="24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Interaction between attributes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efficiency may degrade maintainability, reliability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complex user interface may degrade efficiency, maintainability, and reliability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documentation may divert effort from efficiency and reliability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1" i="0" lang="en-US" sz="24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engineering management has to trade-off satisfying goodness goals</a:t>
            </a:r>
            <a:endParaRPr/>
          </a:p>
          <a:p>
            <a:pPr indent="-1905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5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788" name="Google Shape;788;p15"/>
          <p:cNvSpPr txBox="1"/>
          <p:nvPr>
            <p:ph type="title"/>
          </p:nvPr>
        </p:nvSpPr>
        <p:spPr>
          <a:xfrm>
            <a:off x="1139825" y="914400"/>
            <a:ext cx="4991100" cy="785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0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Legacy Software</a:t>
            </a:r>
            <a:endParaRPr/>
          </a:p>
        </p:txBody>
      </p:sp>
      <p:sp>
        <p:nvSpPr>
          <p:cNvPr id="789" name="Google Shape;789;p15"/>
          <p:cNvSpPr txBox="1"/>
          <p:nvPr>
            <p:ph idx="1" type="body"/>
          </p:nvPr>
        </p:nvSpPr>
        <p:spPr>
          <a:xfrm>
            <a:off x="763587" y="2667000"/>
            <a:ext cx="6492875" cy="302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must be </a:t>
            </a:r>
            <a:r>
              <a:rPr b="0" i="0" lang="en-US" sz="1600" u="none">
                <a:solidFill>
                  <a:schemeClr val="folHlink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adapted</a:t>
            </a: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to meet the needs of new computing environments or technology.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must be </a:t>
            </a:r>
            <a:r>
              <a:rPr b="0" i="0" lang="en-US" sz="1600" u="none">
                <a:solidFill>
                  <a:schemeClr val="folHlink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enhanced</a:t>
            </a: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to implement new business requirements.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must be </a:t>
            </a:r>
            <a:r>
              <a:rPr b="0" i="0" lang="en-US" sz="1600" u="none">
                <a:solidFill>
                  <a:schemeClr val="folHlink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extended to make it interoperable </a:t>
            </a: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 other more modern systems or databases.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must be </a:t>
            </a:r>
            <a:r>
              <a:rPr b="0" i="0" lang="en-US" sz="1600" u="none">
                <a:solidFill>
                  <a:schemeClr val="folHlink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re-architected </a:t>
            </a: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make it viable within a network environment</a:t>
            </a:r>
            <a:r>
              <a:rPr b="1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/>
          </a:p>
        </p:txBody>
      </p:sp>
      <p:sp>
        <p:nvSpPr>
          <p:cNvPr id="790" name="Google Shape;790;p15"/>
          <p:cNvSpPr txBox="1"/>
          <p:nvPr/>
        </p:nvSpPr>
        <p:spPr>
          <a:xfrm>
            <a:off x="2438400" y="1752600"/>
            <a:ext cx="3292475" cy="868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00"/>
              <a:buFont typeface="Palatino"/>
              <a:buNone/>
            </a:pPr>
            <a:r>
              <a:rPr b="1" i="1" lang="en-US" sz="2800" u="none">
                <a:solidFill>
                  <a:schemeClr val="folHlink"/>
                </a:solidFill>
                <a:latin typeface="Palatino"/>
                <a:ea typeface="Palatino"/>
                <a:cs typeface="Palatino"/>
                <a:sym typeface="Palatino"/>
              </a:rPr>
              <a:t>Why must it change?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6"/>
          <p:cNvSpPr txBox="1"/>
          <p:nvPr>
            <p:ph type="title"/>
          </p:nvPr>
        </p:nvSpPr>
        <p:spPr>
          <a:xfrm>
            <a:off x="1524000" y="609600"/>
            <a:ext cx="6589712" cy="671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3600"/>
              <a:buFont typeface="Century Gothic"/>
              <a:buNone/>
            </a:pPr>
            <a:r>
              <a:rPr b="0" i="0" lang="en-US" sz="3600" u="none">
                <a:solidFill>
                  <a:srgbClr val="7B98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Myths</a:t>
            </a:r>
            <a:endParaRPr/>
          </a:p>
        </p:txBody>
      </p:sp>
      <p:sp>
        <p:nvSpPr>
          <p:cNvPr id="796" name="Google Shape;796;p16"/>
          <p:cNvSpPr txBox="1"/>
          <p:nvPr>
            <p:ph idx="1" type="body"/>
          </p:nvPr>
        </p:nvSpPr>
        <p:spPr>
          <a:xfrm>
            <a:off x="457200" y="1676400"/>
            <a:ext cx="8077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🠶"/>
            </a:pPr>
            <a:r>
              <a:rPr b="0" i="0" lang="en-US" sz="2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Management myths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0" i="0" lang="en-US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already have a book that’s full of standards and procedures for building software. Won’t that provide my people with everything they need to know.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0" i="0" lang="en-US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My people do have state-of-the-art software development tools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0" i="0" lang="en-US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we get behind schedule, we can add more programmers and catch up – Mongolian Horde Concept</a:t>
            </a:r>
            <a:endParaRPr/>
          </a:p>
          <a:p>
            <a:pPr indent="-1905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7"/>
          <p:cNvSpPr txBox="1"/>
          <p:nvPr>
            <p:ph type="title"/>
          </p:nvPr>
        </p:nvSpPr>
        <p:spPr>
          <a:xfrm>
            <a:off x="1524000" y="685800"/>
            <a:ext cx="39624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3200"/>
              <a:buFont typeface="Century Gothic"/>
              <a:buNone/>
            </a:pPr>
            <a:r>
              <a:rPr b="0" i="0" lang="en-US" sz="3200" u="none">
                <a:solidFill>
                  <a:srgbClr val="7B98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Myths…</a:t>
            </a:r>
            <a:endParaRPr/>
          </a:p>
        </p:txBody>
      </p:sp>
      <p:sp>
        <p:nvSpPr>
          <p:cNvPr id="802" name="Google Shape;802;p17"/>
          <p:cNvSpPr txBox="1"/>
          <p:nvPr>
            <p:ph idx="1" type="body"/>
          </p:nvPr>
        </p:nvSpPr>
        <p:spPr>
          <a:xfrm>
            <a:off x="1143000" y="1752600"/>
            <a:ext cx="7467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🠶"/>
            </a:pPr>
            <a:r>
              <a:rPr b="0" i="0" lang="en-US" sz="3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myths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🠶"/>
            </a:pPr>
            <a:r>
              <a:rPr b="0" i="0" lang="en-US" sz="2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general statement of objectives is sufficient to begin writing programs…we can fill in the details later.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🠶"/>
            </a:pPr>
            <a:r>
              <a:rPr b="0" i="0" lang="en-US" sz="2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requirement continually change, but change can be easily accommodated because software is flexible.</a:t>
            </a:r>
            <a:endParaRPr/>
          </a:p>
          <a:p>
            <a:pPr indent="-1651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8"/>
          <p:cNvSpPr txBox="1"/>
          <p:nvPr>
            <p:ph type="title"/>
          </p:nvPr>
        </p:nvSpPr>
        <p:spPr>
          <a:xfrm>
            <a:off x="1600200" y="685800"/>
            <a:ext cx="39624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3200"/>
              <a:buFont typeface="Century Gothic"/>
              <a:buNone/>
            </a:pPr>
            <a:r>
              <a:rPr b="0" i="0" lang="en-US" sz="3200" u="none">
                <a:solidFill>
                  <a:srgbClr val="7B98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Myths…</a:t>
            </a:r>
            <a:endParaRPr/>
          </a:p>
        </p:txBody>
      </p:sp>
      <p:sp>
        <p:nvSpPr>
          <p:cNvPr id="808" name="Google Shape;808;p18"/>
          <p:cNvSpPr txBox="1"/>
          <p:nvPr>
            <p:ph idx="1" type="body"/>
          </p:nvPr>
        </p:nvSpPr>
        <p:spPr>
          <a:xfrm>
            <a:off x="1219200" y="1600200"/>
            <a:ext cx="7696200" cy="377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🠶"/>
            </a:pPr>
            <a:r>
              <a:rPr b="0" i="0" lang="en-US" sz="2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Developer myths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0" i="0" lang="en-US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Once we write the program and get it to work, our job is done.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0" i="0" lang="en-US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Until I get the program “running” I really have no way of assessing its quality.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🠶"/>
            </a:pPr>
            <a:r>
              <a:rPr b="0" i="0" lang="en-US" sz="2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only deliverable for a successful project is a working program.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9"/>
          <p:cNvSpPr txBox="1"/>
          <p:nvPr>
            <p:ph type="title"/>
          </p:nvPr>
        </p:nvSpPr>
        <p:spPr>
          <a:xfrm>
            <a:off x="1447800" y="457200"/>
            <a:ext cx="72358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Different Approaches for Developing Large Software</a:t>
            </a:r>
            <a:endParaRPr/>
          </a:p>
        </p:txBody>
      </p:sp>
      <p:sp>
        <p:nvSpPr>
          <p:cNvPr id="814" name="Google Shape;814;p19"/>
          <p:cNvSpPr txBox="1"/>
          <p:nvPr>
            <p:ph idx="1" type="body"/>
          </p:nvPr>
        </p:nvSpPr>
        <p:spPr>
          <a:xfrm>
            <a:off x="1447800" y="1981200"/>
            <a:ext cx="73914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formal </a:t>
            </a:r>
            <a:r>
              <a:rPr b="1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management</a:t>
            </a: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software production process.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Formal &amp; detailed statement of requirements, specification and design.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Much more attention to modularity and interfaces.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1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Must be separable </a:t>
            </a: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into manageable pieces.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version control.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emphasis of rigorous and thorough testing.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to plan for long term maintenance and modification.</a:t>
            </a:r>
            <a:endParaRPr/>
          </a:p>
          <a:p>
            <a:pPr indent="-342900" lvl="0" marL="3429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🠶"/>
            </a:pPr>
            <a:r>
              <a:rPr b="0" i="0" lang="en-US" sz="22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much more documentation, internal and external.</a:t>
            </a:r>
            <a:endParaRPr/>
          </a:p>
          <a:p>
            <a:pPr indent="-2032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None/>
            </a:pPr>
            <a:r>
              <a:t/>
            </a:r>
            <a:endParaRPr b="0" i="0" sz="22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0"/>
          <p:cNvSpPr txBox="1"/>
          <p:nvPr>
            <p:ph type="title"/>
          </p:nvPr>
        </p:nvSpPr>
        <p:spPr>
          <a:xfrm>
            <a:off x="1524000" y="381000"/>
            <a:ext cx="68707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1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Is Software Development Hard?</a:t>
            </a:r>
            <a:br>
              <a:rPr b="0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/>
          </a:p>
        </p:txBody>
      </p:sp>
      <p:sp>
        <p:nvSpPr>
          <p:cNvPr id="820" name="Google Shape;820;p20"/>
          <p:cNvSpPr txBox="1"/>
          <p:nvPr>
            <p:ph idx="1" type="body"/>
          </p:nvPr>
        </p:nvSpPr>
        <p:spPr>
          <a:xfrm>
            <a:off x="1295400" y="2133600"/>
            <a:ext cx="7620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Changing requirements 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specifications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Inability to develop complete 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correct requirements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Programmer variability 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unpredictability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Communication and coordination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Imprecise and incomplete requirements and specifications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Inadequate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software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development tools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Inability to accurately estimate 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effort or time required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Overwhelming complexity of large systems, more than linear growth in complexity with size of the system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Poor software development processes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Lack of attention to issues of software architecture</a:t>
            </a:r>
            <a:endParaRPr/>
          </a:p>
          <a:p>
            <a:pPr indent="-215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21"/>
          <p:cNvSpPr txBox="1"/>
          <p:nvPr>
            <p:ph type="title"/>
          </p:nvPr>
        </p:nvSpPr>
        <p:spPr>
          <a:xfrm>
            <a:off x="1447800" y="623887"/>
            <a:ext cx="7086600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3600"/>
              <a:buFont typeface="Century Gothic"/>
              <a:buNone/>
            </a:pPr>
            <a:r>
              <a:rPr b="0" i="0" lang="en-US" sz="3600" u="none">
                <a:solidFill>
                  <a:srgbClr val="7B98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Software Engineering?</a:t>
            </a:r>
            <a:endParaRPr/>
          </a:p>
        </p:txBody>
      </p:sp>
      <p:sp>
        <p:nvSpPr>
          <p:cNvPr id="826" name="Google Shape;826;p21"/>
          <p:cNvSpPr txBox="1"/>
          <p:nvPr>
            <p:ph idx="1" type="body"/>
          </p:nvPr>
        </p:nvSpPr>
        <p:spPr>
          <a:xfrm>
            <a:off x="1219200" y="4495800"/>
            <a:ext cx="7543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Engineering: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application of a systematic, disciplined, quantifiable approach to the development, </a:t>
            </a:r>
            <a:br>
              <a:rPr b="0" i="0" lang="en-US" sz="2400" u="non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n-US" sz="2400" u="non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operation, and maintenance of</a:t>
            </a:r>
            <a:br>
              <a:rPr b="0" i="0" lang="en-US" sz="2400" u="non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n-US" sz="2400" u="non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</a:t>
            </a:r>
            <a:endParaRPr/>
          </a:p>
          <a:p>
            <a:pPr indent="-1905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70C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7" name="Google Shape;827;p21"/>
          <p:cNvSpPr txBox="1"/>
          <p:nvPr/>
        </p:nvSpPr>
        <p:spPr>
          <a:xfrm>
            <a:off x="1441450" y="1600200"/>
            <a:ext cx="65913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entury Gothic"/>
              <a:buNone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science ( &amp; art) of building </a:t>
            </a:r>
            <a:r>
              <a:rPr b="0" i="1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quality 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systems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budget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correct</a:t>
            </a: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operation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 </a:t>
            </a:r>
            <a:r>
              <a:rPr b="1" i="0" lang="en-US" sz="20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acceptable performance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2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833" name="Google Shape;833;p22"/>
          <p:cNvSpPr txBox="1"/>
          <p:nvPr>
            <p:ph type="title"/>
          </p:nvPr>
        </p:nvSpPr>
        <p:spPr>
          <a:xfrm>
            <a:off x="811212" y="1143000"/>
            <a:ext cx="4964112" cy="63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entury Gothic"/>
              <a:buNone/>
            </a:pPr>
            <a:r>
              <a:rPr b="0" i="0" lang="en-US" sz="32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Framework Activities</a:t>
            </a:r>
            <a:endParaRPr/>
          </a:p>
        </p:txBody>
      </p:sp>
      <p:sp>
        <p:nvSpPr>
          <p:cNvPr id="834" name="Google Shape;834;p22"/>
          <p:cNvSpPr txBox="1"/>
          <p:nvPr>
            <p:ph idx="1" type="body"/>
          </p:nvPr>
        </p:nvSpPr>
        <p:spPr>
          <a:xfrm>
            <a:off x="1447800" y="1776412"/>
            <a:ext cx="531971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Communication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Requirement collection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Planning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Specification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Requirement Analysis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Design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Construction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Code generation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Testing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Deployment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Release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n-US" sz="16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Maintenance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3"/>
          <p:cNvSpPr txBox="1"/>
          <p:nvPr>
            <p:ph type="title"/>
          </p:nvPr>
        </p:nvSpPr>
        <p:spPr>
          <a:xfrm>
            <a:off x="1676400" y="152400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3600"/>
              <a:buFont typeface="Century Gothic"/>
              <a:buNone/>
            </a:pPr>
            <a:r>
              <a:rPr b="1" i="0" lang="en-US" sz="3600" u="none">
                <a:solidFill>
                  <a:srgbClr val="7B98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Major Software Production Tasks</a:t>
            </a:r>
            <a:endParaRPr/>
          </a:p>
        </p:txBody>
      </p:sp>
      <p:sp>
        <p:nvSpPr>
          <p:cNvPr id="840" name="Google Shape;840;p23"/>
          <p:cNvSpPr txBox="1"/>
          <p:nvPr>
            <p:ph idx="1" type="body"/>
          </p:nvPr>
        </p:nvSpPr>
        <p:spPr>
          <a:xfrm>
            <a:off x="1193800" y="1524000"/>
            <a:ext cx="7924800" cy="377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1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Requirements analysis: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Analyze software system requirements in detail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1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Specification</a:t>
            </a:r>
            <a:r>
              <a:rPr b="0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Develop a detailed specification for the software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1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Design</a:t>
            </a:r>
            <a:r>
              <a:rPr b="0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Develop detailed design for the software data structures, software architecture procedural detail, interfaces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1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Coding</a:t>
            </a:r>
            <a:r>
              <a:rPr b="0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Transform design into one or more programming language(s)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1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Testing</a:t>
            </a:r>
            <a:r>
              <a:rPr b="0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internal operation of the system and externally visible operations &amp; performance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1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Release</a:t>
            </a:r>
            <a:r>
              <a:rPr b="0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Package and deliver software to users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1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Maintenance</a:t>
            </a:r>
            <a:r>
              <a:rPr b="0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Error correction and enhancement after system</a:t>
            </a:r>
            <a:endParaRPr/>
          </a:p>
          <a:p>
            <a:pPr indent="-2286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4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846" name="Google Shape;846;p24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0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Essence of Practice</a:t>
            </a:r>
            <a:endParaRPr/>
          </a:p>
        </p:txBody>
      </p:sp>
      <p:sp>
        <p:nvSpPr>
          <p:cNvPr id="847" name="Google Shape;847;p24"/>
          <p:cNvSpPr txBox="1"/>
          <p:nvPr>
            <p:ph idx="1" type="body"/>
          </p:nvPr>
        </p:nvSpPr>
        <p:spPr>
          <a:xfrm>
            <a:off x="1143000" y="1676400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n-US" sz="1800" u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Polya suggests: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b="0" i="1" lang="en-US" sz="14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1.	Understand the problem</a:t>
            </a:r>
            <a:r>
              <a:rPr b="0" i="0" lang="en-US" sz="14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(communication and analysis).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b="0" i="1" lang="en-US" sz="14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2.	Plan a solution</a:t>
            </a:r>
            <a:r>
              <a:rPr b="0" i="0" lang="en-US" sz="14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(modeling and software design).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b="0" i="1" lang="en-US" sz="14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3.	Carry out the plan</a:t>
            </a:r>
            <a:r>
              <a:rPr b="0" i="0" lang="en-US" sz="14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(code generation).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b="0" i="1" lang="en-US" sz="14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4.	Examine the result for accuracy</a:t>
            </a:r>
            <a:r>
              <a:rPr b="0" i="0" lang="en-US" sz="14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(testing and quality assurance).</a:t>
            </a:r>
            <a:endParaRPr/>
          </a:p>
          <a:p>
            <a:pPr indent="-254000" lvl="0" marL="342900" rtl="0" algn="l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>
              <a:solidFill>
                <a:srgbClr val="404040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5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853" name="Google Shape;853;p25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0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Understand the Problem</a:t>
            </a:r>
            <a:endParaRPr/>
          </a:p>
        </p:txBody>
      </p:sp>
      <p:sp>
        <p:nvSpPr>
          <p:cNvPr id="854" name="Google Shape;854;p25"/>
          <p:cNvSpPr txBox="1"/>
          <p:nvPr>
            <p:ph idx="1" type="body"/>
          </p:nvPr>
        </p:nvSpPr>
        <p:spPr>
          <a:xfrm>
            <a:off x="1524000" y="1524000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1" lang="en-US" sz="1800" u="none">
                <a:solidFill>
                  <a:schemeClr val="folHlink"/>
                </a:solidFill>
                <a:latin typeface="Palatino"/>
                <a:ea typeface="Palatino"/>
                <a:cs typeface="Palatino"/>
                <a:sym typeface="Palatino"/>
              </a:rPr>
              <a:t>Who has a stake in the solution to the problem?</a:t>
            </a:r>
            <a:r>
              <a:rPr b="0" i="0" lang="en-US" sz="18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That is, who are the stakeholders?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1" lang="en-US" sz="1800" u="none">
                <a:solidFill>
                  <a:schemeClr val="folHlink"/>
                </a:solidFill>
                <a:latin typeface="Palatino"/>
                <a:ea typeface="Palatino"/>
                <a:cs typeface="Palatino"/>
                <a:sym typeface="Palatino"/>
              </a:rPr>
              <a:t>What are the unknowns?</a:t>
            </a:r>
            <a:r>
              <a:rPr b="0" i="1" lang="en-US" sz="18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</a:t>
            </a:r>
            <a:r>
              <a:rPr b="0" i="0" lang="en-US" sz="18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What data, functions, and features are required to properly solve the problem?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1" lang="en-US" sz="1800" u="none">
                <a:solidFill>
                  <a:schemeClr val="folHlink"/>
                </a:solidFill>
                <a:latin typeface="Palatino"/>
                <a:ea typeface="Palatino"/>
                <a:cs typeface="Palatino"/>
                <a:sym typeface="Palatino"/>
              </a:rPr>
              <a:t>Can the problem be compartmentalized?</a:t>
            </a:r>
            <a:r>
              <a:rPr b="0" i="0" lang="en-US" sz="18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Is it possible to represent smaller problems that may be easier to understand?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1" lang="en-US" sz="1800" u="none">
                <a:solidFill>
                  <a:schemeClr val="folHlink"/>
                </a:solidFill>
                <a:latin typeface="Palatino"/>
                <a:ea typeface="Palatino"/>
                <a:cs typeface="Palatino"/>
                <a:sym typeface="Palatino"/>
              </a:rPr>
              <a:t>Can the problem be represented graphically?</a:t>
            </a:r>
            <a:r>
              <a:rPr b="0" i="0" lang="en-US" sz="18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Can an analysis model be created?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26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860" name="Google Shape;860;p26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0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Plan the Solution</a:t>
            </a:r>
            <a:endParaRPr/>
          </a:p>
        </p:txBody>
      </p:sp>
      <p:sp>
        <p:nvSpPr>
          <p:cNvPr id="861" name="Google Shape;861;p26"/>
          <p:cNvSpPr txBox="1"/>
          <p:nvPr>
            <p:ph idx="1" type="body"/>
          </p:nvPr>
        </p:nvSpPr>
        <p:spPr>
          <a:xfrm>
            <a:off x="1295400" y="1524000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1" lang="en-US" sz="2000" u="none">
                <a:solidFill>
                  <a:schemeClr val="folHlink"/>
                </a:solidFill>
                <a:latin typeface="Palatino"/>
                <a:ea typeface="Palatino"/>
                <a:cs typeface="Palatino"/>
                <a:sym typeface="Palatino"/>
              </a:rPr>
              <a:t>Have you seen similar problems before?</a:t>
            </a:r>
            <a:r>
              <a:rPr b="0" i="1" lang="en-US" sz="20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</a:t>
            </a:r>
            <a:r>
              <a:rPr b="0" i="0" lang="en-US" sz="20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Are there patterns that are recognizable in a potential solution? Is there existing software that implements the data, functions, and features that are required?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1" lang="en-US" sz="2000" u="none">
                <a:solidFill>
                  <a:schemeClr val="folHlink"/>
                </a:solidFill>
                <a:latin typeface="Palatino"/>
                <a:ea typeface="Palatino"/>
                <a:cs typeface="Palatino"/>
                <a:sym typeface="Palatino"/>
              </a:rPr>
              <a:t>Has a similar problem been solved?</a:t>
            </a:r>
            <a:r>
              <a:rPr b="0" i="0" lang="en-US" sz="20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If so, are elements of the solution reusable?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1" lang="en-US" sz="2000" u="none">
                <a:solidFill>
                  <a:schemeClr val="folHlink"/>
                </a:solidFill>
                <a:latin typeface="Palatino"/>
                <a:ea typeface="Palatino"/>
                <a:cs typeface="Palatino"/>
                <a:sym typeface="Palatino"/>
              </a:rPr>
              <a:t>Can subproblems be defined?</a:t>
            </a:r>
            <a:r>
              <a:rPr b="0" i="0" lang="en-US" sz="20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If so, are solutions readily apparent for the subproblems?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🠶"/>
            </a:pPr>
            <a:r>
              <a:rPr b="0" i="1" lang="en-US" sz="2000" u="none">
                <a:solidFill>
                  <a:schemeClr val="folHlink"/>
                </a:solidFill>
                <a:latin typeface="Palatino"/>
                <a:ea typeface="Palatino"/>
                <a:cs typeface="Palatino"/>
                <a:sym typeface="Palatino"/>
              </a:rPr>
              <a:t>Can you represent a solution in a manner that leads to effective implementation? </a:t>
            </a:r>
            <a:r>
              <a:rPr b="0" i="0" lang="en-US" sz="20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Can a design model be created?</a:t>
            </a:r>
            <a:endParaRPr/>
          </a:p>
          <a:p>
            <a:pPr indent="-215900" lvl="0" marL="342900" rtl="0" algn="l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>
              <a:solidFill>
                <a:srgbClr val="404040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27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867" name="Google Shape;867;p27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0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Carry Out the Plan</a:t>
            </a:r>
            <a:endParaRPr/>
          </a:p>
        </p:txBody>
      </p:sp>
      <p:sp>
        <p:nvSpPr>
          <p:cNvPr id="868" name="Google Shape;868;p27"/>
          <p:cNvSpPr txBox="1"/>
          <p:nvPr>
            <p:ph idx="1" type="body"/>
          </p:nvPr>
        </p:nvSpPr>
        <p:spPr>
          <a:xfrm>
            <a:off x="1219200" y="1447800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1" lang="en-US" sz="1800" u="none">
                <a:solidFill>
                  <a:schemeClr val="folHlink"/>
                </a:solidFill>
                <a:latin typeface="Palatino"/>
                <a:ea typeface="Palatino"/>
                <a:cs typeface="Palatino"/>
                <a:sym typeface="Palatino"/>
              </a:rPr>
              <a:t>Does the solution conform to the plan?</a:t>
            </a:r>
            <a:r>
              <a:rPr b="0" i="0" lang="en-US" sz="18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Is source code traceable to the design model?</a:t>
            </a:r>
            <a:endParaRPr b="0" i="1" sz="1800" u="none">
              <a:solidFill>
                <a:srgbClr val="404040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1" lang="en-US" sz="1800" u="none">
                <a:solidFill>
                  <a:schemeClr val="folHlink"/>
                </a:solidFill>
                <a:latin typeface="Palatino"/>
                <a:ea typeface="Palatino"/>
                <a:cs typeface="Palatino"/>
                <a:sym typeface="Palatino"/>
              </a:rPr>
              <a:t>Is each component part of the solution provably correct?</a:t>
            </a:r>
            <a:r>
              <a:rPr b="0" i="0" lang="en-US" sz="18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Has the design and code been reviewed, or better, have correctness proofs been applied to algorithm?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 u="none">
              <a:solidFill>
                <a:srgbClr val="404040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28"/>
          <p:cNvSpPr txBox="1"/>
          <p:nvPr/>
        </p:nvSpPr>
        <p:spPr>
          <a:xfrm>
            <a:off x="1943100" y="6135687"/>
            <a:ext cx="57165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874" name="Google Shape;874;p28"/>
          <p:cNvSpPr txBox="1"/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0" i="0" lang="en-US" sz="3600" u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Examine the Result</a:t>
            </a:r>
            <a:endParaRPr/>
          </a:p>
        </p:txBody>
      </p:sp>
      <p:sp>
        <p:nvSpPr>
          <p:cNvPr id="875" name="Google Shape;875;p28"/>
          <p:cNvSpPr txBox="1"/>
          <p:nvPr>
            <p:ph idx="1" type="body"/>
          </p:nvPr>
        </p:nvSpPr>
        <p:spPr>
          <a:xfrm>
            <a:off x="1524000" y="1524000"/>
            <a:ext cx="6591300" cy="377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1" lang="en-US" sz="1800" u="none">
                <a:solidFill>
                  <a:schemeClr val="folHlink"/>
                </a:solidFill>
                <a:latin typeface="Palatino"/>
                <a:ea typeface="Palatino"/>
                <a:cs typeface="Palatino"/>
                <a:sym typeface="Palatino"/>
              </a:rPr>
              <a:t>Is it possible to test each component part of the solution?</a:t>
            </a:r>
            <a:r>
              <a:rPr b="0" i="1" lang="en-US" sz="18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</a:t>
            </a:r>
            <a:r>
              <a:rPr b="0" i="0" lang="en-US" sz="18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Has a reasonable testing strategy been implemented?</a:t>
            </a:r>
            <a:endParaRPr b="0" i="1" sz="1800" u="none">
              <a:solidFill>
                <a:srgbClr val="404040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1" lang="en-US" sz="1800" u="none">
                <a:solidFill>
                  <a:schemeClr val="folHlink"/>
                </a:solidFill>
                <a:latin typeface="Palatino"/>
                <a:ea typeface="Palatino"/>
                <a:cs typeface="Palatino"/>
                <a:sym typeface="Palatino"/>
              </a:rPr>
              <a:t>Does the solution produce results that conform to the data, functions, and features that are required?</a:t>
            </a:r>
            <a:r>
              <a:rPr b="0" i="1" lang="en-US" sz="18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 </a:t>
            </a:r>
            <a:r>
              <a:rPr b="0" i="0" lang="en-US" sz="1800" u="none">
                <a:solidFill>
                  <a:srgbClr val="404040"/>
                </a:solidFill>
                <a:latin typeface="Palatino"/>
                <a:ea typeface="Palatino"/>
                <a:cs typeface="Palatino"/>
                <a:sym typeface="Palatino"/>
              </a:rPr>
              <a:t>Has the software been validated against all stakeholder requirements?</a:t>
            </a:r>
            <a:endParaRPr b="0" i="1" sz="1800" u="none">
              <a:solidFill>
                <a:srgbClr val="404040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1800" u="none">
              <a:solidFill>
                <a:srgbClr val="404040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1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9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7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6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3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5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4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12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5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6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4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8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10_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2006-01-28T17:10:54Z</dcterms:created>
  <dc:creator>Shadid</dc:creator>
</cp:coreProperties>
</file>