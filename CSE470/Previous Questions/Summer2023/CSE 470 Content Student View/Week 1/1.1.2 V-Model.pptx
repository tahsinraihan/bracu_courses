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858000" cy="9144000"/>
  <p:embeddedFontLst>
    <p:embeddedFont>
      <p:font typeface="Gill Sans"/>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i/Q2CiyICf3528zfLpOnVM2flB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illSans-bold.fntdata"/><Relationship Id="rId14" Type="http://schemas.openxmlformats.org/officeDocument/2006/relationships/font" Target="fonts/GillSans-regular.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0"/>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0"/>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10"/>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0"/>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10"/>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10"/>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10"/>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10"/>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2"/>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2"/>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12"/>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0" name="Google Shape;40;p12"/>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 name="Google Shape;41;p12"/>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13"/>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7" name="Google Shape;47;p13"/>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13"/>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14"/>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4"/>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2" name="Google Shape;52;p14"/>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3" name="Google Shape;53;p1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6" name="Google Shape;56;p14"/>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7" name="Google Shape;57;p14"/>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15"/>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63" name="Google Shape;63;p15"/>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68" name="Google Shape;68;p16"/>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1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17"/>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7"/>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3" name="Google Shape;73;p1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6" name="Google Shape;76;p1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17"/>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1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17"/>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18"/>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8"/>
          <p:cNvSpPr/>
          <p:nvPr>
            <p:ph idx="2" type="pic"/>
          </p:nvPr>
        </p:nvSpPr>
        <p:spPr>
          <a:xfrm>
            <a:off x="457200" y="1905000"/>
            <a:ext cx="8229600" cy="4270248"/>
          </a:xfrm>
          <a:prstGeom prst="rect">
            <a:avLst/>
          </a:prstGeom>
          <a:solidFill>
            <a:schemeClr val="dk1"/>
          </a:solidFill>
          <a:ln>
            <a:noFill/>
          </a:ln>
        </p:spPr>
      </p:sp>
      <p:sp>
        <p:nvSpPr>
          <p:cNvPr id="83" name="Google Shape;83;p18"/>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4" name="Google Shape;84;p1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87" name="Google Shape;87;p1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1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9" name="Google Shape;89;p18"/>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9"/>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3" name="Google Shape;93;p1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20"/>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9" name="Google Shape;99;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02" name="Google Shape;102;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4" name="Google Shape;104;p20"/>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9"/>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7.png"/><Relationship Id="rId5" Type="http://schemas.openxmlformats.org/officeDocument/2006/relationships/image" Target="../media/image1.jp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9.jpg"/><Relationship Id="rId5" Type="http://schemas.openxmlformats.org/officeDocument/2006/relationships/image" Target="../media/image18.png"/><Relationship Id="rId6" Type="http://schemas.openxmlformats.org/officeDocument/2006/relationships/image" Target="../media/image8.jpg"/><Relationship Id="rId7" Type="http://schemas.openxmlformats.org/officeDocument/2006/relationships/image" Target="../media/image2.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gif"/><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Bookman Old Style"/>
              <a:buNone/>
            </a:pPr>
            <a:r>
              <a:rPr lang="en-US"/>
              <a:t>CSE 470 – V Model</a:t>
            </a:r>
            <a:endParaRPr/>
          </a:p>
        </p:txBody>
      </p:sp>
      <p:sp>
        <p:nvSpPr>
          <p:cNvPr id="110" name="Google Shape;110;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US"/>
              <a:t>BRAC University</a:t>
            </a:r>
            <a:endParaRPr/>
          </a:p>
        </p:txBody>
      </p:sp>
      <p:pic>
        <p:nvPicPr>
          <p:cNvPr descr="software-engineering-5b4daa8bab12ae7f4848c482.jpg" id="111" name="Google Shape;111;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2" name="Google Shape;112;p1"/>
          <p:cNvPicPr preferRelativeResize="0"/>
          <p:nvPr/>
        </p:nvPicPr>
        <p:blipFill rotWithShape="1">
          <a:blip r:embed="rId4">
            <a:alphaModFix/>
          </a:blip>
          <a:srcRect b="0" l="0" r="0" t="0"/>
          <a:stretch/>
        </p:blipFill>
        <p:spPr>
          <a:xfrm>
            <a:off x="8077200" y="5943600"/>
            <a:ext cx="1066800" cy="9144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descr="1_2d_j5JXuHZRksMJXNulaAg.jpeg" id="118" name="Google Shape;118;p2"/>
          <p:cNvPicPr preferRelativeResize="0"/>
          <p:nvPr>
            <p:ph idx="1" type="body"/>
          </p:nvPr>
        </p:nvPicPr>
        <p:blipFill rotWithShape="1">
          <a:blip r:embed="rId3">
            <a:alphaModFix/>
          </a:blip>
          <a:srcRect b="0" l="0" r="0" t="0"/>
          <a:stretch/>
        </p:blipFill>
        <p:spPr>
          <a:xfrm>
            <a:off x="2057400" y="0"/>
            <a:ext cx="7086600" cy="3886200"/>
          </a:xfrm>
          <a:prstGeom prst="rect">
            <a:avLst/>
          </a:prstGeom>
          <a:noFill/>
          <a:ln>
            <a:noFill/>
          </a:ln>
          <a:effectLst>
            <a:outerShdw blurRad="50800" rotWithShape="0" algn="ctr" dir="5400000" dist="50800">
              <a:srgbClr val="000000">
                <a:alpha val="96862"/>
              </a:srgbClr>
            </a:outerShdw>
          </a:effectLst>
        </p:spPr>
      </p:pic>
      <p:grpSp>
        <p:nvGrpSpPr>
          <p:cNvPr id="119" name="Google Shape;119;p2"/>
          <p:cNvGrpSpPr/>
          <p:nvPr/>
        </p:nvGrpSpPr>
        <p:grpSpPr>
          <a:xfrm>
            <a:off x="2362200" y="4648200"/>
            <a:ext cx="3527843" cy="1524725"/>
            <a:chOff x="2362200" y="4648200"/>
            <a:chExt cx="3527843" cy="1524725"/>
          </a:xfrm>
        </p:grpSpPr>
        <p:pic>
          <p:nvPicPr>
            <p:cNvPr id="120" name="Google Shape;120;p2"/>
            <p:cNvPicPr preferRelativeResize="0"/>
            <p:nvPr/>
          </p:nvPicPr>
          <p:blipFill rotWithShape="1">
            <a:blip r:embed="rId4">
              <a:alphaModFix/>
            </a:blip>
            <a:srcRect b="0" l="0" r="0" t="0"/>
            <a:stretch/>
          </p:blipFill>
          <p:spPr>
            <a:xfrm>
              <a:off x="2362200" y="4724399"/>
              <a:ext cx="3352800" cy="1448526"/>
            </a:xfrm>
            <a:prstGeom prst="rect">
              <a:avLst/>
            </a:prstGeom>
            <a:noFill/>
            <a:ln>
              <a:noFill/>
            </a:ln>
          </p:spPr>
        </p:pic>
        <p:sp>
          <p:nvSpPr>
            <p:cNvPr id="121" name="Google Shape;121;p2"/>
            <p:cNvSpPr txBox="1"/>
            <p:nvPr/>
          </p:nvSpPr>
          <p:spPr>
            <a:xfrm rot="-777044">
              <a:off x="4004481" y="4847337"/>
              <a:ext cx="184348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chemeClr val="dk1"/>
                  </a:solidFill>
                  <a:latin typeface="Gill Sans"/>
                  <a:ea typeface="Gill Sans"/>
                  <a:cs typeface="Gill Sans"/>
                  <a:sym typeface="Gill Sans"/>
                </a:rPr>
                <a:t>Small Accounting             Project </a:t>
              </a:r>
              <a:endParaRPr b="0" i="0" sz="1600" u="none" cap="none" strike="noStrike">
                <a:solidFill>
                  <a:schemeClr val="dk1"/>
                </a:solidFill>
                <a:latin typeface="Gill Sans"/>
                <a:ea typeface="Gill Sans"/>
                <a:cs typeface="Gill Sans"/>
                <a:sym typeface="Gill Sans"/>
              </a:endParaRPr>
            </a:p>
          </p:txBody>
        </p:sp>
      </p:grpSp>
      <p:pic>
        <p:nvPicPr>
          <p:cNvPr id="122" name="Google Shape;122;p2"/>
          <p:cNvPicPr preferRelativeResize="0"/>
          <p:nvPr/>
        </p:nvPicPr>
        <p:blipFill rotWithShape="1">
          <a:blip r:embed="rId5">
            <a:alphaModFix/>
          </a:blip>
          <a:srcRect b="0" l="0" r="0" t="0"/>
          <a:stretch/>
        </p:blipFill>
        <p:spPr>
          <a:xfrm>
            <a:off x="228600" y="2362200"/>
            <a:ext cx="1752600" cy="3641725"/>
          </a:xfrm>
          <a:prstGeom prst="rect">
            <a:avLst/>
          </a:prstGeom>
          <a:noFill/>
          <a:ln>
            <a:noFill/>
          </a:ln>
        </p:spPr>
      </p:pic>
      <p:sp>
        <p:nvSpPr>
          <p:cNvPr id="123" name="Google Shape;123;p2"/>
          <p:cNvSpPr txBox="1"/>
          <p:nvPr/>
        </p:nvSpPr>
        <p:spPr>
          <a:xfrm>
            <a:off x="533400" y="5791200"/>
            <a:ext cx="11791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Gill Sans"/>
                <a:ea typeface="Gill Sans"/>
                <a:cs typeface="Gill Sans"/>
                <a:sym typeface="Gill Sans"/>
              </a:rPr>
              <a:t>Team Lead</a:t>
            </a:r>
            <a:endParaRPr sz="1800">
              <a:solidFill>
                <a:schemeClr val="dk1"/>
              </a:solidFill>
              <a:latin typeface="Gill Sans"/>
              <a:ea typeface="Gill Sans"/>
              <a:cs typeface="Gill Sans"/>
              <a:sym typeface="Gill Sans"/>
            </a:endParaRPr>
          </a:p>
        </p:txBody>
      </p:sp>
      <p:pic>
        <p:nvPicPr>
          <p:cNvPr descr="brac.png" id="124" name="Google Shape;124;p2"/>
          <p:cNvPicPr preferRelativeResize="0"/>
          <p:nvPr/>
        </p:nvPicPr>
        <p:blipFill rotWithShape="1">
          <a:blip r:embed="rId6">
            <a:alphaModFix/>
          </a:blip>
          <a:srcRect b="0" l="0" r="0" t="0"/>
          <a:stretch/>
        </p:blipFill>
        <p:spPr>
          <a:xfrm>
            <a:off x="8077200" y="5943600"/>
            <a:ext cx="1066800" cy="9144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500"/>
                                        <p:tgtEl>
                                          <p:spTgt spid="1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500"/>
                                        <p:tgtEl>
                                          <p:spTgt spid="12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130" name="Google Shape;130;p3"/>
          <p:cNvPicPr preferRelativeResize="0"/>
          <p:nvPr/>
        </p:nvPicPr>
        <p:blipFill rotWithShape="1">
          <a:blip r:embed="rId3">
            <a:alphaModFix/>
          </a:blip>
          <a:srcRect b="0" l="0" r="0" t="0"/>
          <a:stretch/>
        </p:blipFill>
        <p:spPr>
          <a:xfrm>
            <a:off x="5105400" y="2209800"/>
            <a:ext cx="1752600" cy="3641725"/>
          </a:xfrm>
          <a:prstGeom prst="rect">
            <a:avLst/>
          </a:prstGeom>
          <a:noFill/>
          <a:ln>
            <a:noFill/>
          </a:ln>
        </p:spPr>
      </p:pic>
      <p:pic>
        <p:nvPicPr>
          <p:cNvPr descr="44-446339_clipboard-clipart-checklist-template-clipboard-png.png" id="131" name="Google Shape;131;p3"/>
          <p:cNvPicPr preferRelativeResize="0"/>
          <p:nvPr>
            <p:ph idx="1" type="body"/>
          </p:nvPr>
        </p:nvPicPr>
        <p:blipFill rotWithShape="1">
          <a:blip r:embed="rId4">
            <a:alphaModFix/>
          </a:blip>
          <a:srcRect b="0" l="0" r="0" t="0"/>
          <a:stretch/>
        </p:blipFill>
        <p:spPr>
          <a:xfrm>
            <a:off x="6477000" y="3200400"/>
            <a:ext cx="1830117" cy="1981199"/>
          </a:xfrm>
          <a:prstGeom prst="rect">
            <a:avLst/>
          </a:prstGeom>
          <a:noFill/>
          <a:ln>
            <a:noFill/>
          </a:ln>
        </p:spPr>
      </p:pic>
      <p:grpSp>
        <p:nvGrpSpPr>
          <p:cNvPr id="132" name="Google Shape;132;p3"/>
          <p:cNvGrpSpPr/>
          <p:nvPr/>
        </p:nvGrpSpPr>
        <p:grpSpPr>
          <a:xfrm>
            <a:off x="1632608" y="891397"/>
            <a:ext cx="3821384" cy="3246405"/>
            <a:chOff x="1632608" y="891397"/>
            <a:chExt cx="3821384" cy="3246405"/>
          </a:xfrm>
        </p:grpSpPr>
        <p:pic>
          <p:nvPicPr>
            <p:cNvPr descr="unnamed.png" id="133" name="Google Shape;133;p3"/>
            <p:cNvPicPr preferRelativeResize="0"/>
            <p:nvPr/>
          </p:nvPicPr>
          <p:blipFill rotWithShape="1">
            <a:blip r:embed="rId5">
              <a:alphaModFix/>
            </a:blip>
            <a:srcRect b="0" l="0" r="0" t="0"/>
            <a:stretch/>
          </p:blipFill>
          <p:spPr>
            <a:xfrm rot="-959045">
              <a:off x="1905000" y="1295400"/>
              <a:ext cx="3276600" cy="2438400"/>
            </a:xfrm>
            <a:prstGeom prst="rect">
              <a:avLst/>
            </a:prstGeom>
            <a:noFill/>
            <a:ln>
              <a:noFill/>
            </a:ln>
          </p:spPr>
        </p:pic>
        <p:sp>
          <p:nvSpPr>
            <p:cNvPr id="134" name="Google Shape;134;p3"/>
            <p:cNvSpPr txBox="1"/>
            <p:nvPr/>
          </p:nvSpPr>
          <p:spPr>
            <a:xfrm rot="-1558592">
              <a:off x="2410307" y="1530732"/>
              <a:ext cx="274319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Customer asked to emphasize on proper testing of the accounting software…..!!!</a:t>
              </a:r>
              <a:endParaRPr sz="1800">
                <a:solidFill>
                  <a:schemeClr val="dk1"/>
                </a:solidFill>
                <a:latin typeface="Gill Sans"/>
                <a:ea typeface="Gill Sans"/>
                <a:cs typeface="Gill Sans"/>
                <a:sym typeface="Gill Sans"/>
              </a:endParaRPr>
            </a:p>
          </p:txBody>
        </p:sp>
      </p:grpSp>
      <p:grpSp>
        <p:nvGrpSpPr>
          <p:cNvPr id="135" name="Google Shape;135;p3"/>
          <p:cNvGrpSpPr/>
          <p:nvPr/>
        </p:nvGrpSpPr>
        <p:grpSpPr>
          <a:xfrm rot="658942">
            <a:off x="4724400" y="533400"/>
            <a:ext cx="2209800" cy="1688123"/>
            <a:chOff x="2286000" y="1171584"/>
            <a:chExt cx="2209800" cy="1688123"/>
          </a:xfrm>
        </p:grpSpPr>
        <p:pic>
          <p:nvPicPr>
            <p:cNvPr id="136" name="Google Shape;136;p3"/>
            <p:cNvPicPr preferRelativeResize="0"/>
            <p:nvPr/>
          </p:nvPicPr>
          <p:blipFill rotWithShape="1">
            <a:blip r:embed="rId5">
              <a:alphaModFix/>
            </a:blip>
            <a:srcRect b="0" l="0" r="0" t="0"/>
            <a:stretch/>
          </p:blipFill>
          <p:spPr>
            <a:xfrm>
              <a:off x="2286000" y="1171584"/>
              <a:ext cx="2209800" cy="1688123"/>
            </a:xfrm>
            <a:prstGeom prst="rect">
              <a:avLst/>
            </a:prstGeom>
            <a:noFill/>
            <a:ln>
              <a:noFill/>
            </a:ln>
          </p:spPr>
        </p:pic>
        <p:sp>
          <p:nvSpPr>
            <p:cNvPr id="137" name="Google Shape;137;p3"/>
            <p:cNvSpPr txBox="1"/>
            <p:nvPr/>
          </p:nvSpPr>
          <p:spPr>
            <a:xfrm>
              <a:off x="2743200" y="1493107"/>
              <a:ext cx="16002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Requirement is Rigid.</a:t>
              </a:r>
              <a:endParaRPr sz="1800">
                <a:solidFill>
                  <a:schemeClr val="dk1"/>
                </a:solidFill>
                <a:latin typeface="Gill Sans"/>
                <a:ea typeface="Gill Sans"/>
                <a:cs typeface="Gill Sans"/>
                <a:sym typeface="Gill Sans"/>
              </a:endParaRPr>
            </a:p>
          </p:txBody>
        </p:sp>
      </p:grpSp>
      <p:pic>
        <p:nvPicPr>
          <p:cNvPr descr="brac.png" id="138" name="Google Shape;138;p3"/>
          <p:cNvPicPr preferRelativeResize="0"/>
          <p:nvPr/>
        </p:nvPicPr>
        <p:blipFill rotWithShape="1">
          <a:blip r:embed="rId6">
            <a:alphaModFix/>
          </a:blip>
          <a:srcRect b="0" l="0" r="0" t="0"/>
          <a:stretch/>
        </p:blipFill>
        <p:spPr>
          <a:xfrm>
            <a:off x="8077200" y="5943600"/>
            <a:ext cx="1066800" cy="9144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500"/>
                                        <p:tgtEl>
                                          <p:spTgt spid="13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
                                        </p:tgtEl>
                                        <p:attrNameLst>
                                          <p:attrName>style.visibility</p:attrName>
                                        </p:attrNameLst>
                                      </p:cBhvr>
                                      <p:to>
                                        <p:strVal val="visible"/>
                                      </p:to>
                                    </p:set>
                                    <p:anim calcmode="lin" valueType="num">
                                      <p:cBhvr additive="base">
                                        <p:cTn dur="500"/>
                                        <p:tgtEl>
                                          <p:spTgt spid="13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38000"/>
          </a:blip>
          <a:stretch>
            <a:fillRect/>
          </a:stretch>
        </a:blipFill>
      </p:bgPr>
    </p:bg>
    <p:spTree>
      <p:nvGrpSpPr>
        <p:cNvPr id="142" name="Shape 142"/>
        <p:cNvGrpSpPr/>
        <p:nvPr/>
      </p:nvGrpSpPr>
      <p:grpSpPr>
        <a:xfrm>
          <a:off x="0" y="0"/>
          <a:ext cx="0" cy="0"/>
          <a:chOff x="0" y="0"/>
          <a:chExt cx="0" cy="0"/>
        </a:xfrm>
      </p:grpSpPr>
      <p:sp>
        <p:nvSpPr>
          <p:cNvPr id="143" name="Google Shape;143;p4"/>
          <p:cNvSpPr txBox="1"/>
          <p:nvPr>
            <p:ph type="title"/>
          </p:nvPr>
        </p:nvSpPr>
        <p:spPr>
          <a:xfrm>
            <a:off x="3505200" y="1981200"/>
            <a:ext cx="22860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b="1" lang="en-US">
                <a:solidFill>
                  <a:schemeClr val="dk1"/>
                </a:solidFill>
              </a:rPr>
              <a:t>V-Model</a:t>
            </a:r>
            <a:endParaRPr b="1">
              <a:solidFill>
                <a:schemeClr val="dk1"/>
              </a:solidFill>
            </a:endParaRPr>
          </a:p>
        </p:txBody>
      </p:sp>
      <p:sp>
        <p:nvSpPr>
          <p:cNvPr id="144" name="Google Shape;144;p4"/>
          <p:cNvSpPr txBox="1"/>
          <p:nvPr>
            <p:ph idx="1" type="body"/>
          </p:nvPr>
        </p:nvSpPr>
        <p:spPr>
          <a:xfrm>
            <a:off x="609600" y="3124200"/>
            <a:ext cx="8153400" cy="1981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None/>
            </a:pPr>
            <a:r>
              <a:rPr lang="en-US"/>
              <a:t>	Its another sequential software development process model. Its also known as an extension of waterfall model, due to providing earlier and detailed software testing.</a:t>
            </a:r>
            <a:endParaRPr/>
          </a:p>
        </p:txBody>
      </p:sp>
      <p:pic>
        <p:nvPicPr>
          <p:cNvPr descr="brac.png" id="145" name="Google Shape;145;p4"/>
          <p:cNvPicPr preferRelativeResize="0"/>
          <p:nvPr/>
        </p:nvPicPr>
        <p:blipFill rotWithShape="1">
          <a:blip r:embed="rId4">
            <a:alphaModFix/>
          </a:blip>
          <a:srcRect b="0" l="0" r="0" t="0"/>
          <a:stretch/>
        </p:blipFill>
        <p:spPr>
          <a:xfrm>
            <a:off x="8077200" y="5943600"/>
            <a:ext cx="1066800" cy="9144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 calcmode="lin" valueType="num">
                                      <p:cBhvr additive="base">
                                        <p:cTn dur="2000"/>
                                        <p:tgtEl>
                                          <p:spTgt spid="1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cxnSp>
        <p:nvCxnSpPr>
          <p:cNvPr id="150" name="Google Shape;150;p5"/>
          <p:cNvCxnSpPr/>
          <p:nvPr/>
        </p:nvCxnSpPr>
        <p:spPr>
          <a:xfrm flipH="1" rot="10800000">
            <a:off x="3962400" y="0"/>
            <a:ext cx="2362200" cy="5257800"/>
          </a:xfrm>
          <a:prstGeom prst="straightConnector1">
            <a:avLst/>
          </a:prstGeom>
          <a:noFill/>
          <a:ln cap="flat" cmpd="sng" w="92075">
            <a:solidFill>
              <a:schemeClr val="dk1"/>
            </a:solidFill>
            <a:prstDash val="solid"/>
            <a:round/>
            <a:headEnd len="sm" w="sm" type="none"/>
            <a:tailEnd len="med" w="med" type="stealth"/>
          </a:ln>
        </p:spPr>
      </p:cxnSp>
      <p:cxnSp>
        <p:nvCxnSpPr>
          <p:cNvPr id="151" name="Google Shape;151;p5"/>
          <p:cNvCxnSpPr/>
          <p:nvPr/>
        </p:nvCxnSpPr>
        <p:spPr>
          <a:xfrm>
            <a:off x="762000" y="304800"/>
            <a:ext cx="2362200" cy="4648200"/>
          </a:xfrm>
          <a:prstGeom prst="straightConnector1">
            <a:avLst/>
          </a:prstGeom>
          <a:noFill/>
          <a:ln cap="flat" cmpd="sng" w="104775">
            <a:solidFill>
              <a:schemeClr val="dk1"/>
            </a:solidFill>
            <a:prstDash val="solid"/>
            <a:round/>
            <a:headEnd len="sm" w="sm" type="none"/>
            <a:tailEnd len="med" w="med" type="stealth"/>
          </a:ln>
        </p:spPr>
      </p:cxnSp>
      <p:sp>
        <p:nvSpPr>
          <p:cNvPr id="152" name="Google Shape;152;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sp>
        <p:nvSpPr>
          <p:cNvPr id="153" name="Google Shape;153;p5"/>
          <p:cNvSpPr/>
          <p:nvPr/>
        </p:nvSpPr>
        <p:spPr>
          <a:xfrm>
            <a:off x="228600" y="609600"/>
            <a:ext cx="1676400" cy="7620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Requirement Analysis</a:t>
            </a:r>
            <a:endParaRPr b="1" sz="1800">
              <a:solidFill>
                <a:schemeClr val="dk1"/>
              </a:solidFill>
              <a:latin typeface="Gill Sans"/>
              <a:ea typeface="Gill Sans"/>
              <a:cs typeface="Gill Sans"/>
              <a:sym typeface="Gill Sans"/>
            </a:endParaRPr>
          </a:p>
        </p:txBody>
      </p:sp>
      <p:sp>
        <p:nvSpPr>
          <p:cNvPr id="154" name="Google Shape;154;p5"/>
          <p:cNvSpPr/>
          <p:nvPr/>
        </p:nvSpPr>
        <p:spPr>
          <a:xfrm>
            <a:off x="762000" y="1600200"/>
            <a:ext cx="1676400" cy="7620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Architecture Design</a:t>
            </a:r>
            <a:endParaRPr b="1" sz="1800">
              <a:solidFill>
                <a:schemeClr val="dk1"/>
              </a:solidFill>
              <a:latin typeface="Gill Sans"/>
              <a:ea typeface="Gill Sans"/>
              <a:cs typeface="Gill Sans"/>
              <a:sym typeface="Gill Sans"/>
            </a:endParaRPr>
          </a:p>
        </p:txBody>
      </p:sp>
      <p:sp>
        <p:nvSpPr>
          <p:cNvPr id="155" name="Google Shape;155;p5"/>
          <p:cNvSpPr/>
          <p:nvPr/>
        </p:nvSpPr>
        <p:spPr>
          <a:xfrm>
            <a:off x="1066800" y="2667000"/>
            <a:ext cx="1752600" cy="9144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Component/Module Design</a:t>
            </a:r>
            <a:endParaRPr b="1" sz="1800">
              <a:solidFill>
                <a:schemeClr val="dk1"/>
              </a:solidFill>
              <a:latin typeface="Gill Sans"/>
              <a:ea typeface="Gill Sans"/>
              <a:cs typeface="Gill Sans"/>
              <a:sym typeface="Gill Sans"/>
            </a:endParaRPr>
          </a:p>
        </p:txBody>
      </p:sp>
      <p:sp>
        <p:nvSpPr>
          <p:cNvPr id="156" name="Google Shape;156;p5"/>
          <p:cNvSpPr/>
          <p:nvPr/>
        </p:nvSpPr>
        <p:spPr>
          <a:xfrm>
            <a:off x="1524000" y="3810000"/>
            <a:ext cx="1752600" cy="6096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Code Generation</a:t>
            </a:r>
            <a:endParaRPr b="1" sz="1800">
              <a:solidFill>
                <a:schemeClr val="dk1"/>
              </a:solidFill>
              <a:latin typeface="Gill Sans"/>
              <a:ea typeface="Gill Sans"/>
              <a:cs typeface="Gill Sans"/>
              <a:sym typeface="Gill Sans"/>
            </a:endParaRPr>
          </a:p>
        </p:txBody>
      </p:sp>
      <p:sp>
        <p:nvSpPr>
          <p:cNvPr id="157" name="Google Shape;157;p5"/>
          <p:cNvSpPr/>
          <p:nvPr/>
        </p:nvSpPr>
        <p:spPr>
          <a:xfrm>
            <a:off x="4267200" y="3810000"/>
            <a:ext cx="1371600" cy="6096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Unit Testing</a:t>
            </a:r>
            <a:endParaRPr b="1" sz="1800">
              <a:solidFill>
                <a:schemeClr val="dk1"/>
              </a:solidFill>
              <a:latin typeface="Gill Sans"/>
              <a:ea typeface="Gill Sans"/>
              <a:cs typeface="Gill Sans"/>
              <a:sym typeface="Gill Sans"/>
            </a:endParaRPr>
          </a:p>
        </p:txBody>
      </p:sp>
      <p:sp>
        <p:nvSpPr>
          <p:cNvPr id="158" name="Google Shape;158;p5"/>
          <p:cNvSpPr/>
          <p:nvPr/>
        </p:nvSpPr>
        <p:spPr>
          <a:xfrm>
            <a:off x="4648200" y="2667000"/>
            <a:ext cx="1752600" cy="9144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Integration Testing</a:t>
            </a:r>
            <a:endParaRPr b="1" sz="1800">
              <a:solidFill>
                <a:schemeClr val="dk1"/>
              </a:solidFill>
              <a:latin typeface="Gill Sans"/>
              <a:ea typeface="Gill Sans"/>
              <a:cs typeface="Gill Sans"/>
              <a:sym typeface="Gill Sans"/>
            </a:endParaRPr>
          </a:p>
        </p:txBody>
      </p:sp>
      <p:sp>
        <p:nvSpPr>
          <p:cNvPr id="159" name="Google Shape;159;p5"/>
          <p:cNvSpPr/>
          <p:nvPr/>
        </p:nvSpPr>
        <p:spPr>
          <a:xfrm>
            <a:off x="4953000" y="1676400"/>
            <a:ext cx="1752600" cy="6858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System  Testing</a:t>
            </a:r>
            <a:endParaRPr b="1" sz="1800">
              <a:solidFill>
                <a:schemeClr val="dk1"/>
              </a:solidFill>
              <a:latin typeface="Gill Sans"/>
              <a:ea typeface="Gill Sans"/>
              <a:cs typeface="Gill Sans"/>
              <a:sym typeface="Gill Sans"/>
            </a:endParaRPr>
          </a:p>
        </p:txBody>
      </p:sp>
      <p:sp>
        <p:nvSpPr>
          <p:cNvPr id="160" name="Google Shape;160;p5"/>
          <p:cNvSpPr/>
          <p:nvPr/>
        </p:nvSpPr>
        <p:spPr>
          <a:xfrm>
            <a:off x="5257800" y="533400"/>
            <a:ext cx="1752600" cy="914400"/>
          </a:xfrm>
          <a:prstGeom prst="roundRect">
            <a:avLst>
              <a:gd fmla="val 16667" name="adj"/>
            </a:avLst>
          </a:prstGeom>
          <a:solidFill>
            <a:srgbClr val="BDEEFF"/>
          </a:solidFill>
          <a:ln cap="flat" cmpd="sng" w="1905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Gill Sans"/>
                <a:ea typeface="Gill Sans"/>
                <a:cs typeface="Gill Sans"/>
                <a:sym typeface="Gill Sans"/>
              </a:rPr>
              <a:t>Acceptance  Testing</a:t>
            </a:r>
            <a:endParaRPr b="1" sz="1800">
              <a:solidFill>
                <a:schemeClr val="dk1"/>
              </a:solidFill>
              <a:latin typeface="Gill Sans"/>
              <a:ea typeface="Gill Sans"/>
              <a:cs typeface="Gill Sans"/>
              <a:sym typeface="Gill Sans"/>
            </a:endParaRPr>
          </a:p>
        </p:txBody>
      </p:sp>
      <p:pic>
        <p:nvPicPr>
          <p:cNvPr descr="software-web-development-icon-software-png-photos.jpg" id="161" name="Google Shape;161;p5"/>
          <p:cNvPicPr preferRelativeResize="0"/>
          <p:nvPr>
            <p:ph idx="1" type="body"/>
          </p:nvPr>
        </p:nvPicPr>
        <p:blipFill rotWithShape="1">
          <a:blip r:embed="rId3">
            <a:alphaModFix/>
          </a:blip>
          <a:srcRect b="0" l="0" r="0" t="0"/>
          <a:stretch/>
        </p:blipFill>
        <p:spPr>
          <a:xfrm>
            <a:off x="2667000" y="5029200"/>
            <a:ext cx="1638300" cy="1249362"/>
          </a:xfrm>
          <a:prstGeom prst="rect">
            <a:avLst/>
          </a:prstGeom>
          <a:noFill/>
          <a:ln>
            <a:noFill/>
          </a:ln>
        </p:spPr>
      </p:pic>
      <p:pic>
        <p:nvPicPr>
          <p:cNvPr descr="0_l4Jj1m2zjnEv4DsW.jpg" id="162" name="Google Shape;162;p5"/>
          <p:cNvPicPr preferRelativeResize="0"/>
          <p:nvPr/>
        </p:nvPicPr>
        <p:blipFill rotWithShape="1">
          <a:blip r:embed="rId4">
            <a:alphaModFix/>
          </a:blip>
          <a:srcRect b="0" l="0" r="0" t="0"/>
          <a:stretch/>
        </p:blipFill>
        <p:spPr>
          <a:xfrm>
            <a:off x="6257926" y="4343400"/>
            <a:ext cx="2886074" cy="2005012"/>
          </a:xfrm>
          <a:prstGeom prst="rect">
            <a:avLst/>
          </a:prstGeom>
          <a:noFill/>
          <a:ln>
            <a:noFill/>
          </a:ln>
        </p:spPr>
      </p:pic>
      <p:pic>
        <p:nvPicPr>
          <p:cNvPr descr="1_UGvE0cunF9Vr17Qr2FSZeQ.png" id="163" name="Google Shape;163;p5"/>
          <p:cNvPicPr preferRelativeResize="0"/>
          <p:nvPr/>
        </p:nvPicPr>
        <p:blipFill rotWithShape="1">
          <a:blip r:embed="rId5">
            <a:alphaModFix/>
          </a:blip>
          <a:srcRect b="0" l="0" r="0" t="0"/>
          <a:stretch/>
        </p:blipFill>
        <p:spPr>
          <a:xfrm>
            <a:off x="5791200" y="3962400"/>
            <a:ext cx="2909887" cy="1952625"/>
          </a:xfrm>
          <a:prstGeom prst="rect">
            <a:avLst/>
          </a:prstGeom>
          <a:noFill/>
          <a:ln>
            <a:noFill/>
          </a:ln>
        </p:spPr>
      </p:pic>
      <p:pic>
        <p:nvPicPr>
          <p:cNvPr descr="maxresdefault.jpg" id="164" name="Google Shape;164;p5"/>
          <p:cNvPicPr preferRelativeResize="0"/>
          <p:nvPr/>
        </p:nvPicPr>
        <p:blipFill rotWithShape="1">
          <a:blip r:embed="rId6">
            <a:alphaModFix/>
          </a:blip>
          <a:srcRect b="0" l="0" r="0" t="0"/>
          <a:stretch/>
        </p:blipFill>
        <p:spPr>
          <a:xfrm>
            <a:off x="4876800" y="4343400"/>
            <a:ext cx="3810000" cy="2266950"/>
          </a:xfrm>
          <a:prstGeom prst="rect">
            <a:avLst/>
          </a:prstGeom>
          <a:noFill/>
          <a:ln>
            <a:noFill/>
          </a:ln>
        </p:spPr>
      </p:pic>
      <p:pic>
        <p:nvPicPr>
          <p:cNvPr descr="user.png" id="165" name="Google Shape;165;p5"/>
          <p:cNvPicPr preferRelativeResize="0"/>
          <p:nvPr/>
        </p:nvPicPr>
        <p:blipFill rotWithShape="1">
          <a:blip r:embed="rId7">
            <a:alphaModFix/>
          </a:blip>
          <a:srcRect b="0" l="0" r="0" t="0"/>
          <a:stretch/>
        </p:blipFill>
        <p:spPr>
          <a:xfrm>
            <a:off x="6705600" y="2743200"/>
            <a:ext cx="1752600" cy="2628705"/>
          </a:xfrm>
          <a:prstGeom prst="rect">
            <a:avLst/>
          </a:prstGeom>
          <a:noFill/>
          <a:ln>
            <a:noFill/>
          </a:ln>
        </p:spPr>
      </p:pic>
      <p:sp>
        <p:nvSpPr>
          <p:cNvPr id="166" name="Google Shape;166;p5"/>
          <p:cNvSpPr txBox="1"/>
          <p:nvPr/>
        </p:nvSpPr>
        <p:spPr>
          <a:xfrm>
            <a:off x="3276600" y="3429000"/>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Unit Test Design</a:t>
            </a:r>
            <a:endParaRPr sz="1800">
              <a:solidFill>
                <a:schemeClr val="dk1"/>
              </a:solidFill>
              <a:latin typeface="Gill Sans"/>
              <a:ea typeface="Gill Sans"/>
              <a:cs typeface="Gill Sans"/>
              <a:sym typeface="Gill Sans"/>
            </a:endParaRPr>
          </a:p>
        </p:txBody>
      </p:sp>
      <p:sp>
        <p:nvSpPr>
          <p:cNvPr id="167" name="Google Shape;167;p5"/>
          <p:cNvSpPr txBox="1"/>
          <p:nvPr/>
        </p:nvSpPr>
        <p:spPr>
          <a:xfrm>
            <a:off x="3048000" y="2438400"/>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Integration</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Test Design</a:t>
            </a:r>
            <a:endParaRPr sz="1800">
              <a:solidFill>
                <a:schemeClr val="dk1"/>
              </a:solidFill>
              <a:latin typeface="Gill Sans"/>
              <a:ea typeface="Gill Sans"/>
              <a:cs typeface="Gill Sans"/>
              <a:sym typeface="Gill Sans"/>
            </a:endParaRPr>
          </a:p>
        </p:txBody>
      </p:sp>
      <p:sp>
        <p:nvSpPr>
          <p:cNvPr id="168" name="Google Shape;168;p5"/>
          <p:cNvSpPr txBox="1"/>
          <p:nvPr/>
        </p:nvSpPr>
        <p:spPr>
          <a:xfrm>
            <a:off x="2895600" y="1371600"/>
            <a:ext cx="1447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System</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Test Design</a:t>
            </a:r>
            <a:endParaRPr sz="1800">
              <a:solidFill>
                <a:schemeClr val="dk1"/>
              </a:solidFill>
              <a:latin typeface="Gill Sans"/>
              <a:ea typeface="Gill Sans"/>
              <a:cs typeface="Gill Sans"/>
              <a:sym typeface="Gill Sans"/>
            </a:endParaRPr>
          </a:p>
        </p:txBody>
      </p:sp>
      <p:sp>
        <p:nvSpPr>
          <p:cNvPr id="169" name="Google Shape;169;p5"/>
          <p:cNvSpPr txBox="1"/>
          <p:nvPr/>
        </p:nvSpPr>
        <p:spPr>
          <a:xfrm>
            <a:off x="2971800" y="381000"/>
            <a:ext cx="1447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Accpetance</a:t>
            </a:r>
            <a:endParaRPr sz="1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Test Design</a:t>
            </a:r>
            <a:endParaRPr sz="1800">
              <a:solidFill>
                <a:schemeClr val="dk1"/>
              </a:solidFill>
              <a:latin typeface="Gill Sans"/>
              <a:ea typeface="Gill Sans"/>
              <a:cs typeface="Gill Sans"/>
              <a:sym typeface="Gill Sans"/>
            </a:endParaRPr>
          </a:p>
        </p:txBody>
      </p:sp>
      <p:cxnSp>
        <p:nvCxnSpPr>
          <p:cNvPr id="170" name="Google Shape;170;p5"/>
          <p:cNvCxnSpPr>
            <a:stCxn id="153" idx="3"/>
            <a:endCxn id="160" idx="1"/>
          </p:cNvCxnSpPr>
          <p:nvPr/>
        </p:nvCxnSpPr>
        <p:spPr>
          <a:xfrm>
            <a:off x="1905000" y="990600"/>
            <a:ext cx="3352800" cy="0"/>
          </a:xfrm>
          <a:prstGeom prst="straightConnector1">
            <a:avLst/>
          </a:prstGeom>
          <a:noFill/>
          <a:ln cap="flat" cmpd="sng" w="38100">
            <a:solidFill>
              <a:schemeClr val="dk1"/>
            </a:solidFill>
            <a:prstDash val="dash"/>
            <a:round/>
            <a:headEnd len="med" w="med" type="stealth"/>
            <a:tailEnd len="med" w="med" type="stealth"/>
          </a:ln>
        </p:spPr>
      </p:cxnSp>
      <p:cxnSp>
        <p:nvCxnSpPr>
          <p:cNvPr id="171" name="Google Shape;171;p5"/>
          <p:cNvCxnSpPr>
            <a:stCxn id="154" idx="3"/>
            <a:endCxn id="159" idx="1"/>
          </p:cNvCxnSpPr>
          <p:nvPr/>
        </p:nvCxnSpPr>
        <p:spPr>
          <a:xfrm>
            <a:off x="2438400" y="1981200"/>
            <a:ext cx="2514600" cy="38100"/>
          </a:xfrm>
          <a:prstGeom prst="straightConnector1">
            <a:avLst/>
          </a:prstGeom>
          <a:noFill/>
          <a:ln cap="flat" cmpd="sng" w="38100">
            <a:solidFill>
              <a:schemeClr val="dk1"/>
            </a:solidFill>
            <a:prstDash val="dash"/>
            <a:round/>
            <a:headEnd len="med" w="med" type="stealth"/>
            <a:tailEnd len="med" w="med" type="stealth"/>
          </a:ln>
        </p:spPr>
      </p:cxnSp>
      <p:cxnSp>
        <p:nvCxnSpPr>
          <p:cNvPr id="172" name="Google Shape;172;p5"/>
          <p:cNvCxnSpPr>
            <a:stCxn id="155" idx="3"/>
            <a:endCxn id="158" idx="1"/>
          </p:cNvCxnSpPr>
          <p:nvPr/>
        </p:nvCxnSpPr>
        <p:spPr>
          <a:xfrm>
            <a:off x="2819400" y="3124200"/>
            <a:ext cx="1828800" cy="0"/>
          </a:xfrm>
          <a:prstGeom prst="straightConnector1">
            <a:avLst/>
          </a:prstGeom>
          <a:noFill/>
          <a:ln cap="flat" cmpd="sng" w="38100">
            <a:solidFill>
              <a:schemeClr val="dk1"/>
            </a:solidFill>
            <a:prstDash val="dash"/>
            <a:round/>
            <a:headEnd len="med" w="med" type="stealth"/>
            <a:tailEnd len="med" w="med" type="stealth"/>
          </a:ln>
        </p:spPr>
      </p:cxnSp>
      <p:cxnSp>
        <p:nvCxnSpPr>
          <p:cNvPr id="173" name="Google Shape;173;p5"/>
          <p:cNvCxnSpPr>
            <a:stCxn id="156" idx="3"/>
            <a:endCxn id="157" idx="1"/>
          </p:cNvCxnSpPr>
          <p:nvPr/>
        </p:nvCxnSpPr>
        <p:spPr>
          <a:xfrm>
            <a:off x="3276600" y="4114800"/>
            <a:ext cx="990600" cy="0"/>
          </a:xfrm>
          <a:prstGeom prst="straightConnector1">
            <a:avLst/>
          </a:prstGeom>
          <a:noFill/>
          <a:ln cap="flat" cmpd="sng" w="38100">
            <a:solidFill>
              <a:schemeClr val="dk1"/>
            </a:solidFill>
            <a:prstDash val="dash"/>
            <a:round/>
            <a:headEnd len="med" w="med" type="stealth"/>
            <a:tailEnd len="med" w="med" type="stealth"/>
          </a:ln>
        </p:spPr>
      </p:cxnSp>
      <p:pic>
        <p:nvPicPr>
          <p:cNvPr descr="brac.png" id="174" name="Google Shape;174;p5"/>
          <p:cNvPicPr preferRelativeResize="0"/>
          <p:nvPr/>
        </p:nvPicPr>
        <p:blipFill rotWithShape="1">
          <a:blip r:embed="rId8">
            <a:alphaModFix/>
          </a:blip>
          <a:srcRect b="0" l="0" r="0" t="0"/>
          <a:stretch/>
        </p:blipFill>
        <p:spPr>
          <a:xfrm>
            <a:off x="8077200" y="0"/>
            <a:ext cx="1066800" cy="9144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500"/>
                                        <p:tgtEl>
                                          <p:spTgt spid="16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500"/>
                                        <p:tgtEl>
                                          <p:spTgt spid="1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62"/>
                                        </p:tgtEl>
                                        <p:attrNameLst>
                                          <p:attrName>ppt_y</p:attrName>
                                        </p:attrNameLst>
                                      </p:cBhvr>
                                      <p:tavLst>
                                        <p:tav fmla="" tm="0">
                                          <p:val>
                                            <p:strVal val="#ppt_y"/>
                                          </p:val>
                                        </p:tav>
                                        <p:tav fmla="" tm="100000">
                                          <p:val>
                                            <p:strVal val="#ppt_y+1"/>
                                          </p:val>
                                        </p:tav>
                                      </p:tavLst>
                                    </p:anim>
                                    <p:set>
                                      <p:cBhvr>
                                        <p:cTn dur="1" fill="hold">
                                          <p:stCondLst>
                                            <p:cond delay="500"/>
                                          </p:stCondLst>
                                        </p:cTn>
                                        <p:tgtEl>
                                          <p:spTgt spid="1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3"/>
                                        </p:tgtEl>
                                        <p:attrNameLst>
                                          <p:attrName>style.visibility</p:attrName>
                                        </p:attrNameLst>
                                      </p:cBhvr>
                                      <p:to>
                                        <p:strVal val="visible"/>
                                      </p:to>
                                    </p:set>
                                    <p:anim calcmode="lin" valueType="num">
                                      <p:cBhvr additive="base">
                                        <p:cTn dur="500"/>
                                        <p:tgtEl>
                                          <p:spTgt spid="1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63"/>
                                        </p:tgtEl>
                                        <p:attrNameLst>
                                          <p:attrName>ppt_y</p:attrName>
                                        </p:attrNameLst>
                                      </p:cBhvr>
                                      <p:tavLst>
                                        <p:tav fmla="" tm="0">
                                          <p:val>
                                            <p:strVal val="#ppt_y"/>
                                          </p:val>
                                        </p:tav>
                                        <p:tav fmla="" tm="100000">
                                          <p:val>
                                            <p:strVal val="#ppt_y+1"/>
                                          </p:val>
                                        </p:tav>
                                      </p:tavLst>
                                    </p:anim>
                                    <p:set>
                                      <p:cBhvr>
                                        <p:cTn dur="1" fill="hold">
                                          <p:stCondLst>
                                            <p:cond delay="500"/>
                                          </p:stCondLst>
                                        </p:cTn>
                                        <p:tgtEl>
                                          <p:spTgt spid="1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500"/>
                                        <p:tgtEl>
                                          <p:spTgt spid="16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64"/>
                                        </p:tgtEl>
                                        <p:attrNameLst>
                                          <p:attrName>ppt_y</p:attrName>
                                        </p:attrNameLst>
                                      </p:cBhvr>
                                      <p:tavLst>
                                        <p:tav fmla="" tm="0">
                                          <p:val>
                                            <p:strVal val="#ppt_y"/>
                                          </p:val>
                                        </p:tav>
                                        <p:tav fmla="" tm="100000">
                                          <p:val>
                                            <p:strVal val="#ppt_y+1"/>
                                          </p:val>
                                        </p:tav>
                                      </p:tavLst>
                                    </p:anim>
                                    <p:set>
                                      <p:cBhvr>
                                        <p:cTn dur="1" fill="hold">
                                          <p:stCondLst>
                                            <p:cond delay="5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65"/>
                                        </p:tgtEl>
                                        <p:attrNameLst>
                                          <p:attrName>ppt_y</p:attrName>
                                        </p:attrNameLst>
                                      </p:cBhvr>
                                      <p:tavLst>
                                        <p:tav fmla="" tm="0">
                                          <p:val>
                                            <p:strVal val="#ppt_y"/>
                                          </p:val>
                                        </p:tav>
                                        <p:tav fmla="" tm="100000">
                                          <p:val>
                                            <p:strVal val="#ppt_y+1"/>
                                          </p:val>
                                        </p:tav>
                                      </p:tavLst>
                                    </p:anim>
                                    <p:set>
                                      <p:cBhvr>
                                        <p:cTn dur="1" fill="hold">
                                          <p:stCondLst>
                                            <p:cond delay="500"/>
                                          </p:stCondLst>
                                        </p:cTn>
                                        <p:tgtEl>
                                          <p:spTgt spid="1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Verification and Validation</a:t>
            </a:r>
            <a:endParaRPr/>
          </a:p>
        </p:txBody>
      </p:sp>
      <p:cxnSp>
        <p:nvCxnSpPr>
          <p:cNvPr id="180" name="Google Shape;180;p6"/>
          <p:cNvCxnSpPr/>
          <p:nvPr/>
        </p:nvCxnSpPr>
        <p:spPr>
          <a:xfrm>
            <a:off x="5638800" y="1600200"/>
            <a:ext cx="1219200" cy="2362200"/>
          </a:xfrm>
          <a:prstGeom prst="straightConnector1">
            <a:avLst/>
          </a:prstGeom>
          <a:noFill/>
          <a:ln cap="flat" cmpd="sng" w="104775">
            <a:solidFill>
              <a:schemeClr val="dk1"/>
            </a:solidFill>
            <a:prstDash val="solid"/>
            <a:round/>
            <a:headEnd len="sm" w="sm" type="none"/>
            <a:tailEnd len="med" w="med" type="stealth"/>
          </a:ln>
        </p:spPr>
      </p:cxnSp>
      <p:cxnSp>
        <p:nvCxnSpPr>
          <p:cNvPr id="181" name="Google Shape;181;p6"/>
          <p:cNvCxnSpPr/>
          <p:nvPr/>
        </p:nvCxnSpPr>
        <p:spPr>
          <a:xfrm flipH="1" rot="10800000">
            <a:off x="6934200" y="1447800"/>
            <a:ext cx="1143000" cy="2514600"/>
          </a:xfrm>
          <a:prstGeom prst="straightConnector1">
            <a:avLst/>
          </a:prstGeom>
          <a:noFill/>
          <a:ln cap="flat" cmpd="sng" w="92075">
            <a:solidFill>
              <a:schemeClr val="dk1"/>
            </a:solidFill>
            <a:prstDash val="solid"/>
            <a:round/>
            <a:headEnd len="sm" w="sm" type="none"/>
            <a:tailEnd len="med" w="med" type="stealth"/>
          </a:ln>
        </p:spPr>
      </p:cxnSp>
      <p:sp>
        <p:nvSpPr>
          <p:cNvPr id="182" name="Google Shape;182;p6"/>
          <p:cNvSpPr txBox="1"/>
          <p:nvPr/>
        </p:nvSpPr>
        <p:spPr>
          <a:xfrm rot="3744078">
            <a:off x="4880507" y="2644532"/>
            <a:ext cx="18306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Gill Sans"/>
                <a:ea typeface="Gill Sans"/>
                <a:cs typeface="Gill Sans"/>
                <a:sym typeface="Gill Sans"/>
              </a:rPr>
              <a:t>Verification</a:t>
            </a:r>
            <a:endParaRPr b="1" sz="2400">
              <a:solidFill>
                <a:schemeClr val="dk1"/>
              </a:solidFill>
              <a:latin typeface="Gill Sans"/>
              <a:ea typeface="Gill Sans"/>
              <a:cs typeface="Gill Sans"/>
              <a:sym typeface="Gill Sans"/>
            </a:endParaRPr>
          </a:p>
        </p:txBody>
      </p:sp>
      <p:sp>
        <p:nvSpPr>
          <p:cNvPr id="183" name="Google Shape;183;p6"/>
          <p:cNvSpPr txBox="1"/>
          <p:nvPr/>
        </p:nvSpPr>
        <p:spPr>
          <a:xfrm rot="-3959914">
            <a:off x="7042184" y="2665606"/>
            <a:ext cx="1631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Gill Sans"/>
                <a:ea typeface="Gill Sans"/>
                <a:cs typeface="Gill Sans"/>
                <a:sym typeface="Gill Sans"/>
              </a:rPr>
              <a:t>Validation</a:t>
            </a:r>
            <a:endParaRPr b="1" sz="2400">
              <a:solidFill>
                <a:schemeClr val="dk1"/>
              </a:solidFill>
              <a:latin typeface="Gill Sans"/>
              <a:ea typeface="Gill Sans"/>
              <a:cs typeface="Gill Sans"/>
              <a:sym typeface="Gill Sans"/>
            </a:endParaRPr>
          </a:p>
        </p:txBody>
      </p:sp>
      <p:sp>
        <p:nvSpPr>
          <p:cNvPr id="184" name="Google Shape;184;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185" name="Google Shape;185;p6"/>
          <p:cNvSpPr txBox="1"/>
          <p:nvPr/>
        </p:nvSpPr>
        <p:spPr>
          <a:xfrm>
            <a:off x="152399" y="1427153"/>
            <a:ext cx="564342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Suppose, you have received a request for developing a android app. In this regard, you meet the customers, collected requirements, documented the requirements, created designs to built it and finally coded it as per the design. That means you are trying to follow all standard ways to develop the app rightly. </a:t>
            </a:r>
            <a:endParaRPr/>
          </a:p>
          <a:p>
            <a:pPr indent="0" lvl="0" marL="0" marR="0" rtl="0" algn="l">
              <a:spcBef>
                <a:spcPts val="0"/>
              </a:spcBef>
              <a:spcAft>
                <a:spcPts val="0"/>
              </a:spcAft>
              <a:buNone/>
            </a:pPr>
            <a:r>
              <a:rPr b="1" i="1" lang="en-US" sz="1800">
                <a:solidFill>
                  <a:srgbClr val="0000CC"/>
                </a:solidFill>
                <a:latin typeface="Gill Sans"/>
                <a:ea typeface="Gill Sans"/>
                <a:cs typeface="Gill Sans"/>
                <a:sym typeface="Gill Sans"/>
              </a:rPr>
              <a:t>Building the product in the right way is called “Verification”.</a:t>
            </a:r>
            <a:endParaRPr b="1" i="1" sz="1800">
              <a:solidFill>
                <a:srgbClr val="0000CC"/>
              </a:solidFill>
              <a:latin typeface="Gill Sans"/>
              <a:ea typeface="Gill Sans"/>
              <a:cs typeface="Gill Sans"/>
              <a:sym typeface="Gill Sans"/>
            </a:endParaRPr>
          </a:p>
        </p:txBody>
      </p:sp>
      <p:sp>
        <p:nvSpPr>
          <p:cNvPr id="186" name="Google Shape;186;p6"/>
          <p:cNvSpPr txBox="1"/>
          <p:nvPr/>
        </p:nvSpPr>
        <p:spPr>
          <a:xfrm>
            <a:off x="2438400" y="3979101"/>
            <a:ext cx="52578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After completion of the app coding, we sent it to testing phase. Various tests are performed to ensure whether the app meets the customer requirements. That is you try to check whether the right app is developed.</a:t>
            </a:r>
            <a:endParaRPr/>
          </a:p>
          <a:p>
            <a:pPr indent="0" lvl="0" marL="0" marR="0" rtl="0" algn="l">
              <a:spcBef>
                <a:spcPts val="0"/>
              </a:spcBef>
              <a:spcAft>
                <a:spcPts val="0"/>
              </a:spcAft>
              <a:buNone/>
            </a:pPr>
            <a:r>
              <a:rPr b="1" i="1" lang="en-US" sz="1800">
                <a:solidFill>
                  <a:srgbClr val="0000CC"/>
                </a:solidFill>
                <a:latin typeface="Gill Sans"/>
                <a:ea typeface="Gill Sans"/>
                <a:cs typeface="Gill Sans"/>
                <a:sym typeface="Gill Sans"/>
              </a:rPr>
              <a:t>Building the right product is called “Validation”.</a:t>
            </a:r>
            <a:endParaRPr b="1" i="1" sz="1800">
              <a:solidFill>
                <a:srgbClr val="0000CC"/>
              </a:solidFill>
              <a:latin typeface="Gill Sans"/>
              <a:ea typeface="Gill Sans"/>
              <a:cs typeface="Gill Sans"/>
              <a:sym typeface="Gill Sans"/>
            </a:endParaRPr>
          </a:p>
        </p:txBody>
      </p:sp>
      <p:pic>
        <p:nvPicPr>
          <p:cNvPr descr="brac.png" id="187" name="Google Shape;187;p6"/>
          <p:cNvPicPr preferRelativeResize="0"/>
          <p:nvPr/>
        </p:nvPicPr>
        <p:blipFill rotWithShape="1">
          <a:blip r:embed="rId3">
            <a:alphaModFix/>
          </a:blip>
          <a:srcRect b="0" l="0" r="0" t="0"/>
          <a:stretch/>
        </p:blipFill>
        <p:spPr>
          <a:xfrm>
            <a:off x="8077200" y="5943600"/>
            <a:ext cx="1066800" cy="9144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animEffect filter="fade" transition="in">
                                      <p:cBhvr>
                                        <p:cTn dur="1000"/>
                                        <p:tgtEl>
                                          <p:spTgt spid="1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animEffect filter="fade" transition="in">
                                      <p:cBhvr>
                                        <p:cTn dur="1000"/>
                                        <p:tgtEl>
                                          <p:spTgt spid="1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 st="1"/>
                                            </p:txEl>
                                          </p:spTgt>
                                        </p:tgtEl>
                                        <p:attrNameLst>
                                          <p:attrName>style.visibility</p:attrName>
                                        </p:attrNameLst>
                                      </p:cBhvr>
                                      <p:to>
                                        <p:strVal val="visible"/>
                                      </p:to>
                                    </p:set>
                                    <p:animEffect filter="fade" transition="in">
                                      <p:cBhvr>
                                        <p:cTn dur="1000"/>
                                        <p:tgtEl>
                                          <p:spTgt spid="18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76000"/>
          </a:blip>
          <a:stretch>
            <a:fillRect/>
          </a:stretch>
        </a:blipFill>
      </p:bgPr>
    </p:bg>
    <p:spTree>
      <p:nvGrpSpPr>
        <p:cNvPr id="191" name="Shape 191"/>
        <p:cNvGrpSpPr/>
        <p:nvPr/>
      </p:nvGrpSpPr>
      <p:grpSpPr>
        <a:xfrm>
          <a:off x="0" y="0"/>
          <a:ext cx="0" cy="0"/>
          <a:chOff x="0" y="0"/>
          <a:chExt cx="0" cy="0"/>
        </a:xfrm>
      </p:grpSpPr>
      <p:sp>
        <p:nvSpPr>
          <p:cNvPr id="192" name="Google Shape;192;p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a:p>
            <a:pPr indent="-148844" lvl="0" marL="274320" rtl="0" algn="l">
              <a:spcBef>
                <a:spcPts val="600"/>
              </a:spcBef>
              <a:spcAft>
                <a:spcPts val="0"/>
              </a:spcAft>
              <a:buSzPts val="1976"/>
              <a:buNone/>
            </a:pPr>
            <a:r>
              <a:t/>
            </a:r>
            <a:endParaRPr/>
          </a:p>
        </p:txBody>
      </p:sp>
      <p:sp>
        <p:nvSpPr>
          <p:cNvPr id="193" name="Google Shape;193;p7"/>
          <p:cNvSpPr txBox="1"/>
          <p:nvPr/>
        </p:nvSpPr>
        <p:spPr>
          <a:xfrm>
            <a:off x="66451" y="3730900"/>
            <a:ext cx="4393500" cy="1477500"/>
          </a:xfrm>
          <a:prstGeom prst="rect">
            <a:avLst/>
          </a:prstGeom>
          <a:noFill/>
          <a:ln>
            <a:noFill/>
          </a:ln>
        </p:spPr>
        <p:txBody>
          <a:bodyPr anchorCtr="0" anchor="t" bIns="45700" lIns="91425" spcFirstLastPara="1" rIns="91425" wrap="square" tIns="45700">
            <a:spAutoFit/>
          </a:bodyPr>
          <a:lstStyle/>
          <a:p>
            <a:pPr indent="-342900" lvl="0" marL="34290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Changes are not welcomed</a:t>
            </a:r>
            <a:endParaRPr>
              <a:solidFill>
                <a:schemeClr val="dk1"/>
              </a:solidFill>
            </a:endParaRPr>
          </a:p>
          <a:p>
            <a:pPr indent="-342900" lvl="0" marL="34290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Software developed at end of all phases, so no dummy prototypes can be found</a:t>
            </a:r>
            <a:endParaRPr>
              <a:solidFill>
                <a:schemeClr val="dk1"/>
              </a:solidFill>
            </a:endParaRPr>
          </a:p>
          <a:p>
            <a:pPr indent="-342900" lvl="0" marL="34290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If any test fails, then test document and code both needs to be updated</a:t>
            </a:r>
            <a:endParaRPr/>
          </a:p>
        </p:txBody>
      </p:sp>
      <p:sp>
        <p:nvSpPr>
          <p:cNvPr id="194" name="Google Shape;194;p7"/>
          <p:cNvSpPr txBox="1"/>
          <p:nvPr/>
        </p:nvSpPr>
        <p:spPr>
          <a:xfrm>
            <a:off x="4731705" y="3200400"/>
            <a:ext cx="42600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342900" lvl="0" marL="45720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Along with waterfall advantages, it emphasizes planning for verification and validation (V&amp;V) of the product from the very beginning of requirement collection. </a:t>
            </a:r>
            <a:endParaRPr>
              <a:solidFill>
                <a:schemeClr val="dk1"/>
              </a:solidFill>
            </a:endParaRPr>
          </a:p>
          <a:p>
            <a:pPr indent="-342900" lvl="0" marL="45720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Test activities planned before testing</a:t>
            </a:r>
            <a:endParaRPr>
              <a:solidFill>
                <a:schemeClr val="dk1"/>
              </a:solidFill>
            </a:endParaRPr>
          </a:p>
          <a:p>
            <a:pPr indent="-342900" lvl="0" marL="45720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Saves time over waterfall, higher chance of success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brac.png" id="195" name="Google Shape;195;p7"/>
          <p:cNvPicPr preferRelativeResize="0"/>
          <p:nvPr/>
        </p:nvPicPr>
        <p:blipFill rotWithShape="1">
          <a:blip r:embed="rId4">
            <a:alphaModFix/>
          </a:blip>
          <a:srcRect b="0" l="0" r="0" t="0"/>
          <a:stretch/>
        </p:blipFill>
        <p:spPr>
          <a:xfrm>
            <a:off x="8077200" y="5943600"/>
            <a:ext cx="1066800" cy="914400"/>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descr="1474612861_giphy (1).gif" id="201" name="Google Shape;201;p8"/>
          <p:cNvPicPr preferRelativeResize="0"/>
          <p:nvPr/>
        </p:nvPicPr>
        <p:blipFill rotWithShape="1">
          <a:blip r:embed="rId3">
            <a:alphaModFix/>
          </a:blip>
          <a:srcRect b="0" l="0" r="0" t="0"/>
          <a:stretch/>
        </p:blipFill>
        <p:spPr>
          <a:xfrm>
            <a:off x="2667000" y="1752600"/>
            <a:ext cx="3810000" cy="3657600"/>
          </a:xfrm>
          <a:prstGeom prst="rect">
            <a:avLst/>
          </a:prstGeom>
          <a:noFill/>
          <a:ln>
            <a:noFill/>
          </a:ln>
        </p:spPr>
      </p:pic>
      <p:sp>
        <p:nvSpPr>
          <p:cNvPr id="202" name="Google Shape;202;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a:p>
            <a:pPr indent="-148844" lvl="0" marL="274320" rtl="0" algn="l">
              <a:spcBef>
                <a:spcPts val="600"/>
              </a:spcBef>
              <a:spcAft>
                <a:spcPts val="0"/>
              </a:spcAft>
              <a:buSzPts val="1976"/>
              <a:buNone/>
            </a:pPr>
            <a:r>
              <a:t/>
            </a:r>
            <a:endParaRPr/>
          </a:p>
        </p:txBody>
      </p:sp>
      <p:pic>
        <p:nvPicPr>
          <p:cNvPr descr="brac.png" id="203" name="Google Shape;203;p8"/>
          <p:cNvPicPr preferRelativeResize="0"/>
          <p:nvPr/>
        </p:nvPicPr>
        <p:blipFill rotWithShape="1">
          <a:blip r:embed="rId4">
            <a:alphaModFix/>
          </a:blip>
          <a:srcRect b="0" l="0" r="0" t="0"/>
          <a:stretch/>
        </p:blipFill>
        <p:spPr>
          <a:xfrm>
            <a:off x="8077200" y="5943600"/>
            <a:ext cx="1066800" cy="914400"/>
          </a:xfrm>
          <a:prstGeom prst="rect">
            <a:avLst/>
          </a:prstGeom>
          <a:noFill/>
          <a:ln>
            <a:noFill/>
          </a:ln>
        </p:spPr>
      </p:pic>
      <p:sp>
        <p:nvSpPr>
          <p:cNvPr id="204" name="Google Shape;204;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