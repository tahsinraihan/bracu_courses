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08">
          <p15:clr>
            <a:srgbClr val="000000"/>
          </p15:clr>
        </p15:guide>
        <p15:guide id="2" pos="3840">
          <p15:clr>
            <a:srgbClr val="000000"/>
          </p15:clr>
        </p15:guide>
      </p15:sldGuideLst>
    </p:ext>
    <p:ext uri="GoogleSlidesCustomDataVersion2">
      <go:slidesCustomData xmlns:go="http://customooxmlschemas.google.com/" r:id="rId14" roundtripDataSignature="AMtx7mj44H/VKSGHu0ijoikF+G1ENp8c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08"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82" name="Google Shape;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144" name="Google Shape;1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p:nvPr>
            <p:ph idx="2" type="pic"/>
          </p:nvPr>
        </p:nvSpPr>
        <p:spPr>
          <a:xfrm>
            <a:off x="5183188" y="987425"/>
            <a:ext cx="6172200" cy="4873625"/>
          </a:xfrm>
          <a:prstGeom prst="rect">
            <a:avLst/>
          </a:prstGeom>
          <a:noFill/>
          <a:ln>
            <a:noFill/>
          </a:ln>
        </p:spPr>
      </p:sp>
      <p:sp>
        <p:nvSpPr>
          <p:cNvPr id="64" name="Google Shape;64;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9.jp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3999" y="836116"/>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accent1"/>
              </a:buClr>
              <a:buSzPct val="100000"/>
              <a:buFont typeface="Times New Roman"/>
              <a:buNone/>
            </a:pPr>
            <a:r>
              <a:rPr lang="en-US">
                <a:solidFill>
                  <a:schemeClr val="accent1"/>
                </a:solidFill>
                <a:latin typeface="Times New Roman"/>
                <a:ea typeface="Times New Roman"/>
                <a:cs typeface="Times New Roman"/>
                <a:sym typeface="Times New Roman"/>
              </a:rPr>
              <a:t>CSE 460: VLSI Design (Lab)</a:t>
            </a:r>
            <a:br>
              <a:rPr lang="en-US">
                <a:solidFill>
                  <a:schemeClr val="accent1"/>
                </a:solidFill>
                <a:latin typeface="Times New Roman"/>
                <a:ea typeface="Times New Roman"/>
                <a:cs typeface="Times New Roman"/>
                <a:sym typeface="Times New Roman"/>
              </a:rPr>
            </a:br>
            <a:endParaRPr>
              <a:solidFill>
                <a:schemeClr val="accent1"/>
              </a:solidFill>
              <a:latin typeface="Times New Roman"/>
              <a:ea typeface="Times New Roman"/>
              <a:cs typeface="Times New Roman"/>
              <a:sym typeface="Times New Roman"/>
            </a:endParaRPr>
          </a:p>
        </p:txBody>
      </p:sp>
      <p:sp>
        <p:nvSpPr>
          <p:cNvPr id="85" name="Google Shape;85;p1"/>
          <p:cNvSpPr txBox="1"/>
          <p:nvPr>
            <p:ph idx="1" type="subTitle"/>
          </p:nvPr>
        </p:nvSpPr>
        <p:spPr>
          <a:xfrm>
            <a:off x="1523999" y="2915627"/>
            <a:ext cx="9144000" cy="1338321"/>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latin typeface="Times New Roman"/>
                <a:ea typeface="Times New Roman"/>
                <a:cs typeface="Times New Roman"/>
                <a:sym typeface="Times New Roman"/>
              </a:rPr>
              <a:t>Experiment 5</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lang="en-US">
                <a:latin typeface="Times New Roman"/>
                <a:ea typeface="Times New Roman"/>
                <a:cs typeface="Times New Roman"/>
                <a:sym typeface="Times New Roman"/>
              </a:rPr>
              <a:t>Sequential Circuits Real-life Projects</a:t>
            </a:r>
            <a:endParaRPr>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2400"/>
              <a:buNone/>
            </a:pPr>
            <a:r>
              <a:rPr b="1" lang="en-US">
                <a:latin typeface="Times New Roman"/>
                <a:ea typeface="Times New Roman"/>
                <a:cs typeface="Times New Roman"/>
                <a:sym typeface="Times New Roman"/>
              </a:rPr>
              <a:t>Vending Machine</a:t>
            </a:r>
            <a:endParaRPr b="1">
              <a:latin typeface="Times New Roman"/>
              <a:ea typeface="Times New Roman"/>
              <a:cs typeface="Times New Roman"/>
              <a:sym typeface="Times New Roman"/>
            </a:endParaRPr>
          </a:p>
        </p:txBody>
      </p:sp>
      <p:sp>
        <p:nvSpPr>
          <p:cNvPr id="86" name="Google Shape;86;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7" name="Google Shape;87;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10/08/25</a:t>
            </a:r>
            <a:endParaRPr/>
          </a:p>
        </p:txBody>
      </p:sp>
      <p:sp>
        <p:nvSpPr>
          <p:cNvPr id="88" name="Google Shape;88;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460: VLSI Design</a:t>
            </a:r>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2"/>
          <p:cNvPicPr preferRelativeResize="0"/>
          <p:nvPr>
            <p:ph idx="1" type="body"/>
          </p:nvPr>
        </p:nvPicPr>
        <p:blipFill rotWithShape="1">
          <a:blip r:embed="rId3">
            <a:alphaModFix/>
          </a:blip>
          <a:srcRect b="0" l="0" r="0" t="0"/>
          <a:stretch/>
        </p:blipFill>
        <p:spPr>
          <a:xfrm>
            <a:off x="1421966" y="1433388"/>
            <a:ext cx="3229408" cy="4271703"/>
          </a:xfrm>
          <a:prstGeom prst="rect">
            <a:avLst/>
          </a:prstGeom>
          <a:noFill/>
          <a:ln>
            <a:noFill/>
          </a:ln>
        </p:spPr>
      </p:pic>
      <p:sp>
        <p:nvSpPr>
          <p:cNvPr id="94" name="Google Shape;94;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460: VLSI Design</a:t>
            </a:r>
            <a:endParaRPr/>
          </a:p>
        </p:txBody>
      </p:sp>
      <p:sp>
        <p:nvSpPr>
          <p:cNvPr id="95" name="Google Shape;95;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96" name="Google Shape;96;p2"/>
          <p:cNvPicPr preferRelativeResize="0"/>
          <p:nvPr/>
        </p:nvPicPr>
        <p:blipFill rotWithShape="1">
          <a:blip r:embed="rId4">
            <a:alphaModFix/>
          </a:blip>
          <a:srcRect b="0" l="0" r="0" t="0"/>
          <a:stretch/>
        </p:blipFill>
        <p:spPr>
          <a:xfrm>
            <a:off x="4245280" y="1491904"/>
            <a:ext cx="5036506" cy="3777380"/>
          </a:xfrm>
          <a:prstGeom prst="rect">
            <a:avLst/>
          </a:prstGeom>
          <a:noFill/>
          <a:ln>
            <a:noFill/>
          </a:ln>
        </p:spPr>
      </p:pic>
      <p:pic>
        <p:nvPicPr>
          <p:cNvPr id="97" name="Google Shape;97;p2"/>
          <p:cNvPicPr preferRelativeResize="0"/>
          <p:nvPr/>
        </p:nvPicPr>
        <p:blipFill rotWithShape="1">
          <a:blip r:embed="rId5">
            <a:alphaModFix/>
          </a:blip>
          <a:srcRect b="0" l="0" r="0" t="0"/>
          <a:stretch/>
        </p:blipFill>
        <p:spPr>
          <a:xfrm>
            <a:off x="9471505" y="3994022"/>
            <a:ext cx="2014659" cy="2014659"/>
          </a:xfrm>
          <a:prstGeom prst="rect">
            <a:avLst/>
          </a:prstGeom>
          <a:noFill/>
          <a:ln>
            <a:noFill/>
          </a:ln>
        </p:spPr>
      </p:pic>
      <p:sp>
        <p:nvSpPr>
          <p:cNvPr id="98" name="Google Shape;9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10/08/25</a:t>
            </a:r>
            <a:endParaRPr/>
          </a:p>
        </p:txBody>
      </p:sp>
      <p:sp>
        <p:nvSpPr>
          <p:cNvPr id="99" name="Google Shape;99;p2"/>
          <p:cNvSpPr txBox="1"/>
          <p:nvPr>
            <p:ph type="title"/>
          </p:nvPr>
        </p:nvSpPr>
        <p:spPr>
          <a:xfrm>
            <a:off x="-12450" y="0"/>
            <a:ext cx="12192000" cy="711600"/>
          </a:xfrm>
          <a:prstGeom prst="rect">
            <a:avLst/>
          </a:prstGeom>
          <a:solidFill>
            <a:srgbClr val="660000"/>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Times New Roman"/>
              <a:buNone/>
            </a:pPr>
            <a:r>
              <a:rPr b="1" lang="en-US" sz="3600">
                <a:solidFill>
                  <a:schemeClr val="lt1"/>
                </a:solidFill>
                <a:latin typeface="Times New Roman"/>
                <a:ea typeface="Times New Roman"/>
                <a:cs typeface="Times New Roman"/>
                <a:sym typeface="Times New Roman"/>
              </a:rPr>
              <a:t>What is a Vending Machine ? </a:t>
            </a:r>
            <a:endParaRPr b="1" sz="3600">
              <a:solidFill>
                <a:schemeClr val="lt1"/>
              </a:solidFill>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460: VLSI Design</a:t>
            </a:r>
            <a:endParaRPr/>
          </a:p>
        </p:txBody>
      </p:sp>
      <p:sp>
        <p:nvSpPr>
          <p:cNvPr id="105" name="Google Shape;10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06" name="Google Shape;106;p3"/>
          <p:cNvPicPr preferRelativeResize="0"/>
          <p:nvPr/>
        </p:nvPicPr>
        <p:blipFill rotWithShape="1">
          <a:blip r:embed="rId3">
            <a:alphaModFix/>
          </a:blip>
          <a:srcRect b="0" l="0" r="0" t="0"/>
          <a:stretch/>
        </p:blipFill>
        <p:spPr>
          <a:xfrm>
            <a:off x="4038600" y="2457688"/>
            <a:ext cx="3369246" cy="2502161"/>
          </a:xfrm>
          <a:prstGeom prst="rect">
            <a:avLst/>
          </a:prstGeom>
          <a:noFill/>
          <a:ln>
            <a:noFill/>
          </a:ln>
        </p:spPr>
      </p:pic>
      <p:pic>
        <p:nvPicPr>
          <p:cNvPr id="107" name="Google Shape;107;p3"/>
          <p:cNvPicPr preferRelativeResize="0"/>
          <p:nvPr/>
        </p:nvPicPr>
        <p:blipFill rotWithShape="1">
          <a:blip r:embed="rId4">
            <a:alphaModFix/>
          </a:blip>
          <a:srcRect b="0" l="0" r="0" t="0"/>
          <a:stretch/>
        </p:blipFill>
        <p:spPr>
          <a:xfrm>
            <a:off x="1096668" y="1411304"/>
            <a:ext cx="3229408" cy="4271703"/>
          </a:xfrm>
          <a:prstGeom prst="rect">
            <a:avLst/>
          </a:prstGeom>
          <a:noFill/>
          <a:ln>
            <a:noFill/>
          </a:ln>
        </p:spPr>
      </p:pic>
      <p:pic>
        <p:nvPicPr>
          <p:cNvPr id="108" name="Google Shape;108;p3"/>
          <p:cNvPicPr preferRelativeResize="0"/>
          <p:nvPr/>
        </p:nvPicPr>
        <p:blipFill rotWithShape="1">
          <a:blip r:embed="rId5">
            <a:alphaModFix/>
          </a:blip>
          <a:srcRect b="0" l="0" r="0" t="0"/>
          <a:stretch/>
        </p:blipFill>
        <p:spPr>
          <a:xfrm>
            <a:off x="7728998" y="1858558"/>
            <a:ext cx="4180036" cy="3177278"/>
          </a:xfrm>
          <a:prstGeom prst="rect">
            <a:avLst/>
          </a:prstGeom>
          <a:noFill/>
          <a:ln>
            <a:noFill/>
          </a:ln>
        </p:spPr>
      </p:pic>
      <p:sp>
        <p:nvSpPr>
          <p:cNvPr id="109" name="Google Shape;109;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10/08/25</a:t>
            </a:r>
            <a:endParaRPr/>
          </a:p>
        </p:txBody>
      </p:sp>
      <p:sp>
        <p:nvSpPr>
          <p:cNvPr id="110" name="Google Shape;110;p3"/>
          <p:cNvSpPr txBox="1"/>
          <p:nvPr>
            <p:ph type="title"/>
          </p:nvPr>
        </p:nvSpPr>
        <p:spPr>
          <a:xfrm>
            <a:off x="-12450" y="0"/>
            <a:ext cx="12192000" cy="711600"/>
          </a:xfrm>
          <a:prstGeom prst="rect">
            <a:avLst/>
          </a:prstGeom>
          <a:solidFill>
            <a:srgbClr val="660000"/>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Times New Roman"/>
              <a:buNone/>
            </a:pPr>
            <a:r>
              <a:rPr b="1" lang="en-US" sz="3600">
                <a:solidFill>
                  <a:schemeClr val="lt1"/>
                </a:solidFill>
                <a:latin typeface="Times New Roman"/>
                <a:ea typeface="Times New Roman"/>
                <a:cs typeface="Times New Roman"/>
                <a:sym typeface="Times New Roman"/>
              </a:rPr>
              <a:t>What is a Vending Machine ? </a:t>
            </a:r>
            <a:endParaRPr b="1" sz="3600">
              <a:solidFill>
                <a:schemeClr val="lt1"/>
              </a:solidFill>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4"/>
          <p:cNvPicPr preferRelativeResize="0"/>
          <p:nvPr/>
        </p:nvPicPr>
        <p:blipFill rotWithShape="1">
          <a:blip r:embed="rId3">
            <a:alphaModFix/>
          </a:blip>
          <a:srcRect b="0" l="0" r="0" t="0"/>
          <a:stretch/>
        </p:blipFill>
        <p:spPr>
          <a:xfrm>
            <a:off x="37796" y="943251"/>
            <a:ext cx="12117260" cy="5555875"/>
          </a:xfrm>
          <a:prstGeom prst="rect">
            <a:avLst/>
          </a:prstGeom>
          <a:noFill/>
          <a:ln>
            <a:noFill/>
          </a:ln>
        </p:spPr>
      </p:pic>
      <p:sp>
        <p:nvSpPr>
          <p:cNvPr id="116" name="Google Shape;116;p4"/>
          <p:cNvSpPr txBox="1"/>
          <p:nvPr>
            <p:ph type="title"/>
          </p:nvPr>
        </p:nvSpPr>
        <p:spPr>
          <a:xfrm>
            <a:off x="422" y="0"/>
            <a:ext cx="12192000" cy="711600"/>
          </a:xfrm>
          <a:prstGeom prst="rect">
            <a:avLst/>
          </a:prstGeom>
          <a:solidFill>
            <a:srgbClr val="660000"/>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Times New Roman"/>
              <a:buNone/>
            </a:pPr>
            <a:r>
              <a:rPr b="1" lang="en-US" sz="3600">
                <a:solidFill>
                  <a:schemeClr val="lt1"/>
                </a:solidFill>
                <a:latin typeface="Times New Roman"/>
                <a:ea typeface="Times New Roman"/>
                <a:cs typeface="Times New Roman"/>
                <a:sym typeface="Times New Roman"/>
              </a:rPr>
              <a:t>Variable Product Case (State Diagram)</a:t>
            </a:r>
            <a:endParaRPr b="1" sz="3600">
              <a:solidFill>
                <a:schemeClr val="lt1"/>
              </a:solidFill>
            </a:endParaRPr>
          </a:p>
        </p:txBody>
      </p:sp>
      <p:sp>
        <p:nvSpPr>
          <p:cNvPr id="117" name="Google Shape;117;p4"/>
          <p:cNvSpPr txBox="1"/>
          <p:nvPr/>
        </p:nvSpPr>
        <p:spPr>
          <a:xfrm>
            <a:off x="6840414" y="5771594"/>
            <a:ext cx="1870200" cy="408300"/>
          </a:xfrm>
          <a:prstGeom prst="rect">
            <a:avLst/>
          </a:prstGeom>
          <a:solidFill>
            <a:schemeClr val="lt1"/>
          </a:solidFill>
          <a:ln>
            <a:noFill/>
          </a:ln>
        </p:spPr>
        <p:txBody>
          <a:bodyPr anchorCtr="0" anchor="t" bIns="102250" lIns="102250" spcFirstLastPara="1" rIns="102250" wrap="square" tIns="102250">
            <a:noAutofit/>
          </a:bodyPr>
          <a:lstStyle/>
          <a:p>
            <a:pPr indent="0" lvl="0" marL="0" rtl="0" algn="l">
              <a:spcBef>
                <a:spcPts val="0"/>
              </a:spcBef>
              <a:spcAft>
                <a:spcPts val="0"/>
              </a:spcAft>
              <a:buNone/>
            </a:pPr>
            <a:r>
              <a:rPr b="1" lang="en-US" sz="1901">
                <a:solidFill>
                  <a:schemeClr val="dk1"/>
                </a:solidFill>
                <a:latin typeface="Calibri"/>
                <a:ea typeface="Calibri"/>
                <a:cs typeface="Calibri"/>
                <a:sym typeface="Calibri"/>
              </a:rPr>
              <a:t>Purchase=1</a:t>
            </a:r>
            <a:endParaRPr b="1" sz="1901">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825325" y="10"/>
            <a:ext cx="10023600" cy="456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Times New Roman"/>
              <a:buNone/>
            </a:pPr>
            <a:r>
              <a:rPr lang="en-US" sz="2400">
                <a:solidFill>
                  <a:schemeClr val="accent1"/>
                </a:solidFill>
                <a:latin typeface="Times New Roman"/>
                <a:ea typeface="Times New Roman"/>
                <a:cs typeface="Times New Roman"/>
                <a:sym typeface="Times New Roman"/>
              </a:rPr>
              <a:t>Variable Product Case (State Diagram)</a:t>
            </a:r>
            <a:endParaRPr sz="2400">
              <a:solidFill>
                <a:schemeClr val="accent1"/>
              </a:solidFill>
              <a:latin typeface="Times New Roman"/>
              <a:ea typeface="Times New Roman"/>
              <a:cs typeface="Times New Roman"/>
              <a:sym typeface="Times New Roman"/>
            </a:endParaRPr>
          </a:p>
        </p:txBody>
      </p:sp>
      <p:sp>
        <p:nvSpPr>
          <p:cNvPr id="123" name="Google Shape;123;p7"/>
          <p:cNvSpPr txBox="1"/>
          <p:nvPr/>
        </p:nvSpPr>
        <p:spPr>
          <a:xfrm>
            <a:off x="85015" y="534670"/>
            <a:ext cx="11997000" cy="632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Arial"/>
                <a:ea typeface="Arial"/>
                <a:cs typeface="Arial"/>
                <a:sym typeface="Arial"/>
              </a:rPr>
              <a:t>PV → Maximum product value (8-bit in our example code) – This stores the binary representation of the highest product price in the vending machine.</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 instance, if the machine has a 280 tk apple juice can, 150 tk muffin cake, 450 tk pineapple shake, and 200 tk chocolate: first determine the maximum product price, which is 450 tk here. This requires 9 bits in binary form. Therefore, declare [8:0] PV for this case.</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Arial"/>
                <a:ea typeface="Arial"/>
                <a:cs typeface="Arial"/>
                <a:sym typeface="Arial"/>
              </a:rPr>
              <a:t>Cash-in → 2-bit code for the inserted cash (00 = 0 TK, 01 = 5 TK, 10 = 10 TK, 11 = 20 TK)</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If the available notes are: 0 TK (no cash inserted), 10 TK, 20 TK, 100 TK, 500 TK, and 1000 TK, then 3 bits are needed to represent these 6 note types. Hence, declare cash_in as [2:0] cash_in</a:t>
            </a:r>
            <a:r>
              <a:rPr b="1" i="0" lang="en-US" sz="1400" u="none" cap="none" strike="noStrike">
                <a:solidFill>
                  <a:srgbClr val="FF0000"/>
                </a:solidFill>
                <a:latin typeface="Arial"/>
                <a:ea typeface="Arial"/>
                <a:cs typeface="Arial"/>
                <a:sym typeface="Arial"/>
              </a:rPr>
              <a:t>.</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Arial"/>
                <a:ea typeface="Arial"/>
                <a:cs typeface="Arial"/>
                <a:sym typeface="Arial"/>
              </a:rPr>
              <a:t>TK_CL → Stores the decimal-equivalent binary of the cash amount inserted in a given clock cycle</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For example, if cash_in = 500 tk at one clock, TK_CL will store 500 (in decimal) = 111110100 (in binary); thus, 9 bits are required here. Always find the highest note value among the available denominations and size TK_CL accordingly.</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If the available notes are: 0 TK, 10 TK, 20 TK, 100 TK, 500 TK, 1000 TK, then declare [9:0] TK_CL as the largest note value is 1000 TK, which requires 10 bits to store. This 10-bit TK_CL will also cover all smaller notes’ binary values.</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Arial"/>
                <a:ea typeface="Arial"/>
                <a:cs typeface="Arial"/>
                <a:sym typeface="Arial"/>
              </a:rPr>
              <a:t>MV → Stores the decimal-equivalent binary of the total stored money</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MV is related to PV. In the state diagram, MV is updated only when prev MV + TK_CL &lt; PV, meaning the value stored in MV is always less than PV. When MV + TK_CL &gt;= PV, cash is returned immediately and MV is reset to zero. For safety, use the same number of bits for MV as for PV.</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F0000"/>
                </a:solidFill>
                <a:latin typeface="Arial"/>
                <a:ea typeface="Arial"/>
                <a:cs typeface="Arial"/>
                <a:sym typeface="Arial"/>
              </a:rPr>
              <a:t>Cash_return → Stores the decimal-equivalent binary of the returned money when MV + TK_CL &gt;= PV   or   Tk_Cl&gt;= PV  or  TK_Cl==0</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The maximum return amount is always less than the largest note available. For example, if the available notes are 0 TK, 10 TK, 20 TK, 50 TK, 100 TK, and you, as a buyer select the maximum price product (500 TK), inserting notes of 100 TK, 100 TK, 100 TK, 100 TK, 50 TK, 20 TK, 20 TK, and finally 100 TK will return 90 TK, which is less than the largest note (100 TK).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However, when you insert 100tk + 50 tk + 0tk for example, for a 200tk valued product, Cash_return will return total stored money ie MV. Hence, Cash_return’s size will be the </a:t>
            </a:r>
            <a:r>
              <a:rPr b="1" i="0" lang="en-US" sz="1400" u="none" cap="none" strike="noStrike">
                <a:solidFill>
                  <a:schemeClr val="dk1"/>
                </a:solidFill>
                <a:highlight>
                  <a:srgbClr val="FFFF00"/>
                </a:highlight>
                <a:latin typeface="Arial"/>
                <a:ea typeface="Arial"/>
                <a:cs typeface="Arial"/>
                <a:sym typeface="Arial"/>
              </a:rPr>
              <a:t>same as that of MV</a:t>
            </a:r>
            <a:r>
              <a:rPr b="1" i="0" lang="en-US" sz="1400" u="none" cap="none" strike="noStrike">
                <a:solidFill>
                  <a:schemeClr val="dk1"/>
                </a:solidFill>
                <a:latin typeface="Arial"/>
                <a:ea typeface="Arial"/>
                <a:cs typeface="Arial"/>
                <a:sym typeface="Arial"/>
              </a:rPr>
              <a:t>.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7030A0"/>
                </a:solidFill>
                <a:latin typeface="Arial"/>
                <a:ea typeface="Arial"/>
                <a:cs typeface="Arial"/>
                <a:sym typeface="Arial"/>
              </a:rPr>
              <a:t>Therefore, all these parameters may vary in bit length depending on factors such as the maximum product price, total available currency denominations, etc.</a:t>
            </a:r>
            <a:endParaRPr b="1" i="0" sz="1400" u="none" cap="none" strike="noStrike">
              <a:solidFill>
                <a:srgbClr val="7030A0"/>
              </a:solidFill>
              <a:latin typeface="Arial"/>
              <a:ea typeface="Arial"/>
              <a:cs typeface="Arial"/>
              <a:sym typeface="Arial"/>
            </a:endParaRPr>
          </a:p>
        </p:txBody>
      </p:sp>
      <p:sp>
        <p:nvSpPr>
          <p:cNvPr id="124" name="Google Shape;124;p7"/>
          <p:cNvSpPr txBox="1"/>
          <p:nvPr>
            <p:ph type="title"/>
          </p:nvPr>
        </p:nvSpPr>
        <p:spPr>
          <a:xfrm>
            <a:off x="-12450" y="0"/>
            <a:ext cx="12192000" cy="456600"/>
          </a:xfrm>
          <a:prstGeom prst="rect">
            <a:avLst/>
          </a:prstGeom>
          <a:solidFill>
            <a:srgbClr val="660000"/>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accent1"/>
              </a:buClr>
              <a:buSzPts val="3960"/>
              <a:buFont typeface="Times New Roman"/>
              <a:buNone/>
            </a:pPr>
            <a:r>
              <a:rPr b="1" lang="en-US" sz="2600">
                <a:solidFill>
                  <a:schemeClr val="lt1"/>
                </a:solidFill>
                <a:latin typeface="Times New Roman"/>
                <a:ea typeface="Times New Roman"/>
                <a:cs typeface="Times New Roman"/>
                <a:sym typeface="Times New Roman"/>
              </a:rPr>
              <a:t>Description of the parameters used ( IMPORTANT !!! )</a:t>
            </a:r>
            <a:endParaRPr b="1" sz="2600">
              <a:solidFill>
                <a:schemeClr val="lt1"/>
              </a:solidFill>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0" name="Google Shape;130;p8"/>
          <p:cNvSpPr txBox="1"/>
          <p:nvPr/>
        </p:nvSpPr>
        <p:spPr>
          <a:xfrm>
            <a:off x="0" y="0"/>
            <a:ext cx="5865495" cy="685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module VM(cash_in, PV, Reset, Clock, purchase, Tk_Cl, cash_return, MV, y, Y);</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2 bit input to indicate cash_in=0,5,10,20 TK,</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8 bit input of PV(product value)</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Internal reg ,Tk_Cl= money inserted in each clock cycle(5 bit since max 20 tk)</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Internal reg, MV= total money inserted in subsequent clks to buy the Product;</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input [1:0] cash_in;</a:t>
            </a:r>
            <a:endParaRPr b="0" i="0" sz="9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input Reset, Clock;</a:t>
            </a:r>
            <a:endParaRPr b="0" i="0" sz="9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input [7:0] PV;</a:t>
            </a:r>
            <a:endParaRPr b="0" i="0" sz="9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output reg purchase;</a:t>
            </a:r>
            <a:endParaRPr b="0" i="0" sz="9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output reg [7:0] cash_return;</a:t>
            </a:r>
            <a:endParaRPr b="0" i="0" sz="9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output reg Y = 0;</a:t>
            </a:r>
            <a:endParaRPr b="0" i="0" sz="9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output reg y;</a:t>
            </a:r>
            <a:endParaRPr b="0" i="0" sz="9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output reg [7:0] MV;</a:t>
            </a:r>
            <a:endParaRPr b="0" i="0" sz="9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highlight>
                  <a:srgbClr val="FFFF00"/>
                </a:highlight>
                <a:latin typeface="Arial"/>
                <a:ea typeface="Arial"/>
                <a:cs typeface="Arial"/>
                <a:sym typeface="Arial"/>
              </a:rPr>
              <a:t>output reg [4:0] Tk_Cl = 0</a:t>
            </a:r>
            <a:r>
              <a:rPr b="0" i="0" lang="en-US" sz="900" u="none" cap="none" strike="noStrike">
                <a:solidFill>
                  <a:srgbClr val="000000"/>
                </a:solidFill>
                <a:latin typeface="Arial"/>
                <a:ea typeface="Arial"/>
                <a:cs typeface="Arial"/>
                <a:sym typeface="Arial"/>
              </a:rPr>
              <a:t>;</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parameter S0 = 0, S1 = 1;</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parameter T0 = 2'b00, T5 = 2'b01, T10 = 2'b10, T20 = 2'b11;</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700" u="none" cap="none" strike="noStrike">
                <a:solidFill>
                  <a:srgbClr val="000000"/>
                </a:solidFill>
                <a:latin typeface="Arial"/>
                <a:ea typeface="Arial"/>
                <a:cs typeface="Arial"/>
                <a:sym typeface="Arial"/>
              </a:rPr>
              <a:t>// Next state logic and output value</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always @(y, Tk_Cl, cash_in) begin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case (cash_in)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T5:  Tk_Cl = 5;</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T10: Tk_Cl = 10;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T20: Tk_Cl = 20;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T0:  Tk_Cl = 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endcase</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case (y)</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S0: begin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if (Tk_Cl &gt;= PV) begin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if (PV == 0) begin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Y = S0;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purchase = 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cash_return = Tk_Cl;</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end else begin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purchase = 1;</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cash_return = Tk_Cl - PV;</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Y = S0;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end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end else if (Tk_Cl == 0) begin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purchase = 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cash_return = 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Y = S0;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end else if (Tk_Cl &lt; PV) begin</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purchase = 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cash_return = 0;</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Y = S1;</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end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900" u="none" cap="none" strike="noStrike">
                <a:solidFill>
                  <a:srgbClr val="000000"/>
                </a:solidFill>
                <a:latin typeface="Arial"/>
                <a:ea typeface="Arial"/>
                <a:cs typeface="Arial"/>
                <a:sym typeface="Arial"/>
              </a:rPr>
              <a:t>        end</a:t>
            </a:r>
            <a:endParaRPr b="0" i="0" sz="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900" u="none" cap="none" strike="noStrike">
              <a:solidFill>
                <a:srgbClr val="000000"/>
              </a:solidFill>
              <a:latin typeface="Arial"/>
              <a:ea typeface="Arial"/>
              <a:cs typeface="Arial"/>
              <a:sym typeface="Arial"/>
            </a:endParaRPr>
          </a:p>
        </p:txBody>
      </p:sp>
      <p:sp>
        <p:nvSpPr>
          <p:cNvPr id="131" name="Google Shape;131;p8"/>
          <p:cNvSpPr txBox="1"/>
          <p:nvPr/>
        </p:nvSpPr>
        <p:spPr>
          <a:xfrm>
            <a:off x="6326505" y="0"/>
            <a:ext cx="5865495" cy="685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S1: begin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if ((MV + Tk_Cl) &gt;= PV) begin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purchase = 1;</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cash_return = (MV + Tk_Cl - PV);</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Y = S0;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end else if (Tk_Cl == 0) begin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purchase = 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cash_return = MV;</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Y = S0;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end else if ((MV + Tk_Cl) &lt; PV) begin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purchase = 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cash_return = 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Y = S1;</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end</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end</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endcase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end</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State change with clock edge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always @(posedge Reset, posedge Clock) begin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if (Reset == 1) begin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y &lt;= 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MV &lt;= 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end else begin</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if </a:t>
            </a:r>
            <a:r>
              <a:rPr b="0" i="0" lang="en-US" sz="1200" u="none" cap="none" strike="noStrike">
                <a:solidFill>
                  <a:srgbClr val="000000"/>
                </a:solidFill>
                <a:highlight>
                  <a:srgbClr val="FFFF00"/>
                </a:highlight>
                <a:latin typeface="Arial"/>
                <a:ea typeface="Arial"/>
                <a:cs typeface="Arial"/>
                <a:sym typeface="Arial"/>
              </a:rPr>
              <a:t>(purchase | Tk_Cl == 0)</a:t>
            </a:r>
            <a:endParaRPr b="0" i="0" sz="1200" u="none" cap="none" strike="noStrike">
              <a:solidFill>
                <a:srgbClr val="000000"/>
              </a:solidFill>
              <a:highlight>
                <a:srgbClr val="FFFF00"/>
              </a:highlight>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MV &lt;= 0;</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else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highlight>
                  <a:srgbClr val="FFFF00"/>
                </a:highlight>
              </a:rPr>
              <a:t>  MV &lt;= MV + Tk_Cl;</a:t>
            </a:r>
            <a:endParaRPr b="1" i="0" sz="1200" u="none" cap="none" strike="noStrike">
              <a:solidFill>
                <a:srgbClr val="000000"/>
              </a:solidFill>
              <a:highlight>
                <a:srgbClr val="FFFF00"/>
              </a:highlight>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y &lt;= Y;</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    end</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end</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rgbClr val="000000"/>
                </a:solidFill>
                <a:latin typeface="Arial"/>
                <a:ea typeface="Arial"/>
                <a:cs typeface="Arial"/>
                <a:sym typeface="Arial"/>
              </a:rPr>
              <a:t>endmodule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p:txBody>
      </p:sp>
      <p:cxnSp>
        <p:nvCxnSpPr>
          <p:cNvPr id="132" name="Google Shape;132;p8"/>
          <p:cNvCxnSpPr/>
          <p:nvPr/>
        </p:nvCxnSpPr>
        <p:spPr>
          <a:xfrm flipH="1" rot="10800000">
            <a:off x="1057250" y="457125"/>
            <a:ext cx="5701800" cy="6304200"/>
          </a:xfrm>
          <a:prstGeom prst="straightConnector1">
            <a:avLst/>
          </a:prstGeom>
          <a:noFill/>
          <a:ln cap="flat" cmpd="sng" w="25400">
            <a:solidFill>
              <a:srgbClr val="FF0000"/>
            </a:solidFill>
            <a:prstDash val="solid"/>
            <a:round/>
            <a:headEnd len="sm" w="sm"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idx="12" type="sldNum"/>
          </p:nvPr>
        </p:nvSpPr>
        <p:spPr>
          <a:xfrm>
            <a:off x="8610600" y="6424613"/>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8" name="Google Shape;138;p9"/>
          <p:cNvSpPr txBox="1"/>
          <p:nvPr/>
        </p:nvSpPr>
        <p:spPr>
          <a:xfrm>
            <a:off x="888096" y="1080388"/>
            <a:ext cx="10504800" cy="400200"/>
          </a:xfrm>
          <a:prstGeom prst="rect">
            <a:avLst/>
          </a:prstGeom>
          <a:solidFill>
            <a:schemeClr val="lt1"/>
          </a:solidFill>
          <a:ln cap="flat" cmpd="sng" w="76200">
            <a:solidFill>
              <a:srgbClr val="66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chemeClr val="dk1"/>
                </a:solidFill>
                <a:latin typeface="Arial"/>
                <a:ea typeface="Arial"/>
                <a:cs typeface="Arial"/>
                <a:sym typeface="Arial"/>
              </a:rPr>
              <a:t>For PV=14 tk; money= 5 tk + 5 tk + 0 tk + 0 tk+ 5tk + 5tk + 5 tk</a:t>
            </a:r>
            <a:endParaRPr b="0" i="0" sz="2000" u="none" cap="none" strike="noStrike">
              <a:solidFill>
                <a:schemeClr val="dk1"/>
              </a:solidFill>
              <a:latin typeface="Arial"/>
              <a:ea typeface="Arial"/>
              <a:cs typeface="Arial"/>
              <a:sym typeface="Arial"/>
            </a:endParaRPr>
          </a:p>
        </p:txBody>
      </p:sp>
      <p:pic>
        <p:nvPicPr>
          <p:cNvPr id="139" name="Google Shape;139;p9"/>
          <p:cNvPicPr preferRelativeResize="0"/>
          <p:nvPr/>
        </p:nvPicPr>
        <p:blipFill rotWithShape="1">
          <a:blip r:embed="rId3">
            <a:alphaModFix/>
          </a:blip>
          <a:srcRect b="0" l="3848" r="0" t="0"/>
          <a:stretch/>
        </p:blipFill>
        <p:spPr>
          <a:xfrm>
            <a:off x="40005" y="3689668"/>
            <a:ext cx="12151994" cy="2583815"/>
          </a:xfrm>
          <a:prstGeom prst="rect">
            <a:avLst/>
          </a:prstGeom>
          <a:noFill/>
          <a:ln>
            <a:noFill/>
          </a:ln>
        </p:spPr>
      </p:pic>
      <p:sp>
        <p:nvSpPr>
          <p:cNvPr id="140" name="Google Shape;140;p9"/>
          <p:cNvSpPr txBox="1"/>
          <p:nvPr/>
        </p:nvSpPr>
        <p:spPr>
          <a:xfrm>
            <a:off x="927100" y="1845322"/>
            <a:ext cx="10426800" cy="1015800"/>
          </a:xfrm>
          <a:prstGeom prst="rect">
            <a:avLst/>
          </a:prstGeom>
          <a:solidFill>
            <a:schemeClr val="lt1"/>
          </a:solidFill>
          <a:ln cap="flat" cmpd="sng" w="76200">
            <a:solidFill>
              <a:srgbClr val="66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Arial"/>
                <a:ea typeface="Arial"/>
                <a:cs typeface="Arial"/>
                <a:sym typeface="Arial"/>
              </a:rPr>
              <a:t>Remember the 2 steps from exp-4:</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chemeClr val="dk1"/>
                </a:solidFill>
                <a:latin typeface="Arial"/>
                <a:ea typeface="Arial"/>
                <a:cs typeface="Arial"/>
                <a:sym typeface="Arial"/>
              </a:rPr>
              <a:t>1.Invert the Clock</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chemeClr val="dk1"/>
                </a:solidFill>
                <a:latin typeface="Arial"/>
                <a:ea typeface="Arial"/>
                <a:cs typeface="Arial"/>
                <a:sym typeface="Arial"/>
              </a:rPr>
              <a:t>2. Add a little offset (10ps here) to the input waveforms cash_in and PV.</a:t>
            </a:r>
            <a:endParaRPr b="0" i="0" sz="2000" u="none" cap="none" strike="noStrike">
              <a:solidFill>
                <a:schemeClr val="dk1"/>
              </a:solidFill>
              <a:latin typeface="Arial"/>
              <a:ea typeface="Arial"/>
              <a:cs typeface="Arial"/>
              <a:sym typeface="Arial"/>
            </a:endParaRPr>
          </a:p>
        </p:txBody>
      </p:sp>
      <p:sp>
        <p:nvSpPr>
          <p:cNvPr id="141" name="Google Shape;141;p9"/>
          <p:cNvSpPr txBox="1"/>
          <p:nvPr>
            <p:ph type="title"/>
          </p:nvPr>
        </p:nvSpPr>
        <p:spPr>
          <a:xfrm>
            <a:off x="-12450" y="-1"/>
            <a:ext cx="12192000" cy="715800"/>
          </a:xfrm>
          <a:prstGeom prst="rect">
            <a:avLst/>
          </a:prstGeom>
          <a:solidFill>
            <a:srgbClr val="660000"/>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accent1"/>
              </a:buClr>
              <a:buSzPts val="3960"/>
              <a:buFont typeface="Times New Roman"/>
              <a:buNone/>
            </a:pPr>
            <a:r>
              <a:rPr b="1" lang="en-US" sz="2600">
                <a:solidFill>
                  <a:schemeClr val="lt1"/>
                </a:solidFill>
                <a:latin typeface="Times New Roman"/>
                <a:ea typeface="Times New Roman"/>
                <a:cs typeface="Times New Roman"/>
                <a:sym typeface="Times New Roman"/>
              </a:rPr>
              <a:t>Variable Product Case (Test Case-1)</a:t>
            </a:r>
            <a:endParaRPr b="1" sz="2600">
              <a:solidFill>
                <a:schemeClr val="lt1"/>
              </a:solidFill>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CSE 460: VLSI Design</a:t>
            </a:r>
            <a:endParaRPr/>
          </a:p>
        </p:txBody>
      </p:sp>
      <p:sp>
        <p:nvSpPr>
          <p:cNvPr id="147" name="Google Shape;14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8" name="Google Shape;148;p10"/>
          <p:cNvSpPr txBox="1"/>
          <p:nvPr/>
        </p:nvSpPr>
        <p:spPr>
          <a:xfrm>
            <a:off x="684777" y="1035375"/>
            <a:ext cx="8056800" cy="1015800"/>
          </a:xfrm>
          <a:prstGeom prst="rect">
            <a:avLst/>
          </a:prstGeom>
          <a:solidFill>
            <a:schemeClr val="lt1"/>
          </a:solidFill>
          <a:ln cap="flat" cmpd="sng" w="76200">
            <a:solidFill>
              <a:srgbClr val="66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chemeClr val="dk1"/>
                </a:solidFill>
                <a:latin typeface="Arial"/>
                <a:ea typeface="Arial"/>
                <a:cs typeface="Arial"/>
                <a:sym typeface="Arial"/>
              </a:rPr>
              <a:t>For PV=16 tk; money= 5 tk + 0 tk +5 tk + 10 tk + 20 tk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2000" u="none" cap="none" strike="noStrike">
                <a:solidFill>
                  <a:schemeClr val="dk1"/>
                </a:solidFill>
                <a:latin typeface="Arial"/>
                <a:ea typeface="Arial"/>
                <a:cs typeface="Arial"/>
                <a:sym typeface="Arial"/>
              </a:rPr>
              <a:t>(again follow the two steps: Clock inversion and offset insertion.)</a:t>
            </a:r>
            <a:endParaRPr b="0" i="0" sz="2000" u="none" cap="none" strike="noStrike">
              <a:solidFill>
                <a:schemeClr val="dk1"/>
              </a:solidFill>
              <a:latin typeface="Arial"/>
              <a:ea typeface="Arial"/>
              <a:cs typeface="Arial"/>
              <a:sym typeface="Arial"/>
            </a:endParaRPr>
          </a:p>
        </p:txBody>
      </p:sp>
      <p:sp>
        <p:nvSpPr>
          <p:cNvPr id="149" name="Google Shape;14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10/08/25</a:t>
            </a:r>
            <a:endParaRPr/>
          </a:p>
        </p:txBody>
      </p:sp>
      <p:pic>
        <p:nvPicPr>
          <p:cNvPr id="150" name="Google Shape;150;p10"/>
          <p:cNvPicPr preferRelativeResize="0"/>
          <p:nvPr/>
        </p:nvPicPr>
        <p:blipFill rotWithShape="1">
          <a:blip r:embed="rId3">
            <a:alphaModFix/>
          </a:blip>
          <a:srcRect b="0" l="0" r="0" t="0"/>
          <a:stretch/>
        </p:blipFill>
        <p:spPr>
          <a:xfrm>
            <a:off x="34400" y="2868025"/>
            <a:ext cx="12098299" cy="2859527"/>
          </a:xfrm>
          <a:prstGeom prst="rect">
            <a:avLst/>
          </a:prstGeom>
          <a:noFill/>
          <a:ln>
            <a:noFill/>
          </a:ln>
        </p:spPr>
      </p:pic>
      <p:sp>
        <p:nvSpPr>
          <p:cNvPr id="151" name="Google Shape;151;p10"/>
          <p:cNvSpPr txBox="1"/>
          <p:nvPr>
            <p:ph type="title"/>
          </p:nvPr>
        </p:nvSpPr>
        <p:spPr>
          <a:xfrm>
            <a:off x="-12450" y="0"/>
            <a:ext cx="12192000" cy="647400"/>
          </a:xfrm>
          <a:prstGeom prst="rect">
            <a:avLst/>
          </a:prstGeom>
          <a:solidFill>
            <a:srgbClr val="660000"/>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accent1"/>
              </a:buClr>
              <a:buSzPts val="3960"/>
              <a:buFont typeface="Times New Roman"/>
              <a:buNone/>
            </a:pPr>
            <a:r>
              <a:rPr b="1" lang="en-US" sz="2600">
                <a:solidFill>
                  <a:schemeClr val="lt1"/>
                </a:solidFill>
                <a:latin typeface="Times New Roman"/>
                <a:ea typeface="Times New Roman"/>
                <a:cs typeface="Times New Roman"/>
                <a:sym typeface="Times New Roman"/>
              </a:rPr>
              <a:t>Variable Product Case (Test Case-2)</a:t>
            </a:r>
            <a:endParaRPr b="1" sz="2600">
              <a:solidFill>
                <a:schemeClr val="lt1"/>
              </a:solidFill>
            </a:endParaRPr>
          </a:p>
        </p:txBody>
      </p:sp>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2025-08-10T17:30:00Z</dcterms:created>
  <dc:creator>nazmul turjo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D355B4BC077448228C4088B6F867355D_12</vt:lpwstr>
  </property>
  <property fmtid="{D5CDD505-2E9C-101B-9397-08002B2CF9AE}" pid="3" name="KSOProductBuildVer">
    <vt:lpwstr>1033-12.2.0.22530</vt:lpwstr>
  </property>
</Properties>
</file>