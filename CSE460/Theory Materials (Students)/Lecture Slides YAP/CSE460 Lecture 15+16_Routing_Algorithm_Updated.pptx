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ip8+OOda6Qi9k2RuEOMpfT7Yid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51D4D9-659B-4B8A-9E87-B7B98BBB421A}">
  <a:tblStyle styleId="{D551D4D9-659B-4B8A-9E87-B7B98BBB42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hyperlink" Target="http://www.facweb.iitkgp.ac.in/~isg/VLSI/SLIDES/Grid-Routing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facweb.iitkgp.ac.in/~isg/VLSI/SLIDES/Grid-Routing.pdf" TargetMode="External"/><Relationship Id="rId4" Type="http://schemas.openxmlformats.org/officeDocument/2006/relationships/hyperlink" Target="http://www.facweb.iitkgp.ac.in/~isg/VLSI/SLIDES/Grid-Routing.pdf" TargetMode="External"/><Relationship Id="rId5" Type="http://schemas.openxmlformats.org/officeDocument/2006/relationships/hyperlink" Target="http://www.facweb.iitkgp.ac.in/~isg/VLSI/SLIDES/Grid-Routing.pdf" TargetMode="External"/><Relationship Id="rId6" Type="http://schemas.openxmlformats.org/officeDocument/2006/relationships/hyperlink" Target="https://www.researchgate.net/publication/3224646_Fundamental_CAD_algorithms" TargetMode="External"/><Relationship Id="rId7" Type="http://schemas.openxmlformats.org/officeDocument/2006/relationships/hyperlink" Target="http://users.eecs.northwestern.edu/~haizhou/357/lec6.pdf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054575"/>
            <a:ext cx="85206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800"/>
              <a:t>CSE460: VLSI Design</a:t>
            </a:r>
            <a:endParaRPr sz="4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6283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Lecture 15+16: VLSI Physical Design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Routing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269950"/>
            <a:ext cx="8520600" cy="27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Routing Approaches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Lee’s Maze Algorithm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Extension of Lee’s Algorithm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Requirements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Introduction</a:t>
            </a:r>
            <a:endParaRPr b="1"/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925" y="1442575"/>
            <a:ext cx="4099376" cy="28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412400" y="1154150"/>
            <a:ext cx="4159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Forming physical connection between pins. First, approx. path (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Routing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then, placing metal line segment (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Routing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phase, the exact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 blocks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determined.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not occupied by the blocks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used for routing and are called as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 regions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kinds of approaches to solve global routing problem: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Approach.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Routing Approaches</a:t>
            </a:r>
            <a:endParaRPr b="1"/>
          </a:p>
        </p:txBody>
      </p:sp>
      <p:sp>
        <p:nvSpPr>
          <p:cNvPr id="74" name="Google Shape;74;p4"/>
          <p:cNvSpPr txBox="1"/>
          <p:nvPr/>
        </p:nvSpPr>
        <p:spPr>
          <a:xfrm>
            <a:off x="1078650" y="1151900"/>
            <a:ext cx="69867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Approach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approach, as the name suggests, pins are routed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by one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is important: once a region has been routed it may block other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nets which are yet to be routed.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i.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Maze routing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ii. Line-probe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iii. Shortest path based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Approach: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approach avoids the ordering problem by considering routing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 nets simultaneously.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sophisticated.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Lee’s Maze Routing algorithms</a:t>
            </a:r>
            <a:endParaRPr b="1"/>
          </a:p>
        </p:txBody>
      </p:sp>
      <p:sp>
        <p:nvSpPr>
          <p:cNvPr id="80" name="Google Shape;80;p5"/>
          <p:cNvSpPr txBox="1"/>
          <p:nvPr/>
        </p:nvSpPr>
        <p:spPr>
          <a:xfrm>
            <a:off x="444350" y="939075"/>
            <a:ext cx="51279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layout surface is assumed to be made up of a rectangular array of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 cells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 cell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square cell where </a:t>
            </a: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wire can cross.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 is to find out the </a:t>
            </a: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shortest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path (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of grid cells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for </a:t>
            </a:r>
            <a:r>
              <a:rPr b="0" i="0" lang="en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connecting two points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(Source,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Target,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using cells, a wire can either </a:t>
            </a: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of the grid cells act as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obstacles (Black Cells)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4500" lvl="0" marL="127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-Blocks that are placed on the surface.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4500" lvl="0" marL="127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-Some nets that are already laid out.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125" y="1705200"/>
            <a:ext cx="20669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243467" y="3132549"/>
            <a:ext cx="554400" cy="42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5"/>
          <p:cNvCxnSpPr>
            <a:stCxn id="82" idx="0"/>
            <a:endCxn id="82" idx="2"/>
          </p:cNvCxnSpPr>
          <p:nvPr/>
        </p:nvCxnSpPr>
        <p:spPr>
          <a:xfrm>
            <a:off x="2520667" y="3132549"/>
            <a:ext cx="0" cy="426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3316252" y="3132549"/>
            <a:ext cx="554400" cy="42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5"/>
          <p:cNvCxnSpPr>
            <a:endCxn id="84" idx="2"/>
          </p:cNvCxnSpPr>
          <p:nvPr/>
        </p:nvCxnSpPr>
        <p:spPr>
          <a:xfrm flipH="1">
            <a:off x="3593452" y="3354249"/>
            <a:ext cx="2700" cy="204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5"/>
          <p:cNvCxnSpPr>
            <a:endCxn id="84" idx="3"/>
          </p:cNvCxnSpPr>
          <p:nvPr/>
        </p:nvCxnSpPr>
        <p:spPr>
          <a:xfrm>
            <a:off x="3596152" y="3344049"/>
            <a:ext cx="274500" cy="1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 txBox="1"/>
          <p:nvPr/>
        </p:nvSpPr>
        <p:spPr>
          <a:xfrm>
            <a:off x="2172900" y="3559265"/>
            <a:ext cx="6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245685" y="3567721"/>
            <a:ext cx="6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Lee’s Algorithm : </a:t>
            </a:r>
            <a:r>
              <a:rPr b="1" i="1" lang="en"/>
              <a:t>Expansion</a:t>
            </a:r>
            <a:endParaRPr b="1" i="1"/>
          </a:p>
        </p:txBody>
      </p:sp>
      <p:sp>
        <p:nvSpPr>
          <p:cNvPr id="94" name="Google Shape;94;p6"/>
          <p:cNvSpPr txBox="1"/>
          <p:nvPr>
            <p:ph idx="1" type="body"/>
          </p:nvPr>
        </p:nvSpPr>
        <p:spPr>
          <a:xfrm>
            <a:off x="311700" y="1017725"/>
            <a:ext cx="47676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72678"/>
              <a:buNone/>
            </a:pPr>
            <a:r>
              <a:rPr b="1" lang="en" sz="1400">
                <a:solidFill>
                  <a:schemeClr val="dk1"/>
                </a:solidFill>
              </a:rPr>
              <a:t>Step 1</a:t>
            </a:r>
            <a:r>
              <a:rPr lang="en" sz="1400">
                <a:solidFill>
                  <a:schemeClr val="dk1"/>
                </a:solidFill>
              </a:rPr>
              <a:t>: Wave propagation - 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Iterative process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Starts at the most adjacent cell of the Source.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Need to find all new cells/grid that are reachable at </a:t>
            </a:r>
            <a:r>
              <a:rPr b="1" i="1" lang="en" sz="1400">
                <a:solidFill>
                  <a:schemeClr val="dk1"/>
                </a:solidFill>
              </a:rPr>
              <a:t>pathlength 1</a:t>
            </a:r>
            <a:r>
              <a:rPr lang="en" sz="1400">
                <a:solidFill>
                  <a:schemeClr val="dk1"/>
                </a:solidFill>
              </a:rPr>
              <a:t>(i.e, all paths that are just 1 unit in total length(just 1 cell)).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Using the </a:t>
            </a:r>
            <a:r>
              <a:rPr b="1" i="1" lang="en" sz="1400">
                <a:solidFill>
                  <a:schemeClr val="dk1"/>
                </a:solidFill>
              </a:rPr>
              <a:t>pathlength 1</a:t>
            </a:r>
            <a:r>
              <a:rPr lang="en" sz="1400">
                <a:solidFill>
                  <a:schemeClr val="dk1"/>
                </a:solidFill>
              </a:rPr>
              <a:t> cells, all new cells which are reachable at </a:t>
            </a:r>
            <a:r>
              <a:rPr b="1" i="1" lang="en" sz="1400">
                <a:solidFill>
                  <a:schemeClr val="dk1"/>
                </a:solidFill>
              </a:rPr>
              <a:t>pathlength 2 </a:t>
            </a:r>
            <a:r>
              <a:rPr lang="en" sz="1400">
                <a:solidFill>
                  <a:schemeClr val="dk1"/>
                </a:solidFill>
              </a:rPr>
              <a:t>can be found.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Process is repeated until the target, </a:t>
            </a:r>
            <a:r>
              <a:rPr b="1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 is reached.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During i</a:t>
            </a:r>
            <a:r>
              <a:rPr baseline="30000" lang="en" sz="1400">
                <a:solidFill>
                  <a:schemeClr val="dk1"/>
                </a:solidFill>
              </a:rPr>
              <a:t>th</a:t>
            </a:r>
            <a:r>
              <a:rPr lang="en" sz="1400">
                <a:solidFill>
                  <a:schemeClr val="dk1"/>
                </a:solidFill>
              </a:rPr>
              <a:t> iteration, </a:t>
            </a:r>
            <a:r>
              <a:rPr lang="en" sz="1400" u="sng">
                <a:solidFill>
                  <a:schemeClr val="dk1"/>
                </a:solidFill>
              </a:rPr>
              <a:t>non‐blocking grid cells</a:t>
            </a:r>
            <a:r>
              <a:rPr lang="en" sz="1400">
                <a:solidFill>
                  <a:schemeClr val="dk1"/>
                </a:solidFill>
              </a:rPr>
              <a:t> at </a:t>
            </a:r>
            <a:r>
              <a:rPr lang="en" sz="1400">
                <a:solidFill>
                  <a:srgbClr val="FF9900"/>
                </a:solidFill>
              </a:rPr>
              <a:t>Manhattan distance</a:t>
            </a:r>
            <a:r>
              <a:rPr lang="en" sz="1400">
                <a:solidFill>
                  <a:schemeClr val="dk1"/>
                </a:solidFill>
              </a:rPr>
              <a:t> of i from grid cell </a:t>
            </a:r>
            <a:r>
              <a:rPr b="1" lang="en" sz="1400">
                <a:solidFill>
                  <a:schemeClr val="dk1"/>
                </a:solidFill>
              </a:rPr>
              <a:t>S</a:t>
            </a:r>
            <a:r>
              <a:rPr lang="en" sz="1400">
                <a:solidFill>
                  <a:schemeClr val="dk1"/>
                </a:solidFill>
              </a:rPr>
              <a:t> are all </a:t>
            </a:r>
            <a:r>
              <a:rPr lang="en" sz="1400" u="sng">
                <a:solidFill>
                  <a:schemeClr val="dk1"/>
                </a:solidFill>
              </a:rPr>
              <a:t>labeled with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i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0125" y="647500"/>
            <a:ext cx="2417450" cy="25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1062175" y="4234450"/>
            <a:ext cx="3000000" cy="79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Manhattan distance is the number of strides (horizontal and/or vertical) required to reach a cell.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82450" y="4030500"/>
            <a:ext cx="7266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 rot="5400000">
            <a:off x="5668500" y="4037525"/>
            <a:ext cx="7611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779175" y="4073225"/>
            <a:ext cx="11928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1  S   1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 rot="5400000">
            <a:off x="6749050" y="4048375"/>
            <a:ext cx="1227000" cy="2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991675" y="3824850"/>
            <a:ext cx="726600" cy="72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21442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2124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214425" y="355017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99167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743717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7214425" y="4486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9916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74797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175800" y="39891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908500" y="37356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5908500" y="42840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630425" y="39891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6"/>
          <p:cNvCxnSpPr>
            <a:endCxn id="110" idx="2"/>
          </p:cNvCxnSpPr>
          <p:nvPr/>
        </p:nvCxnSpPr>
        <p:spPr>
          <a:xfrm rot="10800000">
            <a:off x="6316350" y="4284000"/>
            <a:ext cx="15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6"/>
          <p:cNvSpPr txBox="1"/>
          <p:nvPr/>
        </p:nvSpPr>
        <p:spPr>
          <a:xfrm>
            <a:off x="5682450" y="4677900"/>
            <a:ext cx="1096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adjacent cell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Lee’s Algorithm</a:t>
            </a:r>
            <a:endParaRPr b="1"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311700" y="1260150"/>
            <a:ext cx="40473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</a:rPr>
              <a:t>Step 1</a:t>
            </a:r>
            <a:r>
              <a:rPr lang="en" sz="1400">
                <a:solidFill>
                  <a:schemeClr val="dk1"/>
                </a:solidFill>
              </a:rPr>
              <a:t>: Wave propagation (contd)-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</a:rPr>
              <a:t>Labeling</a:t>
            </a:r>
            <a:r>
              <a:rPr lang="en" sz="1400">
                <a:solidFill>
                  <a:schemeClr val="dk1"/>
                </a:solidFill>
              </a:rPr>
              <a:t> continues until the target grid cell </a:t>
            </a:r>
            <a:r>
              <a:rPr b="1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 is marked in iteration L (i.e. when i=L0).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L0 is the length of the shortest path.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311700" y="2821625"/>
            <a:ext cx="48447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 fails if: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T is not reached and no new grid cells can be labeled during  step i.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T is not reached and i equals M, some upper bound on the path length.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525" y="1017725"/>
            <a:ext cx="2261200" cy="1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5246425" y="1702975"/>
            <a:ext cx="540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8525" y="3062950"/>
            <a:ext cx="2333925" cy="1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5246425" y="3691300"/>
            <a:ext cx="540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7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814125" y="2713838"/>
            <a:ext cx="450000" cy="309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Lee’s Algorithm</a:t>
            </a:r>
            <a:endParaRPr b="1"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311700" y="1221575"/>
            <a:ext cx="49734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</a:rPr>
              <a:t>Step 2</a:t>
            </a:r>
            <a:r>
              <a:rPr lang="en" sz="1400">
                <a:solidFill>
                  <a:schemeClr val="dk1"/>
                </a:solidFill>
              </a:rPr>
              <a:t>: Retrace-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Systematically </a:t>
            </a:r>
            <a:r>
              <a:rPr lang="en" sz="1400" u="sng">
                <a:solidFill>
                  <a:schemeClr val="dk1"/>
                </a:solidFill>
              </a:rPr>
              <a:t>backtrack</a:t>
            </a:r>
            <a:r>
              <a:rPr lang="en" sz="1400">
                <a:solidFill>
                  <a:schemeClr val="dk1"/>
                </a:solidFill>
              </a:rPr>
              <a:t> from the target cell </a:t>
            </a:r>
            <a:r>
              <a:rPr b="1" lang="en" sz="1400">
                <a:solidFill>
                  <a:schemeClr val="dk1"/>
                </a:solidFill>
              </a:rPr>
              <a:t>T</a:t>
            </a:r>
            <a:r>
              <a:rPr lang="en" sz="1400">
                <a:solidFill>
                  <a:schemeClr val="dk1"/>
                </a:solidFill>
              </a:rPr>
              <a:t> back towards the source cell </a:t>
            </a:r>
            <a:r>
              <a:rPr b="1" lang="en" sz="1400">
                <a:solidFill>
                  <a:schemeClr val="dk1"/>
                </a:solidFill>
              </a:rPr>
              <a:t>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If T was reached during step i, then at least one grid cell adjacent to it will be labeled i‐1, and so 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By tracing the numbered cells in descending order, we can reach S following the shortest path.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11700" y="3381800"/>
            <a:ext cx="4629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practice,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of thumb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to change the direction of retrace unless one has to do so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Minimizes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number of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100" y="1684725"/>
            <a:ext cx="2650675" cy="18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Lee’s Algorithm</a:t>
            </a:r>
            <a:endParaRPr b="1"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311700" y="1285950"/>
            <a:ext cx="49734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chemeClr val="dk1"/>
                </a:solidFill>
              </a:rPr>
              <a:t>Step 3</a:t>
            </a:r>
            <a:r>
              <a:rPr lang="en" sz="1400">
                <a:solidFill>
                  <a:schemeClr val="dk1"/>
                </a:solidFill>
              </a:rPr>
              <a:t>: Label clearance-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All labeled cells except those corresponding to the path just found are </a:t>
            </a:r>
            <a:r>
              <a:rPr b="1" lang="en" sz="1400">
                <a:solidFill>
                  <a:schemeClr val="dk1"/>
                </a:solidFill>
              </a:rPr>
              <a:t>cleared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Cells along the path are marked as </a:t>
            </a:r>
            <a:r>
              <a:rPr b="1" lang="en" sz="1400">
                <a:solidFill>
                  <a:schemeClr val="dk1"/>
                </a:solidFill>
              </a:rPr>
              <a:t>obstacles</a:t>
            </a:r>
            <a:r>
              <a:rPr lang="en" sz="1400">
                <a:solidFill>
                  <a:schemeClr val="dk1"/>
                </a:solidFill>
              </a:rPr>
              <a:t>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400">
                <a:solidFill>
                  <a:schemeClr val="dk1"/>
                </a:solidFill>
              </a:rPr>
              <a:t>Search complexity is as involved as the wave propagation step itself.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500" y="1469525"/>
            <a:ext cx="2972125" cy="2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687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routing problem: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1543050" y="253525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68725"/>
            <a:ext cx="3771900" cy="2348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813" y="1568725"/>
            <a:ext cx="3762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2"/>
          <p:cNvSpPr txBox="1"/>
          <p:nvPr/>
        </p:nvSpPr>
        <p:spPr>
          <a:xfrm>
            <a:off x="1568775" y="2542075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2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1568775" y="2542075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3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83013"/>
            <a:ext cx="377190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19083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4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50" y="1632875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32875"/>
            <a:ext cx="3771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61686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5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1972613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6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61686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7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88" y="1632175"/>
            <a:ext cx="378142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88" y="1632175"/>
            <a:ext cx="37719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14575" y="11316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Backtrace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576763" y="1134013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Clear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50" y="1645725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50513"/>
            <a:ext cx="378142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311700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Final output (Mark):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225" y="181937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5400675" y="1821100"/>
            <a:ext cx="3150300" cy="233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Marked region is now blocked.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wave cannot propagate through this merged region unless the same S has another target 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source has another target T, then whole marked (</a:t>
            </a:r>
            <a:r>
              <a:rPr b="0" i="0" lang="en" sz="14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region will be considered as Source, 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we will explore in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311700" y="5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Multi-Terminal Nets </a:t>
            </a:r>
            <a:endParaRPr/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495000" y="491550"/>
            <a:ext cx="85206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Propagate wave from the source s to the closet target.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terminals (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out of 5) of the net is treated as source, and the rest as targets.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wave is propagated from the source until one of the targets is reached.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cells in the marked  path are next labeled as source cells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,(total path from A-B is considered as 1 source) and the remaining unconnected terminals as targets.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Propagate wave from ALL s cells to the other cells.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Continue until all cells are reached.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Apply heuristics to further reduce the tree cost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38" y="2502050"/>
            <a:ext cx="7087380" cy="195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210900" y="4456675"/>
            <a:ext cx="880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(a) A as source; B-E as targets  (b) A-B as source; C-E as Targets. (c) all paths from source to target were found (d) optimized path from A-B (</a:t>
            </a:r>
            <a:r>
              <a:rPr b="0" i="1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bend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11700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Step 1 to 3: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25" name="Google Shape;2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1747000"/>
            <a:ext cx="3762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>
            <p:ph idx="1" type="body"/>
          </p:nvPr>
        </p:nvSpPr>
        <p:spPr>
          <a:xfrm>
            <a:off x="4645825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Step 1 to 3 (Again):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825" y="1751763"/>
            <a:ext cx="37719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300" y="1747013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5825" y="1747000"/>
            <a:ext cx="3771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311688" y="4490750"/>
            <a:ext cx="8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Ref. [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389050" y="457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Example 2: Extension of Lee’s algorithm[Multi point nets/ Target]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25" y="1494938"/>
            <a:ext cx="37719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5831375" y="1891375"/>
            <a:ext cx="2462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8525" y="1490188"/>
            <a:ext cx="3762375" cy="236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20"/>
          <p:cNvCxnSpPr/>
          <p:nvPr/>
        </p:nvCxnSpPr>
        <p:spPr>
          <a:xfrm>
            <a:off x="5638975" y="3580075"/>
            <a:ext cx="17274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20"/>
          <p:cNvSpPr txBox="1"/>
          <p:nvPr/>
        </p:nvSpPr>
        <p:spPr>
          <a:xfrm>
            <a:off x="5135249" y="41215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     Finding Path-1; From S to 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1196575" y="4134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     Initial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1757825" y="432150"/>
            <a:ext cx="66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2 : [Multi point nets/ Target]</a:t>
            </a:r>
            <a:endParaRPr/>
          </a:p>
        </p:txBody>
      </p:sp>
      <p:pic>
        <p:nvPicPr>
          <p:cNvPr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1747000"/>
            <a:ext cx="3762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825" y="1751763"/>
            <a:ext cx="37719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300" y="1747013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5825" y="1747000"/>
            <a:ext cx="3771900" cy="236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21"/>
          <p:cNvCxnSpPr/>
          <p:nvPr/>
        </p:nvCxnSpPr>
        <p:spPr>
          <a:xfrm>
            <a:off x="5353075" y="3863675"/>
            <a:ext cx="1727400" cy="1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21"/>
          <p:cNvCxnSpPr/>
          <p:nvPr/>
        </p:nvCxnSpPr>
        <p:spPr>
          <a:xfrm>
            <a:off x="5418850" y="2535925"/>
            <a:ext cx="12900" cy="7734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21"/>
          <p:cNvSpPr txBox="1"/>
          <p:nvPr/>
        </p:nvSpPr>
        <p:spPr>
          <a:xfrm>
            <a:off x="5011149" y="42868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     Finding Path-2; From </a:t>
            </a:r>
            <a:r>
              <a:rPr b="1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755849" y="42868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     S-T2 path as a source, </a:t>
            </a:r>
            <a:r>
              <a:rPr b="1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3: CW/HW</a:t>
            </a:r>
            <a:endParaRPr/>
          </a:p>
        </p:txBody>
      </p:sp>
      <p:pic>
        <p:nvPicPr>
          <p:cNvPr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6900" y="1104600"/>
            <a:ext cx="32766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2390800" y="4302000"/>
            <a:ext cx="4020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shortest path for each Target.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the memory usage.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Memory Requirement</a:t>
            </a:r>
            <a:endParaRPr b="1"/>
          </a:p>
        </p:txBody>
      </p:sp>
      <p:sp>
        <p:nvSpPr>
          <p:cNvPr id="267" name="Google Shape;267;p23"/>
          <p:cNvSpPr txBox="1"/>
          <p:nvPr>
            <p:ph idx="1" type="body"/>
          </p:nvPr>
        </p:nvSpPr>
        <p:spPr>
          <a:xfrm>
            <a:off x="311700" y="1538250"/>
            <a:ext cx="41631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cell needs to store a number between 1 and L, where L is some bound on the maximum path length.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i="1" lang="en" sz="1500">
                <a:solidFill>
                  <a:schemeClr val="dk1"/>
                </a:solidFill>
              </a:rPr>
              <a:t>M x N</a:t>
            </a:r>
            <a:r>
              <a:rPr lang="en" sz="1500">
                <a:solidFill>
                  <a:schemeClr val="dk1"/>
                </a:solidFill>
              </a:rPr>
              <a:t> grid, </a:t>
            </a:r>
            <a:r>
              <a:rPr b="1" i="1" lang="en" sz="1500">
                <a:solidFill>
                  <a:schemeClr val="dk1"/>
                </a:solidFill>
              </a:rPr>
              <a:t>L </a:t>
            </a:r>
            <a:r>
              <a:rPr lang="en" sz="1500">
                <a:solidFill>
                  <a:schemeClr val="dk1"/>
                </a:solidFill>
              </a:rPr>
              <a:t>can be at most </a:t>
            </a:r>
            <a:r>
              <a:rPr b="1" i="1" lang="en" sz="1500">
                <a:solidFill>
                  <a:schemeClr val="dk1"/>
                </a:solidFill>
              </a:rPr>
              <a:t>M+N‐1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Two things</a:t>
            </a:r>
            <a:r>
              <a:rPr lang="en" sz="1500">
                <a:solidFill>
                  <a:schemeClr val="dk1"/>
                </a:solidFill>
              </a:rPr>
              <a:t> yet to be denoted: 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empty cell/obstacle.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</a:rPr>
              <a:t>So,</a:t>
            </a:r>
            <a:r>
              <a:rPr b="1" i="1" lang="en" sz="1500">
                <a:solidFill>
                  <a:schemeClr val="dk1"/>
                </a:solidFill>
              </a:rPr>
              <a:t> n = ceil(log</a:t>
            </a:r>
            <a:r>
              <a:rPr b="1" baseline="-25000" i="1" lang="en" sz="1500">
                <a:solidFill>
                  <a:schemeClr val="dk1"/>
                </a:solidFill>
              </a:rPr>
              <a:t>2</a:t>
            </a:r>
            <a:r>
              <a:rPr b="1" i="1" lang="en" sz="1500">
                <a:solidFill>
                  <a:schemeClr val="dk1"/>
                </a:solidFill>
              </a:rPr>
              <a:t>(L+2))</a:t>
            </a:r>
            <a:r>
              <a:rPr lang="en" sz="1500">
                <a:solidFill>
                  <a:schemeClr val="dk1"/>
                </a:solidFill>
              </a:rPr>
              <a:t> bits per cell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</a:rPr>
              <a:t>Total memory = (</a:t>
            </a:r>
            <a:r>
              <a:rPr b="1" i="1" lang="en" sz="1500">
                <a:solidFill>
                  <a:schemeClr val="dk1"/>
                </a:solidFill>
              </a:rPr>
              <a:t>M x N x n) </a:t>
            </a:r>
            <a:r>
              <a:rPr lang="en" sz="1500">
                <a:solidFill>
                  <a:schemeClr val="dk1"/>
                </a:solidFill>
              </a:rPr>
              <a:t>bits 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268" name="Google Shape;268;p23"/>
          <p:cNvGraphicFramePr/>
          <p:nvPr/>
        </p:nvGraphicFramePr>
        <p:xfrm>
          <a:off x="4893750" y="169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{D551D4D9-659B-4B8A-9E87-B7B98BBB421A}</a:tableStyleId>
              </a:tblPr>
              <a:tblGrid>
                <a:gridCol w="858200"/>
                <a:gridCol w="858200"/>
                <a:gridCol w="858200"/>
                <a:gridCol w="858200"/>
              </a:tblGrid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3"/>
          <p:cNvSpPr txBox="1"/>
          <p:nvPr/>
        </p:nvSpPr>
        <p:spPr>
          <a:xfrm>
            <a:off x="4739200" y="3688800"/>
            <a:ext cx="37419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3 x 4 grid, 3 bits are required per cell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memory = 36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Memory Requirement</a:t>
            </a:r>
            <a:endParaRPr b="1"/>
          </a:p>
        </p:txBody>
      </p:sp>
      <p:sp>
        <p:nvSpPr>
          <p:cNvPr id="275" name="Google Shape;275;p24"/>
          <p:cNvSpPr txBox="1"/>
          <p:nvPr/>
        </p:nvSpPr>
        <p:spPr>
          <a:xfrm>
            <a:off x="1144450" y="1104225"/>
            <a:ext cx="63009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b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 x 2000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 = log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(4001) = 12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Memory required = 2000 x 2000 x 12 bits = </a:t>
            </a:r>
            <a:r>
              <a:rPr b="1" i="0" lang="en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Mbytes</a:t>
            </a:r>
            <a:b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3000 x 3000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 = log</a:t>
            </a:r>
            <a:r>
              <a:rPr b="0" baseline="-2500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(6001) = 13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Memory required = 3000 x 3000 x 13 bits = </a:t>
            </a:r>
            <a:r>
              <a:rPr b="1" i="0" lang="en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14.6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Mbytes</a:t>
            </a:r>
            <a:b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memory requirement calculations, the maximum path length (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always considered to be (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M+N-1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if the sequence is a series of natural numbers (1,2,3,4,5,....). Actual path length can be lower or equal to this value. If we use a repeating sequence, L is total number of unique entity.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Memory Optimization</a:t>
            </a:r>
            <a:endParaRPr b="1"/>
          </a:p>
        </p:txBody>
      </p:sp>
      <p:sp>
        <p:nvSpPr>
          <p:cNvPr id="281" name="Google Shape;281;p25"/>
          <p:cNvSpPr txBox="1"/>
          <p:nvPr/>
        </p:nvSpPr>
        <p:spPr>
          <a:xfrm>
            <a:off x="397950" y="1980325"/>
            <a:ext cx="4566000" cy="301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12700" rtl="0" algn="l">
              <a:lnSpc>
                <a:spcPct val="145454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using the sequence </a:t>
            </a:r>
            <a:r>
              <a:rPr b="0" i="0" lang="en" sz="1500" u="sng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1,2,3,4,5</a:t>
            </a:r>
            <a:r>
              <a:rPr b="0" i="0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,…..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numbering the  cells, the sequence </a:t>
            </a:r>
            <a:r>
              <a:rPr b="0" i="0" lang="en" sz="1500" u="sng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1,2,3</a:t>
            </a:r>
            <a:r>
              <a:rPr b="0" i="0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" sz="1500" u="sng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1,2,3</a:t>
            </a:r>
            <a:r>
              <a:rPr b="0" i="0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,… 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used.(</a:t>
            </a:r>
            <a:r>
              <a:rPr b="1" i="1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L=3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1270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cell, labels of predecessors and successors are  different. So tracing back is easy.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Char char="●"/>
            </a:pPr>
            <a:r>
              <a:rPr b="1" i="1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ceil(log</a:t>
            </a:r>
            <a:r>
              <a:rPr b="1" baseline="-25000" i="1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1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(3+2))  = 3</a:t>
            </a:r>
            <a:r>
              <a:rPr b="0" i="0" lang="en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bits per cell.</a:t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986725" y="4465300"/>
            <a:ext cx="2578500" cy="36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r>
              <a:rPr b="0" i="0" lang="en" sz="13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Mbytes for 2000 x 2000 grid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2206950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7781650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7234875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723487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832842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7781650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781067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668812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8328425" y="41510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6688100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8328425" y="3376825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6131300" y="41510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614137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5661500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563267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5155900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8328425" y="30123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8328425" y="26217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5679775" y="3376825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7752550" y="2621788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5126800" y="37865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7234875" y="26217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5661500" y="30123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5155900" y="3422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6141375" y="3012313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8328425" y="2234688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7781650" y="22346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6141325" y="2649245"/>
            <a:ext cx="42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6717200" y="262177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7234875" y="22346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3" name="Google Shape;313;p25"/>
          <p:cNvCxnSpPr/>
          <p:nvPr/>
        </p:nvCxnSpPr>
        <p:spPr>
          <a:xfrm flipH="1" rot="10800000">
            <a:off x="6007638" y="4261200"/>
            <a:ext cx="1376100" cy="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25"/>
          <p:cNvCxnSpPr/>
          <p:nvPr/>
        </p:nvCxnSpPr>
        <p:spPr>
          <a:xfrm>
            <a:off x="5987350" y="3122400"/>
            <a:ext cx="0" cy="113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25"/>
          <p:cNvSpPr txBox="1"/>
          <p:nvPr/>
        </p:nvSpPr>
        <p:spPr>
          <a:xfrm>
            <a:off x="368875" y="513025"/>
            <a:ext cx="8520600" cy="97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Akers’s Observations (1967)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Adjacent labels for k are either k − 1 or k + 1. Need a labeling scheme such that each label has its preceding label different from its succeeding label.       </a:t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958600" y="1546942"/>
            <a:ext cx="1036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WAY 1</a:t>
            </a:r>
            <a:endParaRPr b="1" i="1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311700" y="148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Memory Optimization [</a:t>
            </a:r>
            <a:r>
              <a:rPr b="1" i="1" lang="en"/>
              <a:t>Minimum Cost</a:t>
            </a:r>
            <a:r>
              <a:rPr b="1" lang="en"/>
              <a:t>]</a:t>
            </a:r>
            <a:endParaRPr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311700" y="1590850"/>
            <a:ext cx="4260300" cy="226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95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Use the sequence </a:t>
            </a:r>
            <a:r>
              <a:rPr lang="en" sz="1500">
                <a:solidFill>
                  <a:srgbClr val="CC0000"/>
                </a:solidFill>
              </a:rPr>
              <a:t>0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4A86E8"/>
                </a:solidFill>
              </a:rPr>
              <a:t>0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CC0000"/>
                </a:solidFill>
              </a:rPr>
              <a:t>1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4A86E8"/>
                </a:solidFill>
              </a:rPr>
              <a:t>1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CC0000"/>
                </a:solidFill>
              </a:rPr>
              <a:t>0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4A86E8"/>
                </a:solidFill>
              </a:rPr>
              <a:t>0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CC0000"/>
                </a:solidFill>
              </a:rPr>
              <a:t>1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4A86E8"/>
                </a:solidFill>
              </a:rPr>
              <a:t>1</a:t>
            </a:r>
            <a:r>
              <a:rPr lang="en" sz="1500">
                <a:solidFill>
                  <a:srgbClr val="800000"/>
                </a:solidFill>
              </a:rPr>
              <a:t>,….., </a:t>
            </a:r>
            <a:r>
              <a:rPr lang="en" sz="1500">
                <a:solidFill>
                  <a:schemeClr val="dk1"/>
                </a:solidFill>
              </a:rPr>
              <a:t>(</a:t>
            </a:r>
            <a:r>
              <a:rPr b="1" i="1" lang="en" sz="1500">
                <a:solidFill>
                  <a:schemeClr val="dk1"/>
                </a:solidFill>
              </a:rPr>
              <a:t>L=2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rgbClr val="CC0000"/>
                </a:solidFill>
              </a:rPr>
              <a:t>0-&gt; </a:t>
            </a:r>
            <a:r>
              <a:rPr lang="en" sz="1500">
                <a:solidFill>
                  <a:schemeClr val="dk1"/>
                </a:solidFill>
              </a:rPr>
              <a:t>First 0;</a:t>
            </a:r>
            <a:r>
              <a:rPr lang="en" sz="1500">
                <a:solidFill>
                  <a:srgbClr val="CC0000"/>
                </a:solidFill>
              </a:rPr>
              <a:t> 1-&gt; </a:t>
            </a:r>
            <a:r>
              <a:rPr lang="en" sz="1500">
                <a:solidFill>
                  <a:schemeClr val="dk1"/>
                </a:solidFill>
              </a:rPr>
              <a:t>First 1.</a:t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accent1"/>
                </a:solidFill>
              </a:rPr>
              <a:t>0</a:t>
            </a:r>
            <a:r>
              <a:rPr lang="en" sz="1500">
                <a:solidFill>
                  <a:schemeClr val="dk1"/>
                </a:solidFill>
              </a:rPr>
              <a:t>-&gt; Second 0; </a:t>
            </a:r>
            <a:r>
              <a:rPr lang="en" sz="1500">
                <a:solidFill>
                  <a:schemeClr val="accent1"/>
                </a:solidFill>
              </a:rPr>
              <a:t>1</a:t>
            </a:r>
            <a:r>
              <a:rPr lang="en" sz="1500">
                <a:solidFill>
                  <a:schemeClr val="dk1"/>
                </a:solidFill>
              </a:rPr>
              <a:t>-&gt; Second 1.</a:t>
            </a: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Predecessors and successors are again different. </a:t>
            </a:r>
            <a:r>
              <a:rPr lang="en" sz="1500">
                <a:solidFill>
                  <a:srgbClr val="CC0000"/>
                </a:solidFill>
              </a:rPr>
              <a:t>0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4A86E8"/>
                </a:solidFill>
              </a:rPr>
              <a:t>      </a:t>
            </a:r>
            <a:r>
              <a:rPr lang="en" sz="1500">
                <a:solidFill>
                  <a:srgbClr val="800000"/>
                </a:solidFill>
              </a:rPr>
              <a:t>,</a:t>
            </a:r>
            <a:r>
              <a:rPr lang="en" sz="1500">
                <a:solidFill>
                  <a:srgbClr val="CC0000"/>
                </a:solidFill>
              </a:rPr>
              <a:t>1</a:t>
            </a:r>
            <a:endParaRPr sz="1500">
              <a:solidFill>
                <a:srgbClr val="800000"/>
              </a:solidFill>
            </a:endParaRPr>
          </a:p>
          <a:p>
            <a:pPr indent="-3095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" sz="1500">
                <a:solidFill>
                  <a:srgbClr val="800000"/>
                </a:solidFill>
              </a:rPr>
              <a:t>ceil(log</a:t>
            </a:r>
            <a:r>
              <a:rPr b="1" baseline="-25000" i="1" lang="en" sz="1500">
                <a:solidFill>
                  <a:srgbClr val="800000"/>
                </a:solidFill>
              </a:rPr>
              <a:t>2</a:t>
            </a:r>
            <a:r>
              <a:rPr b="1" i="1" lang="en" sz="1500">
                <a:solidFill>
                  <a:srgbClr val="800000"/>
                </a:solidFill>
              </a:rPr>
              <a:t>(2+2)) = 2</a:t>
            </a:r>
            <a:r>
              <a:rPr lang="en" sz="1500">
                <a:solidFill>
                  <a:srgbClr val="800000"/>
                </a:solidFill>
              </a:rPr>
              <a:t> bits per cell.</a:t>
            </a:r>
            <a:endParaRPr sz="1500">
              <a:solidFill>
                <a:srgbClr val="8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>
              <a:solidFill>
                <a:srgbClr val="8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t/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4536000" y="3547450"/>
            <a:ext cx="32739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803250" y="3236950"/>
            <a:ext cx="2578500" cy="36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r>
              <a:rPr b="0" i="0" lang="en" sz="13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Mbytes for 2000 x 2000 grid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5594125" y="4102875"/>
            <a:ext cx="2047800" cy="36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Fig: Minimum Bend Path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3660350" y="2780475"/>
            <a:ext cx="233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1041900" y="2684550"/>
            <a:ext cx="164400" cy="22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775" y="1552813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1855475" y="912142"/>
            <a:ext cx="1036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WAY 2</a:t>
            </a:r>
            <a:endParaRPr b="1" i="1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Memory Requirements - Summary</a:t>
            </a:r>
            <a:endParaRPr/>
          </a:p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For memory requirement calculations, the critical path length (L) is always considered to be (M+N-1) if the sequence is a series of natural numbers (1,2,3,4,5,....). Actual path length can be lower or equal to this value.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If we use a repeating sequence, L is the total number of unique entities. For example, if we use 1,2,3,1,2,3... repeating sequence, L = 3. If the sequence is 0,1,0,1...., L = 2. So, L does not depend on the actual path length for memory calculation.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If you are asked to calculate the memory used by a definite path, that's a different question. Generally, memory requirements denote the maximum memory required to run the algorithm.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4: Using </a:t>
            </a:r>
            <a:r>
              <a:rPr lang="en">
                <a:solidFill>
                  <a:srgbClr val="CC0000"/>
                </a:solidFill>
              </a:rPr>
              <a:t>0</a:t>
            </a:r>
            <a:r>
              <a:rPr lang="en">
                <a:solidFill>
                  <a:srgbClr val="0000FF"/>
                </a:solidFill>
              </a:rPr>
              <a:t>0</a:t>
            </a:r>
            <a:r>
              <a:rPr lang="en">
                <a:solidFill>
                  <a:srgbClr val="CC0000"/>
                </a:solidFill>
              </a:rPr>
              <a:t>1</a:t>
            </a:r>
            <a:r>
              <a:rPr lang="en">
                <a:solidFill>
                  <a:srgbClr val="0000FF"/>
                </a:solidFill>
              </a:rPr>
              <a:t>1</a:t>
            </a:r>
            <a:r>
              <a:rPr lang="en">
                <a:solidFill>
                  <a:srgbClr val="CC0000"/>
                </a:solidFill>
              </a:rPr>
              <a:t>0</a:t>
            </a:r>
            <a:r>
              <a:rPr lang="en">
                <a:solidFill>
                  <a:srgbClr val="0000FF"/>
                </a:solidFill>
              </a:rPr>
              <a:t>0</a:t>
            </a:r>
            <a:r>
              <a:rPr lang="en"/>
              <a:t>… Sequence</a:t>
            </a:r>
            <a:endParaRPr/>
          </a:p>
        </p:txBody>
      </p:sp>
      <p:pic>
        <p:nvPicPr>
          <p:cNvPr id="341" name="Google Shape;3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5430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/>
          <p:nvPr/>
        </p:nvSpPr>
        <p:spPr>
          <a:xfrm>
            <a:off x="4134900" y="2457350"/>
            <a:ext cx="4371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5825" y="15430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5298725" y="4037650"/>
            <a:ext cx="272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Label: </a:t>
            </a:r>
            <a:r>
              <a:rPr b="0" i="0" lang="en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28"/>
          <p:cNvCxnSpPr/>
          <p:nvPr/>
        </p:nvCxnSpPr>
        <p:spPr>
          <a:xfrm flipH="1">
            <a:off x="6557850" y="4453150"/>
            <a:ext cx="731400" cy="3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46" name="Google Shape;346;p28"/>
          <p:cNvCxnSpPr/>
          <p:nvPr/>
        </p:nvCxnSpPr>
        <p:spPr>
          <a:xfrm flipH="1">
            <a:off x="5438350" y="2378850"/>
            <a:ext cx="900" cy="12879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47" name="Google Shape;347;p28"/>
          <p:cNvCxnSpPr/>
          <p:nvPr/>
        </p:nvCxnSpPr>
        <p:spPr>
          <a:xfrm>
            <a:off x="5439250" y="3767750"/>
            <a:ext cx="1246500" cy="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8" name="Google Shape;348;p28"/>
          <p:cNvSpPr txBox="1"/>
          <p:nvPr/>
        </p:nvSpPr>
        <p:spPr>
          <a:xfrm>
            <a:off x="6434850" y="4514600"/>
            <a:ext cx="9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54" name="Google Shape;3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Grid Routing- Lecture 16,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NPTEL Online certification Courses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, IIT Kharagpur.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M. A. Breuer, M. Sarrafzadeh and F. Somenzi, "Fundamental CAD algorithms," in IEEE Transactions on Computer-Aided Design of Integrated Circuits and Systems, vol. 19, no. 12, pp. 1449-1475, Dec. 2000, doi: 10.1109/43.898826.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http://users.eecs.northwestern.edu/~haizhou/357/lec6.pdf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2109600" y="2285400"/>
            <a:ext cx="492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Thank You</a:t>
            </a:r>
            <a:endParaRPr b="1" sz="3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