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media/image42.jpg" ContentType="image/jpe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9" r:id="rId39"/>
    <p:sldId id="295" r:id="rId40"/>
    <p:sldId id="296" r:id="rId41"/>
    <p:sldId id="298" r:id="rId42"/>
    <p:sldId id="293" r:id="rId43"/>
    <p:sldId id="294" r:id="rId44"/>
  </p:sldIdLst>
  <p:sldSz cx="9144000" cy="5143500" type="screen16x9"/>
  <p:notesSz cx="9144000" cy="51435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0" d="100"/>
          <a:sy n="80" d="100"/>
        </p:scale>
        <p:origin x="894" y="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72025" y="505248"/>
            <a:ext cx="8399949" cy="4095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11/16/2025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11/16/2025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11/16/2025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11/16/2025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11/16/2025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415295" y="2266442"/>
            <a:ext cx="2313408" cy="57403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2025" y="1175208"/>
            <a:ext cx="8399949" cy="238632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11/16/2025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jpg"/><Relationship Id="rId4" Type="http://schemas.openxmlformats.org/officeDocument/2006/relationships/image" Target="../media/image11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jpg"/><Relationship Id="rId4" Type="http://schemas.openxmlformats.org/officeDocument/2006/relationships/image" Target="../media/image13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jpg"/><Relationship Id="rId4" Type="http://schemas.openxmlformats.org/officeDocument/2006/relationships/image" Target="../media/image15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g"/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g"/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g"/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g"/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g"/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g"/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g"/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g"/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jp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jp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10757" y="1879854"/>
            <a:ext cx="6514465" cy="817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200" spc="-5" dirty="0">
                <a:latin typeface="Arial MT"/>
                <a:cs typeface="Arial MT"/>
              </a:rPr>
              <a:t>CSE460:</a:t>
            </a:r>
            <a:r>
              <a:rPr sz="5200" spc="-50" dirty="0">
                <a:latin typeface="Arial MT"/>
                <a:cs typeface="Arial MT"/>
              </a:rPr>
              <a:t> </a:t>
            </a:r>
            <a:r>
              <a:rPr sz="5200" spc="-15" dirty="0">
                <a:latin typeface="Arial MT"/>
                <a:cs typeface="Arial MT"/>
              </a:rPr>
              <a:t>VLSI</a:t>
            </a:r>
            <a:r>
              <a:rPr sz="5200" spc="-55" dirty="0">
                <a:latin typeface="Arial MT"/>
                <a:cs typeface="Arial MT"/>
              </a:rPr>
              <a:t> </a:t>
            </a:r>
            <a:r>
              <a:rPr sz="5200" spc="-5" dirty="0">
                <a:latin typeface="Arial MT"/>
                <a:cs typeface="Arial MT"/>
              </a:rPr>
              <a:t>Design</a:t>
            </a:r>
            <a:endParaRPr sz="520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719207" y="2892926"/>
            <a:ext cx="170497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" dirty="0">
                <a:solidFill>
                  <a:srgbClr val="595959"/>
                </a:solidFill>
                <a:latin typeface="Arial MT"/>
                <a:cs typeface="Arial MT"/>
              </a:rPr>
              <a:t>Lecture</a:t>
            </a:r>
            <a:r>
              <a:rPr sz="2800" spc="-9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2800" spc="-5" dirty="0">
                <a:solidFill>
                  <a:srgbClr val="595959"/>
                </a:solidFill>
                <a:latin typeface="Arial MT"/>
                <a:cs typeface="Arial MT"/>
              </a:rPr>
              <a:t>15</a:t>
            </a:r>
            <a:endParaRPr sz="28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996124" y="2693285"/>
            <a:ext cx="500774" cy="1005135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5034381" y="2993085"/>
            <a:ext cx="333375" cy="434975"/>
          </a:xfrm>
          <a:custGeom>
            <a:avLst/>
            <a:gdLst/>
            <a:ahLst/>
            <a:cxnLst/>
            <a:rect l="l" t="t" r="r" b="b"/>
            <a:pathLst>
              <a:path w="333375" h="434975">
                <a:moveTo>
                  <a:pt x="333108" y="24371"/>
                </a:moveTo>
                <a:lnTo>
                  <a:pt x="332854" y="22923"/>
                </a:lnTo>
                <a:lnTo>
                  <a:pt x="332282" y="21602"/>
                </a:lnTo>
                <a:lnTo>
                  <a:pt x="331863" y="20218"/>
                </a:lnTo>
                <a:lnTo>
                  <a:pt x="331419" y="19621"/>
                </a:lnTo>
                <a:lnTo>
                  <a:pt x="331127" y="18935"/>
                </a:lnTo>
                <a:lnTo>
                  <a:pt x="330136" y="17894"/>
                </a:lnTo>
                <a:lnTo>
                  <a:pt x="329272" y="16738"/>
                </a:lnTo>
                <a:lnTo>
                  <a:pt x="328650" y="16319"/>
                </a:lnTo>
                <a:lnTo>
                  <a:pt x="328129" y="15786"/>
                </a:lnTo>
                <a:lnTo>
                  <a:pt x="326847" y="15138"/>
                </a:lnTo>
                <a:lnTo>
                  <a:pt x="325640" y="14351"/>
                </a:lnTo>
                <a:lnTo>
                  <a:pt x="324916" y="14173"/>
                </a:lnTo>
                <a:lnTo>
                  <a:pt x="324243" y="13843"/>
                </a:lnTo>
                <a:lnTo>
                  <a:pt x="322808" y="13677"/>
                </a:lnTo>
                <a:lnTo>
                  <a:pt x="321424" y="13347"/>
                </a:lnTo>
                <a:lnTo>
                  <a:pt x="310362" y="12712"/>
                </a:lnTo>
                <a:lnTo>
                  <a:pt x="305142" y="13462"/>
                </a:lnTo>
                <a:lnTo>
                  <a:pt x="303237" y="14147"/>
                </a:lnTo>
                <a:lnTo>
                  <a:pt x="227965" y="17729"/>
                </a:lnTo>
                <a:lnTo>
                  <a:pt x="167703" y="16929"/>
                </a:lnTo>
                <a:lnTo>
                  <a:pt x="58508" y="8064"/>
                </a:lnTo>
                <a:lnTo>
                  <a:pt x="16129" y="114"/>
                </a:lnTo>
                <a:lnTo>
                  <a:pt x="11379" y="0"/>
                </a:lnTo>
                <a:lnTo>
                  <a:pt x="0" y="13677"/>
                </a:lnTo>
                <a:lnTo>
                  <a:pt x="749" y="17970"/>
                </a:lnTo>
                <a:lnTo>
                  <a:pt x="3149" y="22085"/>
                </a:lnTo>
                <a:lnTo>
                  <a:pt x="6819" y="25107"/>
                </a:lnTo>
                <a:lnTo>
                  <a:pt x="11303" y="26657"/>
                </a:lnTo>
                <a:lnTo>
                  <a:pt x="55816" y="34417"/>
                </a:lnTo>
                <a:lnTo>
                  <a:pt x="167373" y="33261"/>
                </a:lnTo>
                <a:lnTo>
                  <a:pt x="245224" y="34772"/>
                </a:lnTo>
                <a:lnTo>
                  <a:pt x="284289" y="36626"/>
                </a:lnTo>
                <a:lnTo>
                  <a:pt x="271233" y="89649"/>
                </a:lnTo>
                <a:lnTo>
                  <a:pt x="248259" y="200748"/>
                </a:lnTo>
                <a:lnTo>
                  <a:pt x="232638" y="198323"/>
                </a:lnTo>
                <a:lnTo>
                  <a:pt x="204292" y="191960"/>
                </a:lnTo>
                <a:lnTo>
                  <a:pt x="156629" y="183324"/>
                </a:lnTo>
                <a:lnTo>
                  <a:pt x="141579" y="198043"/>
                </a:lnTo>
                <a:lnTo>
                  <a:pt x="142900" y="202666"/>
                </a:lnTo>
                <a:lnTo>
                  <a:pt x="145757" y="206527"/>
                </a:lnTo>
                <a:lnTo>
                  <a:pt x="149783" y="209156"/>
                </a:lnTo>
                <a:lnTo>
                  <a:pt x="154470" y="210197"/>
                </a:lnTo>
                <a:lnTo>
                  <a:pt x="200291" y="214172"/>
                </a:lnTo>
                <a:lnTo>
                  <a:pt x="240385" y="219951"/>
                </a:lnTo>
                <a:lnTo>
                  <a:pt x="244119" y="220789"/>
                </a:lnTo>
                <a:lnTo>
                  <a:pt x="240411" y="238747"/>
                </a:lnTo>
                <a:lnTo>
                  <a:pt x="217144" y="338975"/>
                </a:lnTo>
                <a:lnTo>
                  <a:pt x="215087" y="352399"/>
                </a:lnTo>
                <a:lnTo>
                  <a:pt x="212585" y="421208"/>
                </a:lnTo>
                <a:lnTo>
                  <a:pt x="213334" y="425792"/>
                </a:lnTo>
                <a:lnTo>
                  <a:pt x="215607" y="429844"/>
                </a:lnTo>
                <a:lnTo>
                  <a:pt x="219151" y="432841"/>
                </a:lnTo>
                <a:lnTo>
                  <a:pt x="223507" y="434441"/>
                </a:lnTo>
                <a:lnTo>
                  <a:pt x="228155" y="434441"/>
                </a:lnTo>
                <a:lnTo>
                  <a:pt x="232511" y="432828"/>
                </a:lnTo>
                <a:lnTo>
                  <a:pt x="236042" y="429818"/>
                </a:lnTo>
                <a:lnTo>
                  <a:pt x="238315" y="425767"/>
                </a:lnTo>
                <a:lnTo>
                  <a:pt x="239052" y="421182"/>
                </a:lnTo>
                <a:lnTo>
                  <a:pt x="237439" y="366077"/>
                </a:lnTo>
                <a:lnTo>
                  <a:pt x="239547" y="342239"/>
                </a:lnTo>
                <a:lnTo>
                  <a:pt x="247738" y="298246"/>
                </a:lnTo>
                <a:lnTo>
                  <a:pt x="262966" y="225018"/>
                </a:lnTo>
                <a:lnTo>
                  <a:pt x="274878" y="227685"/>
                </a:lnTo>
                <a:lnTo>
                  <a:pt x="291680" y="233451"/>
                </a:lnTo>
                <a:lnTo>
                  <a:pt x="296125" y="232968"/>
                </a:lnTo>
                <a:lnTo>
                  <a:pt x="300101" y="230936"/>
                </a:lnTo>
                <a:lnTo>
                  <a:pt x="303098" y="227622"/>
                </a:lnTo>
                <a:lnTo>
                  <a:pt x="304723" y="223456"/>
                </a:lnTo>
                <a:lnTo>
                  <a:pt x="304761" y="218986"/>
                </a:lnTo>
                <a:lnTo>
                  <a:pt x="303199" y="214795"/>
                </a:lnTo>
                <a:lnTo>
                  <a:pt x="300253" y="211429"/>
                </a:lnTo>
                <a:lnTo>
                  <a:pt x="294068" y="208635"/>
                </a:lnTo>
                <a:lnTo>
                  <a:pt x="280454" y="205714"/>
                </a:lnTo>
                <a:lnTo>
                  <a:pt x="267398" y="203708"/>
                </a:lnTo>
                <a:lnTo>
                  <a:pt x="281927" y="133870"/>
                </a:lnTo>
                <a:lnTo>
                  <a:pt x="295122" y="81495"/>
                </a:lnTo>
                <a:lnTo>
                  <a:pt x="309778" y="39814"/>
                </a:lnTo>
                <a:lnTo>
                  <a:pt x="312331" y="38862"/>
                </a:lnTo>
                <a:lnTo>
                  <a:pt x="321398" y="38328"/>
                </a:lnTo>
                <a:lnTo>
                  <a:pt x="322846" y="37985"/>
                </a:lnTo>
                <a:lnTo>
                  <a:pt x="324307" y="37807"/>
                </a:lnTo>
                <a:lnTo>
                  <a:pt x="324954" y="37477"/>
                </a:lnTo>
                <a:lnTo>
                  <a:pt x="325666" y="37312"/>
                </a:lnTo>
                <a:lnTo>
                  <a:pt x="326872" y="36512"/>
                </a:lnTo>
                <a:lnTo>
                  <a:pt x="328180" y="35852"/>
                </a:lnTo>
                <a:lnTo>
                  <a:pt x="328676" y="35318"/>
                </a:lnTo>
                <a:lnTo>
                  <a:pt x="329285" y="34925"/>
                </a:lnTo>
                <a:lnTo>
                  <a:pt x="330149" y="33756"/>
                </a:lnTo>
                <a:lnTo>
                  <a:pt x="331152" y="32689"/>
                </a:lnTo>
                <a:lnTo>
                  <a:pt x="331444" y="32016"/>
                </a:lnTo>
                <a:lnTo>
                  <a:pt x="331876" y="31432"/>
                </a:lnTo>
                <a:lnTo>
                  <a:pt x="332003" y="30708"/>
                </a:lnTo>
                <a:lnTo>
                  <a:pt x="332867" y="28702"/>
                </a:lnTo>
                <a:lnTo>
                  <a:pt x="333108" y="2437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04615" y="2266442"/>
            <a:ext cx="533209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CMOS</a:t>
            </a:r>
            <a:r>
              <a:rPr spc="-50" dirty="0"/>
              <a:t> </a:t>
            </a:r>
            <a:r>
              <a:rPr spc="-5" dirty="0"/>
              <a:t>DC</a:t>
            </a:r>
            <a:r>
              <a:rPr spc="-45" dirty="0"/>
              <a:t> </a:t>
            </a:r>
            <a:r>
              <a:rPr spc="-5" dirty="0"/>
              <a:t>Characteristics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05248"/>
            <a:ext cx="1306195" cy="40957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500" spc="5" dirty="0"/>
              <a:t>Contents</a:t>
            </a:r>
            <a:endParaRPr sz="2500"/>
          </a:p>
        </p:txBody>
      </p:sp>
      <p:sp>
        <p:nvSpPr>
          <p:cNvPr id="3" name="object 3"/>
          <p:cNvSpPr txBox="1"/>
          <p:nvPr/>
        </p:nvSpPr>
        <p:spPr>
          <a:xfrm>
            <a:off x="475249" y="1175208"/>
            <a:ext cx="5570220" cy="972185"/>
          </a:xfrm>
          <a:prstGeom prst="rect">
            <a:avLst/>
          </a:prstGeom>
        </p:spPr>
        <p:txBody>
          <a:bodyPr vert="horz" wrap="square" lIns="0" tIns="53340" rIns="0" bIns="0" rtlCol="0">
            <a:spAutoFit/>
          </a:bodyPr>
          <a:lstStyle/>
          <a:p>
            <a:pPr marL="379095" indent="-367030">
              <a:lnSpc>
                <a:spcPct val="100000"/>
              </a:lnSpc>
              <a:spcBef>
                <a:spcPts val="420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CMOS</a:t>
            </a:r>
            <a:r>
              <a:rPr sz="1800" spc="-3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Inverter</a:t>
            </a:r>
            <a:r>
              <a:rPr sz="1800" spc="-2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DC</a:t>
            </a:r>
            <a:r>
              <a:rPr sz="1800" spc="-2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Characteristics</a:t>
            </a:r>
            <a:endParaRPr sz="1800">
              <a:latin typeface="Arial MT"/>
              <a:cs typeface="Arial MT"/>
            </a:endParaRPr>
          </a:p>
          <a:p>
            <a:pPr marL="379095" indent="-367030">
              <a:lnSpc>
                <a:spcPct val="100000"/>
              </a:lnSpc>
              <a:spcBef>
                <a:spcPts val="325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Noise</a:t>
            </a:r>
            <a:r>
              <a:rPr sz="1800" spc="-5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Margin</a:t>
            </a:r>
            <a:endParaRPr sz="1800">
              <a:latin typeface="Arial MT"/>
              <a:cs typeface="Arial MT"/>
            </a:endParaRPr>
          </a:p>
          <a:p>
            <a:pPr marL="379095" indent="-367030">
              <a:lnSpc>
                <a:spcPct val="100000"/>
              </a:lnSpc>
              <a:spcBef>
                <a:spcPts val="325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nMOS</a:t>
            </a:r>
            <a:r>
              <a:rPr sz="1800" spc="-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&amp;</a:t>
            </a:r>
            <a:r>
              <a:rPr sz="1800" spc="-2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pMOS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Pass</a:t>
            </a:r>
            <a:r>
              <a:rPr sz="1800" spc="-5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Transistor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DC</a:t>
            </a:r>
            <a:r>
              <a:rPr sz="1800" spc="-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Characteristics</a:t>
            </a:r>
            <a:endParaRPr sz="1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59325" y="1216355"/>
            <a:ext cx="6081395" cy="12357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A</a:t>
            </a:r>
            <a:r>
              <a:rPr sz="1800" spc="-1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static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CMOS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inverter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is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built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using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a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pMOS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and</a:t>
            </a:r>
            <a:r>
              <a:rPr sz="1800" spc="-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an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nMOS</a:t>
            </a:r>
            <a:endParaRPr sz="1800">
              <a:latin typeface="Arial MT"/>
              <a:cs typeface="Arial MT"/>
            </a:endParaRPr>
          </a:p>
          <a:p>
            <a:pPr marL="38100">
              <a:lnSpc>
                <a:spcPct val="100000"/>
              </a:lnSpc>
              <a:spcBef>
                <a:spcPts val="1525"/>
              </a:spcBef>
            </a:pP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DC</a:t>
            </a:r>
            <a:r>
              <a:rPr sz="1800" spc="-4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Transfer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function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or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DC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response:</a:t>
            </a:r>
            <a:r>
              <a:rPr sz="1800" spc="2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b="1" i="1" spc="-5" dirty="0">
                <a:solidFill>
                  <a:srgbClr val="595959"/>
                </a:solidFill>
                <a:latin typeface="Arial"/>
                <a:cs typeface="Arial"/>
              </a:rPr>
              <a:t>V</a:t>
            </a:r>
            <a:r>
              <a:rPr sz="1800" b="1" i="1" spc="-7" baseline="-32407" dirty="0">
                <a:solidFill>
                  <a:srgbClr val="595959"/>
                </a:solidFill>
                <a:latin typeface="Arial"/>
                <a:cs typeface="Arial"/>
              </a:rPr>
              <a:t>out</a:t>
            </a:r>
            <a:r>
              <a:rPr sz="1800" b="1" i="1" spc="240" baseline="-32407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vs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b="1" i="1" spc="-5" dirty="0">
                <a:solidFill>
                  <a:srgbClr val="595959"/>
                </a:solidFill>
                <a:latin typeface="Arial"/>
                <a:cs typeface="Arial"/>
              </a:rPr>
              <a:t>V</a:t>
            </a:r>
            <a:r>
              <a:rPr sz="1800" b="1" i="1" spc="-7" baseline="-32407" dirty="0">
                <a:solidFill>
                  <a:srgbClr val="595959"/>
                </a:solidFill>
                <a:latin typeface="Arial"/>
                <a:cs typeface="Arial"/>
              </a:rPr>
              <a:t>in</a:t>
            </a:r>
            <a:endParaRPr sz="1800" baseline="-32407">
              <a:latin typeface="Arial"/>
              <a:cs typeface="Arial"/>
            </a:endParaRPr>
          </a:p>
          <a:p>
            <a:pPr marL="38100">
              <a:lnSpc>
                <a:spcPct val="100000"/>
              </a:lnSpc>
              <a:spcBef>
                <a:spcPts val="1520"/>
              </a:spcBef>
            </a:pP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For</a:t>
            </a:r>
            <a:r>
              <a:rPr sz="1800" spc="-2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the</a:t>
            </a:r>
            <a:r>
              <a:rPr sz="1800" spc="-2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CMOS</a:t>
            </a:r>
            <a:r>
              <a:rPr sz="1800" spc="-2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inverter</a:t>
            </a:r>
            <a:r>
              <a:rPr sz="1800" spc="-2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shown: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645325" y="2705685"/>
            <a:ext cx="10991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700" b="1" i="1" spc="-7" baseline="20061" dirty="0">
                <a:solidFill>
                  <a:srgbClr val="595959"/>
                </a:solidFill>
                <a:latin typeface="Arial"/>
                <a:cs typeface="Arial"/>
              </a:rPr>
              <a:t>V</a:t>
            </a:r>
            <a:r>
              <a:rPr sz="1200" b="1" i="1" spc="-5" dirty="0">
                <a:solidFill>
                  <a:srgbClr val="595959"/>
                </a:solidFill>
                <a:latin typeface="Arial"/>
                <a:cs typeface="Arial"/>
              </a:rPr>
              <a:t>out</a:t>
            </a:r>
            <a:r>
              <a:rPr sz="1200" b="1" i="1" spc="13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700" b="1" i="1" baseline="20061" dirty="0">
                <a:solidFill>
                  <a:srgbClr val="595959"/>
                </a:solidFill>
                <a:latin typeface="Arial"/>
                <a:cs typeface="Arial"/>
              </a:rPr>
              <a:t>=</a:t>
            </a:r>
            <a:r>
              <a:rPr sz="2700" b="1" i="1" spc="-52" baseline="20061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700" b="1" i="1" spc="-7" baseline="20061" dirty="0">
                <a:solidFill>
                  <a:srgbClr val="595959"/>
                </a:solidFill>
                <a:latin typeface="Arial"/>
                <a:cs typeface="Arial"/>
              </a:rPr>
              <a:t>V</a:t>
            </a:r>
            <a:r>
              <a:rPr sz="1200" b="1" i="1" spc="-5" dirty="0">
                <a:solidFill>
                  <a:srgbClr val="595959"/>
                </a:solidFill>
                <a:latin typeface="Arial"/>
                <a:cs typeface="Arial"/>
              </a:rPr>
              <a:t>DD</a:t>
            </a:r>
            <a:endParaRPr sz="12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16525" y="3021152"/>
            <a:ext cx="9975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700" b="1" i="1" spc="-7" baseline="20061" dirty="0">
                <a:solidFill>
                  <a:srgbClr val="595959"/>
                </a:solidFill>
                <a:latin typeface="Arial"/>
                <a:cs typeface="Arial"/>
              </a:rPr>
              <a:t>V</a:t>
            </a:r>
            <a:r>
              <a:rPr sz="1200" b="1" i="1" spc="-5" dirty="0">
                <a:solidFill>
                  <a:srgbClr val="595959"/>
                </a:solidFill>
                <a:latin typeface="Arial"/>
                <a:cs typeface="Arial"/>
              </a:rPr>
              <a:t>in</a:t>
            </a:r>
            <a:r>
              <a:rPr sz="1200" b="1" i="1" spc="13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700" b="1" i="1" baseline="20061" dirty="0">
                <a:solidFill>
                  <a:srgbClr val="595959"/>
                </a:solidFill>
                <a:latin typeface="Arial"/>
                <a:cs typeface="Arial"/>
              </a:rPr>
              <a:t>=</a:t>
            </a:r>
            <a:r>
              <a:rPr sz="2700" b="1" i="1" spc="-52" baseline="20061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700" b="1" i="1" spc="-7" baseline="20061" dirty="0">
                <a:solidFill>
                  <a:srgbClr val="595959"/>
                </a:solidFill>
                <a:latin typeface="Arial"/>
                <a:cs typeface="Arial"/>
              </a:rPr>
              <a:t>V</a:t>
            </a:r>
            <a:r>
              <a:rPr sz="1200" b="1" i="1" spc="-5" dirty="0">
                <a:solidFill>
                  <a:srgbClr val="595959"/>
                </a:solidFill>
                <a:latin typeface="Arial"/>
                <a:cs typeface="Arial"/>
              </a:rPr>
              <a:t>DD</a:t>
            </a:r>
            <a:endParaRPr sz="12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188125" y="2935427"/>
            <a:ext cx="13100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  <a:tabLst>
                <a:tab pos="494665" algn="l"/>
              </a:tabLst>
            </a:pPr>
            <a:r>
              <a:rPr sz="1800" dirty="0">
                <a:solidFill>
                  <a:srgbClr val="595959"/>
                </a:solidFill>
                <a:latin typeface="MS PGothic"/>
                <a:cs typeface="MS PGothic"/>
              </a:rPr>
              <a:t>⇒	</a:t>
            </a:r>
            <a:r>
              <a:rPr sz="1800" b="1" i="1" spc="-5" dirty="0">
                <a:solidFill>
                  <a:srgbClr val="595959"/>
                </a:solidFill>
                <a:latin typeface="Arial"/>
                <a:cs typeface="Arial"/>
              </a:rPr>
              <a:t>V</a:t>
            </a:r>
            <a:r>
              <a:rPr sz="1800" b="1" i="1" spc="-7" baseline="-32407" dirty="0">
                <a:solidFill>
                  <a:srgbClr val="595959"/>
                </a:solidFill>
                <a:latin typeface="Arial"/>
                <a:cs typeface="Arial"/>
              </a:rPr>
              <a:t>out</a:t>
            </a:r>
            <a:r>
              <a:rPr sz="1800" b="1" i="1" spc="187" baseline="-32407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b="1" i="1" dirty="0">
                <a:solidFill>
                  <a:srgbClr val="595959"/>
                </a:solidFill>
                <a:latin typeface="Arial"/>
                <a:cs typeface="Arial"/>
              </a:rPr>
              <a:t>=</a:t>
            </a:r>
            <a:r>
              <a:rPr sz="1800" b="1" i="1" spc="-3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b="1" i="1" dirty="0">
                <a:solidFill>
                  <a:srgbClr val="595959"/>
                </a:solidFill>
                <a:latin typeface="Arial"/>
                <a:cs typeface="Arial"/>
              </a:rPr>
              <a:t>0</a:t>
            </a:r>
            <a:endParaRPr sz="18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37149" y="2578812"/>
            <a:ext cx="6910705" cy="1602740"/>
          </a:xfrm>
          <a:prstGeom prst="rect">
            <a:avLst/>
          </a:prstGeom>
        </p:spPr>
        <p:txBody>
          <a:bodyPr vert="horz" wrap="square" lIns="0" tIns="53340" rIns="0" bIns="0" rtlCol="0">
            <a:spAutoFit/>
          </a:bodyPr>
          <a:lstStyle/>
          <a:p>
            <a:pPr marL="417195" indent="-367030">
              <a:lnSpc>
                <a:spcPct val="100000"/>
              </a:lnSpc>
              <a:spcBef>
                <a:spcPts val="420"/>
              </a:spcBef>
              <a:buFont typeface="Arial MT"/>
              <a:buChar char="●"/>
              <a:tabLst>
                <a:tab pos="417195" algn="l"/>
                <a:tab pos="417830" algn="l"/>
                <a:tab pos="1788795" algn="l"/>
              </a:tabLst>
            </a:pPr>
            <a:r>
              <a:rPr sz="1800" b="1" i="1" spc="-5" dirty="0">
                <a:solidFill>
                  <a:srgbClr val="595959"/>
                </a:solidFill>
                <a:latin typeface="Arial"/>
                <a:cs typeface="Arial"/>
              </a:rPr>
              <a:t>V</a:t>
            </a:r>
            <a:r>
              <a:rPr sz="1800" b="1" i="1" spc="-7" baseline="-32407" dirty="0">
                <a:solidFill>
                  <a:srgbClr val="595959"/>
                </a:solidFill>
                <a:latin typeface="Arial"/>
                <a:cs typeface="Arial"/>
              </a:rPr>
              <a:t>in</a:t>
            </a:r>
            <a:r>
              <a:rPr sz="1800" b="1" i="1" spc="247" baseline="-32407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b="1" i="1" dirty="0">
                <a:solidFill>
                  <a:srgbClr val="595959"/>
                </a:solidFill>
                <a:latin typeface="Arial"/>
                <a:cs typeface="Arial"/>
              </a:rPr>
              <a:t>=</a:t>
            </a:r>
            <a:r>
              <a:rPr sz="1800" b="1" i="1" spc="-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b="1" i="1" dirty="0">
                <a:solidFill>
                  <a:srgbClr val="595959"/>
                </a:solidFill>
                <a:latin typeface="Arial"/>
                <a:cs typeface="Arial"/>
              </a:rPr>
              <a:t>0	</a:t>
            </a:r>
            <a:r>
              <a:rPr sz="1800" dirty="0">
                <a:solidFill>
                  <a:srgbClr val="595959"/>
                </a:solidFill>
                <a:latin typeface="MS PGothic"/>
                <a:cs typeface="MS PGothic"/>
              </a:rPr>
              <a:t>⇒</a:t>
            </a:r>
            <a:endParaRPr sz="1800">
              <a:latin typeface="MS PGothic"/>
              <a:cs typeface="MS PGothic"/>
            </a:endParaRPr>
          </a:p>
          <a:p>
            <a:pPr marL="50800">
              <a:lnSpc>
                <a:spcPct val="100000"/>
              </a:lnSpc>
              <a:spcBef>
                <a:spcPts val="325"/>
              </a:spcBef>
            </a:pPr>
            <a:r>
              <a:rPr sz="1800" spc="-715" dirty="0">
                <a:solidFill>
                  <a:srgbClr val="595959"/>
                </a:solidFill>
                <a:latin typeface="Arial MT"/>
                <a:cs typeface="Arial MT"/>
              </a:rPr>
              <a:t>●</a:t>
            </a:r>
            <a:endParaRPr sz="1800">
              <a:latin typeface="Arial MT"/>
              <a:cs typeface="Arial MT"/>
            </a:endParaRPr>
          </a:p>
          <a:p>
            <a:pPr marL="417195" indent="-367030">
              <a:lnSpc>
                <a:spcPct val="100000"/>
              </a:lnSpc>
              <a:spcBef>
                <a:spcPts val="325"/>
              </a:spcBef>
              <a:buChar char="●"/>
              <a:tabLst>
                <a:tab pos="417195" algn="l"/>
                <a:tab pos="417830" algn="l"/>
              </a:tabLst>
            </a:pP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In</a:t>
            </a:r>
            <a:r>
              <a:rPr sz="1800" spc="-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between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these</a:t>
            </a:r>
            <a:r>
              <a:rPr sz="1800" spc="-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2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cases,</a:t>
            </a:r>
            <a:r>
              <a:rPr sz="1800" spc="2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b="1" i="1" spc="-5" dirty="0">
                <a:solidFill>
                  <a:srgbClr val="595959"/>
                </a:solidFill>
                <a:latin typeface="Arial"/>
                <a:cs typeface="Arial"/>
              </a:rPr>
              <a:t>V</a:t>
            </a:r>
            <a:r>
              <a:rPr sz="1800" b="1" i="1" spc="-7" baseline="-32407" dirty="0">
                <a:solidFill>
                  <a:srgbClr val="595959"/>
                </a:solidFill>
                <a:latin typeface="Arial"/>
                <a:cs typeface="Arial"/>
              </a:rPr>
              <a:t>out</a:t>
            </a:r>
            <a:r>
              <a:rPr sz="1800" b="1" i="1" spc="240" baseline="-32407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depends</a:t>
            </a:r>
            <a:r>
              <a:rPr sz="1800" spc="-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transistor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current</a:t>
            </a:r>
            <a:endParaRPr sz="1800">
              <a:latin typeface="Arial MT"/>
              <a:cs typeface="Arial MT"/>
            </a:endParaRPr>
          </a:p>
          <a:p>
            <a:pPr marL="417195" indent="-367030">
              <a:lnSpc>
                <a:spcPct val="100000"/>
              </a:lnSpc>
              <a:spcBef>
                <a:spcPts val="325"/>
              </a:spcBef>
              <a:buFont typeface="Arial MT"/>
              <a:buChar char="●"/>
              <a:tabLst>
                <a:tab pos="417195" algn="l"/>
                <a:tab pos="417830" algn="l"/>
              </a:tabLst>
            </a:pPr>
            <a:r>
              <a:rPr sz="1800" b="1" i="1" spc="-5" dirty="0">
                <a:solidFill>
                  <a:srgbClr val="595959"/>
                </a:solidFill>
                <a:latin typeface="Arial"/>
                <a:cs typeface="Arial"/>
              </a:rPr>
              <a:t>V</a:t>
            </a:r>
            <a:r>
              <a:rPr sz="1800" b="1" i="1" spc="-7" baseline="-32407" dirty="0">
                <a:solidFill>
                  <a:srgbClr val="595959"/>
                </a:solidFill>
                <a:latin typeface="Arial"/>
                <a:cs typeface="Arial"/>
              </a:rPr>
              <a:t>out</a:t>
            </a:r>
            <a:r>
              <a:rPr sz="1800" b="1" i="1" spc="247" baseline="-32407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vs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b="1" i="1" spc="-5" dirty="0">
                <a:solidFill>
                  <a:srgbClr val="595959"/>
                </a:solidFill>
                <a:latin typeface="Arial"/>
                <a:cs typeface="Arial"/>
              </a:rPr>
              <a:t>V</a:t>
            </a:r>
            <a:r>
              <a:rPr sz="1800" b="1" i="1" spc="-7" baseline="-32407" dirty="0">
                <a:solidFill>
                  <a:srgbClr val="595959"/>
                </a:solidFill>
                <a:latin typeface="Arial"/>
                <a:cs typeface="Arial"/>
              </a:rPr>
              <a:t>in</a:t>
            </a:r>
            <a:r>
              <a:rPr sz="1800" b="1" i="1" spc="240" baseline="-32407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relationship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can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be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found by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setting</a:t>
            </a:r>
            <a:r>
              <a:rPr sz="1800" spc="2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b="1" i="1" spc="-5" dirty="0">
                <a:solidFill>
                  <a:srgbClr val="595959"/>
                </a:solidFill>
                <a:latin typeface="Arial"/>
                <a:cs typeface="Arial"/>
              </a:rPr>
              <a:t>I</a:t>
            </a:r>
            <a:r>
              <a:rPr sz="1800" b="1" i="1" spc="-7" baseline="-32407" dirty="0">
                <a:solidFill>
                  <a:srgbClr val="595959"/>
                </a:solidFill>
                <a:latin typeface="Arial"/>
                <a:cs typeface="Arial"/>
              </a:rPr>
              <a:t>dsn </a:t>
            </a:r>
            <a:r>
              <a:rPr sz="1800" b="1" i="1" dirty="0">
                <a:solidFill>
                  <a:srgbClr val="595959"/>
                </a:solidFill>
                <a:latin typeface="Arial"/>
                <a:cs typeface="Arial"/>
              </a:rPr>
              <a:t>=</a:t>
            </a:r>
            <a:r>
              <a:rPr sz="1800" b="1" i="1" spc="-5" dirty="0">
                <a:solidFill>
                  <a:srgbClr val="595959"/>
                </a:solidFill>
                <a:latin typeface="Arial"/>
                <a:cs typeface="Arial"/>
              </a:rPr>
              <a:t> |I</a:t>
            </a:r>
            <a:r>
              <a:rPr sz="1800" b="1" i="1" spc="-7" baseline="-32407" dirty="0">
                <a:solidFill>
                  <a:srgbClr val="595959"/>
                </a:solidFill>
                <a:latin typeface="Arial"/>
                <a:cs typeface="Arial"/>
              </a:rPr>
              <a:t>dsp</a:t>
            </a:r>
            <a:r>
              <a:rPr sz="1800" b="1" i="1" spc="-5" dirty="0">
                <a:solidFill>
                  <a:srgbClr val="595959"/>
                </a:solidFill>
                <a:latin typeface="Arial"/>
                <a:cs typeface="Arial"/>
              </a:rPr>
              <a:t>|</a:t>
            </a:r>
            <a:endParaRPr sz="1800">
              <a:latin typeface="Arial"/>
              <a:cs typeface="Arial"/>
            </a:endParaRPr>
          </a:p>
          <a:p>
            <a:pPr marL="417195" indent="-367030">
              <a:lnSpc>
                <a:spcPct val="100000"/>
              </a:lnSpc>
              <a:spcBef>
                <a:spcPts val="325"/>
              </a:spcBef>
              <a:buFont typeface="Arial MT"/>
              <a:buChar char="●"/>
              <a:tabLst>
                <a:tab pos="417195" algn="l"/>
                <a:tab pos="417830" algn="l"/>
              </a:tabLst>
            </a:pPr>
            <a:r>
              <a:rPr sz="1800" b="1" i="1" spc="-5" dirty="0">
                <a:solidFill>
                  <a:srgbClr val="595959"/>
                </a:solidFill>
                <a:latin typeface="Arial"/>
                <a:cs typeface="Arial"/>
              </a:rPr>
              <a:t>V</a:t>
            </a:r>
            <a:r>
              <a:rPr sz="1800" b="1" i="1" spc="-7" baseline="-32407" dirty="0">
                <a:solidFill>
                  <a:srgbClr val="595959"/>
                </a:solidFill>
                <a:latin typeface="Arial"/>
                <a:cs typeface="Arial"/>
              </a:rPr>
              <a:t>out</a:t>
            </a:r>
            <a:r>
              <a:rPr sz="1800" b="1" i="1" spc="240" baseline="-32407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vs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b="1" i="1" spc="-5" dirty="0">
                <a:solidFill>
                  <a:srgbClr val="595959"/>
                </a:solidFill>
                <a:latin typeface="Arial"/>
                <a:cs typeface="Arial"/>
              </a:rPr>
              <a:t>V</a:t>
            </a:r>
            <a:r>
              <a:rPr sz="1800" b="1" i="1" spc="-7" baseline="-32407" dirty="0">
                <a:solidFill>
                  <a:srgbClr val="595959"/>
                </a:solidFill>
                <a:latin typeface="Arial"/>
                <a:cs typeface="Arial"/>
              </a:rPr>
              <a:t>in</a:t>
            </a:r>
            <a:r>
              <a:rPr sz="1800" b="1" i="1" spc="240" baseline="-32407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relationship</a:t>
            </a:r>
            <a:r>
              <a:rPr sz="1800" spc="-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can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also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be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found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via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graphical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solutions</a:t>
            </a:r>
            <a:endParaRPr sz="1800">
              <a:latin typeface="Arial MT"/>
              <a:cs typeface="Arial MT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760553" y="2057712"/>
            <a:ext cx="2008453" cy="1436722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384725" y="505248"/>
            <a:ext cx="3042285" cy="40957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500" dirty="0"/>
              <a:t>Static</a:t>
            </a:r>
            <a:r>
              <a:rPr sz="2500" spc="-25" dirty="0"/>
              <a:t> </a:t>
            </a:r>
            <a:r>
              <a:rPr sz="2500" spc="10" dirty="0"/>
              <a:t>CMOS</a:t>
            </a:r>
            <a:r>
              <a:rPr sz="2500" spc="-20" dirty="0"/>
              <a:t> </a:t>
            </a:r>
            <a:r>
              <a:rPr sz="2500" dirty="0"/>
              <a:t>Inverter</a:t>
            </a:r>
            <a:endParaRPr sz="25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05248"/>
            <a:ext cx="4234815" cy="40957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500" spc="10" dirty="0"/>
              <a:t>CMOS</a:t>
            </a:r>
            <a:r>
              <a:rPr sz="2500" spc="-15" dirty="0"/>
              <a:t> </a:t>
            </a:r>
            <a:r>
              <a:rPr sz="2500" dirty="0"/>
              <a:t>Inverter</a:t>
            </a:r>
            <a:r>
              <a:rPr sz="2500" spc="-20" dirty="0"/>
              <a:t> </a:t>
            </a:r>
            <a:r>
              <a:rPr sz="2500" spc="10" dirty="0"/>
              <a:t>DC</a:t>
            </a:r>
            <a:r>
              <a:rPr sz="2500" spc="-15" dirty="0"/>
              <a:t> </a:t>
            </a:r>
            <a:r>
              <a:rPr sz="2500" spc="5" dirty="0"/>
              <a:t>Response</a:t>
            </a:r>
            <a:endParaRPr sz="2500"/>
          </a:p>
        </p:txBody>
      </p:sp>
      <p:sp>
        <p:nvSpPr>
          <p:cNvPr id="3" name="object 3"/>
          <p:cNvSpPr txBox="1"/>
          <p:nvPr/>
        </p:nvSpPr>
        <p:spPr>
          <a:xfrm>
            <a:off x="384725" y="1216355"/>
            <a:ext cx="5267325" cy="767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CMOS</a:t>
            </a:r>
            <a:r>
              <a:rPr sz="1800" spc="-2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Inverter</a:t>
            </a:r>
            <a:r>
              <a:rPr sz="1800" spc="-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DC</a:t>
            </a:r>
            <a:r>
              <a:rPr sz="1800" spc="-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response</a:t>
            </a:r>
            <a:r>
              <a:rPr sz="1800" spc="-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can</a:t>
            </a:r>
            <a:r>
              <a:rPr sz="1800" spc="-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be</a:t>
            </a:r>
            <a:r>
              <a:rPr sz="1800" spc="-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determined</a:t>
            </a:r>
            <a:r>
              <a:rPr sz="1800" spc="-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as:</a:t>
            </a:r>
            <a:endParaRPr sz="1800">
              <a:latin typeface="Arial MT"/>
              <a:cs typeface="Arial MT"/>
            </a:endParaRPr>
          </a:p>
          <a:p>
            <a:pPr marL="50165">
              <a:lnSpc>
                <a:spcPct val="100000"/>
              </a:lnSpc>
              <a:spcBef>
                <a:spcPts val="1525"/>
              </a:spcBef>
              <a:tabLst>
                <a:tab pos="469265" algn="l"/>
              </a:tabLst>
            </a:pP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1.	Divide</a:t>
            </a:r>
            <a:r>
              <a:rPr sz="1800" spc="-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the</a:t>
            </a:r>
            <a:r>
              <a:rPr sz="1800" spc="-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input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into</a:t>
            </a:r>
            <a:r>
              <a:rPr sz="1800" spc="-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5</a:t>
            </a:r>
            <a:r>
              <a:rPr sz="1800" spc="-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different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regions: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96925" y="1969720"/>
            <a:ext cx="2510790" cy="1252220"/>
          </a:xfrm>
          <a:prstGeom prst="rect">
            <a:avLst/>
          </a:prstGeom>
        </p:spPr>
        <p:txBody>
          <a:bodyPr vert="horz" wrap="square" lIns="0" tIns="44450" rIns="0" bIns="0" rtlCol="0">
            <a:spAutoFit/>
          </a:bodyPr>
          <a:lstStyle/>
          <a:p>
            <a:pPr marL="414655" indent="-377190">
              <a:lnSpc>
                <a:spcPct val="100000"/>
              </a:lnSpc>
              <a:spcBef>
                <a:spcPts val="350"/>
              </a:spcBef>
              <a:buFont typeface="Arial MT"/>
              <a:buAutoNum type="alphaLcPeriod"/>
              <a:tabLst>
                <a:tab pos="414655" algn="l"/>
                <a:tab pos="415290" algn="l"/>
              </a:tabLst>
            </a:pPr>
            <a:r>
              <a:rPr sz="1400" b="1" spc="-5" dirty="0">
                <a:solidFill>
                  <a:srgbClr val="595959"/>
                </a:solidFill>
                <a:latin typeface="Arial"/>
                <a:cs typeface="Arial"/>
              </a:rPr>
              <a:t>A</a:t>
            </a:r>
            <a:r>
              <a:rPr sz="1400" spc="-5" dirty="0">
                <a:solidFill>
                  <a:srgbClr val="595959"/>
                </a:solidFill>
                <a:latin typeface="Arial MT"/>
                <a:cs typeface="Arial MT"/>
              </a:rPr>
              <a:t>:</a:t>
            </a:r>
            <a:r>
              <a:rPr sz="1400" spc="-2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400" i="1" dirty="0">
                <a:solidFill>
                  <a:srgbClr val="595959"/>
                </a:solidFill>
                <a:latin typeface="Arial"/>
                <a:cs typeface="Arial"/>
              </a:rPr>
              <a:t>0</a:t>
            </a:r>
            <a:r>
              <a:rPr sz="1400" i="1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b="1" i="1" dirty="0">
                <a:solidFill>
                  <a:srgbClr val="595959"/>
                </a:solidFill>
                <a:latin typeface="Arial"/>
                <a:cs typeface="Arial"/>
              </a:rPr>
              <a:t>≤</a:t>
            </a:r>
            <a:r>
              <a:rPr sz="1400" b="1" i="1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b="1" i="1" spc="5" dirty="0">
                <a:solidFill>
                  <a:srgbClr val="595959"/>
                </a:solidFill>
                <a:latin typeface="Arial"/>
                <a:cs typeface="Arial"/>
              </a:rPr>
              <a:t>V</a:t>
            </a:r>
            <a:r>
              <a:rPr sz="1350" b="1" i="1" spc="7" baseline="-33950" dirty="0">
                <a:solidFill>
                  <a:srgbClr val="595959"/>
                </a:solidFill>
                <a:latin typeface="Arial"/>
                <a:cs typeface="Arial"/>
              </a:rPr>
              <a:t>in</a:t>
            </a:r>
            <a:r>
              <a:rPr sz="1350" b="1" i="1" spc="179" baseline="-3395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b="1" i="1" dirty="0">
                <a:solidFill>
                  <a:srgbClr val="595959"/>
                </a:solidFill>
                <a:latin typeface="Arial"/>
                <a:cs typeface="Arial"/>
              </a:rPr>
              <a:t>&lt;</a:t>
            </a:r>
            <a:r>
              <a:rPr sz="1400" b="1" i="1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i="1" spc="5" dirty="0">
                <a:solidFill>
                  <a:srgbClr val="595959"/>
                </a:solidFill>
                <a:latin typeface="Arial"/>
                <a:cs typeface="Arial"/>
              </a:rPr>
              <a:t>V</a:t>
            </a:r>
            <a:r>
              <a:rPr sz="1350" i="1" spc="7" baseline="-33950" dirty="0">
                <a:solidFill>
                  <a:srgbClr val="595959"/>
                </a:solidFill>
                <a:latin typeface="Arial"/>
                <a:cs typeface="Arial"/>
              </a:rPr>
              <a:t>tn</a:t>
            </a:r>
            <a:endParaRPr sz="1350" baseline="-33950">
              <a:latin typeface="Arial"/>
              <a:cs typeface="Arial"/>
            </a:endParaRPr>
          </a:p>
          <a:p>
            <a:pPr marL="414655" indent="-377190">
              <a:lnSpc>
                <a:spcPct val="100000"/>
              </a:lnSpc>
              <a:spcBef>
                <a:spcPts val="250"/>
              </a:spcBef>
              <a:buFont typeface="Arial MT"/>
              <a:buAutoNum type="alphaLcPeriod"/>
              <a:tabLst>
                <a:tab pos="414655" algn="l"/>
                <a:tab pos="415290" algn="l"/>
              </a:tabLst>
            </a:pPr>
            <a:r>
              <a:rPr sz="1400" b="1" spc="-5" dirty="0">
                <a:solidFill>
                  <a:srgbClr val="595959"/>
                </a:solidFill>
                <a:latin typeface="Arial"/>
                <a:cs typeface="Arial"/>
              </a:rPr>
              <a:t>B</a:t>
            </a:r>
            <a:r>
              <a:rPr sz="1400" spc="-5" dirty="0">
                <a:solidFill>
                  <a:srgbClr val="595959"/>
                </a:solidFill>
                <a:latin typeface="Arial MT"/>
                <a:cs typeface="Arial MT"/>
              </a:rPr>
              <a:t>:</a:t>
            </a:r>
            <a:r>
              <a:rPr sz="1400" spc="-2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400" i="1" spc="5" dirty="0">
                <a:solidFill>
                  <a:srgbClr val="595959"/>
                </a:solidFill>
                <a:latin typeface="Arial"/>
                <a:cs typeface="Arial"/>
              </a:rPr>
              <a:t>V</a:t>
            </a:r>
            <a:r>
              <a:rPr sz="1350" i="1" spc="7" baseline="-33950" dirty="0">
                <a:solidFill>
                  <a:srgbClr val="595959"/>
                </a:solidFill>
                <a:latin typeface="Arial"/>
                <a:cs typeface="Arial"/>
              </a:rPr>
              <a:t>tn</a:t>
            </a:r>
            <a:r>
              <a:rPr sz="1350" i="1" spc="179" baseline="-3395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b="1" i="1" dirty="0">
                <a:solidFill>
                  <a:srgbClr val="595959"/>
                </a:solidFill>
                <a:latin typeface="Arial"/>
                <a:cs typeface="Arial"/>
              </a:rPr>
              <a:t>≤</a:t>
            </a:r>
            <a:r>
              <a:rPr sz="1400" b="1" i="1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b="1" i="1" spc="5" dirty="0">
                <a:solidFill>
                  <a:srgbClr val="595959"/>
                </a:solidFill>
                <a:latin typeface="Arial"/>
                <a:cs typeface="Arial"/>
              </a:rPr>
              <a:t>V</a:t>
            </a:r>
            <a:r>
              <a:rPr sz="1350" b="1" i="1" spc="7" baseline="-33950" dirty="0">
                <a:solidFill>
                  <a:srgbClr val="595959"/>
                </a:solidFill>
                <a:latin typeface="Arial"/>
                <a:cs typeface="Arial"/>
              </a:rPr>
              <a:t>in</a:t>
            </a:r>
            <a:r>
              <a:rPr sz="1350" b="1" i="1" spc="179" baseline="-3395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b="1" i="1" dirty="0">
                <a:solidFill>
                  <a:srgbClr val="595959"/>
                </a:solidFill>
                <a:latin typeface="Arial"/>
                <a:cs typeface="Arial"/>
              </a:rPr>
              <a:t>&lt;</a:t>
            </a:r>
            <a:r>
              <a:rPr sz="1400" b="1" i="1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i="1" spc="5" dirty="0">
                <a:solidFill>
                  <a:srgbClr val="595959"/>
                </a:solidFill>
                <a:latin typeface="Arial"/>
                <a:cs typeface="Arial"/>
              </a:rPr>
              <a:t>V</a:t>
            </a:r>
            <a:r>
              <a:rPr sz="1350" i="1" spc="7" baseline="-33950" dirty="0">
                <a:solidFill>
                  <a:srgbClr val="595959"/>
                </a:solidFill>
                <a:latin typeface="Arial"/>
                <a:cs typeface="Arial"/>
              </a:rPr>
              <a:t>DD</a:t>
            </a:r>
            <a:r>
              <a:rPr sz="1400" i="1" spc="5" dirty="0">
                <a:solidFill>
                  <a:srgbClr val="595959"/>
                </a:solidFill>
                <a:latin typeface="Arial"/>
                <a:cs typeface="Arial"/>
              </a:rPr>
              <a:t>/2</a:t>
            </a:r>
            <a:endParaRPr sz="1400">
              <a:latin typeface="Arial"/>
              <a:cs typeface="Arial"/>
            </a:endParaRPr>
          </a:p>
          <a:p>
            <a:pPr marL="414655" indent="-367665">
              <a:lnSpc>
                <a:spcPct val="100000"/>
              </a:lnSpc>
              <a:spcBef>
                <a:spcPts val="254"/>
              </a:spcBef>
              <a:buFont typeface="Arial MT"/>
              <a:buAutoNum type="alphaLcPeriod"/>
              <a:tabLst>
                <a:tab pos="414655" algn="l"/>
                <a:tab pos="415290" algn="l"/>
              </a:tabLst>
            </a:pPr>
            <a:r>
              <a:rPr sz="1400" b="1" spc="-5" dirty="0">
                <a:solidFill>
                  <a:srgbClr val="595959"/>
                </a:solidFill>
                <a:latin typeface="Arial"/>
                <a:cs typeface="Arial"/>
              </a:rPr>
              <a:t>C</a:t>
            </a:r>
            <a:r>
              <a:rPr sz="1400" spc="-5" dirty="0">
                <a:solidFill>
                  <a:srgbClr val="595959"/>
                </a:solidFill>
                <a:latin typeface="Arial MT"/>
                <a:cs typeface="Arial MT"/>
              </a:rPr>
              <a:t>:</a:t>
            </a:r>
            <a:r>
              <a:rPr sz="1400" spc="-2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400" b="1" i="1" spc="5" dirty="0">
                <a:solidFill>
                  <a:srgbClr val="595959"/>
                </a:solidFill>
                <a:latin typeface="Arial"/>
                <a:cs typeface="Arial"/>
              </a:rPr>
              <a:t>V</a:t>
            </a:r>
            <a:r>
              <a:rPr sz="1350" b="1" i="1" spc="7" baseline="-33950" dirty="0">
                <a:solidFill>
                  <a:srgbClr val="595959"/>
                </a:solidFill>
                <a:latin typeface="Arial"/>
                <a:cs typeface="Arial"/>
              </a:rPr>
              <a:t>in</a:t>
            </a:r>
            <a:r>
              <a:rPr sz="1350" b="1" i="1" spc="179" baseline="-3395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b="1" i="1" dirty="0">
                <a:solidFill>
                  <a:srgbClr val="595959"/>
                </a:solidFill>
                <a:latin typeface="Arial"/>
                <a:cs typeface="Arial"/>
              </a:rPr>
              <a:t>=</a:t>
            </a:r>
            <a:r>
              <a:rPr sz="1400" b="1" i="1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i="1" dirty="0">
                <a:solidFill>
                  <a:srgbClr val="595959"/>
                </a:solidFill>
                <a:latin typeface="Arial"/>
                <a:cs typeface="Arial"/>
              </a:rPr>
              <a:t>V</a:t>
            </a:r>
            <a:r>
              <a:rPr sz="1350" i="1" baseline="-33950" dirty="0">
                <a:solidFill>
                  <a:srgbClr val="595959"/>
                </a:solidFill>
                <a:latin typeface="Arial"/>
                <a:cs typeface="Arial"/>
              </a:rPr>
              <a:t>DD</a:t>
            </a:r>
            <a:r>
              <a:rPr sz="1400" i="1" dirty="0">
                <a:solidFill>
                  <a:srgbClr val="595959"/>
                </a:solidFill>
                <a:latin typeface="Arial"/>
                <a:cs typeface="Arial"/>
              </a:rPr>
              <a:t>/2</a:t>
            </a:r>
            <a:endParaRPr sz="1400">
              <a:latin typeface="Arial"/>
              <a:cs typeface="Arial"/>
            </a:endParaRPr>
          </a:p>
          <a:p>
            <a:pPr marL="414655" indent="-377190">
              <a:lnSpc>
                <a:spcPct val="100000"/>
              </a:lnSpc>
              <a:spcBef>
                <a:spcPts val="250"/>
              </a:spcBef>
              <a:buFont typeface="Arial MT"/>
              <a:buAutoNum type="alphaLcPeriod"/>
              <a:tabLst>
                <a:tab pos="414655" algn="l"/>
                <a:tab pos="415290" algn="l"/>
              </a:tabLst>
            </a:pPr>
            <a:r>
              <a:rPr sz="1400" b="1" spc="-5" dirty="0">
                <a:solidFill>
                  <a:srgbClr val="595959"/>
                </a:solidFill>
                <a:latin typeface="Arial"/>
                <a:cs typeface="Arial"/>
              </a:rPr>
              <a:t>D</a:t>
            </a:r>
            <a:r>
              <a:rPr sz="1400" spc="-5" dirty="0">
                <a:solidFill>
                  <a:srgbClr val="595959"/>
                </a:solidFill>
                <a:latin typeface="Arial MT"/>
                <a:cs typeface="Arial MT"/>
              </a:rPr>
              <a:t>:</a:t>
            </a:r>
            <a:r>
              <a:rPr sz="1400" spc="-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400" i="1" spc="5" dirty="0">
                <a:solidFill>
                  <a:srgbClr val="595959"/>
                </a:solidFill>
                <a:latin typeface="Arial"/>
                <a:cs typeface="Arial"/>
              </a:rPr>
              <a:t>V</a:t>
            </a:r>
            <a:r>
              <a:rPr sz="1350" i="1" spc="7" baseline="-33950" dirty="0">
                <a:solidFill>
                  <a:srgbClr val="595959"/>
                </a:solidFill>
                <a:latin typeface="Arial"/>
                <a:cs typeface="Arial"/>
              </a:rPr>
              <a:t>DD</a:t>
            </a:r>
            <a:r>
              <a:rPr sz="1400" i="1" spc="5" dirty="0">
                <a:solidFill>
                  <a:srgbClr val="595959"/>
                </a:solidFill>
                <a:latin typeface="Arial"/>
                <a:cs typeface="Arial"/>
              </a:rPr>
              <a:t>/2</a:t>
            </a:r>
            <a:r>
              <a:rPr sz="1400" i="1" spc="-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b="1" i="1" dirty="0">
                <a:solidFill>
                  <a:srgbClr val="595959"/>
                </a:solidFill>
                <a:latin typeface="Arial"/>
                <a:cs typeface="Arial"/>
              </a:rPr>
              <a:t>&lt;</a:t>
            </a:r>
            <a:r>
              <a:rPr sz="1400" b="1" i="1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b="1" i="1" spc="5" dirty="0">
                <a:solidFill>
                  <a:srgbClr val="595959"/>
                </a:solidFill>
                <a:latin typeface="Arial"/>
                <a:cs typeface="Arial"/>
              </a:rPr>
              <a:t>V</a:t>
            </a:r>
            <a:r>
              <a:rPr sz="1350" b="1" i="1" spc="7" baseline="-33950" dirty="0">
                <a:solidFill>
                  <a:srgbClr val="595959"/>
                </a:solidFill>
                <a:latin typeface="Arial"/>
                <a:cs typeface="Arial"/>
              </a:rPr>
              <a:t>in</a:t>
            </a:r>
            <a:r>
              <a:rPr sz="1350" b="1" i="1" spc="195" baseline="-3395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b="1" i="1" dirty="0">
                <a:solidFill>
                  <a:srgbClr val="595959"/>
                </a:solidFill>
                <a:latin typeface="Arial"/>
                <a:cs typeface="Arial"/>
              </a:rPr>
              <a:t>≤</a:t>
            </a:r>
            <a:r>
              <a:rPr sz="1400" b="1" i="1" spc="-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i="1" spc="10" dirty="0">
                <a:solidFill>
                  <a:srgbClr val="595959"/>
                </a:solidFill>
                <a:latin typeface="Arial"/>
                <a:cs typeface="Arial"/>
              </a:rPr>
              <a:t>V</a:t>
            </a:r>
            <a:r>
              <a:rPr sz="1350" i="1" spc="15" baseline="-33950" dirty="0">
                <a:solidFill>
                  <a:srgbClr val="595959"/>
                </a:solidFill>
                <a:latin typeface="Arial"/>
                <a:cs typeface="Arial"/>
              </a:rPr>
              <a:t>DD</a:t>
            </a:r>
            <a:r>
              <a:rPr sz="1350" i="1" spc="187" baseline="-3395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i="1" dirty="0">
                <a:solidFill>
                  <a:srgbClr val="595959"/>
                </a:solidFill>
                <a:latin typeface="Arial"/>
                <a:cs typeface="Arial"/>
              </a:rPr>
              <a:t>-</a:t>
            </a:r>
            <a:r>
              <a:rPr sz="1400" i="1" spc="-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i="1" dirty="0">
                <a:solidFill>
                  <a:srgbClr val="595959"/>
                </a:solidFill>
                <a:latin typeface="Arial"/>
                <a:cs typeface="Arial"/>
              </a:rPr>
              <a:t>|V</a:t>
            </a:r>
            <a:r>
              <a:rPr sz="1350" i="1" baseline="-33950" dirty="0">
                <a:solidFill>
                  <a:srgbClr val="595959"/>
                </a:solidFill>
                <a:latin typeface="Arial"/>
                <a:cs typeface="Arial"/>
              </a:rPr>
              <a:t>tp</a:t>
            </a:r>
            <a:r>
              <a:rPr sz="1400" i="1" dirty="0">
                <a:solidFill>
                  <a:srgbClr val="595959"/>
                </a:solidFill>
                <a:latin typeface="Arial"/>
                <a:cs typeface="Arial"/>
              </a:rPr>
              <a:t>|</a:t>
            </a:r>
            <a:endParaRPr sz="1400">
              <a:latin typeface="Arial"/>
              <a:cs typeface="Arial"/>
            </a:endParaRPr>
          </a:p>
          <a:p>
            <a:pPr marL="38100">
              <a:lnSpc>
                <a:spcPct val="100000"/>
              </a:lnSpc>
              <a:spcBef>
                <a:spcPts val="254"/>
              </a:spcBef>
            </a:pPr>
            <a:r>
              <a:rPr sz="1400" spc="-5" dirty="0">
                <a:solidFill>
                  <a:srgbClr val="595959"/>
                </a:solidFill>
                <a:latin typeface="Arial MT"/>
                <a:cs typeface="Arial MT"/>
              </a:rPr>
              <a:t>e.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273725" y="2983179"/>
            <a:ext cx="152654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400" b="1" spc="-5" dirty="0">
                <a:solidFill>
                  <a:srgbClr val="595959"/>
                </a:solidFill>
                <a:latin typeface="Arial"/>
                <a:cs typeface="Arial"/>
              </a:rPr>
              <a:t>E</a:t>
            </a:r>
            <a:r>
              <a:rPr sz="1400" spc="-5" dirty="0">
                <a:solidFill>
                  <a:srgbClr val="595959"/>
                </a:solidFill>
                <a:latin typeface="Arial MT"/>
                <a:cs typeface="Arial MT"/>
              </a:rPr>
              <a:t>:</a:t>
            </a:r>
            <a:r>
              <a:rPr sz="1400" spc="-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400" b="1" i="1" spc="5" dirty="0">
                <a:solidFill>
                  <a:srgbClr val="595959"/>
                </a:solidFill>
                <a:latin typeface="Arial"/>
                <a:cs typeface="Arial"/>
              </a:rPr>
              <a:t>V</a:t>
            </a:r>
            <a:r>
              <a:rPr sz="1350" b="1" i="1" spc="7" baseline="-33950" dirty="0">
                <a:solidFill>
                  <a:srgbClr val="595959"/>
                </a:solidFill>
                <a:latin typeface="Arial"/>
                <a:cs typeface="Arial"/>
              </a:rPr>
              <a:t>in</a:t>
            </a:r>
            <a:r>
              <a:rPr sz="1350" b="1" i="1" spc="382" baseline="-3395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b="1" i="1" dirty="0">
                <a:solidFill>
                  <a:srgbClr val="595959"/>
                </a:solidFill>
                <a:latin typeface="Arial"/>
                <a:cs typeface="Arial"/>
              </a:rPr>
              <a:t>&gt;</a:t>
            </a:r>
            <a:r>
              <a:rPr sz="1400" b="1" i="1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i="1" spc="10" dirty="0">
                <a:solidFill>
                  <a:srgbClr val="595959"/>
                </a:solidFill>
                <a:latin typeface="Arial"/>
                <a:cs typeface="Arial"/>
              </a:rPr>
              <a:t>V</a:t>
            </a:r>
            <a:r>
              <a:rPr sz="1350" i="1" spc="15" baseline="-33950" dirty="0">
                <a:solidFill>
                  <a:srgbClr val="595959"/>
                </a:solidFill>
                <a:latin typeface="Arial"/>
                <a:cs typeface="Arial"/>
              </a:rPr>
              <a:t>DD</a:t>
            </a:r>
            <a:r>
              <a:rPr sz="1350" i="1" spc="187" baseline="-3395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i="1" dirty="0">
                <a:solidFill>
                  <a:srgbClr val="595959"/>
                </a:solidFill>
                <a:latin typeface="Arial"/>
                <a:cs typeface="Arial"/>
              </a:rPr>
              <a:t>-</a:t>
            </a:r>
            <a:r>
              <a:rPr sz="1400" i="1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i="1" dirty="0">
                <a:solidFill>
                  <a:srgbClr val="595959"/>
                </a:solidFill>
                <a:latin typeface="Arial"/>
                <a:cs typeface="Arial"/>
              </a:rPr>
              <a:t>|V</a:t>
            </a:r>
            <a:r>
              <a:rPr sz="1350" i="1" baseline="-33950" dirty="0">
                <a:solidFill>
                  <a:srgbClr val="595959"/>
                </a:solidFill>
                <a:latin typeface="Arial"/>
                <a:cs typeface="Arial"/>
              </a:rPr>
              <a:t>tp</a:t>
            </a:r>
            <a:r>
              <a:rPr sz="1400" i="1" dirty="0">
                <a:solidFill>
                  <a:srgbClr val="595959"/>
                </a:solidFill>
                <a:latin typeface="Arial"/>
                <a:cs typeface="Arial"/>
              </a:rPr>
              <a:t>|</a:t>
            </a:r>
            <a:endParaRPr sz="14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84576" y="3170994"/>
            <a:ext cx="5230495" cy="1547495"/>
          </a:xfrm>
          <a:prstGeom prst="rect">
            <a:avLst/>
          </a:prstGeom>
        </p:spPr>
        <p:txBody>
          <a:bodyPr vert="horz" wrap="square" lIns="0" tIns="67945" rIns="0" bIns="0" rtlCol="0">
            <a:spAutoFit/>
          </a:bodyPr>
          <a:lstStyle/>
          <a:p>
            <a:pPr marL="469900" indent="-419734">
              <a:lnSpc>
                <a:spcPct val="100000"/>
              </a:lnSpc>
              <a:spcBef>
                <a:spcPts val="535"/>
              </a:spcBef>
              <a:buAutoNum type="arabicPeriod" startAt="2"/>
              <a:tabLst>
                <a:tab pos="469900" algn="l"/>
                <a:tab pos="470534" algn="l"/>
              </a:tabLst>
            </a:pP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Determine</a:t>
            </a:r>
            <a:r>
              <a:rPr sz="1800" spc="-2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the</a:t>
            </a:r>
            <a:r>
              <a:rPr sz="1800" spc="-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operating</a:t>
            </a:r>
            <a:r>
              <a:rPr sz="1800" spc="-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regions</a:t>
            </a:r>
            <a:r>
              <a:rPr sz="1800" spc="-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of</a:t>
            </a:r>
            <a:r>
              <a:rPr sz="1800" spc="-2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the</a:t>
            </a:r>
            <a:r>
              <a:rPr sz="1800" spc="-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devices</a:t>
            </a:r>
            <a:endParaRPr sz="1800">
              <a:latin typeface="Arial MT"/>
              <a:cs typeface="Arial MT"/>
            </a:endParaRPr>
          </a:p>
          <a:p>
            <a:pPr marL="927100" lvl="1" indent="-377825">
              <a:lnSpc>
                <a:spcPct val="100000"/>
              </a:lnSpc>
              <a:spcBef>
                <a:spcPts val="340"/>
              </a:spcBef>
              <a:buAutoNum type="alphaLcPeriod"/>
              <a:tabLst>
                <a:tab pos="927100" algn="l"/>
                <a:tab pos="927735" algn="l"/>
              </a:tabLst>
            </a:pPr>
            <a:r>
              <a:rPr sz="1400" spc="-10" dirty="0">
                <a:solidFill>
                  <a:srgbClr val="595959"/>
                </a:solidFill>
                <a:latin typeface="Arial MT"/>
                <a:cs typeface="Arial MT"/>
              </a:rPr>
              <a:t>Cutoff,</a:t>
            </a:r>
            <a:r>
              <a:rPr sz="1400" spc="-2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Arial MT"/>
                <a:cs typeface="Arial MT"/>
              </a:rPr>
              <a:t>Linear</a:t>
            </a:r>
            <a:r>
              <a:rPr sz="1400" spc="-2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Arial MT"/>
                <a:cs typeface="Arial MT"/>
              </a:rPr>
              <a:t>or</a:t>
            </a:r>
            <a:r>
              <a:rPr sz="1400" spc="-2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Arial MT"/>
                <a:cs typeface="Arial MT"/>
              </a:rPr>
              <a:t>Saturation?</a:t>
            </a:r>
            <a:endParaRPr sz="1400">
              <a:latin typeface="Arial MT"/>
              <a:cs typeface="Arial MT"/>
            </a:endParaRPr>
          </a:p>
          <a:p>
            <a:pPr marL="469900" marR="76200" indent="-419734">
              <a:lnSpc>
                <a:spcPts val="2480"/>
              </a:lnSpc>
              <a:spcBef>
                <a:spcPts val="25"/>
              </a:spcBef>
              <a:buAutoNum type="arabicPeriod" startAt="2"/>
              <a:tabLst>
                <a:tab pos="469900" algn="l"/>
                <a:tab pos="470534" algn="l"/>
              </a:tabLst>
            </a:pP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Approximate </a:t>
            </a:r>
            <a:r>
              <a:rPr sz="1800" b="1" i="1" spc="-5" dirty="0">
                <a:solidFill>
                  <a:srgbClr val="595959"/>
                </a:solidFill>
                <a:latin typeface="Arial"/>
                <a:cs typeface="Arial"/>
              </a:rPr>
              <a:t>V</a:t>
            </a:r>
            <a:r>
              <a:rPr sz="1800" b="1" i="1" spc="-7" baseline="-32407" dirty="0">
                <a:solidFill>
                  <a:srgbClr val="595959"/>
                </a:solidFill>
                <a:latin typeface="Arial"/>
                <a:cs typeface="Arial"/>
              </a:rPr>
              <a:t>out</a:t>
            </a:r>
            <a:r>
              <a:rPr sz="1800" b="1" i="1" baseline="-32407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at </a:t>
            </a:r>
            <a:r>
              <a:rPr sz="1800" b="1" dirty="0">
                <a:solidFill>
                  <a:srgbClr val="595959"/>
                </a:solidFill>
                <a:latin typeface="Arial"/>
                <a:cs typeface="Arial"/>
              </a:rPr>
              <a:t>A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, </a:t>
            </a:r>
            <a:r>
              <a:rPr sz="1800" b="1" dirty="0">
                <a:solidFill>
                  <a:srgbClr val="595959"/>
                </a:solidFill>
                <a:latin typeface="Arial"/>
                <a:cs typeface="Arial"/>
              </a:rPr>
              <a:t>B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, </a:t>
            </a:r>
            <a:r>
              <a:rPr sz="1800" b="1" dirty="0">
                <a:solidFill>
                  <a:srgbClr val="595959"/>
                </a:solidFill>
                <a:latin typeface="Arial"/>
                <a:cs typeface="Arial"/>
              </a:rPr>
              <a:t>C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, </a:t>
            </a:r>
            <a:r>
              <a:rPr sz="1800" b="1" dirty="0">
                <a:solidFill>
                  <a:srgbClr val="595959"/>
                </a:solidFill>
                <a:latin typeface="Arial"/>
                <a:cs typeface="Arial"/>
              </a:rPr>
              <a:t>D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&amp; </a:t>
            </a:r>
            <a:r>
              <a:rPr sz="1800" b="1" dirty="0">
                <a:solidFill>
                  <a:srgbClr val="595959"/>
                </a:solidFill>
                <a:latin typeface="Arial"/>
                <a:cs typeface="Arial"/>
              </a:rPr>
              <a:t>E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regions </a:t>
            </a:r>
            <a:r>
              <a:rPr sz="1800" spc="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depending on the </a:t>
            </a:r>
            <a:r>
              <a:rPr sz="1800" b="1" spc="-5" dirty="0">
                <a:solidFill>
                  <a:srgbClr val="595959"/>
                </a:solidFill>
                <a:latin typeface="Arial"/>
                <a:cs typeface="Arial"/>
              </a:rPr>
              <a:t>pMOS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and </a:t>
            </a:r>
            <a:r>
              <a:rPr sz="1800" b="1" spc="-5" dirty="0">
                <a:solidFill>
                  <a:srgbClr val="595959"/>
                </a:solidFill>
                <a:latin typeface="Arial"/>
                <a:cs typeface="Arial"/>
              </a:rPr>
              <a:t>nMOS </a:t>
            </a:r>
            <a:r>
              <a:rPr sz="1800" i="1" spc="-5" dirty="0">
                <a:solidFill>
                  <a:srgbClr val="595959"/>
                </a:solidFill>
                <a:latin typeface="Arial"/>
                <a:cs typeface="Arial"/>
              </a:rPr>
              <a:t>operating </a:t>
            </a:r>
            <a:r>
              <a:rPr sz="1800" i="1" spc="-49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i="1" dirty="0">
                <a:solidFill>
                  <a:srgbClr val="595959"/>
                </a:solidFill>
                <a:latin typeface="Arial"/>
                <a:cs typeface="Arial"/>
              </a:rPr>
              <a:t>regions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5832468" y="1152475"/>
            <a:ext cx="2808605" cy="3118485"/>
            <a:chOff x="5832468" y="1152475"/>
            <a:chExt cx="2808605" cy="3118485"/>
          </a:xfrm>
        </p:grpSpPr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832468" y="1972032"/>
              <a:ext cx="2808555" cy="2298490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722337" y="1152475"/>
              <a:ext cx="1479375" cy="1039675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11700" y="1921025"/>
            <a:ext cx="8329930" cy="2375535"/>
            <a:chOff x="311700" y="1921025"/>
            <a:chExt cx="8329930" cy="237553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832468" y="1972032"/>
              <a:ext cx="2808555" cy="2298488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784650" y="1921025"/>
              <a:ext cx="791874" cy="237500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11700" y="1982450"/>
              <a:ext cx="5538875" cy="57270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11700" y="1982450"/>
              <a:ext cx="5538875" cy="1756449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384725" y="505248"/>
            <a:ext cx="4110354" cy="40957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500" spc="10" dirty="0">
                <a:latin typeface="Arial MT"/>
                <a:cs typeface="Arial MT"/>
              </a:rPr>
              <a:t>CMOS</a:t>
            </a:r>
            <a:r>
              <a:rPr sz="2500" spc="-20" dirty="0">
                <a:latin typeface="Arial MT"/>
                <a:cs typeface="Arial MT"/>
              </a:rPr>
              <a:t> </a:t>
            </a:r>
            <a:r>
              <a:rPr sz="2500" dirty="0">
                <a:latin typeface="Arial MT"/>
                <a:cs typeface="Arial MT"/>
              </a:rPr>
              <a:t>Inverter</a:t>
            </a:r>
            <a:r>
              <a:rPr sz="2500" spc="-25" dirty="0">
                <a:latin typeface="Arial MT"/>
                <a:cs typeface="Arial MT"/>
              </a:rPr>
              <a:t> </a:t>
            </a:r>
            <a:r>
              <a:rPr sz="2500" spc="10" dirty="0">
                <a:latin typeface="Arial MT"/>
                <a:cs typeface="Arial MT"/>
              </a:rPr>
              <a:t>DC</a:t>
            </a:r>
            <a:r>
              <a:rPr sz="2500" spc="-15" dirty="0">
                <a:latin typeface="Arial MT"/>
                <a:cs typeface="Arial MT"/>
              </a:rPr>
              <a:t> </a:t>
            </a:r>
            <a:r>
              <a:rPr sz="2500" spc="10" dirty="0">
                <a:latin typeface="Arial MT"/>
                <a:cs typeface="Arial MT"/>
              </a:rPr>
              <a:t>response</a:t>
            </a:r>
            <a:endParaRPr sz="250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84725" y="1216355"/>
            <a:ext cx="10198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solidFill>
                  <a:srgbClr val="595959"/>
                </a:solidFill>
                <a:latin typeface="Arial"/>
                <a:cs typeface="Arial"/>
              </a:rPr>
              <a:t>Regio</a:t>
            </a:r>
            <a:r>
              <a:rPr sz="1800" b="1" dirty="0">
                <a:solidFill>
                  <a:srgbClr val="595959"/>
                </a:solidFill>
                <a:latin typeface="Arial"/>
                <a:cs typeface="Arial"/>
              </a:rPr>
              <a:t>n</a:t>
            </a:r>
            <a:r>
              <a:rPr sz="1800" b="1" spc="-7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595959"/>
                </a:solidFill>
                <a:latin typeface="Arial"/>
                <a:cs typeface="Arial"/>
              </a:rPr>
              <a:t>A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11700" y="1921025"/>
            <a:ext cx="8521065" cy="2375535"/>
            <a:chOff x="311700" y="1921025"/>
            <a:chExt cx="8521065" cy="237553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11700" y="1982450"/>
              <a:ext cx="5530451" cy="1756449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784650" y="1921026"/>
              <a:ext cx="3047649" cy="2374998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784650" y="1921025"/>
              <a:ext cx="1344599" cy="237500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11700" y="2502650"/>
              <a:ext cx="5538875" cy="337800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384725" y="505248"/>
            <a:ext cx="4110354" cy="40957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500" spc="10" dirty="0">
                <a:latin typeface="Arial MT"/>
                <a:cs typeface="Arial MT"/>
              </a:rPr>
              <a:t>CMOS</a:t>
            </a:r>
            <a:r>
              <a:rPr sz="2500" spc="-20" dirty="0">
                <a:latin typeface="Arial MT"/>
                <a:cs typeface="Arial MT"/>
              </a:rPr>
              <a:t> </a:t>
            </a:r>
            <a:r>
              <a:rPr sz="2500" dirty="0">
                <a:latin typeface="Arial MT"/>
                <a:cs typeface="Arial MT"/>
              </a:rPr>
              <a:t>Inverter</a:t>
            </a:r>
            <a:r>
              <a:rPr sz="2500" spc="-25" dirty="0">
                <a:latin typeface="Arial MT"/>
                <a:cs typeface="Arial MT"/>
              </a:rPr>
              <a:t> </a:t>
            </a:r>
            <a:r>
              <a:rPr sz="2500" spc="10" dirty="0">
                <a:latin typeface="Arial MT"/>
                <a:cs typeface="Arial MT"/>
              </a:rPr>
              <a:t>DC</a:t>
            </a:r>
            <a:r>
              <a:rPr sz="2500" spc="-15" dirty="0">
                <a:latin typeface="Arial MT"/>
                <a:cs typeface="Arial MT"/>
              </a:rPr>
              <a:t> </a:t>
            </a:r>
            <a:r>
              <a:rPr sz="2500" spc="10" dirty="0">
                <a:latin typeface="Arial MT"/>
                <a:cs typeface="Arial MT"/>
              </a:rPr>
              <a:t>response</a:t>
            </a:r>
            <a:endParaRPr sz="250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84725" y="1216355"/>
            <a:ext cx="10280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solidFill>
                  <a:srgbClr val="595959"/>
                </a:solidFill>
                <a:latin typeface="Arial"/>
                <a:cs typeface="Arial"/>
              </a:rPr>
              <a:t>Region</a:t>
            </a:r>
            <a:r>
              <a:rPr sz="1800" b="1" spc="-8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595959"/>
                </a:solidFill>
                <a:latin typeface="Arial"/>
                <a:cs typeface="Arial"/>
              </a:rPr>
              <a:t>B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11700" y="1921025"/>
            <a:ext cx="8521065" cy="2375535"/>
            <a:chOff x="311700" y="1921025"/>
            <a:chExt cx="8521065" cy="237553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11700" y="1982450"/>
              <a:ext cx="5530451" cy="1756449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784650" y="1921026"/>
              <a:ext cx="3047649" cy="2374998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784650" y="1921025"/>
              <a:ext cx="1467424" cy="237500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11700" y="2794375"/>
              <a:ext cx="5538875" cy="337775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384725" y="505248"/>
            <a:ext cx="4110354" cy="40957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500" spc="10" dirty="0">
                <a:latin typeface="Arial MT"/>
                <a:cs typeface="Arial MT"/>
              </a:rPr>
              <a:t>CMOS</a:t>
            </a:r>
            <a:r>
              <a:rPr sz="2500" spc="-20" dirty="0">
                <a:latin typeface="Arial MT"/>
                <a:cs typeface="Arial MT"/>
              </a:rPr>
              <a:t> </a:t>
            </a:r>
            <a:r>
              <a:rPr sz="2500" dirty="0">
                <a:latin typeface="Arial MT"/>
                <a:cs typeface="Arial MT"/>
              </a:rPr>
              <a:t>Inverter</a:t>
            </a:r>
            <a:r>
              <a:rPr sz="2500" spc="-25" dirty="0">
                <a:latin typeface="Arial MT"/>
                <a:cs typeface="Arial MT"/>
              </a:rPr>
              <a:t> </a:t>
            </a:r>
            <a:r>
              <a:rPr sz="2500" spc="10" dirty="0">
                <a:latin typeface="Arial MT"/>
                <a:cs typeface="Arial MT"/>
              </a:rPr>
              <a:t>DC</a:t>
            </a:r>
            <a:r>
              <a:rPr sz="2500" spc="-15" dirty="0">
                <a:latin typeface="Arial MT"/>
                <a:cs typeface="Arial MT"/>
              </a:rPr>
              <a:t> </a:t>
            </a:r>
            <a:r>
              <a:rPr sz="2500" spc="10" dirty="0">
                <a:latin typeface="Arial MT"/>
                <a:cs typeface="Arial MT"/>
              </a:rPr>
              <a:t>response</a:t>
            </a:r>
            <a:endParaRPr sz="250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84725" y="1216355"/>
            <a:ext cx="10280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solidFill>
                  <a:srgbClr val="595959"/>
                </a:solidFill>
                <a:latin typeface="Arial"/>
                <a:cs typeface="Arial"/>
              </a:rPr>
              <a:t>Region</a:t>
            </a:r>
            <a:r>
              <a:rPr sz="1800" b="1" spc="-8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595959"/>
                </a:solidFill>
                <a:latin typeface="Arial"/>
                <a:cs typeface="Arial"/>
              </a:rPr>
              <a:t>C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11700" y="1921025"/>
            <a:ext cx="8521065" cy="2375535"/>
            <a:chOff x="311700" y="1921025"/>
            <a:chExt cx="8521065" cy="237553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11700" y="1982450"/>
              <a:ext cx="5530451" cy="1756449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784650" y="1921026"/>
              <a:ext cx="3047649" cy="2374998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784650" y="1921025"/>
              <a:ext cx="1912674" cy="237500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11700" y="3086100"/>
              <a:ext cx="5538875" cy="322425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384725" y="505248"/>
            <a:ext cx="4110354" cy="40957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500" spc="10" dirty="0">
                <a:latin typeface="Arial MT"/>
                <a:cs typeface="Arial MT"/>
              </a:rPr>
              <a:t>CMOS</a:t>
            </a:r>
            <a:r>
              <a:rPr sz="2500" spc="-20" dirty="0">
                <a:latin typeface="Arial MT"/>
                <a:cs typeface="Arial MT"/>
              </a:rPr>
              <a:t> </a:t>
            </a:r>
            <a:r>
              <a:rPr sz="2500" dirty="0">
                <a:latin typeface="Arial MT"/>
                <a:cs typeface="Arial MT"/>
              </a:rPr>
              <a:t>Inverter</a:t>
            </a:r>
            <a:r>
              <a:rPr sz="2500" spc="-25" dirty="0">
                <a:latin typeface="Arial MT"/>
                <a:cs typeface="Arial MT"/>
              </a:rPr>
              <a:t> </a:t>
            </a:r>
            <a:r>
              <a:rPr sz="2500" spc="10" dirty="0">
                <a:latin typeface="Arial MT"/>
                <a:cs typeface="Arial MT"/>
              </a:rPr>
              <a:t>DC</a:t>
            </a:r>
            <a:r>
              <a:rPr sz="2500" spc="-15" dirty="0">
                <a:latin typeface="Arial MT"/>
                <a:cs typeface="Arial MT"/>
              </a:rPr>
              <a:t> </a:t>
            </a:r>
            <a:r>
              <a:rPr sz="2500" spc="10" dirty="0">
                <a:latin typeface="Arial MT"/>
                <a:cs typeface="Arial MT"/>
              </a:rPr>
              <a:t>response</a:t>
            </a:r>
            <a:endParaRPr sz="250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84725" y="1216355"/>
            <a:ext cx="10280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solidFill>
                  <a:srgbClr val="595959"/>
                </a:solidFill>
                <a:latin typeface="Arial"/>
                <a:cs typeface="Arial"/>
              </a:rPr>
              <a:t>Region</a:t>
            </a:r>
            <a:r>
              <a:rPr sz="1800" b="1" spc="-8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595959"/>
                </a:solidFill>
                <a:latin typeface="Arial"/>
                <a:cs typeface="Arial"/>
              </a:rPr>
              <a:t>D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84725" y="505248"/>
            <a:ext cx="4110354" cy="40957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500" spc="10" dirty="0">
                <a:latin typeface="Arial MT"/>
                <a:cs typeface="Arial MT"/>
              </a:rPr>
              <a:t>CMOS</a:t>
            </a:r>
            <a:r>
              <a:rPr sz="2500" spc="-20" dirty="0">
                <a:latin typeface="Arial MT"/>
                <a:cs typeface="Arial MT"/>
              </a:rPr>
              <a:t> </a:t>
            </a:r>
            <a:r>
              <a:rPr sz="2500" dirty="0">
                <a:latin typeface="Arial MT"/>
                <a:cs typeface="Arial MT"/>
              </a:rPr>
              <a:t>Inverter</a:t>
            </a:r>
            <a:r>
              <a:rPr sz="2500" spc="-25" dirty="0">
                <a:latin typeface="Arial MT"/>
                <a:cs typeface="Arial MT"/>
              </a:rPr>
              <a:t> </a:t>
            </a:r>
            <a:r>
              <a:rPr sz="2500" spc="10" dirty="0">
                <a:latin typeface="Arial MT"/>
                <a:cs typeface="Arial MT"/>
              </a:rPr>
              <a:t>DC</a:t>
            </a:r>
            <a:r>
              <a:rPr sz="2500" spc="-15" dirty="0">
                <a:latin typeface="Arial MT"/>
                <a:cs typeface="Arial MT"/>
              </a:rPr>
              <a:t> </a:t>
            </a:r>
            <a:r>
              <a:rPr sz="2500" spc="10" dirty="0">
                <a:latin typeface="Arial MT"/>
                <a:cs typeface="Arial MT"/>
              </a:rPr>
              <a:t>response</a:t>
            </a:r>
            <a:endParaRPr sz="250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84725" y="1216355"/>
            <a:ext cx="10160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solidFill>
                  <a:srgbClr val="595959"/>
                </a:solidFill>
                <a:latin typeface="Arial"/>
                <a:cs typeface="Arial"/>
              </a:rPr>
              <a:t>Region</a:t>
            </a:r>
            <a:r>
              <a:rPr sz="1800" b="1" spc="-8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595959"/>
                </a:solidFill>
                <a:latin typeface="Arial"/>
                <a:cs typeface="Arial"/>
              </a:rPr>
              <a:t>E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311700" y="1972031"/>
            <a:ext cx="8329930" cy="2298700"/>
            <a:chOff x="311700" y="1972031"/>
            <a:chExt cx="8329930" cy="229870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832468" y="1972031"/>
              <a:ext cx="2808555" cy="2298486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11700" y="1982450"/>
              <a:ext cx="5538875" cy="175644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11700" y="3377825"/>
              <a:ext cx="5538875" cy="361074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84725" y="505248"/>
            <a:ext cx="4110354" cy="40957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500" spc="10" dirty="0">
                <a:latin typeface="Arial MT"/>
                <a:cs typeface="Arial MT"/>
              </a:rPr>
              <a:t>CMOS</a:t>
            </a:r>
            <a:r>
              <a:rPr sz="2500" spc="-20" dirty="0">
                <a:latin typeface="Arial MT"/>
                <a:cs typeface="Arial MT"/>
              </a:rPr>
              <a:t> </a:t>
            </a:r>
            <a:r>
              <a:rPr sz="2500" dirty="0">
                <a:latin typeface="Arial MT"/>
                <a:cs typeface="Arial MT"/>
              </a:rPr>
              <a:t>Inverter</a:t>
            </a:r>
            <a:r>
              <a:rPr sz="2500" spc="-25" dirty="0">
                <a:latin typeface="Arial MT"/>
                <a:cs typeface="Arial MT"/>
              </a:rPr>
              <a:t> </a:t>
            </a:r>
            <a:r>
              <a:rPr sz="2500" spc="10" dirty="0">
                <a:latin typeface="Arial MT"/>
                <a:cs typeface="Arial MT"/>
              </a:rPr>
              <a:t>DC</a:t>
            </a:r>
            <a:r>
              <a:rPr sz="2500" spc="-15" dirty="0">
                <a:latin typeface="Arial MT"/>
                <a:cs typeface="Arial MT"/>
              </a:rPr>
              <a:t> </a:t>
            </a:r>
            <a:r>
              <a:rPr sz="2500" spc="10" dirty="0">
                <a:latin typeface="Arial MT"/>
                <a:cs typeface="Arial MT"/>
              </a:rPr>
              <a:t>response</a:t>
            </a:r>
            <a:endParaRPr sz="250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59325" y="1216355"/>
            <a:ext cx="21513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Complete</a:t>
            </a:r>
            <a:r>
              <a:rPr sz="1800" spc="-2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b="1" i="1" spc="-5" dirty="0">
                <a:solidFill>
                  <a:srgbClr val="595959"/>
                </a:solidFill>
                <a:latin typeface="Arial"/>
                <a:cs typeface="Arial"/>
              </a:rPr>
              <a:t>V</a:t>
            </a:r>
            <a:r>
              <a:rPr sz="1800" b="1" i="1" spc="-7" baseline="-32407" dirty="0">
                <a:solidFill>
                  <a:srgbClr val="595959"/>
                </a:solidFill>
                <a:latin typeface="Arial"/>
                <a:cs typeface="Arial"/>
              </a:rPr>
              <a:t>out</a:t>
            </a:r>
            <a:r>
              <a:rPr sz="1800" b="1" i="1" spc="217" baseline="-32407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vs</a:t>
            </a:r>
            <a:r>
              <a:rPr sz="1800" spc="-2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b="1" i="1" spc="-5" dirty="0">
                <a:solidFill>
                  <a:srgbClr val="595959"/>
                </a:solidFill>
                <a:latin typeface="Arial"/>
                <a:cs typeface="Arial"/>
              </a:rPr>
              <a:t>V</a:t>
            </a:r>
            <a:r>
              <a:rPr sz="1800" b="1" i="1" spc="-7" baseline="-32407" dirty="0">
                <a:solidFill>
                  <a:srgbClr val="595959"/>
                </a:solidFill>
                <a:latin typeface="Arial"/>
                <a:cs typeface="Arial"/>
              </a:rPr>
              <a:t>in</a:t>
            </a:r>
            <a:endParaRPr sz="1800" baseline="-32407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311700" y="1972031"/>
            <a:ext cx="8329930" cy="2298700"/>
            <a:chOff x="311700" y="1972031"/>
            <a:chExt cx="8329930" cy="229870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832468" y="1972031"/>
              <a:ext cx="2808555" cy="2298486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11700" y="1982450"/>
              <a:ext cx="5538875" cy="1756449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05248"/>
            <a:ext cx="5420995" cy="40957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500" dirty="0"/>
              <a:t>Practical</a:t>
            </a:r>
            <a:r>
              <a:rPr sz="2500" spc="-10" dirty="0"/>
              <a:t> </a:t>
            </a:r>
            <a:r>
              <a:rPr sz="2500" spc="10" dirty="0"/>
              <a:t>CMOS</a:t>
            </a:r>
            <a:r>
              <a:rPr sz="2500" spc="-5" dirty="0"/>
              <a:t> </a:t>
            </a:r>
            <a:r>
              <a:rPr sz="2500" dirty="0"/>
              <a:t>Inverter</a:t>
            </a:r>
            <a:r>
              <a:rPr sz="2500" spc="-10" dirty="0"/>
              <a:t> </a:t>
            </a:r>
            <a:r>
              <a:rPr sz="2500" spc="10" dirty="0"/>
              <a:t>DC</a:t>
            </a:r>
            <a:r>
              <a:rPr sz="2500" spc="-5" dirty="0"/>
              <a:t> </a:t>
            </a:r>
            <a:r>
              <a:rPr sz="2500" spc="10" dirty="0"/>
              <a:t>response</a:t>
            </a:r>
            <a:endParaRPr sz="2500"/>
          </a:p>
        </p:txBody>
      </p:sp>
      <p:sp>
        <p:nvSpPr>
          <p:cNvPr id="3" name="object 3"/>
          <p:cNvSpPr txBox="1"/>
          <p:nvPr/>
        </p:nvSpPr>
        <p:spPr>
          <a:xfrm>
            <a:off x="384725" y="1216355"/>
            <a:ext cx="7661909" cy="767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In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20" dirty="0">
                <a:solidFill>
                  <a:srgbClr val="595959"/>
                </a:solidFill>
                <a:latin typeface="Arial MT"/>
                <a:cs typeface="Arial MT"/>
              </a:rPr>
              <a:t>reality,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 the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sharp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change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 at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region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C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is not that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sharp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 and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has finite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slope</a:t>
            </a:r>
            <a:endParaRPr sz="1800">
              <a:latin typeface="Arial MT"/>
              <a:cs typeface="Arial MT"/>
            </a:endParaRPr>
          </a:p>
          <a:p>
            <a:pPr marL="469900" indent="-367030">
              <a:lnSpc>
                <a:spcPct val="100000"/>
              </a:lnSpc>
              <a:spcBef>
                <a:spcPts val="1525"/>
              </a:spcBef>
              <a:buChar char="●"/>
              <a:tabLst>
                <a:tab pos="469265" algn="l"/>
                <a:tab pos="469900" algn="l"/>
              </a:tabLst>
            </a:pP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Theoretical</a:t>
            </a:r>
            <a:r>
              <a:rPr sz="1800" spc="-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inverter</a:t>
            </a:r>
            <a:r>
              <a:rPr sz="1800" spc="-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DC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response</a:t>
            </a:r>
            <a:r>
              <a:rPr sz="1800" spc="-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vs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Practical</a:t>
            </a:r>
            <a:r>
              <a:rPr sz="1800" spc="-2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inverter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DC</a:t>
            </a:r>
            <a:r>
              <a:rPr sz="1800" spc="-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response</a:t>
            </a:r>
            <a:endParaRPr sz="18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18043" y="2244881"/>
            <a:ext cx="2808555" cy="2298486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281110" y="2180884"/>
            <a:ext cx="2490629" cy="2044299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7662875" y="2491813"/>
            <a:ext cx="697865" cy="665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Arial MT"/>
                <a:cs typeface="Arial MT"/>
              </a:rPr>
              <a:t>Finite </a:t>
            </a:r>
            <a:r>
              <a:rPr sz="1400" dirty="0">
                <a:latin typeface="Arial MT"/>
                <a:cs typeface="Arial MT"/>
              </a:rPr>
              <a:t> slope </a:t>
            </a:r>
            <a:r>
              <a:rPr sz="1400" spc="-5" dirty="0">
                <a:latin typeface="Arial MT"/>
                <a:cs typeface="Arial MT"/>
              </a:rPr>
              <a:t>at </a:t>
            </a:r>
            <a:r>
              <a:rPr sz="1400" spc="-37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region</a:t>
            </a:r>
            <a:r>
              <a:rPr sz="1400" spc="-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C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022900" y="2491813"/>
            <a:ext cx="697865" cy="665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Arial MT"/>
                <a:cs typeface="Arial MT"/>
              </a:rPr>
              <a:t>Infinite </a:t>
            </a:r>
            <a:r>
              <a:rPr sz="1400" dirty="0">
                <a:latin typeface="Arial MT"/>
                <a:cs typeface="Arial MT"/>
              </a:rPr>
              <a:t> slope </a:t>
            </a:r>
            <a:r>
              <a:rPr sz="1400" spc="-5" dirty="0">
                <a:latin typeface="Arial MT"/>
                <a:cs typeface="Arial MT"/>
              </a:rPr>
              <a:t>at </a:t>
            </a:r>
            <a:r>
              <a:rPr sz="1400" spc="-37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region</a:t>
            </a:r>
            <a:r>
              <a:rPr sz="1400" spc="-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C</a:t>
            </a:r>
            <a:endParaRPr sz="1400">
              <a:latin typeface="Arial MT"/>
              <a:cs typeface="Arial MT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2900535" y="2836787"/>
            <a:ext cx="1054100" cy="271145"/>
            <a:chOff x="2900535" y="2836787"/>
            <a:chExt cx="1054100" cy="271145"/>
          </a:xfrm>
        </p:grpSpPr>
        <p:sp>
          <p:nvSpPr>
            <p:cNvPr id="9" name="object 9"/>
            <p:cNvSpPr/>
            <p:nvPr/>
          </p:nvSpPr>
          <p:spPr>
            <a:xfrm>
              <a:off x="2947276" y="2841550"/>
              <a:ext cx="1002665" cy="246379"/>
            </a:xfrm>
            <a:custGeom>
              <a:avLst/>
              <a:gdLst/>
              <a:ahLst/>
              <a:cxnLst/>
              <a:rect l="l" t="t" r="r" b="b"/>
              <a:pathLst>
                <a:path w="1002664" h="246380">
                  <a:moveTo>
                    <a:pt x="1002598" y="0"/>
                  </a:moveTo>
                  <a:lnTo>
                    <a:pt x="0" y="246172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905298" y="3072443"/>
              <a:ext cx="46355" cy="31115"/>
            </a:xfrm>
            <a:custGeom>
              <a:avLst/>
              <a:gdLst/>
              <a:ahLst/>
              <a:cxnLst/>
              <a:rect l="l" t="t" r="r" b="b"/>
              <a:pathLst>
                <a:path w="46355" h="31114">
                  <a:moveTo>
                    <a:pt x="45729" y="30557"/>
                  </a:moveTo>
                  <a:lnTo>
                    <a:pt x="0" y="25586"/>
                  </a:lnTo>
                  <a:lnTo>
                    <a:pt x="38226" y="0"/>
                  </a:lnTo>
                  <a:lnTo>
                    <a:pt x="45729" y="30557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905298" y="3072443"/>
              <a:ext cx="46355" cy="31115"/>
            </a:xfrm>
            <a:custGeom>
              <a:avLst/>
              <a:gdLst/>
              <a:ahLst/>
              <a:cxnLst/>
              <a:rect l="l" t="t" r="r" b="b"/>
              <a:pathLst>
                <a:path w="46355" h="31114">
                  <a:moveTo>
                    <a:pt x="38226" y="0"/>
                  </a:moveTo>
                  <a:lnTo>
                    <a:pt x="0" y="25586"/>
                  </a:lnTo>
                  <a:lnTo>
                    <a:pt x="45729" y="30557"/>
                  </a:lnTo>
                  <a:lnTo>
                    <a:pt x="38226" y="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2" name="object 12"/>
          <p:cNvGrpSpPr/>
          <p:nvPr/>
        </p:nvGrpSpPr>
        <p:grpSpPr>
          <a:xfrm>
            <a:off x="6738617" y="2836787"/>
            <a:ext cx="856615" cy="267970"/>
            <a:chOff x="6738617" y="2836787"/>
            <a:chExt cx="856615" cy="267970"/>
          </a:xfrm>
        </p:grpSpPr>
        <p:sp>
          <p:nvSpPr>
            <p:cNvPr id="13" name="object 13"/>
            <p:cNvSpPr/>
            <p:nvPr/>
          </p:nvSpPr>
          <p:spPr>
            <a:xfrm>
              <a:off x="6784756" y="2841550"/>
              <a:ext cx="805180" cy="243840"/>
            </a:xfrm>
            <a:custGeom>
              <a:avLst/>
              <a:gdLst/>
              <a:ahLst/>
              <a:cxnLst/>
              <a:rect l="l" t="t" r="r" b="b"/>
              <a:pathLst>
                <a:path w="805179" h="243839">
                  <a:moveTo>
                    <a:pt x="805092" y="0"/>
                  </a:moveTo>
                  <a:lnTo>
                    <a:pt x="0" y="243269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6743379" y="3069759"/>
              <a:ext cx="46355" cy="30480"/>
            </a:xfrm>
            <a:custGeom>
              <a:avLst/>
              <a:gdLst/>
              <a:ahLst/>
              <a:cxnLst/>
              <a:rect l="l" t="t" r="r" b="b"/>
              <a:pathLst>
                <a:path w="46354" h="30480">
                  <a:moveTo>
                    <a:pt x="45927" y="30120"/>
                  </a:moveTo>
                  <a:lnTo>
                    <a:pt x="0" y="27562"/>
                  </a:lnTo>
                  <a:lnTo>
                    <a:pt x="36826" y="0"/>
                  </a:lnTo>
                  <a:lnTo>
                    <a:pt x="45927" y="30120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6743379" y="3069759"/>
              <a:ext cx="46355" cy="30480"/>
            </a:xfrm>
            <a:custGeom>
              <a:avLst/>
              <a:gdLst/>
              <a:ahLst/>
              <a:cxnLst/>
              <a:rect l="l" t="t" r="r" b="b"/>
              <a:pathLst>
                <a:path w="46354" h="30480">
                  <a:moveTo>
                    <a:pt x="36826" y="0"/>
                  </a:moveTo>
                  <a:lnTo>
                    <a:pt x="0" y="27562"/>
                  </a:lnTo>
                  <a:lnTo>
                    <a:pt x="45927" y="30120"/>
                  </a:lnTo>
                  <a:lnTo>
                    <a:pt x="36826" y="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05248"/>
            <a:ext cx="2155825" cy="40957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500" spc="5" dirty="0"/>
              <a:t>Supply</a:t>
            </a:r>
            <a:r>
              <a:rPr sz="2500" spc="-60" dirty="0"/>
              <a:t> </a:t>
            </a:r>
            <a:r>
              <a:rPr sz="2500" dirty="0"/>
              <a:t>Current</a:t>
            </a:r>
            <a:endParaRPr sz="25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643299" y="1182156"/>
            <a:ext cx="2139958" cy="3428369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346625" y="1216355"/>
            <a:ext cx="5586730" cy="10833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If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I</a:t>
            </a:r>
            <a:r>
              <a:rPr sz="1800" baseline="-32407" dirty="0">
                <a:solidFill>
                  <a:srgbClr val="595959"/>
                </a:solidFill>
                <a:latin typeface="Arial MT"/>
                <a:cs typeface="Arial MT"/>
              </a:rPr>
              <a:t>DD</a:t>
            </a:r>
            <a:r>
              <a:rPr sz="1800" spc="247" baseline="-32407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=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I</a:t>
            </a:r>
            <a:r>
              <a:rPr sz="1800" spc="-7" baseline="-32407" dirty="0">
                <a:solidFill>
                  <a:srgbClr val="595959"/>
                </a:solidFill>
                <a:latin typeface="Arial MT"/>
                <a:cs typeface="Arial MT"/>
              </a:rPr>
              <a:t>dsn</a:t>
            </a:r>
            <a:r>
              <a:rPr sz="1800" spc="247" baseline="-32407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=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|I</a:t>
            </a:r>
            <a:r>
              <a:rPr sz="1800" spc="-7" baseline="-32407" dirty="0">
                <a:solidFill>
                  <a:srgbClr val="595959"/>
                </a:solidFill>
                <a:latin typeface="Arial MT"/>
                <a:cs typeface="Arial MT"/>
              </a:rPr>
              <a:t>dsp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| is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the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supply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current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 drawn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from </a:t>
            </a:r>
            <a:r>
              <a:rPr sz="1800" spc="5" dirty="0">
                <a:solidFill>
                  <a:srgbClr val="595959"/>
                </a:solidFill>
                <a:latin typeface="Arial MT"/>
                <a:cs typeface="Arial MT"/>
              </a:rPr>
              <a:t>V</a:t>
            </a:r>
            <a:r>
              <a:rPr sz="1800" spc="7" baseline="-32407" dirty="0">
                <a:solidFill>
                  <a:srgbClr val="595959"/>
                </a:solidFill>
                <a:latin typeface="Arial MT"/>
                <a:cs typeface="Arial MT"/>
              </a:rPr>
              <a:t>DD</a:t>
            </a:r>
            <a:endParaRPr sz="1800" baseline="-32407">
              <a:latin typeface="Arial MT"/>
              <a:cs typeface="Arial MT"/>
            </a:endParaRPr>
          </a:p>
          <a:p>
            <a:pPr marL="508000" indent="-367030">
              <a:lnSpc>
                <a:spcPct val="100000"/>
              </a:lnSpc>
              <a:spcBef>
                <a:spcPts val="1525"/>
              </a:spcBef>
              <a:buChar char="●"/>
              <a:tabLst>
                <a:tab pos="507365" algn="l"/>
                <a:tab pos="508000" algn="l"/>
              </a:tabLst>
            </a:pPr>
            <a:r>
              <a:rPr sz="1800" spc="-5" dirty="0">
                <a:solidFill>
                  <a:srgbClr val="CC0000"/>
                </a:solidFill>
                <a:latin typeface="Arial MT"/>
                <a:cs typeface="Arial MT"/>
              </a:rPr>
              <a:t>I</a:t>
            </a:r>
            <a:r>
              <a:rPr sz="1800" spc="-7" baseline="-32407" dirty="0">
                <a:solidFill>
                  <a:srgbClr val="CC0000"/>
                </a:solidFill>
                <a:latin typeface="Arial MT"/>
                <a:cs typeface="Arial MT"/>
              </a:rPr>
              <a:t>DD</a:t>
            </a:r>
            <a:r>
              <a:rPr sz="1800" spc="232" baseline="-32407" dirty="0">
                <a:solidFill>
                  <a:srgbClr val="CC0000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CC0000"/>
                </a:solidFill>
                <a:latin typeface="Arial MT"/>
                <a:cs typeface="Arial MT"/>
              </a:rPr>
              <a:t>is</a:t>
            </a:r>
            <a:r>
              <a:rPr sz="1800" spc="-15" dirty="0">
                <a:solidFill>
                  <a:srgbClr val="CC0000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CC0000"/>
                </a:solidFill>
                <a:latin typeface="Arial MT"/>
                <a:cs typeface="Arial MT"/>
              </a:rPr>
              <a:t>non-zero</a:t>
            </a:r>
            <a:r>
              <a:rPr sz="1800" spc="-10" dirty="0">
                <a:solidFill>
                  <a:srgbClr val="CC0000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CC0000"/>
                </a:solidFill>
                <a:latin typeface="Arial MT"/>
                <a:cs typeface="Arial MT"/>
              </a:rPr>
              <a:t>in</a:t>
            </a:r>
            <a:r>
              <a:rPr sz="1800" spc="-15" dirty="0">
                <a:solidFill>
                  <a:srgbClr val="CC000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CC0000"/>
                </a:solidFill>
                <a:latin typeface="Arial MT"/>
                <a:cs typeface="Arial MT"/>
              </a:rPr>
              <a:t>regions</a:t>
            </a:r>
            <a:r>
              <a:rPr sz="1800" spc="-10" dirty="0">
                <a:solidFill>
                  <a:srgbClr val="CC0000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CC0000"/>
                </a:solidFill>
                <a:latin typeface="Arial MT"/>
                <a:cs typeface="Arial MT"/>
              </a:rPr>
              <a:t>B,</a:t>
            </a:r>
            <a:r>
              <a:rPr sz="1800" spc="-20" dirty="0">
                <a:solidFill>
                  <a:srgbClr val="CC000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CC0000"/>
                </a:solidFill>
                <a:latin typeface="Arial MT"/>
                <a:cs typeface="Arial MT"/>
              </a:rPr>
              <a:t>C</a:t>
            </a:r>
            <a:r>
              <a:rPr sz="1800" spc="-10" dirty="0">
                <a:solidFill>
                  <a:srgbClr val="CC000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CC0000"/>
                </a:solidFill>
                <a:latin typeface="Arial MT"/>
                <a:cs typeface="Arial MT"/>
              </a:rPr>
              <a:t>&amp;</a:t>
            </a:r>
            <a:r>
              <a:rPr sz="1800" spc="-20" dirty="0">
                <a:solidFill>
                  <a:srgbClr val="CC000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CC0000"/>
                </a:solidFill>
                <a:latin typeface="Arial MT"/>
                <a:cs typeface="Arial MT"/>
              </a:rPr>
              <a:t>D</a:t>
            </a:r>
            <a:endParaRPr sz="1800">
              <a:latin typeface="Arial MT"/>
              <a:cs typeface="Arial MT"/>
            </a:endParaRPr>
          </a:p>
          <a:p>
            <a:pPr marL="508000" indent="-367030">
              <a:lnSpc>
                <a:spcPct val="100000"/>
              </a:lnSpc>
              <a:spcBef>
                <a:spcPts val="320"/>
              </a:spcBef>
              <a:buChar char="●"/>
              <a:tabLst>
                <a:tab pos="507365" algn="l"/>
                <a:tab pos="508000" algn="l"/>
              </a:tabLst>
            </a:pPr>
            <a:r>
              <a:rPr sz="1800" spc="-5" dirty="0">
                <a:solidFill>
                  <a:srgbClr val="37761C"/>
                </a:solidFill>
                <a:latin typeface="Arial MT"/>
                <a:cs typeface="Arial MT"/>
              </a:rPr>
              <a:t>I</a:t>
            </a:r>
            <a:r>
              <a:rPr sz="1800" spc="-7" baseline="-32407" dirty="0">
                <a:solidFill>
                  <a:srgbClr val="37761C"/>
                </a:solidFill>
                <a:latin typeface="Arial MT"/>
                <a:cs typeface="Arial MT"/>
              </a:rPr>
              <a:t>DD</a:t>
            </a:r>
            <a:r>
              <a:rPr sz="1800" spc="225" baseline="-32407" dirty="0">
                <a:solidFill>
                  <a:srgbClr val="37761C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37761C"/>
                </a:solidFill>
                <a:latin typeface="Arial MT"/>
                <a:cs typeface="Arial MT"/>
              </a:rPr>
              <a:t>is</a:t>
            </a:r>
            <a:r>
              <a:rPr sz="1800" spc="-15" dirty="0">
                <a:solidFill>
                  <a:srgbClr val="37761C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37761C"/>
                </a:solidFill>
                <a:latin typeface="Arial MT"/>
                <a:cs typeface="Arial MT"/>
              </a:rPr>
              <a:t>zero</a:t>
            </a:r>
            <a:r>
              <a:rPr sz="1800" spc="-15" dirty="0">
                <a:solidFill>
                  <a:srgbClr val="37761C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37761C"/>
                </a:solidFill>
                <a:latin typeface="Arial MT"/>
                <a:cs typeface="Arial MT"/>
              </a:rPr>
              <a:t>in</a:t>
            </a:r>
            <a:r>
              <a:rPr sz="1800" spc="-15" dirty="0">
                <a:solidFill>
                  <a:srgbClr val="37761C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37761C"/>
                </a:solidFill>
                <a:latin typeface="Arial MT"/>
                <a:cs typeface="Arial MT"/>
              </a:rPr>
              <a:t>regions</a:t>
            </a:r>
            <a:r>
              <a:rPr sz="1800" spc="-110" dirty="0">
                <a:solidFill>
                  <a:srgbClr val="37761C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37761C"/>
                </a:solidFill>
                <a:latin typeface="Arial MT"/>
                <a:cs typeface="Arial MT"/>
              </a:rPr>
              <a:t>A</a:t>
            </a:r>
            <a:r>
              <a:rPr sz="1800" spc="-114" dirty="0">
                <a:solidFill>
                  <a:srgbClr val="37761C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37761C"/>
                </a:solidFill>
                <a:latin typeface="Arial MT"/>
                <a:cs typeface="Arial MT"/>
              </a:rPr>
              <a:t>&amp;</a:t>
            </a:r>
            <a:r>
              <a:rPr sz="1800" spc="-20" dirty="0">
                <a:solidFill>
                  <a:srgbClr val="37761C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37761C"/>
                </a:solidFill>
                <a:latin typeface="Arial MT"/>
                <a:cs typeface="Arial MT"/>
              </a:rPr>
              <a:t>E</a:t>
            </a:r>
            <a:endParaRPr sz="1800">
              <a:latin typeface="Arial MT"/>
              <a:cs typeface="Arial MT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11700" y="2812425"/>
            <a:ext cx="4130648" cy="175644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857641" y="3130498"/>
            <a:ext cx="1575364" cy="112692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05248"/>
            <a:ext cx="2903220" cy="40957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500" spc="5" dirty="0"/>
              <a:t>Power</a:t>
            </a:r>
            <a:r>
              <a:rPr sz="2500" spc="-75" dirty="0"/>
              <a:t> </a:t>
            </a:r>
            <a:r>
              <a:rPr sz="2500" spc="5" dirty="0"/>
              <a:t>Consumption</a:t>
            </a:r>
            <a:endParaRPr sz="25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643299" y="1182156"/>
            <a:ext cx="2139958" cy="3428369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308525" y="1216355"/>
            <a:ext cx="5662930" cy="28022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89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If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I</a:t>
            </a:r>
            <a:r>
              <a:rPr sz="1800" baseline="-32407" dirty="0">
                <a:solidFill>
                  <a:srgbClr val="595959"/>
                </a:solidFill>
                <a:latin typeface="Arial MT"/>
                <a:cs typeface="Arial MT"/>
              </a:rPr>
              <a:t>DD</a:t>
            </a:r>
            <a:r>
              <a:rPr sz="1800" spc="247" baseline="-32407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=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I</a:t>
            </a:r>
            <a:r>
              <a:rPr sz="1800" spc="-7" baseline="-32407" dirty="0">
                <a:solidFill>
                  <a:srgbClr val="595959"/>
                </a:solidFill>
                <a:latin typeface="Arial MT"/>
                <a:cs typeface="Arial MT"/>
              </a:rPr>
              <a:t>dsn</a:t>
            </a:r>
            <a:r>
              <a:rPr sz="1800" spc="247" baseline="-32407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=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|I</a:t>
            </a:r>
            <a:r>
              <a:rPr sz="1800" spc="-7" baseline="-32407" dirty="0">
                <a:solidFill>
                  <a:srgbClr val="595959"/>
                </a:solidFill>
                <a:latin typeface="Arial MT"/>
                <a:cs typeface="Arial MT"/>
              </a:rPr>
              <a:t>dsp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| is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the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current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drawn from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supply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5" dirty="0">
                <a:solidFill>
                  <a:srgbClr val="595959"/>
                </a:solidFill>
                <a:latin typeface="Arial MT"/>
                <a:cs typeface="Arial MT"/>
              </a:rPr>
              <a:t>V</a:t>
            </a:r>
            <a:r>
              <a:rPr sz="1800" spc="7" baseline="-32407" dirty="0">
                <a:solidFill>
                  <a:srgbClr val="595959"/>
                </a:solidFill>
                <a:latin typeface="Arial MT"/>
                <a:cs typeface="Arial MT"/>
              </a:rPr>
              <a:t>DD</a:t>
            </a:r>
            <a:endParaRPr sz="1800" baseline="-32407">
              <a:latin typeface="Arial MT"/>
              <a:cs typeface="Arial MT"/>
            </a:endParaRPr>
          </a:p>
          <a:p>
            <a:pPr marL="546100" indent="-367030">
              <a:lnSpc>
                <a:spcPct val="100000"/>
              </a:lnSpc>
              <a:spcBef>
                <a:spcPts val="1525"/>
              </a:spcBef>
              <a:buChar char="●"/>
              <a:tabLst>
                <a:tab pos="545465" algn="l"/>
                <a:tab pos="546100" algn="l"/>
              </a:tabLst>
            </a:pPr>
            <a:r>
              <a:rPr sz="1800" spc="-5" dirty="0">
                <a:solidFill>
                  <a:srgbClr val="CC0000"/>
                </a:solidFill>
                <a:latin typeface="Arial MT"/>
                <a:cs typeface="Arial MT"/>
              </a:rPr>
              <a:t>I</a:t>
            </a:r>
            <a:r>
              <a:rPr sz="1800" spc="-7" baseline="-32407" dirty="0">
                <a:solidFill>
                  <a:srgbClr val="CC0000"/>
                </a:solidFill>
                <a:latin typeface="Arial MT"/>
                <a:cs typeface="Arial MT"/>
              </a:rPr>
              <a:t>DD</a:t>
            </a:r>
            <a:r>
              <a:rPr sz="1800" spc="232" baseline="-32407" dirty="0">
                <a:solidFill>
                  <a:srgbClr val="CC0000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CC0000"/>
                </a:solidFill>
                <a:latin typeface="Arial MT"/>
                <a:cs typeface="Arial MT"/>
              </a:rPr>
              <a:t>is</a:t>
            </a:r>
            <a:r>
              <a:rPr sz="1800" spc="-15" dirty="0">
                <a:solidFill>
                  <a:srgbClr val="CC0000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CC0000"/>
                </a:solidFill>
                <a:latin typeface="Arial MT"/>
                <a:cs typeface="Arial MT"/>
              </a:rPr>
              <a:t>non-zero</a:t>
            </a:r>
            <a:r>
              <a:rPr sz="1800" spc="-10" dirty="0">
                <a:solidFill>
                  <a:srgbClr val="CC0000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CC0000"/>
                </a:solidFill>
                <a:latin typeface="Arial MT"/>
                <a:cs typeface="Arial MT"/>
              </a:rPr>
              <a:t>in</a:t>
            </a:r>
            <a:r>
              <a:rPr sz="1800" spc="-15" dirty="0">
                <a:solidFill>
                  <a:srgbClr val="CC000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CC0000"/>
                </a:solidFill>
                <a:latin typeface="Arial MT"/>
                <a:cs typeface="Arial MT"/>
              </a:rPr>
              <a:t>regions</a:t>
            </a:r>
            <a:r>
              <a:rPr sz="1800" spc="-10" dirty="0">
                <a:solidFill>
                  <a:srgbClr val="CC0000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CC0000"/>
                </a:solidFill>
                <a:latin typeface="Arial MT"/>
                <a:cs typeface="Arial MT"/>
              </a:rPr>
              <a:t>B,</a:t>
            </a:r>
            <a:r>
              <a:rPr sz="1800" spc="-20" dirty="0">
                <a:solidFill>
                  <a:srgbClr val="CC000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CC0000"/>
                </a:solidFill>
                <a:latin typeface="Arial MT"/>
                <a:cs typeface="Arial MT"/>
              </a:rPr>
              <a:t>C</a:t>
            </a:r>
            <a:r>
              <a:rPr sz="1800" spc="-10" dirty="0">
                <a:solidFill>
                  <a:srgbClr val="CC000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CC0000"/>
                </a:solidFill>
                <a:latin typeface="Arial MT"/>
                <a:cs typeface="Arial MT"/>
              </a:rPr>
              <a:t>&amp;</a:t>
            </a:r>
            <a:r>
              <a:rPr sz="1800" spc="-20" dirty="0">
                <a:solidFill>
                  <a:srgbClr val="CC000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CC0000"/>
                </a:solidFill>
                <a:latin typeface="Arial MT"/>
                <a:cs typeface="Arial MT"/>
              </a:rPr>
              <a:t>D</a:t>
            </a:r>
            <a:endParaRPr sz="1800">
              <a:latin typeface="Arial MT"/>
              <a:cs typeface="Arial MT"/>
            </a:endParaRPr>
          </a:p>
          <a:p>
            <a:pPr marL="546100" indent="-367030">
              <a:lnSpc>
                <a:spcPct val="100000"/>
              </a:lnSpc>
              <a:spcBef>
                <a:spcPts val="320"/>
              </a:spcBef>
              <a:buChar char="●"/>
              <a:tabLst>
                <a:tab pos="545465" algn="l"/>
                <a:tab pos="546100" algn="l"/>
              </a:tabLst>
            </a:pPr>
            <a:r>
              <a:rPr sz="1800" spc="-5" dirty="0">
                <a:solidFill>
                  <a:srgbClr val="37761C"/>
                </a:solidFill>
                <a:latin typeface="Arial MT"/>
                <a:cs typeface="Arial MT"/>
              </a:rPr>
              <a:t>I</a:t>
            </a:r>
            <a:r>
              <a:rPr sz="1800" spc="-7" baseline="-32407" dirty="0">
                <a:solidFill>
                  <a:srgbClr val="37761C"/>
                </a:solidFill>
                <a:latin typeface="Arial MT"/>
                <a:cs typeface="Arial MT"/>
              </a:rPr>
              <a:t>DD</a:t>
            </a:r>
            <a:r>
              <a:rPr sz="1800" spc="225" baseline="-32407" dirty="0">
                <a:solidFill>
                  <a:srgbClr val="37761C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37761C"/>
                </a:solidFill>
                <a:latin typeface="Arial MT"/>
                <a:cs typeface="Arial MT"/>
              </a:rPr>
              <a:t>is</a:t>
            </a:r>
            <a:r>
              <a:rPr sz="1800" spc="-15" dirty="0">
                <a:solidFill>
                  <a:srgbClr val="37761C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37761C"/>
                </a:solidFill>
                <a:latin typeface="Arial MT"/>
                <a:cs typeface="Arial MT"/>
              </a:rPr>
              <a:t>zero</a:t>
            </a:r>
            <a:r>
              <a:rPr sz="1800" spc="-15" dirty="0">
                <a:solidFill>
                  <a:srgbClr val="37761C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37761C"/>
                </a:solidFill>
                <a:latin typeface="Arial MT"/>
                <a:cs typeface="Arial MT"/>
              </a:rPr>
              <a:t>in</a:t>
            </a:r>
            <a:r>
              <a:rPr sz="1800" spc="-15" dirty="0">
                <a:solidFill>
                  <a:srgbClr val="37761C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37761C"/>
                </a:solidFill>
                <a:latin typeface="Arial MT"/>
                <a:cs typeface="Arial MT"/>
              </a:rPr>
              <a:t>regions</a:t>
            </a:r>
            <a:r>
              <a:rPr sz="1800" spc="-110" dirty="0">
                <a:solidFill>
                  <a:srgbClr val="37761C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37761C"/>
                </a:solidFill>
                <a:latin typeface="Arial MT"/>
                <a:cs typeface="Arial MT"/>
              </a:rPr>
              <a:t>A</a:t>
            </a:r>
            <a:r>
              <a:rPr sz="1800" spc="-114" dirty="0">
                <a:solidFill>
                  <a:srgbClr val="37761C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37761C"/>
                </a:solidFill>
                <a:latin typeface="Arial MT"/>
                <a:cs typeface="Arial MT"/>
              </a:rPr>
              <a:t>&amp;</a:t>
            </a:r>
            <a:r>
              <a:rPr sz="1800" spc="-20" dirty="0">
                <a:solidFill>
                  <a:srgbClr val="37761C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37761C"/>
                </a:solidFill>
                <a:latin typeface="Arial MT"/>
                <a:cs typeface="Arial MT"/>
              </a:rPr>
              <a:t>E</a:t>
            </a:r>
            <a:endParaRPr sz="1800">
              <a:latin typeface="Arial MT"/>
              <a:cs typeface="Arial MT"/>
            </a:endParaRPr>
          </a:p>
          <a:p>
            <a:pPr marL="88900">
              <a:lnSpc>
                <a:spcPct val="100000"/>
              </a:lnSpc>
              <a:spcBef>
                <a:spcPts val="1525"/>
              </a:spcBef>
            </a:pP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That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is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why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we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always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try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to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work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with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strong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signals</a:t>
            </a:r>
            <a:endParaRPr sz="1800">
              <a:latin typeface="Arial MT"/>
              <a:cs typeface="Arial MT"/>
            </a:endParaRPr>
          </a:p>
          <a:p>
            <a:pPr marL="546100" indent="-367030">
              <a:lnSpc>
                <a:spcPct val="100000"/>
              </a:lnSpc>
              <a:spcBef>
                <a:spcPts val="1525"/>
              </a:spcBef>
              <a:buChar char="●"/>
              <a:tabLst>
                <a:tab pos="545465" algn="l"/>
                <a:tab pos="546100" algn="l"/>
              </a:tabLst>
            </a:pPr>
            <a:r>
              <a:rPr sz="1800" dirty="0">
                <a:solidFill>
                  <a:srgbClr val="37761C"/>
                </a:solidFill>
                <a:latin typeface="Arial MT"/>
                <a:cs typeface="Arial MT"/>
              </a:rPr>
              <a:t>A</a:t>
            </a:r>
            <a:r>
              <a:rPr sz="1800" spc="-114" dirty="0">
                <a:solidFill>
                  <a:srgbClr val="37761C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37761C"/>
                </a:solidFill>
                <a:latin typeface="Arial MT"/>
                <a:cs typeface="Arial MT"/>
              </a:rPr>
              <a:t>strong</a:t>
            </a:r>
            <a:r>
              <a:rPr sz="1800" spc="-10" dirty="0">
                <a:solidFill>
                  <a:srgbClr val="37761C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37761C"/>
                </a:solidFill>
                <a:latin typeface="Arial MT"/>
                <a:cs typeface="Arial MT"/>
              </a:rPr>
              <a:t>0</a:t>
            </a:r>
            <a:r>
              <a:rPr sz="1800" spc="-10" dirty="0">
                <a:solidFill>
                  <a:srgbClr val="37761C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37761C"/>
                </a:solidFill>
                <a:latin typeface="Arial MT"/>
                <a:cs typeface="Arial MT"/>
              </a:rPr>
              <a:t>falls</a:t>
            </a:r>
            <a:r>
              <a:rPr sz="1800" spc="-15" dirty="0">
                <a:solidFill>
                  <a:srgbClr val="37761C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37761C"/>
                </a:solidFill>
                <a:latin typeface="Arial MT"/>
                <a:cs typeface="Arial MT"/>
              </a:rPr>
              <a:t>in</a:t>
            </a:r>
            <a:r>
              <a:rPr sz="1800" spc="-10" dirty="0">
                <a:solidFill>
                  <a:srgbClr val="37761C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37761C"/>
                </a:solidFill>
                <a:latin typeface="Arial MT"/>
                <a:cs typeface="Arial MT"/>
              </a:rPr>
              <a:t>the</a:t>
            </a:r>
            <a:r>
              <a:rPr sz="1800" spc="-10" dirty="0">
                <a:solidFill>
                  <a:srgbClr val="37761C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37761C"/>
                </a:solidFill>
                <a:latin typeface="Arial MT"/>
                <a:cs typeface="Arial MT"/>
              </a:rPr>
              <a:t>region</a:t>
            </a:r>
            <a:r>
              <a:rPr sz="1800" spc="-110" dirty="0">
                <a:solidFill>
                  <a:srgbClr val="37761C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37761C"/>
                </a:solidFill>
                <a:latin typeface="Arial MT"/>
                <a:cs typeface="Arial MT"/>
              </a:rPr>
              <a:t>A</a:t>
            </a:r>
            <a:r>
              <a:rPr sz="1800" spc="-110" dirty="0">
                <a:solidFill>
                  <a:srgbClr val="37761C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37761C"/>
                </a:solidFill>
                <a:latin typeface="Arial MT"/>
                <a:cs typeface="Arial MT"/>
              </a:rPr>
              <a:t>where</a:t>
            </a:r>
            <a:r>
              <a:rPr sz="1800" spc="-15" dirty="0">
                <a:solidFill>
                  <a:srgbClr val="37761C"/>
                </a:solidFill>
                <a:latin typeface="Arial MT"/>
                <a:cs typeface="Arial MT"/>
              </a:rPr>
              <a:t> </a:t>
            </a:r>
            <a:r>
              <a:rPr sz="1800" spc="10" dirty="0">
                <a:solidFill>
                  <a:srgbClr val="37761C"/>
                </a:solidFill>
                <a:latin typeface="Arial MT"/>
                <a:cs typeface="Arial MT"/>
              </a:rPr>
              <a:t>I</a:t>
            </a:r>
            <a:r>
              <a:rPr sz="1800" spc="15" baseline="-32407" dirty="0">
                <a:solidFill>
                  <a:srgbClr val="37761C"/>
                </a:solidFill>
                <a:latin typeface="Arial MT"/>
                <a:cs typeface="Arial MT"/>
              </a:rPr>
              <a:t>DD</a:t>
            </a:r>
            <a:r>
              <a:rPr sz="1800" spc="240" baseline="-32407" dirty="0">
                <a:solidFill>
                  <a:srgbClr val="37761C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37761C"/>
                </a:solidFill>
                <a:latin typeface="Arial MT"/>
                <a:cs typeface="Arial MT"/>
              </a:rPr>
              <a:t>≈</a:t>
            </a:r>
            <a:r>
              <a:rPr sz="1800" spc="-10" dirty="0">
                <a:solidFill>
                  <a:srgbClr val="37761C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37761C"/>
                </a:solidFill>
                <a:latin typeface="Arial MT"/>
                <a:cs typeface="Arial MT"/>
              </a:rPr>
              <a:t>0</a:t>
            </a:r>
            <a:endParaRPr sz="1800">
              <a:latin typeface="Arial MT"/>
              <a:cs typeface="Arial MT"/>
            </a:endParaRPr>
          </a:p>
          <a:p>
            <a:pPr marL="546100" indent="-367030">
              <a:lnSpc>
                <a:spcPct val="100000"/>
              </a:lnSpc>
              <a:spcBef>
                <a:spcPts val="325"/>
              </a:spcBef>
              <a:buChar char="●"/>
              <a:tabLst>
                <a:tab pos="545465" algn="l"/>
                <a:tab pos="546100" algn="l"/>
              </a:tabLst>
            </a:pPr>
            <a:r>
              <a:rPr sz="1800" dirty="0">
                <a:solidFill>
                  <a:srgbClr val="37761C"/>
                </a:solidFill>
                <a:latin typeface="Arial MT"/>
                <a:cs typeface="Arial MT"/>
              </a:rPr>
              <a:t>A</a:t>
            </a:r>
            <a:r>
              <a:rPr sz="1800" spc="-114" dirty="0">
                <a:solidFill>
                  <a:srgbClr val="37761C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37761C"/>
                </a:solidFill>
                <a:latin typeface="Arial MT"/>
                <a:cs typeface="Arial MT"/>
              </a:rPr>
              <a:t>strong</a:t>
            </a:r>
            <a:r>
              <a:rPr sz="1800" spc="-10" dirty="0">
                <a:solidFill>
                  <a:srgbClr val="37761C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37761C"/>
                </a:solidFill>
                <a:latin typeface="Arial MT"/>
                <a:cs typeface="Arial MT"/>
              </a:rPr>
              <a:t>1</a:t>
            </a:r>
            <a:r>
              <a:rPr sz="1800" spc="-10" dirty="0">
                <a:solidFill>
                  <a:srgbClr val="37761C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37761C"/>
                </a:solidFill>
                <a:latin typeface="Arial MT"/>
                <a:cs typeface="Arial MT"/>
              </a:rPr>
              <a:t>falls</a:t>
            </a:r>
            <a:r>
              <a:rPr sz="1800" spc="-10" dirty="0">
                <a:solidFill>
                  <a:srgbClr val="37761C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37761C"/>
                </a:solidFill>
                <a:latin typeface="Arial MT"/>
                <a:cs typeface="Arial MT"/>
              </a:rPr>
              <a:t>in</a:t>
            </a:r>
            <a:r>
              <a:rPr sz="1800" spc="-15" dirty="0">
                <a:solidFill>
                  <a:srgbClr val="37761C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37761C"/>
                </a:solidFill>
                <a:latin typeface="Arial MT"/>
                <a:cs typeface="Arial MT"/>
              </a:rPr>
              <a:t>the</a:t>
            </a:r>
            <a:r>
              <a:rPr sz="1800" spc="-10" dirty="0">
                <a:solidFill>
                  <a:srgbClr val="37761C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37761C"/>
                </a:solidFill>
                <a:latin typeface="Arial MT"/>
                <a:cs typeface="Arial MT"/>
              </a:rPr>
              <a:t>region</a:t>
            </a:r>
            <a:r>
              <a:rPr sz="1800" spc="-10" dirty="0">
                <a:solidFill>
                  <a:srgbClr val="37761C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37761C"/>
                </a:solidFill>
                <a:latin typeface="Arial MT"/>
                <a:cs typeface="Arial MT"/>
              </a:rPr>
              <a:t>E</a:t>
            </a:r>
            <a:r>
              <a:rPr sz="1800" spc="-20" dirty="0">
                <a:solidFill>
                  <a:srgbClr val="37761C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37761C"/>
                </a:solidFill>
                <a:latin typeface="Arial MT"/>
                <a:cs typeface="Arial MT"/>
              </a:rPr>
              <a:t>where</a:t>
            </a:r>
            <a:r>
              <a:rPr sz="1800" spc="-10" dirty="0">
                <a:solidFill>
                  <a:srgbClr val="37761C"/>
                </a:solidFill>
                <a:latin typeface="Arial MT"/>
                <a:cs typeface="Arial MT"/>
              </a:rPr>
              <a:t> </a:t>
            </a:r>
            <a:r>
              <a:rPr sz="1800" spc="10" dirty="0">
                <a:solidFill>
                  <a:srgbClr val="37761C"/>
                </a:solidFill>
                <a:latin typeface="Arial MT"/>
                <a:cs typeface="Arial MT"/>
              </a:rPr>
              <a:t>I</a:t>
            </a:r>
            <a:r>
              <a:rPr sz="1800" spc="15" baseline="-32407" dirty="0">
                <a:solidFill>
                  <a:srgbClr val="37761C"/>
                </a:solidFill>
                <a:latin typeface="Arial MT"/>
                <a:cs typeface="Arial MT"/>
              </a:rPr>
              <a:t>DD</a:t>
            </a:r>
            <a:r>
              <a:rPr sz="1800" spc="240" baseline="-32407" dirty="0">
                <a:solidFill>
                  <a:srgbClr val="37761C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37761C"/>
                </a:solidFill>
                <a:latin typeface="Arial MT"/>
                <a:cs typeface="Arial MT"/>
              </a:rPr>
              <a:t>≈</a:t>
            </a:r>
            <a:r>
              <a:rPr sz="1800" spc="-10" dirty="0">
                <a:solidFill>
                  <a:srgbClr val="37761C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37761C"/>
                </a:solidFill>
                <a:latin typeface="Arial MT"/>
                <a:cs typeface="Arial MT"/>
              </a:rPr>
              <a:t>0</a:t>
            </a:r>
            <a:endParaRPr sz="1800">
              <a:latin typeface="Arial MT"/>
              <a:cs typeface="Arial MT"/>
            </a:endParaRPr>
          </a:p>
          <a:p>
            <a:pPr marL="88900">
              <a:lnSpc>
                <a:spcPct val="100000"/>
              </a:lnSpc>
              <a:spcBef>
                <a:spcPts val="1525"/>
              </a:spcBef>
            </a:pPr>
            <a:r>
              <a:rPr sz="1800" spc="-5" dirty="0">
                <a:solidFill>
                  <a:srgbClr val="37761C"/>
                </a:solidFill>
                <a:latin typeface="Arial MT"/>
                <a:cs typeface="Arial MT"/>
              </a:rPr>
              <a:t>I</a:t>
            </a:r>
            <a:r>
              <a:rPr sz="1800" spc="-7" baseline="-32407" dirty="0">
                <a:solidFill>
                  <a:srgbClr val="37761C"/>
                </a:solidFill>
                <a:latin typeface="Arial MT"/>
                <a:cs typeface="Arial MT"/>
              </a:rPr>
              <a:t>DD</a:t>
            </a:r>
            <a:r>
              <a:rPr sz="1800" spc="232" baseline="-32407" dirty="0">
                <a:solidFill>
                  <a:srgbClr val="37761C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37761C"/>
                </a:solidFill>
                <a:latin typeface="Arial MT"/>
                <a:cs typeface="Arial MT"/>
              </a:rPr>
              <a:t>≈</a:t>
            </a:r>
            <a:r>
              <a:rPr sz="1800" spc="-10" dirty="0">
                <a:solidFill>
                  <a:srgbClr val="37761C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37761C"/>
                </a:solidFill>
                <a:latin typeface="Arial MT"/>
                <a:cs typeface="Arial MT"/>
              </a:rPr>
              <a:t>0 </a:t>
            </a:r>
            <a:r>
              <a:rPr sz="1800" spc="-5" dirty="0">
                <a:solidFill>
                  <a:srgbClr val="37761C"/>
                </a:solidFill>
                <a:latin typeface="Arial MT"/>
                <a:cs typeface="Arial MT"/>
              </a:rPr>
              <a:t>or</a:t>
            </a:r>
            <a:r>
              <a:rPr sz="1800" spc="-15" dirty="0">
                <a:solidFill>
                  <a:srgbClr val="37761C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37761C"/>
                </a:solidFill>
                <a:latin typeface="Arial MT"/>
                <a:cs typeface="Arial MT"/>
              </a:rPr>
              <a:t>low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implies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u="heavy" spc="-5" dirty="0">
                <a:solidFill>
                  <a:srgbClr val="595959"/>
                </a:solidFill>
                <a:uFill>
                  <a:solidFill>
                    <a:srgbClr val="595959"/>
                  </a:solidFill>
                </a:uFill>
                <a:latin typeface="Arial MT"/>
                <a:cs typeface="Arial MT"/>
              </a:rPr>
              <a:t>low</a:t>
            </a:r>
            <a:r>
              <a:rPr sz="1800" u="heavy" spc="-15" dirty="0">
                <a:solidFill>
                  <a:srgbClr val="595959"/>
                </a:solidFill>
                <a:uFill>
                  <a:solidFill>
                    <a:srgbClr val="595959"/>
                  </a:solidFill>
                </a:uFill>
                <a:latin typeface="Arial MT"/>
                <a:cs typeface="Arial MT"/>
              </a:rPr>
              <a:t> </a:t>
            </a:r>
            <a:r>
              <a:rPr sz="1800" u="heavy" spc="-5" dirty="0">
                <a:solidFill>
                  <a:srgbClr val="595959"/>
                </a:solidFill>
                <a:uFill>
                  <a:solidFill>
                    <a:srgbClr val="595959"/>
                  </a:solidFill>
                </a:uFill>
                <a:latin typeface="Arial MT"/>
                <a:cs typeface="Arial MT"/>
              </a:rPr>
              <a:t>power</a:t>
            </a:r>
            <a:r>
              <a:rPr sz="1800" u="heavy" spc="-10" dirty="0">
                <a:solidFill>
                  <a:srgbClr val="595959"/>
                </a:solidFill>
                <a:uFill>
                  <a:solidFill>
                    <a:srgbClr val="595959"/>
                  </a:solidFill>
                </a:uFill>
                <a:latin typeface="Arial MT"/>
                <a:cs typeface="Arial MT"/>
              </a:rPr>
              <a:t> </a:t>
            </a:r>
            <a:r>
              <a:rPr sz="1800" u="heavy" dirty="0">
                <a:solidFill>
                  <a:srgbClr val="595959"/>
                </a:solidFill>
                <a:uFill>
                  <a:solidFill>
                    <a:srgbClr val="595959"/>
                  </a:solidFill>
                </a:uFill>
                <a:latin typeface="Arial MT"/>
                <a:cs typeface="Arial MT"/>
              </a:rPr>
              <a:t>consumption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!</a:t>
            </a:r>
            <a:endParaRPr sz="1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05248"/>
            <a:ext cx="2903220" cy="40957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500" spc="5" dirty="0"/>
              <a:t>Power</a:t>
            </a:r>
            <a:r>
              <a:rPr sz="2500" spc="-75" dirty="0"/>
              <a:t> </a:t>
            </a:r>
            <a:r>
              <a:rPr sz="2500" spc="5" dirty="0"/>
              <a:t>Consumption</a:t>
            </a:r>
            <a:endParaRPr sz="25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643299" y="1182156"/>
            <a:ext cx="2139958" cy="3428369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308525" y="1216355"/>
            <a:ext cx="5662930" cy="28022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89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If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I</a:t>
            </a:r>
            <a:r>
              <a:rPr sz="1800" baseline="-32407" dirty="0">
                <a:solidFill>
                  <a:srgbClr val="595959"/>
                </a:solidFill>
                <a:latin typeface="Arial MT"/>
                <a:cs typeface="Arial MT"/>
              </a:rPr>
              <a:t>DD</a:t>
            </a:r>
            <a:r>
              <a:rPr sz="1800" spc="247" baseline="-32407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=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I</a:t>
            </a:r>
            <a:r>
              <a:rPr sz="1800" spc="-7" baseline="-32407" dirty="0">
                <a:solidFill>
                  <a:srgbClr val="595959"/>
                </a:solidFill>
                <a:latin typeface="Arial MT"/>
                <a:cs typeface="Arial MT"/>
              </a:rPr>
              <a:t>dsn</a:t>
            </a:r>
            <a:r>
              <a:rPr sz="1800" spc="247" baseline="-32407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=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|I</a:t>
            </a:r>
            <a:r>
              <a:rPr sz="1800" spc="-7" baseline="-32407" dirty="0">
                <a:solidFill>
                  <a:srgbClr val="595959"/>
                </a:solidFill>
                <a:latin typeface="Arial MT"/>
                <a:cs typeface="Arial MT"/>
              </a:rPr>
              <a:t>dsp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| is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the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current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drawn from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supply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5" dirty="0">
                <a:solidFill>
                  <a:srgbClr val="595959"/>
                </a:solidFill>
                <a:latin typeface="Arial MT"/>
                <a:cs typeface="Arial MT"/>
              </a:rPr>
              <a:t>V</a:t>
            </a:r>
            <a:r>
              <a:rPr sz="1800" spc="7" baseline="-32407" dirty="0">
                <a:solidFill>
                  <a:srgbClr val="595959"/>
                </a:solidFill>
                <a:latin typeface="Arial MT"/>
                <a:cs typeface="Arial MT"/>
              </a:rPr>
              <a:t>DD</a:t>
            </a:r>
            <a:endParaRPr sz="1800" baseline="-32407">
              <a:latin typeface="Arial MT"/>
              <a:cs typeface="Arial MT"/>
            </a:endParaRPr>
          </a:p>
          <a:p>
            <a:pPr marL="546100" indent="-367030">
              <a:lnSpc>
                <a:spcPct val="100000"/>
              </a:lnSpc>
              <a:spcBef>
                <a:spcPts val="1525"/>
              </a:spcBef>
              <a:buChar char="●"/>
              <a:tabLst>
                <a:tab pos="545465" algn="l"/>
                <a:tab pos="546100" algn="l"/>
              </a:tabLst>
            </a:pPr>
            <a:r>
              <a:rPr sz="1800" spc="-5" dirty="0">
                <a:solidFill>
                  <a:srgbClr val="CC0000"/>
                </a:solidFill>
                <a:latin typeface="Arial MT"/>
                <a:cs typeface="Arial MT"/>
              </a:rPr>
              <a:t>I</a:t>
            </a:r>
            <a:r>
              <a:rPr sz="1800" spc="-7" baseline="-32407" dirty="0">
                <a:solidFill>
                  <a:srgbClr val="CC0000"/>
                </a:solidFill>
                <a:latin typeface="Arial MT"/>
                <a:cs typeface="Arial MT"/>
              </a:rPr>
              <a:t>DD</a:t>
            </a:r>
            <a:r>
              <a:rPr sz="1800" spc="232" baseline="-32407" dirty="0">
                <a:solidFill>
                  <a:srgbClr val="CC0000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CC0000"/>
                </a:solidFill>
                <a:latin typeface="Arial MT"/>
                <a:cs typeface="Arial MT"/>
              </a:rPr>
              <a:t>is</a:t>
            </a:r>
            <a:r>
              <a:rPr sz="1800" spc="-15" dirty="0">
                <a:solidFill>
                  <a:srgbClr val="CC0000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CC0000"/>
                </a:solidFill>
                <a:latin typeface="Arial MT"/>
                <a:cs typeface="Arial MT"/>
              </a:rPr>
              <a:t>non-zero</a:t>
            </a:r>
            <a:r>
              <a:rPr sz="1800" spc="-10" dirty="0">
                <a:solidFill>
                  <a:srgbClr val="CC0000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CC0000"/>
                </a:solidFill>
                <a:latin typeface="Arial MT"/>
                <a:cs typeface="Arial MT"/>
              </a:rPr>
              <a:t>in</a:t>
            </a:r>
            <a:r>
              <a:rPr sz="1800" spc="-15" dirty="0">
                <a:solidFill>
                  <a:srgbClr val="CC000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CC0000"/>
                </a:solidFill>
                <a:latin typeface="Arial MT"/>
                <a:cs typeface="Arial MT"/>
              </a:rPr>
              <a:t>regions</a:t>
            </a:r>
            <a:r>
              <a:rPr sz="1800" spc="-10" dirty="0">
                <a:solidFill>
                  <a:srgbClr val="CC0000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CC0000"/>
                </a:solidFill>
                <a:latin typeface="Arial MT"/>
                <a:cs typeface="Arial MT"/>
              </a:rPr>
              <a:t>B,</a:t>
            </a:r>
            <a:r>
              <a:rPr sz="1800" spc="-20" dirty="0">
                <a:solidFill>
                  <a:srgbClr val="CC000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CC0000"/>
                </a:solidFill>
                <a:latin typeface="Arial MT"/>
                <a:cs typeface="Arial MT"/>
              </a:rPr>
              <a:t>C</a:t>
            </a:r>
            <a:r>
              <a:rPr sz="1800" spc="-10" dirty="0">
                <a:solidFill>
                  <a:srgbClr val="CC000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CC0000"/>
                </a:solidFill>
                <a:latin typeface="Arial MT"/>
                <a:cs typeface="Arial MT"/>
              </a:rPr>
              <a:t>&amp;</a:t>
            </a:r>
            <a:r>
              <a:rPr sz="1800" spc="-20" dirty="0">
                <a:solidFill>
                  <a:srgbClr val="CC000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CC0000"/>
                </a:solidFill>
                <a:latin typeface="Arial MT"/>
                <a:cs typeface="Arial MT"/>
              </a:rPr>
              <a:t>D</a:t>
            </a:r>
            <a:endParaRPr sz="1800">
              <a:latin typeface="Arial MT"/>
              <a:cs typeface="Arial MT"/>
            </a:endParaRPr>
          </a:p>
          <a:p>
            <a:pPr marL="546100" indent="-367030">
              <a:lnSpc>
                <a:spcPct val="100000"/>
              </a:lnSpc>
              <a:spcBef>
                <a:spcPts val="320"/>
              </a:spcBef>
              <a:buChar char="●"/>
              <a:tabLst>
                <a:tab pos="545465" algn="l"/>
                <a:tab pos="546100" algn="l"/>
              </a:tabLst>
            </a:pPr>
            <a:r>
              <a:rPr sz="1800" spc="-5" dirty="0">
                <a:solidFill>
                  <a:srgbClr val="37761C"/>
                </a:solidFill>
                <a:latin typeface="Arial MT"/>
                <a:cs typeface="Arial MT"/>
              </a:rPr>
              <a:t>I</a:t>
            </a:r>
            <a:r>
              <a:rPr sz="1800" spc="-7" baseline="-32407" dirty="0">
                <a:solidFill>
                  <a:srgbClr val="37761C"/>
                </a:solidFill>
                <a:latin typeface="Arial MT"/>
                <a:cs typeface="Arial MT"/>
              </a:rPr>
              <a:t>DD</a:t>
            </a:r>
            <a:r>
              <a:rPr sz="1800" spc="225" baseline="-32407" dirty="0">
                <a:solidFill>
                  <a:srgbClr val="37761C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37761C"/>
                </a:solidFill>
                <a:latin typeface="Arial MT"/>
                <a:cs typeface="Arial MT"/>
              </a:rPr>
              <a:t>is</a:t>
            </a:r>
            <a:r>
              <a:rPr sz="1800" spc="-15" dirty="0">
                <a:solidFill>
                  <a:srgbClr val="37761C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37761C"/>
                </a:solidFill>
                <a:latin typeface="Arial MT"/>
                <a:cs typeface="Arial MT"/>
              </a:rPr>
              <a:t>zero</a:t>
            </a:r>
            <a:r>
              <a:rPr sz="1800" spc="-15" dirty="0">
                <a:solidFill>
                  <a:srgbClr val="37761C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37761C"/>
                </a:solidFill>
                <a:latin typeface="Arial MT"/>
                <a:cs typeface="Arial MT"/>
              </a:rPr>
              <a:t>in</a:t>
            </a:r>
            <a:r>
              <a:rPr sz="1800" spc="-15" dirty="0">
                <a:solidFill>
                  <a:srgbClr val="37761C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37761C"/>
                </a:solidFill>
                <a:latin typeface="Arial MT"/>
                <a:cs typeface="Arial MT"/>
              </a:rPr>
              <a:t>regions</a:t>
            </a:r>
            <a:r>
              <a:rPr sz="1800" spc="-110" dirty="0">
                <a:solidFill>
                  <a:srgbClr val="37761C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37761C"/>
                </a:solidFill>
                <a:latin typeface="Arial MT"/>
                <a:cs typeface="Arial MT"/>
              </a:rPr>
              <a:t>A</a:t>
            </a:r>
            <a:r>
              <a:rPr sz="1800" spc="-114" dirty="0">
                <a:solidFill>
                  <a:srgbClr val="37761C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37761C"/>
                </a:solidFill>
                <a:latin typeface="Arial MT"/>
                <a:cs typeface="Arial MT"/>
              </a:rPr>
              <a:t>&amp;</a:t>
            </a:r>
            <a:r>
              <a:rPr sz="1800" spc="-20" dirty="0">
                <a:solidFill>
                  <a:srgbClr val="37761C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37761C"/>
                </a:solidFill>
                <a:latin typeface="Arial MT"/>
                <a:cs typeface="Arial MT"/>
              </a:rPr>
              <a:t>E</a:t>
            </a:r>
            <a:endParaRPr sz="1800">
              <a:latin typeface="Arial MT"/>
              <a:cs typeface="Arial MT"/>
            </a:endParaRPr>
          </a:p>
          <a:p>
            <a:pPr marL="88900">
              <a:lnSpc>
                <a:spcPct val="100000"/>
              </a:lnSpc>
              <a:spcBef>
                <a:spcPts val="1525"/>
              </a:spcBef>
            </a:pP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That</a:t>
            </a:r>
            <a:r>
              <a:rPr sz="1800" spc="-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is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also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why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we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try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to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avoid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degraded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signals</a:t>
            </a:r>
            <a:endParaRPr sz="1800">
              <a:latin typeface="Arial MT"/>
              <a:cs typeface="Arial MT"/>
            </a:endParaRPr>
          </a:p>
          <a:p>
            <a:pPr marL="546100" indent="-367030">
              <a:lnSpc>
                <a:spcPct val="100000"/>
              </a:lnSpc>
              <a:spcBef>
                <a:spcPts val="1525"/>
              </a:spcBef>
              <a:buChar char="●"/>
              <a:tabLst>
                <a:tab pos="545465" algn="l"/>
                <a:tab pos="546100" algn="l"/>
              </a:tabLst>
            </a:pPr>
            <a:r>
              <a:rPr sz="1800" dirty="0">
                <a:solidFill>
                  <a:srgbClr val="CC0000"/>
                </a:solidFill>
                <a:latin typeface="Arial MT"/>
                <a:cs typeface="Arial MT"/>
              </a:rPr>
              <a:t>A</a:t>
            </a:r>
            <a:r>
              <a:rPr sz="1800" spc="-110" dirty="0">
                <a:solidFill>
                  <a:srgbClr val="CC0000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CC0000"/>
                </a:solidFill>
                <a:latin typeface="Arial MT"/>
                <a:cs typeface="Arial MT"/>
              </a:rPr>
              <a:t>degraded</a:t>
            </a:r>
            <a:r>
              <a:rPr sz="1800" spc="-15" dirty="0">
                <a:solidFill>
                  <a:srgbClr val="CC000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CC0000"/>
                </a:solidFill>
                <a:latin typeface="Arial MT"/>
                <a:cs typeface="Arial MT"/>
              </a:rPr>
              <a:t>0</a:t>
            </a:r>
            <a:r>
              <a:rPr sz="1800" spc="-10" dirty="0">
                <a:solidFill>
                  <a:srgbClr val="CC0000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CC0000"/>
                </a:solidFill>
                <a:latin typeface="Arial MT"/>
                <a:cs typeface="Arial MT"/>
              </a:rPr>
              <a:t>falls</a:t>
            </a:r>
            <a:r>
              <a:rPr sz="1800" spc="-10" dirty="0">
                <a:solidFill>
                  <a:srgbClr val="CC0000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CC0000"/>
                </a:solidFill>
                <a:latin typeface="Arial MT"/>
                <a:cs typeface="Arial MT"/>
              </a:rPr>
              <a:t>in</a:t>
            </a:r>
            <a:r>
              <a:rPr sz="1800" spc="-10" dirty="0">
                <a:solidFill>
                  <a:srgbClr val="CC0000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CC0000"/>
                </a:solidFill>
                <a:latin typeface="Arial MT"/>
                <a:cs typeface="Arial MT"/>
              </a:rPr>
              <a:t>the</a:t>
            </a:r>
            <a:r>
              <a:rPr sz="1800" spc="-10" dirty="0">
                <a:solidFill>
                  <a:srgbClr val="CC000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CC0000"/>
                </a:solidFill>
                <a:latin typeface="Arial MT"/>
                <a:cs typeface="Arial MT"/>
              </a:rPr>
              <a:t>region</a:t>
            </a:r>
            <a:r>
              <a:rPr sz="1800" spc="-15" dirty="0">
                <a:solidFill>
                  <a:srgbClr val="CC0000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CC0000"/>
                </a:solidFill>
                <a:latin typeface="Arial MT"/>
                <a:cs typeface="Arial MT"/>
              </a:rPr>
              <a:t>B/C</a:t>
            </a:r>
            <a:r>
              <a:rPr sz="1800" spc="-15" dirty="0">
                <a:solidFill>
                  <a:srgbClr val="CC0000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CC0000"/>
                </a:solidFill>
                <a:latin typeface="Arial MT"/>
                <a:cs typeface="Arial MT"/>
              </a:rPr>
              <a:t>where</a:t>
            </a:r>
            <a:r>
              <a:rPr sz="1800" spc="-10" dirty="0">
                <a:solidFill>
                  <a:srgbClr val="CC0000"/>
                </a:solidFill>
                <a:latin typeface="Arial MT"/>
                <a:cs typeface="Arial MT"/>
              </a:rPr>
              <a:t> </a:t>
            </a:r>
            <a:r>
              <a:rPr sz="1800" spc="15" dirty="0">
                <a:solidFill>
                  <a:srgbClr val="CC0000"/>
                </a:solidFill>
                <a:latin typeface="Arial MT"/>
                <a:cs typeface="Arial MT"/>
              </a:rPr>
              <a:t>I</a:t>
            </a:r>
            <a:r>
              <a:rPr sz="1800" spc="22" baseline="-32407" dirty="0">
                <a:solidFill>
                  <a:srgbClr val="CC0000"/>
                </a:solidFill>
                <a:latin typeface="Arial MT"/>
                <a:cs typeface="Arial MT"/>
              </a:rPr>
              <a:t>DD</a:t>
            </a:r>
            <a:r>
              <a:rPr sz="1800" spc="240" baseline="-32407" dirty="0">
                <a:solidFill>
                  <a:srgbClr val="CC000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CC0000"/>
                </a:solidFill>
                <a:latin typeface="Arial MT"/>
                <a:cs typeface="Arial MT"/>
              </a:rPr>
              <a:t>≠</a:t>
            </a:r>
            <a:r>
              <a:rPr sz="1800" spc="-10" dirty="0">
                <a:solidFill>
                  <a:srgbClr val="CC000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CC0000"/>
                </a:solidFill>
                <a:latin typeface="Arial MT"/>
                <a:cs typeface="Arial MT"/>
              </a:rPr>
              <a:t>0</a:t>
            </a:r>
            <a:endParaRPr sz="1800">
              <a:latin typeface="Arial MT"/>
              <a:cs typeface="Arial MT"/>
            </a:endParaRPr>
          </a:p>
          <a:p>
            <a:pPr marL="546100" indent="-367030">
              <a:lnSpc>
                <a:spcPct val="100000"/>
              </a:lnSpc>
              <a:spcBef>
                <a:spcPts val="325"/>
              </a:spcBef>
              <a:buChar char="●"/>
              <a:tabLst>
                <a:tab pos="545465" algn="l"/>
                <a:tab pos="546100" algn="l"/>
              </a:tabLst>
            </a:pPr>
            <a:r>
              <a:rPr sz="1800" dirty="0">
                <a:solidFill>
                  <a:srgbClr val="CC0000"/>
                </a:solidFill>
                <a:latin typeface="Arial MT"/>
                <a:cs typeface="Arial MT"/>
              </a:rPr>
              <a:t>A</a:t>
            </a:r>
            <a:r>
              <a:rPr sz="1800" spc="-114" dirty="0">
                <a:solidFill>
                  <a:srgbClr val="CC0000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CC0000"/>
                </a:solidFill>
                <a:latin typeface="Arial MT"/>
                <a:cs typeface="Arial MT"/>
              </a:rPr>
              <a:t>degraded</a:t>
            </a:r>
            <a:r>
              <a:rPr sz="1800" spc="-10" dirty="0">
                <a:solidFill>
                  <a:srgbClr val="CC000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CC0000"/>
                </a:solidFill>
                <a:latin typeface="Arial MT"/>
                <a:cs typeface="Arial MT"/>
              </a:rPr>
              <a:t>1</a:t>
            </a:r>
            <a:r>
              <a:rPr sz="1800" spc="-10" dirty="0">
                <a:solidFill>
                  <a:srgbClr val="CC0000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CC0000"/>
                </a:solidFill>
                <a:latin typeface="Arial MT"/>
                <a:cs typeface="Arial MT"/>
              </a:rPr>
              <a:t>falls</a:t>
            </a:r>
            <a:r>
              <a:rPr sz="1800" spc="-10" dirty="0">
                <a:solidFill>
                  <a:srgbClr val="CC0000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CC0000"/>
                </a:solidFill>
                <a:latin typeface="Arial MT"/>
                <a:cs typeface="Arial MT"/>
              </a:rPr>
              <a:t>in</a:t>
            </a:r>
            <a:r>
              <a:rPr sz="1800" spc="-15" dirty="0">
                <a:solidFill>
                  <a:srgbClr val="CC0000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CC0000"/>
                </a:solidFill>
                <a:latin typeface="Arial MT"/>
                <a:cs typeface="Arial MT"/>
              </a:rPr>
              <a:t>the</a:t>
            </a:r>
            <a:r>
              <a:rPr sz="1800" spc="-10" dirty="0">
                <a:solidFill>
                  <a:srgbClr val="CC000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CC0000"/>
                </a:solidFill>
                <a:latin typeface="Arial MT"/>
                <a:cs typeface="Arial MT"/>
              </a:rPr>
              <a:t>region</a:t>
            </a:r>
            <a:r>
              <a:rPr sz="1800" spc="-10" dirty="0">
                <a:solidFill>
                  <a:srgbClr val="CC0000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CC0000"/>
                </a:solidFill>
                <a:latin typeface="Arial MT"/>
                <a:cs typeface="Arial MT"/>
              </a:rPr>
              <a:t>D/C</a:t>
            </a:r>
            <a:r>
              <a:rPr sz="1800" spc="-15" dirty="0">
                <a:solidFill>
                  <a:srgbClr val="CC0000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CC0000"/>
                </a:solidFill>
                <a:latin typeface="Arial MT"/>
                <a:cs typeface="Arial MT"/>
              </a:rPr>
              <a:t>where</a:t>
            </a:r>
            <a:r>
              <a:rPr sz="1800" spc="-10" dirty="0">
                <a:solidFill>
                  <a:srgbClr val="CC0000"/>
                </a:solidFill>
                <a:latin typeface="Arial MT"/>
                <a:cs typeface="Arial MT"/>
              </a:rPr>
              <a:t> </a:t>
            </a:r>
            <a:r>
              <a:rPr sz="1800" spc="15" dirty="0">
                <a:solidFill>
                  <a:srgbClr val="CC0000"/>
                </a:solidFill>
                <a:latin typeface="Arial MT"/>
                <a:cs typeface="Arial MT"/>
              </a:rPr>
              <a:t>I</a:t>
            </a:r>
            <a:r>
              <a:rPr sz="1800" spc="22" baseline="-32407" dirty="0">
                <a:solidFill>
                  <a:srgbClr val="CC0000"/>
                </a:solidFill>
                <a:latin typeface="Arial MT"/>
                <a:cs typeface="Arial MT"/>
              </a:rPr>
              <a:t>DD</a:t>
            </a:r>
            <a:r>
              <a:rPr sz="1800" spc="240" baseline="-32407" dirty="0">
                <a:solidFill>
                  <a:srgbClr val="CC000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CC0000"/>
                </a:solidFill>
                <a:latin typeface="Arial MT"/>
                <a:cs typeface="Arial MT"/>
              </a:rPr>
              <a:t>≠</a:t>
            </a:r>
            <a:r>
              <a:rPr sz="1800" spc="-10" dirty="0">
                <a:solidFill>
                  <a:srgbClr val="CC000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CC0000"/>
                </a:solidFill>
                <a:latin typeface="Arial MT"/>
                <a:cs typeface="Arial MT"/>
              </a:rPr>
              <a:t>0</a:t>
            </a:r>
            <a:endParaRPr sz="1800">
              <a:latin typeface="Arial MT"/>
              <a:cs typeface="Arial MT"/>
            </a:endParaRPr>
          </a:p>
          <a:p>
            <a:pPr marL="88900">
              <a:lnSpc>
                <a:spcPct val="100000"/>
              </a:lnSpc>
              <a:spcBef>
                <a:spcPts val="1525"/>
              </a:spcBef>
            </a:pPr>
            <a:r>
              <a:rPr sz="1800" spc="-5" dirty="0">
                <a:solidFill>
                  <a:srgbClr val="CC0000"/>
                </a:solidFill>
                <a:latin typeface="Arial MT"/>
                <a:cs typeface="Arial MT"/>
              </a:rPr>
              <a:t>I</a:t>
            </a:r>
            <a:r>
              <a:rPr sz="1800" spc="-7" baseline="-32407" dirty="0">
                <a:solidFill>
                  <a:srgbClr val="CC0000"/>
                </a:solidFill>
                <a:latin typeface="Arial MT"/>
                <a:cs typeface="Arial MT"/>
              </a:rPr>
              <a:t>DD</a:t>
            </a:r>
            <a:r>
              <a:rPr sz="1800" spc="232" baseline="-32407" dirty="0">
                <a:solidFill>
                  <a:srgbClr val="CC000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CC0000"/>
                </a:solidFill>
                <a:latin typeface="Arial MT"/>
                <a:cs typeface="Arial MT"/>
              </a:rPr>
              <a:t>≠</a:t>
            </a:r>
            <a:r>
              <a:rPr sz="1800" spc="-10" dirty="0">
                <a:solidFill>
                  <a:srgbClr val="CC000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CC0000"/>
                </a:solidFill>
                <a:latin typeface="Arial MT"/>
                <a:cs typeface="Arial MT"/>
              </a:rPr>
              <a:t>0 </a:t>
            </a:r>
            <a:r>
              <a:rPr sz="1800" spc="-5" dirty="0">
                <a:solidFill>
                  <a:srgbClr val="CC0000"/>
                </a:solidFill>
                <a:latin typeface="Arial MT"/>
                <a:cs typeface="Arial MT"/>
              </a:rPr>
              <a:t>or</a:t>
            </a:r>
            <a:r>
              <a:rPr sz="1800" spc="-15" dirty="0">
                <a:solidFill>
                  <a:srgbClr val="CC0000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CC0000"/>
                </a:solidFill>
                <a:latin typeface="Arial MT"/>
                <a:cs typeface="Arial MT"/>
              </a:rPr>
              <a:t>high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implies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u="heavy" spc="-5" dirty="0">
                <a:solidFill>
                  <a:srgbClr val="595959"/>
                </a:solidFill>
                <a:uFill>
                  <a:solidFill>
                    <a:srgbClr val="595959"/>
                  </a:solidFill>
                </a:uFill>
                <a:latin typeface="Arial MT"/>
                <a:cs typeface="Arial MT"/>
              </a:rPr>
              <a:t>high</a:t>
            </a:r>
            <a:r>
              <a:rPr sz="1800" u="heavy" spc="-15" dirty="0">
                <a:solidFill>
                  <a:srgbClr val="595959"/>
                </a:solidFill>
                <a:uFill>
                  <a:solidFill>
                    <a:srgbClr val="595959"/>
                  </a:solidFill>
                </a:uFill>
                <a:latin typeface="Arial MT"/>
                <a:cs typeface="Arial MT"/>
              </a:rPr>
              <a:t> </a:t>
            </a:r>
            <a:r>
              <a:rPr sz="1800" u="heavy" spc="-5" dirty="0">
                <a:solidFill>
                  <a:srgbClr val="595959"/>
                </a:solidFill>
                <a:uFill>
                  <a:solidFill>
                    <a:srgbClr val="595959"/>
                  </a:solidFill>
                </a:uFill>
                <a:latin typeface="Arial MT"/>
                <a:cs typeface="Arial MT"/>
              </a:rPr>
              <a:t>power</a:t>
            </a:r>
            <a:r>
              <a:rPr sz="1800" u="heavy" spc="-10" dirty="0">
                <a:solidFill>
                  <a:srgbClr val="595959"/>
                </a:solidFill>
                <a:uFill>
                  <a:solidFill>
                    <a:srgbClr val="595959"/>
                  </a:solidFill>
                </a:uFill>
                <a:latin typeface="Arial MT"/>
                <a:cs typeface="Arial MT"/>
              </a:rPr>
              <a:t> </a:t>
            </a:r>
            <a:r>
              <a:rPr sz="1800" u="heavy" dirty="0">
                <a:solidFill>
                  <a:srgbClr val="595959"/>
                </a:solidFill>
                <a:uFill>
                  <a:solidFill>
                    <a:srgbClr val="595959"/>
                  </a:solidFill>
                </a:uFill>
                <a:latin typeface="Arial MT"/>
                <a:cs typeface="Arial MT"/>
              </a:rPr>
              <a:t>consumption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!</a:t>
            </a:r>
            <a:endParaRPr sz="1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05248"/>
            <a:ext cx="2576195" cy="40957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500" spc="5" dirty="0"/>
              <a:t>Beta</a:t>
            </a:r>
            <a:r>
              <a:rPr sz="2500" spc="-40" dirty="0"/>
              <a:t> </a:t>
            </a:r>
            <a:r>
              <a:rPr sz="2500" spc="5" dirty="0"/>
              <a:t>Ratio</a:t>
            </a:r>
            <a:r>
              <a:rPr sz="2500" spc="-35" dirty="0"/>
              <a:t> </a:t>
            </a:r>
            <a:r>
              <a:rPr sz="2500" spc="-5" dirty="0"/>
              <a:t>Effects</a:t>
            </a:r>
            <a:endParaRPr sz="2500"/>
          </a:p>
        </p:txBody>
      </p:sp>
      <p:sp>
        <p:nvSpPr>
          <p:cNvPr id="3" name="object 3"/>
          <p:cNvSpPr txBox="1"/>
          <p:nvPr/>
        </p:nvSpPr>
        <p:spPr>
          <a:xfrm>
            <a:off x="333925" y="1216355"/>
            <a:ext cx="7218680" cy="28022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35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The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crossover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point, where</a:t>
            </a:r>
            <a:r>
              <a:rPr sz="1800" spc="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b="1" i="1" spc="-5" dirty="0">
                <a:solidFill>
                  <a:srgbClr val="595959"/>
                </a:solidFill>
                <a:latin typeface="Arial"/>
                <a:cs typeface="Arial"/>
              </a:rPr>
              <a:t>V</a:t>
            </a:r>
            <a:r>
              <a:rPr sz="1800" b="1" i="1" spc="-7" baseline="-32407" dirty="0">
                <a:solidFill>
                  <a:srgbClr val="595959"/>
                </a:solidFill>
                <a:latin typeface="Arial"/>
                <a:cs typeface="Arial"/>
              </a:rPr>
              <a:t>in</a:t>
            </a:r>
            <a:r>
              <a:rPr sz="1800" b="1" i="1" spc="247" baseline="-32407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b="1" i="1" dirty="0">
                <a:solidFill>
                  <a:srgbClr val="595959"/>
                </a:solidFill>
                <a:latin typeface="Arial"/>
                <a:cs typeface="Arial"/>
              </a:rPr>
              <a:t>=</a:t>
            </a:r>
            <a:r>
              <a:rPr sz="1800" b="1" i="1" spc="-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b="1" i="1" spc="-5" dirty="0">
                <a:solidFill>
                  <a:srgbClr val="595959"/>
                </a:solidFill>
                <a:latin typeface="Arial"/>
                <a:cs typeface="Arial"/>
              </a:rPr>
              <a:t>V</a:t>
            </a:r>
            <a:r>
              <a:rPr sz="1800" b="1" i="1" spc="-7" baseline="-32407" dirty="0">
                <a:solidFill>
                  <a:srgbClr val="595959"/>
                </a:solidFill>
                <a:latin typeface="Arial"/>
                <a:cs typeface="Arial"/>
              </a:rPr>
              <a:t>out</a:t>
            </a:r>
            <a:r>
              <a:rPr sz="1800" b="1" i="1" spc="240" baseline="-32407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is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called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the input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threshold,</a:t>
            </a:r>
            <a:r>
              <a:rPr sz="1800" spc="4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b="1" i="1" spc="-5" dirty="0">
                <a:solidFill>
                  <a:srgbClr val="595959"/>
                </a:solidFill>
                <a:latin typeface="Arial"/>
                <a:cs typeface="Arial"/>
              </a:rPr>
              <a:t>V</a:t>
            </a:r>
            <a:r>
              <a:rPr sz="1800" b="1" i="1" spc="-7" baseline="-32407" dirty="0">
                <a:solidFill>
                  <a:srgbClr val="595959"/>
                </a:solidFill>
                <a:latin typeface="Arial"/>
                <a:cs typeface="Arial"/>
              </a:rPr>
              <a:t>inv</a:t>
            </a:r>
            <a:endParaRPr sz="1800" baseline="-32407">
              <a:latin typeface="Arial"/>
              <a:cs typeface="Arial"/>
            </a:endParaRPr>
          </a:p>
          <a:p>
            <a:pPr marL="63500" marR="1612265">
              <a:lnSpc>
                <a:spcPct val="170600"/>
              </a:lnSpc>
            </a:pP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For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b="1" i="1" dirty="0">
                <a:solidFill>
                  <a:srgbClr val="595959"/>
                </a:solidFill>
                <a:latin typeface="Arial"/>
                <a:cs typeface="Arial"/>
              </a:rPr>
              <a:t>β</a:t>
            </a:r>
            <a:r>
              <a:rPr sz="1800" b="1" i="1" baseline="-32407" dirty="0">
                <a:solidFill>
                  <a:srgbClr val="595959"/>
                </a:solidFill>
                <a:latin typeface="Arial"/>
                <a:cs typeface="Arial"/>
              </a:rPr>
              <a:t>p</a:t>
            </a:r>
            <a:r>
              <a:rPr sz="1800" b="1" i="1" spc="240" baseline="-32407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b="1" i="1" dirty="0">
                <a:solidFill>
                  <a:srgbClr val="595959"/>
                </a:solidFill>
                <a:latin typeface="Arial"/>
                <a:cs typeface="Arial"/>
              </a:rPr>
              <a:t>=</a:t>
            </a:r>
            <a:r>
              <a:rPr sz="1800" b="1" i="1" spc="-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b="1" i="1" dirty="0">
                <a:solidFill>
                  <a:srgbClr val="595959"/>
                </a:solidFill>
                <a:latin typeface="Arial"/>
                <a:cs typeface="Arial"/>
              </a:rPr>
              <a:t>β</a:t>
            </a:r>
            <a:r>
              <a:rPr sz="1800" b="1" i="1" baseline="-32407" dirty="0">
                <a:solidFill>
                  <a:srgbClr val="595959"/>
                </a:solidFill>
                <a:latin typeface="Arial"/>
                <a:cs typeface="Arial"/>
              </a:rPr>
              <a:t>n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,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the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inverter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threshold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voltage,</a:t>
            </a:r>
            <a:r>
              <a:rPr sz="1800" spc="4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b="1" i="1" spc="-5" dirty="0">
                <a:solidFill>
                  <a:srgbClr val="595959"/>
                </a:solidFill>
                <a:latin typeface="Arial"/>
                <a:cs typeface="Arial"/>
              </a:rPr>
              <a:t>V</a:t>
            </a:r>
            <a:r>
              <a:rPr sz="1800" b="1" i="1" spc="-7" baseline="-32407" dirty="0">
                <a:solidFill>
                  <a:srgbClr val="595959"/>
                </a:solidFill>
                <a:latin typeface="Arial"/>
                <a:cs typeface="Arial"/>
              </a:rPr>
              <a:t>inv</a:t>
            </a:r>
            <a:r>
              <a:rPr sz="1800" b="1" i="1" spc="232" baseline="-32407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b="1" i="1" dirty="0">
                <a:solidFill>
                  <a:srgbClr val="595959"/>
                </a:solidFill>
                <a:latin typeface="Arial"/>
                <a:cs typeface="Arial"/>
              </a:rPr>
              <a:t>=</a:t>
            </a:r>
            <a:r>
              <a:rPr sz="1800" b="1" i="1" spc="-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b="1" i="1" spc="-5" dirty="0">
                <a:solidFill>
                  <a:srgbClr val="595959"/>
                </a:solidFill>
                <a:latin typeface="Arial"/>
                <a:cs typeface="Arial"/>
              </a:rPr>
              <a:t>V</a:t>
            </a:r>
            <a:r>
              <a:rPr sz="1800" b="1" i="1" spc="-7" baseline="-32407" dirty="0">
                <a:solidFill>
                  <a:srgbClr val="595959"/>
                </a:solidFill>
                <a:latin typeface="Arial"/>
                <a:cs typeface="Arial"/>
              </a:rPr>
              <a:t>DD</a:t>
            </a:r>
            <a:r>
              <a:rPr sz="1800" b="1" i="1" spc="-5" dirty="0">
                <a:solidFill>
                  <a:srgbClr val="595959"/>
                </a:solidFill>
                <a:latin typeface="Arial"/>
                <a:cs typeface="Arial"/>
              </a:rPr>
              <a:t>/2 </a:t>
            </a:r>
            <a:r>
              <a:rPr sz="1800" b="1" i="1" spc="-484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b="1" i="1" dirty="0">
                <a:solidFill>
                  <a:srgbClr val="595959"/>
                </a:solidFill>
                <a:latin typeface="Arial"/>
                <a:cs typeface="Arial"/>
              </a:rPr>
              <a:t>β</a:t>
            </a:r>
            <a:r>
              <a:rPr sz="1800" b="1" i="1" baseline="-32407" dirty="0">
                <a:solidFill>
                  <a:srgbClr val="595959"/>
                </a:solidFill>
                <a:latin typeface="Arial"/>
                <a:cs typeface="Arial"/>
              </a:rPr>
              <a:t>p</a:t>
            </a:r>
            <a:r>
              <a:rPr sz="1800" b="1" i="1" spc="240" baseline="-32407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b="1" i="1" dirty="0">
                <a:solidFill>
                  <a:srgbClr val="595959"/>
                </a:solidFill>
                <a:latin typeface="Arial"/>
                <a:cs typeface="Arial"/>
              </a:rPr>
              <a:t>/</a:t>
            </a:r>
            <a:r>
              <a:rPr sz="1800" b="1" i="1" spc="-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b="1" i="1" dirty="0">
                <a:solidFill>
                  <a:srgbClr val="595959"/>
                </a:solidFill>
                <a:latin typeface="Arial"/>
                <a:cs typeface="Arial"/>
              </a:rPr>
              <a:t>β</a:t>
            </a:r>
            <a:r>
              <a:rPr sz="1800" b="1" i="1" baseline="-32407" dirty="0">
                <a:solidFill>
                  <a:srgbClr val="595959"/>
                </a:solidFill>
                <a:latin typeface="Arial"/>
                <a:cs typeface="Arial"/>
              </a:rPr>
              <a:t>n</a:t>
            </a:r>
            <a:r>
              <a:rPr sz="1800" b="1" i="1" spc="240" baseline="-32407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is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called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the beta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ratio;</a:t>
            </a:r>
            <a:r>
              <a:rPr sz="1800" spc="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b="1" i="1" dirty="0">
                <a:solidFill>
                  <a:srgbClr val="595959"/>
                </a:solidFill>
                <a:latin typeface="Arial"/>
                <a:cs typeface="Arial"/>
              </a:rPr>
              <a:t>r </a:t>
            </a:r>
            <a:r>
              <a:rPr sz="1800" b="1" dirty="0">
                <a:solidFill>
                  <a:srgbClr val="595959"/>
                </a:solidFill>
                <a:latin typeface="Arial"/>
                <a:cs typeface="Arial"/>
              </a:rPr>
              <a:t>=</a:t>
            </a:r>
            <a:r>
              <a:rPr sz="1800" b="1" spc="-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b="1" i="1" dirty="0">
                <a:solidFill>
                  <a:srgbClr val="595959"/>
                </a:solidFill>
                <a:latin typeface="Arial"/>
                <a:cs typeface="Arial"/>
              </a:rPr>
              <a:t>β</a:t>
            </a:r>
            <a:r>
              <a:rPr sz="1800" b="1" i="1" baseline="-32407" dirty="0">
                <a:solidFill>
                  <a:srgbClr val="595959"/>
                </a:solidFill>
                <a:latin typeface="Arial"/>
                <a:cs typeface="Arial"/>
              </a:rPr>
              <a:t>p</a:t>
            </a:r>
            <a:r>
              <a:rPr sz="1800" b="1" i="1" spc="247" baseline="-32407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b="1" i="1" dirty="0">
                <a:solidFill>
                  <a:srgbClr val="595959"/>
                </a:solidFill>
                <a:latin typeface="Arial"/>
                <a:cs typeface="Arial"/>
              </a:rPr>
              <a:t>/</a:t>
            </a:r>
            <a:r>
              <a:rPr sz="1800" b="1" i="1" spc="-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b="1" i="1" dirty="0">
                <a:solidFill>
                  <a:srgbClr val="595959"/>
                </a:solidFill>
                <a:latin typeface="Arial"/>
                <a:cs typeface="Arial"/>
              </a:rPr>
              <a:t>β</a:t>
            </a:r>
            <a:r>
              <a:rPr sz="1800" b="1" i="1" baseline="-32407" dirty="0">
                <a:solidFill>
                  <a:srgbClr val="595959"/>
                </a:solidFill>
                <a:latin typeface="Arial"/>
                <a:cs typeface="Arial"/>
              </a:rPr>
              <a:t>n</a:t>
            </a:r>
            <a:endParaRPr sz="1800" baseline="-32407">
              <a:latin typeface="Arial"/>
              <a:cs typeface="Arial"/>
            </a:endParaRPr>
          </a:p>
          <a:p>
            <a:pPr marL="520700" indent="-367030">
              <a:lnSpc>
                <a:spcPct val="100000"/>
              </a:lnSpc>
              <a:spcBef>
                <a:spcPts val="1520"/>
              </a:spcBef>
              <a:buFont typeface="Arial MT"/>
              <a:buChar char="●"/>
              <a:tabLst>
                <a:tab pos="520065" algn="l"/>
                <a:tab pos="520700" algn="l"/>
              </a:tabLst>
            </a:pPr>
            <a:r>
              <a:rPr sz="1800" b="1" i="1" dirty="0">
                <a:solidFill>
                  <a:srgbClr val="595959"/>
                </a:solidFill>
                <a:latin typeface="Arial"/>
                <a:cs typeface="Arial"/>
              </a:rPr>
              <a:t>r</a:t>
            </a:r>
            <a:r>
              <a:rPr sz="1800" b="1" i="1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b="1" i="1" dirty="0">
                <a:solidFill>
                  <a:srgbClr val="595959"/>
                </a:solidFill>
                <a:latin typeface="Arial"/>
                <a:cs typeface="Arial"/>
              </a:rPr>
              <a:t>=</a:t>
            </a:r>
            <a:r>
              <a:rPr sz="1800" b="1" i="1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b="1" i="1" dirty="0">
                <a:solidFill>
                  <a:srgbClr val="595959"/>
                </a:solidFill>
                <a:latin typeface="Arial"/>
                <a:cs typeface="Arial"/>
              </a:rPr>
              <a:t>1</a:t>
            </a:r>
            <a:r>
              <a:rPr sz="1800" b="1" i="1" spc="-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MS PGothic"/>
                <a:cs typeface="MS PGothic"/>
              </a:rPr>
              <a:t>⇒</a:t>
            </a:r>
            <a:r>
              <a:rPr sz="1800" spc="-65" dirty="0">
                <a:solidFill>
                  <a:srgbClr val="595959"/>
                </a:solidFill>
                <a:latin typeface="MS PGothic"/>
                <a:cs typeface="MS PGothic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inverter</a:t>
            </a:r>
            <a:r>
              <a:rPr sz="1800" spc="-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is</a:t>
            </a:r>
            <a:r>
              <a:rPr sz="1800" spc="-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un-skewed</a:t>
            </a:r>
            <a:endParaRPr sz="1800">
              <a:latin typeface="Arial MT"/>
              <a:cs typeface="Arial MT"/>
            </a:endParaRPr>
          </a:p>
          <a:p>
            <a:pPr marL="520700" indent="-367030">
              <a:lnSpc>
                <a:spcPct val="100000"/>
              </a:lnSpc>
              <a:spcBef>
                <a:spcPts val="325"/>
              </a:spcBef>
              <a:buFont typeface="Arial MT"/>
              <a:buChar char="●"/>
              <a:tabLst>
                <a:tab pos="520065" algn="l"/>
                <a:tab pos="520700" algn="l"/>
              </a:tabLst>
            </a:pPr>
            <a:r>
              <a:rPr sz="1800" b="1" i="1" dirty="0">
                <a:solidFill>
                  <a:srgbClr val="595959"/>
                </a:solidFill>
                <a:latin typeface="Arial"/>
                <a:cs typeface="Arial"/>
              </a:rPr>
              <a:t>r</a:t>
            </a:r>
            <a:r>
              <a:rPr sz="1800" b="1" i="1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b="1" i="1" dirty="0">
                <a:solidFill>
                  <a:srgbClr val="595959"/>
                </a:solidFill>
                <a:latin typeface="Arial"/>
                <a:cs typeface="Arial"/>
              </a:rPr>
              <a:t>&gt;</a:t>
            </a:r>
            <a:r>
              <a:rPr sz="1800" b="1" i="1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b="1" i="1" dirty="0">
                <a:solidFill>
                  <a:srgbClr val="595959"/>
                </a:solidFill>
                <a:latin typeface="Arial"/>
                <a:cs typeface="Arial"/>
              </a:rPr>
              <a:t>1</a:t>
            </a:r>
            <a:r>
              <a:rPr sz="1800" b="1" i="1" spc="-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MS PGothic"/>
                <a:cs typeface="MS PGothic"/>
              </a:rPr>
              <a:t>⇒</a:t>
            </a:r>
            <a:r>
              <a:rPr sz="1800" spc="-65" dirty="0">
                <a:solidFill>
                  <a:srgbClr val="595959"/>
                </a:solidFill>
                <a:latin typeface="MS PGothic"/>
                <a:cs typeface="MS PGothic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inverter</a:t>
            </a:r>
            <a:r>
              <a:rPr sz="1800" spc="-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is</a:t>
            </a:r>
            <a:r>
              <a:rPr sz="1800" spc="-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HI-skewed</a:t>
            </a:r>
            <a:endParaRPr sz="1800">
              <a:latin typeface="Arial MT"/>
              <a:cs typeface="Arial MT"/>
            </a:endParaRPr>
          </a:p>
          <a:p>
            <a:pPr marL="520700" indent="-367030">
              <a:lnSpc>
                <a:spcPct val="100000"/>
              </a:lnSpc>
              <a:spcBef>
                <a:spcPts val="325"/>
              </a:spcBef>
              <a:buFont typeface="Arial MT"/>
              <a:buChar char="●"/>
              <a:tabLst>
                <a:tab pos="520065" algn="l"/>
                <a:tab pos="520700" algn="l"/>
              </a:tabLst>
            </a:pPr>
            <a:r>
              <a:rPr sz="1800" b="1" i="1" dirty="0">
                <a:solidFill>
                  <a:srgbClr val="595959"/>
                </a:solidFill>
                <a:latin typeface="Arial"/>
                <a:cs typeface="Arial"/>
              </a:rPr>
              <a:t>r</a:t>
            </a:r>
            <a:r>
              <a:rPr sz="1800" b="1" i="1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b="1" i="1" dirty="0">
                <a:solidFill>
                  <a:srgbClr val="595959"/>
                </a:solidFill>
                <a:latin typeface="Arial"/>
                <a:cs typeface="Arial"/>
              </a:rPr>
              <a:t>&lt;</a:t>
            </a:r>
            <a:r>
              <a:rPr sz="1800" b="1" i="1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b="1" i="1" dirty="0">
                <a:solidFill>
                  <a:srgbClr val="595959"/>
                </a:solidFill>
                <a:latin typeface="Arial"/>
                <a:cs typeface="Arial"/>
              </a:rPr>
              <a:t>1</a:t>
            </a:r>
            <a:r>
              <a:rPr sz="1800" b="1" i="1" spc="-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MS PGothic"/>
                <a:cs typeface="MS PGothic"/>
              </a:rPr>
              <a:t>⇒</a:t>
            </a:r>
            <a:r>
              <a:rPr sz="1800" spc="-65" dirty="0">
                <a:solidFill>
                  <a:srgbClr val="595959"/>
                </a:solidFill>
                <a:latin typeface="MS PGothic"/>
                <a:cs typeface="MS PGothic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inverter</a:t>
            </a:r>
            <a:r>
              <a:rPr sz="1800" spc="-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is</a:t>
            </a:r>
            <a:r>
              <a:rPr sz="1800" spc="-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LO-skewed</a:t>
            </a:r>
            <a:endParaRPr sz="1800">
              <a:latin typeface="Arial MT"/>
              <a:cs typeface="Arial MT"/>
            </a:endParaRPr>
          </a:p>
          <a:p>
            <a:pPr marL="63500">
              <a:lnSpc>
                <a:spcPct val="100000"/>
              </a:lnSpc>
              <a:spcBef>
                <a:spcPts val="1525"/>
              </a:spcBef>
            </a:pP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Thus,</a:t>
            </a:r>
            <a:r>
              <a:rPr sz="1800" spc="-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by</a:t>
            </a:r>
            <a:r>
              <a:rPr sz="1800" spc="-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changing</a:t>
            </a:r>
            <a:r>
              <a:rPr sz="1800" spc="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b="1" i="1" dirty="0">
                <a:solidFill>
                  <a:srgbClr val="595959"/>
                </a:solidFill>
                <a:latin typeface="Arial"/>
                <a:cs typeface="Arial"/>
              </a:rPr>
              <a:t>r</a:t>
            </a:r>
            <a:r>
              <a:rPr sz="1800" b="1" i="1" spc="-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we</a:t>
            </a:r>
            <a:r>
              <a:rPr sz="1800" spc="-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can</a:t>
            </a:r>
            <a:r>
              <a:rPr sz="1800" spc="-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shift</a:t>
            </a:r>
            <a:r>
              <a:rPr sz="1800" spc="-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the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response!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5590911" y="2247188"/>
            <a:ext cx="3023235" cy="2312035"/>
            <a:chOff x="5590911" y="2247188"/>
            <a:chExt cx="3023235" cy="231203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590911" y="2247188"/>
              <a:ext cx="3022644" cy="2311743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6238725" y="2364399"/>
              <a:ext cx="1996439" cy="1781175"/>
            </a:xfrm>
            <a:custGeom>
              <a:avLst/>
              <a:gdLst/>
              <a:ahLst/>
              <a:cxnLst/>
              <a:rect l="l" t="t" r="r" b="b"/>
              <a:pathLst>
                <a:path w="1996440" h="1781175">
                  <a:moveTo>
                    <a:pt x="0" y="1781099"/>
                  </a:moveTo>
                  <a:lnTo>
                    <a:pt x="1995899" y="0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49849" y="2196669"/>
            <a:ext cx="2508885" cy="1287780"/>
          </a:xfrm>
          <a:prstGeom prst="rect">
            <a:avLst/>
          </a:prstGeom>
        </p:spPr>
        <p:txBody>
          <a:bodyPr vert="horz" wrap="square" lIns="0" tIns="53340" rIns="0" bIns="0" rtlCol="0">
            <a:spAutoFit/>
          </a:bodyPr>
          <a:lstStyle/>
          <a:p>
            <a:pPr marL="404495" indent="-367030">
              <a:lnSpc>
                <a:spcPct val="100000"/>
              </a:lnSpc>
              <a:spcBef>
                <a:spcPts val="420"/>
              </a:spcBef>
              <a:buClr>
                <a:srgbClr val="595959"/>
              </a:buClr>
              <a:buChar char="●"/>
              <a:tabLst>
                <a:tab pos="404495" algn="l"/>
                <a:tab pos="405130" algn="l"/>
              </a:tabLst>
            </a:pPr>
            <a:r>
              <a:rPr sz="2700" b="1" i="1" spc="-7" baseline="20061" dirty="0">
                <a:solidFill>
                  <a:srgbClr val="0000FF"/>
                </a:solidFill>
                <a:latin typeface="Arial"/>
                <a:cs typeface="Arial"/>
              </a:rPr>
              <a:t>V</a:t>
            </a:r>
            <a:r>
              <a:rPr sz="1200" b="1" i="1" spc="-5" dirty="0">
                <a:solidFill>
                  <a:srgbClr val="0000FF"/>
                </a:solidFill>
                <a:latin typeface="Arial"/>
                <a:cs typeface="Arial"/>
              </a:rPr>
              <a:t>gsp</a:t>
            </a:r>
            <a:r>
              <a:rPr sz="1200" b="1" i="1" spc="14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700" b="1" i="1" baseline="20061" dirty="0">
                <a:solidFill>
                  <a:srgbClr val="595959"/>
                </a:solidFill>
                <a:latin typeface="Arial"/>
                <a:cs typeface="Arial"/>
              </a:rPr>
              <a:t>=</a:t>
            </a:r>
            <a:r>
              <a:rPr sz="2700" b="1" i="1" spc="-37" baseline="20061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700" b="1" i="1" baseline="20061" dirty="0">
                <a:solidFill>
                  <a:srgbClr val="595959"/>
                </a:solidFill>
                <a:latin typeface="Arial"/>
                <a:cs typeface="Arial"/>
              </a:rPr>
              <a:t>V</a:t>
            </a:r>
            <a:r>
              <a:rPr sz="1200" b="1" i="1" dirty="0">
                <a:solidFill>
                  <a:srgbClr val="595959"/>
                </a:solidFill>
                <a:latin typeface="Arial"/>
                <a:cs typeface="Arial"/>
              </a:rPr>
              <a:t>in</a:t>
            </a:r>
            <a:r>
              <a:rPr sz="1200" b="1" i="1" spc="-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700" b="1" i="1" baseline="20061" dirty="0">
                <a:solidFill>
                  <a:srgbClr val="595959"/>
                </a:solidFill>
                <a:latin typeface="Arial"/>
                <a:cs typeface="Arial"/>
              </a:rPr>
              <a:t>-</a:t>
            </a:r>
            <a:r>
              <a:rPr sz="2700" b="1" i="1" spc="-37" baseline="20061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700" b="1" i="1" spc="-7" baseline="20061" dirty="0">
                <a:solidFill>
                  <a:srgbClr val="595959"/>
                </a:solidFill>
                <a:latin typeface="Arial"/>
                <a:cs typeface="Arial"/>
              </a:rPr>
              <a:t>V</a:t>
            </a:r>
            <a:r>
              <a:rPr sz="1200" b="1" i="1" spc="-5" dirty="0">
                <a:solidFill>
                  <a:srgbClr val="595959"/>
                </a:solidFill>
                <a:latin typeface="Arial"/>
                <a:cs typeface="Arial"/>
              </a:rPr>
              <a:t>DD</a:t>
            </a:r>
            <a:endParaRPr sz="1200">
              <a:latin typeface="Arial"/>
              <a:cs typeface="Arial"/>
            </a:endParaRPr>
          </a:p>
          <a:p>
            <a:pPr marL="404495" indent="-367030">
              <a:lnSpc>
                <a:spcPts val="1985"/>
              </a:lnSpc>
              <a:spcBef>
                <a:spcPts val="325"/>
              </a:spcBef>
              <a:buClr>
                <a:srgbClr val="595959"/>
              </a:buClr>
              <a:buChar char="●"/>
              <a:tabLst>
                <a:tab pos="404495" algn="l"/>
                <a:tab pos="405130" algn="l"/>
              </a:tabLst>
            </a:pPr>
            <a:r>
              <a:rPr sz="2700" b="1" i="1" spc="-7" baseline="20061" dirty="0">
                <a:solidFill>
                  <a:srgbClr val="0000FF"/>
                </a:solidFill>
                <a:latin typeface="Arial"/>
                <a:cs typeface="Arial"/>
              </a:rPr>
              <a:t>V</a:t>
            </a:r>
            <a:r>
              <a:rPr sz="1200" b="1" i="1" spc="-5" dirty="0">
                <a:solidFill>
                  <a:srgbClr val="0000FF"/>
                </a:solidFill>
                <a:latin typeface="Arial"/>
                <a:cs typeface="Arial"/>
              </a:rPr>
              <a:t>dsp</a:t>
            </a:r>
            <a:r>
              <a:rPr sz="1200" b="1" i="1" spc="15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700" b="1" i="1" baseline="20061" dirty="0">
                <a:solidFill>
                  <a:srgbClr val="595959"/>
                </a:solidFill>
                <a:latin typeface="Arial"/>
                <a:cs typeface="Arial"/>
              </a:rPr>
              <a:t>=</a:t>
            </a:r>
            <a:r>
              <a:rPr sz="2700" b="1" i="1" spc="-22" baseline="20061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700" b="1" i="1" spc="-7" baseline="20061" dirty="0">
                <a:solidFill>
                  <a:srgbClr val="595959"/>
                </a:solidFill>
                <a:latin typeface="Arial"/>
                <a:cs typeface="Arial"/>
              </a:rPr>
              <a:t>V</a:t>
            </a:r>
            <a:r>
              <a:rPr sz="1200" b="1" i="1" spc="-5" dirty="0">
                <a:solidFill>
                  <a:srgbClr val="595959"/>
                </a:solidFill>
                <a:latin typeface="Arial"/>
                <a:cs typeface="Arial"/>
              </a:rPr>
              <a:t>out</a:t>
            </a:r>
            <a:r>
              <a:rPr sz="1200" b="1" i="1" spc="15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700" b="1" i="1" baseline="20061" dirty="0">
                <a:solidFill>
                  <a:srgbClr val="595959"/>
                </a:solidFill>
                <a:latin typeface="Arial"/>
                <a:cs typeface="Arial"/>
              </a:rPr>
              <a:t>-</a:t>
            </a:r>
            <a:r>
              <a:rPr sz="2700" b="1" i="1" spc="-30" baseline="20061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700" b="1" i="1" spc="-7" baseline="20061" dirty="0">
                <a:solidFill>
                  <a:srgbClr val="595959"/>
                </a:solidFill>
                <a:latin typeface="Arial"/>
                <a:cs typeface="Arial"/>
              </a:rPr>
              <a:t>V</a:t>
            </a:r>
            <a:r>
              <a:rPr sz="1200" b="1" i="1" spc="-5" dirty="0">
                <a:solidFill>
                  <a:srgbClr val="595959"/>
                </a:solidFill>
                <a:latin typeface="Arial"/>
                <a:cs typeface="Arial"/>
              </a:rPr>
              <a:t>DD</a:t>
            </a:r>
            <a:endParaRPr sz="1200">
              <a:latin typeface="Arial"/>
              <a:cs typeface="Arial"/>
            </a:endParaRPr>
          </a:p>
          <a:p>
            <a:pPr marL="404495" indent="-367030">
              <a:lnSpc>
                <a:spcPts val="1985"/>
              </a:lnSpc>
              <a:buClr>
                <a:srgbClr val="595959"/>
              </a:buClr>
              <a:buChar char="●"/>
              <a:tabLst>
                <a:tab pos="404495" algn="l"/>
                <a:tab pos="405130" algn="l"/>
              </a:tabLst>
            </a:pPr>
            <a:r>
              <a:rPr sz="1800" b="1" i="1" spc="-5" dirty="0">
                <a:solidFill>
                  <a:srgbClr val="00FF00"/>
                </a:solidFill>
                <a:latin typeface="Arial"/>
                <a:cs typeface="Arial"/>
              </a:rPr>
              <a:t>V</a:t>
            </a:r>
            <a:r>
              <a:rPr sz="1800" b="1" i="1" spc="-7" baseline="-32407" dirty="0">
                <a:solidFill>
                  <a:srgbClr val="00FF00"/>
                </a:solidFill>
                <a:latin typeface="Arial"/>
                <a:cs typeface="Arial"/>
              </a:rPr>
              <a:t>gsn</a:t>
            </a:r>
            <a:r>
              <a:rPr sz="1800" b="1" i="1" spc="225" baseline="-32407" dirty="0">
                <a:solidFill>
                  <a:srgbClr val="00FF00"/>
                </a:solidFill>
                <a:latin typeface="Arial"/>
                <a:cs typeface="Arial"/>
              </a:rPr>
              <a:t> </a:t>
            </a:r>
            <a:r>
              <a:rPr sz="1800" b="1" i="1" dirty="0">
                <a:solidFill>
                  <a:srgbClr val="595959"/>
                </a:solidFill>
                <a:latin typeface="Arial"/>
                <a:cs typeface="Arial"/>
              </a:rPr>
              <a:t>=</a:t>
            </a:r>
            <a:r>
              <a:rPr sz="1800" b="1" i="1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b="1" i="1" dirty="0">
                <a:solidFill>
                  <a:srgbClr val="595959"/>
                </a:solidFill>
                <a:latin typeface="Arial"/>
                <a:cs typeface="Arial"/>
              </a:rPr>
              <a:t>V</a:t>
            </a:r>
            <a:r>
              <a:rPr sz="1800" b="1" i="1" baseline="-32407" dirty="0">
                <a:solidFill>
                  <a:srgbClr val="595959"/>
                </a:solidFill>
                <a:latin typeface="Arial"/>
                <a:cs typeface="Arial"/>
              </a:rPr>
              <a:t>in</a:t>
            </a:r>
            <a:r>
              <a:rPr sz="1800" b="1" i="1" spc="-15" baseline="-32407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b="1" i="1" dirty="0">
                <a:solidFill>
                  <a:srgbClr val="595959"/>
                </a:solidFill>
                <a:latin typeface="Arial"/>
                <a:cs typeface="Arial"/>
              </a:rPr>
              <a:t>-</a:t>
            </a:r>
            <a:r>
              <a:rPr sz="1800" b="1" i="1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b="1" i="1" dirty="0">
                <a:solidFill>
                  <a:srgbClr val="595959"/>
                </a:solidFill>
                <a:latin typeface="Arial"/>
                <a:cs typeface="Arial"/>
              </a:rPr>
              <a:t>0</a:t>
            </a:r>
            <a:r>
              <a:rPr sz="1800" b="1" i="1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b="1" i="1" dirty="0">
                <a:solidFill>
                  <a:srgbClr val="595959"/>
                </a:solidFill>
                <a:latin typeface="Arial"/>
                <a:cs typeface="Arial"/>
              </a:rPr>
              <a:t>=</a:t>
            </a:r>
            <a:r>
              <a:rPr sz="1800" b="1" i="1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b="1" i="1" spc="-5" dirty="0">
                <a:solidFill>
                  <a:srgbClr val="595959"/>
                </a:solidFill>
                <a:latin typeface="Arial"/>
                <a:cs typeface="Arial"/>
              </a:rPr>
              <a:t>V</a:t>
            </a:r>
            <a:r>
              <a:rPr sz="1800" b="1" i="1" spc="-7" baseline="-32407" dirty="0">
                <a:solidFill>
                  <a:srgbClr val="595959"/>
                </a:solidFill>
                <a:latin typeface="Arial"/>
                <a:cs typeface="Arial"/>
              </a:rPr>
              <a:t>in</a:t>
            </a:r>
            <a:endParaRPr sz="1800" baseline="-32407">
              <a:latin typeface="Arial"/>
              <a:cs typeface="Arial"/>
            </a:endParaRPr>
          </a:p>
          <a:p>
            <a:pPr marL="404495" indent="-367030">
              <a:lnSpc>
                <a:spcPct val="100000"/>
              </a:lnSpc>
              <a:spcBef>
                <a:spcPts val="1000"/>
              </a:spcBef>
              <a:buClr>
                <a:srgbClr val="595959"/>
              </a:buClr>
              <a:buChar char="●"/>
              <a:tabLst>
                <a:tab pos="404495" algn="l"/>
                <a:tab pos="405130" algn="l"/>
              </a:tabLst>
            </a:pPr>
            <a:r>
              <a:rPr sz="2700" b="1" i="1" spc="-7" baseline="20061" dirty="0">
                <a:solidFill>
                  <a:srgbClr val="00FF00"/>
                </a:solidFill>
                <a:latin typeface="Arial"/>
                <a:cs typeface="Arial"/>
              </a:rPr>
              <a:t>V</a:t>
            </a:r>
            <a:r>
              <a:rPr sz="1200" b="1" i="1" spc="-5" dirty="0">
                <a:solidFill>
                  <a:srgbClr val="00FF00"/>
                </a:solidFill>
                <a:latin typeface="Arial"/>
                <a:cs typeface="Arial"/>
              </a:rPr>
              <a:t>dsn</a:t>
            </a:r>
            <a:r>
              <a:rPr sz="1200" b="1" i="1" spc="150" dirty="0">
                <a:solidFill>
                  <a:srgbClr val="00FF00"/>
                </a:solidFill>
                <a:latin typeface="Arial"/>
                <a:cs typeface="Arial"/>
              </a:rPr>
              <a:t> </a:t>
            </a:r>
            <a:r>
              <a:rPr sz="2700" b="1" i="1" baseline="20061" dirty="0">
                <a:solidFill>
                  <a:srgbClr val="595959"/>
                </a:solidFill>
                <a:latin typeface="Arial"/>
                <a:cs typeface="Arial"/>
              </a:rPr>
              <a:t>=</a:t>
            </a:r>
            <a:r>
              <a:rPr sz="2700" b="1" i="1" spc="-15" baseline="20061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700" b="1" i="1" spc="-7" baseline="20061" dirty="0">
                <a:solidFill>
                  <a:srgbClr val="595959"/>
                </a:solidFill>
                <a:latin typeface="Arial"/>
                <a:cs typeface="Arial"/>
              </a:rPr>
              <a:t>V</a:t>
            </a:r>
            <a:r>
              <a:rPr sz="1200" b="1" i="1" spc="-5" dirty="0">
                <a:solidFill>
                  <a:srgbClr val="595959"/>
                </a:solidFill>
                <a:latin typeface="Arial"/>
                <a:cs typeface="Arial"/>
              </a:rPr>
              <a:t>out</a:t>
            </a:r>
            <a:r>
              <a:rPr sz="1200" b="1" i="1" spc="15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700" b="1" i="1" baseline="20061" dirty="0">
                <a:solidFill>
                  <a:srgbClr val="595959"/>
                </a:solidFill>
                <a:latin typeface="Arial"/>
                <a:cs typeface="Arial"/>
              </a:rPr>
              <a:t>-</a:t>
            </a:r>
            <a:r>
              <a:rPr sz="2700" b="1" i="1" spc="-22" baseline="20061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700" b="1" i="1" baseline="20061" dirty="0">
                <a:solidFill>
                  <a:srgbClr val="595959"/>
                </a:solidFill>
                <a:latin typeface="Arial"/>
                <a:cs typeface="Arial"/>
              </a:rPr>
              <a:t>0</a:t>
            </a:r>
            <a:r>
              <a:rPr sz="2700" b="1" i="1" spc="-22" baseline="20061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700" b="1" i="1" baseline="20061" dirty="0">
                <a:solidFill>
                  <a:srgbClr val="595959"/>
                </a:solidFill>
                <a:latin typeface="Arial"/>
                <a:cs typeface="Arial"/>
              </a:rPr>
              <a:t>=</a:t>
            </a:r>
            <a:r>
              <a:rPr sz="2700" b="1" i="1" spc="-22" baseline="20061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700" b="1" i="1" spc="-7" baseline="20061" dirty="0">
                <a:solidFill>
                  <a:srgbClr val="595959"/>
                </a:solidFill>
                <a:latin typeface="Arial"/>
                <a:cs typeface="Arial"/>
              </a:rPr>
              <a:t>V</a:t>
            </a:r>
            <a:r>
              <a:rPr sz="1200" b="1" i="1" spc="-5" dirty="0">
                <a:solidFill>
                  <a:srgbClr val="595959"/>
                </a:solidFill>
                <a:latin typeface="Arial"/>
                <a:cs typeface="Arial"/>
              </a:rPr>
              <a:t>out</a:t>
            </a:r>
            <a:endParaRPr sz="12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84725" y="3566363"/>
            <a:ext cx="17633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324610" algn="l"/>
              </a:tabLst>
            </a:pP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Assume:</a:t>
            </a:r>
            <a:r>
              <a:rPr sz="1800" spc="2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b="1" i="1" dirty="0">
                <a:solidFill>
                  <a:srgbClr val="595959"/>
                </a:solidFill>
                <a:latin typeface="Arial"/>
                <a:cs typeface="Arial"/>
              </a:rPr>
              <a:t>V	=</a:t>
            </a:r>
            <a:r>
              <a:rPr sz="1800" b="1" i="1" spc="-9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b="1" i="1" dirty="0">
                <a:solidFill>
                  <a:srgbClr val="595959"/>
                </a:solidFill>
                <a:latin typeface="Arial"/>
                <a:cs typeface="Arial"/>
              </a:rPr>
              <a:t>-V</a:t>
            </a:r>
            <a:endParaRPr sz="18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489997" y="3728288"/>
            <a:ext cx="80264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45160" algn="l"/>
              </a:tabLst>
            </a:pPr>
            <a:r>
              <a:rPr sz="1200" b="1" i="1" dirty="0">
                <a:solidFill>
                  <a:srgbClr val="595959"/>
                </a:solidFill>
                <a:latin typeface="Arial"/>
                <a:cs typeface="Arial"/>
              </a:rPr>
              <a:t>tp	tn</a:t>
            </a:r>
            <a:endParaRPr sz="1200"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51875" y="1960105"/>
            <a:ext cx="2738155" cy="1839698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384725" y="505248"/>
            <a:ext cx="6406515" cy="40957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500" spc="5" dirty="0"/>
              <a:t>Beta</a:t>
            </a:r>
            <a:r>
              <a:rPr sz="2500" spc="-5" dirty="0"/>
              <a:t> </a:t>
            </a:r>
            <a:r>
              <a:rPr sz="2500" spc="5" dirty="0"/>
              <a:t>Ratio</a:t>
            </a:r>
            <a:r>
              <a:rPr sz="2500" dirty="0"/>
              <a:t> </a:t>
            </a:r>
            <a:r>
              <a:rPr sz="2500" spc="-5" dirty="0"/>
              <a:t>Effects </a:t>
            </a:r>
            <a:r>
              <a:rPr sz="2500" dirty="0"/>
              <a:t>for</a:t>
            </a:r>
            <a:r>
              <a:rPr sz="2500" spc="-5" dirty="0"/>
              <a:t> </a:t>
            </a:r>
            <a:r>
              <a:rPr sz="2500" spc="10" dirty="0"/>
              <a:t>a</a:t>
            </a:r>
            <a:r>
              <a:rPr sz="2500" dirty="0"/>
              <a:t> Static</a:t>
            </a:r>
            <a:r>
              <a:rPr sz="2500" spc="-5" dirty="0"/>
              <a:t> </a:t>
            </a:r>
            <a:r>
              <a:rPr sz="2500" spc="10" dirty="0"/>
              <a:t>CMOS</a:t>
            </a:r>
            <a:r>
              <a:rPr sz="2500" dirty="0"/>
              <a:t> Inverter</a:t>
            </a:r>
            <a:endParaRPr sz="2500"/>
          </a:p>
        </p:txBody>
      </p:sp>
      <p:sp>
        <p:nvSpPr>
          <p:cNvPr id="7" name="object 7"/>
          <p:cNvSpPr txBox="1"/>
          <p:nvPr/>
        </p:nvSpPr>
        <p:spPr>
          <a:xfrm>
            <a:off x="6087174" y="2245038"/>
            <a:ext cx="14414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solidFill>
                  <a:srgbClr val="0000FF"/>
                </a:solidFill>
                <a:latin typeface="Arial MT"/>
                <a:cs typeface="Arial MT"/>
              </a:rPr>
              <a:t>V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205699" y="2370979"/>
            <a:ext cx="216535" cy="1676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900" spc="10" dirty="0">
                <a:solidFill>
                  <a:srgbClr val="0000FF"/>
                </a:solidFill>
                <a:latin typeface="Arial MT"/>
                <a:cs typeface="Arial MT"/>
              </a:rPr>
              <a:t>gsp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061774" y="3421225"/>
            <a:ext cx="38608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100" spc="7" baseline="19841" dirty="0">
                <a:solidFill>
                  <a:srgbClr val="00FF00"/>
                </a:solidFill>
                <a:latin typeface="Arial MT"/>
                <a:cs typeface="Arial MT"/>
              </a:rPr>
              <a:t>V</a:t>
            </a:r>
            <a:r>
              <a:rPr sz="900" spc="5" dirty="0">
                <a:solidFill>
                  <a:srgbClr val="00FF00"/>
                </a:solidFill>
                <a:latin typeface="Arial MT"/>
                <a:cs typeface="Arial MT"/>
              </a:rPr>
              <a:t>gsn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949950" y="3468550"/>
            <a:ext cx="14414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solidFill>
                  <a:srgbClr val="00FF00"/>
                </a:solidFill>
                <a:latin typeface="Arial MT"/>
                <a:cs typeface="Arial MT"/>
              </a:rPr>
              <a:t>V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068474" y="3594492"/>
            <a:ext cx="216535" cy="1676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900" spc="10" dirty="0">
                <a:solidFill>
                  <a:srgbClr val="00FF00"/>
                </a:solidFill>
                <a:latin typeface="Arial MT"/>
                <a:cs typeface="Arial MT"/>
              </a:rPr>
              <a:t>dsn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087174" y="2601725"/>
            <a:ext cx="24765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Arial MT"/>
                <a:cs typeface="Arial MT"/>
              </a:rPr>
              <a:t>(+)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085000" y="3068350"/>
            <a:ext cx="24765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Arial MT"/>
                <a:cs typeface="Arial MT"/>
              </a:rPr>
              <a:t>(+)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8140750" y="3134775"/>
            <a:ext cx="24765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Arial MT"/>
                <a:cs typeface="Arial MT"/>
              </a:rPr>
              <a:t>(+)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961750" y="2150410"/>
            <a:ext cx="475615" cy="614045"/>
          </a:xfrm>
          <a:prstGeom prst="rect">
            <a:avLst/>
          </a:prstGeom>
        </p:spPr>
        <p:txBody>
          <a:bodyPr vert="horz" wrap="square" lIns="0" tIns="933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735"/>
              </a:spcBef>
            </a:pPr>
            <a:r>
              <a:rPr sz="2100" spc="7" baseline="19841" dirty="0">
                <a:solidFill>
                  <a:srgbClr val="0000FF"/>
                </a:solidFill>
                <a:latin typeface="Arial MT"/>
                <a:cs typeface="Arial MT"/>
              </a:rPr>
              <a:t>V</a:t>
            </a:r>
            <a:r>
              <a:rPr sz="900" spc="5" dirty="0">
                <a:solidFill>
                  <a:srgbClr val="0000FF"/>
                </a:solidFill>
                <a:latin typeface="Arial MT"/>
                <a:cs typeface="Arial MT"/>
              </a:rPr>
              <a:t>dsp</a:t>
            </a:r>
            <a:endParaRPr sz="900">
              <a:latin typeface="Arial MT"/>
              <a:cs typeface="Arial MT"/>
            </a:endParaRPr>
          </a:p>
          <a:p>
            <a:pPr marL="214629">
              <a:lnSpc>
                <a:spcPct val="100000"/>
              </a:lnSpc>
              <a:spcBef>
                <a:spcPts val="635"/>
              </a:spcBef>
            </a:pPr>
            <a:r>
              <a:rPr sz="1400" dirty="0">
                <a:latin typeface="Arial MT"/>
                <a:cs typeface="Arial MT"/>
              </a:rPr>
              <a:t>(+)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46625" y="1216355"/>
            <a:ext cx="7928609" cy="9874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00"/>
              </a:spcBef>
            </a:pPr>
            <a:r>
              <a:rPr sz="1800" spc="-20" dirty="0">
                <a:solidFill>
                  <a:srgbClr val="595959"/>
                </a:solidFill>
                <a:latin typeface="Arial MT"/>
                <a:cs typeface="Arial MT"/>
              </a:rPr>
              <a:t>We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would like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to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know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how</a:t>
            </a:r>
            <a:r>
              <a:rPr sz="1800" spc="2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b="1" i="1" spc="-5" dirty="0">
                <a:solidFill>
                  <a:srgbClr val="595959"/>
                </a:solidFill>
                <a:latin typeface="Arial"/>
                <a:cs typeface="Arial"/>
              </a:rPr>
              <a:t>V</a:t>
            </a:r>
            <a:r>
              <a:rPr sz="1800" b="1" i="1" spc="-7" baseline="-32407" dirty="0">
                <a:solidFill>
                  <a:srgbClr val="595959"/>
                </a:solidFill>
                <a:latin typeface="Arial"/>
                <a:cs typeface="Arial"/>
              </a:rPr>
              <a:t>inv</a:t>
            </a:r>
            <a:r>
              <a:rPr sz="1800" b="1" i="1" spc="240" baseline="-32407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changes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for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a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CMOS inverter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as we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change</a:t>
            </a:r>
            <a:r>
              <a:rPr sz="1800" spc="3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b="1" i="1" dirty="0">
                <a:solidFill>
                  <a:srgbClr val="595959"/>
                </a:solidFill>
                <a:latin typeface="Arial"/>
                <a:cs typeface="Arial"/>
              </a:rPr>
              <a:t>r</a:t>
            </a:r>
            <a:endParaRPr sz="1800">
              <a:latin typeface="Arial"/>
              <a:cs typeface="Arial"/>
            </a:endParaRPr>
          </a:p>
          <a:p>
            <a:pPr marL="50800">
              <a:lnSpc>
                <a:spcPct val="100000"/>
              </a:lnSpc>
              <a:spcBef>
                <a:spcPts val="1525"/>
              </a:spcBef>
            </a:pP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For</a:t>
            </a:r>
            <a:r>
              <a:rPr sz="1800" spc="-2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the</a:t>
            </a:r>
            <a:r>
              <a:rPr sz="1800" spc="-2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CMOS</a:t>
            </a:r>
            <a:r>
              <a:rPr sz="1800" spc="-2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inverter</a:t>
            </a:r>
            <a:r>
              <a:rPr sz="1800" spc="-2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shown:</a:t>
            </a:r>
            <a:endParaRPr sz="1800">
              <a:latin typeface="Arial MT"/>
              <a:cs typeface="Arial MT"/>
            </a:endParaRPr>
          </a:p>
          <a:p>
            <a:pPr marR="643255" algn="r">
              <a:lnSpc>
                <a:spcPct val="100000"/>
              </a:lnSpc>
              <a:spcBef>
                <a:spcPts val="45"/>
              </a:spcBef>
              <a:tabLst>
                <a:tab pos="624205" algn="l"/>
              </a:tabLst>
            </a:pPr>
            <a:r>
              <a:rPr sz="1400" dirty="0">
                <a:latin typeface="Arial MT"/>
                <a:cs typeface="Arial MT"/>
              </a:rPr>
              <a:t>(-)	(-)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809350" y="3640875"/>
            <a:ext cx="20320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Arial MT"/>
                <a:cs typeface="Arial MT"/>
              </a:rPr>
              <a:t>(-)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415350" y="3640875"/>
            <a:ext cx="20320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Arial MT"/>
                <a:cs typeface="Arial MT"/>
              </a:rPr>
              <a:t>(-)</a:t>
            </a:r>
            <a:endParaRPr sz="1400">
              <a:latin typeface="Arial MT"/>
              <a:cs typeface="Arial MT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6421512" y="2301860"/>
            <a:ext cx="1674495" cy="1271270"/>
            <a:chOff x="6421512" y="2301860"/>
            <a:chExt cx="1674495" cy="1271270"/>
          </a:xfrm>
        </p:grpSpPr>
        <p:sp>
          <p:nvSpPr>
            <p:cNvPr id="20" name="object 20"/>
            <p:cNvSpPr/>
            <p:nvPr/>
          </p:nvSpPr>
          <p:spPr>
            <a:xfrm>
              <a:off x="6426274" y="3202537"/>
              <a:ext cx="493395" cy="340360"/>
            </a:xfrm>
            <a:custGeom>
              <a:avLst/>
              <a:gdLst/>
              <a:ahLst/>
              <a:cxnLst/>
              <a:rect l="l" t="t" r="r" b="b"/>
              <a:pathLst>
                <a:path w="493395" h="340360">
                  <a:moveTo>
                    <a:pt x="0" y="0"/>
                  </a:moveTo>
                  <a:lnTo>
                    <a:pt x="493240" y="339872"/>
                  </a:lnTo>
                </a:path>
              </a:pathLst>
            </a:custGeom>
            <a:ln w="9524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6910588" y="3529455"/>
              <a:ext cx="45085" cy="38100"/>
            </a:xfrm>
            <a:custGeom>
              <a:avLst/>
              <a:gdLst/>
              <a:ahLst/>
              <a:cxnLst/>
              <a:rect l="l" t="t" r="r" b="b"/>
              <a:pathLst>
                <a:path w="45084" h="38100">
                  <a:moveTo>
                    <a:pt x="44520" y="37481"/>
                  </a:moveTo>
                  <a:lnTo>
                    <a:pt x="0" y="25909"/>
                  </a:lnTo>
                  <a:lnTo>
                    <a:pt x="17854" y="0"/>
                  </a:lnTo>
                  <a:lnTo>
                    <a:pt x="44520" y="37481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6910588" y="3529455"/>
              <a:ext cx="45085" cy="38100"/>
            </a:xfrm>
            <a:custGeom>
              <a:avLst/>
              <a:gdLst/>
              <a:ahLst/>
              <a:cxnLst/>
              <a:rect l="l" t="t" r="r" b="b"/>
              <a:pathLst>
                <a:path w="45084" h="38100">
                  <a:moveTo>
                    <a:pt x="0" y="25909"/>
                  </a:moveTo>
                  <a:lnTo>
                    <a:pt x="44520" y="37481"/>
                  </a:lnTo>
                  <a:lnTo>
                    <a:pt x="17854" y="0"/>
                  </a:lnTo>
                  <a:lnTo>
                    <a:pt x="0" y="25909"/>
                  </a:lnTo>
                  <a:close/>
                </a:path>
              </a:pathLst>
            </a:custGeom>
            <a:ln w="9524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6428449" y="2334841"/>
              <a:ext cx="494030" cy="401320"/>
            </a:xfrm>
            <a:custGeom>
              <a:avLst/>
              <a:gdLst/>
              <a:ahLst/>
              <a:cxnLst/>
              <a:rect l="l" t="t" r="r" b="b"/>
              <a:pathLst>
                <a:path w="494029" h="401319">
                  <a:moveTo>
                    <a:pt x="0" y="401070"/>
                  </a:moveTo>
                  <a:lnTo>
                    <a:pt x="493837" y="0"/>
                  </a:lnTo>
                </a:path>
              </a:pathLst>
            </a:custGeom>
            <a:ln w="9524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6912368" y="2307591"/>
              <a:ext cx="43815" cy="40005"/>
            </a:xfrm>
            <a:custGeom>
              <a:avLst/>
              <a:gdLst/>
              <a:ahLst/>
              <a:cxnLst/>
              <a:rect l="l" t="t" r="r" b="b"/>
              <a:pathLst>
                <a:path w="43815" h="40005">
                  <a:moveTo>
                    <a:pt x="19837" y="39463"/>
                  </a:moveTo>
                  <a:lnTo>
                    <a:pt x="0" y="15038"/>
                  </a:lnTo>
                  <a:lnTo>
                    <a:pt x="43472" y="0"/>
                  </a:lnTo>
                  <a:lnTo>
                    <a:pt x="19837" y="39463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6912368" y="2307591"/>
              <a:ext cx="43815" cy="40005"/>
            </a:xfrm>
            <a:custGeom>
              <a:avLst/>
              <a:gdLst/>
              <a:ahLst/>
              <a:cxnLst/>
              <a:rect l="l" t="t" r="r" b="b"/>
              <a:pathLst>
                <a:path w="43815" h="40005">
                  <a:moveTo>
                    <a:pt x="19837" y="39463"/>
                  </a:moveTo>
                  <a:lnTo>
                    <a:pt x="43472" y="0"/>
                  </a:lnTo>
                  <a:lnTo>
                    <a:pt x="0" y="15038"/>
                  </a:lnTo>
                  <a:lnTo>
                    <a:pt x="19837" y="39463"/>
                  </a:lnTo>
                  <a:close/>
                </a:path>
              </a:pathLst>
            </a:custGeom>
            <a:ln w="9524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7603008" y="2330789"/>
              <a:ext cx="488315" cy="329565"/>
            </a:xfrm>
            <a:custGeom>
              <a:avLst/>
              <a:gdLst/>
              <a:ahLst/>
              <a:cxnLst/>
              <a:rect l="l" t="t" r="r" b="b"/>
              <a:pathLst>
                <a:path w="488315" h="329564">
                  <a:moveTo>
                    <a:pt x="487816" y="328947"/>
                  </a:moveTo>
                  <a:lnTo>
                    <a:pt x="0" y="0"/>
                  </a:lnTo>
                </a:path>
              </a:pathLst>
            </a:custGeom>
            <a:ln w="9524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7567169" y="2306622"/>
              <a:ext cx="45085" cy="37465"/>
            </a:xfrm>
            <a:custGeom>
              <a:avLst/>
              <a:gdLst/>
              <a:ahLst/>
              <a:cxnLst/>
              <a:rect l="l" t="t" r="r" b="b"/>
              <a:pathLst>
                <a:path w="45084" h="37464">
                  <a:moveTo>
                    <a:pt x="27042" y="37210"/>
                  </a:moveTo>
                  <a:lnTo>
                    <a:pt x="0" y="0"/>
                  </a:lnTo>
                  <a:lnTo>
                    <a:pt x="44634" y="11122"/>
                  </a:lnTo>
                  <a:lnTo>
                    <a:pt x="27042" y="3721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7567169" y="2306622"/>
              <a:ext cx="45085" cy="37465"/>
            </a:xfrm>
            <a:custGeom>
              <a:avLst/>
              <a:gdLst/>
              <a:ahLst/>
              <a:cxnLst/>
              <a:rect l="l" t="t" r="r" b="b"/>
              <a:pathLst>
                <a:path w="45084" h="37464">
                  <a:moveTo>
                    <a:pt x="44634" y="11122"/>
                  </a:moveTo>
                  <a:lnTo>
                    <a:pt x="0" y="0"/>
                  </a:lnTo>
                  <a:lnTo>
                    <a:pt x="27042" y="37210"/>
                  </a:lnTo>
                  <a:lnTo>
                    <a:pt x="44634" y="11122"/>
                  </a:lnTo>
                  <a:close/>
                </a:path>
              </a:pathLst>
            </a:custGeom>
            <a:ln w="9524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7586534" y="3268962"/>
              <a:ext cx="481330" cy="277495"/>
            </a:xfrm>
            <a:custGeom>
              <a:avLst/>
              <a:gdLst/>
              <a:ahLst/>
              <a:cxnLst/>
              <a:rect l="l" t="t" r="r" b="b"/>
              <a:pathLst>
                <a:path w="481329" h="277495">
                  <a:moveTo>
                    <a:pt x="481190" y="0"/>
                  </a:moveTo>
                  <a:lnTo>
                    <a:pt x="0" y="277452"/>
                  </a:lnTo>
                </a:path>
              </a:pathLst>
            </a:custGeom>
            <a:ln w="9524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7549088" y="3532786"/>
              <a:ext cx="45720" cy="35560"/>
            </a:xfrm>
            <a:custGeom>
              <a:avLst/>
              <a:gdLst/>
              <a:ahLst/>
              <a:cxnLst/>
              <a:rect l="l" t="t" r="r" b="b"/>
              <a:pathLst>
                <a:path w="45720" h="35560">
                  <a:moveTo>
                    <a:pt x="0" y="35220"/>
                  </a:moveTo>
                  <a:lnTo>
                    <a:pt x="29587" y="0"/>
                  </a:lnTo>
                  <a:lnTo>
                    <a:pt x="45304" y="27258"/>
                  </a:lnTo>
                  <a:lnTo>
                    <a:pt x="0" y="3522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7549088" y="3532786"/>
              <a:ext cx="45720" cy="35560"/>
            </a:xfrm>
            <a:custGeom>
              <a:avLst/>
              <a:gdLst/>
              <a:ahLst/>
              <a:cxnLst/>
              <a:rect l="l" t="t" r="r" b="b"/>
              <a:pathLst>
                <a:path w="45720" h="35560">
                  <a:moveTo>
                    <a:pt x="29587" y="0"/>
                  </a:moveTo>
                  <a:lnTo>
                    <a:pt x="0" y="35220"/>
                  </a:lnTo>
                  <a:lnTo>
                    <a:pt x="45304" y="27258"/>
                  </a:lnTo>
                  <a:lnTo>
                    <a:pt x="29587" y="0"/>
                  </a:lnTo>
                  <a:close/>
                </a:path>
              </a:pathLst>
            </a:custGeom>
            <a:ln w="9524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05248"/>
            <a:ext cx="6406515" cy="40957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500" spc="5" dirty="0"/>
              <a:t>Beta</a:t>
            </a:r>
            <a:r>
              <a:rPr sz="2500" spc="-5" dirty="0"/>
              <a:t> </a:t>
            </a:r>
            <a:r>
              <a:rPr sz="2500" spc="5" dirty="0"/>
              <a:t>Ratio</a:t>
            </a:r>
            <a:r>
              <a:rPr sz="2500" dirty="0"/>
              <a:t> </a:t>
            </a:r>
            <a:r>
              <a:rPr sz="2500" spc="-5" dirty="0"/>
              <a:t>Effects </a:t>
            </a:r>
            <a:r>
              <a:rPr sz="2500" dirty="0"/>
              <a:t>for</a:t>
            </a:r>
            <a:r>
              <a:rPr sz="2500" spc="-5" dirty="0"/>
              <a:t> </a:t>
            </a:r>
            <a:r>
              <a:rPr sz="2500" spc="10" dirty="0"/>
              <a:t>a</a:t>
            </a:r>
            <a:r>
              <a:rPr sz="2500" dirty="0"/>
              <a:t> Static</a:t>
            </a:r>
            <a:r>
              <a:rPr sz="2500" spc="-5" dirty="0"/>
              <a:t> </a:t>
            </a:r>
            <a:r>
              <a:rPr sz="2500" spc="10" dirty="0"/>
              <a:t>CMOS</a:t>
            </a:r>
            <a:r>
              <a:rPr sz="2500" dirty="0"/>
              <a:t> Inverter</a:t>
            </a:r>
            <a:endParaRPr sz="25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51875" y="1960105"/>
            <a:ext cx="2738155" cy="1839698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6061774" y="3421225"/>
            <a:ext cx="38608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100" spc="7" baseline="19841" dirty="0">
                <a:solidFill>
                  <a:srgbClr val="00FF00"/>
                </a:solidFill>
                <a:latin typeface="Arial MT"/>
                <a:cs typeface="Arial MT"/>
              </a:rPr>
              <a:t>V</a:t>
            </a:r>
            <a:r>
              <a:rPr sz="900" spc="5" dirty="0">
                <a:solidFill>
                  <a:srgbClr val="00FF00"/>
                </a:solidFill>
                <a:latin typeface="Arial MT"/>
                <a:cs typeface="Arial MT"/>
              </a:rPr>
              <a:t>gsn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949950" y="3468550"/>
            <a:ext cx="14414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solidFill>
                  <a:srgbClr val="00FF00"/>
                </a:solidFill>
                <a:latin typeface="Arial MT"/>
                <a:cs typeface="Arial MT"/>
              </a:rPr>
              <a:t>V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068474" y="3594492"/>
            <a:ext cx="216535" cy="1676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900" spc="10" dirty="0">
                <a:solidFill>
                  <a:srgbClr val="00FF00"/>
                </a:solidFill>
                <a:latin typeface="Arial MT"/>
                <a:cs typeface="Arial MT"/>
              </a:rPr>
              <a:t>dsn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061774" y="2235060"/>
            <a:ext cx="386080" cy="6057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 marR="30480">
              <a:lnSpc>
                <a:spcPct val="135900"/>
              </a:lnSpc>
              <a:spcBef>
                <a:spcPts val="100"/>
              </a:spcBef>
            </a:pPr>
            <a:r>
              <a:rPr sz="2100" spc="-7" baseline="19841" dirty="0">
                <a:solidFill>
                  <a:srgbClr val="0000FF"/>
                </a:solidFill>
                <a:latin typeface="Arial MT"/>
                <a:cs typeface="Arial MT"/>
              </a:rPr>
              <a:t>V</a:t>
            </a:r>
            <a:r>
              <a:rPr sz="900" spc="5" dirty="0">
                <a:solidFill>
                  <a:srgbClr val="0000FF"/>
                </a:solidFill>
                <a:latin typeface="Arial MT"/>
                <a:cs typeface="Arial MT"/>
              </a:rPr>
              <a:t>gsp  </a:t>
            </a:r>
            <a:r>
              <a:rPr sz="1400" dirty="0">
                <a:latin typeface="Arial MT"/>
                <a:cs typeface="Arial MT"/>
              </a:rPr>
              <a:t>(+)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085000" y="3068350"/>
            <a:ext cx="24765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Arial MT"/>
                <a:cs typeface="Arial MT"/>
              </a:rPr>
              <a:t>(+)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140750" y="3134775"/>
            <a:ext cx="24765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Arial MT"/>
                <a:cs typeface="Arial MT"/>
              </a:rPr>
              <a:t>(+)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961750" y="2150410"/>
            <a:ext cx="475615" cy="614045"/>
          </a:xfrm>
          <a:prstGeom prst="rect">
            <a:avLst/>
          </a:prstGeom>
        </p:spPr>
        <p:txBody>
          <a:bodyPr vert="horz" wrap="square" lIns="0" tIns="933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735"/>
              </a:spcBef>
            </a:pPr>
            <a:r>
              <a:rPr sz="2100" spc="7" baseline="19841" dirty="0">
                <a:solidFill>
                  <a:srgbClr val="0000FF"/>
                </a:solidFill>
                <a:latin typeface="Arial MT"/>
                <a:cs typeface="Arial MT"/>
              </a:rPr>
              <a:t>V</a:t>
            </a:r>
            <a:r>
              <a:rPr sz="900" spc="5" dirty="0">
                <a:solidFill>
                  <a:srgbClr val="0000FF"/>
                </a:solidFill>
                <a:latin typeface="Arial MT"/>
                <a:cs typeface="Arial MT"/>
              </a:rPr>
              <a:t>dsp</a:t>
            </a:r>
            <a:endParaRPr sz="900">
              <a:latin typeface="Arial MT"/>
              <a:cs typeface="Arial MT"/>
            </a:endParaRPr>
          </a:p>
          <a:p>
            <a:pPr marL="214629">
              <a:lnSpc>
                <a:spcPct val="100000"/>
              </a:lnSpc>
              <a:spcBef>
                <a:spcPts val="635"/>
              </a:spcBef>
            </a:pPr>
            <a:r>
              <a:rPr sz="1400" dirty="0">
                <a:latin typeface="Arial MT"/>
                <a:cs typeface="Arial MT"/>
              </a:rPr>
              <a:t>(+)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809350" y="1964500"/>
            <a:ext cx="20320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Arial MT"/>
                <a:cs typeface="Arial MT"/>
              </a:rPr>
              <a:t>(-)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433950" y="1964500"/>
            <a:ext cx="20320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Arial MT"/>
                <a:cs typeface="Arial MT"/>
              </a:rPr>
              <a:t>(-)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809350" y="3640875"/>
            <a:ext cx="20320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Arial MT"/>
                <a:cs typeface="Arial MT"/>
              </a:rPr>
              <a:t>(-)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415350" y="3640875"/>
            <a:ext cx="20320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Arial MT"/>
                <a:cs typeface="Arial MT"/>
              </a:rPr>
              <a:t>(-)</a:t>
            </a:r>
            <a:endParaRPr sz="1400">
              <a:latin typeface="Arial MT"/>
              <a:cs typeface="Arial MT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6421512" y="2301860"/>
            <a:ext cx="1674495" cy="1271270"/>
            <a:chOff x="6421512" y="2301860"/>
            <a:chExt cx="1674495" cy="1271270"/>
          </a:xfrm>
        </p:grpSpPr>
        <p:sp>
          <p:nvSpPr>
            <p:cNvPr id="16" name="object 16"/>
            <p:cNvSpPr/>
            <p:nvPr/>
          </p:nvSpPr>
          <p:spPr>
            <a:xfrm>
              <a:off x="6426274" y="3202537"/>
              <a:ext cx="493395" cy="340360"/>
            </a:xfrm>
            <a:custGeom>
              <a:avLst/>
              <a:gdLst/>
              <a:ahLst/>
              <a:cxnLst/>
              <a:rect l="l" t="t" r="r" b="b"/>
              <a:pathLst>
                <a:path w="493395" h="340360">
                  <a:moveTo>
                    <a:pt x="0" y="0"/>
                  </a:moveTo>
                  <a:lnTo>
                    <a:pt x="493240" y="339872"/>
                  </a:lnTo>
                </a:path>
              </a:pathLst>
            </a:custGeom>
            <a:ln w="9524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6910588" y="3529455"/>
              <a:ext cx="45085" cy="38100"/>
            </a:xfrm>
            <a:custGeom>
              <a:avLst/>
              <a:gdLst/>
              <a:ahLst/>
              <a:cxnLst/>
              <a:rect l="l" t="t" r="r" b="b"/>
              <a:pathLst>
                <a:path w="45084" h="38100">
                  <a:moveTo>
                    <a:pt x="44520" y="37481"/>
                  </a:moveTo>
                  <a:lnTo>
                    <a:pt x="0" y="25909"/>
                  </a:lnTo>
                  <a:lnTo>
                    <a:pt x="17854" y="0"/>
                  </a:lnTo>
                  <a:lnTo>
                    <a:pt x="44520" y="37481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6910588" y="3529455"/>
              <a:ext cx="45085" cy="38100"/>
            </a:xfrm>
            <a:custGeom>
              <a:avLst/>
              <a:gdLst/>
              <a:ahLst/>
              <a:cxnLst/>
              <a:rect l="l" t="t" r="r" b="b"/>
              <a:pathLst>
                <a:path w="45084" h="38100">
                  <a:moveTo>
                    <a:pt x="0" y="25909"/>
                  </a:moveTo>
                  <a:lnTo>
                    <a:pt x="44520" y="37481"/>
                  </a:lnTo>
                  <a:lnTo>
                    <a:pt x="17854" y="0"/>
                  </a:lnTo>
                  <a:lnTo>
                    <a:pt x="0" y="25909"/>
                  </a:lnTo>
                  <a:close/>
                </a:path>
              </a:pathLst>
            </a:custGeom>
            <a:ln w="9524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6428449" y="2334841"/>
              <a:ext cx="494030" cy="401320"/>
            </a:xfrm>
            <a:custGeom>
              <a:avLst/>
              <a:gdLst/>
              <a:ahLst/>
              <a:cxnLst/>
              <a:rect l="l" t="t" r="r" b="b"/>
              <a:pathLst>
                <a:path w="494029" h="401319">
                  <a:moveTo>
                    <a:pt x="0" y="401070"/>
                  </a:moveTo>
                  <a:lnTo>
                    <a:pt x="493837" y="0"/>
                  </a:lnTo>
                </a:path>
              </a:pathLst>
            </a:custGeom>
            <a:ln w="9524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6912368" y="2307591"/>
              <a:ext cx="43815" cy="40005"/>
            </a:xfrm>
            <a:custGeom>
              <a:avLst/>
              <a:gdLst/>
              <a:ahLst/>
              <a:cxnLst/>
              <a:rect l="l" t="t" r="r" b="b"/>
              <a:pathLst>
                <a:path w="43815" h="40005">
                  <a:moveTo>
                    <a:pt x="19837" y="39463"/>
                  </a:moveTo>
                  <a:lnTo>
                    <a:pt x="0" y="15038"/>
                  </a:lnTo>
                  <a:lnTo>
                    <a:pt x="43472" y="0"/>
                  </a:lnTo>
                  <a:lnTo>
                    <a:pt x="19837" y="39463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6912368" y="2307591"/>
              <a:ext cx="43815" cy="40005"/>
            </a:xfrm>
            <a:custGeom>
              <a:avLst/>
              <a:gdLst/>
              <a:ahLst/>
              <a:cxnLst/>
              <a:rect l="l" t="t" r="r" b="b"/>
              <a:pathLst>
                <a:path w="43815" h="40005">
                  <a:moveTo>
                    <a:pt x="19837" y="39463"/>
                  </a:moveTo>
                  <a:lnTo>
                    <a:pt x="43472" y="0"/>
                  </a:lnTo>
                  <a:lnTo>
                    <a:pt x="0" y="15038"/>
                  </a:lnTo>
                  <a:lnTo>
                    <a:pt x="19837" y="39463"/>
                  </a:lnTo>
                  <a:close/>
                </a:path>
              </a:pathLst>
            </a:custGeom>
            <a:ln w="9524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7603008" y="2330789"/>
              <a:ext cx="488315" cy="329565"/>
            </a:xfrm>
            <a:custGeom>
              <a:avLst/>
              <a:gdLst/>
              <a:ahLst/>
              <a:cxnLst/>
              <a:rect l="l" t="t" r="r" b="b"/>
              <a:pathLst>
                <a:path w="488315" h="329564">
                  <a:moveTo>
                    <a:pt x="487816" y="328947"/>
                  </a:moveTo>
                  <a:lnTo>
                    <a:pt x="0" y="0"/>
                  </a:lnTo>
                </a:path>
              </a:pathLst>
            </a:custGeom>
            <a:ln w="9524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7567169" y="2306622"/>
              <a:ext cx="45085" cy="37465"/>
            </a:xfrm>
            <a:custGeom>
              <a:avLst/>
              <a:gdLst/>
              <a:ahLst/>
              <a:cxnLst/>
              <a:rect l="l" t="t" r="r" b="b"/>
              <a:pathLst>
                <a:path w="45084" h="37464">
                  <a:moveTo>
                    <a:pt x="27042" y="37210"/>
                  </a:moveTo>
                  <a:lnTo>
                    <a:pt x="0" y="0"/>
                  </a:lnTo>
                  <a:lnTo>
                    <a:pt x="44634" y="11122"/>
                  </a:lnTo>
                  <a:lnTo>
                    <a:pt x="27042" y="3721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7567169" y="2306622"/>
              <a:ext cx="45085" cy="37465"/>
            </a:xfrm>
            <a:custGeom>
              <a:avLst/>
              <a:gdLst/>
              <a:ahLst/>
              <a:cxnLst/>
              <a:rect l="l" t="t" r="r" b="b"/>
              <a:pathLst>
                <a:path w="45084" h="37464">
                  <a:moveTo>
                    <a:pt x="44634" y="11122"/>
                  </a:moveTo>
                  <a:lnTo>
                    <a:pt x="0" y="0"/>
                  </a:lnTo>
                  <a:lnTo>
                    <a:pt x="27042" y="37210"/>
                  </a:lnTo>
                  <a:lnTo>
                    <a:pt x="44634" y="11122"/>
                  </a:lnTo>
                  <a:close/>
                </a:path>
              </a:pathLst>
            </a:custGeom>
            <a:ln w="9524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7586534" y="3268962"/>
              <a:ext cx="481330" cy="277495"/>
            </a:xfrm>
            <a:custGeom>
              <a:avLst/>
              <a:gdLst/>
              <a:ahLst/>
              <a:cxnLst/>
              <a:rect l="l" t="t" r="r" b="b"/>
              <a:pathLst>
                <a:path w="481329" h="277495">
                  <a:moveTo>
                    <a:pt x="481190" y="0"/>
                  </a:moveTo>
                  <a:lnTo>
                    <a:pt x="0" y="277452"/>
                  </a:lnTo>
                </a:path>
              </a:pathLst>
            </a:custGeom>
            <a:ln w="9524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7549088" y="3532786"/>
              <a:ext cx="45720" cy="35560"/>
            </a:xfrm>
            <a:custGeom>
              <a:avLst/>
              <a:gdLst/>
              <a:ahLst/>
              <a:cxnLst/>
              <a:rect l="l" t="t" r="r" b="b"/>
              <a:pathLst>
                <a:path w="45720" h="35560">
                  <a:moveTo>
                    <a:pt x="0" y="35220"/>
                  </a:moveTo>
                  <a:lnTo>
                    <a:pt x="29587" y="0"/>
                  </a:lnTo>
                  <a:lnTo>
                    <a:pt x="45304" y="27258"/>
                  </a:lnTo>
                  <a:lnTo>
                    <a:pt x="0" y="3522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7549088" y="3532786"/>
              <a:ext cx="45720" cy="35560"/>
            </a:xfrm>
            <a:custGeom>
              <a:avLst/>
              <a:gdLst/>
              <a:ahLst/>
              <a:cxnLst/>
              <a:rect l="l" t="t" r="r" b="b"/>
              <a:pathLst>
                <a:path w="45720" h="35560">
                  <a:moveTo>
                    <a:pt x="29587" y="0"/>
                  </a:moveTo>
                  <a:lnTo>
                    <a:pt x="0" y="35220"/>
                  </a:lnTo>
                  <a:lnTo>
                    <a:pt x="45304" y="27258"/>
                  </a:lnTo>
                  <a:lnTo>
                    <a:pt x="29587" y="0"/>
                  </a:lnTo>
                  <a:close/>
                </a:path>
              </a:pathLst>
            </a:custGeom>
            <a:ln w="9524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28" name="object 2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633475" y="3235121"/>
            <a:ext cx="2004808" cy="1079896"/>
          </a:xfrm>
          <a:prstGeom prst="rect">
            <a:avLst/>
          </a:prstGeom>
        </p:spPr>
      </p:pic>
      <p:sp>
        <p:nvSpPr>
          <p:cNvPr id="29" name="object 29"/>
          <p:cNvSpPr txBox="1"/>
          <p:nvPr/>
        </p:nvSpPr>
        <p:spPr>
          <a:xfrm>
            <a:off x="359325" y="1216355"/>
            <a:ext cx="81076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Fo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r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00" dirty="0">
                <a:solidFill>
                  <a:srgbClr val="595959"/>
                </a:solidFill>
                <a:latin typeface="Arial MT"/>
                <a:cs typeface="Arial MT"/>
              </a:rPr>
              <a:t>β</a:t>
            </a:r>
            <a:r>
              <a:rPr sz="1800" spc="-275" dirty="0">
                <a:solidFill>
                  <a:srgbClr val="595959"/>
                </a:solidFill>
                <a:latin typeface="Arial MT"/>
                <a:cs typeface="Arial MT"/>
              </a:rPr>
              <a:t>p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≠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330" dirty="0">
                <a:solidFill>
                  <a:srgbClr val="595959"/>
                </a:solidFill>
                <a:latin typeface="Arial MT"/>
                <a:cs typeface="Arial MT"/>
              </a:rPr>
              <a:t>βn</a:t>
            </a:r>
            <a:r>
              <a:rPr sz="1800" spc="-120" dirty="0">
                <a:solidFill>
                  <a:srgbClr val="595959"/>
                </a:solidFill>
                <a:latin typeface="Arial MT"/>
                <a:cs typeface="Arial MT"/>
              </a:rPr>
              <a:t>,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 w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e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can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calculate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 th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e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 inverte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r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 threshol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d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voltage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 b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y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setting</a:t>
            </a:r>
            <a:r>
              <a:rPr sz="1800" spc="7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b="1" i="1" dirty="0">
                <a:solidFill>
                  <a:srgbClr val="595959"/>
                </a:solidFill>
                <a:latin typeface="Arial"/>
                <a:cs typeface="Arial"/>
              </a:rPr>
              <a:t>V</a:t>
            </a:r>
            <a:r>
              <a:rPr sz="1800" b="1" i="1" spc="-7" baseline="-32407" dirty="0">
                <a:solidFill>
                  <a:srgbClr val="595959"/>
                </a:solidFill>
                <a:latin typeface="Arial"/>
                <a:cs typeface="Arial"/>
              </a:rPr>
              <a:t>i</a:t>
            </a:r>
            <a:r>
              <a:rPr sz="1800" b="1" i="1" baseline="-32407" dirty="0">
                <a:solidFill>
                  <a:srgbClr val="595959"/>
                </a:solidFill>
                <a:latin typeface="Arial"/>
                <a:cs typeface="Arial"/>
              </a:rPr>
              <a:t>n</a:t>
            </a:r>
            <a:r>
              <a:rPr sz="1800" b="1" i="1" spc="247" baseline="-32407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b="1" i="1" dirty="0">
                <a:solidFill>
                  <a:srgbClr val="595959"/>
                </a:solidFill>
                <a:latin typeface="Arial"/>
                <a:cs typeface="Arial"/>
              </a:rPr>
              <a:t>=</a:t>
            </a:r>
            <a:r>
              <a:rPr sz="1800" b="1" i="1" spc="-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b="1" i="1" spc="5" dirty="0">
                <a:solidFill>
                  <a:srgbClr val="595959"/>
                </a:solidFill>
                <a:latin typeface="Arial"/>
                <a:cs typeface="Arial"/>
              </a:rPr>
              <a:t>V</a:t>
            </a:r>
            <a:r>
              <a:rPr sz="1800" b="1" i="1" spc="-7" baseline="-32407" dirty="0">
                <a:solidFill>
                  <a:srgbClr val="595959"/>
                </a:solidFill>
                <a:latin typeface="Arial"/>
                <a:cs typeface="Arial"/>
              </a:rPr>
              <a:t>inv</a:t>
            </a:r>
            <a:endParaRPr sz="1800" baseline="-32407">
              <a:latin typeface="Arial"/>
              <a:cs typeface="Aria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435376" y="1643076"/>
            <a:ext cx="5167630" cy="656590"/>
          </a:xfrm>
          <a:prstGeom prst="rect">
            <a:avLst/>
          </a:prstGeom>
        </p:spPr>
        <p:txBody>
          <a:bodyPr vert="horz" wrap="square" lIns="0" tIns="53340" rIns="0" bIns="0" rtlCol="0">
            <a:spAutoFit/>
          </a:bodyPr>
          <a:lstStyle/>
          <a:p>
            <a:pPr marL="419100" indent="-419734">
              <a:lnSpc>
                <a:spcPct val="100000"/>
              </a:lnSpc>
              <a:spcBef>
                <a:spcPts val="420"/>
              </a:spcBef>
              <a:buAutoNum type="arabicPeriod"/>
              <a:tabLst>
                <a:tab pos="419100" algn="l"/>
                <a:tab pos="419734" algn="l"/>
              </a:tabLst>
            </a:pP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In</a:t>
            </a:r>
            <a:r>
              <a:rPr sz="1800" spc="-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region</a:t>
            </a:r>
            <a:r>
              <a:rPr sz="1800" spc="-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C,</a:t>
            </a:r>
            <a:r>
              <a:rPr sz="1800" spc="-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both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pMOS</a:t>
            </a:r>
            <a:r>
              <a:rPr sz="1800" spc="-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&amp;</a:t>
            </a:r>
            <a:r>
              <a:rPr sz="1800" spc="-2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nMOS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are</a:t>
            </a:r>
            <a:r>
              <a:rPr sz="1800" spc="-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saturated</a:t>
            </a:r>
            <a:endParaRPr sz="1800">
              <a:latin typeface="Arial MT"/>
              <a:cs typeface="Arial MT"/>
            </a:endParaRPr>
          </a:p>
          <a:p>
            <a:pPr marL="419100" indent="-419734">
              <a:lnSpc>
                <a:spcPct val="100000"/>
              </a:lnSpc>
              <a:spcBef>
                <a:spcPts val="325"/>
              </a:spcBef>
              <a:buAutoNum type="arabicPeriod"/>
              <a:tabLst>
                <a:tab pos="419100" algn="l"/>
                <a:tab pos="419734" algn="l"/>
              </a:tabLst>
            </a:pP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So</a:t>
            </a:r>
            <a:r>
              <a:rPr sz="1800" spc="-2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the</a:t>
            </a:r>
            <a:r>
              <a:rPr sz="1800" spc="-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nMOS</a:t>
            </a:r>
            <a:r>
              <a:rPr sz="1800" spc="-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and</a:t>
            </a:r>
            <a:r>
              <a:rPr sz="1800" spc="-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pMOS</a:t>
            </a:r>
            <a:r>
              <a:rPr sz="1800" spc="-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currents</a:t>
            </a:r>
            <a:r>
              <a:rPr sz="1800" spc="-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are: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905437" y="2477085"/>
            <a:ext cx="129159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85800" algn="l"/>
                <a:tab pos="1007110" algn="l"/>
              </a:tabLst>
            </a:pPr>
            <a:r>
              <a:rPr sz="1200" b="1" i="1" spc="-5" dirty="0">
                <a:solidFill>
                  <a:srgbClr val="595959"/>
                </a:solidFill>
                <a:latin typeface="Arial"/>
                <a:cs typeface="Arial"/>
              </a:rPr>
              <a:t>ds</a:t>
            </a:r>
            <a:r>
              <a:rPr sz="1200" b="1" i="1" dirty="0">
                <a:solidFill>
                  <a:srgbClr val="595959"/>
                </a:solidFill>
                <a:latin typeface="Arial"/>
                <a:cs typeface="Arial"/>
              </a:rPr>
              <a:t>p	p	</a:t>
            </a:r>
            <a:r>
              <a:rPr sz="1200" b="1" i="1" spc="-5" dirty="0">
                <a:solidFill>
                  <a:srgbClr val="595959"/>
                </a:solidFill>
                <a:latin typeface="Arial"/>
                <a:cs typeface="Arial"/>
              </a:rPr>
              <a:t>gsp</a:t>
            </a:r>
            <a:endParaRPr sz="1200">
              <a:latin typeface="Arial"/>
              <a:cs typeface="Arial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4322307" y="2477085"/>
            <a:ext cx="74549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88010" algn="l"/>
              </a:tabLst>
            </a:pPr>
            <a:r>
              <a:rPr sz="1200" b="1" i="1" spc="-5" dirty="0">
                <a:solidFill>
                  <a:srgbClr val="595959"/>
                </a:solidFill>
                <a:latin typeface="Arial"/>
                <a:cs typeface="Arial"/>
              </a:rPr>
              <a:t>D</a:t>
            </a:r>
            <a:r>
              <a:rPr sz="1200" b="1" i="1" dirty="0">
                <a:solidFill>
                  <a:srgbClr val="595959"/>
                </a:solidFill>
                <a:latin typeface="Arial"/>
                <a:cs typeface="Arial"/>
              </a:rPr>
              <a:t>D	tp</a:t>
            </a:r>
            <a:endParaRPr sz="1200">
              <a:latin typeface="Arial"/>
              <a:cs typeface="Arial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462549" y="2274012"/>
            <a:ext cx="5006975" cy="656590"/>
          </a:xfrm>
          <a:prstGeom prst="rect">
            <a:avLst/>
          </a:prstGeom>
        </p:spPr>
        <p:txBody>
          <a:bodyPr vert="horz" wrap="square" lIns="0" tIns="53340" rIns="0" bIns="0" rtlCol="0">
            <a:spAutoFit/>
          </a:bodyPr>
          <a:lstStyle/>
          <a:p>
            <a:pPr marL="391795" indent="-367030">
              <a:lnSpc>
                <a:spcPct val="100000"/>
              </a:lnSpc>
              <a:spcBef>
                <a:spcPts val="420"/>
              </a:spcBef>
              <a:buChar char="●"/>
              <a:tabLst>
                <a:tab pos="391795" algn="l"/>
                <a:tab pos="392430" algn="l"/>
                <a:tab pos="789305" algn="l"/>
                <a:tab pos="1784350" algn="l"/>
                <a:tab pos="2220595" algn="l"/>
                <a:tab pos="3579495" algn="l"/>
                <a:tab pos="4155440" algn="l"/>
                <a:tab pos="4591685" algn="l"/>
              </a:tabLst>
            </a:pPr>
            <a:r>
              <a:rPr sz="1800" b="1" i="1" dirty="0">
                <a:solidFill>
                  <a:srgbClr val="595959"/>
                </a:solidFill>
                <a:latin typeface="Arial"/>
                <a:cs typeface="Arial"/>
              </a:rPr>
              <a:t>I	=</a:t>
            </a:r>
            <a:r>
              <a:rPr sz="1800" b="1" i="1" spc="-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b="1" i="1" dirty="0">
                <a:solidFill>
                  <a:srgbClr val="595959"/>
                </a:solidFill>
                <a:latin typeface="Arial"/>
                <a:cs typeface="Arial"/>
              </a:rPr>
              <a:t>β</a:t>
            </a:r>
            <a:r>
              <a:rPr sz="1800" b="1" i="1" spc="23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b="1" i="1" dirty="0">
                <a:solidFill>
                  <a:srgbClr val="595959"/>
                </a:solidFill>
                <a:latin typeface="Arial"/>
                <a:cs typeface="Arial"/>
              </a:rPr>
              <a:t>(V	-</a:t>
            </a:r>
            <a:r>
              <a:rPr sz="1800" b="1" i="1" spc="-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b="1" i="1" dirty="0">
                <a:solidFill>
                  <a:srgbClr val="595959"/>
                </a:solidFill>
                <a:latin typeface="Arial"/>
                <a:cs typeface="Arial"/>
              </a:rPr>
              <a:t>V	</a:t>
            </a:r>
            <a:r>
              <a:rPr sz="1800" b="1" i="1" spc="-5" dirty="0">
                <a:solidFill>
                  <a:srgbClr val="595959"/>
                </a:solidFill>
                <a:latin typeface="Arial"/>
                <a:cs typeface="Arial"/>
              </a:rPr>
              <a:t>)</a:t>
            </a:r>
            <a:r>
              <a:rPr sz="1800" b="1" i="1" spc="-7" baseline="30092" dirty="0">
                <a:solidFill>
                  <a:srgbClr val="595959"/>
                </a:solidFill>
                <a:latin typeface="Arial"/>
                <a:cs typeface="Arial"/>
              </a:rPr>
              <a:t>2</a:t>
            </a:r>
            <a:r>
              <a:rPr sz="1800" b="1" i="1" spc="-5" dirty="0">
                <a:solidFill>
                  <a:srgbClr val="595959"/>
                </a:solidFill>
                <a:latin typeface="Arial"/>
                <a:cs typeface="Arial"/>
              </a:rPr>
              <a:t>/2 </a:t>
            </a:r>
            <a:r>
              <a:rPr sz="1800" b="1" i="1" dirty="0">
                <a:solidFill>
                  <a:srgbClr val="595959"/>
                </a:solidFill>
                <a:latin typeface="Arial"/>
                <a:cs typeface="Arial"/>
              </a:rPr>
              <a:t>= β</a:t>
            </a:r>
            <a:r>
              <a:rPr sz="1800" b="1" i="1" spc="24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b="1" i="1" dirty="0">
                <a:solidFill>
                  <a:srgbClr val="595959"/>
                </a:solidFill>
                <a:latin typeface="Arial"/>
                <a:cs typeface="Arial"/>
              </a:rPr>
              <a:t>(V	-</a:t>
            </a:r>
            <a:r>
              <a:rPr sz="1800" b="1" i="1" spc="-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b="1" i="1" dirty="0">
                <a:solidFill>
                  <a:srgbClr val="595959"/>
                </a:solidFill>
                <a:latin typeface="Arial"/>
                <a:cs typeface="Arial"/>
              </a:rPr>
              <a:t>V	-</a:t>
            </a:r>
            <a:r>
              <a:rPr sz="1800" b="1" i="1" spc="-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b="1" i="1" dirty="0">
                <a:solidFill>
                  <a:srgbClr val="595959"/>
                </a:solidFill>
                <a:latin typeface="Arial"/>
                <a:cs typeface="Arial"/>
              </a:rPr>
              <a:t>V	</a:t>
            </a:r>
            <a:r>
              <a:rPr sz="1800" b="1" i="1" spc="-5" dirty="0">
                <a:solidFill>
                  <a:srgbClr val="595959"/>
                </a:solidFill>
                <a:latin typeface="Arial"/>
                <a:cs typeface="Arial"/>
              </a:rPr>
              <a:t>)</a:t>
            </a:r>
            <a:r>
              <a:rPr sz="1800" b="1" i="1" spc="-7" baseline="30092" dirty="0">
                <a:solidFill>
                  <a:srgbClr val="595959"/>
                </a:solidFill>
                <a:latin typeface="Arial"/>
                <a:cs typeface="Arial"/>
              </a:rPr>
              <a:t>2</a:t>
            </a:r>
            <a:r>
              <a:rPr sz="1800" b="1" i="1" spc="-5" dirty="0">
                <a:solidFill>
                  <a:srgbClr val="595959"/>
                </a:solidFill>
                <a:latin typeface="Arial"/>
                <a:cs typeface="Arial"/>
              </a:rPr>
              <a:t>/2</a:t>
            </a:r>
            <a:endParaRPr sz="1800">
              <a:latin typeface="Arial"/>
              <a:cs typeface="Arial"/>
            </a:endParaRPr>
          </a:p>
          <a:p>
            <a:pPr marL="391795" indent="-367030">
              <a:lnSpc>
                <a:spcPct val="100000"/>
              </a:lnSpc>
              <a:spcBef>
                <a:spcPts val="325"/>
              </a:spcBef>
              <a:buChar char="●"/>
              <a:tabLst>
                <a:tab pos="391795" algn="l"/>
                <a:tab pos="392430" algn="l"/>
              </a:tabLst>
            </a:pPr>
            <a:r>
              <a:rPr sz="1800" b="1" i="1" dirty="0">
                <a:solidFill>
                  <a:srgbClr val="595959"/>
                </a:solidFill>
                <a:latin typeface="Arial"/>
                <a:cs typeface="Arial"/>
              </a:rPr>
              <a:t>I</a:t>
            </a:r>
            <a:endParaRPr sz="1800">
              <a:latin typeface="Arial"/>
              <a:cs typeface="Arial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1239701" y="2630627"/>
            <a:ext cx="6864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i="1" dirty="0">
                <a:solidFill>
                  <a:srgbClr val="595959"/>
                </a:solidFill>
                <a:latin typeface="Arial"/>
                <a:cs typeface="Arial"/>
              </a:rPr>
              <a:t>=</a:t>
            </a:r>
            <a:r>
              <a:rPr sz="1800" b="1" i="1" spc="-4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b="1" i="1" dirty="0">
                <a:solidFill>
                  <a:srgbClr val="595959"/>
                </a:solidFill>
                <a:latin typeface="Arial"/>
                <a:cs typeface="Arial"/>
              </a:rPr>
              <a:t>β</a:t>
            </a:r>
            <a:r>
              <a:rPr sz="1800" b="1" i="1" spc="18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b="1" i="1" dirty="0">
                <a:solidFill>
                  <a:srgbClr val="595959"/>
                </a:solidFill>
                <a:latin typeface="Arial"/>
                <a:cs typeface="Arial"/>
              </a:rPr>
              <a:t>(V</a:t>
            </a:r>
            <a:endParaRPr sz="1800">
              <a:latin typeface="Arial"/>
              <a:cs typeface="Arial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2527031" y="2477085"/>
            <a:ext cx="1464945" cy="3524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285"/>
              </a:lnSpc>
              <a:spcBef>
                <a:spcPts val="100"/>
              </a:spcBef>
              <a:tabLst>
                <a:tab pos="909955" algn="l"/>
                <a:tab pos="1231900" algn="l"/>
              </a:tabLst>
            </a:pPr>
            <a:r>
              <a:rPr sz="1200" b="1" i="1" dirty="0">
                <a:solidFill>
                  <a:srgbClr val="595959"/>
                </a:solidFill>
                <a:latin typeface="Arial"/>
                <a:cs typeface="Arial"/>
              </a:rPr>
              <a:t>tp	p	</a:t>
            </a:r>
            <a:r>
              <a:rPr sz="1200" b="1" i="1" spc="-5" dirty="0">
                <a:solidFill>
                  <a:srgbClr val="595959"/>
                </a:solidFill>
                <a:latin typeface="Arial"/>
                <a:cs typeface="Arial"/>
              </a:rPr>
              <a:t>inv</a:t>
            </a:r>
            <a:endParaRPr sz="1200">
              <a:latin typeface="Arial"/>
              <a:cs typeface="Arial"/>
            </a:endParaRPr>
          </a:p>
          <a:p>
            <a:pPr marL="232410">
              <a:lnSpc>
                <a:spcPts val="1285"/>
              </a:lnSpc>
            </a:pPr>
            <a:r>
              <a:rPr sz="1200" b="1" i="1" dirty="0">
                <a:solidFill>
                  <a:srgbClr val="595959"/>
                </a:solidFill>
                <a:latin typeface="Arial"/>
                <a:cs typeface="Arial"/>
              </a:rPr>
              <a:t>2</a:t>
            </a:r>
            <a:endParaRPr sz="1200">
              <a:latin typeface="Arial"/>
              <a:cs typeface="Arial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2234728" y="2630627"/>
            <a:ext cx="15373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48309" algn="l"/>
              </a:tabLst>
            </a:pPr>
            <a:r>
              <a:rPr sz="1800" b="1" i="1" dirty="0">
                <a:solidFill>
                  <a:srgbClr val="595959"/>
                </a:solidFill>
                <a:latin typeface="Arial"/>
                <a:cs typeface="Arial"/>
              </a:rPr>
              <a:t>-</a:t>
            </a:r>
            <a:r>
              <a:rPr sz="1800" b="1" i="1" spc="-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b="1" i="1" dirty="0">
                <a:solidFill>
                  <a:srgbClr val="595959"/>
                </a:solidFill>
                <a:latin typeface="Arial"/>
                <a:cs typeface="Arial"/>
              </a:rPr>
              <a:t>V	)</a:t>
            </a:r>
            <a:r>
              <a:rPr sz="1800" b="1" i="1" spc="13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b="1" i="1" spc="-5" dirty="0">
                <a:solidFill>
                  <a:srgbClr val="595959"/>
                </a:solidFill>
                <a:latin typeface="Arial"/>
                <a:cs typeface="Arial"/>
              </a:rPr>
              <a:t>/2</a:t>
            </a:r>
            <a:r>
              <a:rPr sz="1800" b="1" i="1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b="1" i="1" dirty="0">
                <a:solidFill>
                  <a:srgbClr val="595959"/>
                </a:solidFill>
                <a:latin typeface="Arial"/>
                <a:cs typeface="Arial"/>
              </a:rPr>
              <a:t>=</a:t>
            </a:r>
            <a:r>
              <a:rPr sz="1800" b="1" i="1" spc="-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b="1" i="1" dirty="0">
                <a:solidFill>
                  <a:srgbClr val="595959"/>
                </a:solidFill>
                <a:latin typeface="Arial"/>
                <a:cs typeface="Arial"/>
              </a:rPr>
              <a:t>β</a:t>
            </a:r>
            <a:r>
              <a:rPr sz="1800" b="1" i="1" spc="2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b="1" i="1" dirty="0">
                <a:solidFill>
                  <a:srgbClr val="595959"/>
                </a:solidFill>
                <a:latin typeface="Arial"/>
                <a:cs typeface="Arial"/>
              </a:rPr>
              <a:t>(V</a:t>
            </a:r>
            <a:endParaRPr sz="1800">
              <a:latin typeface="Arial"/>
              <a:cs typeface="Arial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905437" y="2792552"/>
            <a:ext cx="30867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85800" algn="l"/>
                <a:tab pos="1007110" algn="l"/>
                <a:tab pos="1633855" algn="l"/>
                <a:tab pos="2531745" algn="l"/>
                <a:tab pos="2853690" algn="l"/>
              </a:tabLst>
            </a:pPr>
            <a:r>
              <a:rPr sz="1200" b="1" i="1" spc="-5" dirty="0">
                <a:solidFill>
                  <a:srgbClr val="595959"/>
                </a:solidFill>
                <a:latin typeface="Arial"/>
                <a:cs typeface="Arial"/>
              </a:rPr>
              <a:t>ds</a:t>
            </a:r>
            <a:r>
              <a:rPr sz="1200" b="1" i="1" dirty="0">
                <a:solidFill>
                  <a:srgbClr val="595959"/>
                </a:solidFill>
                <a:latin typeface="Arial"/>
                <a:cs typeface="Arial"/>
              </a:rPr>
              <a:t>n	n	</a:t>
            </a:r>
            <a:r>
              <a:rPr sz="1200" b="1" i="1" spc="-5" dirty="0">
                <a:solidFill>
                  <a:srgbClr val="595959"/>
                </a:solidFill>
                <a:latin typeface="Arial"/>
                <a:cs typeface="Arial"/>
              </a:rPr>
              <a:t>gs</a:t>
            </a:r>
            <a:r>
              <a:rPr sz="1200" b="1" i="1" dirty="0">
                <a:solidFill>
                  <a:srgbClr val="595959"/>
                </a:solidFill>
                <a:latin typeface="Arial"/>
                <a:cs typeface="Arial"/>
              </a:rPr>
              <a:t>n	tn	n	</a:t>
            </a:r>
            <a:r>
              <a:rPr sz="1200" b="1" i="1" spc="-5" dirty="0">
                <a:solidFill>
                  <a:srgbClr val="595959"/>
                </a:solidFill>
                <a:latin typeface="Arial"/>
                <a:cs typeface="Arial"/>
              </a:rPr>
              <a:t>inv</a:t>
            </a:r>
            <a:endParaRPr sz="1200">
              <a:latin typeface="Arial"/>
              <a:cs typeface="Arial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4322307" y="2792552"/>
            <a:ext cx="16954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i="1" dirty="0">
                <a:solidFill>
                  <a:srgbClr val="595959"/>
                </a:solidFill>
                <a:latin typeface="Arial"/>
                <a:cs typeface="Arial"/>
              </a:rPr>
              <a:t>tn</a:t>
            </a:r>
            <a:endParaRPr sz="1200">
              <a:latin typeface="Arial"/>
              <a:cs typeface="Arial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4004605" y="2630627"/>
            <a:ext cx="8636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  <a:tabLst>
                <a:tab pos="473709" algn="l"/>
              </a:tabLst>
            </a:pPr>
            <a:r>
              <a:rPr sz="1800" b="1" i="1" dirty="0">
                <a:solidFill>
                  <a:srgbClr val="595959"/>
                </a:solidFill>
                <a:latin typeface="Arial"/>
                <a:cs typeface="Arial"/>
              </a:rPr>
              <a:t>-</a:t>
            </a:r>
            <a:r>
              <a:rPr sz="1800" b="1" i="1" spc="-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b="1" i="1" dirty="0">
                <a:solidFill>
                  <a:srgbClr val="595959"/>
                </a:solidFill>
                <a:latin typeface="Arial"/>
                <a:cs typeface="Arial"/>
              </a:rPr>
              <a:t>V	</a:t>
            </a:r>
            <a:r>
              <a:rPr sz="1800" b="1" i="1" spc="-5" dirty="0">
                <a:solidFill>
                  <a:srgbClr val="595959"/>
                </a:solidFill>
                <a:latin typeface="Arial"/>
                <a:cs typeface="Arial"/>
              </a:rPr>
              <a:t>)</a:t>
            </a:r>
            <a:r>
              <a:rPr sz="1800" b="1" i="1" spc="-7" baseline="30092" dirty="0">
                <a:solidFill>
                  <a:srgbClr val="595959"/>
                </a:solidFill>
                <a:latin typeface="Arial"/>
                <a:cs typeface="Arial"/>
              </a:rPr>
              <a:t>2</a:t>
            </a:r>
            <a:r>
              <a:rPr sz="1800" b="1" i="1" spc="-5" dirty="0">
                <a:solidFill>
                  <a:srgbClr val="595959"/>
                </a:solidFill>
                <a:latin typeface="Arial"/>
                <a:cs typeface="Arial"/>
              </a:rPr>
              <a:t>/2</a:t>
            </a:r>
            <a:endParaRPr sz="1800">
              <a:latin typeface="Arial"/>
              <a:cs typeface="Arial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409976" y="2904948"/>
            <a:ext cx="3178175" cy="656590"/>
          </a:xfrm>
          <a:prstGeom prst="rect">
            <a:avLst/>
          </a:prstGeom>
        </p:spPr>
        <p:txBody>
          <a:bodyPr vert="horz" wrap="square" lIns="0" tIns="53340" rIns="0" bIns="0" rtlCol="0">
            <a:spAutoFit/>
          </a:bodyPr>
          <a:lstStyle/>
          <a:p>
            <a:pPr marL="444500" indent="-419734">
              <a:lnSpc>
                <a:spcPct val="100000"/>
              </a:lnSpc>
              <a:spcBef>
                <a:spcPts val="420"/>
              </a:spcBef>
              <a:buAutoNum type="arabicPeriod" startAt="3"/>
              <a:tabLst>
                <a:tab pos="444500" algn="l"/>
                <a:tab pos="445134" algn="l"/>
              </a:tabLst>
            </a:pP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Set</a:t>
            </a:r>
            <a:r>
              <a:rPr sz="1800" spc="-2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the</a:t>
            </a:r>
            <a:r>
              <a:rPr sz="1800" spc="-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currents</a:t>
            </a:r>
            <a:r>
              <a:rPr sz="1800" spc="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b="1" i="1" spc="-5" dirty="0">
                <a:solidFill>
                  <a:srgbClr val="595959"/>
                </a:solidFill>
                <a:latin typeface="Arial"/>
                <a:cs typeface="Arial"/>
              </a:rPr>
              <a:t>I</a:t>
            </a:r>
            <a:r>
              <a:rPr sz="1800" b="1" i="1" spc="-7" baseline="-32407" dirty="0">
                <a:solidFill>
                  <a:srgbClr val="595959"/>
                </a:solidFill>
                <a:latin typeface="Arial"/>
                <a:cs typeface="Arial"/>
              </a:rPr>
              <a:t>dsp</a:t>
            </a:r>
            <a:r>
              <a:rPr sz="1800" b="1" i="1" spc="225" baseline="-32407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b="1" i="1" dirty="0">
                <a:solidFill>
                  <a:srgbClr val="595959"/>
                </a:solidFill>
                <a:latin typeface="Arial"/>
                <a:cs typeface="Arial"/>
              </a:rPr>
              <a:t>=</a:t>
            </a:r>
            <a:r>
              <a:rPr sz="1800" b="1" i="1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b="1" i="1" spc="-5" dirty="0">
                <a:solidFill>
                  <a:srgbClr val="595959"/>
                </a:solidFill>
                <a:latin typeface="Arial"/>
                <a:cs typeface="Arial"/>
              </a:rPr>
              <a:t>-I</a:t>
            </a:r>
            <a:r>
              <a:rPr sz="1800" b="1" i="1" spc="-7" baseline="-32407" dirty="0">
                <a:solidFill>
                  <a:srgbClr val="595959"/>
                </a:solidFill>
                <a:latin typeface="Arial"/>
                <a:cs typeface="Arial"/>
              </a:rPr>
              <a:t>dsn</a:t>
            </a:r>
            <a:endParaRPr sz="1800" baseline="-32407">
              <a:latin typeface="Arial"/>
              <a:cs typeface="Arial"/>
            </a:endParaRPr>
          </a:p>
          <a:p>
            <a:pPr marL="444500" indent="-419734">
              <a:lnSpc>
                <a:spcPct val="100000"/>
              </a:lnSpc>
              <a:spcBef>
                <a:spcPts val="325"/>
              </a:spcBef>
              <a:buAutoNum type="arabicPeriod" startAt="3"/>
              <a:tabLst>
                <a:tab pos="444500" algn="l"/>
                <a:tab pos="445134" algn="l"/>
              </a:tabLst>
            </a:pP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Solve</a:t>
            </a:r>
            <a:r>
              <a:rPr sz="1800" spc="-3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for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b="1" i="1" spc="-5" dirty="0">
                <a:solidFill>
                  <a:srgbClr val="595959"/>
                </a:solidFill>
                <a:latin typeface="Arial"/>
                <a:cs typeface="Arial"/>
              </a:rPr>
              <a:t>V</a:t>
            </a:r>
            <a:r>
              <a:rPr sz="1800" b="1" i="1" spc="-7" baseline="-32407" dirty="0">
                <a:solidFill>
                  <a:srgbClr val="595959"/>
                </a:solidFill>
                <a:latin typeface="Arial"/>
                <a:cs typeface="Arial"/>
              </a:rPr>
              <a:t>inv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:</a:t>
            </a:r>
            <a:endParaRPr sz="1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84725" y="505248"/>
            <a:ext cx="2576195" cy="40957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500" spc="5" dirty="0">
                <a:latin typeface="Arial MT"/>
                <a:cs typeface="Arial MT"/>
              </a:rPr>
              <a:t>Beta</a:t>
            </a:r>
            <a:r>
              <a:rPr sz="2500" spc="-40" dirty="0">
                <a:latin typeface="Arial MT"/>
                <a:cs typeface="Arial MT"/>
              </a:rPr>
              <a:t> </a:t>
            </a:r>
            <a:r>
              <a:rPr sz="2500" spc="5" dirty="0">
                <a:latin typeface="Arial MT"/>
                <a:cs typeface="Arial MT"/>
              </a:rPr>
              <a:t>Ratio</a:t>
            </a:r>
            <a:r>
              <a:rPr sz="2500" spc="-35" dirty="0">
                <a:latin typeface="Arial MT"/>
                <a:cs typeface="Arial MT"/>
              </a:rPr>
              <a:t> </a:t>
            </a:r>
            <a:r>
              <a:rPr sz="2500" spc="-5" dirty="0">
                <a:latin typeface="Arial MT"/>
                <a:cs typeface="Arial MT"/>
              </a:rPr>
              <a:t>Effects</a:t>
            </a:r>
            <a:endParaRPr sz="250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59325" y="1175208"/>
            <a:ext cx="8361680" cy="6565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 marR="30480">
              <a:lnSpc>
                <a:spcPct val="114999"/>
              </a:lnSpc>
              <a:spcBef>
                <a:spcPts val="100"/>
              </a:spcBef>
            </a:pP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S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o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thu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s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 fo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r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735" dirty="0">
                <a:solidFill>
                  <a:srgbClr val="595959"/>
                </a:solidFill>
                <a:latin typeface="Arial MT"/>
                <a:cs typeface="Arial MT"/>
              </a:rPr>
              <a:t>β</a:t>
            </a:r>
            <a:r>
              <a:rPr sz="1800" baseline="-32407" dirty="0">
                <a:solidFill>
                  <a:srgbClr val="595959"/>
                </a:solidFill>
                <a:latin typeface="Arial MT"/>
                <a:cs typeface="Arial MT"/>
              </a:rPr>
              <a:t>p</a:t>
            </a:r>
            <a:r>
              <a:rPr sz="1800" spc="247" baseline="-32407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≠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760" dirty="0">
                <a:solidFill>
                  <a:srgbClr val="595959"/>
                </a:solidFill>
                <a:latin typeface="Arial MT"/>
                <a:cs typeface="Arial MT"/>
              </a:rPr>
              <a:t>β</a:t>
            </a:r>
            <a:r>
              <a:rPr sz="1800" baseline="-32407" dirty="0">
                <a:solidFill>
                  <a:srgbClr val="595959"/>
                </a:solidFill>
                <a:latin typeface="Arial MT"/>
                <a:cs typeface="Arial MT"/>
              </a:rPr>
              <a:t>n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,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 w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e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can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calculate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 th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e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 inverte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r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 threshol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d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voltage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 a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s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a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 functio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n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 of 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“</a:t>
            </a:r>
            <a:r>
              <a:rPr sz="1800" b="1" i="1" dirty="0">
                <a:solidFill>
                  <a:srgbClr val="595959"/>
                </a:solidFill>
                <a:latin typeface="Arial"/>
                <a:cs typeface="Arial"/>
              </a:rPr>
              <a:t>r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”,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where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b="1" i="1" dirty="0">
                <a:solidFill>
                  <a:srgbClr val="595959"/>
                </a:solidFill>
                <a:latin typeface="Arial"/>
                <a:cs typeface="Arial"/>
              </a:rPr>
              <a:t>r </a:t>
            </a:r>
            <a:r>
              <a:rPr sz="1800" b="1" dirty="0">
                <a:solidFill>
                  <a:srgbClr val="595959"/>
                </a:solidFill>
                <a:latin typeface="Arial"/>
                <a:cs typeface="Arial"/>
              </a:rPr>
              <a:t>=</a:t>
            </a:r>
            <a:r>
              <a:rPr sz="1800" b="1" spc="-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b="1" i="1" dirty="0">
                <a:solidFill>
                  <a:srgbClr val="595959"/>
                </a:solidFill>
                <a:latin typeface="Arial"/>
                <a:cs typeface="Arial"/>
              </a:rPr>
              <a:t>β</a:t>
            </a:r>
            <a:r>
              <a:rPr sz="1800" b="1" i="1" baseline="-32407" dirty="0">
                <a:solidFill>
                  <a:srgbClr val="595959"/>
                </a:solidFill>
                <a:latin typeface="Arial"/>
                <a:cs typeface="Arial"/>
              </a:rPr>
              <a:t>p</a:t>
            </a:r>
            <a:r>
              <a:rPr sz="1800" b="1" i="1" spc="247" baseline="-32407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b="1" i="1" dirty="0">
                <a:solidFill>
                  <a:srgbClr val="595959"/>
                </a:solidFill>
                <a:latin typeface="Arial"/>
                <a:cs typeface="Arial"/>
              </a:rPr>
              <a:t>/</a:t>
            </a:r>
            <a:r>
              <a:rPr sz="1800" b="1" i="1" spc="-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b="1" i="1" dirty="0">
                <a:solidFill>
                  <a:srgbClr val="595959"/>
                </a:solidFill>
                <a:latin typeface="Arial"/>
                <a:cs typeface="Arial"/>
              </a:rPr>
              <a:t>β</a:t>
            </a:r>
            <a:r>
              <a:rPr sz="1800" b="1" i="1" baseline="-32407" dirty="0">
                <a:solidFill>
                  <a:srgbClr val="595959"/>
                </a:solidFill>
                <a:latin typeface="Arial"/>
                <a:cs typeface="Arial"/>
              </a:rPr>
              <a:t>n</a:t>
            </a:r>
            <a:endParaRPr sz="1800" baseline="-32407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590911" y="2247188"/>
            <a:ext cx="3022644" cy="2311743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90225" y="2223953"/>
            <a:ext cx="2732996" cy="1472128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05248"/>
            <a:ext cx="2813050" cy="40957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500" spc="5" dirty="0"/>
              <a:t>Other</a:t>
            </a:r>
            <a:r>
              <a:rPr sz="2500" spc="-45" dirty="0"/>
              <a:t> </a:t>
            </a:r>
            <a:r>
              <a:rPr sz="2500" spc="10" dirty="0"/>
              <a:t>CMOS</a:t>
            </a:r>
            <a:r>
              <a:rPr sz="2500" spc="-40" dirty="0"/>
              <a:t> </a:t>
            </a:r>
            <a:r>
              <a:rPr sz="2500" spc="5" dirty="0"/>
              <a:t>Gates</a:t>
            </a:r>
            <a:endParaRPr sz="2500"/>
          </a:p>
        </p:txBody>
      </p:sp>
      <p:sp>
        <p:nvSpPr>
          <p:cNvPr id="3" name="object 3"/>
          <p:cNvSpPr txBox="1"/>
          <p:nvPr/>
        </p:nvSpPr>
        <p:spPr>
          <a:xfrm>
            <a:off x="384725" y="1175208"/>
            <a:ext cx="8225155" cy="23863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448309">
              <a:lnSpc>
                <a:spcPct val="114999"/>
              </a:lnSpc>
              <a:spcBef>
                <a:spcPts val="100"/>
              </a:spcBef>
            </a:pP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DC transfer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characteristics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of other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static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CMOS gates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can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be understood by </a:t>
            </a:r>
            <a:r>
              <a:rPr sz="1800" spc="-49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collapsing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the gates into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an equivalent inverter</a:t>
            </a:r>
            <a:endParaRPr sz="1800">
              <a:latin typeface="Arial MT"/>
              <a:cs typeface="Arial MT"/>
            </a:endParaRPr>
          </a:p>
          <a:p>
            <a:pPr marL="469900" indent="-367030">
              <a:lnSpc>
                <a:spcPct val="100000"/>
              </a:lnSpc>
              <a:spcBef>
                <a:spcPts val="1525"/>
              </a:spcBef>
              <a:buFont typeface="Arial MT"/>
              <a:buChar char="●"/>
              <a:tabLst>
                <a:tab pos="469265" algn="l"/>
                <a:tab pos="469900" algn="l"/>
              </a:tabLst>
            </a:pPr>
            <a:r>
              <a:rPr sz="1800" b="1" spc="-5" dirty="0">
                <a:solidFill>
                  <a:srgbClr val="595959"/>
                </a:solidFill>
                <a:latin typeface="Arial"/>
                <a:cs typeface="Arial"/>
              </a:rPr>
              <a:t>Series</a:t>
            </a:r>
            <a:r>
              <a:rPr sz="1800" b="1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595959"/>
                </a:solidFill>
                <a:latin typeface="Arial"/>
                <a:cs typeface="Arial"/>
              </a:rPr>
              <a:t>transistors</a:t>
            </a:r>
            <a:r>
              <a:rPr sz="1800" b="1" spc="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can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be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viewed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as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a</a:t>
            </a:r>
            <a:r>
              <a:rPr sz="1800" spc="-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single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transistor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of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greater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length</a:t>
            </a:r>
            <a:endParaRPr sz="1800">
              <a:latin typeface="Arial MT"/>
              <a:cs typeface="Arial MT"/>
            </a:endParaRPr>
          </a:p>
          <a:p>
            <a:pPr marL="469900" marR="5080" indent="-367030">
              <a:lnSpc>
                <a:spcPct val="114999"/>
              </a:lnSpc>
              <a:buChar char="●"/>
              <a:tabLst>
                <a:tab pos="469265" algn="l"/>
                <a:tab pos="469900" algn="l"/>
              </a:tabLst>
            </a:pP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If only one of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several </a:t>
            </a:r>
            <a:r>
              <a:rPr sz="1800" b="1" spc="-5" dirty="0">
                <a:solidFill>
                  <a:srgbClr val="595959"/>
                </a:solidFill>
                <a:latin typeface="Arial"/>
                <a:cs typeface="Arial"/>
              </a:rPr>
              <a:t>parallel </a:t>
            </a:r>
            <a:r>
              <a:rPr sz="1800" b="1" dirty="0">
                <a:solidFill>
                  <a:srgbClr val="595959"/>
                </a:solidFill>
                <a:latin typeface="Arial"/>
                <a:cs typeface="Arial"/>
              </a:rPr>
              <a:t>transistors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is ON, the other transistors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can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be </a:t>
            </a:r>
            <a:r>
              <a:rPr sz="1800" spc="-49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ignored</a:t>
            </a:r>
            <a:endParaRPr sz="1800">
              <a:latin typeface="Arial MT"/>
              <a:cs typeface="Arial MT"/>
            </a:endParaRPr>
          </a:p>
          <a:p>
            <a:pPr marL="469900" marR="432434" indent="-367030">
              <a:lnSpc>
                <a:spcPct val="114999"/>
              </a:lnSpc>
              <a:buChar char="●"/>
              <a:tabLst>
                <a:tab pos="469265" algn="l"/>
                <a:tab pos="469900" algn="l"/>
              </a:tabLst>
            </a:pP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If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several </a:t>
            </a:r>
            <a:r>
              <a:rPr sz="1800" b="1" spc="-5" dirty="0">
                <a:solidFill>
                  <a:srgbClr val="595959"/>
                </a:solidFill>
                <a:latin typeface="Arial"/>
                <a:cs typeface="Arial"/>
              </a:rPr>
              <a:t>parallel </a:t>
            </a:r>
            <a:r>
              <a:rPr sz="1800" b="1" dirty="0">
                <a:solidFill>
                  <a:srgbClr val="595959"/>
                </a:solidFill>
                <a:latin typeface="Arial"/>
                <a:cs typeface="Arial"/>
              </a:rPr>
              <a:t>transistors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are ON, the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collection can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be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viewed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as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a </a:t>
            </a:r>
            <a:r>
              <a:rPr sz="1800" spc="-49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single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transistor of greater width</a:t>
            </a:r>
            <a:endParaRPr sz="1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05248"/>
            <a:ext cx="4414520" cy="40957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500" spc="5" dirty="0"/>
              <a:t>Noise</a:t>
            </a:r>
            <a:r>
              <a:rPr sz="2500" spc="-10" dirty="0"/>
              <a:t> </a:t>
            </a:r>
            <a:r>
              <a:rPr sz="2500" spc="10" dirty="0"/>
              <a:t>Margin</a:t>
            </a:r>
            <a:r>
              <a:rPr sz="2500" spc="-5" dirty="0"/>
              <a:t> </a:t>
            </a:r>
            <a:r>
              <a:rPr sz="2500" spc="5" dirty="0"/>
              <a:t>(Noise</a:t>
            </a:r>
            <a:r>
              <a:rPr sz="2500" spc="-10" dirty="0"/>
              <a:t> </a:t>
            </a:r>
            <a:r>
              <a:rPr sz="2500" dirty="0"/>
              <a:t>Immunity)</a:t>
            </a:r>
            <a:endParaRPr sz="2500"/>
          </a:p>
        </p:txBody>
      </p:sp>
      <p:sp>
        <p:nvSpPr>
          <p:cNvPr id="3" name="object 3"/>
          <p:cNvSpPr txBox="1"/>
          <p:nvPr/>
        </p:nvSpPr>
        <p:spPr>
          <a:xfrm>
            <a:off x="372025" y="1216355"/>
            <a:ext cx="7856220" cy="26498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Noise</a:t>
            </a:r>
            <a:r>
              <a:rPr sz="1800" spc="-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margin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is</a:t>
            </a:r>
            <a:r>
              <a:rPr sz="1800" spc="-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closely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related</a:t>
            </a:r>
            <a:r>
              <a:rPr sz="1800" spc="-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to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the</a:t>
            </a:r>
            <a:r>
              <a:rPr sz="1800" spc="-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DC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voltage</a:t>
            </a:r>
            <a:r>
              <a:rPr sz="1800" spc="-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characteristics</a:t>
            </a:r>
            <a:endParaRPr sz="1800">
              <a:latin typeface="Arial MT"/>
              <a:cs typeface="Arial MT"/>
            </a:endParaRPr>
          </a:p>
          <a:p>
            <a:pPr marL="25400" marR="17780">
              <a:lnSpc>
                <a:spcPct val="114999"/>
              </a:lnSpc>
              <a:spcBef>
                <a:spcPts val="1200"/>
              </a:spcBef>
            </a:pP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Helps determine the allowable noise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voltage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on the input of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a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gate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so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that the </a:t>
            </a:r>
            <a:r>
              <a:rPr sz="1800" spc="-49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output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will not be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corrupted</a:t>
            </a:r>
            <a:endParaRPr sz="1800">
              <a:latin typeface="Arial MT"/>
              <a:cs typeface="Arial MT"/>
            </a:endParaRPr>
          </a:p>
          <a:p>
            <a:pPr marL="25400" marR="370840">
              <a:lnSpc>
                <a:spcPct val="114999"/>
              </a:lnSpc>
              <a:spcBef>
                <a:spcPts val="1200"/>
              </a:spcBef>
            </a:pP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The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specification most commonly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used to describe noise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margin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uses two </a:t>
            </a:r>
            <a:r>
              <a:rPr sz="1800" spc="-49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parameters:</a:t>
            </a:r>
            <a:endParaRPr sz="1800">
              <a:latin typeface="Arial MT"/>
              <a:cs typeface="Arial MT"/>
            </a:endParaRPr>
          </a:p>
          <a:p>
            <a:pPr marL="482600" indent="-419734">
              <a:lnSpc>
                <a:spcPct val="100000"/>
              </a:lnSpc>
              <a:spcBef>
                <a:spcPts val="1525"/>
              </a:spcBef>
              <a:buAutoNum type="arabicPeriod"/>
              <a:tabLst>
                <a:tab pos="481965" algn="l"/>
                <a:tab pos="482600" algn="l"/>
              </a:tabLst>
            </a:pP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The</a:t>
            </a:r>
            <a:r>
              <a:rPr sz="1800" spc="-2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LOW</a:t>
            </a:r>
            <a:r>
              <a:rPr sz="1800" spc="-2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noise</a:t>
            </a:r>
            <a:r>
              <a:rPr sz="1800" spc="-2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margin,</a:t>
            </a:r>
            <a:r>
              <a:rPr sz="1800" spc="-2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NM</a:t>
            </a:r>
            <a:r>
              <a:rPr sz="1800" baseline="-32407" dirty="0">
                <a:solidFill>
                  <a:srgbClr val="595959"/>
                </a:solidFill>
                <a:latin typeface="Arial MT"/>
                <a:cs typeface="Arial MT"/>
              </a:rPr>
              <a:t>L</a:t>
            </a:r>
            <a:endParaRPr sz="1800" baseline="-32407">
              <a:latin typeface="Arial MT"/>
              <a:cs typeface="Arial MT"/>
            </a:endParaRPr>
          </a:p>
          <a:p>
            <a:pPr marL="482600" indent="-419734">
              <a:lnSpc>
                <a:spcPct val="100000"/>
              </a:lnSpc>
              <a:spcBef>
                <a:spcPts val="320"/>
              </a:spcBef>
              <a:buAutoNum type="arabicPeriod"/>
              <a:tabLst>
                <a:tab pos="481965" algn="l"/>
                <a:tab pos="482600" algn="l"/>
              </a:tabLst>
            </a:pP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The</a:t>
            </a:r>
            <a:r>
              <a:rPr sz="1800" spc="-2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HIGH</a:t>
            </a:r>
            <a:r>
              <a:rPr sz="1800" spc="-2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noise</a:t>
            </a:r>
            <a:r>
              <a:rPr sz="1800" spc="-2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margin,</a:t>
            </a:r>
            <a:r>
              <a:rPr sz="1800" spc="-2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5" dirty="0">
                <a:solidFill>
                  <a:srgbClr val="595959"/>
                </a:solidFill>
                <a:latin typeface="Arial MT"/>
                <a:cs typeface="Arial MT"/>
              </a:rPr>
              <a:t>NM</a:t>
            </a:r>
            <a:r>
              <a:rPr sz="1800" spc="7" baseline="-32407" dirty="0">
                <a:solidFill>
                  <a:srgbClr val="595959"/>
                </a:solidFill>
                <a:latin typeface="Arial MT"/>
                <a:cs typeface="Arial MT"/>
              </a:rPr>
              <a:t>H</a:t>
            </a:r>
            <a:endParaRPr sz="1800" baseline="-32407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05248"/>
            <a:ext cx="1910080" cy="40957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500" spc="5" dirty="0"/>
              <a:t>Noise</a:t>
            </a:r>
            <a:r>
              <a:rPr sz="2500" spc="-80" dirty="0"/>
              <a:t> </a:t>
            </a:r>
            <a:r>
              <a:rPr sz="2500" spc="10" dirty="0"/>
              <a:t>Margin</a:t>
            </a:r>
            <a:endParaRPr sz="2500"/>
          </a:p>
        </p:txBody>
      </p:sp>
      <p:sp>
        <p:nvSpPr>
          <p:cNvPr id="3" name="object 3"/>
          <p:cNvSpPr txBox="1"/>
          <p:nvPr/>
        </p:nvSpPr>
        <p:spPr>
          <a:xfrm>
            <a:off x="359325" y="1216355"/>
            <a:ext cx="3748404" cy="31070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20" dirty="0">
                <a:solidFill>
                  <a:srgbClr val="595959"/>
                </a:solidFill>
                <a:latin typeface="Arial MT"/>
                <a:cs typeface="Arial MT"/>
              </a:rPr>
              <a:t>Voltage</a:t>
            </a:r>
            <a:r>
              <a:rPr sz="1800" spc="-5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definitions:</a:t>
            </a:r>
            <a:endParaRPr sz="1800">
              <a:latin typeface="Arial MT"/>
              <a:cs typeface="Arial MT"/>
            </a:endParaRPr>
          </a:p>
          <a:p>
            <a:pPr marL="38100" marR="30480">
              <a:lnSpc>
                <a:spcPct val="170600"/>
              </a:lnSpc>
            </a:pPr>
            <a:r>
              <a:rPr sz="1800" b="1" i="1" spc="-5" dirty="0">
                <a:solidFill>
                  <a:srgbClr val="595959"/>
                </a:solidFill>
                <a:latin typeface="Arial"/>
                <a:cs typeface="Arial"/>
              </a:rPr>
              <a:t>V</a:t>
            </a:r>
            <a:r>
              <a:rPr sz="1800" b="1" i="1" spc="-7" baseline="-32407" dirty="0">
                <a:solidFill>
                  <a:srgbClr val="595959"/>
                </a:solidFill>
                <a:latin typeface="Arial"/>
                <a:cs typeface="Arial"/>
              </a:rPr>
              <a:t>IH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= minimum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HIGH input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voltage </a:t>
            </a:r>
            <a:r>
              <a:rPr sz="1800" spc="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b="1" i="1" spc="-5" dirty="0">
                <a:solidFill>
                  <a:srgbClr val="595959"/>
                </a:solidFill>
                <a:latin typeface="Arial"/>
                <a:cs typeface="Arial"/>
              </a:rPr>
              <a:t>V</a:t>
            </a:r>
            <a:r>
              <a:rPr sz="1800" b="1" i="1" spc="-7" baseline="-32407" dirty="0">
                <a:solidFill>
                  <a:srgbClr val="595959"/>
                </a:solidFill>
                <a:latin typeface="Arial"/>
                <a:cs typeface="Arial"/>
              </a:rPr>
              <a:t>IL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= maximum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LOW input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voltage </a:t>
            </a:r>
            <a:r>
              <a:rPr sz="1800" spc="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b="1" i="1" spc="-5" dirty="0">
                <a:solidFill>
                  <a:srgbClr val="595959"/>
                </a:solidFill>
                <a:latin typeface="Arial"/>
                <a:cs typeface="Arial"/>
              </a:rPr>
              <a:t>V</a:t>
            </a:r>
            <a:r>
              <a:rPr sz="1800" b="1" i="1" spc="-7" baseline="-32407" dirty="0">
                <a:solidFill>
                  <a:srgbClr val="595959"/>
                </a:solidFill>
                <a:latin typeface="Arial"/>
                <a:cs typeface="Arial"/>
              </a:rPr>
              <a:t>OH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=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minimum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HIGH output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voltage </a:t>
            </a:r>
            <a:r>
              <a:rPr sz="1800" spc="-49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b="1" i="1" spc="-5" dirty="0">
                <a:solidFill>
                  <a:srgbClr val="595959"/>
                </a:solidFill>
                <a:latin typeface="Arial"/>
                <a:cs typeface="Arial"/>
              </a:rPr>
              <a:t>V</a:t>
            </a:r>
            <a:r>
              <a:rPr sz="1800" b="1" i="1" spc="-7" baseline="-32407" dirty="0">
                <a:solidFill>
                  <a:srgbClr val="595959"/>
                </a:solidFill>
                <a:latin typeface="Arial"/>
                <a:cs typeface="Arial"/>
              </a:rPr>
              <a:t>OL</a:t>
            </a:r>
            <a:r>
              <a:rPr sz="1800" b="1" i="1" spc="-75" baseline="-32407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=</a:t>
            </a:r>
            <a:r>
              <a:rPr sz="1800" spc="-2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maximum</a:t>
            </a:r>
            <a:r>
              <a:rPr sz="1800" spc="-2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LOW</a:t>
            </a:r>
            <a:r>
              <a:rPr sz="1800" spc="-2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output</a:t>
            </a:r>
            <a:r>
              <a:rPr sz="1800" spc="-2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voltage </a:t>
            </a:r>
            <a:r>
              <a:rPr sz="1800" spc="-484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b="1" i="1" spc="-5" dirty="0">
                <a:solidFill>
                  <a:srgbClr val="595959"/>
                </a:solidFill>
                <a:latin typeface="Arial"/>
                <a:cs typeface="Arial"/>
              </a:rPr>
              <a:t>NM</a:t>
            </a:r>
            <a:r>
              <a:rPr sz="1800" b="1" i="1" spc="-7" baseline="-32407" dirty="0">
                <a:solidFill>
                  <a:srgbClr val="595959"/>
                </a:solidFill>
                <a:latin typeface="Arial"/>
                <a:cs typeface="Arial"/>
              </a:rPr>
              <a:t>L</a:t>
            </a:r>
            <a:r>
              <a:rPr sz="1800" b="1" i="1" spc="232" baseline="-32407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=</a:t>
            </a:r>
            <a:r>
              <a:rPr sz="1800" spc="-4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The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LOW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noise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margin</a:t>
            </a:r>
            <a:endParaRPr sz="1800">
              <a:latin typeface="Arial MT"/>
              <a:cs typeface="Arial MT"/>
            </a:endParaRPr>
          </a:p>
          <a:p>
            <a:pPr marL="38100">
              <a:lnSpc>
                <a:spcPct val="100000"/>
              </a:lnSpc>
              <a:spcBef>
                <a:spcPts val="1520"/>
              </a:spcBef>
            </a:pPr>
            <a:r>
              <a:rPr sz="1800" b="1" i="1" spc="-5" dirty="0">
                <a:solidFill>
                  <a:srgbClr val="595959"/>
                </a:solidFill>
                <a:latin typeface="Arial"/>
                <a:cs typeface="Arial"/>
              </a:rPr>
              <a:t>NM</a:t>
            </a:r>
            <a:r>
              <a:rPr sz="1800" b="1" i="1" spc="-7" baseline="-32407" dirty="0">
                <a:solidFill>
                  <a:srgbClr val="595959"/>
                </a:solidFill>
                <a:latin typeface="Arial"/>
                <a:cs typeface="Arial"/>
              </a:rPr>
              <a:t>H</a:t>
            </a:r>
            <a:r>
              <a:rPr sz="1800" b="1" i="1" spc="225" baseline="-32407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=</a:t>
            </a:r>
            <a:r>
              <a:rPr sz="1800" spc="-5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The</a:t>
            </a:r>
            <a:r>
              <a:rPr sz="1800" spc="-2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HIGH</a:t>
            </a:r>
            <a:r>
              <a:rPr sz="1800" spc="-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noise</a:t>
            </a:r>
            <a:r>
              <a:rPr sz="1800" spc="-2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margin</a:t>
            </a:r>
            <a:endParaRPr sz="18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370884" y="1816949"/>
            <a:ext cx="4334729" cy="2331696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5451950" y="1524329"/>
            <a:ext cx="77025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" dirty="0">
                <a:latin typeface="Arial MT"/>
                <a:cs typeface="Arial MT"/>
              </a:rPr>
              <a:t>Driver</a:t>
            </a:r>
            <a:r>
              <a:rPr sz="1200" spc="-75" dirty="0">
                <a:latin typeface="Arial MT"/>
                <a:cs typeface="Arial MT"/>
              </a:rPr>
              <a:t> </a:t>
            </a:r>
            <a:r>
              <a:rPr sz="1200" spc="-5" dirty="0">
                <a:latin typeface="Arial MT"/>
                <a:cs typeface="Arial MT"/>
              </a:rPr>
              <a:t>gate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849099" y="1524329"/>
            <a:ext cx="9652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" dirty="0">
                <a:latin typeface="Arial MT"/>
                <a:cs typeface="Arial MT"/>
              </a:rPr>
              <a:t>Receiver</a:t>
            </a:r>
            <a:r>
              <a:rPr sz="1200" spc="-70" dirty="0">
                <a:latin typeface="Arial MT"/>
                <a:cs typeface="Arial MT"/>
              </a:rPr>
              <a:t> </a:t>
            </a:r>
            <a:r>
              <a:rPr sz="1200" spc="-5" dirty="0">
                <a:latin typeface="Arial MT"/>
                <a:cs typeface="Arial MT"/>
              </a:rPr>
              <a:t>gate</a:t>
            </a:r>
            <a:endParaRPr sz="12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05248"/>
            <a:ext cx="2585720" cy="40957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500" spc="5" dirty="0"/>
              <a:t>Low</a:t>
            </a:r>
            <a:r>
              <a:rPr sz="2500" spc="-40" dirty="0"/>
              <a:t> </a:t>
            </a:r>
            <a:r>
              <a:rPr sz="2500" spc="5" dirty="0"/>
              <a:t>Noise</a:t>
            </a:r>
            <a:r>
              <a:rPr sz="2500" spc="-35" dirty="0"/>
              <a:t> </a:t>
            </a:r>
            <a:r>
              <a:rPr sz="2500" spc="10" dirty="0"/>
              <a:t>Margin</a:t>
            </a:r>
            <a:endParaRPr sz="2500"/>
          </a:p>
        </p:txBody>
      </p:sp>
      <p:sp>
        <p:nvSpPr>
          <p:cNvPr id="3" name="object 3"/>
          <p:cNvSpPr txBox="1"/>
          <p:nvPr/>
        </p:nvSpPr>
        <p:spPr>
          <a:xfrm>
            <a:off x="462549" y="1175208"/>
            <a:ext cx="3783329" cy="19183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91795" marR="17780" indent="-367030">
              <a:lnSpc>
                <a:spcPct val="114999"/>
              </a:lnSpc>
              <a:spcBef>
                <a:spcPts val="100"/>
              </a:spcBef>
              <a:buFont typeface="Arial MT"/>
              <a:buChar char="●"/>
              <a:tabLst>
                <a:tab pos="391795" algn="l"/>
                <a:tab pos="392430" algn="l"/>
              </a:tabLst>
            </a:pPr>
            <a:r>
              <a:rPr sz="1800" b="1" spc="-5" dirty="0">
                <a:solidFill>
                  <a:srgbClr val="595959"/>
                </a:solidFill>
                <a:latin typeface="Arial"/>
                <a:cs typeface="Arial"/>
              </a:rPr>
              <a:t>The</a:t>
            </a:r>
            <a:r>
              <a:rPr sz="1800" b="1" spc="1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b="1" spc="-5" dirty="0">
                <a:solidFill>
                  <a:srgbClr val="595959"/>
                </a:solidFill>
                <a:latin typeface="Arial"/>
                <a:cs typeface="Arial"/>
              </a:rPr>
              <a:t>LOW</a:t>
            </a:r>
            <a:r>
              <a:rPr sz="1800" b="1" spc="114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b="1" spc="-5" dirty="0">
                <a:solidFill>
                  <a:srgbClr val="595959"/>
                </a:solidFill>
                <a:latin typeface="Arial"/>
                <a:cs typeface="Arial"/>
              </a:rPr>
              <a:t>noise</a:t>
            </a:r>
            <a:r>
              <a:rPr sz="1800" b="1" spc="1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b="1" spc="-5" dirty="0">
                <a:solidFill>
                  <a:srgbClr val="595959"/>
                </a:solidFill>
                <a:latin typeface="Arial"/>
                <a:cs typeface="Arial"/>
              </a:rPr>
              <a:t>margin</a:t>
            </a:r>
            <a:r>
              <a:rPr sz="1800" b="1" spc="114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b="1" spc="5" dirty="0">
                <a:solidFill>
                  <a:srgbClr val="595959"/>
                </a:solidFill>
                <a:latin typeface="Arial"/>
                <a:cs typeface="Arial"/>
              </a:rPr>
              <a:t>(</a:t>
            </a:r>
            <a:r>
              <a:rPr sz="1800" b="1" i="1" spc="5" dirty="0">
                <a:solidFill>
                  <a:srgbClr val="595959"/>
                </a:solidFill>
                <a:latin typeface="Arial"/>
                <a:cs typeface="Arial"/>
              </a:rPr>
              <a:t>NM</a:t>
            </a:r>
            <a:r>
              <a:rPr sz="1800" b="1" i="1" spc="7" baseline="-32407" dirty="0">
                <a:solidFill>
                  <a:srgbClr val="595959"/>
                </a:solidFill>
                <a:latin typeface="Arial"/>
                <a:cs typeface="Arial"/>
              </a:rPr>
              <a:t>L</a:t>
            </a:r>
            <a:r>
              <a:rPr sz="1800" b="1" spc="5" dirty="0">
                <a:solidFill>
                  <a:srgbClr val="595959"/>
                </a:solidFill>
                <a:latin typeface="Arial"/>
                <a:cs typeface="Arial"/>
              </a:rPr>
              <a:t>) </a:t>
            </a:r>
            <a:r>
              <a:rPr sz="1800" b="1" spc="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is the 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difference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in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maximum </a:t>
            </a:r>
            <a:r>
              <a:rPr sz="1800" spc="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LOW</a:t>
            </a:r>
            <a:r>
              <a:rPr sz="1800" spc="-3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input</a:t>
            </a:r>
            <a:r>
              <a:rPr sz="1800" spc="-2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voltage</a:t>
            </a:r>
            <a:r>
              <a:rPr sz="1800" spc="-3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recognized</a:t>
            </a:r>
            <a:r>
              <a:rPr sz="1800" spc="-2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by </a:t>
            </a:r>
            <a:r>
              <a:rPr sz="1800" spc="-484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the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receiving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gate and the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 maximum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LOW output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voltage </a:t>
            </a:r>
            <a:r>
              <a:rPr sz="1800" spc="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produced</a:t>
            </a:r>
            <a:r>
              <a:rPr sz="1800" spc="-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by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the</a:t>
            </a:r>
            <a:r>
              <a:rPr sz="1800" spc="-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driving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gate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520603" y="3261564"/>
            <a:ext cx="15900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b="1" i="1" spc="-5" dirty="0">
                <a:solidFill>
                  <a:srgbClr val="595959"/>
                </a:solidFill>
                <a:latin typeface="Arial"/>
                <a:cs typeface="Arial"/>
              </a:rPr>
              <a:t>NM</a:t>
            </a:r>
            <a:r>
              <a:rPr sz="1800" b="1" i="1" spc="-7" baseline="-32407" dirty="0">
                <a:solidFill>
                  <a:srgbClr val="595959"/>
                </a:solidFill>
                <a:latin typeface="Arial"/>
                <a:cs typeface="Arial"/>
              </a:rPr>
              <a:t>L</a:t>
            </a:r>
            <a:r>
              <a:rPr sz="1800" b="1" i="1" spc="-75" baseline="-32407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b="1" i="1" dirty="0">
                <a:solidFill>
                  <a:srgbClr val="595959"/>
                </a:solidFill>
                <a:latin typeface="Arial"/>
                <a:cs typeface="Arial"/>
              </a:rPr>
              <a:t>=</a:t>
            </a:r>
            <a:r>
              <a:rPr sz="1800" b="1" i="1" spc="-3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b="1" i="1" dirty="0">
                <a:solidFill>
                  <a:srgbClr val="595959"/>
                </a:solidFill>
                <a:latin typeface="Arial"/>
                <a:cs typeface="Arial"/>
              </a:rPr>
              <a:t>V</a:t>
            </a:r>
            <a:r>
              <a:rPr sz="1800" b="1" i="1" baseline="-32407" dirty="0">
                <a:solidFill>
                  <a:srgbClr val="595959"/>
                </a:solidFill>
                <a:latin typeface="Arial"/>
                <a:cs typeface="Arial"/>
              </a:rPr>
              <a:t>IL</a:t>
            </a:r>
            <a:r>
              <a:rPr sz="1800" b="1" i="1" spc="-67" baseline="-32407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b="1" i="1" dirty="0">
                <a:solidFill>
                  <a:srgbClr val="595959"/>
                </a:solidFill>
                <a:latin typeface="Arial"/>
                <a:cs typeface="Arial"/>
              </a:rPr>
              <a:t>-</a:t>
            </a:r>
            <a:r>
              <a:rPr sz="1800" b="1" i="1" spc="-3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b="1" i="1" spc="-5" dirty="0">
                <a:solidFill>
                  <a:srgbClr val="595959"/>
                </a:solidFill>
                <a:latin typeface="Arial"/>
                <a:cs typeface="Arial"/>
              </a:rPr>
              <a:t>V</a:t>
            </a:r>
            <a:r>
              <a:rPr sz="1800" b="1" i="1" spc="-7" baseline="-32407" dirty="0">
                <a:solidFill>
                  <a:srgbClr val="595959"/>
                </a:solidFill>
                <a:latin typeface="Arial"/>
                <a:cs typeface="Arial"/>
              </a:rPr>
              <a:t>OL</a:t>
            </a:r>
            <a:endParaRPr sz="1800" baseline="-32407"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370884" y="1816949"/>
            <a:ext cx="4334729" cy="2331696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5451950" y="1524329"/>
            <a:ext cx="77025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" dirty="0">
                <a:latin typeface="Arial MT"/>
                <a:cs typeface="Arial MT"/>
              </a:rPr>
              <a:t>Driver</a:t>
            </a:r>
            <a:r>
              <a:rPr sz="1200" spc="-75" dirty="0">
                <a:latin typeface="Arial MT"/>
                <a:cs typeface="Arial MT"/>
              </a:rPr>
              <a:t> </a:t>
            </a:r>
            <a:r>
              <a:rPr sz="1200" spc="-5" dirty="0">
                <a:latin typeface="Arial MT"/>
                <a:cs typeface="Arial MT"/>
              </a:rPr>
              <a:t>gate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849099" y="1524329"/>
            <a:ext cx="9652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" dirty="0">
                <a:latin typeface="Arial MT"/>
                <a:cs typeface="Arial MT"/>
              </a:rPr>
              <a:t>Receiver</a:t>
            </a:r>
            <a:r>
              <a:rPr sz="1200" spc="-70" dirty="0">
                <a:latin typeface="Arial MT"/>
                <a:cs typeface="Arial MT"/>
              </a:rPr>
              <a:t> </a:t>
            </a:r>
            <a:r>
              <a:rPr sz="1200" spc="-5" dirty="0">
                <a:latin typeface="Arial MT"/>
                <a:cs typeface="Arial MT"/>
              </a:rPr>
              <a:t>gate</a:t>
            </a:r>
            <a:endParaRPr sz="12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05248"/>
            <a:ext cx="2656840" cy="40957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500" spc="5" dirty="0"/>
              <a:t>High</a:t>
            </a:r>
            <a:r>
              <a:rPr sz="2500" spc="-40" dirty="0"/>
              <a:t> </a:t>
            </a:r>
            <a:r>
              <a:rPr sz="2500" spc="5" dirty="0"/>
              <a:t>Noise</a:t>
            </a:r>
            <a:r>
              <a:rPr sz="2500" spc="-40" dirty="0"/>
              <a:t> </a:t>
            </a:r>
            <a:r>
              <a:rPr sz="2500" spc="10" dirty="0"/>
              <a:t>Margin</a:t>
            </a:r>
            <a:endParaRPr sz="2500"/>
          </a:p>
        </p:txBody>
      </p:sp>
      <p:sp>
        <p:nvSpPr>
          <p:cNvPr id="3" name="object 3"/>
          <p:cNvSpPr txBox="1"/>
          <p:nvPr/>
        </p:nvSpPr>
        <p:spPr>
          <a:xfrm>
            <a:off x="462549" y="1175208"/>
            <a:ext cx="3731895" cy="19183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91795" marR="17780" indent="-367030">
              <a:lnSpc>
                <a:spcPct val="114999"/>
              </a:lnSpc>
              <a:spcBef>
                <a:spcPts val="100"/>
              </a:spcBef>
              <a:buFont typeface="Arial MT"/>
              <a:buChar char="●"/>
              <a:tabLst>
                <a:tab pos="391795" algn="l"/>
                <a:tab pos="392430" algn="l"/>
              </a:tabLst>
            </a:pPr>
            <a:r>
              <a:rPr sz="1800" b="1" spc="-5" dirty="0">
                <a:solidFill>
                  <a:srgbClr val="595959"/>
                </a:solidFill>
                <a:latin typeface="Arial"/>
                <a:cs typeface="Arial"/>
              </a:rPr>
              <a:t>The HIGH noise margin (</a:t>
            </a:r>
            <a:r>
              <a:rPr sz="1800" b="1" i="1" spc="-5" dirty="0">
                <a:solidFill>
                  <a:srgbClr val="595959"/>
                </a:solidFill>
                <a:latin typeface="Arial"/>
                <a:cs typeface="Arial"/>
              </a:rPr>
              <a:t>NM</a:t>
            </a:r>
            <a:r>
              <a:rPr sz="1800" b="1" i="1" spc="-7" baseline="-32407" dirty="0">
                <a:solidFill>
                  <a:srgbClr val="595959"/>
                </a:solidFill>
                <a:latin typeface="Arial"/>
                <a:cs typeface="Arial"/>
              </a:rPr>
              <a:t>H</a:t>
            </a:r>
            <a:r>
              <a:rPr sz="1800" b="1" spc="-5" dirty="0">
                <a:solidFill>
                  <a:srgbClr val="595959"/>
                </a:solidFill>
                <a:latin typeface="Arial"/>
                <a:cs typeface="Arial"/>
              </a:rPr>
              <a:t>) </a:t>
            </a:r>
            <a:r>
              <a:rPr sz="1800" b="1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is the 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difference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between the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 minimum</a:t>
            </a:r>
            <a:r>
              <a:rPr sz="1800" spc="-3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HIGH</a:t>
            </a:r>
            <a:r>
              <a:rPr sz="1800" spc="-2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output</a:t>
            </a:r>
            <a:r>
              <a:rPr sz="1800" spc="-3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voltage</a:t>
            </a:r>
            <a:r>
              <a:rPr sz="1800" spc="-2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of </a:t>
            </a:r>
            <a:r>
              <a:rPr sz="1800" spc="-484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the</a:t>
            </a:r>
            <a:r>
              <a:rPr sz="1800" spc="2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driving</a:t>
            </a:r>
            <a:r>
              <a:rPr sz="1800" spc="2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gate</a:t>
            </a:r>
            <a:r>
              <a:rPr sz="1800" spc="2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and</a:t>
            </a:r>
            <a:r>
              <a:rPr sz="1800" spc="2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the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 minimum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HIGH input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voltage </a:t>
            </a:r>
            <a:r>
              <a:rPr sz="1800" spc="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recognized</a:t>
            </a:r>
            <a:r>
              <a:rPr sz="1800" spc="-2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by</a:t>
            </a:r>
            <a:r>
              <a:rPr sz="1800" spc="-2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the</a:t>
            </a:r>
            <a:r>
              <a:rPr sz="1800" spc="-2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receiving</a:t>
            </a:r>
            <a:r>
              <a:rPr sz="1800" spc="-2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gate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480438" y="3261564"/>
            <a:ext cx="16700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b="1" i="1" spc="-5" dirty="0">
                <a:solidFill>
                  <a:srgbClr val="595959"/>
                </a:solidFill>
                <a:latin typeface="Arial"/>
                <a:cs typeface="Arial"/>
              </a:rPr>
              <a:t>NM</a:t>
            </a:r>
            <a:r>
              <a:rPr sz="1800" b="1" i="1" spc="-7" baseline="-32407" dirty="0">
                <a:solidFill>
                  <a:srgbClr val="595959"/>
                </a:solidFill>
                <a:latin typeface="Arial"/>
                <a:cs typeface="Arial"/>
              </a:rPr>
              <a:t>H</a:t>
            </a:r>
            <a:r>
              <a:rPr sz="1800" b="1" i="1" spc="217" baseline="-32407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b="1" i="1" dirty="0">
                <a:solidFill>
                  <a:srgbClr val="595959"/>
                </a:solidFill>
                <a:latin typeface="Arial"/>
                <a:cs typeface="Arial"/>
              </a:rPr>
              <a:t>=</a:t>
            </a:r>
            <a:r>
              <a:rPr sz="1800" b="1" i="1" spc="-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b="1" i="1" dirty="0">
                <a:solidFill>
                  <a:srgbClr val="595959"/>
                </a:solidFill>
                <a:latin typeface="Arial"/>
                <a:cs typeface="Arial"/>
              </a:rPr>
              <a:t>V</a:t>
            </a:r>
            <a:r>
              <a:rPr sz="1800" b="1" i="1" baseline="-32407" dirty="0">
                <a:solidFill>
                  <a:srgbClr val="595959"/>
                </a:solidFill>
                <a:latin typeface="Arial"/>
                <a:cs typeface="Arial"/>
              </a:rPr>
              <a:t>OH</a:t>
            </a:r>
            <a:r>
              <a:rPr sz="1800" b="1" i="1" spc="-22" baseline="-32407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b="1" i="1" dirty="0">
                <a:solidFill>
                  <a:srgbClr val="595959"/>
                </a:solidFill>
                <a:latin typeface="Arial"/>
                <a:cs typeface="Arial"/>
              </a:rPr>
              <a:t>-</a:t>
            </a:r>
            <a:r>
              <a:rPr sz="1800" b="1" i="1" spc="-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b="1" i="1" spc="-5" dirty="0">
                <a:solidFill>
                  <a:srgbClr val="595959"/>
                </a:solidFill>
                <a:latin typeface="Arial"/>
                <a:cs typeface="Arial"/>
              </a:rPr>
              <a:t>V</a:t>
            </a:r>
            <a:r>
              <a:rPr sz="1800" b="1" i="1" spc="-7" baseline="-32407" dirty="0">
                <a:solidFill>
                  <a:srgbClr val="595959"/>
                </a:solidFill>
                <a:latin typeface="Arial"/>
                <a:cs typeface="Arial"/>
              </a:rPr>
              <a:t>IH</a:t>
            </a:r>
            <a:endParaRPr sz="1800" baseline="-32407"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370884" y="1816949"/>
            <a:ext cx="4334729" cy="2331696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5451950" y="1524329"/>
            <a:ext cx="77025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" dirty="0">
                <a:latin typeface="Arial MT"/>
                <a:cs typeface="Arial MT"/>
              </a:rPr>
              <a:t>Driver</a:t>
            </a:r>
            <a:r>
              <a:rPr sz="1200" spc="-75" dirty="0">
                <a:latin typeface="Arial MT"/>
                <a:cs typeface="Arial MT"/>
              </a:rPr>
              <a:t> </a:t>
            </a:r>
            <a:r>
              <a:rPr sz="1200" spc="-5" dirty="0">
                <a:latin typeface="Arial MT"/>
                <a:cs typeface="Arial MT"/>
              </a:rPr>
              <a:t>gate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849099" y="1524329"/>
            <a:ext cx="9652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" dirty="0">
                <a:latin typeface="Arial MT"/>
                <a:cs typeface="Arial MT"/>
              </a:rPr>
              <a:t>Receiver</a:t>
            </a:r>
            <a:r>
              <a:rPr sz="1200" spc="-70" dirty="0">
                <a:latin typeface="Arial MT"/>
                <a:cs typeface="Arial MT"/>
              </a:rPr>
              <a:t> </a:t>
            </a:r>
            <a:r>
              <a:rPr sz="1200" spc="-5" dirty="0">
                <a:latin typeface="Arial MT"/>
                <a:cs typeface="Arial MT"/>
              </a:rPr>
              <a:t>gate</a:t>
            </a:r>
            <a:endParaRPr sz="12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72025" y="505248"/>
            <a:ext cx="4051935" cy="40957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20"/>
              </a:spcBef>
            </a:pPr>
            <a:r>
              <a:rPr sz="2500" dirty="0"/>
              <a:t>Selecting</a:t>
            </a:r>
            <a:r>
              <a:rPr sz="2500" spc="40" dirty="0"/>
              <a:t> </a:t>
            </a:r>
            <a:r>
              <a:rPr sz="2500" i="1" spc="5" dirty="0">
                <a:latin typeface="Arial"/>
                <a:cs typeface="Arial"/>
              </a:rPr>
              <a:t>V</a:t>
            </a:r>
            <a:r>
              <a:rPr sz="2475" i="1" spc="7" baseline="-31986" dirty="0">
                <a:latin typeface="Arial"/>
                <a:cs typeface="Arial"/>
              </a:rPr>
              <a:t>IL</a:t>
            </a:r>
            <a:r>
              <a:rPr sz="2500" spc="5" dirty="0"/>
              <a:t>, </a:t>
            </a:r>
            <a:r>
              <a:rPr sz="2500" i="1" spc="5" dirty="0">
                <a:latin typeface="Arial"/>
                <a:cs typeface="Arial"/>
              </a:rPr>
              <a:t>V</a:t>
            </a:r>
            <a:r>
              <a:rPr sz="2475" i="1" spc="7" baseline="-31986" dirty="0">
                <a:latin typeface="Arial"/>
                <a:cs typeface="Arial"/>
              </a:rPr>
              <a:t>IH</a:t>
            </a:r>
            <a:r>
              <a:rPr sz="2500" spc="5" dirty="0"/>
              <a:t>, </a:t>
            </a:r>
            <a:r>
              <a:rPr sz="2500" i="1" spc="10" dirty="0">
                <a:latin typeface="Arial"/>
                <a:cs typeface="Arial"/>
              </a:rPr>
              <a:t>V</a:t>
            </a:r>
            <a:r>
              <a:rPr sz="2475" i="1" spc="15" baseline="-31986" dirty="0">
                <a:latin typeface="Arial"/>
                <a:cs typeface="Arial"/>
              </a:rPr>
              <a:t>OL</a:t>
            </a:r>
            <a:r>
              <a:rPr sz="2475" i="1" spc="359" baseline="-31986" dirty="0">
                <a:latin typeface="Arial"/>
                <a:cs typeface="Arial"/>
              </a:rPr>
              <a:t> </a:t>
            </a:r>
            <a:r>
              <a:rPr sz="2500" spc="10" dirty="0"/>
              <a:t>&amp;</a:t>
            </a:r>
            <a:r>
              <a:rPr sz="2500" spc="5" dirty="0"/>
              <a:t> </a:t>
            </a:r>
            <a:r>
              <a:rPr sz="2500" i="1" spc="10" dirty="0">
                <a:latin typeface="Arial"/>
                <a:cs typeface="Arial"/>
              </a:rPr>
              <a:t>V</a:t>
            </a:r>
            <a:r>
              <a:rPr sz="2475" i="1" spc="15" baseline="-31986" dirty="0">
                <a:latin typeface="Arial"/>
                <a:cs typeface="Arial"/>
              </a:rPr>
              <a:t>OH</a:t>
            </a:r>
            <a:endParaRPr sz="2475" baseline="-31986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72025" y="1175208"/>
            <a:ext cx="4110990" cy="144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 marR="113030">
              <a:lnSpc>
                <a:spcPct val="114999"/>
              </a:lnSpc>
              <a:spcBef>
                <a:spcPts val="100"/>
              </a:spcBef>
            </a:pP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How to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choose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the logic levels </a:t>
            </a:r>
            <a:r>
              <a:rPr sz="1800" b="1" i="1" spc="-5" dirty="0">
                <a:solidFill>
                  <a:srgbClr val="595959"/>
                </a:solidFill>
                <a:latin typeface="Arial"/>
                <a:cs typeface="Arial"/>
              </a:rPr>
              <a:t>V</a:t>
            </a:r>
            <a:r>
              <a:rPr sz="1800" b="1" i="1" spc="-7" baseline="-32407" dirty="0">
                <a:solidFill>
                  <a:srgbClr val="595959"/>
                </a:solidFill>
                <a:latin typeface="Arial"/>
                <a:cs typeface="Arial"/>
              </a:rPr>
              <a:t>IL</a:t>
            </a:r>
            <a:r>
              <a:rPr sz="1800" b="1" i="1" spc="-5" dirty="0">
                <a:solidFill>
                  <a:srgbClr val="595959"/>
                </a:solidFill>
                <a:latin typeface="Arial"/>
                <a:cs typeface="Arial"/>
              </a:rPr>
              <a:t>, V</a:t>
            </a:r>
            <a:r>
              <a:rPr sz="1800" b="1" i="1" spc="-7" baseline="-32407" dirty="0">
                <a:solidFill>
                  <a:srgbClr val="595959"/>
                </a:solidFill>
                <a:latin typeface="Arial"/>
                <a:cs typeface="Arial"/>
              </a:rPr>
              <a:t>IH </a:t>
            </a:r>
            <a:r>
              <a:rPr sz="1800" b="1" i="1" dirty="0">
                <a:solidFill>
                  <a:srgbClr val="595959"/>
                </a:solidFill>
                <a:latin typeface="Arial"/>
                <a:cs typeface="Arial"/>
              </a:rPr>
              <a:t>, </a:t>
            </a:r>
            <a:r>
              <a:rPr sz="1800" b="1" i="1" spc="-49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b="1" i="1" spc="-5" dirty="0">
                <a:solidFill>
                  <a:srgbClr val="595959"/>
                </a:solidFill>
                <a:latin typeface="Arial"/>
                <a:cs typeface="Arial"/>
              </a:rPr>
              <a:t>V</a:t>
            </a:r>
            <a:r>
              <a:rPr sz="1800" b="1" i="1" spc="-7" baseline="-32407" dirty="0">
                <a:solidFill>
                  <a:srgbClr val="595959"/>
                </a:solidFill>
                <a:latin typeface="Arial"/>
                <a:cs typeface="Arial"/>
              </a:rPr>
              <a:t>OL</a:t>
            </a:r>
            <a:r>
              <a:rPr sz="1800" b="1" i="1" baseline="-32407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b="1" i="1" dirty="0">
                <a:solidFill>
                  <a:srgbClr val="595959"/>
                </a:solidFill>
                <a:latin typeface="Arial"/>
                <a:cs typeface="Arial"/>
              </a:rPr>
              <a:t>&amp; </a:t>
            </a:r>
            <a:r>
              <a:rPr sz="1800" b="1" i="1" spc="-5" dirty="0">
                <a:solidFill>
                  <a:srgbClr val="595959"/>
                </a:solidFill>
                <a:latin typeface="Arial"/>
                <a:cs typeface="Arial"/>
              </a:rPr>
              <a:t>V</a:t>
            </a:r>
            <a:r>
              <a:rPr sz="1800" b="1" i="1" spc="-7" baseline="-32407" dirty="0">
                <a:solidFill>
                  <a:srgbClr val="595959"/>
                </a:solidFill>
                <a:latin typeface="Arial"/>
                <a:cs typeface="Arial"/>
              </a:rPr>
              <a:t>OH</a:t>
            </a:r>
            <a:r>
              <a:rPr sz="1800" b="1" i="1" baseline="-32407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such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that the noise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margins </a:t>
            </a:r>
            <a:r>
              <a:rPr sz="1800" spc="-49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b="1" i="1" spc="-5" dirty="0">
                <a:solidFill>
                  <a:srgbClr val="595959"/>
                </a:solidFill>
                <a:latin typeface="Arial"/>
                <a:cs typeface="Arial"/>
              </a:rPr>
              <a:t>NM</a:t>
            </a:r>
            <a:r>
              <a:rPr sz="1800" b="1" i="1" spc="-7" baseline="-32407" dirty="0">
                <a:solidFill>
                  <a:srgbClr val="595959"/>
                </a:solidFill>
                <a:latin typeface="Arial"/>
                <a:cs typeface="Arial"/>
              </a:rPr>
              <a:t>L</a:t>
            </a:r>
            <a:r>
              <a:rPr sz="1800" b="1" i="1" spc="240" baseline="-32407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b="1" i="1" dirty="0">
                <a:solidFill>
                  <a:srgbClr val="595959"/>
                </a:solidFill>
                <a:latin typeface="Arial"/>
                <a:cs typeface="Arial"/>
              </a:rPr>
              <a:t>&amp;</a:t>
            </a:r>
            <a:r>
              <a:rPr sz="1800" b="1" i="1" spc="-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b="1" i="1" spc="-5" dirty="0">
                <a:solidFill>
                  <a:srgbClr val="595959"/>
                </a:solidFill>
                <a:latin typeface="Arial"/>
                <a:cs typeface="Arial"/>
              </a:rPr>
              <a:t>NM</a:t>
            </a:r>
            <a:r>
              <a:rPr sz="1800" b="1" i="1" spc="-7" baseline="-32407" dirty="0">
                <a:solidFill>
                  <a:srgbClr val="595959"/>
                </a:solidFill>
                <a:latin typeface="Arial"/>
                <a:cs typeface="Arial"/>
              </a:rPr>
              <a:t>H</a:t>
            </a:r>
            <a:r>
              <a:rPr sz="1800" b="1" i="1" spc="240" baseline="-32407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are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maximized?</a:t>
            </a:r>
            <a:endParaRPr sz="1800">
              <a:latin typeface="Arial MT"/>
              <a:cs typeface="Arial MT"/>
            </a:endParaRPr>
          </a:p>
          <a:p>
            <a:pPr marL="482600" indent="-367030">
              <a:lnSpc>
                <a:spcPct val="100000"/>
              </a:lnSpc>
              <a:spcBef>
                <a:spcPts val="1525"/>
              </a:spcBef>
              <a:buChar char="●"/>
              <a:tabLst>
                <a:tab pos="481965" algn="l"/>
                <a:tab pos="482600" algn="l"/>
              </a:tabLst>
            </a:pP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Use</a:t>
            </a:r>
            <a:r>
              <a:rPr sz="1800" spc="-2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the</a:t>
            </a:r>
            <a:r>
              <a:rPr sz="1800" spc="-2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DC</a:t>
            </a:r>
            <a:r>
              <a:rPr sz="1800" spc="-2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transfer</a:t>
            </a:r>
            <a:r>
              <a:rPr sz="1800" spc="-2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characteristics!</a:t>
            </a:r>
            <a:endParaRPr sz="18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391191" y="1558763"/>
            <a:ext cx="2435457" cy="328851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5451950" y="1266104"/>
            <a:ext cx="77025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" dirty="0">
                <a:latin typeface="Arial MT"/>
                <a:cs typeface="Arial MT"/>
              </a:rPr>
              <a:t>Driver</a:t>
            </a:r>
            <a:r>
              <a:rPr sz="1200" spc="-75" dirty="0">
                <a:latin typeface="Arial MT"/>
                <a:cs typeface="Arial MT"/>
              </a:rPr>
              <a:t> </a:t>
            </a:r>
            <a:r>
              <a:rPr sz="1200" spc="-5" dirty="0">
                <a:latin typeface="Arial MT"/>
                <a:cs typeface="Arial MT"/>
              </a:rPr>
              <a:t>gate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849099" y="1266104"/>
            <a:ext cx="9652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" dirty="0">
                <a:latin typeface="Arial MT"/>
                <a:cs typeface="Arial MT"/>
              </a:rPr>
              <a:t>Receiver</a:t>
            </a:r>
            <a:r>
              <a:rPr sz="1200" spc="-70" dirty="0">
                <a:latin typeface="Arial MT"/>
                <a:cs typeface="Arial MT"/>
              </a:rPr>
              <a:t> </a:t>
            </a:r>
            <a:r>
              <a:rPr sz="1200" spc="-5" dirty="0">
                <a:latin typeface="Arial MT"/>
                <a:cs typeface="Arial MT"/>
              </a:rPr>
              <a:t>gate</a:t>
            </a:r>
            <a:endParaRPr sz="1200">
              <a:latin typeface="Arial MT"/>
              <a:cs typeface="Arial MT"/>
            </a:endParaRPr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366044" y="2019667"/>
            <a:ext cx="2575991" cy="2540279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72025" y="505248"/>
            <a:ext cx="4051935" cy="40957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20"/>
              </a:spcBef>
            </a:pPr>
            <a:r>
              <a:rPr sz="2500" dirty="0"/>
              <a:t>Selecting</a:t>
            </a:r>
            <a:r>
              <a:rPr sz="2500" spc="40" dirty="0"/>
              <a:t> </a:t>
            </a:r>
            <a:r>
              <a:rPr sz="2500" i="1" spc="5" dirty="0">
                <a:latin typeface="Arial"/>
                <a:cs typeface="Arial"/>
              </a:rPr>
              <a:t>V</a:t>
            </a:r>
            <a:r>
              <a:rPr sz="2475" i="1" spc="7" baseline="-31986" dirty="0">
                <a:latin typeface="Arial"/>
                <a:cs typeface="Arial"/>
              </a:rPr>
              <a:t>IL</a:t>
            </a:r>
            <a:r>
              <a:rPr sz="2500" spc="5" dirty="0"/>
              <a:t>, </a:t>
            </a:r>
            <a:r>
              <a:rPr sz="2500" i="1" spc="5" dirty="0">
                <a:latin typeface="Arial"/>
                <a:cs typeface="Arial"/>
              </a:rPr>
              <a:t>V</a:t>
            </a:r>
            <a:r>
              <a:rPr sz="2475" i="1" spc="7" baseline="-31986" dirty="0">
                <a:latin typeface="Arial"/>
                <a:cs typeface="Arial"/>
              </a:rPr>
              <a:t>IH</a:t>
            </a:r>
            <a:r>
              <a:rPr sz="2500" spc="5" dirty="0"/>
              <a:t>, </a:t>
            </a:r>
            <a:r>
              <a:rPr sz="2500" i="1" spc="10" dirty="0">
                <a:latin typeface="Arial"/>
                <a:cs typeface="Arial"/>
              </a:rPr>
              <a:t>V</a:t>
            </a:r>
            <a:r>
              <a:rPr sz="2475" i="1" spc="15" baseline="-31986" dirty="0">
                <a:latin typeface="Arial"/>
                <a:cs typeface="Arial"/>
              </a:rPr>
              <a:t>OL</a:t>
            </a:r>
            <a:r>
              <a:rPr sz="2475" i="1" spc="359" baseline="-31986" dirty="0">
                <a:latin typeface="Arial"/>
                <a:cs typeface="Arial"/>
              </a:rPr>
              <a:t> </a:t>
            </a:r>
            <a:r>
              <a:rPr sz="2500" spc="10" dirty="0"/>
              <a:t>&amp;</a:t>
            </a:r>
            <a:r>
              <a:rPr sz="2500" spc="5" dirty="0"/>
              <a:t> </a:t>
            </a:r>
            <a:r>
              <a:rPr sz="2500" i="1" spc="10" dirty="0">
                <a:latin typeface="Arial"/>
                <a:cs typeface="Arial"/>
              </a:rPr>
              <a:t>V</a:t>
            </a:r>
            <a:r>
              <a:rPr sz="2475" i="1" spc="15" baseline="-31986" dirty="0">
                <a:latin typeface="Arial"/>
                <a:cs typeface="Arial"/>
              </a:rPr>
              <a:t>OH</a:t>
            </a:r>
            <a:endParaRPr sz="2475" baseline="-31986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72025" y="1175208"/>
            <a:ext cx="4015104" cy="9721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 marR="17780">
              <a:lnSpc>
                <a:spcPct val="114999"/>
              </a:lnSpc>
              <a:spcBef>
                <a:spcPts val="100"/>
              </a:spcBef>
            </a:pP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How to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choose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the logic levels </a:t>
            </a:r>
            <a:r>
              <a:rPr sz="1800" b="1" i="1" spc="-5" dirty="0">
                <a:solidFill>
                  <a:srgbClr val="595959"/>
                </a:solidFill>
                <a:latin typeface="Arial"/>
                <a:cs typeface="Arial"/>
              </a:rPr>
              <a:t>V</a:t>
            </a:r>
            <a:r>
              <a:rPr sz="1800" b="1" i="1" spc="-7" baseline="-32407" dirty="0">
                <a:solidFill>
                  <a:srgbClr val="595959"/>
                </a:solidFill>
                <a:latin typeface="Arial"/>
                <a:cs typeface="Arial"/>
              </a:rPr>
              <a:t>IL</a:t>
            </a:r>
            <a:r>
              <a:rPr sz="1800" b="1" i="1" spc="-5" dirty="0">
                <a:solidFill>
                  <a:srgbClr val="595959"/>
                </a:solidFill>
                <a:latin typeface="Arial"/>
                <a:cs typeface="Arial"/>
              </a:rPr>
              <a:t>, V</a:t>
            </a:r>
            <a:r>
              <a:rPr sz="1800" b="1" i="1" spc="-7" baseline="-32407" dirty="0">
                <a:solidFill>
                  <a:srgbClr val="595959"/>
                </a:solidFill>
                <a:latin typeface="Arial"/>
                <a:cs typeface="Arial"/>
              </a:rPr>
              <a:t>IH </a:t>
            </a:r>
            <a:r>
              <a:rPr sz="1800" b="1" i="1" dirty="0">
                <a:solidFill>
                  <a:srgbClr val="595959"/>
                </a:solidFill>
                <a:latin typeface="Arial"/>
                <a:cs typeface="Arial"/>
              </a:rPr>
              <a:t>, </a:t>
            </a:r>
            <a:r>
              <a:rPr sz="1800" b="1" i="1" spc="-49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b="1" i="1" spc="-5" dirty="0">
                <a:solidFill>
                  <a:srgbClr val="595959"/>
                </a:solidFill>
                <a:latin typeface="Arial"/>
                <a:cs typeface="Arial"/>
              </a:rPr>
              <a:t>V</a:t>
            </a:r>
            <a:r>
              <a:rPr sz="1800" b="1" i="1" spc="-7" baseline="-32407" dirty="0">
                <a:solidFill>
                  <a:srgbClr val="595959"/>
                </a:solidFill>
                <a:latin typeface="Arial"/>
                <a:cs typeface="Arial"/>
              </a:rPr>
              <a:t>OL</a:t>
            </a:r>
            <a:r>
              <a:rPr sz="1800" b="1" i="1" baseline="-32407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b="1" i="1" dirty="0">
                <a:solidFill>
                  <a:srgbClr val="595959"/>
                </a:solidFill>
                <a:latin typeface="Arial"/>
                <a:cs typeface="Arial"/>
              </a:rPr>
              <a:t>&amp; </a:t>
            </a:r>
            <a:r>
              <a:rPr sz="1800" b="1" i="1" spc="-5" dirty="0">
                <a:solidFill>
                  <a:srgbClr val="595959"/>
                </a:solidFill>
                <a:latin typeface="Arial"/>
                <a:cs typeface="Arial"/>
              </a:rPr>
              <a:t>V</a:t>
            </a:r>
            <a:r>
              <a:rPr sz="1800" b="1" i="1" spc="-7" baseline="-32407" dirty="0">
                <a:solidFill>
                  <a:srgbClr val="595959"/>
                </a:solidFill>
                <a:latin typeface="Arial"/>
                <a:cs typeface="Arial"/>
              </a:rPr>
              <a:t>OH</a:t>
            </a:r>
            <a:r>
              <a:rPr sz="1800" b="1" i="1" baseline="-32407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such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that the noise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margins </a:t>
            </a:r>
            <a:r>
              <a:rPr sz="1800" spc="-49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b="1" i="1" spc="-5" dirty="0">
                <a:solidFill>
                  <a:srgbClr val="595959"/>
                </a:solidFill>
                <a:latin typeface="Arial"/>
                <a:cs typeface="Arial"/>
              </a:rPr>
              <a:t>NM</a:t>
            </a:r>
            <a:r>
              <a:rPr sz="1800" b="1" i="1" spc="-7" baseline="-32407" dirty="0">
                <a:solidFill>
                  <a:srgbClr val="595959"/>
                </a:solidFill>
                <a:latin typeface="Arial"/>
                <a:cs typeface="Arial"/>
              </a:rPr>
              <a:t>L</a:t>
            </a:r>
            <a:r>
              <a:rPr sz="1800" b="1" i="1" spc="240" baseline="-32407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b="1" i="1" dirty="0">
                <a:solidFill>
                  <a:srgbClr val="595959"/>
                </a:solidFill>
                <a:latin typeface="Arial"/>
                <a:cs typeface="Arial"/>
              </a:rPr>
              <a:t>&amp;</a:t>
            </a:r>
            <a:r>
              <a:rPr sz="1800" b="1" i="1" spc="-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b="1" i="1" spc="-5" dirty="0">
                <a:solidFill>
                  <a:srgbClr val="595959"/>
                </a:solidFill>
                <a:latin typeface="Arial"/>
                <a:cs typeface="Arial"/>
              </a:rPr>
              <a:t>NM</a:t>
            </a:r>
            <a:r>
              <a:rPr sz="1800" b="1" i="1" spc="-7" baseline="-32407" dirty="0">
                <a:solidFill>
                  <a:srgbClr val="595959"/>
                </a:solidFill>
                <a:latin typeface="Arial"/>
                <a:cs typeface="Arial"/>
              </a:rPr>
              <a:t>H</a:t>
            </a:r>
            <a:r>
              <a:rPr sz="1800" b="1" i="1" spc="240" baseline="-32407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are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maximized?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75249" y="2274012"/>
            <a:ext cx="3994785" cy="1602740"/>
          </a:xfrm>
          <a:prstGeom prst="rect">
            <a:avLst/>
          </a:prstGeom>
        </p:spPr>
        <p:txBody>
          <a:bodyPr vert="horz" wrap="square" lIns="0" tIns="53340" rIns="0" bIns="0" rtlCol="0">
            <a:spAutoFit/>
          </a:bodyPr>
          <a:lstStyle/>
          <a:p>
            <a:pPr marL="379095" indent="-367030">
              <a:lnSpc>
                <a:spcPct val="100000"/>
              </a:lnSpc>
              <a:spcBef>
                <a:spcPts val="420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Use</a:t>
            </a:r>
            <a:r>
              <a:rPr sz="1800" spc="-2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the</a:t>
            </a:r>
            <a:r>
              <a:rPr sz="1800" spc="-2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DC</a:t>
            </a:r>
            <a:r>
              <a:rPr sz="1800" spc="-2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transfer</a:t>
            </a:r>
            <a:r>
              <a:rPr sz="1800" spc="-2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characteristics!</a:t>
            </a:r>
            <a:endParaRPr sz="1800">
              <a:latin typeface="Arial MT"/>
              <a:cs typeface="Arial MT"/>
            </a:endParaRPr>
          </a:p>
          <a:p>
            <a:pPr marL="379095" marR="27940" indent="-367030">
              <a:lnSpc>
                <a:spcPct val="114999"/>
              </a:lnSpc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Logic levels are defined at the unity </a:t>
            </a:r>
            <a:r>
              <a:rPr sz="1800" spc="-49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gain</a:t>
            </a:r>
            <a:r>
              <a:rPr sz="1800" spc="-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point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where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the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slope</a:t>
            </a:r>
            <a:r>
              <a:rPr sz="1800" spc="-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is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–1</a:t>
            </a:r>
            <a:endParaRPr sz="1800">
              <a:latin typeface="Arial MT"/>
              <a:cs typeface="Arial MT"/>
            </a:endParaRPr>
          </a:p>
          <a:p>
            <a:pPr marL="379095" marR="27305" indent="-367030">
              <a:lnSpc>
                <a:spcPct val="114999"/>
              </a:lnSpc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This</a:t>
            </a:r>
            <a:r>
              <a:rPr sz="1800" spc="-2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gives</a:t>
            </a:r>
            <a:r>
              <a:rPr sz="1800" spc="-2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a</a:t>
            </a:r>
            <a:r>
              <a:rPr sz="1800" spc="-2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conservative</a:t>
            </a:r>
            <a:r>
              <a:rPr sz="1800" spc="-2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bound</a:t>
            </a:r>
            <a:r>
              <a:rPr sz="1800" spc="-2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on </a:t>
            </a:r>
            <a:r>
              <a:rPr sz="1800" spc="-484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the</a:t>
            </a:r>
            <a:r>
              <a:rPr sz="1800" spc="-2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worst</a:t>
            </a:r>
            <a:r>
              <a:rPr sz="1800" spc="-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case</a:t>
            </a:r>
            <a:r>
              <a:rPr sz="1800" spc="-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static</a:t>
            </a:r>
            <a:r>
              <a:rPr sz="1800" spc="-2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noise</a:t>
            </a:r>
            <a:r>
              <a:rPr sz="1800" spc="-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margin</a:t>
            </a:r>
            <a:endParaRPr sz="1800">
              <a:latin typeface="Arial MT"/>
              <a:cs typeface="Arial MT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391191" y="1558763"/>
            <a:ext cx="2435457" cy="328851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5451950" y="1266104"/>
            <a:ext cx="77025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" dirty="0">
                <a:latin typeface="Arial MT"/>
                <a:cs typeface="Arial MT"/>
              </a:rPr>
              <a:t>Driver</a:t>
            </a:r>
            <a:r>
              <a:rPr sz="1200" spc="-75" dirty="0">
                <a:latin typeface="Arial MT"/>
                <a:cs typeface="Arial MT"/>
              </a:rPr>
              <a:t> </a:t>
            </a:r>
            <a:r>
              <a:rPr sz="1200" spc="-5" dirty="0">
                <a:latin typeface="Arial MT"/>
                <a:cs typeface="Arial MT"/>
              </a:rPr>
              <a:t>gate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849099" y="1266104"/>
            <a:ext cx="9652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" dirty="0">
                <a:latin typeface="Arial MT"/>
                <a:cs typeface="Arial MT"/>
              </a:rPr>
              <a:t>Receiver</a:t>
            </a:r>
            <a:r>
              <a:rPr sz="1200" spc="-70" dirty="0">
                <a:latin typeface="Arial MT"/>
                <a:cs typeface="Arial MT"/>
              </a:rPr>
              <a:t> </a:t>
            </a:r>
            <a:r>
              <a:rPr sz="1200" spc="-5" dirty="0">
                <a:latin typeface="Arial MT"/>
                <a:cs typeface="Arial MT"/>
              </a:rPr>
              <a:t>gate</a:t>
            </a:r>
            <a:endParaRPr sz="1200">
              <a:latin typeface="Arial MT"/>
              <a:cs typeface="Arial MT"/>
            </a:endParaRPr>
          </a:p>
        </p:txBody>
      </p: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361579" y="2019667"/>
            <a:ext cx="2580456" cy="2540279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72025" y="505248"/>
            <a:ext cx="4051935" cy="40957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20"/>
              </a:spcBef>
            </a:pPr>
            <a:r>
              <a:rPr sz="2500" dirty="0">
                <a:latin typeface="Arial MT"/>
                <a:cs typeface="Arial MT"/>
              </a:rPr>
              <a:t>Selecting</a:t>
            </a:r>
            <a:r>
              <a:rPr sz="2500" spc="40" dirty="0">
                <a:latin typeface="Arial MT"/>
                <a:cs typeface="Arial MT"/>
              </a:rPr>
              <a:t> </a:t>
            </a:r>
            <a:r>
              <a:rPr sz="2500" i="1" spc="5" dirty="0">
                <a:latin typeface="Arial"/>
                <a:cs typeface="Arial"/>
              </a:rPr>
              <a:t>V</a:t>
            </a:r>
            <a:r>
              <a:rPr sz="2475" i="1" spc="7" baseline="-31986" dirty="0">
                <a:latin typeface="Arial"/>
                <a:cs typeface="Arial"/>
              </a:rPr>
              <a:t>IL</a:t>
            </a:r>
            <a:r>
              <a:rPr sz="2500" spc="5" dirty="0">
                <a:latin typeface="Arial MT"/>
                <a:cs typeface="Arial MT"/>
              </a:rPr>
              <a:t>, </a:t>
            </a:r>
            <a:r>
              <a:rPr sz="2500" i="1" spc="5" dirty="0">
                <a:latin typeface="Arial"/>
                <a:cs typeface="Arial"/>
              </a:rPr>
              <a:t>V</a:t>
            </a:r>
            <a:r>
              <a:rPr sz="2475" i="1" spc="7" baseline="-31986" dirty="0">
                <a:latin typeface="Arial"/>
                <a:cs typeface="Arial"/>
              </a:rPr>
              <a:t>IH</a:t>
            </a:r>
            <a:r>
              <a:rPr sz="2500" spc="5" dirty="0">
                <a:latin typeface="Arial MT"/>
                <a:cs typeface="Arial MT"/>
              </a:rPr>
              <a:t>, </a:t>
            </a:r>
            <a:r>
              <a:rPr sz="2500" i="1" spc="10" dirty="0">
                <a:latin typeface="Arial"/>
                <a:cs typeface="Arial"/>
              </a:rPr>
              <a:t>V</a:t>
            </a:r>
            <a:r>
              <a:rPr sz="2475" i="1" spc="15" baseline="-31986" dirty="0">
                <a:latin typeface="Arial"/>
                <a:cs typeface="Arial"/>
              </a:rPr>
              <a:t>OL</a:t>
            </a:r>
            <a:r>
              <a:rPr sz="2475" i="1" spc="359" baseline="-31986" dirty="0">
                <a:latin typeface="Arial"/>
                <a:cs typeface="Arial"/>
              </a:rPr>
              <a:t> </a:t>
            </a:r>
            <a:r>
              <a:rPr sz="2500" spc="10" dirty="0">
                <a:latin typeface="Arial MT"/>
                <a:cs typeface="Arial MT"/>
              </a:rPr>
              <a:t>&amp;</a:t>
            </a:r>
            <a:r>
              <a:rPr sz="2500" spc="5" dirty="0">
                <a:latin typeface="Arial MT"/>
                <a:cs typeface="Arial MT"/>
              </a:rPr>
              <a:t> </a:t>
            </a:r>
            <a:r>
              <a:rPr sz="2500" i="1" spc="10" dirty="0">
                <a:latin typeface="Arial"/>
                <a:cs typeface="Arial"/>
              </a:rPr>
              <a:t>V</a:t>
            </a:r>
            <a:r>
              <a:rPr sz="2475" i="1" spc="15" baseline="-31986" dirty="0">
                <a:latin typeface="Arial"/>
                <a:cs typeface="Arial"/>
              </a:rPr>
              <a:t>OH</a:t>
            </a:r>
            <a:endParaRPr sz="2475" baseline="-31986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84725" y="1216355"/>
            <a:ext cx="49980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Logic</a:t>
            </a:r>
            <a:r>
              <a:rPr sz="1800" spc="-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levels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of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typical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5</a:t>
            </a:r>
            <a:r>
              <a:rPr sz="1800" spc="-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V</a:t>
            </a:r>
            <a:r>
              <a:rPr sz="1800" spc="-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and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3.3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V</a:t>
            </a:r>
            <a:r>
              <a:rPr sz="1800" spc="-2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logic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families</a:t>
            </a:r>
            <a:endParaRPr sz="18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54375" y="2002840"/>
            <a:ext cx="2478317" cy="1980320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6277196" y="1764402"/>
            <a:ext cx="77025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" dirty="0">
                <a:latin typeface="Arial MT"/>
                <a:cs typeface="Arial MT"/>
              </a:rPr>
              <a:t>Driver</a:t>
            </a:r>
            <a:r>
              <a:rPr sz="1200" spc="-75" dirty="0">
                <a:latin typeface="Arial MT"/>
                <a:cs typeface="Arial MT"/>
              </a:rPr>
              <a:t> </a:t>
            </a:r>
            <a:r>
              <a:rPr sz="1200" spc="-5" dirty="0">
                <a:latin typeface="Arial MT"/>
                <a:cs typeface="Arial MT"/>
              </a:rPr>
              <a:t>gate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516322" y="1764402"/>
            <a:ext cx="9652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" dirty="0">
                <a:latin typeface="Arial MT"/>
                <a:cs typeface="Arial MT"/>
              </a:rPr>
              <a:t>Receiver</a:t>
            </a:r>
            <a:r>
              <a:rPr sz="1200" spc="-70" dirty="0">
                <a:latin typeface="Arial MT"/>
                <a:cs typeface="Arial MT"/>
              </a:rPr>
              <a:t> </a:t>
            </a:r>
            <a:r>
              <a:rPr sz="1200" spc="-5" dirty="0">
                <a:latin typeface="Arial MT"/>
                <a:cs typeface="Arial MT"/>
              </a:rPr>
              <a:t>gate</a:t>
            </a:r>
            <a:endParaRPr sz="1200">
              <a:latin typeface="Arial MT"/>
              <a:cs typeface="Arial MT"/>
            </a:endParaRPr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11700" y="2169775"/>
            <a:ext cx="5573899" cy="1617374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387799" y="1558762"/>
            <a:ext cx="2437857" cy="328852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84725" y="505248"/>
            <a:ext cx="3455035" cy="40957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500" spc="5" dirty="0"/>
              <a:t>Noise</a:t>
            </a:r>
            <a:r>
              <a:rPr sz="2500" spc="-25" dirty="0"/>
              <a:t> </a:t>
            </a:r>
            <a:r>
              <a:rPr sz="2500" spc="5" dirty="0"/>
              <a:t>Margin:</a:t>
            </a:r>
            <a:r>
              <a:rPr sz="2500" spc="-20" dirty="0"/>
              <a:t> </a:t>
            </a:r>
            <a:r>
              <a:rPr sz="2500" spc="5" dirty="0"/>
              <a:t>Summary</a:t>
            </a:r>
            <a:endParaRPr sz="2500"/>
          </a:p>
        </p:txBody>
      </p:sp>
      <p:sp>
        <p:nvSpPr>
          <p:cNvPr id="4" name="object 4"/>
          <p:cNvSpPr txBox="1"/>
          <p:nvPr/>
        </p:nvSpPr>
        <p:spPr>
          <a:xfrm>
            <a:off x="424449" y="1175208"/>
            <a:ext cx="4948555" cy="2865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29895" marR="106680" indent="-367030">
              <a:lnSpc>
                <a:spcPct val="114999"/>
              </a:lnSpc>
              <a:spcBef>
                <a:spcPts val="100"/>
              </a:spcBef>
              <a:buFont typeface="Arial MT"/>
              <a:buChar char="●"/>
              <a:tabLst>
                <a:tab pos="429895" algn="l"/>
                <a:tab pos="430530" algn="l"/>
              </a:tabLst>
            </a:pPr>
            <a:r>
              <a:rPr sz="1800" b="1" spc="-5" dirty="0">
                <a:solidFill>
                  <a:srgbClr val="595959"/>
                </a:solidFill>
                <a:latin typeface="Arial"/>
                <a:cs typeface="Arial"/>
              </a:rPr>
              <a:t>NM</a:t>
            </a:r>
            <a:r>
              <a:rPr sz="1800" b="1" spc="-7" baseline="-32407" dirty="0">
                <a:solidFill>
                  <a:srgbClr val="595959"/>
                </a:solidFill>
                <a:latin typeface="Arial"/>
                <a:cs typeface="Arial"/>
              </a:rPr>
              <a:t>L</a:t>
            </a:r>
            <a:r>
              <a:rPr sz="1800" b="1" baseline="-32407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b="1" spc="-5" dirty="0">
                <a:solidFill>
                  <a:srgbClr val="595959"/>
                </a:solidFill>
                <a:latin typeface="Arial"/>
                <a:cs typeface="Arial"/>
              </a:rPr>
              <a:t>or </a:t>
            </a:r>
            <a:r>
              <a:rPr sz="1800" b="1" dirty="0">
                <a:solidFill>
                  <a:srgbClr val="595959"/>
                </a:solidFill>
                <a:latin typeface="Arial"/>
                <a:cs typeface="Arial"/>
              </a:rPr>
              <a:t>NM</a:t>
            </a:r>
            <a:r>
              <a:rPr sz="1800" b="1" baseline="-32407" dirty="0">
                <a:solidFill>
                  <a:srgbClr val="595959"/>
                </a:solidFill>
                <a:latin typeface="Arial"/>
                <a:cs typeface="Arial"/>
              </a:rPr>
              <a:t>H</a:t>
            </a:r>
            <a:r>
              <a:rPr sz="1800" b="1" spc="7" baseline="-32407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595959"/>
                </a:solidFill>
                <a:latin typeface="Arial"/>
                <a:cs typeface="Arial"/>
              </a:rPr>
              <a:t>too </a:t>
            </a:r>
            <a:r>
              <a:rPr sz="1800" b="1" spc="-5" dirty="0">
                <a:solidFill>
                  <a:srgbClr val="595959"/>
                </a:solidFill>
                <a:latin typeface="Arial"/>
                <a:cs typeface="Arial"/>
              </a:rPr>
              <a:t>small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: the gate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may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be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disturbed</a:t>
            </a:r>
            <a:r>
              <a:rPr sz="1800" spc="-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by</a:t>
            </a:r>
            <a:r>
              <a:rPr sz="1800" spc="-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noise</a:t>
            </a:r>
            <a:r>
              <a:rPr sz="1800" spc="-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that</a:t>
            </a:r>
            <a:r>
              <a:rPr sz="1800" spc="-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occurs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on</a:t>
            </a:r>
            <a:r>
              <a:rPr sz="1800" spc="-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the</a:t>
            </a:r>
            <a:r>
              <a:rPr sz="1800" spc="-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inputs</a:t>
            </a:r>
            <a:endParaRPr sz="1800">
              <a:latin typeface="Arial MT"/>
              <a:cs typeface="Arial MT"/>
            </a:endParaRPr>
          </a:p>
          <a:p>
            <a:pPr marL="429895" marR="537210" indent="-367030">
              <a:lnSpc>
                <a:spcPct val="114999"/>
              </a:lnSpc>
              <a:buFont typeface="Arial MT"/>
              <a:buChar char="●"/>
              <a:tabLst>
                <a:tab pos="429895" algn="l"/>
                <a:tab pos="430530" algn="l"/>
              </a:tabLst>
            </a:pPr>
            <a:r>
              <a:rPr sz="1800" b="1" spc="-5" dirty="0">
                <a:solidFill>
                  <a:srgbClr val="595959"/>
                </a:solidFill>
                <a:latin typeface="Arial"/>
                <a:cs typeface="Arial"/>
              </a:rPr>
              <a:t>An unskewed gate has equal noise </a:t>
            </a:r>
            <a:r>
              <a:rPr sz="1800" b="1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b="1" spc="-5" dirty="0">
                <a:solidFill>
                  <a:srgbClr val="595959"/>
                </a:solidFill>
                <a:latin typeface="Arial"/>
                <a:cs typeface="Arial"/>
              </a:rPr>
              <a:t>margins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: which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maximizes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immunity to </a:t>
            </a:r>
            <a:r>
              <a:rPr sz="1800" spc="-49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arbitrary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noise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sources</a:t>
            </a:r>
            <a:endParaRPr sz="1800">
              <a:latin typeface="Arial MT"/>
              <a:cs typeface="Arial MT"/>
            </a:endParaRPr>
          </a:p>
          <a:p>
            <a:pPr marL="429895" marR="68580" indent="-367030">
              <a:lnSpc>
                <a:spcPct val="114999"/>
              </a:lnSpc>
              <a:buFont typeface="Arial MT"/>
              <a:buChar char="●"/>
              <a:tabLst>
                <a:tab pos="429895" algn="l"/>
                <a:tab pos="430530" algn="l"/>
              </a:tabLst>
            </a:pPr>
            <a:r>
              <a:rPr sz="1800" b="1" spc="-5" dirty="0">
                <a:solidFill>
                  <a:srgbClr val="595959"/>
                </a:solidFill>
                <a:latin typeface="Arial"/>
                <a:cs typeface="Arial"/>
              </a:rPr>
              <a:t>If </a:t>
            </a:r>
            <a:r>
              <a:rPr sz="1800" b="1" dirty="0">
                <a:solidFill>
                  <a:srgbClr val="595959"/>
                </a:solidFill>
                <a:latin typeface="Arial"/>
                <a:cs typeface="Arial"/>
              </a:rPr>
              <a:t>a </a:t>
            </a:r>
            <a:r>
              <a:rPr sz="1800" b="1" spc="-5" dirty="0">
                <a:solidFill>
                  <a:srgbClr val="595959"/>
                </a:solidFill>
                <a:latin typeface="Arial"/>
                <a:cs typeface="Arial"/>
              </a:rPr>
              <a:t>gate sees more noise in </a:t>
            </a:r>
            <a:r>
              <a:rPr sz="1800" b="1" dirty="0">
                <a:solidFill>
                  <a:srgbClr val="595959"/>
                </a:solidFill>
                <a:latin typeface="Arial"/>
                <a:cs typeface="Arial"/>
              </a:rPr>
              <a:t>the </a:t>
            </a:r>
            <a:r>
              <a:rPr sz="1800" b="1" spc="-5" dirty="0">
                <a:solidFill>
                  <a:srgbClr val="595959"/>
                </a:solidFill>
                <a:latin typeface="Arial"/>
                <a:cs typeface="Arial"/>
              </a:rPr>
              <a:t>high or </a:t>
            </a:r>
            <a:r>
              <a:rPr sz="1800" b="1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b="1" spc="-5" dirty="0">
                <a:solidFill>
                  <a:srgbClr val="595959"/>
                </a:solidFill>
                <a:latin typeface="Arial"/>
                <a:cs typeface="Arial"/>
              </a:rPr>
              <a:t>low input </a:t>
            </a:r>
            <a:r>
              <a:rPr sz="1800" b="1" dirty="0">
                <a:solidFill>
                  <a:srgbClr val="595959"/>
                </a:solidFill>
                <a:latin typeface="Arial"/>
                <a:cs typeface="Arial"/>
              </a:rPr>
              <a:t>state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: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the gate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can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be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skewed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to </a:t>
            </a:r>
            <a:r>
              <a:rPr sz="1800" spc="-49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improve that noise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margin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at the expense of </a:t>
            </a:r>
            <a:r>
              <a:rPr sz="1800" spc="-49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the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other</a:t>
            </a:r>
            <a:endParaRPr sz="1800">
              <a:latin typeface="Arial MT"/>
              <a:cs typeface="Arial MT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590911" y="2247188"/>
            <a:ext cx="3022644" cy="2311743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5451950" y="1266104"/>
            <a:ext cx="77025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" dirty="0">
                <a:latin typeface="Arial MT"/>
                <a:cs typeface="Arial MT"/>
              </a:rPr>
              <a:t>Driver</a:t>
            </a:r>
            <a:r>
              <a:rPr sz="1200" spc="-75" dirty="0">
                <a:latin typeface="Arial MT"/>
                <a:cs typeface="Arial MT"/>
              </a:rPr>
              <a:t> </a:t>
            </a:r>
            <a:r>
              <a:rPr sz="1200" spc="-5" dirty="0">
                <a:latin typeface="Arial MT"/>
                <a:cs typeface="Arial MT"/>
              </a:rPr>
              <a:t>gate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849099" y="1266104"/>
            <a:ext cx="9652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" dirty="0">
                <a:latin typeface="Arial MT"/>
                <a:cs typeface="Arial MT"/>
              </a:rPr>
              <a:t>Receiver</a:t>
            </a:r>
            <a:r>
              <a:rPr sz="1200" spc="-70" dirty="0">
                <a:latin typeface="Arial MT"/>
                <a:cs typeface="Arial MT"/>
              </a:rPr>
              <a:t> </a:t>
            </a:r>
            <a:r>
              <a:rPr sz="1200" spc="-5" dirty="0">
                <a:latin typeface="Arial MT"/>
                <a:cs typeface="Arial MT"/>
              </a:rPr>
              <a:t>gate</a:t>
            </a:r>
            <a:endParaRPr sz="12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387799" y="1558762"/>
            <a:ext cx="2437857" cy="328852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84725" y="505248"/>
            <a:ext cx="3455035" cy="40957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500" spc="5" dirty="0"/>
              <a:t>Noise</a:t>
            </a:r>
            <a:r>
              <a:rPr sz="2500" spc="-25" dirty="0"/>
              <a:t> </a:t>
            </a:r>
            <a:r>
              <a:rPr sz="2500" spc="5" dirty="0"/>
              <a:t>Margin:</a:t>
            </a:r>
            <a:r>
              <a:rPr sz="2500" spc="-20" dirty="0"/>
              <a:t> </a:t>
            </a:r>
            <a:r>
              <a:rPr sz="2500" spc="5" dirty="0"/>
              <a:t>Summary</a:t>
            </a:r>
            <a:endParaRPr sz="2500"/>
          </a:p>
        </p:txBody>
      </p:sp>
      <p:sp>
        <p:nvSpPr>
          <p:cNvPr id="4" name="object 4"/>
          <p:cNvSpPr txBox="1"/>
          <p:nvPr/>
        </p:nvSpPr>
        <p:spPr>
          <a:xfrm>
            <a:off x="462549" y="1175208"/>
            <a:ext cx="4823460" cy="23863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91795" marR="21590" indent="-367030">
              <a:lnSpc>
                <a:spcPct val="114999"/>
              </a:lnSpc>
              <a:spcBef>
                <a:spcPts val="100"/>
              </a:spcBef>
              <a:buFont typeface="Arial MT"/>
              <a:buChar char="●"/>
              <a:tabLst>
                <a:tab pos="391795" algn="l"/>
                <a:tab pos="392430" algn="l"/>
              </a:tabLst>
            </a:pPr>
            <a:r>
              <a:rPr sz="1800" b="1" spc="-5" dirty="0">
                <a:solidFill>
                  <a:srgbClr val="595959"/>
                </a:solidFill>
                <a:latin typeface="Arial"/>
                <a:cs typeface="Arial"/>
              </a:rPr>
              <a:t>Noise sources </a:t>
            </a:r>
            <a:r>
              <a:rPr sz="1800" b="1" dirty="0">
                <a:solidFill>
                  <a:srgbClr val="595959"/>
                </a:solidFill>
                <a:latin typeface="Arial"/>
                <a:cs typeface="Arial"/>
              </a:rPr>
              <a:t>tend to </a:t>
            </a:r>
            <a:r>
              <a:rPr sz="1800" b="1" spc="-5" dirty="0">
                <a:solidFill>
                  <a:srgbClr val="595959"/>
                </a:solidFill>
                <a:latin typeface="Arial"/>
                <a:cs typeface="Arial"/>
              </a:rPr>
              <a:t>scale with </a:t>
            </a:r>
            <a:r>
              <a:rPr sz="1800" b="1" dirty="0">
                <a:solidFill>
                  <a:srgbClr val="595959"/>
                </a:solidFill>
                <a:latin typeface="Arial"/>
                <a:cs typeface="Arial"/>
              </a:rPr>
              <a:t>the </a:t>
            </a:r>
            <a:r>
              <a:rPr sz="1800" b="1" spc="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b="1" spc="-5" dirty="0">
                <a:solidFill>
                  <a:srgbClr val="595959"/>
                </a:solidFill>
                <a:latin typeface="Arial"/>
                <a:cs typeface="Arial"/>
              </a:rPr>
              <a:t>supply voltage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: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so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noise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margins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are best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given</a:t>
            </a:r>
            <a:r>
              <a:rPr sz="1800" spc="-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as</a:t>
            </a:r>
            <a:r>
              <a:rPr sz="1800" spc="-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a</a:t>
            </a:r>
            <a:r>
              <a:rPr sz="1800" spc="-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fraction</a:t>
            </a:r>
            <a:r>
              <a:rPr sz="1800" spc="-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of</a:t>
            </a:r>
            <a:r>
              <a:rPr sz="1800" spc="-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the</a:t>
            </a:r>
            <a:r>
              <a:rPr sz="1800" spc="-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supply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voltage;</a:t>
            </a:r>
            <a:r>
              <a:rPr sz="1800" spc="-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for </a:t>
            </a:r>
            <a:r>
              <a:rPr sz="1800" spc="-484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example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0.3V</a:t>
            </a:r>
            <a:r>
              <a:rPr sz="1800" spc="-7" baseline="-32407" dirty="0">
                <a:solidFill>
                  <a:srgbClr val="595959"/>
                </a:solidFill>
                <a:latin typeface="Arial MT"/>
                <a:cs typeface="Arial MT"/>
              </a:rPr>
              <a:t>DD</a:t>
            </a:r>
            <a:endParaRPr sz="1800" baseline="-32407">
              <a:latin typeface="Arial MT"/>
              <a:cs typeface="Arial MT"/>
            </a:endParaRPr>
          </a:p>
          <a:p>
            <a:pPr marL="391795" marR="17780">
              <a:lnSpc>
                <a:spcPct val="114999"/>
              </a:lnSpc>
              <a:spcBef>
                <a:spcPts val="1200"/>
              </a:spcBef>
            </a:pP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A</a:t>
            </a:r>
            <a:r>
              <a:rPr sz="1800" spc="-114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noise</a:t>
            </a:r>
            <a:r>
              <a:rPr sz="1800" spc="-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margin</a:t>
            </a:r>
            <a:r>
              <a:rPr sz="1800" spc="-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of</a:t>
            </a:r>
            <a:r>
              <a:rPr sz="1800" spc="-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0.4</a:t>
            </a:r>
            <a:r>
              <a:rPr sz="1800" spc="-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V</a:t>
            </a:r>
            <a:r>
              <a:rPr sz="1800" spc="-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is</a:t>
            </a:r>
            <a:r>
              <a:rPr sz="1800" spc="-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quite</a:t>
            </a:r>
            <a:r>
              <a:rPr sz="1800" spc="-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comfortable </a:t>
            </a:r>
            <a:r>
              <a:rPr sz="1800" spc="-484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in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a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1.8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V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process, but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marginal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in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a 5 V </a:t>
            </a:r>
            <a:r>
              <a:rPr sz="1800" spc="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process</a:t>
            </a:r>
            <a:endParaRPr sz="1800">
              <a:latin typeface="Arial MT"/>
              <a:cs typeface="Arial MT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590911" y="2247188"/>
            <a:ext cx="3022644" cy="2311743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5451950" y="1266104"/>
            <a:ext cx="77025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" dirty="0">
                <a:latin typeface="Arial MT"/>
                <a:cs typeface="Arial MT"/>
              </a:rPr>
              <a:t>Driver</a:t>
            </a:r>
            <a:r>
              <a:rPr sz="1200" spc="-75" dirty="0">
                <a:latin typeface="Arial MT"/>
                <a:cs typeface="Arial MT"/>
              </a:rPr>
              <a:t> </a:t>
            </a:r>
            <a:r>
              <a:rPr sz="1200" spc="-5" dirty="0">
                <a:latin typeface="Arial MT"/>
                <a:cs typeface="Arial MT"/>
              </a:rPr>
              <a:t>gate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849099" y="1266104"/>
            <a:ext cx="9652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" dirty="0">
                <a:latin typeface="Arial MT"/>
                <a:cs typeface="Arial MT"/>
              </a:rPr>
              <a:t>Receiver</a:t>
            </a:r>
            <a:r>
              <a:rPr sz="1200" spc="-70" dirty="0">
                <a:latin typeface="Arial MT"/>
                <a:cs typeface="Arial MT"/>
              </a:rPr>
              <a:t> </a:t>
            </a:r>
            <a:r>
              <a:rPr sz="1200" spc="-5" dirty="0">
                <a:latin typeface="Arial MT"/>
                <a:cs typeface="Arial MT"/>
              </a:rPr>
              <a:t>gate</a:t>
            </a:r>
            <a:endParaRPr sz="12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05248"/>
            <a:ext cx="4982845" cy="40957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500" spc="5" dirty="0"/>
              <a:t>Pass</a:t>
            </a:r>
            <a:r>
              <a:rPr sz="2500" spc="-50" dirty="0"/>
              <a:t> </a:t>
            </a:r>
            <a:r>
              <a:rPr sz="2500" spc="-5" dirty="0"/>
              <a:t>Transistor</a:t>
            </a:r>
            <a:r>
              <a:rPr sz="2500" spc="5" dirty="0"/>
              <a:t> </a:t>
            </a:r>
            <a:r>
              <a:rPr sz="2500" spc="10" dirty="0"/>
              <a:t>DC</a:t>
            </a:r>
            <a:r>
              <a:rPr sz="2500" dirty="0"/>
              <a:t> Characteristics</a:t>
            </a:r>
            <a:endParaRPr sz="2500"/>
          </a:p>
        </p:txBody>
      </p:sp>
      <p:sp>
        <p:nvSpPr>
          <p:cNvPr id="3" name="object 3"/>
          <p:cNvSpPr txBox="1"/>
          <p:nvPr/>
        </p:nvSpPr>
        <p:spPr>
          <a:xfrm>
            <a:off x="384725" y="1216355"/>
            <a:ext cx="5136515" cy="15513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Recall</a:t>
            </a:r>
            <a:r>
              <a:rPr sz="1800" spc="-2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from</a:t>
            </a:r>
            <a:r>
              <a:rPr sz="1800" spc="-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our</a:t>
            </a:r>
            <a:r>
              <a:rPr sz="1800" spc="-2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previous</a:t>
            </a:r>
            <a:r>
              <a:rPr sz="1800" spc="-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lectures</a:t>
            </a:r>
            <a:r>
              <a:rPr sz="1800" spc="-2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that</a:t>
            </a:r>
            <a:endParaRPr sz="1800">
              <a:latin typeface="Arial MT"/>
              <a:cs typeface="Arial MT"/>
            </a:endParaRPr>
          </a:p>
          <a:p>
            <a:pPr marL="469900" indent="-367030">
              <a:lnSpc>
                <a:spcPct val="100000"/>
              </a:lnSpc>
              <a:spcBef>
                <a:spcPts val="1525"/>
              </a:spcBef>
              <a:buFont typeface="Arial MT"/>
              <a:buChar char="●"/>
              <a:tabLst>
                <a:tab pos="469265" algn="l"/>
                <a:tab pos="469900" algn="l"/>
              </a:tabLst>
            </a:pPr>
            <a:r>
              <a:rPr sz="1800" b="1" spc="-5" dirty="0">
                <a:solidFill>
                  <a:srgbClr val="595959"/>
                </a:solidFill>
                <a:latin typeface="Arial"/>
                <a:cs typeface="Arial"/>
              </a:rPr>
              <a:t>nMOS</a:t>
            </a:r>
            <a:r>
              <a:rPr sz="1800" b="1" spc="-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transistors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pass</a:t>
            </a:r>
            <a:r>
              <a:rPr sz="1800" spc="3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15" dirty="0">
                <a:solidFill>
                  <a:srgbClr val="37761C"/>
                </a:solidFill>
                <a:latin typeface="Arial MT"/>
                <a:cs typeface="Arial MT"/>
              </a:rPr>
              <a:t>‘0’s </a:t>
            </a:r>
            <a:r>
              <a:rPr sz="1800" spc="-5" dirty="0">
                <a:solidFill>
                  <a:srgbClr val="37761C"/>
                </a:solidFill>
                <a:latin typeface="Arial MT"/>
                <a:cs typeface="Arial MT"/>
              </a:rPr>
              <a:t>well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but </a:t>
            </a:r>
            <a:r>
              <a:rPr sz="1800" spc="-15" dirty="0">
                <a:solidFill>
                  <a:srgbClr val="CC0000"/>
                </a:solidFill>
                <a:latin typeface="Arial MT"/>
                <a:cs typeface="Arial MT"/>
              </a:rPr>
              <a:t>‘1’s</a:t>
            </a:r>
            <a:r>
              <a:rPr sz="1800" spc="-10" dirty="0">
                <a:solidFill>
                  <a:srgbClr val="CC0000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CC0000"/>
                </a:solidFill>
                <a:latin typeface="Arial MT"/>
                <a:cs typeface="Arial MT"/>
              </a:rPr>
              <a:t>poorly</a:t>
            </a:r>
            <a:endParaRPr sz="1800">
              <a:latin typeface="Arial MT"/>
              <a:cs typeface="Arial MT"/>
            </a:endParaRPr>
          </a:p>
          <a:p>
            <a:pPr marL="469900" indent="-367030">
              <a:lnSpc>
                <a:spcPct val="100000"/>
              </a:lnSpc>
              <a:spcBef>
                <a:spcPts val="320"/>
              </a:spcBef>
              <a:buFont typeface="Arial MT"/>
              <a:buChar char="●"/>
              <a:tabLst>
                <a:tab pos="469265" algn="l"/>
                <a:tab pos="469900" algn="l"/>
              </a:tabLst>
            </a:pPr>
            <a:r>
              <a:rPr sz="1800" b="1" spc="-5" dirty="0">
                <a:solidFill>
                  <a:srgbClr val="595959"/>
                </a:solidFill>
                <a:latin typeface="Arial"/>
                <a:cs typeface="Arial"/>
              </a:rPr>
              <a:t>pMOS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transistors</a:t>
            </a:r>
            <a:r>
              <a:rPr sz="1800" spc="-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pass</a:t>
            </a:r>
            <a:r>
              <a:rPr sz="1800" spc="2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15" dirty="0">
                <a:solidFill>
                  <a:srgbClr val="37761C"/>
                </a:solidFill>
                <a:latin typeface="Arial MT"/>
                <a:cs typeface="Arial MT"/>
              </a:rPr>
              <a:t>‘1’s</a:t>
            </a:r>
            <a:r>
              <a:rPr sz="1800" spc="-10" dirty="0">
                <a:solidFill>
                  <a:srgbClr val="37761C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37761C"/>
                </a:solidFill>
                <a:latin typeface="Arial MT"/>
                <a:cs typeface="Arial MT"/>
              </a:rPr>
              <a:t>well</a:t>
            </a:r>
            <a:r>
              <a:rPr sz="1800" spc="-10" dirty="0">
                <a:solidFill>
                  <a:srgbClr val="37761C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but</a:t>
            </a:r>
            <a:r>
              <a:rPr sz="1800" spc="-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‘</a:t>
            </a:r>
            <a:r>
              <a:rPr sz="1800" spc="-10" dirty="0">
                <a:solidFill>
                  <a:srgbClr val="CC0000"/>
                </a:solidFill>
                <a:latin typeface="Arial MT"/>
                <a:cs typeface="Arial MT"/>
              </a:rPr>
              <a:t>0’s </a:t>
            </a:r>
            <a:r>
              <a:rPr sz="1800" spc="-5" dirty="0">
                <a:solidFill>
                  <a:srgbClr val="CC0000"/>
                </a:solidFill>
                <a:latin typeface="Arial MT"/>
                <a:cs typeface="Arial MT"/>
              </a:rPr>
              <a:t>poorly</a:t>
            </a:r>
            <a:endParaRPr sz="1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525"/>
              </a:spcBef>
            </a:pPr>
            <a:r>
              <a:rPr sz="1800" spc="-20" dirty="0">
                <a:solidFill>
                  <a:srgbClr val="595959"/>
                </a:solidFill>
                <a:latin typeface="Arial MT"/>
                <a:cs typeface="Arial MT"/>
              </a:rPr>
              <a:t>We</a:t>
            </a:r>
            <a:r>
              <a:rPr sz="1800" spc="-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are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now</a:t>
            </a:r>
            <a:r>
              <a:rPr sz="1800" spc="-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better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prepared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to</a:t>
            </a:r>
            <a:r>
              <a:rPr sz="1800" spc="-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define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how</a:t>
            </a:r>
            <a:r>
              <a:rPr sz="1800" spc="-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“poorly”</a:t>
            </a:r>
            <a:endParaRPr sz="1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05248"/>
            <a:ext cx="5978525" cy="40957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500" spc="10" dirty="0"/>
              <a:t>nMOS</a:t>
            </a:r>
            <a:r>
              <a:rPr sz="2500" dirty="0"/>
              <a:t> </a:t>
            </a:r>
            <a:r>
              <a:rPr sz="2500" spc="5" dirty="0"/>
              <a:t>Pass</a:t>
            </a:r>
            <a:r>
              <a:rPr sz="2500" spc="-45" dirty="0"/>
              <a:t> </a:t>
            </a:r>
            <a:r>
              <a:rPr sz="2500" spc="-5" dirty="0"/>
              <a:t>Transistor</a:t>
            </a:r>
            <a:r>
              <a:rPr sz="2500" dirty="0"/>
              <a:t> </a:t>
            </a:r>
            <a:r>
              <a:rPr sz="2500" spc="10" dirty="0"/>
              <a:t>DC</a:t>
            </a:r>
            <a:r>
              <a:rPr sz="2500" spc="5" dirty="0"/>
              <a:t> </a:t>
            </a:r>
            <a:r>
              <a:rPr sz="2500" dirty="0"/>
              <a:t>Characteristics</a:t>
            </a:r>
            <a:endParaRPr sz="2500"/>
          </a:p>
        </p:txBody>
      </p:sp>
      <p:sp>
        <p:nvSpPr>
          <p:cNvPr id="3" name="object 3"/>
          <p:cNvSpPr txBox="1"/>
          <p:nvPr/>
        </p:nvSpPr>
        <p:spPr>
          <a:xfrm>
            <a:off x="372025" y="1216355"/>
            <a:ext cx="4275455" cy="18002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00"/>
              </a:spcBef>
            </a:pPr>
            <a:r>
              <a:rPr sz="1800" spc="-100" dirty="0">
                <a:solidFill>
                  <a:srgbClr val="595959"/>
                </a:solidFill>
                <a:latin typeface="Arial MT"/>
                <a:cs typeface="Arial MT"/>
              </a:rPr>
              <a:t>To</a:t>
            </a:r>
            <a:r>
              <a:rPr sz="1800" spc="-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keep</a:t>
            </a:r>
            <a:r>
              <a:rPr sz="1800" spc="-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an</a:t>
            </a:r>
            <a:r>
              <a:rPr sz="1800" spc="-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nMOS</a:t>
            </a:r>
            <a:r>
              <a:rPr sz="1800" spc="-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transistor</a:t>
            </a:r>
            <a:r>
              <a:rPr sz="1800" spc="-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ON,</a:t>
            </a:r>
            <a:r>
              <a:rPr sz="1800" spc="-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we</a:t>
            </a:r>
            <a:r>
              <a:rPr sz="1800" spc="-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need</a:t>
            </a:r>
            <a:endParaRPr sz="1800">
              <a:latin typeface="Arial MT"/>
              <a:cs typeface="Arial MT"/>
            </a:endParaRPr>
          </a:p>
          <a:p>
            <a:pPr marL="482600" indent="-367030">
              <a:lnSpc>
                <a:spcPct val="100000"/>
              </a:lnSpc>
              <a:spcBef>
                <a:spcPts val="1525"/>
              </a:spcBef>
              <a:buChar char="●"/>
              <a:tabLst>
                <a:tab pos="481965" algn="l"/>
                <a:tab pos="482600" algn="l"/>
              </a:tabLst>
            </a:pP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V</a:t>
            </a:r>
            <a:r>
              <a:rPr sz="1800" spc="-7" baseline="-32407" dirty="0">
                <a:solidFill>
                  <a:srgbClr val="595959"/>
                </a:solidFill>
                <a:latin typeface="Arial MT"/>
                <a:cs typeface="Arial MT"/>
              </a:rPr>
              <a:t>gs</a:t>
            </a:r>
            <a:r>
              <a:rPr sz="1800" spc="209" baseline="-32407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≥</a:t>
            </a:r>
            <a:r>
              <a:rPr sz="1800" spc="-3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V</a:t>
            </a:r>
            <a:r>
              <a:rPr sz="1800" spc="-7" baseline="-32407" dirty="0">
                <a:solidFill>
                  <a:srgbClr val="595959"/>
                </a:solidFill>
                <a:latin typeface="Arial MT"/>
                <a:cs typeface="Arial MT"/>
              </a:rPr>
              <a:t>tn</a:t>
            </a:r>
            <a:endParaRPr sz="1800" baseline="-32407">
              <a:latin typeface="Arial MT"/>
              <a:cs typeface="Arial MT"/>
            </a:endParaRPr>
          </a:p>
          <a:p>
            <a:pPr marL="482600" indent="-367030">
              <a:lnSpc>
                <a:spcPct val="100000"/>
              </a:lnSpc>
              <a:spcBef>
                <a:spcPts val="320"/>
              </a:spcBef>
              <a:buFont typeface="Arial MT"/>
              <a:buChar char="●"/>
              <a:tabLst>
                <a:tab pos="481965" algn="l"/>
                <a:tab pos="482600" algn="l"/>
              </a:tabLst>
            </a:pPr>
            <a:r>
              <a:rPr sz="1800" dirty="0">
                <a:solidFill>
                  <a:srgbClr val="595959"/>
                </a:solidFill>
                <a:latin typeface="MS PGothic"/>
                <a:cs typeface="MS PGothic"/>
              </a:rPr>
              <a:t>⇒</a:t>
            </a:r>
            <a:r>
              <a:rPr sz="1800" spc="-70" dirty="0">
                <a:solidFill>
                  <a:srgbClr val="595959"/>
                </a:solidFill>
                <a:latin typeface="MS PGothic"/>
                <a:cs typeface="MS PGothic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V</a:t>
            </a:r>
            <a:r>
              <a:rPr sz="1800" baseline="-32407" dirty="0">
                <a:solidFill>
                  <a:srgbClr val="595959"/>
                </a:solidFill>
                <a:latin typeface="Arial MT"/>
                <a:cs typeface="Arial MT"/>
              </a:rPr>
              <a:t>g</a:t>
            </a:r>
            <a:r>
              <a:rPr sz="1800" spc="217" baseline="-32407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-</a:t>
            </a:r>
            <a:r>
              <a:rPr sz="1800" spc="-2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V</a:t>
            </a:r>
            <a:r>
              <a:rPr sz="1800" baseline="-32407" dirty="0">
                <a:solidFill>
                  <a:srgbClr val="595959"/>
                </a:solidFill>
                <a:latin typeface="Arial MT"/>
                <a:cs typeface="Arial MT"/>
              </a:rPr>
              <a:t>s</a:t>
            </a:r>
            <a:r>
              <a:rPr sz="1800" spc="217" baseline="-32407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≥</a:t>
            </a:r>
            <a:r>
              <a:rPr sz="1800" spc="-2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V</a:t>
            </a:r>
            <a:r>
              <a:rPr sz="1800" spc="-7" baseline="-32407" dirty="0">
                <a:solidFill>
                  <a:srgbClr val="595959"/>
                </a:solidFill>
                <a:latin typeface="Arial MT"/>
                <a:cs typeface="Arial MT"/>
              </a:rPr>
              <a:t>tn</a:t>
            </a:r>
            <a:endParaRPr sz="1800" baseline="-32407">
              <a:latin typeface="Arial MT"/>
              <a:cs typeface="Arial MT"/>
            </a:endParaRPr>
          </a:p>
          <a:p>
            <a:pPr marL="482600" indent="-367030">
              <a:lnSpc>
                <a:spcPct val="100000"/>
              </a:lnSpc>
              <a:spcBef>
                <a:spcPts val="325"/>
              </a:spcBef>
              <a:buFont typeface="Arial MT"/>
              <a:buChar char="●"/>
              <a:tabLst>
                <a:tab pos="481965" algn="l"/>
                <a:tab pos="482600" algn="l"/>
              </a:tabLst>
            </a:pPr>
            <a:r>
              <a:rPr sz="1800" dirty="0">
                <a:solidFill>
                  <a:srgbClr val="595959"/>
                </a:solidFill>
                <a:latin typeface="MS PGothic"/>
                <a:cs typeface="MS PGothic"/>
              </a:rPr>
              <a:t>⇒</a:t>
            </a:r>
            <a:r>
              <a:rPr sz="1800" spc="-70" dirty="0">
                <a:solidFill>
                  <a:srgbClr val="595959"/>
                </a:solidFill>
                <a:latin typeface="MS PGothic"/>
                <a:cs typeface="MS PGothic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V</a:t>
            </a:r>
            <a:r>
              <a:rPr sz="1800" baseline="-32407" dirty="0">
                <a:solidFill>
                  <a:srgbClr val="595959"/>
                </a:solidFill>
                <a:latin typeface="Arial MT"/>
                <a:cs typeface="Arial MT"/>
              </a:rPr>
              <a:t>s</a:t>
            </a:r>
            <a:r>
              <a:rPr sz="1800" spc="217" baseline="-32407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≤</a:t>
            </a:r>
            <a:r>
              <a:rPr sz="1800" spc="-2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V</a:t>
            </a:r>
            <a:r>
              <a:rPr sz="1800" baseline="-32407" dirty="0">
                <a:solidFill>
                  <a:srgbClr val="595959"/>
                </a:solidFill>
                <a:latin typeface="Arial MT"/>
                <a:cs typeface="Arial MT"/>
              </a:rPr>
              <a:t>g</a:t>
            </a:r>
            <a:r>
              <a:rPr sz="1800" spc="217" baseline="-32407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-</a:t>
            </a:r>
            <a:r>
              <a:rPr sz="1800" spc="-2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V</a:t>
            </a:r>
            <a:r>
              <a:rPr sz="1800" spc="-7" baseline="-32407" dirty="0">
                <a:solidFill>
                  <a:srgbClr val="595959"/>
                </a:solidFill>
                <a:latin typeface="Arial MT"/>
                <a:cs typeface="Arial MT"/>
              </a:rPr>
              <a:t>tn</a:t>
            </a:r>
            <a:endParaRPr sz="1800" baseline="-32407">
              <a:latin typeface="Arial MT"/>
              <a:cs typeface="Arial MT"/>
            </a:endParaRPr>
          </a:p>
          <a:p>
            <a:pPr marL="482600" indent="-367030">
              <a:lnSpc>
                <a:spcPct val="100000"/>
              </a:lnSpc>
              <a:spcBef>
                <a:spcPts val="1000"/>
              </a:spcBef>
              <a:buFont typeface="Arial MT"/>
              <a:buChar char="●"/>
              <a:tabLst>
                <a:tab pos="481965" algn="l"/>
                <a:tab pos="482600" algn="l"/>
              </a:tabLst>
            </a:pPr>
            <a:r>
              <a:rPr sz="2700" baseline="20061" dirty="0">
                <a:solidFill>
                  <a:srgbClr val="595959"/>
                </a:solidFill>
                <a:latin typeface="MS PGothic"/>
                <a:cs typeface="MS PGothic"/>
              </a:rPr>
              <a:t>⇒</a:t>
            </a:r>
            <a:r>
              <a:rPr sz="2700" spc="-97" baseline="20061" dirty="0">
                <a:solidFill>
                  <a:srgbClr val="595959"/>
                </a:solidFill>
                <a:latin typeface="MS PGothic"/>
                <a:cs typeface="MS PGothic"/>
              </a:rPr>
              <a:t> </a:t>
            </a:r>
            <a:r>
              <a:rPr sz="2700" b="1" spc="-7" baseline="20061" dirty="0">
                <a:solidFill>
                  <a:srgbClr val="595959"/>
                </a:solidFill>
                <a:latin typeface="Arial"/>
                <a:cs typeface="Arial"/>
              </a:rPr>
              <a:t>V</a:t>
            </a:r>
            <a:r>
              <a:rPr sz="1200" b="1" spc="-5" dirty="0">
                <a:solidFill>
                  <a:srgbClr val="595959"/>
                </a:solidFill>
                <a:latin typeface="Arial"/>
                <a:cs typeface="Arial"/>
              </a:rPr>
              <a:t>s(max)</a:t>
            </a:r>
            <a:r>
              <a:rPr sz="1200" b="1" spc="15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700" b="1" baseline="20061" dirty="0">
                <a:solidFill>
                  <a:srgbClr val="595959"/>
                </a:solidFill>
                <a:latin typeface="Arial"/>
                <a:cs typeface="Arial"/>
              </a:rPr>
              <a:t>=</a:t>
            </a:r>
            <a:r>
              <a:rPr sz="2700" b="1" spc="-30" baseline="20061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700" b="1" baseline="20061" dirty="0">
                <a:solidFill>
                  <a:srgbClr val="595959"/>
                </a:solidFill>
                <a:latin typeface="Arial"/>
                <a:cs typeface="Arial"/>
              </a:rPr>
              <a:t>V</a:t>
            </a:r>
            <a:r>
              <a:rPr sz="1200" b="1" dirty="0">
                <a:solidFill>
                  <a:srgbClr val="595959"/>
                </a:solidFill>
                <a:latin typeface="Arial"/>
                <a:cs typeface="Arial"/>
              </a:rPr>
              <a:t>g</a:t>
            </a:r>
            <a:r>
              <a:rPr sz="1200" b="1" spc="15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700" b="1" baseline="20061" dirty="0">
                <a:solidFill>
                  <a:srgbClr val="595959"/>
                </a:solidFill>
                <a:latin typeface="Arial"/>
                <a:cs typeface="Arial"/>
              </a:rPr>
              <a:t>-</a:t>
            </a:r>
            <a:r>
              <a:rPr sz="2700" b="1" spc="-30" baseline="20061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700" b="1" baseline="20061" dirty="0">
                <a:solidFill>
                  <a:srgbClr val="595959"/>
                </a:solidFill>
                <a:latin typeface="Arial"/>
                <a:cs typeface="Arial"/>
              </a:rPr>
              <a:t>V</a:t>
            </a:r>
            <a:r>
              <a:rPr sz="1200" b="1" dirty="0">
                <a:solidFill>
                  <a:srgbClr val="595959"/>
                </a:solidFill>
                <a:latin typeface="Arial"/>
                <a:cs typeface="Arial"/>
              </a:rPr>
              <a:t>tn</a:t>
            </a:r>
            <a:endParaRPr sz="12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46330" y="1359654"/>
            <a:ext cx="780359" cy="643603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05248"/>
            <a:ext cx="5978525" cy="40957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500" spc="10" dirty="0"/>
              <a:t>nMOS</a:t>
            </a:r>
            <a:r>
              <a:rPr sz="2500" dirty="0"/>
              <a:t> </a:t>
            </a:r>
            <a:r>
              <a:rPr sz="2500" spc="5" dirty="0"/>
              <a:t>Pass</a:t>
            </a:r>
            <a:r>
              <a:rPr sz="2500" spc="-45" dirty="0"/>
              <a:t> </a:t>
            </a:r>
            <a:r>
              <a:rPr sz="2500" spc="-5" dirty="0"/>
              <a:t>Transistor</a:t>
            </a:r>
            <a:r>
              <a:rPr sz="2500" dirty="0"/>
              <a:t> </a:t>
            </a:r>
            <a:r>
              <a:rPr sz="2500" spc="10" dirty="0"/>
              <a:t>DC</a:t>
            </a:r>
            <a:r>
              <a:rPr sz="2500" spc="5" dirty="0"/>
              <a:t> </a:t>
            </a:r>
            <a:r>
              <a:rPr sz="2500" dirty="0"/>
              <a:t>Characteristics</a:t>
            </a:r>
            <a:endParaRPr sz="2500"/>
          </a:p>
        </p:txBody>
      </p:sp>
      <p:sp>
        <p:nvSpPr>
          <p:cNvPr id="3" name="object 3"/>
          <p:cNvSpPr txBox="1"/>
          <p:nvPr/>
        </p:nvSpPr>
        <p:spPr>
          <a:xfrm>
            <a:off x="384725" y="1216355"/>
            <a:ext cx="42500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0" dirty="0">
                <a:solidFill>
                  <a:srgbClr val="595959"/>
                </a:solidFill>
                <a:latin typeface="Arial MT"/>
                <a:cs typeface="Arial MT"/>
              </a:rPr>
              <a:t>To</a:t>
            </a:r>
            <a:r>
              <a:rPr sz="1800" spc="-2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keep</a:t>
            </a:r>
            <a:r>
              <a:rPr sz="1800" spc="-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an</a:t>
            </a:r>
            <a:r>
              <a:rPr sz="1800" spc="-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nMOS</a:t>
            </a:r>
            <a:r>
              <a:rPr sz="1800" spc="-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transistor</a:t>
            </a:r>
            <a:r>
              <a:rPr sz="1800" spc="-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ON,</a:t>
            </a:r>
            <a:r>
              <a:rPr sz="1800" spc="-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we</a:t>
            </a:r>
            <a:r>
              <a:rPr sz="1800" spc="-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need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75249" y="1684224"/>
            <a:ext cx="1638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595959"/>
                </a:solidFill>
                <a:latin typeface="Arial"/>
                <a:cs typeface="Arial"/>
              </a:rPr>
              <a:t>●</a:t>
            </a:r>
            <a:endParaRPr sz="18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16525" y="1769949"/>
            <a:ext cx="17259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700" b="1" spc="-7" baseline="20061" dirty="0">
                <a:solidFill>
                  <a:srgbClr val="595959"/>
                </a:solidFill>
                <a:latin typeface="Arial"/>
                <a:cs typeface="Arial"/>
              </a:rPr>
              <a:t>V</a:t>
            </a:r>
            <a:r>
              <a:rPr sz="1200" b="1" spc="-5" dirty="0">
                <a:solidFill>
                  <a:srgbClr val="595959"/>
                </a:solidFill>
                <a:latin typeface="Arial"/>
                <a:cs typeface="Arial"/>
              </a:rPr>
              <a:t>s(max)</a:t>
            </a:r>
            <a:r>
              <a:rPr sz="1200" b="1" spc="14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700" b="1" baseline="20061" dirty="0">
                <a:solidFill>
                  <a:srgbClr val="595959"/>
                </a:solidFill>
                <a:latin typeface="Arial"/>
                <a:cs typeface="Arial"/>
              </a:rPr>
              <a:t>=</a:t>
            </a:r>
            <a:r>
              <a:rPr sz="2700" b="1" spc="-37" baseline="20061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700" b="1" baseline="20061" dirty="0">
                <a:solidFill>
                  <a:srgbClr val="595959"/>
                </a:solidFill>
                <a:latin typeface="Arial"/>
                <a:cs typeface="Arial"/>
              </a:rPr>
              <a:t>V</a:t>
            </a:r>
            <a:r>
              <a:rPr sz="1200" b="1" dirty="0">
                <a:solidFill>
                  <a:srgbClr val="595959"/>
                </a:solidFill>
                <a:latin typeface="Arial"/>
                <a:cs typeface="Arial"/>
              </a:rPr>
              <a:t>g</a:t>
            </a:r>
            <a:r>
              <a:rPr sz="1200" b="1" spc="15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700" b="1" baseline="20061" dirty="0">
                <a:solidFill>
                  <a:srgbClr val="595959"/>
                </a:solidFill>
                <a:latin typeface="Arial"/>
                <a:cs typeface="Arial"/>
              </a:rPr>
              <a:t>-</a:t>
            </a:r>
            <a:r>
              <a:rPr sz="2700" b="1" spc="-37" baseline="20061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700" b="1" baseline="20061" dirty="0">
                <a:solidFill>
                  <a:srgbClr val="595959"/>
                </a:solidFill>
                <a:latin typeface="Arial"/>
                <a:cs typeface="Arial"/>
              </a:rPr>
              <a:t>V</a:t>
            </a:r>
            <a:r>
              <a:rPr sz="1200" b="1" dirty="0">
                <a:solidFill>
                  <a:srgbClr val="595959"/>
                </a:solidFill>
                <a:latin typeface="Arial"/>
                <a:cs typeface="Arial"/>
              </a:rPr>
              <a:t>tn</a:t>
            </a:r>
            <a:endParaRPr sz="12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33925" y="2152092"/>
            <a:ext cx="7529195" cy="21818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35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nMOS</a:t>
            </a:r>
            <a:r>
              <a:rPr sz="1800" spc="-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transistors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passing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‘1’</a:t>
            </a:r>
            <a:r>
              <a:rPr sz="1800" spc="-7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10" dirty="0">
                <a:solidFill>
                  <a:srgbClr val="595959"/>
                </a:solidFill>
                <a:latin typeface="Arial MT"/>
                <a:cs typeface="Arial MT"/>
              </a:rPr>
              <a:t>(</a:t>
            </a:r>
            <a:r>
              <a:rPr sz="1800" b="1" spc="10" dirty="0">
                <a:solidFill>
                  <a:srgbClr val="595959"/>
                </a:solidFill>
                <a:latin typeface="Arial"/>
                <a:cs typeface="Arial"/>
              </a:rPr>
              <a:t>V</a:t>
            </a:r>
            <a:r>
              <a:rPr sz="1800" b="1" spc="15" baseline="-32407" dirty="0">
                <a:solidFill>
                  <a:srgbClr val="595959"/>
                </a:solidFill>
                <a:latin typeface="Arial"/>
                <a:cs typeface="Arial"/>
              </a:rPr>
              <a:t>in</a:t>
            </a:r>
            <a:r>
              <a:rPr sz="1800" b="1" spc="232" baseline="-32407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595959"/>
                </a:solidFill>
                <a:latin typeface="Arial"/>
                <a:cs typeface="Arial"/>
              </a:rPr>
              <a:t>=</a:t>
            </a:r>
            <a:r>
              <a:rPr sz="1800" b="1" spc="-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595959"/>
                </a:solidFill>
                <a:latin typeface="Arial"/>
                <a:cs typeface="Arial"/>
              </a:rPr>
              <a:t>V</a:t>
            </a:r>
            <a:r>
              <a:rPr sz="1800" b="1" baseline="-32407" dirty="0">
                <a:solidFill>
                  <a:srgbClr val="595959"/>
                </a:solidFill>
                <a:latin typeface="Arial"/>
                <a:cs typeface="Arial"/>
              </a:rPr>
              <a:t>DD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;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b="1" spc="-5" dirty="0">
                <a:solidFill>
                  <a:srgbClr val="595959"/>
                </a:solidFill>
                <a:latin typeface="Arial"/>
                <a:cs typeface="Arial"/>
              </a:rPr>
              <a:t>V</a:t>
            </a:r>
            <a:r>
              <a:rPr sz="1800" b="1" spc="-7" baseline="-32407" dirty="0">
                <a:solidFill>
                  <a:srgbClr val="595959"/>
                </a:solidFill>
                <a:latin typeface="Arial"/>
                <a:cs typeface="Arial"/>
              </a:rPr>
              <a:t>out</a:t>
            </a:r>
            <a:r>
              <a:rPr sz="1800" b="1" spc="232" baseline="-32407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595959"/>
                </a:solidFill>
                <a:latin typeface="Arial"/>
                <a:cs typeface="Arial"/>
              </a:rPr>
              <a:t>=</a:t>
            </a:r>
            <a:r>
              <a:rPr sz="1800" b="1" spc="-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595959"/>
                </a:solidFill>
                <a:latin typeface="Arial"/>
                <a:cs typeface="Arial"/>
              </a:rPr>
              <a:t>?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)</a:t>
            </a:r>
            <a:endParaRPr sz="1800">
              <a:latin typeface="Arial MT"/>
              <a:cs typeface="Arial MT"/>
            </a:endParaRPr>
          </a:p>
          <a:p>
            <a:pPr marL="520700" indent="-367030">
              <a:lnSpc>
                <a:spcPct val="100000"/>
              </a:lnSpc>
              <a:spcBef>
                <a:spcPts val="1520"/>
              </a:spcBef>
              <a:buChar char="●"/>
              <a:tabLst>
                <a:tab pos="520065" algn="l"/>
                <a:tab pos="520700" algn="l"/>
              </a:tabLst>
            </a:pP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Gate</a:t>
            </a:r>
            <a:r>
              <a:rPr sz="1800" spc="-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is</a:t>
            </a:r>
            <a:r>
              <a:rPr sz="1800" spc="-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connected</a:t>
            </a:r>
            <a:r>
              <a:rPr sz="1800" spc="-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to</a:t>
            </a:r>
            <a:r>
              <a:rPr sz="1800" spc="-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5" dirty="0">
                <a:solidFill>
                  <a:srgbClr val="595959"/>
                </a:solidFill>
                <a:latin typeface="Arial MT"/>
                <a:cs typeface="Arial MT"/>
              </a:rPr>
              <a:t>V</a:t>
            </a:r>
            <a:r>
              <a:rPr sz="1800" spc="7" baseline="-32407" dirty="0">
                <a:solidFill>
                  <a:srgbClr val="595959"/>
                </a:solidFill>
                <a:latin typeface="Arial MT"/>
                <a:cs typeface="Arial MT"/>
              </a:rPr>
              <a:t>DD</a:t>
            </a:r>
            <a:r>
              <a:rPr sz="1800" spc="5" dirty="0">
                <a:solidFill>
                  <a:srgbClr val="595959"/>
                </a:solidFill>
                <a:latin typeface="Arial MT"/>
                <a:cs typeface="Arial MT"/>
              </a:rPr>
              <a:t>:</a:t>
            </a:r>
            <a:r>
              <a:rPr sz="1800" spc="-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V</a:t>
            </a:r>
            <a:r>
              <a:rPr sz="1800" baseline="-32407" dirty="0">
                <a:solidFill>
                  <a:srgbClr val="595959"/>
                </a:solidFill>
                <a:latin typeface="Arial MT"/>
                <a:cs typeface="Arial MT"/>
              </a:rPr>
              <a:t>g</a:t>
            </a:r>
            <a:r>
              <a:rPr sz="1800" spc="240" baseline="-32407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=</a:t>
            </a:r>
            <a:r>
              <a:rPr sz="1800" spc="-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V</a:t>
            </a:r>
            <a:r>
              <a:rPr sz="1800" spc="-7" baseline="-32407" dirty="0">
                <a:solidFill>
                  <a:srgbClr val="595959"/>
                </a:solidFill>
                <a:latin typeface="Arial MT"/>
                <a:cs typeface="Arial MT"/>
              </a:rPr>
              <a:t>DD</a:t>
            </a:r>
            <a:endParaRPr sz="1800" baseline="-32407">
              <a:latin typeface="Arial MT"/>
              <a:cs typeface="Arial MT"/>
            </a:endParaRPr>
          </a:p>
          <a:p>
            <a:pPr marL="520700" indent="-367030">
              <a:lnSpc>
                <a:spcPct val="100000"/>
              </a:lnSpc>
              <a:spcBef>
                <a:spcPts val="325"/>
              </a:spcBef>
              <a:buChar char="●"/>
              <a:tabLst>
                <a:tab pos="520065" algn="l"/>
                <a:tab pos="520700" algn="l"/>
              </a:tabLst>
            </a:pP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Current</a:t>
            </a:r>
            <a:r>
              <a:rPr sz="1800" spc="-2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flowing</a:t>
            </a:r>
            <a:r>
              <a:rPr sz="1800" spc="-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from</a:t>
            </a:r>
            <a:r>
              <a:rPr sz="1800" spc="-2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drain</a:t>
            </a:r>
            <a:r>
              <a:rPr sz="1800" spc="-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to</a:t>
            </a:r>
            <a:r>
              <a:rPr sz="1800" spc="-2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source</a:t>
            </a:r>
            <a:endParaRPr sz="1800">
              <a:latin typeface="Arial MT"/>
              <a:cs typeface="Arial MT"/>
            </a:endParaRPr>
          </a:p>
          <a:p>
            <a:pPr marL="520700" indent="-367030">
              <a:lnSpc>
                <a:spcPct val="100000"/>
              </a:lnSpc>
              <a:spcBef>
                <a:spcPts val="325"/>
              </a:spcBef>
              <a:buChar char="●"/>
              <a:tabLst>
                <a:tab pos="520065" algn="l"/>
                <a:tab pos="520700" algn="l"/>
              </a:tabLst>
            </a:pP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V</a:t>
            </a:r>
            <a:r>
              <a:rPr sz="1800" spc="-7" baseline="-32407" dirty="0">
                <a:solidFill>
                  <a:srgbClr val="595959"/>
                </a:solidFill>
                <a:latin typeface="Arial MT"/>
                <a:cs typeface="Arial MT"/>
              </a:rPr>
              <a:t>in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=</a:t>
            </a:r>
            <a:r>
              <a:rPr sz="1800" spc="-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V</a:t>
            </a:r>
            <a:r>
              <a:rPr sz="1800" baseline="-32407" dirty="0">
                <a:solidFill>
                  <a:srgbClr val="595959"/>
                </a:solidFill>
                <a:latin typeface="Arial MT"/>
                <a:cs typeface="Arial MT"/>
              </a:rPr>
              <a:t>d</a:t>
            </a:r>
            <a:r>
              <a:rPr sz="1800" spc="240" baseline="-32407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=</a:t>
            </a:r>
            <a:r>
              <a:rPr sz="1800" spc="-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V</a:t>
            </a:r>
            <a:r>
              <a:rPr sz="1800" baseline="-32407" dirty="0">
                <a:solidFill>
                  <a:srgbClr val="595959"/>
                </a:solidFill>
                <a:latin typeface="Arial MT"/>
                <a:cs typeface="Arial MT"/>
              </a:rPr>
              <a:t>DD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;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V</a:t>
            </a:r>
            <a:r>
              <a:rPr sz="1800" spc="-7" baseline="-32407" dirty="0">
                <a:solidFill>
                  <a:srgbClr val="595959"/>
                </a:solidFill>
                <a:latin typeface="Arial MT"/>
                <a:cs typeface="Arial MT"/>
              </a:rPr>
              <a:t>out</a:t>
            </a:r>
            <a:r>
              <a:rPr sz="1800" spc="232" baseline="-32407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=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V</a:t>
            </a:r>
            <a:r>
              <a:rPr sz="1800" baseline="-32407" dirty="0">
                <a:solidFill>
                  <a:srgbClr val="595959"/>
                </a:solidFill>
                <a:latin typeface="Arial MT"/>
                <a:cs typeface="Arial MT"/>
              </a:rPr>
              <a:t>s</a:t>
            </a:r>
            <a:r>
              <a:rPr sz="1800" spc="-7" baseline="-32407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=</a:t>
            </a:r>
            <a:r>
              <a:rPr sz="1800" spc="-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?</a:t>
            </a:r>
            <a:endParaRPr sz="1800">
              <a:latin typeface="Arial MT"/>
              <a:cs typeface="Arial MT"/>
            </a:endParaRPr>
          </a:p>
          <a:p>
            <a:pPr marL="520700" indent="-367030">
              <a:lnSpc>
                <a:spcPct val="100000"/>
              </a:lnSpc>
              <a:spcBef>
                <a:spcPts val="325"/>
              </a:spcBef>
              <a:buChar char="●"/>
              <a:tabLst>
                <a:tab pos="520065" algn="l"/>
                <a:tab pos="520700" algn="l"/>
              </a:tabLst>
            </a:pP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But</a:t>
            </a:r>
            <a:r>
              <a:rPr sz="1800" spc="-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we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know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V</a:t>
            </a:r>
            <a:r>
              <a:rPr sz="1800" baseline="-32407" dirty="0">
                <a:solidFill>
                  <a:srgbClr val="595959"/>
                </a:solidFill>
                <a:latin typeface="Arial MT"/>
                <a:cs typeface="Arial MT"/>
              </a:rPr>
              <a:t>s(max)</a:t>
            </a:r>
            <a:r>
              <a:rPr sz="1800" spc="247" baseline="-32407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=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V</a:t>
            </a:r>
            <a:r>
              <a:rPr sz="1800" baseline="-32407" dirty="0">
                <a:solidFill>
                  <a:srgbClr val="595959"/>
                </a:solidFill>
                <a:latin typeface="Arial MT"/>
                <a:cs typeface="Arial MT"/>
              </a:rPr>
              <a:t>g</a:t>
            </a:r>
            <a:r>
              <a:rPr sz="1800" spc="240" baseline="-32407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-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 V</a:t>
            </a:r>
            <a:r>
              <a:rPr sz="1800" spc="-7" baseline="-32407" dirty="0">
                <a:solidFill>
                  <a:srgbClr val="595959"/>
                </a:solidFill>
                <a:latin typeface="Arial MT"/>
                <a:cs typeface="Arial MT"/>
              </a:rPr>
              <a:t>tn</a:t>
            </a:r>
            <a:r>
              <a:rPr sz="1800" spc="240" baseline="-32407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MS PGothic"/>
                <a:cs typeface="MS PGothic"/>
              </a:rPr>
              <a:t>⇒</a:t>
            </a:r>
            <a:r>
              <a:rPr sz="1800" spc="-55" dirty="0">
                <a:solidFill>
                  <a:srgbClr val="595959"/>
                </a:solidFill>
                <a:latin typeface="MS PGothic"/>
                <a:cs typeface="MS PGothic"/>
              </a:rPr>
              <a:t> </a:t>
            </a:r>
            <a:r>
              <a:rPr sz="1800" b="1" spc="-5" dirty="0">
                <a:solidFill>
                  <a:srgbClr val="595959"/>
                </a:solidFill>
                <a:latin typeface="Arial"/>
                <a:cs typeface="Arial"/>
              </a:rPr>
              <a:t>V</a:t>
            </a:r>
            <a:r>
              <a:rPr sz="1800" b="1" spc="-7" baseline="-32407" dirty="0">
                <a:solidFill>
                  <a:srgbClr val="595959"/>
                </a:solidFill>
                <a:latin typeface="Arial"/>
                <a:cs typeface="Arial"/>
              </a:rPr>
              <a:t>out(max)</a:t>
            </a:r>
            <a:r>
              <a:rPr sz="1800" b="1" spc="247" baseline="-32407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595959"/>
                </a:solidFill>
                <a:latin typeface="Arial"/>
                <a:cs typeface="Arial"/>
              </a:rPr>
              <a:t>=</a:t>
            </a:r>
            <a:r>
              <a:rPr sz="1800" b="1" spc="-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595959"/>
                </a:solidFill>
                <a:latin typeface="Arial"/>
                <a:cs typeface="Arial"/>
              </a:rPr>
              <a:t>V</a:t>
            </a:r>
            <a:r>
              <a:rPr sz="1800" b="1" baseline="-32407" dirty="0">
                <a:solidFill>
                  <a:srgbClr val="595959"/>
                </a:solidFill>
                <a:latin typeface="Arial"/>
                <a:cs typeface="Arial"/>
              </a:rPr>
              <a:t>DD</a:t>
            </a:r>
            <a:r>
              <a:rPr sz="1800" b="1" spc="240" baseline="-32407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595959"/>
                </a:solidFill>
                <a:latin typeface="Arial"/>
                <a:cs typeface="Arial"/>
              </a:rPr>
              <a:t>-</a:t>
            </a:r>
            <a:r>
              <a:rPr sz="1800" b="1" spc="-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595959"/>
                </a:solidFill>
                <a:latin typeface="Arial"/>
                <a:cs typeface="Arial"/>
              </a:rPr>
              <a:t>V</a:t>
            </a:r>
            <a:r>
              <a:rPr sz="1800" b="1" baseline="-32407" dirty="0">
                <a:solidFill>
                  <a:srgbClr val="595959"/>
                </a:solidFill>
                <a:latin typeface="Arial"/>
                <a:cs typeface="Arial"/>
              </a:rPr>
              <a:t>tn</a:t>
            </a:r>
            <a:endParaRPr sz="1800" baseline="-32407">
              <a:latin typeface="Arial"/>
              <a:cs typeface="Arial"/>
            </a:endParaRPr>
          </a:p>
          <a:p>
            <a:pPr marL="63500">
              <a:lnSpc>
                <a:spcPct val="100000"/>
              </a:lnSpc>
              <a:spcBef>
                <a:spcPts val="1525"/>
              </a:spcBef>
            </a:pPr>
            <a:r>
              <a:rPr sz="1800" b="1" spc="-5" dirty="0">
                <a:solidFill>
                  <a:srgbClr val="595959"/>
                </a:solidFill>
                <a:latin typeface="Arial"/>
                <a:cs typeface="Arial"/>
              </a:rPr>
              <a:t>nMOS</a:t>
            </a:r>
            <a:r>
              <a:rPr sz="1800" b="1" spc="-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595959"/>
                </a:solidFill>
                <a:latin typeface="Arial"/>
                <a:cs typeface="Arial"/>
              </a:rPr>
              <a:t>transistors</a:t>
            </a:r>
            <a:r>
              <a:rPr sz="1800" b="1" spc="-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b="1" spc="-5" dirty="0">
                <a:solidFill>
                  <a:srgbClr val="595959"/>
                </a:solidFill>
                <a:latin typeface="Arial"/>
                <a:cs typeface="Arial"/>
              </a:rPr>
              <a:t>attempting</a:t>
            </a:r>
            <a:r>
              <a:rPr sz="1800" b="1" spc="-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595959"/>
                </a:solidFill>
                <a:latin typeface="Arial"/>
                <a:cs typeface="Arial"/>
              </a:rPr>
              <a:t>to</a:t>
            </a:r>
            <a:r>
              <a:rPr sz="1800" b="1" spc="-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b="1" spc="-5" dirty="0">
                <a:solidFill>
                  <a:srgbClr val="595959"/>
                </a:solidFill>
                <a:latin typeface="Arial"/>
                <a:cs typeface="Arial"/>
              </a:rPr>
              <a:t>pass</a:t>
            </a:r>
            <a:r>
              <a:rPr sz="1800" b="1" spc="-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595959"/>
                </a:solidFill>
                <a:latin typeface="Arial"/>
                <a:cs typeface="Arial"/>
              </a:rPr>
              <a:t>a</a:t>
            </a:r>
            <a:r>
              <a:rPr sz="1800" b="1" spc="-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b="1" spc="-5" dirty="0">
                <a:solidFill>
                  <a:srgbClr val="595959"/>
                </a:solidFill>
                <a:latin typeface="Arial"/>
                <a:cs typeface="Arial"/>
              </a:rPr>
              <a:t>‘1’</a:t>
            </a:r>
            <a:r>
              <a:rPr sz="1800" b="1" spc="-10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b="1" spc="-5" dirty="0">
                <a:solidFill>
                  <a:srgbClr val="595959"/>
                </a:solidFill>
                <a:latin typeface="Arial"/>
                <a:cs typeface="Arial"/>
              </a:rPr>
              <a:t>never</a:t>
            </a:r>
            <a:r>
              <a:rPr sz="1800" b="1" spc="-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b="1" spc="-5" dirty="0">
                <a:solidFill>
                  <a:srgbClr val="595959"/>
                </a:solidFill>
                <a:latin typeface="Arial"/>
                <a:cs typeface="Arial"/>
              </a:rPr>
              <a:t>pass</a:t>
            </a:r>
            <a:r>
              <a:rPr sz="1800" b="1" spc="-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b="1" spc="-5" dirty="0">
                <a:solidFill>
                  <a:srgbClr val="595959"/>
                </a:solidFill>
                <a:latin typeface="Arial"/>
                <a:cs typeface="Arial"/>
              </a:rPr>
              <a:t>above</a:t>
            </a:r>
            <a:r>
              <a:rPr sz="1800" b="1" spc="-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b="1" spc="20" dirty="0">
                <a:solidFill>
                  <a:srgbClr val="595959"/>
                </a:solidFill>
                <a:latin typeface="Arial"/>
                <a:cs typeface="Arial"/>
              </a:rPr>
              <a:t>V</a:t>
            </a:r>
            <a:r>
              <a:rPr sz="1800" b="1" spc="30" baseline="-32407" dirty="0">
                <a:solidFill>
                  <a:srgbClr val="595959"/>
                </a:solidFill>
                <a:latin typeface="Arial"/>
                <a:cs typeface="Arial"/>
              </a:rPr>
              <a:t>DD</a:t>
            </a:r>
            <a:r>
              <a:rPr sz="1800" b="1" spc="240" baseline="-32407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595959"/>
                </a:solidFill>
                <a:latin typeface="Arial"/>
                <a:cs typeface="Arial"/>
              </a:rPr>
              <a:t>-</a:t>
            </a:r>
            <a:r>
              <a:rPr sz="1800" b="1" spc="-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595959"/>
                </a:solidFill>
                <a:latin typeface="Arial"/>
                <a:cs typeface="Arial"/>
              </a:rPr>
              <a:t>V</a:t>
            </a:r>
            <a:r>
              <a:rPr sz="1800" b="1" baseline="-32407" dirty="0">
                <a:solidFill>
                  <a:srgbClr val="595959"/>
                </a:solidFill>
                <a:latin typeface="Arial"/>
                <a:cs typeface="Arial"/>
              </a:rPr>
              <a:t>tn</a:t>
            </a:r>
            <a:endParaRPr sz="1800" baseline="-32407">
              <a:latin typeface="Arial"/>
              <a:cs typeface="Arial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752300" y="1235217"/>
            <a:ext cx="1980953" cy="628844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05248"/>
            <a:ext cx="5978525" cy="40957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500" spc="10" dirty="0"/>
              <a:t>pMOS</a:t>
            </a:r>
            <a:r>
              <a:rPr sz="2500" dirty="0"/>
              <a:t> </a:t>
            </a:r>
            <a:r>
              <a:rPr sz="2500" spc="5" dirty="0"/>
              <a:t>Pass</a:t>
            </a:r>
            <a:r>
              <a:rPr sz="2500" spc="-45" dirty="0"/>
              <a:t> </a:t>
            </a:r>
            <a:r>
              <a:rPr sz="2500" spc="-5" dirty="0"/>
              <a:t>Transistor</a:t>
            </a:r>
            <a:r>
              <a:rPr sz="2500" dirty="0"/>
              <a:t> </a:t>
            </a:r>
            <a:r>
              <a:rPr sz="2500" spc="10" dirty="0"/>
              <a:t>DC</a:t>
            </a:r>
            <a:r>
              <a:rPr sz="2500" spc="5" dirty="0"/>
              <a:t> </a:t>
            </a:r>
            <a:r>
              <a:rPr sz="2500" dirty="0"/>
              <a:t>Characteristics</a:t>
            </a:r>
            <a:endParaRPr sz="2500"/>
          </a:p>
        </p:txBody>
      </p:sp>
      <p:sp>
        <p:nvSpPr>
          <p:cNvPr id="3" name="object 3"/>
          <p:cNvSpPr txBox="1"/>
          <p:nvPr/>
        </p:nvSpPr>
        <p:spPr>
          <a:xfrm>
            <a:off x="372025" y="1216355"/>
            <a:ext cx="4147820" cy="17145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00"/>
              </a:spcBef>
            </a:pPr>
            <a:r>
              <a:rPr sz="1800" spc="-100" dirty="0">
                <a:solidFill>
                  <a:srgbClr val="595959"/>
                </a:solidFill>
                <a:latin typeface="Arial MT"/>
                <a:cs typeface="Arial MT"/>
              </a:rPr>
              <a:t>To</a:t>
            </a:r>
            <a:r>
              <a:rPr sz="1800" spc="-2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keep</a:t>
            </a:r>
            <a:r>
              <a:rPr sz="1800" spc="-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a</a:t>
            </a:r>
            <a:r>
              <a:rPr sz="1800" spc="-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pMOS</a:t>
            </a:r>
            <a:r>
              <a:rPr sz="1800" spc="-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transistor</a:t>
            </a:r>
            <a:r>
              <a:rPr sz="1800" spc="-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ON,</a:t>
            </a:r>
            <a:r>
              <a:rPr sz="1800" spc="-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we</a:t>
            </a:r>
            <a:r>
              <a:rPr sz="1800" spc="-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need</a:t>
            </a:r>
            <a:endParaRPr sz="1800">
              <a:latin typeface="Arial MT"/>
              <a:cs typeface="Arial MT"/>
            </a:endParaRPr>
          </a:p>
          <a:p>
            <a:pPr marL="482600" indent="-367030">
              <a:lnSpc>
                <a:spcPct val="100000"/>
              </a:lnSpc>
              <a:spcBef>
                <a:spcPts val="1525"/>
              </a:spcBef>
              <a:buChar char="●"/>
              <a:tabLst>
                <a:tab pos="481965" algn="l"/>
                <a:tab pos="482600" algn="l"/>
              </a:tabLst>
            </a:pP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V</a:t>
            </a:r>
            <a:r>
              <a:rPr sz="1800" baseline="-32407" dirty="0">
                <a:solidFill>
                  <a:srgbClr val="595959"/>
                </a:solidFill>
                <a:latin typeface="Arial MT"/>
                <a:cs typeface="Arial MT"/>
              </a:rPr>
              <a:t>sg</a:t>
            </a:r>
            <a:r>
              <a:rPr sz="1800" spc="209" baseline="-32407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≥</a:t>
            </a:r>
            <a:r>
              <a:rPr sz="1800" spc="-3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|V</a:t>
            </a:r>
            <a:r>
              <a:rPr sz="1800" spc="-7" baseline="-32407" dirty="0">
                <a:solidFill>
                  <a:srgbClr val="595959"/>
                </a:solidFill>
                <a:latin typeface="Arial MT"/>
                <a:cs typeface="Arial MT"/>
              </a:rPr>
              <a:t>tp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|</a:t>
            </a:r>
            <a:endParaRPr sz="1800">
              <a:latin typeface="Arial MT"/>
              <a:cs typeface="Arial MT"/>
            </a:endParaRPr>
          </a:p>
          <a:p>
            <a:pPr marL="482600" indent="-367030">
              <a:lnSpc>
                <a:spcPct val="100000"/>
              </a:lnSpc>
              <a:spcBef>
                <a:spcPts val="320"/>
              </a:spcBef>
              <a:buFont typeface="Arial MT"/>
              <a:buChar char="●"/>
              <a:tabLst>
                <a:tab pos="481965" algn="l"/>
                <a:tab pos="482600" algn="l"/>
              </a:tabLst>
            </a:pPr>
            <a:r>
              <a:rPr sz="1800" dirty="0">
                <a:solidFill>
                  <a:srgbClr val="595959"/>
                </a:solidFill>
                <a:latin typeface="MS PGothic"/>
                <a:cs typeface="MS PGothic"/>
              </a:rPr>
              <a:t>⇒</a:t>
            </a:r>
            <a:r>
              <a:rPr sz="1800" spc="-65" dirty="0">
                <a:solidFill>
                  <a:srgbClr val="595959"/>
                </a:solidFill>
                <a:latin typeface="MS PGothic"/>
                <a:cs typeface="MS PGothic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V</a:t>
            </a:r>
            <a:r>
              <a:rPr sz="1800" baseline="-32407" dirty="0">
                <a:solidFill>
                  <a:srgbClr val="595959"/>
                </a:solidFill>
                <a:latin typeface="Arial MT"/>
                <a:cs typeface="Arial MT"/>
              </a:rPr>
              <a:t>s</a:t>
            </a:r>
            <a:r>
              <a:rPr sz="1800" spc="225" baseline="-32407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-</a:t>
            </a:r>
            <a:r>
              <a:rPr sz="1800" spc="-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V</a:t>
            </a:r>
            <a:r>
              <a:rPr sz="1800" baseline="-32407" dirty="0">
                <a:solidFill>
                  <a:srgbClr val="595959"/>
                </a:solidFill>
                <a:latin typeface="Arial MT"/>
                <a:cs typeface="Arial MT"/>
              </a:rPr>
              <a:t>g</a:t>
            </a:r>
            <a:r>
              <a:rPr sz="1800" spc="225" baseline="-32407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≥</a:t>
            </a:r>
            <a:r>
              <a:rPr sz="1800" spc="-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|V</a:t>
            </a:r>
            <a:r>
              <a:rPr sz="1800" spc="-7" baseline="-32407" dirty="0">
                <a:solidFill>
                  <a:srgbClr val="595959"/>
                </a:solidFill>
                <a:latin typeface="Arial MT"/>
                <a:cs typeface="Arial MT"/>
              </a:rPr>
              <a:t>tp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|</a:t>
            </a:r>
            <a:endParaRPr sz="1800">
              <a:latin typeface="Arial MT"/>
              <a:cs typeface="Arial MT"/>
            </a:endParaRPr>
          </a:p>
          <a:p>
            <a:pPr marL="482600" indent="-367030">
              <a:lnSpc>
                <a:spcPct val="100000"/>
              </a:lnSpc>
              <a:spcBef>
                <a:spcPts val="325"/>
              </a:spcBef>
              <a:buFont typeface="Arial MT"/>
              <a:buChar char="●"/>
              <a:tabLst>
                <a:tab pos="481965" algn="l"/>
                <a:tab pos="482600" algn="l"/>
              </a:tabLst>
            </a:pPr>
            <a:r>
              <a:rPr sz="1800" dirty="0">
                <a:solidFill>
                  <a:srgbClr val="595959"/>
                </a:solidFill>
                <a:latin typeface="MS PGothic"/>
                <a:cs typeface="MS PGothic"/>
              </a:rPr>
              <a:t>⇒</a:t>
            </a:r>
            <a:r>
              <a:rPr sz="1800" spc="-65" dirty="0">
                <a:solidFill>
                  <a:srgbClr val="595959"/>
                </a:solidFill>
                <a:latin typeface="MS PGothic"/>
                <a:cs typeface="MS PGothic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V</a:t>
            </a:r>
            <a:r>
              <a:rPr sz="1800" baseline="-32407" dirty="0">
                <a:solidFill>
                  <a:srgbClr val="595959"/>
                </a:solidFill>
                <a:latin typeface="Arial MT"/>
                <a:cs typeface="Arial MT"/>
              </a:rPr>
              <a:t>s</a:t>
            </a:r>
            <a:r>
              <a:rPr sz="1800" spc="232" baseline="-32407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≥</a:t>
            </a:r>
            <a:r>
              <a:rPr sz="1800" spc="-2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V</a:t>
            </a:r>
            <a:r>
              <a:rPr sz="1800" baseline="-32407" dirty="0">
                <a:solidFill>
                  <a:srgbClr val="595959"/>
                </a:solidFill>
                <a:latin typeface="Arial MT"/>
                <a:cs typeface="Arial MT"/>
              </a:rPr>
              <a:t>g</a:t>
            </a:r>
            <a:r>
              <a:rPr sz="1800" spc="232" baseline="-32407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+</a:t>
            </a:r>
            <a:r>
              <a:rPr sz="1800" spc="-2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|V</a:t>
            </a:r>
            <a:r>
              <a:rPr sz="1800" spc="-7" baseline="-32407" dirty="0">
                <a:solidFill>
                  <a:srgbClr val="595959"/>
                </a:solidFill>
                <a:latin typeface="Arial MT"/>
                <a:cs typeface="Arial MT"/>
              </a:rPr>
              <a:t>tp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|</a:t>
            </a:r>
            <a:endParaRPr sz="1800">
              <a:latin typeface="Arial MT"/>
              <a:cs typeface="Arial MT"/>
            </a:endParaRPr>
          </a:p>
          <a:p>
            <a:pPr marL="482600" indent="-367030">
              <a:lnSpc>
                <a:spcPct val="100000"/>
              </a:lnSpc>
              <a:spcBef>
                <a:spcPts val="325"/>
              </a:spcBef>
              <a:buFont typeface="Arial MT"/>
              <a:buChar char="●"/>
              <a:tabLst>
                <a:tab pos="481965" algn="l"/>
                <a:tab pos="482600" algn="l"/>
              </a:tabLst>
            </a:pPr>
            <a:r>
              <a:rPr sz="1800" dirty="0">
                <a:solidFill>
                  <a:srgbClr val="595959"/>
                </a:solidFill>
                <a:latin typeface="MS PGothic"/>
                <a:cs typeface="MS PGothic"/>
              </a:rPr>
              <a:t>⇒</a:t>
            </a:r>
            <a:r>
              <a:rPr sz="1800" spc="-65" dirty="0">
                <a:solidFill>
                  <a:srgbClr val="595959"/>
                </a:solidFill>
                <a:latin typeface="MS PGothic"/>
                <a:cs typeface="MS PGothic"/>
              </a:rPr>
              <a:t> </a:t>
            </a:r>
            <a:r>
              <a:rPr sz="1800" b="1" spc="-5" dirty="0">
                <a:solidFill>
                  <a:srgbClr val="595959"/>
                </a:solidFill>
                <a:latin typeface="Arial"/>
                <a:cs typeface="Arial"/>
              </a:rPr>
              <a:t>V</a:t>
            </a:r>
            <a:r>
              <a:rPr sz="1800" b="1" spc="-7" baseline="-32407" dirty="0">
                <a:solidFill>
                  <a:srgbClr val="595959"/>
                </a:solidFill>
                <a:latin typeface="Arial"/>
                <a:cs typeface="Arial"/>
              </a:rPr>
              <a:t>s(min)</a:t>
            </a:r>
            <a:r>
              <a:rPr sz="1800" b="1" spc="232" baseline="-32407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595959"/>
                </a:solidFill>
                <a:latin typeface="Arial"/>
                <a:cs typeface="Arial"/>
              </a:rPr>
              <a:t>=</a:t>
            </a:r>
            <a:r>
              <a:rPr sz="1800" b="1" spc="46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595959"/>
                </a:solidFill>
                <a:latin typeface="Arial"/>
                <a:cs typeface="Arial"/>
              </a:rPr>
              <a:t>V</a:t>
            </a:r>
            <a:r>
              <a:rPr sz="1800" b="1" baseline="-32407" dirty="0">
                <a:solidFill>
                  <a:srgbClr val="595959"/>
                </a:solidFill>
                <a:latin typeface="Arial"/>
                <a:cs typeface="Arial"/>
              </a:rPr>
              <a:t>g</a:t>
            </a:r>
            <a:r>
              <a:rPr sz="1800" b="1" spc="232" baseline="-32407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595959"/>
                </a:solidFill>
                <a:latin typeface="Arial"/>
                <a:cs typeface="Arial"/>
              </a:rPr>
              <a:t>+</a:t>
            </a:r>
            <a:r>
              <a:rPr sz="1800" b="1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595959"/>
                </a:solidFill>
                <a:latin typeface="Arial"/>
                <a:cs typeface="Arial"/>
              </a:rPr>
              <a:t>|V</a:t>
            </a:r>
            <a:r>
              <a:rPr sz="1800" b="1" baseline="-32407" dirty="0">
                <a:solidFill>
                  <a:srgbClr val="595959"/>
                </a:solidFill>
                <a:latin typeface="Arial"/>
                <a:cs typeface="Arial"/>
              </a:rPr>
              <a:t>tp</a:t>
            </a:r>
            <a:r>
              <a:rPr sz="1800" b="1" dirty="0">
                <a:solidFill>
                  <a:srgbClr val="595959"/>
                </a:solidFill>
                <a:latin typeface="Arial"/>
                <a:cs typeface="Arial"/>
              </a:rPr>
              <a:t>|</a:t>
            </a:r>
            <a:endParaRPr sz="18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46330" y="1398917"/>
            <a:ext cx="780359" cy="673297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05248"/>
            <a:ext cx="5978525" cy="40957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500" spc="10" dirty="0"/>
              <a:t>pMOS</a:t>
            </a:r>
            <a:r>
              <a:rPr sz="2500" dirty="0"/>
              <a:t> </a:t>
            </a:r>
            <a:r>
              <a:rPr sz="2500" spc="5" dirty="0"/>
              <a:t>Pass</a:t>
            </a:r>
            <a:r>
              <a:rPr sz="2500" spc="-45" dirty="0"/>
              <a:t> </a:t>
            </a:r>
            <a:r>
              <a:rPr sz="2500" spc="-5" dirty="0"/>
              <a:t>Transistor</a:t>
            </a:r>
            <a:r>
              <a:rPr sz="2500" dirty="0"/>
              <a:t> </a:t>
            </a:r>
            <a:r>
              <a:rPr sz="2500" spc="10" dirty="0"/>
              <a:t>DC</a:t>
            </a:r>
            <a:r>
              <a:rPr sz="2500" spc="5" dirty="0"/>
              <a:t> </a:t>
            </a:r>
            <a:r>
              <a:rPr sz="2500" dirty="0"/>
              <a:t>Characteristics</a:t>
            </a:r>
            <a:endParaRPr sz="2500"/>
          </a:p>
        </p:txBody>
      </p:sp>
      <p:sp>
        <p:nvSpPr>
          <p:cNvPr id="3" name="object 3"/>
          <p:cNvSpPr txBox="1"/>
          <p:nvPr/>
        </p:nvSpPr>
        <p:spPr>
          <a:xfrm>
            <a:off x="384725" y="1216355"/>
            <a:ext cx="41224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0" dirty="0">
                <a:solidFill>
                  <a:srgbClr val="595959"/>
                </a:solidFill>
                <a:latin typeface="Arial MT"/>
                <a:cs typeface="Arial MT"/>
              </a:rPr>
              <a:t>To</a:t>
            </a:r>
            <a:r>
              <a:rPr sz="1800" spc="-2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keep</a:t>
            </a:r>
            <a:r>
              <a:rPr sz="1800" spc="-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a</a:t>
            </a:r>
            <a:r>
              <a:rPr sz="1800" spc="-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pMOS</a:t>
            </a:r>
            <a:r>
              <a:rPr sz="1800" spc="-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transistor</a:t>
            </a:r>
            <a:r>
              <a:rPr sz="1800" spc="-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ON,</a:t>
            </a:r>
            <a:r>
              <a:rPr sz="1800" spc="-2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we</a:t>
            </a:r>
            <a:r>
              <a:rPr sz="1800" spc="-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need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75249" y="1684224"/>
            <a:ext cx="1638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595959"/>
                </a:solidFill>
                <a:latin typeface="Arial"/>
                <a:cs typeface="Arial"/>
              </a:rPr>
              <a:t>●</a:t>
            </a:r>
            <a:endParaRPr sz="18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16525" y="1769949"/>
            <a:ext cx="19405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700" b="1" spc="-7" baseline="20061" dirty="0">
                <a:solidFill>
                  <a:srgbClr val="595959"/>
                </a:solidFill>
                <a:latin typeface="Arial"/>
                <a:cs typeface="Arial"/>
              </a:rPr>
              <a:t>V</a:t>
            </a:r>
            <a:r>
              <a:rPr sz="1200" b="1" spc="-5" dirty="0">
                <a:solidFill>
                  <a:srgbClr val="595959"/>
                </a:solidFill>
                <a:latin typeface="Arial"/>
                <a:cs typeface="Arial"/>
              </a:rPr>
              <a:t>s(min)</a:t>
            </a:r>
            <a:r>
              <a:rPr sz="1200" b="1" spc="15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700" b="1" baseline="20061" dirty="0">
                <a:solidFill>
                  <a:srgbClr val="595959"/>
                </a:solidFill>
                <a:latin typeface="Arial"/>
                <a:cs typeface="Arial"/>
              </a:rPr>
              <a:t>=</a:t>
            </a:r>
            <a:r>
              <a:rPr sz="2700" b="1" spc="690" baseline="20061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700" b="1" baseline="20061" dirty="0">
                <a:solidFill>
                  <a:srgbClr val="595959"/>
                </a:solidFill>
                <a:latin typeface="Arial"/>
                <a:cs typeface="Arial"/>
              </a:rPr>
              <a:t>V</a:t>
            </a:r>
            <a:r>
              <a:rPr sz="1200" b="1" dirty="0">
                <a:solidFill>
                  <a:srgbClr val="595959"/>
                </a:solidFill>
                <a:latin typeface="Arial"/>
                <a:cs typeface="Arial"/>
              </a:rPr>
              <a:t>g</a:t>
            </a:r>
            <a:r>
              <a:rPr sz="1200" b="1" spc="15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700" b="1" baseline="20061" dirty="0">
                <a:solidFill>
                  <a:srgbClr val="595959"/>
                </a:solidFill>
                <a:latin typeface="Arial"/>
                <a:cs typeface="Arial"/>
              </a:rPr>
              <a:t>+</a:t>
            </a:r>
            <a:r>
              <a:rPr sz="2700" b="1" spc="-30" baseline="20061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700" b="1" baseline="20061" dirty="0">
                <a:solidFill>
                  <a:srgbClr val="595959"/>
                </a:solidFill>
                <a:latin typeface="Arial"/>
                <a:cs typeface="Arial"/>
              </a:rPr>
              <a:t>|V</a:t>
            </a:r>
            <a:r>
              <a:rPr sz="1200" b="1" dirty="0">
                <a:solidFill>
                  <a:srgbClr val="595959"/>
                </a:solidFill>
                <a:latin typeface="Arial"/>
                <a:cs typeface="Arial"/>
              </a:rPr>
              <a:t>tp</a:t>
            </a:r>
            <a:r>
              <a:rPr sz="2700" b="1" baseline="20061" dirty="0">
                <a:solidFill>
                  <a:srgbClr val="595959"/>
                </a:solidFill>
                <a:latin typeface="Arial"/>
                <a:cs typeface="Arial"/>
              </a:rPr>
              <a:t>|</a:t>
            </a:r>
            <a:endParaRPr sz="2700" baseline="20061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33925" y="2152092"/>
            <a:ext cx="7564120" cy="21818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35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pMOS</a:t>
            </a:r>
            <a:r>
              <a:rPr sz="1800" spc="-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transistors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passing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‘0’</a:t>
            </a:r>
            <a:r>
              <a:rPr sz="1800" spc="-7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10" dirty="0">
                <a:solidFill>
                  <a:srgbClr val="595959"/>
                </a:solidFill>
                <a:latin typeface="Arial MT"/>
                <a:cs typeface="Arial MT"/>
              </a:rPr>
              <a:t>(</a:t>
            </a:r>
            <a:r>
              <a:rPr sz="1800" b="1" spc="10" dirty="0">
                <a:solidFill>
                  <a:srgbClr val="595959"/>
                </a:solidFill>
                <a:latin typeface="Arial"/>
                <a:cs typeface="Arial"/>
              </a:rPr>
              <a:t>V</a:t>
            </a:r>
            <a:r>
              <a:rPr sz="1800" b="1" spc="15" baseline="-32407" dirty="0">
                <a:solidFill>
                  <a:srgbClr val="595959"/>
                </a:solidFill>
                <a:latin typeface="Arial"/>
                <a:cs typeface="Arial"/>
              </a:rPr>
              <a:t>in</a:t>
            </a:r>
            <a:r>
              <a:rPr sz="1800" b="1" spc="240" baseline="-32407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595959"/>
                </a:solidFill>
                <a:latin typeface="Arial"/>
                <a:cs typeface="Arial"/>
              </a:rPr>
              <a:t>=</a:t>
            </a:r>
            <a:r>
              <a:rPr sz="1800" b="1" spc="-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b="1" spc="-5" dirty="0">
                <a:solidFill>
                  <a:srgbClr val="595959"/>
                </a:solidFill>
                <a:latin typeface="Arial"/>
                <a:cs typeface="Arial"/>
              </a:rPr>
              <a:t>0; V</a:t>
            </a:r>
            <a:r>
              <a:rPr sz="1800" b="1" spc="-7" baseline="-32407" dirty="0">
                <a:solidFill>
                  <a:srgbClr val="595959"/>
                </a:solidFill>
                <a:latin typeface="Arial"/>
                <a:cs typeface="Arial"/>
              </a:rPr>
              <a:t>out</a:t>
            </a:r>
            <a:r>
              <a:rPr sz="1800" b="1" spc="240" baseline="-32407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595959"/>
                </a:solidFill>
                <a:latin typeface="Arial"/>
                <a:cs typeface="Arial"/>
              </a:rPr>
              <a:t>=</a:t>
            </a:r>
            <a:r>
              <a:rPr sz="1800" b="1" spc="-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595959"/>
                </a:solidFill>
                <a:latin typeface="Arial"/>
                <a:cs typeface="Arial"/>
              </a:rPr>
              <a:t>?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)</a:t>
            </a:r>
            <a:endParaRPr sz="1800">
              <a:latin typeface="Arial MT"/>
              <a:cs typeface="Arial MT"/>
            </a:endParaRPr>
          </a:p>
          <a:p>
            <a:pPr marL="520700" indent="-367030">
              <a:lnSpc>
                <a:spcPct val="100000"/>
              </a:lnSpc>
              <a:spcBef>
                <a:spcPts val="1520"/>
              </a:spcBef>
              <a:buChar char="●"/>
              <a:tabLst>
                <a:tab pos="520065" algn="l"/>
                <a:tab pos="520700" algn="l"/>
              </a:tabLst>
            </a:pP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Gate</a:t>
            </a:r>
            <a:r>
              <a:rPr sz="1800" spc="-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is</a:t>
            </a:r>
            <a:r>
              <a:rPr sz="1800" spc="-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connected</a:t>
            </a:r>
            <a:r>
              <a:rPr sz="1800" spc="-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to</a:t>
            </a:r>
            <a:r>
              <a:rPr sz="1800" spc="-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GND:</a:t>
            </a:r>
            <a:r>
              <a:rPr sz="1800" spc="-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15" dirty="0">
                <a:solidFill>
                  <a:srgbClr val="595959"/>
                </a:solidFill>
                <a:latin typeface="Arial MT"/>
                <a:cs typeface="Arial MT"/>
              </a:rPr>
              <a:t>V</a:t>
            </a:r>
            <a:r>
              <a:rPr sz="1800" spc="22" baseline="-32407" dirty="0">
                <a:solidFill>
                  <a:srgbClr val="595959"/>
                </a:solidFill>
                <a:latin typeface="Arial MT"/>
                <a:cs typeface="Arial MT"/>
              </a:rPr>
              <a:t>g</a:t>
            </a:r>
            <a:r>
              <a:rPr sz="1800" spc="240" baseline="-32407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=</a:t>
            </a:r>
            <a:r>
              <a:rPr sz="1800" spc="-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0</a:t>
            </a:r>
            <a:endParaRPr sz="1800">
              <a:latin typeface="Arial MT"/>
              <a:cs typeface="Arial MT"/>
            </a:endParaRPr>
          </a:p>
          <a:p>
            <a:pPr marL="520700" indent="-367030">
              <a:lnSpc>
                <a:spcPct val="100000"/>
              </a:lnSpc>
              <a:spcBef>
                <a:spcPts val="325"/>
              </a:spcBef>
              <a:buChar char="●"/>
              <a:tabLst>
                <a:tab pos="520065" algn="l"/>
                <a:tab pos="520700" algn="l"/>
              </a:tabLst>
            </a:pP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Current</a:t>
            </a:r>
            <a:r>
              <a:rPr sz="1800" spc="-2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flowing</a:t>
            </a:r>
            <a:r>
              <a:rPr sz="1800" spc="-2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from</a:t>
            </a:r>
            <a:r>
              <a:rPr sz="1800" spc="-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source</a:t>
            </a:r>
            <a:r>
              <a:rPr sz="1800" spc="-2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to</a:t>
            </a:r>
            <a:r>
              <a:rPr sz="1800" spc="-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drain</a:t>
            </a:r>
            <a:endParaRPr sz="1800">
              <a:latin typeface="Arial MT"/>
              <a:cs typeface="Arial MT"/>
            </a:endParaRPr>
          </a:p>
          <a:p>
            <a:pPr marL="520700" indent="-367030">
              <a:lnSpc>
                <a:spcPct val="100000"/>
              </a:lnSpc>
              <a:spcBef>
                <a:spcPts val="325"/>
              </a:spcBef>
              <a:buChar char="●"/>
              <a:tabLst>
                <a:tab pos="520065" algn="l"/>
                <a:tab pos="520700" algn="l"/>
              </a:tabLst>
            </a:pP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V</a:t>
            </a:r>
            <a:r>
              <a:rPr sz="1800" spc="-7" baseline="-32407" dirty="0">
                <a:solidFill>
                  <a:srgbClr val="595959"/>
                </a:solidFill>
                <a:latin typeface="Arial MT"/>
                <a:cs typeface="Arial MT"/>
              </a:rPr>
              <a:t>in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=</a:t>
            </a:r>
            <a:r>
              <a:rPr sz="1800" spc="-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V</a:t>
            </a:r>
            <a:r>
              <a:rPr sz="1800" baseline="-32407" dirty="0">
                <a:solidFill>
                  <a:srgbClr val="595959"/>
                </a:solidFill>
                <a:latin typeface="Arial MT"/>
                <a:cs typeface="Arial MT"/>
              </a:rPr>
              <a:t>d</a:t>
            </a:r>
            <a:r>
              <a:rPr sz="1800" spc="240" baseline="-32407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=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0;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V</a:t>
            </a:r>
            <a:r>
              <a:rPr sz="1800" spc="-7" baseline="-32407" dirty="0">
                <a:solidFill>
                  <a:srgbClr val="595959"/>
                </a:solidFill>
                <a:latin typeface="Arial MT"/>
                <a:cs typeface="Arial MT"/>
              </a:rPr>
              <a:t>out</a:t>
            </a:r>
            <a:r>
              <a:rPr sz="1800" spc="240" baseline="-32407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=</a:t>
            </a:r>
            <a:r>
              <a:rPr sz="1800" spc="-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V</a:t>
            </a:r>
            <a:r>
              <a:rPr sz="1800" baseline="-32407" dirty="0">
                <a:solidFill>
                  <a:srgbClr val="595959"/>
                </a:solidFill>
                <a:latin typeface="Arial MT"/>
                <a:cs typeface="Arial MT"/>
              </a:rPr>
              <a:t>s</a:t>
            </a:r>
            <a:r>
              <a:rPr sz="1800" spc="240" baseline="-32407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=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?</a:t>
            </a:r>
            <a:endParaRPr sz="1800">
              <a:latin typeface="Arial MT"/>
              <a:cs typeface="Arial MT"/>
            </a:endParaRPr>
          </a:p>
          <a:p>
            <a:pPr marL="520700" indent="-367030">
              <a:lnSpc>
                <a:spcPct val="100000"/>
              </a:lnSpc>
              <a:spcBef>
                <a:spcPts val="325"/>
              </a:spcBef>
              <a:buChar char="●"/>
              <a:tabLst>
                <a:tab pos="520065" algn="l"/>
                <a:tab pos="520700" algn="l"/>
              </a:tabLst>
            </a:pP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But</a:t>
            </a:r>
            <a:r>
              <a:rPr sz="1800" spc="-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we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know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V</a:t>
            </a:r>
            <a:r>
              <a:rPr sz="1800" baseline="-32407" dirty="0">
                <a:solidFill>
                  <a:srgbClr val="595959"/>
                </a:solidFill>
                <a:latin typeface="Arial MT"/>
                <a:cs typeface="Arial MT"/>
              </a:rPr>
              <a:t>s(min)</a:t>
            </a:r>
            <a:r>
              <a:rPr sz="1800" spc="240" baseline="-32407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=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V</a:t>
            </a:r>
            <a:r>
              <a:rPr sz="1800" baseline="-32407" dirty="0">
                <a:solidFill>
                  <a:srgbClr val="595959"/>
                </a:solidFill>
                <a:latin typeface="Arial MT"/>
                <a:cs typeface="Arial MT"/>
              </a:rPr>
              <a:t>g</a:t>
            </a:r>
            <a:r>
              <a:rPr sz="1800" spc="247" baseline="-32407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+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|V</a:t>
            </a:r>
            <a:r>
              <a:rPr sz="1800" spc="-7" baseline="-32407" dirty="0">
                <a:solidFill>
                  <a:srgbClr val="595959"/>
                </a:solidFill>
                <a:latin typeface="Arial MT"/>
                <a:cs typeface="Arial MT"/>
              </a:rPr>
              <a:t>tp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|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MS PGothic"/>
                <a:cs typeface="MS PGothic"/>
              </a:rPr>
              <a:t>⇒</a:t>
            </a:r>
            <a:r>
              <a:rPr sz="1800" spc="-50" dirty="0">
                <a:solidFill>
                  <a:srgbClr val="595959"/>
                </a:solidFill>
                <a:latin typeface="MS PGothic"/>
                <a:cs typeface="MS PGothic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V</a:t>
            </a:r>
            <a:r>
              <a:rPr sz="1800" spc="-7" baseline="-32407" dirty="0">
                <a:solidFill>
                  <a:srgbClr val="595959"/>
                </a:solidFill>
                <a:latin typeface="Arial MT"/>
                <a:cs typeface="Arial MT"/>
              </a:rPr>
              <a:t>out(min)</a:t>
            </a:r>
            <a:r>
              <a:rPr sz="1800" spc="240" baseline="-32407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=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 |V</a:t>
            </a:r>
            <a:r>
              <a:rPr sz="1800" spc="-7" baseline="-32407" dirty="0">
                <a:solidFill>
                  <a:srgbClr val="595959"/>
                </a:solidFill>
                <a:latin typeface="Arial MT"/>
                <a:cs typeface="Arial MT"/>
              </a:rPr>
              <a:t>tp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|</a:t>
            </a:r>
            <a:endParaRPr sz="1800">
              <a:latin typeface="Arial MT"/>
              <a:cs typeface="Arial MT"/>
            </a:endParaRPr>
          </a:p>
          <a:p>
            <a:pPr marL="63500">
              <a:lnSpc>
                <a:spcPct val="100000"/>
              </a:lnSpc>
              <a:spcBef>
                <a:spcPts val="1525"/>
              </a:spcBef>
            </a:pPr>
            <a:r>
              <a:rPr sz="1800" b="1" spc="-5" dirty="0">
                <a:solidFill>
                  <a:srgbClr val="595959"/>
                </a:solidFill>
                <a:latin typeface="Arial"/>
                <a:cs typeface="Arial"/>
              </a:rPr>
              <a:t>pMOS</a:t>
            </a:r>
            <a:r>
              <a:rPr sz="1800" b="1" spc="-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595959"/>
                </a:solidFill>
                <a:latin typeface="Arial"/>
                <a:cs typeface="Arial"/>
              </a:rPr>
              <a:t>transistors</a:t>
            </a:r>
            <a:r>
              <a:rPr sz="1800" b="1" spc="-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b="1" spc="-5" dirty="0">
                <a:solidFill>
                  <a:srgbClr val="595959"/>
                </a:solidFill>
                <a:latin typeface="Arial"/>
                <a:cs typeface="Arial"/>
              </a:rPr>
              <a:t>attempting</a:t>
            </a:r>
            <a:r>
              <a:rPr sz="1800" b="1" spc="-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595959"/>
                </a:solidFill>
                <a:latin typeface="Arial"/>
                <a:cs typeface="Arial"/>
              </a:rPr>
              <a:t>to</a:t>
            </a:r>
            <a:r>
              <a:rPr sz="1800" b="1" spc="-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b="1" spc="-5" dirty="0">
                <a:solidFill>
                  <a:srgbClr val="595959"/>
                </a:solidFill>
                <a:latin typeface="Arial"/>
                <a:cs typeface="Arial"/>
              </a:rPr>
              <a:t>pass</a:t>
            </a:r>
            <a:r>
              <a:rPr sz="1800" b="1" spc="-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595959"/>
                </a:solidFill>
                <a:latin typeface="Arial"/>
                <a:cs typeface="Arial"/>
              </a:rPr>
              <a:t>a</a:t>
            </a:r>
            <a:r>
              <a:rPr sz="1800" b="1" spc="-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b="1" spc="-5" dirty="0">
                <a:solidFill>
                  <a:srgbClr val="595959"/>
                </a:solidFill>
                <a:latin typeface="Arial"/>
                <a:cs typeface="Arial"/>
              </a:rPr>
              <a:t>‘0’</a:t>
            </a:r>
            <a:r>
              <a:rPr sz="1800" b="1" spc="-1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b="1" spc="-5" dirty="0">
                <a:solidFill>
                  <a:srgbClr val="595959"/>
                </a:solidFill>
                <a:latin typeface="Arial"/>
                <a:cs typeface="Arial"/>
              </a:rPr>
              <a:t>never</a:t>
            </a:r>
            <a:r>
              <a:rPr sz="1800" b="1" spc="-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b="1" spc="-5" dirty="0">
                <a:solidFill>
                  <a:srgbClr val="595959"/>
                </a:solidFill>
                <a:latin typeface="Arial"/>
                <a:cs typeface="Arial"/>
              </a:rPr>
              <a:t>pass</a:t>
            </a:r>
            <a:r>
              <a:rPr sz="1800" b="1" spc="-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b="1" spc="-5" dirty="0">
                <a:solidFill>
                  <a:srgbClr val="595959"/>
                </a:solidFill>
                <a:latin typeface="Arial"/>
                <a:cs typeface="Arial"/>
              </a:rPr>
              <a:t>lower</a:t>
            </a:r>
            <a:r>
              <a:rPr sz="1800" b="1" spc="-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595959"/>
                </a:solidFill>
                <a:latin typeface="Arial"/>
                <a:cs typeface="Arial"/>
              </a:rPr>
              <a:t>than</a:t>
            </a:r>
            <a:r>
              <a:rPr sz="1800" b="1" spc="-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b="1" spc="15" dirty="0">
                <a:solidFill>
                  <a:srgbClr val="595959"/>
                </a:solidFill>
                <a:latin typeface="Arial"/>
                <a:cs typeface="Arial"/>
              </a:rPr>
              <a:t>|V</a:t>
            </a:r>
            <a:r>
              <a:rPr sz="1800" b="1" spc="22" baseline="-32407" dirty="0">
                <a:solidFill>
                  <a:srgbClr val="595959"/>
                </a:solidFill>
                <a:latin typeface="Arial"/>
                <a:cs typeface="Arial"/>
              </a:rPr>
              <a:t>tp</a:t>
            </a:r>
            <a:r>
              <a:rPr sz="1800" b="1" spc="15" dirty="0">
                <a:solidFill>
                  <a:srgbClr val="595959"/>
                </a:solidFill>
                <a:latin typeface="Arial"/>
                <a:cs typeface="Arial"/>
              </a:rPr>
              <a:t>|</a:t>
            </a:r>
            <a:endParaRPr sz="1800">
              <a:latin typeface="Arial"/>
              <a:cs typeface="Arial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752300" y="1415177"/>
            <a:ext cx="1623281" cy="799053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05248"/>
            <a:ext cx="5978525" cy="40957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500" spc="10" dirty="0"/>
              <a:t>nMOS</a:t>
            </a:r>
            <a:r>
              <a:rPr sz="2500" dirty="0"/>
              <a:t> </a:t>
            </a:r>
            <a:r>
              <a:rPr sz="2500" spc="5" dirty="0"/>
              <a:t>Pass</a:t>
            </a:r>
            <a:r>
              <a:rPr sz="2500" spc="-45" dirty="0"/>
              <a:t> </a:t>
            </a:r>
            <a:r>
              <a:rPr sz="2500" spc="-5" dirty="0"/>
              <a:t>Transistor</a:t>
            </a:r>
            <a:r>
              <a:rPr sz="2500" dirty="0"/>
              <a:t> </a:t>
            </a:r>
            <a:r>
              <a:rPr sz="2500" spc="10" dirty="0"/>
              <a:t>DC</a:t>
            </a:r>
            <a:r>
              <a:rPr sz="2500" spc="5" dirty="0"/>
              <a:t> </a:t>
            </a:r>
            <a:r>
              <a:rPr sz="2500" dirty="0"/>
              <a:t>Characteristics</a:t>
            </a:r>
            <a:endParaRPr sz="2500"/>
          </a:p>
        </p:txBody>
      </p:sp>
      <p:sp>
        <p:nvSpPr>
          <p:cNvPr id="3" name="object 3"/>
          <p:cNvSpPr txBox="1"/>
          <p:nvPr/>
        </p:nvSpPr>
        <p:spPr>
          <a:xfrm>
            <a:off x="359325" y="1216355"/>
            <a:ext cx="42773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Series</a:t>
            </a:r>
            <a:r>
              <a:rPr sz="1800" spc="-2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nMOS</a:t>
            </a:r>
            <a:r>
              <a:rPr sz="1800" spc="-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transistors</a:t>
            </a:r>
            <a:r>
              <a:rPr sz="1800" spc="-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passing</a:t>
            </a:r>
            <a:r>
              <a:rPr sz="1800" spc="-2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‘1’</a:t>
            </a:r>
            <a:r>
              <a:rPr sz="1800" spc="-8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10" dirty="0">
                <a:solidFill>
                  <a:srgbClr val="595959"/>
                </a:solidFill>
                <a:latin typeface="Arial MT"/>
                <a:cs typeface="Arial MT"/>
              </a:rPr>
              <a:t>(V</a:t>
            </a:r>
            <a:r>
              <a:rPr sz="1800" spc="15" baseline="-32407" dirty="0">
                <a:solidFill>
                  <a:srgbClr val="595959"/>
                </a:solidFill>
                <a:latin typeface="Arial MT"/>
                <a:cs typeface="Arial MT"/>
              </a:rPr>
              <a:t>DD</a:t>
            </a:r>
            <a:r>
              <a:rPr sz="1800" spc="10" dirty="0">
                <a:solidFill>
                  <a:srgbClr val="595959"/>
                </a:solidFill>
                <a:latin typeface="Arial MT"/>
                <a:cs typeface="Arial MT"/>
              </a:rPr>
              <a:t>)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16525" y="2085417"/>
            <a:ext cx="22739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700" spc="-7" baseline="20061" dirty="0">
                <a:solidFill>
                  <a:srgbClr val="595959"/>
                </a:solidFill>
                <a:latin typeface="Arial MT"/>
                <a:cs typeface="Arial MT"/>
              </a:rPr>
              <a:t>V</a:t>
            </a:r>
            <a:r>
              <a:rPr sz="1200" spc="-5" dirty="0">
                <a:solidFill>
                  <a:srgbClr val="595959"/>
                </a:solidFill>
                <a:latin typeface="Arial MT"/>
                <a:cs typeface="Arial MT"/>
              </a:rPr>
              <a:t>g(T1)</a:t>
            </a:r>
            <a:r>
              <a:rPr sz="1200" spc="64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2700" baseline="20061" dirty="0">
                <a:solidFill>
                  <a:srgbClr val="595959"/>
                </a:solidFill>
                <a:latin typeface="Arial MT"/>
                <a:cs typeface="Arial MT"/>
              </a:rPr>
              <a:t>=</a:t>
            </a:r>
            <a:r>
              <a:rPr sz="2700" spc="-22" baseline="20061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2700" spc="-7" baseline="20061" dirty="0">
                <a:solidFill>
                  <a:srgbClr val="595959"/>
                </a:solidFill>
                <a:latin typeface="Arial MT"/>
                <a:cs typeface="Arial MT"/>
              </a:rPr>
              <a:t>V</a:t>
            </a:r>
            <a:r>
              <a:rPr sz="1200" spc="-5" dirty="0">
                <a:solidFill>
                  <a:srgbClr val="595959"/>
                </a:solidFill>
                <a:latin typeface="Arial MT"/>
                <a:cs typeface="Arial MT"/>
              </a:rPr>
              <a:t>g(T2)</a:t>
            </a:r>
            <a:r>
              <a:rPr sz="1200" spc="64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2700" baseline="20061" dirty="0">
                <a:solidFill>
                  <a:srgbClr val="595959"/>
                </a:solidFill>
                <a:latin typeface="Arial MT"/>
                <a:cs typeface="Arial MT"/>
              </a:rPr>
              <a:t>=</a:t>
            </a:r>
            <a:r>
              <a:rPr sz="2700" spc="-22" baseline="20061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2700" spc="-7" baseline="20061" dirty="0">
                <a:solidFill>
                  <a:srgbClr val="595959"/>
                </a:solidFill>
                <a:latin typeface="Arial MT"/>
                <a:cs typeface="Arial MT"/>
              </a:rPr>
              <a:t>V</a:t>
            </a:r>
            <a:r>
              <a:rPr sz="1200" spc="-5" dirty="0">
                <a:solidFill>
                  <a:srgbClr val="595959"/>
                </a:solidFill>
                <a:latin typeface="Arial MT"/>
                <a:cs typeface="Arial MT"/>
              </a:rPr>
              <a:t>g(T3)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140988" y="1999692"/>
            <a:ext cx="6464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=</a:t>
            </a:r>
            <a:r>
              <a:rPr sz="1800" spc="-6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V</a:t>
            </a:r>
            <a:r>
              <a:rPr sz="1800" spc="-7" baseline="-32407" dirty="0">
                <a:solidFill>
                  <a:srgbClr val="595959"/>
                </a:solidFill>
                <a:latin typeface="Arial MT"/>
                <a:cs typeface="Arial MT"/>
              </a:rPr>
              <a:t>DD</a:t>
            </a:r>
            <a:endParaRPr sz="1800" baseline="-32407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49849" y="1643076"/>
            <a:ext cx="4932680" cy="972185"/>
          </a:xfrm>
          <a:prstGeom prst="rect">
            <a:avLst/>
          </a:prstGeom>
        </p:spPr>
        <p:txBody>
          <a:bodyPr vert="horz" wrap="square" lIns="0" tIns="53340" rIns="0" bIns="0" rtlCol="0">
            <a:spAutoFit/>
          </a:bodyPr>
          <a:lstStyle/>
          <a:p>
            <a:pPr marL="404495" indent="-367030">
              <a:lnSpc>
                <a:spcPct val="100000"/>
              </a:lnSpc>
              <a:spcBef>
                <a:spcPts val="420"/>
              </a:spcBef>
              <a:buChar char="●"/>
              <a:tabLst>
                <a:tab pos="404495" algn="l"/>
                <a:tab pos="405130" algn="l"/>
              </a:tabLst>
            </a:pP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If</a:t>
            </a:r>
            <a:r>
              <a:rPr sz="1800" spc="-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all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of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the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transistors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have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gates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tied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to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25" dirty="0">
                <a:solidFill>
                  <a:srgbClr val="595959"/>
                </a:solidFill>
                <a:latin typeface="Arial MT"/>
                <a:cs typeface="Arial MT"/>
              </a:rPr>
              <a:t>V</a:t>
            </a:r>
            <a:r>
              <a:rPr sz="1800" spc="37" baseline="-32407" dirty="0">
                <a:solidFill>
                  <a:srgbClr val="595959"/>
                </a:solidFill>
                <a:latin typeface="Arial MT"/>
                <a:cs typeface="Arial MT"/>
              </a:rPr>
              <a:t>DD</a:t>
            </a:r>
            <a:endParaRPr sz="1800" baseline="-32407">
              <a:latin typeface="Arial MT"/>
              <a:cs typeface="Arial MT"/>
            </a:endParaRPr>
          </a:p>
          <a:p>
            <a:pPr marL="38100">
              <a:lnSpc>
                <a:spcPct val="100000"/>
              </a:lnSpc>
              <a:spcBef>
                <a:spcPts val="325"/>
              </a:spcBef>
            </a:pPr>
            <a:r>
              <a:rPr sz="1800" spc="-715" dirty="0">
                <a:solidFill>
                  <a:srgbClr val="595959"/>
                </a:solidFill>
                <a:latin typeface="Arial MT"/>
                <a:cs typeface="Arial MT"/>
              </a:rPr>
              <a:t>●</a:t>
            </a:r>
            <a:endParaRPr sz="1800">
              <a:latin typeface="Arial MT"/>
              <a:cs typeface="Arial MT"/>
            </a:endParaRPr>
          </a:p>
          <a:p>
            <a:pPr marL="38100">
              <a:lnSpc>
                <a:spcPct val="100000"/>
              </a:lnSpc>
              <a:spcBef>
                <a:spcPts val="325"/>
              </a:spcBef>
            </a:pPr>
            <a:r>
              <a:rPr sz="1800" spc="-715" dirty="0">
                <a:solidFill>
                  <a:srgbClr val="595959"/>
                </a:solidFill>
                <a:latin typeface="Arial MT"/>
                <a:cs typeface="Arial MT"/>
              </a:rPr>
              <a:t>●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16525" y="2400885"/>
            <a:ext cx="24174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700" spc="-7" baseline="20061" dirty="0">
                <a:solidFill>
                  <a:srgbClr val="595959"/>
                </a:solidFill>
                <a:latin typeface="Arial MT"/>
                <a:cs typeface="Arial MT"/>
              </a:rPr>
              <a:t>V</a:t>
            </a:r>
            <a:r>
              <a:rPr sz="1200" spc="-5" dirty="0">
                <a:solidFill>
                  <a:srgbClr val="595959"/>
                </a:solidFill>
                <a:latin typeface="Arial MT"/>
                <a:cs typeface="Arial MT"/>
              </a:rPr>
              <a:t>in(T1)</a:t>
            </a:r>
            <a:r>
              <a:rPr sz="1200" spc="15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2700" baseline="20061" dirty="0">
                <a:solidFill>
                  <a:srgbClr val="595959"/>
                </a:solidFill>
                <a:latin typeface="Arial MT"/>
                <a:cs typeface="Arial MT"/>
              </a:rPr>
              <a:t>=</a:t>
            </a:r>
            <a:r>
              <a:rPr sz="2700" spc="-30" baseline="20061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2700" baseline="20061" dirty="0">
                <a:solidFill>
                  <a:srgbClr val="595959"/>
                </a:solidFill>
                <a:latin typeface="Arial MT"/>
                <a:cs typeface="Arial MT"/>
              </a:rPr>
              <a:t>V</a:t>
            </a:r>
            <a:r>
              <a:rPr sz="1200" dirty="0">
                <a:solidFill>
                  <a:srgbClr val="595959"/>
                </a:solidFill>
                <a:latin typeface="Arial MT"/>
                <a:cs typeface="Arial MT"/>
              </a:rPr>
              <a:t>DD</a:t>
            </a:r>
            <a:r>
              <a:rPr sz="2700" baseline="20061" dirty="0">
                <a:solidFill>
                  <a:srgbClr val="595959"/>
                </a:solidFill>
                <a:latin typeface="Arial MT"/>
                <a:cs typeface="Arial MT"/>
              </a:rPr>
              <a:t>;</a:t>
            </a:r>
            <a:r>
              <a:rPr sz="2700" spc="-30" baseline="20061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2700" spc="-7" baseline="20061" dirty="0">
                <a:solidFill>
                  <a:srgbClr val="595959"/>
                </a:solidFill>
                <a:latin typeface="Arial MT"/>
                <a:cs typeface="Arial MT"/>
              </a:rPr>
              <a:t>V</a:t>
            </a:r>
            <a:r>
              <a:rPr sz="1200" spc="-5" dirty="0">
                <a:solidFill>
                  <a:srgbClr val="595959"/>
                </a:solidFill>
                <a:latin typeface="Arial MT"/>
                <a:cs typeface="Arial MT"/>
              </a:rPr>
              <a:t>out(T3)</a:t>
            </a:r>
            <a:r>
              <a:rPr sz="1200" spc="15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2700" baseline="20061" dirty="0">
                <a:solidFill>
                  <a:srgbClr val="595959"/>
                </a:solidFill>
                <a:latin typeface="Arial MT"/>
                <a:cs typeface="Arial MT"/>
              </a:rPr>
              <a:t>=</a:t>
            </a:r>
            <a:r>
              <a:rPr sz="2700" spc="-22" baseline="20061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2700" baseline="20061" dirty="0">
                <a:solidFill>
                  <a:srgbClr val="595959"/>
                </a:solidFill>
                <a:latin typeface="Arial MT"/>
                <a:cs typeface="Arial MT"/>
              </a:rPr>
              <a:t>?</a:t>
            </a:r>
            <a:endParaRPr sz="2700" baseline="20061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97276" y="3209748"/>
            <a:ext cx="6635750" cy="972185"/>
          </a:xfrm>
          <a:prstGeom prst="rect">
            <a:avLst/>
          </a:prstGeom>
        </p:spPr>
        <p:txBody>
          <a:bodyPr vert="horz" wrap="square" lIns="0" tIns="53340" rIns="0" bIns="0" rtlCol="0">
            <a:spAutoFit/>
          </a:bodyPr>
          <a:lstStyle/>
          <a:p>
            <a:pPr marL="457200" indent="-419734">
              <a:lnSpc>
                <a:spcPct val="100000"/>
              </a:lnSpc>
              <a:spcBef>
                <a:spcPts val="420"/>
              </a:spcBef>
              <a:buAutoNum type="arabicPeriod"/>
              <a:tabLst>
                <a:tab pos="457200" algn="l"/>
                <a:tab pos="457834" algn="l"/>
              </a:tabLst>
            </a:pPr>
            <a:r>
              <a:rPr sz="1800" u="heavy" spc="-5" dirty="0">
                <a:solidFill>
                  <a:srgbClr val="595959"/>
                </a:solidFill>
                <a:uFill>
                  <a:solidFill>
                    <a:srgbClr val="595959"/>
                  </a:solidFill>
                </a:uFill>
                <a:latin typeface="Arial MT"/>
                <a:cs typeface="Arial MT"/>
              </a:rPr>
              <a:t>Output</a:t>
            </a:r>
            <a:r>
              <a:rPr sz="1800" u="heavy" spc="-10" dirty="0">
                <a:solidFill>
                  <a:srgbClr val="595959"/>
                </a:solidFill>
                <a:uFill>
                  <a:solidFill>
                    <a:srgbClr val="595959"/>
                  </a:solidFill>
                </a:uFill>
                <a:latin typeface="Arial MT"/>
                <a:cs typeface="Arial MT"/>
              </a:rPr>
              <a:t> </a:t>
            </a:r>
            <a:r>
              <a:rPr sz="1800" u="heavy" spc="-5" dirty="0">
                <a:solidFill>
                  <a:srgbClr val="595959"/>
                </a:solidFill>
                <a:uFill>
                  <a:solidFill>
                    <a:srgbClr val="595959"/>
                  </a:solidFill>
                </a:uFill>
                <a:latin typeface="Arial MT"/>
                <a:cs typeface="Arial MT"/>
              </a:rPr>
              <a:t>of</a:t>
            </a:r>
            <a:r>
              <a:rPr sz="1800" u="heavy" spc="-35" dirty="0">
                <a:solidFill>
                  <a:srgbClr val="595959"/>
                </a:solidFill>
                <a:uFill>
                  <a:solidFill>
                    <a:srgbClr val="595959"/>
                  </a:solidFill>
                </a:uFill>
                <a:latin typeface="Arial MT"/>
                <a:cs typeface="Arial MT"/>
              </a:rPr>
              <a:t> </a:t>
            </a:r>
            <a:r>
              <a:rPr sz="1800" u="heavy" spc="-10" dirty="0">
                <a:solidFill>
                  <a:srgbClr val="595959"/>
                </a:solidFill>
                <a:uFill>
                  <a:solidFill>
                    <a:srgbClr val="595959"/>
                  </a:solidFill>
                </a:uFill>
                <a:latin typeface="Arial MT"/>
                <a:cs typeface="Arial MT"/>
              </a:rPr>
              <a:t>Transistor</a:t>
            </a:r>
            <a:r>
              <a:rPr sz="1800" u="heavy" spc="-35" dirty="0">
                <a:solidFill>
                  <a:srgbClr val="595959"/>
                </a:solidFill>
                <a:uFill>
                  <a:solidFill>
                    <a:srgbClr val="595959"/>
                  </a:solidFill>
                </a:uFill>
                <a:latin typeface="Arial MT"/>
                <a:cs typeface="Arial MT"/>
              </a:rPr>
              <a:t> </a:t>
            </a:r>
            <a:r>
              <a:rPr sz="1800" u="heavy" spc="5" dirty="0">
                <a:solidFill>
                  <a:srgbClr val="595959"/>
                </a:solidFill>
                <a:uFill>
                  <a:solidFill>
                    <a:srgbClr val="595959"/>
                  </a:solidFill>
                </a:uFill>
                <a:latin typeface="Arial MT"/>
                <a:cs typeface="Arial MT"/>
              </a:rPr>
              <a:t>T1</a:t>
            </a:r>
            <a:r>
              <a:rPr sz="1800" spc="5" dirty="0">
                <a:solidFill>
                  <a:srgbClr val="595959"/>
                </a:solidFill>
                <a:latin typeface="Arial MT"/>
                <a:cs typeface="Arial MT"/>
              </a:rPr>
              <a:t>: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 V</a:t>
            </a:r>
            <a:r>
              <a:rPr sz="1800" spc="-7" baseline="-32407" dirty="0">
                <a:solidFill>
                  <a:srgbClr val="595959"/>
                </a:solidFill>
                <a:latin typeface="Arial MT"/>
                <a:cs typeface="Arial MT"/>
              </a:rPr>
              <a:t>out(max),</a:t>
            </a:r>
            <a:r>
              <a:rPr sz="1800" spc="-37" baseline="-32407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7" baseline="-32407" dirty="0">
                <a:solidFill>
                  <a:srgbClr val="595959"/>
                </a:solidFill>
                <a:latin typeface="Arial MT"/>
                <a:cs typeface="Arial MT"/>
              </a:rPr>
              <a:t>T1</a:t>
            </a:r>
            <a:r>
              <a:rPr sz="1800" spc="232" baseline="-32407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=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V</a:t>
            </a:r>
            <a:r>
              <a:rPr sz="1800" spc="-7" baseline="-32407" dirty="0">
                <a:solidFill>
                  <a:srgbClr val="595959"/>
                </a:solidFill>
                <a:latin typeface="Arial MT"/>
                <a:cs typeface="Arial MT"/>
              </a:rPr>
              <a:t>g(T1)</a:t>
            </a:r>
            <a:r>
              <a:rPr sz="1800" spc="247" baseline="-32407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-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 V</a:t>
            </a:r>
            <a:r>
              <a:rPr sz="1800" spc="-7" baseline="-32407" dirty="0">
                <a:solidFill>
                  <a:srgbClr val="595959"/>
                </a:solidFill>
                <a:latin typeface="Arial MT"/>
                <a:cs typeface="Arial MT"/>
              </a:rPr>
              <a:t>tn(T1)</a:t>
            </a:r>
            <a:r>
              <a:rPr sz="1800" spc="254" baseline="-32407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=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V</a:t>
            </a:r>
            <a:r>
              <a:rPr sz="1800" baseline="-32407" dirty="0">
                <a:solidFill>
                  <a:srgbClr val="595959"/>
                </a:solidFill>
                <a:latin typeface="Arial MT"/>
                <a:cs typeface="Arial MT"/>
              </a:rPr>
              <a:t>DD</a:t>
            </a:r>
            <a:r>
              <a:rPr sz="1800" spc="240" baseline="-32407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-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 V</a:t>
            </a:r>
            <a:r>
              <a:rPr sz="1800" spc="-7" baseline="-32407" dirty="0">
                <a:solidFill>
                  <a:srgbClr val="595959"/>
                </a:solidFill>
                <a:latin typeface="Arial MT"/>
                <a:cs typeface="Arial MT"/>
              </a:rPr>
              <a:t>tn</a:t>
            </a:r>
            <a:endParaRPr sz="1800" baseline="-32407">
              <a:latin typeface="Arial MT"/>
              <a:cs typeface="Arial MT"/>
            </a:endParaRPr>
          </a:p>
          <a:p>
            <a:pPr marL="457200" indent="-419734">
              <a:lnSpc>
                <a:spcPct val="100000"/>
              </a:lnSpc>
              <a:spcBef>
                <a:spcPts val="325"/>
              </a:spcBef>
              <a:buAutoNum type="arabicPeriod"/>
              <a:tabLst>
                <a:tab pos="457200" algn="l"/>
                <a:tab pos="457834" algn="l"/>
              </a:tabLst>
            </a:pPr>
            <a:r>
              <a:rPr sz="1800" u="heavy" spc="-5" dirty="0">
                <a:solidFill>
                  <a:srgbClr val="595959"/>
                </a:solidFill>
                <a:uFill>
                  <a:solidFill>
                    <a:srgbClr val="595959"/>
                  </a:solidFill>
                </a:uFill>
                <a:latin typeface="Arial MT"/>
                <a:cs typeface="Arial MT"/>
              </a:rPr>
              <a:t>Output</a:t>
            </a:r>
            <a:r>
              <a:rPr sz="1800" u="heavy" spc="-10" dirty="0">
                <a:solidFill>
                  <a:srgbClr val="595959"/>
                </a:solidFill>
                <a:uFill>
                  <a:solidFill>
                    <a:srgbClr val="595959"/>
                  </a:solidFill>
                </a:uFill>
                <a:latin typeface="Arial MT"/>
                <a:cs typeface="Arial MT"/>
              </a:rPr>
              <a:t> </a:t>
            </a:r>
            <a:r>
              <a:rPr sz="1800" u="heavy" spc="-5" dirty="0">
                <a:solidFill>
                  <a:srgbClr val="595959"/>
                </a:solidFill>
                <a:uFill>
                  <a:solidFill>
                    <a:srgbClr val="595959"/>
                  </a:solidFill>
                </a:uFill>
                <a:latin typeface="Arial MT"/>
                <a:cs typeface="Arial MT"/>
              </a:rPr>
              <a:t>of</a:t>
            </a:r>
            <a:r>
              <a:rPr sz="1800" u="heavy" spc="-35" dirty="0">
                <a:solidFill>
                  <a:srgbClr val="595959"/>
                </a:solidFill>
                <a:uFill>
                  <a:solidFill>
                    <a:srgbClr val="595959"/>
                  </a:solidFill>
                </a:uFill>
                <a:latin typeface="Arial MT"/>
                <a:cs typeface="Arial MT"/>
              </a:rPr>
              <a:t> </a:t>
            </a:r>
            <a:r>
              <a:rPr sz="1800" u="heavy" spc="-10" dirty="0">
                <a:solidFill>
                  <a:srgbClr val="595959"/>
                </a:solidFill>
                <a:uFill>
                  <a:solidFill>
                    <a:srgbClr val="595959"/>
                  </a:solidFill>
                </a:uFill>
                <a:latin typeface="Arial MT"/>
                <a:cs typeface="Arial MT"/>
              </a:rPr>
              <a:t>Transistor</a:t>
            </a:r>
            <a:r>
              <a:rPr sz="1800" u="heavy" spc="-35" dirty="0">
                <a:solidFill>
                  <a:srgbClr val="595959"/>
                </a:solidFill>
                <a:uFill>
                  <a:solidFill>
                    <a:srgbClr val="595959"/>
                  </a:solidFill>
                </a:uFill>
                <a:latin typeface="Arial MT"/>
                <a:cs typeface="Arial MT"/>
              </a:rPr>
              <a:t> </a:t>
            </a:r>
            <a:r>
              <a:rPr sz="1800" u="heavy" spc="5" dirty="0">
                <a:solidFill>
                  <a:srgbClr val="595959"/>
                </a:solidFill>
                <a:uFill>
                  <a:solidFill>
                    <a:srgbClr val="595959"/>
                  </a:solidFill>
                </a:uFill>
                <a:latin typeface="Arial MT"/>
                <a:cs typeface="Arial MT"/>
              </a:rPr>
              <a:t>T2</a:t>
            </a:r>
            <a:r>
              <a:rPr sz="1800" spc="5" dirty="0">
                <a:solidFill>
                  <a:srgbClr val="595959"/>
                </a:solidFill>
                <a:latin typeface="Arial MT"/>
                <a:cs typeface="Arial MT"/>
              </a:rPr>
              <a:t>: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 V</a:t>
            </a:r>
            <a:r>
              <a:rPr sz="1800" spc="-7" baseline="-32407" dirty="0">
                <a:solidFill>
                  <a:srgbClr val="595959"/>
                </a:solidFill>
                <a:latin typeface="Arial MT"/>
                <a:cs typeface="Arial MT"/>
              </a:rPr>
              <a:t>out(max),</a:t>
            </a:r>
            <a:r>
              <a:rPr sz="1800" spc="-37" baseline="-32407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7" baseline="-32407" dirty="0">
                <a:solidFill>
                  <a:srgbClr val="595959"/>
                </a:solidFill>
                <a:latin typeface="Arial MT"/>
                <a:cs typeface="Arial MT"/>
              </a:rPr>
              <a:t>T2</a:t>
            </a:r>
            <a:r>
              <a:rPr sz="1800" spc="232" baseline="-32407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=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V</a:t>
            </a:r>
            <a:r>
              <a:rPr sz="1800" spc="-7" baseline="-32407" dirty="0">
                <a:solidFill>
                  <a:srgbClr val="595959"/>
                </a:solidFill>
                <a:latin typeface="Arial MT"/>
                <a:cs typeface="Arial MT"/>
              </a:rPr>
              <a:t>g(T2)</a:t>
            </a:r>
            <a:r>
              <a:rPr sz="1800" spc="247" baseline="-32407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-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 V</a:t>
            </a:r>
            <a:r>
              <a:rPr sz="1800" spc="-7" baseline="-32407" dirty="0">
                <a:solidFill>
                  <a:srgbClr val="595959"/>
                </a:solidFill>
                <a:latin typeface="Arial MT"/>
                <a:cs typeface="Arial MT"/>
              </a:rPr>
              <a:t>tn(T2)</a:t>
            </a:r>
            <a:r>
              <a:rPr sz="1800" spc="254" baseline="-32407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=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V</a:t>
            </a:r>
            <a:r>
              <a:rPr sz="1800" baseline="-32407" dirty="0">
                <a:solidFill>
                  <a:srgbClr val="595959"/>
                </a:solidFill>
                <a:latin typeface="Arial MT"/>
                <a:cs typeface="Arial MT"/>
              </a:rPr>
              <a:t>DD</a:t>
            </a:r>
            <a:r>
              <a:rPr sz="1800" spc="240" baseline="-32407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-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 V</a:t>
            </a:r>
            <a:r>
              <a:rPr sz="1800" spc="-7" baseline="-32407" dirty="0">
                <a:solidFill>
                  <a:srgbClr val="595959"/>
                </a:solidFill>
                <a:latin typeface="Arial MT"/>
                <a:cs typeface="Arial MT"/>
              </a:rPr>
              <a:t>tn</a:t>
            </a:r>
            <a:endParaRPr sz="1800" baseline="-32407">
              <a:latin typeface="Arial MT"/>
              <a:cs typeface="Arial MT"/>
            </a:endParaRPr>
          </a:p>
          <a:p>
            <a:pPr marL="457200" indent="-419734">
              <a:lnSpc>
                <a:spcPct val="100000"/>
              </a:lnSpc>
              <a:spcBef>
                <a:spcPts val="325"/>
              </a:spcBef>
              <a:buAutoNum type="arabicPeriod"/>
              <a:tabLst>
                <a:tab pos="457200" algn="l"/>
                <a:tab pos="457834" algn="l"/>
              </a:tabLst>
            </a:pPr>
            <a:r>
              <a:rPr sz="1800" u="heavy" spc="-5" dirty="0">
                <a:solidFill>
                  <a:srgbClr val="595959"/>
                </a:solidFill>
                <a:uFill>
                  <a:solidFill>
                    <a:srgbClr val="595959"/>
                  </a:solidFill>
                </a:uFill>
                <a:latin typeface="Arial MT"/>
                <a:cs typeface="Arial MT"/>
              </a:rPr>
              <a:t>Output</a:t>
            </a:r>
            <a:r>
              <a:rPr sz="1800" u="heavy" spc="-10" dirty="0">
                <a:solidFill>
                  <a:srgbClr val="595959"/>
                </a:solidFill>
                <a:uFill>
                  <a:solidFill>
                    <a:srgbClr val="595959"/>
                  </a:solidFill>
                </a:uFill>
                <a:latin typeface="Arial MT"/>
                <a:cs typeface="Arial MT"/>
              </a:rPr>
              <a:t> </a:t>
            </a:r>
            <a:r>
              <a:rPr sz="1800" u="heavy" spc="-5" dirty="0">
                <a:solidFill>
                  <a:srgbClr val="595959"/>
                </a:solidFill>
                <a:uFill>
                  <a:solidFill>
                    <a:srgbClr val="595959"/>
                  </a:solidFill>
                </a:uFill>
                <a:latin typeface="Arial MT"/>
                <a:cs typeface="Arial MT"/>
              </a:rPr>
              <a:t>of</a:t>
            </a:r>
            <a:r>
              <a:rPr sz="1800" u="heavy" spc="-35" dirty="0">
                <a:solidFill>
                  <a:srgbClr val="595959"/>
                </a:solidFill>
                <a:uFill>
                  <a:solidFill>
                    <a:srgbClr val="595959"/>
                  </a:solidFill>
                </a:uFill>
                <a:latin typeface="Arial MT"/>
                <a:cs typeface="Arial MT"/>
              </a:rPr>
              <a:t> </a:t>
            </a:r>
            <a:r>
              <a:rPr sz="1800" u="heavy" spc="-10" dirty="0">
                <a:solidFill>
                  <a:srgbClr val="595959"/>
                </a:solidFill>
                <a:uFill>
                  <a:solidFill>
                    <a:srgbClr val="595959"/>
                  </a:solidFill>
                </a:uFill>
                <a:latin typeface="Arial MT"/>
                <a:cs typeface="Arial MT"/>
              </a:rPr>
              <a:t>Transistor</a:t>
            </a:r>
            <a:r>
              <a:rPr sz="1800" u="heavy" spc="-35" dirty="0">
                <a:solidFill>
                  <a:srgbClr val="595959"/>
                </a:solidFill>
                <a:uFill>
                  <a:solidFill>
                    <a:srgbClr val="595959"/>
                  </a:solidFill>
                </a:uFill>
                <a:latin typeface="Arial MT"/>
                <a:cs typeface="Arial MT"/>
              </a:rPr>
              <a:t> </a:t>
            </a:r>
            <a:r>
              <a:rPr sz="1800" u="heavy" spc="5" dirty="0">
                <a:solidFill>
                  <a:srgbClr val="595959"/>
                </a:solidFill>
                <a:uFill>
                  <a:solidFill>
                    <a:srgbClr val="595959"/>
                  </a:solidFill>
                </a:uFill>
                <a:latin typeface="Arial MT"/>
                <a:cs typeface="Arial MT"/>
              </a:rPr>
              <a:t>T3</a:t>
            </a:r>
            <a:r>
              <a:rPr sz="1800" spc="5" dirty="0">
                <a:solidFill>
                  <a:srgbClr val="595959"/>
                </a:solidFill>
                <a:latin typeface="Arial MT"/>
                <a:cs typeface="Arial MT"/>
              </a:rPr>
              <a:t>: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 V</a:t>
            </a:r>
            <a:r>
              <a:rPr sz="1800" spc="-7" baseline="-32407" dirty="0">
                <a:solidFill>
                  <a:srgbClr val="595959"/>
                </a:solidFill>
                <a:latin typeface="Arial MT"/>
                <a:cs typeface="Arial MT"/>
              </a:rPr>
              <a:t>out(max),</a:t>
            </a:r>
            <a:r>
              <a:rPr sz="1800" spc="-37" baseline="-32407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7" baseline="-32407" dirty="0">
                <a:solidFill>
                  <a:srgbClr val="595959"/>
                </a:solidFill>
                <a:latin typeface="Arial MT"/>
                <a:cs typeface="Arial MT"/>
              </a:rPr>
              <a:t>T3</a:t>
            </a:r>
            <a:r>
              <a:rPr sz="1800" spc="232" baseline="-32407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=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V</a:t>
            </a:r>
            <a:r>
              <a:rPr sz="1800" spc="-7" baseline="-32407" dirty="0">
                <a:solidFill>
                  <a:srgbClr val="595959"/>
                </a:solidFill>
                <a:latin typeface="Arial MT"/>
                <a:cs typeface="Arial MT"/>
              </a:rPr>
              <a:t>g(T3)</a:t>
            </a:r>
            <a:r>
              <a:rPr sz="1800" spc="247" baseline="-32407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-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 V</a:t>
            </a:r>
            <a:r>
              <a:rPr sz="1800" spc="-7" baseline="-32407" dirty="0">
                <a:solidFill>
                  <a:srgbClr val="595959"/>
                </a:solidFill>
                <a:latin typeface="Arial MT"/>
                <a:cs typeface="Arial MT"/>
              </a:rPr>
              <a:t>tn(T3)</a:t>
            </a:r>
            <a:r>
              <a:rPr sz="1800" spc="254" baseline="-32407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=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V</a:t>
            </a:r>
            <a:r>
              <a:rPr sz="1800" baseline="-32407" dirty="0">
                <a:solidFill>
                  <a:srgbClr val="595959"/>
                </a:solidFill>
                <a:latin typeface="Arial MT"/>
                <a:cs typeface="Arial MT"/>
              </a:rPr>
              <a:t>DD</a:t>
            </a:r>
            <a:r>
              <a:rPr sz="1800" spc="240" baseline="-32407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-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 V</a:t>
            </a:r>
            <a:r>
              <a:rPr sz="1800" spc="-7" baseline="-32407" dirty="0">
                <a:solidFill>
                  <a:srgbClr val="595959"/>
                </a:solidFill>
                <a:latin typeface="Arial MT"/>
                <a:cs typeface="Arial MT"/>
              </a:rPr>
              <a:t>tn</a:t>
            </a:r>
            <a:endParaRPr sz="1800" baseline="-32407">
              <a:latin typeface="Arial MT"/>
              <a:cs typeface="Arial MT"/>
            </a:endParaRPr>
          </a:p>
        </p:txBody>
      </p:sp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312800" y="1152475"/>
            <a:ext cx="3495724" cy="1566098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5529875" y="1218388"/>
            <a:ext cx="90551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85165" algn="l"/>
              </a:tabLst>
            </a:pPr>
            <a:r>
              <a:rPr sz="1400" spc="-5" dirty="0">
                <a:latin typeface="Arial MT"/>
                <a:cs typeface="Arial MT"/>
              </a:rPr>
              <a:t>T</a:t>
            </a:r>
            <a:r>
              <a:rPr sz="1400" dirty="0">
                <a:latin typeface="Arial MT"/>
                <a:cs typeface="Arial MT"/>
              </a:rPr>
              <a:t>1	</a:t>
            </a:r>
            <a:r>
              <a:rPr sz="1400" spc="-5" dirty="0">
                <a:latin typeface="Arial MT"/>
                <a:cs typeface="Arial MT"/>
              </a:rPr>
              <a:t>T2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875275" y="1218388"/>
            <a:ext cx="23304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Arial MT"/>
                <a:cs typeface="Arial MT"/>
              </a:rPr>
              <a:t>T3</a:t>
            </a:r>
            <a:endParaRPr sz="1400">
              <a:latin typeface="Arial MT"/>
              <a:cs typeface="Arial MT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5751487" y="1547912"/>
            <a:ext cx="1562100" cy="410209"/>
            <a:chOff x="5751487" y="1547912"/>
            <a:chExt cx="1562100" cy="410209"/>
          </a:xfrm>
        </p:grpSpPr>
        <p:sp>
          <p:nvSpPr>
            <p:cNvPr id="13" name="object 13"/>
            <p:cNvSpPr/>
            <p:nvPr/>
          </p:nvSpPr>
          <p:spPr>
            <a:xfrm>
              <a:off x="5756249" y="1552674"/>
              <a:ext cx="168275" cy="361315"/>
            </a:xfrm>
            <a:custGeom>
              <a:avLst/>
              <a:gdLst/>
              <a:ahLst/>
              <a:cxnLst/>
              <a:rect l="l" t="t" r="r" b="b"/>
              <a:pathLst>
                <a:path w="168275" h="361314">
                  <a:moveTo>
                    <a:pt x="0" y="0"/>
                  </a:moveTo>
                  <a:lnTo>
                    <a:pt x="167883" y="360687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909870" y="1906723"/>
              <a:ext cx="33020" cy="46355"/>
            </a:xfrm>
            <a:custGeom>
              <a:avLst/>
              <a:gdLst/>
              <a:ahLst/>
              <a:cxnLst/>
              <a:rect l="l" t="t" r="r" b="b"/>
              <a:pathLst>
                <a:path w="33020" h="46355">
                  <a:moveTo>
                    <a:pt x="32503" y="45827"/>
                  </a:moveTo>
                  <a:lnTo>
                    <a:pt x="0" y="13277"/>
                  </a:lnTo>
                  <a:lnTo>
                    <a:pt x="28526" y="0"/>
                  </a:lnTo>
                  <a:lnTo>
                    <a:pt x="32503" y="45827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5909870" y="1906723"/>
              <a:ext cx="33020" cy="46355"/>
            </a:xfrm>
            <a:custGeom>
              <a:avLst/>
              <a:gdLst/>
              <a:ahLst/>
              <a:cxnLst/>
              <a:rect l="l" t="t" r="r" b="b"/>
              <a:pathLst>
                <a:path w="33020" h="46355">
                  <a:moveTo>
                    <a:pt x="0" y="13277"/>
                  </a:moveTo>
                  <a:lnTo>
                    <a:pt x="32503" y="45827"/>
                  </a:lnTo>
                  <a:lnTo>
                    <a:pt x="28526" y="0"/>
                  </a:lnTo>
                  <a:lnTo>
                    <a:pt x="0" y="13277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6428949" y="1552674"/>
              <a:ext cx="154305" cy="315595"/>
            </a:xfrm>
            <a:custGeom>
              <a:avLst/>
              <a:gdLst/>
              <a:ahLst/>
              <a:cxnLst/>
              <a:rect l="l" t="t" r="r" b="b"/>
              <a:pathLst>
                <a:path w="154304" h="315594">
                  <a:moveTo>
                    <a:pt x="0" y="0"/>
                  </a:moveTo>
                  <a:lnTo>
                    <a:pt x="154279" y="315266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6569098" y="1861026"/>
              <a:ext cx="33655" cy="46355"/>
            </a:xfrm>
            <a:custGeom>
              <a:avLst/>
              <a:gdLst/>
              <a:ahLst/>
              <a:cxnLst/>
              <a:rect l="l" t="t" r="r" b="b"/>
              <a:pathLst>
                <a:path w="33654" h="46355">
                  <a:moveTo>
                    <a:pt x="33131" y="45740"/>
                  </a:moveTo>
                  <a:lnTo>
                    <a:pt x="0" y="13830"/>
                  </a:lnTo>
                  <a:lnTo>
                    <a:pt x="28262" y="0"/>
                  </a:lnTo>
                  <a:lnTo>
                    <a:pt x="33131" y="45740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6569098" y="1861026"/>
              <a:ext cx="33655" cy="46355"/>
            </a:xfrm>
            <a:custGeom>
              <a:avLst/>
              <a:gdLst/>
              <a:ahLst/>
              <a:cxnLst/>
              <a:rect l="l" t="t" r="r" b="b"/>
              <a:pathLst>
                <a:path w="33654" h="46355">
                  <a:moveTo>
                    <a:pt x="0" y="13830"/>
                  </a:moveTo>
                  <a:lnTo>
                    <a:pt x="33131" y="45740"/>
                  </a:lnTo>
                  <a:lnTo>
                    <a:pt x="28262" y="0"/>
                  </a:lnTo>
                  <a:lnTo>
                    <a:pt x="0" y="1383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7101649" y="1552674"/>
              <a:ext cx="187325" cy="361950"/>
            </a:xfrm>
            <a:custGeom>
              <a:avLst/>
              <a:gdLst/>
              <a:ahLst/>
              <a:cxnLst/>
              <a:rect l="l" t="t" r="r" b="b"/>
              <a:pathLst>
                <a:path w="187325" h="361950">
                  <a:moveTo>
                    <a:pt x="0" y="0"/>
                  </a:moveTo>
                  <a:lnTo>
                    <a:pt x="186778" y="361720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7274449" y="1907176"/>
              <a:ext cx="34290" cy="45720"/>
            </a:xfrm>
            <a:custGeom>
              <a:avLst/>
              <a:gdLst/>
              <a:ahLst/>
              <a:cxnLst/>
              <a:rect l="l" t="t" r="r" b="b"/>
              <a:pathLst>
                <a:path w="34290" h="45719">
                  <a:moveTo>
                    <a:pt x="33810" y="45625"/>
                  </a:moveTo>
                  <a:lnTo>
                    <a:pt x="0" y="14436"/>
                  </a:lnTo>
                  <a:lnTo>
                    <a:pt x="27958" y="0"/>
                  </a:lnTo>
                  <a:lnTo>
                    <a:pt x="33810" y="45625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7274449" y="1907176"/>
              <a:ext cx="34290" cy="45720"/>
            </a:xfrm>
            <a:custGeom>
              <a:avLst/>
              <a:gdLst/>
              <a:ahLst/>
              <a:cxnLst/>
              <a:rect l="l" t="t" r="r" b="b"/>
              <a:pathLst>
                <a:path w="34290" h="45719">
                  <a:moveTo>
                    <a:pt x="0" y="14436"/>
                  </a:moveTo>
                  <a:lnTo>
                    <a:pt x="33810" y="45625"/>
                  </a:lnTo>
                  <a:lnTo>
                    <a:pt x="27958" y="0"/>
                  </a:lnTo>
                  <a:lnTo>
                    <a:pt x="0" y="14436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05248"/>
            <a:ext cx="5978525" cy="40957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500" spc="10" dirty="0"/>
              <a:t>nMOS</a:t>
            </a:r>
            <a:r>
              <a:rPr sz="2500" dirty="0"/>
              <a:t> </a:t>
            </a:r>
            <a:r>
              <a:rPr sz="2500" spc="5" dirty="0"/>
              <a:t>Pass</a:t>
            </a:r>
            <a:r>
              <a:rPr sz="2500" spc="-45" dirty="0"/>
              <a:t> </a:t>
            </a:r>
            <a:r>
              <a:rPr sz="2500" spc="-5" dirty="0"/>
              <a:t>Transistor</a:t>
            </a:r>
            <a:r>
              <a:rPr sz="2500" dirty="0"/>
              <a:t> </a:t>
            </a:r>
            <a:r>
              <a:rPr sz="2500" spc="10" dirty="0"/>
              <a:t>DC</a:t>
            </a:r>
            <a:r>
              <a:rPr sz="2500" spc="5" dirty="0"/>
              <a:t> </a:t>
            </a:r>
            <a:r>
              <a:rPr sz="2500" dirty="0"/>
              <a:t>Characteristics</a:t>
            </a:r>
            <a:endParaRPr sz="2500"/>
          </a:p>
        </p:txBody>
      </p:sp>
      <p:sp>
        <p:nvSpPr>
          <p:cNvPr id="3" name="object 3"/>
          <p:cNvSpPr txBox="1"/>
          <p:nvPr/>
        </p:nvSpPr>
        <p:spPr>
          <a:xfrm>
            <a:off x="384725" y="1216355"/>
            <a:ext cx="43903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nMOS</a:t>
            </a:r>
            <a:r>
              <a:rPr sz="1800" spc="-2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transistor</a:t>
            </a:r>
            <a:r>
              <a:rPr sz="1800" spc="-2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driven</a:t>
            </a:r>
            <a:r>
              <a:rPr sz="1800" spc="-2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by</a:t>
            </a:r>
            <a:r>
              <a:rPr sz="1800" spc="-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degraded</a:t>
            </a:r>
            <a:r>
              <a:rPr sz="1800" spc="-2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output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49849" y="1557351"/>
            <a:ext cx="3975735" cy="828040"/>
          </a:xfrm>
          <a:prstGeom prst="rect">
            <a:avLst/>
          </a:prstGeom>
        </p:spPr>
        <p:txBody>
          <a:bodyPr vert="horz" wrap="square" lIns="0" tIns="139065" rIns="0" bIns="0" rtlCol="0">
            <a:spAutoFit/>
          </a:bodyPr>
          <a:lstStyle/>
          <a:p>
            <a:pPr marL="404495" indent="-367030">
              <a:lnSpc>
                <a:spcPct val="100000"/>
              </a:lnSpc>
              <a:spcBef>
                <a:spcPts val="1095"/>
              </a:spcBef>
              <a:buChar char="●"/>
              <a:tabLst>
                <a:tab pos="404495" algn="l"/>
                <a:tab pos="405130" algn="l"/>
              </a:tabLst>
            </a:pP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If</a:t>
            </a:r>
            <a:r>
              <a:rPr sz="1800" spc="-5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T1</a:t>
            </a:r>
            <a:r>
              <a:rPr sz="1800" spc="-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transistor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has</a:t>
            </a:r>
            <a:r>
              <a:rPr sz="1800" spc="-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gate</a:t>
            </a:r>
            <a:r>
              <a:rPr sz="1800" spc="-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tied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to</a:t>
            </a:r>
            <a:r>
              <a:rPr sz="1800" spc="-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20" dirty="0">
                <a:solidFill>
                  <a:srgbClr val="595959"/>
                </a:solidFill>
                <a:latin typeface="Arial MT"/>
                <a:cs typeface="Arial MT"/>
              </a:rPr>
              <a:t>V</a:t>
            </a:r>
            <a:r>
              <a:rPr sz="1800" spc="30" baseline="-32407" dirty="0">
                <a:solidFill>
                  <a:srgbClr val="595959"/>
                </a:solidFill>
                <a:latin typeface="Arial MT"/>
                <a:cs typeface="Arial MT"/>
              </a:rPr>
              <a:t>DD</a:t>
            </a:r>
            <a:endParaRPr sz="1800" baseline="-32407">
              <a:latin typeface="Arial MT"/>
              <a:cs typeface="Arial MT"/>
            </a:endParaRPr>
          </a:p>
          <a:p>
            <a:pPr marL="404495" indent="-367030">
              <a:lnSpc>
                <a:spcPct val="100000"/>
              </a:lnSpc>
              <a:spcBef>
                <a:spcPts val="1000"/>
              </a:spcBef>
              <a:buChar char="●"/>
              <a:tabLst>
                <a:tab pos="404495" algn="l"/>
                <a:tab pos="405130" algn="l"/>
              </a:tabLst>
            </a:pPr>
            <a:r>
              <a:rPr sz="2700" spc="-7" baseline="20061" dirty="0">
                <a:solidFill>
                  <a:srgbClr val="595959"/>
                </a:solidFill>
                <a:latin typeface="Arial MT"/>
                <a:cs typeface="Arial MT"/>
              </a:rPr>
              <a:t>V</a:t>
            </a:r>
            <a:r>
              <a:rPr sz="1200" spc="-5" dirty="0">
                <a:solidFill>
                  <a:srgbClr val="595959"/>
                </a:solidFill>
                <a:latin typeface="Arial MT"/>
                <a:cs typeface="Arial MT"/>
              </a:rPr>
              <a:t>g(T1)</a:t>
            </a:r>
            <a:r>
              <a:rPr sz="1200" spc="15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2700" baseline="20061" dirty="0">
                <a:solidFill>
                  <a:srgbClr val="595959"/>
                </a:solidFill>
                <a:latin typeface="Arial MT"/>
                <a:cs typeface="Arial MT"/>
              </a:rPr>
              <a:t>=</a:t>
            </a:r>
            <a:r>
              <a:rPr sz="2700" spc="-22" baseline="20061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2700" baseline="20061" dirty="0">
                <a:solidFill>
                  <a:srgbClr val="595959"/>
                </a:solidFill>
                <a:latin typeface="Arial MT"/>
                <a:cs typeface="Arial MT"/>
              </a:rPr>
              <a:t>V</a:t>
            </a:r>
            <a:r>
              <a:rPr sz="1200" dirty="0">
                <a:solidFill>
                  <a:srgbClr val="595959"/>
                </a:solidFill>
                <a:latin typeface="Arial MT"/>
                <a:cs typeface="Arial MT"/>
              </a:rPr>
              <a:t>DD</a:t>
            </a:r>
            <a:r>
              <a:rPr sz="2700" baseline="20061" dirty="0">
                <a:solidFill>
                  <a:srgbClr val="595959"/>
                </a:solidFill>
                <a:latin typeface="Arial MT"/>
                <a:cs typeface="Arial MT"/>
              </a:rPr>
              <a:t>;</a:t>
            </a:r>
            <a:r>
              <a:rPr sz="2700" spc="-15" baseline="20061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2700" spc="-7" baseline="20061" dirty="0">
                <a:solidFill>
                  <a:srgbClr val="595959"/>
                </a:solidFill>
                <a:latin typeface="Arial MT"/>
                <a:cs typeface="Arial MT"/>
              </a:rPr>
              <a:t>V</a:t>
            </a:r>
            <a:r>
              <a:rPr sz="1200" spc="-5" dirty="0">
                <a:solidFill>
                  <a:srgbClr val="595959"/>
                </a:solidFill>
                <a:latin typeface="Arial MT"/>
                <a:cs typeface="Arial MT"/>
              </a:rPr>
              <a:t>in</a:t>
            </a:r>
            <a:r>
              <a:rPr sz="1200" spc="15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2700" baseline="20061" dirty="0">
                <a:solidFill>
                  <a:srgbClr val="595959"/>
                </a:solidFill>
                <a:latin typeface="Arial MT"/>
                <a:cs typeface="Arial MT"/>
              </a:rPr>
              <a:t>=</a:t>
            </a:r>
            <a:r>
              <a:rPr sz="2700" spc="-15" baseline="20061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2700" baseline="20061" dirty="0">
                <a:solidFill>
                  <a:srgbClr val="595959"/>
                </a:solidFill>
                <a:latin typeface="Arial MT"/>
                <a:cs typeface="Arial MT"/>
              </a:rPr>
              <a:t>V</a:t>
            </a:r>
            <a:r>
              <a:rPr sz="1200" dirty="0">
                <a:solidFill>
                  <a:srgbClr val="595959"/>
                </a:solidFill>
                <a:latin typeface="Arial MT"/>
                <a:cs typeface="Arial MT"/>
              </a:rPr>
              <a:t>DD</a:t>
            </a:r>
            <a:r>
              <a:rPr sz="2700" baseline="20061" dirty="0">
                <a:solidFill>
                  <a:srgbClr val="595959"/>
                </a:solidFill>
                <a:latin typeface="Arial MT"/>
                <a:cs typeface="Arial MT"/>
              </a:rPr>
              <a:t>;</a:t>
            </a:r>
            <a:r>
              <a:rPr sz="2700" spc="-22" baseline="20061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2700" spc="-7" baseline="20061" dirty="0">
                <a:solidFill>
                  <a:srgbClr val="595959"/>
                </a:solidFill>
                <a:latin typeface="Arial MT"/>
                <a:cs typeface="Arial MT"/>
              </a:rPr>
              <a:t>V</a:t>
            </a:r>
            <a:r>
              <a:rPr sz="1200" spc="-5" dirty="0">
                <a:solidFill>
                  <a:srgbClr val="595959"/>
                </a:solidFill>
                <a:latin typeface="Arial MT"/>
                <a:cs typeface="Arial MT"/>
              </a:rPr>
              <a:t>out</a:t>
            </a:r>
            <a:r>
              <a:rPr sz="1200" spc="16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2700" baseline="20061" dirty="0">
                <a:solidFill>
                  <a:srgbClr val="595959"/>
                </a:solidFill>
                <a:latin typeface="Arial MT"/>
                <a:cs typeface="Arial MT"/>
              </a:rPr>
              <a:t>=</a:t>
            </a:r>
            <a:r>
              <a:rPr sz="2700" spc="-22" baseline="20061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2700" baseline="20061" dirty="0">
                <a:solidFill>
                  <a:srgbClr val="595959"/>
                </a:solidFill>
                <a:latin typeface="Arial MT"/>
                <a:cs typeface="Arial MT"/>
              </a:rPr>
              <a:t>?</a:t>
            </a:r>
            <a:endParaRPr sz="2700" baseline="20061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59325" y="2467560"/>
            <a:ext cx="62039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u="heavy" spc="-5" dirty="0">
                <a:solidFill>
                  <a:srgbClr val="595959"/>
                </a:solidFill>
                <a:uFill>
                  <a:solidFill>
                    <a:srgbClr val="595959"/>
                  </a:solidFill>
                </a:uFill>
                <a:latin typeface="Arial MT"/>
                <a:cs typeface="Arial MT"/>
              </a:rPr>
              <a:t>Output</a:t>
            </a:r>
            <a:r>
              <a:rPr sz="1800" u="heavy" spc="-10" dirty="0">
                <a:solidFill>
                  <a:srgbClr val="595959"/>
                </a:solidFill>
                <a:uFill>
                  <a:solidFill>
                    <a:srgbClr val="595959"/>
                  </a:solidFill>
                </a:uFill>
                <a:latin typeface="Arial MT"/>
                <a:cs typeface="Arial MT"/>
              </a:rPr>
              <a:t> </a:t>
            </a:r>
            <a:r>
              <a:rPr sz="1800" u="heavy" spc="-5" dirty="0">
                <a:solidFill>
                  <a:srgbClr val="595959"/>
                </a:solidFill>
                <a:uFill>
                  <a:solidFill>
                    <a:srgbClr val="595959"/>
                  </a:solidFill>
                </a:uFill>
                <a:latin typeface="Arial MT"/>
                <a:cs typeface="Arial MT"/>
              </a:rPr>
              <a:t>of</a:t>
            </a:r>
            <a:r>
              <a:rPr sz="1800" u="heavy" spc="-35" dirty="0">
                <a:solidFill>
                  <a:srgbClr val="595959"/>
                </a:solidFill>
                <a:uFill>
                  <a:solidFill>
                    <a:srgbClr val="595959"/>
                  </a:solidFill>
                </a:uFill>
                <a:latin typeface="Arial MT"/>
                <a:cs typeface="Arial MT"/>
              </a:rPr>
              <a:t> </a:t>
            </a:r>
            <a:r>
              <a:rPr sz="1800" u="heavy" spc="-10" dirty="0">
                <a:solidFill>
                  <a:srgbClr val="595959"/>
                </a:solidFill>
                <a:uFill>
                  <a:solidFill>
                    <a:srgbClr val="595959"/>
                  </a:solidFill>
                </a:uFill>
                <a:latin typeface="Arial MT"/>
                <a:cs typeface="Arial MT"/>
              </a:rPr>
              <a:t>Transistor</a:t>
            </a:r>
            <a:r>
              <a:rPr sz="1800" u="heavy" spc="-35" dirty="0">
                <a:solidFill>
                  <a:srgbClr val="595959"/>
                </a:solidFill>
                <a:uFill>
                  <a:solidFill>
                    <a:srgbClr val="595959"/>
                  </a:solidFill>
                </a:uFill>
                <a:latin typeface="Arial MT"/>
                <a:cs typeface="Arial MT"/>
              </a:rPr>
              <a:t> </a:t>
            </a:r>
            <a:r>
              <a:rPr sz="1800" u="heavy" spc="5" dirty="0">
                <a:solidFill>
                  <a:srgbClr val="595959"/>
                </a:solidFill>
                <a:uFill>
                  <a:solidFill>
                    <a:srgbClr val="595959"/>
                  </a:solidFill>
                </a:uFill>
                <a:latin typeface="Arial MT"/>
                <a:cs typeface="Arial MT"/>
              </a:rPr>
              <a:t>T1</a:t>
            </a:r>
            <a:r>
              <a:rPr sz="1800" spc="5" dirty="0">
                <a:solidFill>
                  <a:srgbClr val="595959"/>
                </a:solidFill>
                <a:latin typeface="Arial MT"/>
                <a:cs typeface="Arial MT"/>
              </a:rPr>
              <a:t>: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 V</a:t>
            </a:r>
            <a:r>
              <a:rPr sz="1800" spc="-7" baseline="-32407" dirty="0">
                <a:solidFill>
                  <a:srgbClr val="595959"/>
                </a:solidFill>
                <a:latin typeface="Arial MT"/>
                <a:cs typeface="Arial MT"/>
              </a:rPr>
              <a:t>out(max),</a:t>
            </a:r>
            <a:r>
              <a:rPr sz="1800" spc="-37" baseline="-32407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7" baseline="-32407" dirty="0">
                <a:solidFill>
                  <a:srgbClr val="595959"/>
                </a:solidFill>
                <a:latin typeface="Arial MT"/>
                <a:cs typeface="Arial MT"/>
              </a:rPr>
              <a:t>T1</a:t>
            </a:r>
            <a:r>
              <a:rPr sz="1800" spc="232" baseline="-32407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=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 V</a:t>
            </a:r>
            <a:r>
              <a:rPr sz="1800" spc="-7" baseline="-32407" dirty="0">
                <a:solidFill>
                  <a:srgbClr val="595959"/>
                </a:solidFill>
                <a:latin typeface="Arial MT"/>
                <a:cs typeface="Arial MT"/>
              </a:rPr>
              <a:t>g(T1)</a:t>
            </a:r>
            <a:r>
              <a:rPr sz="1800" spc="240" baseline="-32407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-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 V</a:t>
            </a:r>
            <a:r>
              <a:rPr sz="1800" spc="-7" baseline="-32407" dirty="0">
                <a:solidFill>
                  <a:srgbClr val="595959"/>
                </a:solidFill>
                <a:latin typeface="Arial MT"/>
                <a:cs typeface="Arial MT"/>
              </a:rPr>
              <a:t>tn(T1)</a:t>
            </a:r>
            <a:r>
              <a:rPr sz="1800" spc="254" baseline="-32407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=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V</a:t>
            </a:r>
            <a:r>
              <a:rPr sz="1800" baseline="-32407" dirty="0">
                <a:solidFill>
                  <a:srgbClr val="595959"/>
                </a:solidFill>
                <a:latin typeface="Arial MT"/>
                <a:cs typeface="Arial MT"/>
              </a:rPr>
              <a:t>DD</a:t>
            </a:r>
            <a:r>
              <a:rPr sz="1800" spc="240" baseline="-32407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-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 V</a:t>
            </a:r>
            <a:r>
              <a:rPr sz="1800" spc="-7" baseline="-32407" dirty="0">
                <a:solidFill>
                  <a:srgbClr val="595959"/>
                </a:solidFill>
                <a:latin typeface="Arial MT"/>
                <a:cs typeface="Arial MT"/>
              </a:rPr>
              <a:t>tn</a:t>
            </a:r>
            <a:endParaRPr sz="1800" baseline="-32407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46625" y="2894280"/>
            <a:ext cx="8107680" cy="1440180"/>
          </a:xfrm>
          <a:prstGeom prst="rect">
            <a:avLst/>
          </a:prstGeom>
        </p:spPr>
        <p:txBody>
          <a:bodyPr vert="horz" wrap="square" lIns="0" tIns="53340" rIns="0" bIns="0" rtlCol="0">
            <a:spAutoFit/>
          </a:bodyPr>
          <a:lstStyle/>
          <a:p>
            <a:pPr marL="508000" indent="-367030">
              <a:lnSpc>
                <a:spcPct val="100000"/>
              </a:lnSpc>
              <a:spcBef>
                <a:spcPts val="420"/>
              </a:spcBef>
              <a:buChar char="●"/>
              <a:tabLst>
                <a:tab pos="507365" algn="l"/>
                <a:tab pos="508000" algn="l"/>
              </a:tabLst>
            </a:pP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Output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of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transistor</a:t>
            </a:r>
            <a:r>
              <a:rPr sz="1800" spc="-4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T1 is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now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driving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the gate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of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transistor</a:t>
            </a:r>
            <a:r>
              <a:rPr sz="1800" spc="-4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T2</a:t>
            </a:r>
            <a:endParaRPr sz="1800">
              <a:latin typeface="Arial MT"/>
              <a:cs typeface="Arial MT"/>
            </a:endParaRPr>
          </a:p>
          <a:p>
            <a:pPr marL="508000" indent="-367030">
              <a:lnSpc>
                <a:spcPct val="100000"/>
              </a:lnSpc>
              <a:spcBef>
                <a:spcPts val="325"/>
              </a:spcBef>
              <a:buChar char="●"/>
              <a:tabLst>
                <a:tab pos="507365" algn="l"/>
                <a:tab pos="508000" algn="l"/>
              </a:tabLst>
            </a:pP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T2</a:t>
            </a:r>
            <a:r>
              <a:rPr sz="1800" spc="-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transistor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has</a:t>
            </a:r>
            <a:r>
              <a:rPr sz="1800" spc="-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gate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tied</a:t>
            </a:r>
            <a:r>
              <a:rPr sz="1800" spc="-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to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20" dirty="0">
                <a:solidFill>
                  <a:srgbClr val="595959"/>
                </a:solidFill>
                <a:latin typeface="Arial MT"/>
                <a:cs typeface="Arial MT"/>
              </a:rPr>
              <a:t>V</a:t>
            </a:r>
            <a:r>
              <a:rPr sz="1800" spc="30" baseline="-32407" dirty="0">
                <a:solidFill>
                  <a:srgbClr val="595959"/>
                </a:solidFill>
                <a:latin typeface="Arial MT"/>
                <a:cs typeface="Arial MT"/>
              </a:rPr>
              <a:t>DD</a:t>
            </a:r>
            <a:r>
              <a:rPr sz="1800" spc="240" baseline="-32407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-</a:t>
            </a:r>
            <a:r>
              <a:rPr sz="1800" spc="-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V</a:t>
            </a:r>
            <a:r>
              <a:rPr sz="1800" spc="-7" baseline="-32407" dirty="0">
                <a:solidFill>
                  <a:srgbClr val="595959"/>
                </a:solidFill>
                <a:latin typeface="Arial MT"/>
                <a:cs typeface="Arial MT"/>
              </a:rPr>
              <a:t>tn</a:t>
            </a:r>
            <a:endParaRPr sz="1800" baseline="-32407">
              <a:latin typeface="Arial MT"/>
              <a:cs typeface="Arial MT"/>
            </a:endParaRPr>
          </a:p>
          <a:p>
            <a:pPr marL="508000" indent="-367030">
              <a:lnSpc>
                <a:spcPct val="100000"/>
              </a:lnSpc>
              <a:spcBef>
                <a:spcPts val="1000"/>
              </a:spcBef>
              <a:buChar char="●"/>
              <a:tabLst>
                <a:tab pos="507365" algn="l"/>
                <a:tab pos="508000" algn="l"/>
              </a:tabLst>
            </a:pPr>
            <a:r>
              <a:rPr sz="2700" spc="-7" baseline="20061" dirty="0">
                <a:solidFill>
                  <a:srgbClr val="595959"/>
                </a:solidFill>
                <a:latin typeface="Arial MT"/>
                <a:cs typeface="Arial MT"/>
              </a:rPr>
              <a:t>V</a:t>
            </a:r>
            <a:r>
              <a:rPr sz="1200" spc="-5" dirty="0">
                <a:solidFill>
                  <a:srgbClr val="595959"/>
                </a:solidFill>
                <a:latin typeface="Arial MT"/>
                <a:cs typeface="Arial MT"/>
              </a:rPr>
              <a:t>g(T2)</a:t>
            </a:r>
            <a:r>
              <a:rPr sz="1200" spc="16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2700" baseline="20061" dirty="0">
                <a:solidFill>
                  <a:srgbClr val="595959"/>
                </a:solidFill>
                <a:latin typeface="Arial MT"/>
                <a:cs typeface="Arial MT"/>
              </a:rPr>
              <a:t>=</a:t>
            </a:r>
            <a:r>
              <a:rPr sz="2700" spc="-15" baseline="20061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2700" baseline="20061" dirty="0">
                <a:solidFill>
                  <a:srgbClr val="595959"/>
                </a:solidFill>
                <a:latin typeface="Arial MT"/>
                <a:cs typeface="Arial MT"/>
              </a:rPr>
              <a:t>V</a:t>
            </a:r>
            <a:r>
              <a:rPr sz="1200" dirty="0">
                <a:solidFill>
                  <a:srgbClr val="595959"/>
                </a:solidFill>
                <a:latin typeface="Arial MT"/>
                <a:cs typeface="Arial MT"/>
              </a:rPr>
              <a:t>DD</a:t>
            </a:r>
            <a:r>
              <a:rPr sz="1200" spc="16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2700" baseline="20061" dirty="0">
                <a:solidFill>
                  <a:srgbClr val="595959"/>
                </a:solidFill>
                <a:latin typeface="Arial MT"/>
                <a:cs typeface="Arial MT"/>
              </a:rPr>
              <a:t>-</a:t>
            </a:r>
            <a:r>
              <a:rPr sz="2700" spc="-15" baseline="20061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2700" spc="-7" baseline="20061" dirty="0">
                <a:solidFill>
                  <a:srgbClr val="595959"/>
                </a:solidFill>
                <a:latin typeface="Arial MT"/>
                <a:cs typeface="Arial MT"/>
              </a:rPr>
              <a:t>V</a:t>
            </a:r>
            <a:r>
              <a:rPr sz="1200" spc="-5" dirty="0">
                <a:solidFill>
                  <a:srgbClr val="595959"/>
                </a:solidFill>
                <a:latin typeface="Arial MT"/>
                <a:cs typeface="Arial MT"/>
              </a:rPr>
              <a:t>tn</a:t>
            </a:r>
            <a:r>
              <a:rPr sz="2700" spc="-7" baseline="20061" dirty="0">
                <a:solidFill>
                  <a:srgbClr val="595959"/>
                </a:solidFill>
                <a:latin typeface="Arial MT"/>
                <a:cs typeface="Arial MT"/>
              </a:rPr>
              <a:t>;</a:t>
            </a:r>
            <a:r>
              <a:rPr sz="2700" spc="-15" baseline="20061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2700" spc="-7" baseline="20061" dirty="0">
                <a:solidFill>
                  <a:srgbClr val="595959"/>
                </a:solidFill>
                <a:latin typeface="Arial MT"/>
                <a:cs typeface="Arial MT"/>
              </a:rPr>
              <a:t>V</a:t>
            </a:r>
            <a:r>
              <a:rPr sz="1200" spc="-5" dirty="0">
                <a:solidFill>
                  <a:srgbClr val="595959"/>
                </a:solidFill>
                <a:latin typeface="Arial MT"/>
                <a:cs typeface="Arial MT"/>
              </a:rPr>
              <a:t>in</a:t>
            </a:r>
            <a:r>
              <a:rPr sz="1200" spc="16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2700" baseline="20061" dirty="0">
                <a:solidFill>
                  <a:srgbClr val="595959"/>
                </a:solidFill>
                <a:latin typeface="Arial MT"/>
                <a:cs typeface="Arial MT"/>
              </a:rPr>
              <a:t>=</a:t>
            </a:r>
            <a:r>
              <a:rPr sz="2700" spc="-15" baseline="20061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2700" baseline="20061" dirty="0">
                <a:solidFill>
                  <a:srgbClr val="595959"/>
                </a:solidFill>
                <a:latin typeface="Arial MT"/>
                <a:cs typeface="Arial MT"/>
              </a:rPr>
              <a:t>V</a:t>
            </a:r>
            <a:r>
              <a:rPr sz="1200" dirty="0">
                <a:solidFill>
                  <a:srgbClr val="595959"/>
                </a:solidFill>
                <a:latin typeface="Arial MT"/>
                <a:cs typeface="Arial MT"/>
              </a:rPr>
              <a:t>DD</a:t>
            </a:r>
            <a:r>
              <a:rPr sz="2700" baseline="20061" dirty="0">
                <a:solidFill>
                  <a:srgbClr val="595959"/>
                </a:solidFill>
                <a:latin typeface="Arial MT"/>
                <a:cs typeface="Arial MT"/>
              </a:rPr>
              <a:t>;</a:t>
            </a:r>
            <a:r>
              <a:rPr sz="2700" spc="-15" baseline="20061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2700" spc="-7" baseline="20061" dirty="0">
                <a:solidFill>
                  <a:srgbClr val="595959"/>
                </a:solidFill>
                <a:latin typeface="Arial MT"/>
                <a:cs typeface="Arial MT"/>
              </a:rPr>
              <a:t>V</a:t>
            </a:r>
            <a:r>
              <a:rPr sz="1200" spc="-5" dirty="0">
                <a:solidFill>
                  <a:srgbClr val="595959"/>
                </a:solidFill>
                <a:latin typeface="Arial MT"/>
                <a:cs typeface="Arial MT"/>
              </a:rPr>
              <a:t>out</a:t>
            </a:r>
            <a:r>
              <a:rPr sz="1200" spc="16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2700" baseline="20061" dirty="0">
                <a:solidFill>
                  <a:srgbClr val="595959"/>
                </a:solidFill>
                <a:latin typeface="Arial MT"/>
                <a:cs typeface="Arial MT"/>
              </a:rPr>
              <a:t>=</a:t>
            </a:r>
            <a:r>
              <a:rPr sz="2700" spc="-15" baseline="20061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2700" baseline="20061" dirty="0">
                <a:solidFill>
                  <a:srgbClr val="595959"/>
                </a:solidFill>
                <a:latin typeface="Arial MT"/>
                <a:cs typeface="Arial MT"/>
              </a:rPr>
              <a:t>?</a:t>
            </a:r>
            <a:endParaRPr sz="2700" baseline="20061">
              <a:latin typeface="Arial MT"/>
              <a:cs typeface="Arial MT"/>
            </a:endParaRPr>
          </a:p>
          <a:p>
            <a:pPr marL="50800">
              <a:lnSpc>
                <a:spcPct val="100000"/>
              </a:lnSpc>
              <a:spcBef>
                <a:spcPts val="850"/>
              </a:spcBef>
            </a:pPr>
            <a:r>
              <a:rPr sz="1800" u="heavy" spc="-5" dirty="0">
                <a:solidFill>
                  <a:srgbClr val="595959"/>
                </a:solidFill>
                <a:uFill>
                  <a:solidFill>
                    <a:srgbClr val="595959"/>
                  </a:solidFill>
                </a:uFill>
                <a:latin typeface="Arial MT"/>
                <a:cs typeface="Arial MT"/>
              </a:rPr>
              <a:t>Output of</a:t>
            </a:r>
            <a:r>
              <a:rPr sz="1800" u="heavy" spc="-35" dirty="0">
                <a:solidFill>
                  <a:srgbClr val="595959"/>
                </a:solidFill>
                <a:uFill>
                  <a:solidFill>
                    <a:srgbClr val="595959"/>
                  </a:solidFill>
                </a:uFill>
                <a:latin typeface="Arial MT"/>
                <a:cs typeface="Arial MT"/>
              </a:rPr>
              <a:t> </a:t>
            </a:r>
            <a:r>
              <a:rPr sz="1800" u="heavy" spc="-10" dirty="0">
                <a:solidFill>
                  <a:srgbClr val="595959"/>
                </a:solidFill>
                <a:uFill>
                  <a:solidFill>
                    <a:srgbClr val="595959"/>
                  </a:solidFill>
                </a:uFill>
                <a:latin typeface="Arial MT"/>
                <a:cs typeface="Arial MT"/>
              </a:rPr>
              <a:t>Transistor</a:t>
            </a:r>
            <a:r>
              <a:rPr sz="1800" u="heavy" spc="-35" dirty="0">
                <a:solidFill>
                  <a:srgbClr val="595959"/>
                </a:solidFill>
                <a:uFill>
                  <a:solidFill>
                    <a:srgbClr val="595959"/>
                  </a:solidFill>
                </a:uFill>
                <a:latin typeface="Arial MT"/>
                <a:cs typeface="Arial MT"/>
              </a:rPr>
              <a:t> </a:t>
            </a:r>
            <a:r>
              <a:rPr sz="1800" u="heavy" spc="5" dirty="0">
                <a:solidFill>
                  <a:srgbClr val="595959"/>
                </a:solidFill>
                <a:uFill>
                  <a:solidFill>
                    <a:srgbClr val="595959"/>
                  </a:solidFill>
                </a:uFill>
                <a:latin typeface="Arial MT"/>
                <a:cs typeface="Arial MT"/>
              </a:rPr>
              <a:t>T2</a:t>
            </a:r>
            <a:r>
              <a:rPr sz="1800" spc="5" dirty="0">
                <a:solidFill>
                  <a:srgbClr val="595959"/>
                </a:solidFill>
                <a:latin typeface="Arial MT"/>
                <a:cs typeface="Arial MT"/>
              </a:rPr>
              <a:t>: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 V</a:t>
            </a:r>
            <a:r>
              <a:rPr sz="1800" spc="-7" baseline="-32407" dirty="0">
                <a:solidFill>
                  <a:srgbClr val="595959"/>
                </a:solidFill>
                <a:latin typeface="Arial MT"/>
                <a:cs typeface="Arial MT"/>
              </a:rPr>
              <a:t>out(max),</a:t>
            </a:r>
            <a:r>
              <a:rPr sz="1800" spc="-37" baseline="-32407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7" baseline="-32407" dirty="0">
                <a:solidFill>
                  <a:srgbClr val="595959"/>
                </a:solidFill>
                <a:latin typeface="Arial MT"/>
                <a:cs typeface="Arial MT"/>
              </a:rPr>
              <a:t>T2</a:t>
            </a:r>
            <a:r>
              <a:rPr sz="1800" spc="232" baseline="-32407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=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 V</a:t>
            </a:r>
            <a:r>
              <a:rPr sz="1800" spc="-7" baseline="-32407" dirty="0">
                <a:solidFill>
                  <a:srgbClr val="595959"/>
                </a:solidFill>
                <a:latin typeface="Arial MT"/>
                <a:cs typeface="Arial MT"/>
              </a:rPr>
              <a:t>g(T2)</a:t>
            </a:r>
            <a:r>
              <a:rPr sz="1800" spc="254" baseline="-32407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-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 V</a:t>
            </a:r>
            <a:r>
              <a:rPr sz="1800" spc="-7" baseline="-32407" dirty="0">
                <a:solidFill>
                  <a:srgbClr val="595959"/>
                </a:solidFill>
                <a:latin typeface="Arial MT"/>
                <a:cs typeface="Arial MT"/>
              </a:rPr>
              <a:t>tn(T2)</a:t>
            </a:r>
            <a:r>
              <a:rPr sz="1800" spc="254" baseline="-32407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=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(V</a:t>
            </a:r>
            <a:r>
              <a:rPr sz="1800" baseline="-32407" dirty="0">
                <a:solidFill>
                  <a:srgbClr val="595959"/>
                </a:solidFill>
                <a:latin typeface="Arial MT"/>
                <a:cs typeface="Arial MT"/>
              </a:rPr>
              <a:t>DD</a:t>
            </a:r>
            <a:r>
              <a:rPr sz="1800" spc="247" baseline="-32407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-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 V</a:t>
            </a:r>
            <a:r>
              <a:rPr sz="1800" spc="-7" baseline="-32407" dirty="0">
                <a:solidFill>
                  <a:srgbClr val="595959"/>
                </a:solidFill>
                <a:latin typeface="Arial MT"/>
                <a:cs typeface="Arial MT"/>
              </a:rPr>
              <a:t>tn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)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-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 V</a:t>
            </a:r>
            <a:r>
              <a:rPr sz="1800" spc="-7" baseline="-32407" dirty="0">
                <a:solidFill>
                  <a:srgbClr val="595959"/>
                </a:solidFill>
                <a:latin typeface="Arial MT"/>
                <a:cs typeface="Arial MT"/>
              </a:rPr>
              <a:t>tn</a:t>
            </a:r>
            <a:r>
              <a:rPr sz="1800" spc="254" baseline="-32407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=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V</a:t>
            </a:r>
            <a:r>
              <a:rPr sz="1800" baseline="-32407" dirty="0">
                <a:solidFill>
                  <a:srgbClr val="595959"/>
                </a:solidFill>
                <a:latin typeface="Arial MT"/>
                <a:cs typeface="Arial MT"/>
              </a:rPr>
              <a:t>DD</a:t>
            </a:r>
            <a:r>
              <a:rPr sz="1800" spc="247" baseline="-32407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-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 2V</a:t>
            </a:r>
            <a:r>
              <a:rPr sz="1800" spc="-7" baseline="-32407" dirty="0">
                <a:solidFill>
                  <a:srgbClr val="595959"/>
                </a:solidFill>
                <a:latin typeface="Arial MT"/>
                <a:cs typeface="Arial MT"/>
              </a:rPr>
              <a:t>tn</a:t>
            </a:r>
            <a:endParaRPr sz="1800" baseline="-32407">
              <a:latin typeface="Arial MT"/>
              <a:cs typeface="Arial MT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6791986" y="1209717"/>
            <a:ext cx="1931670" cy="1298575"/>
            <a:chOff x="6791986" y="1209717"/>
            <a:chExt cx="1931670" cy="1298575"/>
          </a:xfrm>
        </p:grpSpPr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791986" y="1209717"/>
              <a:ext cx="1931419" cy="1013193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6868199" y="1872946"/>
              <a:ext cx="366395" cy="230504"/>
            </a:xfrm>
            <a:custGeom>
              <a:avLst/>
              <a:gdLst/>
              <a:ahLst/>
              <a:cxnLst/>
              <a:rect l="l" t="t" r="r" b="b"/>
              <a:pathLst>
                <a:path w="366395" h="230505">
                  <a:moveTo>
                    <a:pt x="0" y="230003"/>
                  </a:moveTo>
                  <a:lnTo>
                    <a:pt x="366203" y="0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7226035" y="1849955"/>
              <a:ext cx="45085" cy="36830"/>
            </a:xfrm>
            <a:custGeom>
              <a:avLst/>
              <a:gdLst/>
              <a:ahLst/>
              <a:cxnLst/>
              <a:rect l="l" t="t" r="r" b="b"/>
              <a:pathLst>
                <a:path w="45084" h="36830">
                  <a:moveTo>
                    <a:pt x="16735" y="36313"/>
                  </a:moveTo>
                  <a:lnTo>
                    <a:pt x="0" y="9667"/>
                  </a:lnTo>
                  <a:lnTo>
                    <a:pt x="44972" y="0"/>
                  </a:lnTo>
                  <a:lnTo>
                    <a:pt x="16735" y="36313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7226035" y="1849955"/>
              <a:ext cx="45085" cy="36830"/>
            </a:xfrm>
            <a:custGeom>
              <a:avLst/>
              <a:gdLst/>
              <a:ahLst/>
              <a:cxnLst/>
              <a:rect l="l" t="t" r="r" b="b"/>
              <a:pathLst>
                <a:path w="45084" h="36830">
                  <a:moveTo>
                    <a:pt x="16735" y="36313"/>
                  </a:moveTo>
                  <a:lnTo>
                    <a:pt x="44972" y="0"/>
                  </a:lnTo>
                  <a:lnTo>
                    <a:pt x="0" y="9667"/>
                  </a:lnTo>
                  <a:lnTo>
                    <a:pt x="16735" y="36313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7556249" y="2234424"/>
              <a:ext cx="92075" cy="269240"/>
            </a:xfrm>
            <a:custGeom>
              <a:avLst/>
              <a:gdLst/>
              <a:ahLst/>
              <a:cxnLst/>
              <a:rect l="l" t="t" r="r" b="b"/>
              <a:pathLst>
                <a:path w="92075" h="269239">
                  <a:moveTo>
                    <a:pt x="0" y="268725"/>
                  </a:moveTo>
                  <a:lnTo>
                    <a:pt x="91906" y="0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7633269" y="2193525"/>
              <a:ext cx="29845" cy="46355"/>
            </a:xfrm>
            <a:custGeom>
              <a:avLst/>
              <a:gdLst/>
              <a:ahLst/>
              <a:cxnLst/>
              <a:rect l="l" t="t" r="r" b="b"/>
              <a:pathLst>
                <a:path w="29845" h="46355">
                  <a:moveTo>
                    <a:pt x="29772" y="45990"/>
                  </a:moveTo>
                  <a:lnTo>
                    <a:pt x="0" y="35808"/>
                  </a:lnTo>
                  <a:lnTo>
                    <a:pt x="28874" y="0"/>
                  </a:lnTo>
                  <a:lnTo>
                    <a:pt x="29772" y="45990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7633269" y="2193525"/>
              <a:ext cx="29845" cy="46355"/>
            </a:xfrm>
            <a:custGeom>
              <a:avLst/>
              <a:gdLst/>
              <a:ahLst/>
              <a:cxnLst/>
              <a:rect l="l" t="t" r="r" b="b"/>
              <a:pathLst>
                <a:path w="29845" h="46355">
                  <a:moveTo>
                    <a:pt x="29772" y="45990"/>
                  </a:moveTo>
                  <a:lnTo>
                    <a:pt x="28874" y="0"/>
                  </a:lnTo>
                  <a:lnTo>
                    <a:pt x="0" y="35808"/>
                  </a:lnTo>
                  <a:lnTo>
                    <a:pt x="29772" y="4599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6496025" y="1968763"/>
            <a:ext cx="23304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Arial MT"/>
                <a:cs typeface="Arial MT"/>
              </a:rPr>
              <a:t>T1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184075" y="2368962"/>
            <a:ext cx="23304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Arial MT"/>
                <a:cs typeface="Arial MT"/>
              </a:rPr>
              <a:t>T2</a:t>
            </a:r>
            <a:endParaRPr sz="1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05248"/>
            <a:ext cx="6526530" cy="40957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500" spc="5" dirty="0"/>
              <a:t>Pass</a:t>
            </a:r>
            <a:r>
              <a:rPr sz="2500" spc="-45" dirty="0"/>
              <a:t> </a:t>
            </a:r>
            <a:r>
              <a:rPr sz="2500" spc="-5" dirty="0"/>
              <a:t>Transistor</a:t>
            </a:r>
            <a:r>
              <a:rPr sz="2500" spc="5" dirty="0"/>
              <a:t> </a:t>
            </a:r>
            <a:r>
              <a:rPr sz="2500" spc="10" dirty="0"/>
              <a:t>DC </a:t>
            </a:r>
            <a:r>
              <a:rPr sz="2500" dirty="0"/>
              <a:t>Characteristics:</a:t>
            </a:r>
            <a:r>
              <a:rPr sz="2500" spc="5" dirty="0"/>
              <a:t> Summary</a:t>
            </a:r>
            <a:endParaRPr sz="2500"/>
          </a:p>
        </p:txBody>
      </p:sp>
      <p:sp>
        <p:nvSpPr>
          <p:cNvPr id="3" name="object 3"/>
          <p:cNvSpPr txBox="1"/>
          <p:nvPr/>
        </p:nvSpPr>
        <p:spPr>
          <a:xfrm>
            <a:off x="397425" y="1216355"/>
            <a:ext cx="21951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nMOS</a:t>
            </a:r>
            <a:r>
              <a:rPr sz="1800" spc="-3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pass</a:t>
            </a:r>
            <a:r>
              <a:rPr sz="1800" spc="-3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transistor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37149" y="1643076"/>
            <a:ext cx="4304665" cy="656590"/>
          </a:xfrm>
          <a:prstGeom prst="rect">
            <a:avLst/>
          </a:prstGeom>
        </p:spPr>
        <p:txBody>
          <a:bodyPr vert="horz" wrap="square" lIns="0" tIns="53340" rIns="0" bIns="0" rtlCol="0">
            <a:spAutoFit/>
          </a:bodyPr>
          <a:lstStyle/>
          <a:p>
            <a:pPr marL="417195" indent="-367030">
              <a:lnSpc>
                <a:spcPct val="100000"/>
              </a:lnSpc>
              <a:spcBef>
                <a:spcPts val="420"/>
              </a:spcBef>
              <a:buChar char="●"/>
              <a:tabLst>
                <a:tab pos="417195" algn="l"/>
                <a:tab pos="417830" algn="l"/>
                <a:tab pos="1788795" algn="l"/>
              </a:tabLst>
            </a:pP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V</a:t>
            </a:r>
            <a:r>
              <a:rPr sz="1800" spc="-7" baseline="-32407" dirty="0">
                <a:solidFill>
                  <a:srgbClr val="595959"/>
                </a:solidFill>
                <a:latin typeface="Arial MT"/>
                <a:cs typeface="Arial MT"/>
              </a:rPr>
              <a:t>in</a:t>
            </a:r>
            <a:r>
              <a:rPr sz="1800" spc="247" baseline="-32407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=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GND	</a:t>
            </a:r>
            <a:r>
              <a:rPr sz="1800" dirty="0">
                <a:solidFill>
                  <a:srgbClr val="595959"/>
                </a:solidFill>
                <a:latin typeface="MS PGothic"/>
                <a:cs typeface="MS PGothic"/>
              </a:rPr>
              <a:t>⇒</a:t>
            </a:r>
            <a:r>
              <a:rPr sz="1800" spc="-65" dirty="0">
                <a:solidFill>
                  <a:srgbClr val="595959"/>
                </a:solidFill>
                <a:latin typeface="MS PGothic"/>
                <a:cs typeface="MS PGothic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V</a:t>
            </a:r>
            <a:r>
              <a:rPr sz="1800" spc="-7" baseline="-32407" dirty="0">
                <a:solidFill>
                  <a:srgbClr val="595959"/>
                </a:solidFill>
                <a:latin typeface="Arial MT"/>
                <a:cs typeface="Arial MT"/>
              </a:rPr>
              <a:t>out</a:t>
            </a:r>
            <a:r>
              <a:rPr sz="1800" spc="225" baseline="-32407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=</a:t>
            </a:r>
            <a:r>
              <a:rPr sz="1800" spc="-2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GND</a:t>
            </a:r>
            <a:r>
              <a:rPr sz="1800" spc="-2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(strong</a:t>
            </a:r>
            <a:r>
              <a:rPr sz="1800" spc="-2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0)</a:t>
            </a:r>
            <a:endParaRPr sz="1800">
              <a:latin typeface="Arial MT"/>
              <a:cs typeface="Arial MT"/>
            </a:endParaRPr>
          </a:p>
          <a:p>
            <a:pPr marL="417195" indent="-367030">
              <a:lnSpc>
                <a:spcPct val="100000"/>
              </a:lnSpc>
              <a:spcBef>
                <a:spcPts val="325"/>
              </a:spcBef>
              <a:buChar char="●"/>
              <a:tabLst>
                <a:tab pos="417195" algn="l"/>
                <a:tab pos="417830" algn="l"/>
              </a:tabLst>
            </a:pP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V</a:t>
            </a:r>
            <a:r>
              <a:rPr sz="1800" spc="-7" baseline="-32407" dirty="0">
                <a:solidFill>
                  <a:srgbClr val="595959"/>
                </a:solidFill>
                <a:latin typeface="Arial MT"/>
                <a:cs typeface="Arial MT"/>
              </a:rPr>
              <a:t>in</a:t>
            </a:r>
            <a:r>
              <a:rPr sz="1800" spc="209" baseline="-32407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=</a:t>
            </a:r>
            <a:r>
              <a:rPr sz="1800" spc="-3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V</a:t>
            </a:r>
            <a:r>
              <a:rPr sz="1800" spc="-7" baseline="-32407" dirty="0">
                <a:solidFill>
                  <a:srgbClr val="595959"/>
                </a:solidFill>
                <a:latin typeface="Arial MT"/>
                <a:cs typeface="Arial MT"/>
              </a:rPr>
              <a:t>DD</a:t>
            </a:r>
            <a:endParaRPr sz="1800" baseline="-32407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188125" y="1893828"/>
            <a:ext cx="4138295" cy="701675"/>
          </a:xfrm>
          <a:prstGeom prst="rect">
            <a:avLst/>
          </a:prstGeom>
        </p:spPr>
        <p:txBody>
          <a:bodyPr vert="horz" wrap="square" lIns="0" tIns="1181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30"/>
              </a:spcBef>
            </a:pPr>
            <a:r>
              <a:rPr sz="1800" dirty="0">
                <a:solidFill>
                  <a:srgbClr val="595959"/>
                </a:solidFill>
                <a:latin typeface="MS PGothic"/>
                <a:cs typeface="MS PGothic"/>
              </a:rPr>
              <a:t>⇒</a:t>
            </a:r>
            <a:r>
              <a:rPr sz="1800" spc="-60" dirty="0">
                <a:solidFill>
                  <a:srgbClr val="595959"/>
                </a:solidFill>
                <a:latin typeface="MS PGothic"/>
                <a:cs typeface="MS PGothic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V</a:t>
            </a:r>
            <a:r>
              <a:rPr sz="1800" spc="-7" baseline="-32407" dirty="0">
                <a:solidFill>
                  <a:srgbClr val="595959"/>
                </a:solidFill>
                <a:latin typeface="Arial MT"/>
                <a:cs typeface="Arial MT"/>
              </a:rPr>
              <a:t>out(max)</a:t>
            </a:r>
            <a:r>
              <a:rPr sz="1800" spc="232" baseline="-32407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=</a:t>
            </a:r>
            <a:r>
              <a:rPr sz="1800" spc="-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V</a:t>
            </a:r>
            <a:r>
              <a:rPr sz="1800" baseline="-32407" dirty="0">
                <a:solidFill>
                  <a:srgbClr val="595959"/>
                </a:solidFill>
                <a:latin typeface="Arial MT"/>
                <a:cs typeface="Arial MT"/>
              </a:rPr>
              <a:t>g</a:t>
            </a:r>
            <a:r>
              <a:rPr sz="1800" spc="232" baseline="-32407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-</a:t>
            </a:r>
            <a:r>
              <a:rPr sz="1800" spc="-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V</a:t>
            </a:r>
            <a:r>
              <a:rPr sz="1800" spc="-7" baseline="-32407" dirty="0">
                <a:solidFill>
                  <a:srgbClr val="595959"/>
                </a:solidFill>
                <a:latin typeface="Arial MT"/>
                <a:cs typeface="Arial MT"/>
              </a:rPr>
              <a:t>tn</a:t>
            </a:r>
            <a:r>
              <a:rPr sz="1800" spc="240" baseline="-32407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(degraded</a:t>
            </a:r>
            <a:r>
              <a:rPr sz="1800" spc="-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1)</a:t>
            </a:r>
            <a:endParaRPr sz="1800">
              <a:latin typeface="Arial MT"/>
              <a:cs typeface="Arial MT"/>
            </a:endParaRPr>
          </a:p>
          <a:p>
            <a:pPr marR="30480" algn="r">
              <a:lnSpc>
                <a:spcPct val="100000"/>
              </a:lnSpc>
              <a:spcBef>
                <a:spcPts val="650"/>
              </a:spcBef>
            </a:pPr>
            <a:r>
              <a:rPr sz="2100" spc="7" baseline="19841" dirty="0">
                <a:latin typeface="Arial MT"/>
                <a:cs typeface="Arial MT"/>
              </a:rPr>
              <a:t>V</a:t>
            </a:r>
            <a:r>
              <a:rPr sz="900" spc="5" dirty="0">
                <a:latin typeface="Arial MT"/>
                <a:cs typeface="Arial MT"/>
              </a:rPr>
              <a:t>in</a:t>
            </a:r>
            <a:r>
              <a:rPr sz="900" spc="-20" dirty="0">
                <a:latin typeface="Arial MT"/>
                <a:cs typeface="Arial MT"/>
              </a:rPr>
              <a:t> </a:t>
            </a:r>
            <a:r>
              <a:rPr sz="2100" baseline="19841" dirty="0">
                <a:latin typeface="Arial MT"/>
                <a:cs typeface="Arial MT"/>
              </a:rPr>
              <a:t>=</a:t>
            </a:r>
            <a:r>
              <a:rPr sz="2100" spc="-52" baseline="19841" dirty="0">
                <a:latin typeface="Arial MT"/>
                <a:cs typeface="Arial MT"/>
              </a:rPr>
              <a:t> </a:t>
            </a:r>
            <a:r>
              <a:rPr sz="2100" spc="15" baseline="19841" dirty="0">
                <a:latin typeface="Arial MT"/>
                <a:cs typeface="Arial MT"/>
              </a:rPr>
              <a:t>V</a:t>
            </a:r>
            <a:r>
              <a:rPr sz="900" spc="10" dirty="0">
                <a:latin typeface="Arial MT"/>
                <a:cs typeface="Arial MT"/>
              </a:rPr>
              <a:t>DD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84725" y="2935428"/>
            <a:ext cx="22205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pMOS</a:t>
            </a:r>
            <a:r>
              <a:rPr sz="1800" spc="-4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pass</a:t>
            </a:r>
            <a:r>
              <a:rPr sz="1800" spc="-4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transistor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49849" y="3362148"/>
            <a:ext cx="1493520" cy="656590"/>
          </a:xfrm>
          <a:prstGeom prst="rect">
            <a:avLst/>
          </a:prstGeom>
        </p:spPr>
        <p:txBody>
          <a:bodyPr vert="horz" wrap="square" lIns="0" tIns="53340" rIns="0" bIns="0" rtlCol="0">
            <a:spAutoFit/>
          </a:bodyPr>
          <a:lstStyle/>
          <a:p>
            <a:pPr marL="404495" indent="-367030">
              <a:lnSpc>
                <a:spcPct val="100000"/>
              </a:lnSpc>
              <a:spcBef>
                <a:spcPts val="420"/>
              </a:spcBef>
              <a:buChar char="●"/>
              <a:tabLst>
                <a:tab pos="404495" algn="l"/>
                <a:tab pos="405130" algn="l"/>
              </a:tabLst>
            </a:pP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V</a:t>
            </a:r>
            <a:r>
              <a:rPr sz="1800" spc="-7" baseline="-32407" dirty="0">
                <a:solidFill>
                  <a:srgbClr val="595959"/>
                </a:solidFill>
                <a:latin typeface="Arial MT"/>
                <a:cs typeface="Arial MT"/>
              </a:rPr>
              <a:t>in</a:t>
            </a:r>
            <a:r>
              <a:rPr sz="1800" spc="195" baseline="-32407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=</a:t>
            </a:r>
            <a:r>
              <a:rPr sz="1800" spc="-3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GND</a:t>
            </a:r>
            <a:endParaRPr sz="1800">
              <a:latin typeface="Arial MT"/>
              <a:cs typeface="Arial MT"/>
            </a:endParaRPr>
          </a:p>
          <a:p>
            <a:pPr marL="404495" indent="-367030">
              <a:lnSpc>
                <a:spcPct val="100000"/>
              </a:lnSpc>
              <a:spcBef>
                <a:spcPts val="325"/>
              </a:spcBef>
              <a:buChar char="●"/>
              <a:tabLst>
                <a:tab pos="404495" algn="l"/>
                <a:tab pos="405130" algn="l"/>
              </a:tabLst>
            </a:pP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V</a:t>
            </a:r>
            <a:r>
              <a:rPr sz="1800" spc="-7" baseline="-32407" dirty="0">
                <a:solidFill>
                  <a:srgbClr val="595959"/>
                </a:solidFill>
                <a:latin typeface="Arial MT"/>
                <a:cs typeface="Arial MT"/>
              </a:rPr>
              <a:t>in</a:t>
            </a:r>
            <a:r>
              <a:rPr sz="1800" spc="209" baseline="-32407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=</a:t>
            </a:r>
            <a:r>
              <a:rPr sz="1800" spc="-3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V</a:t>
            </a:r>
            <a:r>
              <a:rPr sz="1800" spc="-7" baseline="-32407" dirty="0">
                <a:solidFill>
                  <a:srgbClr val="595959"/>
                </a:solidFill>
                <a:latin typeface="Arial MT"/>
                <a:cs typeface="Arial MT"/>
              </a:rPr>
              <a:t>DD</a:t>
            </a:r>
            <a:endParaRPr sz="1800" baseline="-32407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188125" y="3362148"/>
            <a:ext cx="3110230" cy="656590"/>
          </a:xfrm>
          <a:prstGeom prst="rect">
            <a:avLst/>
          </a:prstGeom>
        </p:spPr>
        <p:txBody>
          <a:bodyPr vert="horz" wrap="square" lIns="0" tIns="533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20"/>
              </a:spcBef>
            </a:pPr>
            <a:r>
              <a:rPr sz="1800" dirty="0">
                <a:solidFill>
                  <a:srgbClr val="595959"/>
                </a:solidFill>
                <a:latin typeface="MS PGothic"/>
                <a:cs typeface="MS PGothic"/>
              </a:rPr>
              <a:t>⇒</a:t>
            </a:r>
            <a:r>
              <a:rPr sz="1800" spc="-65" dirty="0">
                <a:solidFill>
                  <a:srgbClr val="595959"/>
                </a:solidFill>
                <a:latin typeface="MS PGothic"/>
                <a:cs typeface="MS PGothic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V</a:t>
            </a:r>
            <a:r>
              <a:rPr sz="1800" spc="-7" baseline="-32407" dirty="0">
                <a:solidFill>
                  <a:srgbClr val="595959"/>
                </a:solidFill>
                <a:latin typeface="Arial MT"/>
                <a:cs typeface="Arial MT"/>
              </a:rPr>
              <a:t>out(min)</a:t>
            </a:r>
            <a:r>
              <a:rPr sz="1800" spc="232" baseline="-32407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=</a:t>
            </a:r>
            <a:r>
              <a:rPr sz="1800" spc="-2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|V</a:t>
            </a:r>
            <a:r>
              <a:rPr sz="1800" spc="-7" baseline="-32407" dirty="0">
                <a:solidFill>
                  <a:srgbClr val="595959"/>
                </a:solidFill>
                <a:latin typeface="Arial MT"/>
                <a:cs typeface="Arial MT"/>
              </a:rPr>
              <a:t>tp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|</a:t>
            </a:r>
            <a:r>
              <a:rPr sz="1800" spc="-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(degraded</a:t>
            </a:r>
            <a:r>
              <a:rPr sz="1800" spc="-2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0)</a:t>
            </a:r>
            <a:endParaRPr sz="1800">
              <a:latin typeface="Arial MT"/>
              <a:cs typeface="Arial MT"/>
            </a:endParaRPr>
          </a:p>
          <a:p>
            <a:pPr marL="38100">
              <a:lnSpc>
                <a:spcPct val="100000"/>
              </a:lnSpc>
              <a:spcBef>
                <a:spcPts val="325"/>
              </a:spcBef>
            </a:pPr>
            <a:r>
              <a:rPr sz="1800" dirty="0">
                <a:solidFill>
                  <a:srgbClr val="595959"/>
                </a:solidFill>
                <a:latin typeface="MS PGothic"/>
                <a:cs typeface="MS PGothic"/>
              </a:rPr>
              <a:t>⇒</a:t>
            </a:r>
            <a:r>
              <a:rPr sz="1800" spc="-65" dirty="0">
                <a:solidFill>
                  <a:srgbClr val="595959"/>
                </a:solidFill>
                <a:latin typeface="MS PGothic"/>
                <a:cs typeface="MS PGothic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V</a:t>
            </a:r>
            <a:r>
              <a:rPr sz="1800" spc="-7" baseline="-32407" dirty="0">
                <a:solidFill>
                  <a:srgbClr val="595959"/>
                </a:solidFill>
                <a:latin typeface="Arial MT"/>
                <a:cs typeface="Arial MT"/>
              </a:rPr>
              <a:t>out</a:t>
            </a:r>
            <a:r>
              <a:rPr sz="1800" spc="225" baseline="-32407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=</a:t>
            </a:r>
            <a:r>
              <a:rPr sz="1800" spc="-2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V</a:t>
            </a:r>
            <a:r>
              <a:rPr sz="1800" baseline="-32407" dirty="0">
                <a:solidFill>
                  <a:srgbClr val="595959"/>
                </a:solidFill>
                <a:latin typeface="Arial MT"/>
                <a:cs typeface="Arial MT"/>
              </a:rPr>
              <a:t>DD</a:t>
            </a:r>
            <a:r>
              <a:rPr sz="1800" spc="225" baseline="-32407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(strong</a:t>
            </a:r>
            <a:r>
              <a:rPr sz="1800" spc="-2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1)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563649" y="1494187"/>
            <a:ext cx="58801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400" spc="5" dirty="0">
                <a:latin typeface="Arial MT"/>
                <a:cs typeface="Arial MT"/>
              </a:rPr>
              <a:t>V</a:t>
            </a:r>
            <a:r>
              <a:rPr sz="1350" spc="7" baseline="-33950" dirty="0">
                <a:latin typeface="Arial MT"/>
                <a:cs typeface="Arial MT"/>
              </a:rPr>
              <a:t>in</a:t>
            </a:r>
            <a:r>
              <a:rPr sz="1350" spc="142" baseline="-3395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=</a:t>
            </a:r>
            <a:r>
              <a:rPr sz="1400" spc="-4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0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436725" y="1494187"/>
            <a:ext cx="66040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400" spc="5" dirty="0">
                <a:solidFill>
                  <a:srgbClr val="37761C"/>
                </a:solidFill>
                <a:latin typeface="Arial MT"/>
                <a:cs typeface="Arial MT"/>
              </a:rPr>
              <a:t>V</a:t>
            </a:r>
            <a:r>
              <a:rPr sz="1350" spc="7" baseline="-33950" dirty="0">
                <a:solidFill>
                  <a:srgbClr val="37761C"/>
                </a:solidFill>
                <a:latin typeface="Arial MT"/>
                <a:cs typeface="Arial MT"/>
              </a:rPr>
              <a:t>out</a:t>
            </a:r>
            <a:r>
              <a:rPr sz="1350" spc="150" baseline="-33950" dirty="0">
                <a:solidFill>
                  <a:srgbClr val="37761C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37761C"/>
                </a:solidFill>
                <a:latin typeface="Arial MT"/>
                <a:cs typeface="Arial MT"/>
              </a:rPr>
              <a:t>=</a:t>
            </a:r>
            <a:r>
              <a:rPr sz="1400" spc="-35" dirty="0">
                <a:solidFill>
                  <a:srgbClr val="37761C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37761C"/>
                </a:solidFill>
                <a:latin typeface="Arial MT"/>
                <a:cs typeface="Arial MT"/>
              </a:rPr>
              <a:t>0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563649" y="3237588"/>
            <a:ext cx="58801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400" spc="5" dirty="0">
                <a:latin typeface="Arial MT"/>
                <a:cs typeface="Arial MT"/>
              </a:rPr>
              <a:t>V</a:t>
            </a:r>
            <a:r>
              <a:rPr sz="1350" spc="7" baseline="-33950" dirty="0">
                <a:latin typeface="Arial MT"/>
                <a:cs typeface="Arial MT"/>
              </a:rPr>
              <a:t>in</a:t>
            </a:r>
            <a:r>
              <a:rPr sz="1350" spc="142" baseline="-3395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=</a:t>
            </a:r>
            <a:r>
              <a:rPr sz="1400" spc="-4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0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563649" y="4328362"/>
            <a:ext cx="77914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100" spc="7" baseline="21825" dirty="0">
                <a:latin typeface="Arial MT"/>
                <a:cs typeface="Arial MT"/>
              </a:rPr>
              <a:t>V</a:t>
            </a:r>
            <a:r>
              <a:rPr sz="900" spc="5" dirty="0">
                <a:latin typeface="Arial MT"/>
                <a:cs typeface="Arial MT"/>
              </a:rPr>
              <a:t>in</a:t>
            </a:r>
            <a:r>
              <a:rPr sz="900" spc="100" dirty="0">
                <a:latin typeface="Arial MT"/>
                <a:cs typeface="Arial MT"/>
              </a:rPr>
              <a:t> </a:t>
            </a:r>
            <a:r>
              <a:rPr sz="2100" baseline="21825" dirty="0">
                <a:latin typeface="Arial MT"/>
                <a:cs typeface="Arial MT"/>
              </a:rPr>
              <a:t>=</a:t>
            </a:r>
            <a:r>
              <a:rPr sz="2100" spc="-52" baseline="21825" dirty="0">
                <a:latin typeface="Arial MT"/>
                <a:cs typeface="Arial MT"/>
              </a:rPr>
              <a:t> </a:t>
            </a:r>
            <a:r>
              <a:rPr sz="2100" spc="15" baseline="21825" dirty="0">
                <a:latin typeface="Arial MT"/>
                <a:cs typeface="Arial MT"/>
              </a:rPr>
              <a:t>V</a:t>
            </a:r>
            <a:r>
              <a:rPr sz="900" spc="10" dirty="0">
                <a:latin typeface="Arial MT"/>
                <a:cs typeface="Arial MT"/>
              </a:rPr>
              <a:t>DD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436725" y="4328362"/>
            <a:ext cx="852169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100" spc="7" baseline="21825" dirty="0">
                <a:solidFill>
                  <a:srgbClr val="37761C"/>
                </a:solidFill>
                <a:latin typeface="Arial MT"/>
                <a:cs typeface="Arial MT"/>
              </a:rPr>
              <a:t>V</a:t>
            </a:r>
            <a:r>
              <a:rPr sz="900" spc="5" dirty="0">
                <a:solidFill>
                  <a:srgbClr val="37761C"/>
                </a:solidFill>
                <a:latin typeface="Arial MT"/>
                <a:cs typeface="Arial MT"/>
              </a:rPr>
              <a:t>out</a:t>
            </a:r>
            <a:r>
              <a:rPr sz="900" spc="105" dirty="0">
                <a:solidFill>
                  <a:srgbClr val="37761C"/>
                </a:solidFill>
                <a:latin typeface="Arial MT"/>
                <a:cs typeface="Arial MT"/>
              </a:rPr>
              <a:t> </a:t>
            </a:r>
            <a:r>
              <a:rPr sz="2100" baseline="21825" dirty="0">
                <a:solidFill>
                  <a:srgbClr val="37761C"/>
                </a:solidFill>
                <a:latin typeface="Arial MT"/>
                <a:cs typeface="Arial MT"/>
              </a:rPr>
              <a:t>=</a:t>
            </a:r>
            <a:r>
              <a:rPr sz="2100" spc="-52" baseline="21825" dirty="0">
                <a:solidFill>
                  <a:srgbClr val="37761C"/>
                </a:solidFill>
                <a:latin typeface="Arial MT"/>
                <a:cs typeface="Arial MT"/>
              </a:rPr>
              <a:t> </a:t>
            </a:r>
            <a:r>
              <a:rPr sz="2100" spc="15" baseline="21825" dirty="0">
                <a:solidFill>
                  <a:srgbClr val="37761C"/>
                </a:solidFill>
                <a:latin typeface="Arial MT"/>
                <a:cs typeface="Arial MT"/>
              </a:rPr>
              <a:t>V</a:t>
            </a:r>
            <a:r>
              <a:rPr sz="900" spc="10" dirty="0">
                <a:solidFill>
                  <a:srgbClr val="37761C"/>
                </a:solidFill>
                <a:latin typeface="Arial MT"/>
                <a:cs typeface="Arial MT"/>
              </a:rPr>
              <a:t>DD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436725" y="3237588"/>
            <a:ext cx="87185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400" spc="5" dirty="0">
                <a:solidFill>
                  <a:srgbClr val="CC0000"/>
                </a:solidFill>
                <a:latin typeface="Arial MT"/>
                <a:cs typeface="Arial MT"/>
              </a:rPr>
              <a:t>V</a:t>
            </a:r>
            <a:r>
              <a:rPr sz="1350" spc="7" baseline="-33950" dirty="0">
                <a:solidFill>
                  <a:srgbClr val="CC0000"/>
                </a:solidFill>
                <a:latin typeface="Arial MT"/>
                <a:cs typeface="Arial MT"/>
              </a:rPr>
              <a:t>out</a:t>
            </a:r>
            <a:r>
              <a:rPr sz="1350" spc="165" baseline="-33950" dirty="0">
                <a:solidFill>
                  <a:srgbClr val="CC0000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CC0000"/>
                </a:solidFill>
                <a:latin typeface="Arial MT"/>
                <a:cs typeface="Arial MT"/>
              </a:rPr>
              <a:t>=</a:t>
            </a:r>
            <a:r>
              <a:rPr sz="1400" spc="-30" dirty="0">
                <a:solidFill>
                  <a:srgbClr val="CC0000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CC0000"/>
                </a:solidFill>
                <a:latin typeface="Arial MT"/>
                <a:cs typeface="Arial MT"/>
              </a:rPr>
              <a:t>|V</a:t>
            </a:r>
            <a:r>
              <a:rPr sz="1350" baseline="-33950" dirty="0">
                <a:solidFill>
                  <a:srgbClr val="CC0000"/>
                </a:solidFill>
                <a:latin typeface="Arial MT"/>
                <a:cs typeface="Arial MT"/>
              </a:rPr>
              <a:t>tp</a:t>
            </a:r>
            <a:r>
              <a:rPr sz="1400" dirty="0">
                <a:solidFill>
                  <a:srgbClr val="CC0000"/>
                </a:solidFill>
                <a:latin typeface="Arial MT"/>
                <a:cs typeface="Arial MT"/>
              </a:rPr>
              <a:t>|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436725" y="2356363"/>
            <a:ext cx="112204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100" spc="7" baseline="19841" dirty="0">
                <a:solidFill>
                  <a:srgbClr val="CC0000"/>
                </a:solidFill>
                <a:latin typeface="Arial MT"/>
                <a:cs typeface="Arial MT"/>
              </a:rPr>
              <a:t>V</a:t>
            </a:r>
            <a:r>
              <a:rPr sz="900" spc="5" dirty="0">
                <a:solidFill>
                  <a:srgbClr val="CC0000"/>
                </a:solidFill>
                <a:latin typeface="Arial MT"/>
                <a:cs typeface="Arial MT"/>
              </a:rPr>
              <a:t>out</a:t>
            </a:r>
            <a:r>
              <a:rPr sz="900" spc="114" dirty="0">
                <a:solidFill>
                  <a:srgbClr val="CC0000"/>
                </a:solidFill>
                <a:latin typeface="Arial MT"/>
                <a:cs typeface="Arial MT"/>
              </a:rPr>
              <a:t> </a:t>
            </a:r>
            <a:r>
              <a:rPr sz="2100" baseline="19841" dirty="0">
                <a:solidFill>
                  <a:srgbClr val="CC0000"/>
                </a:solidFill>
                <a:latin typeface="Arial MT"/>
                <a:cs typeface="Arial MT"/>
              </a:rPr>
              <a:t>=</a:t>
            </a:r>
            <a:r>
              <a:rPr sz="2100" spc="-30" baseline="19841" dirty="0">
                <a:solidFill>
                  <a:srgbClr val="CC0000"/>
                </a:solidFill>
                <a:latin typeface="Arial MT"/>
                <a:cs typeface="Arial MT"/>
              </a:rPr>
              <a:t> </a:t>
            </a:r>
            <a:r>
              <a:rPr sz="2100" spc="7" baseline="19841" dirty="0">
                <a:solidFill>
                  <a:srgbClr val="CC0000"/>
                </a:solidFill>
                <a:latin typeface="Arial MT"/>
                <a:cs typeface="Arial MT"/>
              </a:rPr>
              <a:t>V</a:t>
            </a:r>
            <a:r>
              <a:rPr sz="900" spc="5" dirty="0">
                <a:solidFill>
                  <a:srgbClr val="CC0000"/>
                </a:solidFill>
                <a:latin typeface="Arial MT"/>
                <a:cs typeface="Arial MT"/>
              </a:rPr>
              <a:t>g</a:t>
            </a:r>
            <a:r>
              <a:rPr sz="900" spc="120" dirty="0">
                <a:solidFill>
                  <a:srgbClr val="CC0000"/>
                </a:solidFill>
                <a:latin typeface="Arial MT"/>
                <a:cs typeface="Arial MT"/>
              </a:rPr>
              <a:t> </a:t>
            </a:r>
            <a:r>
              <a:rPr sz="2100" baseline="19841" dirty="0">
                <a:solidFill>
                  <a:srgbClr val="CC0000"/>
                </a:solidFill>
                <a:latin typeface="Arial MT"/>
                <a:cs typeface="Arial MT"/>
              </a:rPr>
              <a:t>-</a:t>
            </a:r>
            <a:r>
              <a:rPr sz="2100" spc="-30" baseline="19841" dirty="0">
                <a:solidFill>
                  <a:srgbClr val="CC0000"/>
                </a:solidFill>
                <a:latin typeface="Arial MT"/>
                <a:cs typeface="Arial MT"/>
              </a:rPr>
              <a:t> </a:t>
            </a:r>
            <a:r>
              <a:rPr sz="2100" spc="7" baseline="19841" dirty="0">
                <a:solidFill>
                  <a:srgbClr val="CC0000"/>
                </a:solidFill>
                <a:latin typeface="Arial MT"/>
                <a:cs typeface="Arial MT"/>
              </a:rPr>
              <a:t>V</a:t>
            </a:r>
            <a:r>
              <a:rPr sz="900" spc="5" dirty="0">
                <a:solidFill>
                  <a:srgbClr val="CC0000"/>
                </a:solidFill>
                <a:latin typeface="Arial MT"/>
                <a:cs typeface="Arial MT"/>
              </a:rPr>
              <a:t>tn</a:t>
            </a:r>
            <a:endParaRPr sz="900">
              <a:latin typeface="Arial MT"/>
              <a:cs typeface="Arial MT"/>
            </a:endParaRPr>
          </a:p>
        </p:txBody>
      </p:sp>
      <p:pic>
        <p:nvPicPr>
          <p:cNvPr id="16" name="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492948" y="1133929"/>
            <a:ext cx="763865" cy="3300385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6D1B56-C724-6154-6DD2-38D98929AF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6A67C76-C56F-12EB-17BD-F666CA61E3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3600" y="859939"/>
            <a:ext cx="5129482" cy="367296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475557D-9BB4-E848-3988-83AC0B0429A0}"/>
              </a:ext>
            </a:extLst>
          </p:cNvPr>
          <p:cNvSpPr txBox="1"/>
          <p:nvPr/>
        </p:nvSpPr>
        <p:spPr>
          <a:xfrm>
            <a:off x="647699" y="187220"/>
            <a:ext cx="78486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Exercise:</a:t>
            </a:r>
            <a:br>
              <a:rPr lang="en-US" dirty="0"/>
            </a:br>
            <a:r>
              <a:rPr lang="en-US" dirty="0"/>
              <a:t>For the circuit, </a:t>
            </a:r>
            <a:r>
              <a:rPr lang="en-US" dirty="0" err="1"/>
              <a:t>Vdd</a:t>
            </a:r>
            <a:r>
              <a:rPr lang="en-US" dirty="0"/>
              <a:t> = 4 V and </a:t>
            </a:r>
            <a:r>
              <a:rPr lang="en-US" dirty="0" err="1"/>
              <a:t>Vtn</a:t>
            </a:r>
            <a:r>
              <a:rPr lang="en-US" dirty="0"/>
              <a:t> = |</a:t>
            </a:r>
            <a:r>
              <a:rPr lang="en-US" dirty="0" err="1"/>
              <a:t>Vtp</a:t>
            </a:r>
            <a:r>
              <a:rPr lang="en-US" dirty="0"/>
              <a:t>| = 0.2 V. Determine V1, V2, V3, V4, V5, and V6.</a:t>
            </a:r>
          </a:p>
        </p:txBody>
      </p:sp>
    </p:spTree>
    <p:extLst>
      <p:ext uri="{BB962C8B-B14F-4D97-AF65-F5344CB8AC3E}">
        <p14:creationId xmlns:p14="http://schemas.microsoft.com/office/powerpoint/2010/main" val="97653992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B11704-916E-C449-54E1-7F960F2515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>
            <a:extLst>
              <a:ext uri="{FF2B5EF4-FFF2-40B4-BE49-F238E27FC236}">
                <a16:creationId xmlns:a16="http://schemas.microsoft.com/office/drawing/2014/main" id="{571AC48B-5E79-08B0-607C-028070F033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666750"/>
            <a:ext cx="8605664" cy="266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370774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7BB536-CF6F-E0B7-FD6D-CEBAC70556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">
            <a:extLst>
              <a:ext uri="{FF2B5EF4-FFF2-40B4-BE49-F238E27FC236}">
                <a16:creationId xmlns:a16="http://schemas.microsoft.com/office/drawing/2014/main" id="{D5A1E931-67A5-134B-3EBF-74B1C163A7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1999" y="731520"/>
            <a:ext cx="7543801" cy="3795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5903971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6542DD-0508-D763-BEEF-75B1C132D2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8A9BECA-2F83-290F-A341-BA740651AD5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7900" y="133883"/>
            <a:ext cx="5143500" cy="48757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00244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05248"/>
            <a:ext cx="6526530" cy="40957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500" spc="5" dirty="0"/>
              <a:t>Pass</a:t>
            </a:r>
            <a:r>
              <a:rPr sz="2500" spc="-45" dirty="0"/>
              <a:t> </a:t>
            </a:r>
            <a:r>
              <a:rPr sz="2500" spc="-5" dirty="0"/>
              <a:t>Transistor</a:t>
            </a:r>
            <a:r>
              <a:rPr sz="2500" spc="5" dirty="0"/>
              <a:t> </a:t>
            </a:r>
            <a:r>
              <a:rPr sz="2500" spc="10" dirty="0"/>
              <a:t>DC </a:t>
            </a:r>
            <a:r>
              <a:rPr sz="2500" dirty="0"/>
              <a:t>Characteristics:</a:t>
            </a:r>
            <a:r>
              <a:rPr sz="2500" spc="5" dirty="0"/>
              <a:t> Summary</a:t>
            </a:r>
            <a:endParaRPr sz="2500"/>
          </a:p>
        </p:txBody>
      </p:sp>
      <p:sp>
        <p:nvSpPr>
          <p:cNvPr id="3" name="object 3"/>
          <p:cNvSpPr txBox="1"/>
          <p:nvPr/>
        </p:nvSpPr>
        <p:spPr>
          <a:xfrm>
            <a:off x="372025" y="1175208"/>
            <a:ext cx="8290559" cy="2386330"/>
          </a:xfrm>
          <a:prstGeom prst="rect">
            <a:avLst/>
          </a:prstGeom>
        </p:spPr>
        <p:txBody>
          <a:bodyPr vert="horz" wrap="square" lIns="0" tIns="53340" rIns="0" bIns="0" rtlCol="0">
            <a:spAutoFit/>
          </a:bodyPr>
          <a:lstStyle/>
          <a:p>
            <a:pPr marL="482600" indent="-367030">
              <a:lnSpc>
                <a:spcPct val="100000"/>
              </a:lnSpc>
              <a:spcBef>
                <a:spcPts val="420"/>
              </a:spcBef>
              <a:buChar char="●"/>
              <a:tabLst>
                <a:tab pos="481965" algn="l"/>
                <a:tab pos="482600" algn="l"/>
              </a:tabLst>
            </a:pP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nMOS/pMOS</a:t>
            </a:r>
            <a:r>
              <a:rPr sz="1800" spc="-2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pass</a:t>
            </a:r>
            <a:r>
              <a:rPr sz="1800" spc="-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transistors</a:t>
            </a:r>
            <a:r>
              <a:rPr sz="1800" spc="-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sometimes</a:t>
            </a:r>
            <a:r>
              <a:rPr sz="1800" spc="-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produce</a:t>
            </a:r>
            <a:r>
              <a:rPr sz="1800" spc="-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degraded</a:t>
            </a:r>
            <a:r>
              <a:rPr sz="1800" spc="-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outputs</a:t>
            </a:r>
            <a:endParaRPr sz="1800">
              <a:latin typeface="Arial MT"/>
              <a:cs typeface="Arial MT"/>
            </a:endParaRPr>
          </a:p>
          <a:p>
            <a:pPr marL="482600" indent="-367030">
              <a:lnSpc>
                <a:spcPct val="100000"/>
              </a:lnSpc>
              <a:spcBef>
                <a:spcPts val="325"/>
              </a:spcBef>
              <a:buChar char="●"/>
              <a:tabLst>
                <a:tab pos="481965" algn="l"/>
                <a:tab pos="482600" algn="l"/>
              </a:tabLst>
            </a:pP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The</a:t>
            </a:r>
            <a:r>
              <a:rPr sz="1800" spc="-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loss</a:t>
            </a:r>
            <a:r>
              <a:rPr sz="1800" spc="-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is</a:t>
            </a:r>
            <a:r>
              <a:rPr sz="1800" spc="-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sometimes</a:t>
            </a:r>
            <a:r>
              <a:rPr sz="1800" spc="-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called</a:t>
            </a:r>
            <a:r>
              <a:rPr sz="1800" spc="-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a</a:t>
            </a:r>
            <a:r>
              <a:rPr sz="1800" spc="-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threshold</a:t>
            </a:r>
            <a:r>
              <a:rPr sz="1800" spc="-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drop</a:t>
            </a:r>
            <a:endParaRPr sz="1800">
              <a:latin typeface="Arial MT"/>
              <a:cs typeface="Arial MT"/>
            </a:endParaRPr>
          </a:p>
          <a:p>
            <a:pPr marL="482600" marR="118745" indent="-367030">
              <a:lnSpc>
                <a:spcPct val="114999"/>
              </a:lnSpc>
              <a:buChar char="●"/>
              <a:tabLst>
                <a:tab pos="481965" algn="l"/>
                <a:tab pos="482600" algn="l"/>
              </a:tabLst>
            </a:pP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In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old processes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where </a:t>
            </a:r>
            <a:r>
              <a:rPr sz="1800" spc="5" dirty="0">
                <a:solidFill>
                  <a:srgbClr val="595959"/>
                </a:solidFill>
                <a:latin typeface="Arial MT"/>
                <a:cs typeface="Arial MT"/>
              </a:rPr>
              <a:t>V</a:t>
            </a:r>
            <a:r>
              <a:rPr sz="1800" spc="7" baseline="-32407" dirty="0">
                <a:solidFill>
                  <a:srgbClr val="595959"/>
                </a:solidFill>
                <a:latin typeface="Arial MT"/>
                <a:cs typeface="Arial MT"/>
              </a:rPr>
              <a:t>DD</a:t>
            </a:r>
            <a:r>
              <a:rPr sz="1800" spc="240" baseline="-32407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was high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and Vt</a:t>
            </a:r>
            <a:r>
              <a:rPr sz="1800" spc="-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was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a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small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fraction of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10" dirty="0">
                <a:solidFill>
                  <a:srgbClr val="595959"/>
                </a:solidFill>
                <a:latin typeface="Arial MT"/>
                <a:cs typeface="Arial MT"/>
              </a:rPr>
              <a:t>V</a:t>
            </a:r>
            <a:r>
              <a:rPr sz="1800" spc="15" baseline="-32407" dirty="0">
                <a:solidFill>
                  <a:srgbClr val="595959"/>
                </a:solidFill>
                <a:latin typeface="Arial MT"/>
                <a:cs typeface="Arial MT"/>
              </a:rPr>
              <a:t>DD</a:t>
            </a:r>
            <a:r>
              <a:rPr sz="1800" spc="10" dirty="0">
                <a:solidFill>
                  <a:srgbClr val="595959"/>
                </a:solidFill>
                <a:latin typeface="Arial MT"/>
                <a:cs typeface="Arial MT"/>
              </a:rPr>
              <a:t>,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 the </a:t>
            </a:r>
            <a:r>
              <a:rPr sz="1800" spc="-484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threshold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drop was tolerable</a:t>
            </a:r>
            <a:endParaRPr sz="1800">
              <a:latin typeface="Arial MT"/>
              <a:cs typeface="Arial MT"/>
            </a:endParaRPr>
          </a:p>
          <a:p>
            <a:pPr marL="482600" marR="68580" indent="-367030">
              <a:lnSpc>
                <a:spcPct val="114999"/>
              </a:lnSpc>
              <a:buChar char="●"/>
              <a:tabLst>
                <a:tab pos="481965" algn="l"/>
                <a:tab pos="482600" algn="l"/>
              </a:tabLst>
            </a:pP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I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n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modern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 processe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s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15" dirty="0">
                <a:solidFill>
                  <a:srgbClr val="595959"/>
                </a:solidFill>
                <a:latin typeface="Arial MT"/>
                <a:cs typeface="Arial MT"/>
              </a:rPr>
              <a:t>V</a:t>
            </a:r>
            <a:r>
              <a:rPr sz="1800" spc="-7" baseline="-32407" dirty="0">
                <a:solidFill>
                  <a:srgbClr val="595959"/>
                </a:solidFill>
                <a:latin typeface="Arial MT"/>
                <a:cs typeface="Arial MT"/>
              </a:rPr>
              <a:t>D</a:t>
            </a:r>
            <a:r>
              <a:rPr sz="1800" baseline="-32407" dirty="0">
                <a:solidFill>
                  <a:srgbClr val="595959"/>
                </a:solidFill>
                <a:latin typeface="Arial MT"/>
                <a:cs typeface="Arial MT"/>
              </a:rPr>
              <a:t>D</a:t>
            </a:r>
            <a:r>
              <a:rPr sz="1800" spc="247" baseline="-32407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i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s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significantly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 lowe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r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 an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d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 V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t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i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s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 almos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t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300" dirty="0">
                <a:solidFill>
                  <a:srgbClr val="595959"/>
                </a:solidFill>
                <a:latin typeface="Arial MT"/>
                <a:cs typeface="Arial MT"/>
              </a:rPr>
              <a:t>⅓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 o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f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35" dirty="0">
                <a:solidFill>
                  <a:srgbClr val="595959"/>
                </a:solidFill>
                <a:latin typeface="Arial MT"/>
                <a:cs typeface="Arial MT"/>
              </a:rPr>
              <a:t>V</a:t>
            </a:r>
            <a:r>
              <a:rPr sz="1800" spc="-7" baseline="-32407" dirty="0">
                <a:solidFill>
                  <a:srgbClr val="595959"/>
                </a:solidFill>
                <a:latin typeface="Arial MT"/>
                <a:cs typeface="Arial MT"/>
              </a:rPr>
              <a:t>D</a:t>
            </a:r>
            <a:r>
              <a:rPr sz="1800" baseline="-32407" dirty="0">
                <a:solidFill>
                  <a:srgbClr val="595959"/>
                </a:solidFill>
                <a:latin typeface="Arial MT"/>
                <a:cs typeface="Arial MT"/>
              </a:rPr>
              <a:t>D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,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 the  threshold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drop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can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produce an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invalid or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marginal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 logic at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the output</a:t>
            </a:r>
            <a:endParaRPr sz="1800">
              <a:latin typeface="Arial MT"/>
              <a:cs typeface="Arial MT"/>
            </a:endParaRPr>
          </a:p>
          <a:p>
            <a:pPr marL="25400">
              <a:lnSpc>
                <a:spcPct val="100000"/>
              </a:lnSpc>
              <a:spcBef>
                <a:spcPts val="1525"/>
              </a:spcBef>
            </a:pPr>
            <a:r>
              <a:rPr sz="1800" spc="-100" dirty="0">
                <a:solidFill>
                  <a:srgbClr val="595959"/>
                </a:solidFill>
                <a:latin typeface="Arial MT"/>
                <a:cs typeface="Arial MT"/>
              </a:rPr>
              <a:t>To</a:t>
            </a:r>
            <a:r>
              <a:rPr sz="1800" spc="-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solve</a:t>
            </a:r>
            <a:r>
              <a:rPr sz="1800" spc="-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this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problem</a:t>
            </a:r>
            <a:r>
              <a:rPr sz="1800" spc="-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we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use</a:t>
            </a:r>
            <a:r>
              <a:rPr sz="1800" spc="-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CMOS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transmission</a:t>
            </a:r>
            <a:r>
              <a:rPr sz="1800" spc="-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gates</a:t>
            </a:r>
            <a:endParaRPr sz="1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15295" y="2266442"/>
            <a:ext cx="230949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Thank</a:t>
            </a:r>
            <a:r>
              <a:rPr spc="-145" dirty="0"/>
              <a:t> </a:t>
            </a:r>
            <a:r>
              <a:rPr spc="-90" dirty="0"/>
              <a:t>You!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39</TotalTime>
  <Words>2137</Words>
  <Application>Microsoft Office PowerPoint</Application>
  <PresentationFormat>On-screen Show (16:9)</PresentationFormat>
  <Paragraphs>269</Paragraphs>
  <Slides>43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48" baseType="lpstr">
      <vt:lpstr>MS PGothic</vt:lpstr>
      <vt:lpstr>Arial</vt:lpstr>
      <vt:lpstr>Arial MT</vt:lpstr>
      <vt:lpstr>Calibri</vt:lpstr>
      <vt:lpstr>Office Theme</vt:lpstr>
      <vt:lpstr>PowerPoint Presentation</vt:lpstr>
      <vt:lpstr>CMOS DC Characteristics</vt:lpstr>
      <vt:lpstr>Contents</vt:lpstr>
      <vt:lpstr>Static CMOS Inverter</vt:lpstr>
      <vt:lpstr>CMOS Inverter DC Response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Practical CMOS Inverter DC response</vt:lpstr>
      <vt:lpstr>Supply Current</vt:lpstr>
      <vt:lpstr>Power Consumption</vt:lpstr>
      <vt:lpstr>Power Consumption</vt:lpstr>
      <vt:lpstr>Beta Ratio Effects</vt:lpstr>
      <vt:lpstr>Beta Ratio Effects for a Static CMOS Inverter</vt:lpstr>
      <vt:lpstr>Beta Ratio Effects for a Static CMOS Inverter</vt:lpstr>
      <vt:lpstr>PowerPoint Presentation</vt:lpstr>
      <vt:lpstr>Other CMOS Gates</vt:lpstr>
      <vt:lpstr>Noise Margin (Noise Immunity)</vt:lpstr>
      <vt:lpstr>Noise Margin</vt:lpstr>
      <vt:lpstr>Low Noise Margin</vt:lpstr>
      <vt:lpstr>High Noise Margin</vt:lpstr>
      <vt:lpstr>Selecting VIL, VIH, VOL &amp; VOH</vt:lpstr>
      <vt:lpstr>Selecting VIL, VIH, VOL &amp; VOH</vt:lpstr>
      <vt:lpstr>PowerPoint Presentation</vt:lpstr>
      <vt:lpstr>Noise Margin: Summary</vt:lpstr>
      <vt:lpstr>Noise Margin: Summary</vt:lpstr>
      <vt:lpstr>Pass Transistor DC Characteristics</vt:lpstr>
      <vt:lpstr>nMOS Pass Transistor DC Characteristics</vt:lpstr>
      <vt:lpstr>nMOS Pass Transistor DC Characteristics</vt:lpstr>
      <vt:lpstr>pMOS Pass Transistor DC Characteristics</vt:lpstr>
      <vt:lpstr>pMOS Pass Transistor DC Characteristics</vt:lpstr>
      <vt:lpstr>nMOS Pass Transistor DC Characteristics</vt:lpstr>
      <vt:lpstr>nMOS Pass Transistor DC Characteristics</vt:lpstr>
      <vt:lpstr>Pass Transistor DC Characteristics: Summary</vt:lpstr>
      <vt:lpstr>PowerPoint Presentation</vt:lpstr>
      <vt:lpstr>PowerPoint Presentation</vt:lpstr>
      <vt:lpstr>PowerPoint Presentation</vt:lpstr>
      <vt:lpstr>PowerPoint Presentation</vt:lpstr>
      <vt:lpstr>Pass Transistor DC Characteristics: Summary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CMOS DC Characteristics</dc:title>
  <cp:lastModifiedBy>Shomen Kundu</cp:lastModifiedBy>
  <cp:revision>6</cp:revision>
  <dcterms:created xsi:type="dcterms:W3CDTF">2024-11-03T19:15:45Z</dcterms:created>
  <dcterms:modified xsi:type="dcterms:W3CDTF">2025-11-16T05:30:47Z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or">
    <vt:lpwstr>Google</vt:lpwstr>
  </property>
</Properties>
</file>