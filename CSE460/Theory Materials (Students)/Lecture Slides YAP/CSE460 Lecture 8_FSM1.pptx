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58000" cy="9144000"/>
  <p:embeddedFontLst>
    <p:embeddedFont>
      <p:font typeface="Noto Sans Symbols"/>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hY1L4uB9a31VFr4vsybrKBXMu1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9BF09C-48FC-43F2-A22E-6EB70BDE1EA8}">
  <a:tblStyle styleId="{519BF09C-48FC-43F2-A22E-6EB70BDE1EA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8476B5D-2711-416F-9EB7-66369C930DE7}"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1B53FDF-9A89-4878-8B59-67A74DF96591}" styleName="Table_2">
    <a:wholeTbl>
      <a:tcTxStyle b="off" i="off">
        <a:font>
          <a:latin typeface="Calibri"/>
          <a:ea typeface="Calibri"/>
          <a:cs typeface="Calibri"/>
        </a:font>
        <a:schemeClr val="dk1"/>
      </a:tcTxStyle>
      <a:tcStyle>
        <a:tcBdr>
          <a:left>
            <a:ln cap="flat" cmpd="sng" w="9525">
              <a:solidFill>
                <a:schemeClr val="dk1"/>
              </a:solidFill>
              <a:prstDash val="solid"/>
              <a:round/>
              <a:headEnd len="sm" w="sm" type="none"/>
              <a:tailEnd len="sm" w="sm" type="none"/>
            </a:ln>
          </a:left>
          <a:right>
            <a:ln cap="flat" cmpd="sng" w="9525">
              <a:solidFill>
                <a:schemeClr val="dk1"/>
              </a:solidFill>
              <a:prstDash val="solid"/>
              <a:round/>
              <a:headEnd len="sm" w="sm" type="none"/>
              <a:tailEnd len="sm" w="sm" type="none"/>
            </a:ln>
          </a:right>
          <a:top>
            <a:ln cap="flat" cmpd="sng" w="9525">
              <a:solidFill>
                <a:schemeClr val="dk1"/>
              </a:solidFill>
              <a:prstDash val="solid"/>
              <a:round/>
              <a:headEnd len="sm" w="sm" type="none"/>
              <a:tailEnd len="sm" w="sm" type="none"/>
            </a:ln>
          </a:top>
          <a:bottom>
            <a:ln cap="flat" cmpd="sng" w="9525">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dk1"/>
              </a:solidFill>
              <a:prstDash val="solid"/>
              <a:round/>
              <a:headEnd len="sm" w="sm" type="none"/>
              <a:tailEnd len="sm" w="sm" type="none"/>
            </a:ln>
          </a:top>
          <a:bottom>
            <a:ln cap="flat" cmpd="sng" w="9525">
              <a:solidFill>
                <a:schemeClr val="dk1"/>
              </a:solidFill>
              <a:prstDash val="solid"/>
              <a:round/>
              <a:headEnd len="sm" w="sm" type="none"/>
              <a:tailEnd len="sm" w="sm" type="none"/>
            </a:ln>
          </a:bottom>
        </a:tcBdr>
      </a:tcStyle>
    </a:band1H>
    <a:band2H>
      <a:tcTxStyle b="off" i="off"/>
    </a:band2H>
    <a:band1V>
      <a:tcTxStyle b="off" i="off"/>
      <a:tcStyle>
        <a:tcBdr>
          <a:left>
            <a:ln cap="flat" cmpd="sng" w="9525">
              <a:solidFill>
                <a:schemeClr val="dk1"/>
              </a:solidFill>
              <a:prstDash val="solid"/>
              <a:round/>
              <a:headEnd len="sm" w="sm" type="none"/>
              <a:tailEnd len="sm" w="sm" type="none"/>
            </a:ln>
          </a:left>
          <a:right>
            <a:ln cap="flat" cmpd="sng" w="9525">
              <a:solidFill>
                <a:schemeClr val="dk1"/>
              </a:solidFill>
              <a:prstDash val="solid"/>
              <a:round/>
              <a:headEnd len="sm" w="sm" type="none"/>
              <a:tailEnd len="sm" w="sm" type="none"/>
            </a:ln>
          </a:right>
        </a:tcBdr>
      </a:tcStyle>
    </a:band1V>
    <a:band2V>
      <a:tcTxStyle b="off" i="off"/>
      <a:tcStyle>
        <a:tcBdr>
          <a:left>
            <a:ln cap="flat" cmpd="sng" w="9525">
              <a:solidFill>
                <a:schemeClr val="dk1"/>
              </a:solidFill>
              <a:prstDash val="solid"/>
              <a:round/>
              <a:headEnd len="sm" w="sm" type="none"/>
              <a:tailEnd len="sm" w="sm" type="none"/>
            </a:ln>
          </a:left>
          <a:right>
            <a:ln cap="flat" cmpd="sng" w="9525">
              <a:solidFill>
                <a:schemeClr val="dk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dk1"/>
              </a:solidFill>
              <a:prstDash val="solid"/>
              <a:round/>
              <a:headEnd len="sm" w="sm" type="none"/>
              <a:tailEnd len="sm" w="sm" type="none"/>
            </a:ln>
          </a:top>
        </a:tcBdr>
      </a:tcStyle>
    </a:lastRow>
    <a:seCell>
      <a:tcTxStyle b="off" i="off"/>
    </a:seCell>
    <a:swCell>
      <a:tcTxStyle b="off" i="off"/>
    </a:swCell>
    <a:firstRow>
      <a:tcTxStyle b="on" i="off">
        <a:font>
          <a:latin typeface="Calibri"/>
          <a:ea typeface="Calibri"/>
          <a:cs typeface="Calibri"/>
        </a:font>
        <a:schemeClr val="lt1"/>
      </a:tcTxStyle>
      <a:tcStyle>
        <a:fill>
          <a:solidFill>
            <a:schemeClr val="dk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NotoSansSymbols-bold.fntdata"/><Relationship Id="rId16" Type="http://schemas.openxmlformats.org/officeDocument/2006/relationships/slide" Target="slides/slide11.xml"/><Relationship Id="rId38" Type="http://schemas.openxmlformats.org/officeDocument/2006/relationships/font" Target="fonts/NotoSansSymbol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57a636349e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257a636349e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525f7e1f5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2525f7e1f5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53b0015d9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253b0015d9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ead90bba03_0_0: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1ead90bba03_0_0: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53b0015d92_0_12: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g253b0015d92_0_12: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ead90bba03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1ead90bba03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ead90bba03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1ead90bba03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ead90bba03_0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1ead90bba03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ead90bba03_0_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1ead90bba03_0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ead90bba03_0_3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1ead90bba03_0_3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ead90bba03_0_3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g1ead90bba03_0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2aa7826dbd_0_16:notes"/>
          <p:cNvSpPr txBox="1"/>
          <p:nvPr>
            <p:ph idx="1" type="body"/>
          </p:nvPr>
        </p:nvSpPr>
        <p:spPr>
          <a:xfrm>
            <a:off x="685790" y="4343382"/>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0" name="Google Shape;500;g22aa7826dbd_0_16:notes"/>
          <p:cNvSpPr/>
          <p:nvPr>
            <p:ph idx="2" type="sldImg"/>
          </p:nvPr>
        </p:nvSpPr>
        <p:spPr>
          <a:xfrm>
            <a:off x="381000" y="685800"/>
            <a:ext cx="609758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57a636349e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4" name="Google Shape;554;g257a636349e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666333564ffb171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g666333564ffb171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ead90bba03_0_3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g1ead90bba03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1" name="Google Shape;57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1" name="Google Shape;58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9" name="Google Shape;58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9" name="Google Shape;59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5" name="Google Shape;60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g114e931fdb1_0_5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9" name="Google Shape;19;g114e931fdb1_0_5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0" name="Google Shape;20;g114e931fdb1_0_5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27" name="Shape 27"/>
        <p:cNvGrpSpPr/>
        <p:nvPr/>
      </p:nvGrpSpPr>
      <p:grpSpPr>
        <a:xfrm>
          <a:off x="0" y="0"/>
          <a:ext cx="0" cy="0"/>
          <a:chOff x="0" y="0"/>
          <a:chExt cx="0" cy="0"/>
        </a:xfrm>
      </p:grpSpPr>
      <p:sp>
        <p:nvSpPr>
          <p:cNvPr id="28" name="Google Shape;28;g1ead90bba03_0_43"/>
          <p:cNvSpPr txBox="1"/>
          <p:nvPr>
            <p:ph type="title"/>
          </p:nvPr>
        </p:nvSpPr>
        <p:spPr>
          <a:xfrm>
            <a:off x="1845348" y="1488981"/>
            <a:ext cx="7885500" cy="9918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SzPts val="4400"/>
              <a:buNone/>
              <a:defRPr b="0" i="0" sz="2400">
                <a:solidFill>
                  <a:schemeClr val="dk1"/>
                </a:solidFill>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g1ead90bba03_0_43"/>
          <p:cNvSpPr txBox="1"/>
          <p:nvPr>
            <p:ph idx="1" type="body"/>
          </p:nvPr>
        </p:nvSpPr>
        <p:spPr>
          <a:xfrm>
            <a:off x="3019136" y="2038069"/>
            <a:ext cx="6076800" cy="20367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360"/>
              </a:spcBef>
              <a:spcAft>
                <a:spcPts val="0"/>
              </a:spcAft>
              <a:buSzPts val="2800"/>
              <a:buNone/>
              <a:defRPr b="0" i="0">
                <a:solidFill>
                  <a:schemeClr val="dk1"/>
                </a:solidFill>
              </a:defRPr>
            </a:lvl1pPr>
            <a:lvl2pPr indent="-228600" lvl="1" marL="914400" algn="l">
              <a:lnSpc>
                <a:spcPct val="90000"/>
              </a:lnSpc>
              <a:spcBef>
                <a:spcPts val="360"/>
              </a:spcBef>
              <a:spcAft>
                <a:spcPts val="0"/>
              </a:spcAft>
              <a:buSzPts val="2400"/>
              <a:buNone/>
              <a:defRPr/>
            </a:lvl2pPr>
            <a:lvl3pPr indent="-228600" lvl="2" marL="1371600" algn="l">
              <a:lnSpc>
                <a:spcPct val="90000"/>
              </a:lnSpc>
              <a:spcBef>
                <a:spcPts val="360"/>
              </a:spcBef>
              <a:spcAft>
                <a:spcPts val="0"/>
              </a:spcAft>
              <a:buSzPts val="2000"/>
              <a:buNone/>
              <a:defRPr/>
            </a:lvl3pPr>
            <a:lvl4pPr indent="-228600" lvl="3" marL="1828800" algn="l">
              <a:lnSpc>
                <a:spcPct val="90000"/>
              </a:lnSpc>
              <a:spcBef>
                <a:spcPts val="360"/>
              </a:spcBef>
              <a:spcAft>
                <a:spcPts val="0"/>
              </a:spcAft>
              <a:buSzPts val="1800"/>
              <a:buNone/>
              <a:defRPr/>
            </a:lvl4pPr>
            <a:lvl5pPr indent="-228600" lvl="4" marL="2286000" algn="l">
              <a:lnSpc>
                <a:spcPct val="90000"/>
              </a:lnSpc>
              <a:spcBef>
                <a:spcPts val="360"/>
              </a:spcBef>
              <a:spcAft>
                <a:spcPts val="0"/>
              </a:spcAft>
              <a:buSzPts val="1800"/>
              <a:buNone/>
              <a:defRPr/>
            </a:lvl5pPr>
            <a:lvl6pPr indent="-228600" lvl="5" marL="2743200" algn="l">
              <a:lnSpc>
                <a:spcPct val="90000"/>
              </a:lnSpc>
              <a:spcBef>
                <a:spcPts val="500"/>
              </a:spcBef>
              <a:spcAft>
                <a:spcPts val="0"/>
              </a:spcAft>
              <a:buSzPts val="1800"/>
              <a:buNone/>
              <a:defRPr/>
            </a:lvl6pPr>
            <a:lvl7pPr indent="-228600" lvl="6" marL="3200400" algn="l">
              <a:lnSpc>
                <a:spcPct val="90000"/>
              </a:lnSpc>
              <a:spcBef>
                <a:spcPts val="500"/>
              </a:spcBef>
              <a:spcAft>
                <a:spcPts val="0"/>
              </a:spcAft>
              <a:buSzPts val="1800"/>
              <a:buNone/>
              <a:defRPr/>
            </a:lvl7pPr>
            <a:lvl8pPr indent="-228600" lvl="7" marL="3657600" algn="l">
              <a:lnSpc>
                <a:spcPct val="90000"/>
              </a:lnSpc>
              <a:spcBef>
                <a:spcPts val="500"/>
              </a:spcBef>
              <a:spcAft>
                <a:spcPts val="0"/>
              </a:spcAft>
              <a:buSzPts val="1800"/>
              <a:buNone/>
              <a:defRPr/>
            </a:lvl8pPr>
            <a:lvl9pPr indent="-228600" lvl="8" marL="4114800" algn="l">
              <a:lnSpc>
                <a:spcPct val="90000"/>
              </a:lnSpc>
              <a:spcBef>
                <a:spcPts val="500"/>
              </a:spcBef>
              <a:spcAft>
                <a:spcPts val="0"/>
              </a:spcAft>
              <a:buSzPts val="1800"/>
              <a:buNone/>
              <a:defRPr/>
            </a:lvl9pPr>
          </a:lstStyle>
          <a:p/>
        </p:txBody>
      </p:sp>
      <p:sp>
        <p:nvSpPr>
          <p:cNvPr id="30" name="Google Shape;30;g1ead90bba03_0_43"/>
          <p:cNvSpPr txBox="1"/>
          <p:nvPr>
            <p:ph idx="11" type="ftr"/>
          </p:nvPr>
        </p:nvSpPr>
        <p:spPr>
          <a:xfrm>
            <a:off x="4144818" y="6377547"/>
            <a:ext cx="3902400" cy="343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g1ead90bba03_0_43"/>
          <p:cNvSpPr txBox="1"/>
          <p:nvPr>
            <p:ph idx="10" type="dt"/>
          </p:nvPr>
        </p:nvSpPr>
        <p:spPr>
          <a:xfrm>
            <a:off x="609984" y="6377547"/>
            <a:ext cx="2803500" cy="343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g1ead90bba03_0_43"/>
          <p:cNvSpPr txBox="1"/>
          <p:nvPr>
            <p:ph idx="12" type="sldNum"/>
          </p:nvPr>
        </p:nvSpPr>
        <p:spPr>
          <a:xfrm>
            <a:off x="8778394" y="6377547"/>
            <a:ext cx="28035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200">
              <a:solidFill>
                <a:srgbClr val="888888"/>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3"/>
          <p:cNvSpPr/>
          <p:nvPr>
            <p:ph idx="2" type="pic"/>
          </p:nvPr>
        </p:nvSpPr>
        <p:spPr>
          <a:xfrm>
            <a:off x="5183188" y="987425"/>
            <a:ext cx="6172200" cy="4873625"/>
          </a:xfrm>
          <a:prstGeom prst="rect">
            <a:avLst/>
          </a:prstGeom>
          <a:noFill/>
          <a:ln>
            <a:noFill/>
          </a:ln>
        </p:spPr>
      </p:sp>
      <p:sp>
        <p:nvSpPr>
          <p:cNvPr id="74" name="Google Shape;74;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CSE460: VLSI Design</a:t>
            </a:r>
            <a:endParaRPr/>
          </a:p>
        </p:txBody>
      </p:sp>
      <p:sp>
        <p:nvSpPr>
          <p:cNvPr id="95" name="Google Shape;95;p1"/>
          <p:cNvSpPr txBox="1"/>
          <p:nvPr>
            <p:ph idx="1" type="subTitle"/>
          </p:nvPr>
        </p:nvSpPr>
        <p:spPr>
          <a:xfrm>
            <a:off x="1448675" y="3602050"/>
            <a:ext cx="9291000" cy="165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None/>
            </a:pPr>
            <a:r>
              <a:t/>
            </a:r>
            <a:endParaRPr sz="4400"/>
          </a:p>
          <a:p>
            <a:pPr indent="0" lvl="0" marL="0" rtl="0" algn="ctr">
              <a:lnSpc>
                <a:spcPct val="90000"/>
              </a:lnSpc>
              <a:spcBef>
                <a:spcPts val="1000"/>
              </a:spcBef>
              <a:spcAft>
                <a:spcPts val="0"/>
              </a:spcAft>
              <a:buClr>
                <a:schemeClr val="dk1"/>
              </a:buClr>
              <a:buSzPts val="4400"/>
              <a:buNone/>
            </a:pPr>
            <a:r>
              <a:rPr lang="en-US" sz="4400"/>
              <a:t>Lecture 8: Finite State Machines (Part 1)</a:t>
            </a:r>
            <a:endParaRPr sz="4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Clr>
                <a:schemeClr val="dk1"/>
              </a:buClr>
              <a:buSzPts val="1500"/>
              <a:buFont typeface="Arial"/>
              <a:buNone/>
            </a:pPr>
            <a:r>
              <a:rPr b="1" lang="en-US" sz="3300">
                <a:latin typeface="Times New Roman"/>
                <a:ea typeface="Times New Roman"/>
                <a:cs typeface="Times New Roman"/>
                <a:sym typeface="Times New Roman"/>
              </a:rPr>
              <a:t>Review: Logic Function Synthesis using k-map</a:t>
            </a:r>
            <a:endParaRPr b="1" sz="3300">
              <a:latin typeface="Times New Roman"/>
              <a:ea typeface="Times New Roman"/>
              <a:cs typeface="Times New Roman"/>
              <a:sym typeface="Times New Roman"/>
            </a:endParaRPr>
          </a:p>
          <a:p>
            <a:pPr indent="0" lvl="0" marL="0" rtl="0" algn="l">
              <a:lnSpc>
                <a:spcPct val="100000"/>
              </a:lnSpc>
              <a:spcBef>
                <a:spcPts val="0"/>
              </a:spcBef>
              <a:spcAft>
                <a:spcPts val="0"/>
              </a:spcAft>
              <a:buSzPts val="4100"/>
              <a:buNone/>
            </a:pPr>
            <a:r>
              <a:t/>
            </a:r>
            <a:endParaRPr/>
          </a:p>
        </p:txBody>
      </p:sp>
      <p:sp>
        <p:nvSpPr>
          <p:cNvPr id="101" name="Google Shape;101;p2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p>
            <a:pPr indent="-457200" lvl="0" marL="609600" rtl="0" algn="l">
              <a:lnSpc>
                <a:spcPct val="115000"/>
              </a:lnSpc>
              <a:spcBef>
                <a:spcPts val="0"/>
              </a:spcBef>
              <a:spcAft>
                <a:spcPts val="0"/>
              </a:spcAft>
              <a:buSzPts val="2400"/>
              <a:buChar char="●"/>
            </a:pPr>
            <a:r>
              <a:rPr lang="en-US"/>
              <a:t>The Karnaugh map (or k-map) is an </a:t>
            </a:r>
            <a:r>
              <a:rPr b="1" lang="en-US"/>
              <a:t>alternative to the truth-table</a:t>
            </a:r>
            <a:r>
              <a:rPr lang="en-US"/>
              <a:t> form for representing a function</a:t>
            </a:r>
            <a:endParaRPr/>
          </a:p>
          <a:p>
            <a:pPr indent="-457200" lvl="0" marL="609600" rtl="0" algn="l">
              <a:lnSpc>
                <a:spcPct val="115000"/>
              </a:lnSpc>
              <a:spcBef>
                <a:spcPts val="0"/>
              </a:spcBef>
              <a:spcAft>
                <a:spcPts val="0"/>
              </a:spcAft>
              <a:buSzPts val="2400"/>
              <a:buChar char="●"/>
            </a:pPr>
            <a:r>
              <a:rPr lang="en-US"/>
              <a:t>The map consists of cells that correspond to the rows of the truth table</a:t>
            </a:r>
            <a:endParaRPr/>
          </a:p>
        </p:txBody>
      </p:sp>
      <p:pic>
        <p:nvPicPr>
          <p:cNvPr id="102" name="Google Shape;102;p29"/>
          <p:cNvPicPr preferRelativeResize="0"/>
          <p:nvPr/>
        </p:nvPicPr>
        <p:blipFill rotWithShape="1">
          <a:blip r:embed="rId3">
            <a:alphaModFix/>
          </a:blip>
          <a:srcRect b="0" l="0" r="0" t="0"/>
          <a:stretch/>
        </p:blipFill>
        <p:spPr>
          <a:xfrm>
            <a:off x="456749" y="3784415"/>
            <a:ext cx="3188666" cy="1460947"/>
          </a:xfrm>
          <a:prstGeom prst="rect">
            <a:avLst/>
          </a:prstGeom>
          <a:noFill/>
          <a:ln>
            <a:noFill/>
          </a:ln>
        </p:spPr>
      </p:pic>
      <p:pic>
        <p:nvPicPr>
          <p:cNvPr id="103" name="Google Shape;103;p29"/>
          <p:cNvPicPr preferRelativeResize="0"/>
          <p:nvPr/>
        </p:nvPicPr>
        <p:blipFill rotWithShape="1">
          <a:blip r:embed="rId4">
            <a:alphaModFix/>
          </a:blip>
          <a:srcRect b="0" l="0" r="0" t="0"/>
          <a:stretch/>
        </p:blipFill>
        <p:spPr>
          <a:xfrm>
            <a:off x="8785849" y="3166317"/>
            <a:ext cx="2949409" cy="2697134"/>
          </a:xfrm>
          <a:prstGeom prst="rect">
            <a:avLst/>
          </a:prstGeom>
          <a:noFill/>
          <a:ln>
            <a:noFill/>
          </a:ln>
        </p:spPr>
      </p:pic>
      <p:pic>
        <p:nvPicPr>
          <p:cNvPr id="104" name="Google Shape;104;p29"/>
          <p:cNvPicPr preferRelativeResize="0"/>
          <p:nvPr/>
        </p:nvPicPr>
        <p:blipFill rotWithShape="1">
          <a:blip r:embed="rId5">
            <a:alphaModFix/>
          </a:blip>
          <a:srcRect b="0" l="0" r="0" t="0"/>
          <a:stretch/>
        </p:blipFill>
        <p:spPr>
          <a:xfrm>
            <a:off x="4302850" y="3600817"/>
            <a:ext cx="3957866" cy="24909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0"/>
          <p:cNvSpPr txBox="1"/>
          <p:nvPr/>
        </p:nvSpPr>
        <p:spPr>
          <a:xfrm>
            <a:off x="5583375" y="1567500"/>
            <a:ext cx="6400800" cy="2401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rgbClr val="000000"/>
              </a:buClr>
              <a:buSzPts val="1800"/>
              <a:buFont typeface="Calibri"/>
              <a:buChar char="●"/>
            </a:pPr>
            <a:r>
              <a:rPr b="1" i="0" lang="en-US" sz="1800" u="none" cap="none" strike="noStrike">
                <a:solidFill>
                  <a:srgbClr val="000000"/>
                </a:solidFill>
                <a:latin typeface="Calibri"/>
                <a:ea typeface="Calibri"/>
                <a:cs typeface="Calibri"/>
                <a:sym typeface="Calibri"/>
              </a:rPr>
              <a:t>Minterm  (SOP)</a:t>
            </a:r>
            <a:r>
              <a:rPr b="0" i="0" lang="en-US" sz="1800" u="none" cap="none" strike="noStrike">
                <a:solidFill>
                  <a:srgbClr val="000000"/>
                </a:solidFill>
                <a:latin typeface="Calibri"/>
                <a:ea typeface="Calibri"/>
                <a:cs typeface="Calibri"/>
                <a:sym typeface="Calibri"/>
              </a:rPr>
              <a:t> - Group 2</a:t>
            </a:r>
            <a:r>
              <a:rPr b="0" baseline="30000" i="0" lang="en-US" sz="1800" u="none" cap="none" strike="noStrike">
                <a:solidFill>
                  <a:srgbClr val="000000"/>
                </a:solidFill>
                <a:latin typeface="Calibri"/>
                <a:ea typeface="Calibri"/>
                <a:cs typeface="Calibri"/>
                <a:sym typeface="Calibri"/>
              </a:rPr>
              <a:t>n </a:t>
            </a:r>
            <a:r>
              <a:rPr b="0" i="0" lang="en-US" sz="1800" u="none" cap="none" strike="noStrike">
                <a:solidFill>
                  <a:srgbClr val="000000"/>
                </a:solidFill>
                <a:latin typeface="Calibri"/>
                <a:ea typeface="Calibri"/>
                <a:cs typeface="Calibri"/>
                <a:sym typeface="Calibri"/>
              </a:rPr>
              <a:t> no. of 1 and skip 0. n = 0,1,2,3…. (Make groups larger as possible)</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Grouping can be square/rectangle shaped or along row/column (Not along diagonal). Groups can be overlapped.</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The inputs which are </a:t>
            </a:r>
            <a:r>
              <a:rPr b="0" i="0" lang="en-US" sz="1800" u="sng" cap="none" strike="noStrike">
                <a:solidFill>
                  <a:srgbClr val="000000"/>
                </a:solidFill>
                <a:latin typeface="Calibri"/>
                <a:ea typeface="Calibri"/>
                <a:cs typeface="Calibri"/>
                <a:sym typeface="Calibri"/>
              </a:rPr>
              <a:t>varying</a:t>
            </a:r>
            <a:r>
              <a:rPr b="0" i="0" lang="en-US" sz="1800" u="none" cap="none" strike="noStrike">
                <a:solidFill>
                  <a:srgbClr val="000000"/>
                </a:solidFill>
                <a:latin typeface="Calibri"/>
                <a:ea typeface="Calibri"/>
                <a:cs typeface="Calibri"/>
                <a:sym typeface="Calibri"/>
              </a:rPr>
              <a:t> in a group, can be </a:t>
            </a:r>
            <a:r>
              <a:rPr b="0" i="0" lang="en-US" sz="1800" u="sng" cap="none" strike="noStrike">
                <a:solidFill>
                  <a:srgbClr val="000000"/>
                </a:solidFill>
                <a:latin typeface="Calibri"/>
                <a:ea typeface="Calibri"/>
                <a:cs typeface="Calibri"/>
                <a:sym typeface="Calibri"/>
              </a:rPr>
              <a:t>omitted</a:t>
            </a:r>
            <a:r>
              <a:rPr b="0" i="0" lang="en-US" sz="1800" u="none" cap="none" strike="noStrike">
                <a:solidFill>
                  <a:srgbClr val="000000"/>
                </a:solidFill>
                <a:latin typeface="Calibri"/>
                <a:ea typeface="Calibri"/>
                <a:cs typeface="Calibri"/>
                <a:sym typeface="Calibri"/>
              </a:rPr>
              <a:t>. The others (</a:t>
            </a:r>
            <a:r>
              <a:rPr b="1" i="0" lang="en-US" sz="1800" u="none" cap="none" strike="noStrike">
                <a:solidFill>
                  <a:srgbClr val="000000"/>
                </a:solidFill>
                <a:latin typeface="Calibri"/>
                <a:ea typeface="Calibri"/>
                <a:cs typeface="Calibri"/>
                <a:sym typeface="Calibri"/>
              </a:rPr>
              <a:t>fixed</a:t>
            </a:r>
            <a:r>
              <a:rPr b="0" i="0" lang="en-US" sz="1800" u="none" cap="none" strike="noStrike">
                <a:solidFill>
                  <a:srgbClr val="000000"/>
                </a:solidFill>
                <a:latin typeface="Calibri"/>
                <a:ea typeface="Calibri"/>
                <a:cs typeface="Calibri"/>
                <a:sym typeface="Calibri"/>
              </a:rPr>
              <a:t>) can be written as </a:t>
            </a:r>
            <a:r>
              <a:rPr b="1" i="0" lang="en-US" sz="1800" u="none" cap="none" strike="noStrike">
                <a:solidFill>
                  <a:srgbClr val="000000"/>
                </a:solidFill>
                <a:latin typeface="Calibri"/>
                <a:ea typeface="Calibri"/>
                <a:cs typeface="Calibri"/>
                <a:sym typeface="Calibri"/>
              </a:rPr>
              <a:t>product</a:t>
            </a:r>
            <a:r>
              <a:rPr b="0" i="0" lang="en-US" sz="1800" u="none" cap="none" strike="noStrike">
                <a:solidFill>
                  <a:srgbClr val="000000"/>
                </a:solidFill>
                <a:latin typeface="Calibri"/>
                <a:ea typeface="Calibri"/>
                <a:cs typeface="Calibri"/>
                <a:sym typeface="Calibri"/>
              </a:rPr>
              <a:t> form. </a:t>
            </a:r>
            <a:r>
              <a:rPr b="1" i="0" lang="en-US" sz="1800" u="none" cap="none" strike="noStrike">
                <a:solidFill>
                  <a:srgbClr val="000000"/>
                </a:solidFill>
                <a:latin typeface="Calibri"/>
                <a:ea typeface="Calibri"/>
                <a:cs typeface="Calibri"/>
                <a:sym typeface="Calibri"/>
              </a:rPr>
              <a:t>Invert</a:t>
            </a:r>
            <a:r>
              <a:rPr b="0" i="0" lang="en-US" sz="1800" u="none" cap="none" strike="noStrike">
                <a:solidFill>
                  <a:srgbClr val="000000"/>
                </a:solidFill>
                <a:latin typeface="Calibri"/>
                <a:ea typeface="Calibri"/>
                <a:cs typeface="Calibri"/>
                <a:sym typeface="Calibri"/>
              </a:rPr>
              <a:t> the variables which are fixed with the value </a:t>
            </a:r>
            <a:r>
              <a:rPr b="1" i="0" lang="en-US" sz="1800" u="none" cap="none" strike="noStrike">
                <a:solidFill>
                  <a:srgbClr val="000000"/>
                </a:solidFill>
                <a:latin typeface="Calibri"/>
                <a:ea typeface="Calibri"/>
                <a:cs typeface="Calibri"/>
                <a:sym typeface="Calibri"/>
              </a:rPr>
              <a:t>0</a:t>
            </a:r>
            <a:r>
              <a:rPr b="0" i="0" lang="en-US" sz="1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Don’t cares (d) can be used 0/1 as per convenience.</a:t>
            </a:r>
            <a:endParaRPr b="0" i="0" sz="1800" u="none" cap="none" strike="noStrike">
              <a:solidFill>
                <a:srgbClr val="000000"/>
              </a:solidFill>
              <a:latin typeface="Calibri"/>
              <a:ea typeface="Calibri"/>
              <a:cs typeface="Calibri"/>
              <a:sym typeface="Calibri"/>
            </a:endParaRPr>
          </a:p>
        </p:txBody>
      </p:sp>
      <p:sp>
        <p:nvSpPr>
          <p:cNvPr id="110" name="Google Shape;110;p3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Clr>
                <a:schemeClr val="dk1"/>
              </a:buClr>
              <a:buSzPts val="1500"/>
              <a:buFont typeface="Arial"/>
              <a:buNone/>
            </a:pPr>
            <a:r>
              <a:rPr b="1" lang="en-US" sz="3300">
                <a:latin typeface="Times New Roman"/>
                <a:ea typeface="Times New Roman"/>
                <a:cs typeface="Times New Roman"/>
                <a:sym typeface="Times New Roman"/>
              </a:rPr>
              <a:t>Logic Function Synthesis (SOP) using k-map</a:t>
            </a:r>
            <a:endParaRPr/>
          </a:p>
        </p:txBody>
      </p:sp>
      <p:graphicFrame>
        <p:nvGraphicFramePr>
          <p:cNvPr id="111" name="Google Shape;111;p30"/>
          <p:cNvGraphicFramePr/>
          <p:nvPr/>
        </p:nvGraphicFramePr>
        <p:xfrm>
          <a:off x="1623375" y="2201200"/>
          <a:ext cx="3000000" cy="3000000"/>
        </p:xfrm>
        <a:graphic>
          <a:graphicData uri="http://schemas.openxmlformats.org/drawingml/2006/table">
            <a:tbl>
              <a:tblPr>
                <a:noFill/>
                <a:tableStyleId>{519BF09C-48FC-43F2-A22E-6EB70BDE1EA8}</a:tableStyleId>
              </a:tblPr>
              <a:tblGrid>
                <a:gridCol w="549100"/>
                <a:gridCol w="438275"/>
                <a:gridCol w="51355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A</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B</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Y</a:t>
                      </a:r>
                      <a:endParaRPr b="1"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r>
              <a:tr h="3546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bl>
          </a:graphicData>
        </a:graphic>
      </p:graphicFrame>
      <p:sp>
        <p:nvSpPr>
          <p:cNvPr id="112" name="Google Shape;112;p30"/>
          <p:cNvSpPr txBox="1"/>
          <p:nvPr/>
        </p:nvSpPr>
        <p:spPr>
          <a:xfrm>
            <a:off x="607025" y="1526688"/>
            <a:ext cx="4433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Consider a logic function, Y = f(A,B)</a:t>
            </a:r>
            <a:endParaRPr b="0" i="0" sz="2000" u="none" cap="none" strike="noStrike">
              <a:solidFill>
                <a:srgbClr val="000000"/>
              </a:solidFill>
              <a:latin typeface="Times New Roman"/>
              <a:ea typeface="Times New Roman"/>
              <a:cs typeface="Times New Roman"/>
              <a:sym typeface="Times New Roman"/>
            </a:endParaRPr>
          </a:p>
        </p:txBody>
      </p:sp>
      <p:sp>
        <p:nvSpPr>
          <p:cNvPr id="113" name="Google Shape;113;p30"/>
          <p:cNvSpPr txBox="1"/>
          <p:nvPr/>
        </p:nvSpPr>
        <p:spPr>
          <a:xfrm>
            <a:off x="720425" y="4364150"/>
            <a:ext cx="4433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K-map:</a:t>
            </a:r>
            <a:endParaRPr b="0" i="0" sz="2000" u="none" cap="none" strike="noStrike">
              <a:solidFill>
                <a:srgbClr val="000000"/>
              </a:solidFill>
              <a:latin typeface="Times New Roman"/>
              <a:ea typeface="Times New Roman"/>
              <a:cs typeface="Times New Roman"/>
              <a:sym typeface="Times New Roman"/>
            </a:endParaRPr>
          </a:p>
        </p:txBody>
      </p:sp>
      <p:graphicFrame>
        <p:nvGraphicFramePr>
          <p:cNvPr id="114" name="Google Shape;114;p30"/>
          <p:cNvGraphicFramePr/>
          <p:nvPr/>
        </p:nvGraphicFramePr>
        <p:xfrm>
          <a:off x="2150788" y="5316300"/>
          <a:ext cx="3000000" cy="3000000"/>
        </p:xfrm>
        <a:graphic>
          <a:graphicData uri="http://schemas.openxmlformats.org/drawingml/2006/table">
            <a:tbl>
              <a:tblPr>
                <a:noFill/>
                <a:tableStyleId>{519BF09C-48FC-43F2-A22E-6EB70BDE1EA8}</a:tableStyleId>
              </a:tblPr>
              <a:tblGrid>
                <a:gridCol w="466950"/>
                <a:gridCol w="52042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cxnSp>
        <p:nvCxnSpPr>
          <p:cNvPr id="115" name="Google Shape;115;p30"/>
          <p:cNvCxnSpPr/>
          <p:nvPr/>
        </p:nvCxnSpPr>
        <p:spPr>
          <a:xfrm rot="10800000">
            <a:off x="1817488" y="4942200"/>
            <a:ext cx="333300" cy="374100"/>
          </a:xfrm>
          <a:prstGeom prst="straightConnector1">
            <a:avLst/>
          </a:prstGeom>
          <a:noFill/>
          <a:ln cap="flat" cmpd="sng" w="9525">
            <a:solidFill>
              <a:schemeClr val="dk1"/>
            </a:solidFill>
            <a:prstDash val="solid"/>
            <a:round/>
            <a:headEnd len="sm" w="sm" type="none"/>
            <a:tailEnd len="sm" w="sm" type="none"/>
          </a:ln>
        </p:spPr>
      </p:cxnSp>
      <p:sp>
        <p:nvSpPr>
          <p:cNvPr id="116" name="Google Shape;116;p30"/>
          <p:cNvSpPr txBox="1"/>
          <p:nvPr/>
        </p:nvSpPr>
        <p:spPr>
          <a:xfrm>
            <a:off x="1609513" y="4991400"/>
            <a:ext cx="41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117" name="Google Shape;117;p30"/>
          <p:cNvSpPr txBox="1"/>
          <p:nvPr/>
        </p:nvSpPr>
        <p:spPr>
          <a:xfrm>
            <a:off x="1884863" y="4747275"/>
            <a:ext cx="41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p:txBody>
      </p:sp>
      <p:sp>
        <p:nvSpPr>
          <p:cNvPr id="118" name="Google Shape;118;p30"/>
          <p:cNvSpPr txBox="1"/>
          <p:nvPr/>
        </p:nvSpPr>
        <p:spPr>
          <a:xfrm>
            <a:off x="1734213" y="5316300"/>
            <a:ext cx="41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0</a:t>
            </a:r>
            <a:endParaRPr b="1" i="0" sz="1400" u="none" cap="none" strike="noStrike">
              <a:solidFill>
                <a:srgbClr val="000000"/>
              </a:solidFill>
              <a:latin typeface="Arial"/>
              <a:ea typeface="Arial"/>
              <a:cs typeface="Arial"/>
              <a:sym typeface="Arial"/>
            </a:endParaRPr>
          </a:p>
        </p:txBody>
      </p:sp>
      <p:sp>
        <p:nvSpPr>
          <p:cNvPr id="119" name="Google Shape;119;p30"/>
          <p:cNvSpPr txBox="1"/>
          <p:nvPr/>
        </p:nvSpPr>
        <p:spPr>
          <a:xfrm>
            <a:off x="1734213" y="5712500"/>
            <a:ext cx="41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1</a:t>
            </a:r>
            <a:endParaRPr b="1" i="0" sz="1400" u="none" cap="none" strike="noStrike">
              <a:solidFill>
                <a:srgbClr val="000000"/>
              </a:solidFill>
              <a:latin typeface="Arial"/>
              <a:ea typeface="Arial"/>
              <a:cs typeface="Arial"/>
              <a:sym typeface="Arial"/>
            </a:endParaRPr>
          </a:p>
        </p:txBody>
      </p:sp>
      <p:sp>
        <p:nvSpPr>
          <p:cNvPr id="120" name="Google Shape;120;p30"/>
          <p:cNvSpPr txBox="1"/>
          <p:nvPr/>
        </p:nvSpPr>
        <p:spPr>
          <a:xfrm>
            <a:off x="2699888" y="4943025"/>
            <a:ext cx="41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1</a:t>
            </a:r>
            <a:endParaRPr b="1" i="0" sz="1400" u="none" cap="none" strike="noStrike">
              <a:solidFill>
                <a:srgbClr val="000000"/>
              </a:solidFill>
              <a:latin typeface="Arial"/>
              <a:ea typeface="Arial"/>
              <a:cs typeface="Arial"/>
              <a:sym typeface="Arial"/>
            </a:endParaRPr>
          </a:p>
        </p:txBody>
      </p:sp>
      <p:sp>
        <p:nvSpPr>
          <p:cNvPr id="121" name="Google Shape;121;p30"/>
          <p:cNvSpPr txBox="1"/>
          <p:nvPr/>
        </p:nvSpPr>
        <p:spPr>
          <a:xfrm>
            <a:off x="2217588" y="4923000"/>
            <a:ext cx="41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0</a:t>
            </a:r>
            <a:endParaRPr b="1" i="0" sz="1400" u="none" cap="none" strike="noStrike">
              <a:solidFill>
                <a:srgbClr val="000000"/>
              </a:solidFill>
              <a:latin typeface="Arial"/>
              <a:ea typeface="Arial"/>
              <a:cs typeface="Arial"/>
              <a:sym typeface="Arial"/>
            </a:endParaRPr>
          </a:p>
        </p:txBody>
      </p:sp>
      <p:sp>
        <p:nvSpPr>
          <p:cNvPr id="122" name="Google Shape;122;p30"/>
          <p:cNvSpPr/>
          <p:nvPr/>
        </p:nvSpPr>
        <p:spPr>
          <a:xfrm>
            <a:off x="2740988" y="5350863"/>
            <a:ext cx="333300" cy="723300"/>
          </a:xfrm>
          <a:prstGeom prst="ellipse">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0"/>
          <p:cNvSpPr/>
          <p:nvPr/>
        </p:nvSpPr>
        <p:spPr>
          <a:xfrm>
            <a:off x="2300375" y="5389450"/>
            <a:ext cx="197100" cy="246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0"/>
          <p:cNvSpPr/>
          <p:nvPr/>
        </p:nvSpPr>
        <p:spPr>
          <a:xfrm>
            <a:off x="2772825" y="5442950"/>
            <a:ext cx="197100" cy="246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0"/>
          <p:cNvSpPr/>
          <p:nvPr/>
        </p:nvSpPr>
        <p:spPr>
          <a:xfrm>
            <a:off x="2275288" y="5789300"/>
            <a:ext cx="197100" cy="246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0"/>
          <p:cNvSpPr/>
          <p:nvPr/>
        </p:nvSpPr>
        <p:spPr>
          <a:xfrm>
            <a:off x="2772813" y="5789300"/>
            <a:ext cx="197100" cy="246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0"/>
          <p:cNvSpPr txBox="1"/>
          <p:nvPr/>
        </p:nvSpPr>
        <p:spPr>
          <a:xfrm>
            <a:off x="3669125" y="5158425"/>
            <a:ext cx="1914300" cy="1108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A omitted.</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B fixed with 1.</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Y = B</a:t>
            </a:r>
            <a:endParaRPr b="0" i="0" sz="1400" u="none" cap="none" strike="noStrike">
              <a:solidFill>
                <a:srgbClr val="000000"/>
              </a:solidFill>
              <a:latin typeface="Arial"/>
              <a:ea typeface="Arial"/>
              <a:cs typeface="Arial"/>
              <a:sym typeface="Arial"/>
            </a:endParaRPr>
          </a:p>
        </p:txBody>
      </p:sp>
      <p:graphicFrame>
        <p:nvGraphicFramePr>
          <p:cNvPr id="128" name="Google Shape;128;p30"/>
          <p:cNvGraphicFramePr/>
          <p:nvPr/>
        </p:nvGraphicFramePr>
        <p:xfrm>
          <a:off x="7543150" y="4522225"/>
          <a:ext cx="3000000" cy="3000000"/>
        </p:xfrm>
        <a:graphic>
          <a:graphicData uri="http://schemas.openxmlformats.org/drawingml/2006/table">
            <a:tbl>
              <a:tblPr>
                <a:noFill/>
                <a:tableStyleId>{519BF09C-48FC-43F2-A22E-6EB70BDE1EA8}</a:tableStyleId>
              </a:tblPr>
              <a:tblGrid>
                <a:gridCol w="549100"/>
                <a:gridCol w="438275"/>
                <a:gridCol w="51355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A</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B</a:t>
                      </a:r>
                      <a:endParaRPr b="1"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Y</a:t>
                      </a:r>
                      <a:endParaRPr b="1"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r>
              <a:tr h="3546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91425" marB="91425" marR="91425" marL="91425"/>
                </a:tc>
              </a:tr>
            </a:tbl>
          </a:graphicData>
        </a:graphic>
      </p:graphicFrame>
      <p:sp>
        <p:nvSpPr>
          <p:cNvPr id="129" name="Google Shape;129;p30"/>
          <p:cNvSpPr txBox="1"/>
          <p:nvPr/>
        </p:nvSpPr>
        <p:spPr>
          <a:xfrm>
            <a:off x="9818500" y="5319950"/>
            <a:ext cx="915600" cy="492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Y = B’</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23"/>
                                        </p:tgtEl>
                                      </p:cBhvr>
                                    </p:animEffect>
                                    <p:set>
                                      <p:cBhvr>
                                        <p:cTn dur="1" fill="hold">
                                          <p:stCondLst>
                                            <p:cond delay="1000"/>
                                          </p:stCondLst>
                                        </p:cTn>
                                        <p:tgtEl>
                                          <p:spTgt spid="12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24"/>
                                        </p:tgtEl>
                                      </p:cBhvr>
                                    </p:animEffect>
                                    <p:set>
                                      <p:cBhvr>
                                        <p:cTn dur="1" fill="hold">
                                          <p:stCondLst>
                                            <p:cond delay="1000"/>
                                          </p:stCondLst>
                                        </p:cTn>
                                        <p:tgtEl>
                                          <p:spTgt spid="12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25"/>
                                        </p:tgtEl>
                                      </p:cBhvr>
                                    </p:animEffect>
                                    <p:set>
                                      <p:cBhvr>
                                        <p:cTn dur="1" fill="hold">
                                          <p:stCondLst>
                                            <p:cond delay="1000"/>
                                          </p:stCondLst>
                                        </p:cTn>
                                        <p:tgtEl>
                                          <p:spTgt spid="12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126"/>
                                        </p:tgtEl>
                                      </p:cBhvr>
                                    </p:animEffect>
                                    <p:set>
                                      <p:cBhvr>
                                        <p:cTn dur="1" fill="hold">
                                          <p:stCondLst>
                                            <p:cond delay="1000"/>
                                          </p:stCondLst>
                                        </p:cTn>
                                        <p:tgtEl>
                                          <p:spTgt spid="1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1000"/>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3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Clr>
                <a:schemeClr val="dk1"/>
              </a:buClr>
              <a:buSzPts val="1500"/>
              <a:buFont typeface="Arial"/>
              <a:buNone/>
            </a:pPr>
            <a:r>
              <a:rPr b="1" lang="en-US" sz="3300">
                <a:latin typeface="Times New Roman"/>
                <a:ea typeface="Times New Roman"/>
                <a:cs typeface="Times New Roman"/>
                <a:sym typeface="Times New Roman"/>
              </a:rPr>
              <a:t>Logic Function Synthesis (SOP) using k-map</a:t>
            </a:r>
            <a:endParaRPr/>
          </a:p>
        </p:txBody>
      </p:sp>
      <p:pic>
        <p:nvPicPr>
          <p:cNvPr id="135" name="Google Shape;135;p31"/>
          <p:cNvPicPr preferRelativeResize="0"/>
          <p:nvPr/>
        </p:nvPicPr>
        <p:blipFill rotWithShape="1">
          <a:blip r:embed="rId3">
            <a:alphaModFix/>
          </a:blip>
          <a:srcRect b="0" l="0" r="0" t="0"/>
          <a:stretch/>
        </p:blipFill>
        <p:spPr>
          <a:xfrm>
            <a:off x="1440850" y="4001125"/>
            <a:ext cx="3823875" cy="2139225"/>
          </a:xfrm>
          <a:prstGeom prst="rect">
            <a:avLst/>
          </a:prstGeom>
          <a:noFill/>
          <a:ln>
            <a:noFill/>
          </a:ln>
        </p:spPr>
      </p:pic>
      <p:pic>
        <p:nvPicPr>
          <p:cNvPr id="136" name="Google Shape;136;p31"/>
          <p:cNvPicPr preferRelativeResize="0"/>
          <p:nvPr/>
        </p:nvPicPr>
        <p:blipFill rotWithShape="1">
          <a:blip r:embed="rId4">
            <a:alphaModFix/>
          </a:blip>
          <a:srcRect b="0" l="0" r="0" t="0"/>
          <a:stretch/>
        </p:blipFill>
        <p:spPr>
          <a:xfrm>
            <a:off x="7135100" y="1778100"/>
            <a:ext cx="4197925" cy="4197925"/>
          </a:xfrm>
          <a:prstGeom prst="rect">
            <a:avLst/>
          </a:prstGeom>
          <a:noFill/>
          <a:ln>
            <a:noFill/>
          </a:ln>
        </p:spPr>
      </p:pic>
      <p:sp>
        <p:nvSpPr>
          <p:cNvPr id="137" name="Google Shape;137;p31"/>
          <p:cNvSpPr txBox="1"/>
          <p:nvPr/>
        </p:nvSpPr>
        <p:spPr>
          <a:xfrm>
            <a:off x="872825" y="1927700"/>
            <a:ext cx="6359100" cy="21240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rgbClr val="000000"/>
              </a:buClr>
              <a:buSzPts val="1800"/>
              <a:buFont typeface="Calibri"/>
              <a:buChar char="●"/>
            </a:pPr>
            <a:r>
              <a:rPr b="1" i="0" lang="en-US" sz="1800" u="none" cap="none" strike="noStrike">
                <a:solidFill>
                  <a:srgbClr val="000000"/>
                </a:solidFill>
                <a:latin typeface="Calibri"/>
                <a:ea typeface="Calibri"/>
                <a:cs typeface="Calibri"/>
                <a:sym typeface="Calibri"/>
              </a:rPr>
              <a:t>Minterm  (SOP)</a:t>
            </a:r>
            <a:r>
              <a:rPr b="0" i="0" lang="en-US" sz="1800" u="none" cap="none" strike="noStrike">
                <a:solidFill>
                  <a:srgbClr val="000000"/>
                </a:solidFill>
                <a:latin typeface="Calibri"/>
                <a:ea typeface="Calibri"/>
                <a:cs typeface="Calibri"/>
                <a:sym typeface="Calibri"/>
              </a:rPr>
              <a:t> - Group 2</a:t>
            </a:r>
            <a:r>
              <a:rPr b="0" baseline="30000" i="0" lang="en-US" sz="1800" u="none" cap="none" strike="noStrike">
                <a:solidFill>
                  <a:srgbClr val="000000"/>
                </a:solidFill>
                <a:latin typeface="Calibri"/>
                <a:ea typeface="Calibri"/>
                <a:cs typeface="Calibri"/>
                <a:sym typeface="Calibri"/>
              </a:rPr>
              <a:t>n </a:t>
            </a:r>
            <a:r>
              <a:rPr b="0" i="0" lang="en-US" sz="1800" u="none" cap="none" strike="noStrike">
                <a:solidFill>
                  <a:srgbClr val="000000"/>
                </a:solidFill>
                <a:latin typeface="Calibri"/>
                <a:ea typeface="Calibri"/>
                <a:cs typeface="Calibri"/>
                <a:sym typeface="Calibri"/>
              </a:rPr>
              <a:t> no. of 1 and no 0. n = 0,1,2,3…. (Make groups larger as possible)</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Grouping can be square/rectangle shaped or along row/column (Not along diagonal). </a:t>
            </a:r>
            <a:r>
              <a:rPr b="0" i="0" lang="en-US" sz="1800" u="none" cap="none" strike="noStrike">
                <a:solidFill>
                  <a:schemeClr val="dk1"/>
                </a:solidFill>
                <a:latin typeface="Calibri"/>
                <a:ea typeface="Calibri"/>
                <a:cs typeface="Calibri"/>
                <a:sym typeface="Calibri"/>
              </a:rPr>
              <a:t>Groups can be overlapped.</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The inputs which are varying in a group, can be omitted.</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Don’t cares (d) can be used 0/1 as per convenience.</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Char char="●"/>
            </a:pPr>
            <a:r>
              <a:rPr b="1" i="0" lang="en-US" sz="1800" u="none" cap="none" strike="noStrike">
                <a:solidFill>
                  <a:srgbClr val="000000"/>
                </a:solidFill>
                <a:latin typeface="Calibri"/>
                <a:ea typeface="Calibri"/>
                <a:cs typeface="Calibri"/>
                <a:sym typeface="Calibri"/>
              </a:rPr>
              <a:t>Edges are connected.</a:t>
            </a:r>
            <a:endParaRPr b="1"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2"/>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0"/>
              </a:spcAft>
              <a:buSzPts val="2400"/>
              <a:buNone/>
            </a:pPr>
            <a:r>
              <a:rPr lang="en-US"/>
              <a:t>Consider the following function (where m= minterms, D = don’t cares): </a:t>
            </a:r>
            <a:endParaRPr/>
          </a:p>
          <a:p>
            <a:pPr indent="0" lvl="0" marL="0" rtl="0" algn="ctr">
              <a:lnSpc>
                <a:spcPct val="115000"/>
              </a:lnSpc>
              <a:spcBef>
                <a:spcPts val="0"/>
              </a:spcBef>
              <a:spcAft>
                <a:spcPts val="0"/>
              </a:spcAft>
              <a:buSzPts val="2400"/>
              <a:buNone/>
            </a:pPr>
            <a:r>
              <a:rPr lang="en-US"/>
              <a:t>f(x1, . . . , x4) = ∑ m(2, 4, 5, 6, 10) + D(12, 13, 14, 15)</a:t>
            </a:r>
            <a:endParaRPr/>
          </a:p>
        </p:txBody>
      </p:sp>
      <p:pic>
        <p:nvPicPr>
          <p:cNvPr id="143" name="Google Shape;143;p32"/>
          <p:cNvPicPr preferRelativeResize="0"/>
          <p:nvPr/>
        </p:nvPicPr>
        <p:blipFill rotWithShape="1">
          <a:blip r:embed="rId3">
            <a:alphaModFix/>
          </a:blip>
          <a:srcRect b="0" l="0" r="0" t="0"/>
          <a:stretch/>
        </p:blipFill>
        <p:spPr>
          <a:xfrm>
            <a:off x="6599175" y="2697525"/>
            <a:ext cx="3711775" cy="3394300"/>
          </a:xfrm>
          <a:prstGeom prst="rect">
            <a:avLst/>
          </a:prstGeom>
          <a:noFill/>
          <a:ln>
            <a:noFill/>
          </a:ln>
        </p:spPr>
      </p:pic>
      <p:pic>
        <p:nvPicPr>
          <p:cNvPr id="144" name="Google Shape;144;p32"/>
          <p:cNvPicPr preferRelativeResize="0"/>
          <p:nvPr/>
        </p:nvPicPr>
        <p:blipFill rotWithShape="1">
          <a:blip r:embed="rId4">
            <a:alphaModFix/>
          </a:blip>
          <a:srcRect b="0" l="0" r="0" t="0"/>
          <a:stretch/>
        </p:blipFill>
        <p:spPr>
          <a:xfrm>
            <a:off x="1917325" y="2575700"/>
            <a:ext cx="3019025" cy="3516124"/>
          </a:xfrm>
          <a:prstGeom prst="rect">
            <a:avLst/>
          </a:prstGeom>
          <a:noFill/>
          <a:ln>
            <a:noFill/>
          </a:ln>
        </p:spPr>
      </p:pic>
      <p:sp>
        <p:nvSpPr>
          <p:cNvPr id="145" name="Google Shape;145;p3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Clr>
                <a:schemeClr val="dk1"/>
              </a:buClr>
              <a:buSzPts val="1500"/>
              <a:buFont typeface="Arial"/>
              <a:buNone/>
            </a:pPr>
            <a:r>
              <a:rPr b="1" lang="en-US" sz="3300">
                <a:latin typeface="Times New Roman"/>
                <a:ea typeface="Times New Roman"/>
                <a:cs typeface="Times New Roman"/>
                <a:sym typeface="Times New Roman"/>
              </a:rPr>
              <a:t>Logic Function Synthesis (SOP) using k-map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0"/>
              </a:spcAft>
              <a:buSzPts val="2400"/>
              <a:buNone/>
            </a:pPr>
            <a:r>
              <a:rPr lang="en-US"/>
              <a:t>Consider the following function (where m= minterms, D = don’t cares): </a:t>
            </a:r>
            <a:endParaRPr/>
          </a:p>
          <a:p>
            <a:pPr indent="0" lvl="0" marL="0" rtl="0" algn="ctr">
              <a:lnSpc>
                <a:spcPct val="115000"/>
              </a:lnSpc>
              <a:spcBef>
                <a:spcPts val="0"/>
              </a:spcBef>
              <a:spcAft>
                <a:spcPts val="0"/>
              </a:spcAft>
              <a:buSzPts val="2400"/>
              <a:buNone/>
            </a:pPr>
            <a:r>
              <a:rPr lang="en-US"/>
              <a:t>f(x1, . . . , x4) = ∑ m(2, 4, 5, 6, 10) + D(12, 13, 14, 15)</a:t>
            </a:r>
            <a:endParaRPr/>
          </a:p>
        </p:txBody>
      </p:sp>
      <p:pic>
        <p:nvPicPr>
          <p:cNvPr id="151" name="Google Shape;151;p33"/>
          <p:cNvPicPr preferRelativeResize="0"/>
          <p:nvPr/>
        </p:nvPicPr>
        <p:blipFill rotWithShape="1">
          <a:blip r:embed="rId3">
            <a:alphaModFix/>
          </a:blip>
          <a:srcRect b="0" l="0" r="0" t="0"/>
          <a:stretch/>
        </p:blipFill>
        <p:spPr>
          <a:xfrm>
            <a:off x="2280100" y="2957238"/>
            <a:ext cx="2810049" cy="2582425"/>
          </a:xfrm>
          <a:prstGeom prst="rect">
            <a:avLst/>
          </a:prstGeom>
          <a:noFill/>
          <a:ln>
            <a:noFill/>
          </a:ln>
        </p:spPr>
      </p:pic>
      <p:pic>
        <p:nvPicPr>
          <p:cNvPr id="152" name="Google Shape;152;p33"/>
          <p:cNvPicPr preferRelativeResize="0"/>
          <p:nvPr/>
        </p:nvPicPr>
        <p:blipFill rotWithShape="1">
          <a:blip r:embed="rId4">
            <a:alphaModFix/>
          </a:blip>
          <a:srcRect b="0" l="0" r="0" t="0"/>
          <a:stretch/>
        </p:blipFill>
        <p:spPr>
          <a:xfrm>
            <a:off x="6599175" y="2697525"/>
            <a:ext cx="3711775" cy="3394300"/>
          </a:xfrm>
          <a:prstGeom prst="rect">
            <a:avLst/>
          </a:prstGeom>
          <a:noFill/>
          <a:ln>
            <a:noFill/>
          </a:ln>
        </p:spPr>
      </p:pic>
      <p:sp>
        <p:nvSpPr>
          <p:cNvPr id="153" name="Google Shape;153;p3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Clr>
                <a:schemeClr val="dk1"/>
              </a:buClr>
              <a:buSzPts val="1500"/>
              <a:buFont typeface="Arial"/>
              <a:buNone/>
            </a:pPr>
            <a:r>
              <a:rPr b="1" lang="en-US" sz="3300">
                <a:latin typeface="Times New Roman"/>
                <a:ea typeface="Times New Roman"/>
                <a:cs typeface="Times New Roman"/>
                <a:sym typeface="Times New Roman"/>
              </a:rPr>
              <a:t>Logic Function Synthesis (SOP) using k-map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0"/>
              </a:spcAft>
              <a:buSzPts val="2400"/>
              <a:buNone/>
            </a:pPr>
            <a:r>
              <a:rPr lang="en-US"/>
              <a:t>Consider the following function (where m= minterms, D = don’t cares): </a:t>
            </a:r>
            <a:endParaRPr/>
          </a:p>
          <a:p>
            <a:pPr indent="0" lvl="0" marL="0" rtl="0" algn="ctr">
              <a:lnSpc>
                <a:spcPct val="115000"/>
              </a:lnSpc>
              <a:spcBef>
                <a:spcPts val="0"/>
              </a:spcBef>
              <a:spcAft>
                <a:spcPts val="0"/>
              </a:spcAft>
              <a:buSzPts val="2400"/>
              <a:buNone/>
            </a:pPr>
            <a:r>
              <a:rPr lang="en-US"/>
              <a:t>f(x1, . . . , x4) = ∑ m(2, 4, 5, 6, 10) + D(12, 13, 14, 15)</a:t>
            </a:r>
            <a:endParaRPr/>
          </a:p>
        </p:txBody>
      </p:sp>
      <p:pic>
        <p:nvPicPr>
          <p:cNvPr id="159" name="Google Shape;159;p34"/>
          <p:cNvPicPr preferRelativeResize="0"/>
          <p:nvPr/>
        </p:nvPicPr>
        <p:blipFill rotWithShape="1">
          <a:blip r:embed="rId3">
            <a:alphaModFix/>
          </a:blip>
          <a:srcRect b="0" l="0" r="0" t="0"/>
          <a:stretch/>
        </p:blipFill>
        <p:spPr>
          <a:xfrm>
            <a:off x="6599175" y="2697525"/>
            <a:ext cx="3711775" cy="3394300"/>
          </a:xfrm>
          <a:prstGeom prst="rect">
            <a:avLst/>
          </a:prstGeom>
          <a:noFill/>
          <a:ln>
            <a:noFill/>
          </a:ln>
        </p:spPr>
      </p:pic>
      <p:pic>
        <p:nvPicPr>
          <p:cNvPr id="160" name="Google Shape;160;p34"/>
          <p:cNvPicPr preferRelativeResize="0"/>
          <p:nvPr/>
        </p:nvPicPr>
        <p:blipFill rotWithShape="1">
          <a:blip r:embed="rId4">
            <a:alphaModFix/>
          </a:blip>
          <a:srcRect b="0" l="0" r="0" t="0"/>
          <a:stretch/>
        </p:blipFill>
        <p:spPr>
          <a:xfrm>
            <a:off x="2280100" y="2957250"/>
            <a:ext cx="3628753" cy="2582400"/>
          </a:xfrm>
          <a:prstGeom prst="rect">
            <a:avLst/>
          </a:prstGeom>
          <a:noFill/>
          <a:ln>
            <a:noFill/>
          </a:ln>
        </p:spPr>
      </p:pic>
      <p:sp>
        <p:nvSpPr>
          <p:cNvPr id="161" name="Google Shape;161;p3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Clr>
                <a:schemeClr val="dk1"/>
              </a:buClr>
              <a:buSzPts val="1500"/>
              <a:buFont typeface="Arial"/>
              <a:buNone/>
            </a:pPr>
            <a:r>
              <a:rPr b="1" lang="en-US" sz="3300">
                <a:latin typeface="Times New Roman"/>
                <a:ea typeface="Times New Roman"/>
                <a:cs typeface="Times New Roman"/>
                <a:sym typeface="Times New Roman"/>
              </a:rPr>
              <a:t>Logic Function Synthesis (SOP) using k-map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0"/>
              </a:spcAft>
              <a:buSzPts val="2400"/>
              <a:buNone/>
            </a:pPr>
            <a:r>
              <a:rPr lang="en-US"/>
              <a:t>Consider the following function (where m= minterms, D = don’t cares): </a:t>
            </a:r>
            <a:endParaRPr/>
          </a:p>
          <a:p>
            <a:pPr indent="0" lvl="0" marL="0" rtl="0" algn="ctr">
              <a:lnSpc>
                <a:spcPct val="115000"/>
              </a:lnSpc>
              <a:spcBef>
                <a:spcPts val="0"/>
              </a:spcBef>
              <a:spcAft>
                <a:spcPts val="0"/>
              </a:spcAft>
              <a:buSzPts val="2400"/>
              <a:buNone/>
            </a:pPr>
            <a:r>
              <a:rPr lang="en-US"/>
              <a:t>f(x1, . . . , x4) = ∑ m(2, 4, 5, 6, 10) + D(12, 13, 14, 15)</a:t>
            </a:r>
            <a:endParaRPr/>
          </a:p>
        </p:txBody>
      </p:sp>
      <p:pic>
        <p:nvPicPr>
          <p:cNvPr id="167" name="Google Shape;167;p35"/>
          <p:cNvPicPr preferRelativeResize="0"/>
          <p:nvPr/>
        </p:nvPicPr>
        <p:blipFill rotWithShape="1">
          <a:blip r:embed="rId3">
            <a:alphaModFix/>
          </a:blip>
          <a:srcRect b="0" l="0" r="0" t="0"/>
          <a:stretch/>
        </p:blipFill>
        <p:spPr>
          <a:xfrm>
            <a:off x="2280100" y="2957250"/>
            <a:ext cx="3628753" cy="2582400"/>
          </a:xfrm>
          <a:prstGeom prst="rect">
            <a:avLst/>
          </a:prstGeom>
          <a:noFill/>
          <a:ln>
            <a:noFill/>
          </a:ln>
        </p:spPr>
      </p:pic>
      <p:pic>
        <p:nvPicPr>
          <p:cNvPr id="168" name="Google Shape;168;p35"/>
          <p:cNvPicPr preferRelativeResize="0"/>
          <p:nvPr/>
        </p:nvPicPr>
        <p:blipFill rotWithShape="1">
          <a:blip r:embed="rId4">
            <a:alphaModFix/>
          </a:blip>
          <a:srcRect b="0" l="0" r="0" t="0"/>
          <a:stretch/>
        </p:blipFill>
        <p:spPr>
          <a:xfrm>
            <a:off x="7416525" y="3992997"/>
            <a:ext cx="2053050" cy="510900"/>
          </a:xfrm>
          <a:prstGeom prst="rect">
            <a:avLst/>
          </a:prstGeom>
          <a:noFill/>
          <a:ln>
            <a:noFill/>
          </a:ln>
        </p:spPr>
      </p:pic>
      <p:sp>
        <p:nvSpPr>
          <p:cNvPr id="169" name="Google Shape;169;p3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p>
            <a:pPr indent="0" lvl="0" marL="0" rtl="0" algn="l">
              <a:lnSpc>
                <a:spcPct val="100000"/>
              </a:lnSpc>
              <a:spcBef>
                <a:spcPts val="0"/>
              </a:spcBef>
              <a:spcAft>
                <a:spcPts val="0"/>
              </a:spcAft>
              <a:buClr>
                <a:schemeClr val="dk1"/>
              </a:buClr>
              <a:buSzPts val="1500"/>
              <a:buFont typeface="Arial"/>
              <a:buNone/>
            </a:pPr>
            <a:r>
              <a:rPr b="1" lang="en-US" sz="3300">
                <a:latin typeface="Times New Roman"/>
                <a:ea typeface="Times New Roman"/>
                <a:cs typeface="Times New Roman"/>
                <a:sym typeface="Times New Roman"/>
              </a:rPr>
              <a:t>Logic Function Synthesis (SOP) using k-map</a:t>
            </a:r>
            <a:endParaRPr/>
          </a:p>
        </p:txBody>
      </p:sp>
      <p:sp>
        <p:nvSpPr>
          <p:cNvPr id="170" name="Google Shape;170;p35"/>
          <p:cNvSpPr/>
          <p:nvPr/>
        </p:nvSpPr>
        <p:spPr>
          <a:xfrm>
            <a:off x="5446600" y="3784450"/>
            <a:ext cx="529500" cy="1671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par>
                                <p:cTn fill="hold" nodeType="withEffect" presetClass="exit" presetID="1" presetSubtype="0">
                                  <p:stCondLst>
                                    <p:cond delay="0"/>
                                  </p:stCondLst>
                                  <p:childTnLst>
                                    <p:set>
                                      <p:cBhvr>
                                        <p:cTn dur="1" fill="hold">
                                          <p:stCondLst>
                                            <p:cond delay="1"/>
                                          </p:stCondLst>
                                        </p:cTn>
                                        <p:tgtEl>
                                          <p:spTgt spid="17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57a636349e_0_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100"/>
              <a:buFont typeface="Arial"/>
              <a:buNone/>
            </a:pPr>
            <a:r>
              <a:rPr lang="en-US"/>
              <a:t>A very simple controller[ a light switch!!]</a:t>
            </a:r>
            <a:endParaRPr/>
          </a:p>
          <a:p>
            <a:pPr indent="0" lvl="0" marL="0" rtl="0" algn="l">
              <a:lnSpc>
                <a:spcPct val="90000"/>
              </a:lnSpc>
              <a:spcBef>
                <a:spcPts val="0"/>
              </a:spcBef>
              <a:spcAft>
                <a:spcPts val="0"/>
              </a:spcAft>
              <a:buSzPts val="1800"/>
              <a:buNone/>
            </a:pPr>
            <a:r>
              <a:t/>
            </a:r>
            <a:endParaRPr/>
          </a:p>
        </p:txBody>
      </p:sp>
      <p:sp>
        <p:nvSpPr>
          <p:cNvPr id="176" name="Google Shape;176;g257a636349e_0_3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457200" lvl="0" marL="0" rtl="0" algn="l">
              <a:lnSpc>
                <a:spcPct val="100000"/>
              </a:lnSpc>
              <a:spcBef>
                <a:spcPts val="0"/>
              </a:spcBef>
              <a:spcAft>
                <a:spcPts val="0"/>
              </a:spcAft>
              <a:buSzPts val="1800"/>
              <a:buNone/>
            </a:pPr>
            <a:r>
              <a:t/>
            </a:r>
            <a:endParaRPr sz="1400">
              <a:latin typeface="Arial"/>
              <a:ea typeface="Arial"/>
              <a:cs typeface="Arial"/>
              <a:sym typeface="Arial"/>
            </a:endParaRPr>
          </a:p>
          <a:p>
            <a:pPr indent="457200" lvl="0" marL="0" rtl="0" algn="l">
              <a:lnSpc>
                <a:spcPct val="100000"/>
              </a:lnSpc>
              <a:spcBef>
                <a:spcPts val="0"/>
              </a:spcBef>
              <a:spcAft>
                <a:spcPts val="0"/>
              </a:spcAft>
              <a:buSzPts val="1800"/>
              <a:buNone/>
            </a:pPr>
            <a:r>
              <a:rPr lang="en-US" sz="1400">
                <a:latin typeface="Arial"/>
                <a:ea typeface="Arial"/>
                <a:cs typeface="Arial"/>
                <a:sym typeface="Arial"/>
              </a:rPr>
              <a:t>  			      Light OFF -&gt; Light OFF [same state]       [switch OFF, w=0]</a:t>
            </a:r>
            <a:endParaRPr sz="1400">
              <a:latin typeface="Arial"/>
              <a:ea typeface="Arial"/>
              <a:cs typeface="Arial"/>
              <a:sym typeface="Arial"/>
            </a:endParaRPr>
          </a:p>
          <a:p>
            <a:pPr indent="0" lvl="0" marL="1828800" rtl="0" algn="l">
              <a:lnSpc>
                <a:spcPct val="100000"/>
              </a:lnSpc>
              <a:spcBef>
                <a:spcPts val="0"/>
              </a:spcBef>
              <a:spcAft>
                <a:spcPts val="0"/>
              </a:spcAft>
              <a:buClr>
                <a:schemeClr val="dk1"/>
              </a:buClr>
              <a:buSzPts val="1100"/>
              <a:buFont typeface="Arial"/>
              <a:buNone/>
            </a:pPr>
            <a:r>
              <a:rPr lang="en-US" sz="1400">
                <a:solidFill>
                  <a:srgbClr val="FF0000"/>
                </a:solidFill>
                <a:latin typeface="Arial"/>
                <a:ea typeface="Arial"/>
                <a:cs typeface="Arial"/>
                <a:sym typeface="Arial"/>
              </a:rPr>
              <a:t>      Light OFF -&gt; Light ON [change of state]  </a:t>
            </a:r>
            <a:r>
              <a:rPr lang="en-US" sz="1400">
                <a:latin typeface="Arial"/>
                <a:ea typeface="Arial"/>
                <a:cs typeface="Arial"/>
                <a:sym typeface="Arial"/>
              </a:rPr>
              <a:t>[switch ON, </a:t>
            </a:r>
            <a:r>
              <a:rPr lang="en-US" sz="1400">
                <a:solidFill>
                  <a:srgbClr val="FF0000"/>
                </a:solidFill>
                <a:latin typeface="Arial"/>
                <a:ea typeface="Arial"/>
                <a:cs typeface="Arial"/>
                <a:sym typeface="Arial"/>
              </a:rPr>
              <a:t> w=1</a:t>
            </a:r>
            <a:r>
              <a:rPr lang="en-US" sz="1400">
                <a:latin typeface="Arial"/>
                <a:ea typeface="Arial"/>
                <a:cs typeface="Arial"/>
                <a:sym typeface="Arial"/>
              </a:rPr>
              <a:t>]</a:t>
            </a:r>
            <a:endParaRPr sz="14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US" sz="1400">
                <a:latin typeface="Arial"/>
                <a:ea typeface="Arial"/>
                <a:cs typeface="Arial"/>
                <a:sym typeface="Arial"/>
              </a:rPr>
              <a:t>     				      Light ON   -&gt; Light ON [same state]         [Switch ON, </a:t>
            </a:r>
            <a:r>
              <a:rPr lang="en-US" sz="1400">
                <a:solidFill>
                  <a:srgbClr val="FF0000"/>
                </a:solidFill>
                <a:latin typeface="Arial"/>
                <a:ea typeface="Arial"/>
                <a:cs typeface="Arial"/>
                <a:sym typeface="Arial"/>
              </a:rPr>
              <a:t>w=1</a:t>
            </a:r>
            <a:r>
              <a:rPr lang="en-US" sz="1400">
                <a:latin typeface="Arial"/>
                <a:ea typeface="Arial"/>
                <a:cs typeface="Arial"/>
                <a:sym typeface="Arial"/>
              </a:rPr>
              <a:t>]</a:t>
            </a:r>
            <a:endParaRPr sz="14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US" sz="1400">
                <a:latin typeface="Arial"/>
                <a:ea typeface="Arial"/>
                <a:cs typeface="Arial"/>
                <a:sym typeface="Arial"/>
              </a:rPr>
              <a:t>     </a:t>
            </a:r>
            <a:r>
              <a:rPr lang="en-US" sz="1400">
                <a:solidFill>
                  <a:srgbClr val="FF0000"/>
                </a:solidFill>
                <a:latin typeface="Arial"/>
                <a:ea typeface="Arial"/>
                <a:cs typeface="Arial"/>
                <a:sym typeface="Arial"/>
              </a:rPr>
              <a:t>    				      Light ON  -&gt; Light OFF [change of state] </a:t>
            </a:r>
            <a:r>
              <a:rPr lang="en-US" sz="1400">
                <a:latin typeface="Arial"/>
                <a:ea typeface="Arial"/>
                <a:cs typeface="Arial"/>
                <a:sym typeface="Arial"/>
              </a:rPr>
              <a:t>[switch OFF, w=0]</a:t>
            </a:r>
            <a:endParaRPr sz="1400">
              <a:latin typeface="Arial"/>
              <a:ea typeface="Arial"/>
              <a:cs typeface="Arial"/>
              <a:sym typeface="Arial"/>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rPr lang="en-US"/>
              <a:t>							</a:t>
            </a:r>
            <a:r>
              <a:rPr lang="en-US" sz="1400">
                <a:latin typeface="Arial"/>
                <a:ea typeface="Arial"/>
                <a:cs typeface="Arial"/>
                <a:sym typeface="Arial"/>
              </a:rPr>
              <a:t>WHAT HAPPENS TO THE OUTPUT??</a:t>
            </a:r>
            <a:endParaRPr sz="14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US" sz="1400">
                <a:latin typeface="Arial"/>
                <a:ea typeface="Arial"/>
                <a:cs typeface="Arial"/>
                <a:sym typeface="Arial"/>
              </a:rPr>
              <a:t>								  </a:t>
            </a:r>
            <a:r>
              <a:rPr b="1" i="1" lang="en-US" sz="1400">
                <a:latin typeface="Arial"/>
                <a:ea typeface="Arial"/>
                <a:cs typeface="Arial"/>
                <a:sym typeface="Arial"/>
              </a:rPr>
              <a:t>Light OFF -&gt; z=0</a:t>
            </a:r>
            <a:endParaRPr b="1" i="1" sz="14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i="1" lang="en-US" sz="1400">
                <a:latin typeface="Arial"/>
                <a:ea typeface="Arial"/>
                <a:cs typeface="Arial"/>
                <a:sym typeface="Arial"/>
              </a:rPr>
              <a:t>								  Light ON   -&gt; z=1</a:t>
            </a:r>
            <a:endParaRPr b="1" i="1" sz="1400">
              <a:latin typeface="Arial"/>
              <a:ea typeface="Arial"/>
              <a:cs typeface="Arial"/>
              <a:sym typeface="Arial"/>
            </a:endParaRPr>
          </a:p>
          <a:p>
            <a:pPr indent="0" lvl="0" marL="0" rtl="0" algn="l">
              <a:lnSpc>
                <a:spcPct val="90000"/>
              </a:lnSpc>
              <a:spcBef>
                <a:spcPts val="1000"/>
              </a:spcBef>
              <a:spcAft>
                <a:spcPts val="0"/>
              </a:spcAft>
              <a:buSzPts val="1800"/>
              <a:buNone/>
            </a:pPr>
            <a:r>
              <a:t/>
            </a:r>
            <a:endParaRPr/>
          </a:p>
        </p:txBody>
      </p:sp>
      <p:sp>
        <p:nvSpPr>
          <p:cNvPr id="177" name="Google Shape;177;g257a636349e_0_31"/>
          <p:cNvSpPr/>
          <p:nvPr/>
        </p:nvSpPr>
        <p:spPr>
          <a:xfrm>
            <a:off x="2842200" y="3339450"/>
            <a:ext cx="1284300" cy="104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Light OFF</a:t>
            </a:r>
            <a:r>
              <a:rPr b="0" i="0" lang="en-US" sz="1400" u="none" cap="none" strike="noStrike">
                <a:solidFill>
                  <a:srgbClr val="FF0000"/>
                </a:solidFill>
                <a:latin typeface="Arial"/>
                <a:ea typeface="Arial"/>
                <a:cs typeface="Arial"/>
                <a:sym typeface="Arial"/>
              </a:rPr>
              <a:t>/z=0</a:t>
            </a:r>
            <a:endParaRPr b="0" i="0" sz="1400" u="none" cap="none" strike="noStrike">
              <a:solidFill>
                <a:srgbClr val="FF0000"/>
              </a:solidFill>
              <a:latin typeface="Arial"/>
              <a:ea typeface="Arial"/>
              <a:cs typeface="Arial"/>
              <a:sym typeface="Arial"/>
            </a:endParaRPr>
          </a:p>
        </p:txBody>
      </p:sp>
      <p:sp>
        <p:nvSpPr>
          <p:cNvPr id="178" name="Google Shape;178;g257a636349e_0_31"/>
          <p:cNvSpPr/>
          <p:nvPr/>
        </p:nvSpPr>
        <p:spPr>
          <a:xfrm>
            <a:off x="7083425" y="3339450"/>
            <a:ext cx="1284300" cy="104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Light ON</a:t>
            </a:r>
            <a:r>
              <a:rPr b="0" i="0" lang="en-US" sz="1400" u="none" cap="none" strike="noStrike">
                <a:solidFill>
                  <a:srgbClr val="FF0000"/>
                </a:solidFill>
                <a:latin typeface="Arial"/>
                <a:ea typeface="Arial"/>
                <a:cs typeface="Arial"/>
                <a:sym typeface="Arial"/>
              </a:rPr>
              <a:t>/z=1</a:t>
            </a:r>
            <a:endParaRPr b="0" i="0" sz="1400" u="none" cap="none" strike="noStrike">
              <a:solidFill>
                <a:srgbClr val="FF0000"/>
              </a:solidFill>
              <a:latin typeface="Arial"/>
              <a:ea typeface="Arial"/>
              <a:cs typeface="Arial"/>
              <a:sym typeface="Arial"/>
            </a:endParaRPr>
          </a:p>
        </p:txBody>
      </p:sp>
      <p:cxnSp>
        <p:nvCxnSpPr>
          <p:cNvPr id="179" name="Google Shape;179;g257a636349e_0_31"/>
          <p:cNvCxnSpPr>
            <a:stCxn id="177" idx="7"/>
            <a:endCxn id="178" idx="1"/>
          </p:cNvCxnSpPr>
          <p:nvPr/>
        </p:nvCxnSpPr>
        <p:spPr>
          <a:xfrm>
            <a:off x="3938419" y="3493043"/>
            <a:ext cx="3333000" cy="0"/>
          </a:xfrm>
          <a:prstGeom prst="straightConnector1">
            <a:avLst/>
          </a:prstGeom>
          <a:noFill/>
          <a:ln cap="flat" cmpd="sng" w="9525">
            <a:solidFill>
              <a:schemeClr val="dk2"/>
            </a:solidFill>
            <a:prstDash val="solid"/>
            <a:round/>
            <a:headEnd len="sm" w="sm" type="none"/>
            <a:tailEnd len="med" w="med" type="triangle"/>
          </a:ln>
        </p:spPr>
      </p:cxnSp>
      <p:cxnSp>
        <p:nvCxnSpPr>
          <p:cNvPr id="180" name="Google Shape;180;g257a636349e_0_31"/>
          <p:cNvCxnSpPr>
            <a:stCxn id="178" idx="3"/>
            <a:endCxn id="177" idx="5"/>
          </p:cNvCxnSpPr>
          <p:nvPr/>
        </p:nvCxnSpPr>
        <p:spPr>
          <a:xfrm rot="10800000">
            <a:off x="3938506" y="4234657"/>
            <a:ext cx="3333000" cy="0"/>
          </a:xfrm>
          <a:prstGeom prst="straightConnector1">
            <a:avLst/>
          </a:prstGeom>
          <a:noFill/>
          <a:ln cap="flat" cmpd="sng" w="9525">
            <a:solidFill>
              <a:schemeClr val="dk2"/>
            </a:solidFill>
            <a:prstDash val="solid"/>
            <a:round/>
            <a:headEnd len="sm" w="sm" type="none"/>
            <a:tailEnd len="med" w="med" type="triangle"/>
          </a:ln>
        </p:spPr>
      </p:cxnSp>
      <p:sp>
        <p:nvSpPr>
          <p:cNvPr id="181" name="Google Shape;181;g257a636349e_0_31"/>
          <p:cNvSpPr txBox="1"/>
          <p:nvPr/>
        </p:nvSpPr>
        <p:spPr>
          <a:xfrm>
            <a:off x="5198075" y="3092850"/>
            <a:ext cx="589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w=1</a:t>
            </a:r>
            <a:endParaRPr b="0" i="0" sz="1400" u="none" cap="none" strike="noStrike">
              <a:solidFill>
                <a:srgbClr val="000000"/>
              </a:solidFill>
              <a:latin typeface="Calibri"/>
              <a:ea typeface="Calibri"/>
              <a:cs typeface="Calibri"/>
              <a:sym typeface="Calibri"/>
            </a:endParaRPr>
          </a:p>
        </p:txBody>
      </p:sp>
      <p:sp>
        <p:nvSpPr>
          <p:cNvPr id="182" name="Google Shape;182;g257a636349e_0_31"/>
          <p:cNvSpPr txBox="1"/>
          <p:nvPr/>
        </p:nvSpPr>
        <p:spPr>
          <a:xfrm>
            <a:off x="5198075" y="3751075"/>
            <a:ext cx="589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w=0</a:t>
            </a:r>
            <a:endParaRPr b="0" i="0" sz="1400" u="none" cap="none" strike="noStrike">
              <a:solidFill>
                <a:srgbClr val="000000"/>
              </a:solidFill>
              <a:latin typeface="Calibri"/>
              <a:ea typeface="Calibri"/>
              <a:cs typeface="Calibri"/>
              <a:sym typeface="Calibri"/>
            </a:endParaRPr>
          </a:p>
        </p:txBody>
      </p:sp>
      <p:sp>
        <p:nvSpPr>
          <p:cNvPr id="183" name="Google Shape;183;g257a636349e_0_31"/>
          <p:cNvSpPr/>
          <p:nvPr/>
        </p:nvSpPr>
        <p:spPr>
          <a:xfrm rot="-5217909">
            <a:off x="2241287" y="3539078"/>
            <a:ext cx="900964" cy="683433"/>
          </a:xfrm>
          <a:prstGeom prst="curvedDownArrow">
            <a:avLst>
              <a:gd fmla="val 25000" name="adj1"/>
              <a:gd fmla="val 18964" name="adj2"/>
              <a:gd fmla="val 20711"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g257a636349e_0_31"/>
          <p:cNvSpPr/>
          <p:nvPr/>
        </p:nvSpPr>
        <p:spPr>
          <a:xfrm rot="5598090">
            <a:off x="8069538" y="3522192"/>
            <a:ext cx="901196" cy="683297"/>
          </a:xfrm>
          <a:prstGeom prst="curvedDownArrow">
            <a:avLst>
              <a:gd fmla="val 25000" name="adj1"/>
              <a:gd fmla="val 18964" name="adj2"/>
              <a:gd fmla="val 20711"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257a636349e_0_31"/>
          <p:cNvSpPr txBox="1"/>
          <p:nvPr/>
        </p:nvSpPr>
        <p:spPr>
          <a:xfrm>
            <a:off x="1674000" y="3663750"/>
            <a:ext cx="589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w=0</a:t>
            </a:r>
            <a:endParaRPr b="0" i="0" sz="1400" u="none" cap="none" strike="noStrike">
              <a:solidFill>
                <a:srgbClr val="000000"/>
              </a:solidFill>
              <a:latin typeface="Calibri"/>
              <a:ea typeface="Calibri"/>
              <a:cs typeface="Calibri"/>
              <a:sym typeface="Calibri"/>
            </a:endParaRPr>
          </a:p>
        </p:txBody>
      </p:sp>
      <p:sp>
        <p:nvSpPr>
          <p:cNvPr id="186" name="Google Shape;186;g257a636349e_0_31"/>
          <p:cNvSpPr txBox="1"/>
          <p:nvPr/>
        </p:nvSpPr>
        <p:spPr>
          <a:xfrm>
            <a:off x="8955425" y="3663750"/>
            <a:ext cx="589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w=1</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000"/>
              <a:t>Let’s change the problem!!</a:t>
            </a:r>
            <a:endParaRPr sz="4000"/>
          </a:p>
        </p:txBody>
      </p:sp>
      <p:sp>
        <p:nvSpPr>
          <p:cNvPr id="192" name="Google Shape;19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if you were given the following design specification:</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400"/>
              <a:buNone/>
            </a:pPr>
            <a:r>
              <a:rPr lang="en-US" sz="2400"/>
              <a:t>What makes this circuit so different from those we’ve discussed before?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93" name="Google Shape;193;p3"/>
          <p:cNvPicPr preferRelativeResize="0"/>
          <p:nvPr/>
        </p:nvPicPr>
        <p:blipFill rotWithShape="1">
          <a:blip r:embed="rId3">
            <a:alphaModFix/>
          </a:blip>
          <a:srcRect b="0" l="0" r="0" t="0"/>
          <a:stretch/>
        </p:blipFill>
        <p:spPr>
          <a:xfrm>
            <a:off x="2937252" y="2336866"/>
            <a:ext cx="6323479" cy="26049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000"/>
              <a:t>Something We Can Build (So Far)</a:t>
            </a:r>
            <a:endParaRPr sz="4000"/>
          </a:p>
        </p:txBody>
      </p:sp>
      <p:sp>
        <p:nvSpPr>
          <p:cNvPr id="199" name="Google Shape;199;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if you were given the following design specification:</a:t>
            </a:r>
            <a:endParaRPr/>
          </a:p>
        </p:txBody>
      </p:sp>
      <p:pic>
        <p:nvPicPr>
          <p:cNvPr id="200" name="Google Shape;200;p2"/>
          <p:cNvPicPr preferRelativeResize="0"/>
          <p:nvPr/>
        </p:nvPicPr>
        <p:blipFill rotWithShape="1">
          <a:blip r:embed="rId3">
            <a:alphaModFix/>
          </a:blip>
          <a:srcRect b="0" l="0" r="0" t="0"/>
          <a:stretch/>
        </p:blipFill>
        <p:spPr>
          <a:xfrm>
            <a:off x="2971585" y="2231250"/>
            <a:ext cx="6240509" cy="282385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
          <p:cNvSpPr txBox="1"/>
          <p:nvPr>
            <p:ph type="title"/>
          </p:nvPr>
        </p:nvSpPr>
        <p:spPr>
          <a:xfrm>
            <a:off x="838200" y="365125"/>
            <a:ext cx="10696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3900"/>
              <a:t>What makes this circuit so different from those  we’ve discussed before?</a:t>
            </a:r>
            <a:endParaRPr sz="3900"/>
          </a:p>
        </p:txBody>
      </p:sp>
      <p:sp>
        <p:nvSpPr>
          <p:cNvPr id="206" name="Google Shape;206;p4"/>
          <p:cNvSpPr txBox="1"/>
          <p:nvPr>
            <p:ph idx="1" type="body"/>
          </p:nvPr>
        </p:nvSpPr>
        <p:spPr>
          <a:xfrm>
            <a:off x="838200" y="1690825"/>
            <a:ext cx="10515600" cy="466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Specifications:</a:t>
            </a:r>
            <a:endParaRPr b="1"/>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1. “State” –i.e.  </a:t>
            </a:r>
            <a:r>
              <a:rPr b="1" lang="en-US"/>
              <a:t>the circuit has memory</a:t>
            </a:r>
            <a:r>
              <a:rPr lang="en-US"/>
              <a:t> (become “state‐ful”).</a:t>
            </a:r>
            <a:endParaRPr/>
          </a:p>
          <a:p>
            <a:pPr indent="0" lvl="0" marL="0" rtl="0" algn="l">
              <a:lnSpc>
                <a:spcPct val="90000"/>
              </a:lnSpc>
              <a:spcBef>
                <a:spcPts val="1000"/>
              </a:spcBef>
              <a:spcAft>
                <a:spcPts val="0"/>
              </a:spcAft>
              <a:buClr>
                <a:schemeClr val="dk1"/>
              </a:buClr>
              <a:buSzPts val="2800"/>
              <a:buNone/>
            </a:pPr>
            <a:r>
              <a:rPr lang="en-US"/>
              <a:t>2. The output was changed by an input “event” (pushing a button)  rather than an input “value” (output may depend on previous inputs).</a:t>
            </a:r>
            <a:endParaRPr/>
          </a:p>
        </p:txBody>
      </p:sp>
      <p:pic>
        <p:nvPicPr>
          <p:cNvPr id="207" name="Google Shape;207;p4"/>
          <p:cNvPicPr preferRelativeResize="0"/>
          <p:nvPr/>
        </p:nvPicPr>
        <p:blipFill rotWithShape="1">
          <a:blip r:embed="rId3">
            <a:alphaModFix/>
          </a:blip>
          <a:srcRect b="0" l="0" r="0" t="0"/>
          <a:stretch/>
        </p:blipFill>
        <p:spPr>
          <a:xfrm>
            <a:off x="2937250" y="2336875"/>
            <a:ext cx="6036001" cy="2486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2525f7e1f50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Illustration of the previous example</a:t>
            </a:r>
            <a:endParaRPr/>
          </a:p>
        </p:txBody>
      </p:sp>
      <p:sp>
        <p:nvSpPr>
          <p:cNvPr id="213" name="Google Shape;213;g2525f7e1f50_0_0"/>
          <p:cNvSpPr txBox="1"/>
          <p:nvPr>
            <p:ph idx="1" type="body"/>
          </p:nvPr>
        </p:nvSpPr>
        <p:spPr>
          <a:xfrm>
            <a:off x="838200" y="183447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lang="en-US" sz="1400">
                <a:latin typeface="Arial"/>
                <a:ea typeface="Arial"/>
                <a:cs typeface="Arial"/>
                <a:sym typeface="Arial"/>
              </a:rPr>
              <a:t>          </a:t>
            </a:r>
            <a:endParaRPr sz="1400">
              <a:latin typeface="Arial"/>
              <a:ea typeface="Arial"/>
              <a:cs typeface="Arial"/>
              <a:sym typeface="Arial"/>
            </a:endParaRPr>
          </a:p>
          <a:p>
            <a:pPr indent="457200" lvl="0" marL="0" rtl="0" algn="l">
              <a:lnSpc>
                <a:spcPct val="100000"/>
              </a:lnSpc>
              <a:spcBef>
                <a:spcPts val="0"/>
              </a:spcBef>
              <a:spcAft>
                <a:spcPts val="0"/>
              </a:spcAft>
              <a:buSzPts val="1800"/>
              <a:buNone/>
            </a:pPr>
            <a:r>
              <a:rPr lang="en-US" sz="1400">
                <a:latin typeface="Arial"/>
                <a:ea typeface="Arial"/>
                <a:cs typeface="Arial"/>
                <a:sym typeface="Arial"/>
              </a:rPr>
              <a:t>  			      Light OFF -&gt; Light OFF [same state]       [Button unpushed, w=0]</a:t>
            </a:r>
            <a:endParaRPr sz="1400">
              <a:latin typeface="Arial"/>
              <a:ea typeface="Arial"/>
              <a:cs typeface="Arial"/>
              <a:sym typeface="Arial"/>
            </a:endParaRPr>
          </a:p>
          <a:p>
            <a:pPr indent="0" lvl="0" marL="0" rtl="0" algn="l">
              <a:lnSpc>
                <a:spcPct val="100000"/>
              </a:lnSpc>
              <a:spcBef>
                <a:spcPts val="0"/>
              </a:spcBef>
              <a:spcAft>
                <a:spcPts val="0"/>
              </a:spcAft>
              <a:buSzPts val="1800"/>
              <a:buNone/>
            </a:pPr>
            <a:r>
              <a:rPr lang="en-US" sz="1400">
                <a:latin typeface="Arial"/>
                <a:ea typeface="Arial"/>
                <a:cs typeface="Arial"/>
                <a:sym typeface="Arial"/>
              </a:rPr>
              <a:t>     				      Light ON   -&gt; Light ON [same state]         [Button unpushed, w=0]</a:t>
            </a:r>
            <a:endParaRPr sz="1400">
              <a:latin typeface="Arial"/>
              <a:ea typeface="Arial"/>
              <a:cs typeface="Arial"/>
              <a:sym typeface="Arial"/>
            </a:endParaRPr>
          </a:p>
          <a:p>
            <a:pPr indent="0" lvl="0" marL="0" rtl="0" algn="l">
              <a:lnSpc>
                <a:spcPct val="100000"/>
              </a:lnSpc>
              <a:spcBef>
                <a:spcPts val="0"/>
              </a:spcBef>
              <a:spcAft>
                <a:spcPts val="0"/>
              </a:spcAft>
              <a:buSzPts val="1800"/>
              <a:buNone/>
            </a:pPr>
            <a:r>
              <a:rPr lang="en-US" sz="1400">
                <a:latin typeface="Arial"/>
                <a:ea typeface="Arial"/>
                <a:cs typeface="Arial"/>
                <a:sym typeface="Arial"/>
              </a:rPr>
              <a:t>         </a:t>
            </a:r>
            <a:r>
              <a:rPr lang="en-US" sz="1400">
                <a:solidFill>
                  <a:srgbClr val="FF0000"/>
                </a:solidFill>
                <a:latin typeface="Arial"/>
                <a:ea typeface="Arial"/>
                <a:cs typeface="Arial"/>
                <a:sym typeface="Arial"/>
              </a:rPr>
              <a:t>  </a:t>
            </a:r>
            <a:endParaRPr sz="1400">
              <a:solidFill>
                <a:srgbClr val="FF0000"/>
              </a:solidFill>
              <a:latin typeface="Arial"/>
              <a:ea typeface="Arial"/>
              <a:cs typeface="Arial"/>
              <a:sym typeface="Arial"/>
            </a:endParaRPr>
          </a:p>
          <a:p>
            <a:pPr indent="0" lvl="0" marL="1828800" rtl="0" algn="l">
              <a:lnSpc>
                <a:spcPct val="100000"/>
              </a:lnSpc>
              <a:spcBef>
                <a:spcPts val="0"/>
              </a:spcBef>
              <a:spcAft>
                <a:spcPts val="0"/>
              </a:spcAft>
              <a:buSzPts val="1800"/>
              <a:buNone/>
            </a:pPr>
            <a:r>
              <a:rPr lang="en-US" sz="1400">
                <a:solidFill>
                  <a:srgbClr val="FF0000"/>
                </a:solidFill>
                <a:latin typeface="Arial"/>
                <a:ea typeface="Arial"/>
                <a:cs typeface="Arial"/>
                <a:sym typeface="Arial"/>
              </a:rPr>
              <a:t>      Light OFF -&gt; Light ON [change of state]  [Button pushed, w=1]</a:t>
            </a:r>
            <a:endParaRPr sz="1400">
              <a:solidFill>
                <a:srgbClr val="FF0000"/>
              </a:solidFill>
              <a:latin typeface="Arial"/>
              <a:ea typeface="Arial"/>
              <a:cs typeface="Arial"/>
              <a:sym typeface="Arial"/>
            </a:endParaRPr>
          </a:p>
          <a:p>
            <a:pPr indent="0" lvl="0" marL="0" rtl="0" algn="l">
              <a:lnSpc>
                <a:spcPct val="100000"/>
              </a:lnSpc>
              <a:spcBef>
                <a:spcPts val="0"/>
              </a:spcBef>
              <a:spcAft>
                <a:spcPts val="0"/>
              </a:spcAft>
              <a:buSzPts val="1800"/>
              <a:buNone/>
            </a:pPr>
            <a:r>
              <a:rPr lang="en-US" sz="1400">
                <a:solidFill>
                  <a:srgbClr val="FF0000"/>
                </a:solidFill>
                <a:latin typeface="Arial"/>
                <a:ea typeface="Arial"/>
                <a:cs typeface="Arial"/>
                <a:sym typeface="Arial"/>
              </a:rPr>
              <a:t>       				      Light ON  -&gt; Light OFF [change of state] [[Button pushed, w=1]</a:t>
            </a:r>
            <a:endParaRPr sz="1400">
              <a:solidFill>
                <a:srgbClr val="FF0000"/>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sz="1400">
              <a:latin typeface="Arial"/>
              <a:ea typeface="Arial"/>
              <a:cs typeface="Arial"/>
              <a:sym typeface="Arial"/>
            </a:endParaRPr>
          </a:p>
          <a:p>
            <a:pPr indent="0" lvl="0" marL="0" rtl="0" algn="l">
              <a:lnSpc>
                <a:spcPct val="100000"/>
              </a:lnSpc>
              <a:spcBef>
                <a:spcPts val="0"/>
              </a:spcBef>
              <a:spcAft>
                <a:spcPts val="0"/>
              </a:spcAft>
              <a:buSzPts val="1800"/>
              <a:buNone/>
            </a:pPr>
            <a:r>
              <a:t/>
            </a:r>
            <a:endParaRPr sz="1400">
              <a:latin typeface="Arial"/>
              <a:ea typeface="Arial"/>
              <a:cs typeface="Arial"/>
              <a:sym typeface="Arial"/>
            </a:endParaRPr>
          </a:p>
          <a:p>
            <a:pPr indent="0" lvl="0" marL="0" rtl="0" algn="l">
              <a:lnSpc>
                <a:spcPct val="100000"/>
              </a:lnSpc>
              <a:spcBef>
                <a:spcPts val="0"/>
              </a:spcBef>
              <a:spcAft>
                <a:spcPts val="0"/>
              </a:spcAft>
              <a:buSzPts val="1800"/>
              <a:buNone/>
            </a:pPr>
            <a:r>
              <a:t/>
            </a:r>
            <a:endParaRPr sz="1400">
              <a:latin typeface="Arial"/>
              <a:ea typeface="Arial"/>
              <a:cs typeface="Arial"/>
              <a:sym typeface="Arial"/>
            </a:endParaRPr>
          </a:p>
          <a:p>
            <a:pPr indent="0" lvl="0" marL="0" rtl="0" algn="l">
              <a:lnSpc>
                <a:spcPct val="100000"/>
              </a:lnSpc>
              <a:spcBef>
                <a:spcPts val="0"/>
              </a:spcBef>
              <a:spcAft>
                <a:spcPts val="0"/>
              </a:spcAft>
              <a:buSzPts val="1800"/>
              <a:buNone/>
            </a:pPr>
            <a:r>
              <a:t/>
            </a:r>
            <a:endParaRPr sz="1400">
              <a:latin typeface="Arial"/>
              <a:ea typeface="Arial"/>
              <a:cs typeface="Arial"/>
              <a:sym typeface="Arial"/>
            </a:endParaRPr>
          </a:p>
          <a:p>
            <a:pPr indent="0" lvl="0" marL="0" rtl="0" algn="l">
              <a:lnSpc>
                <a:spcPct val="100000"/>
              </a:lnSpc>
              <a:spcBef>
                <a:spcPts val="0"/>
              </a:spcBef>
              <a:spcAft>
                <a:spcPts val="0"/>
              </a:spcAft>
              <a:buSzPts val="1800"/>
              <a:buNone/>
            </a:pPr>
            <a:r>
              <a:t/>
            </a:r>
            <a:endParaRPr sz="1400">
              <a:latin typeface="Arial"/>
              <a:ea typeface="Arial"/>
              <a:cs typeface="Arial"/>
              <a:sym typeface="Arial"/>
            </a:endParaRPr>
          </a:p>
          <a:p>
            <a:pPr indent="0" lvl="0" marL="0" rtl="0" algn="l">
              <a:lnSpc>
                <a:spcPct val="100000"/>
              </a:lnSpc>
              <a:spcBef>
                <a:spcPts val="0"/>
              </a:spcBef>
              <a:spcAft>
                <a:spcPts val="0"/>
              </a:spcAft>
              <a:buSzPts val="1800"/>
              <a:buNone/>
            </a:pPr>
            <a:r>
              <a:t/>
            </a:r>
            <a:endParaRPr sz="1400">
              <a:latin typeface="Arial"/>
              <a:ea typeface="Arial"/>
              <a:cs typeface="Arial"/>
              <a:sym typeface="Arial"/>
            </a:endParaRPr>
          </a:p>
          <a:p>
            <a:pPr indent="0" lvl="0" marL="0" rtl="0" algn="l">
              <a:lnSpc>
                <a:spcPct val="100000"/>
              </a:lnSpc>
              <a:spcBef>
                <a:spcPts val="0"/>
              </a:spcBef>
              <a:spcAft>
                <a:spcPts val="0"/>
              </a:spcAft>
              <a:buSzPts val="1800"/>
              <a:buNone/>
            </a:pPr>
            <a:r>
              <a:t/>
            </a:r>
            <a:endParaRPr sz="1400">
              <a:latin typeface="Arial"/>
              <a:ea typeface="Arial"/>
              <a:cs typeface="Arial"/>
              <a:sym typeface="Arial"/>
            </a:endParaRPr>
          </a:p>
          <a:p>
            <a:pPr indent="0" lvl="0" marL="0" rtl="0" algn="l">
              <a:lnSpc>
                <a:spcPct val="100000"/>
              </a:lnSpc>
              <a:spcBef>
                <a:spcPts val="0"/>
              </a:spcBef>
              <a:spcAft>
                <a:spcPts val="0"/>
              </a:spcAft>
              <a:buSzPts val="1800"/>
              <a:buNone/>
            </a:pPr>
            <a:r>
              <a:rPr lang="en-US" sz="1400">
                <a:latin typeface="Arial"/>
                <a:ea typeface="Arial"/>
                <a:cs typeface="Arial"/>
                <a:sym typeface="Arial"/>
              </a:rPr>
              <a:t>							WHAT HAPPENS TO THE OUTPUT??</a:t>
            </a:r>
            <a:endParaRPr sz="1400">
              <a:latin typeface="Arial"/>
              <a:ea typeface="Arial"/>
              <a:cs typeface="Arial"/>
              <a:sym typeface="Arial"/>
            </a:endParaRPr>
          </a:p>
          <a:p>
            <a:pPr indent="0" lvl="0" marL="0" rtl="0" algn="l">
              <a:lnSpc>
                <a:spcPct val="100000"/>
              </a:lnSpc>
              <a:spcBef>
                <a:spcPts val="0"/>
              </a:spcBef>
              <a:spcAft>
                <a:spcPts val="0"/>
              </a:spcAft>
              <a:buSzPts val="1800"/>
              <a:buNone/>
            </a:pPr>
            <a:r>
              <a:rPr lang="en-US" sz="1400">
                <a:latin typeface="Arial"/>
                <a:ea typeface="Arial"/>
                <a:cs typeface="Arial"/>
                <a:sym typeface="Arial"/>
              </a:rPr>
              <a:t>								  </a:t>
            </a:r>
            <a:r>
              <a:rPr b="1" i="1" lang="en-US" sz="1400">
                <a:latin typeface="Arial"/>
                <a:ea typeface="Arial"/>
                <a:cs typeface="Arial"/>
                <a:sym typeface="Arial"/>
              </a:rPr>
              <a:t>Light OFF -&gt; z=0</a:t>
            </a:r>
            <a:endParaRPr b="1" i="1" sz="14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i="1" lang="en-US" sz="1400">
                <a:latin typeface="Arial"/>
                <a:ea typeface="Arial"/>
                <a:cs typeface="Arial"/>
                <a:sym typeface="Arial"/>
              </a:rPr>
              <a:t>								  Light ON   -&gt; z=1</a:t>
            </a:r>
            <a:endParaRPr b="1" i="1" sz="1400">
              <a:latin typeface="Arial"/>
              <a:ea typeface="Arial"/>
              <a:cs typeface="Arial"/>
              <a:sym typeface="Arial"/>
            </a:endParaRPr>
          </a:p>
        </p:txBody>
      </p:sp>
      <p:sp>
        <p:nvSpPr>
          <p:cNvPr id="214" name="Google Shape;214;g2525f7e1f50_0_0"/>
          <p:cNvSpPr/>
          <p:nvPr/>
        </p:nvSpPr>
        <p:spPr>
          <a:xfrm>
            <a:off x="2842200" y="3339450"/>
            <a:ext cx="1198500" cy="104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Light OFF</a:t>
            </a:r>
            <a:r>
              <a:rPr b="0" i="0" lang="en-US" sz="1400" u="none" cap="none" strike="noStrike">
                <a:solidFill>
                  <a:srgbClr val="FF0000"/>
                </a:solidFill>
                <a:latin typeface="Arial"/>
                <a:ea typeface="Arial"/>
                <a:cs typeface="Arial"/>
                <a:sym typeface="Arial"/>
              </a:rPr>
              <a:t>/z=0</a:t>
            </a:r>
            <a:endParaRPr b="0" i="0" sz="1400" u="none" cap="none" strike="noStrike">
              <a:solidFill>
                <a:srgbClr val="FF0000"/>
              </a:solidFill>
              <a:latin typeface="Arial"/>
              <a:ea typeface="Arial"/>
              <a:cs typeface="Arial"/>
              <a:sym typeface="Arial"/>
            </a:endParaRPr>
          </a:p>
        </p:txBody>
      </p:sp>
      <p:sp>
        <p:nvSpPr>
          <p:cNvPr id="215" name="Google Shape;215;g2525f7e1f50_0_0"/>
          <p:cNvSpPr/>
          <p:nvPr/>
        </p:nvSpPr>
        <p:spPr>
          <a:xfrm>
            <a:off x="7169225" y="3339450"/>
            <a:ext cx="1198500" cy="104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Light ON</a:t>
            </a:r>
            <a:r>
              <a:rPr b="0" i="0" lang="en-US" sz="1400" u="none" cap="none" strike="noStrike">
                <a:solidFill>
                  <a:srgbClr val="FF0000"/>
                </a:solidFill>
                <a:latin typeface="Arial"/>
                <a:ea typeface="Arial"/>
                <a:cs typeface="Arial"/>
                <a:sym typeface="Arial"/>
              </a:rPr>
              <a:t>/z=1</a:t>
            </a:r>
            <a:endParaRPr b="0" i="0" sz="1400" u="none" cap="none" strike="noStrike">
              <a:solidFill>
                <a:srgbClr val="FF0000"/>
              </a:solidFill>
              <a:latin typeface="Arial"/>
              <a:ea typeface="Arial"/>
              <a:cs typeface="Arial"/>
              <a:sym typeface="Arial"/>
            </a:endParaRPr>
          </a:p>
        </p:txBody>
      </p:sp>
      <p:cxnSp>
        <p:nvCxnSpPr>
          <p:cNvPr id="216" name="Google Shape;216;g2525f7e1f50_0_0"/>
          <p:cNvCxnSpPr>
            <a:stCxn id="214" idx="7"/>
            <a:endCxn id="215" idx="1"/>
          </p:cNvCxnSpPr>
          <p:nvPr/>
        </p:nvCxnSpPr>
        <p:spPr>
          <a:xfrm>
            <a:off x="3865184" y="3493043"/>
            <a:ext cx="3479700" cy="0"/>
          </a:xfrm>
          <a:prstGeom prst="straightConnector1">
            <a:avLst/>
          </a:prstGeom>
          <a:noFill/>
          <a:ln cap="flat" cmpd="sng" w="9525">
            <a:solidFill>
              <a:schemeClr val="dk2"/>
            </a:solidFill>
            <a:prstDash val="solid"/>
            <a:round/>
            <a:headEnd len="sm" w="sm" type="none"/>
            <a:tailEnd len="med" w="med" type="triangle"/>
          </a:ln>
        </p:spPr>
      </p:cxnSp>
      <p:cxnSp>
        <p:nvCxnSpPr>
          <p:cNvPr id="217" name="Google Shape;217;g2525f7e1f50_0_0"/>
          <p:cNvCxnSpPr>
            <a:stCxn id="215" idx="3"/>
            <a:endCxn id="214" idx="5"/>
          </p:cNvCxnSpPr>
          <p:nvPr/>
        </p:nvCxnSpPr>
        <p:spPr>
          <a:xfrm rot="10800000">
            <a:off x="3865041" y="4234657"/>
            <a:ext cx="3479700" cy="0"/>
          </a:xfrm>
          <a:prstGeom prst="straightConnector1">
            <a:avLst/>
          </a:prstGeom>
          <a:noFill/>
          <a:ln cap="flat" cmpd="sng" w="9525">
            <a:solidFill>
              <a:schemeClr val="dk2"/>
            </a:solidFill>
            <a:prstDash val="solid"/>
            <a:round/>
            <a:headEnd len="sm" w="sm" type="none"/>
            <a:tailEnd len="med" w="med" type="triangle"/>
          </a:ln>
        </p:spPr>
      </p:cxnSp>
      <p:sp>
        <p:nvSpPr>
          <p:cNvPr id="218" name="Google Shape;218;g2525f7e1f50_0_0"/>
          <p:cNvSpPr txBox="1"/>
          <p:nvPr/>
        </p:nvSpPr>
        <p:spPr>
          <a:xfrm>
            <a:off x="5198075" y="3092850"/>
            <a:ext cx="589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w=1</a:t>
            </a:r>
            <a:endParaRPr b="0" i="0" sz="1400" u="none" cap="none" strike="noStrike">
              <a:solidFill>
                <a:srgbClr val="000000"/>
              </a:solidFill>
              <a:latin typeface="Calibri"/>
              <a:ea typeface="Calibri"/>
              <a:cs typeface="Calibri"/>
              <a:sym typeface="Calibri"/>
            </a:endParaRPr>
          </a:p>
        </p:txBody>
      </p:sp>
      <p:sp>
        <p:nvSpPr>
          <p:cNvPr id="219" name="Google Shape;219;g2525f7e1f50_0_0"/>
          <p:cNvSpPr txBox="1"/>
          <p:nvPr/>
        </p:nvSpPr>
        <p:spPr>
          <a:xfrm>
            <a:off x="5198075" y="3751075"/>
            <a:ext cx="589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w=1</a:t>
            </a:r>
            <a:endParaRPr b="0" i="0" sz="1400" u="none" cap="none" strike="noStrike">
              <a:solidFill>
                <a:srgbClr val="000000"/>
              </a:solidFill>
              <a:latin typeface="Calibri"/>
              <a:ea typeface="Calibri"/>
              <a:cs typeface="Calibri"/>
              <a:sym typeface="Calibri"/>
            </a:endParaRPr>
          </a:p>
        </p:txBody>
      </p:sp>
      <p:sp>
        <p:nvSpPr>
          <p:cNvPr id="220" name="Google Shape;220;g2525f7e1f50_0_0"/>
          <p:cNvSpPr/>
          <p:nvPr/>
        </p:nvSpPr>
        <p:spPr>
          <a:xfrm rot="-5217909">
            <a:off x="2241287" y="3539078"/>
            <a:ext cx="900964" cy="683433"/>
          </a:xfrm>
          <a:prstGeom prst="curvedDownArrow">
            <a:avLst>
              <a:gd fmla="val 25000" name="adj1"/>
              <a:gd fmla="val 18964" name="adj2"/>
              <a:gd fmla="val 20711"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2525f7e1f50_0_0"/>
          <p:cNvSpPr/>
          <p:nvPr/>
        </p:nvSpPr>
        <p:spPr>
          <a:xfrm rot="5598090">
            <a:off x="8069538" y="3522192"/>
            <a:ext cx="901196" cy="683297"/>
          </a:xfrm>
          <a:prstGeom prst="curvedDownArrow">
            <a:avLst>
              <a:gd fmla="val 25000" name="adj1"/>
              <a:gd fmla="val 18964" name="adj2"/>
              <a:gd fmla="val 20711"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2525f7e1f50_0_0"/>
          <p:cNvSpPr txBox="1"/>
          <p:nvPr/>
        </p:nvSpPr>
        <p:spPr>
          <a:xfrm>
            <a:off x="1674000" y="3663750"/>
            <a:ext cx="589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w=0</a:t>
            </a:r>
            <a:endParaRPr b="0" i="0" sz="1400" u="none" cap="none" strike="noStrike">
              <a:solidFill>
                <a:srgbClr val="000000"/>
              </a:solidFill>
              <a:latin typeface="Calibri"/>
              <a:ea typeface="Calibri"/>
              <a:cs typeface="Calibri"/>
              <a:sym typeface="Calibri"/>
            </a:endParaRPr>
          </a:p>
        </p:txBody>
      </p:sp>
      <p:sp>
        <p:nvSpPr>
          <p:cNvPr id="223" name="Google Shape;223;g2525f7e1f50_0_0"/>
          <p:cNvSpPr txBox="1"/>
          <p:nvPr/>
        </p:nvSpPr>
        <p:spPr>
          <a:xfrm>
            <a:off x="8955425" y="3663750"/>
            <a:ext cx="589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w=0</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253b0015d92_0_0"/>
          <p:cNvSpPr txBox="1"/>
          <p:nvPr>
            <p:ph type="title"/>
          </p:nvPr>
        </p:nvSpPr>
        <p:spPr>
          <a:xfrm>
            <a:off x="255100" y="367200"/>
            <a:ext cx="2396400" cy="4848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SzPts val="4400"/>
              <a:buNone/>
            </a:pPr>
            <a:r>
              <a:rPr lang="en-US" sz="3500"/>
              <a:t>Example 1</a:t>
            </a:r>
            <a:endParaRPr sz="3500"/>
          </a:p>
        </p:txBody>
      </p:sp>
      <p:sp>
        <p:nvSpPr>
          <p:cNvPr id="229" name="Google Shape;229;g253b0015d92_0_0"/>
          <p:cNvSpPr txBox="1"/>
          <p:nvPr/>
        </p:nvSpPr>
        <p:spPr>
          <a:xfrm>
            <a:off x="764850" y="1357375"/>
            <a:ext cx="10911900" cy="4610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100"/>
              <a:buFont typeface="Arial"/>
              <a:buNone/>
            </a:pPr>
            <a:r>
              <a:rPr b="0" i="0" lang="en-US" sz="2100" u="none" cap="none" strike="noStrike">
                <a:solidFill>
                  <a:schemeClr val="dk1"/>
                </a:solidFill>
                <a:latin typeface="Times New Roman"/>
                <a:ea typeface="Times New Roman"/>
                <a:cs typeface="Times New Roman"/>
                <a:sym typeface="Times New Roman"/>
              </a:rPr>
              <a:t>An automatically-controlled vehicle is designed to run at some predetermined speed. However, due to some operational conditions the speed may exceed the desirable limit, in which case the vehicle has to be slowed down. To determine when such action is needed, the speed is measured at regular intervals. </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15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Let a binary signal </a:t>
            </a:r>
            <a:r>
              <a:rPr b="1" i="0" lang="en-US" sz="2100" u="none" cap="none" strike="noStrike">
                <a:solidFill>
                  <a:schemeClr val="dk1"/>
                </a:solidFill>
                <a:latin typeface="Times New Roman"/>
                <a:ea typeface="Times New Roman"/>
                <a:cs typeface="Times New Roman"/>
                <a:sym typeface="Times New Roman"/>
              </a:rPr>
              <a:t>w</a:t>
            </a:r>
            <a:r>
              <a:rPr b="0" i="0" lang="en-US" sz="2100" u="none" cap="none" strike="noStrike">
                <a:solidFill>
                  <a:schemeClr val="dk1"/>
                </a:solidFill>
                <a:latin typeface="Times New Roman"/>
                <a:ea typeface="Times New Roman"/>
                <a:cs typeface="Times New Roman"/>
                <a:sym typeface="Times New Roman"/>
              </a:rPr>
              <a:t> indicate whether the speed exceeds the required limit, such that </a:t>
            </a:r>
            <a:r>
              <a:rPr b="1" i="0" lang="en-US" sz="2100" u="none" cap="none" strike="noStrike">
                <a:solidFill>
                  <a:schemeClr val="dk1"/>
                </a:solidFill>
                <a:latin typeface="Times New Roman"/>
                <a:ea typeface="Times New Roman"/>
                <a:cs typeface="Times New Roman"/>
                <a:sym typeface="Times New Roman"/>
              </a:rPr>
              <a:t>w = 0 means that the speed is within acceptable range and w = 1 indicates excessive speed.</a:t>
            </a:r>
            <a:endParaRPr b="1"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15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 The desired control strategy is that if w = 1 during </a:t>
            </a:r>
            <a:r>
              <a:rPr b="1" i="0" lang="en-US" sz="2100" u="none" cap="none" strike="noStrike">
                <a:solidFill>
                  <a:schemeClr val="dk1"/>
                </a:solidFill>
                <a:latin typeface="Times New Roman"/>
                <a:ea typeface="Times New Roman"/>
                <a:cs typeface="Times New Roman"/>
                <a:sym typeface="Times New Roman"/>
              </a:rPr>
              <a:t>two</a:t>
            </a:r>
            <a:r>
              <a:rPr b="0" i="0" lang="en-US" sz="2100" u="none" cap="none" strike="noStrike">
                <a:solidFill>
                  <a:schemeClr val="dk1"/>
                </a:solidFill>
                <a:latin typeface="Times New Roman"/>
                <a:ea typeface="Times New Roman"/>
                <a:cs typeface="Times New Roman"/>
                <a:sym typeface="Times New Roman"/>
              </a:rPr>
              <a:t> or more consecutive measurements, </a:t>
            </a:r>
            <a:r>
              <a:rPr b="1" i="0" lang="en-US" sz="2100" u="none" cap="none" strike="noStrike">
                <a:solidFill>
                  <a:schemeClr val="dk1"/>
                </a:solidFill>
                <a:latin typeface="Times New Roman"/>
                <a:ea typeface="Times New Roman"/>
                <a:cs typeface="Times New Roman"/>
                <a:sym typeface="Times New Roman"/>
              </a:rPr>
              <a:t>a control signal z must be 1</a:t>
            </a:r>
            <a:r>
              <a:rPr b="0" i="0" lang="en-US" sz="2100" u="none" cap="none" strike="noStrike">
                <a:solidFill>
                  <a:schemeClr val="dk1"/>
                </a:solidFill>
                <a:latin typeface="Times New Roman"/>
                <a:ea typeface="Times New Roman"/>
                <a:cs typeface="Times New Roman"/>
                <a:sym typeface="Times New Roman"/>
              </a:rPr>
              <a:t> to cause the vehicle to slow down. Thus, z = 0 allows the current speed to be maintained, while z = 1 reduces the speed. Let a signal Clock define the required timing intervals, such that</a:t>
            </a:r>
            <a:r>
              <a:rPr b="1" i="0" lang="en-US" sz="2100" u="none" cap="none" strike="noStrike">
                <a:solidFill>
                  <a:schemeClr val="dk1"/>
                </a:solidFill>
                <a:latin typeface="Times New Roman"/>
                <a:ea typeface="Times New Roman"/>
                <a:cs typeface="Times New Roman"/>
                <a:sym typeface="Times New Roman"/>
              </a:rPr>
              <a:t> the speed is measured once during each clock cycle.</a:t>
            </a:r>
            <a:endParaRPr b="1" i="0" sz="21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36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3" name="Shape 233"/>
        <p:cNvGrpSpPr/>
        <p:nvPr/>
      </p:nvGrpSpPr>
      <p:grpSpPr>
        <a:xfrm>
          <a:off x="0" y="0"/>
          <a:ext cx="0" cy="0"/>
          <a:chOff x="0" y="0"/>
          <a:chExt cx="0" cy="0"/>
        </a:xfrm>
      </p:grpSpPr>
      <p:sp>
        <p:nvSpPr>
          <p:cNvPr id="234" name="Google Shape;234;g1ead90bba03_0_0"/>
          <p:cNvSpPr txBox="1"/>
          <p:nvPr/>
        </p:nvSpPr>
        <p:spPr>
          <a:xfrm>
            <a:off x="2371374" y="5652250"/>
            <a:ext cx="12219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Figure 3 :</a:t>
            </a:r>
            <a:endParaRPr b="0" i="0" sz="1400" u="none" cap="none" strike="noStrike">
              <a:solidFill>
                <a:srgbClr val="000000"/>
              </a:solidFill>
              <a:latin typeface="Arial"/>
              <a:ea typeface="Arial"/>
              <a:cs typeface="Arial"/>
              <a:sym typeface="Arial"/>
            </a:endParaRPr>
          </a:p>
        </p:txBody>
      </p:sp>
      <p:sp>
        <p:nvSpPr>
          <p:cNvPr id="235" name="Google Shape;235;g1ead90bba03_0_0"/>
          <p:cNvSpPr txBox="1"/>
          <p:nvPr/>
        </p:nvSpPr>
        <p:spPr>
          <a:xfrm>
            <a:off x="3593275" y="5652250"/>
            <a:ext cx="63708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Sequences of input and output signals.</a:t>
            </a:r>
            <a:endParaRPr b="0" i="0" sz="1400" u="none" cap="none" strike="noStrike">
              <a:solidFill>
                <a:srgbClr val="000000"/>
              </a:solidFill>
              <a:latin typeface="Arial"/>
              <a:ea typeface="Arial"/>
              <a:cs typeface="Arial"/>
              <a:sym typeface="Arial"/>
            </a:endParaRPr>
          </a:p>
        </p:txBody>
      </p:sp>
      <p:sp>
        <p:nvSpPr>
          <p:cNvPr id="236" name="Google Shape;236;g1ead90bba03_0_0"/>
          <p:cNvSpPr/>
          <p:nvPr/>
        </p:nvSpPr>
        <p:spPr>
          <a:xfrm>
            <a:off x="1672868" y="4569478"/>
            <a:ext cx="8570944" cy="871963"/>
          </a:xfrm>
          <a:custGeom>
            <a:rect b="b" l="l" r="r" t="t"/>
            <a:pathLst>
              <a:path extrusionOk="0" h="988060" w="7068820">
                <a:moveTo>
                  <a:pt x="7059168" y="0"/>
                </a:moveTo>
                <a:lnTo>
                  <a:pt x="12192" y="0"/>
                </a:lnTo>
                <a:lnTo>
                  <a:pt x="12192" y="21336"/>
                </a:lnTo>
                <a:lnTo>
                  <a:pt x="12192" y="341376"/>
                </a:lnTo>
                <a:lnTo>
                  <a:pt x="12192" y="353568"/>
                </a:lnTo>
                <a:lnTo>
                  <a:pt x="12192" y="646176"/>
                </a:lnTo>
                <a:lnTo>
                  <a:pt x="12179" y="353568"/>
                </a:lnTo>
                <a:lnTo>
                  <a:pt x="12192" y="341376"/>
                </a:lnTo>
                <a:lnTo>
                  <a:pt x="12179" y="21336"/>
                </a:lnTo>
                <a:lnTo>
                  <a:pt x="12192" y="0"/>
                </a:lnTo>
                <a:lnTo>
                  <a:pt x="0" y="0"/>
                </a:lnTo>
                <a:lnTo>
                  <a:pt x="0" y="12192"/>
                </a:lnTo>
                <a:lnTo>
                  <a:pt x="0" y="21336"/>
                </a:lnTo>
                <a:lnTo>
                  <a:pt x="0" y="987552"/>
                </a:lnTo>
                <a:lnTo>
                  <a:pt x="24384" y="987552"/>
                </a:lnTo>
                <a:lnTo>
                  <a:pt x="24384" y="21336"/>
                </a:lnTo>
                <a:lnTo>
                  <a:pt x="7059168" y="21336"/>
                </a:lnTo>
                <a:lnTo>
                  <a:pt x="7059168" y="15240"/>
                </a:lnTo>
                <a:lnTo>
                  <a:pt x="7059168" y="12192"/>
                </a:lnTo>
                <a:lnTo>
                  <a:pt x="7059168" y="9144"/>
                </a:lnTo>
                <a:lnTo>
                  <a:pt x="7059168" y="6096"/>
                </a:lnTo>
                <a:lnTo>
                  <a:pt x="7059168" y="0"/>
                </a:lnTo>
                <a:close/>
              </a:path>
              <a:path extrusionOk="0" h="988060" w="7068820">
                <a:moveTo>
                  <a:pt x="7068312" y="646176"/>
                </a:moveTo>
                <a:lnTo>
                  <a:pt x="7043928" y="646176"/>
                </a:lnTo>
                <a:lnTo>
                  <a:pt x="7043928" y="987552"/>
                </a:lnTo>
                <a:lnTo>
                  <a:pt x="7068312" y="987552"/>
                </a:lnTo>
                <a:lnTo>
                  <a:pt x="7068312" y="981456"/>
                </a:lnTo>
                <a:lnTo>
                  <a:pt x="7068312" y="975360"/>
                </a:lnTo>
                <a:lnTo>
                  <a:pt x="7068312" y="658368"/>
                </a:lnTo>
                <a:lnTo>
                  <a:pt x="7068312" y="652272"/>
                </a:lnTo>
                <a:lnTo>
                  <a:pt x="7068312" y="64617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37" name="Google Shape;237;g1ead90bba03_0_0"/>
          <p:cNvGraphicFramePr/>
          <p:nvPr/>
        </p:nvGraphicFramePr>
        <p:xfrm>
          <a:off x="1680565" y="4579284"/>
          <a:ext cx="3000000" cy="3000000"/>
        </p:xfrm>
        <a:graphic>
          <a:graphicData uri="http://schemas.openxmlformats.org/drawingml/2006/table">
            <a:tbl>
              <a:tblPr>
                <a:noFill/>
                <a:tableStyleId>{88476B5D-2711-416F-9EB7-66369C930DE7}</a:tableStyleId>
              </a:tblPr>
              <a:tblGrid>
                <a:gridCol w="1912700"/>
                <a:gridCol w="584975"/>
                <a:gridCol w="592675"/>
                <a:gridCol w="590725"/>
                <a:gridCol w="592675"/>
                <a:gridCol w="590725"/>
                <a:gridCol w="588825"/>
                <a:gridCol w="594575"/>
                <a:gridCol w="588825"/>
                <a:gridCol w="590725"/>
                <a:gridCol w="1310400"/>
              </a:tblGrid>
              <a:tr h="316575">
                <a:tc>
                  <a:txBody>
                    <a:bodyPr/>
                    <a:lstStyle/>
                    <a:p>
                      <a:pPr indent="0" lvl="0" marL="0" marR="0" rtl="0" algn="r">
                        <a:lnSpc>
                          <a:spcPct val="100000"/>
                        </a:lnSpc>
                        <a:spcBef>
                          <a:spcPts val="0"/>
                        </a:spcBef>
                        <a:spcAft>
                          <a:spcPts val="0"/>
                        </a:spcAft>
                        <a:buClr>
                          <a:schemeClr val="dk1"/>
                        </a:buClr>
                        <a:buSzPts val="1800"/>
                        <a:buFont typeface="Arial"/>
                        <a:buNone/>
                      </a:pPr>
                      <a:r>
                        <a:rPr b="1" i="0" lang="en-US" sz="1800" u="none" cap="none" strike="noStrike">
                          <a:solidFill>
                            <a:schemeClr val="dk1"/>
                          </a:solidFill>
                        </a:rPr>
                        <a:t>Clockcycle:</a:t>
                      </a:r>
                      <a:endParaRPr b="1" sz="1200" u="none" cap="none" strike="noStrike"/>
                    </a:p>
                  </a:txBody>
                  <a:tcPr marT="27475" marB="0" marR="0" marL="0">
                    <a:lnL cap="flat" cmpd="sng" w="12700">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0</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1</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2</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3</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4</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5</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6</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7</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8</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ctr">
                        <a:lnSpc>
                          <a:spcPct val="73333"/>
                        </a:lnSpc>
                        <a:spcBef>
                          <a:spcPts val="0"/>
                        </a:spcBef>
                        <a:spcAft>
                          <a:spcPts val="0"/>
                        </a:spcAft>
                        <a:buClr>
                          <a:schemeClr val="dk1"/>
                        </a:buClr>
                        <a:buSzPts val="2600"/>
                        <a:buFont typeface="Times New Roman"/>
                        <a:buNone/>
                      </a:pPr>
                      <a:r>
                        <a:rPr b="0" baseline="30000" i="0" lang="en-US" sz="2600" u="none" cap="none" strike="noStrike">
                          <a:solidFill>
                            <a:schemeClr val="dk1"/>
                          </a:solidFill>
                          <a:latin typeface="Times New Roman"/>
                          <a:ea typeface="Times New Roman"/>
                          <a:cs typeface="Times New Roman"/>
                          <a:sym typeface="Times New Roman"/>
                        </a:rPr>
                        <a:t>t</a:t>
                      </a:r>
                      <a:r>
                        <a:rPr b="0" i="0" lang="en-US" sz="1300" u="none" cap="none" strike="noStrike">
                          <a:solidFill>
                            <a:schemeClr val="dk1"/>
                          </a:solidFill>
                          <a:latin typeface="Times New Roman"/>
                          <a:ea typeface="Times New Roman"/>
                          <a:cs typeface="Times New Roman"/>
                          <a:sym typeface="Times New Roman"/>
                        </a:rPr>
                        <a:t>9	</a:t>
                      </a:r>
                      <a:r>
                        <a:rPr b="0" baseline="30000" i="0" lang="en-US" sz="2600" u="none" cap="none" strike="noStrike">
                          <a:solidFill>
                            <a:schemeClr val="dk1"/>
                          </a:solidFill>
                          <a:latin typeface="Times New Roman"/>
                          <a:ea typeface="Times New Roman"/>
                          <a:cs typeface="Times New Roman"/>
                          <a:sym typeface="Times New Roman"/>
                        </a:rPr>
                        <a:t>t</a:t>
                      </a:r>
                      <a:r>
                        <a:rPr b="0" i="0" lang="en-US" sz="1300" u="none" cap="none" strike="noStrike">
                          <a:solidFill>
                            <a:schemeClr val="dk1"/>
                          </a:solidFill>
                          <a:latin typeface="Times New Roman"/>
                          <a:ea typeface="Times New Roman"/>
                          <a:cs typeface="Times New Roman"/>
                          <a:sym typeface="Times New Roman"/>
                        </a:rPr>
                        <a:t>10</a:t>
                      </a:r>
                      <a:endParaRPr sz="1200" u="none" cap="none" strike="noStrike"/>
                    </a:p>
                  </a:txBody>
                  <a:tcPr marT="56575" marB="0" marR="0" marL="0">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267525">
                <a:tc>
                  <a:txBody>
                    <a:bodyPr/>
                    <a:lstStyle/>
                    <a:p>
                      <a:pPr indent="0" lvl="0" marL="0" marR="0" rtl="0" algn="r">
                        <a:lnSpc>
                          <a:spcPct val="105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w </a:t>
                      </a:r>
                      <a:r>
                        <a:rPr b="1" i="0" lang="en-US" sz="1800" u="none" cap="none" strike="noStrike">
                          <a:solidFill>
                            <a:schemeClr val="dk1"/>
                          </a:solidFill>
                          <a:latin typeface="Times New Roman"/>
                          <a:ea typeface="Times New Roman"/>
                          <a:cs typeface="Times New Roman"/>
                          <a:sym typeface="Times New Roman"/>
                        </a:rPr>
                        <a:t>:</a:t>
                      </a:r>
                      <a:endParaRPr b="1" sz="1200" u="none" cap="none" strike="noStrike"/>
                    </a:p>
                  </a:txBody>
                  <a:tcPr marT="0" marB="0" marR="0" marL="0">
                    <a:lnL cap="flat" cmpd="sng" w="12700">
                      <a:solidFill>
                        <a:srgbClr val="000000"/>
                      </a:solidFill>
                      <a:prstDash val="solid"/>
                      <a:round/>
                      <a:headEnd len="sm" w="sm" type="none"/>
                      <a:tailEnd len="sm" w="sm" type="none"/>
                    </a:lnL>
                  </a:tcPr>
                </a:tc>
                <a:tc>
                  <a:txBody>
                    <a:bodyPr/>
                    <a:lstStyle/>
                    <a:p>
                      <a:pPr indent="0" lvl="0" marL="0" marR="0" rtl="0" algn="r">
                        <a:lnSpc>
                          <a:spcPct val="10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a:t>
                      </a:r>
                      <a:endParaRPr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tc>
                <a:tc>
                  <a:txBody>
                    <a:bodyPr/>
                    <a:lstStyle/>
                    <a:p>
                      <a:pPr indent="0" lvl="0" marL="38100" marR="0" rtl="0" algn="ctr">
                        <a:lnSpc>
                          <a:spcPct val="105000"/>
                        </a:lnSpc>
                        <a:spcBef>
                          <a:spcPts val="0"/>
                        </a:spcBef>
                        <a:spcAft>
                          <a:spcPts val="0"/>
                        </a:spcAft>
                        <a:buClr>
                          <a:schemeClr val="dk1"/>
                        </a:buClr>
                        <a:buSzPts val="1800"/>
                        <a:buFont typeface="Times New Roman"/>
                        <a:buNone/>
                      </a:pPr>
                      <a:r>
                        <a:rPr b="1" lang="en-US" sz="1800" u="none" cap="none" strike="noStrike">
                          <a:solidFill>
                            <a:schemeClr val="dk1"/>
                          </a:solidFill>
                          <a:latin typeface="Times New Roman"/>
                          <a:ea typeface="Times New Roman"/>
                          <a:cs typeface="Times New Roman"/>
                          <a:sym typeface="Times New Roman"/>
                        </a:rPr>
                        <a:t>     </a:t>
                      </a: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ctr">
                        <a:lnSpc>
                          <a:spcPct val="7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0</a:t>
                      </a:r>
                      <a:r>
                        <a:rPr b="0" i="0" lang="en-US" sz="1800" u="none" cap="none" strike="noStrike">
                          <a:solidFill>
                            <a:schemeClr val="dk1"/>
                          </a:solidFill>
                          <a:latin typeface="Times New Roman"/>
                          <a:ea typeface="Times New Roman"/>
                          <a:cs typeface="Times New Roman"/>
                          <a:sym typeface="Times New Roman"/>
                        </a:rPr>
                        <a:t>	1</a:t>
                      </a:r>
                      <a:endParaRPr sz="1200" u="none" cap="none" strike="noStrike"/>
                    </a:p>
                  </a:txBody>
                  <a:tcPr marT="0" marB="0" marR="0" marL="0">
                    <a:lnR cap="flat" cmpd="sng" w="12700">
                      <a:solidFill>
                        <a:srgbClr val="000000"/>
                      </a:solidFill>
                      <a:prstDash val="solid"/>
                      <a:round/>
                      <a:headEnd len="sm" w="sm" type="none"/>
                      <a:tailEnd len="sm" w="sm" type="none"/>
                    </a:lnR>
                  </a:tcPr>
                </a:tc>
              </a:tr>
              <a:tr h="266150">
                <a:tc>
                  <a:txBody>
                    <a:bodyPr/>
                    <a:lstStyle/>
                    <a:p>
                      <a:pPr indent="0" lvl="0" marL="0" marR="0" rtl="0" algn="r">
                        <a:lnSpc>
                          <a:spcPct val="11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z </a:t>
                      </a:r>
                      <a:r>
                        <a:rPr b="1" i="0" lang="en-US" sz="1800" u="none" cap="none" strike="noStrike">
                          <a:solidFill>
                            <a:schemeClr val="dk1"/>
                          </a:solidFill>
                          <a:latin typeface="Times New Roman"/>
                          <a:ea typeface="Times New Roman"/>
                          <a:cs typeface="Times New Roman"/>
                          <a:sym typeface="Times New Roman"/>
                        </a:rPr>
                        <a:t>:</a:t>
                      </a:r>
                      <a:endParaRPr b="1" sz="1200" u="none" cap="none" strike="noStrike"/>
                    </a:p>
                  </a:txBody>
                  <a:tcPr marT="0" marB="0" marR="0" marL="0">
                    <a:lnL cap="flat" cmpd="sng" w="12700">
                      <a:solidFill>
                        <a:srgbClr val="000000"/>
                      </a:solidFill>
                      <a:prstDash val="solid"/>
                      <a:round/>
                      <a:headEnd len="sm" w="sm" type="none"/>
                      <a:tailEnd len="sm" w="sm" type="none"/>
                    </a:lnL>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38100" marR="0" rtl="0" algn="ctr">
                        <a:lnSpc>
                          <a:spcPct val="11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      </a:t>
                      </a:r>
                      <a:r>
                        <a:rPr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25400" marR="0" rtl="0" algn="ctr">
                        <a:lnSpc>
                          <a:spcPct val="11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r>
                        <a:rPr b="0" i="0" lang="en-US" sz="1800" u="none" cap="none" strike="noStrike">
                          <a:solidFill>
                            <a:schemeClr val="dk1"/>
                          </a:solidFill>
                          <a:latin typeface="Times New Roman"/>
                          <a:ea typeface="Times New Roman"/>
                          <a:cs typeface="Times New Roman"/>
                          <a:sym typeface="Times New Roman"/>
                        </a:rPr>
                        <a:t>	0</a:t>
                      </a:r>
                      <a:endParaRPr sz="1200" u="none" cap="none" strike="noStrike"/>
                    </a:p>
                  </a:txBody>
                  <a:tcPr marT="0" marB="0" marR="0" marL="0">
                    <a:lnR cap="flat" cmpd="sng" w="12700">
                      <a:solidFill>
                        <a:srgbClr val="000000"/>
                      </a:solidFill>
                      <a:prstDash val="solid"/>
                      <a:round/>
                      <a:headEnd len="sm" w="sm" type="none"/>
                      <a:tailEnd len="sm" w="sm" type="none"/>
                    </a:lnR>
                    <a:lnB cap="flat" cmpd="sng" w="28575">
                      <a:solidFill>
                        <a:srgbClr val="000000"/>
                      </a:solidFill>
                      <a:prstDash val="solid"/>
                      <a:round/>
                      <a:headEnd len="sm" w="sm" type="none"/>
                      <a:tailEnd len="sm" w="sm" type="none"/>
                    </a:lnB>
                  </a:tcPr>
                </a:tc>
              </a:tr>
            </a:tbl>
          </a:graphicData>
        </a:graphic>
      </p:graphicFrame>
      <p:sp>
        <p:nvSpPr>
          <p:cNvPr id="238" name="Google Shape;238;g1ead90bba03_0_0"/>
          <p:cNvSpPr txBox="1"/>
          <p:nvPr/>
        </p:nvSpPr>
        <p:spPr>
          <a:xfrm>
            <a:off x="1267500" y="1765713"/>
            <a:ext cx="8976300" cy="21666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From previous example 1, we wish to design the circuit that meets the following specification:</a:t>
            </a:r>
            <a:endParaRPr b="0" i="0" sz="20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chemeClr val="dk1"/>
              </a:buClr>
              <a:buSzPts val="2000"/>
              <a:buFont typeface="Times New Roman"/>
              <a:buNone/>
            </a:pPr>
            <a:r>
              <a:t/>
            </a:r>
            <a:endParaRPr b="0" i="0" sz="2000" u="none" cap="none" strike="noStrike">
              <a:solidFill>
                <a:schemeClr val="dk1"/>
              </a:solidFill>
              <a:latin typeface="Times New Roman"/>
              <a:ea typeface="Times New Roman"/>
              <a:cs typeface="Times New Roman"/>
              <a:sym typeface="Times New Roman"/>
            </a:endParaRPr>
          </a:p>
          <a:p>
            <a:pPr indent="-127000" lvl="0" marL="12700" marR="0" rtl="0" algn="l">
              <a:lnSpc>
                <a:spcPct val="100000"/>
              </a:lnSpc>
              <a:spcBef>
                <a:spcPts val="0"/>
              </a:spcBef>
              <a:spcAft>
                <a:spcPts val="0"/>
              </a:spcAft>
              <a:buClr>
                <a:schemeClr val="dk1"/>
              </a:buClr>
              <a:buSzPts val="2000"/>
              <a:buFont typeface="Times New Roman"/>
              <a:buAutoNum type="arabicPeriod"/>
            </a:pPr>
            <a:r>
              <a:rPr b="0" i="0" lang="en-US" sz="2000" u="none" cap="none" strike="noStrike">
                <a:solidFill>
                  <a:schemeClr val="dk1"/>
                </a:solidFill>
                <a:latin typeface="Times New Roman"/>
                <a:ea typeface="Times New Roman"/>
                <a:cs typeface="Times New Roman"/>
                <a:sym typeface="Times New Roman"/>
              </a:rPr>
              <a:t> The circuit has one input </a:t>
            </a:r>
            <a:r>
              <a:rPr b="1" i="0" lang="en-US" sz="2000" u="none" cap="none" strike="noStrike">
                <a:solidFill>
                  <a:schemeClr val="dk1"/>
                </a:solidFill>
                <a:latin typeface="Times New Roman"/>
                <a:ea typeface="Times New Roman"/>
                <a:cs typeface="Times New Roman"/>
                <a:sym typeface="Times New Roman"/>
              </a:rPr>
              <a:t>w</a:t>
            </a:r>
            <a:r>
              <a:rPr b="0" i="0" lang="en-US" sz="2000" u="none" cap="none" strike="noStrike">
                <a:solidFill>
                  <a:schemeClr val="dk1"/>
                </a:solidFill>
                <a:latin typeface="Times New Roman"/>
                <a:ea typeface="Times New Roman"/>
                <a:cs typeface="Times New Roman"/>
                <a:sym typeface="Times New Roman"/>
              </a:rPr>
              <a:t>, and one output </a:t>
            </a:r>
            <a:r>
              <a:rPr b="1" i="0" lang="en-US" sz="2000" u="none" cap="none" strike="noStrike">
                <a:solidFill>
                  <a:schemeClr val="dk1"/>
                </a:solidFill>
                <a:latin typeface="Times New Roman"/>
                <a:ea typeface="Times New Roman"/>
                <a:cs typeface="Times New Roman"/>
                <a:sym typeface="Times New Roman"/>
              </a:rPr>
              <a:t>z</a:t>
            </a:r>
            <a:r>
              <a:rPr b="0" i="0" lang="en-US" sz="20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127000" lvl="0" marL="12700" marR="0" rtl="0" algn="l">
              <a:lnSpc>
                <a:spcPct val="100000"/>
              </a:lnSpc>
              <a:spcBef>
                <a:spcPts val="0"/>
              </a:spcBef>
              <a:spcAft>
                <a:spcPts val="0"/>
              </a:spcAft>
              <a:buClr>
                <a:schemeClr val="dk1"/>
              </a:buClr>
              <a:buSzPts val="2000"/>
              <a:buFont typeface="Times New Roman"/>
              <a:buAutoNum type="arabicPeriod"/>
            </a:pPr>
            <a:r>
              <a:rPr b="0" i="0" lang="en-US" sz="2000" u="none" cap="none" strike="noStrike">
                <a:solidFill>
                  <a:schemeClr val="dk1"/>
                </a:solidFill>
                <a:latin typeface="Times New Roman"/>
                <a:ea typeface="Times New Roman"/>
                <a:cs typeface="Times New Roman"/>
                <a:sym typeface="Times New Roman"/>
              </a:rPr>
              <a:t> All changes in the circuit occur on the </a:t>
            </a:r>
            <a:r>
              <a:rPr b="1" i="0" lang="en-US" sz="2000" u="none" cap="none" strike="noStrike">
                <a:solidFill>
                  <a:schemeClr val="dk1"/>
                </a:solidFill>
                <a:latin typeface="Times New Roman"/>
                <a:ea typeface="Times New Roman"/>
                <a:cs typeface="Times New Roman"/>
                <a:sym typeface="Times New Roman"/>
              </a:rPr>
              <a:t>positive edge</a:t>
            </a:r>
            <a:r>
              <a:rPr b="0" i="0" lang="en-US" sz="2000" u="none" cap="none" strike="noStrike">
                <a:solidFill>
                  <a:schemeClr val="dk1"/>
                </a:solidFill>
                <a:latin typeface="Times New Roman"/>
                <a:ea typeface="Times New Roman"/>
                <a:cs typeface="Times New Roman"/>
                <a:sym typeface="Times New Roman"/>
              </a:rPr>
              <a:t> of a clock signal.</a:t>
            </a:r>
            <a:endParaRPr b="0" i="0" sz="1400" u="none" cap="none" strike="noStrike">
              <a:solidFill>
                <a:srgbClr val="000000"/>
              </a:solidFill>
              <a:latin typeface="Arial"/>
              <a:ea typeface="Arial"/>
              <a:cs typeface="Arial"/>
              <a:sym typeface="Arial"/>
            </a:endParaRPr>
          </a:p>
          <a:p>
            <a:pPr indent="-127000" lvl="0" marL="12700" marR="0" rtl="0" algn="l">
              <a:lnSpc>
                <a:spcPct val="100000"/>
              </a:lnSpc>
              <a:spcBef>
                <a:spcPts val="0"/>
              </a:spcBef>
              <a:spcAft>
                <a:spcPts val="0"/>
              </a:spcAft>
              <a:buClr>
                <a:schemeClr val="dk1"/>
              </a:buClr>
              <a:buSzPts val="2000"/>
              <a:buFont typeface="Times New Roman"/>
              <a:buAutoNum type="arabicPeriod"/>
            </a:pPr>
            <a:r>
              <a:rPr b="0" i="0" lang="en-US" sz="2000" u="none" cap="none" strike="noStrike">
                <a:solidFill>
                  <a:schemeClr val="dk1"/>
                </a:solidFill>
                <a:latin typeface="Times New Roman"/>
                <a:ea typeface="Times New Roman"/>
                <a:cs typeface="Times New Roman"/>
                <a:sym typeface="Times New Roman"/>
              </a:rPr>
              <a:t> The output </a:t>
            </a:r>
            <a:r>
              <a:rPr b="1" i="0" lang="en-US" sz="2000" u="none" cap="none" strike="noStrike">
                <a:solidFill>
                  <a:schemeClr val="dk1"/>
                </a:solidFill>
                <a:latin typeface="Times New Roman"/>
                <a:ea typeface="Times New Roman"/>
                <a:cs typeface="Times New Roman"/>
                <a:sym typeface="Times New Roman"/>
              </a:rPr>
              <a:t>z</a:t>
            </a:r>
            <a:r>
              <a:rPr b="0" i="0" lang="en-US" sz="2000" u="none" cap="none" strike="noStrike">
                <a:solidFill>
                  <a:schemeClr val="dk1"/>
                </a:solidFill>
                <a:latin typeface="Times New Roman"/>
                <a:ea typeface="Times New Roman"/>
                <a:cs typeface="Times New Roman"/>
                <a:sym typeface="Times New Roman"/>
              </a:rPr>
              <a:t> is equal to 1 if during two immediately preceding clock cycle the input w  was equal to </a:t>
            </a:r>
            <a:r>
              <a:rPr b="1"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Otherwise the value of z is equal to </a:t>
            </a:r>
            <a:r>
              <a:rPr b="1" i="0" lang="en-US" sz="2000" u="none" cap="none" strike="noStrike">
                <a:solidFill>
                  <a:schemeClr val="dk1"/>
                </a:solidFill>
                <a:latin typeface="Times New Roman"/>
                <a:ea typeface="Times New Roman"/>
                <a:cs typeface="Times New Roman"/>
                <a:sym typeface="Times New Roman"/>
              </a:rPr>
              <a:t>0</a:t>
            </a:r>
            <a:r>
              <a:rPr b="0" i="0" lang="en-US" sz="20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239" name="Google Shape;239;g1ead90bba03_0_0"/>
          <p:cNvSpPr/>
          <p:nvPr/>
        </p:nvSpPr>
        <p:spPr>
          <a:xfrm>
            <a:off x="10070625" y="284375"/>
            <a:ext cx="1011300" cy="1233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0" name="Google Shape;240;g1ead90bba03_0_0"/>
          <p:cNvCxnSpPr/>
          <p:nvPr/>
        </p:nvCxnSpPr>
        <p:spPr>
          <a:xfrm>
            <a:off x="9738100" y="561475"/>
            <a:ext cx="332400" cy="0"/>
          </a:xfrm>
          <a:prstGeom prst="straightConnector1">
            <a:avLst/>
          </a:prstGeom>
          <a:noFill/>
          <a:ln cap="flat" cmpd="sng" w="9525">
            <a:solidFill>
              <a:schemeClr val="dk2"/>
            </a:solidFill>
            <a:prstDash val="solid"/>
            <a:round/>
            <a:headEnd len="sm" w="sm" type="none"/>
            <a:tailEnd len="sm" w="sm" type="none"/>
          </a:ln>
        </p:spPr>
      </p:cxnSp>
      <p:cxnSp>
        <p:nvCxnSpPr>
          <p:cNvPr id="241" name="Google Shape;241;g1ead90bba03_0_0"/>
          <p:cNvCxnSpPr/>
          <p:nvPr/>
        </p:nvCxnSpPr>
        <p:spPr>
          <a:xfrm>
            <a:off x="9738100" y="1216700"/>
            <a:ext cx="332400" cy="0"/>
          </a:xfrm>
          <a:prstGeom prst="straightConnector1">
            <a:avLst/>
          </a:prstGeom>
          <a:noFill/>
          <a:ln cap="flat" cmpd="sng" w="9525">
            <a:solidFill>
              <a:schemeClr val="dk2"/>
            </a:solidFill>
            <a:prstDash val="solid"/>
            <a:round/>
            <a:headEnd len="sm" w="sm" type="none"/>
            <a:tailEnd len="sm" w="sm" type="none"/>
          </a:ln>
        </p:spPr>
      </p:cxnSp>
      <p:cxnSp>
        <p:nvCxnSpPr>
          <p:cNvPr id="242" name="Google Shape;242;g1ead90bba03_0_0"/>
          <p:cNvCxnSpPr/>
          <p:nvPr/>
        </p:nvCxnSpPr>
        <p:spPr>
          <a:xfrm>
            <a:off x="11081925" y="561475"/>
            <a:ext cx="332400" cy="0"/>
          </a:xfrm>
          <a:prstGeom prst="straightConnector1">
            <a:avLst/>
          </a:prstGeom>
          <a:noFill/>
          <a:ln cap="flat" cmpd="sng" w="9525">
            <a:solidFill>
              <a:schemeClr val="dk2"/>
            </a:solidFill>
            <a:prstDash val="solid"/>
            <a:round/>
            <a:headEnd len="sm" w="sm" type="none"/>
            <a:tailEnd len="sm" w="sm" type="none"/>
          </a:ln>
        </p:spPr>
      </p:cxnSp>
      <p:sp>
        <p:nvSpPr>
          <p:cNvPr id="243" name="Google Shape;243;g1ead90bba03_0_0"/>
          <p:cNvSpPr txBox="1"/>
          <p:nvPr/>
        </p:nvSpPr>
        <p:spPr>
          <a:xfrm>
            <a:off x="9336275" y="284375"/>
            <a:ext cx="40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w</a:t>
            </a:r>
            <a:endParaRPr b="0" i="0" sz="1400" u="none" cap="none" strike="noStrike">
              <a:solidFill>
                <a:srgbClr val="000000"/>
              </a:solidFill>
              <a:latin typeface="Arial"/>
              <a:ea typeface="Arial"/>
              <a:cs typeface="Arial"/>
              <a:sym typeface="Arial"/>
            </a:endParaRPr>
          </a:p>
        </p:txBody>
      </p:sp>
      <p:sp>
        <p:nvSpPr>
          <p:cNvPr id="244" name="Google Shape;244;g1ead90bba03_0_0"/>
          <p:cNvSpPr txBox="1"/>
          <p:nvPr/>
        </p:nvSpPr>
        <p:spPr>
          <a:xfrm>
            <a:off x="9253025" y="914975"/>
            <a:ext cx="568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clk</a:t>
            </a:r>
            <a:endParaRPr b="0" i="0" sz="1400" u="none" cap="none" strike="noStrike">
              <a:solidFill>
                <a:srgbClr val="000000"/>
              </a:solidFill>
              <a:latin typeface="Arial"/>
              <a:ea typeface="Arial"/>
              <a:cs typeface="Arial"/>
              <a:sym typeface="Arial"/>
            </a:endParaRPr>
          </a:p>
        </p:txBody>
      </p:sp>
      <p:sp>
        <p:nvSpPr>
          <p:cNvPr id="245" name="Google Shape;245;g1ead90bba03_0_0"/>
          <p:cNvSpPr txBox="1"/>
          <p:nvPr/>
        </p:nvSpPr>
        <p:spPr>
          <a:xfrm>
            <a:off x="11414575" y="284375"/>
            <a:ext cx="568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z</a:t>
            </a:r>
            <a:endParaRPr b="0" i="0" sz="1400" u="none" cap="none" strike="noStrike">
              <a:solidFill>
                <a:srgbClr val="000000"/>
              </a:solidFill>
              <a:latin typeface="Arial"/>
              <a:ea typeface="Arial"/>
              <a:cs typeface="Arial"/>
              <a:sym typeface="Arial"/>
            </a:endParaRPr>
          </a:p>
        </p:txBody>
      </p:sp>
      <p:sp>
        <p:nvSpPr>
          <p:cNvPr id="246" name="Google Shape;246;g1ead90bba03_0_0"/>
          <p:cNvSpPr txBox="1"/>
          <p:nvPr/>
        </p:nvSpPr>
        <p:spPr>
          <a:xfrm>
            <a:off x="10243800" y="654575"/>
            <a:ext cx="748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FSM</a:t>
            </a:r>
            <a:endParaRPr b="0" i="0" sz="1400" u="none" cap="none" strike="noStrike">
              <a:solidFill>
                <a:srgbClr val="000000"/>
              </a:solidFill>
              <a:latin typeface="Arial"/>
              <a:ea typeface="Arial"/>
              <a:cs typeface="Arial"/>
              <a:sym typeface="Arial"/>
            </a:endParaRPr>
          </a:p>
        </p:txBody>
      </p:sp>
      <p:sp>
        <p:nvSpPr>
          <p:cNvPr id="247" name="Google Shape;247;g1ead90bba03_0_0"/>
          <p:cNvSpPr txBox="1"/>
          <p:nvPr/>
        </p:nvSpPr>
        <p:spPr>
          <a:xfrm>
            <a:off x="543000" y="514475"/>
            <a:ext cx="2524200" cy="6141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100"/>
              <a:buFont typeface="Arial"/>
              <a:buNone/>
            </a:pPr>
            <a:r>
              <a:rPr b="0" i="0" lang="en-US" sz="3100" u="none" cap="none" strike="noStrike">
                <a:solidFill>
                  <a:schemeClr val="dk1"/>
                </a:solidFill>
                <a:latin typeface="Times New Roman"/>
                <a:ea typeface="Times New Roman"/>
                <a:cs typeface="Times New Roman"/>
                <a:sym typeface="Times New Roman"/>
              </a:rPr>
              <a:t>Example 1</a:t>
            </a:r>
            <a:endParaRPr b="0" i="0" sz="3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1" name="Shape 251"/>
        <p:cNvGrpSpPr/>
        <p:nvPr/>
      </p:nvGrpSpPr>
      <p:grpSpPr>
        <a:xfrm>
          <a:off x="0" y="0"/>
          <a:ext cx="0" cy="0"/>
          <a:chOff x="0" y="0"/>
          <a:chExt cx="0" cy="0"/>
        </a:xfrm>
      </p:grpSpPr>
      <p:sp>
        <p:nvSpPr>
          <p:cNvPr id="252" name="Google Shape;252;g253b0015d92_0_12"/>
          <p:cNvSpPr/>
          <p:nvPr/>
        </p:nvSpPr>
        <p:spPr>
          <a:xfrm>
            <a:off x="10070625" y="284375"/>
            <a:ext cx="1011300" cy="1233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3" name="Google Shape;253;g253b0015d92_0_12"/>
          <p:cNvCxnSpPr/>
          <p:nvPr/>
        </p:nvCxnSpPr>
        <p:spPr>
          <a:xfrm>
            <a:off x="9738100" y="561475"/>
            <a:ext cx="332400" cy="0"/>
          </a:xfrm>
          <a:prstGeom prst="straightConnector1">
            <a:avLst/>
          </a:prstGeom>
          <a:noFill/>
          <a:ln cap="flat" cmpd="sng" w="9525">
            <a:solidFill>
              <a:schemeClr val="dk2"/>
            </a:solidFill>
            <a:prstDash val="solid"/>
            <a:round/>
            <a:headEnd len="sm" w="sm" type="none"/>
            <a:tailEnd len="sm" w="sm" type="none"/>
          </a:ln>
        </p:spPr>
      </p:cxnSp>
      <p:cxnSp>
        <p:nvCxnSpPr>
          <p:cNvPr id="254" name="Google Shape;254;g253b0015d92_0_12"/>
          <p:cNvCxnSpPr/>
          <p:nvPr/>
        </p:nvCxnSpPr>
        <p:spPr>
          <a:xfrm>
            <a:off x="9738100" y="1216700"/>
            <a:ext cx="332400" cy="0"/>
          </a:xfrm>
          <a:prstGeom prst="straightConnector1">
            <a:avLst/>
          </a:prstGeom>
          <a:noFill/>
          <a:ln cap="flat" cmpd="sng" w="9525">
            <a:solidFill>
              <a:schemeClr val="dk2"/>
            </a:solidFill>
            <a:prstDash val="solid"/>
            <a:round/>
            <a:headEnd len="sm" w="sm" type="none"/>
            <a:tailEnd len="sm" w="sm" type="none"/>
          </a:ln>
        </p:spPr>
      </p:cxnSp>
      <p:cxnSp>
        <p:nvCxnSpPr>
          <p:cNvPr id="255" name="Google Shape;255;g253b0015d92_0_12"/>
          <p:cNvCxnSpPr/>
          <p:nvPr/>
        </p:nvCxnSpPr>
        <p:spPr>
          <a:xfrm>
            <a:off x="11081925" y="561475"/>
            <a:ext cx="332400" cy="0"/>
          </a:xfrm>
          <a:prstGeom prst="straightConnector1">
            <a:avLst/>
          </a:prstGeom>
          <a:noFill/>
          <a:ln cap="flat" cmpd="sng" w="9525">
            <a:solidFill>
              <a:schemeClr val="dk2"/>
            </a:solidFill>
            <a:prstDash val="solid"/>
            <a:round/>
            <a:headEnd len="sm" w="sm" type="none"/>
            <a:tailEnd len="sm" w="sm" type="none"/>
          </a:ln>
        </p:spPr>
      </p:cxnSp>
      <p:sp>
        <p:nvSpPr>
          <p:cNvPr id="256" name="Google Shape;256;g253b0015d92_0_12"/>
          <p:cNvSpPr txBox="1"/>
          <p:nvPr/>
        </p:nvSpPr>
        <p:spPr>
          <a:xfrm>
            <a:off x="9336275" y="284375"/>
            <a:ext cx="40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w</a:t>
            </a:r>
            <a:endParaRPr b="0" i="0" sz="1400" u="none" cap="none" strike="noStrike">
              <a:solidFill>
                <a:srgbClr val="000000"/>
              </a:solidFill>
              <a:latin typeface="Arial"/>
              <a:ea typeface="Arial"/>
              <a:cs typeface="Arial"/>
              <a:sym typeface="Arial"/>
            </a:endParaRPr>
          </a:p>
        </p:txBody>
      </p:sp>
      <p:sp>
        <p:nvSpPr>
          <p:cNvPr id="257" name="Google Shape;257;g253b0015d92_0_12"/>
          <p:cNvSpPr txBox="1"/>
          <p:nvPr/>
        </p:nvSpPr>
        <p:spPr>
          <a:xfrm>
            <a:off x="9253025" y="914975"/>
            <a:ext cx="568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clk</a:t>
            </a:r>
            <a:endParaRPr b="0" i="0" sz="1400" u="none" cap="none" strike="noStrike">
              <a:solidFill>
                <a:srgbClr val="000000"/>
              </a:solidFill>
              <a:latin typeface="Arial"/>
              <a:ea typeface="Arial"/>
              <a:cs typeface="Arial"/>
              <a:sym typeface="Arial"/>
            </a:endParaRPr>
          </a:p>
        </p:txBody>
      </p:sp>
      <p:sp>
        <p:nvSpPr>
          <p:cNvPr id="258" name="Google Shape;258;g253b0015d92_0_12"/>
          <p:cNvSpPr txBox="1"/>
          <p:nvPr/>
        </p:nvSpPr>
        <p:spPr>
          <a:xfrm>
            <a:off x="11414575" y="284375"/>
            <a:ext cx="568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z</a:t>
            </a:r>
            <a:endParaRPr b="0" i="0" sz="1400" u="none" cap="none" strike="noStrike">
              <a:solidFill>
                <a:srgbClr val="000000"/>
              </a:solidFill>
              <a:latin typeface="Arial"/>
              <a:ea typeface="Arial"/>
              <a:cs typeface="Arial"/>
              <a:sym typeface="Arial"/>
            </a:endParaRPr>
          </a:p>
        </p:txBody>
      </p:sp>
      <p:sp>
        <p:nvSpPr>
          <p:cNvPr id="259" name="Google Shape;259;g253b0015d92_0_12"/>
          <p:cNvSpPr txBox="1"/>
          <p:nvPr/>
        </p:nvSpPr>
        <p:spPr>
          <a:xfrm>
            <a:off x="10243800" y="654575"/>
            <a:ext cx="748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FSM</a:t>
            </a:r>
            <a:endParaRPr b="0" i="0" sz="1400" u="none" cap="none" strike="noStrike">
              <a:solidFill>
                <a:srgbClr val="000000"/>
              </a:solidFill>
              <a:latin typeface="Arial"/>
              <a:ea typeface="Arial"/>
              <a:cs typeface="Arial"/>
              <a:sym typeface="Arial"/>
            </a:endParaRPr>
          </a:p>
        </p:txBody>
      </p:sp>
      <p:sp>
        <p:nvSpPr>
          <p:cNvPr id="260" name="Google Shape;260;g253b0015d92_0_12"/>
          <p:cNvSpPr txBox="1"/>
          <p:nvPr/>
        </p:nvSpPr>
        <p:spPr>
          <a:xfrm>
            <a:off x="97000" y="172775"/>
            <a:ext cx="9156000" cy="5865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900"/>
              <a:buFont typeface="Arial"/>
              <a:buNone/>
            </a:pPr>
            <a:r>
              <a:rPr b="1" i="0" lang="en-US" sz="2900" u="none" cap="none" strike="noStrike">
                <a:solidFill>
                  <a:schemeClr val="dk1"/>
                </a:solidFill>
                <a:latin typeface="Times New Roman"/>
                <a:ea typeface="Times New Roman"/>
                <a:cs typeface="Times New Roman"/>
                <a:sym typeface="Times New Roman"/>
              </a:rPr>
              <a:t>Example 1: </a:t>
            </a:r>
            <a:r>
              <a:rPr b="1" i="0" lang="en-US" sz="2400" u="none" cap="none" strike="noStrike">
                <a:solidFill>
                  <a:schemeClr val="dk1"/>
                </a:solidFill>
                <a:latin typeface="Times New Roman"/>
                <a:ea typeface="Times New Roman"/>
                <a:cs typeface="Times New Roman"/>
                <a:sym typeface="Times New Roman"/>
              </a:rPr>
              <a:t>A Simple Input Pattern (‘11’ Overlapping Sequence)</a:t>
            </a:r>
            <a:endParaRPr b="1" i="0" sz="2900" u="none" cap="none" strike="noStrike">
              <a:solidFill>
                <a:schemeClr val="dk1"/>
              </a:solidFill>
              <a:latin typeface="Times New Roman"/>
              <a:ea typeface="Times New Roman"/>
              <a:cs typeface="Times New Roman"/>
              <a:sym typeface="Times New Roman"/>
            </a:endParaRPr>
          </a:p>
        </p:txBody>
      </p:sp>
      <p:sp>
        <p:nvSpPr>
          <p:cNvPr id="261" name="Google Shape;261;g253b0015d92_0_12"/>
          <p:cNvSpPr txBox="1"/>
          <p:nvPr/>
        </p:nvSpPr>
        <p:spPr>
          <a:xfrm>
            <a:off x="2371374" y="2915763"/>
            <a:ext cx="12219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Figure 4 :</a:t>
            </a:r>
            <a:endParaRPr b="0" i="0" sz="1400" u="none" cap="none" strike="noStrike">
              <a:solidFill>
                <a:srgbClr val="000000"/>
              </a:solidFill>
              <a:latin typeface="Arial"/>
              <a:ea typeface="Arial"/>
              <a:cs typeface="Arial"/>
              <a:sym typeface="Arial"/>
            </a:endParaRPr>
          </a:p>
        </p:txBody>
      </p:sp>
      <p:sp>
        <p:nvSpPr>
          <p:cNvPr id="262" name="Google Shape;262;g253b0015d92_0_12"/>
          <p:cNvSpPr txBox="1"/>
          <p:nvPr/>
        </p:nvSpPr>
        <p:spPr>
          <a:xfrm>
            <a:off x="3593275" y="2915763"/>
            <a:ext cx="63708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Sequences of input and output signals.</a:t>
            </a:r>
            <a:endParaRPr b="0" i="0" sz="1400" u="none" cap="none" strike="noStrike">
              <a:solidFill>
                <a:srgbClr val="000000"/>
              </a:solidFill>
              <a:latin typeface="Arial"/>
              <a:ea typeface="Arial"/>
              <a:cs typeface="Arial"/>
              <a:sym typeface="Arial"/>
            </a:endParaRPr>
          </a:p>
        </p:txBody>
      </p:sp>
      <p:sp>
        <p:nvSpPr>
          <p:cNvPr id="263" name="Google Shape;263;g253b0015d92_0_12"/>
          <p:cNvSpPr/>
          <p:nvPr/>
        </p:nvSpPr>
        <p:spPr>
          <a:xfrm>
            <a:off x="1672868" y="1832990"/>
            <a:ext cx="8570944" cy="871963"/>
          </a:xfrm>
          <a:custGeom>
            <a:rect b="b" l="l" r="r" t="t"/>
            <a:pathLst>
              <a:path extrusionOk="0" h="988060" w="7068820">
                <a:moveTo>
                  <a:pt x="7059168" y="0"/>
                </a:moveTo>
                <a:lnTo>
                  <a:pt x="12192" y="0"/>
                </a:lnTo>
                <a:lnTo>
                  <a:pt x="12192" y="21336"/>
                </a:lnTo>
                <a:lnTo>
                  <a:pt x="12192" y="341376"/>
                </a:lnTo>
                <a:lnTo>
                  <a:pt x="12192" y="353568"/>
                </a:lnTo>
                <a:lnTo>
                  <a:pt x="12192" y="646176"/>
                </a:lnTo>
                <a:lnTo>
                  <a:pt x="12179" y="353568"/>
                </a:lnTo>
                <a:lnTo>
                  <a:pt x="12192" y="341376"/>
                </a:lnTo>
                <a:lnTo>
                  <a:pt x="12179" y="21336"/>
                </a:lnTo>
                <a:lnTo>
                  <a:pt x="12192" y="0"/>
                </a:lnTo>
                <a:lnTo>
                  <a:pt x="0" y="0"/>
                </a:lnTo>
                <a:lnTo>
                  <a:pt x="0" y="12192"/>
                </a:lnTo>
                <a:lnTo>
                  <a:pt x="0" y="21336"/>
                </a:lnTo>
                <a:lnTo>
                  <a:pt x="0" y="987552"/>
                </a:lnTo>
                <a:lnTo>
                  <a:pt x="24384" y="987552"/>
                </a:lnTo>
                <a:lnTo>
                  <a:pt x="24384" y="21336"/>
                </a:lnTo>
                <a:lnTo>
                  <a:pt x="7059168" y="21336"/>
                </a:lnTo>
                <a:lnTo>
                  <a:pt x="7059168" y="15240"/>
                </a:lnTo>
                <a:lnTo>
                  <a:pt x="7059168" y="12192"/>
                </a:lnTo>
                <a:lnTo>
                  <a:pt x="7059168" y="9144"/>
                </a:lnTo>
                <a:lnTo>
                  <a:pt x="7059168" y="6096"/>
                </a:lnTo>
                <a:lnTo>
                  <a:pt x="7059168" y="0"/>
                </a:lnTo>
                <a:close/>
              </a:path>
              <a:path extrusionOk="0" h="988060" w="7068820">
                <a:moveTo>
                  <a:pt x="7068312" y="646176"/>
                </a:moveTo>
                <a:lnTo>
                  <a:pt x="7043928" y="646176"/>
                </a:lnTo>
                <a:lnTo>
                  <a:pt x="7043928" y="987552"/>
                </a:lnTo>
                <a:lnTo>
                  <a:pt x="7068312" y="987552"/>
                </a:lnTo>
                <a:lnTo>
                  <a:pt x="7068312" y="981456"/>
                </a:lnTo>
                <a:lnTo>
                  <a:pt x="7068312" y="975360"/>
                </a:lnTo>
                <a:lnTo>
                  <a:pt x="7068312" y="658368"/>
                </a:lnTo>
                <a:lnTo>
                  <a:pt x="7068312" y="652272"/>
                </a:lnTo>
                <a:lnTo>
                  <a:pt x="7068312" y="64617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264" name="Google Shape;264;g253b0015d92_0_12"/>
          <p:cNvGraphicFramePr/>
          <p:nvPr/>
        </p:nvGraphicFramePr>
        <p:xfrm>
          <a:off x="1680565" y="1842796"/>
          <a:ext cx="3000000" cy="3000000"/>
        </p:xfrm>
        <a:graphic>
          <a:graphicData uri="http://schemas.openxmlformats.org/drawingml/2006/table">
            <a:tbl>
              <a:tblPr>
                <a:noFill/>
                <a:tableStyleId>{88476B5D-2711-416F-9EB7-66369C930DE7}</a:tableStyleId>
              </a:tblPr>
              <a:tblGrid>
                <a:gridCol w="1912700"/>
                <a:gridCol w="584975"/>
                <a:gridCol w="592675"/>
                <a:gridCol w="590725"/>
                <a:gridCol w="592675"/>
                <a:gridCol w="590725"/>
                <a:gridCol w="588825"/>
                <a:gridCol w="594575"/>
                <a:gridCol w="588825"/>
                <a:gridCol w="590725"/>
                <a:gridCol w="1310400"/>
              </a:tblGrid>
              <a:tr h="316575">
                <a:tc>
                  <a:txBody>
                    <a:bodyPr/>
                    <a:lstStyle/>
                    <a:p>
                      <a:pPr indent="0" lvl="0" marL="0" marR="0" rtl="0" algn="r">
                        <a:lnSpc>
                          <a:spcPct val="100000"/>
                        </a:lnSpc>
                        <a:spcBef>
                          <a:spcPts val="0"/>
                        </a:spcBef>
                        <a:spcAft>
                          <a:spcPts val="0"/>
                        </a:spcAft>
                        <a:buClr>
                          <a:schemeClr val="dk1"/>
                        </a:buClr>
                        <a:buSzPts val="1800"/>
                        <a:buFont typeface="Arial"/>
                        <a:buNone/>
                      </a:pPr>
                      <a:r>
                        <a:rPr b="1" i="0" lang="en-US" sz="1800" u="none" cap="none" strike="noStrike">
                          <a:solidFill>
                            <a:schemeClr val="dk1"/>
                          </a:solidFill>
                        </a:rPr>
                        <a:t>Clockcycle:</a:t>
                      </a:r>
                      <a:endParaRPr b="1" sz="1200" u="none" cap="none" strike="noStrike"/>
                    </a:p>
                  </a:txBody>
                  <a:tcPr marT="27475" marB="0" marR="0" marL="0">
                    <a:lnL cap="flat" cmpd="sng" w="12700">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0</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1</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2</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3</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4</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5</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6</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7</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a:t>
                      </a:r>
                      <a:r>
                        <a:rPr b="0" baseline="-25000" i="0" lang="en-US" sz="1900" u="none" cap="none" strike="noStrike">
                          <a:solidFill>
                            <a:schemeClr val="dk1"/>
                          </a:solidFill>
                          <a:latin typeface="Times New Roman"/>
                          <a:ea typeface="Times New Roman"/>
                          <a:cs typeface="Times New Roman"/>
                          <a:sym typeface="Times New Roman"/>
                        </a:rPr>
                        <a:t>8</a:t>
                      </a:r>
                      <a:endParaRPr sz="1200" u="none" cap="none" strike="noStrike"/>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ctr">
                        <a:lnSpc>
                          <a:spcPct val="73333"/>
                        </a:lnSpc>
                        <a:spcBef>
                          <a:spcPts val="0"/>
                        </a:spcBef>
                        <a:spcAft>
                          <a:spcPts val="0"/>
                        </a:spcAft>
                        <a:buClr>
                          <a:schemeClr val="dk1"/>
                        </a:buClr>
                        <a:buSzPts val="2600"/>
                        <a:buFont typeface="Times New Roman"/>
                        <a:buNone/>
                      </a:pPr>
                      <a:r>
                        <a:rPr b="0" baseline="30000" i="0" lang="en-US" sz="2600" u="none" cap="none" strike="noStrike">
                          <a:solidFill>
                            <a:schemeClr val="dk1"/>
                          </a:solidFill>
                          <a:latin typeface="Times New Roman"/>
                          <a:ea typeface="Times New Roman"/>
                          <a:cs typeface="Times New Roman"/>
                          <a:sym typeface="Times New Roman"/>
                        </a:rPr>
                        <a:t>t</a:t>
                      </a:r>
                      <a:r>
                        <a:rPr b="0" i="0" lang="en-US" sz="1300" u="none" cap="none" strike="noStrike">
                          <a:solidFill>
                            <a:schemeClr val="dk1"/>
                          </a:solidFill>
                          <a:latin typeface="Times New Roman"/>
                          <a:ea typeface="Times New Roman"/>
                          <a:cs typeface="Times New Roman"/>
                          <a:sym typeface="Times New Roman"/>
                        </a:rPr>
                        <a:t>9	</a:t>
                      </a:r>
                      <a:r>
                        <a:rPr b="0" baseline="30000" i="0" lang="en-US" sz="2600" u="none" cap="none" strike="noStrike">
                          <a:solidFill>
                            <a:schemeClr val="dk1"/>
                          </a:solidFill>
                          <a:latin typeface="Times New Roman"/>
                          <a:ea typeface="Times New Roman"/>
                          <a:cs typeface="Times New Roman"/>
                          <a:sym typeface="Times New Roman"/>
                        </a:rPr>
                        <a:t>t</a:t>
                      </a:r>
                      <a:r>
                        <a:rPr b="0" i="0" lang="en-US" sz="1300" u="none" cap="none" strike="noStrike">
                          <a:solidFill>
                            <a:schemeClr val="dk1"/>
                          </a:solidFill>
                          <a:latin typeface="Times New Roman"/>
                          <a:ea typeface="Times New Roman"/>
                          <a:cs typeface="Times New Roman"/>
                          <a:sym typeface="Times New Roman"/>
                        </a:rPr>
                        <a:t>10</a:t>
                      </a:r>
                      <a:endParaRPr sz="1200" u="none" cap="none" strike="noStrike"/>
                    </a:p>
                  </a:txBody>
                  <a:tcPr marT="56575" marB="0" marR="0" marL="0">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267525">
                <a:tc>
                  <a:txBody>
                    <a:bodyPr/>
                    <a:lstStyle/>
                    <a:p>
                      <a:pPr indent="0" lvl="0" marL="0" marR="0" rtl="0" algn="r">
                        <a:lnSpc>
                          <a:spcPct val="105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w </a:t>
                      </a:r>
                      <a:r>
                        <a:rPr b="1" i="0" lang="en-US" sz="1800" u="none" cap="none" strike="noStrike">
                          <a:solidFill>
                            <a:schemeClr val="dk1"/>
                          </a:solidFill>
                          <a:latin typeface="Times New Roman"/>
                          <a:ea typeface="Times New Roman"/>
                          <a:cs typeface="Times New Roman"/>
                          <a:sym typeface="Times New Roman"/>
                        </a:rPr>
                        <a:t>:</a:t>
                      </a:r>
                      <a:endParaRPr b="1" sz="1200" u="none" cap="none" strike="noStrike"/>
                    </a:p>
                  </a:txBody>
                  <a:tcPr marT="0" marB="0" marR="0" marL="0">
                    <a:lnL cap="flat" cmpd="sng" w="12700">
                      <a:solidFill>
                        <a:srgbClr val="000000"/>
                      </a:solidFill>
                      <a:prstDash val="solid"/>
                      <a:round/>
                      <a:headEnd len="sm" w="sm" type="none"/>
                      <a:tailEnd len="sm" w="sm" type="none"/>
                    </a:lnL>
                  </a:tcPr>
                </a:tc>
                <a:tc>
                  <a:txBody>
                    <a:bodyPr/>
                    <a:lstStyle/>
                    <a:p>
                      <a:pPr indent="0" lvl="0" marL="0" marR="0" rtl="0" algn="r">
                        <a:lnSpc>
                          <a:spcPct val="10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a:t>
                      </a:r>
                      <a:endParaRPr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tc>
                <a:tc>
                  <a:txBody>
                    <a:bodyPr/>
                    <a:lstStyle/>
                    <a:p>
                      <a:pPr indent="0" lvl="0" marL="38100" marR="0" rtl="0" algn="ctr">
                        <a:lnSpc>
                          <a:spcPct val="105000"/>
                        </a:lnSpc>
                        <a:spcBef>
                          <a:spcPts val="0"/>
                        </a:spcBef>
                        <a:spcAft>
                          <a:spcPts val="0"/>
                        </a:spcAft>
                        <a:buClr>
                          <a:schemeClr val="dk1"/>
                        </a:buClr>
                        <a:buSzPts val="1800"/>
                        <a:buFont typeface="Times New Roman"/>
                        <a:buNone/>
                      </a:pPr>
                      <a:r>
                        <a:rPr b="1" lang="en-US" sz="1800" u="none" cap="none" strike="noStrike">
                          <a:solidFill>
                            <a:schemeClr val="dk1"/>
                          </a:solidFill>
                          <a:latin typeface="Times New Roman"/>
                          <a:ea typeface="Times New Roman"/>
                          <a:cs typeface="Times New Roman"/>
                          <a:sym typeface="Times New Roman"/>
                        </a:rPr>
                        <a:t>     </a:t>
                      </a: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ctr">
                        <a:lnSpc>
                          <a:spcPct val="7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0</a:t>
                      </a:r>
                      <a:r>
                        <a:rPr b="0" i="0" lang="en-US" sz="1800" u="none" cap="none" strike="noStrike">
                          <a:solidFill>
                            <a:schemeClr val="dk1"/>
                          </a:solidFill>
                          <a:latin typeface="Times New Roman"/>
                          <a:ea typeface="Times New Roman"/>
                          <a:cs typeface="Times New Roman"/>
                          <a:sym typeface="Times New Roman"/>
                        </a:rPr>
                        <a:t>	1</a:t>
                      </a:r>
                      <a:endParaRPr sz="1200" u="none" cap="none" strike="noStrike"/>
                    </a:p>
                  </a:txBody>
                  <a:tcPr marT="0" marB="0" marR="0" marL="0">
                    <a:lnR cap="flat" cmpd="sng" w="12700">
                      <a:solidFill>
                        <a:srgbClr val="000000"/>
                      </a:solidFill>
                      <a:prstDash val="solid"/>
                      <a:round/>
                      <a:headEnd len="sm" w="sm" type="none"/>
                      <a:tailEnd len="sm" w="sm" type="none"/>
                    </a:lnR>
                  </a:tcPr>
                </a:tc>
              </a:tr>
              <a:tr h="266150">
                <a:tc>
                  <a:txBody>
                    <a:bodyPr/>
                    <a:lstStyle/>
                    <a:p>
                      <a:pPr indent="0" lvl="0" marL="0" marR="0" rtl="0" algn="r">
                        <a:lnSpc>
                          <a:spcPct val="11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z </a:t>
                      </a:r>
                      <a:r>
                        <a:rPr b="1" i="0" lang="en-US" sz="1800" u="none" cap="none" strike="noStrike">
                          <a:solidFill>
                            <a:schemeClr val="dk1"/>
                          </a:solidFill>
                          <a:latin typeface="Times New Roman"/>
                          <a:ea typeface="Times New Roman"/>
                          <a:cs typeface="Times New Roman"/>
                          <a:sym typeface="Times New Roman"/>
                        </a:rPr>
                        <a:t>:</a:t>
                      </a:r>
                      <a:endParaRPr b="1" sz="1200" u="none" cap="none" strike="noStrike"/>
                    </a:p>
                  </a:txBody>
                  <a:tcPr marT="0" marB="0" marR="0" marL="0">
                    <a:lnL cap="flat" cmpd="sng" w="12700">
                      <a:solidFill>
                        <a:srgbClr val="000000"/>
                      </a:solidFill>
                      <a:prstDash val="solid"/>
                      <a:round/>
                      <a:headEnd len="sm" w="sm" type="none"/>
                      <a:tailEnd len="sm" w="sm" type="none"/>
                    </a:lnL>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38100" marR="0" rtl="0" algn="ctr">
                        <a:lnSpc>
                          <a:spcPct val="110000"/>
                        </a:lnSpc>
                        <a:spcBef>
                          <a:spcPts val="0"/>
                        </a:spcBef>
                        <a:spcAft>
                          <a:spcPts val="0"/>
                        </a:spcAft>
                        <a:buClr>
                          <a:schemeClr val="dk1"/>
                        </a:buClr>
                        <a:buSzPts val="1800"/>
                        <a:buFont typeface="Times New Roman"/>
                        <a:buNone/>
                      </a:pPr>
                      <a:r>
                        <a:rPr lang="en-US" sz="1800" u="none" cap="none" strike="noStrike">
                          <a:solidFill>
                            <a:schemeClr val="dk1"/>
                          </a:solidFill>
                          <a:latin typeface="Times New Roman"/>
                          <a:ea typeface="Times New Roman"/>
                          <a:cs typeface="Times New Roman"/>
                          <a:sym typeface="Times New Roman"/>
                        </a:rPr>
                        <a:t>      </a:t>
                      </a:r>
                      <a:r>
                        <a:rPr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endParaRPr b="1" sz="1200" u="none" cap="none" strike="noStrike"/>
                    </a:p>
                  </a:txBody>
                  <a:tcPr marT="0" marB="0" marR="0" marL="0">
                    <a:lnB cap="flat" cmpd="sng" w="28575">
                      <a:solidFill>
                        <a:srgbClr val="000000"/>
                      </a:solidFill>
                      <a:prstDash val="solid"/>
                      <a:round/>
                      <a:headEnd len="sm" w="sm" type="none"/>
                      <a:tailEnd len="sm" w="sm" type="none"/>
                    </a:lnB>
                  </a:tcPr>
                </a:tc>
                <a:tc>
                  <a:txBody>
                    <a:bodyPr/>
                    <a:lstStyle/>
                    <a:p>
                      <a:pPr indent="0" lvl="0" marL="25400" marR="0" rtl="0" algn="ctr">
                        <a:lnSpc>
                          <a:spcPct val="11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a:t>
                      </a:r>
                      <a:r>
                        <a:rPr b="0" i="0" lang="en-US" sz="1800" u="none" cap="none" strike="noStrike">
                          <a:solidFill>
                            <a:schemeClr val="dk1"/>
                          </a:solidFill>
                          <a:latin typeface="Times New Roman"/>
                          <a:ea typeface="Times New Roman"/>
                          <a:cs typeface="Times New Roman"/>
                          <a:sym typeface="Times New Roman"/>
                        </a:rPr>
                        <a:t>	0</a:t>
                      </a:r>
                      <a:endParaRPr sz="1200" u="none" cap="none" strike="noStrike"/>
                    </a:p>
                  </a:txBody>
                  <a:tcPr marT="0" marB="0" marR="0" marL="0">
                    <a:lnR cap="flat" cmpd="sng" w="12700">
                      <a:solidFill>
                        <a:srgbClr val="000000"/>
                      </a:solidFill>
                      <a:prstDash val="solid"/>
                      <a:round/>
                      <a:headEnd len="sm" w="sm" type="none"/>
                      <a:tailEnd len="sm" w="sm" type="none"/>
                    </a:lnR>
                    <a:lnB cap="flat" cmpd="sng" w="28575">
                      <a:solidFill>
                        <a:srgbClr val="000000"/>
                      </a:solidFill>
                      <a:prstDash val="solid"/>
                      <a:round/>
                      <a:headEnd len="sm" w="sm" type="none"/>
                      <a:tailEnd len="sm" w="sm" type="none"/>
                    </a:lnB>
                  </a:tcPr>
                </a:tc>
              </a:tr>
            </a:tbl>
          </a:graphicData>
        </a:graphic>
      </p:graphicFrame>
      <p:sp>
        <p:nvSpPr>
          <p:cNvPr id="265" name="Google Shape;265;g253b0015d92_0_12"/>
          <p:cNvSpPr/>
          <p:nvPr/>
        </p:nvSpPr>
        <p:spPr>
          <a:xfrm>
            <a:off x="5796850" y="2205625"/>
            <a:ext cx="870000" cy="258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53b0015d92_0_12"/>
          <p:cNvSpPr/>
          <p:nvPr/>
        </p:nvSpPr>
        <p:spPr>
          <a:xfrm>
            <a:off x="7523475" y="2205625"/>
            <a:ext cx="870000" cy="258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253b0015d92_0_12"/>
          <p:cNvSpPr/>
          <p:nvPr/>
        </p:nvSpPr>
        <p:spPr>
          <a:xfrm>
            <a:off x="8192200" y="2205625"/>
            <a:ext cx="870000" cy="258600"/>
          </a:xfrm>
          <a:prstGeom prst="rect">
            <a:avLst/>
          </a:prstGeom>
          <a:no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253b0015d92_0_12"/>
          <p:cNvSpPr txBox="1"/>
          <p:nvPr/>
        </p:nvSpPr>
        <p:spPr>
          <a:xfrm>
            <a:off x="8094175" y="1324750"/>
            <a:ext cx="1869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Times New Roman"/>
                <a:ea typeface="Times New Roman"/>
                <a:cs typeface="Times New Roman"/>
                <a:sym typeface="Times New Roman"/>
              </a:rPr>
              <a:t>OVERLAPPING 1’s</a:t>
            </a:r>
            <a:endParaRPr b="1" i="0" sz="1400" u="none" cap="none" strike="noStrike">
              <a:solidFill>
                <a:srgbClr val="FF0000"/>
              </a:solidFill>
              <a:latin typeface="Times New Roman"/>
              <a:ea typeface="Times New Roman"/>
              <a:cs typeface="Times New Roman"/>
              <a:sym typeface="Times New Roman"/>
            </a:endParaRPr>
          </a:p>
        </p:txBody>
      </p:sp>
      <p:sp>
        <p:nvSpPr>
          <p:cNvPr id="269" name="Google Shape;269;g253b0015d92_0_12"/>
          <p:cNvSpPr/>
          <p:nvPr/>
        </p:nvSpPr>
        <p:spPr>
          <a:xfrm>
            <a:off x="7706200" y="1488475"/>
            <a:ext cx="401700" cy="895800"/>
          </a:xfrm>
          <a:prstGeom prst="curvedRightArrow">
            <a:avLst>
              <a:gd fmla="val 12844" name="adj1"/>
              <a:gd fmla="val 17283"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253b0015d92_0_12"/>
          <p:cNvSpPr/>
          <p:nvPr/>
        </p:nvSpPr>
        <p:spPr>
          <a:xfrm rot="1981025">
            <a:off x="8312128" y="2412754"/>
            <a:ext cx="425041" cy="1070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253b0015d92_0_12"/>
          <p:cNvSpPr/>
          <p:nvPr/>
        </p:nvSpPr>
        <p:spPr>
          <a:xfrm rot="1981025">
            <a:off x="8902928" y="2491304"/>
            <a:ext cx="425041" cy="1070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253b0015d92_0_12"/>
          <p:cNvSpPr/>
          <p:nvPr/>
        </p:nvSpPr>
        <p:spPr>
          <a:xfrm rot="1981025">
            <a:off x="6588978" y="2491304"/>
            <a:ext cx="425041" cy="1070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253b0015d92_0_12"/>
          <p:cNvSpPr txBox="1"/>
          <p:nvPr>
            <p:ph idx="1" type="body"/>
          </p:nvPr>
        </p:nvSpPr>
        <p:spPr>
          <a:xfrm>
            <a:off x="1136500" y="3508800"/>
            <a:ext cx="9698700" cy="25350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360"/>
              </a:spcBef>
              <a:spcAft>
                <a:spcPts val="0"/>
              </a:spcAft>
              <a:buSzPts val="2800"/>
              <a:buNone/>
            </a:pPr>
            <a:r>
              <a:t/>
            </a:r>
            <a:endParaRPr sz="2600"/>
          </a:p>
          <a:p>
            <a:pPr indent="0" lvl="0" marL="0" rtl="0" algn="just">
              <a:lnSpc>
                <a:spcPct val="90000"/>
              </a:lnSpc>
              <a:spcBef>
                <a:spcPts val="360"/>
              </a:spcBef>
              <a:spcAft>
                <a:spcPts val="0"/>
              </a:spcAft>
              <a:buSzPts val="2800"/>
              <a:buNone/>
            </a:pPr>
            <a:r>
              <a:rPr lang="en-US" sz="2500">
                <a:latin typeface="Times New Roman"/>
                <a:ea typeface="Times New Roman"/>
                <a:cs typeface="Times New Roman"/>
                <a:sym typeface="Times New Roman"/>
              </a:rPr>
              <a:t>The circuit detects two consecutive ‘1’. So, it must keep in memory how many ‘1’ it received in its input. So, </a:t>
            </a:r>
            <a:r>
              <a:rPr lang="en-US" sz="2500" u="sng">
                <a:latin typeface="Times New Roman"/>
                <a:ea typeface="Times New Roman"/>
                <a:cs typeface="Times New Roman"/>
                <a:sym typeface="Times New Roman"/>
              </a:rPr>
              <a:t>a state diagram is introduced</a:t>
            </a:r>
            <a:r>
              <a:rPr lang="en-US" sz="2500">
                <a:latin typeface="Times New Roman"/>
                <a:ea typeface="Times New Roman"/>
                <a:cs typeface="Times New Roman"/>
                <a:sym typeface="Times New Roman"/>
              </a:rPr>
              <a:t>. </a:t>
            </a:r>
            <a:endParaRPr sz="2500">
              <a:latin typeface="Times New Roman"/>
              <a:ea typeface="Times New Roman"/>
              <a:cs typeface="Times New Roman"/>
              <a:sym typeface="Times New Roman"/>
            </a:endParaRPr>
          </a:p>
          <a:p>
            <a:pPr indent="0" lvl="0" marL="0" rtl="0" algn="l">
              <a:lnSpc>
                <a:spcPct val="90000"/>
              </a:lnSpc>
              <a:spcBef>
                <a:spcPts val="360"/>
              </a:spcBef>
              <a:spcAft>
                <a:spcPts val="0"/>
              </a:spcAft>
              <a:buSzPts val="2800"/>
              <a:buNone/>
            </a:pPr>
            <a:r>
              <a:t/>
            </a:r>
            <a:endParaRPr sz="2500">
              <a:latin typeface="Times New Roman"/>
              <a:ea typeface="Times New Roman"/>
              <a:cs typeface="Times New Roman"/>
              <a:sym typeface="Times New Roman"/>
            </a:endParaRPr>
          </a:p>
          <a:p>
            <a:pPr indent="-381000" lvl="0" marL="457200" rtl="0" algn="l">
              <a:lnSpc>
                <a:spcPct val="90000"/>
              </a:lnSpc>
              <a:spcBef>
                <a:spcPts val="360"/>
              </a:spcBef>
              <a:spcAft>
                <a:spcPts val="0"/>
              </a:spcAft>
              <a:buSzPts val="2400"/>
              <a:buChar char="●"/>
            </a:pPr>
            <a:r>
              <a:rPr b="1" lang="en-US" sz="2400">
                <a:latin typeface="Times New Roman"/>
                <a:ea typeface="Times New Roman"/>
                <a:cs typeface="Times New Roman"/>
                <a:sym typeface="Times New Roman"/>
              </a:rPr>
              <a:t>A</a:t>
            </a:r>
            <a:r>
              <a:rPr lang="en-US" sz="2400">
                <a:latin typeface="Times New Roman"/>
                <a:ea typeface="Times New Roman"/>
                <a:cs typeface="Times New Roman"/>
                <a:sym typeface="Times New Roman"/>
              </a:rPr>
              <a:t> state- no ‘1’ in input, </a:t>
            </a:r>
            <a:endParaRPr sz="2400">
              <a:latin typeface="Times New Roman"/>
              <a:ea typeface="Times New Roman"/>
              <a:cs typeface="Times New Roman"/>
              <a:sym typeface="Times New Roman"/>
            </a:endParaRPr>
          </a:p>
          <a:p>
            <a:pPr indent="-381000" lvl="0" marL="457200" rtl="0" algn="l">
              <a:lnSpc>
                <a:spcPct val="90000"/>
              </a:lnSpc>
              <a:spcBef>
                <a:spcPts val="0"/>
              </a:spcBef>
              <a:spcAft>
                <a:spcPts val="0"/>
              </a:spcAft>
              <a:buSzPts val="2400"/>
              <a:buChar char="●"/>
            </a:pPr>
            <a:r>
              <a:rPr b="1" lang="en-US" sz="2400">
                <a:latin typeface="Times New Roman"/>
                <a:ea typeface="Times New Roman"/>
                <a:cs typeface="Times New Roman"/>
                <a:sym typeface="Times New Roman"/>
              </a:rPr>
              <a:t>B</a:t>
            </a:r>
            <a:r>
              <a:rPr lang="en-US" sz="2400">
                <a:latin typeface="Times New Roman"/>
                <a:ea typeface="Times New Roman"/>
                <a:cs typeface="Times New Roman"/>
                <a:sym typeface="Times New Roman"/>
              </a:rPr>
              <a:t> state- one ‘1’ in input and </a:t>
            </a:r>
            <a:endParaRPr sz="2400">
              <a:latin typeface="Times New Roman"/>
              <a:ea typeface="Times New Roman"/>
              <a:cs typeface="Times New Roman"/>
              <a:sym typeface="Times New Roman"/>
            </a:endParaRPr>
          </a:p>
          <a:p>
            <a:pPr indent="-381000" lvl="0" marL="457200" rtl="0" algn="l">
              <a:lnSpc>
                <a:spcPct val="90000"/>
              </a:lnSpc>
              <a:spcBef>
                <a:spcPts val="0"/>
              </a:spcBef>
              <a:spcAft>
                <a:spcPts val="0"/>
              </a:spcAft>
              <a:buSzPts val="2400"/>
              <a:buChar char="●"/>
            </a:pPr>
            <a:r>
              <a:rPr b="1" lang="en-US" sz="2400">
                <a:latin typeface="Times New Roman"/>
                <a:ea typeface="Times New Roman"/>
                <a:cs typeface="Times New Roman"/>
                <a:sym typeface="Times New Roman"/>
              </a:rPr>
              <a:t>C</a:t>
            </a:r>
            <a:r>
              <a:rPr lang="en-US" sz="2400">
                <a:latin typeface="Times New Roman"/>
                <a:ea typeface="Times New Roman"/>
                <a:cs typeface="Times New Roman"/>
                <a:sym typeface="Times New Roman"/>
              </a:rPr>
              <a:t> state- two ‘1’ in input. </a:t>
            </a:r>
            <a:endParaRPr sz="2400">
              <a:latin typeface="Times New Roman"/>
              <a:ea typeface="Times New Roman"/>
              <a:cs typeface="Times New Roman"/>
              <a:sym typeface="Times New Roman"/>
            </a:endParaRPr>
          </a:p>
        </p:txBody>
      </p:sp>
      <p:sp>
        <p:nvSpPr>
          <p:cNvPr id="274" name="Google Shape;274;g253b0015d92_0_12"/>
          <p:cNvSpPr/>
          <p:nvPr/>
        </p:nvSpPr>
        <p:spPr>
          <a:xfrm>
            <a:off x="5321200" y="4967300"/>
            <a:ext cx="1221900" cy="586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 No 1</a:t>
            </a:r>
            <a:endParaRPr b="0" i="0" sz="1400" u="none" cap="none" strike="noStrike">
              <a:solidFill>
                <a:srgbClr val="000000"/>
              </a:solidFill>
              <a:latin typeface="Arial"/>
              <a:ea typeface="Arial"/>
              <a:cs typeface="Arial"/>
              <a:sym typeface="Arial"/>
            </a:endParaRPr>
          </a:p>
        </p:txBody>
      </p:sp>
      <p:sp>
        <p:nvSpPr>
          <p:cNvPr id="275" name="Google Shape;275;g253b0015d92_0_12"/>
          <p:cNvSpPr/>
          <p:nvPr/>
        </p:nvSpPr>
        <p:spPr>
          <a:xfrm>
            <a:off x="7217650" y="4967300"/>
            <a:ext cx="1307700" cy="586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 one 1</a:t>
            </a:r>
            <a:endParaRPr b="0" i="0" sz="1400" u="none" cap="none" strike="noStrike">
              <a:solidFill>
                <a:srgbClr val="000000"/>
              </a:solidFill>
              <a:latin typeface="Arial"/>
              <a:ea typeface="Arial"/>
              <a:cs typeface="Arial"/>
              <a:sym typeface="Arial"/>
            </a:endParaRPr>
          </a:p>
        </p:txBody>
      </p:sp>
      <p:sp>
        <p:nvSpPr>
          <p:cNvPr id="276" name="Google Shape;276;g253b0015d92_0_12"/>
          <p:cNvSpPr/>
          <p:nvPr/>
        </p:nvSpPr>
        <p:spPr>
          <a:xfrm>
            <a:off x="9427700" y="4872025"/>
            <a:ext cx="1514400" cy="711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 two 1’s</a:t>
            </a:r>
            <a:endParaRPr b="0" i="0" sz="1400" u="none" cap="none" strike="noStrike">
              <a:solidFill>
                <a:srgbClr val="000000"/>
              </a:solidFill>
              <a:latin typeface="Arial"/>
              <a:ea typeface="Arial"/>
              <a:cs typeface="Arial"/>
              <a:sym typeface="Arial"/>
            </a:endParaRPr>
          </a:p>
        </p:txBody>
      </p:sp>
      <p:sp>
        <p:nvSpPr>
          <p:cNvPr id="277" name="Google Shape;277;g253b0015d92_0_12"/>
          <p:cNvSpPr/>
          <p:nvPr/>
        </p:nvSpPr>
        <p:spPr>
          <a:xfrm rot="-5514">
            <a:off x="6498949" y="5206981"/>
            <a:ext cx="748201" cy="10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253b0015d92_0_12"/>
          <p:cNvSpPr/>
          <p:nvPr/>
        </p:nvSpPr>
        <p:spPr>
          <a:xfrm rot="-5797">
            <a:off x="8538273" y="5206537"/>
            <a:ext cx="889501" cy="10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53b0015d92_0_12"/>
          <p:cNvSpPr txBox="1"/>
          <p:nvPr/>
        </p:nvSpPr>
        <p:spPr>
          <a:xfrm>
            <a:off x="5263700" y="5655375"/>
            <a:ext cx="107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Calibri"/>
                <a:ea typeface="Calibri"/>
                <a:cs typeface="Calibri"/>
                <a:sym typeface="Calibri"/>
              </a:rPr>
              <a:t>1st clkcycle</a:t>
            </a:r>
            <a:endParaRPr b="0" i="0" sz="1400" u="none" cap="none" strike="noStrike">
              <a:solidFill>
                <a:srgbClr val="FF0000"/>
              </a:solidFill>
              <a:latin typeface="Calibri"/>
              <a:ea typeface="Calibri"/>
              <a:cs typeface="Calibri"/>
              <a:sym typeface="Calibri"/>
            </a:endParaRPr>
          </a:p>
        </p:txBody>
      </p:sp>
      <p:sp>
        <p:nvSpPr>
          <p:cNvPr id="280" name="Google Shape;280;g253b0015d92_0_12"/>
          <p:cNvSpPr txBox="1"/>
          <p:nvPr/>
        </p:nvSpPr>
        <p:spPr>
          <a:xfrm>
            <a:off x="7391525" y="5716050"/>
            <a:ext cx="107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Calibri"/>
                <a:ea typeface="Calibri"/>
                <a:cs typeface="Calibri"/>
                <a:sym typeface="Calibri"/>
              </a:rPr>
              <a:t>2nd clkcycle</a:t>
            </a:r>
            <a:endParaRPr b="0" i="0" sz="1400" u="none" cap="none" strike="noStrike">
              <a:solidFill>
                <a:srgbClr val="FF0000"/>
              </a:solidFill>
              <a:latin typeface="Calibri"/>
              <a:ea typeface="Calibri"/>
              <a:cs typeface="Calibri"/>
              <a:sym typeface="Calibri"/>
            </a:endParaRPr>
          </a:p>
        </p:txBody>
      </p:sp>
      <p:sp>
        <p:nvSpPr>
          <p:cNvPr id="281" name="Google Shape;281;g253b0015d92_0_12"/>
          <p:cNvSpPr txBox="1"/>
          <p:nvPr/>
        </p:nvSpPr>
        <p:spPr>
          <a:xfrm>
            <a:off x="9647600" y="5716050"/>
            <a:ext cx="107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Calibri"/>
                <a:ea typeface="Calibri"/>
                <a:cs typeface="Calibri"/>
                <a:sym typeface="Calibri"/>
              </a:rPr>
              <a:t>3rd clkcycle</a:t>
            </a:r>
            <a:endParaRPr b="0" i="0" sz="1400" u="none" cap="none" strike="noStrike">
              <a:solidFill>
                <a:srgbClr val="FF0000"/>
              </a:solidFill>
              <a:latin typeface="Calibri"/>
              <a:ea typeface="Calibri"/>
              <a:cs typeface="Calibri"/>
              <a:sym typeface="Calibri"/>
            </a:endParaRPr>
          </a:p>
        </p:txBody>
      </p:sp>
      <p:sp>
        <p:nvSpPr>
          <p:cNvPr id="282" name="Google Shape;282;g253b0015d92_0_12"/>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g253b0015d92_0_12"/>
          <p:cNvSpPr txBox="1"/>
          <p:nvPr/>
        </p:nvSpPr>
        <p:spPr>
          <a:xfrm>
            <a:off x="6327625" y="5787800"/>
            <a:ext cx="1171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w=0, NS=A; w=1, NS= B</a:t>
            </a:r>
            <a:endParaRPr b="1" i="0" sz="1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z = 0</a:t>
            </a:r>
            <a:endParaRPr b="1" i="0" sz="1400" u="none" cap="none" strike="noStrike">
              <a:solidFill>
                <a:srgbClr val="FF0000"/>
              </a:solidFill>
              <a:latin typeface="Calibri"/>
              <a:ea typeface="Calibri"/>
              <a:cs typeface="Calibri"/>
              <a:sym typeface="Calibri"/>
            </a:endParaRPr>
          </a:p>
        </p:txBody>
      </p:sp>
      <p:sp>
        <p:nvSpPr>
          <p:cNvPr id="284" name="Google Shape;284;g253b0015d92_0_12"/>
          <p:cNvSpPr txBox="1"/>
          <p:nvPr/>
        </p:nvSpPr>
        <p:spPr>
          <a:xfrm>
            <a:off x="8692425" y="4806175"/>
            <a:ext cx="568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w=1</a:t>
            </a:r>
            <a:endParaRPr b="1" i="0" sz="1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0000"/>
              </a:solidFill>
              <a:latin typeface="Calibri"/>
              <a:ea typeface="Calibri"/>
              <a:cs typeface="Calibri"/>
              <a:sym typeface="Calibri"/>
            </a:endParaRPr>
          </a:p>
        </p:txBody>
      </p:sp>
      <p:sp>
        <p:nvSpPr>
          <p:cNvPr id="285" name="Google Shape;285;g253b0015d92_0_12"/>
          <p:cNvSpPr txBox="1"/>
          <p:nvPr/>
        </p:nvSpPr>
        <p:spPr>
          <a:xfrm>
            <a:off x="8466125" y="5848450"/>
            <a:ext cx="1171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w=0, NS=A; w=1, NS= C</a:t>
            </a:r>
            <a:endParaRPr b="1" i="0" sz="1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z= 0</a:t>
            </a:r>
            <a:endParaRPr b="1" i="0" sz="1400" u="none" cap="none" strike="noStrike">
              <a:solidFill>
                <a:srgbClr val="FF0000"/>
              </a:solidFill>
              <a:latin typeface="Calibri"/>
              <a:ea typeface="Calibri"/>
              <a:cs typeface="Calibri"/>
              <a:sym typeface="Calibri"/>
            </a:endParaRPr>
          </a:p>
        </p:txBody>
      </p:sp>
      <p:sp>
        <p:nvSpPr>
          <p:cNvPr id="286" name="Google Shape;286;g253b0015d92_0_12"/>
          <p:cNvSpPr txBox="1"/>
          <p:nvPr/>
        </p:nvSpPr>
        <p:spPr>
          <a:xfrm>
            <a:off x="10992000" y="4812325"/>
            <a:ext cx="1171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w=0, NS=A; w=1, </a:t>
            </a:r>
            <a:r>
              <a:rPr b="1" i="0" lang="en-US" sz="1400" u="none" cap="none" strike="noStrike">
                <a:solidFill>
                  <a:srgbClr val="0000FF"/>
                </a:solidFill>
                <a:latin typeface="Calibri"/>
                <a:ea typeface="Calibri"/>
                <a:cs typeface="Calibri"/>
                <a:sym typeface="Calibri"/>
              </a:rPr>
              <a:t>NS= C</a:t>
            </a:r>
            <a:endParaRPr b="1" i="0" sz="14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z = 1</a:t>
            </a:r>
            <a:endParaRPr b="1" i="0" sz="1400" u="none" cap="none" strike="noStrike">
              <a:solidFill>
                <a:srgbClr val="FF0000"/>
              </a:solidFill>
              <a:latin typeface="Calibri"/>
              <a:ea typeface="Calibri"/>
              <a:cs typeface="Calibri"/>
              <a:sym typeface="Calibri"/>
            </a:endParaRPr>
          </a:p>
        </p:txBody>
      </p:sp>
      <p:sp>
        <p:nvSpPr>
          <p:cNvPr id="287" name="Google Shape;287;g253b0015d92_0_12"/>
          <p:cNvSpPr txBox="1"/>
          <p:nvPr/>
        </p:nvSpPr>
        <p:spPr>
          <a:xfrm>
            <a:off x="6596275" y="4872025"/>
            <a:ext cx="568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w=1</a:t>
            </a:r>
            <a:endParaRPr b="1" i="0" sz="1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1ead90bba03_0_55"/>
          <p:cNvSpPr txBox="1"/>
          <p:nvPr/>
        </p:nvSpPr>
        <p:spPr>
          <a:xfrm>
            <a:off x="2982525" y="6098525"/>
            <a:ext cx="13527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Figure 5:</a:t>
            </a:r>
            <a:endParaRPr b="0" i="0" sz="1400" u="none" cap="none" strike="noStrike">
              <a:solidFill>
                <a:srgbClr val="000000"/>
              </a:solidFill>
              <a:latin typeface="Arial"/>
              <a:ea typeface="Arial"/>
              <a:cs typeface="Arial"/>
              <a:sym typeface="Arial"/>
            </a:endParaRPr>
          </a:p>
        </p:txBody>
      </p:sp>
      <p:sp>
        <p:nvSpPr>
          <p:cNvPr id="293" name="Google Shape;293;g1ead90bba03_0_55"/>
          <p:cNvSpPr txBox="1"/>
          <p:nvPr/>
        </p:nvSpPr>
        <p:spPr>
          <a:xfrm>
            <a:off x="4581625" y="6098525"/>
            <a:ext cx="53754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State diagram of a simple sequential circuit.</a:t>
            </a:r>
            <a:endParaRPr b="0" i="0" sz="1400" u="none" cap="none" strike="noStrike">
              <a:solidFill>
                <a:srgbClr val="000000"/>
              </a:solidFill>
              <a:latin typeface="Arial"/>
              <a:ea typeface="Arial"/>
              <a:cs typeface="Arial"/>
              <a:sym typeface="Arial"/>
            </a:endParaRPr>
          </a:p>
        </p:txBody>
      </p:sp>
      <p:sp>
        <p:nvSpPr>
          <p:cNvPr id="294" name="Google Shape;294;g1ead90bba03_0_55"/>
          <p:cNvSpPr txBox="1"/>
          <p:nvPr/>
        </p:nvSpPr>
        <p:spPr>
          <a:xfrm>
            <a:off x="4386112" y="1875037"/>
            <a:ext cx="4151400" cy="3679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5" name="Google Shape;295;g1ead90bba03_0_55"/>
          <p:cNvSpPr txBox="1"/>
          <p:nvPr/>
        </p:nvSpPr>
        <p:spPr>
          <a:xfrm>
            <a:off x="6338737" y="4475362"/>
            <a:ext cx="760500" cy="3828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2400"/>
              <a:buFont typeface="Arial"/>
              <a:buNone/>
            </a:pPr>
            <a:r>
              <a:rPr b="0" baseline="30000" i="0" lang="en-US" sz="2400" u="none" cap="none" strike="noStrike">
                <a:solidFill>
                  <a:srgbClr val="000000"/>
                </a:solidFill>
                <a:latin typeface="Arial"/>
                <a:ea typeface="Arial"/>
                <a:cs typeface="Arial"/>
                <a:sym typeface="Arial"/>
              </a:rPr>
              <a:t>C </a:t>
            </a:r>
            <a:r>
              <a:rPr b="0" i="0" lang="en-US" sz="1700" u="none" cap="none" strike="noStrike">
                <a:solidFill>
                  <a:srgbClr val="000000"/>
                </a:solidFill>
                <a:latin typeface="Noto Sans Symbols"/>
                <a:ea typeface="Noto Sans Symbols"/>
                <a:cs typeface="Noto Sans Symbols"/>
                <a:sym typeface="Noto Sans Symbols"/>
              </a:rPr>
              <a:t>⁄</a:t>
            </a:r>
            <a:r>
              <a:rPr b="0" i="0" lang="en-US" sz="1700" u="none" cap="none" strike="noStrike">
                <a:solidFill>
                  <a:srgbClr val="000000"/>
                </a:solidFill>
                <a:latin typeface="Times New Roman"/>
                <a:ea typeface="Times New Roman"/>
                <a:cs typeface="Times New Roman"/>
                <a:sym typeface="Times New Roman"/>
              </a:rPr>
              <a:t> </a:t>
            </a:r>
            <a:r>
              <a:rPr b="0" baseline="30000" i="0" lang="en-US" sz="2400" u="none" cap="none" strike="noStrike">
                <a:solidFill>
                  <a:srgbClr val="000000"/>
                </a:solidFill>
                <a:latin typeface="Arial"/>
                <a:ea typeface="Arial"/>
                <a:cs typeface="Arial"/>
                <a:sym typeface="Arial"/>
              </a:rPr>
              <a:t>z = 1</a:t>
            </a:r>
            <a:endParaRPr b="0" i="0" sz="1400" u="none" cap="none" strike="noStrike">
              <a:solidFill>
                <a:srgbClr val="000000"/>
              </a:solidFill>
              <a:latin typeface="Arial"/>
              <a:ea typeface="Arial"/>
              <a:cs typeface="Arial"/>
              <a:sym typeface="Arial"/>
            </a:endParaRPr>
          </a:p>
        </p:txBody>
      </p:sp>
      <p:sp>
        <p:nvSpPr>
          <p:cNvPr id="296" name="Google Shape;296;g1ead90bba03_0_55"/>
          <p:cNvSpPr txBox="1"/>
          <p:nvPr/>
        </p:nvSpPr>
        <p:spPr>
          <a:xfrm>
            <a:off x="7557937" y="2527500"/>
            <a:ext cx="758700" cy="3828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2400"/>
              <a:buFont typeface="Arial"/>
              <a:buNone/>
            </a:pPr>
            <a:r>
              <a:rPr b="0" baseline="30000" i="0" lang="en-US" sz="2400" u="none" cap="none" strike="noStrike">
                <a:solidFill>
                  <a:srgbClr val="000000"/>
                </a:solidFill>
                <a:latin typeface="Arial"/>
                <a:ea typeface="Arial"/>
                <a:cs typeface="Arial"/>
                <a:sym typeface="Arial"/>
              </a:rPr>
              <a:t>B </a:t>
            </a:r>
            <a:r>
              <a:rPr b="0" i="0" lang="en-US" sz="1700" u="none" cap="none" strike="noStrike">
                <a:solidFill>
                  <a:srgbClr val="000000"/>
                </a:solidFill>
                <a:latin typeface="Noto Sans Symbols"/>
                <a:ea typeface="Noto Sans Symbols"/>
                <a:cs typeface="Noto Sans Symbols"/>
                <a:sym typeface="Noto Sans Symbols"/>
              </a:rPr>
              <a:t>⁄</a:t>
            </a:r>
            <a:r>
              <a:rPr b="0" i="0" lang="en-US" sz="1700" u="none" cap="none" strike="noStrike">
                <a:solidFill>
                  <a:srgbClr val="000000"/>
                </a:solidFill>
                <a:latin typeface="Times New Roman"/>
                <a:ea typeface="Times New Roman"/>
                <a:cs typeface="Times New Roman"/>
                <a:sym typeface="Times New Roman"/>
              </a:rPr>
              <a:t> </a:t>
            </a:r>
            <a:r>
              <a:rPr b="0" baseline="30000" i="0" lang="en-US" sz="2400" u="none" cap="none" strike="noStrike">
                <a:solidFill>
                  <a:srgbClr val="000000"/>
                </a:solidFill>
                <a:latin typeface="Arial"/>
                <a:ea typeface="Arial"/>
                <a:cs typeface="Arial"/>
                <a:sym typeface="Arial"/>
              </a:rPr>
              <a:t>z = 0</a:t>
            </a:r>
            <a:endParaRPr b="0" i="0" sz="1400" u="none" cap="none" strike="noStrike">
              <a:solidFill>
                <a:srgbClr val="000000"/>
              </a:solidFill>
              <a:latin typeface="Arial"/>
              <a:ea typeface="Arial"/>
              <a:cs typeface="Arial"/>
              <a:sym typeface="Arial"/>
            </a:endParaRPr>
          </a:p>
        </p:txBody>
      </p:sp>
      <p:sp>
        <p:nvSpPr>
          <p:cNvPr id="297" name="Google Shape;297;g1ead90bba03_0_55"/>
          <p:cNvSpPr txBox="1"/>
          <p:nvPr/>
        </p:nvSpPr>
        <p:spPr>
          <a:xfrm>
            <a:off x="5140175" y="2527500"/>
            <a:ext cx="774600" cy="3828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2400"/>
              <a:buFont typeface="Arial"/>
              <a:buNone/>
            </a:pPr>
            <a:r>
              <a:rPr b="0" baseline="30000" i="0" lang="en-US" sz="2400" u="none" cap="none" strike="noStrike">
                <a:solidFill>
                  <a:srgbClr val="000000"/>
                </a:solidFill>
                <a:latin typeface="Arial"/>
                <a:ea typeface="Arial"/>
                <a:cs typeface="Arial"/>
                <a:sym typeface="Arial"/>
              </a:rPr>
              <a:t>A </a:t>
            </a:r>
            <a:r>
              <a:rPr b="0" i="0" lang="en-US" sz="1700" u="none" cap="none" strike="noStrike">
                <a:solidFill>
                  <a:srgbClr val="000000"/>
                </a:solidFill>
                <a:latin typeface="Noto Sans Symbols"/>
                <a:ea typeface="Noto Sans Symbols"/>
                <a:cs typeface="Noto Sans Symbols"/>
                <a:sym typeface="Noto Sans Symbols"/>
              </a:rPr>
              <a:t>⁄</a:t>
            </a:r>
            <a:r>
              <a:rPr b="0" i="0" lang="en-US" sz="1700" u="none" cap="none" strike="noStrike">
                <a:solidFill>
                  <a:srgbClr val="000000"/>
                </a:solidFill>
                <a:latin typeface="Times New Roman"/>
                <a:ea typeface="Times New Roman"/>
                <a:cs typeface="Times New Roman"/>
                <a:sym typeface="Times New Roman"/>
              </a:rPr>
              <a:t> </a:t>
            </a:r>
            <a:r>
              <a:rPr b="0" baseline="30000" i="0" lang="en-US" sz="2400" u="none" cap="none" strike="noStrike">
                <a:solidFill>
                  <a:srgbClr val="000000"/>
                </a:solidFill>
                <a:latin typeface="Arial"/>
                <a:ea typeface="Arial"/>
                <a:cs typeface="Arial"/>
                <a:sym typeface="Arial"/>
              </a:rPr>
              <a:t>z = 0</a:t>
            </a:r>
            <a:endParaRPr b="0" i="0" sz="1400" u="none" cap="none" strike="noStrike">
              <a:solidFill>
                <a:srgbClr val="000000"/>
              </a:solidFill>
              <a:latin typeface="Arial"/>
              <a:ea typeface="Arial"/>
              <a:cs typeface="Arial"/>
              <a:sym typeface="Arial"/>
            </a:endParaRPr>
          </a:p>
        </p:txBody>
      </p:sp>
      <p:sp>
        <p:nvSpPr>
          <p:cNvPr id="298" name="Google Shape;298;g1ead90bba03_0_55"/>
          <p:cNvSpPr txBox="1"/>
          <p:nvPr/>
        </p:nvSpPr>
        <p:spPr>
          <a:xfrm>
            <a:off x="5259237" y="1560712"/>
            <a:ext cx="1782900" cy="8601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Reset</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300"/>
              <a:buFont typeface="Calibri"/>
              <a:buNone/>
            </a:pPr>
            <a:r>
              <a:t/>
            </a:r>
            <a:endParaRPr b="0" i="0" sz="2300" u="none" cap="none" strike="noStrike">
              <a:solidFill>
                <a:srgbClr val="000000"/>
              </a:solidFill>
              <a:latin typeface="Arial"/>
              <a:ea typeface="Arial"/>
              <a:cs typeface="Arial"/>
              <a:sym typeface="Arial"/>
            </a:endParaRPr>
          </a:p>
          <a:p>
            <a:pPr indent="0" lvl="0" marL="12700" marR="0" rtl="0" algn="r">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w </a:t>
            </a:r>
            <a:r>
              <a:rPr b="0" i="0" lang="en-US" sz="1600" u="none" cap="none" strike="noStrike">
                <a:solidFill>
                  <a:srgbClr val="000000"/>
                </a:solidFill>
                <a:latin typeface="Arial"/>
                <a:ea typeface="Arial"/>
                <a:cs typeface="Arial"/>
                <a:sym typeface="Arial"/>
              </a:rPr>
              <a:t>= 1</a:t>
            </a:r>
            <a:endParaRPr b="0" i="0" sz="1400" u="none" cap="none" strike="noStrike">
              <a:solidFill>
                <a:srgbClr val="000000"/>
              </a:solidFill>
              <a:latin typeface="Arial"/>
              <a:ea typeface="Arial"/>
              <a:cs typeface="Arial"/>
              <a:sym typeface="Arial"/>
            </a:endParaRPr>
          </a:p>
        </p:txBody>
      </p:sp>
      <p:sp>
        <p:nvSpPr>
          <p:cNvPr id="299" name="Google Shape;299;g1ead90bba03_0_55"/>
          <p:cNvSpPr txBox="1"/>
          <p:nvPr/>
        </p:nvSpPr>
        <p:spPr>
          <a:xfrm>
            <a:off x="3735237" y="2533850"/>
            <a:ext cx="600000" cy="2598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w </a:t>
            </a:r>
            <a:r>
              <a:rPr b="0" i="0" lang="en-US" sz="1600" u="none" cap="none" strike="noStrike">
                <a:solidFill>
                  <a:srgbClr val="000000"/>
                </a:solidFill>
                <a:latin typeface="Arial"/>
                <a:ea typeface="Arial"/>
                <a:cs typeface="Arial"/>
                <a:sym typeface="Arial"/>
              </a:rPr>
              <a:t>= 0</a:t>
            </a:r>
            <a:endParaRPr b="0" i="0" sz="1400" u="none" cap="none" strike="noStrike">
              <a:solidFill>
                <a:srgbClr val="000000"/>
              </a:solidFill>
              <a:latin typeface="Arial"/>
              <a:ea typeface="Arial"/>
              <a:cs typeface="Arial"/>
              <a:sym typeface="Arial"/>
            </a:endParaRPr>
          </a:p>
        </p:txBody>
      </p:sp>
      <p:sp>
        <p:nvSpPr>
          <p:cNvPr id="300" name="Google Shape;300;g1ead90bba03_0_55"/>
          <p:cNvSpPr txBox="1"/>
          <p:nvPr/>
        </p:nvSpPr>
        <p:spPr>
          <a:xfrm>
            <a:off x="6424462" y="5559625"/>
            <a:ext cx="598500" cy="2598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w </a:t>
            </a:r>
            <a:r>
              <a:rPr b="0" i="0" lang="en-US" sz="1600" u="none" cap="none" strike="noStrike">
                <a:solidFill>
                  <a:srgbClr val="000000"/>
                </a:solidFill>
                <a:latin typeface="Arial"/>
                <a:ea typeface="Arial"/>
                <a:cs typeface="Arial"/>
                <a:sym typeface="Arial"/>
              </a:rPr>
              <a:t>= 1</a:t>
            </a:r>
            <a:endParaRPr b="0" i="0" sz="1400" u="none" cap="none" strike="noStrike">
              <a:solidFill>
                <a:srgbClr val="000000"/>
              </a:solidFill>
              <a:latin typeface="Arial"/>
              <a:ea typeface="Arial"/>
              <a:cs typeface="Arial"/>
              <a:sym typeface="Arial"/>
            </a:endParaRPr>
          </a:p>
        </p:txBody>
      </p:sp>
      <p:sp>
        <p:nvSpPr>
          <p:cNvPr id="301" name="Google Shape;301;g1ead90bba03_0_55"/>
          <p:cNvSpPr txBox="1"/>
          <p:nvPr/>
        </p:nvSpPr>
        <p:spPr>
          <a:xfrm>
            <a:off x="6441925" y="2975175"/>
            <a:ext cx="600000" cy="2598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w </a:t>
            </a:r>
            <a:r>
              <a:rPr b="0" i="0" lang="en-US" sz="1600" u="none" cap="none" strike="noStrike">
                <a:solidFill>
                  <a:srgbClr val="000000"/>
                </a:solidFill>
                <a:latin typeface="Arial"/>
                <a:ea typeface="Arial"/>
                <a:cs typeface="Arial"/>
                <a:sym typeface="Arial"/>
              </a:rPr>
              <a:t>= 0</a:t>
            </a:r>
            <a:endParaRPr b="0" i="0" sz="1400" u="none" cap="none" strike="noStrike">
              <a:solidFill>
                <a:srgbClr val="000000"/>
              </a:solidFill>
              <a:latin typeface="Arial"/>
              <a:ea typeface="Arial"/>
              <a:cs typeface="Arial"/>
              <a:sym typeface="Arial"/>
            </a:endParaRPr>
          </a:p>
        </p:txBody>
      </p:sp>
      <p:sp>
        <p:nvSpPr>
          <p:cNvPr id="302" name="Google Shape;302;g1ead90bba03_0_55"/>
          <p:cNvSpPr txBox="1"/>
          <p:nvPr/>
        </p:nvSpPr>
        <p:spPr>
          <a:xfrm>
            <a:off x="5308450" y="3502225"/>
            <a:ext cx="600000" cy="2598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w </a:t>
            </a:r>
            <a:r>
              <a:rPr b="0" i="0" lang="en-US" sz="1600" u="none" cap="none" strike="noStrike">
                <a:solidFill>
                  <a:srgbClr val="000000"/>
                </a:solidFill>
                <a:latin typeface="Arial"/>
                <a:ea typeface="Arial"/>
                <a:cs typeface="Arial"/>
                <a:sym typeface="Arial"/>
              </a:rPr>
              <a:t>= 0</a:t>
            </a:r>
            <a:endParaRPr b="0" i="0" sz="1400" u="none" cap="none" strike="noStrike">
              <a:solidFill>
                <a:srgbClr val="000000"/>
              </a:solidFill>
              <a:latin typeface="Arial"/>
              <a:ea typeface="Arial"/>
              <a:cs typeface="Arial"/>
              <a:sym typeface="Arial"/>
            </a:endParaRPr>
          </a:p>
        </p:txBody>
      </p:sp>
      <p:sp>
        <p:nvSpPr>
          <p:cNvPr id="303" name="Google Shape;303;g1ead90bba03_0_55"/>
          <p:cNvSpPr txBox="1"/>
          <p:nvPr/>
        </p:nvSpPr>
        <p:spPr>
          <a:xfrm>
            <a:off x="7534125" y="3495875"/>
            <a:ext cx="598500" cy="2598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w </a:t>
            </a:r>
            <a:r>
              <a:rPr b="0" i="0" lang="en-US" sz="1600" u="none" cap="none" strike="noStrike">
                <a:solidFill>
                  <a:srgbClr val="000000"/>
                </a:solidFill>
                <a:latin typeface="Arial"/>
                <a:ea typeface="Arial"/>
                <a:cs typeface="Arial"/>
                <a:sym typeface="Arial"/>
              </a:rPr>
              <a:t>= 1</a:t>
            </a:r>
            <a:endParaRPr b="0" i="0" sz="1400" u="none" cap="none" strike="noStrike">
              <a:solidFill>
                <a:srgbClr val="000000"/>
              </a:solidFill>
              <a:latin typeface="Arial"/>
              <a:ea typeface="Arial"/>
              <a:cs typeface="Arial"/>
              <a:sym typeface="Arial"/>
            </a:endParaRPr>
          </a:p>
        </p:txBody>
      </p:sp>
      <p:sp>
        <p:nvSpPr>
          <p:cNvPr id="304" name="Google Shape;304;g1ead90bba03_0_55"/>
          <p:cNvSpPr txBox="1"/>
          <p:nvPr>
            <p:ph type="title"/>
          </p:nvPr>
        </p:nvSpPr>
        <p:spPr>
          <a:xfrm>
            <a:off x="715475" y="112600"/>
            <a:ext cx="96240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dk1"/>
              </a:buClr>
              <a:buSzPts val="2400"/>
              <a:buFont typeface="Times New Roman"/>
              <a:buNone/>
            </a:pPr>
            <a:r>
              <a:rPr b="1" i="0" lang="en-US" sz="2500" u="none">
                <a:solidFill>
                  <a:schemeClr val="dk1"/>
                </a:solidFill>
              </a:rPr>
              <a:t>Example 2: A </a:t>
            </a:r>
            <a:r>
              <a:rPr b="1" lang="en-US" sz="2500"/>
              <a:t>S</a:t>
            </a:r>
            <a:r>
              <a:rPr b="1" i="0" lang="en-US" sz="2500" u="none">
                <a:solidFill>
                  <a:schemeClr val="dk1"/>
                </a:solidFill>
              </a:rPr>
              <a:t>imple </a:t>
            </a:r>
            <a:r>
              <a:rPr b="1" lang="en-US" sz="2500"/>
              <a:t>I</a:t>
            </a:r>
            <a:r>
              <a:rPr b="1" i="0" lang="en-US" sz="2500" u="none">
                <a:solidFill>
                  <a:schemeClr val="dk1"/>
                </a:solidFill>
              </a:rPr>
              <a:t>nput </a:t>
            </a:r>
            <a:r>
              <a:rPr b="1" lang="en-US" sz="2500"/>
              <a:t>P</a:t>
            </a:r>
            <a:r>
              <a:rPr b="1" i="0" lang="en-US" sz="2500" u="none">
                <a:solidFill>
                  <a:schemeClr val="dk1"/>
                </a:solidFill>
              </a:rPr>
              <a:t>attern (</a:t>
            </a:r>
            <a:r>
              <a:rPr b="1" lang="en-US" sz="2500"/>
              <a:t>‘</a:t>
            </a:r>
            <a:r>
              <a:rPr b="1" i="0" lang="en-US" sz="2500" u="none">
                <a:solidFill>
                  <a:schemeClr val="dk1"/>
                </a:solidFill>
              </a:rPr>
              <a:t>11</a:t>
            </a:r>
            <a:r>
              <a:rPr b="1" lang="en-US" sz="2500"/>
              <a:t>’ </a:t>
            </a:r>
            <a:r>
              <a:rPr b="1" lang="en-US" sz="2600"/>
              <a:t>Overlapping </a:t>
            </a:r>
            <a:r>
              <a:rPr b="1" lang="en-US" sz="2500"/>
              <a:t>Sequence</a:t>
            </a:r>
            <a:r>
              <a:rPr b="1" i="0" lang="en-US" sz="2500" u="none">
                <a:solidFill>
                  <a:schemeClr val="dk1"/>
                </a:solidFill>
              </a:rPr>
              <a:t>) </a:t>
            </a:r>
            <a:r>
              <a:rPr b="1" lang="en-US" sz="2600"/>
              <a:t>Detection Circuit - Moore Type</a:t>
            </a:r>
            <a:endParaRPr b="1" sz="2500"/>
          </a:p>
        </p:txBody>
      </p:sp>
      <p:sp>
        <p:nvSpPr>
          <p:cNvPr id="305" name="Google Shape;305;g1ead90bba03_0_55"/>
          <p:cNvSpPr txBox="1"/>
          <p:nvPr/>
        </p:nvSpPr>
        <p:spPr>
          <a:xfrm>
            <a:off x="588275" y="1195500"/>
            <a:ext cx="3000000" cy="569400"/>
          </a:xfrm>
          <a:prstGeom prst="rect">
            <a:avLst/>
          </a:prstGeom>
          <a:noFill/>
          <a:ln>
            <a:noFill/>
          </a:ln>
        </p:spPr>
        <p:txBody>
          <a:bodyPr anchorCtr="0" anchor="t" bIns="91425" lIns="91425" spcFirstLastPara="1" rIns="91425" wrap="square" tIns="91425">
            <a:spAutoFit/>
          </a:bodyPr>
          <a:lstStyle/>
          <a:p>
            <a:pPr indent="0" lvl="0" marL="12700" marR="0" rtl="0" algn="l">
              <a:lnSpc>
                <a:spcPct val="100000"/>
              </a:lnSpc>
              <a:spcBef>
                <a:spcPts val="0"/>
              </a:spcBef>
              <a:spcAft>
                <a:spcPts val="0"/>
              </a:spcAft>
              <a:buClr>
                <a:srgbClr val="000000"/>
              </a:buClr>
              <a:buSzPts val="2500"/>
              <a:buFont typeface="Arial"/>
              <a:buNone/>
            </a:pPr>
            <a:r>
              <a:rPr b="1" i="0" lang="en-US" sz="2500" u="sng" cap="none" strike="noStrike">
                <a:solidFill>
                  <a:schemeClr val="dk1"/>
                </a:solidFill>
                <a:latin typeface="Times New Roman"/>
                <a:ea typeface="Times New Roman"/>
                <a:cs typeface="Times New Roman"/>
                <a:sym typeface="Times New Roman"/>
              </a:rPr>
              <a:t>State Diagram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1ead90bba03_0_76"/>
          <p:cNvSpPr txBox="1"/>
          <p:nvPr>
            <p:ph type="title"/>
          </p:nvPr>
        </p:nvSpPr>
        <p:spPr>
          <a:xfrm>
            <a:off x="1279525" y="431275"/>
            <a:ext cx="9166800" cy="797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dk1"/>
              </a:buClr>
              <a:buSzPts val="2400"/>
              <a:buFont typeface="Times New Roman"/>
              <a:buNone/>
            </a:pPr>
            <a:r>
              <a:rPr b="1" i="0" lang="en-US" sz="2500" u="none">
                <a:solidFill>
                  <a:schemeClr val="dk1"/>
                </a:solidFill>
              </a:rPr>
              <a:t>Example 2: A </a:t>
            </a:r>
            <a:r>
              <a:rPr b="1" lang="en-US" sz="2500"/>
              <a:t>S</a:t>
            </a:r>
            <a:r>
              <a:rPr b="1" i="0" lang="en-US" sz="2500" u="none">
                <a:solidFill>
                  <a:schemeClr val="dk1"/>
                </a:solidFill>
              </a:rPr>
              <a:t>imple </a:t>
            </a:r>
            <a:r>
              <a:rPr b="1" lang="en-US" sz="2500"/>
              <a:t>I</a:t>
            </a:r>
            <a:r>
              <a:rPr b="1" i="0" lang="en-US" sz="2500" u="none">
                <a:solidFill>
                  <a:schemeClr val="dk1"/>
                </a:solidFill>
              </a:rPr>
              <a:t>nput </a:t>
            </a:r>
            <a:r>
              <a:rPr b="1" lang="en-US" sz="2500"/>
              <a:t>P</a:t>
            </a:r>
            <a:r>
              <a:rPr b="1" i="0" lang="en-US" sz="2500" u="none">
                <a:solidFill>
                  <a:schemeClr val="dk1"/>
                </a:solidFill>
              </a:rPr>
              <a:t>attern (</a:t>
            </a:r>
            <a:r>
              <a:rPr b="1" lang="en-US" sz="2500"/>
              <a:t>‘</a:t>
            </a:r>
            <a:r>
              <a:rPr b="1" i="0" lang="en-US" sz="2500" u="none">
                <a:solidFill>
                  <a:schemeClr val="dk1"/>
                </a:solidFill>
              </a:rPr>
              <a:t>11</a:t>
            </a:r>
            <a:r>
              <a:rPr b="1" lang="en-US" sz="2500"/>
              <a:t>’ </a:t>
            </a:r>
            <a:r>
              <a:rPr b="1" lang="en-US" sz="2600"/>
              <a:t>Overlapping</a:t>
            </a:r>
            <a:r>
              <a:rPr b="1" lang="en-US" sz="2500"/>
              <a:t> Sequence</a:t>
            </a:r>
            <a:r>
              <a:rPr b="1" i="0" lang="en-US" sz="2500" u="none">
                <a:solidFill>
                  <a:schemeClr val="dk1"/>
                </a:solidFill>
              </a:rPr>
              <a:t>) </a:t>
            </a:r>
            <a:r>
              <a:rPr b="1" lang="en-US" sz="2500"/>
              <a:t>D</a:t>
            </a:r>
            <a:r>
              <a:rPr b="1" i="0" lang="en-US" sz="2500" u="none">
                <a:solidFill>
                  <a:schemeClr val="dk1"/>
                </a:solidFill>
              </a:rPr>
              <a:t>etection </a:t>
            </a:r>
            <a:r>
              <a:rPr b="1" lang="en-US" sz="2500"/>
              <a:t>C</a:t>
            </a:r>
            <a:r>
              <a:rPr b="1" i="0" lang="en-US" sz="2500" u="none">
                <a:solidFill>
                  <a:schemeClr val="dk1"/>
                </a:solidFill>
              </a:rPr>
              <a:t>ircuit [</a:t>
            </a:r>
            <a:r>
              <a:rPr b="1" i="0" lang="en-US" sz="2500" u="sng">
                <a:solidFill>
                  <a:schemeClr val="dk1"/>
                </a:solidFill>
              </a:rPr>
              <a:t>State </a:t>
            </a:r>
            <a:r>
              <a:rPr b="1" lang="en-US" sz="2500" u="sng"/>
              <a:t>Table</a:t>
            </a:r>
            <a:r>
              <a:rPr b="1" i="0" lang="en-US" sz="2500" u="none">
                <a:solidFill>
                  <a:schemeClr val="dk1"/>
                </a:solidFill>
              </a:rPr>
              <a:t>]</a:t>
            </a:r>
            <a:endParaRPr b="1" sz="2500"/>
          </a:p>
        </p:txBody>
      </p:sp>
      <p:sp>
        <p:nvSpPr>
          <p:cNvPr id="311" name="Google Shape;311;g1ead90bba03_0_76"/>
          <p:cNvSpPr txBox="1"/>
          <p:nvPr/>
        </p:nvSpPr>
        <p:spPr>
          <a:xfrm>
            <a:off x="1866238" y="5301462"/>
            <a:ext cx="7539000" cy="35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Times New Roman"/>
              <a:buNone/>
            </a:pPr>
            <a:r>
              <a:rPr b="0" i="0" lang="en-US" sz="2200" u="none" cap="none" strike="noStrike">
                <a:solidFill>
                  <a:srgbClr val="000000"/>
                </a:solidFill>
                <a:latin typeface="Times New Roman"/>
                <a:ea typeface="Times New Roman"/>
                <a:cs typeface="Times New Roman"/>
                <a:sym typeface="Times New Roman"/>
              </a:rPr>
              <a:t>Figure 6:	State table for the sequential circuit in Figure 5.</a:t>
            </a:r>
            <a:endParaRPr b="0" i="0" sz="1200" u="none" cap="none" strike="noStrike">
              <a:solidFill>
                <a:srgbClr val="000000"/>
              </a:solidFill>
              <a:latin typeface="Arial"/>
              <a:ea typeface="Arial"/>
              <a:cs typeface="Arial"/>
              <a:sym typeface="Arial"/>
            </a:endParaRPr>
          </a:p>
        </p:txBody>
      </p:sp>
      <p:sp>
        <p:nvSpPr>
          <p:cNvPr id="312" name="Google Shape;312;g1ead90bba03_0_76"/>
          <p:cNvSpPr/>
          <p:nvPr/>
        </p:nvSpPr>
        <p:spPr>
          <a:xfrm>
            <a:off x="2155950" y="2464625"/>
            <a:ext cx="28568" cy="2331720"/>
          </a:xfrm>
          <a:custGeom>
            <a:rect b="b" l="l" r="r" t="t"/>
            <a:pathLst>
              <a:path extrusionOk="0" h="2331720" w="27939">
                <a:moveTo>
                  <a:pt x="27432" y="0"/>
                </a:moveTo>
                <a:lnTo>
                  <a:pt x="0" y="0"/>
                </a:lnTo>
                <a:lnTo>
                  <a:pt x="0" y="542544"/>
                </a:lnTo>
                <a:lnTo>
                  <a:pt x="0" y="554736"/>
                </a:lnTo>
                <a:lnTo>
                  <a:pt x="0" y="2331720"/>
                </a:lnTo>
                <a:lnTo>
                  <a:pt x="27432" y="2331720"/>
                </a:lnTo>
                <a:lnTo>
                  <a:pt x="27432" y="6096"/>
                </a:lnTo>
                <a:lnTo>
                  <a:pt x="2743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 name="Google Shape;313;g1ead90bba03_0_76"/>
          <p:cNvSpPr/>
          <p:nvPr/>
        </p:nvSpPr>
        <p:spPr>
          <a:xfrm>
            <a:off x="6804150" y="2464625"/>
            <a:ext cx="28569" cy="2331720"/>
          </a:xfrm>
          <a:custGeom>
            <a:rect b="b" l="l" r="r" t="t"/>
            <a:pathLst>
              <a:path extrusionOk="0" h="2331720" w="27940">
                <a:moveTo>
                  <a:pt x="27432" y="0"/>
                </a:moveTo>
                <a:lnTo>
                  <a:pt x="0" y="0"/>
                </a:lnTo>
                <a:lnTo>
                  <a:pt x="0" y="542544"/>
                </a:lnTo>
                <a:lnTo>
                  <a:pt x="0" y="554736"/>
                </a:lnTo>
                <a:lnTo>
                  <a:pt x="0" y="2331720"/>
                </a:lnTo>
                <a:lnTo>
                  <a:pt x="27432" y="2331720"/>
                </a:lnTo>
                <a:lnTo>
                  <a:pt x="27432" y="6096"/>
                </a:lnTo>
                <a:lnTo>
                  <a:pt x="2743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4" name="Google Shape;314;g1ead90bba03_0_76"/>
          <p:cNvSpPr/>
          <p:nvPr/>
        </p:nvSpPr>
        <p:spPr>
          <a:xfrm>
            <a:off x="3398962" y="4375975"/>
            <a:ext cx="28568" cy="421004"/>
          </a:xfrm>
          <a:custGeom>
            <a:rect b="b" l="l" r="r" t="t"/>
            <a:pathLst>
              <a:path extrusionOk="0" h="421004" w="27939">
                <a:moveTo>
                  <a:pt x="27431" y="0"/>
                </a:moveTo>
                <a:lnTo>
                  <a:pt x="0" y="0"/>
                </a:lnTo>
                <a:lnTo>
                  <a:pt x="0" y="420624"/>
                </a:lnTo>
                <a:lnTo>
                  <a:pt x="27431" y="420624"/>
                </a:lnTo>
                <a:lnTo>
                  <a:pt x="27431" y="414527"/>
                </a:lnTo>
                <a:lnTo>
                  <a:pt x="12191" y="414527"/>
                </a:lnTo>
                <a:lnTo>
                  <a:pt x="6095" y="408431"/>
                </a:lnTo>
                <a:lnTo>
                  <a:pt x="12191" y="408431"/>
                </a:lnTo>
                <a:lnTo>
                  <a:pt x="12191" y="12191"/>
                </a:lnTo>
                <a:lnTo>
                  <a:pt x="6095" y="12191"/>
                </a:lnTo>
                <a:lnTo>
                  <a:pt x="12191" y="6096"/>
                </a:lnTo>
                <a:lnTo>
                  <a:pt x="27431" y="6096"/>
                </a:lnTo>
                <a:lnTo>
                  <a:pt x="27431" y="0"/>
                </a:lnTo>
                <a:close/>
              </a:path>
              <a:path extrusionOk="0" h="421004" w="27939">
                <a:moveTo>
                  <a:pt x="12191" y="408431"/>
                </a:moveTo>
                <a:lnTo>
                  <a:pt x="6095" y="408431"/>
                </a:lnTo>
                <a:lnTo>
                  <a:pt x="12191" y="414527"/>
                </a:lnTo>
                <a:lnTo>
                  <a:pt x="12191" y="408431"/>
                </a:lnTo>
                <a:close/>
              </a:path>
              <a:path extrusionOk="0" h="421004" w="27939">
                <a:moveTo>
                  <a:pt x="15239" y="408431"/>
                </a:moveTo>
                <a:lnTo>
                  <a:pt x="12191" y="408431"/>
                </a:lnTo>
                <a:lnTo>
                  <a:pt x="12191" y="414527"/>
                </a:lnTo>
                <a:lnTo>
                  <a:pt x="15239" y="414527"/>
                </a:lnTo>
                <a:lnTo>
                  <a:pt x="15239" y="408431"/>
                </a:lnTo>
                <a:close/>
              </a:path>
              <a:path extrusionOk="0" h="421004" w="27939">
                <a:moveTo>
                  <a:pt x="15239" y="6096"/>
                </a:moveTo>
                <a:lnTo>
                  <a:pt x="15239" y="414527"/>
                </a:lnTo>
                <a:lnTo>
                  <a:pt x="21336" y="408431"/>
                </a:lnTo>
                <a:lnTo>
                  <a:pt x="27431" y="408431"/>
                </a:lnTo>
                <a:lnTo>
                  <a:pt x="27431" y="12191"/>
                </a:lnTo>
                <a:lnTo>
                  <a:pt x="21336" y="12191"/>
                </a:lnTo>
                <a:lnTo>
                  <a:pt x="15239" y="6096"/>
                </a:lnTo>
                <a:close/>
              </a:path>
              <a:path extrusionOk="0" h="421004" w="27939">
                <a:moveTo>
                  <a:pt x="27431" y="408431"/>
                </a:moveTo>
                <a:lnTo>
                  <a:pt x="21336" y="408431"/>
                </a:lnTo>
                <a:lnTo>
                  <a:pt x="15239" y="414527"/>
                </a:lnTo>
                <a:lnTo>
                  <a:pt x="27431" y="414527"/>
                </a:lnTo>
                <a:lnTo>
                  <a:pt x="27431" y="408431"/>
                </a:lnTo>
                <a:close/>
              </a:path>
              <a:path extrusionOk="0" h="421004" w="27939">
                <a:moveTo>
                  <a:pt x="12191" y="6096"/>
                </a:moveTo>
                <a:lnTo>
                  <a:pt x="6095" y="12191"/>
                </a:lnTo>
                <a:lnTo>
                  <a:pt x="12191" y="12191"/>
                </a:lnTo>
                <a:lnTo>
                  <a:pt x="12191" y="6096"/>
                </a:lnTo>
                <a:close/>
              </a:path>
              <a:path extrusionOk="0" h="421004" w="27939">
                <a:moveTo>
                  <a:pt x="15239" y="6096"/>
                </a:moveTo>
                <a:lnTo>
                  <a:pt x="12191" y="6096"/>
                </a:lnTo>
                <a:lnTo>
                  <a:pt x="12191" y="12191"/>
                </a:lnTo>
                <a:lnTo>
                  <a:pt x="15239" y="12191"/>
                </a:lnTo>
                <a:lnTo>
                  <a:pt x="15239" y="6096"/>
                </a:lnTo>
                <a:close/>
              </a:path>
              <a:path extrusionOk="0" h="421004" w="27939">
                <a:moveTo>
                  <a:pt x="27431" y="6096"/>
                </a:moveTo>
                <a:lnTo>
                  <a:pt x="15239" y="6096"/>
                </a:lnTo>
                <a:lnTo>
                  <a:pt x="21336" y="12191"/>
                </a:lnTo>
                <a:lnTo>
                  <a:pt x="27431" y="12191"/>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 name="Google Shape;315;g1ead90bba03_0_76"/>
          <p:cNvSpPr/>
          <p:nvPr/>
        </p:nvSpPr>
        <p:spPr>
          <a:xfrm>
            <a:off x="5621462" y="4375975"/>
            <a:ext cx="28568" cy="421004"/>
          </a:xfrm>
          <a:custGeom>
            <a:rect b="b" l="l" r="r" t="t"/>
            <a:pathLst>
              <a:path extrusionOk="0" h="421004" w="27939">
                <a:moveTo>
                  <a:pt x="27432" y="0"/>
                </a:moveTo>
                <a:lnTo>
                  <a:pt x="0" y="0"/>
                </a:lnTo>
                <a:lnTo>
                  <a:pt x="0" y="420624"/>
                </a:lnTo>
                <a:lnTo>
                  <a:pt x="27432" y="420624"/>
                </a:lnTo>
                <a:lnTo>
                  <a:pt x="27432" y="414527"/>
                </a:lnTo>
                <a:lnTo>
                  <a:pt x="12191" y="414527"/>
                </a:lnTo>
                <a:lnTo>
                  <a:pt x="6096" y="408431"/>
                </a:lnTo>
                <a:lnTo>
                  <a:pt x="12191" y="408431"/>
                </a:lnTo>
                <a:lnTo>
                  <a:pt x="12191" y="12191"/>
                </a:lnTo>
                <a:lnTo>
                  <a:pt x="6096" y="12191"/>
                </a:lnTo>
                <a:lnTo>
                  <a:pt x="12191" y="6096"/>
                </a:lnTo>
                <a:lnTo>
                  <a:pt x="27432" y="6096"/>
                </a:lnTo>
                <a:lnTo>
                  <a:pt x="27432" y="0"/>
                </a:lnTo>
                <a:close/>
              </a:path>
              <a:path extrusionOk="0" h="421004" w="27939">
                <a:moveTo>
                  <a:pt x="12191" y="408431"/>
                </a:moveTo>
                <a:lnTo>
                  <a:pt x="6096" y="408431"/>
                </a:lnTo>
                <a:lnTo>
                  <a:pt x="12191" y="414527"/>
                </a:lnTo>
                <a:lnTo>
                  <a:pt x="12191" y="408431"/>
                </a:lnTo>
                <a:close/>
              </a:path>
              <a:path extrusionOk="0" h="421004" w="27939">
                <a:moveTo>
                  <a:pt x="15239" y="408431"/>
                </a:moveTo>
                <a:lnTo>
                  <a:pt x="12191" y="408431"/>
                </a:lnTo>
                <a:lnTo>
                  <a:pt x="12191" y="414527"/>
                </a:lnTo>
                <a:lnTo>
                  <a:pt x="15239" y="414527"/>
                </a:lnTo>
                <a:lnTo>
                  <a:pt x="15239" y="408431"/>
                </a:lnTo>
                <a:close/>
              </a:path>
              <a:path extrusionOk="0" h="421004" w="27939">
                <a:moveTo>
                  <a:pt x="15239" y="6096"/>
                </a:moveTo>
                <a:lnTo>
                  <a:pt x="15239" y="414527"/>
                </a:lnTo>
                <a:lnTo>
                  <a:pt x="21336" y="408431"/>
                </a:lnTo>
                <a:lnTo>
                  <a:pt x="27432" y="408431"/>
                </a:lnTo>
                <a:lnTo>
                  <a:pt x="27432" y="12191"/>
                </a:lnTo>
                <a:lnTo>
                  <a:pt x="21336" y="12191"/>
                </a:lnTo>
                <a:lnTo>
                  <a:pt x="15239" y="6096"/>
                </a:lnTo>
                <a:close/>
              </a:path>
              <a:path extrusionOk="0" h="421004" w="27939">
                <a:moveTo>
                  <a:pt x="27432" y="408431"/>
                </a:moveTo>
                <a:lnTo>
                  <a:pt x="21336" y="408431"/>
                </a:lnTo>
                <a:lnTo>
                  <a:pt x="15239" y="414527"/>
                </a:lnTo>
                <a:lnTo>
                  <a:pt x="27432" y="414527"/>
                </a:lnTo>
                <a:lnTo>
                  <a:pt x="27432" y="408431"/>
                </a:lnTo>
                <a:close/>
              </a:path>
              <a:path extrusionOk="0" h="421004" w="27939">
                <a:moveTo>
                  <a:pt x="12191" y="6096"/>
                </a:moveTo>
                <a:lnTo>
                  <a:pt x="6096" y="12191"/>
                </a:lnTo>
                <a:lnTo>
                  <a:pt x="12191" y="12191"/>
                </a:lnTo>
                <a:lnTo>
                  <a:pt x="12191" y="6096"/>
                </a:lnTo>
                <a:close/>
              </a:path>
              <a:path extrusionOk="0" h="421004" w="27939">
                <a:moveTo>
                  <a:pt x="15239" y="6096"/>
                </a:moveTo>
                <a:lnTo>
                  <a:pt x="12191" y="6096"/>
                </a:lnTo>
                <a:lnTo>
                  <a:pt x="12191" y="12191"/>
                </a:lnTo>
                <a:lnTo>
                  <a:pt x="15239" y="12191"/>
                </a:lnTo>
                <a:lnTo>
                  <a:pt x="15239" y="6096"/>
                </a:lnTo>
                <a:close/>
              </a:path>
              <a:path extrusionOk="0" h="421004" w="27939">
                <a:moveTo>
                  <a:pt x="27432" y="6096"/>
                </a:moveTo>
                <a:lnTo>
                  <a:pt x="15239" y="6096"/>
                </a:lnTo>
                <a:lnTo>
                  <a:pt x="21336" y="12191"/>
                </a:lnTo>
                <a:lnTo>
                  <a:pt x="27432" y="12191"/>
                </a:lnTo>
                <a:lnTo>
                  <a:pt x="27432"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aphicFrame>
        <p:nvGraphicFramePr>
          <p:cNvPr id="316" name="Google Shape;316;g1ead90bba03_0_76"/>
          <p:cNvGraphicFramePr/>
          <p:nvPr/>
        </p:nvGraphicFramePr>
        <p:xfrm>
          <a:off x="2165475" y="2431287"/>
          <a:ext cx="3000000" cy="3000000"/>
        </p:xfrm>
        <a:graphic>
          <a:graphicData uri="http://schemas.openxmlformats.org/drawingml/2006/table">
            <a:tbl>
              <a:tblPr>
                <a:noFill/>
                <a:tableStyleId>{88476B5D-2711-416F-9EB7-66369C930DE7}</a:tableStyleId>
              </a:tblPr>
              <a:tblGrid>
                <a:gridCol w="1262050"/>
                <a:gridCol w="338000"/>
                <a:gridCol w="382850"/>
                <a:gridCol w="383450"/>
                <a:gridCol w="401925"/>
                <a:gridCol w="382850"/>
                <a:gridCol w="333425"/>
                <a:gridCol w="1198275"/>
              </a:tblGrid>
              <a:tr h="561975">
                <a:tc rowSpan="2">
                  <a:txBody>
                    <a:bodyPr/>
                    <a:lstStyle/>
                    <a:p>
                      <a:pPr indent="-165100" lvl="0" marL="352425" marR="0" rtl="0" algn="l">
                        <a:lnSpc>
                          <a:spcPct val="108695"/>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Present  state</a:t>
                      </a:r>
                      <a:endParaRPr sz="1400" u="none" cap="none" strike="noStrike"/>
                    </a:p>
                  </a:txBody>
                  <a:tcPr marT="269250" marB="0" marR="0" marL="0">
                    <a:lnL cap="flat" cmpd="sng" w="127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gridSpan="6">
                  <a:txBody>
                    <a:bodyPr/>
                    <a:lstStyle/>
                    <a:p>
                      <a:pPr indent="0" lvl="0" marL="512762"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Next state</a:t>
                      </a:r>
                      <a:endParaRPr sz="1400" u="none" cap="none" strike="noStrike"/>
                    </a:p>
                  </a:txBody>
                  <a:tcPr marT="132075"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hMerge="1"/>
                <a:tc hMerge="1"/>
                <a:tc hMerge="1"/>
                <a:tc hMerge="1"/>
                <a:tc rowSpan="2">
                  <a:txBody>
                    <a:bodyPr/>
                    <a:lstStyle/>
                    <a:p>
                      <a:pPr indent="0" lvl="0" marL="174625" marR="0" rtl="0" algn="l">
                        <a:lnSpc>
                          <a:spcPct val="113043"/>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Output</a:t>
                      </a:r>
                      <a:endParaRPr sz="1400" u="none" cap="none" strike="noStrike"/>
                    </a:p>
                    <a:p>
                      <a:pPr indent="0" lvl="0" marL="174625" marR="0" rtl="0" algn="ctr">
                        <a:lnSpc>
                          <a:spcPct val="112500"/>
                        </a:lnSpc>
                        <a:spcBef>
                          <a:spcPts val="0"/>
                        </a:spcBef>
                        <a:spcAft>
                          <a:spcPts val="0"/>
                        </a:spcAft>
                        <a:buClr>
                          <a:srgbClr val="000000"/>
                        </a:buClr>
                        <a:buSzPts val="2400"/>
                        <a:buFont typeface="Times New Roman"/>
                        <a:buNone/>
                      </a:pPr>
                      <a:r>
                        <a:rPr i="1" lang="en-US" sz="2400" u="none" cap="none" strike="noStrike">
                          <a:latin typeface="Times New Roman"/>
                          <a:ea typeface="Times New Roman"/>
                          <a:cs typeface="Times New Roman"/>
                          <a:sym typeface="Times New Roman"/>
                        </a:rPr>
                        <a:t>z</a:t>
                      </a:r>
                      <a:endParaRPr sz="1400" u="none" cap="none" strike="noStrike"/>
                    </a:p>
                  </a:txBody>
                  <a:tcPr marT="238125"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33400">
                <a:tc vMerge="1"/>
                <a:tc>
                  <a:txBody>
                    <a:bodyPr/>
                    <a:lstStyle/>
                    <a:p>
                      <a:pPr indent="0" lvl="0" marL="168275" marR="0" rtl="0" algn="l">
                        <a:lnSpc>
                          <a:spcPct val="100000"/>
                        </a:lnSpc>
                        <a:spcBef>
                          <a:spcPts val="0"/>
                        </a:spcBef>
                        <a:spcAft>
                          <a:spcPts val="0"/>
                        </a:spcAft>
                        <a:buClr>
                          <a:srgbClr val="000000"/>
                        </a:buClr>
                        <a:buSzPts val="2400"/>
                        <a:buFont typeface="Times New Roman"/>
                        <a:buNone/>
                      </a:pPr>
                      <a:r>
                        <a:rPr b="0" i="1" lang="en-US" sz="2400" u="none" cap="none" strike="noStrike">
                          <a:solidFill>
                            <a:srgbClr val="000000"/>
                          </a:solidFill>
                          <a:latin typeface="Times New Roman"/>
                          <a:ea typeface="Times New Roman"/>
                          <a:cs typeface="Times New Roman"/>
                          <a:sym typeface="Times New Roman"/>
                        </a:rPr>
                        <a:t>w</a:t>
                      </a:r>
                      <a:endParaRPr sz="1400" u="none" cap="none" strike="noStrike"/>
                    </a:p>
                  </a:txBody>
                  <a:tcPr marT="107950" marB="0" marR="0" marL="0">
                    <a:lnL cap="flat" cmpd="sng" w="19050">
                      <a:solidFill>
                        <a:srgbClr val="000000"/>
                      </a:solidFill>
                      <a:prstDash val="solid"/>
                      <a:round/>
                      <a:headEnd len="sm" w="sm" type="none"/>
                      <a:tailEnd len="sm" w="sm" type="none"/>
                    </a:lnL>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65086" marR="0" rtl="0" algn="l">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a:t>
                      </a:r>
                      <a:endParaRPr sz="1400" u="none" cap="none" strike="noStrike"/>
                    </a:p>
                  </a:txBody>
                  <a:tcPr marT="107950" marB="0" marR="0" marL="0">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68262" marR="0" rtl="0" algn="l">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0</a:t>
                      </a:r>
                      <a:endParaRPr sz="1400" u="none" cap="none" strike="noStrike"/>
                    </a:p>
                  </a:txBody>
                  <a:tcPr marT="107950" marB="0" marR="0" marL="0">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173037" marR="0" rtl="0" algn="l">
                        <a:lnSpc>
                          <a:spcPct val="100000"/>
                        </a:lnSpc>
                        <a:spcBef>
                          <a:spcPts val="0"/>
                        </a:spcBef>
                        <a:spcAft>
                          <a:spcPts val="0"/>
                        </a:spcAft>
                        <a:buClr>
                          <a:srgbClr val="000000"/>
                        </a:buClr>
                        <a:buSzPts val="2400"/>
                        <a:buFont typeface="Times New Roman"/>
                        <a:buNone/>
                      </a:pPr>
                      <a:r>
                        <a:rPr b="0" i="1" lang="en-US" sz="2400" u="none" cap="none" strike="noStrike">
                          <a:solidFill>
                            <a:srgbClr val="000000"/>
                          </a:solidFill>
                          <a:latin typeface="Times New Roman"/>
                          <a:ea typeface="Times New Roman"/>
                          <a:cs typeface="Times New Roman"/>
                          <a:sym typeface="Times New Roman"/>
                        </a:rPr>
                        <a:t>w</a:t>
                      </a:r>
                      <a:endParaRPr sz="1400" u="none" cap="none" strike="noStrike"/>
                    </a:p>
                  </a:txBody>
                  <a:tcPr marT="107950" marB="0" marR="0" marL="0">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55561" marR="0" rtl="0" algn="l">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a:t>
                      </a:r>
                      <a:endParaRPr sz="1400" u="none" cap="none" strike="noStrike"/>
                    </a:p>
                  </a:txBody>
                  <a:tcPr marT="107950" marB="0" marR="0" marL="0">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1</a:t>
                      </a:r>
                      <a:endParaRPr sz="1400" u="none" cap="none" strike="noStrike"/>
                    </a:p>
                  </a:txBody>
                  <a:tcPr marT="107950" marB="0" marR="0" marL="0">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vMerge="1"/>
              </a:tr>
              <a:tr h="481000">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A</a:t>
                      </a:r>
                      <a:endParaRPr sz="1400" u="none" cap="none" strike="noStrike"/>
                    </a:p>
                  </a:txBody>
                  <a:tcPr marT="114300" marB="0" marR="0" marL="0">
                    <a:lnL cap="flat" cmpd="sng" w="127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tcPr>
                </a:tc>
                <a:tc gridSpan="2">
                  <a:txBody>
                    <a:bodyPr/>
                    <a:lstStyle/>
                    <a:p>
                      <a:pPr indent="0" lvl="0" marL="442912"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A</a:t>
                      </a:r>
                      <a:endParaRPr sz="1400" u="none" cap="none" strike="noStrike"/>
                    </a:p>
                  </a:txBody>
                  <a:tcPr marT="114300" marB="0" marR="0" marL="0">
                    <a:lnL cap="flat" cmpd="sng" w="19050">
                      <a:solidFill>
                        <a:srgbClr val="000000"/>
                      </a:solidFill>
                      <a:prstDash val="solid"/>
                      <a:round/>
                      <a:headEnd len="sm" w="sm" type="none"/>
                      <a:tailEnd len="sm" w="sm" type="none"/>
                    </a:lnL>
                    <a:lnT cap="flat" cmpd="sng" w="19050">
                      <a:solidFill>
                        <a:srgbClr val="000000"/>
                      </a:solidFill>
                      <a:prstDash val="solid"/>
                      <a:round/>
                      <a:headEnd len="sm" w="sm" type="none"/>
                      <a:tailEnd len="sm" w="sm" type="none"/>
                    </a:lnT>
                  </a:tcPr>
                </a:tc>
                <a:tc hMerge="1"/>
                <a:tc gridSpan="4">
                  <a:txBody>
                    <a:bodyPr/>
                    <a:lstStyle/>
                    <a:p>
                      <a:pPr indent="0" lvl="0" marL="849312"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B</a:t>
                      </a:r>
                      <a:endParaRPr sz="1400" u="none" cap="none" strike="noStrike"/>
                    </a:p>
                  </a:txBody>
                  <a:tcPr marT="114300" marB="0" marR="0" marL="0">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tcPr>
                </a:tc>
                <a:tc hMerge="1"/>
                <a:tc hMerge="1"/>
                <a:tc hMerge="1"/>
                <a:tc>
                  <a:txBody>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0</a:t>
                      </a:r>
                      <a:endParaRPr sz="1400" u="none" cap="none" strike="noStrike"/>
                    </a:p>
                  </a:txBody>
                  <a:tcPr marT="114300"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tcPr>
                </a:tc>
              </a:tr>
              <a:tr h="352425">
                <a:tc>
                  <a:txBody>
                    <a:bodyPr/>
                    <a:lstStyle/>
                    <a:p>
                      <a:pPr indent="0" lvl="0" marL="6350" marR="0" rtl="0" algn="ctr">
                        <a:lnSpc>
                          <a:spcPct val="113043"/>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B</a:t>
                      </a:r>
                      <a:endParaRPr sz="1400" u="none" cap="none" strike="noStrike"/>
                    </a:p>
                  </a:txBody>
                  <a:tcPr marT="0" marB="0" marR="0" marL="0">
                    <a:lnL cap="flat" cmpd="sng" w="127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tcPr>
                </a:tc>
                <a:tc gridSpan="2">
                  <a:txBody>
                    <a:bodyPr/>
                    <a:lstStyle/>
                    <a:p>
                      <a:pPr indent="0" lvl="0" marL="442912" marR="0" rtl="0" algn="l">
                        <a:lnSpc>
                          <a:spcPct val="113043"/>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A</a:t>
                      </a:r>
                      <a:endParaRPr sz="1400" u="none" cap="none" strike="noStrike"/>
                    </a:p>
                  </a:txBody>
                  <a:tcPr marT="0" marB="0" marR="0" marL="0">
                    <a:lnL cap="flat" cmpd="sng" w="19050">
                      <a:solidFill>
                        <a:srgbClr val="000000"/>
                      </a:solidFill>
                      <a:prstDash val="solid"/>
                      <a:round/>
                      <a:headEnd len="sm" w="sm" type="none"/>
                      <a:tailEnd len="sm" w="sm" type="none"/>
                    </a:lnL>
                  </a:tcPr>
                </a:tc>
                <a:tc hMerge="1"/>
                <a:tc gridSpan="4">
                  <a:txBody>
                    <a:bodyPr/>
                    <a:lstStyle/>
                    <a:p>
                      <a:pPr indent="0" lvl="0" marL="852487" marR="0" rtl="0" algn="l">
                        <a:lnSpc>
                          <a:spcPct val="113043"/>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C</a:t>
                      </a:r>
                      <a:endParaRPr sz="1400" u="none" cap="none" strike="noStrike"/>
                    </a:p>
                  </a:txBody>
                  <a:tcPr marT="0" marB="0" marR="0" marL="0">
                    <a:lnR cap="flat" cmpd="sng" w="19050">
                      <a:solidFill>
                        <a:srgbClr val="000000"/>
                      </a:solidFill>
                      <a:prstDash val="solid"/>
                      <a:round/>
                      <a:headEnd len="sm" w="sm" type="none"/>
                      <a:tailEnd len="sm" w="sm" type="none"/>
                    </a:lnR>
                  </a:tcPr>
                </a:tc>
                <a:tc hMerge="1"/>
                <a:tc hMerge="1"/>
                <a:tc hMerge="1"/>
                <a:tc>
                  <a:txBody>
                    <a:bodyPr/>
                    <a:lstStyle/>
                    <a:p>
                      <a:pPr indent="0" lvl="0" marL="0" marR="0" rtl="0" algn="ctr">
                        <a:lnSpc>
                          <a:spcPct val="113043"/>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0</a:t>
                      </a:r>
                      <a:endParaRPr sz="1400" u="none" cap="none" strike="noStrike"/>
                    </a:p>
                  </a:txBody>
                  <a:tcPr marT="0"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tcPr>
                </a:tc>
              </a:tr>
              <a:tr h="411150">
                <a:tc>
                  <a:txBody>
                    <a:bodyPr/>
                    <a:lstStyle/>
                    <a:p>
                      <a:pPr indent="0" lvl="0" marL="22225" marR="0" rtl="0" algn="ctr">
                        <a:lnSpc>
                          <a:spcPct val="113043"/>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C</a:t>
                      </a:r>
                      <a:endParaRPr sz="1400" u="none" cap="none" strike="noStrike"/>
                    </a:p>
                  </a:txBody>
                  <a:tcPr marT="0" marB="0" marR="0" marL="0">
                    <a:lnL cap="flat" cmpd="sng" w="1270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B cap="flat" cmpd="sng" w="19050">
                      <a:solidFill>
                        <a:srgbClr val="000000"/>
                      </a:solidFill>
                      <a:prstDash val="solid"/>
                      <a:round/>
                      <a:headEnd len="sm" w="sm" type="none"/>
                      <a:tailEnd len="sm" w="sm" type="none"/>
                    </a:lnB>
                  </a:tcPr>
                </a:tc>
                <a:tc gridSpan="2">
                  <a:txBody>
                    <a:bodyPr/>
                    <a:lstStyle/>
                    <a:p>
                      <a:pPr indent="0" lvl="0" marL="442912" marR="0" rtl="0" algn="l">
                        <a:lnSpc>
                          <a:spcPct val="113043"/>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A</a:t>
                      </a:r>
                      <a:endParaRPr sz="1400" u="none" cap="none" strike="noStrike"/>
                    </a:p>
                  </a:txBody>
                  <a:tcPr marT="0" marB="0" marR="0" marL="0">
                    <a:lnL cap="flat" cmpd="sng" w="19050">
                      <a:solidFill>
                        <a:srgbClr val="000000"/>
                      </a:solidFill>
                      <a:prstDash val="solid"/>
                      <a:round/>
                      <a:headEnd len="sm" w="sm" type="none"/>
                      <a:tailEnd len="sm" w="sm" type="none"/>
                    </a:lnL>
                    <a:lnB cap="flat" cmpd="sng" w="19050">
                      <a:solidFill>
                        <a:srgbClr val="000000"/>
                      </a:solidFill>
                      <a:prstDash val="solid"/>
                      <a:round/>
                      <a:headEnd len="sm" w="sm" type="none"/>
                      <a:tailEnd len="sm" w="sm" type="none"/>
                    </a:lnB>
                  </a:tcPr>
                </a:tc>
                <a:tc hMerge="1"/>
                <a:tc gridSpan="4">
                  <a:txBody>
                    <a:bodyPr/>
                    <a:lstStyle/>
                    <a:p>
                      <a:pPr indent="0" lvl="0" marL="852487" marR="0" rtl="0" algn="l">
                        <a:lnSpc>
                          <a:spcPct val="113043"/>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C</a:t>
                      </a:r>
                      <a:endParaRPr sz="1400" u="none" cap="none" strike="noStrike"/>
                    </a:p>
                  </a:txBody>
                  <a:tcPr marT="0" marB="0" marR="0" marL="0">
                    <a:lnR cap="flat" cmpd="sng" w="19050">
                      <a:solidFill>
                        <a:srgbClr val="000000"/>
                      </a:solidFill>
                      <a:prstDash val="solid"/>
                      <a:round/>
                      <a:headEnd len="sm" w="sm" type="none"/>
                      <a:tailEnd len="sm" w="sm" type="none"/>
                    </a:lnR>
                    <a:lnB cap="flat" cmpd="sng" w="19050">
                      <a:solidFill>
                        <a:srgbClr val="000000"/>
                      </a:solidFill>
                      <a:prstDash val="solid"/>
                      <a:round/>
                      <a:headEnd len="sm" w="sm" type="none"/>
                      <a:tailEnd len="sm" w="sm" type="none"/>
                    </a:lnB>
                  </a:tcPr>
                </a:tc>
                <a:tc hMerge="1"/>
                <a:tc hMerge="1"/>
                <a:tc hMerge="1"/>
                <a:tc>
                  <a:txBody>
                    <a:bodyPr/>
                    <a:lstStyle/>
                    <a:p>
                      <a:pPr indent="0" lvl="0" marL="0" marR="0" rtl="0" algn="ctr">
                        <a:lnSpc>
                          <a:spcPct val="113043"/>
                        </a:lnSpc>
                        <a:spcBef>
                          <a:spcPts val="0"/>
                        </a:spcBef>
                        <a:spcAft>
                          <a:spcPts val="0"/>
                        </a:spcAft>
                        <a:buClr>
                          <a:srgbClr val="000000"/>
                        </a:buClr>
                        <a:buSzPts val="2300"/>
                        <a:buFont typeface="Arial"/>
                        <a:buNone/>
                      </a:pPr>
                      <a:r>
                        <a:rPr b="0" i="0" lang="en-US" sz="2300" u="none" cap="none" strike="noStrike">
                          <a:solidFill>
                            <a:srgbClr val="000000"/>
                          </a:solidFill>
                          <a:latin typeface="Arial"/>
                          <a:ea typeface="Arial"/>
                          <a:cs typeface="Arial"/>
                          <a:sym typeface="Arial"/>
                        </a:rPr>
                        <a:t>1</a:t>
                      </a:r>
                      <a:endParaRPr sz="1400" u="none" cap="none" strike="noStrike"/>
                    </a:p>
                  </a:txBody>
                  <a:tcPr marT="0" marB="0" marR="0" marL="0">
                    <a:lnL cap="flat" cmpd="sng" w="1905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9050">
                      <a:solidFill>
                        <a:srgbClr val="000000"/>
                      </a:solidFill>
                      <a:prstDash val="solid"/>
                      <a:round/>
                      <a:headEnd len="sm" w="sm" type="none"/>
                      <a:tailEnd len="sm" w="sm" type="none"/>
                    </a:lnB>
                  </a:tcPr>
                </a:tc>
              </a:tr>
            </a:tbl>
          </a:graphicData>
        </a:graphic>
      </p:graphicFrame>
      <p:sp>
        <p:nvSpPr>
          <p:cNvPr id="317" name="Google Shape;317;g1ead90bba03_0_76"/>
          <p:cNvSpPr txBox="1"/>
          <p:nvPr/>
        </p:nvSpPr>
        <p:spPr>
          <a:xfrm>
            <a:off x="3652575" y="1801275"/>
            <a:ext cx="1373100" cy="3822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State Table</a:t>
            </a:r>
            <a:endParaRPr b="0" i="0" sz="2400" u="none" cap="none" strike="noStrike">
              <a:solidFill>
                <a:srgbClr val="000000"/>
              </a:solidFill>
              <a:latin typeface="Times New Roman"/>
              <a:ea typeface="Times New Roman"/>
              <a:cs typeface="Times New Roman"/>
              <a:sym typeface="Times New Roman"/>
            </a:endParaRPr>
          </a:p>
        </p:txBody>
      </p:sp>
      <p:sp>
        <p:nvSpPr>
          <p:cNvPr id="318" name="Google Shape;318;g1ead90bba03_0_76"/>
          <p:cNvSpPr txBox="1"/>
          <p:nvPr/>
        </p:nvSpPr>
        <p:spPr>
          <a:xfrm>
            <a:off x="8409200" y="2939450"/>
            <a:ext cx="1455300" cy="13236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Calibri"/>
              <a:buNone/>
            </a:pPr>
            <a:r>
              <a:rPr b="1" i="0" lang="en-US" sz="2000" u="none" cap="none" strike="noStrike">
                <a:solidFill>
                  <a:srgbClr val="000000"/>
                </a:solidFill>
                <a:latin typeface="Calibri"/>
                <a:ea typeface="Calibri"/>
                <a:cs typeface="Calibri"/>
                <a:sym typeface="Calibri"/>
              </a:rPr>
              <a:t>Note:</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Calibri"/>
              <a:buNone/>
            </a:pPr>
            <a:r>
              <a:rPr b="0" i="0" lang="en-US" sz="2000" u="none" cap="none" strike="noStrike">
                <a:solidFill>
                  <a:srgbClr val="000000"/>
                </a:solidFill>
                <a:latin typeface="Calibri"/>
                <a:ea typeface="Calibri"/>
                <a:cs typeface="Calibri"/>
                <a:sym typeface="Calibri"/>
              </a:rPr>
              <a:t>n bits can represent 2</a:t>
            </a:r>
            <a:r>
              <a:rPr b="0" baseline="30000" i="0" lang="en-US" sz="2000" u="none" cap="none" strike="noStrike">
                <a:solidFill>
                  <a:srgbClr val="000000"/>
                </a:solidFill>
                <a:latin typeface="Calibri"/>
                <a:ea typeface="Calibri"/>
                <a:cs typeface="Calibri"/>
                <a:sym typeface="Calibri"/>
              </a:rPr>
              <a:t>n</a:t>
            </a:r>
            <a:r>
              <a:rPr b="0" i="0" lang="en-US" sz="2000" u="none" cap="none" strike="noStrike">
                <a:solidFill>
                  <a:srgbClr val="000000"/>
                </a:solidFill>
                <a:latin typeface="Calibri"/>
                <a:ea typeface="Calibri"/>
                <a:cs typeface="Calibri"/>
                <a:sym typeface="Calibri"/>
              </a:rPr>
              <a:t> states.</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1ead90bba03_0_99"/>
          <p:cNvSpPr txBox="1"/>
          <p:nvPr>
            <p:ph type="title"/>
          </p:nvPr>
        </p:nvSpPr>
        <p:spPr>
          <a:xfrm>
            <a:off x="789200" y="431275"/>
            <a:ext cx="8922900" cy="797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dk1"/>
              </a:buClr>
              <a:buSzPts val="2400"/>
              <a:buFont typeface="Times New Roman"/>
              <a:buNone/>
            </a:pPr>
            <a:r>
              <a:rPr b="1" i="0" lang="en-US" sz="2500" u="none">
                <a:solidFill>
                  <a:schemeClr val="dk1"/>
                </a:solidFill>
              </a:rPr>
              <a:t>Example 2: A </a:t>
            </a:r>
            <a:r>
              <a:rPr b="1" lang="en-US" sz="2500"/>
              <a:t>S</a:t>
            </a:r>
            <a:r>
              <a:rPr b="1" i="0" lang="en-US" sz="2500" u="none">
                <a:solidFill>
                  <a:schemeClr val="dk1"/>
                </a:solidFill>
              </a:rPr>
              <a:t>imple </a:t>
            </a:r>
            <a:r>
              <a:rPr b="1" lang="en-US" sz="2500"/>
              <a:t>I</a:t>
            </a:r>
            <a:r>
              <a:rPr b="1" i="0" lang="en-US" sz="2500" u="none">
                <a:solidFill>
                  <a:schemeClr val="dk1"/>
                </a:solidFill>
              </a:rPr>
              <a:t>nput </a:t>
            </a:r>
            <a:r>
              <a:rPr b="1" lang="en-US" sz="2500"/>
              <a:t>P</a:t>
            </a:r>
            <a:r>
              <a:rPr b="1" i="0" lang="en-US" sz="2500" u="none">
                <a:solidFill>
                  <a:schemeClr val="dk1"/>
                </a:solidFill>
              </a:rPr>
              <a:t>attern (</a:t>
            </a:r>
            <a:r>
              <a:rPr b="1" lang="en-US" sz="2500"/>
              <a:t>‘</a:t>
            </a:r>
            <a:r>
              <a:rPr b="1" i="0" lang="en-US" sz="2500" u="none">
                <a:solidFill>
                  <a:schemeClr val="dk1"/>
                </a:solidFill>
              </a:rPr>
              <a:t>11</a:t>
            </a:r>
            <a:r>
              <a:rPr b="1" lang="en-US" sz="2500"/>
              <a:t>’ </a:t>
            </a:r>
            <a:r>
              <a:rPr b="1" lang="en-US" sz="2600"/>
              <a:t>Overlapping</a:t>
            </a:r>
            <a:r>
              <a:rPr b="1" lang="en-US" sz="2500"/>
              <a:t> Sequence</a:t>
            </a:r>
            <a:r>
              <a:rPr b="1" i="0" lang="en-US" sz="2500" u="none">
                <a:solidFill>
                  <a:schemeClr val="dk1"/>
                </a:solidFill>
              </a:rPr>
              <a:t>) </a:t>
            </a:r>
            <a:r>
              <a:rPr b="1" lang="en-US" sz="2500"/>
              <a:t>D</a:t>
            </a:r>
            <a:r>
              <a:rPr b="1" i="0" lang="en-US" sz="2500" u="none">
                <a:solidFill>
                  <a:schemeClr val="dk1"/>
                </a:solidFill>
              </a:rPr>
              <a:t>etection </a:t>
            </a:r>
            <a:r>
              <a:rPr b="1" lang="en-US" sz="2500"/>
              <a:t>C</a:t>
            </a:r>
            <a:r>
              <a:rPr b="1" i="0" lang="en-US" sz="2500" u="none">
                <a:solidFill>
                  <a:schemeClr val="dk1"/>
                </a:solidFill>
              </a:rPr>
              <a:t>ircuit [</a:t>
            </a:r>
            <a:r>
              <a:rPr b="1" i="0" lang="en-US" sz="2500" u="sng">
                <a:solidFill>
                  <a:schemeClr val="dk1"/>
                </a:solidFill>
              </a:rPr>
              <a:t>State Assigned </a:t>
            </a:r>
            <a:r>
              <a:rPr b="1" lang="en-US" sz="2500" u="sng"/>
              <a:t>Table</a:t>
            </a:r>
            <a:r>
              <a:rPr b="1" i="0" lang="en-US" sz="2500" u="none">
                <a:solidFill>
                  <a:schemeClr val="dk1"/>
                </a:solidFill>
              </a:rPr>
              <a:t>]</a:t>
            </a:r>
            <a:endParaRPr b="1" sz="2500"/>
          </a:p>
        </p:txBody>
      </p:sp>
      <p:sp>
        <p:nvSpPr>
          <p:cNvPr id="324" name="Google Shape;324;g1ead90bba03_0_99"/>
          <p:cNvSpPr txBox="1"/>
          <p:nvPr/>
        </p:nvSpPr>
        <p:spPr>
          <a:xfrm>
            <a:off x="1641187" y="5456500"/>
            <a:ext cx="13509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Figure 7:</a:t>
            </a:r>
            <a:endParaRPr b="0" i="0" sz="1400" u="none" cap="none" strike="noStrike">
              <a:solidFill>
                <a:srgbClr val="000000"/>
              </a:solidFill>
              <a:latin typeface="Arial"/>
              <a:ea typeface="Arial"/>
              <a:cs typeface="Arial"/>
              <a:sym typeface="Arial"/>
            </a:endParaRPr>
          </a:p>
        </p:txBody>
      </p:sp>
      <p:sp>
        <p:nvSpPr>
          <p:cNvPr id="325" name="Google Shape;325;g1ead90bba03_0_99"/>
          <p:cNvSpPr txBox="1"/>
          <p:nvPr/>
        </p:nvSpPr>
        <p:spPr>
          <a:xfrm>
            <a:off x="3295350" y="5456500"/>
            <a:ext cx="7210500" cy="382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State-assigned table for the sequential circuit in Figure 7.</a:t>
            </a:r>
            <a:endParaRPr b="0" i="0" sz="1400" u="none" cap="none" strike="noStrike">
              <a:solidFill>
                <a:srgbClr val="000000"/>
              </a:solidFill>
              <a:latin typeface="Arial"/>
              <a:ea typeface="Arial"/>
              <a:cs typeface="Arial"/>
              <a:sym typeface="Arial"/>
            </a:endParaRPr>
          </a:p>
        </p:txBody>
      </p:sp>
      <p:sp>
        <p:nvSpPr>
          <p:cNvPr id="326" name="Google Shape;326;g1ead90bba03_0_99"/>
          <p:cNvSpPr txBox="1"/>
          <p:nvPr/>
        </p:nvSpPr>
        <p:spPr>
          <a:xfrm>
            <a:off x="1910062" y="1907850"/>
            <a:ext cx="701700" cy="680400"/>
          </a:xfrm>
          <a:prstGeom prst="rect">
            <a:avLst/>
          </a:prstGeom>
          <a:noFill/>
          <a:ln>
            <a:noFill/>
          </a:ln>
        </p:spPr>
        <p:txBody>
          <a:bodyPr anchorCtr="0" anchor="t" bIns="0" lIns="0" spcFirstLastPara="1" rIns="0" wrap="square" tIns="12700">
            <a:spAutoFit/>
          </a:bodyPr>
          <a:lstStyle/>
          <a:p>
            <a:pPr indent="-169862" lvl="0" marL="182562" marR="0" rtl="0" algn="l">
              <a:lnSpc>
                <a:spcPct val="141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Present  state</a:t>
            </a:r>
            <a:endParaRPr b="0" i="0" sz="1400" u="none" cap="none" strike="noStrike">
              <a:solidFill>
                <a:srgbClr val="000000"/>
              </a:solidFill>
              <a:latin typeface="Arial"/>
              <a:ea typeface="Arial"/>
              <a:cs typeface="Arial"/>
              <a:sym typeface="Arial"/>
            </a:endParaRPr>
          </a:p>
        </p:txBody>
      </p:sp>
      <p:sp>
        <p:nvSpPr>
          <p:cNvPr id="327" name="Google Shape;327;g1ead90bba03_0_99"/>
          <p:cNvSpPr txBox="1"/>
          <p:nvPr/>
        </p:nvSpPr>
        <p:spPr>
          <a:xfrm>
            <a:off x="3158800" y="1826088"/>
            <a:ext cx="1920900" cy="843900"/>
          </a:xfrm>
          <a:prstGeom prst="rect">
            <a:avLst/>
          </a:prstGeom>
          <a:noFill/>
          <a:ln>
            <a:noFill/>
          </a:ln>
        </p:spPr>
        <p:txBody>
          <a:bodyPr anchorCtr="0" anchor="t" bIns="0" lIns="0" spcFirstLastPara="1" rIns="0" wrap="square" tIns="12700">
            <a:spAutoFit/>
          </a:bodyPr>
          <a:lstStyle/>
          <a:p>
            <a:pPr indent="0" lvl="0" marL="36830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Next state</a:t>
            </a:r>
            <a:endParaRPr b="1" i="0" sz="1600" u="none" cap="none" strike="noStrike">
              <a:solidFill>
                <a:srgbClr val="000000"/>
              </a:solidFill>
              <a:latin typeface="Times New Roman"/>
              <a:ea typeface="Times New Roman"/>
              <a:cs typeface="Times New Roman"/>
              <a:sym typeface="Times New Roman"/>
            </a:endParaRPr>
          </a:p>
          <a:p>
            <a:pPr indent="0" lvl="0" marL="368300" marR="0" rtl="0" algn="l">
              <a:lnSpc>
                <a:spcPct val="100000"/>
              </a:lnSpc>
              <a:spcBef>
                <a:spcPts val="0"/>
              </a:spcBef>
              <a:spcAft>
                <a:spcPts val="0"/>
              </a:spcAft>
              <a:buClr>
                <a:srgbClr val="000000"/>
              </a:buClr>
              <a:buSzPts val="1800"/>
              <a:buFont typeface="Times New Roman"/>
              <a:buNone/>
            </a:pPr>
            <a:r>
              <a:t/>
            </a:r>
            <a:endParaRPr b="0" i="1"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Times New Roman"/>
              <a:buNone/>
            </a:pPr>
            <a:r>
              <a:rPr b="0" i="1" lang="en-US" sz="1800" u="none" cap="none" strike="noStrike">
                <a:solidFill>
                  <a:srgbClr val="000000"/>
                </a:solidFill>
                <a:latin typeface="Times New Roman"/>
                <a:ea typeface="Times New Roman"/>
                <a:cs typeface="Times New Roman"/>
                <a:sym typeface="Times New Roman"/>
              </a:rPr>
              <a:t>   w=0              w=1</a:t>
            </a:r>
            <a:endParaRPr b="0" i="1" sz="1800" u="none" cap="none" strike="noStrike">
              <a:solidFill>
                <a:srgbClr val="000000"/>
              </a:solidFill>
              <a:latin typeface="Times New Roman"/>
              <a:ea typeface="Times New Roman"/>
              <a:cs typeface="Times New Roman"/>
              <a:sym typeface="Times New Roman"/>
            </a:endParaRPr>
          </a:p>
        </p:txBody>
      </p:sp>
      <p:grpSp>
        <p:nvGrpSpPr>
          <p:cNvPr id="328" name="Google Shape;328;g1ead90bba03_0_99"/>
          <p:cNvGrpSpPr/>
          <p:nvPr/>
        </p:nvGrpSpPr>
        <p:grpSpPr>
          <a:xfrm>
            <a:off x="1727592" y="1676104"/>
            <a:ext cx="4783298" cy="3317972"/>
            <a:chOff x="4013592" y="1676104"/>
            <a:chExt cx="4783298" cy="3317972"/>
          </a:xfrm>
        </p:grpSpPr>
        <p:sp>
          <p:nvSpPr>
            <p:cNvPr id="329" name="Google Shape;329;g1ead90bba03_0_99"/>
            <p:cNvSpPr/>
            <p:nvPr/>
          </p:nvSpPr>
          <p:spPr>
            <a:xfrm>
              <a:off x="4013592" y="1676104"/>
              <a:ext cx="4773772" cy="27947"/>
            </a:xfrm>
            <a:custGeom>
              <a:rect b="b" l="l" r="r" t="t"/>
              <a:pathLst>
                <a:path extrusionOk="0" h="27939" w="4773295">
                  <a:moveTo>
                    <a:pt x="4773168" y="0"/>
                  </a:moveTo>
                  <a:lnTo>
                    <a:pt x="4764392" y="0"/>
                  </a:lnTo>
                  <a:lnTo>
                    <a:pt x="4764392" y="6350"/>
                  </a:lnTo>
                  <a:lnTo>
                    <a:pt x="4764392" y="9512"/>
                  </a:lnTo>
                  <a:lnTo>
                    <a:pt x="4763770" y="8890"/>
                  </a:lnTo>
                  <a:lnTo>
                    <a:pt x="4763770" y="17145"/>
                  </a:lnTo>
                  <a:lnTo>
                    <a:pt x="4763770" y="21590"/>
                  </a:lnTo>
                  <a:lnTo>
                    <a:pt x="9385" y="21590"/>
                  </a:lnTo>
                  <a:lnTo>
                    <a:pt x="9385" y="17132"/>
                  </a:lnTo>
                  <a:lnTo>
                    <a:pt x="12192" y="21336"/>
                  </a:lnTo>
                  <a:lnTo>
                    <a:pt x="4760976" y="21336"/>
                  </a:lnTo>
                  <a:lnTo>
                    <a:pt x="4763770" y="17145"/>
                  </a:lnTo>
                  <a:lnTo>
                    <a:pt x="4763770" y="8890"/>
                  </a:lnTo>
                  <a:lnTo>
                    <a:pt x="4761230" y="6350"/>
                  </a:lnTo>
                  <a:lnTo>
                    <a:pt x="4764392" y="6350"/>
                  </a:lnTo>
                  <a:lnTo>
                    <a:pt x="4764392" y="0"/>
                  </a:lnTo>
                  <a:lnTo>
                    <a:pt x="11938" y="0"/>
                  </a:lnTo>
                  <a:lnTo>
                    <a:pt x="11938" y="6350"/>
                  </a:lnTo>
                  <a:lnTo>
                    <a:pt x="8763" y="9525"/>
                  </a:lnTo>
                  <a:lnTo>
                    <a:pt x="8763" y="6350"/>
                  </a:lnTo>
                  <a:lnTo>
                    <a:pt x="11938" y="6350"/>
                  </a:lnTo>
                  <a:lnTo>
                    <a:pt x="11938" y="0"/>
                  </a:lnTo>
                  <a:lnTo>
                    <a:pt x="0" y="0"/>
                  </a:lnTo>
                  <a:lnTo>
                    <a:pt x="0" y="6350"/>
                  </a:lnTo>
                  <a:lnTo>
                    <a:pt x="0" y="12700"/>
                  </a:lnTo>
                  <a:lnTo>
                    <a:pt x="0" y="21590"/>
                  </a:lnTo>
                  <a:lnTo>
                    <a:pt x="0" y="27940"/>
                  </a:lnTo>
                  <a:lnTo>
                    <a:pt x="4773168" y="27940"/>
                  </a:lnTo>
                  <a:lnTo>
                    <a:pt x="4773168" y="21590"/>
                  </a:lnTo>
                  <a:lnTo>
                    <a:pt x="4773168" y="12700"/>
                  </a:lnTo>
                  <a:lnTo>
                    <a:pt x="4773168" y="6350"/>
                  </a:lnTo>
                  <a:lnTo>
                    <a:pt x="477316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0" name="Google Shape;330;g1ead90bba03_0_99"/>
            <p:cNvSpPr/>
            <p:nvPr/>
          </p:nvSpPr>
          <p:spPr>
            <a:xfrm>
              <a:off x="4019689" y="1682203"/>
              <a:ext cx="15241" cy="564049"/>
            </a:xfrm>
            <a:custGeom>
              <a:rect b="b" l="l" r="r" t="t"/>
              <a:pathLst>
                <a:path extrusionOk="0" h="563880" w="15239">
                  <a:moveTo>
                    <a:pt x="15239" y="0"/>
                  </a:moveTo>
                  <a:lnTo>
                    <a:pt x="0" y="0"/>
                  </a:lnTo>
                  <a:lnTo>
                    <a:pt x="0" y="563879"/>
                  </a:lnTo>
                  <a:lnTo>
                    <a:pt x="15239" y="563879"/>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 name="Google Shape;331;g1ead90bba03_0_99"/>
            <p:cNvSpPr/>
            <p:nvPr/>
          </p:nvSpPr>
          <p:spPr>
            <a:xfrm>
              <a:off x="4013592" y="1676105"/>
              <a:ext cx="27942" cy="576753"/>
            </a:xfrm>
            <a:custGeom>
              <a:rect b="b" l="l" r="r" t="t"/>
              <a:pathLst>
                <a:path extrusionOk="0" h="576580" w="27939">
                  <a:moveTo>
                    <a:pt x="27431" y="0"/>
                  </a:moveTo>
                  <a:lnTo>
                    <a:pt x="0" y="0"/>
                  </a:lnTo>
                  <a:lnTo>
                    <a:pt x="0" y="576072"/>
                  </a:lnTo>
                  <a:lnTo>
                    <a:pt x="27431" y="576072"/>
                  </a:lnTo>
                  <a:lnTo>
                    <a:pt x="27431" y="569976"/>
                  </a:lnTo>
                  <a:lnTo>
                    <a:pt x="12191" y="569976"/>
                  </a:lnTo>
                  <a:lnTo>
                    <a:pt x="6095" y="563879"/>
                  </a:lnTo>
                  <a:lnTo>
                    <a:pt x="12191" y="563879"/>
                  </a:lnTo>
                  <a:lnTo>
                    <a:pt x="12191" y="12191"/>
                  </a:lnTo>
                  <a:lnTo>
                    <a:pt x="6095" y="12191"/>
                  </a:lnTo>
                  <a:lnTo>
                    <a:pt x="12191" y="6095"/>
                  </a:lnTo>
                  <a:lnTo>
                    <a:pt x="27431" y="6095"/>
                  </a:lnTo>
                  <a:lnTo>
                    <a:pt x="27431" y="0"/>
                  </a:lnTo>
                  <a:close/>
                </a:path>
                <a:path extrusionOk="0" h="576580" w="27939">
                  <a:moveTo>
                    <a:pt x="12191" y="563879"/>
                  </a:moveTo>
                  <a:lnTo>
                    <a:pt x="6095" y="563879"/>
                  </a:lnTo>
                  <a:lnTo>
                    <a:pt x="12191" y="569976"/>
                  </a:lnTo>
                  <a:lnTo>
                    <a:pt x="12191" y="563879"/>
                  </a:lnTo>
                  <a:close/>
                </a:path>
                <a:path extrusionOk="0" h="576580" w="27939">
                  <a:moveTo>
                    <a:pt x="15239" y="563879"/>
                  </a:moveTo>
                  <a:lnTo>
                    <a:pt x="12191" y="563879"/>
                  </a:lnTo>
                  <a:lnTo>
                    <a:pt x="12191" y="569976"/>
                  </a:lnTo>
                  <a:lnTo>
                    <a:pt x="15239" y="569976"/>
                  </a:lnTo>
                  <a:lnTo>
                    <a:pt x="15239" y="563879"/>
                  </a:lnTo>
                  <a:close/>
                </a:path>
                <a:path extrusionOk="0" h="576580" w="27939">
                  <a:moveTo>
                    <a:pt x="15239" y="6095"/>
                  </a:moveTo>
                  <a:lnTo>
                    <a:pt x="15239" y="569976"/>
                  </a:lnTo>
                  <a:lnTo>
                    <a:pt x="21335" y="563879"/>
                  </a:lnTo>
                  <a:lnTo>
                    <a:pt x="27431" y="563879"/>
                  </a:lnTo>
                  <a:lnTo>
                    <a:pt x="27431" y="12191"/>
                  </a:lnTo>
                  <a:lnTo>
                    <a:pt x="21335" y="12191"/>
                  </a:lnTo>
                  <a:lnTo>
                    <a:pt x="15239" y="6095"/>
                  </a:lnTo>
                  <a:close/>
                </a:path>
                <a:path extrusionOk="0" h="576580" w="27939">
                  <a:moveTo>
                    <a:pt x="27431" y="563879"/>
                  </a:moveTo>
                  <a:lnTo>
                    <a:pt x="21335" y="563879"/>
                  </a:lnTo>
                  <a:lnTo>
                    <a:pt x="15239" y="569976"/>
                  </a:lnTo>
                  <a:lnTo>
                    <a:pt x="27431" y="569976"/>
                  </a:lnTo>
                  <a:lnTo>
                    <a:pt x="27431" y="563879"/>
                  </a:lnTo>
                  <a:close/>
                </a:path>
                <a:path extrusionOk="0" h="576580" w="27939">
                  <a:moveTo>
                    <a:pt x="12191" y="6095"/>
                  </a:moveTo>
                  <a:lnTo>
                    <a:pt x="6095" y="12191"/>
                  </a:lnTo>
                  <a:lnTo>
                    <a:pt x="12191" y="12191"/>
                  </a:lnTo>
                  <a:lnTo>
                    <a:pt x="12191" y="6095"/>
                  </a:lnTo>
                  <a:close/>
                </a:path>
                <a:path extrusionOk="0" h="576580" w="27939">
                  <a:moveTo>
                    <a:pt x="15239" y="6095"/>
                  </a:moveTo>
                  <a:lnTo>
                    <a:pt x="12191" y="6095"/>
                  </a:lnTo>
                  <a:lnTo>
                    <a:pt x="12191" y="12191"/>
                  </a:lnTo>
                  <a:lnTo>
                    <a:pt x="15239" y="12191"/>
                  </a:lnTo>
                  <a:lnTo>
                    <a:pt x="15239" y="6095"/>
                  </a:lnTo>
                  <a:close/>
                </a:path>
                <a:path extrusionOk="0" h="576580" w="27939">
                  <a:moveTo>
                    <a:pt x="27431" y="6095"/>
                  </a:moveTo>
                  <a:lnTo>
                    <a:pt x="15239" y="6095"/>
                  </a:lnTo>
                  <a:lnTo>
                    <a:pt x="21335" y="12191"/>
                  </a:lnTo>
                  <a:lnTo>
                    <a:pt x="27431" y="12191"/>
                  </a:lnTo>
                  <a:lnTo>
                    <a:pt x="27431" y="609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 name="Google Shape;332;g1ead90bba03_0_99"/>
            <p:cNvSpPr/>
            <p:nvPr/>
          </p:nvSpPr>
          <p:spPr>
            <a:xfrm>
              <a:off x="5269494" y="1682203"/>
              <a:ext cx="12701" cy="564049"/>
            </a:xfrm>
            <a:custGeom>
              <a:rect b="b" l="l" r="r" t="t"/>
              <a:pathLst>
                <a:path extrusionOk="0" h="563880" w="12700">
                  <a:moveTo>
                    <a:pt x="12191" y="0"/>
                  </a:moveTo>
                  <a:lnTo>
                    <a:pt x="0" y="0"/>
                  </a:lnTo>
                  <a:lnTo>
                    <a:pt x="0" y="563879"/>
                  </a:lnTo>
                  <a:lnTo>
                    <a:pt x="12191" y="563879"/>
                  </a:lnTo>
                  <a:lnTo>
                    <a:pt x="1219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3" name="Google Shape;333;g1ead90bba03_0_99"/>
            <p:cNvSpPr/>
            <p:nvPr/>
          </p:nvSpPr>
          <p:spPr>
            <a:xfrm>
              <a:off x="5263397" y="1676105"/>
              <a:ext cx="24766" cy="576753"/>
            </a:xfrm>
            <a:custGeom>
              <a:rect b="b" l="l" r="r" t="t"/>
              <a:pathLst>
                <a:path extrusionOk="0" h="576580" w="24764">
                  <a:moveTo>
                    <a:pt x="24384" y="0"/>
                  </a:moveTo>
                  <a:lnTo>
                    <a:pt x="0" y="0"/>
                  </a:lnTo>
                  <a:lnTo>
                    <a:pt x="0" y="576072"/>
                  </a:lnTo>
                  <a:lnTo>
                    <a:pt x="24384" y="576072"/>
                  </a:lnTo>
                  <a:lnTo>
                    <a:pt x="24384" y="569976"/>
                  </a:lnTo>
                  <a:lnTo>
                    <a:pt x="12192" y="569976"/>
                  </a:lnTo>
                  <a:lnTo>
                    <a:pt x="6096" y="563879"/>
                  </a:lnTo>
                  <a:lnTo>
                    <a:pt x="12192" y="563879"/>
                  </a:lnTo>
                  <a:lnTo>
                    <a:pt x="12192" y="12191"/>
                  </a:lnTo>
                  <a:lnTo>
                    <a:pt x="6096" y="12191"/>
                  </a:lnTo>
                  <a:lnTo>
                    <a:pt x="12192" y="6095"/>
                  </a:lnTo>
                  <a:lnTo>
                    <a:pt x="24384" y="6095"/>
                  </a:lnTo>
                  <a:lnTo>
                    <a:pt x="24384" y="0"/>
                  </a:lnTo>
                  <a:close/>
                </a:path>
                <a:path extrusionOk="0" h="576580" w="24764">
                  <a:moveTo>
                    <a:pt x="12192" y="563879"/>
                  </a:moveTo>
                  <a:lnTo>
                    <a:pt x="6096" y="563879"/>
                  </a:lnTo>
                  <a:lnTo>
                    <a:pt x="12192" y="569976"/>
                  </a:lnTo>
                  <a:lnTo>
                    <a:pt x="12192" y="563879"/>
                  </a:lnTo>
                  <a:close/>
                </a:path>
                <a:path extrusionOk="0" h="576580" w="24764">
                  <a:moveTo>
                    <a:pt x="12192" y="6095"/>
                  </a:moveTo>
                  <a:lnTo>
                    <a:pt x="12192" y="569976"/>
                  </a:lnTo>
                  <a:lnTo>
                    <a:pt x="18287" y="563879"/>
                  </a:lnTo>
                  <a:lnTo>
                    <a:pt x="24384" y="563879"/>
                  </a:lnTo>
                  <a:lnTo>
                    <a:pt x="24384" y="12191"/>
                  </a:lnTo>
                  <a:lnTo>
                    <a:pt x="18287" y="12191"/>
                  </a:lnTo>
                  <a:lnTo>
                    <a:pt x="12192" y="6095"/>
                  </a:lnTo>
                  <a:close/>
                </a:path>
                <a:path extrusionOk="0" h="576580" w="24764">
                  <a:moveTo>
                    <a:pt x="24384" y="563879"/>
                  </a:moveTo>
                  <a:lnTo>
                    <a:pt x="18287" y="563879"/>
                  </a:lnTo>
                  <a:lnTo>
                    <a:pt x="12192" y="569976"/>
                  </a:lnTo>
                  <a:lnTo>
                    <a:pt x="24384" y="569976"/>
                  </a:lnTo>
                  <a:lnTo>
                    <a:pt x="24384" y="563879"/>
                  </a:lnTo>
                  <a:close/>
                </a:path>
                <a:path extrusionOk="0" h="576580" w="24764">
                  <a:moveTo>
                    <a:pt x="12192" y="6095"/>
                  </a:moveTo>
                  <a:lnTo>
                    <a:pt x="6096" y="12191"/>
                  </a:lnTo>
                  <a:lnTo>
                    <a:pt x="12192" y="12191"/>
                  </a:lnTo>
                  <a:lnTo>
                    <a:pt x="12192" y="6095"/>
                  </a:lnTo>
                  <a:close/>
                </a:path>
                <a:path extrusionOk="0" h="576580" w="24764">
                  <a:moveTo>
                    <a:pt x="24384" y="6095"/>
                  </a:moveTo>
                  <a:lnTo>
                    <a:pt x="12192" y="6095"/>
                  </a:lnTo>
                  <a:lnTo>
                    <a:pt x="18287" y="12191"/>
                  </a:lnTo>
                  <a:lnTo>
                    <a:pt x="24384" y="12191"/>
                  </a:lnTo>
                  <a:lnTo>
                    <a:pt x="24384" y="609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4" name="Google Shape;334;g1ead90bba03_0_99"/>
            <p:cNvSpPr/>
            <p:nvPr/>
          </p:nvSpPr>
          <p:spPr>
            <a:xfrm>
              <a:off x="7586205" y="1682203"/>
              <a:ext cx="15241" cy="564049"/>
            </a:xfrm>
            <a:custGeom>
              <a:rect b="b" l="l" r="r" t="t"/>
              <a:pathLst>
                <a:path extrusionOk="0" h="563880" w="15239">
                  <a:moveTo>
                    <a:pt x="15239" y="0"/>
                  </a:moveTo>
                  <a:lnTo>
                    <a:pt x="0" y="0"/>
                  </a:lnTo>
                  <a:lnTo>
                    <a:pt x="0" y="563879"/>
                  </a:lnTo>
                  <a:lnTo>
                    <a:pt x="15239" y="563879"/>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5" name="Google Shape;335;g1ead90bba03_0_99"/>
            <p:cNvSpPr/>
            <p:nvPr/>
          </p:nvSpPr>
          <p:spPr>
            <a:xfrm>
              <a:off x="7580108" y="1676105"/>
              <a:ext cx="27942" cy="576753"/>
            </a:xfrm>
            <a:custGeom>
              <a:rect b="b" l="l" r="r" t="t"/>
              <a:pathLst>
                <a:path extrusionOk="0" h="576580" w="27939">
                  <a:moveTo>
                    <a:pt x="27431" y="0"/>
                  </a:moveTo>
                  <a:lnTo>
                    <a:pt x="0" y="0"/>
                  </a:lnTo>
                  <a:lnTo>
                    <a:pt x="0" y="576072"/>
                  </a:lnTo>
                  <a:lnTo>
                    <a:pt x="27431" y="576072"/>
                  </a:lnTo>
                  <a:lnTo>
                    <a:pt x="27431" y="569976"/>
                  </a:lnTo>
                  <a:lnTo>
                    <a:pt x="12191" y="569976"/>
                  </a:lnTo>
                  <a:lnTo>
                    <a:pt x="6095" y="563879"/>
                  </a:lnTo>
                  <a:lnTo>
                    <a:pt x="12191" y="563879"/>
                  </a:lnTo>
                  <a:lnTo>
                    <a:pt x="12191" y="12191"/>
                  </a:lnTo>
                  <a:lnTo>
                    <a:pt x="6095" y="12191"/>
                  </a:lnTo>
                  <a:lnTo>
                    <a:pt x="12191" y="6095"/>
                  </a:lnTo>
                  <a:lnTo>
                    <a:pt x="27431" y="6095"/>
                  </a:lnTo>
                  <a:lnTo>
                    <a:pt x="27431" y="0"/>
                  </a:lnTo>
                  <a:close/>
                </a:path>
                <a:path extrusionOk="0" h="576580" w="27939">
                  <a:moveTo>
                    <a:pt x="12191" y="563879"/>
                  </a:moveTo>
                  <a:lnTo>
                    <a:pt x="6095" y="563879"/>
                  </a:lnTo>
                  <a:lnTo>
                    <a:pt x="12191" y="569976"/>
                  </a:lnTo>
                  <a:lnTo>
                    <a:pt x="12191" y="563879"/>
                  </a:lnTo>
                  <a:close/>
                </a:path>
                <a:path extrusionOk="0" h="576580" w="27939">
                  <a:moveTo>
                    <a:pt x="15239" y="563879"/>
                  </a:moveTo>
                  <a:lnTo>
                    <a:pt x="12191" y="563879"/>
                  </a:lnTo>
                  <a:lnTo>
                    <a:pt x="12191" y="569976"/>
                  </a:lnTo>
                  <a:lnTo>
                    <a:pt x="15239" y="569976"/>
                  </a:lnTo>
                  <a:lnTo>
                    <a:pt x="15239" y="563879"/>
                  </a:lnTo>
                  <a:close/>
                </a:path>
                <a:path extrusionOk="0" h="576580" w="27939">
                  <a:moveTo>
                    <a:pt x="15239" y="6095"/>
                  </a:moveTo>
                  <a:lnTo>
                    <a:pt x="15239" y="569976"/>
                  </a:lnTo>
                  <a:lnTo>
                    <a:pt x="21335" y="563879"/>
                  </a:lnTo>
                  <a:lnTo>
                    <a:pt x="27431" y="563879"/>
                  </a:lnTo>
                  <a:lnTo>
                    <a:pt x="27431" y="12191"/>
                  </a:lnTo>
                  <a:lnTo>
                    <a:pt x="21335" y="12191"/>
                  </a:lnTo>
                  <a:lnTo>
                    <a:pt x="15239" y="6095"/>
                  </a:lnTo>
                  <a:close/>
                </a:path>
                <a:path extrusionOk="0" h="576580" w="27939">
                  <a:moveTo>
                    <a:pt x="27431" y="563879"/>
                  </a:moveTo>
                  <a:lnTo>
                    <a:pt x="21335" y="563879"/>
                  </a:lnTo>
                  <a:lnTo>
                    <a:pt x="15239" y="569976"/>
                  </a:lnTo>
                  <a:lnTo>
                    <a:pt x="27431" y="569976"/>
                  </a:lnTo>
                  <a:lnTo>
                    <a:pt x="27431" y="563879"/>
                  </a:lnTo>
                  <a:close/>
                </a:path>
                <a:path extrusionOk="0" h="576580" w="27939">
                  <a:moveTo>
                    <a:pt x="12191" y="6095"/>
                  </a:moveTo>
                  <a:lnTo>
                    <a:pt x="6095" y="12191"/>
                  </a:lnTo>
                  <a:lnTo>
                    <a:pt x="12191" y="12191"/>
                  </a:lnTo>
                  <a:lnTo>
                    <a:pt x="12191" y="6095"/>
                  </a:lnTo>
                  <a:close/>
                </a:path>
                <a:path extrusionOk="0" h="576580" w="27939">
                  <a:moveTo>
                    <a:pt x="15239" y="6095"/>
                  </a:moveTo>
                  <a:lnTo>
                    <a:pt x="12191" y="6095"/>
                  </a:lnTo>
                  <a:lnTo>
                    <a:pt x="12191" y="12191"/>
                  </a:lnTo>
                  <a:lnTo>
                    <a:pt x="15239" y="12191"/>
                  </a:lnTo>
                  <a:lnTo>
                    <a:pt x="15239" y="6095"/>
                  </a:lnTo>
                  <a:close/>
                </a:path>
                <a:path extrusionOk="0" h="576580" w="27939">
                  <a:moveTo>
                    <a:pt x="27431" y="6095"/>
                  </a:moveTo>
                  <a:lnTo>
                    <a:pt x="15239" y="6095"/>
                  </a:lnTo>
                  <a:lnTo>
                    <a:pt x="21335" y="12191"/>
                  </a:lnTo>
                  <a:lnTo>
                    <a:pt x="27431" y="12191"/>
                  </a:lnTo>
                  <a:lnTo>
                    <a:pt x="27431" y="609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6" name="Google Shape;336;g1ead90bba03_0_99"/>
            <p:cNvSpPr/>
            <p:nvPr/>
          </p:nvSpPr>
          <p:spPr>
            <a:xfrm>
              <a:off x="8775044" y="1682203"/>
              <a:ext cx="15242" cy="564049"/>
            </a:xfrm>
            <a:custGeom>
              <a:rect b="b" l="l" r="r" t="t"/>
              <a:pathLst>
                <a:path extrusionOk="0" h="563880" w="15240">
                  <a:moveTo>
                    <a:pt x="15240" y="0"/>
                  </a:moveTo>
                  <a:lnTo>
                    <a:pt x="0" y="0"/>
                  </a:lnTo>
                  <a:lnTo>
                    <a:pt x="0" y="563879"/>
                  </a:lnTo>
                  <a:lnTo>
                    <a:pt x="15240" y="563879"/>
                  </a:lnTo>
                  <a:lnTo>
                    <a:pt x="1524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7" name="Google Shape;337;g1ead90bba03_0_99"/>
            <p:cNvSpPr/>
            <p:nvPr/>
          </p:nvSpPr>
          <p:spPr>
            <a:xfrm>
              <a:off x="5293880" y="1676104"/>
              <a:ext cx="3503009" cy="607242"/>
            </a:xfrm>
            <a:custGeom>
              <a:rect b="b" l="l" r="r" t="t"/>
              <a:pathLst>
                <a:path extrusionOk="0" h="607060" w="3502659">
                  <a:moveTo>
                    <a:pt x="2310384" y="579120"/>
                  </a:moveTo>
                  <a:lnTo>
                    <a:pt x="2298192" y="579120"/>
                  </a:lnTo>
                  <a:lnTo>
                    <a:pt x="2298192" y="591312"/>
                  </a:lnTo>
                  <a:lnTo>
                    <a:pt x="2298192" y="594360"/>
                  </a:lnTo>
                  <a:lnTo>
                    <a:pt x="12192" y="594360"/>
                  </a:lnTo>
                  <a:lnTo>
                    <a:pt x="12192" y="591312"/>
                  </a:lnTo>
                  <a:lnTo>
                    <a:pt x="2298192" y="591312"/>
                  </a:lnTo>
                  <a:lnTo>
                    <a:pt x="2298192" y="579120"/>
                  </a:lnTo>
                  <a:lnTo>
                    <a:pt x="0" y="579120"/>
                  </a:lnTo>
                  <a:lnTo>
                    <a:pt x="0" y="606552"/>
                  </a:lnTo>
                  <a:lnTo>
                    <a:pt x="2310384" y="606552"/>
                  </a:lnTo>
                  <a:lnTo>
                    <a:pt x="2310384" y="600456"/>
                  </a:lnTo>
                  <a:lnTo>
                    <a:pt x="2310384" y="594360"/>
                  </a:lnTo>
                  <a:lnTo>
                    <a:pt x="2310384" y="591312"/>
                  </a:lnTo>
                  <a:lnTo>
                    <a:pt x="2310384" y="585216"/>
                  </a:lnTo>
                  <a:lnTo>
                    <a:pt x="2310384" y="579120"/>
                  </a:lnTo>
                  <a:close/>
                </a:path>
                <a:path extrusionOk="0" h="607060" w="3502659">
                  <a:moveTo>
                    <a:pt x="3502152" y="0"/>
                  </a:moveTo>
                  <a:lnTo>
                    <a:pt x="3489960" y="0"/>
                  </a:lnTo>
                  <a:lnTo>
                    <a:pt x="3489960" y="12192"/>
                  </a:lnTo>
                  <a:lnTo>
                    <a:pt x="3489960" y="563880"/>
                  </a:lnTo>
                  <a:lnTo>
                    <a:pt x="3486912" y="563880"/>
                  </a:lnTo>
                  <a:lnTo>
                    <a:pt x="3486912" y="12192"/>
                  </a:lnTo>
                  <a:lnTo>
                    <a:pt x="3489960" y="12192"/>
                  </a:lnTo>
                  <a:lnTo>
                    <a:pt x="3489960" y="0"/>
                  </a:lnTo>
                  <a:lnTo>
                    <a:pt x="3474720" y="0"/>
                  </a:lnTo>
                  <a:lnTo>
                    <a:pt x="3474720" y="576072"/>
                  </a:lnTo>
                  <a:lnTo>
                    <a:pt x="3502152" y="576072"/>
                  </a:lnTo>
                  <a:lnTo>
                    <a:pt x="3502152" y="569976"/>
                  </a:lnTo>
                  <a:lnTo>
                    <a:pt x="3502152" y="563880"/>
                  </a:lnTo>
                  <a:lnTo>
                    <a:pt x="3502152" y="12192"/>
                  </a:lnTo>
                  <a:lnTo>
                    <a:pt x="3502152" y="6096"/>
                  </a:lnTo>
                  <a:lnTo>
                    <a:pt x="350215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8" name="Google Shape;338;g1ead90bba03_0_99"/>
            <p:cNvSpPr/>
            <p:nvPr/>
          </p:nvSpPr>
          <p:spPr>
            <a:xfrm>
              <a:off x="4019689" y="2246252"/>
              <a:ext cx="15241" cy="546264"/>
            </a:xfrm>
            <a:custGeom>
              <a:rect b="b" l="l" r="r" t="t"/>
              <a:pathLst>
                <a:path extrusionOk="0" h="546100" w="15239">
                  <a:moveTo>
                    <a:pt x="15239" y="0"/>
                  </a:moveTo>
                  <a:lnTo>
                    <a:pt x="0" y="0"/>
                  </a:lnTo>
                  <a:lnTo>
                    <a:pt x="0" y="545591"/>
                  </a:lnTo>
                  <a:lnTo>
                    <a:pt x="15239" y="545591"/>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9" name="Google Shape;339;g1ead90bba03_0_99"/>
            <p:cNvSpPr/>
            <p:nvPr/>
          </p:nvSpPr>
          <p:spPr>
            <a:xfrm>
              <a:off x="4013592" y="2240155"/>
              <a:ext cx="27942" cy="558331"/>
            </a:xfrm>
            <a:custGeom>
              <a:rect b="b" l="l" r="r" t="t"/>
              <a:pathLst>
                <a:path extrusionOk="0" h="558164" w="27939">
                  <a:moveTo>
                    <a:pt x="27431" y="0"/>
                  </a:moveTo>
                  <a:lnTo>
                    <a:pt x="0" y="0"/>
                  </a:lnTo>
                  <a:lnTo>
                    <a:pt x="0" y="557784"/>
                  </a:lnTo>
                  <a:lnTo>
                    <a:pt x="27431" y="557784"/>
                  </a:lnTo>
                  <a:lnTo>
                    <a:pt x="27431" y="551688"/>
                  </a:lnTo>
                  <a:lnTo>
                    <a:pt x="12191" y="551688"/>
                  </a:lnTo>
                  <a:lnTo>
                    <a:pt x="6095" y="545592"/>
                  </a:lnTo>
                  <a:lnTo>
                    <a:pt x="12191" y="545592"/>
                  </a:lnTo>
                  <a:lnTo>
                    <a:pt x="12191" y="12192"/>
                  </a:lnTo>
                  <a:lnTo>
                    <a:pt x="6095" y="12192"/>
                  </a:lnTo>
                  <a:lnTo>
                    <a:pt x="12191" y="6096"/>
                  </a:lnTo>
                  <a:lnTo>
                    <a:pt x="27431" y="6096"/>
                  </a:lnTo>
                  <a:lnTo>
                    <a:pt x="27431" y="0"/>
                  </a:lnTo>
                  <a:close/>
                </a:path>
                <a:path extrusionOk="0" h="558164" w="27939">
                  <a:moveTo>
                    <a:pt x="12191" y="545592"/>
                  </a:moveTo>
                  <a:lnTo>
                    <a:pt x="6095" y="545592"/>
                  </a:lnTo>
                  <a:lnTo>
                    <a:pt x="12191" y="551688"/>
                  </a:lnTo>
                  <a:lnTo>
                    <a:pt x="12191" y="545592"/>
                  </a:lnTo>
                  <a:close/>
                </a:path>
                <a:path extrusionOk="0" h="558164" w="27939">
                  <a:moveTo>
                    <a:pt x="15239" y="545592"/>
                  </a:moveTo>
                  <a:lnTo>
                    <a:pt x="12191" y="545592"/>
                  </a:lnTo>
                  <a:lnTo>
                    <a:pt x="12191" y="551688"/>
                  </a:lnTo>
                  <a:lnTo>
                    <a:pt x="15239" y="551688"/>
                  </a:lnTo>
                  <a:lnTo>
                    <a:pt x="15239" y="545592"/>
                  </a:lnTo>
                  <a:close/>
                </a:path>
                <a:path extrusionOk="0" h="558164" w="27939">
                  <a:moveTo>
                    <a:pt x="15239" y="6096"/>
                  </a:moveTo>
                  <a:lnTo>
                    <a:pt x="15239" y="551688"/>
                  </a:lnTo>
                  <a:lnTo>
                    <a:pt x="21335" y="545592"/>
                  </a:lnTo>
                  <a:lnTo>
                    <a:pt x="27431" y="545592"/>
                  </a:lnTo>
                  <a:lnTo>
                    <a:pt x="27431" y="12192"/>
                  </a:lnTo>
                  <a:lnTo>
                    <a:pt x="21335" y="12192"/>
                  </a:lnTo>
                  <a:lnTo>
                    <a:pt x="15239" y="6096"/>
                  </a:lnTo>
                  <a:close/>
                </a:path>
                <a:path extrusionOk="0" h="558164" w="27939">
                  <a:moveTo>
                    <a:pt x="27431" y="545592"/>
                  </a:moveTo>
                  <a:lnTo>
                    <a:pt x="21335" y="545592"/>
                  </a:lnTo>
                  <a:lnTo>
                    <a:pt x="15239" y="551688"/>
                  </a:lnTo>
                  <a:lnTo>
                    <a:pt x="27431" y="551688"/>
                  </a:lnTo>
                  <a:lnTo>
                    <a:pt x="27431" y="545592"/>
                  </a:lnTo>
                  <a:close/>
                </a:path>
                <a:path extrusionOk="0" h="558164" w="27939">
                  <a:moveTo>
                    <a:pt x="12191" y="6096"/>
                  </a:moveTo>
                  <a:lnTo>
                    <a:pt x="6095" y="12192"/>
                  </a:lnTo>
                  <a:lnTo>
                    <a:pt x="12191" y="12192"/>
                  </a:lnTo>
                  <a:lnTo>
                    <a:pt x="12191" y="6096"/>
                  </a:lnTo>
                  <a:close/>
                </a:path>
                <a:path extrusionOk="0" h="558164" w="27939">
                  <a:moveTo>
                    <a:pt x="15239" y="6096"/>
                  </a:moveTo>
                  <a:lnTo>
                    <a:pt x="12191" y="6096"/>
                  </a:lnTo>
                  <a:lnTo>
                    <a:pt x="12191" y="12192"/>
                  </a:lnTo>
                  <a:lnTo>
                    <a:pt x="15239" y="12192"/>
                  </a:lnTo>
                  <a:lnTo>
                    <a:pt x="15239" y="6096"/>
                  </a:lnTo>
                  <a:close/>
                </a:path>
                <a:path extrusionOk="0" h="558164" w="27939">
                  <a:moveTo>
                    <a:pt x="27431" y="6096"/>
                  </a:moveTo>
                  <a:lnTo>
                    <a:pt x="15239" y="6096"/>
                  </a:lnTo>
                  <a:lnTo>
                    <a:pt x="21335" y="12192"/>
                  </a:lnTo>
                  <a:lnTo>
                    <a:pt x="27431" y="12192"/>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0" name="Google Shape;340;g1ead90bba03_0_99"/>
            <p:cNvSpPr/>
            <p:nvPr/>
          </p:nvSpPr>
          <p:spPr>
            <a:xfrm>
              <a:off x="5269494" y="2246252"/>
              <a:ext cx="12701" cy="546264"/>
            </a:xfrm>
            <a:custGeom>
              <a:rect b="b" l="l" r="r" t="t"/>
              <a:pathLst>
                <a:path extrusionOk="0" h="546100" w="12700">
                  <a:moveTo>
                    <a:pt x="12191" y="0"/>
                  </a:moveTo>
                  <a:lnTo>
                    <a:pt x="0" y="0"/>
                  </a:lnTo>
                  <a:lnTo>
                    <a:pt x="0" y="545591"/>
                  </a:lnTo>
                  <a:lnTo>
                    <a:pt x="12191" y="545591"/>
                  </a:lnTo>
                  <a:lnTo>
                    <a:pt x="1219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1" name="Google Shape;341;g1ead90bba03_0_99"/>
            <p:cNvSpPr/>
            <p:nvPr/>
          </p:nvSpPr>
          <p:spPr>
            <a:xfrm>
              <a:off x="5263397" y="2240155"/>
              <a:ext cx="24766" cy="558331"/>
            </a:xfrm>
            <a:custGeom>
              <a:rect b="b" l="l" r="r" t="t"/>
              <a:pathLst>
                <a:path extrusionOk="0" h="558164" w="24764">
                  <a:moveTo>
                    <a:pt x="24384" y="0"/>
                  </a:moveTo>
                  <a:lnTo>
                    <a:pt x="0" y="0"/>
                  </a:lnTo>
                  <a:lnTo>
                    <a:pt x="0" y="557784"/>
                  </a:lnTo>
                  <a:lnTo>
                    <a:pt x="24384" y="557784"/>
                  </a:lnTo>
                  <a:lnTo>
                    <a:pt x="24384" y="551688"/>
                  </a:lnTo>
                  <a:lnTo>
                    <a:pt x="12192" y="551688"/>
                  </a:lnTo>
                  <a:lnTo>
                    <a:pt x="6096" y="545592"/>
                  </a:lnTo>
                  <a:lnTo>
                    <a:pt x="12192" y="545592"/>
                  </a:lnTo>
                  <a:lnTo>
                    <a:pt x="12192" y="12192"/>
                  </a:lnTo>
                  <a:lnTo>
                    <a:pt x="6096" y="12192"/>
                  </a:lnTo>
                  <a:lnTo>
                    <a:pt x="12192" y="6096"/>
                  </a:lnTo>
                  <a:lnTo>
                    <a:pt x="24384" y="6096"/>
                  </a:lnTo>
                  <a:lnTo>
                    <a:pt x="24384" y="0"/>
                  </a:lnTo>
                  <a:close/>
                </a:path>
                <a:path extrusionOk="0" h="558164" w="24764">
                  <a:moveTo>
                    <a:pt x="12192" y="545592"/>
                  </a:moveTo>
                  <a:lnTo>
                    <a:pt x="6096" y="545592"/>
                  </a:lnTo>
                  <a:lnTo>
                    <a:pt x="12192" y="551688"/>
                  </a:lnTo>
                  <a:lnTo>
                    <a:pt x="12192" y="545592"/>
                  </a:lnTo>
                  <a:close/>
                </a:path>
                <a:path extrusionOk="0" h="558164" w="24764">
                  <a:moveTo>
                    <a:pt x="12192" y="6096"/>
                  </a:moveTo>
                  <a:lnTo>
                    <a:pt x="12192" y="551688"/>
                  </a:lnTo>
                  <a:lnTo>
                    <a:pt x="18287" y="545592"/>
                  </a:lnTo>
                  <a:lnTo>
                    <a:pt x="24384" y="545592"/>
                  </a:lnTo>
                  <a:lnTo>
                    <a:pt x="24384" y="12192"/>
                  </a:lnTo>
                  <a:lnTo>
                    <a:pt x="18287" y="12192"/>
                  </a:lnTo>
                  <a:lnTo>
                    <a:pt x="12192" y="6096"/>
                  </a:lnTo>
                  <a:close/>
                </a:path>
                <a:path extrusionOk="0" h="558164" w="24764">
                  <a:moveTo>
                    <a:pt x="24384" y="545592"/>
                  </a:moveTo>
                  <a:lnTo>
                    <a:pt x="18287" y="545592"/>
                  </a:lnTo>
                  <a:lnTo>
                    <a:pt x="12192" y="551688"/>
                  </a:lnTo>
                  <a:lnTo>
                    <a:pt x="24384" y="551688"/>
                  </a:lnTo>
                  <a:lnTo>
                    <a:pt x="24384" y="545592"/>
                  </a:lnTo>
                  <a:close/>
                </a:path>
                <a:path extrusionOk="0" h="558164" w="24764">
                  <a:moveTo>
                    <a:pt x="12192" y="6096"/>
                  </a:moveTo>
                  <a:lnTo>
                    <a:pt x="6096" y="12192"/>
                  </a:lnTo>
                  <a:lnTo>
                    <a:pt x="12192" y="12192"/>
                  </a:lnTo>
                  <a:lnTo>
                    <a:pt x="12192" y="6096"/>
                  </a:lnTo>
                  <a:close/>
                </a:path>
                <a:path extrusionOk="0" h="558164" w="24764">
                  <a:moveTo>
                    <a:pt x="24384" y="6096"/>
                  </a:moveTo>
                  <a:lnTo>
                    <a:pt x="12192" y="6096"/>
                  </a:lnTo>
                  <a:lnTo>
                    <a:pt x="18287" y="12192"/>
                  </a:lnTo>
                  <a:lnTo>
                    <a:pt x="24384" y="12192"/>
                  </a:lnTo>
                  <a:lnTo>
                    <a:pt x="24384"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2" name="Google Shape;342;g1ead90bba03_0_99"/>
            <p:cNvSpPr/>
            <p:nvPr/>
          </p:nvSpPr>
          <p:spPr>
            <a:xfrm>
              <a:off x="7586205" y="2246252"/>
              <a:ext cx="15241" cy="546264"/>
            </a:xfrm>
            <a:custGeom>
              <a:rect b="b" l="l" r="r" t="t"/>
              <a:pathLst>
                <a:path extrusionOk="0" h="546100" w="15239">
                  <a:moveTo>
                    <a:pt x="15239" y="0"/>
                  </a:moveTo>
                  <a:lnTo>
                    <a:pt x="0" y="0"/>
                  </a:lnTo>
                  <a:lnTo>
                    <a:pt x="0" y="545591"/>
                  </a:lnTo>
                  <a:lnTo>
                    <a:pt x="15239" y="545591"/>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3" name="Google Shape;343;g1ead90bba03_0_99"/>
            <p:cNvSpPr/>
            <p:nvPr/>
          </p:nvSpPr>
          <p:spPr>
            <a:xfrm>
              <a:off x="7580108" y="2240155"/>
              <a:ext cx="27942" cy="558331"/>
            </a:xfrm>
            <a:custGeom>
              <a:rect b="b" l="l" r="r" t="t"/>
              <a:pathLst>
                <a:path extrusionOk="0" h="558164" w="27939">
                  <a:moveTo>
                    <a:pt x="27431" y="0"/>
                  </a:moveTo>
                  <a:lnTo>
                    <a:pt x="0" y="0"/>
                  </a:lnTo>
                  <a:lnTo>
                    <a:pt x="0" y="557784"/>
                  </a:lnTo>
                  <a:lnTo>
                    <a:pt x="27431" y="557784"/>
                  </a:lnTo>
                  <a:lnTo>
                    <a:pt x="27431" y="551688"/>
                  </a:lnTo>
                  <a:lnTo>
                    <a:pt x="12191" y="551688"/>
                  </a:lnTo>
                  <a:lnTo>
                    <a:pt x="6095" y="545592"/>
                  </a:lnTo>
                  <a:lnTo>
                    <a:pt x="12191" y="545592"/>
                  </a:lnTo>
                  <a:lnTo>
                    <a:pt x="12191" y="12192"/>
                  </a:lnTo>
                  <a:lnTo>
                    <a:pt x="6095" y="12192"/>
                  </a:lnTo>
                  <a:lnTo>
                    <a:pt x="12191" y="6096"/>
                  </a:lnTo>
                  <a:lnTo>
                    <a:pt x="27431" y="6096"/>
                  </a:lnTo>
                  <a:lnTo>
                    <a:pt x="27431" y="0"/>
                  </a:lnTo>
                  <a:close/>
                </a:path>
                <a:path extrusionOk="0" h="558164" w="27939">
                  <a:moveTo>
                    <a:pt x="12191" y="545592"/>
                  </a:moveTo>
                  <a:lnTo>
                    <a:pt x="6095" y="545592"/>
                  </a:lnTo>
                  <a:lnTo>
                    <a:pt x="12191" y="551688"/>
                  </a:lnTo>
                  <a:lnTo>
                    <a:pt x="12191" y="545592"/>
                  </a:lnTo>
                  <a:close/>
                </a:path>
                <a:path extrusionOk="0" h="558164" w="27939">
                  <a:moveTo>
                    <a:pt x="15239" y="545592"/>
                  </a:moveTo>
                  <a:lnTo>
                    <a:pt x="12191" y="545592"/>
                  </a:lnTo>
                  <a:lnTo>
                    <a:pt x="12191" y="551688"/>
                  </a:lnTo>
                  <a:lnTo>
                    <a:pt x="15239" y="551688"/>
                  </a:lnTo>
                  <a:lnTo>
                    <a:pt x="15239" y="545592"/>
                  </a:lnTo>
                  <a:close/>
                </a:path>
                <a:path extrusionOk="0" h="558164" w="27939">
                  <a:moveTo>
                    <a:pt x="15239" y="6096"/>
                  </a:moveTo>
                  <a:lnTo>
                    <a:pt x="15239" y="551688"/>
                  </a:lnTo>
                  <a:lnTo>
                    <a:pt x="21335" y="545592"/>
                  </a:lnTo>
                  <a:lnTo>
                    <a:pt x="27431" y="545592"/>
                  </a:lnTo>
                  <a:lnTo>
                    <a:pt x="27431" y="12192"/>
                  </a:lnTo>
                  <a:lnTo>
                    <a:pt x="21335" y="12192"/>
                  </a:lnTo>
                  <a:lnTo>
                    <a:pt x="15239" y="6096"/>
                  </a:lnTo>
                  <a:close/>
                </a:path>
                <a:path extrusionOk="0" h="558164" w="27939">
                  <a:moveTo>
                    <a:pt x="27431" y="545592"/>
                  </a:moveTo>
                  <a:lnTo>
                    <a:pt x="21335" y="545592"/>
                  </a:lnTo>
                  <a:lnTo>
                    <a:pt x="15239" y="551688"/>
                  </a:lnTo>
                  <a:lnTo>
                    <a:pt x="27431" y="551688"/>
                  </a:lnTo>
                  <a:lnTo>
                    <a:pt x="27431" y="545592"/>
                  </a:lnTo>
                  <a:close/>
                </a:path>
                <a:path extrusionOk="0" h="558164" w="27939">
                  <a:moveTo>
                    <a:pt x="12191" y="6096"/>
                  </a:moveTo>
                  <a:lnTo>
                    <a:pt x="6095" y="12192"/>
                  </a:lnTo>
                  <a:lnTo>
                    <a:pt x="12191" y="12192"/>
                  </a:lnTo>
                  <a:lnTo>
                    <a:pt x="12191" y="6096"/>
                  </a:lnTo>
                  <a:close/>
                </a:path>
                <a:path extrusionOk="0" h="558164" w="27939">
                  <a:moveTo>
                    <a:pt x="15239" y="6096"/>
                  </a:moveTo>
                  <a:lnTo>
                    <a:pt x="12191" y="6096"/>
                  </a:lnTo>
                  <a:lnTo>
                    <a:pt x="12191" y="12192"/>
                  </a:lnTo>
                  <a:lnTo>
                    <a:pt x="15239" y="12192"/>
                  </a:lnTo>
                  <a:lnTo>
                    <a:pt x="15239" y="6096"/>
                  </a:lnTo>
                  <a:close/>
                </a:path>
                <a:path extrusionOk="0" h="558164" w="27939">
                  <a:moveTo>
                    <a:pt x="27431" y="6096"/>
                  </a:moveTo>
                  <a:lnTo>
                    <a:pt x="15239" y="6096"/>
                  </a:lnTo>
                  <a:lnTo>
                    <a:pt x="21335" y="12192"/>
                  </a:lnTo>
                  <a:lnTo>
                    <a:pt x="27431" y="12192"/>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4" name="Google Shape;344;g1ead90bba03_0_99"/>
            <p:cNvSpPr/>
            <p:nvPr/>
          </p:nvSpPr>
          <p:spPr>
            <a:xfrm>
              <a:off x="8775044" y="2247321"/>
              <a:ext cx="15242" cy="546100"/>
            </a:xfrm>
            <a:custGeom>
              <a:rect b="b" l="l" r="r" t="t"/>
              <a:pathLst>
                <a:path extrusionOk="0" h="546100" w="15240">
                  <a:moveTo>
                    <a:pt x="15240" y="0"/>
                  </a:moveTo>
                  <a:lnTo>
                    <a:pt x="0" y="0"/>
                  </a:lnTo>
                  <a:lnTo>
                    <a:pt x="0" y="545591"/>
                  </a:lnTo>
                  <a:lnTo>
                    <a:pt x="15240" y="545591"/>
                  </a:lnTo>
                  <a:lnTo>
                    <a:pt x="1524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5" name="Google Shape;345;g1ead90bba03_0_99"/>
            <p:cNvSpPr/>
            <p:nvPr/>
          </p:nvSpPr>
          <p:spPr>
            <a:xfrm>
              <a:off x="5293880" y="2241225"/>
              <a:ext cx="3503009" cy="588644"/>
            </a:xfrm>
            <a:custGeom>
              <a:rect b="b" l="l" r="r" t="t"/>
              <a:pathLst>
                <a:path extrusionOk="0" h="588644" w="3502659">
                  <a:moveTo>
                    <a:pt x="2310384" y="560832"/>
                  </a:moveTo>
                  <a:lnTo>
                    <a:pt x="2298192" y="560832"/>
                  </a:lnTo>
                  <a:lnTo>
                    <a:pt x="2298192" y="573024"/>
                  </a:lnTo>
                  <a:lnTo>
                    <a:pt x="2298192" y="576072"/>
                  </a:lnTo>
                  <a:lnTo>
                    <a:pt x="12192" y="576072"/>
                  </a:lnTo>
                  <a:lnTo>
                    <a:pt x="12192" y="573024"/>
                  </a:lnTo>
                  <a:lnTo>
                    <a:pt x="2298192" y="573024"/>
                  </a:lnTo>
                  <a:lnTo>
                    <a:pt x="2298192" y="560832"/>
                  </a:lnTo>
                  <a:lnTo>
                    <a:pt x="0" y="560832"/>
                  </a:lnTo>
                  <a:lnTo>
                    <a:pt x="0" y="588264"/>
                  </a:lnTo>
                  <a:lnTo>
                    <a:pt x="2310384" y="588264"/>
                  </a:lnTo>
                  <a:lnTo>
                    <a:pt x="2310384" y="582168"/>
                  </a:lnTo>
                  <a:lnTo>
                    <a:pt x="2310384" y="576072"/>
                  </a:lnTo>
                  <a:lnTo>
                    <a:pt x="2310384" y="573024"/>
                  </a:lnTo>
                  <a:lnTo>
                    <a:pt x="2310384" y="566928"/>
                  </a:lnTo>
                  <a:lnTo>
                    <a:pt x="2310384" y="560832"/>
                  </a:lnTo>
                  <a:close/>
                </a:path>
                <a:path extrusionOk="0" h="588644" w="3502659">
                  <a:moveTo>
                    <a:pt x="3502152" y="0"/>
                  </a:moveTo>
                  <a:lnTo>
                    <a:pt x="3489960" y="0"/>
                  </a:lnTo>
                  <a:lnTo>
                    <a:pt x="3489960" y="12192"/>
                  </a:lnTo>
                  <a:lnTo>
                    <a:pt x="3489960" y="545592"/>
                  </a:lnTo>
                  <a:lnTo>
                    <a:pt x="3486912" y="545592"/>
                  </a:lnTo>
                  <a:lnTo>
                    <a:pt x="3486912" y="12192"/>
                  </a:lnTo>
                  <a:lnTo>
                    <a:pt x="3489960" y="12192"/>
                  </a:lnTo>
                  <a:lnTo>
                    <a:pt x="3489960" y="0"/>
                  </a:lnTo>
                  <a:lnTo>
                    <a:pt x="3474720" y="0"/>
                  </a:lnTo>
                  <a:lnTo>
                    <a:pt x="3474720" y="557784"/>
                  </a:lnTo>
                  <a:lnTo>
                    <a:pt x="3502152" y="557784"/>
                  </a:lnTo>
                  <a:lnTo>
                    <a:pt x="3502152" y="551688"/>
                  </a:lnTo>
                  <a:lnTo>
                    <a:pt x="3502152" y="545592"/>
                  </a:lnTo>
                  <a:lnTo>
                    <a:pt x="3502152" y="12192"/>
                  </a:lnTo>
                  <a:lnTo>
                    <a:pt x="3502152" y="6096"/>
                  </a:lnTo>
                  <a:lnTo>
                    <a:pt x="350215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6" name="Google Shape;346;g1ead90bba03_0_99"/>
            <p:cNvSpPr/>
            <p:nvPr/>
          </p:nvSpPr>
          <p:spPr>
            <a:xfrm>
              <a:off x="4019689" y="2792913"/>
              <a:ext cx="15241" cy="548639"/>
            </a:xfrm>
            <a:custGeom>
              <a:rect b="b" l="l" r="r" t="t"/>
              <a:pathLst>
                <a:path extrusionOk="0" h="548639" w="15239">
                  <a:moveTo>
                    <a:pt x="15239" y="0"/>
                  </a:moveTo>
                  <a:lnTo>
                    <a:pt x="0" y="0"/>
                  </a:lnTo>
                  <a:lnTo>
                    <a:pt x="0" y="548639"/>
                  </a:lnTo>
                  <a:lnTo>
                    <a:pt x="15239" y="548639"/>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7" name="Google Shape;347;g1ead90bba03_0_99"/>
            <p:cNvSpPr/>
            <p:nvPr/>
          </p:nvSpPr>
          <p:spPr>
            <a:xfrm>
              <a:off x="4013592" y="2786817"/>
              <a:ext cx="27942" cy="561339"/>
            </a:xfrm>
            <a:custGeom>
              <a:rect b="b" l="l" r="r" t="t"/>
              <a:pathLst>
                <a:path extrusionOk="0" h="561339" w="27939">
                  <a:moveTo>
                    <a:pt x="27431" y="0"/>
                  </a:moveTo>
                  <a:lnTo>
                    <a:pt x="0" y="0"/>
                  </a:lnTo>
                  <a:lnTo>
                    <a:pt x="0" y="560831"/>
                  </a:lnTo>
                  <a:lnTo>
                    <a:pt x="27431" y="560831"/>
                  </a:lnTo>
                  <a:lnTo>
                    <a:pt x="27431" y="554735"/>
                  </a:lnTo>
                  <a:lnTo>
                    <a:pt x="12191" y="554735"/>
                  </a:lnTo>
                  <a:lnTo>
                    <a:pt x="6095" y="548639"/>
                  </a:lnTo>
                  <a:lnTo>
                    <a:pt x="12191" y="548639"/>
                  </a:lnTo>
                  <a:lnTo>
                    <a:pt x="12191" y="12191"/>
                  </a:lnTo>
                  <a:lnTo>
                    <a:pt x="6095" y="12191"/>
                  </a:lnTo>
                  <a:lnTo>
                    <a:pt x="12191" y="6095"/>
                  </a:lnTo>
                  <a:lnTo>
                    <a:pt x="27431" y="6095"/>
                  </a:lnTo>
                  <a:lnTo>
                    <a:pt x="27431" y="0"/>
                  </a:lnTo>
                  <a:close/>
                </a:path>
                <a:path extrusionOk="0" h="561339" w="27939">
                  <a:moveTo>
                    <a:pt x="12191" y="548639"/>
                  </a:moveTo>
                  <a:lnTo>
                    <a:pt x="6095" y="548639"/>
                  </a:lnTo>
                  <a:lnTo>
                    <a:pt x="12191" y="554735"/>
                  </a:lnTo>
                  <a:lnTo>
                    <a:pt x="12191" y="548639"/>
                  </a:lnTo>
                  <a:close/>
                </a:path>
                <a:path extrusionOk="0" h="561339" w="27939">
                  <a:moveTo>
                    <a:pt x="15239" y="548639"/>
                  </a:moveTo>
                  <a:lnTo>
                    <a:pt x="12191" y="548639"/>
                  </a:lnTo>
                  <a:lnTo>
                    <a:pt x="12191" y="554735"/>
                  </a:lnTo>
                  <a:lnTo>
                    <a:pt x="15239" y="554735"/>
                  </a:lnTo>
                  <a:lnTo>
                    <a:pt x="15239" y="548639"/>
                  </a:lnTo>
                  <a:close/>
                </a:path>
                <a:path extrusionOk="0" h="561339" w="27939">
                  <a:moveTo>
                    <a:pt x="15239" y="6095"/>
                  </a:moveTo>
                  <a:lnTo>
                    <a:pt x="15239" y="554735"/>
                  </a:lnTo>
                  <a:lnTo>
                    <a:pt x="21335" y="548639"/>
                  </a:lnTo>
                  <a:lnTo>
                    <a:pt x="27431" y="548639"/>
                  </a:lnTo>
                  <a:lnTo>
                    <a:pt x="27431" y="12191"/>
                  </a:lnTo>
                  <a:lnTo>
                    <a:pt x="21335" y="12191"/>
                  </a:lnTo>
                  <a:lnTo>
                    <a:pt x="15239" y="6095"/>
                  </a:lnTo>
                  <a:close/>
                </a:path>
                <a:path extrusionOk="0" h="561339" w="27939">
                  <a:moveTo>
                    <a:pt x="27431" y="548639"/>
                  </a:moveTo>
                  <a:lnTo>
                    <a:pt x="21335" y="548639"/>
                  </a:lnTo>
                  <a:lnTo>
                    <a:pt x="15239" y="554735"/>
                  </a:lnTo>
                  <a:lnTo>
                    <a:pt x="27431" y="554735"/>
                  </a:lnTo>
                  <a:lnTo>
                    <a:pt x="27431" y="548639"/>
                  </a:lnTo>
                  <a:close/>
                </a:path>
                <a:path extrusionOk="0" h="561339" w="27939">
                  <a:moveTo>
                    <a:pt x="12191" y="6095"/>
                  </a:moveTo>
                  <a:lnTo>
                    <a:pt x="6095" y="12191"/>
                  </a:lnTo>
                  <a:lnTo>
                    <a:pt x="12191" y="12191"/>
                  </a:lnTo>
                  <a:lnTo>
                    <a:pt x="12191" y="6095"/>
                  </a:lnTo>
                  <a:close/>
                </a:path>
                <a:path extrusionOk="0" h="561339" w="27939">
                  <a:moveTo>
                    <a:pt x="15239" y="6095"/>
                  </a:moveTo>
                  <a:lnTo>
                    <a:pt x="12191" y="6095"/>
                  </a:lnTo>
                  <a:lnTo>
                    <a:pt x="12191" y="12191"/>
                  </a:lnTo>
                  <a:lnTo>
                    <a:pt x="15239" y="12191"/>
                  </a:lnTo>
                  <a:lnTo>
                    <a:pt x="15239" y="6095"/>
                  </a:lnTo>
                  <a:close/>
                </a:path>
                <a:path extrusionOk="0" h="561339" w="27939">
                  <a:moveTo>
                    <a:pt x="27431" y="6095"/>
                  </a:moveTo>
                  <a:lnTo>
                    <a:pt x="15239" y="6095"/>
                  </a:lnTo>
                  <a:lnTo>
                    <a:pt x="21335" y="12191"/>
                  </a:lnTo>
                  <a:lnTo>
                    <a:pt x="27431" y="12191"/>
                  </a:lnTo>
                  <a:lnTo>
                    <a:pt x="27431" y="609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8" name="Google Shape;348;g1ead90bba03_0_99"/>
            <p:cNvSpPr/>
            <p:nvPr/>
          </p:nvSpPr>
          <p:spPr>
            <a:xfrm>
              <a:off x="5269494" y="2792913"/>
              <a:ext cx="12701" cy="548639"/>
            </a:xfrm>
            <a:custGeom>
              <a:rect b="b" l="l" r="r" t="t"/>
              <a:pathLst>
                <a:path extrusionOk="0" h="548639" w="12700">
                  <a:moveTo>
                    <a:pt x="12191" y="0"/>
                  </a:moveTo>
                  <a:lnTo>
                    <a:pt x="0" y="0"/>
                  </a:lnTo>
                  <a:lnTo>
                    <a:pt x="0" y="548639"/>
                  </a:lnTo>
                  <a:lnTo>
                    <a:pt x="12191" y="548639"/>
                  </a:lnTo>
                  <a:lnTo>
                    <a:pt x="1219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9" name="Google Shape;349;g1ead90bba03_0_99"/>
            <p:cNvSpPr/>
            <p:nvPr/>
          </p:nvSpPr>
          <p:spPr>
            <a:xfrm>
              <a:off x="5263397" y="2786817"/>
              <a:ext cx="24766" cy="561339"/>
            </a:xfrm>
            <a:custGeom>
              <a:rect b="b" l="l" r="r" t="t"/>
              <a:pathLst>
                <a:path extrusionOk="0" h="561339" w="24764">
                  <a:moveTo>
                    <a:pt x="24384" y="0"/>
                  </a:moveTo>
                  <a:lnTo>
                    <a:pt x="0" y="0"/>
                  </a:lnTo>
                  <a:lnTo>
                    <a:pt x="0" y="560831"/>
                  </a:lnTo>
                  <a:lnTo>
                    <a:pt x="24384" y="560831"/>
                  </a:lnTo>
                  <a:lnTo>
                    <a:pt x="24384" y="554735"/>
                  </a:lnTo>
                  <a:lnTo>
                    <a:pt x="12192" y="554735"/>
                  </a:lnTo>
                  <a:lnTo>
                    <a:pt x="6096" y="548639"/>
                  </a:lnTo>
                  <a:lnTo>
                    <a:pt x="12192" y="548639"/>
                  </a:lnTo>
                  <a:lnTo>
                    <a:pt x="12192" y="12191"/>
                  </a:lnTo>
                  <a:lnTo>
                    <a:pt x="6096" y="12191"/>
                  </a:lnTo>
                  <a:lnTo>
                    <a:pt x="12192" y="6095"/>
                  </a:lnTo>
                  <a:lnTo>
                    <a:pt x="24384" y="6095"/>
                  </a:lnTo>
                  <a:lnTo>
                    <a:pt x="24384" y="0"/>
                  </a:lnTo>
                  <a:close/>
                </a:path>
                <a:path extrusionOk="0" h="561339" w="24764">
                  <a:moveTo>
                    <a:pt x="12192" y="548639"/>
                  </a:moveTo>
                  <a:lnTo>
                    <a:pt x="6096" y="548639"/>
                  </a:lnTo>
                  <a:lnTo>
                    <a:pt x="12192" y="554735"/>
                  </a:lnTo>
                  <a:lnTo>
                    <a:pt x="12192" y="548639"/>
                  </a:lnTo>
                  <a:close/>
                </a:path>
                <a:path extrusionOk="0" h="561339" w="24764">
                  <a:moveTo>
                    <a:pt x="12192" y="6095"/>
                  </a:moveTo>
                  <a:lnTo>
                    <a:pt x="12192" y="554735"/>
                  </a:lnTo>
                  <a:lnTo>
                    <a:pt x="18287" y="548639"/>
                  </a:lnTo>
                  <a:lnTo>
                    <a:pt x="24384" y="548639"/>
                  </a:lnTo>
                  <a:lnTo>
                    <a:pt x="24384" y="12191"/>
                  </a:lnTo>
                  <a:lnTo>
                    <a:pt x="18287" y="12191"/>
                  </a:lnTo>
                  <a:lnTo>
                    <a:pt x="12192" y="6095"/>
                  </a:lnTo>
                  <a:close/>
                </a:path>
                <a:path extrusionOk="0" h="561339" w="24764">
                  <a:moveTo>
                    <a:pt x="24384" y="548639"/>
                  </a:moveTo>
                  <a:lnTo>
                    <a:pt x="18287" y="548639"/>
                  </a:lnTo>
                  <a:lnTo>
                    <a:pt x="12192" y="554735"/>
                  </a:lnTo>
                  <a:lnTo>
                    <a:pt x="24384" y="554735"/>
                  </a:lnTo>
                  <a:lnTo>
                    <a:pt x="24384" y="548639"/>
                  </a:lnTo>
                  <a:close/>
                </a:path>
                <a:path extrusionOk="0" h="561339" w="24764">
                  <a:moveTo>
                    <a:pt x="12192" y="6095"/>
                  </a:moveTo>
                  <a:lnTo>
                    <a:pt x="6096" y="12191"/>
                  </a:lnTo>
                  <a:lnTo>
                    <a:pt x="12192" y="12191"/>
                  </a:lnTo>
                  <a:lnTo>
                    <a:pt x="12192" y="6095"/>
                  </a:lnTo>
                  <a:close/>
                </a:path>
                <a:path extrusionOk="0" h="561339" w="24764">
                  <a:moveTo>
                    <a:pt x="24384" y="6095"/>
                  </a:moveTo>
                  <a:lnTo>
                    <a:pt x="12192" y="6095"/>
                  </a:lnTo>
                  <a:lnTo>
                    <a:pt x="18287" y="12191"/>
                  </a:lnTo>
                  <a:lnTo>
                    <a:pt x="24384" y="12191"/>
                  </a:lnTo>
                  <a:lnTo>
                    <a:pt x="24384" y="609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0" name="Google Shape;350;g1ead90bba03_0_99"/>
            <p:cNvSpPr/>
            <p:nvPr/>
          </p:nvSpPr>
          <p:spPr>
            <a:xfrm>
              <a:off x="7586205" y="2792913"/>
              <a:ext cx="15241" cy="548639"/>
            </a:xfrm>
            <a:custGeom>
              <a:rect b="b" l="l" r="r" t="t"/>
              <a:pathLst>
                <a:path extrusionOk="0" h="548639" w="15239">
                  <a:moveTo>
                    <a:pt x="15239" y="0"/>
                  </a:moveTo>
                  <a:lnTo>
                    <a:pt x="0" y="0"/>
                  </a:lnTo>
                  <a:lnTo>
                    <a:pt x="0" y="548639"/>
                  </a:lnTo>
                  <a:lnTo>
                    <a:pt x="15239" y="548639"/>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1" name="Google Shape;351;g1ead90bba03_0_99"/>
            <p:cNvSpPr/>
            <p:nvPr/>
          </p:nvSpPr>
          <p:spPr>
            <a:xfrm>
              <a:off x="7580108" y="2786817"/>
              <a:ext cx="27942" cy="561339"/>
            </a:xfrm>
            <a:custGeom>
              <a:rect b="b" l="l" r="r" t="t"/>
              <a:pathLst>
                <a:path extrusionOk="0" h="561339" w="27939">
                  <a:moveTo>
                    <a:pt x="27431" y="0"/>
                  </a:moveTo>
                  <a:lnTo>
                    <a:pt x="0" y="0"/>
                  </a:lnTo>
                  <a:lnTo>
                    <a:pt x="0" y="560831"/>
                  </a:lnTo>
                  <a:lnTo>
                    <a:pt x="27431" y="560831"/>
                  </a:lnTo>
                  <a:lnTo>
                    <a:pt x="27431" y="554735"/>
                  </a:lnTo>
                  <a:lnTo>
                    <a:pt x="12191" y="554735"/>
                  </a:lnTo>
                  <a:lnTo>
                    <a:pt x="6095" y="548639"/>
                  </a:lnTo>
                  <a:lnTo>
                    <a:pt x="12191" y="548639"/>
                  </a:lnTo>
                  <a:lnTo>
                    <a:pt x="12191" y="12191"/>
                  </a:lnTo>
                  <a:lnTo>
                    <a:pt x="6095" y="12191"/>
                  </a:lnTo>
                  <a:lnTo>
                    <a:pt x="12191" y="6095"/>
                  </a:lnTo>
                  <a:lnTo>
                    <a:pt x="27431" y="6095"/>
                  </a:lnTo>
                  <a:lnTo>
                    <a:pt x="27431" y="0"/>
                  </a:lnTo>
                  <a:close/>
                </a:path>
                <a:path extrusionOk="0" h="561339" w="27939">
                  <a:moveTo>
                    <a:pt x="12191" y="548639"/>
                  </a:moveTo>
                  <a:lnTo>
                    <a:pt x="6095" y="548639"/>
                  </a:lnTo>
                  <a:lnTo>
                    <a:pt x="12191" y="554735"/>
                  </a:lnTo>
                  <a:lnTo>
                    <a:pt x="12191" y="548639"/>
                  </a:lnTo>
                  <a:close/>
                </a:path>
                <a:path extrusionOk="0" h="561339" w="27939">
                  <a:moveTo>
                    <a:pt x="15239" y="548639"/>
                  </a:moveTo>
                  <a:lnTo>
                    <a:pt x="12191" y="548639"/>
                  </a:lnTo>
                  <a:lnTo>
                    <a:pt x="12191" y="554735"/>
                  </a:lnTo>
                  <a:lnTo>
                    <a:pt x="15239" y="554735"/>
                  </a:lnTo>
                  <a:lnTo>
                    <a:pt x="15239" y="548639"/>
                  </a:lnTo>
                  <a:close/>
                </a:path>
                <a:path extrusionOk="0" h="561339" w="27939">
                  <a:moveTo>
                    <a:pt x="15239" y="6095"/>
                  </a:moveTo>
                  <a:lnTo>
                    <a:pt x="15239" y="554735"/>
                  </a:lnTo>
                  <a:lnTo>
                    <a:pt x="21335" y="548639"/>
                  </a:lnTo>
                  <a:lnTo>
                    <a:pt x="27431" y="548639"/>
                  </a:lnTo>
                  <a:lnTo>
                    <a:pt x="27431" y="12191"/>
                  </a:lnTo>
                  <a:lnTo>
                    <a:pt x="21335" y="12191"/>
                  </a:lnTo>
                  <a:lnTo>
                    <a:pt x="15239" y="6095"/>
                  </a:lnTo>
                  <a:close/>
                </a:path>
                <a:path extrusionOk="0" h="561339" w="27939">
                  <a:moveTo>
                    <a:pt x="27431" y="548639"/>
                  </a:moveTo>
                  <a:lnTo>
                    <a:pt x="21335" y="548639"/>
                  </a:lnTo>
                  <a:lnTo>
                    <a:pt x="15239" y="554735"/>
                  </a:lnTo>
                  <a:lnTo>
                    <a:pt x="27431" y="554735"/>
                  </a:lnTo>
                  <a:lnTo>
                    <a:pt x="27431" y="548639"/>
                  </a:lnTo>
                  <a:close/>
                </a:path>
                <a:path extrusionOk="0" h="561339" w="27939">
                  <a:moveTo>
                    <a:pt x="12191" y="6095"/>
                  </a:moveTo>
                  <a:lnTo>
                    <a:pt x="6095" y="12191"/>
                  </a:lnTo>
                  <a:lnTo>
                    <a:pt x="12191" y="12191"/>
                  </a:lnTo>
                  <a:lnTo>
                    <a:pt x="12191" y="6095"/>
                  </a:lnTo>
                  <a:close/>
                </a:path>
                <a:path extrusionOk="0" h="561339" w="27939">
                  <a:moveTo>
                    <a:pt x="15239" y="6095"/>
                  </a:moveTo>
                  <a:lnTo>
                    <a:pt x="12191" y="6095"/>
                  </a:lnTo>
                  <a:lnTo>
                    <a:pt x="12191" y="12191"/>
                  </a:lnTo>
                  <a:lnTo>
                    <a:pt x="15239" y="12191"/>
                  </a:lnTo>
                  <a:lnTo>
                    <a:pt x="15239" y="6095"/>
                  </a:lnTo>
                  <a:close/>
                </a:path>
                <a:path extrusionOk="0" h="561339" w="27939">
                  <a:moveTo>
                    <a:pt x="27431" y="6095"/>
                  </a:moveTo>
                  <a:lnTo>
                    <a:pt x="15239" y="6095"/>
                  </a:lnTo>
                  <a:lnTo>
                    <a:pt x="21335" y="12191"/>
                  </a:lnTo>
                  <a:lnTo>
                    <a:pt x="27431" y="12191"/>
                  </a:lnTo>
                  <a:lnTo>
                    <a:pt x="27431" y="609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2" name="Google Shape;352;g1ead90bba03_0_99"/>
            <p:cNvSpPr/>
            <p:nvPr/>
          </p:nvSpPr>
          <p:spPr>
            <a:xfrm>
              <a:off x="8775044" y="2792913"/>
              <a:ext cx="15242" cy="548639"/>
            </a:xfrm>
            <a:custGeom>
              <a:rect b="b" l="l" r="r" t="t"/>
              <a:pathLst>
                <a:path extrusionOk="0" h="548639" w="15240">
                  <a:moveTo>
                    <a:pt x="15240" y="0"/>
                  </a:moveTo>
                  <a:lnTo>
                    <a:pt x="0" y="0"/>
                  </a:lnTo>
                  <a:lnTo>
                    <a:pt x="0" y="548639"/>
                  </a:lnTo>
                  <a:lnTo>
                    <a:pt x="15240" y="548639"/>
                  </a:lnTo>
                  <a:lnTo>
                    <a:pt x="1524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3" name="Google Shape;353;g1ead90bba03_0_99"/>
            <p:cNvSpPr/>
            <p:nvPr/>
          </p:nvSpPr>
          <p:spPr>
            <a:xfrm>
              <a:off x="4013592" y="2786817"/>
              <a:ext cx="4783298" cy="591820"/>
            </a:xfrm>
            <a:custGeom>
              <a:rect b="b" l="l" r="r" t="t"/>
              <a:pathLst>
                <a:path extrusionOk="0" h="591820" w="4782820">
                  <a:moveTo>
                    <a:pt x="4773168" y="563880"/>
                  </a:moveTo>
                  <a:lnTo>
                    <a:pt x="4760976" y="563880"/>
                  </a:lnTo>
                  <a:lnTo>
                    <a:pt x="4760976" y="576072"/>
                  </a:lnTo>
                  <a:lnTo>
                    <a:pt x="4760976" y="579120"/>
                  </a:lnTo>
                  <a:lnTo>
                    <a:pt x="12192" y="579120"/>
                  </a:lnTo>
                  <a:lnTo>
                    <a:pt x="12192" y="576072"/>
                  </a:lnTo>
                  <a:lnTo>
                    <a:pt x="4760976" y="576072"/>
                  </a:lnTo>
                  <a:lnTo>
                    <a:pt x="4760976" y="563880"/>
                  </a:lnTo>
                  <a:lnTo>
                    <a:pt x="0" y="563880"/>
                  </a:lnTo>
                  <a:lnTo>
                    <a:pt x="0" y="591312"/>
                  </a:lnTo>
                  <a:lnTo>
                    <a:pt x="4773168" y="591312"/>
                  </a:lnTo>
                  <a:lnTo>
                    <a:pt x="4773168" y="585216"/>
                  </a:lnTo>
                  <a:lnTo>
                    <a:pt x="4773168" y="579120"/>
                  </a:lnTo>
                  <a:lnTo>
                    <a:pt x="4773168" y="576072"/>
                  </a:lnTo>
                  <a:lnTo>
                    <a:pt x="4773168" y="569976"/>
                  </a:lnTo>
                  <a:lnTo>
                    <a:pt x="4773168" y="563880"/>
                  </a:lnTo>
                  <a:close/>
                </a:path>
                <a:path extrusionOk="0" h="591820" w="4782820">
                  <a:moveTo>
                    <a:pt x="4782312" y="0"/>
                  </a:moveTo>
                  <a:lnTo>
                    <a:pt x="4770120" y="0"/>
                  </a:lnTo>
                  <a:lnTo>
                    <a:pt x="4770120" y="12192"/>
                  </a:lnTo>
                  <a:lnTo>
                    <a:pt x="4770120" y="548640"/>
                  </a:lnTo>
                  <a:lnTo>
                    <a:pt x="4767072" y="548640"/>
                  </a:lnTo>
                  <a:lnTo>
                    <a:pt x="4767072" y="12192"/>
                  </a:lnTo>
                  <a:lnTo>
                    <a:pt x="4770120" y="12192"/>
                  </a:lnTo>
                  <a:lnTo>
                    <a:pt x="4770120" y="0"/>
                  </a:lnTo>
                  <a:lnTo>
                    <a:pt x="4754880" y="0"/>
                  </a:lnTo>
                  <a:lnTo>
                    <a:pt x="4754880" y="560832"/>
                  </a:lnTo>
                  <a:lnTo>
                    <a:pt x="4782312" y="560832"/>
                  </a:lnTo>
                  <a:lnTo>
                    <a:pt x="4782312" y="554736"/>
                  </a:lnTo>
                  <a:lnTo>
                    <a:pt x="4782312" y="548640"/>
                  </a:lnTo>
                  <a:lnTo>
                    <a:pt x="4782312" y="12192"/>
                  </a:lnTo>
                  <a:lnTo>
                    <a:pt x="4782312" y="6096"/>
                  </a:lnTo>
                  <a:lnTo>
                    <a:pt x="478231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4" name="Google Shape;354;g1ead90bba03_0_99"/>
            <p:cNvSpPr/>
            <p:nvPr/>
          </p:nvSpPr>
          <p:spPr>
            <a:xfrm>
              <a:off x="8775044" y="3347649"/>
              <a:ext cx="15242" cy="481964"/>
            </a:xfrm>
            <a:custGeom>
              <a:rect b="b" l="l" r="r" t="t"/>
              <a:pathLst>
                <a:path extrusionOk="0" h="481964" w="15240">
                  <a:moveTo>
                    <a:pt x="15240" y="0"/>
                  </a:moveTo>
                  <a:lnTo>
                    <a:pt x="0" y="0"/>
                  </a:lnTo>
                  <a:lnTo>
                    <a:pt x="0" y="481584"/>
                  </a:lnTo>
                  <a:lnTo>
                    <a:pt x="15240" y="481584"/>
                  </a:lnTo>
                  <a:lnTo>
                    <a:pt x="1524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5" name="Google Shape;355;g1ead90bba03_0_99"/>
            <p:cNvSpPr/>
            <p:nvPr/>
          </p:nvSpPr>
          <p:spPr>
            <a:xfrm>
              <a:off x="8768947" y="3341553"/>
              <a:ext cx="27943" cy="494029"/>
            </a:xfrm>
            <a:custGeom>
              <a:rect b="b" l="l" r="r" t="t"/>
              <a:pathLst>
                <a:path extrusionOk="0" h="494029" w="27940">
                  <a:moveTo>
                    <a:pt x="27431" y="0"/>
                  </a:moveTo>
                  <a:lnTo>
                    <a:pt x="0" y="0"/>
                  </a:lnTo>
                  <a:lnTo>
                    <a:pt x="0" y="493776"/>
                  </a:lnTo>
                  <a:lnTo>
                    <a:pt x="27431" y="493776"/>
                  </a:lnTo>
                  <a:lnTo>
                    <a:pt x="27431" y="487680"/>
                  </a:lnTo>
                  <a:lnTo>
                    <a:pt x="12191" y="487680"/>
                  </a:lnTo>
                  <a:lnTo>
                    <a:pt x="6095" y="481584"/>
                  </a:lnTo>
                  <a:lnTo>
                    <a:pt x="12191" y="481584"/>
                  </a:lnTo>
                  <a:lnTo>
                    <a:pt x="12191" y="12192"/>
                  </a:lnTo>
                  <a:lnTo>
                    <a:pt x="6095" y="12192"/>
                  </a:lnTo>
                  <a:lnTo>
                    <a:pt x="12191" y="6096"/>
                  </a:lnTo>
                  <a:lnTo>
                    <a:pt x="27431" y="6096"/>
                  </a:lnTo>
                  <a:lnTo>
                    <a:pt x="27431" y="0"/>
                  </a:lnTo>
                  <a:close/>
                </a:path>
                <a:path extrusionOk="0" h="494029" w="27940">
                  <a:moveTo>
                    <a:pt x="12191" y="481584"/>
                  </a:moveTo>
                  <a:lnTo>
                    <a:pt x="6095" y="481584"/>
                  </a:lnTo>
                  <a:lnTo>
                    <a:pt x="12191" y="487680"/>
                  </a:lnTo>
                  <a:lnTo>
                    <a:pt x="12191" y="481584"/>
                  </a:lnTo>
                  <a:close/>
                </a:path>
                <a:path extrusionOk="0" h="494029" w="27940">
                  <a:moveTo>
                    <a:pt x="15239" y="481584"/>
                  </a:moveTo>
                  <a:lnTo>
                    <a:pt x="12191" y="481584"/>
                  </a:lnTo>
                  <a:lnTo>
                    <a:pt x="12191" y="487680"/>
                  </a:lnTo>
                  <a:lnTo>
                    <a:pt x="15239" y="487680"/>
                  </a:lnTo>
                  <a:lnTo>
                    <a:pt x="15239" y="481584"/>
                  </a:lnTo>
                  <a:close/>
                </a:path>
                <a:path extrusionOk="0" h="494029" w="27940">
                  <a:moveTo>
                    <a:pt x="15239" y="6096"/>
                  </a:moveTo>
                  <a:lnTo>
                    <a:pt x="15239" y="487680"/>
                  </a:lnTo>
                  <a:lnTo>
                    <a:pt x="21335" y="481584"/>
                  </a:lnTo>
                  <a:lnTo>
                    <a:pt x="27431" y="481584"/>
                  </a:lnTo>
                  <a:lnTo>
                    <a:pt x="27431" y="12192"/>
                  </a:lnTo>
                  <a:lnTo>
                    <a:pt x="21335" y="12192"/>
                  </a:lnTo>
                  <a:lnTo>
                    <a:pt x="15239" y="6096"/>
                  </a:lnTo>
                  <a:close/>
                </a:path>
                <a:path extrusionOk="0" h="494029" w="27940">
                  <a:moveTo>
                    <a:pt x="27431" y="481584"/>
                  </a:moveTo>
                  <a:lnTo>
                    <a:pt x="21335" y="481584"/>
                  </a:lnTo>
                  <a:lnTo>
                    <a:pt x="15239" y="487680"/>
                  </a:lnTo>
                  <a:lnTo>
                    <a:pt x="27431" y="487680"/>
                  </a:lnTo>
                  <a:lnTo>
                    <a:pt x="27431" y="481584"/>
                  </a:lnTo>
                  <a:close/>
                </a:path>
                <a:path extrusionOk="0" h="494029" w="27940">
                  <a:moveTo>
                    <a:pt x="12191" y="6096"/>
                  </a:moveTo>
                  <a:lnTo>
                    <a:pt x="6095" y="12192"/>
                  </a:lnTo>
                  <a:lnTo>
                    <a:pt x="12191" y="12192"/>
                  </a:lnTo>
                  <a:lnTo>
                    <a:pt x="12191" y="6096"/>
                  </a:lnTo>
                  <a:close/>
                </a:path>
                <a:path extrusionOk="0" h="494029" w="27940">
                  <a:moveTo>
                    <a:pt x="15239" y="6096"/>
                  </a:moveTo>
                  <a:lnTo>
                    <a:pt x="12191" y="6096"/>
                  </a:lnTo>
                  <a:lnTo>
                    <a:pt x="12191" y="12192"/>
                  </a:lnTo>
                  <a:lnTo>
                    <a:pt x="15239" y="12192"/>
                  </a:lnTo>
                  <a:lnTo>
                    <a:pt x="15239" y="6096"/>
                  </a:lnTo>
                  <a:close/>
                </a:path>
                <a:path extrusionOk="0" h="494029" w="27940">
                  <a:moveTo>
                    <a:pt x="27431" y="6096"/>
                  </a:moveTo>
                  <a:lnTo>
                    <a:pt x="15239" y="6096"/>
                  </a:lnTo>
                  <a:lnTo>
                    <a:pt x="21335" y="12192"/>
                  </a:lnTo>
                  <a:lnTo>
                    <a:pt x="27431" y="12192"/>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6" name="Google Shape;356;g1ead90bba03_0_99"/>
            <p:cNvSpPr/>
            <p:nvPr/>
          </p:nvSpPr>
          <p:spPr>
            <a:xfrm>
              <a:off x="8775044" y="3829233"/>
              <a:ext cx="15242" cy="365760"/>
            </a:xfrm>
            <a:custGeom>
              <a:rect b="b" l="l" r="r" t="t"/>
              <a:pathLst>
                <a:path extrusionOk="0" h="365760" w="15240">
                  <a:moveTo>
                    <a:pt x="15240" y="0"/>
                  </a:moveTo>
                  <a:lnTo>
                    <a:pt x="0" y="0"/>
                  </a:lnTo>
                  <a:lnTo>
                    <a:pt x="0" y="365760"/>
                  </a:lnTo>
                  <a:lnTo>
                    <a:pt x="15240" y="365760"/>
                  </a:lnTo>
                  <a:lnTo>
                    <a:pt x="1524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7" name="Google Shape;357;g1ead90bba03_0_99"/>
            <p:cNvSpPr/>
            <p:nvPr/>
          </p:nvSpPr>
          <p:spPr>
            <a:xfrm>
              <a:off x="8768947" y="3823137"/>
              <a:ext cx="27943" cy="378460"/>
            </a:xfrm>
            <a:custGeom>
              <a:rect b="b" l="l" r="r" t="t"/>
              <a:pathLst>
                <a:path extrusionOk="0" h="378460" w="27940">
                  <a:moveTo>
                    <a:pt x="27431" y="0"/>
                  </a:moveTo>
                  <a:lnTo>
                    <a:pt x="0" y="0"/>
                  </a:lnTo>
                  <a:lnTo>
                    <a:pt x="0" y="377951"/>
                  </a:lnTo>
                  <a:lnTo>
                    <a:pt x="27431" y="377951"/>
                  </a:lnTo>
                  <a:lnTo>
                    <a:pt x="27431" y="371856"/>
                  </a:lnTo>
                  <a:lnTo>
                    <a:pt x="12191" y="371856"/>
                  </a:lnTo>
                  <a:lnTo>
                    <a:pt x="6095" y="365760"/>
                  </a:lnTo>
                  <a:lnTo>
                    <a:pt x="12191" y="365760"/>
                  </a:lnTo>
                  <a:lnTo>
                    <a:pt x="12191" y="12192"/>
                  </a:lnTo>
                  <a:lnTo>
                    <a:pt x="6095" y="12192"/>
                  </a:lnTo>
                  <a:lnTo>
                    <a:pt x="12191" y="6096"/>
                  </a:lnTo>
                  <a:lnTo>
                    <a:pt x="27431" y="6096"/>
                  </a:lnTo>
                  <a:lnTo>
                    <a:pt x="27431" y="0"/>
                  </a:lnTo>
                  <a:close/>
                </a:path>
                <a:path extrusionOk="0" h="378460" w="27940">
                  <a:moveTo>
                    <a:pt x="12191" y="365760"/>
                  </a:moveTo>
                  <a:lnTo>
                    <a:pt x="6095" y="365760"/>
                  </a:lnTo>
                  <a:lnTo>
                    <a:pt x="12191" y="371856"/>
                  </a:lnTo>
                  <a:lnTo>
                    <a:pt x="12191" y="365760"/>
                  </a:lnTo>
                  <a:close/>
                </a:path>
                <a:path extrusionOk="0" h="378460" w="27940">
                  <a:moveTo>
                    <a:pt x="15239" y="365760"/>
                  </a:moveTo>
                  <a:lnTo>
                    <a:pt x="12191" y="365760"/>
                  </a:lnTo>
                  <a:lnTo>
                    <a:pt x="12191" y="371856"/>
                  </a:lnTo>
                  <a:lnTo>
                    <a:pt x="15239" y="371856"/>
                  </a:lnTo>
                  <a:lnTo>
                    <a:pt x="15239" y="365760"/>
                  </a:lnTo>
                  <a:close/>
                </a:path>
                <a:path extrusionOk="0" h="378460" w="27940">
                  <a:moveTo>
                    <a:pt x="15239" y="6096"/>
                  </a:moveTo>
                  <a:lnTo>
                    <a:pt x="15239" y="371856"/>
                  </a:lnTo>
                  <a:lnTo>
                    <a:pt x="21335" y="365760"/>
                  </a:lnTo>
                  <a:lnTo>
                    <a:pt x="27431" y="365760"/>
                  </a:lnTo>
                  <a:lnTo>
                    <a:pt x="27431" y="12192"/>
                  </a:lnTo>
                  <a:lnTo>
                    <a:pt x="21335" y="12192"/>
                  </a:lnTo>
                  <a:lnTo>
                    <a:pt x="15239" y="6096"/>
                  </a:lnTo>
                  <a:close/>
                </a:path>
                <a:path extrusionOk="0" h="378460" w="27940">
                  <a:moveTo>
                    <a:pt x="27431" y="365760"/>
                  </a:moveTo>
                  <a:lnTo>
                    <a:pt x="21335" y="365760"/>
                  </a:lnTo>
                  <a:lnTo>
                    <a:pt x="15239" y="371856"/>
                  </a:lnTo>
                  <a:lnTo>
                    <a:pt x="27431" y="371856"/>
                  </a:lnTo>
                  <a:lnTo>
                    <a:pt x="27431" y="365760"/>
                  </a:lnTo>
                  <a:close/>
                </a:path>
                <a:path extrusionOk="0" h="378460" w="27940">
                  <a:moveTo>
                    <a:pt x="12191" y="6096"/>
                  </a:moveTo>
                  <a:lnTo>
                    <a:pt x="6095" y="12192"/>
                  </a:lnTo>
                  <a:lnTo>
                    <a:pt x="12191" y="12192"/>
                  </a:lnTo>
                  <a:lnTo>
                    <a:pt x="12191" y="6096"/>
                  </a:lnTo>
                  <a:close/>
                </a:path>
                <a:path extrusionOk="0" h="378460" w="27940">
                  <a:moveTo>
                    <a:pt x="15239" y="6096"/>
                  </a:moveTo>
                  <a:lnTo>
                    <a:pt x="12191" y="6096"/>
                  </a:lnTo>
                  <a:lnTo>
                    <a:pt x="12191" y="12192"/>
                  </a:lnTo>
                  <a:lnTo>
                    <a:pt x="15239" y="12192"/>
                  </a:lnTo>
                  <a:lnTo>
                    <a:pt x="15239" y="6096"/>
                  </a:lnTo>
                  <a:close/>
                </a:path>
                <a:path extrusionOk="0" h="378460" w="27940">
                  <a:moveTo>
                    <a:pt x="27431" y="6096"/>
                  </a:moveTo>
                  <a:lnTo>
                    <a:pt x="15239" y="6096"/>
                  </a:lnTo>
                  <a:lnTo>
                    <a:pt x="21335" y="12192"/>
                  </a:lnTo>
                  <a:lnTo>
                    <a:pt x="27431" y="12192"/>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8" name="Google Shape;358;g1ead90bba03_0_99"/>
            <p:cNvSpPr/>
            <p:nvPr/>
          </p:nvSpPr>
          <p:spPr>
            <a:xfrm>
              <a:off x="8775044" y="4194993"/>
              <a:ext cx="15242" cy="365760"/>
            </a:xfrm>
            <a:custGeom>
              <a:rect b="b" l="l" r="r" t="t"/>
              <a:pathLst>
                <a:path extrusionOk="0" h="365760" w="15240">
                  <a:moveTo>
                    <a:pt x="15240" y="0"/>
                  </a:moveTo>
                  <a:lnTo>
                    <a:pt x="0" y="0"/>
                  </a:lnTo>
                  <a:lnTo>
                    <a:pt x="0" y="365759"/>
                  </a:lnTo>
                  <a:lnTo>
                    <a:pt x="15240" y="365759"/>
                  </a:lnTo>
                  <a:lnTo>
                    <a:pt x="1524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9" name="Google Shape;359;g1ead90bba03_0_99"/>
            <p:cNvSpPr/>
            <p:nvPr/>
          </p:nvSpPr>
          <p:spPr>
            <a:xfrm>
              <a:off x="8768947" y="4188897"/>
              <a:ext cx="27943" cy="378460"/>
            </a:xfrm>
            <a:custGeom>
              <a:rect b="b" l="l" r="r" t="t"/>
              <a:pathLst>
                <a:path extrusionOk="0" h="378460" w="27940">
                  <a:moveTo>
                    <a:pt x="27431" y="0"/>
                  </a:moveTo>
                  <a:lnTo>
                    <a:pt x="0" y="0"/>
                  </a:lnTo>
                  <a:lnTo>
                    <a:pt x="0" y="377951"/>
                  </a:lnTo>
                  <a:lnTo>
                    <a:pt x="27431" y="377951"/>
                  </a:lnTo>
                  <a:lnTo>
                    <a:pt x="27431" y="371856"/>
                  </a:lnTo>
                  <a:lnTo>
                    <a:pt x="12191" y="371856"/>
                  </a:lnTo>
                  <a:lnTo>
                    <a:pt x="6095" y="362712"/>
                  </a:lnTo>
                  <a:lnTo>
                    <a:pt x="12191" y="362712"/>
                  </a:lnTo>
                  <a:lnTo>
                    <a:pt x="12191" y="12191"/>
                  </a:lnTo>
                  <a:lnTo>
                    <a:pt x="6095" y="12191"/>
                  </a:lnTo>
                  <a:lnTo>
                    <a:pt x="12191" y="6096"/>
                  </a:lnTo>
                  <a:lnTo>
                    <a:pt x="27431" y="6096"/>
                  </a:lnTo>
                  <a:lnTo>
                    <a:pt x="27431" y="0"/>
                  </a:lnTo>
                  <a:close/>
                </a:path>
                <a:path extrusionOk="0" h="378460" w="27940">
                  <a:moveTo>
                    <a:pt x="12191" y="362712"/>
                  </a:moveTo>
                  <a:lnTo>
                    <a:pt x="6095" y="362712"/>
                  </a:lnTo>
                  <a:lnTo>
                    <a:pt x="12191" y="371856"/>
                  </a:lnTo>
                  <a:lnTo>
                    <a:pt x="12191" y="362712"/>
                  </a:lnTo>
                  <a:close/>
                </a:path>
                <a:path extrusionOk="0" h="378460" w="27940">
                  <a:moveTo>
                    <a:pt x="15239" y="362712"/>
                  </a:moveTo>
                  <a:lnTo>
                    <a:pt x="12191" y="362712"/>
                  </a:lnTo>
                  <a:lnTo>
                    <a:pt x="12191" y="371856"/>
                  </a:lnTo>
                  <a:lnTo>
                    <a:pt x="15239" y="371856"/>
                  </a:lnTo>
                  <a:lnTo>
                    <a:pt x="15239" y="362712"/>
                  </a:lnTo>
                  <a:close/>
                </a:path>
                <a:path extrusionOk="0" h="378460" w="27940">
                  <a:moveTo>
                    <a:pt x="15239" y="6096"/>
                  </a:moveTo>
                  <a:lnTo>
                    <a:pt x="15239" y="371856"/>
                  </a:lnTo>
                  <a:lnTo>
                    <a:pt x="21335" y="362712"/>
                  </a:lnTo>
                  <a:lnTo>
                    <a:pt x="27431" y="362712"/>
                  </a:lnTo>
                  <a:lnTo>
                    <a:pt x="27431" y="12191"/>
                  </a:lnTo>
                  <a:lnTo>
                    <a:pt x="21335" y="12191"/>
                  </a:lnTo>
                  <a:lnTo>
                    <a:pt x="15239" y="6096"/>
                  </a:lnTo>
                  <a:close/>
                </a:path>
                <a:path extrusionOk="0" h="378460" w="27940">
                  <a:moveTo>
                    <a:pt x="27431" y="362712"/>
                  </a:moveTo>
                  <a:lnTo>
                    <a:pt x="21335" y="362712"/>
                  </a:lnTo>
                  <a:lnTo>
                    <a:pt x="15239" y="371856"/>
                  </a:lnTo>
                  <a:lnTo>
                    <a:pt x="27431" y="371856"/>
                  </a:lnTo>
                  <a:lnTo>
                    <a:pt x="27431" y="362712"/>
                  </a:lnTo>
                  <a:close/>
                </a:path>
                <a:path extrusionOk="0" h="378460" w="27940">
                  <a:moveTo>
                    <a:pt x="12191" y="6096"/>
                  </a:moveTo>
                  <a:lnTo>
                    <a:pt x="6095" y="12191"/>
                  </a:lnTo>
                  <a:lnTo>
                    <a:pt x="12191" y="12191"/>
                  </a:lnTo>
                  <a:lnTo>
                    <a:pt x="12191" y="6096"/>
                  </a:lnTo>
                  <a:close/>
                </a:path>
                <a:path extrusionOk="0" h="378460" w="27940">
                  <a:moveTo>
                    <a:pt x="15239" y="6096"/>
                  </a:moveTo>
                  <a:lnTo>
                    <a:pt x="12191" y="6096"/>
                  </a:lnTo>
                  <a:lnTo>
                    <a:pt x="12191" y="12191"/>
                  </a:lnTo>
                  <a:lnTo>
                    <a:pt x="15239" y="12191"/>
                  </a:lnTo>
                  <a:lnTo>
                    <a:pt x="15239" y="6096"/>
                  </a:lnTo>
                  <a:close/>
                </a:path>
                <a:path extrusionOk="0" h="378460" w="27940">
                  <a:moveTo>
                    <a:pt x="27431" y="6096"/>
                  </a:moveTo>
                  <a:lnTo>
                    <a:pt x="15239" y="6096"/>
                  </a:lnTo>
                  <a:lnTo>
                    <a:pt x="21335" y="12191"/>
                  </a:lnTo>
                  <a:lnTo>
                    <a:pt x="27431" y="12191"/>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0" name="Google Shape;360;g1ead90bba03_0_99"/>
            <p:cNvSpPr/>
            <p:nvPr/>
          </p:nvSpPr>
          <p:spPr>
            <a:xfrm>
              <a:off x="4019689" y="3347649"/>
              <a:ext cx="15241" cy="481964"/>
            </a:xfrm>
            <a:custGeom>
              <a:rect b="b" l="l" r="r" t="t"/>
              <a:pathLst>
                <a:path extrusionOk="0" h="481964" w="15239">
                  <a:moveTo>
                    <a:pt x="15239" y="0"/>
                  </a:moveTo>
                  <a:lnTo>
                    <a:pt x="0" y="0"/>
                  </a:lnTo>
                  <a:lnTo>
                    <a:pt x="0" y="481584"/>
                  </a:lnTo>
                  <a:lnTo>
                    <a:pt x="15239" y="481584"/>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1" name="Google Shape;361;g1ead90bba03_0_99"/>
            <p:cNvSpPr/>
            <p:nvPr/>
          </p:nvSpPr>
          <p:spPr>
            <a:xfrm>
              <a:off x="4013592" y="3341553"/>
              <a:ext cx="27942" cy="494029"/>
            </a:xfrm>
            <a:custGeom>
              <a:rect b="b" l="l" r="r" t="t"/>
              <a:pathLst>
                <a:path extrusionOk="0" h="494029" w="27939">
                  <a:moveTo>
                    <a:pt x="27431" y="0"/>
                  </a:moveTo>
                  <a:lnTo>
                    <a:pt x="0" y="0"/>
                  </a:lnTo>
                  <a:lnTo>
                    <a:pt x="0" y="493776"/>
                  </a:lnTo>
                  <a:lnTo>
                    <a:pt x="27431" y="493776"/>
                  </a:lnTo>
                  <a:lnTo>
                    <a:pt x="27431" y="487680"/>
                  </a:lnTo>
                  <a:lnTo>
                    <a:pt x="12191" y="487680"/>
                  </a:lnTo>
                  <a:lnTo>
                    <a:pt x="6095" y="481584"/>
                  </a:lnTo>
                  <a:lnTo>
                    <a:pt x="12191" y="481584"/>
                  </a:lnTo>
                  <a:lnTo>
                    <a:pt x="12191" y="12192"/>
                  </a:lnTo>
                  <a:lnTo>
                    <a:pt x="6095" y="12192"/>
                  </a:lnTo>
                  <a:lnTo>
                    <a:pt x="12191" y="6096"/>
                  </a:lnTo>
                  <a:lnTo>
                    <a:pt x="27431" y="6096"/>
                  </a:lnTo>
                  <a:lnTo>
                    <a:pt x="27431" y="0"/>
                  </a:lnTo>
                  <a:close/>
                </a:path>
                <a:path extrusionOk="0" h="494029" w="27939">
                  <a:moveTo>
                    <a:pt x="12191" y="481584"/>
                  </a:moveTo>
                  <a:lnTo>
                    <a:pt x="6095" y="481584"/>
                  </a:lnTo>
                  <a:lnTo>
                    <a:pt x="12191" y="487680"/>
                  </a:lnTo>
                  <a:lnTo>
                    <a:pt x="12191" y="481584"/>
                  </a:lnTo>
                  <a:close/>
                </a:path>
                <a:path extrusionOk="0" h="494029" w="27939">
                  <a:moveTo>
                    <a:pt x="15239" y="481584"/>
                  </a:moveTo>
                  <a:lnTo>
                    <a:pt x="12191" y="481584"/>
                  </a:lnTo>
                  <a:lnTo>
                    <a:pt x="12191" y="487680"/>
                  </a:lnTo>
                  <a:lnTo>
                    <a:pt x="15239" y="487680"/>
                  </a:lnTo>
                  <a:lnTo>
                    <a:pt x="15239" y="481584"/>
                  </a:lnTo>
                  <a:close/>
                </a:path>
                <a:path extrusionOk="0" h="494029" w="27939">
                  <a:moveTo>
                    <a:pt x="15239" y="6096"/>
                  </a:moveTo>
                  <a:lnTo>
                    <a:pt x="15239" y="487680"/>
                  </a:lnTo>
                  <a:lnTo>
                    <a:pt x="21335" y="481584"/>
                  </a:lnTo>
                  <a:lnTo>
                    <a:pt x="27431" y="481584"/>
                  </a:lnTo>
                  <a:lnTo>
                    <a:pt x="27431" y="12192"/>
                  </a:lnTo>
                  <a:lnTo>
                    <a:pt x="21335" y="12192"/>
                  </a:lnTo>
                  <a:lnTo>
                    <a:pt x="15239" y="6096"/>
                  </a:lnTo>
                  <a:close/>
                </a:path>
                <a:path extrusionOk="0" h="494029" w="27939">
                  <a:moveTo>
                    <a:pt x="27431" y="481584"/>
                  </a:moveTo>
                  <a:lnTo>
                    <a:pt x="21335" y="481584"/>
                  </a:lnTo>
                  <a:lnTo>
                    <a:pt x="15239" y="487680"/>
                  </a:lnTo>
                  <a:lnTo>
                    <a:pt x="27431" y="487680"/>
                  </a:lnTo>
                  <a:lnTo>
                    <a:pt x="27431" y="481584"/>
                  </a:lnTo>
                  <a:close/>
                </a:path>
                <a:path extrusionOk="0" h="494029" w="27939">
                  <a:moveTo>
                    <a:pt x="12191" y="6096"/>
                  </a:moveTo>
                  <a:lnTo>
                    <a:pt x="6095" y="12192"/>
                  </a:lnTo>
                  <a:lnTo>
                    <a:pt x="12191" y="12192"/>
                  </a:lnTo>
                  <a:lnTo>
                    <a:pt x="12191" y="6096"/>
                  </a:lnTo>
                  <a:close/>
                </a:path>
                <a:path extrusionOk="0" h="494029" w="27939">
                  <a:moveTo>
                    <a:pt x="15239" y="6096"/>
                  </a:moveTo>
                  <a:lnTo>
                    <a:pt x="12191" y="6096"/>
                  </a:lnTo>
                  <a:lnTo>
                    <a:pt x="12191" y="12192"/>
                  </a:lnTo>
                  <a:lnTo>
                    <a:pt x="15239" y="12192"/>
                  </a:lnTo>
                  <a:lnTo>
                    <a:pt x="15239" y="6096"/>
                  </a:lnTo>
                  <a:close/>
                </a:path>
                <a:path extrusionOk="0" h="494029" w="27939">
                  <a:moveTo>
                    <a:pt x="27431" y="6096"/>
                  </a:moveTo>
                  <a:lnTo>
                    <a:pt x="15239" y="6096"/>
                  </a:lnTo>
                  <a:lnTo>
                    <a:pt x="21335" y="12192"/>
                  </a:lnTo>
                  <a:lnTo>
                    <a:pt x="27431" y="12192"/>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2" name="Google Shape;362;g1ead90bba03_0_99"/>
            <p:cNvSpPr/>
            <p:nvPr/>
          </p:nvSpPr>
          <p:spPr>
            <a:xfrm>
              <a:off x="4019689" y="3829233"/>
              <a:ext cx="15241" cy="365760"/>
            </a:xfrm>
            <a:custGeom>
              <a:rect b="b" l="l" r="r" t="t"/>
              <a:pathLst>
                <a:path extrusionOk="0" h="365760" w="15239">
                  <a:moveTo>
                    <a:pt x="15239" y="0"/>
                  </a:moveTo>
                  <a:lnTo>
                    <a:pt x="0" y="0"/>
                  </a:lnTo>
                  <a:lnTo>
                    <a:pt x="0" y="365760"/>
                  </a:lnTo>
                  <a:lnTo>
                    <a:pt x="15239" y="365760"/>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3" name="Google Shape;363;g1ead90bba03_0_99"/>
            <p:cNvSpPr/>
            <p:nvPr/>
          </p:nvSpPr>
          <p:spPr>
            <a:xfrm>
              <a:off x="4013592" y="3823137"/>
              <a:ext cx="27942" cy="378460"/>
            </a:xfrm>
            <a:custGeom>
              <a:rect b="b" l="l" r="r" t="t"/>
              <a:pathLst>
                <a:path extrusionOk="0" h="378460" w="27939">
                  <a:moveTo>
                    <a:pt x="27431" y="0"/>
                  </a:moveTo>
                  <a:lnTo>
                    <a:pt x="0" y="0"/>
                  </a:lnTo>
                  <a:lnTo>
                    <a:pt x="0" y="377951"/>
                  </a:lnTo>
                  <a:lnTo>
                    <a:pt x="27431" y="377951"/>
                  </a:lnTo>
                  <a:lnTo>
                    <a:pt x="27431" y="371856"/>
                  </a:lnTo>
                  <a:lnTo>
                    <a:pt x="12191" y="371856"/>
                  </a:lnTo>
                  <a:lnTo>
                    <a:pt x="6095" y="365760"/>
                  </a:lnTo>
                  <a:lnTo>
                    <a:pt x="12191" y="365760"/>
                  </a:lnTo>
                  <a:lnTo>
                    <a:pt x="12191" y="12192"/>
                  </a:lnTo>
                  <a:lnTo>
                    <a:pt x="6095" y="12192"/>
                  </a:lnTo>
                  <a:lnTo>
                    <a:pt x="12191" y="6096"/>
                  </a:lnTo>
                  <a:lnTo>
                    <a:pt x="27431" y="6096"/>
                  </a:lnTo>
                  <a:lnTo>
                    <a:pt x="27431" y="0"/>
                  </a:lnTo>
                  <a:close/>
                </a:path>
                <a:path extrusionOk="0" h="378460" w="27939">
                  <a:moveTo>
                    <a:pt x="12191" y="365760"/>
                  </a:moveTo>
                  <a:lnTo>
                    <a:pt x="6095" y="365760"/>
                  </a:lnTo>
                  <a:lnTo>
                    <a:pt x="12191" y="371856"/>
                  </a:lnTo>
                  <a:lnTo>
                    <a:pt x="12191" y="365760"/>
                  </a:lnTo>
                  <a:close/>
                </a:path>
                <a:path extrusionOk="0" h="378460" w="27939">
                  <a:moveTo>
                    <a:pt x="15239" y="365760"/>
                  </a:moveTo>
                  <a:lnTo>
                    <a:pt x="12191" y="365760"/>
                  </a:lnTo>
                  <a:lnTo>
                    <a:pt x="12191" y="371856"/>
                  </a:lnTo>
                  <a:lnTo>
                    <a:pt x="15239" y="371856"/>
                  </a:lnTo>
                  <a:lnTo>
                    <a:pt x="15239" y="365760"/>
                  </a:lnTo>
                  <a:close/>
                </a:path>
                <a:path extrusionOk="0" h="378460" w="27939">
                  <a:moveTo>
                    <a:pt x="15239" y="6096"/>
                  </a:moveTo>
                  <a:lnTo>
                    <a:pt x="15239" y="371856"/>
                  </a:lnTo>
                  <a:lnTo>
                    <a:pt x="21335" y="365760"/>
                  </a:lnTo>
                  <a:lnTo>
                    <a:pt x="27431" y="365760"/>
                  </a:lnTo>
                  <a:lnTo>
                    <a:pt x="27431" y="12192"/>
                  </a:lnTo>
                  <a:lnTo>
                    <a:pt x="21335" y="12192"/>
                  </a:lnTo>
                  <a:lnTo>
                    <a:pt x="15239" y="6096"/>
                  </a:lnTo>
                  <a:close/>
                </a:path>
                <a:path extrusionOk="0" h="378460" w="27939">
                  <a:moveTo>
                    <a:pt x="27431" y="365760"/>
                  </a:moveTo>
                  <a:lnTo>
                    <a:pt x="21335" y="365760"/>
                  </a:lnTo>
                  <a:lnTo>
                    <a:pt x="15239" y="371856"/>
                  </a:lnTo>
                  <a:lnTo>
                    <a:pt x="27431" y="371856"/>
                  </a:lnTo>
                  <a:lnTo>
                    <a:pt x="27431" y="365760"/>
                  </a:lnTo>
                  <a:close/>
                </a:path>
                <a:path extrusionOk="0" h="378460" w="27939">
                  <a:moveTo>
                    <a:pt x="12191" y="6096"/>
                  </a:moveTo>
                  <a:lnTo>
                    <a:pt x="6095" y="12192"/>
                  </a:lnTo>
                  <a:lnTo>
                    <a:pt x="12191" y="12192"/>
                  </a:lnTo>
                  <a:lnTo>
                    <a:pt x="12191" y="6096"/>
                  </a:lnTo>
                  <a:close/>
                </a:path>
                <a:path extrusionOk="0" h="378460" w="27939">
                  <a:moveTo>
                    <a:pt x="15239" y="6096"/>
                  </a:moveTo>
                  <a:lnTo>
                    <a:pt x="12191" y="6096"/>
                  </a:lnTo>
                  <a:lnTo>
                    <a:pt x="12191" y="12192"/>
                  </a:lnTo>
                  <a:lnTo>
                    <a:pt x="15239" y="12192"/>
                  </a:lnTo>
                  <a:lnTo>
                    <a:pt x="15239" y="6096"/>
                  </a:lnTo>
                  <a:close/>
                </a:path>
                <a:path extrusionOk="0" h="378460" w="27939">
                  <a:moveTo>
                    <a:pt x="27431" y="6096"/>
                  </a:moveTo>
                  <a:lnTo>
                    <a:pt x="15239" y="6096"/>
                  </a:lnTo>
                  <a:lnTo>
                    <a:pt x="21335" y="12192"/>
                  </a:lnTo>
                  <a:lnTo>
                    <a:pt x="27431" y="12192"/>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4" name="Google Shape;364;g1ead90bba03_0_99"/>
            <p:cNvSpPr/>
            <p:nvPr/>
          </p:nvSpPr>
          <p:spPr>
            <a:xfrm>
              <a:off x="4019689" y="4194993"/>
              <a:ext cx="15241" cy="365760"/>
            </a:xfrm>
            <a:custGeom>
              <a:rect b="b" l="l" r="r" t="t"/>
              <a:pathLst>
                <a:path extrusionOk="0" h="365760" w="15239">
                  <a:moveTo>
                    <a:pt x="15239" y="0"/>
                  </a:moveTo>
                  <a:lnTo>
                    <a:pt x="0" y="0"/>
                  </a:lnTo>
                  <a:lnTo>
                    <a:pt x="0" y="365759"/>
                  </a:lnTo>
                  <a:lnTo>
                    <a:pt x="15239" y="365759"/>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5" name="Google Shape;365;g1ead90bba03_0_99"/>
            <p:cNvSpPr/>
            <p:nvPr/>
          </p:nvSpPr>
          <p:spPr>
            <a:xfrm>
              <a:off x="4013592" y="4188897"/>
              <a:ext cx="27942" cy="805179"/>
            </a:xfrm>
            <a:custGeom>
              <a:rect b="b" l="l" r="r" t="t"/>
              <a:pathLst>
                <a:path extrusionOk="0" h="805179" w="27939">
                  <a:moveTo>
                    <a:pt x="27432" y="0"/>
                  </a:moveTo>
                  <a:lnTo>
                    <a:pt x="15240" y="0"/>
                  </a:lnTo>
                  <a:lnTo>
                    <a:pt x="15240" y="12192"/>
                  </a:lnTo>
                  <a:lnTo>
                    <a:pt x="15240" y="362712"/>
                  </a:lnTo>
                  <a:lnTo>
                    <a:pt x="15240" y="384048"/>
                  </a:lnTo>
                  <a:lnTo>
                    <a:pt x="15240" y="792480"/>
                  </a:lnTo>
                  <a:lnTo>
                    <a:pt x="12192" y="792480"/>
                  </a:lnTo>
                  <a:lnTo>
                    <a:pt x="12192" y="384048"/>
                  </a:lnTo>
                  <a:lnTo>
                    <a:pt x="15240" y="384048"/>
                  </a:lnTo>
                  <a:lnTo>
                    <a:pt x="15240" y="362712"/>
                  </a:lnTo>
                  <a:lnTo>
                    <a:pt x="12192" y="362712"/>
                  </a:lnTo>
                  <a:lnTo>
                    <a:pt x="12192" y="12192"/>
                  </a:lnTo>
                  <a:lnTo>
                    <a:pt x="15240" y="12192"/>
                  </a:lnTo>
                  <a:lnTo>
                    <a:pt x="15240" y="0"/>
                  </a:lnTo>
                  <a:lnTo>
                    <a:pt x="0" y="0"/>
                  </a:lnTo>
                  <a:lnTo>
                    <a:pt x="0" y="371856"/>
                  </a:lnTo>
                  <a:lnTo>
                    <a:pt x="0" y="377952"/>
                  </a:lnTo>
                  <a:lnTo>
                    <a:pt x="0" y="804672"/>
                  </a:lnTo>
                  <a:lnTo>
                    <a:pt x="27432" y="804672"/>
                  </a:lnTo>
                  <a:lnTo>
                    <a:pt x="27432" y="798576"/>
                  </a:lnTo>
                  <a:lnTo>
                    <a:pt x="27432" y="792480"/>
                  </a:lnTo>
                  <a:lnTo>
                    <a:pt x="27432" y="6096"/>
                  </a:lnTo>
                  <a:lnTo>
                    <a:pt x="2743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6" name="Google Shape;366;g1ead90bba03_0_99"/>
            <p:cNvSpPr/>
            <p:nvPr/>
          </p:nvSpPr>
          <p:spPr>
            <a:xfrm>
              <a:off x="5269494" y="3347649"/>
              <a:ext cx="12701" cy="481964"/>
            </a:xfrm>
            <a:custGeom>
              <a:rect b="b" l="l" r="r" t="t"/>
              <a:pathLst>
                <a:path extrusionOk="0" h="481964" w="12700">
                  <a:moveTo>
                    <a:pt x="12191" y="0"/>
                  </a:moveTo>
                  <a:lnTo>
                    <a:pt x="0" y="0"/>
                  </a:lnTo>
                  <a:lnTo>
                    <a:pt x="0" y="481584"/>
                  </a:lnTo>
                  <a:lnTo>
                    <a:pt x="12191" y="481584"/>
                  </a:lnTo>
                  <a:lnTo>
                    <a:pt x="1219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7" name="Google Shape;367;g1ead90bba03_0_99"/>
            <p:cNvSpPr/>
            <p:nvPr/>
          </p:nvSpPr>
          <p:spPr>
            <a:xfrm>
              <a:off x="5263397" y="3341553"/>
              <a:ext cx="24766" cy="494029"/>
            </a:xfrm>
            <a:custGeom>
              <a:rect b="b" l="l" r="r" t="t"/>
              <a:pathLst>
                <a:path extrusionOk="0" h="494029" w="24764">
                  <a:moveTo>
                    <a:pt x="24384" y="0"/>
                  </a:moveTo>
                  <a:lnTo>
                    <a:pt x="0" y="0"/>
                  </a:lnTo>
                  <a:lnTo>
                    <a:pt x="0" y="493776"/>
                  </a:lnTo>
                  <a:lnTo>
                    <a:pt x="24384" y="493776"/>
                  </a:lnTo>
                  <a:lnTo>
                    <a:pt x="24384" y="487680"/>
                  </a:lnTo>
                  <a:lnTo>
                    <a:pt x="12192" y="487680"/>
                  </a:lnTo>
                  <a:lnTo>
                    <a:pt x="6096" y="481584"/>
                  </a:lnTo>
                  <a:lnTo>
                    <a:pt x="12192" y="481584"/>
                  </a:lnTo>
                  <a:lnTo>
                    <a:pt x="12192" y="12192"/>
                  </a:lnTo>
                  <a:lnTo>
                    <a:pt x="6096" y="12192"/>
                  </a:lnTo>
                  <a:lnTo>
                    <a:pt x="12192" y="6096"/>
                  </a:lnTo>
                  <a:lnTo>
                    <a:pt x="24384" y="6096"/>
                  </a:lnTo>
                  <a:lnTo>
                    <a:pt x="24384" y="0"/>
                  </a:lnTo>
                  <a:close/>
                </a:path>
                <a:path extrusionOk="0" h="494029" w="24764">
                  <a:moveTo>
                    <a:pt x="12192" y="481584"/>
                  </a:moveTo>
                  <a:lnTo>
                    <a:pt x="6096" y="481584"/>
                  </a:lnTo>
                  <a:lnTo>
                    <a:pt x="12192" y="487680"/>
                  </a:lnTo>
                  <a:lnTo>
                    <a:pt x="12192" y="481584"/>
                  </a:lnTo>
                  <a:close/>
                </a:path>
                <a:path extrusionOk="0" h="494029" w="24764">
                  <a:moveTo>
                    <a:pt x="12192" y="6096"/>
                  </a:moveTo>
                  <a:lnTo>
                    <a:pt x="12192" y="487680"/>
                  </a:lnTo>
                  <a:lnTo>
                    <a:pt x="18287" y="481584"/>
                  </a:lnTo>
                  <a:lnTo>
                    <a:pt x="24384" y="481584"/>
                  </a:lnTo>
                  <a:lnTo>
                    <a:pt x="24384" y="12192"/>
                  </a:lnTo>
                  <a:lnTo>
                    <a:pt x="18287" y="12192"/>
                  </a:lnTo>
                  <a:lnTo>
                    <a:pt x="12192" y="6096"/>
                  </a:lnTo>
                  <a:close/>
                </a:path>
                <a:path extrusionOk="0" h="494029" w="24764">
                  <a:moveTo>
                    <a:pt x="24384" y="481584"/>
                  </a:moveTo>
                  <a:lnTo>
                    <a:pt x="18287" y="481584"/>
                  </a:lnTo>
                  <a:lnTo>
                    <a:pt x="12192" y="487680"/>
                  </a:lnTo>
                  <a:lnTo>
                    <a:pt x="24384" y="487680"/>
                  </a:lnTo>
                  <a:lnTo>
                    <a:pt x="24384" y="481584"/>
                  </a:lnTo>
                  <a:close/>
                </a:path>
                <a:path extrusionOk="0" h="494029" w="24764">
                  <a:moveTo>
                    <a:pt x="12192" y="6096"/>
                  </a:moveTo>
                  <a:lnTo>
                    <a:pt x="6096" y="12192"/>
                  </a:lnTo>
                  <a:lnTo>
                    <a:pt x="12192" y="12192"/>
                  </a:lnTo>
                  <a:lnTo>
                    <a:pt x="12192" y="6096"/>
                  </a:lnTo>
                  <a:close/>
                </a:path>
                <a:path extrusionOk="0" h="494029" w="24764">
                  <a:moveTo>
                    <a:pt x="24384" y="6096"/>
                  </a:moveTo>
                  <a:lnTo>
                    <a:pt x="12192" y="6096"/>
                  </a:lnTo>
                  <a:lnTo>
                    <a:pt x="18287" y="12192"/>
                  </a:lnTo>
                  <a:lnTo>
                    <a:pt x="24384" y="12192"/>
                  </a:lnTo>
                  <a:lnTo>
                    <a:pt x="24384"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8" name="Google Shape;368;g1ead90bba03_0_99"/>
            <p:cNvSpPr/>
            <p:nvPr/>
          </p:nvSpPr>
          <p:spPr>
            <a:xfrm>
              <a:off x="5269494" y="3829233"/>
              <a:ext cx="12701" cy="365760"/>
            </a:xfrm>
            <a:custGeom>
              <a:rect b="b" l="l" r="r" t="t"/>
              <a:pathLst>
                <a:path extrusionOk="0" h="365760" w="12700">
                  <a:moveTo>
                    <a:pt x="12191" y="0"/>
                  </a:moveTo>
                  <a:lnTo>
                    <a:pt x="0" y="0"/>
                  </a:lnTo>
                  <a:lnTo>
                    <a:pt x="0" y="365760"/>
                  </a:lnTo>
                  <a:lnTo>
                    <a:pt x="12191" y="365760"/>
                  </a:lnTo>
                  <a:lnTo>
                    <a:pt x="1219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9" name="Google Shape;369;g1ead90bba03_0_99"/>
            <p:cNvSpPr/>
            <p:nvPr/>
          </p:nvSpPr>
          <p:spPr>
            <a:xfrm>
              <a:off x="5263397" y="3823137"/>
              <a:ext cx="24766" cy="378460"/>
            </a:xfrm>
            <a:custGeom>
              <a:rect b="b" l="l" r="r" t="t"/>
              <a:pathLst>
                <a:path extrusionOk="0" h="378460" w="24764">
                  <a:moveTo>
                    <a:pt x="24384" y="0"/>
                  </a:moveTo>
                  <a:lnTo>
                    <a:pt x="0" y="0"/>
                  </a:lnTo>
                  <a:lnTo>
                    <a:pt x="0" y="377951"/>
                  </a:lnTo>
                  <a:lnTo>
                    <a:pt x="24384" y="377951"/>
                  </a:lnTo>
                  <a:lnTo>
                    <a:pt x="24384" y="371856"/>
                  </a:lnTo>
                  <a:lnTo>
                    <a:pt x="12192" y="371856"/>
                  </a:lnTo>
                  <a:lnTo>
                    <a:pt x="6096" y="365760"/>
                  </a:lnTo>
                  <a:lnTo>
                    <a:pt x="12192" y="365760"/>
                  </a:lnTo>
                  <a:lnTo>
                    <a:pt x="12192" y="12192"/>
                  </a:lnTo>
                  <a:lnTo>
                    <a:pt x="6096" y="12192"/>
                  </a:lnTo>
                  <a:lnTo>
                    <a:pt x="12192" y="6096"/>
                  </a:lnTo>
                  <a:lnTo>
                    <a:pt x="24384" y="6096"/>
                  </a:lnTo>
                  <a:lnTo>
                    <a:pt x="24384" y="0"/>
                  </a:lnTo>
                  <a:close/>
                </a:path>
                <a:path extrusionOk="0" h="378460" w="24764">
                  <a:moveTo>
                    <a:pt x="12192" y="365760"/>
                  </a:moveTo>
                  <a:lnTo>
                    <a:pt x="6096" y="365760"/>
                  </a:lnTo>
                  <a:lnTo>
                    <a:pt x="12192" y="371856"/>
                  </a:lnTo>
                  <a:lnTo>
                    <a:pt x="12192" y="365760"/>
                  </a:lnTo>
                  <a:close/>
                </a:path>
                <a:path extrusionOk="0" h="378460" w="24764">
                  <a:moveTo>
                    <a:pt x="12192" y="6096"/>
                  </a:moveTo>
                  <a:lnTo>
                    <a:pt x="12192" y="371856"/>
                  </a:lnTo>
                  <a:lnTo>
                    <a:pt x="18287" y="365760"/>
                  </a:lnTo>
                  <a:lnTo>
                    <a:pt x="24384" y="365760"/>
                  </a:lnTo>
                  <a:lnTo>
                    <a:pt x="24384" y="12192"/>
                  </a:lnTo>
                  <a:lnTo>
                    <a:pt x="18287" y="12192"/>
                  </a:lnTo>
                  <a:lnTo>
                    <a:pt x="12192" y="6096"/>
                  </a:lnTo>
                  <a:close/>
                </a:path>
                <a:path extrusionOk="0" h="378460" w="24764">
                  <a:moveTo>
                    <a:pt x="24384" y="365760"/>
                  </a:moveTo>
                  <a:lnTo>
                    <a:pt x="18287" y="365760"/>
                  </a:lnTo>
                  <a:lnTo>
                    <a:pt x="12192" y="371856"/>
                  </a:lnTo>
                  <a:lnTo>
                    <a:pt x="24384" y="371856"/>
                  </a:lnTo>
                  <a:lnTo>
                    <a:pt x="24384" y="365760"/>
                  </a:lnTo>
                  <a:close/>
                </a:path>
                <a:path extrusionOk="0" h="378460" w="24764">
                  <a:moveTo>
                    <a:pt x="12192" y="6096"/>
                  </a:moveTo>
                  <a:lnTo>
                    <a:pt x="6096" y="12192"/>
                  </a:lnTo>
                  <a:lnTo>
                    <a:pt x="12192" y="12192"/>
                  </a:lnTo>
                  <a:lnTo>
                    <a:pt x="12192" y="6096"/>
                  </a:lnTo>
                  <a:close/>
                </a:path>
                <a:path extrusionOk="0" h="378460" w="24764">
                  <a:moveTo>
                    <a:pt x="24384" y="6096"/>
                  </a:moveTo>
                  <a:lnTo>
                    <a:pt x="12192" y="6096"/>
                  </a:lnTo>
                  <a:lnTo>
                    <a:pt x="18287" y="12192"/>
                  </a:lnTo>
                  <a:lnTo>
                    <a:pt x="24384" y="12192"/>
                  </a:lnTo>
                  <a:lnTo>
                    <a:pt x="24384"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0" name="Google Shape;370;g1ead90bba03_0_99"/>
            <p:cNvSpPr/>
            <p:nvPr/>
          </p:nvSpPr>
          <p:spPr>
            <a:xfrm>
              <a:off x="5269494" y="4194993"/>
              <a:ext cx="12701" cy="365760"/>
            </a:xfrm>
            <a:custGeom>
              <a:rect b="b" l="l" r="r" t="t"/>
              <a:pathLst>
                <a:path extrusionOk="0" h="365760" w="12700">
                  <a:moveTo>
                    <a:pt x="12191" y="0"/>
                  </a:moveTo>
                  <a:lnTo>
                    <a:pt x="0" y="0"/>
                  </a:lnTo>
                  <a:lnTo>
                    <a:pt x="0" y="365759"/>
                  </a:lnTo>
                  <a:lnTo>
                    <a:pt x="12191" y="365759"/>
                  </a:lnTo>
                  <a:lnTo>
                    <a:pt x="1219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1" name="Google Shape;371;g1ead90bba03_0_99"/>
            <p:cNvSpPr/>
            <p:nvPr/>
          </p:nvSpPr>
          <p:spPr>
            <a:xfrm>
              <a:off x="5263397" y="4188897"/>
              <a:ext cx="24766" cy="805179"/>
            </a:xfrm>
            <a:custGeom>
              <a:rect b="b" l="l" r="r" t="t"/>
              <a:pathLst>
                <a:path extrusionOk="0" h="805179" w="24764">
                  <a:moveTo>
                    <a:pt x="24384" y="0"/>
                  </a:moveTo>
                  <a:lnTo>
                    <a:pt x="0" y="0"/>
                  </a:lnTo>
                  <a:lnTo>
                    <a:pt x="0" y="371856"/>
                  </a:lnTo>
                  <a:lnTo>
                    <a:pt x="0" y="377952"/>
                  </a:lnTo>
                  <a:lnTo>
                    <a:pt x="0" y="804672"/>
                  </a:lnTo>
                  <a:lnTo>
                    <a:pt x="24384" y="804672"/>
                  </a:lnTo>
                  <a:lnTo>
                    <a:pt x="24384" y="798576"/>
                  </a:lnTo>
                  <a:lnTo>
                    <a:pt x="24384" y="792480"/>
                  </a:lnTo>
                  <a:lnTo>
                    <a:pt x="24384" y="6096"/>
                  </a:lnTo>
                  <a:lnTo>
                    <a:pt x="2438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2" name="Google Shape;372;g1ead90bba03_0_99"/>
            <p:cNvSpPr/>
            <p:nvPr/>
          </p:nvSpPr>
          <p:spPr>
            <a:xfrm>
              <a:off x="7586205" y="3347649"/>
              <a:ext cx="15241" cy="481964"/>
            </a:xfrm>
            <a:custGeom>
              <a:rect b="b" l="l" r="r" t="t"/>
              <a:pathLst>
                <a:path extrusionOk="0" h="481964" w="15239">
                  <a:moveTo>
                    <a:pt x="15239" y="0"/>
                  </a:moveTo>
                  <a:lnTo>
                    <a:pt x="0" y="0"/>
                  </a:lnTo>
                  <a:lnTo>
                    <a:pt x="0" y="481584"/>
                  </a:lnTo>
                  <a:lnTo>
                    <a:pt x="15239" y="481584"/>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3" name="Google Shape;373;g1ead90bba03_0_99"/>
            <p:cNvSpPr/>
            <p:nvPr/>
          </p:nvSpPr>
          <p:spPr>
            <a:xfrm>
              <a:off x="7580108" y="3341553"/>
              <a:ext cx="27942" cy="494029"/>
            </a:xfrm>
            <a:custGeom>
              <a:rect b="b" l="l" r="r" t="t"/>
              <a:pathLst>
                <a:path extrusionOk="0" h="494029" w="27939">
                  <a:moveTo>
                    <a:pt x="27431" y="0"/>
                  </a:moveTo>
                  <a:lnTo>
                    <a:pt x="0" y="0"/>
                  </a:lnTo>
                  <a:lnTo>
                    <a:pt x="0" y="493776"/>
                  </a:lnTo>
                  <a:lnTo>
                    <a:pt x="27431" y="493776"/>
                  </a:lnTo>
                  <a:lnTo>
                    <a:pt x="27431" y="487680"/>
                  </a:lnTo>
                  <a:lnTo>
                    <a:pt x="12191" y="487680"/>
                  </a:lnTo>
                  <a:lnTo>
                    <a:pt x="6095" y="481584"/>
                  </a:lnTo>
                  <a:lnTo>
                    <a:pt x="12191" y="481584"/>
                  </a:lnTo>
                  <a:lnTo>
                    <a:pt x="12191" y="12192"/>
                  </a:lnTo>
                  <a:lnTo>
                    <a:pt x="6095" y="12192"/>
                  </a:lnTo>
                  <a:lnTo>
                    <a:pt x="12191" y="6096"/>
                  </a:lnTo>
                  <a:lnTo>
                    <a:pt x="27431" y="6096"/>
                  </a:lnTo>
                  <a:lnTo>
                    <a:pt x="27431" y="0"/>
                  </a:lnTo>
                  <a:close/>
                </a:path>
                <a:path extrusionOk="0" h="494029" w="27939">
                  <a:moveTo>
                    <a:pt x="12191" y="481584"/>
                  </a:moveTo>
                  <a:lnTo>
                    <a:pt x="6095" y="481584"/>
                  </a:lnTo>
                  <a:lnTo>
                    <a:pt x="12191" y="487680"/>
                  </a:lnTo>
                  <a:lnTo>
                    <a:pt x="12191" y="481584"/>
                  </a:lnTo>
                  <a:close/>
                </a:path>
                <a:path extrusionOk="0" h="494029" w="27939">
                  <a:moveTo>
                    <a:pt x="15239" y="481584"/>
                  </a:moveTo>
                  <a:lnTo>
                    <a:pt x="12191" y="481584"/>
                  </a:lnTo>
                  <a:lnTo>
                    <a:pt x="12191" y="487680"/>
                  </a:lnTo>
                  <a:lnTo>
                    <a:pt x="15239" y="487680"/>
                  </a:lnTo>
                  <a:lnTo>
                    <a:pt x="15239" y="481584"/>
                  </a:lnTo>
                  <a:close/>
                </a:path>
                <a:path extrusionOk="0" h="494029" w="27939">
                  <a:moveTo>
                    <a:pt x="15239" y="6096"/>
                  </a:moveTo>
                  <a:lnTo>
                    <a:pt x="15239" y="487680"/>
                  </a:lnTo>
                  <a:lnTo>
                    <a:pt x="21335" y="481584"/>
                  </a:lnTo>
                  <a:lnTo>
                    <a:pt x="27431" y="481584"/>
                  </a:lnTo>
                  <a:lnTo>
                    <a:pt x="27431" y="12192"/>
                  </a:lnTo>
                  <a:lnTo>
                    <a:pt x="21335" y="12192"/>
                  </a:lnTo>
                  <a:lnTo>
                    <a:pt x="15239" y="6096"/>
                  </a:lnTo>
                  <a:close/>
                </a:path>
                <a:path extrusionOk="0" h="494029" w="27939">
                  <a:moveTo>
                    <a:pt x="27431" y="481584"/>
                  </a:moveTo>
                  <a:lnTo>
                    <a:pt x="21335" y="481584"/>
                  </a:lnTo>
                  <a:lnTo>
                    <a:pt x="15239" y="487680"/>
                  </a:lnTo>
                  <a:lnTo>
                    <a:pt x="27431" y="487680"/>
                  </a:lnTo>
                  <a:lnTo>
                    <a:pt x="27431" y="481584"/>
                  </a:lnTo>
                  <a:close/>
                </a:path>
                <a:path extrusionOk="0" h="494029" w="27939">
                  <a:moveTo>
                    <a:pt x="12191" y="6096"/>
                  </a:moveTo>
                  <a:lnTo>
                    <a:pt x="6095" y="12192"/>
                  </a:lnTo>
                  <a:lnTo>
                    <a:pt x="12191" y="12192"/>
                  </a:lnTo>
                  <a:lnTo>
                    <a:pt x="12191" y="6096"/>
                  </a:lnTo>
                  <a:close/>
                </a:path>
                <a:path extrusionOk="0" h="494029" w="27939">
                  <a:moveTo>
                    <a:pt x="15239" y="6096"/>
                  </a:moveTo>
                  <a:lnTo>
                    <a:pt x="12191" y="6096"/>
                  </a:lnTo>
                  <a:lnTo>
                    <a:pt x="12191" y="12192"/>
                  </a:lnTo>
                  <a:lnTo>
                    <a:pt x="15239" y="12192"/>
                  </a:lnTo>
                  <a:lnTo>
                    <a:pt x="15239" y="6096"/>
                  </a:lnTo>
                  <a:close/>
                </a:path>
                <a:path extrusionOk="0" h="494029" w="27939">
                  <a:moveTo>
                    <a:pt x="27431" y="6096"/>
                  </a:moveTo>
                  <a:lnTo>
                    <a:pt x="15239" y="6096"/>
                  </a:lnTo>
                  <a:lnTo>
                    <a:pt x="21335" y="12192"/>
                  </a:lnTo>
                  <a:lnTo>
                    <a:pt x="27431" y="12192"/>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4" name="Google Shape;374;g1ead90bba03_0_99"/>
            <p:cNvSpPr/>
            <p:nvPr/>
          </p:nvSpPr>
          <p:spPr>
            <a:xfrm>
              <a:off x="7586205" y="3829233"/>
              <a:ext cx="15241" cy="365760"/>
            </a:xfrm>
            <a:custGeom>
              <a:rect b="b" l="l" r="r" t="t"/>
              <a:pathLst>
                <a:path extrusionOk="0" h="365760" w="15239">
                  <a:moveTo>
                    <a:pt x="15239" y="0"/>
                  </a:moveTo>
                  <a:lnTo>
                    <a:pt x="0" y="0"/>
                  </a:lnTo>
                  <a:lnTo>
                    <a:pt x="0" y="365760"/>
                  </a:lnTo>
                  <a:lnTo>
                    <a:pt x="15239" y="365760"/>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5" name="Google Shape;375;g1ead90bba03_0_99"/>
            <p:cNvSpPr/>
            <p:nvPr/>
          </p:nvSpPr>
          <p:spPr>
            <a:xfrm>
              <a:off x="7580108" y="3823137"/>
              <a:ext cx="27942" cy="378460"/>
            </a:xfrm>
            <a:custGeom>
              <a:rect b="b" l="l" r="r" t="t"/>
              <a:pathLst>
                <a:path extrusionOk="0" h="378460" w="27939">
                  <a:moveTo>
                    <a:pt x="27431" y="0"/>
                  </a:moveTo>
                  <a:lnTo>
                    <a:pt x="0" y="0"/>
                  </a:lnTo>
                  <a:lnTo>
                    <a:pt x="0" y="377951"/>
                  </a:lnTo>
                  <a:lnTo>
                    <a:pt x="27431" y="377951"/>
                  </a:lnTo>
                  <a:lnTo>
                    <a:pt x="27431" y="371856"/>
                  </a:lnTo>
                  <a:lnTo>
                    <a:pt x="12191" y="371856"/>
                  </a:lnTo>
                  <a:lnTo>
                    <a:pt x="6095" y="365760"/>
                  </a:lnTo>
                  <a:lnTo>
                    <a:pt x="12191" y="365760"/>
                  </a:lnTo>
                  <a:lnTo>
                    <a:pt x="12191" y="12192"/>
                  </a:lnTo>
                  <a:lnTo>
                    <a:pt x="6095" y="12192"/>
                  </a:lnTo>
                  <a:lnTo>
                    <a:pt x="12191" y="6096"/>
                  </a:lnTo>
                  <a:lnTo>
                    <a:pt x="27431" y="6096"/>
                  </a:lnTo>
                  <a:lnTo>
                    <a:pt x="27431" y="0"/>
                  </a:lnTo>
                  <a:close/>
                </a:path>
                <a:path extrusionOk="0" h="378460" w="27939">
                  <a:moveTo>
                    <a:pt x="12191" y="365760"/>
                  </a:moveTo>
                  <a:lnTo>
                    <a:pt x="6095" y="365760"/>
                  </a:lnTo>
                  <a:lnTo>
                    <a:pt x="12191" y="371856"/>
                  </a:lnTo>
                  <a:lnTo>
                    <a:pt x="12191" y="365760"/>
                  </a:lnTo>
                  <a:close/>
                </a:path>
                <a:path extrusionOk="0" h="378460" w="27939">
                  <a:moveTo>
                    <a:pt x="15239" y="365760"/>
                  </a:moveTo>
                  <a:lnTo>
                    <a:pt x="12191" y="365760"/>
                  </a:lnTo>
                  <a:lnTo>
                    <a:pt x="12191" y="371856"/>
                  </a:lnTo>
                  <a:lnTo>
                    <a:pt x="15239" y="371856"/>
                  </a:lnTo>
                  <a:lnTo>
                    <a:pt x="15239" y="365760"/>
                  </a:lnTo>
                  <a:close/>
                </a:path>
                <a:path extrusionOk="0" h="378460" w="27939">
                  <a:moveTo>
                    <a:pt x="15239" y="6096"/>
                  </a:moveTo>
                  <a:lnTo>
                    <a:pt x="15239" y="371856"/>
                  </a:lnTo>
                  <a:lnTo>
                    <a:pt x="21335" y="365760"/>
                  </a:lnTo>
                  <a:lnTo>
                    <a:pt x="27431" y="365760"/>
                  </a:lnTo>
                  <a:lnTo>
                    <a:pt x="27431" y="12192"/>
                  </a:lnTo>
                  <a:lnTo>
                    <a:pt x="21335" y="12192"/>
                  </a:lnTo>
                  <a:lnTo>
                    <a:pt x="15239" y="6096"/>
                  </a:lnTo>
                  <a:close/>
                </a:path>
                <a:path extrusionOk="0" h="378460" w="27939">
                  <a:moveTo>
                    <a:pt x="27431" y="365760"/>
                  </a:moveTo>
                  <a:lnTo>
                    <a:pt x="21335" y="365760"/>
                  </a:lnTo>
                  <a:lnTo>
                    <a:pt x="15239" y="371856"/>
                  </a:lnTo>
                  <a:lnTo>
                    <a:pt x="27431" y="371856"/>
                  </a:lnTo>
                  <a:lnTo>
                    <a:pt x="27431" y="365760"/>
                  </a:lnTo>
                  <a:close/>
                </a:path>
                <a:path extrusionOk="0" h="378460" w="27939">
                  <a:moveTo>
                    <a:pt x="12191" y="6096"/>
                  </a:moveTo>
                  <a:lnTo>
                    <a:pt x="6095" y="12192"/>
                  </a:lnTo>
                  <a:lnTo>
                    <a:pt x="12191" y="12192"/>
                  </a:lnTo>
                  <a:lnTo>
                    <a:pt x="12191" y="6096"/>
                  </a:lnTo>
                  <a:close/>
                </a:path>
                <a:path extrusionOk="0" h="378460" w="27939">
                  <a:moveTo>
                    <a:pt x="15239" y="6096"/>
                  </a:moveTo>
                  <a:lnTo>
                    <a:pt x="12191" y="6096"/>
                  </a:lnTo>
                  <a:lnTo>
                    <a:pt x="12191" y="12192"/>
                  </a:lnTo>
                  <a:lnTo>
                    <a:pt x="15239" y="12192"/>
                  </a:lnTo>
                  <a:lnTo>
                    <a:pt x="15239" y="6096"/>
                  </a:lnTo>
                  <a:close/>
                </a:path>
                <a:path extrusionOk="0" h="378460" w="27939">
                  <a:moveTo>
                    <a:pt x="27431" y="6096"/>
                  </a:moveTo>
                  <a:lnTo>
                    <a:pt x="15239" y="6096"/>
                  </a:lnTo>
                  <a:lnTo>
                    <a:pt x="21335" y="12192"/>
                  </a:lnTo>
                  <a:lnTo>
                    <a:pt x="27431" y="12192"/>
                  </a:lnTo>
                  <a:lnTo>
                    <a:pt x="27431"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6" name="Google Shape;376;g1ead90bba03_0_99"/>
            <p:cNvSpPr/>
            <p:nvPr/>
          </p:nvSpPr>
          <p:spPr>
            <a:xfrm>
              <a:off x="7586205" y="4194993"/>
              <a:ext cx="15241" cy="365760"/>
            </a:xfrm>
            <a:custGeom>
              <a:rect b="b" l="l" r="r" t="t"/>
              <a:pathLst>
                <a:path extrusionOk="0" h="365760" w="15239">
                  <a:moveTo>
                    <a:pt x="15239" y="0"/>
                  </a:moveTo>
                  <a:lnTo>
                    <a:pt x="0" y="0"/>
                  </a:lnTo>
                  <a:lnTo>
                    <a:pt x="0" y="365759"/>
                  </a:lnTo>
                  <a:lnTo>
                    <a:pt x="15239" y="365759"/>
                  </a:lnTo>
                  <a:lnTo>
                    <a:pt x="1523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7" name="Google Shape;377;g1ead90bba03_0_99"/>
            <p:cNvSpPr/>
            <p:nvPr/>
          </p:nvSpPr>
          <p:spPr>
            <a:xfrm>
              <a:off x="7580109" y="4188897"/>
              <a:ext cx="1216781" cy="805179"/>
            </a:xfrm>
            <a:custGeom>
              <a:rect b="b" l="l" r="r" t="t"/>
              <a:pathLst>
                <a:path extrusionOk="0" h="805179" w="1216659">
                  <a:moveTo>
                    <a:pt x="27432" y="0"/>
                  </a:moveTo>
                  <a:lnTo>
                    <a:pt x="15240" y="0"/>
                  </a:lnTo>
                  <a:lnTo>
                    <a:pt x="15240" y="12192"/>
                  </a:lnTo>
                  <a:lnTo>
                    <a:pt x="15240" y="362712"/>
                  </a:lnTo>
                  <a:lnTo>
                    <a:pt x="15240" y="384048"/>
                  </a:lnTo>
                  <a:lnTo>
                    <a:pt x="15240" y="792480"/>
                  </a:lnTo>
                  <a:lnTo>
                    <a:pt x="12192" y="792480"/>
                  </a:lnTo>
                  <a:lnTo>
                    <a:pt x="12192" y="384048"/>
                  </a:lnTo>
                  <a:lnTo>
                    <a:pt x="15240" y="384048"/>
                  </a:lnTo>
                  <a:lnTo>
                    <a:pt x="15240" y="362712"/>
                  </a:lnTo>
                  <a:lnTo>
                    <a:pt x="12192" y="362712"/>
                  </a:lnTo>
                  <a:lnTo>
                    <a:pt x="12192" y="12192"/>
                  </a:lnTo>
                  <a:lnTo>
                    <a:pt x="15240" y="12192"/>
                  </a:lnTo>
                  <a:lnTo>
                    <a:pt x="15240" y="0"/>
                  </a:lnTo>
                  <a:lnTo>
                    <a:pt x="0" y="0"/>
                  </a:lnTo>
                  <a:lnTo>
                    <a:pt x="0" y="371856"/>
                  </a:lnTo>
                  <a:lnTo>
                    <a:pt x="0" y="377952"/>
                  </a:lnTo>
                  <a:lnTo>
                    <a:pt x="0" y="804672"/>
                  </a:lnTo>
                  <a:lnTo>
                    <a:pt x="27432" y="804672"/>
                  </a:lnTo>
                  <a:lnTo>
                    <a:pt x="27432" y="798576"/>
                  </a:lnTo>
                  <a:lnTo>
                    <a:pt x="27432" y="792480"/>
                  </a:lnTo>
                  <a:lnTo>
                    <a:pt x="27432" y="6096"/>
                  </a:lnTo>
                  <a:lnTo>
                    <a:pt x="27432" y="0"/>
                  </a:lnTo>
                  <a:close/>
                </a:path>
                <a:path extrusionOk="0" h="805179" w="1216659">
                  <a:moveTo>
                    <a:pt x="1216152" y="371856"/>
                  </a:moveTo>
                  <a:lnTo>
                    <a:pt x="1203960" y="371856"/>
                  </a:lnTo>
                  <a:lnTo>
                    <a:pt x="1203960" y="384048"/>
                  </a:lnTo>
                  <a:lnTo>
                    <a:pt x="1203960" y="792480"/>
                  </a:lnTo>
                  <a:lnTo>
                    <a:pt x="1200912" y="792480"/>
                  </a:lnTo>
                  <a:lnTo>
                    <a:pt x="1200912" y="384048"/>
                  </a:lnTo>
                  <a:lnTo>
                    <a:pt x="1203960" y="384048"/>
                  </a:lnTo>
                  <a:lnTo>
                    <a:pt x="1203960" y="371856"/>
                  </a:lnTo>
                  <a:lnTo>
                    <a:pt x="1188720" y="371856"/>
                  </a:lnTo>
                  <a:lnTo>
                    <a:pt x="1188720" y="804672"/>
                  </a:lnTo>
                  <a:lnTo>
                    <a:pt x="1216152" y="804672"/>
                  </a:lnTo>
                  <a:lnTo>
                    <a:pt x="1216152" y="798576"/>
                  </a:lnTo>
                  <a:lnTo>
                    <a:pt x="1216152" y="792480"/>
                  </a:lnTo>
                  <a:lnTo>
                    <a:pt x="1216152" y="384048"/>
                  </a:lnTo>
                  <a:lnTo>
                    <a:pt x="1216152" y="377952"/>
                  </a:lnTo>
                  <a:lnTo>
                    <a:pt x="1216152" y="37185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8" name="Google Shape;378;g1ead90bba03_0_99"/>
            <p:cNvSpPr/>
            <p:nvPr/>
          </p:nvSpPr>
          <p:spPr>
            <a:xfrm>
              <a:off x="4019689" y="4969186"/>
              <a:ext cx="4761706" cy="18414"/>
            </a:xfrm>
            <a:custGeom>
              <a:rect b="b" l="l" r="r" t="t"/>
              <a:pathLst>
                <a:path extrusionOk="0" h="18414" w="4761230">
                  <a:moveTo>
                    <a:pt x="4760976" y="0"/>
                  </a:moveTo>
                  <a:lnTo>
                    <a:pt x="0" y="0"/>
                  </a:lnTo>
                  <a:lnTo>
                    <a:pt x="0" y="18287"/>
                  </a:lnTo>
                  <a:lnTo>
                    <a:pt x="4760976" y="18287"/>
                  </a:lnTo>
                  <a:lnTo>
                    <a:pt x="476097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9" name="Google Shape;379;g1ead90bba03_0_99"/>
            <p:cNvSpPr/>
            <p:nvPr/>
          </p:nvSpPr>
          <p:spPr>
            <a:xfrm>
              <a:off x="4013592" y="4963090"/>
              <a:ext cx="4773772" cy="30479"/>
            </a:xfrm>
            <a:custGeom>
              <a:rect b="b" l="l" r="r" t="t"/>
              <a:pathLst>
                <a:path extrusionOk="0" h="30479" w="4773295">
                  <a:moveTo>
                    <a:pt x="4773168" y="0"/>
                  </a:moveTo>
                  <a:lnTo>
                    <a:pt x="0" y="0"/>
                  </a:lnTo>
                  <a:lnTo>
                    <a:pt x="0" y="30480"/>
                  </a:lnTo>
                  <a:lnTo>
                    <a:pt x="4773168" y="30480"/>
                  </a:lnTo>
                  <a:lnTo>
                    <a:pt x="4773168" y="24384"/>
                  </a:lnTo>
                  <a:lnTo>
                    <a:pt x="12191" y="24384"/>
                  </a:lnTo>
                  <a:lnTo>
                    <a:pt x="6095" y="18288"/>
                  </a:lnTo>
                  <a:lnTo>
                    <a:pt x="12191" y="18288"/>
                  </a:lnTo>
                  <a:lnTo>
                    <a:pt x="12191" y="15240"/>
                  </a:lnTo>
                  <a:lnTo>
                    <a:pt x="6095" y="15240"/>
                  </a:lnTo>
                  <a:lnTo>
                    <a:pt x="12191" y="6096"/>
                  </a:lnTo>
                  <a:lnTo>
                    <a:pt x="4773168" y="6096"/>
                  </a:lnTo>
                  <a:lnTo>
                    <a:pt x="4773168" y="0"/>
                  </a:lnTo>
                  <a:close/>
                </a:path>
                <a:path extrusionOk="0" h="30479" w="4773295">
                  <a:moveTo>
                    <a:pt x="12191" y="18288"/>
                  </a:moveTo>
                  <a:lnTo>
                    <a:pt x="6095" y="18288"/>
                  </a:lnTo>
                  <a:lnTo>
                    <a:pt x="12191" y="24384"/>
                  </a:lnTo>
                  <a:lnTo>
                    <a:pt x="12191" y="18288"/>
                  </a:lnTo>
                  <a:close/>
                </a:path>
                <a:path extrusionOk="0" h="30479" w="4773295">
                  <a:moveTo>
                    <a:pt x="4760975" y="18288"/>
                  </a:moveTo>
                  <a:lnTo>
                    <a:pt x="12191" y="18288"/>
                  </a:lnTo>
                  <a:lnTo>
                    <a:pt x="12191" y="24384"/>
                  </a:lnTo>
                  <a:lnTo>
                    <a:pt x="4760975" y="24384"/>
                  </a:lnTo>
                  <a:lnTo>
                    <a:pt x="4760975" y="18288"/>
                  </a:lnTo>
                  <a:close/>
                </a:path>
                <a:path extrusionOk="0" h="30479" w="4773295">
                  <a:moveTo>
                    <a:pt x="4760975" y="6096"/>
                  </a:moveTo>
                  <a:lnTo>
                    <a:pt x="4760975" y="24384"/>
                  </a:lnTo>
                  <a:lnTo>
                    <a:pt x="4767071" y="18288"/>
                  </a:lnTo>
                  <a:lnTo>
                    <a:pt x="4773168" y="18288"/>
                  </a:lnTo>
                  <a:lnTo>
                    <a:pt x="4773168" y="15240"/>
                  </a:lnTo>
                  <a:lnTo>
                    <a:pt x="4767071" y="15240"/>
                  </a:lnTo>
                  <a:lnTo>
                    <a:pt x="4760975" y="6096"/>
                  </a:lnTo>
                  <a:close/>
                </a:path>
                <a:path extrusionOk="0" h="30479" w="4773295">
                  <a:moveTo>
                    <a:pt x="4773168" y="18288"/>
                  </a:moveTo>
                  <a:lnTo>
                    <a:pt x="4767071" y="18288"/>
                  </a:lnTo>
                  <a:lnTo>
                    <a:pt x="4760975" y="24384"/>
                  </a:lnTo>
                  <a:lnTo>
                    <a:pt x="4773168" y="24384"/>
                  </a:lnTo>
                  <a:lnTo>
                    <a:pt x="4773168" y="18288"/>
                  </a:lnTo>
                  <a:close/>
                </a:path>
                <a:path extrusionOk="0" h="30479" w="4773295">
                  <a:moveTo>
                    <a:pt x="12191" y="6096"/>
                  </a:moveTo>
                  <a:lnTo>
                    <a:pt x="6095" y="15240"/>
                  </a:lnTo>
                  <a:lnTo>
                    <a:pt x="12191" y="15240"/>
                  </a:lnTo>
                  <a:lnTo>
                    <a:pt x="12191" y="6096"/>
                  </a:lnTo>
                  <a:close/>
                </a:path>
                <a:path extrusionOk="0" h="30479" w="4773295">
                  <a:moveTo>
                    <a:pt x="4760975" y="6096"/>
                  </a:moveTo>
                  <a:lnTo>
                    <a:pt x="12191" y="6096"/>
                  </a:lnTo>
                  <a:lnTo>
                    <a:pt x="12191" y="15240"/>
                  </a:lnTo>
                  <a:lnTo>
                    <a:pt x="4760975" y="15240"/>
                  </a:lnTo>
                  <a:lnTo>
                    <a:pt x="4760975" y="6096"/>
                  </a:lnTo>
                  <a:close/>
                </a:path>
                <a:path extrusionOk="0" h="30479" w="4773295">
                  <a:moveTo>
                    <a:pt x="4773168" y="6096"/>
                  </a:moveTo>
                  <a:lnTo>
                    <a:pt x="4760975" y="6096"/>
                  </a:lnTo>
                  <a:lnTo>
                    <a:pt x="4767071" y="15240"/>
                  </a:lnTo>
                  <a:lnTo>
                    <a:pt x="4773168" y="15240"/>
                  </a:lnTo>
                  <a:lnTo>
                    <a:pt x="4773168" y="60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80" name="Google Shape;380;g1ead90bba03_0_99"/>
          <p:cNvSpPr txBox="1"/>
          <p:nvPr/>
        </p:nvSpPr>
        <p:spPr>
          <a:xfrm>
            <a:off x="5464475" y="2090412"/>
            <a:ext cx="665100" cy="883800"/>
          </a:xfrm>
          <a:prstGeom prst="rect">
            <a:avLst/>
          </a:prstGeom>
          <a:noFill/>
          <a:ln>
            <a:noFill/>
          </a:ln>
        </p:spPr>
        <p:txBody>
          <a:bodyPr anchorCtr="0" anchor="t" bIns="0" lIns="0" spcFirstLastPara="1" rIns="0" wrap="square" tIns="173975">
            <a:spAutoFit/>
          </a:bodyPr>
          <a:lstStyle/>
          <a:p>
            <a:pPr indent="0" lvl="0" marL="12700" marR="0" rtl="0" algn="l">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Output</a:t>
            </a:r>
            <a:endParaRPr b="0" i="0" sz="1400" u="none" cap="none" strike="noStrike">
              <a:solidFill>
                <a:srgbClr val="000000"/>
              </a:solidFill>
              <a:latin typeface="Arial"/>
              <a:ea typeface="Arial"/>
              <a:cs typeface="Arial"/>
              <a:sym typeface="Arial"/>
            </a:endParaRPr>
          </a:p>
          <a:p>
            <a:pPr indent="0" lvl="0" marL="12700" marR="0" rtl="0" algn="ctr">
              <a:lnSpc>
                <a:spcPct val="100000"/>
              </a:lnSpc>
              <a:spcBef>
                <a:spcPts val="1200"/>
              </a:spcBef>
              <a:spcAft>
                <a:spcPts val="0"/>
              </a:spcAft>
              <a:buClr>
                <a:srgbClr val="000000"/>
              </a:buClr>
              <a:buSzPts val="1800"/>
              <a:buFont typeface="Times New Roman"/>
              <a:buNone/>
            </a:pPr>
            <a:r>
              <a:rPr b="1" i="1" lang="en-US" sz="1800" u="none" cap="none" strike="noStrike">
                <a:solidFill>
                  <a:srgbClr val="000000"/>
                </a:solidFill>
                <a:latin typeface="Times New Roman"/>
                <a:ea typeface="Times New Roman"/>
                <a:cs typeface="Times New Roman"/>
                <a:sym typeface="Times New Roman"/>
              </a:rPr>
              <a:t>z</a:t>
            </a:r>
            <a:endParaRPr b="1" i="0" sz="1400" u="none" cap="none" strike="noStrike">
              <a:solidFill>
                <a:srgbClr val="000000"/>
              </a:solidFill>
              <a:latin typeface="Times New Roman"/>
              <a:ea typeface="Times New Roman"/>
              <a:cs typeface="Times New Roman"/>
              <a:sym typeface="Times New Roman"/>
            </a:endParaRPr>
          </a:p>
        </p:txBody>
      </p:sp>
      <p:graphicFrame>
        <p:nvGraphicFramePr>
          <p:cNvPr id="381" name="Google Shape;381;g1ead90bba03_0_99"/>
          <p:cNvGraphicFramePr/>
          <p:nvPr/>
        </p:nvGraphicFramePr>
        <p:xfrm>
          <a:off x="1306812" y="2944487"/>
          <a:ext cx="3000000" cy="3000000"/>
        </p:xfrm>
        <a:graphic>
          <a:graphicData uri="http://schemas.openxmlformats.org/drawingml/2006/table">
            <a:tbl>
              <a:tblPr>
                <a:noFill/>
                <a:tableStyleId>{88476B5D-2711-416F-9EB7-66369C930DE7}</a:tableStyleId>
              </a:tblPr>
              <a:tblGrid>
                <a:gridCol w="492125"/>
                <a:gridCol w="1147750"/>
                <a:gridCol w="1190625"/>
                <a:gridCol w="1271575"/>
                <a:gridCol w="557200"/>
              </a:tblGrid>
              <a:tr h="4556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70370"/>
                        </a:lnSpc>
                        <a:spcBef>
                          <a:spcPts val="0"/>
                        </a:spcBef>
                        <a:spcAft>
                          <a:spcPts val="0"/>
                        </a:spcAft>
                        <a:buClr>
                          <a:srgbClr val="000000"/>
                        </a:buClr>
                        <a:buSzPts val="1800"/>
                        <a:buFont typeface="Times New Roman"/>
                        <a:buNone/>
                      </a:pPr>
                      <a:r>
                        <a:rPr b="1" i="1" lang="en-US" sz="1600" u="none" cap="none" strike="noStrike">
                          <a:solidFill>
                            <a:srgbClr val="000000"/>
                          </a:solidFill>
                          <a:latin typeface="Times New Roman"/>
                          <a:ea typeface="Times New Roman"/>
                          <a:cs typeface="Times New Roman"/>
                          <a:sym typeface="Times New Roman"/>
                        </a:rPr>
                        <a:t>y </a:t>
                      </a:r>
                      <a:r>
                        <a:rPr b="1" baseline="-25000" i="0" lang="en-US" sz="2500" u="none" cap="none" strike="noStrike">
                          <a:solidFill>
                            <a:srgbClr val="000000"/>
                          </a:solidFill>
                          <a:latin typeface="Times New Roman"/>
                          <a:ea typeface="Times New Roman"/>
                          <a:cs typeface="Times New Roman"/>
                          <a:sym typeface="Times New Roman"/>
                        </a:rPr>
                        <a:t>2 </a:t>
                      </a:r>
                      <a:r>
                        <a:rPr b="1" i="1" lang="en-US" sz="1600" u="none" cap="none" strike="noStrike">
                          <a:solidFill>
                            <a:srgbClr val="000000"/>
                          </a:solidFill>
                          <a:latin typeface="Times New Roman"/>
                          <a:ea typeface="Times New Roman"/>
                          <a:cs typeface="Times New Roman"/>
                          <a:sym typeface="Times New Roman"/>
                        </a:rPr>
                        <a:t>y </a:t>
                      </a:r>
                      <a:r>
                        <a:rPr b="1" baseline="-25000" i="0" lang="en-US" sz="2500" u="none" cap="none" strike="noStrike">
                          <a:solidFill>
                            <a:srgbClr val="000000"/>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38100" marR="0" rtl="0" algn="ctr">
                        <a:lnSpc>
                          <a:spcPct val="70370"/>
                        </a:lnSpc>
                        <a:spcBef>
                          <a:spcPts val="0"/>
                        </a:spcBef>
                        <a:spcAft>
                          <a:spcPts val="0"/>
                        </a:spcAft>
                        <a:buClr>
                          <a:srgbClr val="000000"/>
                        </a:buClr>
                        <a:buSzPts val="1800"/>
                        <a:buFont typeface="Times New Roman"/>
                        <a:buNone/>
                      </a:pPr>
                      <a:r>
                        <a:rPr b="1" i="1" lang="en-US" sz="1600" u="none" cap="none" strike="noStrike">
                          <a:solidFill>
                            <a:srgbClr val="000000"/>
                          </a:solidFill>
                          <a:latin typeface="Times New Roman"/>
                          <a:ea typeface="Times New Roman"/>
                          <a:cs typeface="Times New Roman"/>
                          <a:sym typeface="Times New Roman"/>
                        </a:rPr>
                        <a:t>Y </a:t>
                      </a:r>
                      <a:r>
                        <a:rPr b="1" baseline="-25000" i="0" lang="en-US" sz="2500" u="none" cap="none" strike="noStrike">
                          <a:solidFill>
                            <a:srgbClr val="000000"/>
                          </a:solidFill>
                          <a:latin typeface="Times New Roman"/>
                          <a:ea typeface="Times New Roman"/>
                          <a:cs typeface="Times New Roman"/>
                          <a:sym typeface="Times New Roman"/>
                        </a:rPr>
                        <a:t>2 </a:t>
                      </a:r>
                      <a:r>
                        <a:rPr b="1" i="1" lang="en-US" sz="1600" u="none" cap="none" strike="noStrike">
                          <a:solidFill>
                            <a:srgbClr val="000000"/>
                          </a:solidFill>
                          <a:latin typeface="Times New Roman"/>
                          <a:ea typeface="Times New Roman"/>
                          <a:cs typeface="Times New Roman"/>
                          <a:sym typeface="Times New Roman"/>
                        </a:rPr>
                        <a:t>Y </a:t>
                      </a:r>
                      <a:r>
                        <a:rPr b="1" baseline="-25000" i="0" lang="en-US" sz="2500" u="none" cap="none" strike="noStrike">
                          <a:solidFill>
                            <a:srgbClr val="000000"/>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ctr">
                        <a:lnSpc>
                          <a:spcPct val="70370"/>
                        </a:lnSpc>
                        <a:spcBef>
                          <a:spcPts val="0"/>
                        </a:spcBef>
                        <a:spcAft>
                          <a:spcPts val="0"/>
                        </a:spcAft>
                        <a:buClr>
                          <a:srgbClr val="000000"/>
                        </a:buClr>
                        <a:buSzPts val="1800"/>
                        <a:buFont typeface="Times New Roman"/>
                        <a:buNone/>
                      </a:pPr>
                      <a:r>
                        <a:rPr b="1" i="1" lang="en-US" sz="1600" u="none" cap="none" strike="noStrike">
                          <a:solidFill>
                            <a:srgbClr val="000000"/>
                          </a:solidFill>
                          <a:latin typeface="Times New Roman"/>
                          <a:ea typeface="Times New Roman"/>
                          <a:cs typeface="Times New Roman"/>
                          <a:sym typeface="Times New Roman"/>
                        </a:rPr>
                        <a:t>Y </a:t>
                      </a:r>
                      <a:r>
                        <a:rPr b="1" baseline="-25000" i="0" lang="en-US" sz="2500" u="none" cap="none" strike="noStrike">
                          <a:solidFill>
                            <a:srgbClr val="000000"/>
                          </a:solidFill>
                          <a:latin typeface="Times New Roman"/>
                          <a:ea typeface="Times New Roman"/>
                          <a:cs typeface="Times New Roman"/>
                          <a:sym typeface="Times New Roman"/>
                        </a:rPr>
                        <a:t>2 </a:t>
                      </a:r>
                      <a:r>
                        <a:rPr b="1" i="1" lang="en-US" sz="1600" u="none" cap="none" strike="noStrike">
                          <a:solidFill>
                            <a:srgbClr val="000000"/>
                          </a:solidFill>
                          <a:latin typeface="Times New Roman"/>
                          <a:ea typeface="Times New Roman"/>
                          <a:cs typeface="Times New Roman"/>
                          <a:sym typeface="Times New Roman"/>
                        </a:rPr>
                        <a:t>Y </a:t>
                      </a:r>
                      <a:r>
                        <a:rPr b="1" baseline="-25000" i="0" lang="en-US" sz="2500" u="none" cap="none" strike="noStrike">
                          <a:solidFill>
                            <a:srgbClr val="000000"/>
                          </a:solidFill>
                          <a:latin typeface="Times New Roman"/>
                          <a:ea typeface="Times New Roman"/>
                          <a:cs typeface="Times New Roman"/>
                          <a:sym typeface="Times New Roman"/>
                        </a:rPr>
                        <a:t>1</a:t>
                      </a:r>
                      <a:endParaRPr b="1" sz="1200" u="none" cap="none" strike="noStrike"/>
                    </a:p>
                  </a:txBody>
                  <a:tcPr marT="0" marB="0" marR="0" marL="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alibri"/>
                        <a:ea typeface="Calibri"/>
                        <a:cs typeface="Calibri"/>
                        <a:sym typeface="Calibri"/>
                      </a:endParaRPr>
                    </a:p>
                  </a:txBody>
                  <a:tcPr marT="0" marB="0" marR="0" marL="0"/>
                </a:tc>
              </a:tr>
              <a:tr h="392100">
                <a:tc>
                  <a:txBody>
                    <a:bodyPr/>
                    <a:lstStyle/>
                    <a:p>
                      <a:pPr indent="0" lvl="0" marL="31750"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A</a:t>
                      </a:r>
                      <a:endParaRPr b="1" sz="1400" u="none" cap="none" strike="noStrike"/>
                    </a:p>
                  </a:txBody>
                  <a:tcPr marT="58425" marB="0" marR="0" marL="0"/>
                </a:tc>
                <a:tc>
                  <a:txBody>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00</a:t>
                      </a:r>
                      <a:endParaRPr sz="1400" u="none" cap="none" strike="noStrike"/>
                    </a:p>
                  </a:txBody>
                  <a:tcPr marT="58425" marB="0" marR="0" marL="0"/>
                </a:tc>
                <a:tc>
                  <a:txBody>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00</a:t>
                      </a:r>
                      <a:endParaRPr sz="1400" u="none" cap="none" strike="noStrike"/>
                    </a:p>
                  </a:txBody>
                  <a:tcPr marT="58425" marB="0" marR="0" marL="0"/>
                </a:tc>
                <a:tc>
                  <a:txBody>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01</a:t>
                      </a:r>
                      <a:endParaRPr sz="1400" u="none" cap="none" strike="noStrike"/>
                    </a:p>
                  </a:txBody>
                  <a:tcPr marT="58425" marB="0" marR="0" marL="0"/>
                </a:tc>
                <a:tc>
                  <a:txBody>
                    <a:bodyPr/>
                    <a:lstStyle/>
                    <a:p>
                      <a:pPr indent="0" lvl="0" marL="0" marR="0" rtl="0" algn="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0</a:t>
                      </a:r>
                      <a:endParaRPr sz="1400" u="none" cap="none" strike="noStrike"/>
                    </a:p>
                  </a:txBody>
                  <a:tcPr marT="58425" marB="0" marR="0" marL="0"/>
                </a:tc>
              </a:tr>
              <a:tr h="363525">
                <a:tc>
                  <a:txBody>
                    <a:bodyPr/>
                    <a:lstStyle/>
                    <a:p>
                      <a:pPr indent="0" lvl="0" marL="49212"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B</a:t>
                      </a:r>
                      <a:endParaRPr b="1" sz="1400" u="none" cap="none" strike="noStrike"/>
                    </a:p>
                  </a:txBody>
                  <a:tcPr marT="33025" marB="0" marR="0" marL="0"/>
                </a:tc>
                <a:tc>
                  <a:txBody>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01</a:t>
                      </a:r>
                      <a:endParaRPr sz="1400" u="none" cap="none" strike="noStrike"/>
                    </a:p>
                  </a:txBody>
                  <a:tcPr marT="29850" marB="0" marR="0" marL="0"/>
                </a:tc>
                <a:tc>
                  <a:txBody>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00</a:t>
                      </a:r>
                      <a:endParaRPr sz="1400" u="none" cap="none" strike="noStrike"/>
                    </a:p>
                  </a:txBody>
                  <a:tcPr marT="29850" marB="0" marR="0" marL="0"/>
                </a:tc>
                <a:tc>
                  <a:txBody>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10</a:t>
                      </a:r>
                      <a:endParaRPr sz="1400" u="none" cap="none" strike="noStrike"/>
                    </a:p>
                  </a:txBody>
                  <a:tcPr marT="29850" marB="0" marR="0" marL="0"/>
                </a:tc>
                <a:tc>
                  <a:txBody>
                    <a:bodyPr/>
                    <a:lstStyle/>
                    <a:p>
                      <a:pPr indent="0" lvl="0" marL="0" marR="0" rtl="0" algn="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0</a:t>
                      </a:r>
                      <a:endParaRPr sz="1400" u="none" cap="none" strike="noStrike"/>
                    </a:p>
                  </a:txBody>
                  <a:tcPr marT="33025" marB="0" marR="0" marL="0"/>
                </a:tc>
              </a:tr>
              <a:tr h="363525">
                <a:tc>
                  <a:txBody>
                    <a:bodyPr/>
                    <a:lstStyle/>
                    <a:p>
                      <a:pPr indent="0" lvl="0" marL="49212" marR="0" rtl="0" algn="l">
                        <a:lnSpc>
                          <a:spcPct val="100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C</a:t>
                      </a:r>
                      <a:endParaRPr b="1" sz="1400" u="none" cap="none" strike="noStrike"/>
                    </a:p>
                  </a:txBody>
                  <a:tcPr marT="31125" marB="0" marR="0" marL="0"/>
                </a:tc>
                <a:tc>
                  <a:txBody>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10</a:t>
                      </a:r>
                      <a:endParaRPr sz="1400" u="none" cap="none" strike="noStrike"/>
                    </a:p>
                  </a:txBody>
                  <a:tcPr marT="27950" marB="0" marR="0" marL="0"/>
                </a:tc>
                <a:tc>
                  <a:txBody>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00</a:t>
                      </a:r>
                      <a:endParaRPr sz="1400" u="none" cap="none" strike="noStrike"/>
                    </a:p>
                  </a:txBody>
                  <a:tcPr marT="27950" marB="0" marR="0" marL="0"/>
                </a:tc>
                <a:tc>
                  <a:txBody>
                    <a:bodyPr/>
                    <a:lstStyle/>
                    <a:p>
                      <a:pPr indent="0" lvl="0" marL="0" marR="0" rtl="0" algn="ct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10</a:t>
                      </a:r>
                      <a:endParaRPr sz="1400" u="none" cap="none" strike="noStrike"/>
                    </a:p>
                  </a:txBody>
                  <a:tcPr marT="27950" marB="0" marR="0" marL="0"/>
                </a:tc>
                <a:tc>
                  <a:txBody>
                    <a:bodyPr/>
                    <a:lstStyle/>
                    <a:p>
                      <a:pPr indent="0" lvl="0" marL="0" marR="0" rtl="0" algn="r">
                        <a:lnSpc>
                          <a:spcPct val="100000"/>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1</a:t>
                      </a:r>
                      <a:endParaRPr sz="1400" u="none" cap="none" strike="noStrike"/>
                    </a:p>
                  </a:txBody>
                  <a:tcPr marT="31125" marB="0" marR="0" marL="0"/>
                </a:tc>
              </a:tr>
              <a:tr h="3079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alibri"/>
                        <a:ea typeface="Calibri"/>
                        <a:cs typeface="Calibri"/>
                        <a:sym typeface="Calibri"/>
                      </a:endParaRPr>
                    </a:p>
                  </a:txBody>
                  <a:tcPr marT="0" marB="0" marR="0" marL="0"/>
                </a:tc>
                <a:tc>
                  <a:txBody>
                    <a:bodyPr/>
                    <a:lstStyle/>
                    <a:p>
                      <a:pPr indent="0" lvl="0" marL="0" marR="0" rtl="0" algn="ctr">
                        <a:lnSpc>
                          <a:spcPct val="111111"/>
                        </a:lnSpc>
                        <a:spcBef>
                          <a:spcPts val="0"/>
                        </a:spcBef>
                        <a:spcAft>
                          <a:spcPts val="0"/>
                        </a:spcAft>
                        <a:buClr>
                          <a:srgbClr val="000000"/>
                        </a:buClr>
                        <a:buSzPts val="1800"/>
                        <a:buFont typeface="Times New Roman"/>
                        <a:buNone/>
                      </a:pPr>
                      <a:r>
                        <a:rPr b="0" i="0" lang="en-US" sz="1800" u="none" cap="none" strike="noStrike">
                          <a:solidFill>
                            <a:srgbClr val="000000"/>
                          </a:solidFill>
                          <a:latin typeface="Times New Roman"/>
                          <a:ea typeface="Times New Roman"/>
                          <a:cs typeface="Times New Roman"/>
                          <a:sym typeface="Times New Roman"/>
                        </a:rPr>
                        <a:t>11</a:t>
                      </a:r>
                      <a:endParaRPr sz="1400" u="none" cap="none" strike="noStrike"/>
                    </a:p>
                  </a:txBody>
                  <a:tcPr marT="29850" marB="0" marR="0" marL="0"/>
                </a:tc>
                <a:tc>
                  <a:txBody>
                    <a:bodyPr/>
                    <a:lstStyle/>
                    <a:p>
                      <a:pPr indent="0" lvl="0" marL="0" marR="0" rtl="0" algn="ctr">
                        <a:lnSpc>
                          <a:spcPct val="111111"/>
                        </a:lnSpc>
                        <a:spcBef>
                          <a:spcPts val="0"/>
                        </a:spcBef>
                        <a:spcAft>
                          <a:spcPts val="0"/>
                        </a:spcAft>
                        <a:buClr>
                          <a:srgbClr val="000000"/>
                        </a:buClr>
                        <a:buSzPts val="1800"/>
                        <a:buFont typeface="Times New Roman"/>
                        <a:buNone/>
                      </a:pPr>
                      <a:r>
                        <a:rPr b="0" i="1" lang="en-US" sz="1800" u="none" cap="none" strike="noStrike">
                          <a:solidFill>
                            <a:srgbClr val="000000"/>
                          </a:solidFill>
                          <a:latin typeface="Times New Roman"/>
                          <a:ea typeface="Times New Roman"/>
                          <a:cs typeface="Times New Roman"/>
                          <a:sym typeface="Times New Roman"/>
                        </a:rPr>
                        <a:t>dd</a:t>
                      </a:r>
                      <a:endParaRPr sz="1400" u="none" cap="none" strike="noStrike"/>
                    </a:p>
                  </a:txBody>
                  <a:tcPr marT="29850" marB="0" marR="0" marL="0"/>
                </a:tc>
                <a:tc>
                  <a:txBody>
                    <a:bodyPr/>
                    <a:lstStyle/>
                    <a:p>
                      <a:pPr indent="0" lvl="0" marL="0" marR="0" rtl="0" algn="ctr">
                        <a:lnSpc>
                          <a:spcPct val="111111"/>
                        </a:lnSpc>
                        <a:spcBef>
                          <a:spcPts val="0"/>
                        </a:spcBef>
                        <a:spcAft>
                          <a:spcPts val="0"/>
                        </a:spcAft>
                        <a:buClr>
                          <a:srgbClr val="000000"/>
                        </a:buClr>
                        <a:buSzPts val="1800"/>
                        <a:buFont typeface="Times New Roman"/>
                        <a:buNone/>
                      </a:pPr>
                      <a:r>
                        <a:rPr b="0" i="1" lang="en-US" sz="1800" u="none" cap="none" strike="noStrike">
                          <a:solidFill>
                            <a:srgbClr val="000000"/>
                          </a:solidFill>
                          <a:latin typeface="Times New Roman"/>
                          <a:ea typeface="Times New Roman"/>
                          <a:cs typeface="Times New Roman"/>
                          <a:sym typeface="Times New Roman"/>
                        </a:rPr>
                        <a:t>dd</a:t>
                      </a:r>
                      <a:endParaRPr sz="1400" u="none" cap="none" strike="noStrike"/>
                    </a:p>
                  </a:txBody>
                  <a:tcPr marT="29850" marB="0" marR="0" marL="0"/>
                </a:tc>
                <a:tc>
                  <a:txBody>
                    <a:bodyPr/>
                    <a:lstStyle/>
                    <a:p>
                      <a:pPr indent="0" lvl="0" marL="0" marR="0" rtl="0" algn="r">
                        <a:lnSpc>
                          <a:spcPct val="111111"/>
                        </a:lnSpc>
                        <a:spcBef>
                          <a:spcPts val="0"/>
                        </a:spcBef>
                        <a:spcAft>
                          <a:spcPts val="0"/>
                        </a:spcAft>
                        <a:buClr>
                          <a:srgbClr val="000000"/>
                        </a:buClr>
                        <a:buSzPts val="1800"/>
                        <a:buFont typeface="Times New Roman"/>
                        <a:buNone/>
                      </a:pPr>
                      <a:r>
                        <a:rPr b="0" i="1" lang="en-US" sz="1800" u="none" cap="none" strike="noStrike">
                          <a:solidFill>
                            <a:srgbClr val="000000"/>
                          </a:solidFill>
                          <a:latin typeface="Times New Roman"/>
                          <a:ea typeface="Times New Roman"/>
                          <a:cs typeface="Times New Roman"/>
                          <a:sym typeface="Times New Roman"/>
                        </a:rPr>
                        <a:t>d</a:t>
                      </a:r>
                      <a:endParaRPr sz="1400" u="none" cap="none" strike="noStrike"/>
                    </a:p>
                  </a:txBody>
                  <a:tcPr marT="29850" marB="0" marR="0" marL="0"/>
                </a:tc>
              </a:tr>
            </a:tbl>
          </a:graphicData>
        </a:graphic>
      </p:graphicFrame>
      <p:sp>
        <p:nvSpPr>
          <p:cNvPr id="382" name="Google Shape;382;g1ead90bba03_0_99"/>
          <p:cNvSpPr txBox="1"/>
          <p:nvPr/>
        </p:nvSpPr>
        <p:spPr>
          <a:xfrm>
            <a:off x="7268600" y="1213675"/>
            <a:ext cx="2757300" cy="13698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900" u="none" cap="none" strike="noStrike">
                <a:solidFill>
                  <a:srgbClr val="000000"/>
                </a:solidFill>
                <a:latin typeface="Calibri"/>
                <a:ea typeface="Calibri"/>
                <a:cs typeface="Calibri"/>
                <a:sym typeface="Calibri"/>
              </a:rPr>
              <a:t>We need to find expressions (K-map) for </a:t>
            </a:r>
            <a:endParaRPr b="0" i="0" sz="19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Arial"/>
              <a:buChar char="●"/>
            </a:pPr>
            <a:r>
              <a:rPr b="0" i="0" lang="en-US" sz="1900" u="none" cap="none" strike="noStrike">
                <a:solidFill>
                  <a:srgbClr val="000000"/>
                </a:solidFill>
                <a:latin typeface="Calibri"/>
                <a:ea typeface="Calibri"/>
                <a:cs typeface="Calibri"/>
                <a:sym typeface="Calibri"/>
              </a:rPr>
              <a:t>next state (</a:t>
            </a:r>
            <a:r>
              <a:rPr b="0" i="0" lang="en-US" sz="1700" u="none" cap="none" strike="noStrike">
                <a:solidFill>
                  <a:schemeClr val="dk1"/>
                </a:solidFill>
                <a:latin typeface="Times New Roman"/>
                <a:ea typeface="Times New Roman"/>
                <a:cs typeface="Times New Roman"/>
                <a:sym typeface="Times New Roman"/>
              </a:rPr>
              <a:t>Y</a:t>
            </a:r>
            <a:r>
              <a:rPr b="0" baseline="-25000" i="0" lang="en-US" sz="2600" u="none" cap="none" strike="noStrike">
                <a:solidFill>
                  <a:schemeClr val="dk1"/>
                </a:solidFill>
                <a:latin typeface="Times New Roman"/>
                <a:ea typeface="Times New Roman"/>
                <a:cs typeface="Times New Roman"/>
                <a:sym typeface="Times New Roman"/>
              </a:rPr>
              <a:t>2 </a:t>
            </a:r>
            <a:r>
              <a:rPr b="0" i="0" lang="en-US" sz="2600" u="none" cap="none" strike="noStrike">
                <a:solidFill>
                  <a:schemeClr val="dk1"/>
                </a:solidFill>
                <a:latin typeface="Times New Roman"/>
                <a:ea typeface="Times New Roman"/>
                <a:cs typeface="Times New Roman"/>
                <a:sym typeface="Times New Roman"/>
              </a:rPr>
              <a:t>,</a:t>
            </a:r>
            <a:r>
              <a:rPr b="0" i="0" lang="en-US" sz="1700" u="none" cap="none" strike="noStrike">
                <a:solidFill>
                  <a:schemeClr val="dk1"/>
                </a:solidFill>
                <a:latin typeface="Times New Roman"/>
                <a:ea typeface="Times New Roman"/>
                <a:cs typeface="Times New Roman"/>
                <a:sym typeface="Times New Roman"/>
              </a:rPr>
              <a:t>Y</a:t>
            </a:r>
            <a:r>
              <a:rPr b="0" baseline="-25000" i="0" lang="en-US" sz="2600" u="none" cap="none" strike="noStrike">
                <a:solidFill>
                  <a:schemeClr val="dk1"/>
                </a:solidFill>
                <a:latin typeface="Times New Roman"/>
                <a:ea typeface="Times New Roman"/>
                <a:cs typeface="Times New Roman"/>
                <a:sym typeface="Times New Roman"/>
              </a:rPr>
              <a:t>1</a:t>
            </a:r>
            <a:r>
              <a:rPr b="0" i="0" lang="en-US" sz="1900" u="none" cap="none" strike="noStrike">
                <a:solidFill>
                  <a:srgbClr val="000000"/>
                </a:solidFill>
                <a:latin typeface="Calibri"/>
                <a:ea typeface="Calibri"/>
                <a:cs typeface="Calibri"/>
                <a:sym typeface="Calibri"/>
              </a:rPr>
              <a:t>) </a:t>
            </a:r>
            <a:endParaRPr b="0" i="0" sz="1900" u="none" cap="none" strike="noStrike">
              <a:solidFill>
                <a:srgbClr val="000000"/>
              </a:solidFill>
              <a:latin typeface="Calibri"/>
              <a:ea typeface="Calibri"/>
              <a:cs typeface="Calibri"/>
              <a:sym typeface="Calibri"/>
            </a:endParaRPr>
          </a:p>
          <a:p>
            <a:pPr indent="-323850" lvl="0" marL="457200" marR="0" rtl="0" algn="l">
              <a:lnSpc>
                <a:spcPct val="100000"/>
              </a:lnSpc>
              <a:spcBef>
                <a:spcPts val="0"/>
              </a:spcBef>
              <a:spcAft>
                <a:spcPts val="0"/>
              </a:spcAft>
              <a:buClr>
                <a:srgbClr val="000000"/>
              </a:buClr>
              <a:buSzPts val="1500"/>
              <a:buFont typeface="Arial"/>
              <a:buChar char="●"/>
            </a:pPr>
            <a:r>
              <a:rPr b="0" i="0" lang="en-US" sz="1900" u="none" cap="none" strike="noStrike">
                <a:solidFill>
                  <a:srgbClr val="000000"/>
                </a:solidFill>
                <a:latin typeface="Calibri"/>
                <a:ea typeface="Calibri"/>
                <a:cs typeface="Calibri"/>
                <a:sym typeface="Calibri"/>
              </a:rPr>
              <a:t>output (z).</a:t>
            </a:r>
            <a:endParaRPr b="0" i="0" sz="1500" u="none" cap="none" strike="noStrike">
              <a:solidFill>
                <a:srgbClr val="000000"/>
              </a:solidFill>
              <a:latin typeface="Arial"/>
              <a:ea typeface="Arial"/>
              <a:cs typeface="Arial"/>
              <a:sym typeface="Arial"/>
            </a:endParaRPr>
          </a:p>
        </p:txBody>
      </p:sp>
      <p:sp>
        <p:nvSpPr>
          <p:cNvPr id="383" name="Google Shape;383;g1ead90bba03_0_99"/>
          <p:cNvSpPr txBox="1"/>
          <p:nvPr/>
        </p:nvSpPr>
        <p:spPr>
          <a:xfrm>
            <a:off x="7268600" y="2673688"/>
            <a:ext cx="2757300" cy="2327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90000"/>
              </a:lnSpc>
              <a:spcBef>
                <a:spcPts val="360"/>
              </a:spcBef>
              <a:spcAft>
                <a:spcPts val="0"/>
              </a:spcAft>
              <a:buClr>
                <a:srgbClr val="000000"/>
              </a:buClr>
              <a:buSzPts val="2300"/>
              <a:buFont typeface="Arial"/>
              <a:buNone/>
            </a:pPr>
            <a:r>
              <a:rPr b="1" i="0" lang="en-US" sz="2300" u="none" cap="none" strike="noStrike">
                <a:solidFill>
                  <a:srgbClr val="000000"/>
                </a:solidFill>
                <a:latin typeface="Calibri"/>
                <a:ea typeface="Calibri"/>
                <a:cs typeface="Calibri"/>
                <a:sym typeface="Calibri"/>
              </a:rPr>
              <a:t>Note that, </a:t>
            </a:r>
            <a:endParaRPr b="1" i="0" sz="2300" u="none" cap="none" strike="noStrike">
              <a:solidFill>
                <a:srgbClr val="000000"/>
              </a:solidFill>
              <a:latin typeface="Calibri"/>
              <a:ea typeface="Calibri"/>
              <a:cs typeface="Calibri"/>
              <a:sym typeface="Calibri"/>
            </a:endParaRPr>
          </a:p>
          <a:p>
            <a:pPr indent="-374650" lvl="0" marL="914400" marR="0" rtl="0" algn="l">
              <a:lnSpc>
                <a:spcPct val="90000"/>
              </a:lnSpc>
              <a:spcBef>
                <a:spcPts val="360"/>
              </a:spcBef>
              <a:spcAft>
                <a:spcPts val="0"/>
              </a:spcAft>
              <a:buClr>
                <a:srgbClr val="000000"/>
              </a:buClr>
              <a:buSzPts val="2300"/>
              <a:buFont typeface="Arial"/>
              <a:buChar char="➢"/>
            </a:pPr>
            <a:r>
              <a:rPr b="0" i="0" lang="en-US" sz="2300" u="none" cap="none" strike="noStrike">
                <a:solidFill>
                  <a:srgbClr val="000000"/>
                </a:solidFill>
                <a:latin typeface="Calibri"/>
                <a:ea typeface="Calibri"/>
                <a:cs typeface="Calibri"/>
                <a:sym typeface="Calibri"/>
              </a:rPr>
              <a:t>Y</a:t>
            </a:r>
            <a:r>
              <a:rPr b="0" baseline="-25000" i="0" lang="en-US" sz="2300" u="none" cap="none" strike="noStrike">
                <a:solidFill>
                  <a:srgbClr val="000000"/>
                </a:solidFill>
                <a:latin typeface="Calibri"/>
                <a:ea typeface="Calibri"/>
                <a:cs typeface="Calibri"/>
                <a:sym typeface="Calibri"/>
              </a:rPr>
              <a:t>1</a:t>
            </a:r>
            <a:r>
              <a:rPr b="0" i="0" lang="en-US" sz="2300" u="none" cap="none" strike="noStrike">
                <a:solidFill>
                  <a:srgbClr val="000000"/>
                </a:solidFill>
                <a:latin typeface="Calibri"/>
                <a:ea typeface="Calibri"/>
                <a:cs typeface="Calibri"/>
                <a:sym typeface="Calibri"/>
              </a:rPr>
              <a:t> = f(w,y</a:t>
            </a:r>
            <a:r>
              <a:rPr b="0" baseline="-25000" i="0" lang="en-US" sz="2300" u="none" cap="none" strike="noStrike">
                <a:solidFill>
                  <a:srgbClr val="000000"/>
                </a:solidFill>
                <a:latin typeface="Calibri"/>
                <a:ea typeface="Calibri"/>
                <a:cs typeface="Calibri"/>
                <a:sym typeface="Calibri"/>
              </a:rPr>
              <a:t>1</a:t>
            </a:r>
            <a:r>
              <a:rPr b="0" i="0" lang="en-US" sz="2300" u="none" cap="none" strike="noStrike">
                <a:solidFill>
                  <a:srgbClr val="000000"/>
                </a:solidFill>
                <a:latin typeface="Calibri"/>
                <a:ea typeface="Calibri"/>
                <a:cs typeface="Calibri"/>
                <a:sym typeface="Calibri"/>
              </a:rPr>
              <a:t>,y</a:t>
            </a:r>
            <a:r>
              <a:rPr b="0" baseline="-25000" i="0" lang="en-US" sz="2300" u="none" cap="none" strike="noStrike">
                <a:solidFill>
                  <a:srgbClr val="000000"/>
                </a:solidFill>
                <a:latin typeface="Calibri"/>
                <a:ea typeface="Calibri"/>
                <a:cs typeface="Calibri"/>
                <a:sym typeface="Calibri"/>
              </a:rPr>
              <a:t>2</a:t>
            </a:r>
            <a:r>
              <a:rPr b="0" i="0" lang="en-US" sz="2300" u="none" cap="none" strike="noStrike">
                <a:solidFill>
                  <a:srgbClr val="000000"/>
                </a:solidFill>
                <a:latin typeface="Calibri"/>
                <a:ea typeface="Calibri"/>
                <a:cs typeface="Calibri"/>
                <a:sym typeface="Calibri"/>
              </a:rPr>
              <a:t>)</a:t>
            </a:r>
            <a:endParaRPr b="0" i="0" sz="2300" u="none" cap="none" strike="noStrike">
              <a:solidFill>
                <a:srgbClr val="000000"/>
              </a:solidFill>
              <a:latin typeface="Calibri"/>
              <a:ea typeface="Calibri"/>
              <a:cs typeface="Calibri"/>
              <a:sym typeface="Calibri"/>
            </a:endParaRPr>
          </a:p>
          <a:p>
            <a:pPr indent="0" lvl="0" marL="914400" marR="0" rtl="0" algn="l">
              <a:lnSpc>
                <a:spcPct val="90000"/>
              </a:lnSpc>
              <a:spcBef>
                <a:spcPts val="360"/>
              </a:spcBef>
              <a:spcAft>
                <a:spcPts val="0"/>
              </a:spcAft>
              <a:buClr>
                <a:srgbClr val="000000"/>
              </a:buClr>
              <a:buSzPts val="2300"/>
              <a:buFont typeface="Arial"/>
              <a:buNone/>
            </a:pPr>
            <a:r>
              <a:t/>
            </a:r>
            <a:endParaRPr b="0" i="0" sz="2300" u="none" cap="none" strike="noStrike">
              <a:solidFill>
                <a:srgbClr val="000000"/>
              </a:solidFill>
              <a:latin typeface="Calibri"/>
              <a:ea typeface="Calibri"/>
              <a:cs typeface="Calibri"/>
              <a:sym typeface="Calibri"/>
            </a:endParaRPr>
          </a:p>
          <a:p>
            <a:pPr indent="-374650" lvl="0" marL="914400" marR="0" rtl="0" algn="l">
              <a:lnSpc>
                <a:spcPct val="90000"/>
              </a:lnSpc>
              <a:spcBef>
                <a:spcPts val="360"/>
              </a:spcBef>
              <a:spcAft>
                <a:spcPts val="0"/>
              </a:spcAft>
              <a:buClr>
                <a:srgbClr val="000000"/>
              </a:buClr>
              <a:buSzPts val="2300"/>
              <a:buFont typeface="Calibri"/>
              <a:buChar char="➢"/>
            </a:pPr>
            <a:r>
              <a:rPr b="0" i="0" lang="en-US" sz="2300" u="none" cap="none" strike="noStrike">
                <a:solidFill>
                  <a:schemeClr val="dk1"/>
                </a:solidFill>
                <a:latin typeface="Calibri"/>
                <a:ea typeface="Calibri"/>
                <a:cs typeface="Calibri"/>
                <a:sym typeface="Calibri"/>
              </a:rPr>
              <a:t>Y</a:t>
            </a:r>
            <a:r>
              <a:rPr b="0" baseline="-25000" i="0" lang="en-US" sz="2300" u="none" cap="none" strike="noStrike">
                <a:solidFill>
                  <a:schemeClr val="dk1"/>
                </a:solidFill>
                <a:latin typeface="Calibri"/>
                <a:ea typeface="Calibri"/>
                <a:cs typeface="Calibri"/>
                <a:sym typeface="Calibri"/>
              </a:rPr>
              <a:t>2</a:t>
            </a:r>
            <a:r>
              <a:rPr b="0" i="0" lang="en-US" sz="2300" u="none" cap="none" strike="noStrike">
                <a:solidFill>
                  <a:schemeClr val="dk1"/>
                </a:solidFill>
                <a:latin typeface="Calibri"/>
                <a:ea typeface="Calibri"/>
                <a:cs typeface="Calibri"/>
                <a:sym typeface="Calibri"/>
              </a:rPr>
              <a:t> = f(w,y</a:t>
            </a:r>
            <a:r>
              <a:rPr b="0" baseline="-25000" i="0" lang="en-US" sz="2300" u="none" cap="none" strike="noStrike">
                <a:solidFill>
                  <a:schemeClr val="dk1"/>
                </a:solidFill>
                <a:latin typeface="Calibri"/>
                <a:ea typeface="Calibri"/>
                <a:cs typeface="Calibri"/>
                <a:sym typeface="Calibri"/>
              </a:rPr>
              <a:t>1</a:t>
            </a:r>
            <a:r>
              <a:rPr b="0" i="0" lang="en-US" sz="2300" u="none" cap="none" strike="noStrike">
                <a:solidFill>
                  <a:schemeClr val="dk1"/>
                </a:solidFill>
                <a:latin typeface="Calibri"/>
                <a:ea typeface="Calibri"/>
                <a:cs typeface="Calibri"/>
                <a:sym typeface="Calibri"/>
              </a:rPr>
              <a:t>,y</a:t>
            </a:r>
            <a:r>
              <a:rPr b="0" baseline="-25000" i="0" lang="en-US" sz="2300" u="none" cap="none" strike="noStrike">
                <a:solidFill>
                  <a:schemeClr val="dk1"/>
                </a:solidFill>
                <a:latin typeface="Calibri"/>
                <a:ea typeface="Calibri"/>
                <a:cs typeface="Calibri"/>
                <a:sym typeface="Calibri"/>
              </a:rPr>
              <a:t>2</a:t>
            </a:r>
            <a:r>
              <a:rPr b="0" i="0" lang="en-US" sz="2300" u="none" cap="none" strike="noStrike">
                <a:solidFill>
                  <a:schemeClr val="dk1"/>
                </a:solidFill>
                <a:latin typeface="Calibri"/>
                <a:ea typeface="Calibri"/>
                <a:cs typeface="Calibri"/>
                <a:sym typeface="Calibri"/>
              </a:rPr>
              <a:t>)</a:t>
            </a:r>
            <a:endParaRPr b="0" i="0" sz="2300" u="none" cap="none" strike="noStrike">
              <a:solidFill>
                <a:schemeClr val="dk1"/>
              </a:solidFill>
              <a:latin typeface="Calibri"/>
              <a:ea typeface="Calibri"/>
              <a:cs typeface="Calibri"/>
              <a:sym typeface="Calibri"/>
            </a:endParaRPr>
          </a:p>
          <a:p>
            <a:pPr indent="0" lvl="0" marL="914400" marR="0" rtl="0" algn="l">
              <a:lnSpc>
                <a:spcPct val="90000"/>
              </a:lnSpc>
              <a:spcBef>
                <a:spcPts val="36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a:p>
            <a:pPr indent="-374650" lvl="0" marL="914400" marR="0" rtl="0" algn="l">
              <a:lnSpc>
                <a:spcPct val="90000"/>
              </a:lnSpc>
              <a:spcBef>
                <a:spcPts val="360"/>
              </a:spcBef>
              <a:spcAft>
                <a:spcPts val="0"/>
              </a:spcAft>
              <a:buClr>
                <a:srgbClr val="000000"/>
              </a:buClr>
              <a:buSzPts val="2300"/>
              <a:buFont typeface="Arial"/>
              <a:buChar char="➢"/>
            </a:pPr>
            <a:r>
              <a:rPr b="0" i="0" lang="en-US" sz="2300" u="none" cap="none" strike="noStrike">
                <a:solidFill>
                  <a:srgbClr val="000000"/>
                </a:solidFill>
                <a:latin typeface="Calibri"/>
                <a:ea typeface="Calibri"/>
                <a:cs typeface="Calibri"/>
                <a:sym typeface="Calibri"/>
              </a:rPr>
              <a:t>z</a:t>
            </a:r>
            <a:r>
              <a:rPr b="1" i="0" lang="en-US" sz="2300" u="none" cap="none" strike="noStrike">
                <a:solidFill>
                  <a:srgbClr val="000000"/>
                </a:solidFill>
                <a:latin typeface="Calibri"/>
                <a:ea typeface="Calibri"/>
                <a:cs typeface="Calibri"/>
                <a:sym typeface="Calibri"/>
              </a:rPr>
              <a:t> = </a:t>
            </a:r>
            <a:r>
              <a:rPr b="0" i="0" lang="en-US" sz="2300" u="none" cap="none" strike="noStrike">
                <a:solidFill>
                  <a:srgbClr val="000000"/>
                </a:solidFill>
                <a:latin typeface="Calibri"/>
                <a:ea typeface="Calibri"/>
                <a:cs typeface="Calibri"/>
                <a:sym typeface="Calibri"/>
              </a:rPr>
              <a:t>f(y</a:t>
            </a:r>
            <a:r>
              <a:rPr b="0" baseline="-25000" i="0" lang="en-US" sz="2300" u="none" cap="none" strike="noStrike">
                <a:solidFill>
                  <a:srgbClr val="000000"/>
                </a:solidFill>
                <a:latin typeface="Calibri"/>
                <a:ea typeface="Calibri"/>
                <a:cs typeface="Calibri"/>
                <a:sym typeface="Calibri"/>
              </a:rPr>
              <a:t>1</a:t>
            </a:r>
            <a:r>
              <a:rPr b="0" i="0" lang="en-US" sz="2300" u="none" cap="none" strike="noStrike">
                <a:solidFill>
                  <a:srgbClr val="000000"/>
                </a:solidFill>
                <a:latin typeface="Calibri"/>
                <a:ea typeface="Calibri"/>
                <a:cs typeface="Calibri"/>
                <a:sym typeface="Calibri"/>
              </a:rPr>
              <a:t>,y</a:t>
            </a:r>
            <a:r>
              <a:rPr b="0" baseline="-25000" i="0" lang="en-US" sz="2300" u="none" cap="none" strike="noStrike">
                <a:solidFill>
                  <a:srgbClr val="000000"/>
                </a:solidFill>
                <a:latin typeface="Calibri"/>
                <a:ea typeface="Calibri"/>
                <a:cs typeface="Calibri"/>
                <a:sym typeface="Calibri"/>
              </a:rPr>
              <a:t>2</a:t>
            </a:r>
            <a:r>
              <a:rPr b="0" i="0" lang="en-US" sz="2300" u="none" cap="none" strike="noStrike">
                <a:solidFill>
                  <a:srgbClr val="000000"/>
                </a:solidFill>
                <a:latin typeface="Calibri"/>
                <a:ea typeface="Calibri"/>
                <a:cs typeface="Calibri"/>
                <a:sym typeface="Calibri"/>
              </a:rPr>
              <a:t>)</a:t>
            </a:r>
            <a:endParaRPr b="0" i="0" sz="2300" u="none" cap="none" strike="noStrike">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1ead90bba03_0_230"/>
          <p:cNvSpPr txBox="1"/>
          <p:nvPr>
            <p:ph type="title"/>
          </p:nvPr>
        </p:nvSpPr>
        <p:spPr>
          <a:xfrm>
            <a:off x="685576" y="340274"/>
            <a:ext cx="9014400" cy="797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dk1"/>
              </a:buClr>
              <a:buSzPts val="2400"/>
              <a:buFont typeface="Times New Roman"/>
              <a:buNone/>
            </a:pPr>
            <a:r>
              <a:rPr b="1" i="0" lang="en-US" sz="2500" u="none">
                <a:solidFill>
                  <a:schemeClr val="dk1"/>
                </a:solidFill>
              </a:rPr>
              <a:t>Example 2: A </a:t>
            </a:r>
            <a:r>
              <a:rPr b="1" lang="en-US" sz="2500"/>
              <a:t>S</a:t>
            </a:r>
            <a:r>
              <a:rPr b="1" i="0" lang="en-US" sz="2500" u="none">
                <a:solidFill>
                  <a:schemeClr val="dk1"/>
                </a:solidFill>
              </a:rPr>
              <a:t>imple </a:t>
            </a:r>
            <a:r>
              <a:rPr b="1" lang="en-US" sz="2500"/>
              <a:t>I</a:t>
            </a:r>
            <a:r>
              <a:rPr b="1" i="0" lang="en-US" sz="2500" u="none">
                <a:solidFill>
                  <a:schemeClr val="dk1"/>
                </a:solidFill>
              </a:rPr>
              <a:t>nput </a:t>
            </a:r>
            <a:r>
              <a:rPr b="1" lang="en-US" sz="2500"/>
              <a:t>P</a:t>
            </a:r>
            <a:r>
              <a:rPr b="1" i="0" lang="en-US" sz="2500" u="none">
                <a:solidFill>
                  <a:schemeClr val="dk1"/>
                </a:solidFill>
              </a:rPr>
              <a:t>attern (</a:t>
            </a:r>
            <a:r>
              <a:rPr b="1" lang="en-US" sz="2500"/>
              <a:t>‘</a:t>
            </a:r>
            <a:r>
              <a:rPr b="1" i="0" lang="en-US" sz="2500" u="none">
                <a:solidFill>
                  <a:schemeClr val="dk1"/>
                </a:solidFill>
              </a:rPr>
              <a:t>11</a:t>
            </a:r>
            <a:r>
              <a:rPr b="1" lang="en-US" sz="2500"/>
              <a:t>’ </a:t>
            </a:r>
            <a:r>
              <a:rPr b="1" lang="en-US" sz="2600"/>
              <a:t>Overlapping</a:t>
            </a:r>
            <a:r>
              <a:rPr b="1" lang="en-US" sz="2500"/>
              <a:t> Sequence</a:t>
            </a:r>
            <a:r>
              <a:rPr b="1" i="0" lang="en-US" sz="2500" u="none">
                <a:solidFill>
                  <a:schemeClr val="dk1"/>
                </a:solidFill>
              </a:rPr>
              <a:t>) </a:t>
            </a:r>
            <a:r>
              <a:rPr b="1" lang="en-US" sz="2500"/>
              <a:t>D</a:t>
            </a:r>
            <a:r>
              <a:rPr b="1" i="0" lang="en-US" sz="2500" u="none">
                <a:solidFill>
                  <a:schemeClr val="dk1"/>
                </a:solidFill>
              </a:rPr>
              <a:t>etection </a:t>
            </a:r>
            <a:r>
              <a:rPr b="1" lang="en-US" sz="2500"/>
              <a:t>C</a:t>
            </a:r>
            <a:r>
              <a:rPr b="1" i="0" lang="en-US" sz="2500" u="none">
                <a:solidFill>
                  <a:schemeClr val="dk1"/>
                </a:solidFill>
              </a:rPr>
              <a:t>ircuit [</a:t>
            </a:r>
            <a:r>
              <a:rPr b="1" lang="en-US" sz="2500" u="sng"/>
              <a:t>K-Map</a:t>
            </a:r>
            <a:r>
              <a:rPr b="1" i="0" lang="en-US" sz="2500" u="none">
                <a:solidFill>
                  <a:schemeClr val="dk1"/>
                </a:solidFill>
              </a:rPr>
              <a:t>]</a:t>
            </a:r>
            <a:endParaRPr b="1" sz="2500"/>
          </a:p>
        </p:txBody>
      </p:sp>
      <p:sp>
        <p:nvSpPr>
          <p:cNvPr id="389" name="Google Shape;389;g1ead90bba03_0_230"/>
          <p:cNvSpPr txBox="1"/>
          <p:nvPr/>
        </p:nvSpPr>
        <p:spPr>
          <a:xfrm>
            <a:off x="1246975" y="6218840"/>
            <a:ext cx="1350900" cy="336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Times New Roman"/>
              <a:buNone/>
            </a:pPr>
            <a:r>
              <a:rPr b="0" i="0" lang="en-US" sz="2100" u="none" cap="none" strike="noStrike">
                <a:solidFill>
                  <a:srgbClr val="000000"/>
                </a:solidFill>
                <a:latin typeface="Times New Roman"/>
                <a:ea typeface="Times New Roman"/>
                <a:cs typeface="Times New Roman"/>
                <a:sym typeface="Times New Roman"/>
              </a:rPr>
              <a:t>Figure 8:</a:t>
            </a:r>
            <a:endParaRPr b="0" i="0" sz="1100" u="none" cap="none" strike="noStrike">
              <a:solidFill>
                <a:srgbClr val="000000"/>
              </a:solidFill>
              <a:latin typeface="Arial"/>
              <a:ea typeface="Arial"/>
              <a:cs typeface="Arial"/>
              <a:sym typeface="Arial"/>
            </a:endParaRPr>
          </a:p>
        </p:txBody>
      </p:sp>
      <p:sp>
        <p:nvSpPr>
          <p:cNvPr id="390" name="Google Shape;390;g1ead90bba03_0_230"/>
          <p:cNvSpPr txBox="1"/>
          <p:nvPr/>
        </p:nvSpPr>
        <p:spPr>
          <a:xfrm>
            <a:off x="2630425" y="6218850"/>
            <a:ext cx="7842900" cy="336000"/>
          </a:xfrm>
          <a:prstGeom prst="rect">
            <a:avLst/>
          </a:prstGeom>
          <a:noFill/>
          <a:ln>
            <a:noFill/>
          </a:ln>
        </p:spPr>
        <p:txBody>
          <a:bodyPr anchorCtr="0" anchor="t" bIns="0" lIns="0" spcFirstLastPara="1" rIns="0" wrap="square" tIns="12700">
            <a:spAutoFit/>
          </a:bodyPr>
          <a:lstStyle/>
          <a:p>
            <a:pPr indent="33337" lvl="0" marL="12700" marR="0" rtl="0" algn="l">
              <a:lnSpc>
                <a:spcPct val="100000"/>
              </a:lnSpc>
              <a:spcBef>
                <a:spcPts val="0"/>
              </a:spcBef>
              <a:spcAft>
                <a:spcPts val="0"/>
              </a:spcAft>
              <a:buClr>
                <a:srgbClr val="000000"/>
              </a:buClr>
              <a:buSzPts val="2400"/>
              <a:buFont typeface="Times New Roman"/>
              <a:buNone/>
            </a:pPr>
            <a:r>
              <a:rPr b="0" i="0" lang="en-US" sz="2100" u="none" cap="none" strike="noStrike">
                <a:solidFill>
                  <a:srgbClr val="000000"/>
                </a:solidFill>
                <a:latin typeface="Times New Roman"/>
                <a:ea typeface="Times New Roman"/>
                <a:cs typeface="Times New Roman"/>
                <a:sym typeface="Times New Roman"/>
              </a:rPr>
              <a:t>Derivation of logic expressions for the sequential circuit in  Figure 7.</a:t>
            </a:r>
            <a:endParaRPr b="0" i="0" sz="1100" u="none" cap="none" strike="noStrike">
              <a:solidFill>
                <a:srgbClr val="000000"/>
              </a:solidFill>
              <a:latin typeface="Arial"/>
              <a:ea typeface="Arial"/>
              <a:cs typeface="Arial"/>
              <a:sym typeface="Arial"/>
            </a:endParaRPr>
          </a:p>
        </p:txBody>
      </p:sp>
      <p:grpSp>
        <p:nvGrpSpPr>
          <p:cNvPr id="391" name="Google Shape;391;g1ead90bba03_0_230"/>
          <p:cNvGrpSpPr/>
          <p:nvPr/>
        </p:nvGrpSpPr>
        <p:grpSpPr>
          <a:xfrm>
            <a:off x="4699000" y="1976974"/>
            <a:ext cx="1911350" cy="3862342"/>
            <a:chOff x="4072128" y="1289303"/>
            <a:chExt cx="1911350" cy="4959350"/>
          </a:xfrm>
        </p:grpSpPr>
        <p:sp>
          <p:nvSpPr>
            <p:cNvPr id="392" name="Google Shape;392;g1ead90bba03_0_230"/>
            <p:cNvSpPr/>
            <p:nvPr/>
          </p:nvSpPr>
          <p:spPr>
            <a:xfrm>
              <a:off x="4072128" y="1289303"/>
              <a:ext cx="1911350" cy="4959350"/>
            </a:xfrm>
            <a:custGeom>
              <a:rect b="b" l="l" r="r" t="t"/>
              <a:pathLst>
                <a:path extrusionOk="0" h="4959350" w="1911350">
                  <a:moveTo>
                    <a:pt x="1911096" y="0"/>
                  </a:moveTo>
                  <a:lnTo>
                    <a:pt x="0" y="0"/>
                  </a:lnTo>
                  <a:lnTo>
                    <a:pt x="0" y="4959096"/>
                  </a:lnTo>
                  <a:lnTo>
                    <a:pt x="1911096" y="4959096"/>
                  </a:lnTo>
                  <a:lnTo>
                    <a:pt x="1911096" y="0"/>
                  </a:lnTo>
                  <a:close/>
                </a:path>
              </a:pathLst>
            </a:custGeom>
            <a:solidFill>
              <a:srgbClr val="E9E9E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3" name="Google Shape;393;g1ead90bba03_0_230"/>
            <p:cNvSpPr/>
            <p:nvPr/>
          </p:nvSpPr>
          <p:spPr>
            <a:xfrm>
              <a:off x="4565904" y="3651503"/>
              <a:ext cx="954404" cy="2057400"/>
            </a:xfrm>
            <a:custGeom>
              <a:rect b="b" l="l" r="r" t="t"/>
              <a:pathLst>
                <a:path extrusionOk="0" h="2057400" w="954404">
                  <a:moveTo>
                    <a:pt x="60960" y="2036064"/>
                  </a:moveTo>
                  <a:lnTo>
                    <a:pt x="0" y="2039112"/>
                  </a:lnTo>
                  <a:lnTo>
                    <a:pt x="0" y="2057400"/>
                  </a:lnTo>
                  <a:lnTo>
                    <a:pt x="60960" y="2054352"/>
                  </a:lnTo>
                  <a:lnTo>
                    <a:pt x="60960" y="2036064"/>
                  </a:lnTo>
                  <a:close/>
                </a:path>
                <a:path extrusionOk="0" h="2057400" w="954404">
                  <a:moveTo>
                    <a:pt x="493776" y="0"/>
                  </a:moveTo>
                  <a:lnTo>
                    <a:pt x="429768" y="3048"/>
                  </a:lnTo>
                  <a:lnTo>
                    <a:pt x="432816" y="18288"/>
                  </a:lnTo>
                  <a:lnTo>
                    <a:pt x="493776" y="18288"/>
                  </a:lnTo>
                  <a:lnTo>
                    <a:pt x="493776" y="0"/>
                  </a:lnTo>
                  <a:close/>
                </a:path>
                <a:path extrusionOk="0" h="2057400" w="954404">
                  <a:moveTo>
                    <a:pt x="954024" y="0"/>
                  </a:moveTo>
                  <a:lnTo>
                    <a:pt x="893064" y="3048"/>
                  </a:lnTo>
                  <a:lnTo>
                    <a:pt x="893064" y="18288"/>
                  </a:lnTo>
                  <a:lnTo>
                    <a:pt x="954024" y="18288"/>
                  </a:lnTo>
                  <a:lnTo>
                    <a:pt x="95402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94" name="Google Shape;394;g1ead90bba03_0_230"/>
          <p:cNvSpPr/>
          <p:nvPr/>
        </p:nvSpPr>
        <p:spPr>
          <a:xfrm>
            <a:off x="1935163" y="1638210"/>
            <a:ext cx="2194560" cy="1033340"/>
          </a:xfrm>
          <a:custGeom>
            <a:rect b="b" l="l" r="r" t="t"/>
            <a:pathLst>
              <a:path extrusionOk="0" h="1329055" w="2194560">
                <a:moveTo>
                  <a:pt x="2194560" y="429768"/>
                </a:moveTo>
                <a:lnTo>
                  <a:pt x="2176272" y="429768"/>
                </a:lnTo>
                <a:lnTo>
                  <a:pt x="2176272" y="445008"/>
                </a:lnTo>
                <a:lnTo>
                  <a:pt x="2176272" y="880872"/>
                </a:lnTo>
                <a:lnTo>
                  <a:pt x="2176272" y="899160"/>
                </a:lnTo>
                <a:lnTo>
                  <a:pt x="2176272" y="1313688"/>
                </a:lnTo>
                <a:lnTo>
                  <a:pt x="1331976" y="1313688"/>
                </a:lnTo>
                <a:lnTo>
                  <a:pt x="1331976" y="899160"/>
                </a:lnTo>
                <a:lnTo>
                  <a:pt x="1746504" y="899160"/>
                </a:lnTo>
                <a:lnTo>
                  <a:pt x="1746504" y="1298448"/>
                </a:lnTo>
                <a:lnTo>
                  <a:pt x="1761744" y="1298448"/>
                </a:lnTo>
                <a:lnTo>
                  <a:pt x="1763153" y="899160"/>
                </a:lnTo>
                <a:lnTo>
                  <a:pt x="2176272" y="899160"/>
                </a:lnTo>
                <a:lnTo>
                  <a:pt x="2176272" y="880872"/>
                </a:lnTo>
                <a:lnTo>
                  <a:pt x="1763217" y="880872"/>
                </a:lnTo>
                <a:lnTo>
                  <a:pt x="1764753" y="445008"/>
                </a:lnTo>
                <a:lnTo>
                  <a:pt x="2176272" y="445008"/>
                </a:lnTo>
                <a:lnTo>
                  <a:pt x="2176272" y="429768"/>
                </a:lnTo>
                <a:lnTo>
                  <a:pt x="1746504" y="429768"/>
                </a:lnTo>
                <a:lnTo>
                  <a:pt x="1746504" y="445008"/>
                </a:lnTo>
                <a:lnTo>
                  <a:pt x="1746504" y="880872"/>
                </a:lnTo>
                <a:lnTo>
                  <a:pt x="1331976" y="880872"/>
                </a:lnTo>
                <a:lnTo>
                  <a:pt x="1331976" y="445008"/>
                </a:lnTo>
                <a:lnTo>
                  <a:pt x="1746504" y="445008"/>
                </a:lnTo>
                <a:lnTo>
                  <a:pt x="1746504" y="429768"/>
                </a:lnTo>
                <a:lnTo>
                  <a:pt x="1331976" y="429768"/>
                </a:lnTo>
                <a:lnTo>
                  <a:pt x="1313688" y="429768"/>
                </a:lnTo>
                <a:lnTo>
                  <a:pt x="1313688" y="445008"/>
                </a:lnTo>
                <a:lnTo>
                  <a:pt x="1313688" y="880872"/>
                </a:lnTo>
                <a:lnTo>
                  <a:pt x="1313688" y="899160"/>
                </a:lnTo>
                <a:lnTo>
                  <a:pt x="1313688" y="1313688"/>
                </a:lnTo>
                <a:lnTo>
                  <a:pt x="877836" y="1313688"/>
                </a:lnTo>
                <a:lnTo>
                  <a:pt x="879271" y="899160"/>
                </a:lnTo>
                <a:lnTo>
                  <a:pt x="1313688" y="899160"/>
                </a:lnTo>
                <a:lnTo>
                  <a:pt x="1313688" y="880872"/>
                </a:lnTo>
                <a:lnTo>
                  <a:pt x="879335" y="880872"/>
                </a:lnTo>
                <a:lnTo>
                  <a:pt x="880833" y="445008"/>
                </a:lnTo>
                <a:lnTo>
                  <a:pt x="1313688" y="445008"/>
                </a:lnTo>
                <a:lnTo>
                  <a:pt x="1313688" y="429768"/>
                </a:lnTo>
                <a:lnTo>
                  <a:pt x="862584" y="429768"/>
                </a:lnTo>
                <a:lnTo>
                  <a:pt x="862584" y="445008"/>
                </a:lnTo>
                <a:lnTo>
                  <a:pt x="862584" y="880872"/>
                </a:lnTo>
                <a:lnTo>
                  <a:pt x="862584" y="899160"/>
                </a:lnTo>
                <a:lnTo>
                  <a:pt x="862584" y="1313688"/>
                </a:lnTo>
                <a:lnTo>
                  <a:pt x="448056" y="1313688"/>
                </a:lnTo>
                <a:lnTo>
                  <a:pt x="448056" y="899160"/>
                </a:lnTo>
                <a:lnTo>
                  <a:pt x="862584" y="899160"/>
                </a:lnTo>
                <a:lnTo>
                  <a:pt x="862584" y="880872"/>
                </a:lnTo>
                <a:lnTo>
                  <a:pt x="448056" y="880872"/>
                </a:lnTo>
                <a:lnTo>
                  <a:pt x="448056" y="445008"/>
                </a:lnTo>
                <a:lnTo>
                  <a:pt x="862584" y="445008"/>
                </a:lnTo>
                <a:lnTo>
                  <a:pt x="862584" y="429768"/>
                </a:lnTo>
                <a:lnTo>
                  <a:pt x="445008" y="429768"/>
                </a:lnTo>
                <a:lnTo>
                  <a:pt x="12192" y="0"/>
                </a:lnTo>
                <a:lnTo>
                  <a:pt x="0" y="12192"/>
                </a:lnTo>
                <a:lnTo>
                  <a:pt x="429768" y="438937"/>
                </a:lnTo>
                <a:lnTo>
                  <a:pt x="429768" y="1328928"/>
                </a:lnTo>
                <a:lnTo>
                  <a:pt x="1313688" y="1328928"/>
                </a:lnTo>
                <a:lnTo>
                  <a:pt x="1331976" y="1328928"/>
                </a:lnTo>
                <a:lnTo>
                  <a:pt x="2194560" y="1328928"/>
                </a:lnTo>
                <a:lnTo>
                  <a:pt x="2194560" y="1319784"/>
                </a:lnTo>
                <a:lnTo>
                  <a:pt x="2194560" y="1313688"/>
                </a:lnTo>
                <a:lnTo>
                  <a:pt x="2194560" y="445008"/>
                </a:lnTo>
                <a:lnTo>
                  <a:pt x="2194560" y="435864"/>
                </a:lnTo>
                <a:lnTo>
                  <a:pt x="2194560" y="42976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5" name="Google Shape;395;g1ead90bba03_0_230"/>
          <p:cNvSpPr txBox="1"/>
          <p:nvPr/>
        </p:nvSpPr>
        <p:spPr>
          <a:xfrm>
            <a:off x="1830388" y="1793988"/>
            <a:ext cx="1269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w</a:t>
            </a:r>
            <a:endParaRPr b="0" i="0" sz="1400" u="none" cap="none" strike="noStrike">
              <a:solidFill>
                <a:srgbClr val="000000"/>
              </a:solidFill>
              <a:latin typeface="Arial"/>
              <a:ea typeface="Arial"/>
              <a:cs typeface="Arial"/>
              <a:sym typeface="Arial"/>
            </a:endParaRPr>
          </a:p>
        </p:txBody>
      </p:sp>
      <p:sp>
        <p:nvSpPr>
          <p:cNvPr id="396" name="Google Shape;396;g1ead90bba03_0_230"/>
          <p:cNvSpPr txBox="1"/>
          <p:nvPr/>
        </p:nvSpPr>
        <p:spPr>
          <a:xfrm>
            <a:off x="2489200" y="1775443"/>
            <a:ext cx="14874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00        01	11      10</a:t>
            </a:r>
            <a:endParaRPr b="0" i="0" sz="1400" u="none" cap="none" strike="noStrike">
              <a:solidFill>
                <a:srgbClr val="000000"/>
              </a:solidFill>
              <a:latin typeface="Arial"/>
              <a:ea typeface="Arial"/>
              <a:cs typeface="Arial"/>
              <a:sym typeface="Arial"/>
            </a:endParaRPr>
          </a:p>
        </p:txBody>
      </p:sp>
      <p:sp>
        <p:nvSpPr>
          <p:cNvPr id="397" name="Google Shape;397;g1ead90bba03_0_230"/>
          <p:cNvSpPr txBox="1"/>
          <p:nvPr/>
        </p:nvSpPr>
        <p:spPr>
          <a:xfrm>
            <a:off x="2154238" y="2059800"/>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398" name="Google Shape;398;g1ead90bba03_0_230"/>
          <p:cNvSpPr txBox="1"/>
          <p:nvPr/>
        </p:nvSpPr>
        <p:spPr>
          <a:xfrm>
            <a:off x="2144713" y="2399792"/>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99" name="Google Shape;399;g1ead90bba03_0_230"/>
          <p:cNvSpPr txBox="1"/>
          <p:nvPr/>
        </p:nvSpPr>
        <p:spPr>
          <a:xfrm>
            <a:off x="2976563" y="2067218"/>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00" name="Google Shape;400;g1ead90bba03_0_230"/>
          <p:cNvSpPr txBox="1"/>
          <p:nvPr/>
        </p:nvSpPr>
        <p:spPr>
          <a:xfrm>
            <a:off x="2535238" y="2405974"/>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01" name="Google Shape;401;g1ead90bba03_0_230"/>
          <p:cNvSpPr txBox="1"/>
          <p:nvPr/>
        </p:nvSpPr>
        <p:spPr>
          <a:xfrm>
            <a:off x="2976563" y="2405974"/>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02" name="Google Shape;402;g1ead90bba03_0_230"/>
          <p:cNvSpPr txBox="1"/>
          <p:nvPr/>
        </p:nvSpPr>
        <p:spPr>
          <a:xfrm>
            <a:off x="4699000" y="1976974"/>
            <a:ext cx="1911300" cy="3699300"/>
          </a:xfrm>
          <a:prstGeom prst="rect">
            <a:avLst/>
          </a:prstGeom>
          <a:no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Clr>
                <a:srgbClr val="000000"/>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1 </a:t>
            </a: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wy </a:t>
            </a:r>
            <a:r>
              <a:rPr b="0" baseline="-25000" i="0" lang="en-US" sz="1800" u="none" cap="none" strike="noStrike">
                <a:solidFill>
                  <a:srgbClr val="000000"/>
                </a:solidFill>
                <a:latin typeface="Times New Roman"/>
                <a:ea typeface="Times New Roman"/>
                <a:cs typeface="Times New Roman"/>
                <a:sym typeface="Times New Roman"/>
              </a:rPr>
              <a:t>1 </a:t>
            </a: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700"/>
              <a:buFont typeface="Calibri"/>
              <a:buNone/>
            </a:pPr>
            <a:r>
              <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 </a:t>
            </a: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wy </a:t>
            </a:r>
            <a:r>
              <a:rPr b="0" baseline="-25000" i="0" lang="en-US" sz="1800" u="none" cap="none" strike="noStrike">
                <a:solidFill>
                  <a:srgbClr val="000000"/>
                </a:solidFill>
                <a:latin typeface="Times New Roman"/>
                <a:ea typeface="Times New Roman"/>
                <a:cs typeface="Times New Roman"/>
                <a:sym typeface="Times New Roman"/>
              </a:rPr>
              <a:t>1</a:t>
            </a: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 </a:t>
            </a: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wy </a:t>
            </a:r>
            <a:r>
              <a:rPr b="0" baseline="-25000" i="0" lang="en-US" sz="1800" u="none" cap="none" strike="noStrike">
                <a:solidFill>
                  <a:srgbClr val="000000"/>
                </a:solidFill>
                <a:latin typeface="Times New Roman"/>
                <a:ea typeface="Times New Roman"/>
                <a:cs typeface="Times New Roman"/>
                <a:sym typeface="Times New Roman"/>
              </a:rPr>
              <a:t>1</a:t>
            </a: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700"/>
              <a:buFont typeface="Calibri"/>
              <a:buNone/>
            </a:pPr>
            <a:r>
              <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Times New Roman"/>
              <a:buNone/>
            </a:pPr>
            <a:r>
              <a:t/>
            </a:r>
            <a:endParaRPr b="0" i="1"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z </a:t>
            </a: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1 </a:t>
            </a: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403" name="Google Shape;403;g1ead90bba03_0_230"/>
          <p:cNvSpPr txBox="1"/>
          <p:nvPr/>
        </p:nvSpPr>
        <p:spPr>
          <a:xfrm>
            <a:off x="1935163" y="3223191"/>
            <a:ext cx="2193900" cy="1037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4" name="Google Shape;404;g1ead90bba03_0_230"/>
          <p:cNvSpPr txBox="1"/>
          <p:nvPr/>
        </p:nvSpPr>
        <p:spPr>
          <a:xfrm>
            <a:off x="1830388" y="3277590"/>
            <a:ext cx="1269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w</a:t>
            </a:r>
            <a:endParaRPr b="0" i="0" sz="1400" u="none" cap="none" strike="noStrike">
              <a:solidFill>
                <a:srgbClr val="000000"/>
              </a:solidFill>
              <a:latin typeface="Arial"/>
              <a:ea typeface="Arial"/>
              <a:cs typeface="Arial"/>
              <a:sym typeface="Arial"/>
            </a:endParaRPr>
          </a:p>
        </p:txBody>
      </p:sp>
      <p:sp>
        <p:nvSpPr>
          <p:cNvPr id="405" name="Google Shape;405;g1ead90bba03_0_230"/>
          <p:cNvSpPr txBox="1"/>
          <p:nvPr/>
        </p:nvSpPr>
        <p:spPr>
          <a:xfrm>
            <a:off x="2489200" y="3367842"/>
            <a:ext cx="14874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00        01	11       10</a:t>
            </a:r>
            <a:endParaRPr b="0" i="0" sz="1400" u="none" cap="none" strike="noStrike">
              <a:solidFill>
                <a:srgbClr val="000000"/>
              </a:solidFill>
              <a:latin typeface="Arial"/>
              <a:ea typeface="Arial"/>
              <a:cs typeface="Arial"/>
              <a:sym typeface="Arial"/>
            </a:endParaRPr>
          </a:p>
        </p:txBody>
      </p:sp>
      <p:sp>
        <p:nvSpPr>
          <p:cNvPr id="406" name="Google Shape;406;g1ead90bba03_0_230"/>
          <p:cNvSpPr txBox="1"/>
          <p:nvPr/>
        </p:nvSpPr>
        <p:spPr>
          <a:xfrm>
            <a:off x="2154238" y="3649726"/>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07" name="Google Shape;407;g1ead90bba03_0_230"/>
          <p:cNvSpPr txBox="1"/>
          <p:nvPr/>
        </p:nvSpPr>
        <p:spPr>
          <a:xfrm>
            <a:off x="2144713" y="3989719"/>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08" name="Google Shape;408;g1ead90bba03_0_230"/>
          <p:cNvSpPr txBox="1"/>
          <p:nvPr/>
        </p:nvSpPr>
        <p:spPr>
          <a:xfrm>
            <a:off x="2970213" y="3654672"/>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09" name="Google Shape;409;g1ead90bba03_0_230"/>
          <p:cNvSpPr txBox="1"/>
          <p:nvPr/>
        </p:nvSpPr>
        <p:spPr>
          <a:xfrm>
            <a:off x="3413125" y="3654672"/>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410" name="Google Shape;410;g1ead90bba03_0_230"/>
          <p:cNvSpPr txBox="1"/>
          <p:nvPr/>
        </p:nvSpPr>
        <p:spPr>
          <a:xfrm>
            <a:off x="2970213" y="3999609"/>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11" name="Google Shape;411;g1ead90bba03_0_230"/>
          <p:cNvSpPr/>
          <p:nvPr/>
        </p:nvSpPr>
        <p:spPr>
          <a:xfrm>
            <a:off x="2406650" y="2340448"/>
            <a:ext cx="366674" cy="301165"/>
          </a:xfrm>
          <a:custGeom>
            <a:rect b="b" l="l" r="r" t="t"/>
            <a:pathLst>
              <a:path extrusionOk="0" h="387350" w="365760">
                <a:moveTo>
                  <a:pt x="201168" y="384048"/>
                </a:moveTo>
                <a:lnTo>
                  <a:pt x="152400" y="384048"/>
                </a:lnTo>
                <a:lnTo>
                  <a:pt x="164592" y="387096"/>
                </a:lnTo>
                <a:lnTo>
                  <a:pt x="192024" y="387096"/>
                </a:lnTo>
                <a:lnTo>
                  <a:pt x="201168" y="384048"/>
                </a:lnTo>
                <a:close/>
              </a:path>
              <a:path extrusionOk="0" h="387350" w="365760">
                <a:moveTo>
                  <a:pt x="70104" y="326136"/>
                </a:moveTo>
                <a:lnTo>
                  <a:pt x="45719" y="326136"/>
                </a:lnTo>
                <a:lnTo>
                  <a:pt x="51816" y="332231"/>
                </a:lnTo>
                <a:lnTo>
                  <a:pt x="51816" y="335279"/>
                </a:lnTo>
                <a:lnTo>
                  <a:pt x="57912" y="338327"/>
                </a:lnTo>
                <a:lnTo>
                  <a:pt x="64007" y="344424"/>
                </a:lnTo>
                <a:lnTo>
                  <a:pt x="73151" y="350519"/>
                </a:lnTo>
                <a:lnTo>
                  <a:pt x="79248" y="353567"/>
                </a:lnTo>
                <a:lnTo>
                  <a:pt x="85343" y="359663"/>
                </a:lnTo>
                <a:lnTo>
                  <a:pt x="94487" y="365760"/>
                </a:lnTo>
                <a:lnTo>
                  <a:pt x="103631" y="368807"/>
                </a:lnTo>
                <a:lnTo>
                  <a:pt x="109728" y="371855"/>
                </a:lnTo>
                <a:lnTo>
                  <a:pt x="146304" y="384048"/>
                </a:lnTo>
                <a:lnTo>
                  <a:pt x="219456" y="384048"/>
                </a:lnTo>
                <a:lnTo>
                  <a:pt x="237744" y="377951"/>
                </a:lnTo>
                <a:lnTo>
                  <a:pt x="243840" y="374903"/>
                </a:lnTo>
                <a:lnTo>
                  <a:pt x="262128" y="368807"/>
                </a:lnTo>
                <a:lnTo>
                  <a:pt x="164592" y="368807"/>
                </a:lnTo>
                <a:lnTo>
                  <a:pt x="155448" y="365760"/>
                </a:lnTo>
                <a:lnTo>
                  <a:pt x="146304" y="365760"/>
                </a:lnTo>
                <a:lnTo>
                  <a:pt x="140207" y="362712"/>
                </a:lnTo>
                <a:lnTo>
                  <a:pt x="134112" y="362712"/>
                </a:lnTo>
                <a:lnTo>
                  <a:pt x="115824" y="356615"/>
                </a:lnTo>
                <a:lnTo>
                  <a:pt x="109728" y="353567"/>
                </a:lnTo>
                <a:lnTo>
                  <a:pt x="100584" y="350519"/>
                </a:lnTo>
                <a:lnTo>
                  <a:pt x="94487" y="344424"/>
                </a:lnTo>
                <a:lnTo>
                  <a:pt x="88392" y="341375"/>
                </a:lnTo>
                <a:lnTo>
                  <a:pt x="82295" y="335279"/>
                </a:lnTo>
                <a:lnTo>
                  <a:pt x="76200" y="332231"/>
                </a:lnTo>
                <a:lnTo>
                  <a:pt x="70104" y="326136"/>
                </a:lnTo>
                <a:close/>
              </a:path>
              <a:path extrusionOk="0" h="387350" w="365760">
                <a:moveTo>
                  <a:pt x="323088" y="320039"/>
                </a:moveTo>
                <a:lnTo>
                  <a:pt x="301751" y="320039"/>
                </a:lnTo>
                <a:lnTo>
                  <a:pt x="295656" y="326136"/>
                </a:lnTo>
                <a:lnTo>
                  <a:pt x="286512" y="332231"/>
                </a:lnTo>
                <a:lnTo>
                  <a:pt x="280416" y="335279"/>
                </a:lnTo>
                <a:lnTo>
                  <a:pt x="274319" y="341375"/>
                </a:lnTo>
                <a:lnTo>
                  <a:pt x="268224" y="344424"/>
                </a:lnTo>
                <a:lnTo>
                  <a:pt x="262128" y="350519"/>
                </a:lnTo>
                <a:lnTo>
                  <a:pt x="252984" y="353567"/>
                </a:lnTo>
                <a:lnTo>
                  <a:pt x="246887" y="356615"/>
                </a:lnTo>
                <a:lnTo>
                  <a:pt x="237744" y="359663"/>
                </a:lnTo>
                <a:lnTo>
                  <a:pt x="231648" y="362712"/>
                </a:lnTo>
                <a:lnTo>
                  <a:pt x="222504" y="365760"/>
                </a:lnTo>
                <a:lnTo>
                  <a:pt x="207263" y="365760"/>
                </a:lnTo>
                <a:lnTo>
                  <a:pt x="198119" y="368807"/>
                </a:lnTo>
                <a:lnTo>
                  <a:pt x="262128" y="368807"/>
                </a:lnTo>
                <a:lnTo>
                  <a:pt x="271272" y="365760"/>
                </a:lnTo>
                <a:lnTo>
                  <a:pt x="277368" y="359663"/>
                </a:lnTo>
                <a:lnTo>
                  <a:pt x="286512" y="353567"/>
                </a:lnTo>
                <a:lnTo>
                  <a:pt x="292607" y="350519"/>
                </a:lnTo>
                <a:lnTo>
                  <a:pt x="304800" y="338327"/>
                </a:lnTo>
                <a:lnTo>
                  <a:pt x="310895" y="335279"/>
                </a:lnTo>
                <a:lnTo>
                  <a:pt x="310895" y="332231"/>
                </a:lnTo>
                <a:lnTo>
                  <a:pt x="313944" y="332231"/>
                </a:lnTo>
                <a:lnTo>
                  <a:pt x="316992" y="326136"/>
                </a:lnTo>
                <a:lnTo>
                  <a:pt x="323088" y="320039"/>
                </a:lnTo>
                <a:close/>
              </a:path>
              <a:path extrusionOk="0" h="387350" w="365760">
                <a:moveTo>
                  <a:pt x="48768" y="57912"/>
                </a:moveTo>
                <a:lnTo>
                  <a:pt x="39624" y="64007"/>
                </a:lnTo>
                <a:lnTo>
                  <a:pt x="39624" y="67055"/>
                </a:lnTo>
                <a:lnTo>
                  <a:pt x="33528" y="73151"/>
                </a:lnTo>
                <a:lnTo>
                  <a:pt x="27431" y="82296"/>
                </a:lnTo>
                <a:lnTo>
                  <a:pt x="18287" y="100584"/>
                </a:lnTo>
                <a:lnTo>
                  <a:pt x="18287" y="103631"/>
                </a:lnTo>
                <a:lnTo>
                  <a:pt x="15240" y="103631"/>
                </a:lnTo>
                <a:lnTo>
                  <a:pt x="12192" y="112775"/>
                </a:lnTo>
                <a:lnTo>
                  <a:pt x="9143" y="118872"/>
                </a:lnTo>
                <a:lnTo>
                  <a:pt x="6095" y="128015"/>
                </a:lnTo>
                <a:lnTo>
                  <a:pt x="6095" y="137160"/>
                </a:lnTo>
                <a:lnTo>
                  <a:pt x="0" y="155448"/>
                </a:lnTo>
                <a:lnTo>
                  <a:pt x="0" y="231648"/>
                </a:lnTo>
                <a:lnTo>
                  <a:pt x="6095" y="249936"/>
                </a:lnTo>
                <a:lnTo>
                  <a:pt x="6095" y="259079"/>
                </a:lnTo>
                <a:lnTo>
                  <a:pt x="9143" y="265175"/>
                </a:lnTo>
                <a:lnTo>
                  <a:pt x="12192" y="274319"/>
                </a:lnTo>
                <a:lnTo>
                  <a:pt x="18287" y="283463"/>
                </a:lnTo>
                <a:lnTo>
                  <a:pt x="21336" y="289560"/>
                </a:lnTo>
                <a:lnTo>
                  <a:pt x="24384" y="298703"/>
                </a:lnTo>
                <a:lnTo>
                  <a:pt x="30480" y="304800"/>
                </a:lnTo>
                <a:lnTo>
                  <a:pt x="33528" y="313943"/>
                </a:lnTo>
                <a:lnTo>
                  <a:pt x="39624" y="320039"/>
                </a:lnTo>
                <a:lnTo>
                  <a:pt x="39624" y="323088"/>
                </a:lnTo>
                <a:lnTo>
                  <a:pt x="48768" y="329184"/>
                </a:lnTo>
                <a:lnTo>
                  <a:pt x="45719" y="326136"/>
                </a:lnTo>
                <a:lnTo>
                  <a:pt x="70104" y="326136"/>
                </a:lnTo>
                <a:lnTo>
                  <a:pt x="67056" y="323088"/>
                </a:lnTo>
                <a:lnTo>
                  <a:pt x="64007" y="323088"/>
                </a:lnTo>
                <a:lnTo>
                  <a:pt x="60960" y="316991"/>
                </a:lnTo>
                <a:lnTo>
                  <a:pt x="60960" y="313943"/>
                </a:lnTo>
                <a:lnTo>
                  <a:pt x="57912" y="313943"/>
                </a:lnTo>
                <a:lnTo>
                  <a:pt x="51816" y="307848"/>
                </a:lnTo>
                <a:lnTo>
                  <a:pt x="52831" y="307848"/>
                </a:lnTo>
                <a:lnTo>
                  <a:pt x="48768" y="301751"/>
                </a:lnTo>
                <a:lnTo>
                  <a:pt x="42672" y="295655"/>
                </a:lnTo>
                <a:lnTo>
                  <a:pt x="36575" y="283463"/>
                </a:lnTo>
                <a:lnTo>
                  <a:pt x="30480" y="274319"/>
                </a:lnTo>
                <a:lnTo>
                  <a:pt x="30480" y="268224"/>
                </a:lnTo>
                <a:lnTo>
                  <a:pt x="27431" y="262127"/>
                </a:lnTo>
                <a:lnTo>
                  <a:pt x="21336" y="243839"/>
                </a:lnTo>
                <a:lnTo>
                  <a:pt x="18287" y="237743"/>
                </a:lnTo>
                <a:lnTo>
                  <a:pt x="18287" y="213360"/>
                </a:lnTo>
                <a:lnTo>
                  <a:pt x="15240" y="204215"/>
                </a:lnTo>
                <a:lnTo>
                  <a:pt x="15240" y="182879"/>
                </a:lnTo>
                <a:lnTo>
                  <a:pt x="18287" y="173736"/>
                </a:lnTo>
                <a:lnTo>
                  <a:pt x="18287" y="149351"/>
                </a:lnTo>
                <a:lnTo>
                  <a:pt x="24384" y="131063"/>
                </a:lnTo>
                <a:lnTo>
                  <a:pt x="25400" y="131063"/>
                </a:lnTo>
                <a:lnTo>
                  <a:pt x="27431" y="124967"/>
                </a:lnTo>
                <a:lnTo>
                  <a:pt x="30480" y="118872"/>
                </a:lnTo>
                <a:lnTo>
                  <a:pt x="33528" y="109727"/>
                </a:lnTo>
                <a:lnTo>
                  <a:pt x="30480" y="109727"/>
                </a:lnTo>
                <a:lnTo>
                  <a:pt x="36575" y="103631"/>
                </a:lnTo>
                <a:lnTo>
                  <a:pt x="39624" y="97536"/>
                </a:lnTo>
                <a:lnTo>
                  <a:pt x="45719" y="88391"/>
                </a:lnTo>
                <a:lnTo>
                  <a:pt x="48768" y="82296"/>
                </a:lnTo>
                <a:lnTo>
                  <a:pt x="60960" y="70103"/>
                </a:lnTo>
                <a:lnTo>
                  <a:pt x="64007" y="64007"/>
                </a:lnTo>
                <a:lnTo>
                  <a:pt x="70104" y="60960"/>
                </a:lnTo>
                <a:lnTo>
                  <a:pt x="45719" y="60960"/>
                </a:lnTo>
                <a:lnTo>
                  <a:pt x="48768" y="57912"/>
                </a:lnTo>
                <a:close/>
              </a:path>
              <a:path extrusionOk="0" h="387350" w="365760">
                <a:moveTo>
                  <a:pt x="64007" y="320039"/>
                </a:moveTo>
                <a:lnTo>
                  <a:pt x="64007" y="323088"/>
                </a:lnTo>
                <a:lnTo>
                  <a:pt x="67056" y="323088"/>
                </a:lnTo>
                <a:lnTo>
                  <a:pt x="64007" y="320039"/>
                </a:lnTo>
                <a:close/>
              </a:path>
              <a:path extrusionOk="0" h="387350" w="365760">
                <a:moveTo>
                  <a:pt x="310895" y="307848"/>
                </a:moveTo>
                <a:lnTo>
                  <a:pt x="304800" y="313943"/>
                </a:lnTo>
                <a:lnTo>
                  <a:pt x="298704" y="323088"/>
                </a:lnTo>
                <a:lnTo>
                  <a:pt x="301751" y="320039"/>
                </a:lnTo>
                <a:lnTo>
                  <a:pt x="323088" y="320039"/>
                </a:lnTo>
                <a:lnTo>
                  <a:pt x="329184" y="313943"/>
                </a:lnTo>
                <a:lnTo>
                  <a:pt x="331215" y="310896"/>
                </a:lnTo>
                <a:lnTo>
                  <a:pt x="310895" y="310896"/>
                </a:lnTo>
                <a:lnTo>
                  <a:pt x="310895" y="307848"/>
                </a:lnTo>
                <a:close/>
              </a:path>
              <a:path extrusionOk="0" h="387350" w="365760">
                <a:moveTo>
                  <a:pt x="52831" y="307848"/>
                </a:moveTo>
                <a:lnTo>
                  <a:pt x="51816" y="307848"/>
                </a:lnTo>
                <a:lnTo>
                  <a:pt x="54864" y="310896"/>
                </a:lnTo>
                <a:lnTo>
                  <a:pt x="52831" y="307848"/>
                </a:lnTo>
                <a:close/>
              </a:path>
              <a:path extrusionOk="0" h="387350" w="365760">
                <a:moveTo>
                  <a:pt x="252983" y="15239"/>
                </a:moveTo>
                <a:lnTo>
                  <a:pt x="192024" y="15239"/>
                </a:lnTo>
                <a:lnTo>
                  <a:pt x="198119" y="18287"/>
                </a:lnTo>
                <a:lnTo>
                  <a:pt x="207263" y="18287"/>
                </a:lnTo>
                <a:lnTo>
                  <a:pt x="216407" y="21336"/>
                </a:lnTo>
                <a:lnTo>
                  <a:pt x="222504" y="21336"/>
                </a:lnTo>
                <a:lnTo>
                  <a:pt x="231648" y="24384"/>
                </a:lnTo>
                <a:lnTo>
                  <a:pt x="237744" y="27431"/>
                </a:lnTo>
                <a:lnTo>
                  <a:pt x="246887" y="30479"/>
                </a:lnTo>
                <a:lnTo>
                  <a:pt x="252984" y="33527"/>
                </a:lnTo>
                <a:lnTo>
                  <a:pt x="262128" y="36575"/>
                </a:lnTo>
                <a:lnTo>
                  <a:pt x="268224" y="39624"/>
                </a:lnTo>
                <a:lnTo>
                  <a:pt x="277368" y="45719"/>
                </a:lnTo>
                <a:lnTo>
                  <a:pt x="274319" y="45719"/>
                </a:lnTo>
                <a:lnTo>
                  <a:pt x="280416" y="48767"/>
                </a:lnTo>
                <a:lnTo>
                  <a:pt x="286512" y="54863"/>
                </a:lnTo>
                <a:lnTo>
                  <a:pt x="295656" y="60960"/>
                </a:lnTo>
                <a:lnTo>
                  <a:pt x="292607" y="60960"/>
                </a:lnTo>
                <a:lnTo>
                  <a:pt x="298704" y="64007"/>
                </a:lnTo>
                <a:lnTo>
                  <a:pt x="316992" y="82296"/>
                </a:lnTo>
                <a:lnTo>
                  <a:pt x="320040" y="88391"/>
                </a:lnTo>
                <a:lnTo>
                  <a:pt x="323088" y="97536"/>
                </a:lnTo>
                <a:lnTo>
                  <a:pt x="329184" y="103631"/>
                </a:lnTo>
                <a:lnTo>
                  <a:pt x="332231" y="109727"/>
                </a:lnTo>
                <a:lnTo>
                  <a:pt x="335280" y="118872"/>
                </a:lnTo>
                <a:lnTo>
                  <a:pt x="338328" y="124967"/>
                </a:lnTo>
                <a:lnTo>
                  <a:pt x="341375" y="134112"/>
                </a:lnTo>
                <a:lnTo>
                  <a:pt x="344424" y="140207"/>
                </a:lnTo>
                <a:lnTo>
                  <a:pt x="341375" y="140207"/>
                </a:lnTo>
                <a:lnTo>
                  <a:pt x="347472" y="158496"/>
                </a:lnTo>
                <a:lnTo>
                  <a:pt x="347472" y="228600"/>
                </a:lnTo>
                <a:lnTo>
                  <a:pt x="344424" y="237743"/>
                </a:lnTo>
                <a:lnTo>
                  <a:pt x="344424" y="243839"/>
                </a:lnTo>
                <a:lnTo>
                  <a:pt x="338328" y="262127"/>
                </a:lnTo>
                <a:lnTo>
                  <a:pt x="332231" y="274319"/>
                </a:lnTo>
                <a:lnTo>
                  <a:pt x="329184" y="283463"/>
                </a:lnTo>
                <a:lnTo>
                  <a:pt x="323088" y="289560"/>
                </a:lnTo>
                <a:lnTo>
                  <a:pt x="326136" y="289560"/>
                </a:lnTo>
                <a:lnTo>
                  <a:pt x="313944" y="301751"/>
                </a:lnTo>
                <a:lnTo>
                  <a:pt x="310895" y="310896"/>
                </a:lnTo>
                <a:lnTo>
                  <a:pt x="331215" y="310896"/>
                </a:lnTo>
                <a:lnTo>
                  <a:pt x="335280" y="304800"/>
                </a:lnTo>
                <a:lnTo>
                  <a:pt x="338328" y="298703"/>
                </a:lnTo>
                <a:lnTo>
                  <a:pt x="344424" y="289560"/>
                </a:lnTo>
                <a:lnTo>
                  <a:pt x="347472" y="283463"/>
                </a:lnTo>
                <a:lnTo>
                  <a:pt x="353568" y="265175"/>
                </a:lnTo>
                <a:lnTo>
                  <a:pt x="356616" y="259079"/>
                </a:lnTo>
                <a:lnTo>
                  <a:pt x="362712" y="240791"/>
                </a:lnTo>
                <a:lnTo>
                  <a:pt x="362712" y="231648"/>
                </a:lnTo>
                <a:lnTo>
                  <a:pt x="365760" y="222503"/>
                </a:lnTo>
                <a:lnTo>
                  <a:pt x="365760" y="161543"/>
                </a:lnTo>
                <a:lnTo>
                  <a:pt x="362712" y="155448"/>
                </a:lnTo>
                <a:lnTo>
                  <a:pt x="362712" y="146303"/>
                </a:lnTo>
                <a:lnTo>
                  <a:pt x="359663" y="137160"/>
                </a:lnTo>
                <a:lnTo>
                  <a:pt x="359663" y="134112"/>
                </a:lnTo>
                <a:lnTo>
                  <a:pt x="356616" y="128015"/>
                </a:lnTo>
                <a:lnTo>
                  <a:pt x="353568" y="118872"/>
                </a:lnTo>
                <a:lnTo>
                  <a:pt x="350519" y="112775"/>
                </a:lnTo>
                <a:lnTo>
                  <a:pt x="344424" y="94487"/>
                </a:lnTo>
                <a:lnTo>
                  <a:pt x="338328" y="88391"/>
                </a:lnTo>
                <a:lnTo>
                  <a:pt x="335280" y="79248"/>
                </a:lnTo>
                <a:lnTo>
                  <a:pt x="329184" y="70103"/>
                </a:lnTo>
                <a:lnTo>
                  <a:pt x="323088" y="64007"/>
                </a:lnTo>
                <a:lnTo>
                  <a:pt x="316992" y="60960"/>
                </a:lnTo>
                <a:lnTo>
                  <a:pt x="310895" y="51815"/>
                </a:lnTo>
                <a:lnTo>
                  <a:pt x="304800" y="45719"/>
                </a:lnTo>
                <a:lnTo>
                  <a:pt x="298704" y="42672"/>
                </a:lnTo>
                <a:lnTo>
                  <a:pt x="286512" y="30479"/>
                </a:lnTo>
                <a:lnTo>
                  <a:pt x="283463" y="30479"/>
                </a:lnTo>
                <a:lnTo>
                  <a:pt x="277368" y="27431"/>
                </a:lnTo>
                <a:lnTo>
                  <a:pt x="271272" y="21336"/>
                </a:lnTo>
                <a:lnTo>
                  <a:pt x="259080" y="18287"/>
                </a:lnTo>
                <a:lnTo>
                  <a:pt x="252983" y="15239"/>
                </a:lnTo>
                <a:close/>
              </a:path>
              <a:path extrusionOk="0" h="387350" w="365760">
                <a:moveTo>
                  <a:pt x="25400" y="131063"/>
                </a:moveTo>
                <a:lnTo>
                  <a:pt x="24384" y="131063"/>
                </a:lnTo>
                <a:lnTo>
                  <a:pt x="24384" y="134112"/>
                </a:lnTo>
                <a:lnTo>
                  <a:pt x="25400" y="131063"/>
                </a:lnTo>
                <a:close/>
              </a:path>
              <a:path extrusionOk="0" h="387350" w="365760">
                <a:moveTo>
                  <a:pt x="237744" y="6096"/>
                </a:moveTo>
                <a:lnTo>
                  <a:pt x="128016" y="6096"/>
                </a:lnTo>
                <a:lnTo>
                  <a:pt x="118872" y="12191"/>
                </a:lnTo>
                <a:lnTo>
                  <a:pt x="109728" y="15239"/>
                </a:lnTo>
                <a:lnTo>
                  <a:pt x="103631" y="18287"/>
                </a:lnTo>
                <a:lnTo>
                  <a:pt x="94487" y="21336"/>
                </a:lnTo>
                <a:lnTo>
                  <a:pt x="85343" y="27431"/>
                </a:lnTo>
                <a:lnTo>
                  <a:pt x="79248" y="30479"/>
                </a:lnTo>
                <a:lnTo>
                  <a:pt x="73151" y="36575"/>
                </a:lnTo>
                <a:lnTo>
                  <a:pt x="64007" y="42672"/>
                </a:lnTo>
                <a:lnTo>
                  <a:pt x="57912" y="45719"/>
                </a:lnTo>
                <a:lnTo>
                  <a:pt x="51816" y="54863"/>
                </a:lnTo>
                <a:lnTo>
                  <a:pt x="45719" y="60960"/>
                </a:lnTo>
                <a:lnTo>
                  <a:pt x="70104" y="60960"/>
                </a:lnTo>
                <a:lnTo>
                  <a:pt x="82295" y="48767"/>
                </a:lnTo>
                <a:lnTo>
                  <a:pt x="88392" y="45719"/>
                </a:lnTo>
                <a:lnTo>
                  <a:pt x="94487" y="39624"/>
                </a:lnTo>
                <a:lnTo>
                  <a:pt x="103631" y="36575"/>
                </a:lnTo>
                <a:lnTo>
                  <a:pt x="115824" y="30479"/>
                </a:lnTo>
                <a:lnTo>
                  <a:pt x="134112" y="24384"/>
                </a:lnTo>
                <a:lnTo>
                  <a:pt x="131063" y="24384"/>
                </a:lnTo>
                <a:lnTo>
                  <a:pt x="140207" y="21336"/>
                </a:lnTo>
                <a:lnTo>
                  <a:pt x="149351" y="21336"/>
                </a:lnTo>
                <a:lnTo>
                  <a:pt x="158495" y="18287"/>
                </a:lnTo>
                <a:lnTo>
                  <a:pt x="164592" y="18287"/>
                </a:lnTo>
                <a:lnTo>
                  <a:pt x="173736" y="15239"/>
                </a:lnTo>
                <a:lnTo>
                  <a:pt x="252983" y="15239"/>
                </a:lnTo>
                <a:lnTo>
                  <a:pt x="246887" y="12191"/>
                </a:lnTo>
                <a:lnTo>
                  <a:pt x="237744" y="9143"/>
                </a:lnTo>
                <a:lnTo>
                  <a:pt x="237744" y="6096"/>
                </a:lnTo>
                <a:close/>
              </a:path>
              <a:path extrusionOk="0" h="387350" w="365760">
                <a:moveTo>
                  <a:pt x="213360" y="0"/>
                </a:moveTo>
                <a:lnTo>
                  <a:pt x="152400" y="0"/>
                </a:lnTo>
                <a:lnTo>
                  <a:pt x="146304" y="3048"/>
                </a:lnTo>
                <a:lnTo>
                  <a:pt x="137160" y="6096"/>
                </a:lnTo>
                <a:lnTo>
                  <a:pt x="228600" y="6096"/>
                </a:lnTo>
                <a:lnTo>
                  <a:pt x="219456" y="3048"/>
                </a:lnTo>
                <a:lnTo>
                  <a:pt x="213360" y="0"/>
                </a:lnTo>
                <a:close/>
              </a:path>
            </a:pathLst>
          </a:custGeom>
          <a:solidFill>
            <a:srgbClr val="00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2" name="Google Shape;412;g1ead90bba03_0_230"/>
          <p:cNvSpPr txBox="1"/>
          <p:nvPr/>
        </p:nvSpPr>
        <p:spPr>
          <a:xfrm>
            <a:off x="3413125" y="3999609"/>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413" name="Google Shape;413;g1ead90bba03_0_230"/>
          <p:cNvSpPr txBox="1"/>
          <p:nvPr/>
        </p:nvSpPr>
        <p:spPr>
          <a:xfrm>
            <a:off x="3414713" y="2067218"/>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414" name="Google Shape;414;g1ead90bba03_0_230"/>
          <p:cNvSpPr txBox="1"/>
          <p:nvPr/>
        </p:nvSpPr>
        <p:spPr>
          <a:xfrm>
            <a:off x="3414713" y="2405974"/>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415" name="Google Shape;415;g1ead90bba03_0_230"/>
          <p:cNvSpPr txBox="1"/>
          <p:nvPr/>
        </p:nvSpPr>
        <p:spPr>
          <a:xfrm>
            <a:off x="3841750" y="2067218"/>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16" name="Google Shape;416;g1ead90bba03_0_230"/>
          <p:cNvSpPr txBox="1"/>
          <p:nvPr/>
        </p:nvSpPr>
        <p:spPr>
          <a:xfrm>
            <a:off x="3841750" y="2405974"/>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17" name="Google Shape;417;g1ead90bba03_0_230"/>
          <p:cNvSpPr txBox="1"/>
          <p:nvPr/>
        </p:nvSpPr>
        <p:spPr>
          <a:xfrm>
            <a:off x="2535238" y="2067218"/>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18" name="Google Shape;418;g1ead90bba03_0_230"/>
          <p:cNvSpPr txBox="1"/>
          <p:nvPr/>
        </p:nvSpPr>
        <p:spPr>
          <a:xfrm>
            <a:off x="2538413" y="3654672"/>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19" name="Google Shape;419;g1ead90bba03_0_230"/>
          <p:cNvSpPr txBox="1"/>
          <p:nvPr/>
        </p:nvSpPr>
        <p:spPr>
          <a:xfrm>
            <a:off x="2538413" y="3999609"/>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20" name="Google Shape;420;g1ead90bba03_0_230"/>
          <p:cNvSpPr txBox="1"/>
          <p:nvPr/>
        </p:nvSpPr>
        <p:spPr>
          <a:xfrm>
            <a:off x="3838575" y="3654672"/>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21" name="Google Shape;421;g1ead90bba03_0_230"/>
          <p:cNvSpPr txBox="1"/>
          <p:nvPr/>
        </p:nvSpPr>
        <p:spPr>
          <a:xfrm>
            <a:off x="3838575" y="3999609"/>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22" name="Google Shape;422;g1ead90bba03_0_230"/>
          <p:cNvSpPr txBox="1"/>
          <p:nvPr/>
        </p:nvSpPr>
        <p:spPr>
          <a:xfrm>
            <a:off x="1935163" y="4811881"/>
            <a:ext cx="1332000" cy="10347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3" name="Google Shape;423;g1ead90bba03_0_230"/>
          <p:cNvSpPr txBox="1"/>
          <p:nvPr/>
        </p:nvSpPr>
        <p:spPr>
          <a:xfrm>
            <a:off x="2538413" y="4955296"/>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24" name="Google Shape;424;g1ead90bba03_0_230"/>
          <p:cNvSpPr txBox="1"/>
          <p:nvPr/>
        </p:nvSpPr>
        <p:spPr>
          <a:xfrm>
            <a:off x="2970213" y="4955296"/>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25" name="Google Shape;425;g1ead90bba03_0_230"/>
          <p:cNvSpPr txBox="1"/>
          <p:nvPr/>
        </p:nvSpPr>
        <p:spPr>
          <a:xfrm>
            <a:off x="2154238" y="5240889"/>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26" name="Google Shape;426;g1ead90bba03_0_230"/>
          <p:cNvSpPr txBox="1"/>
          <p:nvPr/>
        </p:nvSpPr>
        <p:spPr>
          <a:xfrm>
            <a:off x="2144713" y="5579645"/>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27" name="Google Shape;427;g1ead90bba03_0_230"/>
          <p:cNvSpPr txBox="1"/>
          <p:nvPr/>
        </p:nvSpPr>
        <p:spPr>
          <a:xfrm>
            <a:off x="2970213" y="5245835"/>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28" name="Google Shape;428;g1ead90bba03_0_230"/>
          <p:cNvSpPr txBox="1"/>
          <p:nvPr/>
        </p:nvSpPr>
        <p:spPr>
          <a:xfrm>
            <a:off x="2970213" y="5587063"/>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429" name="Google Shape;429;g1ead90bba03_0_230"/>
          <p:cNvSpPr txBox="1"/>
          <p:nvPr/>
        </p:nvSpPr>
        <p:spPr>
          <a:xfrm>
            <a:off x="2106613" y="4709265"/>
            <a:ext cx="241200" cy="2898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30" name="Google Shape;430;g1ead90bba03_0_230"/>
          <p:cNvSpPr txBox="1"/>
          <p:nvPr/>
        </p:nvSpPr>
        <p:spPr>
          <a:xfrm>
            <a:off x="2538413" y="5245835"/>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431" name="Google Shape;431;g1ead90bba03_0_230"/>
          <p:cNvSpPr txBox="1"/>
          <p:nvPr/>
        </p:nvSpPr>
        <p:spPr>
          <a:xfrm>
            <a:off x="2538413" y="5587063"/>
            <a:ext cx="101700" cy="197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32" name="Google Shape;432;g1ead90bba03_0_230"/>
          <p:cNvSpPr txBox="1"/>
          <p:nvPr/>
        </p:nvSpPr>
        <p:spPr>
          <a:xfrm>
            <a:off x="1801813" y="4869989"/>
            <a:ext cx="241200" cy="28980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grpSp>
        <p:nvGrpSpPr>
          <p:cNvPr id="433" name="Google Shape;433;g1ead90bba03_0_230"/>
          <p:cNvGrpSpPr/>
          <p:nvPr/>
        </p:nvGrpSpPr>
        <p:grpSpPr>
          <a:xfrm>
            <a:off x="7190024" y="1976974"/>
            <a:ext cx="1889192" cy="3862342"/>
            <a:chOff x="6562343" y="1289303"/>
            <a:chExt cx="1889759" cy="4959350"/>
          </a:xfrm>
        </p:grpSpPr>
        <p:sp>
          <p:nvSpPr>
            <p:cNvPr id="434" name="Google Shape;434;g1ead90bba03_0_230"/>
            <p:cNvSpPr/>
            <p:nvPr/>
          </p:nvSpPr>
          <p:spPr>
            <a:xfrm>
              <a:off x="6562343" y="1289303"/>
              <a:ext cx="1889759" cy="4959350"/>
            </a:xfrm>
            <a:custGeom>
              <a:rect b="b" l="l" r="r" t="t"/>
              <a:pathLst>
                <a:path extrusionOk="0" h="4959350" w="1889759">
                  <a:moveTo>
                    <a:pt x="1889759" y="0"/>
                  </a:moveTo>
                  <a:lnTo>
                    <a:pt x="0" y="0"/>
                  </a:lnTo>
                  <a:lnTo>
                    <a:pt x="0" y="4959096"/>
                  </a:lnTo>
                  <a:lnTo>
                    <a:pt x="1889759" y="4959096"/>
                  </a:lnTo>
                  <a:lnTo>
                    <a:pt x="1889759" y="0"/>
                  </a:lnTo>
                  <a:close/>
                </a:path>
              </a:pathLst>
            </a:custGeom>
            <a:solidFill>
              <a:srgbClr val="E4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5" name="Google Shape;435;g1ead90bba03_0_230"/>
            <p:cNvSpPr/>
            <p:nvPr/>
          </p:nvSpPr>
          <p:spPr>
            <a:xfrm>
              <a:off x="7275575" y="1612391"/>
              <a:ext cx="60959" cy="18414"/>
            </a:xfrm>
            <a:custGeom>
              <a:rect b="b" l="l" r="r" t="t"/>
              <a:pathLst>
                <a:path extrusionOk="0" h="18414" w="60959">
                  <a:moveTo>
                    <a:pt x="60959" y="0"/>
                  </a:moveTo>
                  <a:lnTo>
                    <a:pt x="0" y="0"/>
                  </a:lnTo>
                  <a:lnTo>
                    <a:pt x="0" y="18287"/>
                  </a:lnTo>
                  <a:lnTo>
                    <a:pt x="60959" y="18287"/>
                  </a:lnTo>
                  <a:lnTo>
                    <a:pt x="60959"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36" name="Google Shape;436;g1ead90bba03_0_230"/>
          <p:cNvSpPr txBox="1"/>
          <p:nvPr/>
        </p:nvSpPr>
        <p:spPr>
          <a:xfrm>
            <a:off x="7189800" y="1976972"/>
            <a:ext cx="1889100" cy="3542700"/>
          </a:xfrm>
          <a:prstGeom prst="rect">
            <a:avLst/>
          </a:prstGeom>
          <a:noFill/>
          <a:ln>
            <a:noFill/>
          </a:ln>
        </p:spPr>
        <p:txBody>
          <a:bodyPr anchorCtr="0" anchor="t" bIns="0" lIns="0" spcFirstLastPara="1" rIns="0" wrap="square" tIns="5075">
            <a:spAutoFit/>
          </a:bodyPr>
          <a:lstStyle/>
          <a:p>
            <a:pPr indent="0" lvl="0" marL="0" marR="0" rtl="0" algn="l">
              <a:lnSpc>
                <a:spcPct val="100000"/>
              </a:lnSpc>
              <a:spcBef>
                <a:spcPts val="0"/>
              </a:spcBef>
              <a:spcAft>
                <a:spcPts val="0"/>
              </a:spcAft>
              <a:buClr>
                <a:srgbClr val="000000"/>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1 </a:t>
            </a: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wy </a:t>
            </a:r>
            <a:r>
              <a:rPr b="0" baseline="-25000" i="0" lang="en-US" sz="1800" u="none" cap="none" strike="noStrike">
                <a:solidFill>
                  <a:srgbClr val="000000"/>
                </a:solidFill>
                <a:latin typeface="Times New Roman"/>
                <a:ea typeface="Times New Roman"/>
                <a:cs typeface="Times New Roman"/>
                <a:sym typeface="Times New Roman"/>
              </a:rPr>
              <a:t>1 </a:t>
            </a: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Calibri"/>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700"/>
              <a:buFont typeface="Calibri"/>
              <a:buNone/>
            </a:pPr>
            <a:r>
              <a:t/>
            </a:r>
            <a:endParaRPr b="0" i="0" sz="27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  </a:t>
            </a: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wy </a:t>
            </a:r>
            <a:r>
              <a:rPr b="0" baseline="-25000" i="0" lang="en-US" sz="1800" u="none" cap="none" strike="noStrike">
                <a:solidFill>
                  <a:srgbClr val="000000"/>
                </a:solidFill>
                <a:latin typeface="Times New Roman"/>
                <a:ea typeface="Times New Roman"/>
                <a:cs typeface="Times New Roman"/>
                <a:sym typeface="Times New Roman"/>
              </a:rPr>
              <a:t>1 </a:t>
            </a: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wy </a:t>
            </a:r>
            <a:r>
              <a:rPr b="0" baseline="-25000" i="0" lang="en-US" sz="1800" u="none" cap="none" strike="noStrike">
                <a:solidFill>
                  <a:srgbClr val="0000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w ( y </a:t>
            </a:r>
            <a:r>
              <a:rPr b="0" baseline="-25000" i="0" lang="en-US" sz="1800" u="none" cap="none" strike="noStrike">
                <a:solidFill>
                  <a:srgbClr val="000000"/>
                </a:solidFill>
                <a:latin typeface="Times New Roman"/>
                <a:ea typeface="Times New Roman"/>
                <a:cs typeface="Times New Roman"/>
                <a:sym typeface="Times New Roman"/>
              </a:rPr>
              <a:t>1 </a:t>
            </a: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a:t>
            </a:r>
            <a:r>
              <a:rPr b="0" i="0" lang="en-US" sz="1200" u="none" cap="none" strike="noStrike">
                <a:solidFill>
                  <a:srgbClr val="000000"/>
                </a:solidFill>
                <a:latin typeface="Times New Roman"/>
                <a:ea typeface="Times New Roman"/>
                <a:cs typeface="Times New Roman"/>
                <a:sym typeface="Times New Roman"/>
              </a:rPr>
              <a: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Calibri"/>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100"/>
              <a:buFont typeface="Calibri"/>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300"/>
              <a:buFont typeface="Calibri"/>
              <a:buNone/>
            </a:pPr>
            <a:r>
              <a:t/>
            </a:r>
            <a:endParaRPr b="0" i="0" sz="23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z </a:t>
            </a:r>
            <a:r>
              <a:rPr b="0" i="0" lang="en-US" sz="1200" u="none" cap="none" strike="noStrike">
                <a:solidFill>
                  <a:srgbClr val="000000"/>
                </a:solidFill>
                <a:latin typeface="Times New Roman"/>
                <a:ea typeface="Times New Roman"/>
                <a:cs typeface="Times New Roman"/>
                <a:sym typeface="Times New Roman"/>
              </a:rPr>
              <a:t>= </a:t>
            </a:r>
            <a:r>
              <a:rPr b="0" i="1" lang="en-US" sz="1200" u="none" cap="none" strike="noStrike">
                <a:solidFill>
                  <a:srgbClr val="000000"/>
                </a:solidFill>
                <a:latin typeface="Times New Roman"/>
                <a:ea typeface="Times New Roman"/>
                <a:cs typeface="Times New Roman"/>
                <a:sym typeface="Times New Roman"/>
              </a:rPr>
              <a:t>y </a:t>
            </a:r>
            <a:r>
              <a:rPr b="0" baseline="-25000" i="0" lang="en-US" sz="1800" u="none" cap="none" strike="noStrike">
                <a:solidFill>
                  <a:srgbClr val="0000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437" name="Google Shape;437;g1ead90bba03_0_230"/>
          <p:cNvSpPr txBox="1"/>
          <p:nvPr/>
        </p:nvSpPr>
        <p:spPr>
          <a:xfrm>
            <a:off x="4795000" y="1685200"/>
            <a:ext cx="1719300" cy="243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1" i="0" lang="en-US" sz="1500" u="none" cap="none" strike="noStrike">
                <a:solidFill>
                  <a:srgbClr val="000000"/>
                </a:solidFill>
                <a:latin typeface="Times New Roman"/>
                <a:ea typeface="Times New Roman"/>
                <a:cs typeface="Times New Roman"/>
                <a:sym typeface="Times New Roman"/>
              </a:rPr>
              <a:t>Ignoring don't cares</a:t>
            </a:r>
            <a:endParaRPr b="1" i="0" sz="1700" u="none" cap="none" strike="noStrike">
              <a:solidFill>
                <a:srgbClr val="000000"/>
              </a:solidFill>
              <a:latin typeface="Arial"/>
              <a:ea typeface="Arial"/>
              <a:cs typeface="Arial"/>
              <a:sym typeface="Arial"/>
            </a:endParaRPr>
          </a:p>
        </p:txBody>
      </p:sp>
      <p:sp>
        <p:nvSpPr>
          <p:cNvPr id="438" name="Google Shape;438;g1ead90bba03_0_230"/>
          <p:cNvSpPr txBox="1"/>
          <p:nvPr/>
        </p:nvSpPr>
        <p:spPr>
          <a:xfrm>
            <a:off x="7332699" y="1685200"/>
            <a:ext cx="1612800" cy="243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200"/>
              <a:buFont typeface="Times New Roman"/>
              <a:buNone/>
            </a:pPr>
            <a:r>
              <a:rPr b="1" i="0" lang="en-US" sz="1500" u="none" cap="none" strike="noStrike">
                <a:solidFill>
                  <a:srgbClr val="000000"/>
                </a:solidFill>
                <a:latin typeface="Times New Roman"/>
                <a:ea typeface="Times New Roman"/>
                <a:cs typeface="Times New Roman"/>
                <a:sym typeface="Times New Roman"/>
              </a:rPr>
              <a:t>Using don't cares</a:t>
            </a:r>
            <a:endParaRPr b="1" i="0" sz="1700" u="none" cap="none" strike="noStrike">
              <a:solidFill>
                <a:srgbClr val="000000"/>
              </a:solidFill>
              <a:latin typeface="Arial"/>
              <a:ea typeface="Arial"/>
              <a:cs typeface="Arial"/>
              <a:sym typeface="Arial"/>
            </a:endParaRPr>
          </a:p>
        </p:txBody>
      </p:sp>
      <p:sp>
        <p:nvSpPr>
          <p:cNvPr id="439" name="Google Shape;439;g1ead90bba03_0_230"/>
          <p:cNvSpPr/>
          <p:nvPr/>
        </p:nvSpPr>
        <p:spPr>
          <a:xfrm>
            <a:off x="8107363" y="2229178"/>
            <a:ext cx="60349" cy="13580"/>
          </a:xfrm>
          <a:custGeom>
            <a:rect b="b" l="l" r="r" t="t"/>
            <a:pathLst>
              <a:path extrusionOk="0" h="18414" w="60959">
                <a:moveTo>
                  <a:pt x="60959" y="0"/>
                </a:moveTo>
                <a:lnTo>
                  <a:pt x="0" y="0"/>
                </a:lnTo>
                <a:lnTo>
                  <a:pt x="0" y="18287"/>
                </a:lnTo>
                <a:lnTo>
                  <a:pt x="60959" y="18287"/>
                </a:lnTo>
                <a:lnTo>
                  <a:pt x="60959"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0" name="Google Shape;440;g1ead90bba03_0_230"/>
          <p:cNvSpPr/>
          <p:nvPr/>
        </p:nvSpPr>
        <p:spPr>
          <a:xfrm>
            <a:off x="5414963" y="2226705"/>
            <a:ext cx="277495" cy="16084"/>
          </a:xfrm>
          <a:custGeom>
            <a:rect b="b" l="l" r="r" t="t"/>
            <a:pathLst>
              <a:path extrusionOk="0" h="21589" w="277495">
                <a:moveTo>
                  <a:pt x="60960" y="0"/>
                </a:moveTo>
                <a:lnTo>
                  <a:pt x="0" y="3048"/>
                </a:lnTo>
                <a:lnTo>
                  <a:pt x="0" y="21336"/>
                </a:lnTo>
                <a:lnTo>
                  <a:pt x="60960" y="18288"/>
                </a:lnTo>
                <a:lnTo>
                  <a:pt x="60960" y="0"/>
                </a:lnTo>
                <a:close/>
              </a:path>
              <a:path extrusionOk="0" h="21589" w="277495">
                <a:moveTo>
                  <a:pt x="277368" y="0"/>
                </a:moveTo>
                <a:lnTo>
                  <a:pt x="216408" y="3048"/>
                </a:lnTo>
                <a:lnTo>
                  <a:pt x="216408" y="21336"/>
                </a:lnTo>
                <a:lnTo>
                  <a:pt x="277368" y="18288"/>
                </a:lnTo>
                <a:lnTo>
                  <a:pt x="27736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1" name="Google Shape;441;g1ead90bba03_0_230"/>
          <p:cNvSpPr txBox="1"/>
          <p:nvPr/>
        </p:nvSpPr>
        <p:spPr>
          <a:xfrm>
            <a:off x="1908625" y="1303725"/>
            <a:ext cx="637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y</a:t>
            </a:r>
            <a:r>
              <a:rPr b="0" baseline="-25000" i="0" lang="en-US" sz="1400" u="none" cap="none" strike="noStrike">
                <a:solidFill>
                  <a:srgbClr val="000000"/>
                </a:solidFill>
                <a:latin typeface="Times New Roman"/>
                <a:ea typeface="Times New Roman"/>
                <a:cs typeface="Times New Roman"/>
                <a:sym typeface="Times New Roman"/>
              </a:rPr>
              <a:t>2</a:t>
            </a:r>
            <a:r>
              <a:rPr b="0" i="0" lang="en-US" sz="1400" u="none" cap="none" strike="noStrike">
                <a:solidFill>
                  <a:srgbClr val="000000"/>
                </a:solidFill>
                <a:latin typeface="Times New Roman"/>
                <a:ea typeface="Times New Roman"/>
                <a:cs typeface="Times New Roman"/>
                <a:sym typeface="Times New Roman"/>
              </a:rPr>
              <a:t>y</a:t>
            </a:r>
            <a:r>
              <a:rPr b="0" baseline="-25000" i="0" lang="en-US" sz="1400" u="none" cap="none" strike="noStrike">
                <a:solidFill>
                  <a:srgbClr val="000000"/>
                </a:solidFill>
                <a:latin typeface="Times New Roman"/>
                <a:ea typeface="Times New Roman"/>
                <a:cs typeface="Times New Roman"/>
                <a:sym typeface="Times New Roman"/>
              </a:rPr>
              <a:t>1</a:t>
            </a:r>
            <a:endParaRPr b="0" baseline="-25000" i="0" sz="1400" u="none" cap="none" strike="noStrike">
              <a:solidFill>
                <a:srgbClr val="000000"/>
              </a:solidFill>
              <a:latin typeface="Times New Roman"/>
              <a:ea typeface="Times New Roman"/>
              <a:cs typeface="Times New Roman"/>
              <a:sym typeface="Times New Roman"/>
            </a:endParaRPr>
          </a:p>
        </p:txBody>
      </p:sp>
      <p:sp>
        <p:nvSpPr>
          <p:cNvPr id="442" name="Google Shape;442;g1ead90bba03_0_230"/>
          <p:cNvSpPr txBox="1"/>
          <p:nvPr/>
        </p:nvSpPr>
        <p:spPr>
          <a:xfrm>
            <a:off x="1908625" y="2926438"/>
            <a:ext cx="637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y</a:t>
            </a:r>
            <a:r>
              <a:rPr b="0" baseline="-25000" i="0" lang="en-US" sz="1400" u="none" cap="none" strike="noStrike">
                <a:solidFill>
                  <a:srgbClr val="000000"/>
                </a:solidFill>
                <a:latin typeface="Times New Roman"/>
                <a:ea typeface="Times New Roman"/>
                <a:cs typeface="Times New Roman"/>
                <a:sym typeface="Times New Roman"/>
              </a:rPr>
              <a:t>2</a:t>
            </a:r>
            <a:r>
              <a:rPr b="0" i="0" lang="en-US" sz="1400" u="none" cap="none" strike="noStrike">
                <a:solidFill>
                  <a:srgbClr val="000000"/>
                </a:solidFill>
                <a:latin typeface="Times New Roman"/>
                <a:ea typeface="Times New Roman"/>
                <a:cs typeface="Times New Roman"/>
                <a:sym typeface="Times New Roman"/>
              </a:rPr>
              <a:t>y</a:t>
            </a:r>
            <a:r>
              <a:rPr b="0" baseline="-25000" i="0" lang="en-US" sz="1400" u="none" cap="none" strike="noStrike">
                <a:solidFill>
                  <a:srgbClr val="000000"/>
                </a:solidFill>
                <a:latin typeface="Times New Roman"/>
                <a:ea typeface="Times New Roman"/>
                <a:cs typeface="Times New Roman"/>
                <a:sym typeface="Times New Roman"/>
              </a:rPr>
              <a:t>1</a:t>
            </a:r>
            <a:endParaRPr b="0" baseline="-2500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1ead90bba03_0_359"/>
          <p:cNvSpPr txBox="1"/>
          <p:nvPr>
            <p:ph type="title"/>
          </p:nvPr>
        </p:nvSpPr>
        <p:spPr>
          <a:xfrm>
            <a:off x="797744" y="431275"/>
            <a:ext cx="9388500" cy="797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dk1"/>
              </a:buClr>
              <a:buSzPts val="2400"/>
              <a:buFont typeface="Times New Roman"/>
              <a:buNone/>
            </a:pPr>
            <a:r>
              <a:rPr b="1" i="0" lang="en-US" sz="2500" u="none">
                <a:solidFill>
                  <a:schemeClr val="dk1"/>
                </a:solidFill>
              </a:rPr>
              <a:t>Example 2: A </a:t>
            </a:r>
            <a:r>
              <a:rPr b="1" lang="en-US" sz="2500"/>
              <a:t>S</a:t>
            </a:r>
            <a:r>
              <a:rPr b="1" i="0" lang="en-US" sz="2500" u="none">
                <a:solidFill>
                  <a:schemeClr val="dk1"/>
                </a:solidFill>
              </a:rPr>
              <a:t>imple </a:t>
            </a:r>
            <a:r>
              <a:rPr b="1" lang="en-US" sz="2500"/>
              <a:t>I</a:t>
            </a:r>
            <a:r>
              <a:rPr b="1" i="0" lang="en-US" sz="2500" u="none">
                <a:solidFill>
                  <a:schemeClr val="dk1"/>
                </a:solidFill>
              </a:rPr>
              <a:t>nput </a:t>
            </a:r>
            <a:r>
              <a:rPr b="1" lang="en-US" sz="2500"/>
              <a:t>P</a:t>
            </a:r>
            <a:r>
              <a:rPr b="1" i="0" lang="en-US" sz="2500" u="none">
                <a:solidFill>
                  <a:schemeClr val="dk1"/>
                </a:solidFill>
              </a:rPr>
              <a:t>attern (</a:t>
            </a:r>
            <a:r>
              <a:rPr b="1" lang="en-US" sz="2500"/>
              <a:t>‘</a:t>
            </a:r>
            <a:r>
              <a:rPr b="1" i="0" lang="en-US" sz="2500" u="none">
                <a:solidFill>
                  <a:schemeClr val="dk1"/>
                </a:solidFill>
              </a:rPr>
              <a:t>11</a:t>
            </a:r>
            <a:r>
              <a:rPr b="1" lang="en-US" sz="2500"/>
              <a:t>’ </a:t>
            </a:r>
            <a:r>
              <a:rPr b="1" lang="en-US" sz="2600"/>
              <a:t>Overlapping</a:t>
            </a:r>
            <a:r>
              <a:rPr b="1" lang="en-US" sz="2500"/>
              <a:t> Sequence</a:t>
            </a:r>
            <a:r>
              <a:rPr b="1" i="0" lang="en-US" sz="2500" u="none">
                <a:solidFill>
                  <a:schemeClr val="dk1"/>
                </a:solidFill>
              </a:rPr>
              <a:t>) </a:t>
            </a:r>
            <a:r>
              <a:rPr b="1" lang="en-US" sz="2500"/>
              <a:t>D</a:t>
            </a:r>
            <a:r>
              <a:rPr b="1" i="0" lang="en-US" sz="2500" u="none">
                <a:solidFill>
                  <a:schemeClr val="dk1"/>
                </a:solidFill>
              </a:rPr>
              <a:t>etection </a:t>
            </a:r>
            <a:r>
              <a:rPr b="1" lang="en-US" sz="2500"/>
              <a:t>C</a:t>
            </a:r>
            <a:r>
              <a:rPr b="1" i="0" lang="en-US" sz="2500" u="none">
                <a:solidFill>
                  <a:schemeClr val="dk1"/>
                </a:solidFill>
              </a:rPr>
              <a:t>ircuit [</a:t>
            </a:r>
            <a:r>
              <a:rPr b="1" lang="en-US" sz="2500" u="sng"/>
              <a:t>Circuit</a:t>
            </a:r>
            <a:r>
              <a:rPr b="1" i="0" lang="en-US" sz="2500" u="none">
                <a:solidFill>
                  <a:schemeClr val="dk1"/>
                </a:solidFill>
              </a:rPr>
              <a:t>]</a:t>
            </a:r>
            <a:endParaRPr b="1" sz="2500"/>
          </a:p>
        </p:txBody>
      </p:sp>
      <p:sp>
        <p:nvSpPr>
          <p:cNvPr id="448" name="Google Shape;448;g1ead90bba03_0_359"/>
          <p:cNvSpPr txBox="1"/>
          <p:nvPr/>
        </p:nvSpPr>
        <p:spPr>
          <a:xfrm>
            <a:off x="1357775" y="1842650"/>
            <a:ext cx="9310200" cy="39897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360"/>
              </a:spcBef>
              <a:spcAft>
                <a:spcPts val="0"/>
              </a:spcAft>
              <a:buClr>
                <a:srgbClr val="000000"/>
              </a:buClr>
              <a:buSzPts val="2500"/>
              <a:buFont typeface="Arial"/>
              <a:buNone/>
            </a:pPr>
            <a:r>
              <a:rPr b="0" i="0" lang="en-US" sz="2500" u="none" cap="none" strike="noStrike">
                <a:solidFill>
                  <a:schemeClr val="dk1"/>
                </a:solidFill>
                <a:latin typeface="Times New Roman"/>
                <a:ea typeface="Times New Roman"/>
                <a:cs typeface="Times New Roman"/>
                <a:sym typeface="Times New Roman"/>
              </a:rPr>
              <a:t>Note that,</a:t>
            </a:r>
            <a:endParaRPr b="0" i="0" sz="25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360"/>
              </a:spcBef>
              <a:spcAft>
                <a:spcPts val="0"/>
              </a:spcAft>
              <a:buClr>
                <a:srgbClr val="000000"/>
              </a:buClr>
              <a:buSzPts val="2500"/>
              <a:buFont typeface="Arial"/>
              <a:buNone/>
            </a:pPr>
            <a:r>
              <a:t/>
            </a:r>
            <a:endParaRPr b="0" i="0" sz="2500" u="none" cap="none" strike="noStrike">
              <a:solidFill>
                <a:schemeClr val="dk1"/>
              </a:solidFill>
              <a:latin typeface="Times New Roman"/>
              <a:ea typeface="Times New Roman"/>
              <a:cs typeface="Times New Roman"/>
              <a:sym typeface="Times New Roman"/>
            </a:endParaRPr>
          </a:p>
          <a:p>
            <a:pPr indent="-387350" lvl="0" marL="914400" marR="0" rtl="0" algn="l">
              <a:lnSpc>
                <a:spcPct val="90000"/>
              </a:lnSpc>
              <a:spcBef>
                <a:spcPts val="360"/>
              </a:spcBef>
              <a:spcAft>
                <a:spcPts val="0"/>
              </a:spcAft>
              <a:buClr>
                <a:schemeClr val="dk1"/>
              </a:buClr>
              <a:buSzPts val="2500"/>
              <a:buFont typeface="Times New Roman"/>
              <a:buChar char="➢"/>
            </a:pPr>
            <a:r>
              <a:rPr b="1" i="0" lang="en-US" sz="2500" u="none" cap="none" strike="noStrike">
                <a:solidFill>
                  <a:schemeClr val="dk1"/>
                </a:solidFill>
                <a:latin typeface="Times New Roman"/>
                <a:ea typeface="Times New Roman"/>
                <a:cs typeface="Times New Roman"/>
                <a:sym typeface="Times New Roman"/>
              </a:rPr>
              <a:t>#</a:t>
            </a:r>
            <a:r>
              <a:rPr b="0" i="0" lang="en-US" sz="2500" u="none" cap="none" strike="noStrike">
                <a:solidFill>
                  <a:schemeClr val="dk1"/>
                </a:solidFill>
                <a:latin typeface="Times New Roman"/>
                <a:ea typeface="Times New Roman"/>
                <a:cs typeface="Times New Roman"/>
                <a:sym typeface="Times New Roman"/>
              </a:rPr>
              <a:t> flipflops = </a:t>
            </a:r>
            <a:r>
              <a:rPr b="1" i="0" lang="en-US" sz="2500" u="none" cap="none" strike="noStrike">
                <a:solidFill>
                  <a:schemeClr val="dk1"/>
                </a:solidFill>
                <a:latin typeface="Times New Roman"/>
                <a:ea typeface="Times New Roman"/>
                <a:cs typeface="Times New Roman"/>
                <a:sym typeface="Times New Roman"/>
              </a:rPr>
              <a:t>#</a:t>
            </a:r>
            <a:r>
              <a:rPr b="0" i="0" lang="en-US" sz="2500" u="none" cap="none" strike="noStrike">
                <a:solidFill>
                  <a:schemeClr val="dk1"/>
                </a:solidFill>
                <a:latin typeface="Times New Roman"/>
                <a:ea typeface="Times New Roman"/>
                <a:cs typeface="Times New Roman"/>
                <a:sym typeface="Times New Roman"/>
              </a:rPr>
              <a:t> bits to represent current state (#y)</a:t>
            </a:r>
            <a:endParaRPr b="0" i="0" sz="2500" u="none" cap="none" strike="noStrike">
              <a:solidFill>
                <a:schemeClr val="dk1"/>
              </a:solidFill>
              <a:latin typeface="Times New Roman"/>
              <a:ea typeface="Times New Roman"/>
              <a:cs typeface="Times New Roman"/>
              <a:sym typeface="Times New Roman"/>
            </a:endParaRPr>
          </a:p>
          <a:p>
            <a:pPr indent="0" lvl="0" marL="914400" marR="0" rtl="0" algn="l">
              <a:lnSpc>
                <a:spcPct val="90000"/>
              </a:lnSpc>
              <a:spcBef>
                <a:spcPts val="360"/>
              </a:spcBef>
              <a:spcAft>
                <a:spcPts val="0"/>
              </a:spcAft>
              <a:buClr>
                <a:srgbClr val="000000"/>
              </a:buClr>
              <a:buSzPts val="2500"/>
              <a:buFont typeface="Arial"/>
              <a:buNone/>
            </a:pPr>
            <a:r>
              <a:t/>
            </a:r>
            <a:endParaRPr b="0" i="0" sz="2500" u="none" cap="none" strike="noStrike">
              <a:solidFill>
                <a:schemeClr val="dk1"/>
              </a:solidFill>
              <a:latin typeface="Times New Roman"/>
              <a:ea typeface="Times New Roman"/>
              <a:cs typeface="Times New Roman"/>
              <a:sym typeface="Times New Roman"/>
            </a:endParaRPr>
          </a:p>
          <a:p>
            <a:pPr indent="-387350" lvl="0" marL="914400" marR="0" rtl="0" algn="l">
              <a:lnSpc>
                <a:spcPct val="90000"/>
              </a:lnSpc>
              <a:spcBef>
                <a:spcPts val="360"/>
              </a:spcBef>
              <a:spcAft>
                <a:spcPts val="0"/>
              </a:spcAft>
              <a:buClr>
                <a:schemeClr val="dk1"/>
              </a:buClr>
              <a:buSzPts val="2500"/>
              <a:buFont typeface="Times New Roman"/>
              <a:buChar char="➢"/>
            </a:pPr>
            <a:r>
              <a:rPr b="0" i="0" lang="en-US" sz="2500" u="none" cap="none" strike="noStrike">
                <a:solidFill>
                  <a:schemeClr val="dk1"/>
                </a:solidFill>
                <a:latin typeface="Times New Roman"/>
                <a:ea typeface="Times New Roman"/>
                <a:cs typeface="Times New Roman"/>
                <a:sym typeface="Times New Roman"/>
              </a:rPr>
              <a:t>Outputs of flipflops correspond to current state bits (y</a:t>
            </a:r>
            <a:r>
              <a:rPr b="0" baseline="-25000" i="0" lang="en-US" sz="2500" u="none" cap="none" strike="noStrike">
                <a:solidFill>
                  <a:schemeClr val="dk1"/>
                </a:solidFill>
                <a:latin typeface="Times New Roman"/>
                <a:ea typeface="Times New Roman"/>
                <a:cs typeface="Times New Roman"/>
                <a:sym typeface="Times New Roman"/>
              </a:rPr>
              <a:t>1</a:t>
            </a:r>
            <a:r>
              <a:rPr b="0" i="0" lang="en-US" sz="2500" u="none" cap="none" strike="noStrike">
                <a:solidFill>
                  <a:schemeClr val="dk1"/>
                </a:solidFill>
                <a:latin typeface="Times New Roman"/>
                <a:ea typeface="Times New Roman"/>
                <a:cs typeface="Times New Roman"/>
                <a:sym typeface="Times New Roman"/>
              </a:rPr>
              <a:t>, y</a:t>
            </a:r>
            <a:r>
              <a:rPr b="0" baseline="-25000" i="0" lang="en-US" sz="2500" u="none" cap="none" strike="noStrike">
                <a:solidFill>
                  <a:schemeClr val="dk1"/>
                </a:solidFill>
                <a:latin typeface="Times New Roman"/>
                <a:ea typeface="Times New Roman"/>
                <a:cs typeface="Times New Roman"/>
                <a:sym typeface="Times New Roman"/>
              </a:rPr>
              <a:t>2</a:t>
            </a:r>
            <a:r>
              <a:rPr b="0" i="0" lang="en-US" sz="2500" u="none" cap="none" strike="noStrike">
                <a:solidFill>
                  <a:schemeClr val="dk1"/>
                </a:solidFill>
                <a:latin typeface="Times New Roman"/>
                <a:ea typeface="Times New Roman"/>
                <a:cs typeface="Times New Roman"/>
                <a:sym typeface="Times New Roman"/>
              </a:rPr>
              <a:t>)</a:t>
            </a:r>
            <a:endParaRPr b="0" i="0" sz="2500" u="none" cap="none" strike="noStrike">
              <a:solidFill>
                <a:schemeClr val="dk1"/>
              </a:solidFill>
              <a:latin typeface="Times New Roman"/>
              <a:ea typeface="Times New Roman"/>
              <a:cs typeface="Times New Roman"/>
              <a:sym typeface="Times New Roman"/>
            </a:endParaRPr>
          </a:p>
          <a:p>
            <a:pPr indent="0" lvl="0" marL="914400" marR="0" rtl="0" algn="l">
              <a:lnSpc>
                <a:spcPct val="90000"/>
              </a:lnSpc>
              <a:spcBef>
                <a:spcPts val="360"/>
              </a:spcBef>
              <a:spcAft>
                <a:spcPts val="0"/>
              </a:spcAft>
              <a:buClr>
                <a:srgbClr val="000000"/>
              </a:buClr>
              <a:buSzPts val="2500"/>
              <a:buFont typeface="Arial"/>
              <a:buNone/>
            </a:pPr>
            <a:r>
              <a:t/>
            </a:r>
            <a:endParaRPr b="0" i="0" sz="2500" u="none" cap="none" strike="noStrike">
              <a:solidFill>
                <a:schemeClr val="dk1"/>
              </a:solidFill>
              <a:latin typeface="Times New Roman"/>
              <a:ea typeface="Times New Roman"/>
              <a:cs typeface="Times New Roman"/>
              <a:sym typeface="Times New Roman"/>
            </a:endParaRPr>
          </a:p>
          <a:p>
            <a:pPr indent="-387350" lvl="0" marL="914400" marR="0" rtl="0" algn="l">
              <a:lnSpc>
                <a:spcPct val="90000"/>
              </a:lnSpc>
              <a:spcBef>
                <a:spcPts val="360"/>
              </a:spcBef>
              <a:spcAft>
                <a:spcPts val="0"/>
              </a:spcAft>
              <a:buClr>
                <a:schemeClr val="dk1"/>
              </a:buClr>
              <a:buSzPts val="2500"/>
              <a:buFont typeface="Times New Roman"/>
              <a:buChar char="➢"/>
            </a:pPr>
            <a:r>
              <a:rPr b="0" i="0" lang="en-US" sz="2500" u="none" cap="none" strike="noStrike">
                <a:solidFill>
                  <a:schemeClr val="dk1"/>
                </a:solidFill>
                <a:latin typeface="Times New Roman"/>
                <a:ea typeface="Times New Roman"/>
                <a:cs typeface="Times New Roman"/>
                <a:sym typeface="Times New Roman"/>
              </a:rPr>
              <a:t>Inputs of  flipflops correspond to next state bits (Y</a:t>
            </a:r>
            <a:r>
              <a:rPr b="0" baseline="-25000" i="0" lang="en-US" sz="2500" u="none" cap="none" strike="noStrike">
                <a:solidFill>
                  <a:schemeClr val="dk1"/>
                </a:solidFill>
                <a:latin typeface="Times New Roman"/>
                <a:ea typeface="Times New Roman"/>
                <a:cs typeface="Times New Roman"/>
                <a:sym typeface="Times New Roman"/>
              </a:rPr>
              <a:t>1</a:t>
            </a:r>
            <a:r>
              <a:rPr b="0" i="0" lang="en-US" sz="2500" u="none" cap="none" strike="noStrike">
                <a:solidFill>
                  <a:schemeClr val="dk1"/>
                </a:solidFill>
                <a:latin typeface="Times New Roman"/>
                <a:ea typeface="Times New Roman"/>
                <a:cs typeface="Times New Roman"/>
                <a:sym typeface="Times New Roman"/>
              </a:rPr>
              <a:t>, Y</a:t>
            </a:r>
            <a:r>
              <a:rPr b="0" baseline="-25000" i="0" lang="en-US" sz="2500" u="none" cap="none" strike="noStrike">
                <a:solidFill>
                  <a:schemeClr val="dk1"/>
                </a:solidFill>
                <a:latin typeface="Times New Roman"/>
                <a:ea typeface="Times New Roman"/>
                <a:cs typeface="Times New Roman"/>
                <a:sym typeface="Times New Roman"/>
              </a:rPr>
              <a:t>2</a:t>
            </a:r>
            <a:r>
              <a:rPr b="0" i="0" lang="en-US" sz="2500" u="none" cap="none" strike="noStrike">
                <a:solidFill>
                  <a:schemeClr val="dk1"/>
                </a:solidFill>
                <a:latin typeface="Times New Roman"/>
                <a:ea typeface="Times New Roman"/>
                <a:cs typeface="Times New Roman"/>
                <a:sym typeface="Times New Roman"/>
              </a:rPr>
              <a:t>)</a:t>
            </a:r>
            <a:endParaRPr b="0" i="0" sz="25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360"/>
              </a:spcBef>
              <a:spcAft>
                <a:spcPts val="0"/>
              </a:spcAft>
              <a:buClr>
                <a:srgbClr val="000000"/>
              </a:buClr>
              <a:buSzPts val="2500"/>
              <a:buFont typeface="Arial"/>
              <a:buNone/>
            </a:pPr>
            <a:r>
              <a:t/>
            </a:r>
            <a:endParaRPr b="0" i="0" sz="25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36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In this problem, we need </a:t>
            </a:r>
            <a:r>
              <a:rPr b="1" i="0" lang="en-US" sz="2400" u="none" cap="none" strike="noStrike">
                <a:solidFill>
                  <a:schemeClr val="dk1"/>
                </a:solidFill>
                <a:latin typeface="Times New Roman"/>
                <a:ea typeface="Times New Roman"/>
                <a:cs typeface="Times New Roman"/>
                <a:sym typeface="Times New Roman"/>
              </a:rPr>
              <a:t>two flipflops</a:t>
            </a:r>
            <a:r>
              <a:rPr b="0" i="0" lang="en-US" sz="2400" u="none" cap="none" strike="noStrike">
                <a:solidFill>
                  <a:schemeClr val="dk1"/>
                </a:solidFill>
                <a:latin typeface="Times New Roman"/>
                <a:ea typeface="Times New Roman"/>
                <a:cs typeface="Times New Roman"/>
                <a:sym typeface="Times New Roman"/>
              </a:rPr>
              <a:t> as we have used </a:t>
            </a:r>
            <a:r>
              <a:rPr b="1" i="0" lang="en-US" sz="2400" u="none" cap="none" strike="noStrike">
                <a:solidFill>
                  <a:schemeClr val="dk1"/>
                </a:solidFill>
                <a:latin typeface="Times New Roman"/>
                <a:ea typeface="Times New Roman"/>
                <a:cs typeface="Times New Roman"/>
                <a:sym typeface="Times New Roman"/>
              </a:rPr>
              <a:t>two bits</a:t>
            </a:r>
            <a:r>
              <a:rPr b="0" i="0" lang="en-US" sz="2400" u="none" cap="none" strike="noStrike">
                <a:solidFill>
                  <a:schemeClr val="dk1"/>
                </a:solidFill>
                <a:latin typeface="Times New Roman"/>
                <a:ea typeface="Times New Roman"/>
                <a:cs typeface="Times New Roman"/>
                <a:sym typeface="Times New Roman"/>
              </a:rPr>
              <a:t> (y</a:t>
            </a:r>
            <a:r>
              <a:rPr b="0" baseline="-25000" i="0" lang="en-US" sz="2400" u="none" cap="none" strike="noStrike">
                <a:solidFill>
                  <a:schemeClr val="dk1"/>
                </a:solidFill>
                <a:latin typeface="Times New Roman"/>
                <a:ea typeface="Times New Roman"/>
                <a:cs typeface="Times New Roman"/>
                <a:sym typeface="Times New Roman"/>
              </a:rPr>
              <a:t>1</a:t>
            </a:r>
            <a:r>
              <a:rPr b="0" i="0" lang="en-US" sz="2400" u="none" cap="none" strike="noStrike">
                <a:solidFill>
                  <a:schemeClr val="dk1"/>
                </a:solidFill>
                <a:latin typeface="Times New Roman"/>
                <a:ea typeface="Times New Roman"/>
                <a:cs typeface="Times New Roman"/>
                <a:sym typeface="Times New Roman"/>
              </a:rPr>
              <a:t>, y</a:t>
            </a:r>
            <a:r>
              <a:rPr b="0" baseline="-25000" i="0" lang="en-US" sz="2400" u="none" cap="none" strike="noStrike">
                <a:solidFill>
                  <a:schemeClr val="dk1"/>
                </a:solidFill>
                <a:latin typeface="Times New Roman"/>
                <a:ea typeface="Times New Roman"/>
                <a:cs typeface="Times New Roman"/>
                <a:sym typeface="Times New Roman"/>
              </a:rPr>
              <a:t>2</a:t>
            </a:r>
            <a:r>
              <a:rPr b="0" i="0" lang="en-US" sz="2400" u="none" cap="none" strike="noStrike">
                <a:solidFill>
                  <a:schemeClr val="dk1"/>
                </a:solidFill>
                <a:latin typeface="Times New Roman"/>
                <a:ea typeface="Times New Roman"/>
                <a:cs typeface="Times New Roman"/>
                <a:sym typeface="Times New Roman"/>
              </a:rPr>
              <a:t>) to assign all the present states (A, B, C).</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1ead90bba03_0_366"/>
          <p:cNvSpPr txBox="1"/>
          <p:nvPr>
            <p:ph type="title"/>
          </p:nvPr>
        </p:nvSpPr>
        <p:spPr>
          <a:xfrm>
            <a:off x="943239" y="441349"/>
            <a:ext cx="9329700" cy="797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Clr>
                <a:schemeClr val="dk1"/>
              </a:buClr>
              <a:buSzPts val="2400"/>
              <a:buFont typeface="Times New Roman"/>
              <a:buNone/>
            </a:pPr>
            <a:r>
              <a:rPr b="1" i="0" lang="en-US" sz="2500" u="none">
                <a:solidFill>
                  <a:schemeClr val="dk1"/>
                </a:solidFill>
              </a:rPr>
              <a:t>Example 2: A </a:t>
            </a:r>
            <a:r>
              <a:rPr b="1" lang="en-US" sz="2500"/>
              <a:t>S</a:t>
            </a:r>
            <a:r>
              <a:rPr b="1" i="0" lang="en-US" sz="2500" u="none">
                <a:solidFill>
                  <a:schemeClr val="dk1"/>
                </a:solidFill>
              </a:rPr>
              <a:t>imple </a:t>
            </a:r>
            <a:r>
              <a:rPr b="1" lang="en-US" sz="2500"/>
              <a:t>I</a:t>
            </a:r>
            <a:r>
              <a:rPr b="1" i="0" lang="en-US" sz="2500" u="none">
                <a:solidFill>
                  <a:schemeClr val="dk1"/>
                </a:solidFill>
              </a:rPr>
              <a:t>nput </a:t>
            </a:r>
            <a:r>
              <a:rPr b="1" lang="en-US" sz="2500"/>
              <a:t>P</a:t>
            </a:r>
            <a:r>
              <a:rPr b="1" i="0" lang="en-US" sz="2500" u="none">
                <a:solidFill>
                  <a:schemeClr val="dk1"/>
                </a:solidFill>
              </a:rPr>
              <a:t>attern (</a:t>
            </a:r>
            <a:r>
              <a:rPr b="1" lang="en-US" sz="2500"/>
              <a:t>‘</a:t>
            </a:r>
            <a:r>
              <a:rPr b="1" i="0" lang="en-US" sz="2500" u="none">
                <a:solidFill>
                  <a:schemeClr val="dk1"/>
                </a:solidFill>
              </a:rPr>
              <a:t>11</a:t>
            </a:r>
            <a:r>
              <a:rPr b="1" lang="en-US" sz="2500"/>
              <a:t>’ </a:t>
            </a:r>
            <a:r>
              <a:rPr b="1" lang="en-US" sz="2600"/>
              <a:t>Overlapping</a:t>
            </a:r>
            <a:r>
              <a:rPr b="1" lang="en-US" sz="2500"/>
              <a:t> Sequence</a:t>
            </a:r>
            <a:r>
              <a:rPr b="1" i="0" lang="en-US" sz="2500" u="none">
                <a:solidFill>
                  <a:schemeClr val="dk1"/>
                </a:solidFill>
              </a:rPr>
              <a:t>) </a:t>
            </a:r>
            <a:r>
              <a:rPr b="1" lang="en-US" sz="2500"/>
              <a:t>D</a:t>
            </a:r>
            <a:r>
              <a:rPr b="1" i="0" lang="en-US" sz="2500" u="none">
                <a:solidFill>
                  <a:schemeClr val="dk1"/>
                </a:solidFill>
              </a:rPr>
              <a:t>etection </a:t>
            </a:r>
            <a:r>
              <a:rPr b="1" lang="en-US" sz="2500"/>
              <a:t>C</a:t>
            </a:r>
            <a:r>
              <a:rPr b="1" i="0" lang="en-US" sz="2500" u="none">
                <a:solidFill>
                  <a:schemeClr val="dk1"/>
                </a:solidFill>
              </a:rPr>
              <a:t>ircuit [</a:t>
            </a:r>
            <a:r>
              <a:rPr b="1" lang="en-US" sz="2500" u="sng"/>
              <a:t>Circuit</a:t>
            </a:r>
            <a:r>
              <a:rPr b="1" i="0" lang="en-US" sz="2500" u="none">
                <a:solidFill>
                  <a:schemeClr val="dk1"/>
                </a:solidFill>
              </a:rPr>
              <a:t>]</a:t>
            </a:r>
            <a:endParaRPr b="1" sz="2500"/>
          </a:p>
        </p:txBody>
      </p:sp>
      <p:sp>
        <p:nvSpPr>
          <p:cNvPr id="454" name="Google Shape;454;g1ead90bba03_0_366"/>
          <p:cNvSpPr txBox="1"/>
          <p:nvPr/>
        </p:nvSpPr>
        <p:spPr>
          <a:xfrm>
            <a:off x="2282475" y="6155325"/>
            <a:ext cx="1310100" cy="3213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Clr>
                <a:srgbClr val="000000"/>
              </a:buClr>
              <a:buSzPts val="2200"/>
              <a:buFont typeface="Times New Roman"/>
              <a:buNone/>
            </a:pPr>
            <a:r>
              <a:rPr b="0" i="0" lang="en-US" sz="2000" u="none" cap="none" strike="noStrike">
                <a:solidFill>
                  <a:srgbClr val="000000"/>
                </a:solidFill>
                <a:latin typeface="Times New Roman"/>
                <a:ea typeface="Times New Roman"/>
                <a:cs typeface="Times New Roman"/>
                <a:sym typeface="Times New Roman"/>
              </a:rPr>
              <a:t>Figure 9.</a:t>
            </a:r>
            <a:endParaRPr b="0" i="0" sz="1200" u="none" cap="none" strike="noStrike">
              <a:solidFill>
                <a:srgbClr val="000000"/>
              </a:solidFill>
              <a:latin typeface="Arial"/>
              <a:ea typeface="Arial"/>
              <a:cs typeface="Arial"/>
              <a:sym typeface="Arial"/>
            </a:endParaRPr>
          </a:p>
        </p:txBody>
      </p:sp>
      <p:sp>
        <p:nvSpPr>
          <p:cNvPr id="455" name="Google Shape;455;g1ead90bba03_0_366"/>
          <p:cNvSpPr txBox="1"/>
          <p:nvPr/>
        </p:nvSpPr>
        <p:spPr>
          <a:xfrm>
            <a:off x="3592575" y="6155325"/>
            <a:ext cx="7016700" cy="321300"/>
          </a:xfrm>
          <a:prstGeom prst="rect">
            <a:avLst/>
          </a:prstGeom>
          <a:noFill/>
          <a:ln>
            <a:noFill/>
          </a:ln>
        </p:spPr>
        <p:txBody>
          <a:bodyPr anchorCtr="0" anchor="t" bIns="0" lIns="0" spcFirstLastPara="1" rIns="0" wrap="square" tIns="13325">
            <a:spAutoFit/>
          </a:bodyPr>
          <a:lstStyle/>
          <a:p>
            <a:pPr indent="-41275" lvl="0" marL="53975" marR="0" rtl="0" algn="l">
              <a:lnSpc>
                <a:spcPct val="100000"/>
              </a:lnSpc>
              <a:spcBef>
                <a:spcPts val="0"/>
              </a:spcBef>
              <a:spcAft>
                <a:spcPts val="0"/>
              </a:spcAft>
              <a:buClr>
                <a:srgbClr val="000000"/>
              </a:buClr>
              <a:buSzPts val="2200"/>
              <a:buFont typeface="Times New Roman"/>
              <a:buNone/>
            </a:pPr>
            <a:r>
              <a:rPr b="0" i="0" lang="en-US" sz="2000" u="none" cap="none" strike="noStrike">
                <a:solidFill>
                  <a:srgbClr val="000000"/>
                </a:solidFill>
                <a:latin typeface="Times New Roman"/>
                <a:ea typeface="Times New Roman"/>
                <a:cs typeface="Times New Roman"/>
                <a:sym typeface="Times New Roman"/>
              </a:rPr>
              <a:t>Final implementation of the sequential circuit derived  in Figure 8.</a:t>
            </a:r>
            <a:endParaRPr b="0" i="0" sz="1200" u="none" cap="none" strike="noStrike">
              <a:solidFill>
                <a:srgbClr val="000000"/>
              </a:solidFill>
              <a:latin typeface="Arial"/>
              <a:ea typeface="Arial"/>
              <a:cs typeface="Arial"/>
              <a:sym typeface="Arial"/>
            </a:endParaRPr>
          </a:p>
        </p:txBody>
      </p:sp>
      <p:grpSp>
        <p:nvGrpSpPr>
          <p:cNvPr id="456" name="Google Shape;456;g1ead90bba03_0_366"/>
          <p:cNvGrpSpPr/>
          <p:nvPr/>
        </p:nvGrpSpPr>
        <p:grpSpPr>
          <a:xfrm>
            <a:off x="3010949" y="1899520"/>
            <a:ext cx="3685282" cy="3810332"/>
            <a:chOff x="2555367" y="1356550"/>
            <a:chExt cx="4201667" cy="4891940"/>
          </a:xfrm>
        </p:grpSpPr>
        <p:sp>
          <p:nvSpPr>
            <p:cNvPr id="457" name="Google Shape;457;g1ead90bba03_0_366"/>
            <p:cNvSpPr/>
            <p:nvPr/>
          </p:nvSpPr>
          <p:spPr>
            <a:xfrm>
              <a:off x="3090100" y="1356550"/>
              <a:ext cx="2177415" cy="1621155"/>
            </a:xfrm>
            <a:custGeom>
              <a:rect b="b" l="l" r="r" t="t"/>
              <a:pathLst>
                <a:path extrusionOk="0" h="1621155" w="2177415">
                  <a:moveTo>
                    <a:pt x="0" y="0"/>
                  </a:moveTo>
                  <a:lnTo>
                    <a:pt x="2177034" y="0"/>
                  </a:lnTo>
                  <a:lnTo>
                    <a:pt x="2177034" y="1621154"/>
                  </a:lnTo>
                  <a:lnTo>
                    <a:pt x="0" y="1621154"/>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8" name="Google Shape;458;g1ead90bba03_0_366"/>
            <p:cNvSpPr/>
            <p:nvPr/>
          </p:nvSpPr>
          <p:spPr>
            <a:xfrm>
              <a:off x="3090100" y="1669351"/>
              <a:ext cx="1089025" cy="454025"/>
            </a:xfrm>
            <a:custGeom>
              <a:rect b="b" l="l" r="r" t="t"/>
              <a:pathLst>
                <a:path extrusionOk="0" h="454025" w="1089025">
                  <a:moveTo>
                    <a:pt x="0" y="87630"/>
                  </a:moveTo>
                  <a:lnTo>
                    <a:pt x="286512" y="87630"/>
                  </a:lnTo>
                </a:path>
                <a:path extrusionOk="0" h="454025" w="1089025">
                  <a:moveTo>
                    <a:pt x="19050" y="354711"/>
                  </a:moveTo>
                  <a:lnTo>
                    <a:pt x="286512" y="354711"/>
                  </a:lnTo>
                </a:path>
                <a:path extrusionOk="0" h="454025" w="1089025">
                  <a:moveTo>
                    <a:pt x="1088516" y="221170"/>
                  </a:moveTo>
                  <a:lnTo>
                    <a:pt x="821245" y="221170"/>
                  </a:lnTo>
                </a:path>
                <a:path extrusionOk="0" h="454025" w="1089025">
                  <a:moveTo>
                    <a:pt x="245363" y="0"/>
                  </a:moveTo>
                  <a:lnTo>
                    <a:pt x="245363" y="0"/>
                  </a:lnTo>
                  <a:lnTo>
                    <a:pt x="491680" y="0"/>
                  </a:lnTo>
                  <a:lnTo>
                    <a:pt x="493585" y="952"/>
                  </a:lnTo>
                  <a:lnTo>
                    <a:pt x="503110" y="952"/>
                  </a:lnTo>
                  <a:lnTo>
                    <a:pt x="508825" y="952"/>
                  </a:lnTo>
                  <a:lnTo>
                    <a:pt x="509777" y="1905"/>
                  </a:lnTo>
                  <a:lnTo>
                    <a:pt x="515683" y="1905"/>
                  </a:lnTo>
                  <a:lnTo>
                    <a:pt x="520446" y="1905"/>
                  </a:lnTo>
                  <a:lnTo>
                    <a:pt x="521398" y="2857"/>
                  </a:lnTo>
                  <a:lnTo>
                    <a:pt x="522350" y="2857"/>
                  </a:lnTo>
                  <a:lnTo>
                    <a:pt x="527113" y="2857"/>
                  </a:lnTo>
                  <a:lnTo>
                    <a:pt x="528065" y="3810"/>
                  </a:lnTo>
                  <a:lnTo>
                    <a:pt x="533781" y="3810"/>
                  </a:lnTo>
                  <a:lnTo>
                    <a:pt x="535686" y="4762"/>
                  </a:lnTo>
                  <a:lnTo>
                    <a:pt x="536638" y="4762"/>
                  </a:lnTo>
                  <a:lnTo>
                    <a:pt x="538543" y="4762"/>
                  </a:lnTo>
                  <a:lnTo>
                    <a:pt x="540448" y="4762"/>
                  </a:lnTo>
                  <a:lnTo>
                    <a:pt x="541401" y="5714"/>
                  </a:lnTo>
                  <a:lnTo>
                    <a:pt x="547115" y="5714"/>
                  </a:lnTo>
                  <a:lnTo>
                    <a:pt x="548068" y="6667"/>
                  </a:lnTo>
                  <a:lnTo>
                    <a:pt x="549021" y="6667"/>
                  </a:lnTo>
                  <a:lnTo>
                    <a:pt x="549973" y="6667"/>
                  </a:lnTo>
                  <a:lnTo>
                    <a:pt x="550926" y="6667"/>
                  </a:lnTo>
                  <a:lnTo>
                    <a:pt x="551878" y="6667"/>
                  </a:lnTo>
                  <a:lnTo>
                    <a:pt x="552831" y="7620"/>
                  </a:lnTo>
                  <a:lnTo>
                    <a:pt x="553783" y="7620"/>
                  </a:lnTo>
                  <a:lnTo>
                    <a:pt x="554736" y="7620"/>
                  </a:lnTo>
                  <a:lnTo>
                    <a:pt x="555688" y="7620"/>
                  </a:lnTo>
                  <a:lnTo>
                    <a:pt x="556640" y="7620"/>
                  </a:lnTo>
                  <a:lnTo>
                    <a:pt x="557593" y="8572"/>
                  </a:lnTo>
                  <a:lnTo>
                    <a:pt x="558546" y="8572"/>
                  </a:lnTo>
                  <a:lnTo>
                    <a:pt x="559498" y="8572"/>
                  </a:lnTo>
                  <a:lnTo>
                    <a:pt x="560451" y="9525"/>
                  </a:lnTo>
                  <a:lnTo>
                    <a:pt x="561403" y="9525"/>
                  </a:lnTo>
                  <a:lnTo>
                    <a:pt x="562356" y="9525"/>
                  </a:lnTo>
                  <a:lnTo>
                    <a:pt x="564261" y="10477"/>
                  </a:lnTo>
                  <a:lnTo>
                    <a:pt x="565213" y="10477"/>
                  </a:lnTo>
                  <a:lnTo>
                    <a:pt x="566165" y="10477"/>
                  </a:lnTo>
                  <a:lnTo>
                    <a:pt x="568071" y="11430"/>
                  </a:lnTo>
                  <a:lnTo>
                    <a:pt x="569023" y="11430"/>
                  </a:lnTo>
                  <a:lnTo>
                    <a:pt x="570928" y="12382"/>
                  </a:lnTo>
                  <a:lnTo>
                    <a:pt x="572833" y="12382"/>
                  </a:lnTo>
                  <a:lnTo>
                    <a:pt x="574738" y="13335"/>
                  </a:lnTo>
                  <a:lnTo>
                    <a:pt x="575690" y="14287"/>
                  </a:lnTo>
                  <a:lnTo>
                    <a:pt x="577596" y="14287"/>
                  </a:lnTo>
                  <a:lnTo>
                    <a:pt x="579501" y="15239"/>
                  </a:lnTo>
                  <a:lnTo>
                    <a:pt x="580453" y="15239"/>
                  </a:lnTo>
                  <a:lnTo>
                    <a:pt x="581406" y="16192"/>
                  </a:lnTo>
                  <a:lnTo>
                    <a:pt x="583311" y="16192"/>
                  </a:lnTo>
                  <a:lnTo>
                    <a:pt x="584263" y="16192"/>
                  </a:lnTo>
                  <a:lnTo>
                    <a:pt x="585215" y="17145"/>
                  </a:lnTo>
                  <a:lnTo>
                    <a:pt x="586168" y="17145"/>
                  </a:lnTo>
                  <a:lnTo>
                    <a:pt x="587121" y="17145"/>
                  </a:lnTo>
                  <a:lnTo>
                    <a:pt x="588073" y="18097"/>
                  </a:lnTo>
                  <a:lnTo>
                    <a:pt x="589216" y="18097"/>
                  </a:lnTo>
                  <a:lnTo>
                    <a:pt x="590169" y="18097"/>
                  </a:lnTo>
                  <a:lnTo>
                    <a:pt x="591121" y="19050"/>
                  </a:lnTo>
                  <a:lnTo>
                    <a:pt x="592074" y="19050"/>
                  </a:lnTo>
                  <a:lnTo>
                    <a:pt x="592074" y="20002"/>
                  </a:lnTo>
                  <a:lnTo>
                    <a:pt x="593026" y="20002"/>
                  </a:lnTo>
                  <a:lnTo>
                    <a:pt x="593978" y="20002"/>
                  </a:lnTo>
                  <a:lnTo>
                    <a:pt x="594931" y="20955"/>
                  </a:lnTo>
                  <a:lnTo>
                    <a:pt x="595884" y="20955"/>
                  </a:lnTo>
                  <a:lnTo>
                    <a:pt x="596836" y="20955"/>
                  </a:lnTo>
                  <a:lnTo>
                    <a:pt x="597788" y="21907"/>
                  </a:lnTo>
                  <a:lnTo>
                    <a:pt x="598741" y="21907"/>
                  </a:lnTo>
                  <a:lnTo>
                    <a:pt x="599694" y="22860"/>
                  </a:lnTo>
                  <a:lnTo>
                    <a:pt x="600646" y="22860"/>
                  </a:lnTo>
                  <a:lnTo>
                    <a:pt x="601599" y="23812"/>
                  </a:lnTo>
                  <a:lnTo>
                    <a:pt x="603503" y="24764"/>
                  </a:lnTo>
                  <a:lnTo>
                    <a:pt x="604456" y="24764"/>
                  </a:lnTo>
                  <a:lnTo>
                    <a:pt x="605409" y="25717"/>
                  </a:lnTo>
                  <a:lnTo>
                    <a:pt x="607313" y="26670"/>
                  </a:lnTo>
                  <a:lnTo>
                    <a:pt x="608266" y="26670"/>
                  </a:lnTo>
                  <a:lnTo>
                    <a:pt x="610171" y="27622"/>
                  </a:lnTo>
                  <a:lnTo>
                    <a:pt x="612076" y="28575"/>
                  </a:lnTo>
                  <a:lnTo>
                    <a:pt x="613028" y="29527"/>
                  </a:lnTo>
                  <a:lnTo>
                    <a:pt x="613981" y="29527"/>
                  </a:lnTo>
                  <a:lnTo>
                    <a:pt x="614934" y="30480"/>
                  </a:lnTo>
                  <a:lnTo>
                    <a:pt x="616838" y="31432"/>
                  </a:lnTo>
                  <a:lnTo>
                    <a:pt x="617791" y="31432"/>
                  </a:lnTo>
                  <a:lnTo>
                    <a:pt x="618744" y="32385"/>
                  </a:lnTo>
                  <a:lnTo>
                    <a:pt x="619696" y="32385"/>
                  </a:lnTo>
                  <a:lnTo>
                    <a:pt x="620649" y="33337"/>
                  </a:lnTo>
                  <a:lnTo>
                    <a:pt x="621601" y="33337"/>
                  </a:lnTo>
                  <a:lnTo>
                    <a:pt x="621601" y="34289"/>
                  </a:lnTo>
                  <a:lnTo>
                    <a:pt x="622553" y="34289"/>
                  </a:lnTo>
                  <a:lnTo>
                    <a:pt x="623506" y="34289"/>
                  </a:lnTo>
                  <a:lnTo>
                    <a:pt x="624459" y="35242"/>
                  </a:lnTo>
                  <a:lnTo>
                    <a:pt x="625411" y="35242"/>
                  </a:lnTo>
                  <a:lnTo>
                    <a:pt x="625411" y="36195"/>
                  </a:lnTo>
                  <a:lnTo>
                    <a:pt x="626363" y="36195"/>
                  </a:lnTo>
                  <a:lnTo>
                    <a:pt x="627316" y="37147"/>
                  </a:lnTo>
                  <a:lnTo>
                    <a:pt x="628269" y="37147"/>
                  </a:lnTo>
                  <a:lnTo>
                    <a:pt x="629221" y="37147"/>
                  </a:lnTo>
                  <a:lnTo>
                    <a:pt x="629221" y="38100"/>
                  </a:lnTo>
                  <a:lnTo>
                    <a:pt x="630174" y="38100"/>
                  </a:lnTo>
                  <a:lnTo>
                    <a:pt x="631126" y="39052"/>
                  </a:lnTo>
                  <a:lnTo>
                    <a:pt x="632078" y="39052"/>
                  </a:lnTo>
                  <a:lnTo>
                    <a:pt x="633031" y="40005"/>
                  </a:lnTo>
                  <a:lnTo>
                    <a:pt x="633984" y="40957"/>
                  </a:lnTo>
                  <a:lnTo>
                    <a:pt x="634936" y="40957"/>
                  </a:lnTo>
                  <a:lnTo>
                    <a:pt x="635888" y="41910"/>
                  </a:lnTo>
                  <a:lnTo>
                    <a:pt x="637794" y="42862"/>
                  </a:lnTo>
                  <a:lnTo>
                    <a:pt x="638746" y="42862"/>
                  </a:lnTo>
                  <a:lnTo>
                    <a:pt x="639699" y="43814"/>
                  </a:lnTo>
                  <a:lnTo>
                    <a:pt x="641603" y="44767"/>
                  </a:lnTo>
                  <a:lnTo>
                    <a:pt x="642556" y="45720"/>
                  </a:lnTo>
                  <a:lnTo>
                    <a:pt x="643509" y="45720"/>
                  </a:lnTo>
                  <a:lnTo>
                    <a:pt x="645413" y="46672"/>
                  </a:lnTo>
                  <a:lnTo>
                    <a:pt x="646366" y="47625"/>
                  </a:lnTo>
                  <a:lnTo>
                    <a:pt x="647319" y="47625"/>
                  </a:lnTo>
                  <a:lnTo>
                    <a:pt x="648271" y="48577"/>
                  </a:lnTo>
                  <a:lnTo>
                    <a:pt x="649224" y="48577"/>
                  </a:lnTo>
                  <a:lnTo>
                    <a:pt x="650176" y="49530"/>
                  </a:lnTo>
                  <a:lnTo>
                    <a:pt x="651128" y="50482"/>
                  </a:lnTo>
                  <a:lnTo>
                    <a:pt x="652081" y="50482"/>
                  </a:lnTo>
                  <a:lnTo>
                    <a:pt x="653034" y="51435"/>
                  </a:lnTo>
                  <a:lnTo>
                    <a:pt x="653986" y="51435"/>
                  </a:lnTo>
                  <a:lnTo>
                    <a:pt x="654938" y="52387"/>
                  </a:lnTo>
                  <a:lnTo>
                    <a:pt x="655891" y="53339"/>
                  </a:lnTo>
                  <a:lnTo>
                    <a:pt x="656844" y="53339"/>
                  </a:lnTo>
                  <a:lnTo>
                    <a:pt x="657796" y="54292"/>
                  </a:lnTo>
                  <a:lnTo>
                    <a:pt x="658749" y="54292"/>
                  </a:lnTo>
                  <a:lnTo>
                    <a:pt x="658749" y="55245"/>
                  </a:lnTo>
                  <a:lnTo>
                    <a:pt x="659701" y="55245"/>
                  </a:lnTo>
                  <a:lnTo>
                    <a:pt x="660653" y="56197"/>
                  </a:lnTo>
                  <a:lnTo>
                    <a:pt x="661606" y="56197"/>
                  </a:lnTo>
                  <a:lnTo>
                    <a:pt x="662559" y="57150"/>
                  </a:lnTo>
                  <a:lnTo>
                    <a:pt x="663511" y="58102"/>
                  </a:lnTo>
                  <a:lnTo>
                    <a:pt x="664463" y="58102"/>
                  </a:lnTo>
                  <a:lnTo>
                    <a:pt x="666559" y="59055"/>
                  </a:lnTo>
                  <a:lnTo>
                    <a:pt x="667512" y="60007"/>
                  </a:lnTo>
                  <a:lnTo>
                    <a:pt x="668464" y="60960"/>
                  </a:lnTo>
                  <a:lnTo>
                    <a:pt x="669416" y="60960"/>
                  </a:lnTo>
                  <a:lnTo>
                    <a:pt x="670369" y="61912"/>
                  </a:lnTo>
                  <a:lnTo>
                    <a:pt x="671322" y="62864"/>
                  </a:lnTo>
                  <a:lnTo>
                    <a:pt x="672274" y="62864"/>
                  </a:lnTo>
                  <a:lnTo>
                    <a:pt x="672274" y="63817"/>
                  </a:lnTo>
                  <a:lnTo>
                    <a:pt x="673226" y="63817"/>
                  </a:lnTo>
                  <a:lnTo>
                    <a:pt x="674179" y="64770"/>
                  </a:lnTo>
                  <a:lnTo>
                    <a:pt x="675132" y="64770"/>
                  </a:lnTo>
                  <a:lnTo>
                    <a:pt x="675132" y="65722"/>
                  </a:lnTo>
                  <a:lnTo>
                    <a:pt x="676084" y="65722"/>
                  </a:lnTo>
                  <a:lnTo>
                    <a:pt x="677037" y="65722"/>
                  </a:lnTo>
                  <a:lnTo>
                    <a:pt x="677037" y="66675"/>
                  </a:lnTo>
                  <a:lnTo>
                    <a:pt x="677989" y="66675"/>
                  </a:lnTo>
                  <a:lnTo>
                    <a:pt x="677989" y="67627"/>
                  </a:lnTo>
                  <a:lnTo>
                    <a:pt x="678941" y="67627"/>
                  </a:lnTo>
                  <a:lnTo>
                    <a:pt x="679894" y="68580"/>
                  </a:lnTo>
                  <a:lnTo>
                    <a:pt x="680847" y="68580"/>
                  </a:lnTo>
                  <a:lnTo>
                    <a:pt x="680847" y="69532"/>
                  </a:lnTo>
                  <a:lnTo>
                    <a:pt x="681799" y="69532"/>
                  </a:lnTo>
                  <a:lnTo>
                    <a:pt x="682751" y="70485"/>
                  </a:lnTo>
                  <a:lnTo>
                    <a:pt x="683704" y="71437"/>
                  </a:lnTo>
                  <a:lnTo>
                    <a:pt x="684657" y="72389"/>
                  </a:lnTo>
                  <a:lnTo>
                    <a:pt x="685609" y="72389"/>
                  </a:lnTo>
                  <a:lnTo>
                    <a:pt x="685609" y="73342"/>
                  </a:lnTo>
                  <a:lnTo>
                    <a:pt x="686562" y="73342"/>
                  </a:lnTo>
                  <a:lnTo>
                    <a:pt x="687514" y="74295"/>
                  </a:lnTo>
                  <a:lnTo>
                    <a:pt x="688466" y="75247"/>
                  </a:lnTo>
                  <a:lnTo>
                    <a:pt x="689419" y="76200"/>
                  </a:lnTo>
                  <a:lnTo>
                    <a:pt x="690372" y="76200"/>
                  </a:lnTo>
                  <a:lnTo>
                    <a:pt x="690372" y="77152"/>
                  </a:lnTo>
                  <a:lnTo>
                    <a:pt x="691324" y="77152"/>
                  </a:lnTo>
                  <a:lnTo>
                    <a:pt x="692276" y="78105"/>
                  </a:lnTo>
                  <a:lnTo>
                    <a:pt x="693229" y="78105"/>
                  </a:lnTo>
                  <a:lnTo>
                    <a:pt x="693229" y="79057"/>
                  </a:lnTo>
                  <a:lnTo>
                    <a:pt x="694182" y="79057"/>
                  </a:lnTo>
                  <a:lnTo>
                    <a:pt x="694182" y="80010"/>
                  </a:lnTo>
                  <a:lnTo>
                    <a:pt x="695134" y="80010"/>
                  </a:lnTo>
                  <a:lnTo>
                    <a:pt x="695134" y="80962"/>
                  </a:lnTo>
                  <a:lnTo>
                    <a:pt x="696087" y="80962"/>
                  </a:lnTo>
                  <a:lnTo>
                    <a:pt x="697039" y="81914"/>
                  </a:lnTo>
                  <a:lnTo>
                    <a:pt x="697991" y="81914"/>
                  </a:lnTo>
                  <a:lnTo>
                    <a:pt x="697991" y="82867"/>
                  </a:lnTo>
                  <a:lnTo>
                    <a:pt x="698944" y="82867"/>
                  </a:lnTo>
                  <a:lnTo>
                    <a:pt x="699897" y="83820"/>
                  </a:lnTo>
                  <a:lnTo>
                    <a:pt x="700849" y="83820"/>
                  </a:lnTo>
                  <a:lnTo>
                    <a:pt x="701801" y="84772"/>
                  </a:lnTo>
                  <a:lnTo>
                    <a:pt x="702754" y="85725"/>
                  </a:lnTo>
                  <a:lnTo>
                    <a:pt x="703707" y="86677"/>
                  </a:lnTo>
                  <a:lnTo>
                    <a:pt x="704659" y="86677"/>
                  </a:lnTo>
                  <a:lnTo>
                    <a:pt x="705612" y="87630"/>
                  </a:lnTo>
                  <a:lnTo>
                    <a:pt x="706564" y="87630"/>
                  </a:lnTo>
                  <a:lnTo>
                    <a:pt x="706564" y="88582"/>
                  </a:lnTo>
                  <a:lnTo>
                    <a:pt x="707516" y="88582"/>
                  </a:lnTo>
                  <a:lnTo>
                    <a:pt x="708469" y="89535"/>
                  </a:lnTo>
                  <a:lnTo>
                    <a:pt x="709422" y="89535"/>
                  </a:lnTo>
                  <a:lnTo>
                    <a:pt x="709422" y="90487"/>
                  </a:lnTo>
                  <a:lnTo>
                    <a:pt x="710374" y="90487"/>
                  </a:lnTo>
                  <a:lnTo>
                    <a:pt x="711326" y="91439"/>
                  </a:lnTo>
                  <a:lnTo>
                    <a:pt x="712279" y="92392"/>
                  </a:lnTo>
                  <a:lnTo>
                    <a:pt x="713232" y="92392"/>
                  </a:lnTo>
                  <a:lnTo>
                    <a:pt x="713232" y="93345"/>
                  </a:lnTo>
                  <a:lnTo>
                    <a:pt x="714184" y="93345"/>
                  </a:lnTo>
                  <a:lnTo>
                    <a:pt x="714184" y="94297"/>
                  </a:lnTo>
                  <a:lnTo>
                    <a:pt x="715137" y="94297"/>
                  </a:lnTo>
                  <a:lnTo>
                    <a:pt x="715137" y="95250"/>
                  </a:lnTo>
                  <a:lnTo>
                    <a:pt x="716089" y="95250"/>
                  </a:lnTo>
                  <a:lnTo>
                    <a:pt x="717041" y="96202"/>
                  </a:lnTo>
                  <a:lnTo>
                    <a:pt x="717994" y="97155"/>
                  </a:lnTo>
                  <a:lnTo>
                    <a:pt x="717994" y="98107"/>
                  </a:lnTo>
                  <a:lnTo>
                    <a:pt x="718947" y="98107"/>
                  </a:lnTo>
                  <a:lnTo>
                    <a:pt x="719899" y="99060"/>
                  </a:lnTo>
                  <a:lnTo>
                    <a:pt x="719899" y="100012"/>
                  </a:lnTo>
                  <a:lnTo>
                    <a:pt x="720851" y="100012"/>
                  </a:lnTo>
                  <a:lnTo>
                    <a:pt x="721804" y="100964"/>
                  </a:lnTo>
                  <a:lnTo>
                    <a:pt x="722757" y="101917"/>
                  </a:lnTo>
                  <a:lnTo>
                    <a:pt x="722757" y="102870"/>
                  </a:lnTo>
                  <a:lnTo>
                    <a:pt x="723709" y="103822"/>
                  </a:lnTo>
                  <a:lnTo>
                    <a:pt x="724662" y="104775"/>
                  </a:lnTo>
                  <a:lnTo>
                    <a:pt x="725614" y="105727"/>
                  </a:lnTo>
                  <a:lnTo>
                    <a:pt x="726566" y="106680"/>
                  </a:lnTo>
                  <a:lnTo>
                    <a:pt x="727519" y="107632"/>
                  </a:lnTo>
                  <a:lnTo>
                    <a:pt x="728472" y="108585"/>
                  </a:lnTo>
                  <a:lnTo>
                    <a:pt x="729424" y="108585"/>
                  </a:lnTo>
                  <a:lnTo>
                    <a:pt x="729424" y="109537"/>
                  </a:lnTo>
                  <a:lnTo>
                    <a:pt x="730376" y="110489"/>
                  </a:lnTo>
                  <a:lnTo>
                    <a:pt x="731329" y="111442"/>
                  </a:lnTo>
                  <a:lnTo>
                    <a:pt x="732282" y="112395"/>
                  </a:lnTo>
                  <a:lnTo>
                    <a:pt x="732282" y="113347"/>
                  </a:lnTo>
                  <a:lnTo>
                    <a:pt x="733234" y="113347"/>
                  </a:lnTo>
                  <a:lnTo>
                    <a:pt x="734187" y="114300"/>
                  </a:lnTo>
                  <a:lnTo>
                    <a:pt x="735139" y="115252"/>
                  </a:lnTo>
                  <a:lnTo>
                    <a:pt x="735139" y="116205"/>
                  </a:lnTo>
                  <a:lnTo>
                    <a:pt x="736091" y="116205"/>
                  </a:lnTo>
                  <a:lnTo>
                    <a:pt x="736091" y="117157"/>
                  </a:lnTo>
                  <a:lnTo>
                    <a:pt x="737044" y="117157"/>
                  </a:lnTo>
                  <a:lnTo>
                    <a:pt x="737044" y="118110"/>
                  </a:lnTo>
                  <a:lnTo>
                    <a:pt x="737997" y="119062"/>
                  </a:lnTo>
                  <a:lnTo>
                    <a:pt x="738949" y="120014"/>
                  </a:lnTo>
                  <a:lnTo>
                    <a:pt x="739901" y="120967"/>
                  </a:lnTo>
                  <a:lnTo>
                    <a:pt x="740854" y="121920"/>
                  </a:lnTo>
                  <a:lnTo>
                    <a:pt x="741997" y="122872"/>
                  </a:lnTo>
                  <a:lnTo>
                    <a:pt x="741997" y="123825"/>
                  </a:lnTo>
                  <a:lnTo>
                    <a:pt x="742950" y="124777"/>
                  </a:lnTo>
                  <a:lnTo>
                    <a:pt x="743902" y="125730"/>
                  </a:lnTo>
                  <a:lnTo>
                    <a:pt x="744854" y="126682"/>
                  </a:lnTo>
                  <a:lnTo>
                    <a:pt x="745807" y="128587"/>
                  </a:lnTo>
                  <a:lnTo>
                    <a:pt x="746760" y="129539"/>
                  </a:lnTo>
                  <a:lnTo>
                    <a:pt x="748664" y="130492"/>
                  </a:lnTo>
                  <a:lnTo>
                    <a:pt x="749617" y="132397"/>
                  </a:lnTo>
                  <a:lnTo>
                    <a:pt x="750570" y="133540"/>
                  </a:lnTo>
                  <a:lnTo>
                    <a:pt x="751522" y="134493"/>
                  </a:lnTo>
                  <a:lnTo>
                    <a:pt x="751522" y="135445"/>
                  </a:lnTo>
                  <a:lnTo>
                    <a:pt x="752475" y="136398"/>
                  </a:lnTo>
                  <a:lnTo>
                    <a:pt x="753427" y="137350"/>
                  </a:lnTo>
                  <a:lnTo>
                    <a:pt x="754379" y="138302"/>
                  </a:lnTo>
                  <a:lnTo>
                    <a:pt x="755332" y="139255"/>
                  </a:lnTo>
                  <a:lnTo>
                    <a:pt x="755332" y="140208"/>
                  </a:lnTo>
                  <a:lnTo>
                    <a:pt x="756285" y="141160"/>
                  </a:lnTo>
                  <a:lnTo>
                    <a:pt x="757237" y="141160"/>
                  </a:lnTo>
                  <a:lnTo>
                    <a:pt x="757237" y="142112"/>
                  </a:lnTo>
                  <a:lnTo>
                    <a:pt x="758189" y="143065"/>
                  </a:lnTo>
                  <a:lnTo>
                    <a:pt x="758189" y="144018"/>
                  </a:lnTo>
                  <a:lnTo>
                    <a:pt x="759142" y="144018"/>
                  </a:lnTo>
                  <a:lnTo>
                    <a:pt x="760095" y="144970"/>
                  </a:lnTo>
                  <a:lnTo>
                    <a:pt x="760095" y="145923"/>
                  </a:lnTo>
                  <a:lnTo>
                    <a:pt x="761047" y="146875"/>
                  </a:lnTo>
                  <a:lnTo>
                    <a:pt x="761047" y="147827"/>
                  </a:lnTo>
                  <a:lnTo>
                    <a:pt x="762000" y="147827"/>
                  </a:lnTo>
                  <a:lnTo>
                    <a:pt x="762952" y="148780"/>
                  </a:lnTo>
                  <a:lnTo>
                    <a:pt x="762952" y="149733"/>
                  </a:lnTo>
                  <a:lnTo>
                    <a:pt x="763904" y="150685"/>
                  </a:lnTo>
                  <a:lnTo>
                    <a:pt x="764857" y="151637"/>
                  </a:lnTo>
                  <a:lnTo>
                    <a:pt x="765810" y="152590"/>
                  </a:lnTo>
                  <a:lnTo>
                    <a:pt x="765810" y="153543"/>
                  </a:lnTo>
                  <a:lnTo>
                    <a:pt x="766762" y="155448"/>
                  </a:lnTo>
                  <a:lnTo>
                    <a:pt x="767714" y="156400"/>
                  </a:lnTo>
                  <a:lnTo>
                    <a:pt x="768667" y="157352"/>
                  </a:lnTo>
                  <a:lnTo>
                    <a:pt x="769620" y="159258"/>
                  </a:lnTo>
                  <a:lnTo>
                    <a:pt x="770572" y="160210"/>
                  </a:lnTo>
                  <a:lnTo>
                    <a:pt x="772477" y="162115"/>
                  </a:lnTo>
                  <a:lnTo>
                    <a:pt x="773429" y="164020"/>
                  </a:lnTo>
                  <a:lnTo>
                    <a:pt x="774382" y="164973"/>
                  </a:lnTo>
                  <a:lnTo>
                    <a:pt x="775335" y="165925"/>
                  </a:lnTo>
                  <a:lnTo>
                    <a:pt x="775335" y="167830"/>
                  </a:lnTo>
                  <a:lnTo>
                    <a:pt x="776287" y="168783"/>
                  </a:lnTo>
                  <a:lnTo>
                    <a:pt x="777239" y="169735"/>
                  </a:lnTo>
                  <a:lnTo>
                    <a:pt x="778192" y="170687"/>
                  </a:lnTo>
                  <a:lnTo>
                    <a:pt x="779145" y="171640"/>
                  </a:lnTo>
                  <a:lnTo>
                    <a:pt x="779145" y="172593"/>
                  </a:lnTo>
                  <a:lnTo>
                    <a:pt x="780097" y="173545"/>
                  </a:lnTo>
                  <a:lnTo>
                    <a:pt x="781050" y="174498"/>
                  </a:lnTo>
                  <a:lnTo>
                    <a:pt x="781050" y="175450"/>
                  </a:lnTo>
                  <a:lnTo>
                    <a:pt x="782002" y="175450"/>
                  </a:lnTo>
                  <a:lnTo>
                    <a:pt x="782002" y="176402"/>
                  </a:lnTo>
                  <a:lnTo>
                    <a:pt x="782954" y="177355"/>
                  </a:lnTo>
                  <a:lnTo>
                    <a:pt x="783907" y="178308"/>
                  </a:lnTo>
                  <a:lnTo>
                    <a:pt x="783907" y="179260"/>
                  </a:lnTo>
                  <a:lnTo>
                    <a:pt x="784860" y="180212"/>
                  </a:lnTo>
                  <a:lnTo>
                    <a:pt x="784860" y="181165"/>
                  </a:lnTo>
                  <a:lnTo>
                    <a:pt x="785812" y="181165"/>
                  </a:lnTo>
                  <a:lnTo>
                    <a:pt x="786764" y="182118"/>
                  </a:lnTo>
                  <a:lnTo>
                    <a:pt x="787717" y="183070"/>
                  </a:lnTo>
                  <a:lnTo>
                    <a:pt x="787717" y="184023"/>
                  </a:lnTo>
                  <a:lnTo>
                    <a:pt x="788670" y="184975"/>
                  </a:lnTo>
                  <a:lnTo>
                    <a:pt x="789622" y="186880"/>
                  </a:lnTo>
                  <a:lnTo>
                    <a:pt x="790575" y="187833"/>
                  </a:lnTo>
                  <a:lnTo>
                    <a:pt x="791527" y="188785"/>
                  </a:lnTo>
                  <a:lnTo>
                    <a:pt x="792479" y="189737"/>
                  </a:lnTo>
                  <a:lnTo>
                    <a:pt x="793432" y="191643"/>
                  </a:lnTo>
                  <a:lnTo>
                    <a:pt x="794385" y="192595"/>
                  </a:lnTo>
                  <a:lnTo>
                    <a:pt x="795337" y="194500"/>
                  </a:lnTo>
                  <a:lnTo>
                    <a:pt x="796289" y="196405"/>
                  </a:lnTo>
                  <a:lnTo>
                    <a:pt x="797242" y="197358"/>
                  </a:lnTo>
                  <a:lnTo>
                    <a:pt x="798195" y="199262"/>
                  </a:lnTo>
                  <a:lnTo>
                    <a:pt x="799147" y="200215"/>
                  </a:lnTo>
                  <a:lnTo>
                    <a:pt x="800100" y="201168"/>
                  </a:lnTo>
                  <a:lnTo>
                    <a:pt x="801052" y="203073"/>
                  </a:lnTo>
                  <a:lnTo>
                    <a:pt x="802004" y="204025"/>
                  </a:lnTo>
                  <a:lnTo>
                    <a:pt x="802957" y="204977"/>
                  </a:lnTo>
                  <a:lnTo>
                    <a:pt x="802957" y="205930"/>
                  </a:lnTo>
                  <a:lnTo>
                    <a:pt x="803910" y="206883"/>
                  </a:lnTo>
                  <a:lnTo>
                    <a:pt x="804862" y="207835"/>
                  </a:lnTo>
                  <a:lnTo>
                    <a:pt x="804862" y="208787"/>
                  </a:lnTo>
                  <a:lnTo>
                    <a:pt x="805814" y="208787"/>
                  </a:lnTo>
                  <a:lnTo>
                    <a:pt x="806767" y="209740"/>
                  </a:lnTo>
                  <a:lnTo>
                    <a:pt x="806767" y="210693"/>
                  </a:lnTo>
                  <a:lnTo>
                    <a:pt x="807720" y="211645"/>
                  </a:lnTo>
                  <a:lnTo>
                    <a:pt x="807720" y="212598"/>
                  </a:lnTo>
                  <a:lnTo>
                    <a:pt x="808672" y="212598"/>
                  </a:lnTo>
                  <a:lnTo>
                    <a:pt x="808672" y="213550"/>
                  </a:lnTo>
                  <a:lnTo>
                    <a:pt x="809625" y="214502"/>
                  </a:lnTo>
                  <a:lnTo>
                    <a:pt x="809625" y="215455"/>
                  </a:lnTo>
                  <a:lnTo>
                    <a:pt x="810577" y="216408"/>
                  </a:lnTo>
                  <a:lnTo>
                    <a:pt x="811529" y="217360"/>
                  </a:lnTo>
                  <a:lnTo>
                    <a:pt x="811529" y="218312"/>
                  </a:lnTo>
                  <a:lnTo>
                    <a:pt x="812482" y="219265"/>
                  </a:lnTo>
                  <a:lnTo>
                    <a:pt x="812482" y="220218"/>
                  </a:lnTo>
                  <a:lnTo>
                    <a:pt x="813435" y="221170"/>
                  </a:lnTo>
                  <a:lnTo>
                    <a:pt x="814387" y="222123"/>
                  </a:lnTo>
                  <a:lnTo>
                    <a:pt x="814387" y="224027"/>
                  </a:lnTo>
                  <a:lnTo>
                    <a:pt x="815339" y="224980"/>
                  </a:lnTo>
                  <a:lnTo>
                    <a:pt x="816292" y="225933"/>
                  </a:lnTo>
                </a:path>
                <a:path extrusionOk="0" h="454025" w="1089025">
                  <a:moveTo>
                    <a:pt x="245363" y="453961"/>
                  </a:moveTo>
                  <a:lnTo>
                    <a:pt x="245363" y="453961"/>
                  </a:lnTo>
                  <a:lnTo>
                    <a:pt x="491680" y="453961"/>
                  </a:lnTo>
                  <a:lnTo>
                    <a:pt x="493585" y="453009"/>
                  </a:lnTo>
                  <a:lnTo>
                    <a:pt x="503110" y="453009"/>
                  </a:lnTo>
                  <a:lnTo>
                    <a:pt x="506920" y="453009"/>
                  </a:lnTo>
                  <a:lnTo>
                    <a:pt x="508825" y="452056"/>
                  </a:lnTo>
                  <a:lnTo>
                    <a:pt x="515683" y="452056"/>
                  </a:lnTo>
                  <a:lnTo>
                    <a:pt x="518540" y="452056"/>
                  </a:lnTo>
                  <a:lnTo>
                    <a:pt x="519493" y="451103"/>
                  </a:lnTo>
                  <a:lnTo>
                    <a:pt x="521398" y="451103"/>
                  </a:lnTo>
                  <a:lnTo>
                    <a:pt x="527113" y="451103"/>
                  </a:lnTo>
                  <a:lnTo>
                    <a:pt x="528065" y="450151"/>
                  </a:lnTo>
                  <a:lnTo>
                    <a:pt x="533781" y="450151"/>
                  </a:lnTo>
                  <a:lnTo>
                    <a:pt x="535686" y="449199"/>
                  </a:lnTo>
                  <a:lnTo>
                    <a:pt x="536638" y="449199"/>
                  </a:lnTo>
                  <a:lnTo>
                    <a:pt x="538543" y="449199"/>
                  </a:lnTo>
                  <a:lnTo>
                    <a:pt x="540448" y="449199"/>
                  </a:lnTo>
                  <a:lnTo>
                    <a:pt x="541401" y="448246"/>
                  </a:lnTo>
                  <a:lnTo>
                    <a:pt x="542353" y="448246"/>
                  </a:lnTo>
                  <a:lnTo>
                    <a:pt x="544258" y="448246"/>
                  </a:lnTo>
                  <a:lnTo>
                    <a:pt x="545211" y="448246"/>
                  </a:lnTo>
                  <a:lnTo>
                    <a:pt x="546163" y="448246"/>
                  </a:lnTo>
                  <a:lnTo>
                    <a:pt x="547115" y="447294"/>
                  </a:lnTo>
                  <a:lnTo>
                    <a:pt x="551878" y="447294"/>
                  </a:lnTo>
                  <a:lnTo>
                    <a:pt x="551878" y="446341"/>
                  </a:lnTo>
                  <a:lnTo>
                    <a:pt x="552831" y="446341"/>
                  </a:lnTo>
                  <a:lnTo>
                    <a:pt x="553783" y="446341"/>
                  </a:lnTo>
                  <a:lnTo>
                    <a:pt x="554736" y="446341"/>
                  </a:lnTo>
                  <a:lnTo>
                    <a:pt x="555688" y="446341"/>
                  </a:lnTo>
                  <a:lnTo>
                    <a:pt x="556640" y="445388"/>
                  </a:lnTo>
                  <a:lnTo>
                    <a:pt x="557593" y="445388"/>
                  </a:lnTo>
                  <a:lnTo>
                    <a:pt x="558546" y="445388"/>
                  </a:lnTo>
                  <a:lnTo>
                    <a:pt x="559498" y="445388"/>
                  </a:lnTo>
                  <a:lnTo>
                    <a:pt x="560451" y="444436"/>
                  </a:lnTo>
                  <a:lnTo>
                    <a:pt x="561403" y="444436"/>
                  </a:lnTo>
                  <a:lnTo>
                    <a:pt x="562356" y="444436"/>
                  </a:lnTo>
                  <a:lnTo>
                    <a:pt x="564261" y="443484"/>
                  </a:lnTo>
                  <a:lnTo>
                    <a:pt x="565213" y="443484"/>
                  </a:lnTo>
                  <a:lnTo>
                    <a:pt x="566165" y="442531"/>
                  </a:lnTo>
                  <a:lnTo>
                    <a:pt x="568071" y="442531"/>
                  </a:lnTo>
                  <a:lnTo>
                    <a:pt x="569023" y="441578"/>
                  </a:lnTo>
                  <a:lnTo>
                    <a:pt x="570928" y="441578"/>
                  </a:lnTo>
                  <a:lnTo>
                    <a:pt x="572833" y="440626"/>
                  </a:lnTo>
                  <a:lnTo>
                    <a:pt x="574738" y="440626"/>
                  </a:lnTo>
                  <a:lnTo>
                    <a:pt x="575690" y="439674"/>
                  </a:lnTo>
                  <a:lnTo>
                    <a:pt x="577596" y="439674"/>
                  </a:lnTo>
                  <a:lnTo>
                    <a:pt x="579501" y="438721"/>
                  </a:lnTo>
                  <a:lnTo>
                    <a:pt x="580453" y="438721"/>
                  </a:lnTo>
                  <a:lnTo>
                    <a:pt x="581406" y="437769"/>
                  </a:lnTo>
                  <a:lnTo>
                    <a:pt x="583311" y="437769"/>
                  </a:lnTo>
                  <a:lnTo>
                    <a:pt x="584263" y="437769"/>
                  </a:lnTo>
                  <a:lnTo>
                    <a:pt x="585215" y="436625"/>
                  </a:lnTo>
                  <a:lnTo>
                    <a:pt x="586168" y="436625"/>
                  </a:lnTo>
                  <a:lnTo>
                    <a:pt x="587121" y="435673"/>
                  </a:lnTo>
                  <a:lnTo>
                    <a:pt x="588073" y="435673"/>
                  </a:lnTo>
                  <a:lnTo>
                    <a:pt x="589216" y="435673"/>
                  </a:lnTo>
                  <a:lnTo>
                    <a:pt x="590169" y="434721"/>
                  </a:lnTo>
                  <a:lnTo>
                    <a:pt x="591121" y="434721"/>
                  </a:lnTo>
                  <a:lnTo>
                    <a:pt x="592074" y="434721"/>
                  </a:lnTo>
                  <a:lnTo>
                    <a:pt x="592074" y="433768"/>
                  </a:lnTo>
                  <a:lnTo>
                    <a:pt x="593026" y="433768"/>
                  </a:lnTo>
                  <a:lnTo>
                    <a:pt x="593978" y="433768"/>
                  </a:lnTo>
                  <a:lnTo>
                    <a:pt x="594931" y="432815"/>
                  </a:lnTo>
                  <a:lnTo>
                    <a:pt x="595884" y="432815"/>
                  </a:lnTo>
                  <a:lnTo>
                    <a:pt x="596836" y="431863"/>
                  </a:lnTo>
                  <a:lnTo>
                    <a:pt x="597788" y="431863"/>
                  </a:lnTo>
                  <a:lnTo>
                    <a:pt x="598741" y="430911"/>
                  </a:lnTo>
                  <a:lnTo>
                    <a:pt x="599694" y="430911"/>
                  </a:lnTo>
                  <a:lnTo>
                    <a:pt x="600646" y="429958"/>
                  </a:lnTo>
                  <a:lnTo>
                    <a:pt x="601599" y="429958"/>
                  </a:lnTo>
                  <a:lnTo>
                    <a:pt x="603503" y="429006"/>
                  </a:lnTo>
                  <a:lnTo>
                    <a:pt x="604456" y="429006"/>
                  </a:lnTo>
                  <a:lnTo>
                    <a:pt x="605409" y="428053"/>
                  </a:lnTo>
                  <a:lnTo>
                    <a:pt x="607313" y="427100"/>
                  </a:lnTo>
                  <a:lnTo>
                    <a:pt x="608266" y="426148"/>
                  </a:lnTo>
                  <a:lnTo>
                    <a:pt x="610171" y="425196"/>
                  </a:lnTo>
                  <a:lnTo>
                    <a:pt x="612076" y="425196"/>
                  </a:lnTo>
                  <a:lnTo>
                    <a:pt x="613028" y="424243"/>
                  </a:lnTo>
                  <a:lnTo>
                    <a:pt x="613981" y="423290"/>
                  </a:lnTo>
                  <a:lnTo>
                    <a:pt x="614934" y="423290"/>
                  </a:lnTo>
                  <a:lnTo>
                    <a:pt x="616838" y="422338"/>
                  </a:lnTo>
                  <a:lnTo>
                    <a:pt x="617791" y="422338"/>
                  </a:lnTo>
                  <a:lnTo>
                    <a:pt x="618744" y="421386"/>
                  </a:lnTo>
                  <a:lnTo>
                    <a:pt x="619696" y="421386"/>
                  </a:lnTo>
                  <a:lnTo>
                    <a:pt x="620649" y="420433"/>
                  </a:lnTo>
                  <a:lnTo>
                    <a:pt x="621601" y="420433"/>
                  </a:lnTo>
                  <a:lnTo>
                    <a:pt x="621601" y="419481"/>
                  </a:lnTo>
                  <a:lnTo>
                    <a:pt x="622553" y="419481"/>
                  </a:lnTo>
                  <a:lnTo>
                    <a:pt x="623506" y="418528"/>
                  </a:lnTo>
                  <a:lnTo>
                    <a:pt x="624459" y="418528"/>
                  </a:lnTo>
                  <a:lnTo>
                    <a:pt x="625411" y="418528"/>
                  </a:lnTo>
                  <a:lnTo>
                    <a:pt x="625411" y="417575"/>
                  </a:lnTo>
                  <a:lnTo>
                    <a:pt x="626363" y="417575"/>
                  </a:lnTo>
                  <a:lnTo>
                    <a:pt x="627316" y="416623"/>
                  </a:lnTo>
                  <a:lnTo>
                    <a:pt x="628269" y="416623"/>
                  </a:lnTo>
                  <a:lnTo>
                    <a:pt x="629221" y="415671"/>
                  </a:lnTo>
                  <a:lnTo>
                    <a:pt x="630174" y="415671"/>
                  </a:lnTo>
                  <a:lnTo>
                    <a:pt x="631126" y="414718"/>
                  </a:lnTo>
                  <a:lnTo>
                    <a:pt x="632078" y="413765"/>
                  </a:lnTo>
                  <a:lnTo>
                    <a:pt x="633031" y="413765"/>
                  </a:lnTo>
                  <a:lnTo>
                    <a:pt x="633984" y="412813"/>
                  </a:lnTo>
                  <a:lnTo>
                    <a:pt x="634936" y="412813"/>
                  </a:lnTo>
                  <a:lnTo>
                    <a:pt x="635888" y="411861"/>
                  </a:lnTo>
                  <a:lnTo>
                    <a:pt x="637794" y="410908"/>
                  </a:lnTo>
                  <a:lnTo>
                    <a:pt x="638746" y="410908"/>
                  </a:lnTo>
                  <a:lnTo>
                    <a:pt x="639699" y="409956"/>
                  </a:lnTo>
                  <a:lnTo>
                    <a:pt x="641603" y="409003"/>
                  </a:lnTo>
                  <a:lnTo>
                    <a:pt x="642556" y="408050"/>
                  </a:lnTo>
                  <a:lnTo>
                    <a:pt x="643509" y="408050"/>
                  </a:lnTo>
                  <a:lnTo>
                    <a:pt x="645413" y="407098"/>
                  </a:lnTo>
                  <a:lnTo>
                    <a:pt x="646366" y="406146"/>
                  </a:lnTo>
                  <a:lnTo>
                    <a:pt x="647319" y="406146"/>
                  </a:lnTo>
                  <a:lnTo>
                    <a:pt x="648271" y="405193"/>
                  </a:lnTo>
                  <a:lnTo>
                    <a:pt x="649224" y="405193"/>
                  </a:lnTo>
                  <a:lnTo>
                    <a:pt x="650176" y="404240"/>
                  </a:lnTo>
                  <a:lnTo>
                    <a:pt x="651128" y="403288"/>
                  </a:lnTo>
                  <a:lnTo>
                    <a:pt x="652081" y="403288"/>
                  </a:lnTo>
                  <a:lnTo>
                    <a:pt x="653034" y="402336"/>
                  </a:lnTo>
                  <a:lnTo>
                    <a:pt x="653986" y="402336"/>
                  </a:lnTo>
                  <a:lnTo>
                    <a:pt x="654938" y="401383"/>
                  </a:lnTo>
                  <a:lnTo>
                    <a:pt x="655891" y="400431"/>
                  </a:lnTo>
                  <a:lnTo>
                    <a:pt x="656844" y="400431"/>
                  </a:lnTo>
                  <a:lnTo>
                    <a:pt x="657796" y="399478"/>
                  </a:lnTo>
                  <a:lnTo>
                    <a:pt x="658749" y="399478"/>
                  </a:lnTo>
                  <a:lnTo>
                    <a:pt x="658749" y="398525"/>
                  </a:lnTo>
                  <a:lnTo>
                    <a:pt x="659701" y="398525"/>
                  </a:lnTo>
                  <a:lnTo>
                    <a:pt x="660653" y="397573"/>
                  </a:lnTo>
                  <a:lnTo>
                    <a:pt x="661606" y="397573"/>
                  </a:lnTo>
                  <a:lnTo>
                    <a:pt x="662559" y="396621"/>
                  </a:lnTo>
                  <a:lnTo>
                    <a:pt x="663511" y="395668"/>
                  </a:lnTo>
                  <a:lnTo>
                    <a:pt x="664463" y="394715"/>
                  </a:lnTo>
                  <a:lnTo>
                    <a:pt x="666559" y="394715"/>
                  </a:lnTo>
                  <a:lnTo>
                    <a:pt x="667512" y="393763"/>
                  </a:lnTo>
                  <a:lnTo>
                    <a:pt x="668464" y="392811"/>
                  </a:lnTo>
                  <a:lnTo>
                    <a:pt x="669416" y="391858"/>
                  </a:lnTo>
                  <a:lnTo>
                    <a:pt x="670369" y="391858"/>
                  </a:lnTo>
                  <a:lnTo>
                    <a:pt x="671322" y="390906"/>
                  </a:lnTo>
                  <a:lnTo>
                    <a:pt x="672274" y="390906"/>
                  </a:lnTo>
                  <a:lnTo>
                    <a:pt x="672274" y="389953"/>
                  </a:lnTo>
                  <a:lnTo>
                    <a:pt x="673226" y="389953"/>
                  </a:lnTo>
                  <a:lnTo>
                    <a:pt x="674179" y="389000"/>
                  </a:lnTo>
                  <a:lnTo>
                    <a:pt x="675132" y="389000"/>
                  </a:lnTo>
                  <a:lnTo>
                    <a:pt x="675132" y="388048"/>
                  </a:lnTo>
                  <a:lnTo>
                    <a:pt x="676084" y="388048"/>
                  </a:lnTo>
                  <a:lnTo>
                    <a:pt x="677037" y="387096"/>
                  </a:lnTo>
                  <a:lnTo>
                    <a:pt x="677989" y="387096"/>
                  </a:lnTo>
                  <a:lnTo>
                    <a:pt x="677989" y="386143"/>
                  </a:lnTo>
                  <a:lnTo>
                    <a:pt x="678941" y="386143"/>
                  </a:lnTo>
                  <a:lnTo>
                    <a:pt x="679894" y="385190"/>
                  </a:lnTo>
                  <a:lnTo>
                    <a:pt x="680847" y="385190"/>
                  </a:lnTo>
                  <a:lnTo>
                    <a:pt x="680847" y="384238"/>
                  </a:lnTo>
                  <a:lnTo>
                    <a:pt x="681799" y="384238"/>
                  </a:lnTo>
                  <a:lnTo>
                    <a:pt x="681799" y="383286"/>
                  </a:lnTo>
                  <a:lnTo>
                    <a:pt x="682751" y="383286"/>
                  </a:lnTo>
                  <a:lnTo>
                    <a:pt x="683704" y="382333"/>
                  </a:lnTo>
                  <a:lnTo>
                    <a:pt x="684657" y="381381"/>
                  </a:lnTo>
                  <a:lnTo>
                    <a:pt x="685609" y="381381"/>
                  </a:lnTo>
                  <a:lnTo>
                    <a:pt x="685609" y="380428"/>
                  </a:lnTo>
                  <a:lnTo>
                    <a:pt x="686562" y="380428"/>
                  </a:lnTo>
                  <a:lnTo>
                    <a:pt x="687514" y="379475"/>
                  </a:lnTo>
                  <a:lnTo>
                    <a:pt x="688466" y="378523"/>
                  </a:lnTo>
                  <a:lnTo>
                    <a:pt x="689419" y="377571"/>
                  </a:lnTo>
                  <a:lnTo>
                    <a:pt x="690372" y="377571"/>
                  </a:lnTo>
                  <a:lnTo>
                    <a:pt x="690372" y="376618"/>
                  </a:lnTo>
                  <a:lnTo>
                    <a:pt x="691324" y="376618"/>
                  </a:lnTo>
                  <a:lnTo>
                    <a:pt x="692276" y="375665"/>
                  </a:lnTo>
                  <a:lnTo>
                    <a:pt x="693229" y="374713"/>
                  </a:lnTo>
                  <a:lnTo>
                    <a:pt x="694182" y="374713"/>
                  </a:lnTo>
                  <a:lnTo>
                    <a:pt x="694182" y="373761"/>
                  </a:lnTo>
                  <a:lnTo>
                    <a:pt x="695134" y="373761"/>
                  </a:lnTo>
                  <a:lnTo>
                    <a:pt x="695134" y="372808"/>
                  </a:lnTo>
                  <a:lnTo>
                    <a:pt x="696087" y="372808"/>
                  </a:lnTo>
                  <a:lnTo>
                    <a:pt x="697039" y="371856"/>
                  </a:lnTo>
                  <a:lnTo>
                    <a:pt x="697991" y="371856"/>
                  </a:lnTo>
                  <a:lnTo>
                    <a:pt x="697991" y="370903"/>
                  </a:lnTo>
                  <a:lnTo>
                    <a:pt x="698944" y="370903"/>
                  </a:lnTo>
                  <a:lnTo>
                    <a:pt x="699897" y="369950"/>
                  </a:lnTo>
                  <a:lnTo>
                    <a:pt x="700849" y="368998"/>
                  </a:lnTo>
                  <a:lnTo>
                    <a:pt x="701801" y="368998"/>
                  </a:lnTo>
                  <a:lnTo>
                    <a:pt x="701801" y="368046"/>
                  </a:lnTo>
                  <a:lnTo>
                    <a:pt x="702754" y="368046"/>
                  </a:lnTo>
                  <a:lnTo>
                    <a:pt x="703707" y="367093"/>
                  </a:lnTo>
                  <a:lnTo>
                    <a:pt x="704659" y="367093"/>
                  </a:lnTo>
                  <a:lnTo>
                    <a:pt x="705612" y="366140"/>
                  </a:lnTo>
                  <a:lnTo>
                    <a:pt x="706564" y="365188"/>
                  </a:lnTo>
                  <a:lnTo>
                    <a:pt x="707516" y="364236"/>
                  </a:lnTo>
                  <a:lnTo>
                    <a:pt x="708469" y="364236"/>
                  </a:lnTo>
                  <a:lnTo>
                    <a:pt x="709422" y="363283"/>
                  </a:lnTo>
                  <a:lnTo>
                    <a:pt x="710374" y="362331"/>
                  </a:lnTo>
                  <a:lnTo>
                    <a:pt x="711326" y="362331"/>
                  </a:lnTo>
                  <a:lnTo>
                    <a:pt x="712279" y="361378"/>
                  </a:lnTo>
                  <a:lnTo>
                    <a:pt x="713232" y="360425"/>
                  </a:lnTo>
                  <a:lnTo>
                    <a:pt x="714184" y="360425"/>
                  </a:lnTo>
                  <a:lnTo>
                    <a:pt x="714184" y="359473"/>
                  </a:lnTo>
                  <a:lnTo>
                    <a:pt x="715137" y="359473"/>
                  </a:lnTo>
                  <a:lnTo>
                    <a:pt x="715137" y="358521"/>
                  </a:lnTo>
                  <a:lnTo>
                    <a:pt x="716089" y="358521"/>
                  </a:lnTo>
                  <a:lnTo>
                    <a:pt x="716089" y="357568"/>
                  </a:lnTo>
                  <a:lnTo>
                    <a:pt x="717041" y="357568"/>
                  </a:lnTo>
                  <a:lnTo>
                    <a:pt x="717041" y="356615"/>
                  </a:lnTo>
                  <a:lnTo>
                    <a:pt x="717994" y="356615"/>
                  </a:lnTo>
                  <a:lnTo>
                    <a:pt x="717994" y="355663"/>
                  </a:lnTo>
                  <a:lnTo>
                    <a:pt x="718947" y="355663"/>
                  </a:lnTo>
                  <a:lnTo>
                    <a:pt x="719899" y="354711"/>
                  </a:lnTo>
                  <a:lnTo>
                    <a:pt x="719899" y="353758"/>
                  </a:lnTo>
                  <a:lnTo>
                    <a:pt x="720851" y="353758"/>
                  </a:lnTo>
                  <a:lnTo>
                    <a:pt x="721804" y="352806"/>
                  </a:lnTo>
                  <a:lnTo>
                    <a:pt x="722757" y="351853"/>
                  </a:lnTo>
                  <a:lnTo>
                    <a:pt x="722757" y="350900"/>
                  </a:lnTo>
                  <a:lnTo>
                    <a:pt x="723709" y="349948"/>
                  </a:lnTo>
                  <a:lnTo>
                    <a:pt x="724662" y="348996"/>
                  </a:lnTo>
                  <a:lnTo>
                    <a:pt x="725614" y="348043"/>
                  </a:lnTo>
                  <a:lnTo>
                    <a:pt x="726566" y="347090"/>
                  </a:lnTo>
                  <a:lnTo>
                    <a:pt x="727519" y="346138"/>
                  </a:lnTo>
                  <a:lnTo>
                    <a:pt x="728472" y="345186"/>
                  </a:lnTo>
                  <a:lnTo>
                    <a:pt x="729424" y="345186"/>
                  </a:lnTo>
                  <a:lnTo>
                    <a:pt x="729424" y="344233"/>
                  </a:lnTo>
                  <a:lnTo>
                    <a:pt x="730376" y="343281"/>
                  </a:lnTo>
                  <a:lnTo>
                    <a:pt x="731329" y="342328"/>
                  </a:lnTo>
                  <a:lnTo>
                    <a:pt x="732282" y="341375"/>
                  </a:lnTo>
                  <a:lnTo>
                    <a:pt x="732282" y="340423"/>
                  </a:lnTo>
                  <a:lnTo>
                    <a:pt x="733234" y="340423"/>
                  </a:lnTo>
                  <a:lnTo>
                    <a:pt x="734187" y="339471"/>
                  </a:lnTo>
                  <a:lnTo>
                    <a:pt x="735139" y="338518"/>
                  </a:lnTo>
                  <a:lnTo>
                    <a:pt x="735139" y="337565"/>
                  </a:lnTo>
                  <a:lnTo>
                    <a:pt x="736091" y="337565"/>
                  </a:lnTo>
                  <a:lnTo>
                    <a:pt x="736091" y="336613"/>
                  </a:lnTo>
                  <a:lnTo>
                    <a:pt x="737044" y="336613"/>
                  </a:lnTo>
                  <a:lnTo>
                    <a:pt x="737044" y="335661"/>
                  </a:lnTo>
                  <a:lnTo>
                    <a:pt x="737997" y="334708"/>
                  </a:lnTo>
                  <a:lnTo>
                    <a:pt x="738949" y="333756"/>
                  </a:lnTo>
                  <a:lnTo>
                    <a:pt x="739901" y="332803"/>
                  </a:lnTo>
                  <a:lnTo>
                    <a:pt x="740854" y="331850"/>
                  </a:lnTo>
                  <a:lnTo>
                    <a:pt x="741997" y="330898"/>
                  </a:lnTo>
                  <a:lnTo>
                    <a:pt x="741997" y="329946"/>
                  </a:lnTo>
                  <a:lnTo>
                    <a:pt x="742950" y="328993"/>
                  </a:lnTo>
                  <a:lnTo>
                    <a:pt x="743902" y="328040"/>
                  </a:lnTo>
                  <a:lnTo>
                    <a:pt x="744854" y="327088"/>
                  </a:lnTo>
                  <a:lnTo>
                    <a:pt x="745807" y="325183"/>
                  </a:lnTo>
                  <a:lnTo>
                    <a:pt x="746760" y="324231"/>
                  </a:lnTo>
                  <a:lnTo>
                    <a:pt x="748664" y="323278"/>
                  </a:lnTo>
                  <a:lnTo>
                    <a:pt x="749617" y="321373"/>
                  </a:lnTo>
                  <a:lnTo>
                    <a:pt x="750570" y="320421"/>
                  </a:lnTo>
                  <a:lnTo>
                    <a:pt x="751522" y="319468"/>
                  </a:lnTo>
                  <a:lnTo>
                    <a:pt x="751522" y="318515"/>
                  </a:lnTo>
                  <a:lnTo>
                    <a:pt x="752475" y="317563"/>
                  </a:lnTo>
                  <a:lnTo>
                    <a:pt x="753427" y="316611"/>
                  </a:lnTo>
                  <a:lnTo>
                    <a:pt x="754379" y="315658"/>
                  </a:lnTo>
                  <a:lnTo>
                    <a:pt x="755332" y="314706"/>
                  </a:lnTo>
                  <a:lnTo>
                    <a:pt x="755332" y="313753"/>
                  </a:lnTo>
                  <a:lnTo>
                    <a:pt x="756285" y="312800"/>
                  </a:lnTo>
                  <a:lnTo>
                    <a:pt x="757237" y="312800"/>
                  </a:lnTo>
                  <a:lnTo>
                    <a:pt x="757237" y="311848"/>
                  </a:lnTo>
                  <a:lnTo>
                    <a:pt x="758189" y="310896"/>
                  </a:lnTo>
                  <a:lnTo>
                    <a:pt x="758189" y="309943"/>
                  </a:lnTo>
                  <a:lnTo>
                    <a:pt x="759142" y="309943"/>
                  </a:lnTo>
                  <a:lnTo>
                    <a:pt x="760095" y="308990"/>
                  </a:lnTo>
                  <a:lnTo>
                    <a:pt x="760095" y="308038"/>
                  </a:lnTo>
                  <a:lnTo>
                    <a:pt x="761047" y="307086"/>
                  </a:lnTo>
                  <a:lnTo>
                    <a:pt x="761047" y="306133"/>
                  </a:lnTo>
                  <a:lnTo>
                    <a:pt x="762000" y="306133"/>
                  </a:lnTo>
                  <a:lnTo>
                    <a:pt x="762952" y="305181"/>
                  </a:lnTo>
                  <a:lnTo>
                    <a:pt x="762952" y="304228"/>
                  </a:lnTo>
                  <a:lnTo>
                    <a:pt x="763904" y="303275"/>
                  </a:lnTo>
                  <a:lnTo>
                    <a:pt x="764857" y="302323"/>
                  </a:lnTo>
                  <a:lnTo>
                    <a:pt x="765810" y="301371"/>
                  </a:lnTo>
                  <a:lnTo>
                    <a:pt x="765810" y="299465"/>
                  </a:lnTo>
                  <a:lnTo>
                    <a:pt x="766762" y="298513"/>
                  </a:lnTo>
                  <a:lnTo>
                    <a:pt x="767714" y="297561"/>
                  </a:lnTo>
                  <a:lnTo>
                    <a:pt x="768667" y="295656"/>
                  </a:lnTo>
                  <a:lnTo>
                    <a:pt x="769620" y="294703"/>
                  </a:lnTo>
                  <a:lnTo>
                    <a:pt x="770572" y="292798"/>
                  </a:lnTo>
                  <a:lnTo>
                    <a:pt x="772477" y="291846"/>
                  </a:lnTo>
                  <a:lnTo>
                    <a:pt x="773429" y="289940"/>
                  </a:lnTo>
                  <a:lnTo>
                    <a:pt x="774382" y="288988"/>
                  </a:lnTo>
                  <a:lnTo>
                    <a:pt x="775335" y="288036"/>
                  </a:lnTo>
                  <a:lnTo>
                    <a:pt x="775335" y="286131"/>
                  </a:lnTo>
                  <a:lnTo>
                    <a:pt x="776287" y="285178"/>
                  </a:lnTo>
                  <a:lnTo>
                    <a:pt x="777239" y="284035"/>
                  </a:lnTo>
                  <a:lnTo>
                    <a:pt x="778192" y="283083"/>
                  </a:lnTo>
                  <a:lnTo>
                    <a:pt x="779145" y="282130"/>
                  </a:lnTo>
                  <a:lnTo>
                    <a:pt x="779145" y="281177"/>
                  </a:lnTo>
                  <a:lnTo>
                    <a:pt x="780097" y="280225"/>
                  </a:lnTo>
                  <a:lnTo>
                    <a:pt x="781050" y="279273"/>
                  </a:lnTo>
                  <a:lnTo>
                    <a:pt x="781050" y="278320"/>
                  </a:lnTo>
                  <a:lnTo>
                    <a:pt x="782002" y="277368"/>
                  </a:lnTo>
                  <a:lnTo>
                    <a:pt x="782954" y="276415"/>
                  </a:lnTo>
                  <a:lnTo>
                    <a:pt x="783907" y="275463"/>
                  </a:lnTo>
                  <a:lnTo>
                    <a:pt x="783907" y="274510"/>
                  </a:lnTo>
                  <a:lnTo>
                    <a:pt x="784860" y="273558"/>
                  </a:lnTo>
                  <a:lnTo>
                    <a:pt x="784860" y="272605"/>
                  </a:lnTo>
                  <a:lnTo>
                    <a:pt x="785812" y="271652"/>
                  </a:lnTo>
                  <a:lnTo>
                    <a:pt x="786764" y="271652"/>
                  </a:lnTo>
                  <a:lnTo>
                    <a:pt x="787717" y="270700"/>
                  </a:lnTo>
                  <a:lnTo>
                    <a:pt x="787717" y="268795"/>
                  </a:lnTo>
                  <a:lnTo>
                    <a:pt x="788670" y="267843"/>
                  </a:lnTo>
                  <a:lnTo>
                    <a:pt x="789622" y="266890"/>
                  </a:lnTo>
                  <a:lnTo>
                    <a:pt x="790575" y="265938"/>
                  </a:lnTo>
                  <a:lnTo>
                    <a:pt x="791527" y="264985"/>
                  </a:lnTo>
                  <a:lnTo>
                    <a:pt x="792479" y="263080"/>
                  </a:lnTo>
                  <a:lnTo>
                    <a:pt x="793432" y="262127"/>
                  </a:lnTo>
                  <a:lnTo>
                    <a:pt x="794385" y="260223"/>
                  </a:lnTo>
                  <a:lnTo>
                    <a:pt x="795337" y="259270"/>
                  </a:lnTo>
                  <a:lnTo>
                    <a:pt x="796289" y="257365"/>
                  </a:lnTo>
                  <a:lnTo>
                    <a:pt x="797242" y="255460"/>
                  </a:lnTo>
                  <a:lnTo>
                    <a:pt x="798195" y="254508"/>
                  </a:lnTo>
                  <a:lnTo>
                    <a:pt x="799147" y="253555"/>
                  </a:lnTo>
                  <a:lnTo>
                    <a:pt x="800100" y="251650"/>
                  </a:lnTo>
                  <a:lnTo>
                    <a:pt x="801052" y="250698"/>
                  </a:lnTo>
                  <a:lnTo>
                    <a:pt x="802004" y="249745"/>
                  </a:lnTo>
                  <a:lnTo>
                    <a:pt x="802957" y="248793"/>
                  </a:lnTo>
                  <a:lnTo>
                    <a:pt x="802957" y="247840"/>
                  </a:lnTo>
                  <a:lnTo>
                    <a:pt x="803910" y="246887"/>
                  </a:lnTo>
                  <a:lnTo>
                    <a:pt x="804862" y="245935"/>
                  </a:lnTo>
                  <a:lnTo>
                    <a:pt x="804862" y="244983"/>
                  </a:lnTo>
                  <a:lnTo>
                    <a:pt x="805814" y="244030"/>
                  </a:lnTo>
                  <a:lnTo>
                    <a:pt x="806767" y="243077"/>
                  </a:lnTo>
                  <a:lnTo>
                    <a:pt x="807720" y="242125"/>
                  </a:lnTo>
                  <a:lnTo>
                    <a:pt x="807720" y="241173"/>
                  </a:lnTo>
                  <a:lnTo>
                    <a:pt x="808672" y="240220"/>
                  </a:lnTo>
                  <a:lnTo>
                    <a:pt x="809625" y="239268"/>
                  </a:lnTo>
                  <a:lnTo>
                    <a:pt x="809625" y="238315"/>
                  </a:lnTo>
                  <a:lnTo>
                    <a:pt x="810577" y="237362"/>
                  </a:lnTo>
                  <a:lnTo>
                    <a:pt x="810577" y="236410"/>
                  </a:lnTo>
                  <a:lnTo>
                    <a:pt x="811529" y="235458"/>
                  </a:lnTo>
                  <a:lnTo>
                    <a:pt x="812482" y="234505"/>
                  </a:lnTo>
                  <a:lnTo>
                    <a:pt x="812482" y="233552"/>
                  </a:lnTo>
                  <a:lnTo>
                    <a:pt x="813435" y="231648"/>
                  </a:lnTo>
                  <a:lnTo>
                    <a:pt x="814387" y="230695"/>
                  </a:lnTo>
                  <a:lnTo>
                    <a:pt x="814387" y="229743"/>
                  </a:lnTo>
                  <a:lnTo>
                    <a:pt x="815339" y="228790"/>
                  </a:lnTo>
                  <a:lnTo>
                    <a:pt x="816292" y="226885"/>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9" name="Google Shape;459;g1ead90bba03_0_366"/>
            <p:cNvSpPr txBox="1"/>
            <p:nvPr/>
          </p:nvSpPr>
          <p:spPr>
            <a:xfrm>
              <a:off x="3320684" y="1660286"/>
              <a:ext cx="85800" cy="4722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0" name="Google Shape;460;g1ead90bba03_0_366"/>
            <p:cNvSpPr/>
            <p:nvPr/>
          </p:nvSpPr>
          <p:spPr>
            <a:xfrm>
              <a:off x="4544377" y="2217610"/>
              <a:ext cx="447039" cy="446405"/>
            </a:xfrm>
            <a:custGeom>
              <a:rect b="b" l="l" r="r" t="t"/>
              <a:pathLst>
                <a:path extrusionOk="0" h="446405" w="447039">
                  <a:moveTo>
                    <a:pt x="223456" y="0"/>
                  </a:moveTo>
                  <a:lnTo>
                    <a:pt x="212026" y="952"/>
                  </a:lnTo>
                  <a:lnTo>
                    <a:pt x="200596" y="1904"/>
                  </a:lnTo>
                  <a:lnTo>
                    <a:pt x="188975" y="2857"/>
                  </a:lnTo>
                  <a:lnTo>
                    <a:pt x="147065" y="14287"/>
                  </a:lnTo>
                  <a:lnTo>
                    <a:pt x="127063" y="22860"/>
                  </a:lnTo>
                  <a:lnTo>
                    <a:pt x="117348" y="27622"/>
                  </a:lnTo>
                  <a:lnTo>
                    <a:pt x="107823" y="32385"/>
                  </a:lnTo>
                  <a:lnTo>
                    <a:pt x="98298" y="38100"/>
                  </a:lnTo>
                  <a:lnTo>
                    <a:pt x="89725" y="44957"/>
                  </a:lnTo>
                  <a:lnTo>
                    <a:pt x="81152" y="51625"/>
                  </a:lnTo>
                  <a:lnTo>
                    <a:pt x="73533" y="58292"/>
                  </a:lnTo>
                  <a:lnTo>
                    <a:pt x="65912" y="65912"/>
                  </a:lnTo>
                  <a:lnTo>
                    <a:pt x="58293" y="73532"/>
                  </a:lnTo>
                  <a:lnTo>
                    <a:pt x="51625" y="82105"/>
                  </a:lnTo>
                  <a:lnTo>
                    <a:pt x="44767" y="89725"/>
                  </a:lnTo>
                  <a:lnTo>
                    <a:pt x="38100" y="99250"/>
                  </a:lnTo>
                  <a:lnTo>
                    <a:pt x="32385" y="107823"/>
                  </a:lnTo>
                  <a:lnTo>
                    <a:pt x="26670" y="117348"/>
                  </a:lnTo>
                  <a:lnTo>
                    <a:pt x="21907" y="126873"/>
                  </a:lnTo>
                  <a:lnTo>
                    <a:pt x="17145" y="136398"/>
                  </a:lnTo>
                  <a:lnTo>
                    <a:pt x="13335" y="146875"/>
                  </a:lnTo>
                  <a:lnTo>
                    <a:pt x="10477" y="157352"/>
                  </a:lnTo>
                  <a:lnTo>
                    <a:pt x="6667" y="167830"/>
                  </a:lnTo>
                  <a:lnTo>
                    <a:pt x="4762" y="178307"/>
                  </a:lnTo>
                  <a:lnTo>
                    <a:pt x="2857" y="189737"/>
                  </a:lnTo>
                  <a:lnTo>
                    <a:pt x="952" y="201358"/>
                  </a:lnTo>
                  <a:lnTo>
                    <a:pt x="0" y="211836"/>
                  </a:lnTo>
                  <a:lnTo>
                    <a:pt x="0" y="223265"/>
                  </a:lnTo>
                  <a:lnTo>
                    <a:pt x="0" y="235648"/>
                  </a:lnTo>
                  <a:lnTo>
                    <a:pt x="952" y="246125"/>
                  </a:lnTo>
                  <a:lnTo>
                    <a:pt x="2857" y="257555"/>
                  </a:lnTo>
                  <a:lnTo>
                    <a:pt x="4762" y="268986"/>
                  </a:lnTo>
                  <a:lnTo>
                    <a:pt x="6667" y="279463"/>
                  </a:lnTo>
                  <a:lnTo>
                    <a:pt x="10477" y="289940"/>
                  </a:lnTo>
                  <a:lnTo>
                    <a:pt x="13335" y="300418"/>
                  </a:lnTo>
                  <a:lnTo>
                    <a:pt x="17145" y="310896"/>
                  </a:lnTo>
                  <a:lnTo>
                    <a:pt x="21907" y="320421"/>
                  </a:lnTo>
                  <a:lnTo>
                    <a:pt x="26670" y="329946"/>
                  </a:lnTo>
                  <a:lnTo>
                    <a:pt x="32385" y="339471"/>
                  </a:lnTo>
                  <a:lnTo>
                    <a:pt x="38100" y="348234"/>
                  </a:lnTo>
                  <a:lnTo>
                    <a:pt x="44767" y="357759"/>
                  </a:lnTo>
                  <a:lnTo>
                    <a:pt x="51625" y="365378"/>
                  </a:lnTo>
                  <a:lnTo>
                    <a:pt x="58293" y="373951"/>
                  </a:lnTo>
                  <a:lnTo>
                    <a:pt x="65912" y="381571"/>
                  </a:lnTo>
                  <a:lnTo>
                    <a:pt x="73533" y="389191"/>
                  </a:lnTo>
                  <a:lnTo>
                    <a:pt x="81152" y="395859"/>
                  </a:lnTo>
                  <a:lnTo>
                    <a:pt x="89725" y="402526"/>
                  </a:lnTo>
                  <a:lnTo>
                    <a:pt x="98298" y="409193"/>
                  </a:lnTo>
                  <a:lnTo>
                    <a:pt x="107823" y="414909"/>
                  </a:lnTo>
                  <a:lnTo>
                    <a:pt x="117348" y="419671"/>
                  </a:lnTo>
                  <a:lnTo>
                    <a:pt x="127063" y="424434"/>
                  </a:lnTo>
                  <a:lnTo>
                    <a:pt x="136588" y="429196"/>
                  </a:lnTo>
                  <a:lnTo>
                    <a:pt x="147065" y="433006"/>
                  </a:lnTo>
                  <a:lnTo>
                    <a:pt x="157543" y="436816"/>
                  </a:lnTo>
                  <a:lnTo>
                    <a:pt x="168021" y="439674"/>
                  </a:lnTo>
                  <a:lnTo>
                    <a:pt x="178498" y="442531"/>
                  </a:lnTo>
                  <a:lnTo>
                    <a:pt x="188975" y="444436"/>
                  </a:lnTo>
                  <a:lnTo>
                    <a:pt x="200596" y="445388"/>
                  </a:lnTo>
                  <a:lnTo>
                    <a:pt x="212026" y="446341"/>
                  </a:lnTo>
                  <a:lnTo>
                    <a:pt x="223456" y="446341"/>
                  </a:lnTo>
                  <a:lnTo>
                    <a:pt x="234886" y="446341"/>
                  </a:lnTo>
                  <a:lnTo>
                    <a:pt x="246316" y="445388"/>
                  </a:lnTo>
                  <a:lnTo>
                    <a:pt x="290322" y="436816"/>
                  </a:lnTo>
                  <a:lnTo>
                    <a:pt x="330326" y="419671"/>
                  </a:lnTo>
                  <a:lnTo>
                    <a:pt x="365760" y="395859"/>
                  </a:lnTo>
                  <a:lnTo>
                    <a:pt x="388620" y="373951"/>
                  </a:lnTo>
                  <a:lnTo>
                    <a:pt x="396239" y="365378"/>
                  </a:lnTo>
                  <a:lnTo>
                    <a:pt x="402907" y="357759"/>
                  </a:lnTo>
                  <a:lnTo>
                    <a:pt x="408622" y="348234"/>
                  </a:lnTo>
                  <a:lnTo>
                    <a:pt x="414337" y="339471"/>
                  </a:lnTo>
                  <a:lnTo>
                    <a:pt x="420052" y="329946"/>
                  </a:lnTo>
                  <a:lnTo>
                    <a:pt x="424814" y="320421"/>
                  </a:lnTo>
                  <a:lnTo>
                    <a:pt x="429768" y="310896"/>
                  </a:lnTo>
                  <a:lnTo>
                    <a:pt x="433577" y="300418"/>
                  </a:lnTo>
                  <a:lnTo>
                    <a:pt x="437388" y="289940"/>
                  </a:lnTo>
                  <a:lnTo>
                    <a:pt x="440245" y="279463"/>
                  </a:lnTo>
                  <a:lnTo>
                    <a:pt x="442150" y="268986"/>
                  </a:lnTo>
                  <a:lnTo>
                    <a:pt x="444055" y="257555"/>
                  </a:lnTo>
                  <a:lnTo>
                    <a:pt x="445960" y="246125"/>
                  </a:lnTo>
                  <a:lnTo>
                    <a:pt x="446913" y="235648"/>
                  </a:lnTo>
                  <a:lnTo>
                    <a:pt x="446913" y="223265"/>
                  </a:lnTo>
                  <a:lnTo>
                    <a:pt x="446913" y="211836"/>
                  </a:lnTo>
                  <a:lnTo>
                    <a:pt x="445960" y="201358"/>
                  </a:lnTo>
                  <a:lnTo>
                    <a:pt x="437388" y="157352"/>
                  </a:lnTo>
                  <a:lnTo>
                    <a:pt x="433577" y="146875"/>
                  </a:lnTo>
                  <a:lnTo>
                    <a:pt x="429768" y="136398"/>
                  </a:lnTo>
                  <a:lnTo>
                    <a:pt x="424814" y="126873"/>
                  </a:lnTo>
                  <a:lnTo>
                    <a:pt x="420052" y="117348"/>
                  </a:lnTo>
                  <a:lnTo>
                    <a:pt x="414337" y="107823"/>
                  </a:lnTo>
                  <a:lnTo>
                    <a:pt x="408622" y="99250"/>
                  </a:lnTo>
                  <a:lnTo>
                    <a:pt x="402907" y="89725"/>
                  </a:lnTo>
                  <a:lnTo>
                    <a:pt x="396239" y="82105"/>
                  </a:lnTo>
                  <a:lnTo>
                    <a:pt x="388620" y="73532"/>
                  </a:lnTo>
                  <a:lnTo>
                    <a:pt x="381952" y="65912"/>
                  </a:lnTo>
                  <a:lnTo>
                    <a:pt x="373380" y="58292"/>
                  </a:lnTo>
                  <a:lnTo>
                    <a:pt x="365760" y="51625"/>
                  </a:lnTo>
                  <a:lnTo>
                    <a:pt x="357187" y="44957"/>
                  </a:lnTo>
                  <a:lnTo>
                    <a:pt x="348424" y="38100"/>
                  </a:lnTo>
                  <a:lnTo>
                    <a:pt x="310324" y="18097"/>
                  </a:lnTo>
                  <a:lnTo>
                    <a:pt x="268224" y="4762"/>
                  </a:lnTo>
                  <a:lnTo>
                    <a:pt x="234886" y="952"/>
                  </a:lnTo>
                  <a:lnTo>
                    <a:pt x="223456" y="0"/>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1" name="Google Shape;461;g1ead90bba03_0_366"/>
            <p:cNvSpPr/>
            <p:nvPr/>
          </p:nvSpPr>
          <p:spPr>
            <a:xfrm>
              <a:off x="4465129" y="2214752"/>
              <a:ext cx="306070" cy="438785"/>
            </a:xfrm>
            <a:custGeom>
              <a:rect b="b" l="l" r="r" t="t"/>
              <a:pathLst>
                <a:path extrusionOk="0" h="438785" w="306070">
                  <a:moveTo>
                    <a:pt x="305562" y="0"/>
                  </a:moveTo>
                  <a:lnTo>
                    <a:pt x="0" y="0"/>
                  </a:lnTo>
                  <a:lnTo>
                    <a:pt x="0" y="438721"/>
                  </a:lnTo>
                  <a:lnTo>
                    <a:pt x="305562" y="438721"/>
                  </a:lnTo>
                  <a:lnTo>
                    <a:pt x="30556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2" name="Google Shape;462;g1ead90bba03_0_366"/>
            <p:cNvSpPr/>
            <p:nvPr/>
          </p:nvSpPr>
          <p:spPr>
            <a:xfrm>
              <a:off x="2555367" y="2214752"/>
              <a:ext cx="3857625" cy="4006215"/>
            </a:xfrm>
            <a:custGeom>
              <a:rect b="b" l="l" r="r" t="t"/>
              <a:pathLst>
                <a:path extrusionOk="0" h="4006215" w="3857625">
                  <a:moveTo>
                    <a:pt x="2215324" y="438721"/>
                  </a:moveTo>
                  <a:lnTo>
                    <a:pt x="1909762" y="438721"/>
                  </a:lnTo>
                  <a:lnTo>
                    <a:pt x="1909762" y="0"/>
                  </a:lnTo>
                  <a:lnTo>
                    <a:pt x="2215324" y="0"/>
                  </a:lnTo>
                </a:path>
                <a:path extrusionOk="0" h="4006215" w="3857625">
                  <a:moveTo>
                    <a:pt x="1890712" y="95440"/>
                  </a:moveTo>
                  <a:lnTo>
                    <a:pt x="1623250" y="95440"/>
                  </a:lnTo>
                </a:path>
                <a:path extrusionOk="0" h="4006215" w="3857625">
                  <a:moveTo>
                    <a:pt x="1890712" y="362521"/>
                  </a:moveTo>
                  <a:lnTo>
                    <a:pt x="1623250" y="362521"/>
                  </a:lnTo>
                </a:path>
                <a:path extrusionOk="0" h="4006215" w="3857625">
                  <a:moveTo>
                    <a:pt x="2711767" y="228981"/>
                  </a:moveTo>
                  <a:lnTo>
                    <a:pt x="2444496" y="228981"/>
                  </a:lnTo>
                </a:path>
                <a:path extrusionOk="0" h="4006215" w="3857625">
                  <a:moveTo>
                    <a:pt x="0" y="4005643"/>
                  </a:moveTo>
                  <a:lnTo>
                    <a:pt x="2711767" y="4005643"/>
                  </a:lnTo>
                  <a:lnTo>
                    <a:pt x="2711767" y="1297114"/>
                  </a:lnTo>
                  <a:lnTo>
                    <a:pt x="3857625" y="1297114"/>
                  </a:lnTo>
                  <a:lnTo>
                    <a:pt x="3857625" y="1030033"/>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3" name="Google Shape;463;g1ead90bba03_0_366"/>
            <p:cNvSpPr txBox="1"/>
            <p:nvPr/>
          </p:nvSpPr>
          <p:spPr>
            <a:xfrm>
              <a:off x="5239019" y="6192090"/>
              <a:ext cx="56400" cy="564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4" name="Google Shape;464;g1ead90bba03_0_366"/>
            <p:cNvSpPr/>
            <p:nvPr/>
          </p:nvSpPr>
          <p:spPr>
            <a:xfrm>
              <a:off x="6069330" y="2157603"/>
              <a:ext cx="687704" cy="1087755"/>
            </a:xfrm>
            <a:custGeom>
              <a:rect b="b" l="l" r="r" t="t"/>
              <a:pathLst>
                <a:path extrusionOk="0" h="1087755" w="687704">
                  <a:moveTo>
                    <a:pt x="0" y="0"/>
                  </a:moveTo>
                  <a:lnTo>
                    <a:pt x="687514" y="0"/>
                  </a:lnTo>
                  <a:lnTo>
                    <a:pt x="687514" y="1087183"/>
                  </a:lnTo>
                  <a:lnTo>
                    <a:pt x="0" y="1087183"/>
                  </a:lnTo>
                  <a:lnTo>
                    <a:pt x="0" y="0"/>
                  </a:lnTo>
                  <a:close/>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65" name="Google Shape;465;g1ead90bba03_0_366"/>
          <p:cNvSpPr txBox="1"/>
          <p:nvPr/>
        </p:nvSpPr>
        <p:spPr>
          <a:xfrm>
            <a:off x="6157467" y="2647840"/>
            <a:ext cx="465000" cy="201300"/>
          </a:xfrm>
          <a:prstGeom prst="rect">
            <a:avLst/>
          </a:prstGeom>
          <a:noFill/>
          <a:ln>
            <a:noFill/>
          </a:ln>
        </p:spPr>
        <p:txBody>
          <a:bodyPr anchorCtr="0" anchor="t" bIns="0" lIns="0" spcFirstLastPara="1" rIns="0" wrap="square" tIns="16500">
            <a:sp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      Q</a:t>
            </a:r>
            <a:endParaRPr b="0" i="0" sz="1400" u="none" cap="none" strike="noStrike">
              <a:solidFill>
                <a:srgbClr val="000000"/>
              </a:solidFill>
              <a:latin typeface="Arial"/>
              <a:ea typeface="Arial"/>
              <a:cs typeface="Arial"/>
              <a:sym typeface="Arial"/>
            </a:endParaRPr>
          </a:p>
        </p:txBody>
      </p:sp>
      <p:grpSp>
        <p:nvGrpSpPr>
          <p:cNvPr id="466" name="Google Shape;466;g1ead90bba03_0_366"/>
          <p:cNvGrpSpPr/>
          <p:nvPr/>
        </p:nvGrpSpPr>
        <p:grpSpPr>
          <a:xfrm>
            <a:off x="3010949" y="2314949"/>
            <a:ext cx="3685282" cy="3373603"/>
            <a:chOff x="2555367" y="1890521"/>
            <a:chExt cx="4201667" cy="4330129"/>
          </a:xfrm>
        </p:grpSpPr>
        <p:sp>
          <p:nvSpPr>
            <p:cNvPr id="467" name="Google Shape;467;g1ead90bba03_0_366"/>
            <p:cNvSpPr/>
            <p:nvPr/>
          </p:nvSpPr>
          <p:spPr>
            <a:xfrm>
              <a:off x="6069330" y="2882455"/>
              <a:ext cx="573404" cy="172085"/>
            </a:xfrm>
            <a:custGeom>
              <a:rect b="b" l="l" r="r" t="t"/>
              <a:pathLst>
                <a:path extrusionOk="0" h="172085" w="573404">
                  <a:moveTo>
                    <a:pt x="572833" y="0"/>
                  </a:moveTo>
                  <a:lnTo>
                    <a:pt x="496443" y="0"/>
                  </a:lnTo>
                </a:path>
                <a:path extrusionOk="0" h="172085" w="573404">
                  <a:moveTo>
                    <a:pt x="0" y="171640"/>
                  </a:moveTo>
                  <a:lnTo>
                    <a:pt x="133731" y="95250"/>
                  </a:lnTo>
                  <a:lnTo>
                    <a:pt x="0" y="19050"/>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8" name="Google Shape;468;g1ead90bba03_0_366"/>
            <p:cNvSpPr txBox="1"/>
            <p:nvPr/>
          </p:nvSpPr>
          <p:spPr>
            <a:xfrm>
              <a:off x="6362969" y="3252866"/>
              <a:ext cx="105000" cy="1050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9" name="Google Shape;469;g1ead90bba03_0_366"/>
            <p:cNvSpPr/>
            <p:nvPr/>
          </p:nvSpPr>
          <p:spPr>
            <a:xfrm>
              <a:off x="4178617" y="1890521"/>
              <a:ext cx="1891029" cy="2929254"/>
            </a:xfrm>
            <a:custGeom>
              <a:rect b="b" l="l" r="r" t="t"/>
              <a:pathLst>
                <a:path extrusionOk="0" h="2929254" w="1891029">
                  <a:moveTo>
                    <a:pt x="0" y="419671"/>
                  </a:moveTo>
                  <a:lnTo>
                    <a:pt x="0" y="0"/>
                  </a:lnTo>
                </a:path>
                <a:path extrusionOk="0" h="2929254" w="1891029">
                  <a:moveTo>
                    <a:pt x="1890712" y="553212"/>
                  </a:moveTo>
                  <a:lnTo>
                    <a:pt x="1088517" y="553212"/>
                  </a:lnTo>
                </a:path>
                <a:path extrusionOk="0" h="2929254" w="1891029">
                  <a:moveTo>
                    <a:pt x="321754" y="2482405"/>
                  </a:moveTo>
                  <a:lnTo>
                    <a:pt x="310324" y="2483357"/>
                  </a:lnTo>
                  <a:lnTo>
                    <a:pt x="298894" y="2484310"/>
                  </a:lnTo>
                  <a:lnTo>
                    <a:pt x="287464" y="2485263"/>
                  </a:lnTo>
                  <a:lnTo>
                    <a:pt x="276987" y="2487167"/>
                  </a:lnTo>
                  <a:lnTo>
                    <a:pt x="266509" y="2490025"/>
                  </a:lnTo>
                  <a:lnTo>
                    <a:pt x="255841" y="2492882"/>
                  </a:lnTo>
                  <a:lnTo>
                    <a:pt x="245364" y="2496883"/>
                  </a:lnTo>
                  <a:lnTo>
                    <a:pt x="234886" y="2500693"/>
                  </a:lnTo>
                  <a:lnTo>
                    <a:pt x="225361" y="2505455"/>
                  </a:lnTo>
                  <a:lnTo>
                    <a:pt x="215836" y="2510218"/>
                  </a:lnTo>
                  <a:lnTo>
                    <a:pt x="206311" y="2514980"/>
                  </a:lnTo>
                  <a:lnTo>
                    <a:pt x="196786" y="2520695"/>
                  </a:lnTo>
                  <a:lnTo>
                    <a:pt x="188214" y="2527363"/>
                  </a:lnTo>
                  <a:lnTo>
                    <a:pt x="179450" y="2534030"/>
                  </a:lnTo>
                  <a:lnTo>
                    <a:pt x="171831" y="2540698"/>
                  </a:lnTo>
                  <a:lnTo>
                    <a:pt x="164211" y="2548318"/>
                  </a:lnTo>
                  <a:lnTo>
                    <a:pt x="156591" y="2555938"/>
                  </a:lnTo>
                  <a:lnTo>
                    <a:pt x="149923" y="2564511"/>
                  </a:lnTo>
                  <a:lnTo>
                    <a:pt x="143256" y="2572130"/>
                  </a:lnTo>
                  <a:lnTo>
                    <a:pt x="136588" y="2581655"/>
                  </a:lnTo>
                  <a:lnTo>
                    <a:pt x="130873" y="2590228"/>
                  </a:lnTo>
                  <a:lnTo>
                    <a:pt x="125158" y="2599753"/>
                  </a:lnTo>
                  <a:lnTo>
                    <a:pt x="120396" y="2609278"/>
                  </a:lnTo>
                  <a:lnTo>
                    <a:pt x="115633" y="2618803"/>
                  </a:lnTo>
                  <a:lnTo>
                    <a:pt x="111823" y="2629280"/>
                  </a:lnTo>
                  <a:lnTo>
                    <a:pt x="108966" y="2639758"/>
                  </a:lnTo>
                  <a:lnTo>
                    <a:pt x="104965" y="2650426"/>
                  </a:lnTo>
                  <a:lnTo>
                    <a:pt x="103060" y="2660904"/>
                  </a:lnTo>
                  <a:lnTo>
                    <a:pt x="101155" y="2672334"/>
                  </a:lnTo>
                  <a:lnTo>
                    <a:pt x="99250" y="2683764"/>
                  </a:lnTo>
                  <a:lnTo>
                    <a:pt x="98298" y="2694241"/>
                  </a:lnTo>
                  <a:lnTo>
                    <a:pt x="98298" y="2705671"/>
                  </a:lnTo>
                  <a:lnTo>
                    <a:pt x="98298" y="2718054"/>
                  </a:lnTo>
                  <a:lnTo>
                    <a:pt x="99250" y="2728531"/>
                  </a:lnTo>
                  <a:lnTo>
                    <a:pt x="101155" y="2739961"/>
                  </a:lnTo>
                  <a:lnTo>
                    <a:pt x="103060" y="2751391"/>
                  </a:lnTo>
                  <a:lnTo>
                    <a:pt x="104965" y="2761869"/>
                  </a:lnTo>
                  <a:lnTo>
                    <a:pt x="108966" y="2772346"/>
                  </a:lnTo>
                  <a:lnTo>
                    <a:pt x="111823" y="2782823"/>
                  </a:lnTo>
                  <a:lnTo>
                    <a:pt x="130873" y="2822066"/>
                  </a:lnTo>
                  <a:lnTo>
                    <a:pt x="143256" y="2839211"/>
                  </a:lnTo>
                  <a:lnTo>
                    <a:pt x="149923" y="2847784"/>
                  </a:lnTo>
                  <a:lnTo>
                    <a:pt x="179450" y="2878264"/>
                  </a:lnTo>
                  <a:lnTo>
                    <a:pt x="188214" y="2884932"/>
                  </a:lnTo>
                  <a:lnTo>
                    <a:pt x="196786" y="2891599"/>
                  </a:lnTo>
                  <a:lnTo>
                    <a:pt x="206311" y="2897314"/>
                  </a:lnTo>
                  <a:lnTo>
                    <a:pt x="215836" y="2902077"/>
                  </a:lnTo>
                  <a:lnTo>
                    <a:pt x="225361" y="2906839"/>
                  </a:lnTo>
                  <a:lnTo>
                    <a:pt x="234886" y="2911602"/>
                  </a:lnTo>
                  <a:lnTo>
                    <a:pt x="245364" y="2915411"/>
                  </a:lnTo>
                  <a:lnTo>
                    <a:pt x="255841" y="2919222"/>
                  </a:lnTo>
                  <a:lnTo>
                    <a:pt x="266509" y="2922079"/>
                  </a:lnTo>
                  <a:lnTo>
                    <a:pt x="276987" y="2924936"/>
                  </a:lnTo>
                  <a:lnTo>
                    <a:pt x="287464" y="2926841"/>
                  </a:lnTo>
                  <a:lnTo>
                    <a:pt x="298894" y="2927794"/>
                  </a:lnTo>
                  <a:lnTo>
                    <a:pt x="310324" y="2928747"/>
                  </a:lnTo>
                  <a:lnTo>
                    <a:pt x="321754" y="2928747"/>
                  </a:lnTo>
                  <a:lnTo>
                    <a:pt x="333184" y="2928747"/>
                  </a:lnTo>
                  <a:lnTo>
                    <a:pt x="344805" y="2927794"/>
                  </a:lnTo>
                  <a:lnTo>
                    <a:pt x="388620" y="2919222"/>
                  </a:lnTo>
                  <a:lnTo>
                    <a:pt x="428815" y="2902077"/>
                  </a:lnTo>
                  <a:lnTo>
                    <a:pt x="464058" y="2878264"/>
                  </a:lnTo>
                  <a:lnTo>
                    <a:pt x="486918" y="2856357"/>
                  </a:lnTo>
                  <a:lnTo>
                    <a:pt x="494728" y="2847784"/>
                  </a:lnTo>
                  <a:lnTo>
                    <a:pt x="518541" y="2812541"/>
                  </a:lnTo>
                  <a:lnTo>
                    <a:pt x="531876" y="2782823"/>
                  </a:lnTo>
                  <a:lnTo>
                    <a:pt x="535686" y="2772346"/>
                  </a:lnTo>
                  <a:lnTo>
                    <a:pt x="544258" y="2728531"/>
                  </a:lnTo>
                  <a:lnTo>
                    <a:pt x="545211" y="2718054"/>
                  </a:lnTo>
                  <a:lnTo>
                    <a:pt x="545211" y="2705671"/>
                  </a:lnTo>
                  <a:lnTo>
                    <a:pt x="545211" y="2694241"/>
                  </a:lnTo>
                  <a:lnTo>
                    <a:pt x="544258" y="2683764"/>
                  </a:lnTo>
                  <a:lnTo>
                    <a:pt x="535686" y="2639758"/>
                  </a:lnTo>
                  <a:lnTo>
                    <a:pt x="531876" y="2629280"/>
                  </a:lnTo>
                  <a:lnTo>
                    <a:pt x="528066" y="2618803"/>
                  </a:lnTo>
                  <a:lnTo>
                    <a:pt x="523303" y="2609278"/>
                  </a:lnTo>
                  <a:lnTo>
                    <a:pt x="518541" y="2599753"/>
                  </a:lnTo>
                  <a:lnTo>
                    <a:pt x="512825" y="2590228"/>
                  </a:lnTo>
                  <a:lnTo>
                    <a:pt x="507111" y="2581655"/>
                  </a:lnTo>
                  <a:lnTo>
                    <a:pt x="501396" y="2572130"/>
                  </a:lnTo>
                  <a:lnTo>
                    <a:pt x="494728" y="2564511"/>
                  </a:lnTo>
                  <a:lnTo>
                    <a:pt x="486918" y="2555938"/>
                  </a:lnTo>
                  <a:lnTo>
                    <a:pt x="480250" y="2548318"/>
                  </a:lnTo>
                  <a:lnTo>
                    <a:pt x="471678" y="2540698"/>
                  </a:lnTo>
                  <a:lnTo>
                    <a:pt x="464058" y="2534030"/>
                  </a:lnTo>
                  <a:lnTo>
                    <a:pt x="455485" y="2527363"/>
                  </a:lnTo>
                  <a:lnTo>
                    <a:pt x="446913" y="2520695"/>
                  </a:lnTo>
                  <a:lnTo>
                    <a:pt x="408622" y="2500693"/>
                  </a:lnTo>
                  <a:lnTo>
                    <a:pt x="366712" y="2487167"/>
                  </a:lnTo>
                  <a:lnTo>
                    <a:pt x="333184" y="2483357"/>
                  </a:lnTo>
                  <a:lnTo>
                    <a:pt x="321754" y="2482405"/>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0" name="Google Shape;470;g1ead90bba03_0_366"/>
            <p:cNvSpPr/>
            <p:nvPr/>
          </p:nvSpPr>
          <p:spPr>
            <a:xfrm>
              <a:off x="4178617" y="4370069"/>
              <a:ext cx="325120" cy="457835"/>
            </a:xfrm>
            <a:custGeom>
              <a:rect b="b" l="l" r="r" t="t"/>
              <a:pathLst>
                <a:path extrusionOk="0" h="457835" w="325120">
                  <a:moveTo>
                    <a:pt x="324612" y="0"/>
                  </a:moveTo>
                  <a:lnTo>
                    <a:pt x="0" y="0"/>
                  </a:lnTo>
                  <a:lnTo>
                    <a:pt x="0" y="457771"/>
                  </a:lnTo>
                  <a:lnTo>
                    <a:pt x="324612" y="457771"/>
                  </a:lnTo>
                  <a:lnTo>
                    <a:pt x="32461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1" name="Google Shape;471;g1ead90bba03_0_366"/>
            <p:cNvSpPr/>
            <p:nvPr/>
          </p:nvSpPr>
          <p:spPr>
            <a:xfrm>
              <a:off x="2555367" y="2977705"/>
              <a:ext cx="3857625" cy="3242945"/>
            </a:xfrm>
            <a:custGeom>
              <a:rect b="b" l="l" r="r" t="t"/>
              <a:pathLst>
                <a:path extrusionOk="0" h="3242945" w="3857625">
                  <a:moveTo>
                    <a:pt x="1947862" y="1850136"/>
                  </a:moveTo>
                  <a:lnTo>
                    <a:pt x="1623250" y="1850136"/>
                  </a:lnTo>
                  <a:lnTo>
                    <a:pt x="1623250" y="1392364"/>
                  </a:lnTo>
                  <a:lnTo>
                    <a:pt x="1947862" y="1392364"/>
                  </a:lnTo>
                </a:path>
                <a:path extrusionOk="0" h="3242945" w="3857625">
                  <a:moveTo>
                    <a:pt x="1623250" y="1487805"/>
                  </a:moveTo>
                  <a:lnTo>
                    <a:pt x="1355979" y="1487805"/>
                  </a:lnTo>
                </a:path>
                <a:path extrusionOk="0" h="3242945" w="3857625">
                  <a:moveTo>
                    <a:pt x="1623250" y="1754886"/>
                  </a:moveTo>
                  <a:lnTo>
                    <a:pt x="1355979" y="1754886"/>
                  </a:lnTo>
                </a:path>
                <a:path extrusionOk="0" h="3242945" w="3857625">
                  <a:moveTo>
                    <a:pt x="2444496" y="1621345"/>
                  </a:moveTo>
                  <a:lnTo>
                    <a:pt x="2157984" y="1621345"/>
                  </a:lnTo>
                </a:path>
                <a:path extrusionOk="0" h="3242945" w="3857625">
                  <a:moveTo>
                    <a:pt x="0" y="2975610"/>
                  </a:moveTo>
                  <a:lnTo>
                    <a:pt x="2979229" y="2975610"/>
                  </a:lnTo>
                  <a:lnTo>
                    <a:pt x="2979229" y="0"/>
                  </a:lnTo>
                  <a:lnTo>
                    <a:pt x="3513962" y="0"/>
                  </a:lnTo>
                </a:path>
                <a:path extrusionOk="0" h="3242945" w="3857625">
                  <a:moveTo>
                    <a:pt x="3513962" y="1621345"/>
                  </a:moveTo>
                  <a:lnTo>
                    <a:pt x="2444496" y="1621345"/>
                  </a:lnTo>
                </a:path>
                <a:path extrusionOk="0" h="3242945" w="3857625">
                  <a:moveTo>
                    <a:pt x="2711767" y="3242691"/>
                  </a:moveTo>
                  <a:lnTo>
                    <a:pt x="3857625" y="3242691"/>
                  </a:lnTo>
                  <a:lnTo>
                    <a:pt x="3857625" y="2441448"/>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2" name="Google Shape;472;g1ead90bba03_0_366"/>
            <p:cNvSpPr/>
            <p:nvPr/>
          </p:nvSpPr>
          <p:spPr>
            <a:xfrm>
              <a:off x="6069330" y="4331969"/>
              <a:ext cx="687704" cy="1087754"/>
            </a:xfrm>
            <a:custGeom>
              <a:rect b="b" l="l" r="r" t="t"/>
              <a:pathLst>
                <a:path extrusionOk="0" h="1087754" w="687704">
                  <a:moveTo>
                    <a:pt x="687514" y="0"/>
                  </a:moveTo>
                  <a:lnTo>
                    <a:pt x="0" y="0"/>
                  </a:lnTo>
                  <a:lnTo>
                    <a:pt x="0" y="1087183"/>
                  </a:lnTo>
                  <a:lnTo>
                    <a:pt x="687514" y="1087183"/>
                  </a:lnTo>
                  <a:lnTo>
                    <a:pt x="68751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3" name="Google Shape;473;g1ead90bba03_0_366"/>
            <p:cNvSpPr/>
            <p:nvPr/>
          </p:nvSpPr>
          <p:spPr>
            <a:xfrm>
              <a:off x="6069330" y="4331969"/>
              <a:ext cx="687704" cy="1087754"/>
            </a:xfrm>
            <a:custGeom>
              <a:rect b="b" l="l" r="r" t="t"/>
              <a:pathLst>
                <a:path extrusionOk="0" h="1087754" w="687704">
                  <a:moveTo>
                    <a:pt x="0" y="0"/>
                  </a:moveTo>
                  <a:lnTo>
                    <a:pt x="687514" y="0"/>
                  </a:lnTo>
                  <a:lnTo>
                    <a:pt x="687514" y="1087183"/>
                  </a:lnTo>
                  <a:lnTo>
                    <a:pt x="0" y="1087183"/>
                  </a:lnTo>
                  <a:lnTo>
                    <a:pt x="0" y="0"/>
                  </a:lnTo>
                  <a:close/>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74" name="Google Shape;474;g1ead90bba03_0_366"/>
          <p:cNvSpPr txBox="1"/>
          <p:nvPr/>
        </p:nvSpPr>
        <p:spPr>
          <a:xfrm>
            <a:off x="6507033" y="3068370"/>
            <a:ext cx="115200" cy="201300"/>
          </a:xfrm>
          <a:prstGeom prst="rect">
            <a:avLst/>
          </a:prstGeom>
          <a:noFill/>
          <a:ln>
            <a:noFill/>
          </a:ln>
        </p:spPr>
        <p:txBody>
          <a:bodyPr anchorCtr="0" anchor="t" bIns="0" lIns="0" spcFirstLastPara="1" rIns="0" wrap="square" tIns="16500">
            <a:sp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Q</a:t>
            </a:r>
            <a:endParaRPr b="0" i="0" sz="1400" u="none" cap="none" strike="noStrike">
              <a:solidFill>
                <a:srgbClr val="000000"/>
              </a:solidFill>
              <a:latin typeface="Arial"/>
              <a:ea typeface="Arial"/>
              <a:cs typeface="Arial"/>
              <a:sym typeface="Arial"/>
            </a:endParaRPr>
          </a:p>
        </p:txBody>
      </p:sp>
      <p:sp>
        <p:nvSpPr>
          <p:cNvPr id="475" name="Google Shape;475;g1ead90bba03_0_366"/>
          <p:cNvSpPr txBox="1"/>
          <p:nvPr/>
        </p:nvSpPr>
        <p:spPr>
          <a:xfrm>
            <a:off x="6157467" y="4333670"/>
            <a:ext cx="114300" cy="201300"/>
          </a:xfrm>
          <a:prstGeom prst="rect">
            <a:avLst/>
          </a:prstGeom>
          <a:noFill/>
          <a:ln>
            <a:noFill/>
          </a:ln>
        </p:spPr>
        <p:txBody>
          <a:bodyPr anchorCtr="0" anchor="t" bIns="0" lIns="0" spcFirstLastPara="1" rIns="0" wrap="square" tIns="16500">
            <a:sp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476" name="Google Shape;476;g1ead90bba03_0_366"/>
          <p:cNvSpPr txBox="1"/>
          <p:nvPr/>
        </p:nvSpPr>
        <p:spPr>
          <a:xfrm>
            <a:off x="6507033" y="4326249"/>
            <a:ext cx="115200" cy="201300"/>
          </a:xfrm>
          <a:prstGeom prst="rect">
            <a:avLst/>
          </a:prstGeom>
          <a:noFill/>
          <a:ln>
            <a:noFill/>
          </a:ln>
        </p:spPr>
        <p:txBody>
          <a:bodyPr anchorCtr="0" anchor="t" bIns="0" lIns="0" spcFirstLastPara="1" rIns="0" wrap="square" tIns="16500">
            <a:sp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Q</a:t>
            </a:r>
            <a:endParaRPr b="0" i="0" sz="1400" u="none" cap="none" strike="noStrike">
              <a:solidFill>
                <a:srgbClr val="000000"/>
              </a:solidFill>
              <a:latin typeface="Arial"/>
              <a:ea typeface="Arial"/>
              <a:cs typeface="Arial"/>
              <a:sym typeface="Arial"/>
            </a:endParaRPr>
          </a:p>
        </p:txBody>
      </p:sp>
      <p:grpSp>
        <p:nvGrpSpPr>
          <p:cNvPr id="477" name="Google Shape;477;g1ead90bba03_0_366"/>
          <p:cNvGrpSpPr/>
          <p:nvPr/>
        </p:nvGrpSpPr>
        <p:grpSpPr>
          <a:xfrm>
            <a:off x="3011124" y="1482462"/>
            <a:ext cx="4624645" cy="3789909"/>
            <a:chOff x="2555367" y="822388"/>
            <a:chExt cx="5271452" cy="4863846"/>
          </a:xfrm>
        </p:grpSpPr>
        <p:sp>
          <p:nvSpPr>
            <p:cNvPr id="478" name="Google Shape;478;g1ead90bba03_0_366"/>
            <p:cNvSpPr/>
            <p:nvPr/>
          </p:nvSpPr>
          <p:spPr>
            <a:xfrm>
              <a:off x="6069330" y="5037772"/>
              <a:ext cx="573404" cy="172085"/>
            </a:xfrm>
            <a:custGeom>
              <a:rect b="b" l="l" r="r" t="t"/>
              <a:pathLst>
                <a:path extrusionOk="0" h="172085" w="573404">
                  <a:moveTo>
                    <a:pt x="572833" y="0"/>
                  </a:moveTo>
                  <a:lnTo>
                    <a:pt x="496443" y="0"/>
                  </a:lnTo>
                </a:path>
                <a:path extrusionOk="0" h="172085" w="573404">
                  <a:moveTo>
                    <a:pt x="0" y="171640"/>
                  </a:moveTo>
                  <a:lnTo>
                    <a:pt x="133731" y="95250"/>
                  </a:lnTo>
                  <a:lnTo>
                    <a:pt x="0" y="38100"/>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9" name="Google Shape;479;g1ead90bba03_0_366"/>
            <p:cNvSpPr txBox="1"/>
            <p:nvPr/>
          </p:nvSpPr>
          <p:spPr>
            <a:xfrm>
              <a:off x="6362969" y="5408183"/>
              <a:ext cx="105000" cy="1050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0" name="Google Shape;480;g1ead90bba03_0_366"/>
            <p:cNvSpPr txBox="1"/>
            <p:nvPr/>
          </p:nvSpPr>
          <p:spPr>
            <a:xfrm>
              <a:off x="3329256" y="4570935"/>
              <a:ext cx="75600" cy="561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1" name="Google Shape;481;g1ead90bba03_0_366"/>
            <p:cNvSpPr/>
            <p:nvPr/>
          </p:nvSpPr>
          <p:spPr>
            <a:xfrm>
              <a:off x="2555367" y="1089469"/>
              <a:ext cx="4736465" cy="4596765"/>
            </a:xfrm>
            <a:custGeom>
              <a:rect b="b" l="l" r="r" t="t"/>
              <a:pathLst>
                <a:path extrusionOk="0" h="4596765" w="4736465">
                  <a:moveTo>
                    <a:pt x="1623250" y="3509581"/>
                  </a:moveTo>
                  <a:lnTo>
                    <a:pt x="1355979" y="3509581"/>
                  </a:lnTo>
                </a:path>
                <a:path extrusionOk="0" h="4596765" w="4736465">
                  <a:moveTo>
                    <a:pt x="4201477" y="4043553"/>
                  </a:moveTo>
                  <a:lnTo>
                    <a:pt x="4468939" y="4043553"/>
                  </a:lnTo>
                  <a:lnTo>
                    <a:pt x="4468939" y="4596765"/>
                  </a:lnTo>
                  <a:lnTo>
                    <a:pt x="1088517" y="4596765"/>
                  </a:lnTo>
                  <a:lnTo>
                    <a:pt x="1088517" y="3643122"/>
                  </a:lnTo>
                </a:path>
                <a:path extrusionOk="0" h="4596765" w="4736465">
                  <a:moveTo>
                    <a:pt x="4201477" y="1888236"/>
                  </a:moveTo>
                  <a:lnTo>
                    <a:pt x="4468939" y="1888236"/>
                  </a:lnTo>
                  <a:lnTo>
                    <a:pt x="4468939" y="2689288"/>
                  </a:lnTo>
                  <a:lnTo>
                    <a:pt x="1088517" y="2689288"/>
                  </a:lnTo>
                  <a:lnTo>
                    <a:pt x="1088517" y="3376041"/>
                  </a:lnTo>
                </a:path>
                <a:path extrusionOk="0" h="4596765" w="4736465">
                  <a:moveTo>
                    <a:pt x="0" y="3509581"/>
                  </a:moveTo>
                  <a:lnTo>
                    <a:pt x="1623250" y="3509581"/>
                  </a:lnTo>
                </a:path>
                <a:path extrusionOk="0" h="4596765" w="4736465">
                  <a:moveTo>
                    <a:pt x="821245" y="3509581"/>
                  </a:moveTo>
                  <a:lnTo>
                    <a:pt x="821245" y="1487805"/>
                  </a:lnTo>
                  <a:lnTo>
                    <a:pt x="1890712" y="1487805"/>
                  </a:lnTo>
                </a:path>
                <a:path extrusionOk="0" h="4596765" w="4736465">
                  <a:moveTo>
                    <a:pt x="4736210" y="1354264"/>
                  </a:moveTo>
                  <a:lnTo>
                    <a:pt x="4736210" y="0"/>
                  </a:lnTo>
                  <a:lnTo>
                    <a:pt x="267271" y="0"/>
                  </a:lnTo>
                  <a:lnTo>
                    <a:pt x="267271" y="667512"/>
                  </a:lnTo>
                  <a:lnTo>
                    <a:pt x="821245" y="667512"/>
                  </a:lnTo>
                </a:path>
                <a:path extrusionOk="0" h="4596765" w="4736465">
                  <a:moveTo>
                    <a:pt x="1355979" y="3376041"/>
                  </a:moveTo>
                  <a:lnTo>
                    <a:pt x="1088517" y="3376041"/>
                  </a:lnTo>
                </a:path>
                <a:path extrusionOk="0" h="4596765" w="4736465">
                  <a:moveTo>
                    <a:pt x="1355979" y="3643122"/>
                  </a:moveTo>
                  <a:lnTo>
                    <a:pt x="1088517" y="3643122"/>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2" name="Google Shape;482;g1ead90bba03_0_366"/>
            <p:cNvSpPr/>
            <p:nvPr/>
          </p:nvSpPr>
          <p:spPr>
            <a:xfrm>
              <a:off x="2555367" y="822388"/>
              <a:ext cx="5003800" cy="3776979"/>
            </a:xfrm>
            <a:custGeom>
              <a:rect b="b" l="l" r="r" t="t"/>
              <a:pathLst>
                <a:path extrusionOk="0" h="3776979" w="5003800">
                  <a:moveTo>
                    <a:pt x="4201477" y="3776662"/>
                  </a:moveTo>
                  <a:lnTo>
                    <a:pt x="5003673" y="3776662"/>
                  </a:lnTo>
                  <a:lnTo>
                    <a:pt x="5003673" y="0"/>
                  </a:lnTo>
                  <a:lnTo>
                    <a:pt x="0" y="0"/>
                  </a:lnTo>
                  <a:lnTo>
                    <a:pt x="0" y="1201674"/>
                  </a:lnTo>
                  <a:lnTo>
                    <a:pt x="534733" y="1201674"/>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3" name="Google Shape;483;g1ead90bba03_0_366"/>
            <p:cNvSpPr/>
            <p:nvPr/>
          </p:nvSpPr>
          <p:spPr>
            <a:xfrm>
              <a:off x="6756844" y="2443733"/>
              <a:ext cx="1069975" cy="0"/>
            </a:xfrm>
            <a:custGeom>
              <a:rect b="b" l="l" r="r" t="t"/>
              <a:pathLst>
                <a:path extrusionOk="0" h="120000" w="1069975">
                  <a:moveTo>
                    <a:pt x="1069467" y="0"/>
                  </a:moveTo>
                  <a:lnTo>
                    <a:pt x="0" y="0"/>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4" name="Google Shape;484;g1ead90bba03_0_366"/>
            <p:cNvSpPr/>
            <p:nvPr/>
          </p:nvSpPr>
          <p:spPr>
            <a:xfrm>
              <a:off x="5515546" y="5113972"/>
              <a:ext cx="38100" cy="57785"/>
            </a:xfrm>
            <a:custGeom>
              <a:rect b="b" l="l" r="r" t="t"/>
              <a:pathLst>
                <a:path extrusionOk="0" h="57785" w="38100">
                  <a:moveTo>
                    <a:pt x="21907" y="56387"/>
                  </a:moveTo>
                  <a:lnTo>
                    <a:pt x="16192" y="56387"/>
                  </a:lnTo>
                  <a:lnTo>
                    <a:pt x="17144" y="57340"/>
                  </a:lnTo>
                  <a:lnTo>
                    <a:pt x="20954" y="57340"/>
                  </a:lnTo>
                  <a:lnTo>
                    <a:pt x="21907" y="56387"/>
                  </a:lnTo>
                  <a:close/>
                </a:path>
                <a:path extrusionOk="0" h="57785" w="38100">
                  <a:moveTo>
                    <a:pt x="24764" y="55435"/>
                  </a:moveTo>
                  <a:lnTo>
                    <a:pt x="13335" y="55435"/>
                  </a:lnTo>
                  <a:lnTo>
                    <a:pt x="14287" y="56387"/>
                  </a:lnTo>
                  <a:lnTo>
                    <a:pt x="23812" y="56387"/>
                  </a:lnTo>
                  <a:lnTo>
                    <a:pt x="24764" y="55435"/>
                  </a:lnTo>
                  <a:close/>
                </a:path>
                <a:path extrusionOk="0" h="57785" w="38100">
                  <a:moveTo>
                    <a:pt x="27622" y="53530"/>
                  </a:moveTo>
                  <a:lnTo>
                    <a:pt x="10477" y="53530"/>
                  </a:lnTo>
                  <a:lnTo>
                    <a:pt x="12382" y="55435"/>
                  </a:lnTo>
                  <a:lnTo>
                    <a:pt x="25717" y="55435"/>
                  </a:lnTo>
                  <a:lnTo>
                    <a:pt x="27622" y="53530"/>
                  </a:lnTo>
                  <a:close/>
                </a:path>
                <a:path extrusionOk="0" h="57785" w="38100">
                  <a:moveTo>
                    <a:pt x="31432" y="50672"/>
                  </a:moveTo>
                  <a:lnTo>
                    <a:pt x="6667" y="50672"/>
                  </a:lnTo>
                  <a:lnTo>
                    <a:pt x="9525" y="53530"/>
                  </a:lnTo>
                  <a:lnTo>
                    <a:pt x="28575" y="53530"/>
                  </a:lnTo>
                  <a:lnTo>
                    <a:pt x="31432" y="50672"/>
                  </a:lnTo>
                  <a:close/>
                </a:path>
                <a:path extrusionOk="0" h="57785" w="38100">
                  <a:moveTo>
                    <a:pt x="32385" y="7619"/>
                  </a:moveTo>
                  <a:lnTo>
                    <a:pt x="5714" y="7619"/>
                  </a:lnTo>
                  <a:lnTo>
                    <a:pt x="5714" y="8572"/>
                  </a:lnTo>
                  <a:lnTo>
                    <a:pt x="3810" y="10477"/>
                  </a:lnTo>
                  <a:lnTo>
                    <a:pt x="3810" y="11429"/>
                  </a:lnTo>
                  <a:lnTo>
                    <a:pt x="1904" y="13334"/>
                  </a:lnTo>
                  <a:lnTo>
                    <a:pt x="1904" y="15239"/>
                  </a:lnTo>
                  <a:lnTo>
                    <a:pt x="952" y="16192"/>
                  </a:lnTo>
                  <a:lnTo>
                    <a:pt x="952" y="19050"/>
                  </a:lnTo>
                  <a:lnTo>
                    <a:pt x="0" y="20002"/>
                  </a:lnTo>
                  <a:lnTo>
                    <a:pt x="0" y="38290"/>
                  </a:lnTo>
                  <a:lnTo>
                    <a:pt x="952" y="39242"/>
                  </a:lnTo>
                  <a:lnTo>
                    <a:pt x="952" y="41147"/>
                  </a:lnTo>
                  <a:lnTo>
                    <a:pt x="1904" y="43052"/>
                  </a:lnTo>
                  <a:lnTo>
                    <a:pt x="1904" y="44957"/>
                  </a:lnTo>
                  <a:lnTo>
                    <a:pt x="3810" y="46862"/>
                  </a:lnTo>
                  <a:lnTo>
                    <a:pt x="3810" y="47815"/>
                  </a:lnTo>
                  <a:lnTo>
                    <a:pt x="5714" y="49720"/>
                  </a:lnTo>
                  <a:lnTo>
                    <a:pt x="5714" y="50672"/>
                  </a:lnTo>
                  <a:lnTo>
                    <a:pt x="32385" y="50672"/>
                  </a:lnTo>
                  <a:lnTo>
                    <a:pt x="33337" y="49720"/>
                  </a:lnTo>
                  <a:lnTo>
                    <a:pt x="33337" y="48767"/>
                  </a:lnTo>
                  <a:lnTo>
                    <a:pt x="35242" y="46862"/>
                  </a:lnTo>
                  <a:lnTo>
                    <a:pt x="35242" y="45910"/>
                  </a:lnTo>
                  <a:lnTo>
                    <a:pt x="36194" y="44957"/>
                  </a:lnTo>
                  <a:lnTo>
                    <a:pt x="36194" y="44005"/>
                  </a:lnTo>
                  <a:lnTo>
                    <a:pt x="37147" y="43052"/>
                  </a:lnTo>
                  <a:lnTo>
                    <a:pt x="37147" y="40195"/>
                  </a:lnTo>
                  <a:lnTo>
                    <a:pt x="38100" y="39242"/>
                  </a:lnTo>
                  <a:lnTo>
                    <a:pt x="38100" y="19050"/>
                  </a:lnTo>
                  <a:lnTo>
                    <a:pt x="37147" y="18097"/>
                  </a:lnTo>
                  <a:lnTo>
                    <a:pt x="37147" y="15239"/>
                  </a:lnTo>
                  <a:lnTo>
                    <a:pt x="36194" y="14287"/>
                  </a:lnTo>
                  <a:lnTo>
                    <a:pt x="36194" y="13334"/>
                  </a:lnTo>
                  <a:lnTo>
                    <a:pt x="35242" y="12382"/>
                  </a:lnTo>
                  <a:lnTo>
                    <a:pt x="35242" y="11429"/>
                  </a:lnTo>
                  <a:lnTo>
                    <a:pt x="33337" y="9525"/>
                  </a:lnTo>
                  <a:lnTo>
                    <a:pt x="33337" y="8572"/>
                  </a:lnTo>
                  <a:lnTo>
                    <a:pt x="32385" y="7619"/>
                  </a:lnTo>
                  <a:close/>
                </a:path>
                <a:path extrusionOk="0" h="57785" w="38100">
                  <a:moveTo>
                    <a:pt x="28575" y="4762"/>
                  </a:moveTo>
                  <a:lnTo>
                    <a:pt x="9525" y="4762"/>
                  </a:lnTo>
                  <a:lnTo>
                    <a:pt x="6667" y="7619"/>
                  </a:lnTo>
                  <a:lnTo>
                    <a:pt x="31432" y="7619"/>
                  </a:lnTo>
                  <a:lnTo>
                    <a:pt x="28575" y="4762"/>
                  </a:lnTo>
                  <a:close/>
                </a:path>
                <a:path extrusionOk="0" h="57785" w="38100">
                  <a:moveTo>
                    <a:pt x="25717" y="2857"/>
                  </a:moveTo>
                  <a:lnTo>
                    <a:pt x="12382" y="2857"/>
                  </a:lnTo>
                  <a:lnTo>
                    <a:pt x="10477" y="4762"/>
                  </a:lnTo>
                  <a:lnTo>
                    <a:pt x="27622" y="4762"/>
                  </a:lnTo>
                  <a:lnTo>
                    <a:pt x="25717" y="2857"/>
                  </a:lnTo>
                  <a:close/>
                </a:path>
                <a:path extrusionOk="0" h="57785" w="38100">
                  <a:moveTo>
                    <a:pt x="23812" y="1904"/>
                  </a:moveTo>
                  <a:lnTo>
                    <a:pt x="14287" y="1904"/>
                  </a:lnTo>
                  <a:lnTo>
                    <a:pt x="13335" y="2857"/>
                  </a:lnTo>
                  <a:lnTo>
                    <a:pt x="24764" y="2857"/>
                  </a:lnTo>
                  <a:lnTo>
                    <a:pt x="23812" y="1904"/>
                  </a:lnTo>
                  <a:close/>
                </a:path>
                <a:path extrusionOk="0" h="57785" w="38100">
                  <a:moveTo>
                    <a:pt x="20954" y="952"/>
                  </a:moveTo>
                  <a:lnTo>
                    <a:pt x="17144" y="952"/>
                  </a:lnTo>
                  <a:lnTo>
                    <a:pt x="16192" y="1904"/>
                  </a:lnTo>
                  <a:lnTo>
                    <a:pt x="21907" y="1904"/>
                  </a:lnTo>
                  <a:lnTo>
                    <a:pt x="20954" y="952"/>
                  </a:lnTo>
                  <a:close/>
                </a:path>
                <a:path extrusionOk="0" h="57785" w="38100">
                  <a:moveTo>
                    <a:pt x="22860" y="0"/>
                  </a:moveTo>
                  <a:lnTo>
                    <a:pt x="15239" y="0"/>
                  </a:lnTo>
                  <a:lnTo>
                    <a:pt x="16192" y="952"/>
                  </a:lnTo>
                  <a:lnTo>
                    <a:pt x="21907" y="952"/>
                  </a:lnTo>
                  <a:lnTo>
                    <a:pt x="2286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5" name="Google Shape;485;g1ead90bba03_0_366"/>
            <p:cNvSpPr/>
            <p:nvPr/>
          </p:nvSpPr>
          <p:spPr>
            <a:xfrm>
              <a:off x="5515546" y="5113972"/>
              <a:ext cx="38100" cy="57785"/>
            </a:xfrm>
            <a:custGeom>
              <a:rect b="b" l="l" r="r" t="t"/>
              <a:pathLst>
                <a:path extrusionOk="0" h="57785" w="38100">
                  <a:moveTo>
                    <a:pt x="0" y="34480"/>
                  </a:moveTo>
                  <a:lnTo>
                    <a:pt x="0" y="23812"/>
                  </a:lnTo>
                  <a:lnTo>
                    <a:pt x="0" y="21907"/>
                  </a:lnTo>
                  <a:lnTo>
                    <a:pt x="0" y="20954"/>
                  </a:lnTo>
                  <a:lnTo>
                    <a:pt x="0" y="20002"/>
                  </a:lnTo>
                  <a:lnTo>
                    <a:pt x="952" y="19050"/>
                  </a:lnTo>
                  <a:lnTo>
                    <a:pt x="952" y="18097"/>
                  </a:lnTo>
                  <a:lnTo>
                    <a:pt x="952" y="16192"/>
                  </a:lnTo>
                  <a:lnTo>
                    <a:pt x="1904" y="15239"/>
                  </a:lnTo>
                  <a:lnTo>
                    <a:pt x="1904" y="14287"/>
                  </a:lnTo>
                  <a:lnTo>
                    <a:pt x="1904" y="13334"/>
                  </a:lnTo>
                  <a:lnTo>
                    <a:pt x="2857" y="12382"/>
                  </a:lnTo>
                  <a:lnTo>
                    <a:pt x="3810" y="11429"/>
                  </a:lnTo>
                  <a:lnTo>
                    <a:pt x="3810" y="10477"/>
                  </a:lnTo>
                  <a:lnTo>
                    <a:pt x="4762" y="9525"/>
                  </a:lnTo>
                  <a:lnTo>
                    <a:pt x="5714" y="8572"/>
                  </a:lnTo>
                  <a:lnTo>
                    <a:pt x="5714" y="7619"/>
                  </a:lnTo>
                  <a:lnTo>
                    <a:pt x="6667" y="7619"/>
                  </a:lnTo>
                  <a:lnTo>
                    <a:pt x="7619" y="6667"/>
                  </a:lnTo>
                  <a:lnTo>
                    <a:pt x="8572" y="5714"/>
                  </a:lnTo>
                  <a:lnTo>
                    <a:pt x="9525" y="4762"/>
                  </a:lnTo>
                  <a:lnTo>
                    <a:pt x="10477" y="4762"/>
                  </a:lnTo>
                  <a:lnTo>
                    <a:pt x="11429" y="3809"/>
                  </a:lnTo>
                  <a:lnTo>
                    <a:pt x="12382" y="2857"/>
                  </a:lnTo>
                  <a:lnTo>
                    <a:pt x="13335" y="2857"/>
                  </a:lnTo>
                  <a:lnTo>
                    <a:pt x="14287" y="1904"/>
                  </a:lnTo>
                  <a:lnTo>
                    <a:pt x="15239" y="1904"/>
                  </a:lnTo>
                  <a:lnTo>
                    <a:pt x="16192" y="1904"/>
                  </a:lnTo>
                  <a:lnTo>
                    <a:pt x="17144" y="952"/>
                  </a:lnTo>
                  <a:lnTo>
                    <a:pt x="18097" y="952"/>
                  </a:lnTo>
                  <a:lnTo>
                    <a:pt x="20002" y="952"/>
                  </a:lnTo>
                  <a:lnTo>
                    <a:pt x="20954" y="952"/>
                  </a:lnTo>
                  <a:lnTo>
                    <a:pt x="21907" y="952"/>
                  </a:lnTo>
                  <a:lnTo>
                    <a:pt x="22860" y="0"/>
                  </a:lnTo>
                  <a:lnTo>
                    <a:pt x="15239" y="0"/>
                  </a:lnTo>
                  <a:lnTo>
                    <a:pt x="16192" y="952"/>
                  </a:lnTo>
                  <a:lnTo>
                    <a:pt x="17144" y="952"/>
                  </a:lnTo>
                  <a:lnTo>
                    <a:pt x="19050" y="952"/>
                  </a:lnTo>
                  <a:lnTo>
                    <a:pt x="20002" y="952"/>
                  </a:lnTo>
                  <a:lnTo>
                    <a:pt x="20954" y="952"/>
                  </a:lnTo>
                  <a:lnTo>
                    <a:pt x="21907" y="1904"/>
                  </a:lnTo>
                  <a:lnTo>
                    <a:pt x="22860" y="1904"/>
                  </a:lnTo>
                  <a:lnTo>
                    <a:pt x="23812" y="1904"/>
                  </a:lnTo>
                  <a:lnTo>
                    <a:pt x="24764" y="2857"/>
                  </a:lnTo>
                  <a:lnTo>
                    <a:pt x="25717" y="2857"/>
                  </a:lnTo>
                  <a:lnTo>
                    <a:pt x="26669" y="3809"/>
                  </a:lnTo>
                  <a:lnTo>
                    <a:pt x="27622" y="4762"/>
                  </a:lnTo>
                  <a:lnTo>
                    <a:pt x="28575" y="4762"/>
                  </a:lnTo>
                  <a:lnTo>
                    <a:pt x="29527" y="5714"/>
                  </a:lnTo>
                  <a:lnTo>
                    <a:pt x="30479" y="6667"/>
                  </a:lnTo>
                  <a:lnTo>
                    <a:pt x="31432" y="7619"/>
                  </a:lnTo>
                  <a:lnTo>
                    <a:pt x="32385" y="7619"/>
                  </a:lnTo>
                  <a:lnTo>
                    <a:pt x="33337" y="8572"/>
                  </a:lnTo>
                  <a:lnTo>
                    <a:pt x="33337" y="9525"/>
                  </a:lnTo>
                  <a:lnTo>
                    <a:pt x="34289" y="10477"/>
                  </a:lnTo>
                  <a:lnTo>
                    <a:pt x="35242" y="11429"/>
                  </a:lnTo>
                  <a:lnTo>
                    <a:pt x="35242" y="12382"/>
                  </a:lnTo>
                  <a:lnTo>
                    <a:pt x="36194" y="13334"/>
                  </a:lnTo>
                  <a:lnTo>
                    <a:pt x="36194" y="14287"/>
                  </a:lnTo>
                  <a:lnTo>
                    <a:pt x="37147" y="15239"/>
                  </a:lnTo>
                  <a:lnTo>
                    <a:pt x="37147" y="16192"/>
                  </a:lnTo>
                  <a:lnTo>
                    <a:pt x="37147" y="18097"/>
                  </a:lnTo>
                  <a:lnTo>
                    <a:pt x="38100" y="19050"/>
                  </a:lnTo>
                  <a:lnTo>
                    <a:pt x="38100" y="20002"/>
                  </a:lnTo>
                  <a:lnTo>
                    <a:pt x="38100" y="20954"/>
                  </a:lnTo>
                  <a:lnTo>
                    <a:pt x="38100" y="23812"/>
                  </a:lnTo>
                  <a:lnTo>
                    <a:pt x="38100" y="39242"/>
                  </a:lnTo>
                  <a:lnTo>
                    <a:pt x="37147" y="40195"/>
                  </a:lnTo>
                  <a:lnTo>
                    <a:pt x="37147" y="41147"/>
                  </a:lnTo>
                  <a:lnTo>
                    <a:pt x="37147" y="43052"/>
                  </a:lnTo>
                  <a:lnTo>
                    <a:pt x="36194" y="44005"/>
                  </a:lnTo>
                  <a:lnTo>
                    <a:pt x="36194" y="44957"/>
                  </a:lnTo>
                  <a:lnTo>
                    <a:pt x="35242" y="45910"/>
                  </a:lnTo>
                  <a:lnTo>
                    <a:pt x="35242" y="46862"/>
                  </a:lnTo>
                  <a:lnTo>
                    <a:pt x="34289" y="47815"/>
                  </a:lnTo>
                  <a:lnTo>
                    <a:pt x="33337" y="48767"/>
                  </a:lnTo>
                  <a:lnTo>
                    <a:pt x="33337" y="49720"/>
                  </a:lnTo>
                  <a:lnTo>
                    <a:pt x="32385" y="50672"/>
                  </a:lnTo>
                  <a:lnTo>
                    <a:pt x="31432" y="50672"/>
                  </a:lnTo>
                  <a:lnTo>
                    <a:pt x="30479" y="51625"/>
                  </a:lnTo>
                  <a:lnTo>
                    <a:pt x="29527" y="52577"/>
                  </a:lnTo>
                  <a:lnTo>
                    <a:pt x="28575" y="53530"/>
                  </a:lnTo>
                  <a:lnTo>
                    <a:pt x="27622" y="53530"/>
                  </a:lnTo>
                  <a:lnTo>
                    <a:pt x="26669" y="54482"/>
                  </a:lnTo>
                  <a:lnTo>
                    <a:pt x="25717" y="55435"/>
                  </a:lnTo>
                  <a:lnTo>
                    <a:pt x="24764" y="55435"/>
                  </a:lnTo>
                  <a:lnTo>
                    <a:pt x="23812" y="56387"/>
                  </a:lnTo>
                  <a:lnTo>
                    <a:pt x="22860" y="56387"/>
                  </a:lnTo>
                  <a:lnTo>
                    <a:pt x="21907" y="56387"/>
                  </a:lnTo>
                  <a:lnTo>
                    <a:pt x="20954" y="57340"/>
                  </a:lnTo>
                  <a:lnTo>
                    <a:pt x="20002" y="57340"/>
                  </a:lnTo>
                  <a:lnTo>
                    <a:pt x="19050" y="57340"/>
                  </a:lnTo>
                  <a:lnTo>
                    <a:pt x="17144" y="57340"/>
                  </a:lnTo>
                  <a:lnTo>
                    <a:pt x="16192" y="57340"/>
                  </a:lnTo>
                  <a:lnTo>
                    <a:pt x="15239" y="57340"/>
                  </a:lnTo>
                  <a:lnTo>
                    <a:pt x="22860" y="57340"/>
                  </a:lnTo>
                  <a:lnTo>
                    <a:pt x="17144" y="57340"/>
                  </a:lnTo>
                  <a:lnTo>
                    <a:pt x="16192" y="56387"/>
                  </a:lnTo>
                  <a:lnTo>
                    <a:pt x="15239" y="56387"/>
                  </a:lnTo>
                  <a:lnTo>
                    <a:pt x="14287" y="56387"/>
                  </a:lnTo>
                  <a:lnTo>
                    <a:pt x="13335" y="55435"/>
                  </a:lnTo>
                  <a:lnTo>
                    <a:pt x="12382" y="55435"/>
                  </a:lnTo>
                  <a:lnTo>
                    <a:pt x="11429" y="54482"/>
                  </a:lnTo>
                  <a:lnTo>
                    <a:pt x="10477" y="53530"/>
                  </a:lnTo>
                  <a:lnTo>
                    <a:pt x="9525" y="53530"/>
                  </a:lnTo>
                  <a:lnTo>
                    <a:pt x="8572" y="52577"/>
                  </a:lnTo>
                  <a:lnTo>
                    <a:pt x="7619" y="51625"/>
                  </a:lnTo>
                  <a:lnTo>
                    <a:pt x="6667" y="50672"/>
                  </a:lnTo>
                  <a:lnTo>
                    <a:pt x="5714" y="50672"/>
                  </a:lnTo>
                  <a:lnTo>
                    <a:pt x="5714" y="49720"/>
                  </a:lnTo>
                  <a:lnTo>
                    <a:pt x="4762" y="48767"/>
                  </a:lnTo>
                  <a:lnTo>
                    <a:pt x="3810" y="47815"/>
                  </a:lnTo>
                  <a:lnTo>
                    <a:pt x="3810" y="46862"/>
                  </a:lnTo>
                  <a:lnTo>
                    <a:pt x="2857" y="45910"/>
                  </a:lnTo>
                  <a:lnTo>
                    <a:pt x="1904" y="44957"/>
                  </a:lnTo>
                  <a:lnTo>
                    <a:pt x="1904" y="44005"/>
                  </a:lnTo>
                  <a:lnTo>
                    <a:pt x="1904" y="43052"/>
                  </a:lnTo>
                  <a:lnTo>
                    <a:pt x="952" y="41147"/>
                  </a:lnTo>
                  <a:lnTo>
                    <a:pt x="952" y="40195"/>
                  </a:lnTo>
                  <a:lnTo>
                    <a:pt x="952" y="39242"/>
                  </a:lnTo>
                  <a:lnTo>
                    <a:pt x="0" y="38290"/>
                  </a:lnTo>
                  <a:lnTo>
                    <a:pt x="0" y="37337"/>
                  </a:lnTo>
                  <a:lnTo>
                    <a:pt x="0" y="36385"/>
                  </a:lnTo>
                  <a:lnTo>
                    <a:pt x="0" y="34480"/>
                  </a:lnTo>
                  <a:close/>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6" name="Google Shape;486;g1ead90bba03_0_366"/>
            <p:cNvSpPr/>
            <p:nvPr/>
          </p:nvSpPr>
          <p:spPr>
            <a:xfrm>
              <a:off x="7272527" y="2405443"/>
              <a:ext cx="38100" cy="57785"/>
            </a:xfrm>
            <a:custGeom>
              <a:rect b="b" l="l" r="r" t="t"/>
              <a:pathLst>
                <a:path extrusionOk="0" h="57785" w="38100">
                  <a:moveTo>
                    <a:pt x="21907" y="56388"/>
                  </a:moveTo>
                  <a:lnTo>
                    <a:pt x="16192" y="56388"/>
                  </a:lnTo>
                  <a:lnTo>
                    <a:pt x="17145" y="57340"/>
                  </a:lnTo>
                  <a:lnTo>
                    <a:pt x="20954" y="57340"/>
                  </a:lnTo>
                  <a:lnTo>
                    <a:pt x="21907" y="56388"/>
                  </a:lnTo>
                  <a:close/>
                </a:path>
                <a:path extrusionOk="0" h="57785" w="38100">
                  <a:moveTo>
                    <a:pt x="24765" y="55435"/>
                  </a:moveTo>
                  <a:lnTo>
                    <a:pt x="13335" y="55435"/>
                  </a:lnTo>
                  <a:lnTo>
                    <a:pt x="14287" y="56388"/>
                  </a:lnTo>
                  <a:lnTo>
                    <a:pt x="23812" y="56388"/>
                  </a:lnTo>
                  <a:lnTo>
                    <a:pt x="24765" y="55435"/>
                  </a:lnTo>
                  <a:close/>
                </a:path>
                <a:path extrusionOk="0" h="57785" w="38100">
                  <a:moveTo>
                    <a:pt x="27622" y="53530"/>
                  </a:moveTo>
                  <a:lnTo>
                    <a:pt x="10477" y="53530"/>
                  </a:lnTo>
                  <a:lnTo>
                    <a:pt x="12382" y="55435"/>
                  </a:lnTo>
                  <a:lnTo>
                    <a:pt x="25717" y="55435"/>
                  </a:lnTo>
                  <a:lnTo>
                    <a:pt x="27622" y="53530"/>
                  </a:lnTo>
                  <a:close/>
                </a:path>
                <a:path extrusionOk="0" h="57785" w="38100">
                  <a:moveTo>
                    <a:pt x="31432" y="50673"/>
                  </a:moveTo>
                  <a:lnTo>
                    <a:pt x="6667" y="50673"/>
                  </a:lnTo>
                  <a:lnTo>
                    <a:pt x="9525" y="53530"/>
                  </a:lnTo>
                  <a:lnTo>
                    <a:pt x="28575" y="53530"/>
                  </a:lnTo>
                  <a:lnTo>
                    <a:pt x="31432" y="50673"/>
                  </a:lnTo>
                  <a:close/>
                </a:path>
                <a:path extrusionOk="0" h="57785" w="38100">
                  <a:moveTo>
                    <a:pt x="32385" y="7810"/>
                  </a:moveTo>
                  <a:lnTo>
                    <a:pt x="5715" y="7810"/>
                  </a:lnTo>
                  <a:lnTo>
                    <a:pt x="5715" y="8763"/>
                  </a:lnTo>
                  <a:lnTo>
                    <a:pt x="3810" y="10668"/>
                  </a:lnTo>
                  <a:lnTo>
                    <a:pt x="3810" y="11620"/>
                  </a:lnTo>
                  <a:lnTo>
                    <a:pt x="1904" y="13525"/>
                  </a:lnTo>
                  <a:lnTo>
                    <a:pt x="1904" y="15430"/>
                  </a:lnTo>
                  <a:lnTo>
                    <a:pt x="952" y="17335"/>
                  </a:lnTo>
                  <a:lnTo>
                    <a:pt x="952" y="19240"/>
                  </a:lnTo>
                  <a:lnTo>
                    <a:pt x="0" y="20193"/>
                  </a:lnTo>
                  <a:lnTo>
                    <a:pt x="0" y="38290"/>
                  </a:lnTo>
                  <a:lnTo>
                    <a:pt x="952" y="39243"/>
                  </a:lnTo>
                  <a:lnTo>
                    <a:pt x="952" y="41148"/>
                  </a:lnTo>
                  <a:lnTo>
                    <a:pt x="1904" y="43053"/>
                  </a:lnTo>
                  <a:lnTo>
                    <a:pt x="1904" y="44958"/>
                  </a:lnTo>
                  <a:lnTo>
                    <a:pt x="3810" y="46863"/>
                  </a:lnTo>
                  <a:lnTo>
                    <a:pt x="3810" y="47815"/>
                  </a:lnTo>
                  <a:lnTo>
                    <a:pt x="5715" y="49720"/>
                  </a:lnTo>
                  <a:lnTo>
                    <a:pt x="5715" y="50673"/>
                  </a:lnTo>
                  <a:lnTo>
                    <a:pt x="32385" y="50673"/>
                  </a:lnTo>
                  <a:lnTo>
                    <a:pt x="33337" y="49720"/>
                  </a:lnTo>
                  <a:lnTo>
                    <a:pt x="33337" y="48768"/>
                  </a:lnTo>
                  <a:lnTo>
                    <a:pt x="35242" y="46863"/>
                  </a:lnTo>
                  <a:lnTo>
                    <a:pt x="35242" y="45910"/>
                  </a:lnTo>
                  <a:lnTo>
                    <a:pt x="36195" y="44958"/>
                  </a:lnTo>
                  <a:lnTo>
                    <a:pt x="36195" y="44005"/>
                  </a:lnTo>
                  <a:lnTo>
                    <a:pt x="37147" y="43053"/>
                  </a:lnTo>
                  <a:lnTo>
                    <a:pt x="37147" y="40195"/>
                  </a:lnTo>
                  <a:lnTo>
                    <a:pt x="38100" y="39243"/>
                  </a:lnTo>
                  <a:lnTo>
                    <a:pt x="38100" y="19240"/>
                  </a:lnTo>
                  <a:lnTo>
                    <a:pt x="37147" y="18288"/>
                  </a:lnTo>
                  <a:lnTo>
                    <a:pt x="37147" y="15430"/>
                  </a:lnTo>
                  <a:lnTo>
                    <a:pt x="36195" y="14478"/>
                  </a:lnTo>
                  <a:lnTo>
                    <a:pt x="36195" y="13525"/>
                  </a:lnTo>
                  <a:lnTo>
                    <a:pt x="35242" y="12573"/>
                  </a:lnTo>
                  <a:lnTo>
                    <a:pt x="35242" y="11620"/>
                  </a:lnTo>
                  <a:lnTo>
                    <a:pt x="33337" y="9715"/>
                  </a:lnTo>
                  <a:lnTo>
                    <a:pt x="33337" y="8763"/>
                  </a:lnTo>
                  <a:lnTo>
                    <a:pt x="32385" y="7810"/>
                  </a:lnTo>
                  <a:close/>
                </a:path>
                <a:path extrusionOk="0" h="57785" w="38100">
                  <a:moveTo>
                    <a:pt x="28575" y="4762"/>
                  </a:moveTo>
                  <a:lnTo>
                    <a:pt x="9525" y="4762"/>
                  </a:lnTo>
                  <a:lnTo>
                    <a:pt x="8572" y="5905"/>
                  </a:lnTo>
                  <a:lnTo>
                    <a:pt x="6667" y="7810"/>
                  </a:lnTo>
                  <a:lnTo>
                    <a:pt x="31432" y="7810"/>
                  </a:lnTo>
                  <a:lnTo>
                    <a:pt x="29527" y="5905"/>
                  </a:lnTo>
                  <a:lnTo>
                    <a:pt x="28575" y="4762"/>
                  </a:lnTo>
                  <a:close/>
                </a:path>
                <a:path extrusionOk="0" h="57785" w="38100">
                  <a:moveTo>
                    <a:pt x="25717" y="2857"/>
                  </a:moveTo>
                  <a:lnTo>
                    <a:pt x="12382" y="2857"/>
                  </a:lnTo>
                  <a:lnTo>
                    <a:pt x="10477" y="4762"/>
                  </a:lnTo>
                  <a:lnTo>
                    <a:pt x="27622" y="4762"/>
                  </a:lnTo>
                  <a:lnTo>
                    <a:pt x="25717" y="2857"/>
                  </a:lnTo>
                  <a:close/>
                </a:path>
                <a:path extrusionOk="0" h="57785" w="38100">
                  <a:moveTo>
                    <a:pt x="23812" y="1905"/>
                  </a:moveTo>
                  <a:lnTo>
                    <a:pt x="14287" y="1905"/>
                  </a:lnTo>
                  <a:lnTo>
                    <a:pt x="13335" y="2857"/>
                  </a:lnTo>
                  <a:lnTo>
                    <a:pt x="24765" y="2857"/>
                  </a:lnTo>
                  <a:lnTo>
                    <a:pt x="23812" y="1905"/>
                  </a:lnTo>
                  <a:close/>
                </a:path>
                <a:path extrusionOk="0" h="57785" w="38100">
                  <a:moveTo>
                    <a:pt x="20954" y="952"/>
                  </a:moveTo>
                  <a:lnTo>
                    <a:pt x="17145" y="952"/>
                  </a:lnTo>
                  <a:lnTo>
                    <a:pt x="16192" y="1905"/>
                  </a:lnTo>
                  <a:lnTo>
                    <a:pt x="21907" y="1905"/>
                  </a:lnTo>
                  <a:lnTo>
                    <a:pt x="20954" y="952"/>
                  </a:lnTo>
                  <a:close/>
                </a:path>
                <a:path extrusionOk="0" h="57785" w="38100">
                  <a:moveTo>
                    <a:pt x="22860" y="0"/>
                  </a:moveTo>
                  <a:lnTo>
                    <a:pt x="15240" y="0"/>
                  </a:lnTo>
                  <a:lnTo>
                    <a:pt x="16192" y="952"/>
                  </a:lnTo>
                  <a:lnTo>
                    <a:pt x="21907" y="952"/>
                  </a:lnTo>
                  <a:lnTo>
                    <a:pt x="2286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7" name="Google Shape;487;g1ead90bba03_0_366"/>
            <p:cNvSpPr/>
            <p:nvPr/>
          </p:nvSpPr>
          <p:spPr>
            <a:xfrm>
              <a:off x="7272527" y="2405443"/>
              <a:ext cx="38100" cy="57785"/>
            </a:xfrm>
            <a:custGeom>
              <a:rect b="b" l="l" r="r" t="t"/>
              <a:pathLst>
                <a:path extrusionOk="0" h="57785" w="38100">
                  <a:moveTo>
                    <a:pt x="0" y="34480"/>
                  </a:moveTo>
                  <a:lnTo>
                    <a:pt x="0" y="24003"/>
                  </a:lnTo>
                  <a:lnTo>
                    <a:pt x="0" y="22098"/>
                  </a:lnTo>
                  <a:lnTo>
                    <a:pt x="0" y="21145"/>
                  </a:lnTo>
                  <a:lnTo>
                    <a:pt x="0" y="20193"/>
                  </a:lnTo>
                  <a:lnTo>
                    <a:pt x="952" y="19240"/>
                  </a:lnTo>
                  <a:lnTo>
                    <a:pt x="952" y="18288"/>
                  </a:lnTo>
                  <a:lnTo>
                    <a:pt x="952" y="17335"/>
                  </a:lnTo>
                  <a:lnTo>
                    <a:pt x="1904" y="15430"/>
                  </a:lnTo>
                  <a:lnTo>
                    <a:pt x="1904" y="14478"/>
                  </a:lnTo>
                  <a:lnTo>
                    <a:pt x="1904" y="13525"/>
                  </a:lnTo>
                  <a:lnTo>
                    <a:pt x="2857" y="12573"/>
                  </a:lnTo>
                  <a:lnTo>
                    <a:pt x="3810" y="11620"/>
                  </a:lnTo>
                  <a:lnTo>
                    <a:pt x="3810" y="10668"/>
                  </a:lnTo>
                  <a:lnTo>
                    <a:pt x="4762" y="9715"/>
                  </a:lnTo>
                  <a:lnTo>
                    <a:pt x="5715" y="8763"/>
                  </a:lnTo>
                  <a:lnTo>
                    <a:pt x="5715" y="7810"/>
                  </a:lnTo>
                  <a:lnTo>
                    <a:pt x="6667" y="7810"/>
                  </a:lnTo>
                  <a:lnTo>
                    <a:pt x="7620" y="6858"/>
                  </a:lnTo>
                  <a:lnTo>
                    <a:pt x="8572" y="5905"/>
                  </a:lnTo>
                  <a:lnTo>
                    <a:pt x="9525" y="4762"/>
                  </a:lnTo>
                  <a:lnTo>
                    <a:pt x="10477" y="4762"/>
                  </a:lnTo>
                  <a:lnTo>
                    <a:pt x="11429" y="3810"/>
                  </a:lnTo>
                  <a:lnTo>
                    <a:pt x="12382" y="2857"/>
                  </a:lnTo>
                  <a:lnTo>
                    <a:pt x="13335" y="2857"/>
                  </a:lnTo>
                  <a:lnTo>
                    <a:pt x="14287" y="1905"/>
                  </a:lnTo>
                  <a:lnTo>
                    <a:pt x="15240" y="1905"/>
                  </a:lnTo>
                  <a:lnTo>
                    <a:pt x="16192" y="1905"/>
                  </a:lnTo>
                  <a:lnTo>
                    <a:pt x="17145" y="952"/>
                  </a:lnTo>
                  <a:lnTo>
                    <a:pt x="18097" y="952"/>
                  </a:lnTo>
                  <a:lnTo>
                    <a:pt x="20002" y="952"/>
                  </a:lnTo>
                  <a:lnTo>
                    <a:pt x="20954" y="952"/>
                  </a:lnTo>
                  <a:lnTo>
                    <a:pt x="21907" y="952"/>
                  </a:lnTo>
                  <a:lnTo>
                    <a:pt x="22860" y="0"/>
                  </a:lnTo>
                  <a:lnTo>
                    <a:pt x="15240" y="0"/>
                  </a:lnTo>
                  <a:lnTo>
                    <a:pt x="16192" y="952"/>
                  </a:lnTo>
                  <a:lnTo>
                    <a:pt x="17145" y="952"/>
                  </a:lnTo>
                  <a:lnTo>
                    <a:pt x="19050" y="952"/>
                  </a:lnTo>
                  <a:lnTo>
                    <a:pt x="20002" y="952"/>
                  </a:lnTo>
                  <a:lnTo>
                    <a:pt x="20954" y="952"/>
                  </a:lnTo>
                  <a:lnTo>
                    <a:pt x="21907" y="1905"/>
                  </a:lnTo>
                  <a:lnTo>
                    <a:pt x="22860" y="1905"/>
                  </a:lnTo>
                  <a:lnTo>
                    <a:pt x="23812" y="1905"/>
                  </a:lnTo>
                  <a:lnTo>
                    <a:pt x="24765" y="2857"/>
                  </a:lnTo>
                  <a:lnTo>
                    <a:pt x="25717" y="2857"/>
                  </a:lnTo>
                  <a:lnTo>
                    <a:pt x="26670" y="3810"/>
                  </a:lnTo>
                  <a:lnTo>
                    <a:pt x="27622" y="4762"/>
                  </a:lnTo>
                  <a:lnTo>
                    <a:pt x="28575" y="4762"/>
                  </a:lnTo>
                  <a:lnTo>
                    <a:pt x="29527" y="5905"/>
                  </a:lnTo>
                  <a:lnTo>
                    <a:pt x="30479" y="6858"/>
                  </a:lnTo>
                  <a:lnTo>
                    <a:pt x="31432" y="7810"/>
                  </a:lnTo>
                  <a:lnTo>
                    <a:pt x="32385" y="7810"/>
                  </a:lnTo>
                  <a:lnTo>
                    <a:pt x="33337" y="8763"/>
                  </a:lnTo>
                  <a:lnTo>
                    <a:pt x="33337" y="9715"/>
                  </a:lnTo>
                  <a:lnTo>
                    <a:pt x="34290" y="10668"/>
                  </a:lnTo>
                  <a:lnTo>
                    <a:pt x="35242" y="11620"/>
                  </a:lnTo>
                  <a:lnTo>
                    <a:pt x="35242" y="12573"/>
                  </a:lnTo>
                  <a:lnTo>
                    <a:pt x="36195" y="13525"/>
                  </a:lnTo>
                  <a:lnTo>
                    <a:pt x="36195" y="14478"/>
                  </a:lnTo>
                  <a:lnTo>
                    <a:pt x="37147" y="15430"/>
                  </a:lnTo>
                  <a:lnTo>
                    <a:pt x="37147" y="17335"/>
                  </a:lnTo>
                  <a:lnTo>
                    <a:pt x="37147" y="18288"/>
                  </a:lnTo>
                  <a:lnTo>
                    <a:pt x="38100" y="19240"/>
                  </a:lnTo>
                  <a:lnTo>
                    <a:pt x="38100" y="20193"/>
                  </a:lnTo>
                  <a:lnTo>
                    <a:pt x="38100" y="21145"/>
                  </a:lnTo>
                  <a:lnTo>
                    <a:pt x="38100" y="24003"/>
                  </a:lnTo>
                  <a:lnTo>
                    <a:pt x="38100" y="39243"/>
                  </a:lnTo>
                  <a:lnTo>
                    <a:pt x="37147" y="40195"/>
                  </a:lnTo>
                  <a:lnTo>
                    <a:pt x="37147" y="41148"/>
                  </a:lnTo>
                  <a:lnTo>
                    <a:pt x="37147" y="43053"/>
                  </a:lnTo>
                  <a:lnTo>
                    <a:pt x="36195" y="44005"/>
                  </a:lnTo>
                  <a:lnTo>
                    <a:pt x="36195" y="44958"/>
                  </a:lnTo>
                  <a:lnTo>
                    <a:pt x="35242" y="45910"/>
                  </a:lnTo>
                  <a:lnTo>
                    <a:pt x="35242" y="46863"/>
                  </a:lnTo>
                  <a:lnTo>
                    <a:pt x="34290" y="47815"/>
                  </a:lnTo>
                  <a:lnTo>
                    <a:pt x="33337" y="48768"/>
                  </a:lnTo>
                  <a:lnTo>
                    <a:pt x="33337" y="49720"/>
                  </a:lnTo>
                  <a:lnTo>
                    <a:pt x="32385" y="50673"/>
                  </a:lnTo>
                  <a:lnTo>
                    <a:pt x="31432" y="50673"/>
                  </a:lnTo>
                  <a:lnTo>
                    <a:pt x="30479" y="51625"/>
                  </a:lnTo>
                  <a:lnTo>
                    <a:pt x="29527" y="52578"/>
                  </a:lnTo>
                  <a:lnTo>
                    <a:pt x="28575" y="53530"/>
                  </a:lnTo>
                  <a:lnTo>
                    <a:pt x="27622" y="53530"/>
                  </a:lnTo>
                  <a:lnTo>
                    <a:pt x="26670" y="54483"/>
                  </a:lnTo>
                  <a:lnTo>
                    <a:pt x="25717" y="55435"/>
                  </a:lnTo>
                  <a:lnTo>
                    <a:pt x="24765" y="55435"/>
                  </a:lnTo>
                  <a:lnTo>
                    <a:pt x="23812" y="56388"/>
                  </a:lnTo>
                  <a:lnTo>
                    <a:pt x="22860" y="56388"/>
                  </a:lnTo>
                  <a:lnTo>
                    <a:pt x="21907" y="56388"/>
                  </a:lnTo>
                  <a:lnTo>
                    <a:pt x="20954" y="57340"/>
                  </a:lnTo>
                  <a:lnTo>
                    <a:pt x="15240" y="57340"/>
                  </a:lnTo>
                  <a:lnTo>
                    <a:pt x="22860" y="57340"/>
                  </a:lnTo>
                  <a:lnTo>
                    <a:pt x="17145" y="57340"/>
                  </a:lnTo>
                  <a:lnTo>
                    <a:pt x="16192" y="56388"/>
                  </a:lnTo>
                  <a:lnTo>
                    <a:pt x="15240" y="56388"/>
                  </a:lnTo>
                  <a:lnTo>
                    <a:pt x="14287" y="56388"/>
                  </a:lnTo>
                  <a:lnTo>
                    <a:pt x="13335" y="55435"/>
                  </a:lnTo>
                  <a:lnTo>
                    <a:pt x="12382" y="55435"/>
                  </a:lnTo>
                  <a:lnTo>
                    <a:pt x="11429" y="54483"/>
                  </a:lnTo>
                  <a:lnTo>
                    <a:pt x="10477" y="53530"/>
                  </a:lnTo>
                  <a:lnTo>
                    <a:pt x="9525" y="53530"/>
                  </a:lnTo>
                  <a:lnTo>
                    <a:pt x="8572" y="52578"/>
                  </a:lnTo>
                  <a:lnTo>
                    <a:pt x="7620" y="51625"/>
                  </a:lnTo>
                  <a:lnTo>
                    <a:pt x="6667" y="50673"/>
                  </a:lnTo>
                  <a:lnTo>
                    <a:pt x="5715" y="50673"/>
                  </a:lnTo>
                  <a:lnTo>
                    <a:pt x="5715" y="49720"/>
                  </a:lnTo>
                  <a:lnTo>
                    <a:pt x="4762" y="48768"/>
                  </a:lnTo>
                  <a:lnTo>
                    <a:pt x="3810" y="47815"/>
                  </a:lnTo>
                  <a:lnTo>
                    <a:pt x="3810" y="46863"/>
                  </a:lnTo>
                  <a:lnTo>
                    <a:pt x="2857" y="45910"/>
                  </a:lnTo>
                  <a:lnTo>
                    <a:pt x="1904" y="44958"/>
                  </a:lnTo>
                  <a:lnTo>
                    <a:pt x="1904" y="44005"/>
                  </a:lnTo>
                  <a:lnTo>
                    <a:pt x="1904" y="43053"/>
                  </a:lnTo>
                  <a:lnTo>
                    <a:pt x="952" y="41148"/>
                  </a:lnTo>
                  <a:lnTo>
                    <a:pt x="952" y="40195"/>
                  </a:lnTo>
                  <a:lnTo>
                    <a:pt x="952" y="39243"/>
                  </a:lnTo>
                  <a:lnTo>
                    <a:pt x="0" y="38290"/>
                  </a:lnTo>
                  <a:lnTo>
                    <a:pt x="0" y="37338"/>
                  </a:lnTo>
                  <a:lnTo>
                    <a:pt x="0" y="36385"/>
                  </a:lnTo>
                  <a:lnTo>
                    <a:pt x="0" y="34480"/>
                  </a:lnTo>
                  <a:close/>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88" name="Google Shape;488;g1ead90bba03_0_366"/>
          <p:cNvSpPr txBox="1"/>
          <p:nvPr/>
        </p:nvSpPr>
        <p:spPr>
          <a:xfrm>
            <a:off x="6507033" y="4751726"/>
            <a:ext cx="115200" cy="201300"/>
          </a:xfrm>
          <a:prstGeom prst="rect">
            <a:avLst/>
          </a:prstGeom>
          <a:noFill/>
          <a:ln>
            <a:noFill/>
          </a:ln>
        </p:spPr>
        <p:txBody>
          <a:bodyPr anchorCtr="0" anchor="t" bIns="0" lIns="0" spcFirstLastPara="1" rIns="0" wrap="square" tIns="16500">
            <a:sp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Q</a:t>
            </a:r>
            <a:endParaRPr b="0" i="0" sz="1400" u="none" cap="none" strike="noStrike">
              <a:solidFill>
                <a:srgbClr val="000000"/>
              </a:solidFill>
              <a:latin typeface="Arial"/>
              <a:ea typeface="Arial"/>
              <a:cs typeface="Arial"/>
              <a:sym typeface="Arial"/>
            </a:endParaRPr>
          </a:p>
        </p:txBody>
      </p:sp>
      <p:sp>
        <p:nvSpPr>
          <p:cNvPr id="489" name="Google Shape;489;g1ead90bba03_0_366"/>
          <p:cNvSpPr txBox="1"/>
          <p:nvPr/>
        </p:nvSpPr>
        <p:spPr>
          <a:xfrm>
            <a:off x="5757784" y="2396847"/>
            <a:ext cx="399600" cy="247500"/>
          </a:xfrm>
          <a:prstGeom prst="rect">
            <a:avLst/>
          </a:prstGeom>
          <a:noFill/>
          <a:ln>
            <a:noFill/>
          </a:ln>
        </p:spPr>
        <p:txBody>
          <a:bodyPr anchorCtr="0" anchor="t" bIns="0" lIns="0" spcFirstLastPara="1" rIns="0" wrap="square" tIns="16500">
            <a:spAutoFit/>
          </a:bodyPr>
          <a:lstStyle/>
          <a:p>
            <a:pPr indent="0" lvl="0" marL="38100" marR="0" rtl="0" algn="l">
              <a:lnSpc>
                <a:spcPct val="100000"/>
              </a:lnSpc>
              <a:spcBef>
                <a:spcPts val="0"/>
              </a:spcBef>
              <a:spcAft>
                <a:spcPts val="0"/>
              </a:spcAft>
              <a:buClr>
                <a:srgbClr val="000000"/>
              </a:buClr>
              <a:buSzPts val="1200"/>
              <a:buFont typeface="Times New Roman"/>
              <a:buNone/>
            </a:pPr>
            <a:r>
              <a:rPr b="1" i="1" lang="en-US" sz="1200" u="none" cap="none" strike="noStrike">
                <a:solidFill>
                  <a:srgbClr val="000000"/>
                </a:solidFill>
                <a:latin typeface="Times New Roman"/>
                <a:ea typeface="Times New Roman"/>
                <a:cs typeface="Times New Roman"/>
                <a:sym typeface="Times New Roman"/>
              </a:rPr>
              <a:t>Y</a:t>
            </a:r>
            <a:r>
              <a:rPr b="1" baseline="-25000" i="0" lang="en-US" sz="1500" u="none" cap="none" strike="noStrike">
                <a:solidFill>
                  <a:srgbClr val="000000"/>
                </a:solidFill>
                <a:latin typeface="Times New Roman"/>
                <a:ea typeface="Times New Roman"/>
                <a:cs typeface="Times New Roman"/>
                <a:sym typeface="Times New Roman"/>
              </a:rPr>
              <a:t>2</a:t>
            </a:r>
            <a:endParaRPr b="1" i="0" sz="1400" u="none" cap="none" strike="noStrike">
              <a:solidFill>
                <a:srgbClr val="000000"/>
              </a:solidFill>
              <a:latin typeface="Arial"/>
              <a:ea typeface="Arial"/>
              <a:cs typeface="Arial"/>
              <a:sym typeface="Arial"/>
            </a:endParaRPr>
          </a:p>
        </p:txBody>
      </p:sp>
      <p:sp>
        <p:nvSpPr>
          <p:cNvPr id="490" name="Google Shape;490;g1ead90bba03_0_366"/>
          <p:cNvSpPr txBox="1"/>
          <p:nvPr/>
        </p:nvSpPr>
        <p:spPr>
          <a:xfrm>
            <a:off x="5757782" y="4045529"/>
            <a:ext cx="336000" cy="247500"/>
          </a:xfrm>
          <a:prstGeom prst="rect">
            <a:avLst/>
          </a:prstGeom>
          <a:noFill/>
          <a:ln>
            <a:noFill/>
          </a:ln>
        </p:spPr>
        <p:txBody>
          <a:bodyPr anchorCtr="0" anchor="t" bIns="0" lIns="0" spcFirstLastPara="1" rIns="0" wrap="square" tIns="16500">
            <a:spAutoFit/>
          </a:bodyPr>
          <a:lstStyle/>
          <a:p>
            <a:pPr indent="0" lvl="0" marL="38100" marR="0" rtl="0" algn="l">
              <a:lnSpc>
                <a:spcPct val="100000"/>
              </a:lnSpc>
              <a:spcBef>
                <a:spcPts val="0"/>
              </a:spcBef>
              <a:spcAft>
                <a:spcPts val="0"/>
              </a:spcAft>
              <a:buClr>
                <a:srgbClr val="000000"/>
              </a:buClr>
              <a:buSzPts val="1200"/>
              <a:buFont typeface="Times New Roman"/>
              <a:buNone/>
            </a:pPr>
            <a:r>
              <a:rPr b="1" i="1" lang="en-US" sz="1200" u="none" cap="none" strike="noStrike">
                <a:solidFill>
                  <a:srgbClr val="000000"/>
                </a:solidFill>
                <a:latin typeface="Times New Roman"/>
                <a:ea typeface="Times New Roman"/>
                <a:cs typeface="Times New Roman"/>
                <a:sym typeface="Times New Roman"/>
              </a:rPr>
              <a:t>Y</a:t>
            </a:r>
            <a:r>
              <a:rPr b="1" baseline="-25000" i="0" lang="en-US" sz="1500" u="none" cap="none" strike="noStrike">
                <a:solidFill>
                  <a:srgbClr val="000000"/>
                </a:solidFill>
                <a:latin typeface="Times New Roman"/>
                <a:ea typeface="Times New Roman"/>
                <a:cs typeface="Times New Roman"/>
                <a:sym typeface="Times New Roman"/>
              </a:rPr>
              <a:t>1</a:t>
            </a:r>
            <a:endParaRPr b="1" i="0" sz="1400" u="none" cap="none" strike="noStrike">
              <a:solidFill>
                <a:srgbClr val="000000"/>
              </a:solidFill>
              <a:latin typeface="Arial"/>
              <a:ea typeface="Arial"/>
              <a:cs typeface="Arial"/>
              <a:sym typeface="Arial"/>
            </a:endParaRPr>
          </a:p>
        </p:txBody>
      </p:sp>
      <p:sp>
        <p:nvSpPr>
          <p:cNvPr id="491" name="Google Shape;491;g1ead90bba03_0_366"/>
          <p:cNvSpPr txBox="1"/>
          <p:nvPr/>
        </p:nvSpPr>
        <p:spPr>
          <a:xfrm>
            <a:off x="2821965" y="4325012"/>
            <a:ext cx="118500" cy="20130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w</a:t>
            </a:r>
            <a:endParaRPr b="0" i="0" sz="1400" u="none" cap="none" strike="noStrike">
              <a:solidFill>
                <a:srgbClr val="000000"/>
              </a:solidFill>
              <a:latin typeface="Arial"/>
              <a:ea typeface="Arial"/>
              <a:cs typeface="Arial"/>
              <a:sym typeface="Arial"/>
            </a:endParaRPr>
          </a:p>
        </p:txBody>
      </p:sp>
      <p:sp>
        <p:nvSpPr>
          <p:cNvPr id="492" name="Google Shape;492;g1ead90bba03_0_366"/>
          <p:cNvSpPr txBox="1"/>
          <p:nvPr/>
        </p:nvSpPr>
        <p:spPr>
          <a:xfrm>
            <a:off x="2445424" y="5324400"/>
            <a:ext cx="471000" cy="447600"/>
          </a:xfrm>
          <a:prstGeom prst="rect">
            <a:avLst/>
          </a:prstGeom>
          <a:noFill/>
          <a:ln>
            <a:noFill/>
          </a:ln>
        </p:spPr>
        <p:txBody>
          <a:bodyPr anchorCtr="0" anchor="t" bIns="0" lIns="0" spcFirstLastPara="1" rIns="0" wrap="square" tIns="11425">
            <a:spAutoFit/>
          </a:bodyPr>
          <a:lstStyle/>
          <a:p>
            <a:pPr indent="63500" lvl="0" marL="12700" marR="0" rtl="0" algn="l">
              <a:lnSpc>
                <a:spcPct val="136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Clock  Resetn</a:t>
            </a:r>
            <a:endParaRPr b="0" i="0" sz="1400" u="none" cap="none" strike="noStrike">
              <a:solidFill>
                <a:srgbClr val="000000"/>
              </a:solidFill>
              <a:latin typeface="Arial"/>
              <a:ea typeface="Arial"/>
              <a:cs typeface="Arial"/>
              <a:sym typeface="Arial"/>
            </a:endParaRPr>
          </a:p>
        </p:txBody>
      </p:sp>
      <p:sp>
        <p:nvSpPr>
          <p:cNvPr id="493" name="Google Shape;493;g1ead90bba03_0_366"/>
          <p:cNvSpPr txBox="1"/>
          <p:nvPr/>
        </p:nvSpPr>
        <p:spPr>
          <a:xfrm>
            <a:off x="7731211" y="2629287"/>
            <a:ext cx="78000" cy="201300"/>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1200"/>
              <a:buFont typeface="Times New Roman"/>
              <a:buNone/>
            </a:pPr>
            <a:r>
              <a:rPr b="0" i="1" lang="en-US" sz="1200" u="none" cap="none" strike="noStrike">
                <a:solidFill>
                  <a:srgbClr val="000000"/>
                </a:solidFill>
                <a:latin typeface="Times New Roman"/>
                <a:ea typeface="Times New Roman"/>
                <a:cs typeface="Times New Roman"/>
                <a:sym typeface="Times New Roman"/>
              </a:rPr>
              <a:t>z</a:t>
            </a:r>
            <a:endParaRPr b="0" i="0" sz="1400" u="none" cap="none" strike="noStrike">
              <a:solidFill>
                <a:srgbClr val="000000"/>
              </a:solidFill>
              <a:latin typeface="Arial"/>
              <a:ea typeface="Arial"/>
              <a:cs typeface="Arial"/>
              <a:sym typeface="Arial"/>
            </a:endParaRPr>
          </a:p>
        </p:txBody>
      </p:sp>
      <p:sp>
        <p:nvSpPr>
          <p:cNvPr id="494" name="Google Shape;494;g1ead90bba03_0_366"/>
          <p:cNvSpPr txBox="1"/>
          <p:nvPr/>
        </p:nvSpPr>
        <p:spPr>
          <a:xfrm>
            <a:off x="6851023" y="4045531"/>
            <a:ext cx="336000" cy="247500"/>
          </a:xfrm>
          <a:prstGeom prst="rect">
            <a:avLst/>
          </a:prstGeom>
          <a:noFill/>
          <a:ln>
            <a:noFill/>
          </a:ln>
        </p:spPr>
        <p:txBody>
          <a:bodyPr anchorCtr="0" anchor="t" bIns="0" lIns="0" spcFirstLastPara="1" rIns="0" wrap="square" tIns="16500">
            <a:spAutoFit/>
          </a:bodyPr>
          <a:lstStyle/>
          <a:p>
            <a:pPr indent="0" lvl="0" marL="38100" marR="0" rtl="0" algn="l">
              <a:lnSpc>
                <a:spcPct val="100000"/>
              </a:lnSpc>
              <a:spcBef>
                <a:spcPts val="0"/>
              </a:spcBef>
              <a:spcAft>
                <a:spcPts val="0"/>
              </a:spcAft>
              <a:buClr>
                <a:srgbClr val="000000"/>
              </a:buClr>
              <a:buSzPts val="1200"/>
              <a:buFont typeface="Times New Roman"/>
              <a:buNone/>
            </a:pPr>
            <a:r>
              <a:rPr b="1" i="1" lang="en-US" sz="1200" u="none" cap="none" strike="noStrike">
                <a:solidFill>
                  <a:srgbClr val="000000"/>
                </a:solidFill>
                <a:latin typeface="Times New Roman"/>
                <a:ea typeface="Times New Roman"/>
                <a:cs typeface="Times New Roman"/>
                <a:sym typeface="Times New Roman"/>
              </a:rPr>
              <a:t>y</a:t>
            </a:r>
            <a:r>
              <a:rPr b="1" baseline="-25000" i="0" lang="en-US" sz="1500" u="none" cap="none" strike="noStrike">
                <a:solidFill>
                  <a:srgbClr val="000000"/>
                </a:solidFill>
                <a:latin typeface="Times New Roman"/>
                <a:ea typeface="Times New Roman"/>
                <a:cs typeface="Times New Roman"/>
                <a:sym typeface="Times New Roman"/>
              </a:rPr>
              <a:t>1</a:t>
            </a:r>
            <a:endParaRPr b="1" i="0" sz="1400" u="none" cap="none" strike="noStrike">
              <a:solidFill>
                <a:srgbClr val="000000"/>
              </a:solidFill>
              <a:latin typeface="Arial"/>
              <a:ea typeface="Arial"/>
              <a:cs typeface="Arial"/>
              <a:sym typeface="Arial"/>
            </a:endParaRPr>
          </a:p>
        </p:txBody>
      </p:sp>
      <p:sp>
        <p:nvSpPr>
          <p:cNvPr id="495" name="Google Shape;495;g1ead90bba03_0_366"/>
          <p:cNvSpPr txBox="1"/>
          <p:nvPr/>
        </p:nvSpPr>
        <p:spPr>
          <a:xfrm>
            <a:off x="6851023" y="2396848"/>
            <a:ext cx="336000" cy="247500"/>
          </a:xfrm>
          <a:prstGeom prst="rect">
            <a:avLst/>
          </a:prstGeom>
          <a:noFill/>
          <a:ln>
            <a:noFill/>
          </a:ln>
        </p:spPr>
        <p:txBody>
          <a:bodyPr anchorCtr="0" anchor="t" bIns="0" lIns="0" spcFirstLastPara="1" rIns="0" wrap="square" tIns="16500">
            <a:spAutoFit/>
          </a:bodyPr>
          <a:lstStyle/>
          <a:p>
            <a:pPr indent="0" lvl="0" marL="38100" marR="0" rtl="0" algn="l">
              <a:lnSpc>
                <a:spcPct val="100000"/>
              </a:lnSpc>
              <a:spcBef>
                <a:spcPts val="0"/>
              </a:spcBef>
              <a:spcAft>
                <a:spcPts val="0"/>
              </a:spcAft>
              <a:buClr>
                <a:srgbClr val="000000"/>
              </a:buClr>
              <a:buSzPts val="1200"/>
              <a:buFont typeface="Times New Roman"/>
              <a:buNone/>
            </a:pPr>
            <a:r>
              <a:rPr b="1" i="1" lang="en-US" sz="1200" u="none" cap="none" strike="noStrike">
                <a:solidFill>
                  <a:srgbClr val="000000"/>
                </a:solidFill>
                <a:latin typeface="Times New Roman"/>
                <a:ea typeface="Times New Roman"/>
                <a:cs typeface="Times New Roman"/>
                <a:sym typeface="Times New Roman"/>
              </a:rPr>
              <a:t>y</a:t>
            </a:r>
            <a:r>
              <a:rPr b="1" baseline="-25000" i="0" lang="en-US" sz="1500" u="none" cap="none" strike="noStrike">
                <a:solidFill>
                  <a:srgbClr val="000000"/>
                </a:solidFill>
                <a:latin typeface="Times New Roman"/>
                <a:ea typeface="Times New Roman"/>
                <a:cs typeface="Times New Roman"/>
                <a:sym typeface="Times New Roman"/>
              </a:rPr>
              <a:t>2</a:t>
            </a:r>
            <a:endParaRPr b="1" i="0" sz="1400" u="none" cap="none" strike="noStrike">
              <a:solidFill>
                <a:srgbClr val="000000"/>
              </a:solidFill>
              <a:latin typeface="Arial"/>
              <a:ea typeface="Arial"/>
              <a:cs typeface="Arial"/>
              <a:sym typeface="Arial"/>
            </a:endParaRPr>
          </a:p>
        </p:txBody>
      </p:sp>
      <p:sp>
        <p:nvSpPr>
          <p:cNvPr id="496" name="Google Shape;496;g1ead90bba03_0_366"/>
          <p:cNvSpPr/>
          <p:nvPr/>
        </p:nvSpPr>
        <p:spPr>
          <a:xfrm>
            <a:off x="5624065" y="4840779"/>
            <a:ext cx="471068" cy="0"/>
          </a:xfrm>
          <a:custGeom>
            <a:rect b="b" l="l" r="r" t="t"/>
            <a:pathLst>
              <a:path extrusionOk="0" h="120000" w="535304">
                <a:moveTo>
                  <a:pt x="534733" y="0"/>
                </a:moveTo>
                <a:lnTo>
                  <a:pt x="0" y="0"/>
                </a:lnTo>
              </a:path>
            </a:pathLst>
          </a:custGeom>
          <a:noFill/>
          <a:ln cap="flat" cmpd="sng" w="181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7" name="Google Shape;497;g1ead90bba03_0_366"/>
          <p:cNvSpPr txBox="1"/>
          <p:nvPr/>
        </p:nvSpPr>
        <p:spPr>
          <a:xfrm>
            <a:off x="8447175" y="2314950"/>
            <a:ext cx="2162100" cy="2375700"/>
          </a:xfrm>
          <a:prstGeom prst="rect">
            <a:avLst/>
          </a:prstGeom>
          <a:noFill/>
          <a:ln cap="flat" cmpd="sng" w="19050">
            <a:solidFill>
              <a:srgbClr val="000000"/>
            </a:solidFill>
            <a:prstDash val="solid"/>
            <a:round/>
            <a:headEnd len="sm" w="sm" type="none"/>
            <a:tailEnd len="sm" w="sm" type="none"/>
          </a:ln>
        </p:spPr>
        <p:txBody>
          <a:bodyPr anchorCtr="0" anchor="t" bIns="0" lIns="0" spcFirstLastPara="1" rIns="0" wrap="square" tIns="5075">
            <a:spAutoFit/>
          </a:bodyPr>
          <a:lstStyle/>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_  _</a:t>
            </a:r>
            <a:endParaRPr b="0" i="0" sz="2000" u="none" cap="none" strike="noStrike">
              <a:solidFill>
                <a:srgbClr val="000000"/>
              </a:solidFill>
              <a:latin typeface="Times New Roman"/>
              <a:ea typeface="Times New Roman"/>
              <a:cs typeface="Times New Roman"/>
              <a:sym typeface="Times New Roman"/>
            </a:endParaRPr>
          </a:p>
          <a:p>
            <a:pPr indent="-317500" lvl="0" marL="457200" marR="0" rtl="0" algn="l">
              <a:lnSpc>
                <a:spcPct val="100000"/>
              </a:lnSpc>
              <a:spcBef>
                <a:spcPts val="0"/>
              </a:spcBef>
              <a:spcAft>
                <a:spcPts val="0"/>
              </a:spcAft>
              <a:buClr>
                <a:srgbClr val="000000"/>
              </a:buClr>
              <a:buSzPts val="1400"/>
              <a:buFont typeface="Times New Roman"/>
              <a:buChar char="❏"/>
            </a:pPr>
            <a:r>
              <a:rPr b="1" i="1" lang="en-US" sz="1400" u="none" cap="none" strike="noStrike">
                <a:solidFill>
                  <a:srgbClr val="000000"/>
                </a:solidFill>
                <a:latin typeface="Times New Roman"/>
                <a:ea typeface="Times New Roman"/>
                <a:cs typeface="Times New Roman"/>
                <a:sym typeface="Times New Roman"/>
              </a:rPr>
              <a:t> Y </a:t>
            </a:r>
            <a:r>
              <a:rPr b="1" baseline="-25000" i="0" lang="en-US" sz="2000" u="none" cap="none" strike="noStrike">
                <a:solidFill>
                  <a:srgbClr val="000000"/>
                </a:solidFill>
                <a:latin typeface="Times New Roman"/>
                <a:ea typeface="Times New Roman"/>
                <a:cs typeface="Times New Roman"/>
                <a:sym typeface="Times New Roman"/>
              </a:rPr>
              <a:t>1 </a:t>
            </a:r>
            <a:r>
              <a:rPr b="1" i="0" lang="en-US" sz="1400" u="none" cap="none" strike="noStrike">
                <a:solidFill>
                  <a:srgbClr val="000000"/>
                </a:solidFill>
                <a:latin typeface="Times New Roman"/>
                <a:ea typeface="Times New Roman"/>
                <a:cs typeface="Times New Roman"/>
                <a:sym typeface="Times New Roman"/>
              </a:rPr>
              <a:t>= </a:t>
            </a:r>
            <a:r>
              <a:rPr b="1" i="1" lang="en-US" sz="1400" u="none" cap="none" strike="noStrike">
                <a:solidFill>
                  <a:srgbClr val="000000"/>
                </a:solidFill>
                <a:latin typeface="Times New Roman"/>
                <a:ea typeface="Times New Roman"/>
                <a:cs typeface="Times New Roman"/>
                <a:sym typeface="Times New Roman"/>
              </a:rPr>
              <a:t>wy </a:t>
            </a:r>
            <a:r>
              <a:rPr b="1" baseline="-25000" i="0" lang="en-US" sz="2000" u="none" cap="none" strike="noStrike">
                <a:solidFill>
                  <a:srgbClr val="000000"/>
                </a:solidFill>
                <a:latin typeface="Times New Roman"/>
                <a:ea typeface="Times New Roman"/>
                <a:cs typeface="Times New Roman"/>
                <a:sym typeface="Times New Roman"/>
              </a:rPr>
              <a:t>1 </a:t>
            </a:r>
            <a:r>
              <a:rPr b="1" i="1" lang="en-US" sz="1400" u="none" cap="none" strike="noStrike">
                <a:solidFill>
                  <a:srgbClr val="000000"/>
                </a:solidFill>
                <a:latin typeface="Times New Roman"/>
                <a:ea typeface="Times New Roman"/>
                <a:cs typeface="Times New Roman"/>
                <a:sym typeface="Times New Roman"/>
              </a:rPr>
              <a:t>y </a:t>
            </a:r>
            <a:r>
              <a:rPr b="1" baseline="-25000" i="0" lang="en-US" sz="2000" u="none" cap="none" strike="noStrike">
                <a:solidFill>
                  <a:srgbClr val="000000"/>
                </a:solidFill>
                <a:latin typeface="Times New Roman"/>
                <a:ea typeface="Times New Roman"/>
                <a:cs typeface="Times New Roman"/>
                <a:sym typeface="Times New Roman"/>
              </a:rPr>
              <a:t>2</a:t>
            </a:r>
            <a:endParaRPr b="0" i="0" sz="22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900"/>
              <a:buFont typeface="Arial"/>
              <a:buNone/>
            </a:pPr>
            <a:r>
              <a:t/>
            </a:r>
            <a:endParaRPr b="0" i="0" sz="2900" u="none" cap="none" strike="noStrike">
              <a:solidFill>
                <a:srgbClr val="000000"/>
              </a:solidFill>
              <a:latin typeface="Times New Roman"/>
              <a:ea typeface="Times New Roman"/>
              <a:cs typeface="Times New Roman"/>
              <a:sym typeface="Times New Roman"/>
            </a:endParaRPr>
          </a:p>
          <a:p>
            <a:pPr indent="-317500" lvl="0" marL="457200" marR="0" rtl="0" algn="l">
              <a:lnSpc>
                <a:spcPct val="100000"/>
              </a:lnSpc>
              <a:spcBef>
                <a:spcPts val="0"/>
              </a:spcBef>
              <a:spcAft>
                <a:spcPts val="0"/>
              </a:spcAft>
              <a:buClr>
                <a:srgbClr val="000000"/>
              </a:buClr>
              <a:buSzPts val="1400"/>
              <a:buFont typeface="Times New Roman"/>
              <a:buChar char="❏"/>
            </a:pPr>
            <a:r>
              <a:rPr b="1" i="1" lang="en-US" sz="1400" u="none" cap="none" strike="noStrike">
                <a:solidFill>
                  <a:srgbClr val="000000"/>
                </a:solidFill>
                <a:latin typeface="Times New Roman"/>
                <a:ea typeface="Times New Roman"/>
                <a:cs typeface="Times New Roman"/>
                <a:sym typeface="Times New Roman"/>
              </a:rPr>
              <a:t> Y </a:t>
            </a:r>
            <a:r>
              <a:rPr b="1" baseline="-25000" i="0" lang="en-US" sz="2000" u="none" cap="none" strike="noStrike">
                <a:solidFill>
                  <a:srgbClr val="000000"/>
                </a:solidFill>
                <a:latin typeface="Times New Roman"/>
                <a:ea typeface="Times New Roman"/>
                <a:cs typeface="Times New Roman"/>
                <a:sym typeface="Times New Roman"/>
              </a:rPr>
              <a:t>2  </a:t>
            </a:r>
            <a:r>
              <a:rPr b="1" i="0" lang="en-US" sz="1400" u="none" cap="none" strike="noStrike">
                <a:solidFill>
                  <a:srgbClr val="000000"/>
                </a:solidFill>
                <a:latin typeface="Times New Roman"/>
                <a:ea typeface="Times New Roman"/>
                <a:cs typeface="Times New Roman"/>
                <a:sym typeface="Times New Roman"/>
              </a:rPr>
              <a:t>=   </a:t>
            </a:r>
            <a:r>
              <a:rPr b="1" i="1" lang="en-US" sz="1400" u="none" cap="none" strike="noStrike">
                <a:solidFill>
                  <a:srgbClr val="000000"/>
                </a:solidFill>
                <a:latin typeface="Times New Roman"/>
                <a:ea typeface="Times New Roman"/>
                <a:cs typeface="Times New Roman"/>
                <a:sym typeface="Times New Roman"/>
              </a:rPr>
              <a:t>w ( y </a:t>
            </a:r>
            <a:r>
              <a:rPr b="1" baseline="-25000" i="0" lang="en-US" sz="2000" u="none" cap="none" strike="noStrike">
                <a:solidFill>
                  <a:srgbClr val="000000"/>
                </a:solidFill>
                <a:latin typeface="Times New Roman"/>
                <a:ea typeface="Times New Roman"/>
                <a:cs typeface="Times New Roman"/>
                <a:sym typeface="Times New Roman"/>
              </a:rPr>
              <a:t>1 </a:t>
            </a:r>
            <a:r>
              <a:rPr b="1" i="0" lang="en-US" sz="1400" u="none" cap="none" strike="noStrike">
                <a:solidFill>
                  <a:srgbClr val="000000"/>
                </a:solidFill>
                <a:latin typeface="Times New Roman"/>
                <a:ea typeface="Times New Roman"/>
                <a:cs typeface="Times New Roman"/>
                <a:sym typeface="Times New Roman"/>
              </a:rPr>
              <a:t>+  </a:t>
            </a:r>
            <a:r>
              <a:rPr b="1" i="1" lang="en-US" sz="1400" u="none" cap="none" strike="noStrike">
                <a:solidFill>
                  <a:srgbClr val="000000"/>
                </a:solidFill>
                <a:latin typeface="Times New Roman"/>
                <a:ea typeface="Times New Roman"/>
                <a:cs typeface="Times New Roman"/>
                <a:sym typeface="Times New Roman"/>
              </a:rPr>
              <a:t>y </a:t>
            </a:r>
            <a:r>
              <a:rPr b="1" baseline="-25000" i="0" lang="en-US" sz="2000" u="none" cap="none" strike="noStrike">
                <a:solidFill>
                  <a:srgbClr val="000000"/>
                </a:solidFill>
                <a:latin typeface="Times New Roman"/>
                <a:ea typeface="Times New Roman"/>
                <a:cs typeface="Times New Roman"/>
                <a:sym typeface="Times New Roman"/>
              </a:rPr>
              <a:t>2</a:t>
            </a:r>
            <a:r>
              <a:rPr b="1" i="0" lang="en-US" sz="1400" u="none" cap="none" strike="noStrike">
                <a:solidFill>
                  <a:srgbClr val="000000"/>
                </a:solidFill>
                <a:latin typeface="Times New Roman"/>
                <a:ea typeface="Times New Roman"/>
                <a:cs typeface="Times New Roman"/>
                <a:sym typeface="Times New Roman"/>
              </a:rPr>
              <a:t>)</a:t>
            </a:r>
            <a:endParaRPr b="0" i="0" sz="23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Times New Roman"/>
              <a:ea typeface="Times New Roman"/>
              <a:cs typeface="Times New Roman"/>
              <a:sym typeface="Times New Roman"/>
            </a:endParaRPr>
          </a:p>
          <a:p>
            <a:pPr indent="-317500" lvl="0" marL="457200" marR="0" rtl="0" algn="l">
              <a:lnSpc>
                <a:spcPct val="100000"/>
              </a:lnSpc>
              <a:spcBef>
                <a:spcPts val="0"/>
              </a:spcBef>
              <a:spcAft>
                <a:spcPts val="0"/>
              </a:spcAft>
              <a:buClr>
                <a:srgbClr val="000000"/>
              </a:buClr>
              <a:buSzPts val="1400"/>
              <a:buFont typeface="Times New Roman"/>
              <a:buChar char="❏"/>
            </a:pPr>
            <a:r>
              <a:rPr b="1" i="1" lang="en-US" sz="1400" u="none" cap="none" strike="noStrike">
                <a:solidFill>
                  <a:srgbClr val="000000"/>
                </a:solidFill>
                <a:latin typeface="Times New Roman"/>
                <a:ea typeface="Times New Roman"/>
                <a:cs typeface="Times New Roman"/>
                <a:sym typeface="Times New Roman"/>
              </a:rPr>
              <a:t> z </a:t>
            </a:r>
            <a:r>
              <a:rPr b="1" i="0" lang="en-US" sz="1400" u="none" cap="none" strike="noStrike">
                <a:solidFill>
                  <a:srgbClr val="000000"/>
                </a:solidFill>
                <a:latin typeface="Times New Roman"/>
                <a:ea typeface="Times New Roman"/>
                <a:cs typeface="Times New Roman"/>
                <a:sym typeface="Times New Roman"/>
              </a:rPr>
              <a:t>= </a:t>
            </a:r>
            <a:r>
              <a:rPr b="1" i="1" lang="en-US" sz="1400" u="none" cap="none" strike="noStrike">
                <a:solidFill>
                  <a:srgbClr val="000000"/>
                </a:solidFill>
                <a:latin typeface="Times New Roman"/>
                <a:ea typeface="Times New Roman"/>
                <a:cs typeface="Times New Roman"/>
                <a:sym typeface="Times New Roman"/>
              </a:rPr>
              <a:t>y </a:t>
            </a:r>
            <a:r>
              <a:rPr b="1" baseline="-25000" i="0" lang="en-US" sz="2000" u="none" cap="none" strike="noStrike">
                <a:solidFill>
                  <a:srgbClr val="000000"/>
                </a:solidFill>
                <a:latin typeface="Times New Roman"/>
                <a:ea typeface="Times New Roman"/>
                <a:cs typeface="Times New Roman"/>
                <a:sym typeface="Times New Roman"/>
              </a:rPr>
              <a:t>2</a:t>
            </a:r>
            <a:endParaRPr b="1" baseline="-2500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1" baseline="-2500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22aa7826dbd_0_16"/>
          <p:cNvSpPr/>
          <p:nvPr/>
        </p:nvSpPr>
        <p:spPr>
          <a:xfrm>
            <a:off x="10264525" y="1839675"/>
            <a:ext cx="1011300" cy="1233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03" name="Google Shape;503;g22aa7826dbd_0_16"/>
          <p:cNvCxnSpPr/>
          <p:nvPr/>
        </p:nvCxnSpPr>
        <p:spPr>
          <a:xfrm>
            <a:off x="9934925" y="2171675"/>
            <a:ext cx="332400" cy="0"/>
          </a:xfrm>
          <a:prstGeom prst="straightConnector1">
            <a:avLst/>
          </a:prstGeom>
          <a:noFill/>
          <a:ln cap="flat" cmpd="sng" w="9525">
            <a:solidFill>
              <a:schemeClr val="dk2"/>
            </a:solidFill>
            <a:prstDash val="solid"/>
            <a:round/>
            <a:headEnd len="sm" w="sm" type="none"/>
            <a:tailEnd len="sm" w="sm" type="none"/>
          </a:ln>
        </p:spPr>
      </p:cxnSp>
      <p:cxnSp>
        <p:nvCxnSpPr>
          <p:cNvPr id="504" name="Google Shape;504;g22aa7826dbd_0_16"/>
          <p:cNvCxnSpPr/>
          <p:nvPr/>
        </p:nvCxnSpPr>
        <p:spPr>
          <a:xfrm>
            <a:off x="9934925" y="2826900"/>
            <a:ext cx="332400" cy="0"/>
          </a:xfrm>
          <a:prstGeom prst="straightConnector1">
            <a:avLst/>
          </a:prstGeom>
          <a:noFill/>
          <a:ln cap="flat" cmpd="sng" w="9525">
            <a:solidFill>
              <a:schemeClr val="dk2"/>
            </a:solidFill>
            <a:prstDash val="solid"/>
            <a:round/>
            <a:headEnd len="sm" w="sm" type="none"/>
            <a:tailEnd len="sm" w="sm" type="none"/>
          </a:ln>
        </p:spPr>
      </p:cxnSp>
      <p:cxnSp>
        <p:nvCxnSpPr>
          <p:cNvPr id="505" name="Google Shape;505;g22aa7826dbd_0_16"/>
          <p:cNvCxnSpPr/>
          <p:nvPr/>
        </p:nvCxnSpPr>
        <p:spPr>
          <a:xfrm>
            <a:off x="11303175" y="2210850"/>
            <a:ext cx="332400" cy="0"/>
          </a:xfrm>
          <a:prstGeom prst="straightConnector1">
            <a:avLst/>
          </a:prstGeom>
          <a:noFill/>
          <a:ln cap="flat" cmpd="sng" w="9525">
            <a:solidFill>
              <a:schemeClr val="dk2"/>
            </a:solidFill>
            <a:prstDash val="solid"/>
            <a:round/>
            <a:headEnd len="sm" w="sm" type="none"/>
            <a:tailEnd len="sm" w="sm" type="none"/>
          </a:ln>
        </p:spPr>
      </p:cxnSp>
      <p:sp>
        <p:nvSpPr>
          <p:cNvPr id="506" name="Google Shape;506;g22aa7826dbd_0_16"/>
          <p:cNvSpPr txBox="1"/>
          <p:nvPr/>
        </p:nvSpPr>
        <p:spPr>
          <a:xfrm>
            <a:off x="9533100" y="1894575"/>
            <a:ext cx="40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w</a:t>
            </a:r>
            <a:endParaRPr b="0" i="0" sz="1400" u="none" cap="none" strike="noStrike">
              <a:solidFill>
                <a:srgbClr val="000000"/>
              </a:solidFill>
              <a:latin typeface="Arial"/>
              <a:ea typeface="Arial"/>
              <a:cs typeface="Arial"/>
              <a:sym typeface="Arial"/>
            </a:endParaRPr>
          </a:p>
        </p:txBody>
      </p:sp>
      <p:sp>
        <p:nvSpPr>
          <p:cNvPr id="507" name="Google Shape;507;g22aa7826dbd_0_16"/>
          <p:cNvSpPr txBox="1"/>
          <p:nvPr/>
        </p:nvSpPr>
        <p:spPr>
          <a:xfrm>
            <a:off x="9449850" y="2525175"/>
            <a:ext cx="568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clk</a:t>
            </a:r>
            <a:endParaRPr b="0" i="0" sz="1400" u="none" cap="none" strike="noStrike">
              <a:solidFill>
                <a:srgbClr val="000000"/>
              </a:solidFill>
              <a:latin typeface="Arial"/>
              <a:ea typeface="Arial"/>
              <a:cs typeface="Arial"/>
              <a:sym typeface="Arial"/>
            </a:endParaRPr>
          </a:p>
        </p:txBody>
      </p:sp>
      <p:sp>
        <p:nvSpPr>
          <p:cNvPr id="508" name="Google Shape;508;g22aa7826dbd_0_16"/>
          <p:cNvSpPr txBox="1"/>
          <p:nvPr/>
        </p:nvSpPr>
        <p:spPr>
          <a:xfrm>
            <a:off x="11435050" y="1839675"/>
            <a:ext cx="568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z</a:t>
            </a:r>
            <a:endParaRPr b="0" i="0" sz="1400" u="none" cap="none" strike="noStrike">
              <a:solidFill>
                <a:srgbClr val="000000"/>
              </a:solidFill>
              <a:latin typeface="Arial"/>
              <a:ea typeface="Arial"/>
              <a:cs typeface="Arial"/>
              <a:sym typeface="Arial"/>
            </a:endParaRPr>
          </a:p>
        </p:txBody>
      </p:sp>
      <p:sp>
        <p:nvSpPr>
          <p:cNvPr id="509" name="Google Shape;509;g22aa7826dbd_0_16"/>
          <p:cNvSpPr txBox="1"/>
          <p:nvPr/>
        </p:nvSpPr>
        <p:spPr>
          <a:xfrm>
            <a:off x="10440625" y="2264775"/>
            <a:ext cx="748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FSM</a:t>
            </a:r>
            <a:endParaRPr b="0" i="0" sz="1400" u="none" cap="none" strike="noStrike">
              <a:solidFill>
                <a:srgbClr val="000000"/>
              </a:solidFill>
              <a:latin typeface="Arial"/>
              <a:ea typeface="Arial"/>
              <a:cs typeface="Arial"/>
              <a:sym typeface="Arial"/>
            </a:endParaRPr>
          </a:p>
        </p:txBody>
      </p:sp>
      <p:sp>
        <p:nvSpPr>
          <p:cNvPr id="510" name="Google Shape;510;g22aa7826dbd_0_16"/>
          <p:cNvSpPr txBox="1"/>
          <p:nvPr/>
        </p:nvSpPr>
        <p:spPr>
          <a:xfrm>
            <a:off x="272150" y="314800"/>
            <a:ext cx="9817200" cy="84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600"/>
              <a:buFont typeface="Arial"/>
              <a:buNone/>
            </a:pPr>
            <a:r>
              <a:rPr b="1" i="0" lang="en-US" sz="2600" u="none" cap="none" strike="noStrike">
                <a:solidFill>
                  <a:schemeClr val="dk1"/>
                </a:solidFill>
                <a:latin typeface="Times New Roman"/>
                <a:ea typeface="Times New Roman"/>
                <a:cs typeface="Times New Roman"/>
                <a:sym typeface="Times New Roman"/>
              </a:rPr>
              <a:t>Example 3: </a:t>
            </a:r>
            <a:r>
              <a:rPr b="1" i="0" lang="en-US" sz="2100" u="none" cap="none" strike="noStrike">
                <a:solidFill>
                  <a:schemeClr val="dk1"/>
                </a:solidFill>
                <a:latin typeface="Times New Roman"/>
                <a:ea typeface="Times New Roman"/>
                <a:cs typeface="Times New Roman"/>
                <a:sym typeface="Times New Roman"/>
              </a:rPr>
              <a:t>A Simple Input Pattern (‘11’ Non-Overlapping Sequence)</a:t>
            </a:r>
            <a:endParaRPr b="1" i="0" sz="21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100"/>
              <a:buFont typeface="Arial"/>
              <a:buNone/>
            </a:pPr>
            <a:r>
              <a:rPr b="1" i="0" lang="en-US" sz="2100" u="none" cap="none" strike="noStrike">
                <a:solidFill>
                  <a:schemeClr val="dk1"/>
                </a:solidFill>
                <a:latin typeface="Times New Roman"/>
                <a:ea typeface="Times New Roman"/>
                <a:cs typeface="Times New Roman"/>
                <a:sym typeface="Times New Roman"/>
              </a:rPr>
              <a:t>(</a:t>
            </a:r>
            <a:r>
              <a:rPr b="1" i="0" lang="en-US" sz="2200" u="none" cap="none" strike="noStrike">
                <a:solidFill>
                  <a:schemeClr val="dk1"/>
                </a:solidFill>
                <a:latin typeface="Times New Roman"/>
                <a:ea typeface="Times New Roman"/>
                <a:cs typeface="Times New Roman"/>
                <a:sym typeface="Times New Roman"/>
              </a:rPr>
              <a:t>Detection Circuit - Moore Type</a:t>
            </a:r>
            <a:r>
              <a:rPr b="1" i="0" lang="en-US" sz="2100" u="none" cap="none" strike="noStrike">
                <a:solidFill>
                  <a:schemeClr val="dk1"/>
                </a:solidFill>
                <a:latin typeface="Times New Roman"/>
                <a:ea typeface="Times New Roman"/>
                <a:cs typeface="Times New Roman"/>
                <a:sym typeface="Times New Roman"/>
              </a:rPr>
              <a:t>)</a:t>
            </a:r>
            <a:endParaRPr b="1" i="0" sz="2100" u="none" cap="none" strike="noStrike">
              <a:solidFill>
                <a:schemeClr val="dk1"/>
              </a:solidFill>
              <a:latin typeface="Times New Roman"/>
              <a:ea typeface="Times New Roman"/>
              <a:cs typeface="Times New Roman"/>
              <a:sym typeface="Times New Roman"/>
            </a:endParaRPr>
          </a:p>
        </p:txBody>
      </p:sp>
      <p:sp>
        <p:nvSpPr>
          <p:cNvPr id="511" name="Google Shape;511;g22aa7826dbd_0_16"/>
          <p:cNvSpPr txBox="1"/>
          <p:nvPr/>
        </p:nvSpPr>
        <p:spPr>
          <a:xfrm>
            <a:off x="970586" y="2751963"/>
            <a:ext cx="1221900" cy="320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dk1"/>
              </a:buClr>
              <a:buSzPts val="2400"/>
              <a:buFont typeface="Times New Roman"/>
              <a:buNone/>
            </a:pPr>
            <a:r>
              <a:rPr b="0" i="0" lang="en-US" sz="2000" u="none" cap="none" strike="noStrike">
                <a:solidFill>
                  <a:schemeClr val="dk1"/>
                </a:solidFill>
                <a:latin typeface="Times New Roman"/>
                <a:ea typeface="Times New Roman"/>
                <a:cs typeface="Times New Roman"/>
                <a:sym typeface="Times New Roman"/>
              </a:rPr>
              <a:t>Figure 4 :</a:t>
            </a:r>
            <a:endParaRPr b="0" i="0" sz="1000" u="none" cap="none" strike="noStrike">
              <a:solidFill>
                <a:srgbClr val="000000"/>
              </a:solidFill>
              <a:latin typeface="Times New Roman"/>
              <a:ea typeface="Times New Roman"/>
              <a:cs typeface="Times New Roman"/>
              <a:sym typeface="Times New Roman"/>
            </a:endParaRPr>
          </a:p>
        </p:txBody>
      </p:sp>
      <p:sp>
        <p:nvSpPr>
          <p:cNvPr id="512" name="Google Shape;512;g22aa7826dbd_0_16"/>
          <p:cNvSpPr txBox="1"/>
          <p:nvPr/>
        </p:nvSpPr>
        <p:spPr>
          <a:xfrm>
            <a:off x="2192487" y="2751963"/>
            <a:ext cx="6370800" cy="320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chemeClr val="dk1"/>
              </a:buClr>
              <a:buSzPts val="2400"/>
              <a:buFont typeface="Times New Roman"/>
              <a:buNone/>
            </a:pPr>
            <a:r>
              <a:rPr b="0" i="0" lang="en-US" sz="2000" u="none" cap="none" strike="noStrike">
                <a:solidFill>
                  <a:schemeClr val="dk1"/>
                </a:solidFill>
                <a:latin typeface="Times New Roman"/>
                <a:ea typeface="Times New Roman"/>
                <a:cs typeface="Times New Roman"/>
                <a:sym typeface="Times New Roman"/>
              </a:rPr>
              <a:t>Sequences of input and output signals.</a:t>
            </a:r>
            <a:endParaRPr b="0" i="0" sz="1000" u="none" cap="none" strike="noStrike">
              <a:solidFill>
                <a:srgbClr val="000000"/>
              </a:solidFill>
              <a:latin typeface="Times New Roman"/>
              <a:ea typeface="Times New Roman"/>
              <a:cs typeface="Times New Roman"/>
              <a:sym typeface="Times New Roman"/>
            </a:endParaRPr>
          </a:p>
        </p:txBody>
      </p:sp>
      <p:graphicFrame>
        <p:nvGraphicFramePr>
          <p:cNvPr id="513" name="Google Shape;513;g22aa7826dbd_0_16"/>
          <p:cNvGraphicFramePr/>
          <p:nvPr/>
        </p:nvGraphicFramePr>
        <p:xfrm>
          <a:off x="743628" y="1669197"/>
          <a:ext cx="3000000" cy="3000000"/>
        </p:xfrm>
        <a:graphic>
          <a:graphicData uri="http://schemas.openxmlformats.org/drawingml/2006/table">
            <a:tbl>
              <a:tblPr>
                <a:noFill/>
                <a:tableStyleId>{88476B5D-2711-416F-9EB7-66369C930DE7}</a:tableStyleId>
              </a:tblPr>
              <a:tblGrid>
                <a:gridCol w="1814475"/>
                <a:gridCol w="554950"/>
                <a:gridCol w="562250"/>
                <a:gridCol w="560400"/>
                <a:gridCol w="562250"/>
                <a:gridCol w="560400"/>
                <a:gridCol w="558575"/>
                <a:gridCol w="564050"/>
                <a:gridCol w="558575"/>
                <a:gridCol w="560400"/>
                <a:gridCol w="1243125"/>
              </a:tblGrid>
              <a:tr h="419625">
                <a:tc>
                  <a:txBody>
                    <a:bodyPr/>
                    <a:lstStyle/>
                    <a:p>
                      <a:pPr indent="0" lvl="0" marL="0" marR="0" rtl="0" algn="r">
                        <a:lnSpc>
                          <a:spcPct val="100000"/>
                        </a:lnSpc>
                        <a:spcBef>
                          <a:spcPts val="0"/>
                        </a:spcBef>
                        <a:spcAft>
                          <a:spcPts val="0"/>
                        </a:spcAft>
                        <a:buClr>
                          <a:schemeClr val="dk1"/>
                        </a:buClr>
                        <a:buSzPts val="1800"/>
                        <a:buFont typeface="Arial"/>
                        <a:buNone/>
                      </a:pPr>
                      <a:r>
                        <a:rPr b="1" i="0" lang="en-US" sz="1600" u="none" cap="none" strike="noStrike">
                          <a:solidFill>
                            <a:schemeClr val="dk1"/>
                          </a:solidFill>
                          <a:latin typeface="Times New Roman"/>
                          <a:ea typeface="Times New Roman"/>
                          <a:cs typeface="Times New Roman"/>
                          <a:sym typeface="Times New Roman"/>
                        </a:rPr>
                        <a:t>Clockcycle:</a:t>
                      </a:r>
                      <a:endParaRPr b="1" sz="1000" u="none" cap="none" strike="noStrike">
                        <a:latin typeface="Times New Roman"/>
                        <a:ea typeface="Times New Roman"/>
                        <a:cs typeface="Times New Roman"/>
                        <a:sym typeface="Times New Roman"/>
                      </a:endParaRPr>
                    </a:p>
                  </a:txBody>
                  <a:tcPr marT="27475" marB="0" marR="0" marL="0">
                    <a:lnL cap="flat" cmpd="sng" w="12700">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t</a:t>
                      </a:r>
                      <a:r>
                        <a:rPr baseline="-25000" i="0" lang="en-US" sz="17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t</a:t>
                      </a:r>
                      <a:r>
                        <a:rPr baseline="-25000" i="0" lang="en-US" sz="1700" u="none" cap="none" strike="noStrike">
                          <a:solidFill>
                            <a:schemeClr val="dk1"/>
                          </a:solidFill>
                          <a:latin typeface="Times New Roman"/>
                          <a:ea typeface="Times New Roman"/>
                          <a:cs typeface="Times New Roman"/>
                          <a:sym typeface="Times New Roman"/>
                        </a:rPr>
                        <a:t>1</a:t>
                      </a:r>
                      <a:endParaRPr sz="1000" u="none" cap="none" strike="noStrike">
                        <a:latin typeface="Times New Roman"/>
                        <a:ea typeface="Times New Roman"/>
                        <a:cs typeface="Times New Roman"/>
                        <a:sym typeface="Times New Roman"/>
                      </a:endParaRPr>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t</a:t>
                      </a:r>
                      <a:r>
                        <a:rPr baseline="-25000" i="0" lang="en-US" sz="1700" u="none" cap="none" strike="noStrike">
                          <a:solidFill>
                            <a:schemeClr val="dk1"/>
                          </a:solidFill>
                          <a:latin typeface="Times New Roman"/>
                          <a:ea typeface="Times New Roman"/>
                          <a:cs typeface="Times New Roman"/>
                          <a:sym typeface="Times New Roman"/>
                        </a:rPr>
                        <a:t>2</a:t>
                      </a:r>
                      <a:endParaRPr sz="1000" u="none" cap="none" strike="noStrike">
                        <a:latin typeface="Times New Roman"/>
                        <a:ea typeface="Times New Roman"/>
                        <a:cs typeface="Times New Roman"/>
                        <a:sym typeface="Times New Roman"/>
                      </a:endParaRPr>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t</a:t>
                      </a:r>
                      <a:r>
                        <a:rPr baseline="-25000" i="0" lang="en-US" sz="1700" u="none" cap="none" strike="noStrike">
                          <a:solidFill>
                            <a:schemeClr val="dk1"/>
                          </a:solidFill>
                          <a:latin typeface="Times New Roman"/>
                          <a:ea typeface="Times New Roman"/>
                          <a:cs typeface="Times New Roman"/>
                          <a:sym typeface="Times New Roman"/>
                        </a:rPr>
                        <a:t>3</a:t>
                      </a:r>
                      <a:endParaRPr sz="1000" u="none" cap="none" strike="noStrike">
                        <a:latin typeface="Times New Roman"/>
                        <a:ea typeface="Times New Roman"/>
                        <a:cs typeface="Times New Roman"/>
                        <a:sym typeface="Times New Roman"/>
                      </a:endParaRPr>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t</a:t>
                      </a:r>
                      <a:r>
                        <a:rPr baseline="-25000" i="0" lang="en-US" sz="1700" u="none" cap="none" strike="noStrike">
                          <a:solidFill>
                            <a:schemeClr val="dk1"/>
                          </a:solidFill>
                          <a:latin typeface="Times New Roman"/>
                          <a:ea typeface="Times New Roman"/>
                          <a:cs typeface="Times New Roman"/>
                          <a:sym typeface="Times New Roman"/>
                        </a:rPr>
                        <a:t>4</a:t>
                      </a:r>
                      <a:endParaRPr sz="1000" u="none" cap="none" strike="noStrike">
                        <a:latin typeface="Times New Roman"/>
                        <a:ea typeface="Times New Roman"/>
                        <a:cs typeface="Times New Roman"/>
                        <a:sym typeface="Times New Roman"/>
                      </a:endParaRPr>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t</a:t>
                      </a:r>
                      <a:r>
                        <a:rPr baseline="-25000" i="0" lang="en-US" sz="1700" u="none" cap="none" strike="noStrike">
                          <a:solidFill>
                            <a:schemeClr val="dk1"/>
                          </a:solidFill>
                          <a:latin typeface="Times New Roman"/>
                          <a:ea typeface="Times New Roman"/>
                          <a:cs typeface="Times New Roman"/>
                          <a:sym typeface="Times New Roman"/>
                        </a:rPr>
                        <a:t>5</a:t>
                      </a:r>
                      <a:endParaRPr sz="1000" u="none" cap="none" strike="noStrike">
                        <a:latin typeface="Times New Roman"/>
                        <a:ea typeface="Times New Roman"/>
                        <a:cs typeface="Times New Roman"/>
                        <a:sym typeface="Times New Roman"/>
                      </a:endParaRPr>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1800"/>
                        <a:buFont typeface="Times New Roman"/>
                        <a:buNone/>
                      </a:pPr>
                      <a:r>
                        <a:rPr lang="en-US" sz="1600" u="none" cap="none" strike="noStrike">
                          <a:solidFill>
                            <a:schemeClr val="dk1"/>
                          </a:solidFill>
                          <a:latin typeface="Times New Roman"/>
                          <a:ea typeface="Times New Roman"/>
                          <a:cs typeface="Times New Roman"/>
                          <a:sym typeface="Times New Roman"/>
                        </a:rPr>
                        <a:t>      </a:t>
                      </a:r>
                      <a:r>
                        <a:rPr i="0" lang="en-US" sz="1600" u="none" cap="none" strike="noStrike">
                          <a:solidFill>
                            <a:schemeClr val="dk1"/>
                          </a:solidFill>
                          <a:latin typeface="Times New Roman"/>
                          <a:ea typeface="Times New Roman"/>
                          <a:cs typeface="Times New Roman"/>
                          <a:sym typeface="Times New Roman"/>
                        </a:rPr>
                        <a:t>t</a:t>
                      </a:r>
                      <a:r>
                        <a:rPr baseline="-25000" i="0" lang="en-US" sz="1700" u="none" cap="none" strike="noStrike">
                          <a:solidFill>
                            <a:schemeClr val="dk1"/>
                          </a:solidFill>
                          <a:latin typeface="Times New Roman"/>
                          <a:ea typeface="Times New Roman"/>
                          <a:cs typeface="Times New Roman"/>
                          <a:sym typeface="Times New Roman"/>
                        </a:rPr>
                        <a:t>6</a:t>
                      </a:r>
                      <a:endParaRPr sz="1000" u="none" cap="none" strike="noStrike">
                        <a:latin typeface="Times New Roman"/>
                        <a:ea typeface="Times New Roman"/>
                        <a:cs typeface="Times New Roman"/>
                        <a:sym typeface="Times New Roman"/>
                      </a:endParaRPr>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t</a:t>
                      </a:r>
                      <a:r>
                        <a:rPr baseline="-25000" i="0" lang="en-US" sz="1700" u="none" cap="none" strike="noStrike">
                          <a:solidFill>
                            <a:schemeClr val="dk1"/>
                          </a:solidFill>
                          <a:latin typeface="Times New Roman"/>
                          <a:ea typeface="Times New Roman"/>
                          <a:cs typeface="Times New Roman"/>
                          <a:sym typeface="Times New Roman"/>
                        </a:rPr>
                        <a:t>7</a:t>
                      </a:r>
                      <a:endParaRPr sz="1000" u="none" cap="none" strike="noStrike">
                        <a:latin typeface="Times New Roman"/>
                        <a:ea typeface="Times New Roman"/>
                        <a:cs typeface="Times New Roman"/>
                        <a:sym typeface="Times New Roman"/>
                      </a:endParaRPr>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t</a:t>
                      </a:r>
                      <a:r>
                        <a:rPr baseline="-25000" i="0" lang="en-US" sz="1700" u="none" cap="none" strike="noStrike">
                          <a:solidFill>
                            <a:schemeClr val="dk1"/>
                          </a:solidFill>
                          <a:latin typeface="Times New Roman"/>
                          <a:ea typeface="Times New Roman"/>
                          <a:cs typeface="Times New Roman"/>
                          <a:sym typeface="Times New Roman"/>
                        </a:rPr>
                        <a:t>8</a:t>
                      </a:r>
                      <a:endParaRPr sz="1000" u="none" cap="none" strike="noStrike">
                        <a:latin typeface="Times New Roman"/>
                        <a:ea typeface="Times New Roman"/>
                        <a:cs typeface="Times New Roman"/>
                        <a:sym typeface="Times New Roman"/>
                      </a:endParaRPr>
                    </a:p>
                  </a:txBody>
                  <a:tcPr marT="24650" marB="0" marR="0" marL="0">
                    <a:lnT cap="flat" cmpd="sng" w="9525">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2600"/>
                        <a:buFont typeface="Times New Roman"/>
                        <a:buNone/>
                      </a:pPr>
                      <a:r>
                        <a:rPr baseline="30000" lang="en-US" sz="2400" u="none" cap="none" strike="noStrike">
                          <a:solidFill>
                            <a:schemeClr val="dk1"/>
                          </a:solidFill>
                          <a:latin typeface="Times New Roman"/>
                          <a:ea typeface="Times New Roman"/>
                          <a:cs typeface="Times New Roman"/>
                          <a:sym typeface="Times New Roman"/>
                        </a:rPr>
                        <a:t> </a:t>
                      </a:r>
                      <a:r>
                        <a:rPr baseline="30000" i="0" lang="en-US" sz="2400" u="none" cap="none" strike="noStrike">
                          <a:solidFill>
                            <a:schemeClr val="dk1"/>
                          </a:solidFill>
                          <a:latin typeface="Times New Roman"/>
                          <a:ea typeface="Times New Roman"/>
                          <a:cs typeface="Times New Roman"/>
                          <a:sym typeface="Times New Roman"/>
                        </a:rPr>
                        <a:t>t</a:t>
                      </a:r>
                      <a:r>
                        <a:rPr i="0" lang="en-US" sz="1100" u="none" cap="none" strike="noStrike">
                          <a:solidFill>
                            <a:schemeClr val="dk1"/>
                          </a:solidFill>
                          <a:latin typeface="Times New Roman"/>
                          <a:ea typeface="Times New Roman"/>
                          <a:cs typeface="Times New Roman"/>
                          <a:sym typeface="Times New Roman"/>
                        </a:rPr>
                        <a:t>9	 </a:t>
                      </a:r>
                      <a:r>
                        <a:rPr baseline="30000" i="0" lang="en-US" sz="2400" u="none" cap="none" strike="noStrike">
                          <a:solidFill>
                            <a:schemeClr val="dk1"/>
                          </a:solidFill>
                          <a:latin typeface="Times New Roman"/>
                          <a:ea typeface="Times New Roman"/>
                          <a:cs typeface="Times New Roman"/>
                          <a:sym typeface="Times New Roman"/>
                        </a:rPr>
                        <a:t>t</a:t>
                      </a:r>
                      <a:r>
                        <a:rPr i="0" lang="en-US" sz="1100" u="none" cap="none" strike="noStrike">
                          <a:solidFill>
                            <a:schemeClr val="dk1"/>
                          </a:solidFill>
                          <a:latin typeface="Times New Roman"/>
                          <a:ea typeface="Times New Roman"/>
                          <a:cs typeface="Times New Roman"/>
                          <a:sym typeface="Times New Roman"/>
                        </a:rPr>
                        <a:t>10</a:t>
                      </a:r>
                      <a:endParaRPr sz="1000" u="none" cap="none" strike="noStrike">
                        <a:latin typeface="Times New Roman"/>
                        <a:ea typeface="Times New Roman"/>
                        <a:cs typeface="Times New Roman"/>
                        <a:sym typeface="Times New Roman"/>
                      </a:endParaRPr>
                    </a:p>
                  </a:txBody>
                  <a:tcPr marT="56575" marB="0" marR="0" marL="0">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tcPr>
                </a:tc>
              </a:tr>
              <a:tr h="331575">
                <a:tc>
                  <a:txBody>
                    <a:bodyPr/>
                    <a:lstStyle/>
                    <a:p>
                      <a:pPr indent="0" lvl="0" marL="0" marR="0" rtl="0" algn="r">
                        <a:lnSpc>
                          <a:spcPct val="105000"/>
                        </a:lnSpc>
                        <a:spcBef>
                          <a:spcPts val="0"/>
                        </a:spcBef>
                        <a:spcAft>
                          <a:spcPts val="0"/>
                        </a:spcAft>
                        <a:buClr>
                          <a:schemeClr val="dk1"/>
                        </a:buClr>
                        <a:buSzPts val="1800"/>
                        <a:buFont typeface="Times New Roman"/>
                        <a:buNone/>
                      </a:pPr>
                      <a:r>
                        <a:rPr b="1" i="1" lang="en-US" sz="1600" u="none" cap="none" strike="noStrike">
                          <a:solidFill>
                            <a:schemeClr val="dk1"/>
                          </a:solidFill>
                          <a:latin typeface="Times New Roman"/>
                          <a:ea typeface="Times New Roman"/>
                          <a:cs typeface="Times New Roman"/>
                          <a:sym typeface="Times New Roman"/>
                        </a:rPr>
                        <a:t>w </a:t>
                      </a:r>
                      <a:r>
                        <a:rPr b="1" i="0" lang="en-US" sz="1600" u="none" cap="none" strike="noStrike">
                          <a:solidFill>
                            <a:schemeClr val="dk1"/>
                          </a:solidFill>
                          <a:latin typeface="Times New Roman"/>
                          <a:ea typeface="Times New Roman"/>
                          <a:cs typeface="Times New Roman"/>
                          <a:sym typeface="Times New Roman"/>
                        </a:rPr>
                        <a:t>:</a:t>
                      </a:r>
                      <a:endParaRPr b="1" sz="10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tcPr>
                </a:tc>
                <a:tc>
                  <a:txBody>
                    <a:bodyPr/>
                    <a:lstStyle/>
                    <a:p>
                      <a:pPr indent="0" lvl="0" marL="0" marR="0" rtl="0" algn="r">
                        <a:lnSpc>
                          <a:spcPct val="105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1</a:t>
                      </a:r>
                      <a:endParaRPr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1"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1"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tc>
                <a:tc>
                  <a:txBody>
                    <a:bodyPr/>
                    <a:lstStyle/>
                    <a:p>
                      <a:pPr indent="0" lvl="0" marL="38100" marR="0" rtl="0" algn="ctr">
                        <a:lnSpc>
                          <a:spcPct val="105000"/>
                        </a:lnSpc>
                        <a:spcBef>
                          <a:spcPts val="0"/>
                        </a:spcBef>
                        <a:spcAft>
                          <a:spcPts val="0"/>
                        </a:spcAft>
                        <a:buClr>
                          <a:schemeClr val="dk1"/>
                        </a:buClr>
                        <a:buSzPts val="1800"/>
                        <a:buFont typeface="Times New Roman"/>
                        <a:buNone/>
                      </a:pPr>
                      <a:r>
                        <a:rPr b="1" lang="en-US" sz="1600" u="none" cap="none" strike="noStrike">
                          <a:solidFill>
                            <a:schemeClr val="dk1"/>
                          </a:solidFill>
                          <a:latin typeface="Times New Roman"/>
                          <a:ea typeface="Times New Roman"/>
                          <a:cs typeface="Times New Roman"/>
                          <a:sym typeface="Times New Roman"/>
                        </a:rPr>
                        <a:t>     </a:t>
                      </a:r>
                      <a:r>
                        <a:rPr b="1" i="0" lang="en-US" sz="1600" u="none" cap="none" strike="noStrike">
                          <a:solidFill>
                            <a:schemeClr val="dk1"/>
                          </a:solidFill>
                          <a:latin typeface="Times New Roman"/>
                          <a:ea typeface="Times New Roman"/>
                          <a:cs typeface="Times New Roman"/>
                          <a:sym typeface="Times New Roman"/>
                        </a:rPr>
                        <a:t>1</a:t>
                      </a:r>
                      <a:endParaRPr b="1"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1"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r">
                        <a:lnSpc>
                          <a:spcPct val="105000"/>
                        </a:lnSpc>
                        <a:spcBef>
                          <a:spcPts val="0"/>
                        </a:spcBef>
                        <a:spcAft>
                          <a:spcPts val="0"/>
                        </a:spcAft>
                        <a:buClr>
                          <a:schemeClr val="dk1"/>
                        </a:buClr>
                        <a:buSzPts val="18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1" sz="1000" u="none" cap="none" strike="noStrike">
                        <a:latin typeface="Times New Roman"/>
                        <a:ea typeface="Times New Roman"/>
                        <a:cs typeface="Times New Roman"/>
                        <a:sym typeface="Times New Roman"/>
                      </a:endParaRPr>
                    </a:p>
                  </a:txBody>
                  <a:tcPr marT="0" marB="0" marR="0" marL="0"/>
                </a:tc>
                <a:tc>
                  <a:txBody>
                    <a:bodyPr/>
                    <a:lstStyle/>
                    <a:p>
                      <a:pPr indent="0" lvl="0" marL="0" marR="0" rtl="0" algn="ctr">
                        <a:lnSpc>
                          <a:spcPct val="70000"/>
                        </a:lnSpc>
                        <a:spcBef>
                          <a:spcPts val="0"/>
                        </a:spcBef>
                        <a:spcAft>
                          <a:spcPts val="0"/>
                        </a:spcAft>
                        <a:buClr>
                          <a:schemeClr val="dk1"/>
                        </a:buClr>
                        <a:buSzPts val="1800"/>
                        <a:buFont typeface="Times New Roman"/>
                        <a:buNone/>
                      </a:pPr>
                      <a:r>
                        <a:rPr lang="en-US" sz="1600" u="none" cap="none" strike="noStrike">
                          <a:solidFill>
                            <a:schemeClr val="dk1"/>
                          </a:solidFill>
                          <a:latin typeface="Times New Roman"/>
                          <a:ea typeface="Times New Roman"/>
                          <a:cs typeface="Times New Roman"/>
                          <a:sym typeface="Times New Roman"/>
                        </a:rPr>
                        <a:t> 0</a:t>
                      </a:r>
                      <a:r>
                        <a:rPr i="0" lang="en-US" sz="1600" u="none" cap="none" strike="noStrike">
                          <a:solidFill>
                            <a:schemeClr val="dk1"/>
                          </a:solidFill>
                          <a:latin typeface="Times New Roman"/>
                          <a:ea typeface="Times New Roman"/>
                          <a:cs typeface="Times New Roman"/>
                          <a:sym typeface="Times New Roman"/>
                        </a:rPr>
                        <a:t>	1</a:t>
                      </a:r>
                      <a:endParaRPr sz="10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tcPr>
                </a:tc>
              </a:tr>
              <a:tr h="331575">
                <a:tc>
                  <a:txBody>
                    <a:bodyPr/>
                    <a:lstStyle/>
                    <a:p>
                      <a:pPr indent="0" lvl="0" marL="0" marR="0" rtl="0" algn="r">
                        <a:lnSpc>
                          <a:spcPct val="110000"/>
                        </a:lnSpc>
                        <a:spcBef>
                          <a:spcPts val="0"/>
                        </a:spcBef>
                        <a:spcAft>
                          <a:spcPts val="0"/>
                        </a:spcAft>
                        <a:buClr>
                          <a:schemeClr val="dk1"/>
                        </a:buClr>
                        <a:buSzPts val="1800"/>
                        <a:buFont typeface="Times New Roman"/>
                        <a:buNone/>
                      </a:pPr>
                      <a:r>
                        <a:rPr b="1" i="1" lang="en-US" sz="1600" u="none" cap="none" strike="noStrike">
                          <a:solidFill>
                            <a:schemeClr val="dk1"/>
                          </a:solidFill>
                          <a:latin typeface="Times New Roman"/>
                          <a:ea typeface="Times New Roman"/>
                          <a:cs typeface="Times New Roman"/>
                          <a:sym typeface="Times New Roman"/>
                        </a:rPr>
                        <a:t>z </a:t>
                      </a:r>
                      <a:r>
                        <a:rPr b="1" i="0" lang="en-US" sz="1600" u="none" cap="none" strike="noStrike">
                          <a:solidFill>
                            <a:schemeClr val="dk1"/>
                          </a:solidFill>
                          <a:latin typeface="Times New Roman"/>
                          <a:ea typeface="Times New Roman"/>
                          <a:cs typeface="Times New Roman"/>
                          <a:sym typeface="Times New Roman"/>
                        </a:rPr>
                        <a:t>:</a:t>
                      </a:r>
                      <a:endParaRPr b="1" sz="1000" u="none" cap="none" strike="noStrike">
                        <a:latin typeface="Times New Roman"/>
                        <a:ea typeface="Times New Roman"/>
                        <a:cs typeface="Times New Roman"/>
                        <a:sym typeface="Times New Roman"/>
                      </a:endParaRPr>
                    </a:p>
                  </a:txBody>
                  <a:tcPr marT="0" marB="0" marR="0" marL="0">
                    <a:lnL cap="flat" cmpd="sng" w="12700">
                      <a:solidFill>
                        <a:srgbClr val="000000"/>
                      </a:solidFill>
                      <a:prstDash val="solid"/>
                      <a:round/>
                      <a:headEnd len="sm" w="sm" type="none"/>
                      <a:tailEnd len="sm" w="sm" type="none"/>
                    </a:lnL>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1" sz="1000" u="none" cap="none" strike="noStrike">
                        <a:latin typeface="Times New Roman"/>
                        <a:ea typeface="Times New Roman"/>
                        <a:cs typeface="Times New Roman"/>
                        <a:sym typeface="Times New Roman"/>
                      </a:endParaRPr>
                    </a:p>
                  </a:txBody>
                  <a:tcPr marT="0" marB="0" marR="0" marL="0">
                    <a:lnB cap="flat" cmpd="sng" w="28575">
                      <a:solidFill>
                        <a:srgbClr val="000000"/>
                      </a:solidFill>
                      <a:prstDash val="solid"/>
                      <a:round/>
                      <a:headEnd len="sm" w="sm" type="none"/>
                      <a:tailEnd len="sm" w="sm" type="none"/>
                    </a:lnB>
                  </a:tcPr>
                </a:tc>
                <a:tc>
                  <a:txBody>
                    <a:bodyPr/>
                    <a:lstStyle/>
                    <a:p>
                      <a:pPr indent="0" lvl="0" marL="38100" marR="0" rtl="0" algn="ctr">
                        <a:lnSpc>
                          <a:spcPct val="110000"/>
                        </a:lnSpc>
                        <a:spcBef>
                          <a:spcPts val="0"/>
                        </a:spcBef>
                        <a:spcAft>
                          <a:spcPts val="0"/>
                        </a:spcAft>
                        <a:buClr>
                          <a:schemeClr val="dk1"/>
                        </a:buClr>
                        <a:buSzPts val="1800"/>
                        <a:buFont typeface="Times New Roman"/>
                        <a:buNone/>
                      </a:pPr>
                      <a:r>
                        <a:rPr lang="en-US" sz="1600" u="none" cap="none" strike="noStrike">
                          <a:solidFill>
                            <a:schemeClr val="dk1"/>
                          </a:solidFill>
                          <a:latin typeface="Times New Roman"/>
                          <a:ea typeface="Times New Roman"/>
                          <a:cs typeface="Times New Roman"/>
                          <a:sym typeface="Times New Roman"/>
                        </a:rPr>
                        <a:t>      </a:t>
                      </a: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i="0" lang="en-US" sz="1600" u="none" cap="none" strike="noStrike">
                          <a:solidFill>
                            <a:schemeClr val="dk1"/>
                          </a:solidFill>
                          <a:latin typeface="Times New Roman"/>
                          <a:ea typeface="Times New Roman"/>
                          <a:cs typeface="Times New Roman"/>
                          <a:sym typeface="Times New Roman"/>
                        </a:rPr>
                        <a:t>0</a:t>
                      </a:r>
                      <a:endParaRPr sz="1000" u="none" cap="none" strike="noStrike">
                        <a:latin typeface="Times New Roman"/>
                        <a:ea typeface="Times New Roman"/>
                        <a:cs typeface="Times New Roman"/>
                        <a:sym typeface="Times New Roman"/>
                      </a:endParaRPr>
                    </a:p>
                  </a:txBody>
                  <a:tcPr marT="0" marB="0" marR="0" marL="0">
                    <a:lnB cap="flat" cmpd="sng" w="28575">
                      <a:solidFill>
                        <a:srgbClr val="000000"/>
                      </a:solidFill>
                      <a:prstDash val="solid"/>
                      <a:round/>
                      <a:headEnd len="sm" w="sm" type="none"/>
                      <a:tailEnd len="sm" w="sm" type="none"/>
                    </a:lnB>
                  </a:tcPr>
                </a:tc>
                <a:tc>
                  <a:txBody>
                    <a:bodyPr/>
                    <a:lstStyle/>
                    <a:p>
                      <a:pPr indent="0" lvl="0" marL="0" marR="0" rtl="0" algn="r">
                        <a:lnSpc>
                          <a:spcPct val="110000"/>
                        </a:lnSpc>
                        <a:spcBef>
                          <a:spcPts val="0"/>
                        </a:spcBef>
                        <a:spcAft>
                          <a:spcPts val="0"/>
                        </a:spcAft>
                        <a:buClr>
                          <a:schemeClr val="dk1"/>
                        </a:buClr>
                        <a:buSzPts val="18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1" sz="1000" u="none" cap="none" strike="noStrike">
                        <a:latin typeface="Times New Roman"/>
                        <a:ea typeface="Times New Roman"/>
                        <a:cs typeface="Times New Roman"/>
                        <a:sym typeface="Times New Roman"/>
                      </a:endParaRPr>
                    </a:p>
                  </a:txBody>
                  <a:tcPr marT="0" marB="0" marR="0" marL="0">
                    <a:lnB cap="flat" cmpd="sng" w="28575">
                      <a:solidFill>
                        <a:srgbClr val="000000"/>
                      </a:solidFill>
                      <a:prstDash val="solid"/>
                      <a:round/>
                      <a:headEnd len="sm" w="sm" type="none"/>
                      <a:tailEnd len="sm" w="sm" type="none"/>
                    </a:lnB>
                  </a:tcPr>
                </a:tc>
                <a:tc>
                  <a:txBody>
                    <a:bodyPr/>
                    <a:lstStyle/>
                    <a:p>
                      <a:pPr indent="0" lvl="0" marL="25400" marR="0" rtl="0" algn="ctr">
                        <a:lnSpc>
                          <a:spcPct val="110000"/>
                        </a:lnSpc>
                        <a:spcBef>
                          <a:spcPts val="0"/>
                        </a:spcBef>
                        <a:spcAft>
                          <a:spcPts val="0"/>
                        </a:spcAft>
                        <a:buClr>
                          <a:schemeClr val="dk1"/>
                        </a:buClr>
                        <a:buSzPts val="1800"/>
                        <a:buFont typeface="Times New Roman"/>
                        <a:buNone/>
                      </a:pPr>
                      <a:r>
                        <a:rPr b="1" lang="en-US" sz="1600" u="none" cap="none" strike="noStrike">
                          <a:solidFill>
                            <a:srgbClr val="FF0000"/>
                          </a:solidFill>
                          <a:latin typeface="Times New Roman"/>
                          <a:ea typeface="Times New Roman"/>
                          <a:cs typeface="Times New Roman"/>
                          <a:sym typeface="Times New Roman"/>
                        </a:rPr>
                        <a:t>0</a:t>
                      </a:r>
                      <a:r>
                        <a:rPr i="0" lang="en-US" sz="1600" u="none" cap="none" strike="noStrike">
                          <a:solidFill>
                            <a:schemeClr val="dk1"/>
                          </a:solidFill>
                          <a:latin typeface="Times New Roman"/>
                          <a:ea typeface="Times New Roman"/>
                          <a:cs typeface="Times New Roman"/>
                          <a:sym typeface="Times New Roman"/>
                        </a:rPr>
                        <a:t>	0</a:t>
                      </a:r>
                      <a:endParaRPr sz="1000" u="none" cap="none" strike="noStrike">
                        <a:latin typeface="Times New Roman"/>
                        <a:ea typeface="Times New Roman"/>
                        <a:cs typeface="Times New Roman"/>
                        <a:sym typeface="Times New Roman"/>
                      </a:endParaRPr>
                    </a:p>
                  </a:txBody>
                  <a:tcPr marT="0" marB="0" marR="0" marL="0">
                    <a:lnR cap="flat" cmpd="sng" w="12700">
                      <a:solidFill>
                        <a:srgbClr val="000000"/>
                      </a:solidFill>
                      <a:prstDash val="solid"/>
                      <a:round/>
                      <a:headEnd len="sm" w="sm" type="none"/>
                      <a:tailEnd len="sm" w="sm" type="none"/>
                    </a:lnR>
                    <a:lnB cap="flat" cmpd="sng" w="28575">
                      <a:solidFill>
                        <a:srgbClr val="000000"/>
                      </a:solidFill>
                      <a:prstDash val="solid"/>
                      <a:round/>
                      <a:headEnd len="sm" w="sm" type="none"/>
                      <a:tailEnd len="sm" w="sm" type="none"/>
                    </a:lnB>
                  </a:tcPr>
                </a:tc>
              </a:tr>
            </a:tbl>
          </a:graphicData>
        </a:graphic>
      </p:graphicFrame>
      <p:sp>
        <p:nvSpPr>
          <p:cNvPr id="514" name="Google Shape;514;g22aa7826dbd_0_16"/>
          <p:cNvSpPr/>
          <p:nvPr/>
        </p:nvSpPr>
        <p:spPr>
          <a:xfrm>
            <a:off x="4548463" y="2041825"/>
            <a:ext cx="870000" cy="258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g22aa7826dbd_0_16"/>
          <p:cNvSpPr/>
          <p:nvPr/>
        </p:nvSpPr>
        <p:spPr>
          <a:xfrm>
            <a:off x="6275088" y="2041825"/>
            <a:ext cx="870000" cy="258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g22aa7826dbd_0_16"/>
          <p:cNvSpPr/>
          <p:nvPr/>
        </p:nvSpPr>
        <p:spPr>
          <a:xfrm>
            <a:off x="6791413" y="2041825"/>
            <a:ext cx="870000" cy="258600"/>
          </a:xfrm>
          <a:prstGeom prst="rect">
            <a:avLst/>
          </a:prstGeom>
          <a:no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22aa7826dbd_0_16"/>
          <p:cNvSpPr txBox="1"/>
          <p:nvPr/>
        </p:nvSpPr>
        <p:spPr>
          <a:xfrm>
            <a:off x="6238888" y="1117538"/>
            <a:ext cx="2296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Times New Roman"/>
                <a:ea typeface="Times New Roman"/>
                <a:cs typeface="Times New Roman"/>
                <a:sym typeface="Times New Roman"/>
              </a:rPr>
              <a:t>NON-OVERLAPPING 1’s</a:t>
            </a:r>
            <a:endParaRPr b="1" i="0" sz="1400" u="none" cap="none" strike="noStrike">
              <a:solidFill>
                <a:srgbClr val="FF0000"/>
              </a:solidFill>
              <a:latin typeface="Times New Roman"/>
              <a:ea typeface="Times New Roman"/>
              <a:cs typeface="Times New Roman"/>
              <a:sym typeface="Times New Roman"/>
            </a:endParaRPr>
          </a:p>
        </p:txBody>
      </p:sp>
      <p:sp>
        <p:nvSpPr>
          <p:cNvPr id="518" name="Google Shape;518;g22aa7826dbd_0_16"/>
          <p:cNvSpPr/>
          <p:nvPr/>
        </p:nvSpPr>
        <p:spPr>
          <a:xfrm>
            <a:off x="5929600" y="1242550"/>
            <a:ext cx="332400" cy="831300"/>
          </a:xfrm>
          <a:prstGeom prst="curvedRightArrow">
            <a:avLst>
              <a:gd fmla="val 12844" name="adj1"/>
              <a:gd fmla="val 17283"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g22aa7826dbd_0_16"/>
          <p:cNvSpPr/>
          <p:nvPr/>
        </p:nvSpPr>
        <p:spPr>
          <a:xfrm rot="1981025">
            <a:off x="7037441" y="2354829"/>
            <a:ext cx="425041" cy="1070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g22aa7826dbd_0_16"/>
          <p:cNvSpPr/>
          <p:nvPr/>
        </p:nvSpPr>
        <p:spPr>
          <a:xfrm rot="1981025">
            <a:off x="7578341" y="2327504"/>
            <a:ext cx="425041" cy="1070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g22aa7826dbd_0_16"/>
          <p:cNvSpPr/>
          <p:nvPr/>
        </p:nvSpPr>
        <p:spPr>
          <a:xfrm rot="1981025">
            <a:off x="5340591" y="2327504"/>
            <a:ext cx="425041" cy="10709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g22aa7826dbd_0_16"/>
          <p:cNvSpPr/>
          <p:nvPr/>
        </p:nvSpPr>
        <p:spPr>
          <a:xfrm>
            <a:off x="618000" y="3354813"/>
            <a:ext cx="1221900" cy="586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 No 1</a:t>
            </a:r>
            <a:endParaRPr b="0" i="0" sz="1400" u="none" cap="none" strike="noStrike">
              <a:solidFill>
                <a:srgbClr val="000000"/>
              </a:solidFill>
              <a:latin typeface="Arial"/>
              <a:ea typeface="Arial"/>
              <a:cs typeface="Arial"/>
              <a:sym typeface="Arial"/>
            </a:endParaRPr>
          </a:p>
        </p:txBody>
      </p:sp>
      <p:sp>
        <p:nvSpPr>
          <p:cNvPr id="523" name="Google Shape;523;g22aa7826dbd_0_16"/>
          <p:cNvSpPr/>
          <p:nvPr/>
        </p:nvSpPr>
        <p:spPr>
          <a:xfrm>
            <a:off x="2514450" y="3354813"/>
            <a:ext cx="1307700" cy="586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 one 1</a:t>
            </a:r>
            <a:endParaRPr b="0" i="0" sz="1400" u="none" cap="none" strike="noStrike">
              <a:solidFill>
                <a:srgbClr val="000000"/>
              </a:solidFill>
              <a:latin typeface="Arial"/>
              <a:ea typeface="Arial"/>
              <a:cs typeface="Arial"/>
              <a:sym typeface="Arial"/>
            </a:endParaRPr>
          </a:p>
        </p:txBody>
      </p:sp>
      <p:sp>
        <p:nvSpPr>
          <p:cNvPr id="524" name="Google Shape;524;g22aa7826dbd_0_16"/>
          <p:cNvSpPr/>
          <p:nvPr/>
        </p:nvSpPr>
        <p:spPr>
          <a:xfrm>
            <a:off x="4724500" y="3259538"/>
            <a:ext cx="1514400" cy="7119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 two 1’s</a:t>
            </a:r>
            <a:endParaRPr b="0" i="0" sz="1400" u="none" cap="none" strike="noStrike">
              <a:solidFill>
                <a:srgbClr val="000000"/>
              </a:solidFill>
              <a:latin typeface="Arial"/>
              <a:ea typeface="Arial"/>
              <a:cs typeface="Arial"/>
              <a:sym typeface="Arial"/>
            </a:endParaRPr>
          </a:p>
        </p:txBody>
      </p:sp>
      <p:sp>
        <p:nvSpPr>
          <p:cNvPr id="525" name="Google Shape;525;g22aa7826dbd_0_16"/>
          <p:cNvSpPr/>
          <p:nvPr/>
        </p:nvSpPr>
        <p:spPr>
          <a:xfrm rot="-5514">
            <a:off x="1795749" y="3594494"/>
            <a:ext cx="748201" cy="10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22aa7826dbd_0_16"/>
          <p:cNvSpPr/>
          <p:nvPr/>
        </p:nvSpPr>
        <p:spPr>
          <a:xfrm rot="-5797">
            <a:off x="3835073" y="3594049"/>
            <a:ext cx="889501" cy="10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22aa7826dbd_0_16"/>
          <p:cNvSpPr txBox="1"/>
          <p:nvPr/>
        </p:nvSpPr>
        <p:spPr>
          <a:xfrm>
            <a:off x="560500" y="4042888"/>
            <a:ext cx="107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Calibri"/>
                <a:ea typeface="Calibri"/>
                <a:cs typeface="Calibri"/>
                <a:sym typeface="Calibri"/>
              </a:rPr>
              <a:t>1st clkcycle</a:t>
            </a:r>
            <a:endParaRPr b="0" i="0" sz="1400" u="none" cap="none" strike="noStrike">
              <a:solidFill>
                <a:srgbClr val="FF0000"/>
              </a:solidFill>
              <a:latin typeface="Calibri"/>
              <a:ea typeface="Calibri"/>
              <a:cs typeface="Calibri"/>
              <a:sym typeface="Calibri"/>
            </a:endParaRPr>
          </a:p>
        </p:txBody>
      </p:sp>
      <p:sp>
        <p:nvSpPr>
          <p:cNvPr id="528" name="Google Shape;528;g22aa7826dbd_0_16"/>
          <p:cNvSpPr txBox="1"/>
          <p:nvPr/>
        </p:nvSpPr>
        <p:spPr>
          <a:xfrm>
            <a:off x="2688325" y="4103563"/>
            <a:ext cx="107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Calibri"/>
                <a:ea typeface="Calibri"/>
                <a:cs typeface="Calibri"/>
                <a:sym typeface="Calibri"/>
              </a:rPr>
              <a:t>2nd clkcycle</a:t>
            </a:r>
            <a:endParaRPr b="0" i="0" sz="1400" u="none" cap="none" strike="noStrike">
              <a:solidFill>
                <a:srgbClr val="FF0000"/>
              </a:solidFill>
              <a:latin typeface="Calibri"/>
              <a:ea typeface="Calibri"/>
              <a:cs typeface="Calibri"/>
              <a:sym typeface="Calibri"/>
            </a:endParaRPr>
          </a:p>
        </p:txBody>
      </p:sp>
      <p:sp>
        <p:nvSpPr>
          <p:cNvPr id="529" name="Google Shape;529;g22aa7826dbd_0_16"/>
          <p:cNvSpPr txBox="1"/>
          <p:nvPr/>
        </p:nvSpPr>
        <p:spPr>
          <a:xfrm>
            <a:off x="4944400" y="4103563"/>
            <a:ext cx="1074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Calibri"/>
                <a:ea typeface="Calibri"/>
                <a:cs typeface="Calibri"/>
                <a:sym typeface="Calibri"/>
              </a:rPr>
              <a:t>3rd clkcycle</a:t>
            </a:r>
            <a:endParaRPr b="0" i="0" sz="1400" u="none" cap="none" strike="noStrike">
              <a:solidFill>
                <a:srgbClr val="FF0000"/>
              </a:solidFill>
              <a:latin typeface="Calibri"/>
              <a:ea typeface="Calibri"/>
              <a:cs typeface="Calibri"/>
              <a:sym typeface="Calibri"/>
            </a:endParaRPr>
          </a:p>
        </p:txBody>
      </p:sp>
      <p:sp>
        <p:nvSpPr>
          <p:cNvPr id="530" name="Google Shape;530;g22aa7826dbd_0_16"/>
          <p:cNvSpPr txBox="1"/>
          <p:nvPr/>
        </p:nvSpPr>
        <p:spPr>
          <a:xfrm>
            <a:off x="152400" y="152400"/>
            <a:ext cx="3000000" cy="400200"/>
          </a:xfrm>
          <a:prstGeom prst="rect">
            <a:avLst/>
          </a:prstGeom>
          <a:noFill/>
          <a:ln>
            <a:noFill/>
          </a:ln>
        </p:spPr>
        <p:txBody>
          <a:bodyPr anchorCtr="0" anchor="t" bIns="91425" lIns="91425" spcFirstLastPara="1" rIns="91425" wrap="square" tIns="91425">
            <a:spAutoFit/>
          </a:bodyPr>
          <a:lstStyle/>
          <a:p>
            <a:pPr indent="0" lvl="0" marL="0" marR="0" rtl="0" algn="r">
              <a:lnSpc>
                <a:spcPct val="10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g22aa7826dbd_0_16"/>
          <p:cNvSpPr txBox="1"/>
          <p:nvPr/>
        </p:nvSpPr>
        <p:spPr>
          <a:xfrm>
            <a:off x="1635100" y="3888013"/>
            <a:ext cx="1171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w=0, NS=A; w=1, NS= B</a:t>
            </a:r>
            <a:endParaRPr b="1" i="0" sz="1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z = 0</a:t>
            </a:r>
            <a:endParaRPr b="1" i="0" sz="1400" u="none" cap="none" strike="noStrike">
              <a:solidFill>
                <a:srgbClr val="FF0000"/>
              </a:solidFill>
              <a:latin typeface="Calibri"/>
              <a:ea typeface="Calibri"/>
              <a:cs typeface="Calibri"/>
              <a:sym typeface="Calibri"/>
            </a:endParaRPr>
          </a:p>
        </p:txBody>
      </p:sp>
      <p:sp>
        <p:nvSpPr>
          <p:cNvPr id="532" name="Google Shape;532;g22aa7826dbd_0_16"/>
          <p:cNvSpPr txBox="1"/>
          <p:nvPr/>
        </p:nvSpPr>
        <p:spPr>
          <a:xfrm>
            <a:off x="3989225" y="3193688"/>
            <a:ext cx="568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w=1</a:t>
            </a:r>
            <a:endParaRPr b="1" i="0" sz="1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0000"/>
              </a:solidFill>
              <a:latin typeface="Calibri"/>
              <a:ea typeface="Calibri"/>
              <a:cs typeface="Calibri"/>
              <a:sym typeface="Calibri"/>
            </a:endParaRPr>
          </a:p>
        </p:txBody>
      </p:sp>
      <p:sp>
        <p:nvSpPr>
          <p:cNvPr id="533" name="Google Shape;533;g22aa7826dbd_0_16"/>
          <p:cNvSpPr txBox="1"/>
          <p:nvPr/>
        </p:nvSpPr>
        <p:spPr>
          <a:xfrm>
            <a:off x="3762925" y="3888013"/>
            <a:ext cx="1171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w=0, NS=A; w=1, NS= C</a:t>
            </a:r>
            <a:endParaRPr b="1" i="0" sz="14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z= 0</a:t>
            </a:r>
            <a:endParaRPr b="1" i="0" sz="1400" u="none" cap="none" strike="noStrike">
              <a:solidFill>
                <a:srgbClr val="FF0000"/>
              </a:solidFill>
              <a:latin typeface="Calibri"/>
              <a:ea typeface="Calibri"/>
              <a:cs typeface="Calibri"/>
              <a:sym typeface="Calibri"/>
            </a:endParaRPr>
          </a:p>
        </p:txBody>
      </p:sp>
      <p:sp>
        <p:nvSpPr>
          <p:cNvPr id="534" name="Google Shape;534;g22aa7826dbd_0_16"/>
          <p:cNvSpPr txBox="1"/>
          <p:nvPr/>
        </p:nvSpPr>
        <p:spPr>
          <a:xfrm>
            <a:off x="6288800" y="3199838"/>
            <a:ext cx="1171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w=0, NS=A; w=1, </a:t>
            </a:r>
            <a:r>
              <a:rPr b="1" i="0" lang="en-US" sz="1400" u="none" cap="none" strike="noStrike">
                <a:solidFill>
                  <a:srgbClr val="0000FF"/>
                </a:solidFill>
                <a:latin typeface="Calibri"/>
                <a:ea typeface="Calibri"/>
                <a:cs typeface="Calibri"/>
                <a:sym typeface="Calibri"/>
              </a:rPr>
              <a:t>NS= B</a:t>
            </a:r>
            <a:endParaRPr b="1" i="0" sz="1400" u="none" cap="none" strike="noStrike">
              <a:solidFill>
                <a:srgbClr val="0000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z = 1</a:t>
            </a:r>
            <a:endParaRPr b="1" i="0" sz="1400" u="none" cap="none" strike="noStrike">
              <a:solidFill>
                <a:srgbClr val="FF0000"/>
              </a:solidFill>
              <a:latin typeface="Calibri"/>
              <a:ea typeface="Calibri"/>
              <a:cs typeface="Calibri"/>
              <a:sym typeface="Calibri"/>
            </a:endParaRPr>
          </a:p>
        </p:txBody>
      </p:sp>
      <p:sp>
        <p:nvSpPr>
          <p:cNvPr id="535" name="Google Shape;535;g22aa7826dbd_0_16"/>
          <p:cNvSpPr txBox="1"/>
          <p:nvPr/>
        </p:nvSpPr>
        <p:spPr>
          <a:xfrm>
            <a:off x="1893075" y="3259538"/>
            <a:ext cx="56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w=1</a:t>
            </a:r>
            <a:endParaRPr b="1" i="0" sz="1400" u="none" cap="none" strike="noStrike">
              <a:solidFill>
                <a:srgbClr val="FF0000"/>
              </a:solidFill>
              <a:latin typeface="Calibri"/>
              <a:ea typeface="Calibri"/>
              <a:cs typeface="Calibri"/>
              <a:sym typeface="Calibri"/>
            </a:endParaRPr>
          </a:p>
        </p:txBody>
      </p:sp>
      <p:sp>
        <p:nvSpPr>
          <p:cNvPr id="536" name="Google Shape;536;g22aa7826dbd_0_16"/>
          <p:cNvSpPr/>
          <p:nvPr/>
        </p:nvSpPr>
        <p:spPr>
          <a:xfrm>
            <a:off x="2151675" y="5970300"/>
            <a:ext cx="1011300" cy="586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A/z=0</a:t>
            </a:r>
            <a:endParaRPr b="0" i="0" sz="1400" u="none" cap="none" strike="noStrike">
              <a:solidFill>
                <a:srgbClr val="000000"/>
              </a:solidFill>
              <a:latin typeface="Arial"/>
              <a:ea typeface="Arial"/>
              <a:cs typeface="Arial"/>
              <a:sym typeface="Arial"/>
            </a:endParaRPr>
          </a:p>
        </p:txBody>
      </p:sp>
      <p:sp>
        <p:nvSpPr>
          <p:cNvPr id="537" name="Google Shape;537;g22aa7826dbd_0_16"/>
          <p:cNvSpPr/>
          <p:nvPr/>
        </p:nvSpPr>
        <p:spPr>
          <a:xfrm>
            <a:off x="4103675" y="5991025"/>
            <a:ext cx="1011300" cy="586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B/z=0</a:t>
            </a:r>
            <a:endParaRPr b="0" i="0" sz="1400" u="none" cap="none" strike="noStrike">
              <a:solidFill>
                <a:srgbClr val="000000"/>
              </a:solidFill>
              <a:latin typeface="Arial"/>
              <a:ea typeface="Arial"/>
              <a:cs typeface="Arial"/>
              <a:sym typeface="Arial"/>
            </a:endParaRPr>
          </a:p>
        </p:txBody>
      </p:sp>
      <p:sp>
        <p:nvSpPr>
          <p:cNvPr id="538" name="Google Shape;538;g22aa7826dbd_0_16"/>
          <p:cNvSpPr/>
          <p:nvPr/>
        </p:nvSpPr>
        <p:spPr>
          <a:xfrm>
            <a:off x="6055675" y="5991025"/>
            <a:ext cx="1011300" cy="586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C/z=1</a:t>
            </a:r>
            <a:endParaRPr b="0" i="0" sz="1400" u="none" cap="none" strike="noStrike">
              <a:solidFill>
                <a:srgbClr val="000000"/>
              </a:solidFill>
              <a:latin typeface="Arial"/>
              <a:ea typeface="Arial"/>
              <a:cs typeface="Arial"/>
              <a:sym typeface="Arial"/>
            </a:endParaRPr>
          </a:p>
        </p:txBody>
      </p:sp>
      <p:sp>
        <p:nvSpPr>
          <p:cNvPr id="539" name="Google Shape;539;g22aa7826dbd_0_16"/>
          <p:cNvSpPr/>
          <p:nvPr/>
        </p:nvSpPr>
        <p:spPr>
          <a:xfrm rot="-5400000">
            <a:off x="3565850" y="5957125"/>
            <a:ext cx="248700" cy="1075800"/>
          </a:xfrm>
          <a:prstGeom prst="curvedRightArrow">
            <a:avLst>
              <a:gd fmla="val 12844" name="adj1"/>
              <a:gd fmla="val 41471" name="adj2"/>
              <a:gd fmla="val 429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g22aa7826dbd_0_16"/>
          <p:cNvSpPr/>
          <p:nvPr/>
        </p:nvSpPr>
        <p:spPr>
          <a:xfrm rot="5271352">
            <a:off x="3501778" y="5534505"/>
            <a:ext cx="248574" cy="1075940"/>
          </a:xfrm>
          <a:prstGeom prst="curvedRightArrow">
            <a:avLst>
              <a:gd fmla="val 12844" name="adj1"/>
              <a:gd fmla="val 41471" name="adj2"/>
              <a:gd fmla="val 429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22aa7826dbd_0_16"/>
          <p:cNvSpPr/>
          <p:nvPr/>
        </p:nvSpPr>
        <p:spPr>
          <a:xfrm rot="-5400000">
            <a:off x="5500075" y="5967550"/>
            <a:ext cx="248700" cy="1075800"/>
          </a:xfrm>
          <a:prstGeom prst="curvedRightArrow">
            <a:avLst>
              <a:gd fmla="val 12844" name="adj1"/>
              <a:gd fmla="val 41471" name="adj2"/>
              <a:gd fmla="val 429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22aa7826dbd_0_16"/>
          <p:cNvSpPr/>
          <p:nvPr/>
        </p:nvSpPr>
        <p:spPr>
          <a:xfrm rot="5271352">
            <a:off x="5436003" y="5544930"/>
            <a:ext cx="248574" cy="1075940"/>
          </a:xfrm>
          <a:prstGeom prst="curvedRightArrow">
            <a:avLst>
              <a:gd fmla="val 12844" name="adj1"/>
              <a:gd fmla="val 41471" name="adj2"/>
              <a:gd fmla="val 429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22aa7826dbd_0_16"/>
          <p:cNvSpPr txBox="1"/>
          <p:nvPr/>
        </p:nvSpPr>
        <p:spPr>
          <a:xfrm>
            <a:off x="3406100" y="6263188"/>
            <a:ext cx="56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w=1</a:t>
            </a:r>
            <a:endParaRPr b="1" i="0" sz="1400" u="none" cap="none" strike="noStrike">
              <a:solidFill>
                <a:srgbClr val="FF0000"/>
              </a:solidFill>
              <a:latin typeface="Calibri"/>
              <a:ea typeface="Calibri"/>
              <a:cs typeface="Calibri"/>
              <a:sym typeface="Calibri"/>
            </a:endParaRPr>
          </a:p>
        </p:txBody>
      </p:sp>
      <p:sp>
        <p:nvSpPr>
          <p:cNvPr id="544" name="Google Shape;544;g22aa7826dbd_0_16"/>
          <p:cNvSpPr txBox="1"/>
          <p:nvPr/>
        </p:nvSpPr>
        <p:spPr>
          <a:xfrm>
            <a:off x="5301225" y="6263188"/>
            <a:ext cx="56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w=1</a:t>
            </a:r>
            <a:endParaRPr b="1" i="0" sz="1400" u="none" cap="none" strike="noStrike">
              <a:solidFill>
                <a:srgbClr val="FF0000"/>
              </a:solidFill>
              <a:latin typeface="Calibri"/>
              <a:ea typeface="Calibri"/>
              <a:cs typeface="Calibri"/>
              <a:sym typeface="Calibri"/>
            </a:endParaRPr>
          </a:p>
        </p:txBody>
      </p:sp>
      <p:sp>
        <p:nvSpPr>
          <p:cNvPr id="545" name="Google Shape;545;g22aa7826dbd_0_16"/>
          <p:cNvSpPr txBox="1"/>
          <p:nvPr/>
        </p:nvSpPr>
        <p:spPr>
          <a:xfrm>
            <a:off x="5301225" y="5642088"/>
            <a:ext cx="56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w=1</a:t>
            </a:r>
            <a:endParaRPr b="1" i="0" sz="1400" u="none" cap="none" strike="noStrike">
              <a:solidFill>
                <a:srgbClr val="FF0000"/>
              </a:solidFill>
              <a:latin typeface="Calibri"/>
              <a:ea typeface="Calibri"/>
              <a:cs typeface="Calibri"/>
              <a:sym typeface="Calibri"/>
            </a:endParaRPr>
          </a:p>
        </p:txBody>
      </p:sp>
      <p:sp>
        <p:nvSpPr>
          <p:cNvPr id="546" name="Google Shape;546;g22aa7826dbd_0_16"/>
          <p:cNvSpPr/>
          <p:nvPr/>
        </p:nvSpPr>
        <p:spPr>
          <a:xfrm rot="144621">
            <a:off x="1754550" y="6001880"/>
            <a:ext cx="527867" cy="559390"/>
          </a:xfrm>
          <a:prstGeom prst="curvedRightArrow">
            <a:avLst>
              <a:gd fmla="val 12844" name="adj1"/>
              <a:gd fmla="val 41471" name="adj2"/>
              <a:gd fmla="val 2088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22aa7826dbd_0_16"/>
          <p:cNvSpPr txBox="1"/>
          <p:nvPr/>
        </p:nvSpPr>
        <p:spPr>
          <a:xfrm>
            <a:off x="3371863" y="5642088"/>
            <a:ext cx="56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w=0</a:t>
            </a:r>
            <a:endParaRPr b="1" i="0" sz="1400" u="none" cap="none" strike="noStrike">
              <a:solidFill>
                <a:srgbClr val="FF0000"/>
              </a:solidFill>
              <a:latin typeface="Calibri"/>
              <a:ea typeface="Calibri"/>
              <a:cs typeface="Calibri"/>
              <a:sym typeface="Calibri"/>
            </a:endParaRPr>
          </a:p>
        </p:txBody>
      </p:sp>
      <p:sp>
        <p:nvSpPr>
          <p:cNvPr id="548" name="Google Shape;548;g22aa7826dbd_0_16"/>
          <p:cNvSpPr txBox="1"/>
          <p:nvPr/>
        </p:nvSpPr>
        <p:spPr>
          <a:xfrm>
            <a:off x="1630675" y="5756388"/>
            <a:ext cx="56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w=0</a:t>
            </a:r>
            <a:endParaRPr b="1" i="0" sz="1400" u="none" cap="none" strike="noStrike">
              <a:solidFill>
                <a:srgbClr val="FF0000"/>
              </a:solidFill>
              <a:latin typeface="Calibri"/>
              <a:ea typeface="Calibri"/>
              <a:cs typeface="Calibri"/>
              <a:sym typeface="Calibri"/>
            </a:endParaRPr>
          </a:p>
        </p:txBody>
      </p:sp>
      <p:sp>
        <p:nvSpPr>
          <p:cNvPr id="549" name="Google Shape;549;g22aa7826dbd_0_16"/>
          <p:cNvSpPr/>
          <p:nvPr/>
        </p:nvSpPr>
        <p:spPr>
          <a:xfrm rot="5398031">
            <a:off x="4440082" y="3665156"/>
            <a:ext cx="523800" cy="4131600"/>
          </a:xfrm>
          <a:prstGeom prst="curvedRightArrow">
            <a:avLst>
              <a:gd fmla="val 0" name="adj1"/>
              <a:gd fmla="val 21446" name="adj2"/>
              <a:gd fmla="val 42929"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g22aa7826dbd_0_16"/>
          <p:cNvSpPr txBox="1"/>
          <p:nvPr/>
        </p:nvSpPr>
        <p:spPr>
          <a:xfrm>
            <a:off x="4591288" y="5119650"/>
            <a:ext cx="56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Calibri"/>
                <a:ea typeface="Calibri"/>
                <a:cs typeface="Calibri"/>
                <a:sym typeface="Calibri"/>
              </a:rPr>
              <a:t>w=0</a:t>
            </a:r>
            <a:endParaRPr b="1" i="0" sz="1400" u="none" cap="none" strike="noStrike">
              <a:solidFill>
                <a:srgbClr val="FF0000"/>
              </a:solidFill>
              <a:latin typeface="Calibri"/>
              <a:ea typeface="Calibri"/>
              <a:cs typeface="Calibri"/>
              <a:sym typeface="Calibri"/>
            </a:endParaRPr>
          </a:p>
        </p:txBody>
      </p:sp>
      <p:sp>
        <p:nvSpPr>
          <p:cNvPr id="551" name="Google Shape;551;g22aa7826dbd_0_16"/>
          <p:cNvSpPr txBox="1"/>
          <p:nvPr/>
        </p:nvSpPr>
        <p:spPr>
          <a:xfrm>
            <a:off x="507725" y="4727325"/>
            <a:ext cx="22965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sng" cap="none" strike="noStrike">
                <a:solidFill>
                  <a:srgbClr val="000000"/>
                </a:solidFill>
                <a:latin typeface="Times New Roman"/>
                <a:ea typeface="Times New Roman"/>
                <a:cs typeface="Times New Roman"/>
                <a:sym typeface="Times New Roman"/>
              </a:rPr>
              <a:t>STATE DIAGRAM </a:t>
            </a:r>
            <a:endParaRPr b="1" i="0" sz="1900" u="sng"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g257a636349e_0_1"/>
          <p:cNvPicPr preferRelativeResize="0"/>
          <p:nvPr/>
        </p:nvPicPr>
        <p:blipFill rotWithShape="1">
          <a:blip r:embed="rId3">
            <a:alphaModFix/>
          </a:blip>
          <a:srcRect b="0" l="0" r="0" t="0"/>
          <a:stretch/>
        </p:blipFill>
        <p:spPr>
          <a:xfrm>
            <a:off x="0" y="876700"/>
            <a:ext cx="12192000" cy="5981299"/>
          </a:xfrm>
          <a:prstGeom prst="rect">
            <a:avLst/>
          </a:prstGeom>
          <a:noFill/>
          <a:ln>
            <a:noFill/>
          </a:ln>
        </p:spPr>
      </p:pic>
      <p:sp>
        <p:nvSpPr>
          <p:cNvPr id="557" name="Google Shape;557;g257a636349e_0_1"/>
          <p:cNvSpPr txBox="1"/>
          <p:nvPr/>
        </p:nvSpPr>
        <p:spPr>
          <a:xfrm>
            <a:off x="49475" y="0"/>
            <a:ext cx="75297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Calibri"/>
                <a:ea typeface="Calibri"/>
                <a:cs typeface="Calibri"/>
                <a:sym typeface="Calibri"/>
              </a:rPr>
              <a:t>Illustration of light switch problem</a:t>
            </a:r>
            <a:endParaRPr b="0" i="0" sz="2700" u="none" cap="none" strike="noStrik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pic>
        <p:nvPicPr>
          <p:cNvPr id="562" name="Google Shape;562;g666333564ffb1711_2"/>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1ead90bba03_0_352"/>
          <p:cNvSpPr txBox="1"/>
          <p:nvPr>
            <p:ph type="title"/>
          </p:nvPr>
        </p:nvSpPr>
        <p:spPr>
          <a:xfrm>
            <a:off x="1429698" y="685431"/>
            <a:ext cx="7885500" cy="720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4400"/>
              <a:buNone/>
            </a:pPr>
            <a:r>
              <a:rPr b="1" lang="en-US" sz="2800"/>
              <a:t>Summary</a:t>
            </a:r>
            <a:endParaRPr b="1" sz="2800"/>
          </a:p>
          <a:p>
            <a:pPr indent="0" lvl="0" marL="0" rtl="0" algn="ctr">
              <a:lnSpc>
                <a:spcPct val="90000"/>
              </a:lnSpc>
              <a:spcBef>
                <a:spcPts val="0"/>
              </a:spcBef>
              <a:spcAft>
                <a:spcPts val="0"/>
              </a:spcAft>
              <a:buSzPts val="4400"/>
              <a:buNone/>
            </a:pPr>
            <a:r>
              <a:t/>
            </a:r>
            <a:endParaRPr/>
          </a:p>
        </p:txBody>
      </p:sp>
      <p:sp>
        <p:nvSpPr>
          <p:cNvPr id="568" name="Google Shape;568;g1ead90bba03_0_352"/>
          <p:cNvSpPr txBox="1"/>
          <p:nvPr/>
        </p:nvSpPr>
        <p:spPr>
          <a:xfrm>
            <a:off x="4239575" y="1316175"/>
            <a:ext cx="4932000" cy="43452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360"/>
              </a:spcBef>
              <a:spcAft>
                <a:spcPts val="0"/>
              </a:spcAft>
              <a:buClr>
                <a:srgbClr val="000000"/>
              </a:buClr>
              <a:buSzPts val="2500"/>
              <a:buFont typeface="Arial"/>
              <a:buNone/>
            </a:pPr>
            <a:r>
              <a:rPr b="1" i="0" lang="en-US" sz="2500" u="none" cap="none" strike="noStrike">
                <a:solidFill>
                  <a:schemeClr val="dk1"/>
                </a:solidFill>
                <a:latin typeface="Calibri"/>
                <a:ea typeface="Calibri"/>
                <a:cs typeface="Calibri"/>
                <a:sym typeface="Calibri"/>
              </a:rPr>
              <a:t>Steps-&gt; </a:t>
            </a:r>
            <a:endParaRPr b="1" i="0" sz="2500" u="none" cap="none" strike="noStrike">
              <a:solidFill>
                <a:schemeClr val="dk1"/>
              </a:solidFill>
              <a:latin typeface="Calibri"/>
              <a:ea typeface="Calibri"/>
              <a:cs typeface="Calibri"/>
              <a:sym typeface="Calibri"/>
            </a:endParaRPr>
          </a:p>
          <a:p>
            <a:pPr indent="0" lvl="0" marL="0" marR="0" rtl="0" algn="l">
              <a:lnSpc>
                <a:spcPct val="90000"/>
              </a:lnSpc>
              <a:spcBef>
                <a:spcPts val="360"/>
              </a:spcBef>
              <a:spcAft>
                <a:spcPts val="0"/>
              </a:spcAft>
              <a:buClr>
                <a:srgbClr val="000000"/>
              </a:buClr>
              <a:buSzPts val="2600"/>
              <a:buFont typeface="Arial"/>
              <a:buNone/>
            </a:pPr>
            <a:r>
              <a:t/>
            </a:r>
            <a:endParaRPr b="0" i="0" sz="2600" u="none" cap="none" strike="noStrike">
              <a:solidFill>
                <a:schemeClr val="dk1"/>
              </a:solidFill>
              <a:latin typeface="Calibri"/>
              <a:ea typeface="Calibri"/>
              <a:cs typeface="Calibri"/>
              <a:sym typeface="Calibri"/>
            </a:endParaRPr>
          </a:p>
          <a:p>
            <a:pPr indent="-381000" lvl="0" marL="9144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State diagram</a:t>
            </a:r>
            <a:endParaRPr b="0" i="0" sz="2400" u="none" cap="none" strike="noStrike">
              <a:solidFill>
                <a:schemeClr val="dk1"/>
              </a:solidFill>
              <a:latin typeface="Calibri"/>
              <a:ea typeface="Calibri"/>
              <a:cs typeface="Calibri"/>
              <a:sym typeface="Calibri"/>
            </a:endParaRPr>
          </a:p>
          <a:p>
            <a:pPr indent="0" lvl="0" marL="914400" marR="0" rtl="0" algn="l">
              <a:lnSpc>
                <a:spcPct val="90000"/>
              </a:lnSpc>
              <a:spcBef>
                <a:spcPts val="36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81000" lvl="0" marL="9144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State table</a:t>
            </a:r>
            <a:endParaRPr b="0" i="0" sz="2400" u="none" cap="none" strike="noStrike">
              <a:solidFill>
                <a:schemeClr val="dk1"/>
              </a:solidFill>
              <a:latin typeface="Calibri"/>
              <a:ea typeface="Calibri"/>
              <a:cs typeface="Calibri"/>
              <a:sym typeface="Calibri"/>
            </a:endParaRPr>
          </a:p>
          <a:p>
            <a:pPr indent="0" lvl="0" marL="914400" marR="0" rtl="0" algn="l">
              <a:lnSpc>
                <a:spcPct val="90000"/>
              </a:lnSpc>
              <a:spcBef>
                <a:spcPts val="36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81000" lvl="0" marL="9144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State assigned table</a:t>
            </a:r>
            <a:endParaRPr b="0" i="0" sz="2400" u="none" cap="none" strike="noStrike">
              <a:solidFill>
                <a:schemeClr val="dk1"/>
              </a:solidFill>
              <a:latin typeface="Calibri"/>
              <a:ea typeface="Calibri"/>
              <a:cs typeface="Calibri"/>
              <a:sym typeface="Calibri"/>
            </a:endParaRPr>
          </a:p>
          <a:p>
            <a:pPr indent="0" lvl="0" marL="914400" marR="0" rtl="0" algn="l">
              <a:lnSpc>
                <a:spcPct val="90000"/>
              </a:lnSpc>
              <a:spcBef>
                <a:spcPts val="36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81000" lvl="0" marL="9144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K-map (next states &amp; outputs)</a:t>
            </a:r>
            <a:endParaRPr b="0" i="0" sz="2400" u="none" cap="none" strike="noStrike">
              <a:solidFill>
                <a:schemeClr val="dk1"/>
              </a:solidFill>
              <a:latin typeface="Calibri"/>
              <a:ea typeface="Calibri"/>
              <a:cs typeface="Calibri"/>
              <a:sym typeface="Calibri"/>
            </a:endParaRPr>
          </a:p>
          <a:p>
            <a:pPr indent="0" lvl="0" marL="914400" marR="0" rtl="0" algn="l">
              <a:lnSpc>
                <a:spcPct val="90000"/>
              </a:lnSpc>
              <a:spcBef>
                <a:spcPts val="36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81000" lvl="0" marL="9144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Circuit</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p6"/>
          <p:cNvPicPr preferRelativeResize="0"/>
          <p:nvPr/>
        </p:nvPicPr>
        <p:blipFill rotWithShape="1">
          <a:blip r:embed="rId3">
            <a:alphaModFix/>
          </a:blip>
          <a:srcRect b="0" l="0" r="0" t="0"/>
          <a:stretch/>
        </p:blipFill>
        <p:spPr>
          <a:xfrm>
            <a:off x="667817" y="0"/>
            <a:ext cx="10193173" cy="3705742"/>
          </a:xfrm>
          <a:prstGeom prst="rect">
            <a:avLst/>
          </a:prstGeom>
          <a:noFill/>
          <a:ln>
            <a:noFill/>
          </a:ln>
        </p:spPr>
      </p:pic>
      <p:pic>
        <p:nvPicPr>
          <p:cNvPr id="574" name="Google Shape;574;p6"/>
          <p:cNvPicPr preferRelativeResize="0"/>
          <p:nvPr/>
        </p:nvPicPr>
        <p:blipFill rotWithShape="1">
          <a:blip r:embed="rId4">
            <a:alphaModFix/>
          </a:blip>
          <a:srcRect b="0" l="0" r="0" t="0"/>
          <a:stretch/>
        </p:blipFill>
        <p:spPr>
          <a:xfrm>
            <a:off x="667817" y="3806782"/>
            <a:ext cx="10259857" cy="209579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1"/>
          <p:cNvSpPr txBox="1"/>
          <p:nvPr>
            <p:ph type="title"/>
          </p:nvPr>
        </p:nvSpPr>
        <p:spPr>
          <a:xfrm>
            <a:off x="838200" y="365125"/>
            <a:ext cx="10515600" cy="951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sz="3000">
                <a:latin typeface="Times New Roman"/>
                <a:ea typeface="Times New Roman"/>
                <a:cs typeface="Times New Roman"/>
                <a:sym typeface="Times New Roman"/>
              </a:rPr>
              <a:t>General form of a sequential circuit</a:t>
            </a:r>
            <a:endParaRPr b="1" sz="3000">
              <a:latin typeface="Times New Roman"/>
              <a:ea typeface="Times New Roman"/>
              <a:cs typeface="Times New Roman"/>
              <a:sym typeface="Times New Roman"/>
            </a:endParaRPr>
          </a:p>
        </p:txBody>
      </p:sp>
      <p:sp>
        <p:nvSpPr>
          <p:cNvPr id="584" name="Google Shape;584;p11"/>
          <p:cNvSpPr txBox="1"/>
          <p:nvPr>
            <p:ph idx="1" type="body"/>
          </p:nvPr>
        </p:nvSpPr>
        <p:spPr>
          <a:xfrm>
            <a:off x="838200" y="1825625"/>
            <a:ext cx="3983100" cy="4351200"/>
          </a:xfrm>
          <a:prstGeom prst="rect">
            <a:avLst/>
          </a:prstGeom>
          <a:noFill/>
          <a:ln>
            <a:noFill/>
          </a:ln>
        </p:spPr>
        <p:txBody>
          <a:bodyPr anchorCtr="0" anchor="t" bIns="45700" lIns="91425" spcFirstLastPara="1" rIns="91425" wrap="square" tIns="45700">
            <a:normAutofit/>
          </a:bodyPr>
          <a:lstStyle/>
          <a:p>
            <a:pPr indent="-209550" lvl="0" marL="228600" rtl="0" algn="l">
              <a:lnSpc>
                <a:spcPct val="70000"/>
              </a:lnSpc>
              <a:spcBef>
                <a:spcPts val="0"/>
              </a:spcBef>
              <a:spcAft>
                <a:spcPts val="0"/>
              </a:spcAft>
              <a:buClr>
                <a:schemeClr val="dk1"/>
              </a:buClr>
              <a:buSzPts val="2500"/>
              <a:buChar char="•"/>
            </a:pPr>
            <a:r>
              <a:rPr lang="en-US" sz="2500"/>
              <a:t>W represents input/s</a:t>
            </a:r>
            <a:endParaRPr sz="2500"/>
          </a:p>
          <a:p>
            <a:pPr indent="-209550" lvl="0" marL="228600" rtl="0" algn="l">
              <a:lnSpc>
                <a:spcPct val="70000"/>
              </a:lnSpc>
              <a:spcBef>
                <a:spcPts val="1000"/>
              </a:spcBef>
              <a:spcAft>
                <a:spcPts val="0"/>
              </a:spcAft>
              <a:buClr>
                <a:schemeClr val="dk1"/>
              </a:buClr>
              <a:buSzPts val="2500"/>
              <a:buChar char="•"/>
            </a:pPr>
            <a:r>
              <a:rPr lang="en-US" sz="2500"/>
              <a:t>Z represents output/s</a:t>
            </a:r>
            <a:endParaRPr sz="2500"/>
          </a:p>
          <a:p>
            <a:pPr indent="-209550" lvl="0" marL="228600" rtl="0" algn="l">
              <a:lnSpc>
                <a:spcPct val="70000"/>
              </a:lnSpc>
              <a:spcBef>
                <a:spcPts val="1000"/>
              </a:spcBef>
              <a:spcAft>
                <a:spcPts val="0"/>
              </a:spcAft>
              <a:buClr>
                <a:schemeClr val="dk1"/>
              </a:buClr>
              <a:buSzPts val="2500"/>
              <a:buChar char="•"/>
            </a:pPr>
            <a:r>
              <a:rPr lang="en-US" sz="2500"/>
              <a:t>Flip-flops are used to save the “present” state of the circuit, Q</a:t>
            </a:r>
            <a:endParaRPr sz="2500"/>
          </a:p>
          <a:p>
            <a:pPr indent="-209550" lvl="0" marL="228600" rtl="0" algn="l">
              <a:lnSpc>
                <a:spcPct val="70000"/>
              </a:lnSpc>
              <a:spcBef>
                <a:spcPts val="1000"/>
              </a:spcBef>
              <a:spcAft>
                <a:spcPts val="0"/>
              </a:spcAft>
              <a:buClr>
                <a:schemeClr val="dk1"/>
              </a:buClr>
              <a:buSzPts val="2500"/>
              <a:buChar char="•"/>
            </a:pPr>
            <a:r>
              <a:rPr lang="en-US" sz="2500"/>
              <a:t>Also called Finite State Machine (FSM) or simply, machine</a:t>
            </a:r>
            <a:endParaRPr sz="2500"/>
          </a:p>
          <a:p>
            <a:pPr indent="-209550" lvl="0" marL="228600" rtl="0" algn="l">
              <a:lnSpc>
                <a:spcPct val="70000"/>
              </a:lnSpc>
              <a:spcBef>
                <a:spcPts val="1000"/>
              </a:spcBef>
              <a:spcAft>
                <a:spcPts val="0"/>
              </a:spcAft>
              <a:buClr>
                <a:schemeClr val="dk1"/>
              </a:buClr>
              <a:buSzPts val="2500"/>
              <a:buChar char="•"/>
            </a:pPr>
            <a:r>
              <a:rPr lang="en-US" sz="2500"/>
              <a:t>2 types: depending on the connection drawn in pink on the circuit</a:t>
            </a:r>
            <a:endParaRPr sz="2500"/>
          </a:p>
        </p:txBody>
      </p:sp>
      <p:pic>
        <p:nvPicPr>
          <p:cNvPr id="585" name="Google Shape;585;p11"/>
          <p:cNvPicPr preferRelativeResize="0"/>
          <p:nvPr/>
        </p:nvPicPr>
        <p:blipFill rotWithShape="1">
          <a:blip r:embed="rId3">
            <a:alphaModFix/>
          </a:blip>
          <a:srcRect b="0" l="0" r="0" t="0"/>
          <a:stretch/>
        </p:blipFill>
        <p:spPr>
          <a:xfrm>
            <a:off x="4627290" y="2364091"/>
            <a:ext cx="6726510" cy="2550572"/>
          </a:xfrm>
          <a:prstGeom prst="rect">
            <a:avLst/>
          </a:prstGeom>
          <a:noFill/>
          <a:ln>
            <a:noFill/>
          </a:ln>
        </p:spPr>
      </p:pic>
      <p:sp>
        <p:nvSpPr>
          <p:cNvPr id="586" name="Google Shape;586;p11"/>
          <p:cNvSpPr txBox="1"/>
          <p:nvPr/>
        </p:nvSpPr>
        <p:spPr>
          <a:xfrm>
            <a:off x="5612860" y="4982131"/>
            <a:ext cx="54474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Figure: General form of a sequential circuit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FSM types</a:t>
            </a:r>
            <a:endParaRPr/>
          </a:p>
        </p:txBody>
      </p:sp>
      <p:sp>
        <p:nvSpPr>
          <p:cNvPr id="592" name="Google Shape;592;p12"/>
          <p:cNvSpPr txBox="1"/>
          <p:nvPr>
            <p:ph idx="1" type="body"/>
          </p:nvPr>
        </p:nvSpPr>
        <p:spPr>
          <a:xfrm>
            <a:off x="838200" y="1825625"/>
            <a:ext cx="3762983"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Moore type FSM</a:t>
            </a:r>
            <a:endParaRPr/>
          </a:p>
          <a:p>
            <a:pPr indent="0" lvl="1" marL="457200" rtl="0" algn="l">
              <a:lnSpc>
                <a:spcPct val="90000"/>
              </a:lnSpc>
              <a:spcBef>
                <a:spcPts val="500"/>
              </a:spcBef>
              <a:spcAft>
                <a:spcPts val="0"/>
              </a:spcAft>
              <a:buClr>
                <a:schemeClr val="dk1"/>
              </a:buClr>
              <a:buSzPts val="2400"/>
              <a:buNone/>
            </a:pPr>
            <a:r>
              <a:rPr lang="en-US"/>
              <a:t>Output (Z) depends only on the “present” state (Q) of the circuit</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Mealy type FSM</a:t>
            </a:r>
            <a:endParaRPr/>
          </a:p>
          <a:p>
            <a:pPr indent="0" lvl="1" marL="457200" rtl="0" algn="l">
              <a:lnSpc>
                <a:spcPct val="90000"/>
              </a:lnSpc>
              <a:spcBef>
                <a:spcPts val="500"/>
              </a:spcBef>
              <a:spcAft>
                <a:spcPts val="0"/>
              </a:spcAft>
              <a:buClr>
                <a:schemeClr val="dk1"/>
              </a:buClr>
              <a:buSzPts val="2400"/>
              <a:buNone/>
            </a:pPr>
            <a:r>
              <a:rPr lang="en-US"/>
              <a:t>Output (Z) depends on both the primary inputs (W) and the “present” state (Q) of the circuit</a:t>
            </a:r>
            <a:endParaRPr/>
          </a:p>
        </p:txBody>
      </p:sp>
      <p:pic>
        <p:nvPicPr>
          <p:cNvPr id="593" name="Google Shape;593;p12"/>
          <p:cNvPicPr preferRelativeResize="0"/>
          <p:nvPr/>
        </p:nvPicPr>
        <p:blipFill rotWithShape="1">
          <a:blip r:embed="rId3">
            <a:alphaModFix/>
          </a:blip>
          <a:srcRect b="0" l="0" r="0" t="0"/>
          <a:stretch/>
        </p:blipFill>
        <p:spPr>
          <a:xfrm>
            <a:off x="5482194" y="3684711"/>
            <a:ext cx="5227959" cy="1982349"/>
          </a:xfrm>
          <a:prstGeom prst="rect">
            <a:avLst/>
          </a:prstGeom>
          <a:noFill/>
          <a:ln>
            <a:noFill/>
          </a:ln>
        </p:spPr>
      </p:pic>
      <p:pic>
        <p:nvPicPr>
          <p:cNvPr id="594" name="Google Shape;594;p12"/>
          <p:cNvPicPr preferRelativeResize="0"/>
          <p:nvPr/>
        </p:nvPicPr>
        <p:blipFill rotWithShape="1">
          <a:blip r:embed="rId4">
            <a:alphaModFix/>
          </a:blip>
          <a:srcRect b="0" l="0" r="0" t="0"/>
          <a:stretch/>
        </p:blipFill>
        <p:spPr>
          <a:xfrm>
            <a:off x="5482194" y="1307110"/>
            <a:ext cx="5227959" cy="1984551"/>
          </a:xfrm>
          <a:prstGeom prst="rect">
            <a:avLst/>
          </a:prstGeom>
          <a:noFill/>
          <a:ln>
            <a:noFill/>
          </a:ln>
        </p:spPr>
      </p:pic>
      <p:sp>
        <p:nvSpPr>
          <p:cNvPr id="595" name="Google Shape;595;p12"/>
          <p:cNvSpPr txBox="1"/>
          <p:nvPr/>
        </p:nvSpPr>
        <p:spPr>
          <a:xfrm>
            <a:off x="7170907" y="3326687"/>
            <a:ext cx="400779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Figure: Moore type FSM</a:t>
            </a:r>
            <a:endParaRPr b="0" i="0" sz="1800" u="none" cap="none" strike="noStrike">
              <a:solidFill>
                <a:schemeClr val="dk1"/>
              </a:solidFill>
              <a:latin typeface="Calibri"/>
              <a:ea typeface="Calibri"/>
              <a:cs typeface="Calibri"/>
              <a:sym typeface="Calibri"/>
            </a:endParaRPr>
          </a:p>
        </p:txBody>
      </p:sp>
      <p:sp>
        <p:nvSpPr>
          <p:cNvPr id="596" name="Google Shape;596;p12"/>
          <p:cNvSpPr txBox="1"/>
          <p:nvPr/>
        </p:nvSpPr>
        <p:spPr>
          <a:xfrm>
            <a:off x="7170907" y="5655752"/>
            <a:ext cx="400779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Figure: Mealy type FSM</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Moore vs. Mealy type machines</a:t>
            </a:r>
            <a:endParaRPr/>
          </a:p>
        </p:txBody>
      </p:sp>
      <p:graphicFrame>
        <p:nvGraphicFramePr>
          <p:cNvPr id="602" name="Google Shape;602;p13"/>
          <p:cNvGraphicFramePr/>
          <p:nvPr/>
        </p:nvGraphicFramePr>
        <p:xfrm>
          <a:off x="1149485" y="1825625"/>
          <a:ext cx="3000000" cy="3000000"/>
        </p:xfrm>
        <a:graphic>
          <a:graphicData uri="http://schemas.openxmlformats.org/drawingml/2006/table">
            <a:tbl>
              <a:tblPr bandRow="1" firstRow="1">
                <a:noFill/>
                <a:tableStyleId>{A1B53FDF-9A89-4878-8B59-67A74DF96591}</a:tableStyleId>
              </a:tblPr>
              <a:tblGrid>
                <a:gridCol w="4950575"/>
                <a:gridCol w="4950575"/>
              </a:tblGrid>
              <a:tr h="4349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Moore Machine</a:t>
                      </a:r>
                      <a:endParaRPr sz="1400" u="none" cap="none" strike="noStrike"/>
                    </a:p>
                  </a:txBody>
                  <a:tcPr marT="60950" marB="60950" marR="60950" marL="609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Mealy Machine</a:t>
                      </a:r>
                      <a:endParaRPr sz="1400" u="none" cap="none" strike="noStrike"/>
                    </a:p>
                  </a:txBody>
                  <a:tcPr marT="60950" marB="60950" marR="60950" marL="60950"/>
                </a:tc>
              </a:tr>
              <a:tr h="736050">
                <a:tc>
                  <a:txBody>
                    <a:bodyPr/>
                    <a:lstStyle/>
                    <a:p>
                      <a:pPr indent="-285750" lvl="0" marL="285750" marR="0" rtl="0" algn="l">
                        <a:lnSpc>
                          <a:spcPct val="100000"/>
                        </a:lnSpc>
                        <a:spcBef>
                          <a:spcPts val="0"/>
                        </a:spcBef>
                        <a:spcAft>
                          <a:spcPts val="0"/>
                        </a:spcAft>
                        <a:buClr>
                          <a:schemeClr val="dk1"/>
                        </a:buClr>
                        <a:buSzPts val="1800"/>
                        <a:buFont typeface="Noto Sans Symbols"/>
                        <a:buChar char="▪"/>
                      </a:pPr>
                      <a:r>
                        <a:rPr b="1" lang="en-US" sz="1800" u="none" cap="none" strike="noStrike"/>
                        <a:t>Output </a:t>
                      </a:r>
                      <a:r>
                        <a:rPr lang="en-US" sz="1800" u="none" cap="none" strike="noStrike"/>
                        <a:t>depends only on the </a:t>
                      </a:r>
                      <a:r>
                        <a:rPr b="1" i="1" lang="en-US" sz="1800" u="none" cap="none" strike="noStrike"/>
                        <a:t>present state</a:t>
                      </a:r>
                      <a:r>
                        <a:rPr lang="en-US" sz="1800" u="none" cap="none" strike="noStrike"/>
                        <a:t>.</a:t>
                      </a:r>
                      <a:endParaRPr sz="1400" u="none" cap="none" strike="noStrike"/>
                    </a:p>
                  </a:txBody>
                  <a:tcPr marT="60950" marB="60950" marR="60950" marL="60950"/>
                </a:tc>
                <a:tc>
                  <a:txBody>
                    <a:bodyPr/>
                    <a:lstStyle/>
                    <a:p>
                      <a:pPr indent="-285750" lvl="0" marL="285750" marR="0" rtl="0" algn="l">
                        <a:lnSpc>
                          <a:spcPct val="100000"/>
                        </a:lnSpc>
                        <a:spcBef>
                          <a:spcPts val="0"/>
                        </a:spcBef>
                        <a:spcAft>
                          <a:spcPts val="0"/>
                        </a:spcAft>
                        <a:buClr>
                          <a:schemeClr val="dk1"/>
                        </a:buClr>
                        <a:buSzPts val="1800"/>
                        <a:buFont typeface="Noto Sans Symbols"/>
                        <a:buChar char="▪"/>
                      </a:pPr>
                      <a:r>
                        <a:rPr b="1" lang="en-US" sz="1800" u="none" cap="none" strike="noStrike"/>
                        <a:t>Output</a:t>
                      </a:r>
                      <a:r>
                        <a:rPr lang="en-US" sz="1800" u="none" cap="none" strike="noStrike"/>
                        <a:t> depends both on the </a:t>
                      </a:r>
                      <a:r>
                        <a:rPr b="1" i="1" lang="en-US" sz="1800" u="none" cap="none" strike="noStrike"/>
                        <a:t>present state</a:t>
                      </a:r>
                      <a:r>
                        <a:rPr i="1" lang="en-US" sz="1800" u="none" cap="none" strike="noStrike"/>
                        <a:t> </a:t>
                      </a:r>
                      <a:r>
                        <a:rPr lang="en-US" sz="1800" u="none" cap="none" strike="noStrike"/>
                        <a:t>and the </a:t>
                      </a:r>
                      <a:r>
                        <a:rPr i="1" lang="en-US" sz="1800" u="none" cap="none" strike="noStrike"/>
                        <a:t>present </a:t>
                      </a:r>
                      <a:r>
                        <a:rPr b="1" i="1" lang="en-US" sz="1800" u="none" cap="none" strike="noStrike"/>
                        <a:t>input</a:t>
                      </a:r>
                      <a:r>
                        <a:rPr i="1" lang="en-US" sz="1800" u="none" cap="none" strike="noStrike"/>
                        <a:t>.</a:t>
                      </a:r>
                      <a:endParaRPr i="1" sz="1400" u="none" cap="none" strike="noStrike"/>
                    </a:p>
                  </a:txBody>
                  <a:tcPr marT="60950" marB="60950" marR="60950" marL="60950"/>
                </a:tc>
              </a:tr>
              <a:tr h="434925">
                <a:tc>
                  <a:txBody>
                    <a:bodyPr/>
                    <a:lstStyle/>
                    <a:p>
                      <a:pPr indent="-285750" lvl="0" marL="285750" marR="0" rtl="0" algn="l">
                        <a:lnSpc>
                          <a:spcPct val="100000"/>
                        </a:lnSpc>
                        <a:spcBef>
                          <a:spcPts val="0"/>
                        </a:spcBef>
                        <a:spcAft>
                          <a:spcPts val="0"/>
                        </a:spcAft>
                        <a:buClr>
                          <a:schemeClr val="dk1"/>
                        </a:buClr>
                        <a:buSzPts val="1800"/>
                        <a:buFont typeface="Noto Sans Symbols"/>
                        <a:buChar char="▪"/>
                      </a:pPr>
                      <a:r>
                        <a:rPr lang="en-US" sz="1800" u="none" cap="none" strike="noStrike"/>
                        <a:t>Generally, it has </a:t>
                      </a:r>
                      <a:r>
                        <a:rPr i="1" lang="en-US" sz="1800" u="none" cap="none" strike="noStrike"/>
                        <a:t>more states</a:t>
                      </a:r>
                      <a:r>
                        <a:rPr lang="en-US" sz="1800" u="none" cap="none" strike="noStrike"/>
                        <a:t> than Mealy Machine.</a:t>
                      </a:r>
                      <a:endParaRPr sz="1400" u="none" cap="none" strike="noStrike"/>
                    </a:p>
                  </a:txBody>
                  <a:tcPr marT="60950" marB="60950" marR="60950" marL="60950"/>
                </a:tc>
                <a:tc>
                  <a:txBody>
                    <a:bodyPr/>
                    <a:lstStyle/>
                    <a:p>
                      <a:pPr indent="-285750" lvl="0" marL="285750" marR="0" rtl="0" algn="l">
                        <a:lnSpc>
                          <a:spcPct val="100000"/>
                        </a:lnSpc>
                        <a:spcBef>
                          <a:spcPts val="0"/>
                        </a:spcBef>
                        <a:spcAft>
                          <a:spcPts val="0"/>
                        </a:spcAft>
                        <a:buClr>
                          <a:schemeClr val="dk1"/>
                        </a:buClr>
                        <a:buSzPts val="1800"/>
                        <a:buFont typeface="Noto Sans Symbols"/>
                        <a:buChar char="▪"/>
                      </a:pPr>
                      <a:r>
                        <a:rPr lang="en-US" sz="1800" u="none" cap="none" strike="noStrike"/>
                        <a:t>Generally, it has </a:t>
                      </a:r>
                      <a:r>
                        <a:rPr i="1" lang="en-US" sz="1800" u="none" cap="none" strike="noStrike"/>
                        <a:t>fewer states</a:t>
                      </a:r>
                      <a:r>
                        <a:rPr lang="en-US" sz="1800" u="none" cap="none" strike="noStrike"/>
                        <a:t> than Moore Machine.</a:t>
                      </a:r>
                      <a:endParaRPr sz="1400" u="none" cap="none" strike="noStrike"/>
                    </a:p>
                  </a:txBody>
                  <a:tcPr marT="60950" marB="60950" marR="60950" marL="60950"/>
                </a:tc>
              </a:tr>
              <a:tr h="700550">
                <a:tc>
                  <a:txBody>
                    <a:bodyPr/>
                    <a:lstStyle/>
                    <a:p>
                      <a:pPr indent="-285750" lvl="0" marL="285750" marR="0" rtl="0" algn="l">
                        <a:lnSpc>
                          <a:spcPct val="100000"/>
                        </a:lnSpc>
                        <a:spcBef>
                          <a:spcPts val="0"/>
                        </a:spcBef>
                        <a:spcAft>
                          <a:spcPts val="0"/>
                        </a:spcAft>
                        <a:buClr>
                          <a:schemeClr val="dk1"/>
                        </a:buClr>
                        <a:buSzPts val="1800"/>
                        <a:buFont typeface="Noto Sans Symbols"/>
                        <a:buChar char="▪"/>
                      </a:pPr>
                      <a:r>
                        <a:rPr lang="en-US" sz="1800" u="none" cap="none" strike="noStrike"/>
                        <a:t>The output is a function of the current state and changes </a:t>
                      </a:r>
                      <a:r>
                        <a:rPr i="1" lang="en-US" sz="1800" u="none" cap="none" strike="noStrike"/>
                        <a:t>at clock edges</a:t>
                      </a:r>
                      <a:endParaRPr i="1" sz="1800" u="none" cap="none" strike="noStrike"/>
                    </a:p>
                  </a:txBody>
                  <a:tcPr marT="60950" marB="60950" marR="60950" marL="60950"/>
                </a:tc>
                <a:tc>
                  <a:txBody>
                    <a:bodyPr/>
                    <a:lstStyle/>
                    <a:p>
                      <a:pPr indent="-285750" lvl="0" marL="285750" marR="0" rtl="0" algn="l">
                        <a:lnSpc>
                          <a:spcPct val="100000"/>
                        </a:lnSpc>
                        <a:spcBef>
                          <a:spcPts val="0"/>
                        </a:spcBef>
                        <a:spcAft>
                          <a:spcPts val="0"/>
                        </a:spcAft>
                        <a:buClr>
                          <a:schemeClr val="dk1"/>
                        </a:buClr>
                        <a:buSzPts val="1800"/>
                        <a:buFont typeface="Noto Sans Symbols"/>
                        <a:buChar char="▪"/>
                      </a:pPr>
                      <a:r>
                        <a:rPr lang="en-US" sz="1800" u="none" cap="none" strike="noStrike"/>
                        <a:t>The output is a function of the transitions and can change any instant</a:t>
                      </a:r>
                      <a:endParaRPr sz="1800" u="none" cap="none" strike="noStrike"/>
                    </a:p>
                  </a:txBody>
                  <a:tcPr marT="60950" marB="60950" marR="60950" marL="60950"/>
                </a:tc>
              </a:tr>
              <a:tr h="1037150">
                <a:tc>
                  <a:txBody>
                    <a:bodyPr/>
                    <a:lstStyle/>
                    <a:p>
                      <a:pPr indent="-285750" lvl="0" marL="285750" marR="0" rtl="0" algn="l">
                        <a:lnSpc>
                          <a:spcPct val="100000"/>
                        </a:lnSpc>
                        <a:spcBef>
                          <a:spcPts val="0"/>
                        </a:spcBef>
                        <a:spcAft>
                          <a:spcPts val="0"/>
                        </a:spcAft>
                        <a:buClr>
                          <a:schemeClr val="dk1"/>
                        </a:buClr>
                        <a:buSzPts val="1800"/>
                        <a:buFont typeface="Noto Sans Symbols"/>
                        <a:buChar char="▪"/>
                      </a:pPr>
                      <a:r>
                        <a:rPr lang="en-US" sz="1800" u="none" cap="none" strike="noStrike"/>
                        <a:t>In Moore machines, more logic is required to decode the outputs resulting in more circuit delays. They generally react one clock cycle later.</a:t>
                      </a:r>
                      <a:endParaRPr sz="1400" u="none" cap="none" strike="noStrike"/>
                    </a:p>
                  </a:txBody>
                  <a:tcPr marT="60950" marB="60950" marR="60950" marL="60950"/>
                </a:tc>
                <a:tc>
                  <a:txBody>
                    <a:bodyPr/>
                    <a:lstStyle/>
                    <a:p>
                      <a:pPr indent="-285750" lvl="0" marL="285750" marR="0" rtl="0" algn="l">
                        <a:lnSpc>
                          <a:spcPct val="100000"/>
                        </a:lnSpc>
                        <a:spcBef>
                          <a:spcPts val="0"/>
                        </a:spcBef>
                        <a:spcAft>
                          <a:spcPts val="0"/>
                        </a:spcAft>
                        <a:buClr>
                          <a:schemeClr val="dk1"/>
                        </a:buClr>
                        <a:buSzPts val="1800"/>
                        <a:buFont typeface="Noto Sans Symbols"/>
                        <a:buChar char="▪"/>
                      </a:pPr>
                      <a:r>
                        <a:rPr lang="en-US" sz="1800" u="none" cap="none" strike="noStrike"/>
                        <a:t>Mealy machines react faster to inputs. They generally react in the same clock cycle.</a:t>
                      </a:r>
                      <a:endParaRPr sz="1400" u="none" cap="none" strike="noStrike"/>
                    </a:p>
                  </a:txBody>
                  <a:tcPr marT="60950" marB="60950" marR="60950" marL="6095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pic>
        <p:nvPicPr>
          <p:cNvPr id="607" name="Google Shape;607;p10"/>
          <p:cNvPicPr preferRelativeResize="0"/>
          <p:nvPr/>
        </p:nvPicPr>
        <p:blipFill rotWithShape="1">
          <a:blip r:embed="rId3">
            <a:alphaModFix/>
          </a:blip>
          <a:srcRect b="0" l="0" r="0" t="0"/>
          <a:stretch/>
        </p:blipFill>
        <p:spPr>
          <a:xfrm>
            <a:off x="1885531" y="207868"/>
            <a:ext cx="8553868" cy="656523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2020-07-16T06:57:01Z</dcterms:created>
  <dc:creator>Tanvir Ahmed</dc:creator>
</cp:coreProperties>
</file>