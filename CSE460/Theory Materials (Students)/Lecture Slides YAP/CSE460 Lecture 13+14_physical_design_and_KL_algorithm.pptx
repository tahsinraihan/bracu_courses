
<file path=[Content_Types].xml><?xml version="1.0" encoding="utf-8"?>
<Types xmlns="http://schemas.openxmlformats.org/package/2006/content-types">
  <Default ContentType="image/jpeg" Extension="jpg"/>
  <Default ContentType="application/vnd.openxmlformats-officedocument.vmlDrawing" Extension="vml"/>
  <Default ContentType="application/xml" Extension="xml"/>
  <Default ContentType="image/png" Extension="png"/>
  <Default ContentType="application/msword" Extension="doc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msword" PartName="/ppt/embeddings/Microsoft_Office_Word_97_-_2003_Document1.doc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5" roundtripDataSignature="AMtx7mi6Gk0ZFuF96M5SrjWan3/jIGZe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customschemas.google.com/relationships/presentationmetadata" Target="metadata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20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" name="Google Shape;9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" name="Google Shape;10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0" name="Google Shape;20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9" name="Google Shape;20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9" name="Google Shape;21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9" name="Google Shape;23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1" name="Google Shape;25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3" name="Google Shape;26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4" name="Google Shape;274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239036778f8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3" name="Google Shape;283;g239036778f8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239036778f8_0_10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4" name="Google Shape;314;g239036778f8_0_1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239036778f8_0_1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5" name="Google Shape;345;g239036778f8_0_1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239036778f8_0_2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5" name="Google Shape;405;g239036778f8_0_2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23959c6d954_0_1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1" name="Google Shape;461;g23959c6d954_0_1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3959c6d954_0_2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7" name="Google Shape;517;g23959c6d954_0_2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23959c6d954_0_4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0" name="Google Shape;590;g23959c6d954_0_4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23959c6d954_0_4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3" name="Google Shape;663;g23959c6d954_0_4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23959c6d954_0_48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7" name="Google Shape;677;g23959c6d954_0_4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23959c6d954_0_5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1" name="Google Shape;691;g23959c6d954_0_5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3" name="Google Shape;703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5"/>
          <p:cNvSpPr txBox="1"/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5"/>
          <p:cNvSpPr txBox="1"/>
          <p:nvPr>
            <p:ph idx="1" type="subTitle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9" name="Google Shape;29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5" name="Google Shape;35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3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3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3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6" name="Google Shape;56;p3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7" name="Google Shape;67;p3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8" name="Google Shape;68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3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5" name="Google Shape;75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Relationship Id="rId4" Type="http://schemas.openxmlformats.org/officeDocument/2006/relationships/image" Target="../media/image6.png"/><Relationship Id="rId5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vmlDrawing" Target="../drawings/vmlDrawing1.vml"/><Relationship Id="rId4" Type="http://schemas.openxmlformats.org/officeDocument/2006/relationships/oleObject" Target="../embeddings/Microsoft_Office_Word_97_-_2003_Document1.doc"/><Relationship Id="rId5" Type="http://schemas.openxmlformats.org/officeDocument/2006/relationships/oleObject" Target="../embeddings/Microsoft_Office_Word_97_-_2003_Document1.doc"/><Relationship Id="rId6" Type="http://schemas.openxmlformats.org/officeDocument/2006/relationships/image" Target="../media/image2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4.png"/><Relationship Id="rId4" Type="http://schemas.openxmlformats.org/officeDocument/2006/relationships/image" Target="../media/image23.png"/><Relationship Id="rId5" Type="http://schemas.openxmlformats.org/officeDocument/2006/relationships/image" Target="../media/image21.png"/><Relationship Id="rId6" Type="http://schemas.openxmlformats.org/officeDocument/2006/relationships/image" Target="../media/image26.png"/><Relationship Id="rId7" Type="http://schemas.openxmlformats.org/officeDocument/2006/relationships/image" Target="../media/image2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4.png"/><Relationship Id="rId4" Type="http://schemas.openxmlformats.org/officeDocument/2006/relationships/image" Target="../media/image34.png"/><Relationship Id="rId5" Type="http://schemas.openxmlformats.org/officeDocument/2006/relationships/image" Target="../media/image28.png"/><Relationship Id="rId6" Type="http://schemas.openxmlformats.org/officeDocument/2006/relationships/image" Target="../media/image33.png"/><Relationship Id="rId7" Type="http://schemas.openxmlformats.org/officeDocument/2006/relationships/image" Target="../media/image2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4.png"/><Relationship Id="rId4" Type="http://schemas.openxmlformats.org/officeDocument/2006/relationships/image" Target="../media/image27.png"/><Relationship Id="rId5" Type="http://schemas.openxmlformats.org/officeDocument/2006/relationships/image" Target="../media/image30.png"/><Relationship Id="rId6" Type="http://schemas.openxmlformats.org/officeDocument/2006/relationships/image" Target="../media/image3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"/>
          <p:cNvSpPr txBox="1"/>
          <p:nvPr>
            <p:ph type="ctrTitle"/>
          </p:nvPr>
        </p:nvSpPr>
        <p:spPr>
          <a:xfrm>
            <a:off x="3626527" y="2159086"/>
            <a:ext cx="7544360" cy="5434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Times New Roman"/>
              <a:buNone/>
            </a:pPr>
            <a:r>
              <a:rPr b="1" lang="en-US" sz="48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460: VLSI Design</a:t>
            </a:r>
            <a:endParaRPr/>
          </a:p>
        </p:txBody>
      </p:sp>
      <p:sp>
        <p:nvSpPr>
          <p:cNvPr id="95" name="Google Shape;95;p1"/>
          <p:cNvSpPr txBox="1"/>
          <p:nvPr>
            <p:ph idx="1" type="subTitle"/>
          </p:nvPr>
        </p:nvSpPr>
        <p:spPr>
          <a:xfrm>
            <a:off x="3688727" y="3168784"/>
            <a:ext cx="7419960" cy="10855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30"/>
              <a:buNone/>
            </a:pPr>
            <a:r>
              <a:rPr lang="en-US" sz="3530">
                <a:latin typeface="Times New Roman"/>
                <a:ea typeface="Times New Roman"/>
                <a:cs typeface="Times New Roman"/>
                <a:sym typeface="Times New Roman"/>
              </a:rPr>
              <a:t>Lecture 13+14: VLSI Physical Design</a:t>
            </a:r>
            <a:endParaRPr/>
          </a:p>
        </p:txBody>
      </p:sp>
      <p:pic>
        <p:nvPicPr>
          <p:cNvPr descr="PDbook" id="96" name="Google Shape;9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6926" y="1100625"/>
            <a:ext cx="2868459" cy="429059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8/14/21</a:t>
            </a:r>
            <a:endParaRPr/>
          </a:p>
        </p:txBody>
      </p:sp>
      <p:sp>
        <p:nvSpPr>
          <p:cNvPr id="98" name="Google Shape;98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460: VLSI Design</a:t>
            </a:r>
            <a:endParaRPr/>
          </a:p>
        </p:txBody>
      </p:sp>
      <p:sp>
        <p:nvSpPr>
          <p:cNvPr id="99" name="Google Shape;99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EDED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 txBox="1"/>
          <p:nvPr>
            <p:ph type="title"/>
          </p:nvPr>
        </p:nvSpPr>
        <p:spPr>
          <a:xfrm>
            <a:off x="1216068" y="442988"/>
            <a:ext cx="9092852" cy="7117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11200">
            <a:noAutofit/>
          </a:bodyPr>
          <a:lstStyle/>
          <a:p>
            <a:pPr indent="0" lvl="0" marL="1120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1" lang="en-US" sz="40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VLSI Design Flow</a:t>
            </a:r>
            <a:endParaRPr b="1" sz="40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8/14/21</a:t>
            </a:r>
            <a:endParaRPr/>
          </a:p>
        </p:txBody>
      </p:sp>
      <p:sp>
        <p:nvSpPr>
          <p:cNvPr id="106" name="Google Shape;106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460: VLSI Design</a:t>
            </a:r>
            <a:endParaRPr/>
          </a:p>
        </p:txBody>
      </p:sp>
      <p:sp>
        <p:nvSpPr>
          <p:cNvPr id="107" name="Google Shape;107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8" name="Google Shape;10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90209" y="1122523"/>
            <a:ext cx="7411581" cy="52338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EDED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 txBox="1"/>
          <p:nvPr>
            <p:ph type="title"/>
          </p:nvPr>
        </p:nvSpPr>
        <p:spPr>
          <a:xfrm>
            <a:off x="1216068" y="442988"/>
            <a:ext cx="9092852" cy="7117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11200">
            <a:noAutofit/>
          </a:bodyPr>
          <a:lstStyle/>
          <a:p>
            <a:pPr indent="0" lvl="0" marL="1120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1" lang="en-US" sz="40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Partitioning</a:t>
            </a:r>
            <a:endParaRPr b="1" sz="40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8/14/21</a:t>
            </a:r>
            <a:endParaRPr/>
          </a:p>
        </p:txBody>
      </p:sp>
      <p:sp>
        <p:nvSpPr>
          <p:cNvPr id="115" name="Google Shape;11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460: VLSI Design</a:t>
            </a:r>
            <a:endParaRPr/>
          </a:p>
        </p:txBody>
      </p:sp>
      <p:sp>
        <p:nvSpPr>
          <p:cNvPr id="116" name="Google Shape;11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7" name="Google Shape;11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4745" y="1070600"/>
            <a:ext cx="7962510" cy="4779908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3"/>
          <p:cNvSpPr txBox="1"/>
          <p:nvPr/>
        </p:nvSpPr>
        <p:spPr>
          <a:xfrm>
            <a:off x="1346548" y="5768681"/>
            <a:ext cx="949890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Algorithms Involved: Kernighan-Lin (KL) Algorithm, Fiduccia-Mattheyses (FM) Algorithm</a:t>
            </a:r>
            <a:endParaRPr b="0" i="0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EDED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8/14/21</a:t>
            </a:r>
            <a:endParaRPr/>
          </a:p>
        </p:txBody>
      </p:sp>
      <p:sp>
        <p:nvSpPr>
          <p:cNvPr id="124" name="Google Shape;124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460: VLSI Design</a:t>
            </a:r>
            <a:endParaRPr/>
          </a:p>
        </p:txBody>
      </p:sp>
      <p:sp>
        <p:nvSpPr>
          <p:cNvPr id="125" name="Google Shape;125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6" name="Google Shape;126;p4"/>
          <p:cNvSpPr txBox="1"/>
          <p:nvPr>
            <p:ph type="title"/>
          </p:nvPr>
        </p:nvSpPr>
        <p:spPr>
          <a:xfrm>
            <a:off x="1216068" y="442988"/>
            <a:ext cx="9092852" cy="7117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11200">
            <a:noAutofit/>
          </a:bodyPr>
          <a:lstStyle/>
          <a:p>
            <a:pPr indent="0" lvl="0" marL="1120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1" lang="en-US" sz="40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Chip Planning</a:t>
            </a:r>
            <a:endParaRPr b="1" sz="40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7" name="Google Shape;1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65020" y="984436"/>
            <a:ext cx="5444733" cy="4845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70466" y="1169343"/>
            <a:ext cx="3378200" cy="453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EDED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8/14/21</a:t>
            </a:r>
            <a:endParaRPr/>
          </a:p>
        </p:txBody>
      </p:sp>
      <p:sp>
        <p:nvSpPr>
          <p:cNvPr id="134" name="Google Shape;1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460: VLSI Design</a:t>
            </a:r>
            <a:endParaRPr/>
          </a:p>
        </p:txBody>
      </p:sp>
      <p:sp>
        <p:nvSpPr>
          <p:cNvPr id="135" name="Google Shape;1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6" name="Google Shape;136;p5"/>
          <p:cNvSpPr txBox="1"/>
          <p:nvPr>
            <p:ph type="title"/>
          </p:nvPr>
        </p:nvSpPr>
        <p:spPr>
          <a:xfrm>
            <a:off x="1216068" y="442988"/>
            <a:ext cx="9092852" cy="7117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11200">
            <a:noAutofit/>
          </a:bodyPr>
          <a:lstStyle/>
          <a:p>
            <a:pPr indent="0" lvl="0" marL="1120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1" lang="en-US" sz="40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Chip Planning (Example)</a:t>
            </a:r>
            <a:endParaRPr b="1" sz="40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7" name="Google Shape;13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3750" y="1136998"/>
            <a:ext cx="5112928" cy="4584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60365" y="1767307"/>
            <a:ext cx="4368800" cy="3619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9" name="Google Shape;139;p5"/>
          <p:cNvCxnSpPr/>
          <p:nvPr/>
        </p:nvCxnSpPr>
        <p:spPr>
          <a:xfrm>
            <a:off x="6588690" y="1615858"/>
            <a:ext cx="0" cy="3519813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40" name="Google Shape;14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70200" y="5455041"/>
            <a:ext cx="6451600" cy="87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EDED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8/14/21</a:t>
            </a:r>
            <a:endParaRPr/>
          </a:p>
        </p:txBody>
      </p:sp>
      <p:sp>
        <p:nvSpPr>
          <p:cNvPr id="146" name="Google Shape;146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460: VLSI Design</a:t>
            </a:r>
            <a:endParaRPr/>
          </a:p>
        </p:txBody>
      </p:sp>
      <p:sp>
        <p:nvSpPr>
          <p:cNvPr id="147" name="Google Shape;147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8" name="Google Shape;148;p6"/>
          <p:cNvSpPr txBox="1"/>
          <p:nvPr>
            <p:ph type="title"/>
          </p:nvPr>
        </p:nvSpPr>
        <p:spPr>
          <a:xfrm>
            <a:off x="1216068" y="442988"/>
            <a:ext cx="9092852" cy="7117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11200">
            <a:noAutofit/>
          </a:bodyPr>
          <a:lstStyle/>
          <a:p>
            <a:pPr indent="0" lvl="0" marL="1120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1" lang="en-US" sz="40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Placement</a:t>
            </a:r>
            <a:endParaRPr b="1" sz="40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9" name="Google Shape;1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1402" y="1263941"/>
            <a:ext cx="7194992" cy="43301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83030" y="2953359"/>
            <a:ext cx="4067008" cy="23913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EDED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8/14/21</a:t>
            </a:r>
            <a:endParaRPr/>
          </a:p>
        </p:txBody>
      </p:sp>
      <p:sp>
        <p:nvSpPr>
          <p:cNvPr id="156" name="Google Shape;156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460: VLSI Design</a:t>
            </a:r>
            <a:endParaRPr/>
          </a:p>
        </p:txBody>
      </p:sp>
      <p:sp>
        <p:nvSpPr>
          <p:cNvPr id="157" name="Google Shape;157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8" name="Google Shape;158;p7"/>
          <p:cNvSpPr txBox="1"/>
          <p:nvPr>
            <p:ph type="title"/>
          </p:nvPr>
        </p:nvSpPr>
        <p:spPr>
          <a:xfrm>
            <a:off x="1216068" y="442988"/>
            <a:ext cx="9092852" cy="7117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11200">
            <a:noAutofit/>
          </a:bodyPr>
          <a:lstStyle/>
          <a:p>
            <a:pPr indent="0" lvl="0" marL="1120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1" lang="en-US" sz="40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Signal Routing</a:t>
            </a:r>
            <a:endParaRPr b="1" sz="40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9" name="Google Shape;15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22118" y="1120978"/>
            <a:ext cx="7670365" cy="51960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EDED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8/14/21</a:t>
            </a:r>
            <a:endParaRPr/>
          </a:p>
        </p:txBody>
      </p:sp>
      <p:sp>
        <p:nvSpPr>
          <p:cNvPr id="165" name="Google Shape;165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460: VLSI Design</a:t>
            </a:r>
            <a:endParaRPr/>
          </a:p>
        </p:txBody>
      </p:sp>
      <p:sp>
        <p:nvSpPr>
          <p:cNvPr id="166" name="Google Shape;166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7" name="Google Shape;167;p8"/>
          <p:cNvSpPr txBox="1"/>
          <p:nvPr>
            <p:ph type="title"/>
          </p:nvPr>
        </p:nvSpPr>
        <p:spPr>
          <a:xfrm>
            <a:off x="1216068" y="442988"/>
            <a:ext cx="9092852" cy="7117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11200">
            <a:noAutofit/>
          </a:bodyPr>
          <a:lstStyle/>
          <a:p>
            <a:pPr indent="0" lvl="0" marL="1120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1" lang="en-US" sz="40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Clock Tree Synthesis (CTS)</a:t>
            </a:r>
            <a:endParaRPr b="1" sz="40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8"/>
          <p:cNvSpPr txBox="1"/>
          <p:nvPr/>
        </p:nvSpPr>
        <p:spPr>
          <a:xfrm>
            <a:off x="1216068" y="1342648"/>
            <a:ext cx="6367397" cy="47089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Definition: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Clock tree synthesis is a process which make sure that the clock gets distributed evenly to all sequential elements in a design.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CTS is the process of insertion of buffers or inverters along the clock paths of ASIC design in order to achieve minimum skew or balanced skew.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ICs, clock consumes around half of the total power consumption. Here clock gating technique helps to reduce power consumption by the clocks.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Goals of CTS: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meet clock tree design rule constraints such as maximum transition, maximum load capacitance and maximum fanout.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meet clock tree targets such as minimum skew and minimum insertion delay. 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" name="Google Shape;16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77997" y="2130602"/>
            <a:ext cx="4033041" cy="25914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EDED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8/14/21</a:t>
            </a:r>
            <a:endParaRPr/>
          </a:p>
        </p:txBody>
      </p:sp>
      <p:sp>
        <p:nvSpPr>
          <p:cNvPr id="175" name="Google Shape;17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460: VLSI Design</a:t>
            </a:r>
            <a:endParaRPr/>
          </a:p>
        </p:txBody>
      </p:sp>
      <p:sp>
        <p:nvSpPr>
          <p:cNvPr id="176" name="Google Shape;17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7" name="Google Shape;177;p9"/>
          <p:cNvSpPr txBox="1"/>
          <p:nvPr>
            <p:ph type="title"/>
          </p:nvPr>
        </p:nvSpPr>
        <p:spPr>
          <a:xfrm>
            <a:off x="1216068" y="442988"/>
            <a:ext cx="9092852" cy="7117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11200">
            <a:noAutofit/>
          </a:bodyPr>
          <a:lstStyle/>
          <a:p>
            <a:pPr indent="0" lvl="0" marL="1120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1" lang="en-US" sz="40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Timing Closure</a:t>
            </a:r>
            <a:endParaRPr b="1" sz="40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p9"/>
          <p:cNvSpPr txBox="1"/>
          <p:nvPr/>
        </p:nvSpPr>
        <p:spPr>
          <a:xfrm>
            <a:off x="1415441" y="1453019"/>
            <a:ext cx="8893479" cy="3539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Timing closure is the process by which a logic design consisting of primitive elements such as combinatorial logic gates ( and , or , not , nand , nor , etc.) and sequential logic gates (flip flops, latches, memories) is modified to meet its timing requirements.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79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Timing closure is done through layout optimizations and netlist modifications. 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EDED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8/14/21</a:t>
            </a:r>
            <a:endParaRPr/>
          </a:p>
        </p:txBody>
      </p:sp>
      <p:sp>
        <p:nvSpPr>
          <p:cNvPr id="184" name="Google Shape;184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460: VLSI Design</a:t>
            </a:r>
            <a:endParaRPr/>
          </a:p>
        </p:txBody>
      </p:sp>
      <p:sp>
        <p:nvSpPr>
          <p:cNvPr id="185" name="Google Shape;185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6" name="Google Shape;186;p10"/>
          <p:cNvSpPr txBox="1"/>
          <p:nvPr>
            <p:ph type="title"/>
          </p:nvPr>
        </p:nvSpPr>
        <p:spPr>
          <a:xfrm>
            <a:off x="1216068" y="442988"/>
            <a:ext cx="9092852" cy="7117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11200">
            <a:noAutofit/>
          </a:bodyPr>
          <a:lstStyle/>
          <a:p>
            <a:pPr indent="0" lvl="0" marL="1120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1" lang="en-US" sz="40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Partition Terminology</a:t>
            </a:r>
            <a:endParaRPr b="1" sz="40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7" name="Google Shape;18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61356" y="1260561"/>
            <a:ext cx="3378200" cy="336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39556" y="1379567"/>
            <a:ext cx="4370563" cy="45531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EDED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8/14/21</a:t>
            </a:r>
            <a:endParaRPr/>
          </a:p>
        </p:txBody>
      </p:sp>
      <p:sp>
        <p:nvSpPr>
          <p:cNvPr id="194" name="Google Shape;194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460: VLSI Design</a:t>
            </a:r>
            <a:endParaRPr/>
          </a:p>
        </p:txBody>
      </p:sp>
      <p:sp>
        <p:nvSpPr>
          <p:cNvPr id="195" name="Google Shape;195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6" name="Google Shape;196;p11"/>
          <p:cNvSpPr txBox="1"/>
          <p:nvPr>
            <p:ph type="title"/>
          </p:nvPr>
        </p:nvSpPr>
        <p:spPr>
          <a:xfrm>
            <a:off x="1216068" y="442988"/>
            <a:ext cx="9092852" cy="7117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11200">
            <a:noAutofit/>
          </a:bodyPr>
          <a:lstStyle/>
          <a:p>
            <a:pPr indent="0" lvl="0" marL="1120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1" lang="en-US" sz="40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Optimization Goals</a:t>
            </a:r>
            <a:endParaRPr b="1" sz="40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" name="Google Shape;197;p11"/>
          <p:cNvSpPr txBox="1"/>
          <p:nvPr/>
        </p:nvSpPr>
        <p:spPr>
          <a:xfrm>
            <a:off x="1302567" y="1556950"/>
            <a:ext cx="9620808" cy="4062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0" marL="32385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Given a graph </a:t>
            </a:r>
            <a:r>
              <a:rPr b="0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0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V,E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with |</a:t>
            </a:r>
            <a:r>
              <a:rPr b="0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 nodes and |</a:t>
            </a:r>
            <a:r>
              <a:rPr b="0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 edges where each node </a:t>
            </a:r>
            <a:r>
              <a:rPr b="0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⍷ </a:t>
            </a:r>
            <a:r>
              <a:rPr b="0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each edge </a:t>
            </a:r>
            <a:r>
              <a:rPr b="0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⍷ </a:t>
            </a:r>
            <a:r>
              <a:rPr b="0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6050" lvl="0" marL="32385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32385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node has area </a:t>
            </a:r>
            <a:r>
              <a:rPr b="0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0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and each edge has cost or weight </a:t>
            </a:r>
            <a:r>
              <a:rPr b="0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0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6050" lvl="0" marL="32385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32385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objective is to divide the graph </a:t>
            </a:r>
            <a:r>
              <a:rPr b="0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into </a:t>
            </a:r>
            <a:r>
              <a:rPr b="0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disjoint subgraphs such that all optimization goals are achieved and all original edge relations are respected. 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EDED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8/14/21</a:t>
            </a:r>
            <a:endParaRPr/>
          </a:p>
        </p:txBody>
      </p:sp>
      <p:sp>
        <p:nvSpPr>
          <p:cNvPr id="203" name="Google Shape;20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460: VLSI Design</a:t>
            </a:r>
            <a:endParaRPr/>
          </a:p>
        </p:txBody>
      </p:sp>
      <p:sp>
        <p:nvSpPr>
          <p:cNvPr id="204" name="Google Shape;204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5" name="Google Shape;205;p12"/>
          <p:cNvSpPr txBox="1"/>
          <p:nvPr>
            <p:ph type="title"/>
          </p:nvPr>
        </p:nvSpPr>
        <p:spPr>
          <a:xfrm>
            <a:off x="1216068" y="442988"/>
            <a:ext cx="9092852" cy="7117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11200">
            <a:noAutofit/>
          </a:bodyPr>
          <a:lstStyle/>
          <a:p>
            <a:pPr indent="0" lvl="0" marL="1120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1" lang="en-US" sz="40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Optimization Goals</a:t>
            </a:r>
            <a:endParaRPr b="1" sz="40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" name="Google Shape;206;p12"/>
          <p:cNvSpPr txBox="1"/>
          <p:nvPr/>
        </p:nvSpPr>
        <p:spPr>
          <a:xfrm>
            <a:off x="1485343" y="1343240"/>
            <a:ext cx="9289749" cy="4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detail, what are the optimization goals?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Number of connections between partitions is minimized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partition meets all design constraints (size, number of external connections..)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Balance every partition as well as possible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0800" lvl="0" marL="2286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can we meet these goals?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Unfortunately, this problem is NP-hard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Efficient heuristics are developed in the 1970s and 1980s. They are high quality and in low-order polynomial time.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DED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8/14/21</a:t>
            </a:r>
            <a:endParaRPr/>
          </a:p>
        </p:txBody>
      </p:sp>
      <p:sp>
        <p:nvSpPr>
          <p:cNvPr id="212" name="Google Shape;21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460: VLSI Design</a:t>
            </a:r>
            <a:endParaRPr/>
          </a:p>
        </p:txBody>
      </p:sp>
      <p:sp>
        <p:nvSpPr>
          <p:cNvPr id="213" name="Google Shape;21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4" name="Google Shape;214;p13"/>
          <p:cNvSpPr txBox="1"/>
          <p:nvPr>
            <p:ph type="title"/>
          </p:nvPr>
        </p:nvSpPr>
        <p:spPr>
          <a:xfrm>
            <a:off x="1216068" y="442988"/>
            <a:ext cx="9092852" cy="7117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11200">
            <a:noAutofit/>
          </a:bodyPr>
          <a:lstStyle/>
          <a:p>
            <a:pPr indent="0" lvl="0" marL="1120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1" lang="en-US" sz="40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Kernighan Lin (KL Algorithm)</a:t>
            </a:r>
            <a:endParaRPr b="1" sz="40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" name="Google Shape;215;p13"/>
          <p:cNvSpPr txBox="1"/>
          <p:nvPr/>
        </p:nvSpPr>
        <p:spPr>
          <a:xfrm>
            <a:off x="1126996" y="1668635"/>
            <a:ext cx="8080375" cy="1033462"/>
          </a:xfrm>
          <a:prstGeom prst="rect">
            <a:avLst/>
          </a:prstGeom>
          <a:noFill/>
          <a:ln>
            <a:noFill/>
          </a:ln>
        </p:spPr>
        <p:txBody>
          <a:bodyPr anchorCtr="0" anchor="t" bIns="67925" lIns="191075" spcFirstLastPara="1" rIns="89875" wrap="square" tIns="44925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Given: A graph with 2</a:t>
            </a:r>
            <a:r>
              <a:rPr b="0" i="1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nodes where each node has the same weight.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Goal: A partition (division) of the graph into two disjoint subsets </a:t>
            </a:r>
            <a:r>
              <a:rPr b="0" i="1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0" i="1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with minimum cut cost and |</a:t>
            </a:r>
            <a:r>
              <a:rPr b="0" i="1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 = |</a:t>
            </a:r>
            <a:r>
              <a:rPr b="0" i="1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 = </a:t>
            </a:r>
            <a:r>
              <a:rPr b="0" i="1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6" name="Google Shape;21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82844" y="2836648"/>
            <a:ext cx="4559300" cy="341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EEED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8/14/21</a:t>
            </a:r>
            <a:endParaRPr/>
          </a:p>
        </p:txBody>
      </p:sp>
      <p:sp>
        <p:nvSpPr>
          <p:cNvPr id="222" name="Google Shape;22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460: VLSI Design</a:t>
            </a:r>
            <a:endParaRPr/>
          </a:p>
        </p:txBody>
      </p:sp>
      <p:sp>
        <p:nvSpPr>
          <p:cNvPr id="223" name="Google Shape;22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4" name="Google Shape;224;p14"/>
          <p:cNvSpPr txBox="1"/>
          <p:nvPr>
            <p:ph type="title"/>
          </p:nvPr>
        </p:nvSpPr>
        <p:spPr>
          <a:xfrm>
            <a:off x="1216068" y="442988"/>
            <a:ext cx="9092852" cy="7117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11200">
            <a:noAutofit/>
          </a:bodyPr>
          <a:lstStyle/>
          <a:p>
            <a:pPr indent="0" lvl="0" marL="1120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1" lang="en-US" sz="40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KL Algorithm (Terminology)</a:t>
            </a:r>
            <a:endParaRPr b="1" sz="40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" name="Google Shape;225;p14"/>
          <p:cNvSpPr txBox="1"/>
          <p:nvPr/>
        </p:nvSpPr>
        <p:spPr>
          <a:xfrm>
            <a:off x="1696244" y="1613222"/>
            <a:ext cx="4684712" cy="3992562"/>
          </a:xfrm>
          <a:prstGeom prst="rect">
            <a:avLst/>
          </a:prstGeom>
          <a:noFill/>
          <a:ln>
            <a:noFill/>
          </a:ln>
        </p:spPr>
        <p:txBody>
          <a:bodyPr anchorCtr="0" anchor="t" bIns="67925" lIns="191075" spcFirstLastPara="1" rIns="89875" wrap="square" tIns="449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Cost </a:t>
            </a:r>
            <a:r>
              <a:rPr b="0" i="1" lang="en-US" sz="17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i="0" lang="en-US" sz="17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17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0" i="0" lang="en-US" sz="17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) of moving a node </a:t>
            </a:r>
            <a:r>
              <a:rPr b="0" i="1" lang="en-US" sz="17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v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1" sz="17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1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= |</a:t>
            </a:r>
            <a:r>
              <a:rPr b="0" i="1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="0" baseline="-2500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)| – |</a:t>
            </a:r>
            <a:r>
              <a:rPr b="0" i="1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="0" baseline="-2500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nc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)| 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where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="0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is the set of </a:t>
            </a:r>
            <a:r>
              <a:rPr b="0" i="1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’s incident edges that are cut by the cut line, and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="0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nc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is the set of </a:t>
            </a:r>
            <a:r>
              <a:rPr b="0" i="1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’s incident edges that are not cut by the cut line.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 costs (</a:t>
            </a:r>
            <a:r>
              <a:rPr b="0" i="1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&gt; 0) indicate that the node should move, while low costs (</a:t>
            </a:r>
            <a:r>
              <a:rPr b="0" i="1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&lt; 0) indicate that the node should stay within the same partition. 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6" name="Google Shape;22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54047" y="1427484"/>
            <a:ext cx="3543300" cy="417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EEED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8/14/21</a:t>
            </a:r>
            <a:endParaRPr/>
          </a:p>
        </p:txBody>
      </p:sp>
      <p:sp>
        <p:nvSpPr>
          <p:cNvPr id="232" name="Google Shape;23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460: VLSI Design</a:t>
            </a:r>
            <a:endParaRPr/>
          </a:p>
        </p:txBody>
      </p:sp>
      <p:sp>
        <p:nvSpPr>
          <p:cNvPr id="233" name="Google Shape;23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4" name="Google Shape;234;p15"/>
          <p:cNvSpPr txBox="1"/>
          <p:nvPr>
            <p:ph type="title"/>
          </p:nvPr>
        </p:nvSpPr>
        <p:spPr>
          <a:xfrm>
            <a:off x="1216068" y="442988"/>
            <a:ext cx="9092852" cy="7117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11200">
            <a:noAutofit/>
          </a:bodyPr>
          <a:lstStyle/>
          <a:p>
            <a:pPr indent="0" lvl="0" marL="1120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1" lang="en-US" sz="40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KL Algorithm (Terminology)</a:t>
            </a:r>
            <a:endParaRPr b="1" sz="40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" name="Google Shape;235;p15"/>
          <p:cNvSpPr txBox="1"/>
          <p:nvPr/>
        </p:nvSpPr>
        <p:spPr>
          <a:xfrm>
            <a:off x="1216068" y="1450361"/>
            <a:ext cx="5835600" cy="44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67925" lIns="191075" spcFirstLastPara="1" rIns="89875" wrap="square" tIns="449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Gain of swapping a pair of nodes </a:t>
            </a:r>
            <a:r>
              <a:rPr b="0" i="1" lang="en-US" sz="17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17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und </a:t>
            </a:r>
            <a:r>
              <a:rPr b="0" i="1" lang="en-US" sz="17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Δ</a:t>
            </a:r>
            <a:r>
              <a:rPr b="0" i="1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 = D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1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D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1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- 2</a:t>
            </a:r>
            <a:r>
              <a:rPr b="0" i="1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b="0" i="1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a,b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1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where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1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1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are the respective costs of nodes </a:t>
            </a:r>
            <a:r>
              <a:rPr b="0" i="1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1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b="0" i="1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is the connection weight between </a:t>
            </a:r>
            <a:r>
              <a:rPr b="0" i="1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0" i="1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If an edge exists between </a:t>
            </a:r>
            <a:r>
              <a:rPr b="0" i="1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0" i="1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b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then </a:t>
            </a:r>
            <a:r>
              <a:rPr b="0" i="1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a,b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1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edge weight (here 1),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otherwise, </a:t>
            </a:r>
            <a:r>
              <a:rPr b="0" i="1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a,b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1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0</a:t>
            </a:r>
            <a:r>
              <a:rPr b="0" i="1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1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gain Δ</a:t>
            </a:r>
            <a:r>
              <a:rPr b="0" i="1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 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indicates how useful the swap between two nodes will be</a:t>
            </a:r>
            <a:b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larger Δ</a:t>
            </a:r>
            <a:r>
              <a:rPr b="0" i="1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the more the total cut cost will be reduced 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6" name="Google Shape;23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84920" y="1711410"/>
            <a:ext cx="2051956" cy="36935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EEED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8/14/21</a:t>
            </a:r>
            <a:endParaRPr/>
          </a:p>
        </p:txBody>
      </p:sp>
      <p:sp>
        <p:nvSpPr>
          <p:cNvPr id="242" name="Google Shape;24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460: VLSI Design</a:t>
            </a:r>
            <a:endParaRPr/>
          </a:p>
        </p:txBody>
      </p:sp>
      <p:sp>
        <p:nvSpPr>
          <p:cNvPr id="243" name="Google Shape;24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4" name="Google Shape;244;p16"/>
          <p:cNvSpPr txBox="1"/>
          <p:nvPr>
            <p:ph type="title"/>
          </p:nvPr>
        </p:nvSpPr>
        <p:spPr>
          <a:xfrm>
            <a:off x="1216068" y="442988"/>
            <a:ext cx="9092852" cy="7117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11200">
            <a:noAutofit/>
          </a:bodyPr>
          <a:lstStyle/>
          <a:p>
            <a:pPr indent="0" lvl="0" marL="1120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1" lang="en-US" sz="40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KL Algorithm (Terminology)</a:t>
            </a:r>
            <a:endParaRPr b="1" sz="40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5" name="Google Shape;245;p16"/>
          <p:cNvSpPr txBox="1"/>
          <p:nvPr/>
        </p:nvSpPr>
        <p:spPr>
          <a:xfrm>
            <a:off x="1494742" y="1435894"/>
            <a:ext cx="5692775" cy="3130550"/>
          </a:xfrm>
          <a:prstGeom prst="rect">
            <a:avLst/>
          </a:prstGeom>
          <a:noFill/>
          <a:ln>
            <a:noFill/>
          </a:ln>
        </p:spPr>
        <p:txBody>
          <a:bodyPr anchorCtr="0" anchor="t" bIns="67925" lIns="191075" spcFirstLastPara="1" rIns="89875" wrap="square" tIns="449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Gain of swapping a pair of nodes </a:t>
            </a:r>
            <a:r>
              <a:rPr b="0" i="1" lang="en-US" sz="17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17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und </a:t>
            </a:r>
            <a:r>
              <a:rPr b="0" i="1" lang="en-US" sz="17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Δ</a:t>
            </a:r>
            <a:r>
              <a:rPr b="0" i="1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 = D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1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D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1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- 2</a:t>
            </a:r>
            <a:r>
              <a:rPr b="0" i="1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b="0" i="1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a,b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1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where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1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1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are the respective costs of nodes </a:t>
            </a:r>
            <a:r>
              <a:rPr b="0" i="1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1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b="0" i="1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is the connection weight between </a:t>
            </a:r>
            <a:r>
              <a:rPr b="0" i="1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0" i="1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If an edge exists between </a:t>
            </a:r>
            <a:r>
              <a:rPr b="0" i="1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0" i="1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b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then </a:t>
            </a:r>
            <a:r>
              <a:rPr b="0" i="1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a,b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1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edge weight (here 1),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otherwise, </a:t>
            </a:r>
            <a:r>
              <a:rPr b="0" i="1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a,b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1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0</a:t>
            </a:r>
            <a:r>
              <a:rPr b="0" i="1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6"/>
          <p:cNvSpPr txBox="1"/>
          <p:nvPr/>
        </p:nvSpPr>
        <p:spPr>
          <a:xfrm>
            <a:off x="1827989" y="4652963"/>
            <a:ext cx="4551362" cy="411162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t" bIns="67925" lIns="191075" spcFirstLastPara="1" rIns="89875" wrap="square" tIns="449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Δ</a:t>
            </a: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 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(3,7) = </a:t>
            </a: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(3) + </a:t>
            </a: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(7) - 2</a:t>
            </a:r>
            <a:r>
              <a:rPr b="0" i="1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a,b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+ 1 – 2 = 1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6"/>
          <p:cNvSpPr txBox="1"/>
          <p:nvPr/>
        </p:nvSpPr>
        <p:spPr>
          <a:xfrm>
            <a:off x="1612089" y="5237163"/>
            <a:ext cx="4921250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67925" lIns="191075" spcFirstLastPara="1" rIns="89875" wrap="square" tIns="449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=&gt; Swapping nodes 3 and 7 would reduce the cut size by 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8" name="Google Shape;24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50871" y="1154756"/>
            <a:ext cx="2964005" cy="50364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EDEE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8/14/21</a:t>
            </a:r>
            <a:endParaRPr/>
          </a:p>
        </p:txBody>
      </p:sp>
      <p:sp>
        <p:nvSpPr>
          <p:cNvPr id="254" name="Google Shape;254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460: VLSI Design</a:t>
            </a:r>
            <a:endParaRPr/>
          </a:p>
        </p:txBody>
      </p:sp>
      <p:sp>
        <p:nvSpPr>
          <p:cNvPr id="255" name="Google Shape;255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6" name="Google Shape;256;p17"/>
          <p:cNvSpPr txBox="1"/>
          <p:nvPr>
            <p:ph type="title"/>
          </p:nvPr>
        </p:nvSpPr>
        <p:spPr>
          <a:xfrm>
            <a:off x="1216068" y="442988"/>
            <a:ext cx="9092852" cy="7117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11200">
            <a:noAutofit/>
          </a:bodyPr>
          <a:lstStyle/>
          <a:p>
            <a:pPr indent="0" lvl="0" marL="1120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1" lang="en-US" sz="40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KL Algorithm (Terminology)</a:t>
            </a:r>
            <a:endParaRPr b="1" sz="40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7" name="Google Shape;257;p17"/>
          <p:cNvSpPr txBox="1"/>
          <p:nvPr/>
        </p:nvSpPr>
        <p:spPr>
          <a:xfrm>
            <a:off x="1337065" y="1446213"/>
            <a:ext cx="5692775" cy="2871787"/>
          </a:xfrm>
          <a:prstGeom prst="rect">
            <a:avLst/>
          </a:prstGeom>
          <a:noFill/>
          <a:ln>
            <a:noFill/>
          </a:ln>
        </p:spPr>
        <p:txBody>
          <a:bodyPr anchorCtr="0" anchor="t" bIns="67925" lIns="191075" spcFirstLastPara="1" rIns="89875" wrap="square" tIns="449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Gain of swapping a pair of nodes </a:t>
            </a:r>
            <a:r>
              <a:rPr b="0" i="1" lang="en-US" sz="17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17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und </a:t>
            </a:r>
            <a:r>
              <a:rPr b="0" i="1" lang="en-US" sz="17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Δ</a:t>
            </a:r>
            <a:r>
              <a:rPr b="0" i="1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 = D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1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D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1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- 2</a:t>
            </a:r>
            <a:r>
              <a:rPr b="0" i="1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b="0" i="1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a,b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1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where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1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1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are the respective costs of nodes </a:t>
            </a:r>
            <a:r>
              <a:rPr b="0" i="1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1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b="0" i="1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is the connection weight between </a:t>
            </a:r>
            <a:r>
              <a:rPr b="0" i="1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0" i="1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If an edge exists between </a:t>
            </a:r>
            <a:r>
              <a:rPr b="0" i="1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0" i="1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b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then </a:t>
            </a:r>
            <a:r>
              <a:rPr b="0" i="1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a,b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1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edge weight (here 1),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otherwise, </a:t>
            </a:r>
            <a:r>
              <a:rPr b="0" i="1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a,b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1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0</a:t>
            </a:r>
            <a:r>
              <a:rPr b="0" i="1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7"/>
          <p:cNvSpPr txBox="1"/>
          <p:nvPr/>
        </p:nvSpPr>
        <p:spPr>
          <a:xfrm>
            <a:off x="1556140" y="4652963"/>
            <a:ext cx="4551362" cy="411162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t" bIns="67925" lIns="191075" spcFirstLastPara="1" rIns="89875" wrap="square" tIns="449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Δ</a:t>
            </a: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 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(3,5) = </a:t>
            </a: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(3) + </a:t>
            </a: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(5) - 2</a:t>
            </a:r>
            <a:r>
              <a:rPr b="0" i="1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a,b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+ 1 – 0 = 3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7"/>
          <p:cNvSpPr txBox="1"/>
          <p:nvPr/>
        </p:nvSpPr>
        <p:spPr>
          <a:xfrm>
            <a:off x="1340240" y="5237163"/>
            <a:ext cx="4921250" cy="538162"/>
          </a:xfrm>
          <a:prstGeom prst="rect">
            <a:avLst/>
          </a:prstGeom>
          <a:noFill/>
          <a:ln>
            <a:noFill/>
          </a:ln>
        </p:spPr>
        <p:txBody>
          <a:bodyPr anchorCtr="0" anchor="t" bIns="67925" lIns="191075" spcFirstLastPara="1" rIns="89875" wrap="square" tIns="449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=&gt; Swapping nodes 3 and 5 would reduce the cut size by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0" name="Google Shape;26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6475" y="1272746"/>
            <a:ext cx="2743200" cy="47072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DDDDE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8/14/21</a:t>
            </a:r>
            <a:endParaRPr/>
          </a:p>
        </p:txBody>
      </p:sp>
      <p:sp>
        <p:nvSpPr>
          <p:cNvPr id="266" name="Google Shape;26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460: VLSI Design</a:t>
            </a:r>
            <a:endParaRPr/>
          </a:p>
        </p:txBody>
      </p:sp>
      <p:sp>
        <p:nvSpPr>
          <p:cNvPr id="267" name="Google Shape;26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8" name="Google Shape;268;p18"/>
          <p:cNvSpPr txBox="1"/>
          <p:nvPr>
            <p:ph type="title"/>
          </p:nvPr>
        </p:nvSpPr>
        <p:spPr>
          <a:xfrm>
            <a:off x="1216068" y="442988"/>
            <a:ext cx="9092852" cy="7117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11200">
            <a:noAutofit/>
          </a:bodyPr>
          <a:lstStyle/>
          <a:p>
            <a:pPr indent="0" lvl="0" marL="1120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1" lang="en-US" sz="40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KL Algorithm (Terminology)</a:t>
            </a:r>
            <a:endParaRPr b="1" sz="40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9" name="Google Shape;269;p18"/>
          <p:cNvSpPr txBox="1"/>
          <p:nvPr/>
        </p:nvSpPr>
        <p:spPr>
          <a:xfrm>
            <a:off x="1102283" y="1458570"/>
            <a:ext cx="7348537" cy="1277937"/>
          </a:xfrm>
          <a:prstGeom prst="rect">
            <a:avLst/>
          </a:prstGeom>
          <a:noFill/>
          <a:ln>
            <a:noFill/>
          </a:ln>
        </p:spPr>
        <p:txBody>
          <a:bodyPr anchorCtr="0" anchor="t" bIns="67925" lIns="191075" spcFirstLastPara="1" rIns="89875" wrap="square" tIns="449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Gain of swapping a pair of nodes </a:t>
            </a:r>
            <a:r>
              <a:rPr b="0" i="1" lang="en-US" sz="17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17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und </a:t>
            </a:r>
            <a:r>
              <a:rPr b="0" i="1" lang="en-US" sz="17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goal is to find a pair of nodes </a:t>
            </a:r>
            <a:r>
              <a:rPr b="0" i="1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0" i="1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exchange such that Δ</a:t>
            </a:r>
            <a:r>
              <a:rPr b="0" i="1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maximized and swap them.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8"/>
          <p:cNvSpPr txBox="1"/>
          <p:nvPr/>
        </p:nvSpPr>
        <p:spPr>
          <a:xfrm>
            <a:off x="1119962" y="2847720"/>
            <a:ext cx="7348537" cy="3090862"/>
          </a:xfrm>
          <a:prstGeom prst="rect">
            <a:avLst/>
          </a:prstGeom>
          <a:noFill/>
          <a:ln>
            <a:noFill/>
          </a:ln>
        </p:spPr>
        <p:txBody>
          <a:bodyPr anchorCtr="0" anchor="t" bIns="67925" lIns="191075" spcFirstLastPara="1" rIns="89875" wrap="square" tIns="449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Maximum positive gain </a:t>
            </a:r>
            <a:r>
              <a:rPr b="0" i="1" lang="en-US" sz="17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b="0" baseline="-25000" i="1" lang="en-US" sz="17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0" i="1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7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of a pass </a:t>
            </a:r>
            <a:endParaRPr b="0" i="1" sz="17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maximum positive gain</a:t>
            </a:r>
            <a:r>
              <a:rPr b="0" i="1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n-US" sz="1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b="0" baseline="-25000" i="1" lang="en-US" sz="1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corresponds to the best prefix of </a:t>
            </a:r>
            <a:r>
              <a:rPr b="0" i="1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swaps within the swap sequence of a given pass.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These </a:t>
            </a:r>
            <a:r>
              <a:rPr b="0" i="1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swaps lead to the partition with the minimum cut cost encountered during the pass.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1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b="0" baseline="-25000" i="1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computed as the sum of Δ</a:t>
            </a:r>
            <a:r>
              <a:rPr b="0" i="1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values over the first </a:t>
            </a:r>
            <a:r>
              <a:rPr b="0" i="1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swaps of the pass, with </a:t>
            </a:r>
            <a:r>
              <a:rPr b="0" i="1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chosen such that </a:t>
            </a:r>
            <a:r>
              <a:rPr b="0" i="1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b="0" baseline="-25000" i="1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maximized.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1" name="Google Shape;27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3538" y="3861485"/>
            <a:ext cx="2237324" cy="1291281"/>
          </a:xfrm>
          <a:prstGeom prst="rect">
            <a:avLst/>
          </a:prstGeom>
          <a:solidFill>
            <a:srgbClr val="DDDDDD"/>
          </a:solidFill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EDEE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8/14/21</a:t>
            </a:r>
            <a:endParaRPr/>
          </a:p>
        </p:txBody>
      </p:sp>
      <p:sp>
        <p:nvSpPr>
          <p:cNvPr id="277" name="Google Shape;277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460: VLSI Design</a:t>
            </a:r>
            <a:endParaRPr/>
          </a:p>
        </p:txBody>
      </p:sp>
      <p:sp>
        <p:nvSpPr>
          <p:cNvPr id="278" name="Google Shape;278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9" name="Google Shape;279;p19"/>
          <p:cNvSpPr txBox="1"/>
          <p:nvPr>
            <p:ph type="title"/>
          </p:nvPr>
        </p:nvSpPr>
        <p:spPr>
          <a:xfrm>
            <a:off x="1216068" y="442988"/>
            <a:ext cx="9092852" cy="7117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11200">
            <a:noAutofit/>
          </a:bodyPr>
          <a:lstStyle/>
          <a:p>
            <a:pPr indent="0" lvl="0" marL="1120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1" lang="en-US" sz="40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KL Algorithm (One-pass)</a:t>
            </a:r>
            <a:endParaRPr b="1" sz="40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80" name="Google Shape;280;p19"/>
          <p:cNvGraphicFramePr/>
          <p:nvPr/>
        </p:nvGraphicFramePr>
        <p:xfrm>
          <a:off x="1569737" y="1187772"/>
          <a:ext cx="7872413" cy="5135562"/>
        </p:xfrm>
        <a:graphic>
          <a:graphicData uri="http://schemas.openxmlformats.org/presentationml/2006/ole">
            <mc:AlternateContent>
              <mc:Choice Requires="v">
                <p:oleObj r:id="rId4" imgH="5135562" imgW="7872413" progId="Word.Document.8" spid="_x0000_s1">
                  <p:embed/>
                </p:oleObj>
              </mc:Choice>
              <mc:Fallback>
                <p:oleObj r:id="rId5" imgH="5135562" imgW="7872413" progId="Word.Document.8">
                  <p:embed/>
                  <p:pic>
                    <p:nvPicPr>
                      <p:cNvPr id="280" name="Google Shape;280;p19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-10051" l="0" r="-2249" t="4930"/>
                      <a:stretch/>
                    </p:blipFill>
                    <p:spPr>
                      <a:xfrm>
                        <a:off x="1569737" y="1187772"/>
                        <a:ext cx="7872413" cy="5135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DDEDD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39036778f8_0_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8/14/21</a:t>
            </a:r>
            <a:endParaRPr/>
          </a:p>
        </p:txBody>
      </p:sp>
      <p:sp>
        <p:nvSpPr>
          <p:cNvPr id="286" name="Google Shape;286;g239036778f8_0_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460: VLSI Design</a:t>
            </a:r>
            <a:endParaRPr/>
          </a:p>
        </p:txBody>
      </p:sp>
      <p:sp>
        <p:nvSpPr>
          <p:cNvPr id="287" name="Google Shape;287;g239036778f8_0_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8" name="Google Shape;288;g239036778f8_0_6"/>
          <p:cNvSpPr txBox="1"/>
          <p:nvPr>
            <p:ph type="title"/>
          </p:nvPr>
        </p:nvSpPr>
        <p:spPr>
          <a:xfrm>
            <a:off x="1216068" y="442988"/>
            <a:ext cx="9093000" cy="7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11200">
            <a:noAutofit/>
          </a:bodyPr>
          <a:lstStyle/>
          <a:p>
            <a:pPr indent="0" lvl="0" marL="1120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1" lang="en-US" sz="40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KL Algorithm (Example 1)</a:t>
            </a:r>
            <a:endParaRPr b="1" sz="40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9" name="Google Shape;289;g239036778f8_0_6"/>
          <p:cNvSpPr txBox="1"/>
          <p:nvPr/>
        </p:nvSpPr>
        <p:spPr>
          <a:xfrm>
            <a:off x="1216075" y="1414025"/>
            <a:ext cx="7170900" cy="4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graph (nodes a-f) can be optimally partitioned using the Kernighan-Lin algorithm. The dotted line represents the initial partitioning. Assume all the edges have the same weight.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Times New Roman"/>
              <a:buAutoNum type="alphaLcPeriod"/>
            </a:pPr>
            <a:r>
              <a:rPr b="0" i="0" lang="en-US" sz="1800" u="none" cap="none" strike="noStrik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the initial cut cost?</a:t>
            </a:r>
            <a:endParaRPr b="0" i="0" sz="1800" u="none" cap="none" strike="noStrike">
              <a:solidFill>
                <a:srgbClr val="CC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Times New Roman"/>
              <a:buAutoNum type="alphaLcPeriod"/>
            </a:pPr>
            <a:r>
              <a:rPr b="0" i="0" lang="en-US" sz="1800" u="none" cap="none" strike="noStrik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 the first pass of the algorithm. </a:t>
            </a:r>
            <a:br>
              <a:rPr b="0" i="0" lang="en-US" sz="1800" u="none" cap="none" strike="noStrik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800" u="none" cap="none" strike="noStrik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b="0" i="1" lang="en-US" sz="1800" u="none" cap="none" strike="noStrik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Hint: For the “i”th iteration of the first pass, until all the nodes are swapped and fixed, do the following:</a:t>
            </a:r>
            <a:endParaRPr b="0" i="1" sz="1800" u="none" cap="none" strike="noStrike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Times New Roman"/>
              <a:buAutoNum type="romanLcPeriod"/>
            </a:pPr>
            <a:r>
              <a:rPr b="0" i="1" lang="en-US" sz="1800" u="none" cap="none" strike="noStrik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Compute/update the node costs of all unfixed nodes</a:t>
            </a:r>
            <a:endParaRPr b="0" i="1" sz="1800" u="none" cap="none" strike="noStrike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Times New Roman"/>
              <a:buAutoNum type="romanLcPeriod"/>
            </a:pPr>
            <a:r>
              <a:rPr b="0" i="1" lang="en-US" sz="1800" u="none" cap="none" strike="noStrik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the maximum gain of swapping a pair of nodes (Δg</a:t>
            </a:r>
            <a:r>
              <a:rPr b="0" baseline="-25000" i="1" lang="en-US" sz="1800" u="none" cap="none" strike="noStrik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1" lang="en-US" sz="1800" u="none" cap="none" strike="noStrik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endParaRPr b="0" i="1" sz="1800" u="none" cap="none" strike="noStrike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Times New Roman"/>
              <a:buAutoNum type="romanLcPeriod"/>
            </a:pPr>
            <a:r>
              <a:rPr b="0" i="1" lang="en-US" sz="1800" u="none" cap="none" strike="noStrik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Swap the pair and draw the updated graph</a:t>
            </a:r>
            <a:r>
              <a:rPr b="0" i="0" lang="en-US" sz="1800" u="none" cap="none" strike="noStrik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endParaRPr b="0" i="0" sz="1800" u="none" cap="none" strike="noStrike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Times New Roman"/>
              <a:buAutoNum type="alphaLcPeriod"/>
            </a:pPr>
            <a:r>
              <a:rPr b="0" i="0" lang="en-US" sz="1800" u="none" cap="none" strike="noStrik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Finish the first pass by computing the maximum positive gain, G</a:t>
            </a:r>
            <a:r>
              <a:rPr b="0" baseline="-25000" i="0" lang="en-US" sz="1800" u="none" cap="none" strike="noStrik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b="0" i="0" lang="en-US" sz="1800" u="none" cap="none" strike="noStrik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Suggest how many swaps should be actually executed in the first pass.</a:t>
            </a:r>
            <a:endParaRPr b="0" i="0" sz="1800" u="none" cap="none" strike="noStrike">
              <a:solidFill>
                <a:srgbClr val="CC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Times New Roman"/>
              <a:buAutoNum type="alphaLcPeriod"/>
            </a:pPr>
            <a:r>
              <a:rPr b="0" i="0" lang="en-US" sz="1800" u="none" cap="none" strike="noStrik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Should you perform subsequent passes of the algorithm? Why or why not?</a:t>
            </a:r>
            <a:endParaRPr b="0" i="0" sz="1800" u="none" cap="none" strike="noStrike">
              <a:solidFill>
                <a:srgbClr val="CC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0" name="Google Shape;290;g239036778f8_0_6"/>
          <p:cNvSpPr txBox="1"/>
          <p:nvPr/>
        </p:nvSpPr>
        <p:spPr>
          <a:xfrm>
            <a:off x="9606700" y="1726575"/>
            <a:ext cx="3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g239036778f8_0_6"/>
          <p:cNvSpPr/>
          <p:nvPr/>
        </p:nvSpPr>
        <p:spPr>
          <a:xfrm>
            <a:off x="9530350" y="1698075"/>
            <a:ext cx="457200" cy="457200"/>
          </a:xfrm>
          <a:prstGeom prst="ellipse">
            <a:avLst/>
          </a:prstGeom>
          <a:noFill/>
          <a:ln cap="flat" cmpd="sng" w="9525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g239036778f8_0_6"/>
          <p:cNvSpPr txBox="1"/>
          <p:nvPr/>
        </p:nvSpPr>
        <p:spPr>
          <a:xfrm>
            <a:off x="10777650" y="1726575"/>
            <a:ext cx="3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g239036778f8_0_6"/>
          <p:cNvSpPr/>
          <p:nvPr/>
        </p:nvSpPr>
        <p:spPr>
          <a:xfrm>
            <a:off x="10701300" y="1698075"/>
            <a:ext cx="457200" cy="4572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g239036778f8_0_6"/>
          <p:cNvSpPr txBox="1"/>
          <p:nvPr/>
        </p:nvSpPr>
        <p:spPr>
          <a:xfrm>
            <a:off x="9606700" y="2876775"/>
            <a:ext cx="3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g239036778f8_0_6"/>
          <p:cNvSpPr/>
          <p:nvPr/>
        </p:nvSpPr>
        <p:spPr>
          <a:xfrm>
            <a:off x="9530350" y="2848275"/>
            <a:ext cx="457200" cy="4572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g239036778f8_0_6"/>
          <p:cNvSpPr txBox="1"/>
          <p:nvPr/>
        </p:nvSpPr>
        <p:spPr>
          <a:xfrm>
            <a:off x="9606700" y="4026975"/>
            <a:ext cx="3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g239036778f8_0_6"/>
          <p:cNvSpPr/>
          <p:nvPr/>
        </p:nvSpPr>
        <p:spPr>
          <a:xfrm>
            <a:off x="9530350" y="3998475"/>
            <a:ext cx="457200" cy="4572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g239036778f8_0_6"/>
          <p:cNvSpPr txBox="1"/>
          <p:nvPr/>
        </p:nvSpPr>
        <p:spPr>
          <a:xfrm>
            <a:off x="10777650" y="2876775"/>
            <a:ext cx="3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g239036778f8_0_6"/>
          <p:cNvSpPr txBox="1"/>
          <p:nvPr/>
        </p:nvSpPr>
        <p:spPr>
          <a:xfrm>
            <a:off x="10777650" y="4026975"/>
            <a:ext cx="3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g239036778f8_0_6"/>
          <p:cNvSpPr/>
          <p:nvPr/>
        </p:nvSpPr>
        <p:spPr>
          <a:xfrm>
            <a:off x="10701300" y="2848275"/>
            <a:ext cx="457200" cy="4572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g239036778f8_0_6"/>
          <p:cNvSpPr/>
          <p:nvPr/>
        </p:nvSpPr>
        <p:spPr>
          <a:xfrm>
            <a:off x="10701300" y="3998475"/>
            <a:ext cx="457200" cy="457200"/>
          </a:xfrm>
          <a:prstGeom prst="ellipse">
            <a:avLst/>
          </a:prstGeom>
          <a:noFill/>
          <a:ln cap="flat" cmpd="sng" w="9525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2" name="Google Shape;302;g239036778f8_0_6"/>
          <p:cNvCxnSpPr>
            <a:stCxn id="291" idx="6"/>
            <a:endCxn id="293" idx="2"/>
          </p:cNvCxnSpPr>
          <p:nvPr/>
        </p:nvCxnSpPr>
        <p:spPr>
          <a:xfrm>
            <a:off x="9987550" y="1926675"/>
            <a:ext cx="713700" cy="0"/>
          </a:xfrm>
          <a:prstGeom prst="straightConnector1">
            <a:avLst/>
          </a:prstGeom>
          <a:noFill/>
          <a:ln cap="flat" cmpd="sng" w="9525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3" name="Google Shape;303;g239036778f8_0_6"/>
          <p:cNvCxnSpPr>
            <a:stCxn id="291" idx="5"/>
            <a:endCxn id="300" idx="1"/>
          </p:cNvCxnSpPr>
          <p:nvPr/>
        </p:nvCxnSpPr>
        <p:spPr>
          <a:xfrm>
            <a:off x="9920595" y="2088320"/>
            <a:ext cx="847800" cy="826800"/>
          </a:xfrm>
          <a:prstGeom prst="straightConnector1">
            <a:avLst/>
          </a:prstGeom>
          <a:noFill/>
          <a:ln cap="flat" cmpd="sng" w="9525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4" name="Google Shape;304;g239036778f8_0_6"/>
          <p:cNvCxnSpPr>
            <a:stCxn id="293" idx="4"/>
            <a:endCxn id="300" idx="0"/>
          </p:cNvCxnSpPr>
          <p:nvPr/>
        </p:nvCxnSpPr>
        <p:spPr>
          <a:xfrm>
            <a:off x="10929900" y="2155275"/>
            <a:ext cx="0" cy="693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5" name="Google Shape;305;g239036778f8_0_6"/>
          <p:cNvCxnSpPr>
            <a:stCxn id="295" idx="6"/>
            <a:endCxn id="300" idx="2"/>
          </p:cNvCxnSpPr>
          <p:nvPr/>
        </p:nvCxnSpPr>
        <p:spPr>
          <a:xfrm>
            <a:off x="9987550" y="3076875"/>
            <a:ext cx="7137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6" name="Google Shape;306;g239036778f8_0_6"/>
          <p:cNvCxnSpPr>
            <a:stCxn id="295" idx="4"/>
            <a:endCxn id="297" idx="0"/>
          </p:cNvCxnSpPr>
          <p:nvPr/>
        </p:nvCxnSpPr>
        <p:spPr>
          <a:xfrm>
            <a:off x="9758950" y="3305475"/>
            <a:ext cx="0" cy="693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7" name="Google Shape;307;g239036778f8_0_6"/>
          <p:cNvCxnSpPr>
            <a:stCxn id="297" idx="6"/>
            <a:endCxn id="301" idx="2"/>
          </p:cNvCxnSpPr>
          <p:nvPr/>
        </p:nvCxnSpPr>
        <p:spPr>
          <a:xfrm>
            <a:off x="9987550" y="4227075"/>
            <a:ext cx="713700" cy="0"/>
          </a:xfrm>
          <a:prstGeom prst="straightConnector1">
            <a:avLst/>
          </a:prstGeom>
          <a:noFill/>
          <a:ln cap="flat" cmpd="sng" w="9525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8" name="Google Shape;308;g239036778f8_0_6"/>
          <p:cNvCxnSpPr>
            <a:endCxn id="301" idx="1"/>
          </p:cNvCxnSpPr>
          <p:nvPr/>
        </p:nvCxnSpPr>
        <p:spPr>
          <a:xfrm>
            <a:off x="9920455" y="3238630"/>
            <a:ext cx="847800" cy="826800"/>
          </a:xfrm>
          <a:prstGeom prst="straightConnector1">
            <a:avLst/>
          </a:prstGeom>
          <a:noFill/>
          <a:ln cap="flat" cmpd="sng" w="9525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9" name="Google Shape;309;g239036778f8_0_6"/>
          <p:cNvCxnSpPr/>
          <p:nvPr/>
        </p:nvCxnSpPr>
        <p:spPr>
          <a:xfrm flipH="1">
            <a:off x="10340975" y="1414025"/>
            <a:ext cx="6900" cy="34629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10" name="Google Shape;310;g239036778f8_0_6"/>
          <p:cNvSpPr txBox="1"/>
          <p:nvPr/>
        </p:nvSpPr>
        <p:spPr>
          <a:xfrm>
            <a:off x="9335050" y="4755100"/>
            <a:ext cx="847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Partition 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g239036778f8_0_6"/>
          <p:cNvSpPr txBox="1"/>
          <p:nvPr/>
        </p:nvSpPr>
        <p:spPr>
          <a:xfrm>
            <a:off x="10506000" y="4755100"/>
            <a:ext cx="847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Partition 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DDEDD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239036778f8_0_10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8/14/21</a:t>
            </a:r>
            <a:endParaRPr/>
          </a:p>
        </p:txBody>
      </p:sp>
      <p:sp>
        <p:nvSpPr>
          <p:cNvPr id="317" name="Google Shape;317;g239036778f8_0_10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460: VLSI Design</a:t>
            </a:r>
            <a:endParaRPr/>
          </a:p>
        </p:txBody>
      </p:sp>
      <p:sp>
        <p:nvSpPr>
          <p:cNvPr id="318" name="Google Shape;318;g239036778f8_0_10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9" name="Google Shape;319;g239036778f8_0_100"/>
          <p:cNvSpPr txBox="1"/>
          <p:nvPr>
            <p:ph type="title"/>
          </p:nvPr>
        </p:nvSpPr>
        <p:spPr>
          <a:xfrm>
            <a:off x="1216068" y="442988"/>
            <a:ext cx="9093000" cy="7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11200">
            <a:noAutofit/>
          </a:bodyPr>
          <a:lstStyle/>
          <a:p>
            <a:pPr indent="0" lvl="0" marL="1120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1" lang="en-US" sz="40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KL Algorithm (Example 1)</a:t>
            </a:r>
            <a:endParaRPr b="1" sz="40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0" name="Google Shape;320;g239036778f8_0_100"/>
          <p:cNvSpPr txBox="1"/>
          <p:nvPr/>
        </p:nvSpPr>
        <p:spPr>
          <a:xfrm>
            <a:off x="1216075" y="1414025"/>
            <a:ext cx="71709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graph (nodes a-f) can be optimally partitioned using the Kernighan-Lin algorithm. The dotted line represents the initial partitioning. Assume all the edges have the same weight.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Times New Roman"/>
              <a:buAutoNum type="alphaLcPeriod"/>
            </a:pPr>
            <a:r>
              <a:rPr b="0" i="0" lang="en-US" sz="1800" u="none" cap="none" strike="noStrik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the initial cut cost?</a:t>
            </a:r>
            <a:endParaRPr b="0" i="0" sz="1800" u="none" cap="none" strike="noStrike">
              <a:solidFill>
                <a:srgbClr val="CC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Ans: We can see that the initial partition line intersects 5 edges of the graph (shown in </a:t>
            </a:r>
            <a:r>
              <a:rPr b="1" i="0" lang="en-US" sz="1800" u="sng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</a:t>
            </a: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 So the initial cut cost is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1" name="Google Shape;321;g239036778f8_0_100"/>
          <p:cNvSpPr txBox="1"/>
          <p:nvPr/>
        </p:nvSpPr>
        <p:spPr>
          <a:xfrm>
            <a:off x="9606700" y="1726575"/>
            <a:ext cx="3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g239036778f8_0_100"/>
          <p:cNvSpPr/>
          <p:nvPr/>
        </p:nvSpPr>
        <p:spPr>
          <a:xfrm>
            <a:off x="9530350" y="1698075"/>
            <a:ext cx="457200" cy="457200"/>
          </a:xfrm>
          <a:prstGeom prst="ellipse">
            <a:avLst/>
          </a:prstGeom>
          <a:noFill/>
          <a:ln cap="flat" cmpd="sng" w="9525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g239036778f8_0_100"/>
          <p:cNvSpPr txBox="1"/>
          <p:nvPr/>
        </p:nvSpPr>
        <p:spPr>
          <a:xfrm>
            <a:off x="10777650" y="1726575"/>
            <a:ext cx="3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g239036778f8_0_100"/>
          <p:cNvSpPr/>
          <p:nvPr/>
        </p:nvSpPr>
        <p:spPr>
          <a:xfrm>
            <a:off x="10701300" y="1698075"/>
            <a:ext cx="457200" cy="4572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g239036778f8_0_100"/>
          <p:cNvSpPr txBox="1"/>
          <p:nvPr/>
        </p:nvSpPr>
        <p:spPr>
          <a:xfrm>
            <a:off x="9606700" y="2876775"/>
            <a:ext cx="3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g239036778f8_0_100"/>
          <p:cNvSpPr/>
          <p:nvPr/>
        </p:nvSpPr>
        <p:spPr>
          <a:xfrm>
            <a:off x="9530350" y="2848275"/>
            <a:ext cx="457200" cy="4572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g239036778f8_0_100"/>
          <p:cNvSpPr txBox="1"/>
          <p:nvPr/>
        </p:nvSpPr>
        <p:spPr>
          <a:xfrm>
            <a:off x="9606700" y="4026975"/>
            <a:ext cx="3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g239036778f8_0_100"/>
          <p:cNvSpPr/>
          <p:nvPr/>
        </p:nvSpPr>
        <p:spPr>
          <a:xfrm>
            <a:off x="9530350" y="3998475"/>
            <a:ext cx="457200" cy="4572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g239036778f8_0_100"/>
          <p:cNvSpPr txBox="1"/>
          <p:nvPr/>
        </p:nvSpPr>
        <p:spPr>
          <a:xfrm>
            <a:off x="10777650" y="2876775"/>
            <a:ext cx="3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g239036778f8_0_100"/>
          <p:cNvSpPr txBox="1"/>
          <p:nvPr/>
        </p:nvSpPr>
        <p:spPr>
          <a:xfrm>
            <a:off x="10777650" y="4026975"/>
            <a:ext cx="3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g239036778f8_0_100"/>
          <p:cNvSpPr/>
          <p:nvPr/>
        </p:nvSpPr>
        <p:spPr>
          <a:xfrm>
            <a:off x="10701300" y="2848275"/>
            <a:ext cx="457200" cy="4572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g239036778f8_0_100"/>
          <p:cNvSpPr/>
          <p:nvPr/>
        </p:nvSpPr>
        <p:spPr>
          <a:xfrm>
            <a:off x="10701300" y="3998475"/>
            <a:ext cx="457200" cy="457200"/>
          </a:xfrm>
          <a:prstGeom prst="ellipse">
            <a:avLst/>
          </a:prstGeom>
          <a:noFill/>
          <a:ln cap="flat" cmpd="sng" w="9525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3" name="Google Shape;333;g239036778f8_0_100"/>
          <p:cNvCxnSpPr>
            <a:stCxn id="322" idx="6"/>
            <a:endCxn id="324" idx="2"/>
          </p:cNvCxnSpPr>
          <p:nvPr/>
        </p:nvCxnSpPr>
        <p:spPr>
          <a:xfrm>
            <a:off x="9987550" y="1926675"/>
            <a:ext cx="7137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4" name="Google Shape;334;g239036778f8_0_100"/>
          <p:cNvCxnSpPr>
            <a:stCxn id="322" idx="5"/>
            <a:endCxn id="331" idx="1"/>
          </p:cNvCxnSpPr>
          <p:nvPr/>
        </p:nvCxnSpPr>
        <p:spPr>
          <a:xfrm>
            <a:off x="9920595" y="2088320"/>
            <a:ext cx="847800" cy="826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5" name="Google Shape;335;g239036778f8_0_100"/>
          <p:cNvCxnSpPr>
            <a:stCxn id="324" idx="4"/>
            <a:endCxn id="331" idx="0"/>
          </p:cNvCxnSpPr>
          <p:nvPr/>
        </p:nvCxnSpPr>
        <p:spPr>
          <a:xfrm>
            <a:off x="10929900" y="2155275"/>
            <a:ext cx="0" cy="693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6" name="Google Shape;336;g239036778f8_0_100"/>
          <p:cNvCxnSpPr>
            <a:stCxn id="326" idx="6"/>
            <a:endCxn id="331" idx="2"/>
          </p:cNvCxnSpPr>
          <p:nvPr/>
        </p:nvCxnSpPr>
        <p:spPr>
          <a:xfrm>
            <a:off x="9987550" y="3076875"/>
            <a:ext cx="7137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7" name="Google Shape;337;g239036778f8_0_100"/>
          <p:cNvCxnSpPr>
            <a:stCxn id="326" idx="4"/>
            <a:endCxn id="328" idx="0"/>
          </p:cNvCxnSpPr>
          <p:nvPr/>
        </p:nvCxnSpPr>
        <p:spPr>
          <a:xfrm>
            <a:off x="9758950" y="3305475"/>
            <a:ext cx="0" cy="693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8" name="Google Shape;338;g239036778f8_0_100"/>
          <p:cNvCxnSpPr>
            <a:stCxn id="328" idx="6"/>
            <a:endCxn id="332" idx="2"/>
          </p:cNvCxnSpPr>
          <p:nvPr/>
        </p:nvCxnSpPr>
        <p:spPr>
          <a:xfrm>
            <a:off x="9987550" y="4227075"/>
            <a:ext cx="7137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9" name="Google Shape;339;g239036778f8_0_100"/>
          <p:cNvCxnSpPr>
            <a:endCxn id="332" idx="1"/>
          </p:cNvCxnSpPr>
          <p:nvPr/>
        </p:nvCxnSpPr>
        <p:spPr>
          <a:xfrm>
            <a:off x="9920455" y="3238630"/>
            <a:ext cx="847800" cy="826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0" name="Google Shape;340;g239036778f8_0_100"/>
          <p:cNvCxnSpPr/>
          <p:nvPr/>
        </p:nvCxnSpPr>
        <p:spPr>
          <a:xfrm flipH="1">
            <a:off x="10340975" y="1414025"/>
            <a:ext cx="6900" cy="34629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41" name="Google Shape;341;g239036778f8_0_100"/>
          <p:cNvSpPr txBox="1"/>
          <p:nvPr/>
        </p:nvSpPr>
        <p:spPr>
          <a:xfrm>
            <a:off x="9335050" y="4755100"/>
            <a:ext cx="847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Partition 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g239036778f8_0_100"/>
          <p:cNvSpPr txBox="1"/>
          <p:nvPr/>
        </p:nvSpPr>
        <p:spPr>
          <a:xfrm>
            <a:off x="10506000" y="4755100"/>
            <a:ext cx="847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Partition 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DDEDD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39036778f8_0_13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8/14/21</a:t>
            </a:r>
            <a:endParaRPr/>
          </a:p>
        </p:txBody>
      </p:sp>
      <p:sp>
        <p:nvSpPr>
          <p:cNvPr id="348" name="Google Shape;348;g239036778f8_0_13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460: VLSI Design</a:t>
            </a:r>
            <a:endParaRPr/>
          </a:p>
        </p:txBody>
      </p:sp>
      <p:sp>
        <p:nvSpPr>
          <p:cNvPr id="349" name="Google Shape;349;g239036778f8_0_13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0" name="Google Shape;350;g239036778f8_0_130"/>
          <p:cNvSpPr txBox="1"/>
          <p:nvPr>
            <p:ph type="title"/>
          </p:nvPr>
        </p:nvSpPr>
        <p:spPr>
          <a:xfrm>
            <a:off x="1216068" y="442988"/>
            <a:ext cx="9093000" cy="7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11200">
            <a:noAutofit/>
          </a:bodyPr>
          <a:lstStyle/>
          <a:p>
            <a:pPr indent="0" lvl="0" marL="1120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1" lang="en-US" sz="40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KL Algorithm (Example 1)</a:t>
            </a:r>
            <a:endParaRPr b="1" sz="40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1" name="Google Shape;351;g239036778f8_0_130"/>
          <p:cNvSpPr txBox="1"/>
          <p:nvPr/>
        </p:nvSpPr>
        <p:spPr>
          <a:xfrm>
            <a:off x="1216075" y="1414025"/>
            <a:ext cx="5844000" cy="4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graph (nodes a-f) can be optimally partitioned using the Kernighan-Lin algorithm. The dotted line represents the initial partitioning. Assume all the edges have the same weight.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Times New Roman"/>
              <a:buAutoNum type="alphaLcPeriod" startAt="2"/>
            </a:pPr>
            <a:r>
              <a:rPr b="0" i="0" lang="en-US" sz="1800" u="none" cap="none" strike="noStrik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 the first pass of the algorithm. 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1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the “i=1” iteration of the first pass:</a:t>
            </a:r>
            <a:endParaRPr b="0" i="1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AutoNum type="romanLcPeriod"/>
            </a:pPr>
            <a:r>
              <a:rPr b="0" i="1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 the node costs of all unfixed nodes</a:t>
            </a:r>
            <a:endParaRPr b="0" i="1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Ans: D(a) = 2 - 0 = 2; D(b) = 2 - 1 = 1; D(c) = 1 - 1 = 0; 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D(d) = 1 - 1 = 0; D(e) = 2 - 1 = 1; D(f) = 2 - 0 = 2.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AutoNum type="romanLcPeriod"/>
            </a:pPr>
            <a:r>
              <a:rPr b="0" i="1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the maximum gain of swapping a pair of nodes (Δg</a:t>
            </a:r>
            <a:r>
              <a:rPr b="0" baseline="-25000" i="1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1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endParaRPr b="0" i="1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Ans: Δg</a:t>
            </a:r>
            <a:r>
              <a:rPr b="0" baseline="-2500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(a, f) = 2 + 2 - 0 = 4.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AutoNum type="romanLcPeriod"/>
            </a:pPr>
            <a:r>
              <a:rPr b="0" i="1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Swap the pair and draw the updated graph</a:t>
            </a:r>
            <a:endParaRPr b="0" i="1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Ans: Swap nodes a &amp; f, and </a:t>
            </a:r>
            <a:r>
              <a:rPr b="0" i="0" lang="en-US" sz="1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fix them</a:t>
            </a: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2" name="Google Shape;352;g239036778f8_0_130"/>
          <p:cNvSpPr/>
          <p:nvPr/>
        </p:nvSpPr>
        <p:spPr>
          <a:xfrm>
            <a:off x="10658475" y="4010238"/>
            <a:ext cx="457200" cy="4572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g239036778f8_0_130"/>
          <p:cNvSpPr/>
          <p:nvPr/>
        </p:nvSpPr>
        <p:spPr>
          <a:xfrm>
            <a:off x="9487525" y="1709838"/>
            <a:ext cx="457200" cy="4572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g239036778f8_0_130"/>
          <p:cNvSpPr txBox="1"/>
          <p:nvPr/>
        </p:nvSpPr>
        <p:spPr>
          <a:xfrm>
            <a:off x="10734825" y="4038738"/>
            <a:ext cx="3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g239036778f8_0_130"/>
          <p:cNvSpPr txBox="1"/>
          <p:nvPr/>
        </p:nvSpPr>
        <p:spPr>
          <a:xfrm>
            <a:off x="9563875" y="1738338"/>
            <a:ext cx="3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g239036778f8_0_130"/>
          <p:cNvSpPr txBox="1"/>
          <p:nvPr/>
        </p:nvSpPr>
        <p:spPr>
          <a:xfrm>
            <a:off x="7221975" y="1726575"/>
            <a:ext cx="3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g239036778f8_0_130"/>
          <p:cNvSpPr/>
          <p:nvPr/>
        </p:nvSpPr>
        <p:spPr>
          <a:xfrm>
            <a:off x="7145625" y="1698075"/>
            <a:ext cx="457200" cy="4572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g239036778f8_0_130"/>
          <p:cNvSpPr txBox="1"/>
          <p:nvPr/>
        </p:nvSpPr>
        <p:spPr>
          <a:xfrm>
            <a:off x="8392925" y="1726575"/>
            <a:ext cx="3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g239036778f8_0_130"/>
          <p:cNvSpPr/>
          <p:nvPr/>
        </p:nvSpPr>
        <p:spPr>
          <a:xfrm>
            <a:off x="8316575" y="1698075"/>
            <a:ext cx="457200" cy="4572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g239036778f8_0_130"/>
          <p:cNvSpPr txBox="1"/>
          <p:nvPr/>
        </p:nvSpPr>
        <p:spPr>
          <a:xfrm>
            <a:off x="7221975" y="2876775"/>
            <a:ext cx="3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g239036778f8_0_130"/>
          <p:cNvSpPr/>
          <p:nvPr/>
        </p:nvSpPr>
        <p:spPr>
          <a:xfrm>
            <a:off x="7145625" y="2848275"/>
            <a:ext cx="457200" cy="4572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g239036778f8_0_130"/>
          <p:cNvSpPr txBox="1"/>
          <p:nvPr/>
        </p:nvSpPr>
        <p:spPr>
          <a:xfrm>
            <a:off x="7221975" y="4026975"/>
            <a:ext cx="3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g239036778f8_0_130"/>
          <p:cNvSpPr/>
          <p:nvPr/>
        </p:nvSpPr>
        <p:spPr>
          <a:xfrm>
            <a:off x="7145625" y="3998475"/>
            <a:ext cx="457200" cy="4572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g239036778f8_0_130"/>
          <p:cNvSpPr txBox="1"/>
          <p:nvPr/>
        </p:nvSpPr>
        <p:spPr>
          <a:xfrm>
            <a:off x="8392925" y="2876775"/>
            <a:ext cx="3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g239036778f8_0_130"/>
          <p:cNvSpPr txBox="1"/>
          <p:nvPr/>
        </p:nvSpPr>
        <p:spPr>
          <a:xfrm>
            <a:off x="8392925" y="4026975"/>
            <a:ext cx="3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g239036778f8_0_130"/>
          <p:cNvSpPr/>
          <p:nvPr/>
        </p:nvSpPr>
        <p:spPr>
          <a:xfrm>
            <a:off x="8316575" y="2848275"/>
            <a:ext cx="457200" cy="4572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g239036778f8_0_130"/>
          <p:cNvSpPr/>
          <p:nvPr/>
        </p:nvSpPr>
        <p:spPr>
          <a:xfrm>
            <a:off x="8316575" y="3998475"/>
            <a:ext cx="457200" cy="457200"/>
          </a:xfrm>
          <a:prstGeom prst="ellipse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8" name="Google Shape;368;g239036778f8_0_130"/>
          <p:cNvCxnSpPr>
            <a:stCxn id="357" idx="6"/>
            <a:endCxn id="359" idx="2"/>
          </p:cNvCxnSpPr>
          <p:nvPr/>
        </p:nvCxnSpPr>
        <p:spPr>
          <a:xfrm>
            <a:off x="7602825" y="1926675"/>
            <a:ext cx="7137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9" name="Google Shape;369;g239036778f8_0_130"/>
          <p:cNvCxnSpPr>
            <a:stCxn id="357" idx="5"/>
            <a:endCxn id="366" idx="1"/>
          </p:cNvCxnSpPr>
          <p:nvPr/>
        </p:nvCxnSpPr>
        <p:spPr>
          <a:xfrm>
            <a:off x="7535870" y="2088320"/>
            <a:ext cx="847800" cy="826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0" name="Google Shape;370;g239036778f8_0_130"/>
          <p:cNvCxnSpPr>
            <a:stCxn id="359" idx="4"/>
            <a:endCxn id="366" idx="0"/>
          </p:cNvCxnSpPr>
          <p:nvPr/>
        </p:nvCxnSpPr>
        <p:spPr>
          <a:xfrm>
            <a:off x="8545175" y="2155275"/>
            <a:ext cx="0" cy="693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1" name="Google Shape;371;g239036778f8_0_130"/>
          <p:cNvCxnSpPr>
            <a:stCxn id="361" idx="6"/>
            <a:endCxn id="366" idx="2"/>
          </p:cNvCxnSpPr>
          <p:nvPr/>
        </p:nvCxnSpPr>
        <p:spPr>
          <a:xfrm>
            <a:off x="7602825" y="3076875"/>
            <a:ext cx="7137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2" name="Google Shape;372;g239036778f8_0_130"/>
          <p:cNvCxnSpPr>
            <a:stCxn id="361" idx="4"/>
            <a:endCxn id="363" idx="0"/>
          </p:cNvCxnSpPr>
          <p:nvPr/>
        </p:nvCxnSpPr>
        <p:spPr>
          <a:xfrm>
            <a:off x="7374225" y="3305475"/>
            <a:ext cx="0" cy="693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3" name="Google Shape;373;g239036778f8_0_130"/>
          <p:cNvCxnSpPr>
            <a:stCxn id="363" idx="6"/>
            <a:endCxn id="367" idx="2"/>
          </p:cNvCxnSpPr>
          <p:nvPr/>
        </p:nvCxnSpPr>
        <p:spPr>
          <a:xfrm>
            <a:off x="7602825" y="4227075"/>
            <a:ext cx="713700" cy="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4" name="Google Shape;374;g239036778f8_0_130"/>
          <p:cNvCxnSpPr>
            <a:endCxn id="367" idx="1"/>
          </p:cNvCxnSpPr>
          <p:nvPr/>
        </p:nvCxnSpPr>
        <p:spPr>
          <a:xfrm>
            <a:off x="7535730" y="3238630"/>
            <a:ext cx="847800" cy="8268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5" name="Google Shape;375;g239036778f8_0_130"/>
          <p:cNvCxnSpPr/>
          <p:nvPr/>
        </p:nvCxnSpPr>
        <p:spPr>
          <a:xfrm flipH="1">
            <a:off x="7956250" y="1414025"/>
            <a:ext cx="6900" cy="34629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76" name="Google Shape;376;g239036778f8_0_130"/>
          <p:cNvSpPr txBox="1"/>
          <p:nvPr/>
        </p:nvSpPr>
        <p:spPr>
          <a:xfrm>
            <a:off x="6950325" y="4755100"/>
            <a:ext cx="847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Partition 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g239036778f8_0_130"/>
          <p:cNvSpPr txBox="1"/>
          <p:nvPr/>
        </p:nvSpPr>
        <p:spPr>
          <a:xfrm>
            <a:off x="8121275" y="4755100"/>
            <a:ext cx="847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Partition 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g239036778f8_0_130"/>
          <p:cNvSpPr txBox="1"/>
          <p:nvPr/>
        </p:nvSpPr>
        <p:spPr>
          <a:xfrm>
            <a:off x="10734825" y="1738338"/>
            <a:ext cx="3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g239036778f8_0_130"/>
          <p:cNvSpPr/>
          <p:nvPr/>
        </p:nvSpPr>
        <p:spPr>
          <a:xfrm>
            <a:off x="10658475" y="1709838"/>
            <a:ext cx="457200" cy="4572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g239036778f8_0_130"/>
          <p:cNvSpPr txBox="1"/>
          <p:nvPr/>
        </p:nvSpPr>
        <p:spPr>
          <a:xfrm>
            <a:off x="9563875" y="2888538"/>
            <a:ext cx="3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g239036778f8_0_130"/>
          <p:cNvSpPr/>
          <p:nvPr/>
        </p:nvSpPr>
        <p:spPr>
          <a:xfrm>
            <a:off x="9487525" y="2860038"/>
            <a:ext cx="457200" cy="4572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g239036778f8_0_130"/>
          <p:cNvSpPr txBox="1"/>
          <p:nvPr/>
        </p:nvSpPr>
        <p:spPr>
          <a:xfrm>
            <a:off x="9563875" y="4038738"/>
            <a:ext cx="3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g239036778f8_0_130"/>
          <p:cNvSpPr/>
          <p:nvPr/>
        </p:nvSpPr>
        <p:spPr>
          <a:xfrm>
            <a:off x="9487525" y="4010238"/>
            <a:ext cx="457200" cy="4572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g239036778f8_0_130"/>
          <p:cNvSpPr txBox="1"/>
          <p:nvPr/>
        </p:nvSpPr>
        <p:spPr>
          <a:xfrm>
            <a:off x="10734825" y="2888538"/>
            <a:ext cx="3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g239036778f8_0_130"/>
          <p:cNvSpPr/>
          <p:nvPr/>
        </p:nvSpPr>
        <p:spPr>
          <a:xfrm>
            <a:off x="10658475" y="2860038"/>
            <a:ext cx="457200" cy="4572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6" name="Google Shape;386;g239036778f8_0_130"/>
          <p:cNvCxnSpPr>
            <a:stCxn id="379" idx="4"/>
            <a:endCxn id="385" idx="0"/>
          </p:cNvCxnSpPr>
          <p:nvPr/>
        </p:nvCxnSpPr>
        <p:spPr>
          <a:xfrm>
            <a:off x="10887075" y="2167038"/>
            <a:ext cx="0" cy="693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7" name="Google Shape;387;g239036778f8_0_130"/>
          <p:cNvCxnSpPr>
            <a:stCxn id="381" idx="6"/>
            <a:endCxn id="385" idx="2"/>
          </p:cNvCxnSpPr>
          <p:nvPr/>
        </p:nvCxnSpPr>
        <p:spPr>
          <a:xfrm>
            <a:off x="9944725" y="3088638"/>
            <a:ext cx="7137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8" name="Google Shape;388;g239036778f8_0_130"/>
          <p:cNvCxnSpPr>
            <a:stCxn id="381" idx="4"/>
            <a:endCxn id="383" idx="0"/>
          </p:cNvCxnSpPr>
          <p:nvPr/>
        </p:nvCxnSpPr>
        <p:spPr>
          <a:xfrm>
            <a:off x="9716125" y="3317238"/>
            <a:ext cx="0" cy="693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9" name="Google Shape;389;g239036778f8_0_130"/>
          <p:cNvCxnSpPr/>
          <p:nvPr/>
        </p:nvCxnSpPr>
        <p:spPr>
          <a:xfrm flipH="1">
            <a:off x="10298150" y="1425788"/>
            <a:ext cx="6900" cy="34629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90" name="Google Shape;390;g239036778f8_0_130"/>
          <p:cNvSpPr txBox="1"/>
          <p:nvPr/>
        </p:nvSpPr>
        <p:spPr>
          <a:xfrm>
            <a:off x="9292225" y="4766863"/>
            <a:ext cx="847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Partition 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g239036778f8_0_130"/>
          <p:cNvSpPr txBox="1"/>
          <p:nvPr/>
        </p:nvSpPr>
        <p:spPr>
          <a:xfrm>
            <a:off x="10463175" y="4766863"/>
            <a:ext cx="847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Partition 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2" name="Google Shape;392;g239036778f8_0_130"/>
          <p:cNvCxnSpPr>
            <a:stCxn id="385" idx="4"/>
            <a:endCxn id="352" idx="0"/>
          </p:cNvCxnSpPr>
          <p:nvPr/>
        </p:nvCxnSpPr>
        <p:spPr>
          <a:xfrm>
            <a:off x="10887075" y="3317238"/>
            <a:ext cx="0" cy="693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3" name="Google Shape;393;g239036778f8_0_130"/>
          <p:cNvCxnSpPr>
            <a:stCxn id="352" idx="6"/>
            <a:endCxn id="379" idx="6"/>
          </p:cNvCxnSpPr>
          <p:nvPr/>
        </p:nvCxnSpPr>
        <p:spPr>
          <a:xfrm flipH="1" rot="10800000">
            <a:off x="11115675" y="1938438"/>
            <a:ext cx="600" cy="23004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4" name="Google Shape;394;g239036778f8_0_130"/>
          <p:cNvCxnSpPr>
            <a:stCxn id="353" idx="2"/>
            <a:endCxn id="383" idx="2"/>
          </p:cNvCxnSpPr>
          <p:nvPr/>
        </p:nvCxnSpPr>
        <p:spPr>
          <a:xfrm>
            <a:off x="9487525" y="1938438"/>
            <a:ext cx="600" cy="23004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5" name="Google Shape;395;g239036778f8_0_130"/>
          <p:cNvCxnSpPr>
            <a:stCxn id="353" idx="4"/>
            <a:endCxn id="381" idx="0"/>
          </p:cNvCxnSpPr>
          <p:nvPr/>
        </p:nvCxnSpPr>
        <p:spPr>
          <a:xfrm>
            <a:off x="9716125" y="2167038"/>
            <a:ext cx="0" cy="6930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6" name="Google Shape;396;g239036778f8_0_130"/>
          <p:cNvSpPr/>
          <p:nvPr/>
        </p:nvSpPr>
        <p:spPr>
          <a:xfrm>
            <a:off x="8859338" y="2939850"/>
            <a:ext cx="304500" cy="297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g239036778f8_0_130"/>
          <p:cNvSpPr txBox="1"/>
          <p:nvPr/>
        </p:nvSpPr>
        <p:spPr>
          <a:xfrm>
            <a:off x="7226125" y="5539025"/>
            <a:ext cx="1467000" cy="431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Initial partition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8" name="Google Shape;398;g239036778f8_0_130"/>
          <p:cNvSpPr txBox="1"/>
          <p:nvPr/>
        </p:nvSpPr>
        <p:spPr>
          <a:xfrm>
            <a:off x="9568100" y="5292875"/>
            <a:ext cx="1467000" cy="923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Partition after completing  the i=1</a:t>
            </a:r>
            <a:r>
              <a:rPr b="0" baseline="3000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iteration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9" name="Google Shape;399;g239036778f8_0_130"/>
          <p:cNvSpPr txBox="1"/>
          <p:nvPr/>
        </p:nvSpPr>
        <p:spPr>
          <a:xfrm>
            <a:off x="8744975" y="2593275"/>
            <a:ext cx="457200" cy="255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swap</a:t>
            </a:r>
            <a:endParaRPr b="1" i="0" sz="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0" name="Google Shape;400;g239036778f8_0_130"/>
          <p:cNvSpPr txBox="1"/>
          <p:nvPr/>
        </p:nvSpPr>
        <p:spPr>
          <a:xfrm>
            <a:off x="11115675" y="899900"/>
            <a:ext cx="457200" cy="255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fix</a:t>
            </a:r>
            <a:endParaRPr b="1" i="0" sz="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1" name="Google Shape;401;g239036778f8_0_130"/>
          <p:cNvSpPr/>
          <p:nvPr/>
        </p:nvSpPr>
        <p:spPr>
          <a:xfrm>
            <a:off x="9716125" y="894325"/>
            <a:ext cx="1392825" cy="826801"/>
          </a:xfrm>
          <a:custGeom>
            <a:rect b="b" l="l" r="r" t="t"/>
            <a:pathLst>
              <a:path extrusionOk="0" h="31039" w="56236">
                <a:moveTo>
                  <a:pt x="56236" y="4880"/>
                </a:moveTo>
                <a:cubicBezTo>
                  <a:pt x="41120" y="-2678"/>
                  <a:pt x="19203" y="-1374"/>
                  <a:pt x="5685" y="8769"/>
                </a:cubicBezTo>
                <a:cubicBezTo>
                  <a:pt x="-441" y="13366"/>
                  <a:pt x="29" y="23380"/>
                  <a:pt x="29" y="3103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g239036778f8_0_130"/>
          <p:cNvSpPr/>
          <p:nvPr/>
        </p:nvSpPr>
        <p:spPr>
          <a:xfrm>
            <a:off x="11115675" y="1166575"/>
            <a:ext cx="820252" cy="3154977"/>
          </a:xfrm>
          <a:custGeom>
            <a:rect b="b" l="l" r="r" t="t"/>
            <a:pathLst>
              <a:path extrusionOk="0" h="121252" w="29898">
                <a:moveTo>
                  <a:pt x="9191" y="0"/>
                </a:moveTo>
                <a:cubicBezTo>
                  <a:pt x="37852" y="28661"/>
                  <a:pt x="38446" y="108412"/>
                  <a:pt x="0" y="121252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DDEDD"/>
        </a:solid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239036778f8_0_24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8/14/21</a:t>
            </a:r>
            <a:endParaRPr/>
          </a:p>
        </p:txBody>
      </p:sp>
      <p:sp>
        <p:nvSpPr>
          <p:cNvPr id="408" name="Google Shape;408;g239036778f8_0_24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460: VLSI Design</a:t>
            </a:r>
            <a:endParaRPr/>
          </a:p>
        </p:txBody>
      </p:sp>
      <p:sp>
        <p:nvSpPr>
          <p:cNvPr id="409" name="Google Shape;409;g239036778f8_0_24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0" name="Google Shape;410;g239036778f8_0_244"/>
          <p:cNvSpPr txBox="1"/>
          <p:nvPr>
            <p:ph type="title"/>
          </p:nvPr>
        </p:nvSpPr>
        <p:spPr>
          <a:xfrm>
            <a:off x="1216068" y="442988"/>
            <a:ext cx="9093000" cy="7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11200">
            <a:noAutofit/>
          </a:bodyPr>
          <a:lstStyle/>
          <a:p>
            <a:pPr indent="0" lvl="0" marL="1120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1" lang="en-US" sz="40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KL Algorithm (Example 1)</a:t>
            </a:r>
            <a:endParaRPr b="1" sz="40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1" name="Google Shape;411;g239036778f8_0_244"/>
          <p:cNvSpPr txBox="1"/>
          <p:nvPr/>
        </p:nvSpPr>
        <p:spPr>
          <a:xfrm>
            <a:off x="1216075" y="1414025"/>
            <a:ext cx="58440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Times New Roman"/>
              <a:buAutoNum type="alphaLcPeriod" startAt="2"/>
            </a:pPr>
            <a:r>
              <a:rPr b="0" i="0" lang="en-US" sz="1800" u="none" cap="none" strike="noStrik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 the first pass of the algorithm. 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1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the “i=2” iteration of the first pass:</a:t>
            </a:r>
            <a:endParaRPr b="0" i="1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AutoNum type="romanLcPeriod"/>
            </a:pPr>
            <a:r>
              <a:rPr b="0" i="1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Update the node costs of all unfixed nodes</a:t>
            </a:r>
            <a:endParaRPr b="0" i="1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Ans: </a:t>
            </a:r>
            <a:r>
              <a:rPr b="0" i="0" lang="en-US" sz="1800" u="none" cap="none" strike="sng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D(a) = 2 - 0 = 2</a:t>
            </a: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 D(b) = 1 - 2 =-1; D(c) = 0 - 2 =-2; 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D(d) = 0 - 2 =-2; D(e) = 1 - 2 =-1; </a:t>
            </a:r>
            <a:r>
              <a:rPr b="0" i="0" lang="en-US" sz="1800" u="none" cap="none" strike="sng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D(f) = 2 - 0 = 2</a:t>
            </a: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AutoNum type="romanLcPeriod"/>
            </a:pPr>
            <a:r>
              <a:rPr b="0" i="1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the maximum gain of swapping a pair of nodes (Δg</a:t>
            </a:r>
            <a:r>
              <a:rPr b="0" baseline="-25000" i="1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1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endParaRPr b="0" i="1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Ans: Δg</a:t>
            </a:r>
            <a:r>
              <a:rPr b="0" baseline="-2500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(b, d) = -1 -2 -0 = -3 or Δg</a:t>
            </a:r>
            <a:r>
              <a:rPr b="0" baseline="-2500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(c, e) = -2 -1 -0 = -3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AutoNum type="romanLcPeriod"/>
            </a:pPr>
            <a:r>
              <a:rPr b="0" i="1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Swap the pair and draw the updated graph</a:t>
            </a:r>
            <a:endParaRPr b="0" i="1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Ans: Swap nodes b &amp; d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</a:t>
            </a:r>
            <a:r>
              <a:rPr b="0" i="0" lang="en-US" sz="18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fix them</a:t>
            </a: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or c &amp; e, and fix them. [Both approaches are valid and will end in the same result.]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2" name="Google Shape;412;g239036778f8_0_244"/>
          <p:cNvSpPr/>
          <p:nvPr/>
        </p:nvSpPr>
        <p:spPr>
          <a:xfrm>
            <a:off x="11030800" y="2848275"/>
            <a:ext cx="457200" cy="4572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g239036778f8_0_244"/>
          <p:cNvSpPr/>
          <p:nvPr/>
        </p:nvSpPr>
        <p:spPr>
          <a:xfrm>
            <a:off x="11030800" y="1698075"/>
            <a:ext cx="457200" cy="4572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g239036778f8_0_244"/>
          <p:cNvSpPr txBox="1"/>
          <p:nvPr/>
        </p:nvSpPr>
        <p:spPr>
          <a:xfrm>
            <a:off x="11107150" y="1726575"/>
            <a:ext cx="3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g239036778f8_0_244"/>
          <p:cNvSpPr txBox="1"/>
          <p:nvPr/>
        </p:nvSpPr>
        <p:spPr>
          <a:xfrm>
            <a:off x="11107150" y="2876775"/>
            <a:ext cx="3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g239036778f8_0_244"/>
          <p:cNvSpPr/>
          <p:nvPr/>
        </p:nvSpPr>
        <p:spPr>
          <a:xfrm>
            <a:off x="9859850" y="2848275"/>
            <a:ext cx="457200" cy="4572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g239036778f8_0_244"/>
          <p:cNvSpPr/>
          <p:nvPr/>
        </p:nvSpPr>
        <p:spPr>
          <a:xfrm>
            <a:off x="11030800" y="3998475"/>
            <a:ext cx="457200" cy="4572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g239036778f8_0_244"/>
          <p:cNvSpPr/>
          <p:nvPr/>
        </p:nvSpPr>
        <p:spPr>
          <a:xfrm>
            <a:off x="9859850" y="1698075"/>
            <a:ext cx="457200" cy="4572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g239036778f8_0_244"/>
          <p:cNvSpPr/>
          <p:nvPr/>
        </p:nvSpPr>
        <p:spPr>
          <a:xfrm>
            <a:off x="8469150" y="3998488"/>
            <a:ext cx="457200" cy="4572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g239036778f8_0_244"/>
          <p:cNvSpPr/>
          <p:nvPr/>
        </p:nvSpPr>
        <p:spPr>
          <a:xfrm>
            <a:off x="7298200" y="1698088"/>
            <a:ext cx="457200" cy="4572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g239036778f8_0_244"/>
          <p:cNvSpPr txBox="1"/>
          <p:nvPr/>
        </p:nvSpPr>
        <p:spPr>
          <a:xfrm>
            <a:off x="9936200" y="2876775"/>
            <a:ext cx="3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g239036778f8_0_244"/>
          <p:cNvSpPr txBox="1"/>
          <p:nvPr/>
        </p:nvSpPr>
        <p:spPr>
          <a:xfrm>
            <a:off x="8545500" y="4026988"/>
            <a:ext cx="3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g239036778f8_0_244"/>
          <p:cNvSpPr txBox="1"/>
          <p:nvPr/>
        </p:nvSpPr>
        <p:spPr>
          <a:xfrm>
            <a:off x="7374550" y="1726588"/>
            <a:ext cx="3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g239036778f8_0_244"/>
          <p:cNvSpPr txBox="1"/>
          <p:nvPr/>
        </p:nvSpPr>
        <p:spPr>
          <a:xfrm>
            <a:off x="8545500" y="1726588"/>
            <a:ext cx="3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g239036778f8_0_244"/>
          <p:cNvSpPr/>
          <p:nvPr/>
        </p:nvSpPr>
        <p:spPr>
          <a:xfrm>
            <a:off x="8469150" y="1698088"/>
            <a:ext cx="457200" cy="457200"/>
          </a:xfrm>
          <a:prstGeom prst="ellipse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g239036778f8_0_244"/>
          <p:cNvSpPr txBox="1"/>
          <p:nvPr/>
        </p:nvSpPr>
        <p:spPr>
          <a:xfrm>
            <a:off x="7374550" y="2876788"/>
            <a:ext cx="3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g239036778f8_0_244"/>
          <p:cNvSpPr/>
          <p:nvPr/>
        </p:nvSpPr>
        <p:spPr>
          <a:xfrm>
            <a:off x="7298200" y="2848288"/>
            <a:ext cx="457200" cy="4572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g239036778f8_0_244"/>
          <p:cNvSpPr txBox="1"/>
          <p:nvPr/>
        </p:nvSpPr>
        <p:spPr>
          <a:xfrm>
            <a:off x="7374550" y="4026988"/>
            <a:ext cx="3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g239036778f8_0_244"/>
          <p:cNvSpPr/>
          <p:nvPr/>
        </p:nvSpPr>
        <p:spPr>
          <a:xfrm>
            <a:off x="7298200" y="3998488"/>
            <a:ext cx="457200" cy="4572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g239036778f8_0_244"/>
          <p:cNvSpPr txBox="1"/>
          <p:nvPr/>
        </p:nvSpPr>
        <p:spPr>
          <a:xfrm>
            <a:off x="8545500" y="2876788"/>
            <a:ext cx="3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g239036778f8_0_244"/>
          <p:cNvSpPr/>
          <p:nvPr/>
        </p:nvSpPr>
        <p:spPr>
          <a:xfrm>
            <a:off x="8469150" y="2848288"/>
            <a:ext cx="457200" cy="4572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2" name="Google Shape;432;g239036778f8_0_244"/>
          <p:cNvCxnSpPr>
            <a:stCxn id="425" idx="4"/>
            <a:endCxn id="431" idx="0"/>
          </p:cNvCxnSpPr>
          <p:nvPr/>
        </p:nvCxnSpPr>
        <p:spPr>
          <a:xfrm>
            <a:off x="8697750" y="2155288"/>
            <a:ext cx="0" cy="6930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3" name="Google Shape;433;g239036778f8_0_244"/>
          <p:cNvCxnSpPr>
            <a:stCxn id="427" idx="6"/>
            <a:endCxn id="431" idx="2"/>
          </p:cNvCxnSpPr>
          <p:nvPr/>
        </p:nvCxnSpPr>
        <p:spPr>
          <a:xfrm>
            <a:off x="7755400" y="3076888"/>
            <a:ext cx="7137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4" name="Google Shape;434;g239036778f8_0_244"/>
          <p:cNvCxnSpPr>
            <a:stCxn id="427" idx="4"/>
            <a:endCxn id="429" idx="0"/>
          </p:cNvCxnSpPr>
          <p:nvPr/>
        </p:nvCxnSpPr>
        <p:spPr>
          <a:xfrm>
            <a:off x="7526800" y="3305488"/>
            <a:ext cx="0" cy="693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5" name="Google Shape;435;g239036778f8_0_244"/>
          <p:cNvCxnSpPr/>
          <p:nvPr/>
        </p:nvCxnSpPr>
        <p:spPr>
          <a:xfrm flipH="1">
            <a:off x="8108825" y="1414038"/>
            <a:ext cx="6900" cy="34629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436" name="Google Shape;436;g239036778f8_0_244"/>
          <p:cNvSpPr txBox="1"/>
          <p:nvPr/>
        </p:nvSpPr>
        <p:spPr>
          <a:xfrm>
            <a:off x="7102900" y="4755113"/>
            <a:ext cx="847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Partition 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g239036778f8_0_244"/>
          <p:cNvSpPr txBox="1"/>
          <p:nvPr/>
        </p:nvSpPr>
        <p:spPr>
          <a:xfrm>
            <a:off x="8273850" y="4755113"/>
            <a:ext cx="847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Partition 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8" name="Google Shape;438;g239036778f8_0_244"/>
          <p:cNvCxnSpPr>
            <a:stCxn id="431" idx="4"/>
            <a:endCxn id="419" idx="0"/>
          </p:cNvCxnSpPr>
          <p:nvPr/>
        </p:nvCxnSpPr>
        <p:spPr>
          <a:xfrm>
            <a:off x="8697750" y="3305488"/>
            <a:ext cx="0" cy="693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9" name="Google Shape;439;g239036778f8_0_244"/>
          <p:cNvCxnSpPr>
            <a:stCxn id="419" idx="6"/>
            <a:endCxn id="425" idx="6"/>
          </p:cNvCxnSpPr>
          <p:nvPr/>
        </p:nvCxnSpPr>
        <p:spPr>
          <a:xfrm flipH="1" rot="10800000">
            <a:off x="8926350" y="1926688"/>
            <a:ext cx="600" cy="23004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0" name="Google Shape;440;g239036778f8_0_244"/>
          <p:cNvCxnSpPr>
            <a:stCxn id="420" idx="2"/>
            <a:endCxn id="429" idx="2"/>
          </p:cNvCxnSpPr>
          <p:nvPr/>
        </p:nvCxnSpPr>
        <p:spPr>
          <a:xfrm>
            <a:off x="7298200" y="1926688"/>
            <a:ext cx="600" cy="23004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1" name="Google Shape;441;g239036778f8_0_244"/>
          <p:cNvCxnSpPr>
            <a:stCxn id="420" idx="4"/>
            <a:endCxn id="427" idx="0"/>
          </p:cNvCxnSpPr>
          <p:nvPr/>
        </p:nvCxnSpPr>
        <p:spPr>
          <a:xfrm>
            <a:off x="7526800" y="2155288"/>
            <a:ext cx="0" cy="693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2" name="Google Shape;442;g239036778f8_0_244"/>
          <p:cNvSpPr txBox="1"/>
          <p:nvPr/>
        </p:nvSpPr>
        <p:spPr>
          <a:xfrm>
            <a:off x="11107150" y="4026975"/>
            <a:ext cx="3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g239036778f8_0_244"/>
          <p:cNvSpPr txBox="1"/>
          <p:nvPr/>
        </p:nvSpPr>
        <p:spPr>
          <a:xfrm>
            <a:off x="9936200" y="1726575"/>
            <a:ext cx="3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g239036778f8_0_244"/>
          <p:cNvSpPr txBox="1"/>
          <p:nvPr/>
        </p:nvSpPr>
        <p:spPr>
          <a:xfrm>
            <a:off x="9936200" y="4026975"/>
            <a:ext cx="3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g239036778f8_0_244"/>
          <p:cNvSpPr/>
          <p:nvPr/>
        </p:nvSpPr>
        <p:spPr>
          <a:xfrm>
            <a:off x="9859850" y="3998475"/>
            <a:ext cx="457200" cy="4572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6" name="Google Shape;446;g239036778f8_0_244"/>
          <p:cNvCxnSpPr/>
          <p:nvPr/>
        </p:nvCxnSpPr>
        <p:spPr>
          <a:xfrm flipH="1">
            <a:off x="10670475" y="1414025"/>
            <a:ext cx="6900" cy="34629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447" name="Google Shape;447;g239036778f8_0_244"/>
          <p:cNvSpPr txBox="1"/>
          <p:nvPr/>
        </p:nvSpPr>
        <p:spPr>
          <a:xfrm>
            <a:off x="9664550" y="4755100"/>
            <a:ext cx="847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Partition 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g239036778f8_0_244"/>
          <p:cNvSpPr txBox="1"/>
          <p:nvPr/>
        </p:nvSpPr>
        <p:spPr>
          <a:xfrm>
            <a:off x="10835500" y="4755100"/>
            <a:ext cx="847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Partition 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9" name="Google Shape;449;g239036778f8_0_244"/>
          <p:cNvCxnSpPr>
            <a:stCxn id="418" idx="2"/>
            <a:endCxn id="445" idx="2"/>
          </p:cNvCxnSpPr>
          <p:nvPr/>
        </p:nvCxnSpPr>
        <p:spPr>
          <a:xfrm>
            <a:off x="9859850" y="1926675"/>
            <a:ext cx="600" cy="23004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0" name="Google Shape;450;g239036778f8_0_244"/>
          <p:cNvCxnSpPr>
            <a:stCxn id="416" idx="6"/>
            <a:endCxn id="412" idx="2"/>
          </p:cNvCxnSpPr>
          <p:nvPr/>
        </p:nvCxnSpPr>
        <p:spPr>
          <a:xfrm>
            <a:off x="10317050" y="3076875"/>
            <a:ext cx="713700" cy="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1" name="Google Shape;451;g239036778f8_0_244"/>
          <p:cNvSpPr/>
          <p:nvPr/>
        </p:nvSpPr>
        <p:spPr>
          <a:xfrm>
            <a:off x="9240838" y="2928075"/>
            <a:ext cx="304500" cy="297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2" name="Google Shape;452;g239036778f8_0_244"/>
          <p:cNvCxnSpPr>
            <a:stCxn id="418" idx="6"/>
            <a:endCxn id="413" idx="2"/>
          </p:cNvCxnSpPr>
          <p:nvPr/>
        </p:nvCxnSpPr>
        <p:spPr>
          <a:xfrm>
            <a:off x="10317050" y="1926675"/>
            <a:ext cx="7137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3" name="Google Shape;453;g239036778f8_0_244"/>
          <p:cNvCxnSpPr>
            <a:endCxn id="413" idx="3"/>
          </p:cNvCxnSpPr>
          <p:nvPr/>
        </p:nvCxnSpPr>
        <p:spPr>
          <a:xfrm flipH="1" rot="10800000">
            <a:off x="10249955" y="2088320"/>
            <a:ext cx="847800" cy="1977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4" name="Google Shape;454;g239036778f8_0_244"/>
          <p:cNvCxnSpPr>
            <a:endCxn id="417" idx="1"/>
          </p:cNvCxnSpPr>
          <p:nvPr/>
        </p:nvCxnSpPr>
        <p:spPr>
          <a:xfrm>
            <a:off x="10249955" y="3238630"/>
            <a:ext cx="847800" cy="8268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5" name="Google Shape;455;g239036778f8_0_244"/>
          <p:cNvCxnSpPr>
            <a:endCxn id="417" idx="0"/>
          </p:cNvCxnSpPr>
          <p:nvPr/>
        </p:nvCxnSpPr>
        <p:spPr>
          <a:xfrm>
            <a:off x="11259400" y="3305475"/>
            <a:ext cx="0" cy="693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6" name="Google Shape;456;g239036778f8_0_244"/>
          <p:cNvCxnSpPr>
            <a:endCxn id="412" idx="0"/>
          </p:cNvCxnSpPr>
          <p:nvPr/>
        </p:nvCxnSpPr>
        <p:spPr>
          <a:xfrm>
            <a:off x="11259400" y="2155275"/>
            <a:ext cx="0" cy="693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7" name="Google Shape;457;g239036778f8_0_244"/>
          <p:cNvSpPr txBox="1"/>
          <p:nvPr/>
        </p:nvSpPr>
        <p:spPr>
          <a:xfrm>
            <a:off x="7378750" y="5319375"/>
            <a:ext cx="1467000" cy="923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Partition after completing  the i=1</a:t>
            </a:r>
            <a:r>
              <a:rPr b="0" baseline="3000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iteration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8" name="Google Shape;458;g239036778f8_0_244"/>
          <p:cNvSpPr txBox="1"/>
          <p:nvPr/>
        </p:nvSpPr>
        <p:spPr>
          <a:xfrm>
            <a:off x="9940425" y="5319375"/>
            <a:ext cx="1467000" cy="923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Partition after completing  the i=2</a:t>
            </a:r>
            <a:r>
              <a:rPr b="0" baseline="3000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nd</a:t>
            </a: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iteration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DDEDD"/>
        </a:solidFill>
      </p:bgPr>
    </p:bg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23959c6d954_0_108"/>
          <p:cNvSpPr txBox="1"/>
          <p:nvPr/>
        </p:nvSpPr>
        <p:spPr>
          <a:xfrm>
            <a:off x="1216075" y="1414025"/>
            <a:ext cx="58440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Times New Roman"/>
              <a:buAutoNum type="alphaLcPeriod" startAt="2"/>
            </a:pPr>
            <a:r>
              <a:rPr b="0" i="0" lang="en-US" sz="1800" u="none" cap="none" strike="noStrik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 the first pass of the algorithm. 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1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the “i=3” iteration of the first pass:</a:t>
            </a:r>
            <a:endParaRPr b="0" i="1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AutoNum type="romanLcPeriod"/>
            </a:pPr>
            <a:r>
              <a:rPr b="0" i="1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Update the node costs of all unfixed nodes</a:t>
            </a:r>
            <a:endParaRPr b="0" i="1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Ans: </a:t>
            </a:r>
            <a:r>
              <a:rPr b="0" i="0" lang="en-US" sz="1800" u="none" cap="none" strike="sng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D(a) = 2 - 0 = 2</a:t>
            </a: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 </a:t>
            </a:r>
            <a:r>
              <a:rPr b="0" i="0" lang="en-US" sz="1800" u="none" cap="none" strike="sng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D(b) = 1 - 2 =-1</a:t>
            </a: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 D(c) = 1 - 1 = 0; 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sng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D(d) = 1 - 1 = 0</a:t>
            </a: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 D(e) = 1 - 2 =-1; </a:t>
            </a:r>
            <a:r>
              <a:rPr b="0" i="0" lang="en-US" sz="1800" u="none" cap="none" strike="sng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D(f) = 2 - 0 = 2</a:t>
            </a: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AutoNum type="romanLcPeriod"/>
            </a:pPr>
            <a:r>
              <a:rPr b="0" i="1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the maximum gain of swapping a pair of nodes (Δg</a:t>
            </a:r>
            <a:r>
              <a:rPr b="0" baseline="-25000" i="1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1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endParaRPr b="0" i="1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Ans: Δg</a:t>
            </a:r>
            <a:r>
              <a:rPr b="0" baseline="-2500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(c, e) = 0 -1 - 0 = -1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AutoNum type="romanLcPeriod"/>
            </a:pPr>
            <a:r>
              <a:rPr b="0" i="1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Swap the pair and draw the updated graph</a:t>
            </a:r>
            <a:endParaRPr b="0" i="1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Ans: Swap nodes c &amp; e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</a:t>
            </a:r>
            <a:r>
              <a:rPr b="0" i="0" lang="en-US" sz="18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fix them</a:t>
            </a: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4" name="Google Shape;464;g23959c6d954_0_10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8/14/21</a:t>
            </a:r>
            <a:endParaRPr/>
          </a:p>
        </p:txBody>
      </p:sp>
      <p:sp>
        <p:nvSpPr>
          <p:cNvPr id="465" name="Google Shape;465;g23959c6d954_0_10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460: VLSI Design</a:t>
            </a:r>
            <a:endParaRPr/>
          </a:p>
        </p:txBody>
      </p:sp>
      <p:sp>
        <p:nvSpPr>
          <p:cNvPr id="466" name="Google Shape;466;g23959c6d954_0_10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7" name="Google Shape;467;g23959c6d954_0_108"/>
          <p:cNvSpPr txBox="1"/>
          <p:nvPr>
            <p:ph type="title"/>
          </p:nvPr>
        </p:nvSpPr>
        <p:spPr>
          <a:xfrm>
            <a:off x="1216068" y="427613"/>
            <a:ext cx="9093000" cy="7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11200">
            <a:noAutofit/>
          </a:bodyPr>
          <a:lstStyle/>
          <a:p>
            <a:pPr indent="0" lvl="0" marL="1120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1" lang="en-US" sz="40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KL Algorithm (Example 1)</a:t>
            </a:r>
            <a:endParaRPr b="1" sz="40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8" name="Google Shape;468;g23959c6d954_0_108"/>
          <p:cNvSpPr/>
          <p:nvPr/>
        </p:nvSpPr>
        <p:spPr>
          <a:xfrm>
            <a:off x="10701300" y="2884900"/>
            <a:ext cx="457200" cy="4572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g23959c6d954_0_108"/>
          <p:cNvSpPr/>
          <p:nvPr/>
        </p:nvSpPr>
        <p:spPr>
          <a:xfrm>
            <a:off x="9530350" y="4035100"/>
            <a:ext cx="457200" cy="4572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g23959c6d954_0_108"/>
          <p:cNvSpPr txBox="1"/>
          <p:nvPr/>
        </p:nvSpPr>
        <p:spPr>
          <a:xfrm>
            <a:off x="10777650" y="2913400"/>
            <a:ext cx="3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g23959c6d954_0_108"/>
          <p:cNvSpPr/>
          <p:nvPr/>
        </p:nvSpPr>
        <p:spPr>
          <a:xfrm>
            <a:off x="10701300" y="1734700"/>
            <a:ext cx="457200" cy="4572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g23959c6d954_0_108"/>
          <p:cNvSpPr txBox="1"/>
          <p:nvPr/>
        </p:nvSpPr>
        <p:spPr>
          <a:xfrm>
            <a:off x="10777650" y="1763200"/>
            <a:ext cx="3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g23959c6d954_0_108"/>
          <p:cNvSpPr txBox="1"/>
          <p:nvPr/>
        </p:nvSpPr>
        <p:spPr>
          <a:xfrm>
            <a:off x="9606700" y="4063600"/>
            <a:ext cx="3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g23959c6d954_0_108"/>
          <p:cNvSpPr/>
          <p:nvPr/>
        </p:nvSpPr>
        <p:spPr>
          <a:xfrm>
            <a:off x="9125425" y="3033288"/>
            <a:ext cx="304500" cy="297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g23959c6d954_0_108"/>
          <p:cNvSpPr/>
          <p:nvPr/>
        </p:nvSpPr>
        <p:spPr>
          <a:xfrm>
            <a:off x="8491438" y="2884900"/>
            <a:ext cx="457200" cy="457200"/>
          </a:xfrm>
          <a:prstGeom prst="ellipse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g23959c6d954_0_108"/>
          <p:cNvSpPr/>
          <p:nvPr/>
        </p:nvSpPr>
        <p:spPr>
          <a:xfrm>
            <a:off x="8491438" y="1734700"/>
            <a:ext cx="457200" cy="4572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g23959c6d954_0_108"/>
          <p:cNvSpPr txBox="1"/>
          <p:nvPr/>
        </p:nvSpPr>
        <p:spPr>
          <a:xfrm>
            <a:off x="8567788" y="1763200"/>
            <a:ext cx="3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g23959c6d954_0_108"/>
          <p:cNvSpPr txBox="1"/>
          <p:nvPr/>
        </p:nvSpPr>
        <p:spPr>
          <a:xfrm>
            <a:off x="8567788" y="2913400"/>
            <a:ext cx="3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g23959c6d954_0_108"/>
          <p:cNvSpPr/>
          <p:nvPr/>
        </p:nvSpPr>
        <p:spPr>
          <a:xfrm>
            <a:off x="7320488" y="2884900"/>
            <a:ext cx="457200" cy="4572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g23959c6d954_0_108"/>
          <p:cNvSpPr/>
          <p:nvPr/>
        </p:nvSpPr>
        <p:spPr>
          <a:xfrm>
            <a:off x="8491438" y="4035100"/>
            <a:ext cx="457200" cy="4572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g23959c6d954_0_108"/>
          <p:cNvSpPr/>
          <p:nvPr/>
        </p:nvSpPr>
        <p:spPr>
          <a:xfrm>
            <a:off x="7320488" y="1734700"/>
            <a:ext cx="457200" cy="4572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g23959c6d954_0_108"/>
          <p:cNvSpPr txBox="1"/>
          <p:nvPr/>
        </p:nvSpPr>
        <p:spPr>
          <a:xfrm>
            <a:off x="7396838" y="2913400"/>
            <a:ext cx="3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g23959c6d954_0_108"/>
          <p:cNvSpPr txBox="1"/>
          <p:nvPr/>
        </p:nvSpPr>
        <p:spPr>
          <a:xfrm>
            <a:off x="8567788" y="4063600"/>
            <a:ext cx="3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g23959c6d954_0_108"/>
          <p:cNvSpPr txBox="1"/>
          <p:nvPr/>
        </p:nvSpPr>
        <p:spPr>
          <a:xfrm>
            <a:off x="7396838" y="1763200"/>
            <a:ext cx="3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g23959c6d954_0_108"/>
          <p:cNvSpPr txBox="1"/>
          <p:nvPr/>
        </p:nvSpPr>
        <p:spPr>
          <a:xfrm>
            <a:off x="7396838" y="4063600"/>
            <a:ext cx="3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g23959c6d954_0_108"/>
          <p:cNvSpPr/>
          <p:nvPr/>
        </p:nvSpPr>
        <p:spPr>
          <a:xfrm>
            <a:off x="7320488" y="4035100"/>
            <a:ext cx="457200" cy="4572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7" name="Google Shape;487;g23959c6d954_0_108"/>
          <p:cNvCxnSpPr/>
          <p:nvPr/>
        </p:nvCxnSpPr>
        <p:spPr>
          <a:xfrm flipH="1">
            <a:off x="8131113" y="1450650"/>
            <a:ext cx="6900" cy="34629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488" name="Google Shape;488;g23959c6d954_0_108"/>
          <p:cNvSpPr txBox="1"/>
          <p:nvPr/>
        </p:nvSpPr>
        <p:spPr>
          <a:xfrm>
            <a:off x="7125188" y="4791725"/>
            <a:ext cx="847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Partition 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g23959c6d954_0_108"/>
          <p:cNvSpPr txBox="1"/>
          <p:nvPr/>
        </p:nvSpPr>
        <p:spPr>
          <a:xfrm>
            <a:off x="8296138" y="4791725"/>
            <a:ext cx="847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Partition 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0" name="Google Shape;490;g23959c6d954_0_108"/>
          <p:cNvCxnSpPr>
            <a:stCxn id="481" idx="2"/>
            <a:endCxn id="486" idx="2"/>
          </p:cNvCxnSpPr>
          <p:nvPr/>
        </p:nvCxnSpPr>
        <p:spPr>
          <a:xfrm>
            <a:off x="7320488" y="1963300"/>
            <a:ext cx="600" cy="23004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1" name="Google Shape;491;g23959c6d954_0_108"/>
          <p:cNvCxnSpPr>
            <a:stCxn id="479" idx="6"/>
            <a:endCxn id="475" idx="2"/>
          </p:cNvCxnSpPr>
          <p:nvPr/>
        </p:nvCxnSpPr>
        <p:spPr>
          <a:xfrm>
            <a:off x="7777688" y="3113500"/>
            <a:ext cx="713700" cy="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2" name="Google Shape;492;g23959c6d954_0_108"/>
          <p:cNvCxnSpPr>
            <a:stCxn id="481" idx="6"/>
            <a:endCxn id="476" idx="2"/>
          </p:cNvCxnSpPr>
          <p:nvPr/>
        </p:nvCxnSpPr>
        <p:spPr>
          <a:xfrm>
            <a:off x="7777688" y="1963300"/>
            <a:ext cx="7137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3" name="Google Shape;493;g23959c6d954_0_108"/>
          <p:cNvCxnSpPr>
            <a:endCxn id="476" idx="3"/>
          </p:cNvCxnSpPr>
          <p:nvPr/>
        </p:nvCxnSpPr>
        <p:spPr>
          <a:xfrm flipH="1" rot="10800000">
            <a:off x="7710593" y="2124945"/>
            <a:ext cx="847800" cy="1977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4" name="Google Shape;494;g23959c6d954_0_108"/>
          <p:cNvCxnSpPr>
            <a:endCxn id="480" idx="1"/>
          </p:cNvCxnSpPr>
          <p:nvPr/>
        </p:nvCxnSpPr>
        <p:spPr>
          <a:xfrm>
            <a:off x="7710593" y="3275255"/>
            <a:ext cx="847800" cy="8268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5" name="Google Shape;495;g23959c6d954_0_108"/>
          <p:cNvCxnSpPr>
            <a:endCxn id="480" idx="0"/>
          </p:cNvCxnSpPr>
          <p:nvPr/>
        </p:nvCxnSpPr>
        <p:spPr>
          <a:xfrm>
            <a:off x="8720038" y="3342100"/>
            <a:ext cx="0" cy="6930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6" name="Google Shape;496;g23959c6d954_0_108"/>
          <p:cNvCxnSpPr>
            <a:endCxn id="475" idx="0"/>
          </p:cNvCxnSpPr>
          <p:nvPr/>
        </p:nvCxnSpPr>
        <p:spPr>
          <a:xfrm>
            <a:off x="8720038" y="2191900"/>
            <a:ext cx="0" cy="6930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7" name="Google Shape;497;g23959c6d954_0_108"/>
          <p:cNvSpPr/>
          <p:nvPr/>
        </p:nvSpPr>
        <p:spPr>
          <a:xfrm>
            <a:off x="9530350" y="2884900"/>
            <a:ext cx="457200" cy="4572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g23959c6d954_0_108"/>
          <p:cNvSpPr/>
          <p:nvPr/>
        </p:nvSpPr>
        <p:spPr>
          <a:xfrm>
            <a:off x="10701300" y="4035100"/>
            <a:ext cx="457200" cy="4572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g23959c6d954_0_108"/>
          <p:cNvSpPr/>
          <p:nvPr/>
        </p:nvSpPr>
        <p:spPr>
          <a:xfrm>
            <a:off x="9530350" y="1734700"/>
            <a:ext cx="457200" cy="4572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g23959c6d954_0_108"/>
          <p:cNvSpPr txBox="1"/>
          <p:nvPr/>
        </p:nvSpPr>
        <p:spPr>
          <a:xfrm>
            <a:off x="9606700" y="2913400"/>
            <a:ext cx="3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g23959c6d954_0_108"/>
          <p:cNvSpPr txBox="1"/>
          <p:nvPr/>
        </p:nvSpPr>
        <p:spPr>
          <a:xfrm>
            <a:off x="10777650" y="4063600"/>
            <a:ext cx="3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g23959c6d954_0_108"/>
          <p:cNvSpPr txBox="1"/>
          <p:nvPr/>
        </p:nvSpPr>
        <p:spPr>
          <a:xfrm>
            <a:off x="9606700" y="1763200"/>
            <a:ext cx="3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3" name="Google Shape;503;g23959c6d954_0_108"/>
          <p:cNvCxnSpPr/>
          <p:nvPr/>
        </p:nvCxnSpPr>
        <p:spPr>
          <a:xfrm flipH="1">
            <a:off x="10340975" y="1450650"/>
            <a:ext cx="6900" cy="34629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504" name="Google Shape;504;g23959c6d954_0_108"/>
          <p:cNvSpPr txBox="1"/>
          <p:nvPr/>
        </p:nvSpPr>
        <p:spPr>
          <a:xfrm>
            <a:off x="9335050" y="4791725"/>
            <a:ext cx="847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Partition 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g23959c6d954_0_108"/>
          <p:cNvSpPr txBox="1"/>
          <p:nvPr/>
        </p:nvSpPr>
        <p:spPr>
          <a:xfrm>
            <a:off x="10506000" y="4791725"/>
            <a:ext cx="847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Partition 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6" name="Google Shape;506;g23959c6d954_0_108"/>
          <p:cNvCxnSpPr>
            <a:stCxn id="499" idx="6"/>
            <a:endCxn id="471" idx="2"/>
          </p:cNvCxnSpPr>
          <p:nvPr/>
        </p:nvCxnSpPr>
        <p:spPr>
          <a:xfrm>
            <a:off x="9987550" y="1963300"/>
            <a:ext cx="7137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7" name="Google Shape;507;g23959c6d954_0_108"/>
          <p:cNvCxnSpPr>
            <a:endCxn id="498" idx="1"/>
          </p:cNvCxnSpPr>
          <p:nvPr/>
        </p:nvCxnSpPr>
        <p:spPr>
          <a:xfrm>
            <a:off x="9920455" y="3275255"/>
            <a:ext cx="847800" cy="8268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8" name="Google Shape;508;g23959c6d954_0_108"/>
          <p:cNvCxnSpPr>
            <a:endCxn id="497" idx="4"/>
          </p:cNvCxnSpPr>
          <p:nvPr/>
        </p:nvCxnSpPr>
        <p:spPr>
          <a:xfrm rot="10800000">
            <a:off x="9758950" y="3342100"/>
            <a:ext cx="0" cy="693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9" name="Google Shape;509;g23959c6d954_0_108"/>
          <p:cNvCxnSpPr>
            <a:stCxn id="469" idx="6"/>
            <a:endCxn id="498" idx="2"/>
          </p:cNvCxnSpPr>
          <p:nvPr/>
        </p:nvCxnSpPr>
        <p:spPr>
          <a:xfrm>
            <a:off x="9987550" y="4263700"/>
            <a:ext cx="7137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0" name="Google Shape;510;g23959c6d954_0_108"/>
          <p:cNvCxnSpPr>
            <a:stCxn id="469" idx="7"/>
            <a:endCxn id="471" idx="3"/>
          </p:cNvCxnSpPr>
          <p:nvPr/>
        </p:nvCxnSpPr>
        <p:spPr>
          <a:xfrm flipH="1" rot="10800000">
            <a:off x="9920595" y="2125055"/>
            <a:ext cx="847800" cy="1977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1" name="Google Shape;511;g23959c6d954_0_108"/>
          <p:cNvCxnSpPr>
            <a:endCxn id="468" idx="0"/>
          </p:cNvCxnSpPr>
          <p:nvPr/>
        </p:nvCxnSpPr>
        <p:spPr>
          <a:xfrm>
            <a:off x="10929900" y="2191900"/>
            <a:ext cx="0" cy="6930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2" name="Google Shape;512;g23959c6d954_0_108"/>
          <p:cNvCxnSpPr>
            <a:endCxn id="468" idx="1"/>
          </p:cNvCxnSpPr>
          <p:nvPr/>
        </p:nvCxnSpPr>
        <p:spPr>
          <a:xfrm>
            <a:off x="9920455" y="2125055"/>
            <a:ext cx="847800" cy="8268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3" name="Google Shape;513;g23959c6d954_0_108"/>
          <p:cNvSpPr txBox="1"/>
          <p:nvPr/>
        </p:nvSpPr>
        <p:spPr>
          <a:xfrm>
            <a:off x="7401075" y="5319375"/>
            <a:ext cx="1467000" cy="923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Partition after completing  the i=2</a:t>
            </a:r>
            <a:r>
              <a:rPr b="0" baseline="3000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nd</a:t>
            </a: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iteration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4" name="Google Shape;514;g23959c6d954_0_108"/>
          <p:cNvSpPr txBox="1"/>
          <p:nvPr/>
        </p:nvSpPr>
        <p:spPr>
          <a:xfrm>
            <a:off x="9611000" y="5319375"/>
            <a:ext cx="1467000" cy="923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Partition after completing  the i=3</a:t>
            </a:r>
            <a:r>
              <a:rPr b="0" baseline="3000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rd</a:t>
            </a: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iteration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DDEDD"/>
        </a:solidFill>
      </p:bgPr>
    </p:bg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23959c6d954_0_216"/>
          <p:cNvSpPr txBox="1"/>
          <p:nvPr/>
        </p:nvSpPr>
        <p:spPr>
          <a:xfrm>
            <a:off x="1216075" y="4509250"/>
            <a:ext cx="10137600" cy="1847100"/>
          </a:xfrm>
          <a:prstGeom prst="rect">
            <a:avLst/>
          </a:prstGeom>
          <a:noFill/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Times New Roman"/>
              <a:buAutoNum type="alphaLcPeriod" startAt="3"/>
            </a:pPr>
            <a:r>
              <a:rPr b="0" i="0" lang="en-US" sz="1800" u="none" cap="none" strike="noStrik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Finish the first pass by computing the maximum positive gain, G</a:t>
            </a:r>
            <a:r>
              <a:rPr b="0" baseline="-25000" i="0" lang="en-US" sz="1800" u="none" cap="none" strike="noStrik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b="0" i="0" lang="en-US" sz="1800" u="none" cap="none" strike="noStrik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Suggest how many swaps should be actually executed in the first pass.</a:t>
            </a:r>
            <a:endParaRPr b="0" i="0" sz="1800" u="none" cap="none" strike="noStrike">
              <a:solidFill>
                <a:srgbClr val="CC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b="0" baseline="-2500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Δg</a:t>
            </a:r>
            <a:r>
              <a:rPr b="0" baseline="-2500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800" u="none" cap="none" strike="noStrike">
                <a:solidFill>
                  <a:srgbClr val="DDDDD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Δg</a:t>
            </a:r>
            <a:r>
              <a:rPr b="0" baseline="-25000" i="0" lang="en-US" sz="1800" u="none" cap="none" strike="noStrike">
                <a:solidFill>
                  <a:srgbClr val="DDDDD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1800" u="none" cap="none" strike="noStrike">
                <a:solidFill>
                  <a:srgbClr val="DDDDD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Δg</a:t>
            </a:r>
            <a:r>
              <a:rPr b="0" baseline="-25000" i="0" lang="en-US" sz="1800" u="none" cap="none" strike="noStrike">
                <a:solidFill>
                  <a:srgbClr val="DDDDD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 </a:t>
            </a:r>
            <a:r>
              <a:rPr b="0" i="0" lang="en-US" sz="1800" u="none" cap="none" strike="noStrike">
                <a:solidFill>
                  <a:srgbClr val="DDDDD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- 4 + 0</a:t>
            </a: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= 4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b="0" baseline="-2500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Δg</a:t>
            </a:r>
            <a:r>
              <a:rPr b="0" baseline="-2500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Δg</a:t>
            </a:r>
            <a:r>
              <a:rPr b="0" baseline="-2500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800" u="none" cap="none" strike="noStrike">
                <a:solidFill>
                  <a:srgbClr val="DDDDD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Δg</a:t>
            </a:r>
            <a:r>
              <a:rPr b="0" baseline="-25000" i="0" lang="en-US" sz="1800" u="none" cap="none" strike="noStrike">
                <a:solidFill>
                  <a:srgbClr val="DDDDD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4 - 3 </a:t>
            </a:r>
            <a:r>
              <a:rPr b="0" i="0" lang="en-US" sz="1800" u="none" cap="none" strike="noStrike">
                <a:solidFill>
                  <a:srgbClr val="DDDDD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+ 0</a:t>
            </a: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= 1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b="0" baseline="-2500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Δg</a:t>
            </a:r>
            <a:r>
              <a:rPr b="0" baseline="-2500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Δg</a:t>
            </a:r>
            <a:r>
              <a:rPr b="0" baseline="-2500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Δg</a:t>
            </a:r>
            <a:r>
              <a:rPr b="0" baseline="-2500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4 - 3 </a:t>
            </a:r>
            <a:r>
              <a:rPr b="0" i="0" lang="en-US" sz="1800" u="none" cap="none" strike="noStrike">
                <a:solidFill>
                  <a:srgbClr val="DDDDD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- 1 = 0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Hence, maximum positive gain is achieved for m = 1. Only the swap for Δg</a:t>
            </a:r>
            <a:r>
              <a:rPr b="0" baseline="-2500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or (a, f) should be executed. 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0" name="Google Shape;520;g23959c6d954_0_21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8/14/21</a:t>
            </a:r>
            <a:endParaRPr/>
          </a:p>
        </p:txBody>
      </p:sp>
      <p:sp>
        <p:nvSpPr>
          <p:cNvPr id="521" name="Google Shape;521;g23959c6d954_0_21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460: VLSI Design</a:t>
            </a:r>
            <a:endParaRPr/>
          </a:p>
        </p:txBody>
      </p:sp>
      <p:sp>
        <p:nvSpPr>
          <p:cNvPr id="522" name="Google Shape;522;g23959c6d954_0_21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3" name="Google Shape;523;g23959c6d954_0_216"/>
          <p:cNvSpPr txBox="1"/>
          <p:nvPr>
            <p:ph type="title"/>
          </p:nvPr>
        </p:nvSpPr>
        <p:spPr>
          <a:xfrm>
            <a:off x="1216068" y="427613"/>
            <a:ext cx="9093000" cy="7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11200">
            <a:noAutofit/>
          </a:bodyPr>
          <a:lstStyle/>
          <a:p>
            <a:pPr indent="0" lvl="0" marL="1120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1" lang="en-US" sz="40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KL Algorithm (Example 1)</a:t>
            </a:r>
            <a:endParaRPr b="1" sz="40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4" name="Google Shape;524;g23959c6d954_0_216"/>
          <p:cNvSpPr/>
          <p:nvPr/>
        </p:nvSpPr>
        <p:spPr>
          <a:xfrm>
            <a:off x="9364438" y="2573763"/>
            <a:ext cx="457200" cy="4572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g23959c6d954_0_216"/>
          <p:cNvSpPr/>
          <p:nvPr/>
        </p:nvSpPr>
        <p:spPr>
          <a:xfrm>
            <a:off x="8193488" y="3723963"/>
            <a:ext cx="457200" cy="4572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g23959c6d954_0_216"/>
          <p:cNvSpPr txBox="1"/>
          <p:nvPr/>
        </p:nvSpPr>
        <p:spPr>
          <a:xfrm>
            <a:off x="9440788" y="2602263"/>
            <a:ext cx="3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g23959c6d954_0_216"/>
          <p:cNvSpPr/>
          <p:nvPr/>
        </p:nvSpPr>
        <p:spPr>
          <a:xfrm>
            <a:off x="9364438" y="1423563"/>
            <a:ext cx="457200" cy="4572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g23959c6d954_0_216"/>
          <p:cNvSpPr txBox="1"/>
          <p:nvPr/>
        </p:nvSpPr>
        <p:spPr>
          <a:xfrm>
            <a:off x="9440788" y="1452063"/>
            <a:ext cx="3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g23959c6d954_0_216"/>
          <p:cNvSpPr txBox="1"/>
          <p:nvPr/>
        </p:nvSpPr>
        <p:spPr>
          <a:xfrm>
            <a:off x="8269838" y="3752463"/>
            <a:ext cx="3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g23959c6d954_0_216"/>
          <p:cNvSpPr/>
          <p:nvPr/>
        </p:nvSpPr>
        <p:spPr>
          <a:xfrm>
            <a:off x="4157188" y="3799538"/>
            <a:ext cx="457200" cy="4572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g23959c6d954_0_216"/>
          <p:cNvSpPr/>
          <p:nvPr/>
        </p:nvSpPr>
        <p:spPr>
          <a:xfrm>
            <a:off x="2986238" y="1499138"/>
            <a:ext cx="457200" cy="4572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g23959c6d954_0_216"/>
          <p:cNvSpPr txBox="1"/>
          <p:nvPr/>
        </p:nvSpPr>
        <p:spPr>
          <a:xfrm>
            <a:off x="4233538" y="3828038"/>
            <a:ext cx="3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g23959c6d954_0_216"/>
          <p:cNvSpPr txBox="1"/>
          <p:nvPr/>
        </p:nvSpPr>
        <p:spPr>
          <a:xfrm>
            <a:off x="3062588" y="1527638"/>
            <a:ext cx="3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g23959c6d954_0_216"/>
          <p:cNvSpPr txBox="1"/>
          <p:nvPr/>
        </p:nvSpPr>
        <p:spPr>
          <a:xfrm>
            <a:off x="4233538" y="1527638"/>
            <a:ext cx="3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g23959c6d954_0_216"/>
          <p:cNvSpPr/>
          <p:nvPr/>
        </p:nvSpPr>
        <p:spPr>
          <a:xfrm>
            <a:off x="4157188" y="1499138"/>
            <a:ext cx="457200" cy="4572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g23959c6d954_0_216"/>
          <p:cNvSpPr txBox="1"/>
          <p:nvPr/>
        </p:nvSpPr>
        <p:spPr>
          <a:xfrm>
            <a:off x="3062588" y="2677838"/>
            <a:ext cx="3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g23959c6d954_0_216"/>
          <p:cNvSpPr/>
          <p:nvPr/>
        </p:nvSpPr>
        <p:spPr>
          <a:xfrm>
            <a:off x="2986238" y="2649338"/>
            <a:ext cx="457200" cy="4572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g23959c6d954_0_216"/>
          <p:cNvSpPr txBox="1"/>
          <p:nvPr/>
        </p:nvSpPr>
        <p:spPr>
          <a:xfrm>
            <a:off x="3062588" y="3828038"/>
            <a:ext cx="3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g23959c6d954_0_216"/>
          <p:cNvSpPr/>
          <p:nvPr/>
        </p:nvSpPr>
        <p:spPr>
          <a:xfrm>
            <a:off x="2986238" y="3799538"/>
            <a:ext cx="457200" cy="4572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g23959c6d954_0_216"/>
          <p:cNvSpPr txBox="1"/>
          <p:nvPr/>
        </p:nvSpPr>
        <p:spPr>
          <a:xfrm>
            <a:off x="4233538" y="2677838"/>
            <a:ext cx="3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g23959c6d954_0_216"/>
          <p:cNvSpPr/>
          <p:nvPr/>
        </p:nvSpPr>
        <p:spPr>
          <a:xfrm>
            <a:off x="4157188" y="2649338"/>
            <a:ext cx="457200" cy="4572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2" name="Google Shape;542;g23959c6d954_0_216"/>
          <p:cNvCxnSpPr>
            <a:stCxn id="535" idx="4"/>
            <a:endCxn id="541" idx="0"/>
          </p:cNvCxnSpPr>
          <p:nvPr/>
        </p:nvCxnSpPr>
        <p:spPr>
          <a:xfrm>
            <a:off x="4385788" y="1956338"/>
            <a:ext cx="0" cy="693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3" name="Google Shape;543;g23959c6d954_0_216"/>
          <p:cNvCxnSpPr>
            <a:stCxn id="537" idx="6"/>
            <a:endCxn id="541" idx="2"/>
          </p:cNvCxnSpPr>
          <p:nvPr/>
        </p:nvCxnSpPr>
        <p:spPr>
          <a:xfrm>
            <a:off x="3443438" y="2877938"/>
            <a:ext cx="7137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4" name="Google Shape;544;g23959c6d954_0_216"/>
          <p:cNvCxnSpPr>
            <a:stCxn id="537" idx="4"/>
            <a:endCxn id="539" idx="0"/>
          </p:cNvCxnSpPr>
          <p:nvPr/>
        </p:nvCxnSpPr>
        <p:spPr>
          <a:xfrm>
            <a:off x="3214838" y="3106538"/>
            <a:ext cx="0" cy="693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5" name="Google Shape;545;g23959c6d954_0_216"/>
          <p:cNvCxnSpPr/>
          <p:nvPr/>
        </p:nvCxnSpPr>
        <p:spPr>
          <a:xfrm flipH="1">
            <a:off x="3796863" y="1215088"/>
            <a:ext cx="6900" cy="34629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46" name="Google Shape;546;g23959c6d954_0_216"/>
          <p:cNvCxnSpPr>
            <a:stCxn id="541" idx="4"/>
            <a:endCxn id="530" idx="0"/>
          </p:cNvCxnSpPr>
          <p:nvPr/>
        </p:nvCxnSpPr>
        <p:spPr>
          <a:xfrm>
            <a:off x="4385788" y="3106538"/>
            <a:ext cx="0" cy="693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7" name="Google Shape;547;g23959c6d954_0_216"/>
          <p:cNvCxnSpPr>
            <a:stCxn id="530" idx="6"/>
            <a:endCxn id="535" idx="6"/>
          </p:cNvCxnSpPr>
          <p:nvPr/>
        </p:nvCxnSpPr>
        <p:spPr>
          <a:xfrm flipH="1" rot="10800000">
            <a:off x="4614388" y="1727738"/>
            <a:ext cx="600" cy="23004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8" name="Google Shape;548;g23959c6d954_0_216"/>
          <p:cNvCxnSpPr>
            <a:stCxn id="531" idx="2"/>
            <a:endCxn id="539" idx="2"/>
          </p:cNvCxnSpPr>
          <p:nvPr/>
        </p:nvCxnSpPr>
        <p:spPr>
          <a:xfrm>
            <a:off x="2986238" y="1727738"/>
            <a:ext cx="600" cy="23004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9" name="Google Shape;549;g23959c6d954_0_216"/>
          <p:cNvCxnSpPr>
            <a:stCxn id="531" idx="4"/>
            <a:endCxn id="537" idx="0"/>
          </p:cNvCxnSpPr>
          <p:nvPr/>
        </p:nvCxnSpPr>
        <p:spPr>
          <a:xfrm>
            <a:off x="3214838" y="1956338"/>
            <a:ext cx="0" cy="693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0" name="Google Shape;550;g23959c6d954_0_216"/>
          <p:cNvSpPr/>
          <p:nvPr/>
        </p:nvSpPr>
        <p:spPr>
          <a:xfrm>
            <a:off x="7539350" y="2729125"/>
            <a:ext cx="304500" cy="297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g23959c6d954_0_216"/>
          <p:cNvSpPr/>
          <p:nvPr/>
        </p:nvSpPr>
        <p:spPr>
          <a:xfrm>
            <a:off x="4928875" y="2729150"/>
            <a:ext cx="304500" cy="297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g23959c6d954_0_216"/>
          <p:cNvSpPr/>
          <p:nvPr/>
        </p:nvSpPr>
        <p:spPr>
          <a:xfrm>
            <a:off x="6827238" y="2573763"/>
            <a:ext cx="457200" cy="4572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g23959c6d954_0_216"/>
          <p:cNvSpPr/>
          <p:nvPr/>
        </p:nvSpPr>
        <p:spPr>
          <a:xfrm>
            <a:off x="6827238" y="1423563"/>
            <a:ext cx="457200" cy="4572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g23959c6d954_0_216"/>
          <p:cNvSpPr txBox="1"/>
          <p:nvPr/>
        </p:nvSpPr>
        <p:spPr>
          <a:xfrm>
            <a:off x="6903588" y="1452063"/>
            <a:ext cx="3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g23959c6d954_0_216"/>
          <p:cNvSpPr txBox="1"/>
          <p:nvPr/>
        </p:nvSpPr>
        <p:spPr>
          <a:xfrm>
            <a:off x="6903588" y="2602263"/>
            <a:ext cx="3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g23959c6d954_0_216"/>
          <p:cNvSpPr/>
          <p:nvPr/>
        </p:nvSpPr>
        <p:spPr>
          <a:xfrm>
            <a:off x="5656288" y="2573763"/>
            <a:ext cx="457200" cy="4572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g23959c6d954_0_216"/>
          <p:cNvSpPr/>
          <p:nvPr/>
        </p:nvSpPr>
        <p:spPr>
          <a:xfrm>
            <a:off x="6827238" y="3723963"/>
            <a:ext cx="457200" cy="4572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g23959c6d954_0_216"/>
          <p:cNvSpPr/>
          <p:nvPr/>
        </p:nvSpPr>
        <p:spPr>
          <a:xfrm>
            <a:off x="5656288" y="1423563"/>
            <a:ext cx="457200" cy="4572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g23959c6d954_0_216"/>
          <p:cNvSpPr txBox="1"/>
          <p:nvPr/>
        </p:nvSpPr>
        <p:spPr>
          <a:xfrm>
            <a:off x="5732638" y="2602263"/>
            <a:ext cx="3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g23959c6d954_0_216"/>
          <p:cNvSpPr txBox="1"/>
          <p:nvPr/>
        </p:nvSpPr>
        <p:spPr>
          <a:xfrm>
            <a:off x="6903588" y="3752463"/>
            <a:ext cx="3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g23959c6d954_0_216"/>
          <p:cNvSpPr txBox="1"/>
          <p:nvPr/>
        </p:nvSpPr>
        <p:spPr>
          <a:xfrm>
            <a:off x="5732638" y="1452063"/>
            <a:ext cx="3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g23959c6d954_0_216"/>
          <p:cNvSpPr txBox="1"/>
          <p:nvPr/>
        </p:nvSpPr>
        <p:spPr>
          <a:xfrm>
            <a:off x="5732638" y="3752463"/>
            <a:ext cx="3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g23959c6d954_0_216"/>
          <p:cNvSpPr/>
          <p:nvPr/>
        </p:nvSpPr>
        <p:spPr>
          <a:xfrm>
            <a:off x="5656288" y="3723963"/>
            <a:ext cx="457200" cy="4572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4" name="Google Shape;564;g23959c6d954_0_216"/>
          <p:cNvCxnSpPr/>
          <p:nvPr/>
        </p:nvCxnSpPr>
        <p:spPr>
          <a:xfrm flipH="1">
            <a:off x="6466913" y="1139513"/>
            <a:ext cx="6900" cy="34629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65" name="Google Shape;565;g23959c6d954_0_216"/>
          <p:cNvCxnSpPr>
            <a:stCxn id="558" idx="2"/>
            <a:endCxn id="563" idx="2"/>
          </p:cNvCxnSpPr>
          <p:nvPr/>
        </p:nvCxnSpPr>
        <p:spPr>
          <a:xfrm>
            <a:off x="5656288" y="1652163"/>
            <a:ext cx="600" cy="23004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6" name="Google Shape;566;g23959c6d954_0_216"/>
          <p:cNvCxnSpPr>
            <a:stCxn id="556" idx="6"/>
            <a:endCxn id="552" idx="2"/>
          </p:cNvCxnSpPr>
          <p:nvPr/>
        </p:nvCxnSpPr>
        <p:spPr>
          <a:xfrm>
            <a:off x="6113488" y="2802363"/>
            <a:ext cx="7137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7" name="Google Shape;567;g23959c6d954_0_216"/>
          <p:cNvCxnSpPr>
            <a:stCxn id="558" idx="6"/>
            <a:endCxn id="553" idx="2"/>
          </p:cNvCxnSpPr>
          <p:nvPr/>
        </p:nvCxnSpPr>
        <p:spPr>
          <a:xfrm>
            <a:off x="6113488" y="1652163"/>
            <a:ext cx="7137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8" name="Google Shape;568;g23959c6d954_0_216"/>
          <p:cNvCxnSpPr>
            <a:endCxn id="553" idx="3"/>
          </p:cNvCxnSpPr>
          <p:nvPr/>
        </p:nvCxnSpPr>
        <p:spPr>
          <a:xfrm flipH="1" rot="10800000">
            <a:off x="6046393" y="1813808"/>
            <a:ext cx="847800" cy="1977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9" name="Google Shape;569;g23959c6d954_0_216"/>
          <p:cNvCxnSpPr>
            <a:endCxn id="557" idx="1"/>
          </p:cNvCxnSpPr>
          <p:nvPr/>
        </p:nvCxnSpPr>
        <p:spPr>
          <a:xfrm>
            <a:off x="6046393" y="2964118"/>
            <a:ext cx="847800" cy="8268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0" name="Google Shape;570;g23959c6d954_0_216"/>
          <p:cNvCxnSpPr>
            <a:endCxn id="557" idx="0"/>
          </p:cNvCxnSpPr>
          <p:nvPr/>
        </p:nvCxnSpPr>
        <p:spPr>
          <a:xfrm>
            <a:off x="7055838" y="3030963"/>
            <a:ext cx="0" cy="693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1" name="Google Shape;571;g23959c6d954_0_216"/>
          <p:cNvCxnSpPr>
            <a:endCxn id="552" idx="0"/>
          </p:cNvCxnSpPr>
          <p:nvPr/>
        </p:nvCxnSpPr>
        <p:spPr>
          <a:xfrm>
            <a:off x="7055838" y="1880763"/>
            <a:ext cx="0" cy="693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2" name="Google Shape;572;g23959c6d954_0_216"/>
          <p:cNvSpPr/>
          <p:nvPr/>
        </p:nvSpPr>
        <p:spPr>
          <a:xfrm>
            <a:off x="8193488" y="2573763"/>
            <a:ext cx="457200" cy="4572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g23959c6d954_0_216"/>
          <p:cNvSpPr/>
          <p:nvPr/>
        </p:nvSpPr>
        <p:spPr>
          <a:xfrm>
            <a:off x="9364438" y="3723963"/>
            <a:ext cx="457200" cy="4572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g23959c6d954_0_216"/>
          <p:cNvSpPr/>
          <p:nvPr/>
        </p:nvSpPr>
        <p:spPr>
          <a:xfrm>
            <a:off x="8193488" y="1423563"/>
            <a:ext cx="457200" cy="4572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g23959c6d954_0_216"/>
          <p:cNvSpPr txBox="1"/>
          <p:nvPr/>
        </p:nvSpPr>
        <p:spPr>
          <a:xfrm>
            <a:off x="8269838" y="2602263"/>
            <a:ext cx="3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g23959c6d954_0_216"/>
          <p:cNvSpPr txBox="1"/>
          <p:nvPr/>
        </p:nvSpPr>
        <p:spPr>
          <a:xfrm>
            <a:off x="9440788" y="3752463"/>
            <a:ext cx="3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g23959c6d954_0_216"/>
          <p:cNvSpPr txBox="1"/>
          <p:nvPr/>
        </p:nvSpPr>
        <p:spPr>
          <a:xfrm>
            <a:off x="8269838" y="1452063"/>
            <a:ext cx="3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8" name="Google Shape;578;g23959c6d954_0_216"/>
          <p:cNvCxnSpPr/>
          <p:nvPr/>
        </p:nvCxnSpPr>
        <p:spPr>
          <a:xfrm flipH="1">
            <a:off x="9004113" y="1139513"/>
            <a:ext cx="6900" cy="34629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79" name="Google Shape;579;g23959c6d954_0_216"/>
          <p:cNvCxnSpPr>
            <a:stCxn id="574" idx="6"/>
            <a:endCxn id="527" idx="2"/>
          </p:cNvCxnSpPr>
          <p:nvPr/>
        </p:nvCxnSpPr>
        <p:spPr>
          <a:xfrm>
            <a:off x="8650688" y="1652163"/>
            <a:ext cx="7137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0" name="Google Shape;580;g23959c6d954_0_216"/>
          <p:cNvCxnSpPr>
            <a:endCxn id="573" idx="1"/>
          </p:cNvCxnSpPr>
          <p:nvPr/>
        </p:nvCxnSpPr>
        <p:spPr>
          <a:xfrm>
            <a:off x="8583593" y="2964118"/>
            <a:ext cx="847800" cy="8268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1" name="Google Shape;581;g23959c6d954_0_216"/>
          <p:cNvCxnSpPr>
            <a:endCxn id="572" idx="4"/>
          </p:cNvCxnSpPr>
          <p:nvPr/>
        </p:nvCxnSpPr>
        <p:spPr>
          <a:xfrm rot="10800000">
            <a:off x="8422088" y="3030963"/>
            <a:ext cx="0" cy="693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2" name="Google Shape;582;g23959c6d954_0_216"/>
          <p:cNvCxnSpPr>
            <a:stCxn id="525" idx="6"/>
            <a:endCxn id="573" idx="2"/>
          </p:cNvCxnSpPr>
          <p:nvPr/>
        </p:nvCxnSpPr>
        <p:spPr>
          <a:xfrm>
            <a:off x="8650688" y="3952563"/>
            <a:ext cx="7137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3" name="Google Shape;583;g23959c6d954_0_216"/>
          <p:cNvCxnSpPr>
            <a:stCxn id="525" idx="7"/>
            <a:endCxn id="527" idx="3"/>
          </p:cNvCxnSpPr>
          <p:nvPr/>
        </p:nvCxnSpPr>
        <p:spPr>
          <a:xfrm flipH="1" rot="10800000">
            <a:off x="8583733" y="1813918"/>
            <a:ext cx="847800" cy="1977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4" name="Google Shape;584;g23959c6d954_0_216"/>
          <p:cNvCxnSpPr>
            <a:endCxn id="524" idx="0"/>
          </p:cNvCxnSpPr>
          <p:nvPr/>
        </p:nvCxnSpPr>
        <p:spPr>
          <a:xfrm>
            <a:off x="9593038" y="1880763"/>
            <a:ext cx="0" cy="693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5" name="Google Shape;585;g23959c6d954_0_216"/>
          <p:cNvCxnSpPr>
            <a:endCxn id="524" idx="1"/>
          </p:cNvCxnSpPr>
          <p:nvPr/>
        </p:nvCxnSpPr>
        <p:spPr>
          <a:xfrm>
            <a:off x="8583593" y="1813918"/>
            <a:ext cx="847800" cy="8268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6" name="Google Shape;586;g23959c6d954_0_216"/>
          <p:cNvSpPr txBox="1"/>
          <p:nvPr/>
        </p:nvSpPr>
        <p:spPr>
          <a:xfrm>
            <a:off x="4570975" y="1096925"/>
            <a:ext cx="1052400" cy="492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first pass should end here.</a:t>
            </a:r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7" name="Google Shape;587;g23959c6d954_0_216"/>
          <p:cNvSpPr/>
          <p:nvPr/>
        </p:nvSpPr>
        <p:spPr>
          <a:xfrm>
            <a:off x="5108150" y="1599600"/>
            <a:ext cx="119600" cy="1104725"/>
          </a:xfrm>
          <a:custGeom>
            <a:rect b="b" l="l" r="r" t="t"/>
            <a:pathLst>
              <a:path extrusionOk="0" h="44189" w="4784">
                <a:moveTo>
                  <a:pt x="0" y="0"/>
                </a:moveTo>
                <a:cubicBezTo>
                  <a:pt x="3718" y="3722"/>
                  <a:pt x="3497" y="9993"/>
                  <a:pt x="4242" y="15201"/>
                </a:cubicBezTo>
                <a:cubicBezTo>
                  <a:pt x="5625" y="24868"/>
                  <a:pt x="4362" y="35452"/>
                  <a:pt x="0" y="4418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DDEDD"/>
        </a:solidFill>
      </p:bgPr>
    </p:bg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23959c6d954_0_406"/>
          <p:cNvSpPr txBox="1"/>
          <p:nvPr/>
        </p:nvSpPr>
        <p:spPr>
          <a:xfrm>
            <a:off x="1216075" y="5406950"/>
            <a:ext cx="10137600" cy="738900"/>
          </a:xfrm>
          <a:prstGeom prst="rect">
            <a:avLst/>
          </a:prstGeom>
          <a:noFill/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Times New Roman"/>
              <a:buAutoNum type="alphaLcPeriod" startAt="4"/>
            </a:pPr>
            <a:r>
              <a:rPr b="0" i="0" lang="en-US" sz="1800" u="none" cap="none" strike="noStrik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Should you perform subsequent passes of the algorithm? Why or why not?</a:t>
            </a:r>
            <a:endParaRPr b="0" i="0" sz="1800" u="none" cap="none" strike="noStrike">
              <a:solidFill>
                <a:srgbClr val="CC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Ans: Since G</a:t>
            </a:r>
            <a:r>
              <a:rPr b="0" baseline="-2500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&gt; 0, subsequent passes should be performed (until G</a:t>
            </a:r>
            <a:r>
              <a:rPr b="0" baseline="-2500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≤ 0).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3" name="Google Shape;593;g23959c6d954_0_40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8/14/21</a:t>
            </a:r>
            <a:endParaRPr/>
          </a:p>
        </p:txBody>
      </p:sp>
      <p:sp>
        <p:nvSpPr>
          <p:cNvPr id="594" name="Google Shape;594;g23959c6d954_0_40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460: VLSI Design</a:t>
            </a:r>
            <a:endParaRPr/>
          </a:p>
        </p:txBody>
      </p:sp>
      <p:sp>
        <p:nvSpPr>
          <p:cNvPr id="595" name="Google Shape;595;g23959c6d954_0_40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6" name="Google Shape;596;g23959c6d954_0_406"/>
          <p:cNvSpPr txBox="1"/>
          <p:nvPr>
            <p:ph type="title"/>
          </p:nvPr>
        </p:nvSpPr>
        <p:spPr>
          <a:xfrm>
            <a:off x="1216068" y="427613"/>
            <a:ext cx="9093000" cy="7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11200">
            <a:noAutofit/>
          </a:bodyPr>
          <a:lstStyle/>
          <a:p>
            <a:pPr indent="0" lvl="0" marL="1120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1" lang="en-US" sz="40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KL Algorithm (Example 1)</a:t>
            </a:r>
            <a:endParaRPr b="1" sz="40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7" name="Google Shape;597;g23959c6d954_0_406"/>
          <p:cNvSpPr/>
          <p:nvPr/>
        </p:nvSpPr>
        <p:spPr>
          <a:xfrm>
            <a:off x="9364438" y="2573763"/>
            <a:ext cx="457200" cy="4572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g23959c6d954_0_406"/>
          <p:cNvSpPr/>
          <p:nvPr/>
        </p:nvSpPr>
        <p:spPr>
          <a:xfrm>
            <a:off x="8193488" y="3723963"/>
            <a:ext cx="457200" cy="4572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g23959c6d954_0_406"/>
          <p:cNvSpPr txBox="1"/>
          <p:nvPr/>
        </p:nvSpPr>
        <p:spPr>
          <a:xfrm>
            <a:off x="9440788" y="2602263"/>
            <a:ext cx="3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g23959c6d954_0_406"/>
          <p:cNvSpPr/>
          <p:nvPr/>
        </p:nvSpPr>
        <p:spPr>
          <a:xfrm>
            <a:off x="9364438" y="1423563"/>
            <a:ext cx="457200" cy="4572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g23959c6d954_0_406"/>
          <p:cNvSpPr txBox="1"/>
          <p:nvPr/>
        </p:nvSpPr>
        <p:spPr>
          <a:xfrm>
            <a:off x="9440788" y="1452063"/>
            <a:ext cx="3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g23959c6d954_0_406"/>
          <p:cNvSpPr txBox="1"/>
          <p:nvPr/>
        </p:nvSpPr>
        <p:spPr>
          <a:xfrm>
            <a:off x="8269838" y="3752463"/>
            <a:ext cx="3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g23959c6d954_0_406"/>
          <p:cNvSpPr/>
          <p:nvPr/>
        </p:nvSpPr>
        <p:spPr>
          <a:xfrm>
            <a:off x="4157188" y="3799538"/>
            <a:ext cx="457200" cy="4572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g23959c6d954_0_406"/>
          <p:cNvSpPr/>
          <p:nvPr/>
        </p:nvSpPr>
        <p:spPr>
          <a:xfrm>
            <a:off x="2986238" y="1499138"/>
            <a:ext cx="457200" cy="4572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g23959c6d954_0_406"/>
          <p:cNvSpPr txBox="1"/>
          <p:nvPr/>
        </p:nvSpPr>
        <p:spPr>
          <a:xfrm>
            <a:off x="4233538" y="3828038"/>
            <a:ext cx="3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g23959c6d954_0_406"/>
          <p:cNvSpPr txBox="1"/>
          <p:nvPr/>
        </p:nvSpPr>
        <p:spPr>
          <a:xfrm>
            <a:off x="3062588" y="1527638"/>
            <a:ext cx="3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g23959c6d954_0_406"/>
          <p:cNvSpPr txBox="1"/>
          <p:nvPr/>
        </p:nvSpPr>
        <p:spPr>
          <a:xfrm>
            <a:off x="4233538" y="1527638"/>
            <a:ext cx="3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g23959c6d954_0_406"/>
          <p:cNvSpPr/>
          <p:nvPr/>
        </p:nvSpPr>
        <p:spPr>
          <a:xfrm>
            <a:off x="4157188" y="1499138"/>
            <a:ext cx="457200" cy="4572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g23959c6d954_0_406"/>
          <p:cNvSpPr txBox="1"/>
          <p:nvPr/>
        </p:nvSpPr>
        <p:spPr>
          <a:xfrm>
            <a:off x="3062588" y="2677838"/>
            <a:ext cx="3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g23959c6d954_0_406"/>
          <p:cNvSpPr/>
          <p:nvPr/>
        </p:nvSpPr>
        <p:spPr>
          <a:xfrm>
            <a:off x="2986238" y="2649338"/>
            <a:ext cx="457200" cy="4572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g23959c6d954_0_406"/>
          <p:cNvSpPr txBox="1"/>
          <p:nvPr/>
        </p:nvSpPr>
        <p:spPr>
          <a:xfrm>
            <a:off x="3062588" y="3828038"/>
            <a:ext cx="3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g23959c6d954_0_406"/>
          <p:cNvSpPr/>
          <p:nvPr/>
        </p:nvSpPr>
        <p:spPr>
          <a:xfrm>
            <a:off x="2986238" y="3799538"/>
            <a:ext cx="457200" cy="4572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g23959c6d954_0_406"/>
          <p:cNvSpPr txBox="1"/>
          <p:nvPr/>
        </p:nvSpPr>
        <p:spPr>
          <a:xfrm>
            <a:off x="4233538" y="2677838"/>
            <a:ext cx="3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g23959c6d954_0_406"/>
          <p:cNvSpPr/>
          <p:nvPr/>
        </p:nvSpPr>
        <p:spPr>
          <a:xfrm>
            <a:off x="4157188" y="2649338"/>
            <a:ext cx="457200" cy="4572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5" name="Google Shape;615;g23959c6d954_0_406"/>
          <p:cNvCxnSpPr>
            <a:stCxn id="608" idx="4"/>
            <a:endCxn id="614" idx="0"/>
          </p:cNvCxnSpPr>
          <p:nvPr/>
        </p:nvCxnSpPr>
        <p:spPr>
          <a:xfrm>
            <a:off x="4385788" y="1956338"/>
            <a:ext cx="0" cy="693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6" name="Google Shape;616;g23959c6d954_0_406"/>
          <p:cNvCxnSpPr>
            <a:stCxn id="610" idx="6"/>
            <a:endCxn id="614" idx="2"/>
          </p:cNvCxnSpPr>
          <p:nvPr/>
        </p:nvCxnSpPr>
        <p:spPr>
          <a:xfrm>
            <a:off x="3443438" y="2877938"/>
            <a:ext cx="7137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7" name="Google Shape;617;g23959c6d954_0_406"/>
          <p:cNvCxnSpPr>
            <a:stCxn id="610" idx="4"/>
            <a:endCxn id="612" idx="0"/>
          </p:cNvCxnSpPr>
          <p:nvPr/>
        </p:nvCxnSpPr>
        <p:spPr>
          <a:xfrm>
            <a:off x="3214838" y="3106538"/>
            <a:ext cx="0" cy="693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8" name="Google Shape;618;g23959c6d954_0_406"/>
          <p:cNvCxnSpPr/>
          <p:nvPr/>
        </p:nvCxnSpPr>
        <p:spPr>
          <a:xfrm flipH="1">
            <a:off x="3796863" y="1215088"/>
            <a:ext cx="6900" cy="34629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619" name="Google Shape;619;g23959c6d954_0_406"/>
          <p:cNvCxnSpPr>
            <a:stCxn id="614" idx="4"/>
            <a:endCxn id="603" idx="0"/>
          </p:cNvCxnSpPr>
          <p:nvPr/>
        </p:nvCxnSpPr>
        <p:spPr>
          <a:xfrm>
            <a:off x="4385788" y="3106538"/>
            <a:ext cx="0" cy="693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0" name="Google Shape;620;g23959c6d954_0_406"/>
          <p:cNvCxnSpPr>
            <a:stCxn id="603" idx="6"/>
            <a:endCxn id="608" idx="6"/>
          </p:cNvCxnSpPr>
          <p:nvPr/>
        </p:nvCxnSpPr>
        <p:spPr>
          <a:xfrm flipH="1" rot="10800000">
            <a:off x="4614388" y="1727738"/>
            <a:ext cx="600" cy="23004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1" name="Google Shape;621;g23959c6d954_0_406"/>
          <p:cNvCxnSpPr>
            <a:stCxn id="604" idx="2"/>
            <a:endCxn id="612" idx="2"/>
          </p:cNvCxnSpPr>
          <p:nvPr/>
        </p:nvCxnSpPr>
        <p:spPr>
          <a:xfrm>
            <a:off x="2986238" y="1727738"/>
            <a:ext cx="600" cy="23004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2" name="Google Shape;622;g23959c6d954_0_406"/>
          <p:cNvCxnSpPr>
            <a:stCxn id="604" idx="4"/>
            <a:endCxn id="610" idx="0"/>
          </p:cNvCxnSpPr>
          <p:nvPr/>
        </p:nvCxnSpPr>
        <p:spPr>
          <a:xfrm>
            <a:off x="3214838" y="1956338"/>
            <a:ext cx="0" cy="693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3" name="Google Shape;623;g23959c6d954_0_406"/>
          <p:cNvSpPr/>
          <p:nvPr/>
        </p:nvSpPr>
        <p:spPr>
          <a:xfrm>
            <a:off x="7539350" y="2729125"/>
            <a:ext cx="304500" cy="297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g23959c6d954_0_406"/>
          <p:cNvSpPr/>
          <p:nvPr/>
        </p:nvSpPr>
        <p:spPr>
          <a:xfrm>
            <a:off x="4928875" y="2729150"/>
            <a:ext cx="304500" cy="297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g23959c6d954_0_406"/>
          <p:cNvSpPr/>
          <p:nvPr/>
        </p:nvSpPr>
        <p:spPr>
          <a:xfrm>
            <a:off x="6827238" y="2573763"/>
            <a:ext cx="457200" cy="4572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g23959c6d954_0_406"/>
          <p:cNvSpPr/>
          <p:nvPr/>
        </p:nvSpPr>
        <p:spPr>
          <a:xfrm>
            <a:off x="6827238" y="1423563"/>
            <a:ext cx="457200" cy="4572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g23959c6d954_0_406"/>
          <p:cNvSpPr txBox="1"/>
          <p:nvPr/>
        </p:nvSpPr>
        <p:spPr>
          <a:xfrm>
            <a:off x="6903588" y="1452063"/>
            <a:ext cx="3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g23959c6d954_0_406"/>
          <p:cNvSpPr txBox="1"/>
          <p:nvPr/>
        </p:nvSpPr>
        <p:spPr>
          <a:xfrm>
            <a:off x="6903588" y="2602263"/>
            <a:ext cx="3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g23959c6d954_0_406"/>
          <p:cNvSpPr/>
          <p:nvPr/>
        </p:nvSpPr>
        <p:spPr>
          <a:xfrm>
            <a:off x="5656288" y="2573763"/>
            <a:ext cx="457200" cy="4572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g23959c6d954_0_406"/>
          <p:cNvSpPr/>
          <p:nvPr/>
        </p:nvSpPr>
        <p:spPr>
          <a:xfrm>
            <a:off x="6827238" y="3723963"/>
            <a:ext cx="457200" cy="4572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g23959c6d954_0_406"/>
          <p:cNvSpPr/>
          <p:nvPr/>
        </p:nvSpPr>
        <p:spPr>
          <a:xfrm>
            <a:off x="5656288" y="1423563"/>
            <a:ext cx="457200" cy="4572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g23959c6d954_0_406"/>
          <p:cNvSpPr txBox="1"/>
          <p:nvPr/>
        </p:nvSpPr>
        <p:spPr>
          <a:xfrm>
            <a:off x="5732638" y="2602263"/>
            <a:ext cx="3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g23959c6d954_0_406"/>
          <p:cNvSpPr txBox="1"/>
          <p:nvPr/>
        </p:nvSpPr>
        <p:spPr>
          <a:xfrm>
            <a:off x="6903588" y="3752463"/>
            <a:ext cx="3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g23959c6d954_0_406"/>
          <p:cNvSpPr txBox="1"/>
          <p:nvPr/>
        </p:nvSpPr>
        <p:spPr>
          <a:xfrm>
            <a:off x="5732638" y="1452063"/>
            <a:ext cx="3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g23959c6d954_0_406"/>
          <p:cNvSpPr txBox="1"/>
          <p:nvPr/>
        </p:nvSpPr>
        <p:spPr>
          <a:xfrm>
            <a:off x="5732638" y="3752463"/>
            <a:ext cx="3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g23959c6d954_0_406"/>
          <p:cNvSpPr/>
          <p:nvPr/>
        </p:nvSpPr>
        <p:spPr>
          <a:xfrm>
            <a:off x="5656288" y="3723963"/>
            <a:ext cx="457200" cy="4572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7" name="Google Shape;637;g23959c6d954_0_406"/>
          <p:cNvCxnSpPr/>
          <p:nvPr/>
        </p:nvCxnSpPr>
        <p:spPr>
          <a:xfrm flipH="1">
            <a:off x="6466913" y="1139513"/>
            <a:ext cx="6900" cy="34629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638" name="Google Shape;638;g23959c6d954_0_406"/>
          <p:cNvCxnSpPr>
            <a:stCxn id="631" idx="2"/>
            <a:endCxn id="636" idx="2"/>
          </p:cNvCxnSpPr>
          <p:nvPr/>
        </p:nvCxnSpPr>
        <p:spPr>
          <a:xfrm>
            <a:off x="5656288" y="1652163"/>
            <a:ext cx="600" cy="23004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9" name="Google Shape;639;g23959c6d954_0_406"/>
          <p:cNvCxnSpPr>
            <a:stCxn id="629" idx="6"/>
            <a:endCxn id="625" idx="2"/>
          </p:cNvCxnSpPr>
          <p:nvPr/>
        </p:nvCxnSpPr>
        <p:spPr>
          <a:xfrm>
            <a:off x="6113488" y="2802363"/>
            <a:ext cx="7137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0" name="Google Shape;640;g23959c6d954_0_406"/>
          <p:cNvCxnSpPr>
            <a:stCxn id="631" idx="6"/>
            <a:endCxn id="626" idx="2"/>
          </p:cNvCxnSpPr>
          <p:nvPr/>
        </p:nvCxnSpPr>
        <p:spPr>
          <a:xfrm>
            <a:off x="6113488" y="1652163"/>
            <a:ext cx="7137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1" name="Google Shape;641;g23959c6d954_0_406"/>
          <p:cNvCxnSpPr>
            <a:endCxn id="626" idx="3"/>
          </p:cNvCxnSpPr>
          <p:nvPr/>
        </p:nvCxnSpPr>
        <p:spPr>
          <a:xfrm flipH="1" rot="10800000">
            <a:off x="6046393" y="1813808"/>
            <a:ext cx="847800" cy="1977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2" name="Google Shape;642;g23959c6d954_0_406"/>
          <p:cNvCxnSpPr>
            <a:endCxn id="630" idx="1"/>
          </p:cNvCxnSpPr>
          <p:nvPr/>
        </p:nvCxnSpPr>
        <p:spPr>
          <a:xfrm>
            <a:off x="6046393" y="2964118"/>
            <a:ext cx="847800" cy="8268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3" name="Google Shape;643;g23959c6d954_0_406"/>
          <p:cNvCxnSpPr>
            <a:endCxn id="630" idx="0"/>
          </p:cNvCxnSpPr>
          <p:nvPr/>
        </p:nvCxnSpPr>
        <p:spPr>
          <a:xfrm>
            <a:off x="7055838" y="3030963"/>
            <a:ext cx="0" cy="693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4" name="Google Shape;644;g23959c6d954_0_406"/>
          <p:cNvCxnSpPr>
            <a:endCxn id="625" idx="0"/>
          </p:cNvCxnSpPr>
          <p:nvPr/>
        </p:nvCxnSpPr>
        <p:spPr>
          <a:xfrm>
            <a:off x="7055838" y="1880763"/>
            <a:ext cx="0" cy="693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5" name="Google Shape;645;g23959c6d954_0_406"/>
          <p:cNvSpPr/>
          <p:nvPr/>
        </p:nvSpPr>
        <p:spPr>
          <a:xfrm>
            <a:off x="8193488" y="2573763"/>
            <a:ext cx="457200" cy="4572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g23959c6d954_0_406"/>
          <p:cNvSpPr/>
          <p:nvPr/>
        </p:nvSpPr>
        <p:spPr>
          <a:xfrm>
            <a:off x="9364438" y="3723963"/>
            <a:ext cx="457200" cy="4572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g23959c6d954_0_406"/>
          <p:cNvSpPr/>
          <p:nvPr/>
        </p:nvSpPr>
        <p:spPr>
          <a:xfrm>
            <a:off x="8193488" y="1423563"/>
            <a:ext cx="457200" cy="4572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g23959c6d954_0_406"/>
          <p:cNvSpPr txBox="1"/>
          <p:nvPr/>
        </p:nvSpPr>
        <p:spPr>
          <a:xfrm>
            <a:off x="8269838" y="2602263"/>
            <a:ext cx="3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g23959c6d954_0_406"/>
          <p:cNvSpPr txBox="1"/>
          <p:nvPr/>
        </p:nvSpPr>
        <p:spPr>
          <a:xfrm>
            <a:off x="9440788" y="3752463"/>
            <a:ext cx="3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g23959c6d954_0_406"/>
          <p:cNvSpPr txBox="1"/>
          <p:nvPr/>
        </p:nvSpPr>
        <p:spPr>
          <a:xfrm>
            <a:off x="8269838" y="1452063"/>
            <a:ext cx="3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1" name="Google Shape;651;g23959c6d954_0_406"/>
          <p:cNvCxnSpPr/>
          <p:nvPr/>
        </p:nvCxnSpPr>
        <p:spPr>
          <a:xfrm flipH="1">
            <a:off x="9004113" y="1139513"/>
            <a:ext cx="6900" cy="34629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652" name="Google Shape;652;g23959c6d954_0_406"/>
          <p:cNvCxnSpPr>
            <a:stCxn id="647" idx="6"/>
            <a:endCxn id="600" idx="2"/>
          </p:cNvCxnSpPr>
          <p:nvPr/>
        </p:nvCxnSpPr>
        <p:spPr>
          <a:xfrm>
            <a:off x="8650688" y="1652163"/>
            <a:ext cx="7137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3" name="Google Shape;653;g23959c6d954_0_406"/>
          <p:cNvCxnSpPr>
            <a:endCxn id="646" idx="1"/>
          </p:cNvCxnSpPr>
          <p:nvPr/>
        </p:nvCxnSpPr>
        <p:spPr>
          <a:xfrm>
            <a:off x="8583593" y="2964118"/>
            <a:ext cx="847800" cy="8268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4" name="Google Shape;654;g23959c6d954_0_406"/>
          <p:cNvCxnSpPr>
            <a:endCxn id="645" idx="4"/>
          </p:cNvCxnSpPr>
          <p:nvPr/>
        </p:nvCxnSpPr>
        <p:spPr>
          <a:xfrm rot="10800000">
            <a:off x="8422088" y="3030963"/>
            <a:ext cx="0" cy="693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5" name="Google Shape;655;g23959c6d954_0_406"/>
          <p:cNvCxnSpPr>
            <a:stCxn id="598" idx="6"/>
            <a:endCxn id="646" idx="2"/>
          </p:cNvCxnSpPr>
          <p:nvPr/>
        </p:nvCxnSpPr>
        <p:spPr>
          <a:xfrm>
            <a:off x="8650688" y="3952563"/>
            <a:ext cx="7137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6" name="Google Shape;656;g23959c6d954_0_406"/>
          <p:cNvCxnSpPr>
            <a:stCxn id="598" idx="7"/>
            <a:endCxn id="600" idx="3"/>
          </p:cNvCxnSpPr>
          <p:nvPr/>
        </p:nvCxnSpPr>
        <p:spPr>
          <a:xfrm flipH="1" rot="10800000">
            <a:off x="8583733" y="1813918"/>
            <a:ext cx="847800" cy="1977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7" name="Google Shape;657;g23959c6d954_0_406"/>
          <p:cNvCxnSpPr>
            <a:endCxn id="597" idx="0"/>
          </p:cNvCxnSpPr>
          <p:nvPr/>
        </p:nvCxnSpPr>
        <p:spPr>
          <a:xfrm>
            <a:off x="9593038" y="1880763"/>
            <a:ext cx="0" cy="693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8" name="Google Shape;658;g23959c6d954_0_406"/>
          <p:cNvCxnSpPr>
            <a:endCxn id="597" idx="1"/>
          </p:cNvCxnSpPr>
          <p:nvPr/>
        </p:nvCxnSpPr>
        <p:spPr>
          <a:xfrm>
            <a:off x="8583593" y="1813918"/>
            <a:ext cx="847800" cy="8268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9" name="Google Shape;659;g23959c6d954_0_406"/>
          <p:cNvSpPr txBox="1"/>
          <p:nvPr/>
        </p:nvSpPr>
        <p:spPr>
          <a:xfrm>
            <a:off x="4570975" y="1096925"/>
            <a:ext cx="1052400" cy="492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first pass should end here.</a:t>
            </a:r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0" name="Google Shape;660;g23959c6d954_0_406"/>
          <p:cNvSpPr/>
          <p:nvPr/>
        </p:nvSpPr>
        <p:spPr>
          <a:xfrm>
            <a:off x="5108150" y="1599600"/>
            <a:ext cx="119600" cy="1104725"/>
          </a:xfrm>
          <a:custGeom>
            <a:rect b="b" l="l" r="r" t="t"/>
            <a:pathLst>
              <a:path extrusionOk="0" h="44189" w="4784">
                <a:moveTo>
                  <a:pt x="0" y="0"/>
                </a:moveTo>
                <a:cubicBezTo>
                  <a:pt x="3718" y="3722"/>
                  <a:pt x="3497" y="9993"/>
                  <a:pt x="4242" y="15201"/>
                </a:cubicBezTo>
                <a:cubicBezTo>
                  <a:pt x="5625" y="24868"/>
                  <a:pt x="4362" y="35452"/>
                  <a:pt x="0" y="4418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DDEDD"/>
        </a:solidFill>
      </p:bgPr>
    </p:bg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g23959c6d954_0_47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8/14/21</a:t>
            </a:r>
            <a:endParaRPr/>
          </a:p>
        </p:txBody>
      </p:sp>
      <p:sp>
        <p:nvSpPr>
          <p:cNvPr id="666" name="Google Shape;666;g23959c6d954_0_47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460: VLSI Design</a:t>
            </a:r>
            <a:endParaRPr/>
          </a:p>
        </p:txBody>
      </p:sp>
      <p:sp>
        <p:nvSpPr>
          <p:cNvPr id="667" name="Google Shape;667;g23959c6d954_0_47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8" name="Google Shape;668;g23959c6d954_0_476"/>
          <p:cNvSpPr txBox="1"/>
          <p:nvPr>
            <p:ph type="title"/>
          </p:nvPr>
        </p:nvSpPr>
        <p:spPr>
          <a:xfrm>
            <a:off x="1216068" y="442988"/>
            <a:ext cx="9093000" cy="7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11200">
            <a:noAutofit/>
          </a:bodyPr>
          <a:lstStyle/>
          <a:p>
            <a:pPr indent="0" lvl="0" marL="1120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1" lang="en-US" sz="40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KL Algorithm (Example 2)</a:t>
            </a:r>
            <a:endParaRPr b="1" sz="40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69" name="Google Shape;669;g23959c6d954_0_4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6068" y="1169914"/>
            <a:ext cx="5975562" cy="835566"/>
          </a:xfrm>
          <a:prstGeom prst="rect">
            <a:avLst/>
          </a:prstGeom>
          <a:noFill/>
          <a:ln>
            <a:noFill/>
          </a:ln>
        </p:spPr>
      </p:pic>
      <p:pic>
        <p:nvPicPr>
          <p:cNvPr id="670" name="Google Shape;670;g23959c6d954_0_4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7577" y="2096418"/>
            <a:ext cx="4124849" cy="1775252"/>
          </a:xfrm>
          <a:prstGeom prst="rect">
            <a:avLst/>
          </a:prstGeom>
          <a:noFill/>
          <a:ln>
            <a:noFill/>
          </a:ln>
        </p:spPr>
      </p:pic>
      <p:pic>
        <p:nvPicPr>
          <p:cNvPr id="671" name="Google Shape;671;g23959c6d954_0_47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25222" y="4187242"/>
            <a:ext cx="3627780" cy="179071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72" name="Google Shape;672;g23959c6d954_0_476"/>
          <p:cNvCxnSpPr/>
          <p:nvPr/>
        </p:nvCxnSpPr>
        <p:spPr>
          <a:xfrm>
            <a:off x="6096000" y="2236573"/>
            <a:ext cx="0" cy="37785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673" name="Google Shape;673;g23959c6d954_0_47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39623" y="1958908"/>
            <a:ext cx="4114800" cy="2215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674" name="Google Shape;674;g23959c6d954_0_47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80887" y="4291411"/>
            <a:ext cx="4870124" cy="16865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DDEDD"/>
        </a:solidFill>
      </p:bgPr>
    </p:bg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23959c6d954_0_48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8/14/21</a:t>
            </a:r>
            <a:endParaRPr/>
          </a:p>
        </p:txBody>
      </p:sp>
      <p:sp>
        <p:nvSpPr>
          <p:cNvPr id="680" name="Google Shape;680;g23959c6d954_0_48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460: VLSI Design</a:t>
            </a:r>
            <a:endParaRPr/>
          </a:p>
        </p:txBody>
      </p:sp>
      <p:sp>
        <p:nvSpPr>
          <p:cNvPr id="681" name="Google Shape;681;g23959c6d954_0_48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2" name="Google Shape;682;g23959c6d954_0_489"/>
          <p:cNvSpPr txBox="1"/>
          <p:nvPr>
            <p:ph type="title"/>
          </p:nvPr>
        </p:nvSpPr>
        <p:spPr>
          <a:xfrm>
            <a:off x="1216068" y="442988"/>
            <a:ext cx="9093000" cy="7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11200">
            <a:noAutofit/>
          </a:bodyPr>
          <a:lstStyle/>
          <a:p>
            <a:pPr indent="0" lvl="0" marL="1120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1" lang="en-US" sz="40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KL Algorithm (Example 2)</a:t>
            </a:r>
            <a:endParaRPr b="1" sz="40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83" name="Google Shape;683;g23959c6d954_0_4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6068" y="1169914"/>
            <a:ext cx="5975562" cy="83556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84" name="Google Shape;684;g23959c6d954_0_489"/>
          <p:cNvCxnSpPr/>
          <p:nvPr/>
        </p:nvCxnSpPr>
        <p:spPr>
          <a:xfrm>
            <a:off x="6096000" y="2236573"/>
            <a:ext cx="0" cy="37785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685" name="Google Shape;685;g23959c6d954_0_48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223" y="1893087"/>
            <a:ext cx="4800600" cy="273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6" name="Google Shape;686;g23959c6d954_0_48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03023" y="1854987"/>
            <a:ext cx="4386747" cy="2536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687" name="Google Shape;687;g23959c6d954_0_48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7269" y="4623587"/>
            <a:ext cx="4979766" cy="1540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688" name="Google Shape;688;g23959c6d954_0_48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06513" y="4623587"/>
            <a:ext cx="4979765" cy="1500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DDEDD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23959c6d954_0_50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8/14/21</a:t>
            </a:r>
            <a:endParaRPr/>
          </a:p>
        </p:txBody>
      </p:sp>
      <p:sp>
        <p:nvSpPr>
          <p:cNvPr id="694" name="Google Shape;694;g23959c6d954_0_50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460: VLSI Design</a:t>
            </a:r>
            <a:endParaRPr/>
          </a:p>
        </p:txBody>
      </p:sp>
      <p:sp>
        <p:nvSpPr>
          <p:cNvPr id="695" name="Google Shape;695;g23959c6d954_0_50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96" name="Google Shape;696;g23959c6d954_0_502"/>
          <p:cNvSpPr txBox="1"/>
          <p:nvPr>
            <p:ph type="title"/>
          </p:nvPr>
        </p:nvSpPr>
        <p:spPr>
          <a:xfrm>
            <a:off x="1216068" y="442988"/>
            <a:ext cx="9093000" cy="7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11200">
            <a:noAutofit/>
          </a:bodyPr>
          <a:lstStyle/>
          <a:p>
            <a:pPr indent="0" lvl="0" marL="1120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1" lang="en-US" sz="40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KL Algorithm (Example 2)</a:t>
            </a:r>
            <a:endParaRPr b="1" sz="40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97" name="Google Shape;697;g23959c6d954_0_5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6068" y="1169914"/>
            <a:ext cx="5975562" cy="835566"/>
          </a:xfrm>
          <a:prstGeom prst="rect">
            <a:avLst/>
          </a:prstGeom>
          <a:noFill/>
          <a:ln>
            <a:noFill/>
          </a:ln>
        </p:spPr>
      </p:pic>
      <p:pic>
        <p:nvPicPr>
          <p:cNvPr id="698" name="Google Shape;698;g23959c6d954_0_50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16068" y="3186578"/>
            <a:ext cx="10325141" cy="2767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699" name="Google Shape;699;g23959c6d954_0_50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27818" y="282347"/>
            <a:ext cx="4013393" cy="20721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00" name="Google Shape;700;g23959c6d954_0_50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40425" y="2287627"/>
            <a:ext cx="4013375" cy="2282740"/>
          </a:xfrm>
          <a:prstGeom prst="rect">
            <a:avLst/>
          </a:prstGeom>
          <a:noFill/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DDEDD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23"/>
          <p:cNvSpPr txBox="1"/>
          <p:nvPr>
            <p:ph type="title"/>
          </p:nvPr>
        </p:nvSpPr>
        <p:spPr>
          <a:xfrm>
            <a:off x="4424705" y="2996513"/>
            <a:ext cx="3342589" cy="11334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Thank you.</a:t>
            </a:r>
            <a:endParaRPr/>
          </a:p>
        </p:txBody>
      </p:sp>
      <p:sp>
        <p:nvSpPr>
          <p:cNvPr id="706" name="Google Shape;706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8/14/21</a:t>
            </a:r>
            <a:endParaRPr/>
          </a:p>
        </p:txBody>
      </p:sp>
      <p:sp>
        <p:nvSpPr>
          <p:cNvPr id="707" name="Google Shape;707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460: VLSI Design</a:t>
            </a:r>
            <a:endParaRPr/>
          </a:p>
        </p:txBody>
      </p:sp>
      <p:sp>
        <p:nvSpPr>
          <p:cNvPr id="708" name="Google Shape;708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2021-08-14T14:57:35Z</dcterms:created>
  <dc:creator>nazmul turjo</dc:creator>
</cp:coreProperties>
</file>