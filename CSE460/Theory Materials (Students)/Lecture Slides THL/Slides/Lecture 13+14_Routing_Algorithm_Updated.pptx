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01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3" roundtripDataSignature="AMtx7mg9aif2PeTE6IINtvmBZGLPEn4y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20D723-796A-45DC-94C1-62D856A8DB03}">
  <a:tblStyle styleId="{BD20D723-796A-45DC-94C1-62D856A8DB0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01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Relationship Id="rId4" Type="http://schemas.openxmlformats.org/officeDocument/2006/relationships/image" Target="../media/image15.png"/><Relationship Id="rId5" Type="http://schemas.openxmlformats.org/officeDocument/2006/relationships/image" Target="../media/image29.png"/><Relationship Id="rId6" Type="http://schemas.openxmlformats.org/officeDocument/2006/relationships/image" Target="../media/image32.png"/><Relationship Id="rId7" Type="http://schemas.openxmlformats.org/officeDocument/2006/relationships/hyperlink" Target="http://www.facweb.iitkgp.ac.in/~isg/VLSI/SLIDES/Grid-Routing.pdf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Relationship Id="rId4" Type="http://schemas.openxmlformats.org/officeDocument/2006/relationships/image" Target="../media/image15.png"/><Relationship Id="rId5" Type="http://schemas.openxmlformats.org/officeDocument/2006/relationships/image" Target="../media/image29.png"/><Relationship Id="rId6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3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9.png"/><Relationship Id="rId4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image" Target="../media/image3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://www.facweb.iitkgp.ac.in/~isg/VLSI/SLIDES/Grid-Routing.pdf" TargetMode="External"/><Relationship Id="rId4" Type="http://schemas.openxmlformats.org/officeDocument/2006/relationships/hyperlink" Target="http://www.facweb.iitkgp.ac.in/~isg/VLSI/SLIDES/Grid-Routing.pdf" TargetMode="External"/><Relationship Id="rId5" Type="http://schemas.openxmlformats.org/officeDocument/2006/relationships/hyperlink" Target="http://www.facweb.iitkgp.ac.in/~isg/VLSI/SLIDES/Grid-Routing.pdf" TargetMode="External"/><Relationship Id="rId6" Type="http://schemas.openxmlformats.org/officeDocument/2006/relationships/hyperlink" Target="https://www.researchgate.net/publication/3224646_Fundamental_CAD_algorithms" TargetMode="External"/><Relationship Id="rId7" Type="http://schemas.openxmlformats.org/officeDocument/2006/relationships/hyperlink" Target="http://users.eecs.northwestern.edu/~haizhou/357/lec6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0" y="1054575"/>
            <a:ext cx="85206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4800"/>
              <a:t>CSE460: VLSI Design</a:t>
            </a:r>
            <a:endParaRPr sz="480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62837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-GB"/>
              <a:t>Lecture 15+16: VLSI Physical Design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-GB"/>
              <a:t>Routing Algorithm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Introduction</a:t>
            </a:r>
            <a:endParaRPr b="1"/>
          </a:p>
        </p:txBody>
      </p:sp>
      <p:pic>
        <p:nvPicPr>
          <p:cNvPr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925" y="1442575"/>
            <a:ext cx="4099376" cy="284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 txBox="1"/>
          <p:nvPr/>
        </p:nvSpPr>
        <p:spPr>
          <a:xfrm>
            <a:off x="412400" y="1154150"/>
            <a:ext cx="41595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Forming physical connection between pins. First, approx. path (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 Routing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then, placing metal line segment (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Detailed Routing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placement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phase, the exact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locations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circuit blocks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pins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determined.</a:t>
            </a:r>
            <a:b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 not occupied by the blocks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used for routing and are called as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routing regions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kinds of approaches to solve global routing problem: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Sequential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Concurrent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Approach.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type="title"/>
          </p:nvPr>
        </p:nvSpPr>
        <p:spPr>
          <a:xfrm>
            <a:off x="635" y="0"/>
            <a:ext cx="9142730" cy="572770"/>
          </a:xfrm>
          <a:prstGeom prst="rect">
            <a:avLst/>
          </a:prstGeom>
          <a:gradFill>
            <a:gsLst>
              <a:gs pos="0">
                <a:srgbClr val="14CD68"/>
              </a:gs>
              <a:gs pos="100000">
                <a:srgbClr val="035C7D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Routing Approaches</a:t>
            </a:r>
            <a:endParaRPr b="1"/>
          </a:p>
        </p:txBody>
      </p:sp>
      <p:sp>
        <p:nvSpPr>
          <p:cNvPr id="68" name="Google Shape;68;p3"/>
          <p:cNvSpPr txBox="1"/>
          <p:nvPr/>
        </p:nvSpPr>
        <p:spPr>
          <a:xfrm>
            <a:off x="1027850" y="855355"/>
            <a:ext cx="6986700" cy="38747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Sequential Approach</a:t>
            </a:r>
            <a:r>
              <a:rPr b="0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this approach, as the name suggests, pins are routed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by one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1" lang="en-GB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Order is important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once a region has been routed it may block other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nets which are yet to be routed.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i.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Maze routing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algorithms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ii. Line-probe algorithms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iii. Shortest path based algorithms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Concurrent Approach:</a:t>
            </a:r>
            <a:r>
              <a:rPr b="0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approach </a:t>
            </a:r>
            <a:r>
              <a:rPr b="1" i="0" lang="en-GB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avoids the ordering problem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considering routing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the nets simultaneously.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Computationally sophisticated as memory requirement is </a:t>
            </a:r>
            <a:r>
              <a:rPr b="1" i="0" lang="en-GB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very high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due to parallel operation.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494030"/>
            <a:ext cx="3168650" cy="37109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4"/>
          <p:cNvSpPr txBox="1"/>
          <p:nvPr/>
        </p:nvSpPr>
        <p:spPr>
          <a:xfrm>
            <a:off x="4643755" y="1684655"/>
            <a:ext cx="3826510" cy="953135"/>
          </a:xfrm>
          <a:prstGeom prst="rect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Here, multiple square cells are occupied by a single gate. Hence, each source or target pin is occupied by a single square cell as shown in the picture.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Lee’s Maze Routing algorithms</a:t>
            </a:r>
            <a:endParaRPr b="1"/>
          </a:p>
        </p:txBody>
      </p:sp>
      <p:sp>
        <p:nvSpPr>
          <p:cNvPr id="80" name="Google Shape;80;p5"/>
          <p:cNvSpPr txBox="1"/>
          <p:nvPr/>
        </p:nvSpPr>
        <p:spPr>
          <a:xfrm>
            <a:off x="444350" y="939075"/>
            <a:ext cx="5127900" cy="4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12700" rtl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layout surface is assumed to be made up of a rectangular array of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grid cells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127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i="1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Grid cell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represents a square cell where </a:t>
            </a:r>
            <a:r>
              <a:rPr b="1" i="1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wire can cross.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127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 is to find out the </a:t>
            </a:r>
            <a:r>
              <a:rPr b="1" i="1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shortest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path (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 of grid cells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for </a:t>
            </a:r>
            <a:r>
              <a:rPr b="0" i="0" lang="en-GB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connecting two points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(Source,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Target,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127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using cells, a wire can either </a:t>
            </a:r>
            <a:r>
              <a:rPr b="1" i="1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cross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1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bend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12700" rtl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12700" rtl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12700" rtl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12700" rtl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of the grid cells act as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obstacles (Black Cells)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44500" lvl="0" marL="12700" marR="12700" rtl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-Blocks that are placed on the surface.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44500" lvl="0" marL="12700" marR="12700" rtl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-Some nets that are already laid out.</a:t>
            </a:r>
            <a:b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7125" y="1705200"/>
            <a:ext cx="2066925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2243467" y="3132549"/>
            <a:ext cx="554400" cy="426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5"/>
          <p:cNvCxnSpPr>
            <a:stCxn id="82" idx="0"/>
            <a:endCxn id="82" idx="2"/>
          </p:cNvCxnSpPr>
          <p:nvPr/>
        </p:nvCxnSpPr>
        <p:spPr>
          <a:xfrm>
            <a:off x="2520667" y="3132549"/>
            <a:ext cx="0" cy="4266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5"/>
          <p:cNvSpPr/>
          <p:nvPr/>
        </p:nvSpPr>
        <p:spPr>
          <a:xfrm>
            <a:off x="3316252" y="3132549"/>
            <a:ext cx="554400" cy="426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5"/>
          <p:cNvCxnSpPr>
            <a:endCxn id="84" idx="2"/>
          </p:cNvCxnSpPr>
          <p:nvPr/>
        </p:nvCxnSpPr>
        <p:spPr>
          <a:xfrm flipH="1">
            <a:off x="3593452" y="3354249"/>
            <a:ext cx="2700" cy="204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5"/>
          <p:cNvCxnSpPr>
            <a:endCxn id="84" idx="3"/>
          </p:cNvCxnSpPr>
          <p:nvPr/>
        </p:nvCxnSpPr>
        <p:spPr>
          <a:xfrm>
            <a:off x="3596152" y="3344049"/>
            <a:ext cx="274500" cy="18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5"/>
          <p:cNvSpPr txBox="1"/>
          <p:nvPr/>
        </p:nvSpPr>
        <p:spPr>
          <a:xfrm>
            <a:off x="2172900" y="3559265"/>
            <a:ext cx="69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2700" rtl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cross</a:t>
            </a:r>
            <a:endParaRPr b="1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3245685" y="3567721"/>
            <a:ext cx="69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2700" rtl="0" algn="just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Bend</a:t>
            </a:r>
            <a:endParaRPr b="1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Lee’s Algorithm : </a:t>
            </a:r>
            <a:r>
              <a:rPr b="1" i="1" lang="en-GB"/>
              <a:t>Expansion</a:t>
            </a:r>
            <a:endParaRPr b="1" i="1"/>
          </a:p>
        </p:txBody>
      </p:sp>
      <p:sp>
        <p:nvSpPr>
          <p:cNvPr id="94" name="Google Shape;94;p6"/>
          <p:cNvSpPr txBox="1"/>
          <p:nvPr>
            <p:ph idx="1" type="body"/>
          </p:nvPr>
        </p:nvSpPr>
        <p:spPr>
          <a:xfrm>
            <a:off x="311700" y="1017725"/>
            <a:ext cx="4767600" cy="3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73000"/>
              <a:buNone/>
            </a:pPr>
            <a:r>
              <a:rPr b="1" lang="en-GB" sz="1400">
                <a:solidFill>
                  <a:schemeClr val="dk1"/>
                </a:solidFill>
              </a:rPr>
              <a:t>Step 1</a:t>
            </a:r>
            <a:r>
              <a:rPr lang="en-GB" sz="1400">
                <a:solidFill>
                  <a:schemeClr val="dk1"/>
                </a:solidFill>
              </a:rPr>
              <a:t>: Wave propagation - 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04165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400">
                <a:solidFill>
                  <a:schemeClr val="dk1"/>
                </a:solidFill>
              </a:rPr>
              <a:t>Iterative process</a:t>
            </a:r>
            <a:endParaRPr sz="1400">
              <a:solidFill>
                <a:schemeClr val="dk1"/>
              </a:solidFill>
            </a:endParaRPr>
          </a:p>
          <a:p>
            <a:pPr indent="-304165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400">
                <a:solidFill>
                  <a:schemeClr val="dk1"/>
                </a:solidFill>
              </a:rPr>
              <a:t>Starts at the most adjacent cell of the Source.</a:t>
            </a:r>
            <a:endParaRPr sz="1400">
              <a:solidFill>
                <a:schemeClr val="dk1"/>
              </a:solidFill>
            </a:endParaRPr>
          </a:p>
          <a:p>
            <a:pPr indent="-304165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400">
                <a:solidFill>
                  <a:schemeClr val="dk1"/>
                </a:solidFill>
              </a:rPr>
              <a:t>Need to find all new cells/grid that are reachable at </a:t>
            </a:r>
            <a:r>
              <a:rPr b="1" i="1" lang="en-GB" sz="1400">
                <a:solidFill>
                  <a:schemeClr val="dk1"/>
                </a:solidFill>
              </a:rPr>
              <a:t>pathlength 1</a:t>
            </a:r>
            <a:r>
              <a:rPr lang="en-GB" sz="1400">
                <a:solidFill>
                  <a:schemeClr val="dk1"/>
                </a:solidFill>
              </a:rPr>
              <a:t>(i.e, all paths that are just 1 unit in total length(just 1 cell)).</a:t>
            </a:r>
            <a:endParaRPr sz="1400">
              <a:solidFill>
                <a:schemeClr val="dk1"/>
              </a:solidFill>
            </a:endParaRPr>
          </a:p>
          <a:p>
            <a:pPr indent="-304165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400">
                <a:solidFill>
                  <a:schemeClr val="dk1"/>
                </a:solidFill>
              </a:rPr>
              <a:t>Using the </a:t>
            </a:r>
            <a:r>
              <a:rPr b="1" i="1" lang="en-GB" sz="1400">
                <a:solidFill>
                  <a:schemeClr val="dk1"/>
                </a:solidFill>
              </a:rPr>
              <a:t>pathlength 1</a:t>
            </a:r>
            <a:r>
              <a:rPr lang="en-GB" sz="1400">
                <a:solidFill>
                  <a:schemeClr val="dk1"/>
                </a:solidFill>
              </a:rPr>
              <a:t> cells, all new cells which are reachable at </a:t>
            </a:r>
            <a:r>
              <a:rPr b="1" i="1" lang="en-GB" sz="1400">
                <a:solidFill>
                  <a:schemeClr val="dk1"/>
                </a:solidFill>
              </a:rPr>
              <a:t>pathlength 2 </a:t>
            </a:r>
            <a:r>
              <a:rPr lang="en-GB" sz="1400">
                <a:solidFill>
                  <a:schemeClr val="dk1"/>
                </a:solidFill>
              </a:rPr>
              <a:t>can be found.</a:t>
            </a:r>
            <a:endParaRPr sz="1400">
              <a:solidFill>
                <a:schemeClr val="dk1"/>
              </a:solidFill>
            </a:endParaRPr>
          </a:p>
          <a:p>
            <a:pPr indent="-304165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400">
                <a:solidFill>
                  <a:schemeClr val="dk1"/>
                </a:solidFill>
              </a:rPr>
              <a:t>Process is repeated until the target, </a:t>
            </a:r>
            <a:r>
              <a:rPr b="1" lang="en-GB" sz="1400">
                <a:solidFill>
                  <a:schemeClr val="dk1"/>
                </a:solidFill>
              </a:rPr>
              <a:t>T</a:t>
            </a:r>
            <a:r>
              <a:rPr lang="en-GB" sz="1400">
                <a:solidFill>
                  <a:schemeClr val="dk1"/>
                </a:solidFill>
              </a:rPr>
              <a:t> is reached.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04165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400">
                <a:solidFill>
                  <a:schemeClr val="dk1"/>
                </a:solidFill>
              </a:rPr>
              <a:t>During i</a:t>
            </a:r>
            <a:r>
              <a:rPr baseline="30000" lang="en-GB" sz="1400">
                <a:solidFill>
                  <a:schemeClr val="dk1"/>
                </a:solidFill>
              </a:rPr>
              <a:t>th</a:t>
            </a:r>
            <a:r>
              <a:rPr lang="en-GB" sz="1400">
                <a:solidFill>
                  <a:schemeClr val="dk1"/>
                </a:solidFill>
              </a:rPr>
              <a:t> iteration, </a:t>
            </a:r>
            <a:r>
              <a:rPr lang="en-GB" sz="1400" u="sng">
                <a:solidFill>
                  <a:schemeClr val="dk1"/>
                </a:solidFill>
              </a:rPr>
              <a:t>non‐blocking grid cells</a:t>
            </a:r>
            <a:r>
              <a:rPr lang="en-GB" sz="1400">
                <a:solidFill>
                  <a:schemeClr val="dk1"/>
                </a:solidFill>
              </a:rPr>
              <a:t> at </a:t>
            </a:r>
            <a:r>
              <a:rPr lang="en-GB" sz="1400">
                <a:solidFill>
                  <a:srgbClr val="FF9900"/>
                </a:solidFill>
              </a:rPr>
              <a:t>Manhattan distance</a:t>
            </a:r>
            <a:r>
              <a:rPr lang="en-GB" sz="1400">
                <a:solidFill>
                  <a:schemeClr val="dk1"/>
                </a:solidFill>
              </a:rPr>
              <a:t> of i from grid cell </a:t>
            </a:r>
            <a:r>
              <a:rPr b="1" lang="en-GB" sz="1400">
                <a:solidFill>
                  <a:schemeClr val="dk1"/>
                </a:solidFill>
              </a:rPr>
              <a:t>S</a:t>
            </a:r>
            <a:r>
              <a:rPr lang="en-GB" sz="1400">
                <a:solidFill>
                  <a:schemeClr val="dk1"/>
                </a:solidFill>
              </a:rPr>
              <a:t> are all </a:t>
            </a:r>
            <a:r>
              <a:rPr lang="en-GB" sz="1400" u="sng">
                <a:solidFill>
                  <a:schemeClr val="dk1"/>
                </a:solidFill>
              </a:rPr>
              <a:t>labeled with</a:t>
            </a:r>
            <a:r>
              <a:rPr lang="en-GB" sz="1400">
                <a:solidFill>
                  <a:schemeClr val="dk1"/>
                </a:solidFill>
              </a:rPr>
              <a:t> </a:t>
            </a:r>
            <a:r>
              <a:rPr b="1" lang="en-GB" sz="1400">
                <a:solidFill>
                  <a:schemeClr val="dk1"/>
                </a:solidFill>
              </a:rPr>
              <a:t>i</a:t>
            </a:r>
            <a:endParaRPr b="1" sz="1400">
              <a:solidFill>
                <a:schemeClr val="dk1"/>
              </a:solidFill>
            </a:endParaRPr>
          </a:p>
        </p:txBody>
      </p:sp>
      <p:pic>
        <p:nvPicPr>
          <p:cNvPr id="95" name="Google Shape;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0125" y="647500"/>
            <a:ext cx="2417450" cy="25133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 txBox="1"/>
          <p:nvPr/>
        </p:nvSpPr>
        <p:spPr>
          <a:xfrm>
            <a:off x="1062175" y="4234450"/>
            <a:ext cx="3000000" cy="798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Manhattan distance is the number of strides (horizontal and/or vertical) required to reach a cell.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682450" y="4030500"/>
            <a:ext cx="726600" cy="25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/>
          <p:nvPr/>
        </p:nvSpPr>
        <p:spPr>
          <a:xfrm rot="5400000">
            <a:off x="5668500" y="4037525"/>
            <a:ext cx="761100" cy="25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779175" y="4073225"/>
            <a:ext cx="1192800" cy="25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1  S   1 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/>
          <p:nvPr/>
        </p:nvSpPr>
        <p:spPr>
          <a:xfrm rot="5400000">
            <a:off x="6749050" y="4048375"/>
            <a:ext cx="1227000" cy="27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991675" y="3824850"/>
            <a:ext cx="726600" cy="720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7214425" y="3783725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7212475" y="4234450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7214425" y="3550175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6991675" y="3783725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7437175" y="3783725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7214425" y="4486450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6991675" y="4234450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7479775" y="4234450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6175800" y="3989100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5908500" y="3735600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5908500" y="4284000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5630425" y="3989100"/>
            <a:ext cx="28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6"/>
          <p:cNvCxnSpPr>
            <a:endCxn id="110" idx="2"/>
          </p:cNvCxnSpPr>
          <p:nvPr/>
        </p:nvCxnSpPr>
        <p:spPr>
          <a:xfrm rot="10800000">
            <a:off x="6316350" y="4284000"/>
            <a:ext cx="150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" name="Google Shape;115;p6"/>
          <p:cNvSpPr txBox="1"/>
          <p:nvPr/>
        </p:nvSpPr>
        <p:spPr>
          <a:xfrm>
            <a:off x="5682450" y="4677900"/>
            <a:ext cx="10968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adjacent cell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/>
              <a:buNone/>
            </a:pPr>
            <a:r>
              <a:rPr b="1" lang="en-GB"/>
              <a:t>Lee’s Algorithm</a:t>
            </a:r>
            <a:endParaRPr b="1"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311700" y="1260150"/>
            <a:ext cx="4047300" cy="1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400">
                <a:solidFill>
                  <a:schemeClr val="dk1"/>
                </a:solidFill>
              </a:rPr>
              <a:t>Step 1</a:t>
            </a:r>
            <a:r>
              <a:rPr lang="en-GB" sz="1400">
                <a:solidFill>
                  <a:schemeClr val="dk1"/>
                </a:solidFill>
              </a:rPr>
              <a:t>: Wave propagation (contd)-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 u="sng">
                <a:solidFill>
                  <a:schemeClr val="dk1"/>
                </a:solidFill>
              </a:rPr>
              <a:t>Labeling</a:t>
            </a:r>
            <a:r>
              <a:rPr lang="en-GB" sz="1400">
                <a:solidFill>
                  <a:schemeClr val="dk1"/>
                </a:solidFill>
                <a:highlight>
                  <a:srgbClr val="FFFF00"/>
                </a:highlight>
              </a:rPr>
              <a:t> continues until </a:t>
            </a:r>
            <a:r>
              <a:rPr lang="en-GB" sz="1400">
                <a:solidFill>
                  <a:schemeClr val="dk1"/>
                </a:solidFill>
              </a:rPr>
              <a:t>the target grid cell </a:t>
            </a:r>
            <a:r>
              <a:rPr b="1" lang="en-GB" sz="1400">
                <a:solidFill>
                  <a:schemeClr val="dk1"/>
                </a:solidFill>
              </a:rPr>
              <a:t>T</a:t>
            </a:r>
            <a:r>
              <a:rPr lang="en-GB" sz="1400">
                <a:solidFill>
                  <a:schemeClr val="dk1"/>
                </a:solidFill>
              </a:rPr>
              <a:t> is marked in iteration L (i.e. when i=L0).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L0 is the length of the shortest path.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311700" y="2821625"/>
            <a:ext cx="4844700" cy="1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The process fails if:</a:t>
            </a:r>
            <a:endParaRPr b="0" i="0" sz="14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699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 T is 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reached and 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no new grid cells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be labeled during  step i.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699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 T is not reached and i equals M, some upper bound on the path length.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8525" y="1017725"/>
            <a:ext cx="2261200" cy="165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 txBox="1"/>
          <p:nvPr/>
        </p:nvSpPr>
        <p:spPr>
          <a:xfrm>
            <a:off x="5246425" y="1702975"/>
            <a:ext cx="5400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1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8525" y="3062950"/>
            <a:ext cx="2333925" cy="165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 txBox="1"/>
          <p:nvPr/>
        </p:nvSpPr>
        <p:spPr>
          <a:xfrm>
            <a:off x="5246425" y="3691300"/>
            <a:ext cx="5400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7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814125" y="2713838"/>
            <a:ext cx="450000" cy="309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528235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/>
              <a:buNone/>
            </a:pPr>
            <a:r>
              <a:rPr b="1" lang="en-GB"/>
              <a:t>Lee’s Algorithm</a:t>
            </a:r>
            <a:endParaRPr b="1"/>
          </a:p>
        </p:txBody>
      </p:sp>
      <p:sp>
        <p:nvSpPr>
          <p:cNvPr id="133" name="Google Shape;133;p8"/>
          <p:cNvSpPr txBox="1"/>
          <p:nvPr>
            <p:ph idx="1" type="body"/>
          </p:nvPr>
        </p:nvSpPr>
        <p:spPr>
          <a:xfrm>
            <a:off x="311700" y="1221575"/>
            <a:ext cx="4973400" cy="20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400">
                <a:solidFill>
                  <a:schemeClr val="dk1"/>
                </a:solidFill>
              </a:rPr>
              <a:t>Step 2</a:t>
            </a:r>
            <a:r>
              <a:rPr lang="en-GB" sz="1400">
                <a:solidFill>
                  <a:schemeClr val="dk1"/>
                </a:solidFill>
              </a:rPr>
              <a:t>: Retrace-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Systematically</a:t>
            </a:r>
            <a:r>
              <a:rPr b="1" lang="en-GB" sz="1400">
                <a:solidFill>
                  <a:srgbClr val="FF0000"/>
                </a:solidFill>
              </a:rPr>
              <a:t> </a:t>
            </a:r>
            <a:r>
              <a:rPr b="1" lang="en-GB" sz="1400" u="sng">
                <a:solidFill>
                  <a:srgbClr val="FF0000"/>
                </a:solidFill>
              </a:rPr>
              <a:t>backtrack</a:t>
            </a:r>
            <a:r>
              <a:rPr lang="en-GB" sz="1400">
                <a:solidFill>
                  <a:schemeClr val="dk1"/>
                </a:solidFill>
              </a:rPr>
              <a:t> from the target cell </a:t>
            </a:r>
            <a:r>
              <a:rPr b="1" lang="en-GB" sz="1400">
                <a:solidFill>
                  <a:schemeClr val="dk1"/>
                </a:solidFill>
              </a:rPr>
              <a:t>T</a:t>
            </a:r>
            <a:r>
              <a:rPr lang="en-GB" sz="1400">
                <a:solidFill>
                  <a:schemeClr val="dk1"/>
                </a:solidFill>
              </a:rPr>
              <a:t> back towards the source cell </a:t>
            </a:r>
            <a:r>
              <a:rPr b="1" lang="en-GB" sz="1400">
                <a:solidFill>
                  <a:schemeClr val="dk1"/>
                </a:solidFill>
              </a:rPr>
              <a:t>S</a:t>
            </a:r>
            <a:r>
              <a:rPr lang="en-GB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If T was reached during step i, then at least one grid cell adjacent to it will be labeled i‐1, and so on.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By tracing the numbered cells in descending order, we can reach S following the shortest path.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391710" y="3469430"/>
            <a:ext cx="4629300" cy="1171575"/>
          </a:xfrm>
          <a:prstGeom prst="rect">
            <a:avLst/>
          </a:prstGeom>
          <a:gradFill>
            <a:gsLst>
              <a:gs pos="0">
                <a:srgbClr val="14CD68"/>
              </a:gs>
              <a:gs pos="100000">
                <a:srgbClr val="035C7D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practice, the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of thumb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1400" u="sng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not to change the direction of retrace unless one has to do so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Minimizes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number of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bends to reduce system complexity.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6100" y="1684725"/>
            <a:ext cx="2650675" cy="183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 txBox="1"/>
          <p:nvPr/>
        </p:nvSpPr>
        <p:spPr>
          <a:xfrm>
            <a:off x="3746500" y="122555"/>
            <a:ext cx="2893695" cy="737235"/>
          </a:xfrm>
          <a:prstGeom prst="rect">
            <a:avLst/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direction change means going to the 4 in the right from 5 instead of 4 in it’s below position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8"/>
          <p:cNvCxnSpPr/>
          <p:nvPr/>
        </p:nvCxnSpPr>
        <p:spPr>
          <a:xfrm rot="10800000">
            <a:off x="5871210" y="897255"/>
            <a:ext cx="415290" cy="2212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Lee’s Algorithm</a:t>
            </a:r>
            <a:endParaRPr b="1"/>
          </a:p>
        </p:txBody>
      </p:sp>
      <p:sp>
        <p:nvSpPr>
          <p:cNvPr id="143" name="Google Shape;143;p9"/>
          <p:cNvSpPr txBox="1"/>
          <p:nvPr>
            <p:ph idx="1" type="body"/>
          </p:nvPr>
        </p:nvSpPr>
        <p:spPr>
          <a:xfrm>
            <a:off x="311700" y="1285950"/>
            <a:ext cx="4973400" cy="25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400">
                <a:solidFill>
                  <a:schemeClr val="dk1"/>
                </a:solidFill>
              </a:rPr>
              <a:t>Step 3</a:t>
            </a:r>
            <a:r>
              <a:rPr lang="en-GB" sz="1400">
                <a:solidFill>
                  <a:schemeClr val="dk1"/>
                </a:solidFill>
              </a:rPr>
              <a:t>: Label clearance-</a:t>
            </a:r>
            <a:endParaRPr sz="14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3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400">
                <a:solidFill>
                  <a:schemeClr val="dk1"/>
                </a:solidFill>
              </a:rPr>
              <a:t>All labeled cells except those corresponding to the path just found are </a:t>
            </a:r>
            <a:r>
              <a:rPr b="1" lang="en-GB" sz="1400">
                <a:solidFill>
                  <a:schemeClr val="dk1"/>
                </a:solidFill>
              </a:rPr>
              <a:t>cleared</a:t>
            </a:r>
            <a:r>
              <a:rPr lang="en-GB" sz="1400">
                <a:solidFill>
                  <a:schemeClr val="dk1"/>
                </a:solidFill>
              </a:rPr>
              <a:t>.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400">
                <a:solidFill>
                  <a:schemeClr val="dk1"/>
                </a:solidFill>
              </a:rPr>
              <a:t>Cells along the path are marked as </a:t>
            </a:r>
            <a:r>
              <a:rPr b="1" lang="en-GB" sz="1400">
                <a:solidFill>
                  <a:schemeClr val="dk1"/>
                </a:solidFill>
                <a:highlight>
                  <a:srgbClr val="FFFF00"/>
                </a:highlight>
              </a:rPr>
              <a:t>obstacles</a:t>
            </a:r>
            <a:r>
              <a:rPr lang="en-GB" sz="1400">
                <a:solidFill>
                  <a:schemeClr val="dk1"/>
                </a:solidFill>
              </a:rPr>
              <a:t>.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400">
                <a:solidFill>
                  <a:schemeClr val="dk1"/>
                </a:solidFill>
              </a:rPr>
              <a:t>Search complexity is as involved as the wave propagation step itself.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44" name="Google Shape;1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7500" y="1469525"/>
            <a:ext cx="2972125" cy="220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Example 1</a:t>
            </a:r>
            <a:endParaRPr/>
          </a:p>
        </p:txBody>
      </p:sp>
      <p:pic>
        <p:nvPicPr>
          <p:cNvPr id="150" name="Google Shape;15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6050" y="1568725"/>
            <a:ext cx="37719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0"/>
          <p:cNvSpPr txBox="1"/>
          <p:nvPr/>
        </p:nvSpPr>
        <p:spPr>
          <a:xfrm>
            <a:off x="311700" y="1093125"/>
            <a:ext cx="37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 routing problem: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Example 1</a:t>
            </a:r>
            <a:endParaRPr/>
          </a:p>
        </p:txBody>
      </p:sp>
      <p:sp>
        <p:nvSpPr>
          <p:cNvPr id="157" name="Google Shape;157;p11"/>
          <p:cNvSpPr txBox="1"/>
          <p:nvPr/>
        </p:nvSpPr>
        <p:spPr>
          <a:xfrm>
            <a:off x="311700" y="1093125"/>
            <a:ext cx="37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Wave propagation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1"/>
          <p:cNvSpPr txBox="1"/>
          <p:nvPr/>
        </p:nvSpPr>
        <p:spPr>
          <a:xfrm>
            <a:off x="1543050" y="2535250"/>
            <a:ext cx="57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1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6050" y="1568725"/>
            <a:ext cx="3771900" cy="2348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Example 1</a:t>
            </a:r>
            <a:endParaRPr/>
          </a:p>
        </p:txBody>
      </p:sp>
      <p:sp>
        <p:nvSpPr>
          <p:cNvPr id="165" name="Google Shape;165;p12"/>
          <p:cNvSpPr txBox="1"/>
          <p:nvPr/>
        </p:nvSpPr>
        <p:spPr>
          <a:xfrm>
            <a:off x="311700" y="1093125"/>
            <a:ext cx="37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Wave propagation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0813" y="1568725"/>
            <a:ext cx="3762375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2"/>
          <p:cNvSpPr txBox="1"/>
          <p:nvPr/>
        </p:nvSpPr>
        <p:spPr>
          <a:xfrm>
            <a:off x="1568775" y="2542075"/>
            <a:ext cx="57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2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2"/>
          <p:cNvSpPr txBox="1"/>
          <p:nvPr/>
        </p:nvSpPr>
        <p:spPr>
          <a:xfrm>
            <a:off x="1851025" y="4253230"/>
            <a:ext cx="3920490" cy="521970"/>
          </a:xfrm>
          <a:prstGeom prst="rect">
            <a:avLst/>
          </a:prstGeom>
          <a:gradFill>
            <a:gsLst>
              <a:gs pos="0">
                <a:srgbClr val="FECF40"/>
              </a:gs>
              <a:gs pos="100000">
                <a:srgbClr val="846C2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 proceed one manhattan distance horizontally/vertically from cells labelled as ‘1’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Example 1</a:t>
            </a:r>
            <a:endParaRPr/>
          </a:p>
        </p:txBody>
      </p:sp>
      <p:sp>
        <p:nvSpPr>
          <p:cNvPr id="174" name="Google Shape;174;p13"/>
          <p:cNvSpPr txBox="1"/>
          <p:nvPr/>
        </p:nvSpPr>
        <p:spPr>
          <a:xfrm>
            <a:off x="311700" y="1093125"/>
            <a:ext cx="37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Wave propagation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3"/>
          <p:cNvSpPr txBox="1"/>
          <p:nvPr/>
        </p:nvSpPr>
        <p:spPr>
          <a:xfrm>
            <a:off x="1568775" y="2542075"/>
            <a:ext cx="57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3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6050" y="1583013"/>
            <a:ext cx="3771900" cy="23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Example 1</a:t>
            </a: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311700" y="1093125"/>
            <a:ext cx="37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Wave propagation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4"/>
          <p:cNvSpPr txBox="1"/>
          <p:nvPr/>
        </p:nvSpPr>
        <p:spPr>
          <a:xfrm>
            <a:off x="1908300" y="4252300"/>
            <a:ext cx="57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4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350" y="1632875"/>
            <a:ext cx="3790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632875"/>
            <a:ext cx="377190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4"/>
          <p:cNvSpPr txBox="1"/>
          <p:nvPr/>
        </p:nvSpPr>
        <p:spPr>
          <a:xfrm>
            <a:off x="6168600" y="4252300"/>
            <a:ext cx="57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5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Example 1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311700" y="1093125"/>
            <a:ext cx="37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1: Wave propagation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1972613" y="4252300"/>
            <a:ext cx="57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6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6168600" y="4252300"/>
            <a:ext cx="57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7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388" y="1632175"/>
            <a:ext cx="3781425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1988" y="1632175"/>
            <a:ext cx="3771900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Example 1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414575" y="1131625"/>
            <a:ext cx="37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2: Backtrace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4576763" y="1134013"/>
            <a:ext cx="37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3: Clear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050" y="1645725"/>
            <a:ext cx="3790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650513"/>
            <a:ext cx="3781425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/>
              <a:buNone/>
            </a:pPr>
            <a:r>
              <a:rPr lang="en-GB"/>
              <a:t>Example 1</a:t>
            </a:r>
            <a:endParaRPr/>
          </a:p>
        </p:txBody>
      </p:sp>
      <p:sp>
        <p:nvSpPr>
          <p:cNvPr id="211" name="Google Shape;211;p17"/>
          <p:cNvSpPr txBox="1"/>
          <p:nvPr>
            <p:ph idx="1" type="body"/>
          </p:nvPr>
        </p:nvSpPr>
        <p:spPr>
          <a:xfrm>
            <a:off x="311700" y="1165350"/>
            <a:ext cx="25944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GB" sz="1600">
                <a:solidFill>
                  <a:schemeClr val="dk1"/>
                </a:solidFill>
              </a:rPr>
              <a:t>Final output (Mark):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12" name="Google Shape;2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225" y="1819375"/>
            <a:ext cx="37719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7"/>
          <p:cNvSpPr txBox="1"/>
          <p:nvPr/>
        </p:nvSpPr>
        <p:spPr>
          <a:xfrm>
            <a:off x="5341620" y="1165225"/>
            <a:ext cx="3670935" cy="3215005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Marked region is now </a:t>
            </a:r>
            <a:r>
              <a:rPr b="0" i="0" lang="en-GB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blocked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wave cannot propagate through this merged region </a:t>
            </a:r>
            <a:r>
              <a:rPr b="0" i="0" lang="en-GB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unless the same S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has another target 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GB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source has another target T, then </a:t>
            </a:r>
            <a:r>
              <a:rPr b="0" i="0" lang="en-GB" sz="1800" u="sng" cap="none" strike="noStrike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whole marked (</a:t>
            </a:r>
            <a:r>
              <a:rPr b="0" i="0" lang="en-GB" sz="1800" u="sng" cap="none" strike="noStrike">
                <a:solidFill>
                  <a:schemeClr val="accent1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blue</a:t>
            </a:r>
            <a:r>
              <a:rPr b="0" i="0" lang="en-GB" sz="1800" u="sng" cap="none" strike="noStrike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) region will be considered as Source, S</a:t>
            </a:r>
            <a:r>
              <a:rPr b="0" i="0" lang="en-GB" sz="18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we will explore in </a:t>
            </a:r>
            <a:r>
              <a:rPr b="0" i="0" lang="en-GB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Example 2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"/>
          <p:cNvSpPr txBox="1"/>
          <p:nvPr>
            <p:ph type="title"/>
          </p:nvPr>
        </p:nvSpPr>
        <p:spPr>
          <a:xfrm>
            <a:off x="311700" y="58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Multi-Terminal Nets </a:t>
            </a:r>
            <a:endParaRPr/>
          </a:p>
        </p:txBody>
      </p:sp>
      <p:sp>
        <p:nvSpPr>
          <p:cNvPr id="219" name="Google Shape;219;p18"/>
          <p:cNvSpPr txBox="1"/>
          <p:nvPr>
            <p:ph idx="1" type="body"/>
          </p:nvPr>
        </p:nvSpPr>
        <p:spPr>
          <a:xfrm>
            <a:off x="495000" y="491550"/>
            <a:ext cx="85206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❏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Propagate wave from the source s to the closet target.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❏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of the terminals (</a:t>
            </a:r>
            <a:r>
              <a:rPr b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out of 5) of the net is treated as source, and the rest as targets.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❏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wave is propagated from the source until one of the targets is reached.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❏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</a:t>
            </a:r>
            <a:r>
              <a:rPr lang="en-GB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the cells in the marked  path are next labeled as source cells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,(t</a:t>
            </a:r>
            <a:r>
              <a:rPr lang="en-GB" sz="13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otal path from A-B is considered as 1 source)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the remaining unconnected terminals as targets.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❏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Propagate wave from ALL s cells to the other cells.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❏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Continue until all cells are reached.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❏"/>
            </a:pP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5: Apply heuristics to further reduce the tree cost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0" name="Google Shape;2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938" y="2502050"/>
            <a:ext cx="7087380" cy="195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/>
          <p:nvPr/>
        </p:nvSpPr>
        <p:spPr>
          <a:xfrm>
            <a:off x="210900" y="4456675"/>
            <a:ext cx="880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(a) A as source; B-E as targets  (b) A-B as source; C-E as Targets. (c) all paths from source to target were found (d) </a:t>
            </a: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optimized path from A-B (</a:t>
            </a:r>
            <a:r>
              <a:rPr b="0" i="1" lang="en-GB" sz="14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low bend</a:t>
            </a: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highlight>
                <a:srgbClr val="00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" y="621030"/>
            <a:ext cx="8549640" cy="390144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9"/>
          <p:cNvSpPr txBox="1"/>
          <p:nvPr/>
        </p:nvSpPr>
        <p:spPr>
          <a:xfrm>
            <a:off x="2465070" y="490855"/>
            <a:ext cx="2568575" cy="52197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 same S must be connected to T1 and T2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Example 2</a:t>
            </a:r>
            <a:endParaRPr/>
          </a:p>
        </p:txBody>
      </p:sp>
      <p:sp>
        <p:nvSpPr>
          <p:cNvPr id="233" name="Google Shape;233;p20"/>
          <p:cNvSpPr txBox="1"/>
          <p:nvPr>
            <p:ph idx="1" type="body"/>
          </p:nvPr>
        </p:nvSpPr>
        <p:spPr>
          <a:xfrm>
            <a:off x="311700" y="1165350"/>
            <a:ext cx="25944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GB" sz="1600">
                <a:solidFill>
                  <a:schemeClr val="dk1"/>
                </a:solidFill>
              </a:rPr>
              <a:t>Step 1 to 3: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34" name="Google Shape;2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575" y="1747000"/>
            <a:ext cx="3762375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>
            <p:ph idx="1" type="body"/>
          </p:nvPr>
        </p:nvSpPr>
        <p:spPr>
          <a:xfrm>
            <a:off x="4645825" y="1165350"/>
            <a:ext cx="25944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GB" sz="1600">
                <a:solidFill>
                  <a:schemeClr val="dk1"/>
                </a:solidFill>
              </a:rPr>
              <a:t>Step 1 to 3 (Again):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36" name="Google Shape;23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5825" y="1751763"/>
            <a:ext cx="377190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6300" y="1747013"/>
            <a:ext cx="3790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5825" y="1747000"/>
            <a:ext cx="377190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311688" y="4490750"/>
            <a:ext cx="82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Ref. [</a:t>
            </a:r>
            <a:r>
              <a:rPr b="0" i="0" lang="en-GB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1771015" y="4321810"/>
            <a:ext cx="1757680" cy="737235"/>
          </a:xfrm>
          <a:prstGeom prst="rect">
            <a:avLst/>
          </a:prstGeom>
          <a:gradFill>
            <a:gsLst>
              <a:gs pos="0">
                <a:srgbClr val="14CD68"/>
              </a:gs>
              <a:gs pos="100000">
                <a:srgbClr val="035C7D"/>
              </a:gs>
            </a:gsLst>
            <a:lin ang="0" scaled="0"/>
          </a:gradFill>
          <a:ln cap="flat" cmpd="sng" w="9525">
            <a:solidFill>
              <a:srgbClr val="14C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whole metal bar now acts as the 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" name="Google Shape;241;p20"/>
          <p:cNvCxnSpPr>
            <a:endCxn id="240" idx="0"/>
          </p:cNvCxnSpPr>
          <p:nvPr/>
        </p:nvCxnSpPr>
        <p:spPr>
          <a:xfrm>
            <a:off x="2236455" y="3943210"/>
            <a:ext cx="413400" cy="3786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 txBox="1"/>
          <p:nvPr>
            <p:ph type="title"/>
          </p:nvPr>
        </p:nvSpPr>
        <p:spPr>
          <a:xfrm>
            <a:off x="389050" y="457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Example 2: Extension of Lee’s algorithm[Multi point nets/ Target]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7" name="Google Shape;24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325" y="1494938"/>
            <a:ext cx="3771900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5831375" y="1891375"/>
            <a:ext cx="2462100" cy="16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8525" y="1490188"/>
            <a:ext cx="3762375" cy="2362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21"/>
          <p:cNvCxnSpPr/>
          <p:nvPr/>
        </p:nvCxnSpPr>
        <p:spPr>
          <a:xfrm>
            <a:off x="5638975" y="3580075"/>
            <a:ext cx="1727400" cy="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1" name="Google Shape;251;p21"/>
          <p:cNvSpPr txBox="1"/>
          <p:nvPr/>
        </p:nvSpPr>
        <p:spPr>
          <a:xfrm>
            <a:off x="5135249" y="4121525"/>
            <a:ext cx="34161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     Finding Path-1; From S to T2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1196575" y="41341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     Initial state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>
            <p:ph type="title"/>
          </p:nvPr>
        </p:nvSpPr>
        <p:spPr>
          <a:xfrm>
            <a:off x="1757825" y="432150"/>
            <a:ext cx="666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Example 2 : [Multi point nets/ Target]</a:t>
            </a:r>
            <a:endParaRPr/>
          </a:p>
        </p:txBody>
      </p:sp>
      <p:pic>
        <p:nvPicPr>
          <p:cNvPr id="258" name="Google Shape;25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575" y="1747000"/>
            <a:ext cx="376237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5825" y="1751763"/>
            <a:ext cx="377190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6300" y="1747013"/>
            <a:ext cx="3790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5825" y="1747000"/>
            <a:ext cx="3771900" cy="2362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2" name="Google Shape;262;p22"/>
          <p:cNvCxnSpPr/>
          <p:nvPr/>
        </p:nvCxnSpPr>
        <p:spPr>
          <a:xfrm>
            <a:off x="5353075" y="3863675"/>
            <a:ext cx="1727400" cy="12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" name="Google Shape;263;p22"/>
          <p:cNvCxnSpPr/>
          <p:nvPr/>
        </p:nvCxnSpPr>
        <p:spPr>
          <a:xfrm>
            <a:off x="5418850" y="2535925"/>
            <a:ext cx="12900" cy="7734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4" name="Google Shape;264;p22"/>
          <p:cNvSpPr txBox="1"/>
          <p:nvPr/>
        </p:nvSpPr>
        <p:spPr>
          <a:xfrm>
            <a:off x="5011149" y="4286825"/>
            <a:ext cx="34161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     Finding Path-2; From </a:t>
            </a:r>
            <a:r>
              <a:rPr b="1" i="1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755849" y="4286825"/>
            <a:ext cx="34161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     S-T2 path as a source, </a:t>
            </a:r>
            <a:r>
              <a:rPr b="1" i="1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T1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 txBox="1"/>
          <p:nvPr>
            <p:ph type="title"/>
          </p:nvPr>
        </p:nvSpPr>
        <p:spPr>
          <a:xfrm>
            <a:off x="311700" y="9768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Example 3: CW/HW</a:t>
            </a:r>
            <a:endParaRPr/>
          </a:p>
        </p:txBody>
      </p:sp>
      <p:pic>
        <p:nvPicPr>
          <p:cNvPr id="271" name="Google Shape;27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645" y="822025"/>
            <a:ext cx="32766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350545" y="4091815"/>
            <a:ext cx="40203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the shortest path for each Target.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Calculate the memory usage.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0350" y="822025"/>
            <a:ext cx="32766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 txBox="1"/>
          <p:nvPr>
            <p:ph type="title"/>
          </p:nvPr>
        </p:nvSpPr>
        <p:spPr>
          <a:xfrm>
            <a:off x="311700" y="9768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Example 3: CW/HW</a:t>
            </a:r>
            <a:endParaRPr/>
          </a:p>
        </p:txBody>
      </p:sp>
      <p:pic>
        <p:nvPicPr>
          <p:cNvPr id="279" name="Google Shape;2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035" y="670260"/>
            <a:ext cx="32766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 txBox="1"/>
          <p:nvPr/>
        </p:nvSpPr>
        <p:spPr>
          <a:xfrm>
            <a:off x="1440180" y="3997960"/>
            <a:ext cx="6263640" cy="73723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we take the green colored path, we would need to fill additional 3 grids with metal to reach the second target instead of 2 grids while taking the blue path as shown in the next slide. Hence, it’s not the optimum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5910" y="670260"/>
            <a:ext cx="32766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360" y="627715"/>
            <a:ext cx="32766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7040" y="627715"/>
            <a:ext cx="32766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"/>
          <p:cNvSpPr txBox="1"/>
          <p:nvPr>
            <p:ph type="title"/>
          </p:nvPr>
        </p:nvSpPr>
        <p:spPr>
          <a:xfrm>
            <a:off x="311700" y="11927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Memory Requirement</a:t>
            </a:r>
            <a:endParaRPr b="1"/>
          </a:p>
        </p:txBody>
      </p:sp>
      <p:sp>
        <p:nvSpPr>
          <p:cNvPr id="293" name="Google Shape;293;p26"/>
          <p:cNvSpPr txBox="1"/>
          <p:nvPr>
            <p:ph idx="1" type="body"/>
          </p:nvPr>
        </p:nvSpPr>
        <p:spPr>
          <a:xfrm>
            <a:off x="196215" y="1017905"/>
            <a:ext cx="4314825" cy="38633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Each cell needs to store a number between 1 and L, where L is some bound on the </a:t>
            </a:r>
            <a:r>
              <a:rPr lang="en-GB" sz="1500">
                <a:solidFill>
                  <a:srgbClr val="FF0000"/>
                </a:solidFill>
              </a:rPr>
              <a:t>maximum path length</a:t>
            </a:r>
            <a:r>
              <a:rPr lang="en-GB" sz="1500">
                <a:solidFill>
                  <a:schemeClr val="dk1"/>
                </a:solidFill>
              </a:rPr>
              <a:t>.</a:t>
            </a:r>
            <a:br>
              <a:rPr lang="en-GB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For </a:t>
            </a:r>
            <a:r>
              <a:rPr b="1" i="1" lang="en-GB" sz="1500">
                <a:solidFill>
                  <a:schemeClr val="dk1"/>
                </a:solidFill>
              </a:rPr>
              <a:t>M x N</a:t>
            </a:r>
            <a:r>
              <a:rPr lang="en-GB" sz="1500">
                <a:solidFill>
                  <a:schemeClr val="dk1"/>
                </a:solidFill>
              </a:rPr>
              <a:t> grid,</a:t>
            </a:r>
            <a:r>
              <a:rPr lang="en-GB" sz="1500">
                <a:solidFill>
                  <a:schemeClr val="dk1"/>
                </a:solidFill>
                <a:highlight>
                  <a:srgbClr val="00FF00"/>
                </a:highlight>
              </a:rPr>
              <a:t> </a:t>
            </a:r>
            <a:r>
              <a:rPr b="1" i="1" lang="en-GB" sz="1500">
                <a:solidFill>
                  <a:schemeClr val="dk1"/>
                </a:solidFill>
                <a:highlight>
                  <a:srgbClr val="00FF00"/>
                </a:highlight>
              </a:rPr>
              <a:t>L </a:t>
            </a:r>
            <a:r>
              <a:rPr lang="en-GB" sz="1500">
                <a:solidFill>
                  <a:schemeClr val="dk1"/>
                </a:solidFill>
                <a:highlight>
                  <a:srgbClr val="00FF00"/>
                </a:highlight>
              </a:rPr>
              <a:t>can be at most </a:t>
            </a:r>
            <a:r>
              <a:rPr b="1" i="1" lang="en-GB" sz="1500">
                <a:solidFill>
                  <a:schemeClr val="dk1"/>
                </a:solidFill>
                <a:highlight>
                  <a:srgbClr val="00FF00"/>
                </a:highlight>
              </a:rPr>
              <a:t>M+N‐1</a:t>
            </a:r>
            <a:r>
              <a:rPr lang="en-GB" sz="1500">
                <a:solidFill>
                  <a:schemeClr val="dk1"/>
                </a:solidFill>
              </a:rPr>
              <a:t>.</a:t>
            </a:r>
            <a:br>
              <a:rPr lang="en-GB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</a:rPr>
              <a:t>Two things</a:t>
            </a:r>
            <a:r>
              <a:rPr lang="en-GB" sz="1500">
                <a:solidFill>
                  <a:schemeClr val="dk1"/>
                </a:solidFill>
              </a:rPr>
              <a:t> yet to be denoted: </a:t>
            </a:r>
            <a:br>
              <a:rPr lang="en-GB" sz="1500">
                <a:solidFill>
                  <a:schemeClr val="dk1"/>
                </a:solidFill>
              </a:rPr>
            </a:br>
            <a:r>
              <a:rPr lang="en-GB" sz="1500">
                <a:solidFill>
                  <a:schemeClr val="dk1"/>
                </a:solidFill>
                <a:highlight>
                  <a:srgbClr val="00FF00"/>
                </a:highlight>
              </a:rPr>
              <a:t>empty cell/obstacle</a:t>
            </a:r>
            <a:r>
              <a:rPr lang="en-GB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228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228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285750" lvl="0" marL="28575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sz="1500">
                <a:solidFill>
                  <a:schemeClr val="dk1"/>
                </a:solidFill>
              </a:rPr>
              <a:t>So,</a:t>
            </a:r>
            <a:r>
              <a:rPr b="1" i="1" lang="en-GB" sz="1500">
                <a:solidFill>
                  <a:schemeClr val="dk1"/>
                </a:solidFill>
              </a:rPr>
              <a:t> </a:t>
            </a:r>
            <a:r>
              <a:rPr b="1" i="1" lang="en-GB" sz="1500">
                <a:solidFill>
                  <a:schemeClr val="dk1"/>
                </a:solidFill>
                <a:highlight>
                  <a:srgbClr val="FFFF00"/>
                </a:highlight>
              </a:rPr>
              <a:t>n = ceil(log</a:t>
            </a:r>
            <a:r>
              <a:rPr b="1" baseline="-25000" i="1" lang="en-GB" sz="1500">
                <a:solidFill>
                  <a:schemeClr val="dk1"/>
                </a:solidFill>
                <a:highlight>
                  <a:srgbClr val="FFFF00"/>
                </a:highlight>
              </a:rPr>
              <a:t>2</a:t>
            </a:r>
            <a:r>
              <a:rPr b="1" i="1" lang="en-GB" sz="1500">
                <a:solidFill>
                  <a:schemeClr val="dk1"/>
                </a:solidFill>
                <a:highlight>
                  <a:srgbClr val="FFFF00"/>
                </a:highlight>
              </a:rPr>
              <a:t>(L+</a:t>
            </a:r>
            <a:r>
              <a:rPr b="1" i="1" lang="en-GB" sz="1500">
                <a:solidFill>
                  <a:schemeClr val="dk1"/>
                </a:solidFill>
                <a:highlight>
                  <a:srgbClr val="00FFFF"/>
                </a:highlight>
              </a:rPr>
              <a:t>2</a:t>
            </a:r>
            <a:r>
              <a:rPr b="1" i="1" lang="en-GB" sz="1500">
                <a:solidFill>
                  <a:schemeClr val="dk1"/>
                </a:solidFill>
                <a:highlight>
                  <a:srgbClr val="FFFF00"/>
                </a:highlight>
              </a:rPr>
              <a:t>))</a:t>
            </a:r>
            <a:r>
              <a:rPr lang="en-GB" sz="1500">
                <a:solidFill>
                  <a:schemeClr val="dk1"/>
                </a:solidFill>
              </a:rPr>
              <a:t> bits per cell</a:t>
            </a:r>
            <a:endParaRPr sz="1500">
              <a:solidFill>
                <a:schemeClr val="dk1"/>
              </a:solidFill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285750" lvl="0" marL="28575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chemeClr val="dk1"/>
                </a:solidFill>
                <a:highlight>
                  <a:srgbClr val="00FFFF"/>
                </a:highlight>
              </a:rPr>
              <a:t>Total memory = (</a:t>
            </a:r>
            <a:r>
              <a:rPr b="1" i="1" lang="en-GB">
                <a:solidFill>
                  <a:schemeClr val="dk1"/>
                </a:solidFill>
                <a:highlight>
                  <a:srgbClr val="00FFFF"/>
                </a:highlight>
              </a:rPr>
              <a:t>M x N x n) </a:t>
            </a:r>
            <a:r>
              <a:rPr lang="en-GB">
                <a:solidFill>
                  <a:schemeClr val="dk1"/>
                </a:solidFill>
                <a:highlight>
                  <a:srgbClr val="00FFFF"/>
                </a:highlight>
              </a:rPr>
              <a:t>bits</a:t>
            </a:r>
            <a:r>
              <a:rPr lang="en-GB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graphicFrame>
        <p:nvGraphicFramePr>
          <p:cNvPr id="294" name="Google Shape;294;p26"/>
          <p:cNvGraphicFramePr/>
          <p:nvPr/>
        </p:nvGraphicFramePr>
        <p:xfrm>
          <a:off x="4893750" y="169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{BD20D723-796A-45DC-94C1-62D856A8DB03}</a:tableStyleId>
              </a:tblPr>
              <a:tblGrid>
                <a:gridCol w="858200"/>
                <a:gridCol w="858200"/>
                <a:gridCol w="858200"/>
                <a:gridCol w="858200"/>
              </a:tblGrid>
              <a:tr h="58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8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8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95" name="Google Shape;295;p26"/>
          <p:cNvSpPr txBox="1"/>
          <p:nvPr/>
        </p:nvSpPr>
        <p:spPr>
          <a:xfrm>
            <a:off x="4739005" y="3688715"/>
            <a:ext cx="3742055" cy="1297305"/>
          </a:xfrm>
          <a:prstGeom prst="rect">
            <a:avLst/>
          </a:prstGeom>
          <a:gradFill>
            <a:gsLst>
              <a:gs pos="0">
                <a:srgbClr val="FBFB11"/>
              </a:gs>
              <a:gs pos="100000">
                <a:srgbClr val="838309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Here, 3 x 4 grid, 3 bits(000=blank; 111 may mean obstacle; 6==110,5=101 etc) are required per cell</a:t>
            </a:r>
            <a:b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memory = 36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p26"/>
          <p:cNvCxnSpPr/>
          <p:nvPr/>
        </p:nvCxnSpPr>
        <p:spPr>
          <a:xfrm>
            <a:off x="1704975" y="2757805"/>
            <a:ext cx="587375" cy="706755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Memory Requirement</a:t>
            </a:r>
            <a:endParaRPr b="1"/>
          </a:p>
        </p:txBody>
      </p:sp>
      <p:sp>
        <p:nvSpPr>
          <p:cNvPr id="302" name="Google Shape;302;p27"/>
          <p:cNvSpPr txBox="1"/>
          <p:nvPr/>
        </p:nvSpPr>
        <p:spPr>
          <a:xfrm>
            <a:off x="1144450" y="1104225"/>
            <a:ext cx="6300900" cy="3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b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2000 x 2000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grid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n = ceil(log</a:t>
            </a:r>
            <a:r>
              <a:rPr b="0" baseline="-2500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(4001) )= </a:t>
            </a:r>
            <a:r>
              <a:rPr b="0" i="0" lang="en-GB" sz="1500" u="none" cap="none" strike="noStrike">
                <a:solidFill>
                  <a:schemeClr val="dk1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Memory required = 2000 x 2000 x 12 bits = </a:t>
            </a:r>
            <a:r>
              <a:rPr b="1" i="0" lang="en-GB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n-GB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Mbytes</a:t>
            </a:r>
            <a:b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3000 x 3000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grid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n = log</a:t>
            </a:r>
            <a:r>
              <a:rPr b="0" baseline="-2500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(6001) = 13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Memory required = 3000 x 3000 x 13 bits = </a:t>
            </a:r>
            <a:r>
              <a:rPr b="1" i="0" lang="en-GB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14.6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Mbytes</a:t>
            </a:r>
            <a:b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memory requirement calculations, the maximum path length (</a:t>
            </a: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always considered to be</a:t>
            </a:r>
            <a:r>
              <a:rPr b="0" i="0" lang="en-GB" sz="1500" u="none" cap="none" strike="noStrike">
                <a:solidFill>
                  <a:schemeClr val="dk1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i="0" lang="en-GB" sz="1500" u="none" cap="none" strike="noStrike">
                <a:solidFill>
                  <a:schemeClr val="dk1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M+N-1</a:t>
            </a:r>
            <a:r>
              <a:rPr b="0" i="0" lang="en-GB" sz="1500" u="none" cap="none" strike="noStrike">
                <a:solidFill>
                  <a:schemeClr val="dk1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) if the sequence is a series of natural numbers (1,2,3,4,5,....)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Actual path length can be lower or equal to this value. If we use a repeating sequence, </a:t>
            </a:r>
            <a:r>
              <a:rPr b="0" i="0" lang="en-GB" sz="15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L is total number of unique entity.</a:t>
            </a:r>
            <a:endParaRPr b="0" i="0" sz="15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8"/>
          <p:cNvSpPr txBox="1"/>
          <p:nvPr>
            <p:ph type="title"/>
          </p:nvPr>
        </p:nvSpPr>
        <p:spPr>
          <a:xfrm>
            <a:off x="635" y="0"/>
            <a:ext cx="9142730" cy="572770"/>
          </a:xfrm>
          <a:prstGeom prst="rect">
            <a:avLst/>
          </a:prstGeom>
          <a:gradFill>
            <a:gsLst>
              <a:gs pos="0">
                <a:srgbClr val="14CD68"/>
              </a:gs>
              <a:gs pos="100000">
                <a:srgbClr val="035C7D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Memory Optimization</a:t>
            </a:r>
            <a:endParaRPr b="1"/>
          </a:p>
        </p:txBody>
      </p:sp>
      <p:sp>
        <p:nvSpPr>
          <p:cNvPr id="308" name="Google Shape;308;p28"/>
          <p:cNvSpPr txBox="1"/>
          <p:nvPr/>
        </p:nvSpPr>
        <p:spPr>
          <a:xfrm>
            <a:off x="509075" y="1979690"/>
            <a:ext cx="4566000" cy="3012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12700" rtl="0" algn="l">
              <a:lnSpc>
                <a:spcPct val="14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Instead of using the sequence </a:t>
            </a:r>
            <a:r>
              <a:rPr b="0" i="0" lang="en-GB" sz="1500" u="sng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1,2,3,4,5</a:t>
            </a:r>
            <a:r>
              <a:rPr b="0" i="0" lang="en-GB" sz="15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,….. 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numbering the  cells, the sequence </a:t>
            </a:r>
            <a:r>
              <a:rPr b="0" i="0" lang="en-GB" sz="1500" u="sng" cap="none" strike="noStrike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1,2,3</a:t>
            </a:r>
            <a:r>
              <a:rPr b="0" i="0" lang="en-GB" sz="1500" u="none" cap="none" strike="noStrike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GB" sz="1500" u="sng" cap="none" strike="noStrike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1,2,3</a:t>
            </a:r>
            <a:r>
              <a:rPr b="0" i="0" lang="en-GB" sz="1500" u="none" cap="none" strike="noStrike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,… </a:t>
            </a:r>
            <a:r>
              <a:rPr b="0" i="0" lang="en-GB" sz="15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is used.(</a:t>
            </a:r>
            <a:r>
              <a:rPr b="1" i="1" lang="en-GB" sz="15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L=3</a:t>
            </a:r>
            <a:r>
              <a:rPr b="0" i="0" lang="en-GB" sz="15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127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a cell, labels of predecessors and successors are  </a:t>
            </a:r>
            <a:r>
              <a:rPr b="0" i="0" lang="en-GB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different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So tracing back is easy.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500"/>
              <a:buFont typeface="Arial"/>
              <a:buChar char="●"/>
            </a:pPr>
            <a:r>
              <a:rPr b="1" i="1" lang="en-GB" sz="15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ceil(log</a:t>
            </a:r>
            <a:r>
              <a:rPr b="1" baseline="-25000" i="1" lang="en-GB" sz="15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1" lang="en-GB" sz="15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(3+</a:t>
            </a:r>
            <a:r>
              <a:rPr b="1" i="1" lang="en-GB" sz="1500" u="none" cap="none" strike="noStrike">
                <a:solidFill>
                  <a:srgbClr val="8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1" lang="en-GB" sz="15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))  = </a:t>
            </a:r>
            <a:r>
              <a:rPr b="1" i="1" lang="en-GB" sz="1500" u="none" cap="none" strike="noStrike">
                <a:solidFill>
                  <a:srgbClr val="800000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500" u="none" cap="none" strike="noStrike">
                <a:solidFill>
                  <a:srgbClr val="800000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15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bits per cell.</a:t>
            </a:r>
            <a:endParaRPr b="0" i="0" sz="1500" u="none" cap="none" strike="noStrik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8"/>
          <p:cNvSpPr txBox="1"/>
          <p:nvPr/>
        </p:nvSpPr>
        <p:spPr>
          <a:xfrm>
            <a:off x="986790" y="4345940"/>
            <a:ext cx="2672080" cy="58864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300" u="none" cap="none" strike="noStrike">
                <a:solidFill>
                  <a:srgbClr val="FF0000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1.5</a:t>
            </a:r>
            <a:r>
              <a:rPr b="0" i="0" lang="en-GB" sz="1300" u="none" cap="none" strike="noStrike">
                <a:solidFill>
                  <a:srgbClr val="800000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1300" u="none" cap="none" strike="noStrike">
                <a:solidFill>
                  <a:schemeClr val="dk1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Mbytes </a:t>
            </a:r>
            <a:r>
              <a:rPr b="0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2000 x 2000 grid (&lt; 6Mbytes in prev slide)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0400" y="2206950"/>
            <a:ext cx="37719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8"/>
          <p:cNvSpPr txBox="1"/>
          <p:nvPr/>
        </p:nvSpPr>
        <p:spPr>
          <a:xfrm>
            <a:off x="7781650" y="3786500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28"/>
          <p:cNvSpPr txBox="1"/>
          <p:nvPr/>
        </p:nvSpPr>
        <p:spPr>
          <a:xfrm>
            <a:off x="7234875" y="3376825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28"/>
          <p:cNvSpPr txBox="1"/>
          <p:nvPr/>
        </p:nvSpPr>
        <p:spPr>
          <a:xfrm>
            <a:off x="7234875" y="4151000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28"/>
          <p:cNvSpPr txBox="1"/>
          <p:nvPr/>
        </p:nvSpPr>
        <p:spPr>
          <a:xfrm>
            <a:off x="8328425" y="3786500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28"/>
          <p:cNvSpPr txBox="1"/>
          <p:nvPr/>
        </p:nvSpPr>
        <p:spPr>
          <a:xfrm>
            <a:off x="7781650" y="3376825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28"/>
          <p:cNvSpPr txBox="1"/>
          <p:nvPr/>
        </p:nvSpPr>
        <p:spPr>
          <a:xfrm>
            <a:off x="7810675" y="4151000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28"/>
          <p:cNvSpPr txBox="1"/>
          <p:nvPr/>
        </p:nvSpPr>
        <p:spPr>
          <a:xfrm>
            <a:off x="6688125" y="4151000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28"/>
          <p:cNvSpPr txBox="1"/>
          <p:nvPr/>
        </p:nvSpPr>
        <p:spPr>
          <a:xfrm>
            <a:off x="8328425" y="4151000"/>
            <a:ext cx="4830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28"/>
          <p:cNvSpPr txBox="1"/>
          <p:nvPr/>
        </p:nvSpPr>
        <p:spPr>
          <a:xfrm>
            <a:off x="6688100" y="3376825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28"/>
          <p:cNvSpPr txBox="1"/>
          <p:nvPr/>
        </p:nvSpPr>
        <p:spPr>
          <a:xfrm>
            <a:off x="8328425" y="3376825"/>
            <a:ext cx="4830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28"/>
          <p:cNvSpPr txBox="1"/>
          <p:nvPr/>
        </p:nvSpPr>
        <p:spPr>
          <a:xfrm>
            <a:off x="6131300" y="4151000"/>
            <a:ext cx="4830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28"/>
          <p:cNvSpPr txBox="1"/>
          <p:nvPr/>
        </p:nvSpPr>
        <p:spPr>
          <a:xfrm>
            <a:off x="6141375" y="3786500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28"/>
          <p:cNvSpPr txBox="1"/>
          <p:nvPr/>
        </p:nvSpPr>
        <p:spPr>
          <a:xfrm>
            <a:off x="5661500" y="4151000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28"/>
          <p:cNvSpPr txBox="1"/>
          <p:nvPr/>
        </p:nvSpPr>
        <p:spPr>
          <a:xfrm>
            <a:off x="5632675" y="3786500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28"/>
          <p:cNvSpPr txBox="1"/>
          <p:nvPr/>
        </p:nvSpPr>
        <p:spPr>
          <a:xfrm>
            <a:off x="5155900" y="4151000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28"/>
          <p:cNvSpPr txBox="1"/>
          <p:nvPr/>
        </p:nvSpPr>
        <p:spPr>
          <a:xfrm>
            <a:off x="8328425" y="3012325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28"/>
          <p:cNvSpPr txBox="1"/>
          <p:nvPr/>
        </p:nvSpPr>
        <p:spPr>
          <a:xfrm>
            <a:off x="8328425" y="2621788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28"/>
          <p:cNvSpPr txBox="1"/>
          <p:nvPr/>
        </p:nvSpPr>
        <p:spPr>
          <a:xfrm>
            <a:off x="5679775" y="3376825"/>
            <a:ext cx="4830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28"/>
          <p:cNvSpPr txBox="1"/>
          <p:nvPr/>
        </p:nvSpPr>
        <p:spPr>
          <a:xfrm>
            <a:off x="7752550" y="2621788"/>
            <a:ext cx="4830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28"/>
          <p:cNvSpPr txBox="1"/>
          <p:nvPr/>
        </p:nvSpPr>
        <p:spPr>
          <a:xfrm>
            <a:off x="5126800" y="3786500"/>
            <a:ext cx="4830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3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28"/>
          <p:cNvSpPr txBox="1"/>
          <p:nvPr/>
        </p:nvSpPr>
        <p:spPr>
          <a:xfrm>
            <a:off x="7234875" y="2621788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28"/>
          <p:cNvSpPr txBox="1"/>
          <p:nvPr/>
        </p:nvSpPr>
        <p:spPr>
          <a:xfrm>
            <a:off x="5661500" y="3012325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28"/>
          <p:cNvSpPr txBox="1"/>
          <p:nvPr/>
        </p:nvSpPr>
        <p:spPr>
          <a:xfrm>
            <a:off x="5155900" y="3422000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28"/>
          <p:cNvSpPr txBox="1"/>
          <p:nvPr/>
        </p:nvSpPr>
        <p:spPr>
          <a:xfrm>
            <a:off x="6141375" y="3012313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28"/>
          <p:cNvSpPr txBox="1"/>
          <p:nvPr/>
        </p:nvSpPr>
        <p:spPr>
          <a:xfrm>
            <a:off x="8328425" y="2234688"/>
            <a:ext cx="4830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28"/>
          <p:cNvSpPr txBox="1"/>
          <p:nvPr/>
        </p:nvSpPr>
        <p:spPr>
          <a:xfrm>
            <a:off x="7781650" y="2234688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28"/>
          <p:cNvSpPr txBox="1"/>
          <p:nvPr/>
        </p:nvSpPr>
        <p:spPr>
          <a:xfrm>
            <a:off x="6141325" y="2649245"/>
            <a:ext cx="424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28"/>
          <p:cNvSpPr txBox="1"/>
          <p:nvPr/>
        </p:nvSpPr>
        <p:spPr>
          <a:xfrm>
            <a:off x="6717200" y="2621775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28"/>
          <p:cNvSpPr txBox="1"/>
          <p:nvPr/>
        </p:nvSpPr>
        <p:spPr>
          <a:xfrm>
            <a:off x="7234875" y="2234688"/>
            <a:ext cx="4248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0" name="Google Shape;340;p28"/>
          <p:cNvCxnSpPr/>
          <p:nvPr/>
        </p:nvCxnSpPr>
        <p:spPr>
          <a:xfrm flipH="1" rot="10800000">
            <a:off x="6007638" y="4261200"/>
            <a:ext cx="1376100" cy="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1" name="Google Shape;341;p28"/>
          <p:cNvCxnSpPr/>
          <p:nvPr/>
        </p:nvCxnSpPr>
        <p:spPr>
          <a:xfrm>
            <a:off x="5987350" y="3122400"/>
            <a:ext cx="0" cy="113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2" name="Google Shape;342;p28"/>
          <p:cNvSpPr txBox="1"/>
          <p:nvPr/>
        </p:nvSpPr>
        <p:spPr>
          <a:xfrm>
            <a:off x="368935" y="619760"/>
            <a:ext cx="8512810" cy="92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Akers’s Observations (1967)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Adjacent labels for k are either k − 1 or k + 1. Need a labeling scheme such that each label has its preceding label different from its succeeding label.       </a:t>
            </a:r>
            <a:endParaRPr b="0" i="0" sz="1500" u="none" cap="none" strike="noStrik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8"/>
          <p:cNvSpPr txBox="1"/>
          <p:nvPr/>
        </p:nvSpPr>
        <p:spPr>
          <a:xfrm>
            <a:off x="1958600" y="1546942"/>
            <a:ext cx="10368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1" lang="en-GB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WAY 1</a:t>
            </a:r>
            <a:endParaRPr b="1" i="1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9"/>
          <p:cNvSpPr txBox="1"/>
          <p:nvPr>
            <p:ph type="title"/>
          </p:nvPr>
        </p:nvSpPr>
        <p:spPr>
          <a:xfrm>
            <a:off x="311700" y="1485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/>
              <a:buNone/>
            </a:pPr>
            <a:r>
              <a:rPr b="1" lang="en-GB"/>
              <a:t>Memory Optimization [</a:t>
            </a:r>
            <a:r>
              <a:rPr b="1" i="1" lang="en-GB"/>
              <a:t>Minimum Cost</a:t>
            </a:r>
            <a:r>
              <a:rPr b="1" lang="en-GB"/>
              <a:t>]</a:t>
            </a:r>
            <a:endParaRPr b="1"/>
          </a:p>
        </p:txBody>
      </p:sp>
      <p:sp>
        <p:nvSpPr>
          <p:cNvPr id="349" name="Google Shape;349;p29"/>
          <p:cNvSpPr txBox="1"/>
          <p:nvPr>
            <p:ph idx="1" type="body"/>
          </p:nvPr>
        </p:nvSpPr>
        <p:spPr>
          <a:xfrm>
            <a:off x="311700" y="1590850"/>
            <a:ext cx="4260300" cy="2267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092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 sz="1500">
                <a:solidFill>
                  <a:schemeClr val="dk1"/>
                </a:solidFill>
              </a:rPr>
              <a:t>Use the sequence </a:t>
            </a:r>
            <a:r>
              <a:rPr lang="en-GB" sz="1500">
                <a:solidFill>
                  <a:srgbClr val="CC0000"/>
                </a:solidFill>
              </a:rPr>
              <a:t>0</a:t>
            </a:r>
            <a:r>
              <a:rPr lang="en-GB" sz="1500">
                <a:solidFill>
                  <a:srgbClr val="800000"/>
                </a:solidFill>
              </a:rPr>
              <a:t>,</a:t>
            </a:r>
            <a:r>
              <a:rPr lang="en-GB" sz="1500">
                <a:solidFill>
                  <a:srgbClr val="4A86E8"/>
                </a:solidFill>
              </a:rPr>
              <a:t>0</a:t>
            </a:r>
            <a:r>
              <a:rPr lang="en-GB" sz="1500">
                <a:solidFill>
                  <a:srgbClr val="800000"/>
                </a:solidFill>
              </a:rPr>
              <a:t>,</a:t>
            </a:r>
            <a:r>
              <a:rPr lang="en-GB" sz="1500">
                <a:solidFill>
                  <a:srgbClr val="CC0000"/>
                </a:solidFill>
              </a:rPr>
              <a:t>1</a:t>
            </a:r>
            <a:r>
              <a:rPr lang="en-GB" sz="1500">
                <a:solidFill>
                  <a:srgbClr val="800000"/>
                </a:solidFill>
              </a:rPr>
              <a:t>,</a:t>
            </a:r>
            <a:r>
              <a:rPr lang="en-GB" sz="1500">
                <a:solidFill>
                  <a:srgbClr val="4A86E8"/>
                </a:solidFill>
              </a:rPr>
              <a:t>1</a:t>
            </a:r>
            <a:r>
              <a:rPr lang="en-GB" sz="1500">
                <a:solidFill>
                  <a:srgbClr val="800000"/>
                </a:solidFill>
              </a:rPr>
              <a:t>,</a:t>
            </a:r>
            <a:r>
              <a:rPr lang="en-GB" sz="1500">
                <a:solidFill>
                  <a:srgbClr val="CC0000"/>
                </a:solidFill>
              </a:rPr>
              <a:t>0</a:t>
            </a:r>
            <a:r>
              <a:rPr lang="en-GB" sz="1500">
                <a:solidFill>
                  <a:srgbClr val="800000"/>
                </a:solidFill>
              </a:rPr>
              <a:t>,</a:t>
            </a:r>
            <a:r>
              <a:rPr lang="en-GB" sz="1500">
                <a:solidFill>
                  <a:srgbClr val="4A86E8"/>
                </a:solidFill>
              </a:rPr>
              <a:t>0</a:t>
            </a:r>
            <a:r>
              <a:rPr lang="en-GB" sz="1500">
                <a:solidFill>
                  <a:srgbClr val="800000"/>
                </a:solidFill>
              </a:rPr>
              <a:t>,</a:t>
            </a:r>
            <a:r>
              <a:rPr lang="en-GB" sz="1500">
                <a:solidFill>
                  <a:srgbClr val="CC0000"/>
                </a:solidFill>
              </a:rPr>
              <a:t>1</a:t>
            </a:r>
            <a:r>
              <a:rPr lang="en-GB" sz="1500">
                <a:solidFill>
                  <a:srgbClr val="800000"/>
                </a:solidFill>
              </a:rPr>
              <a:t>,</a:t>
            </a:r>
            <a:r>
              <a:rPr lang="en-GB" sz="1500">
                <a:solidFill>
                  <a:srgbClr val="4A86E8"/>
                </a:solidFill>
              </a:rPr>
              <a:t>1</a:t>
            </a:r>
            <a:r>
              <a:rPr lang="en-GB" sz="1500">
                <a:solidFill>
                  <a:srgbClr val="800000"/>
                </a:solidFill>
              </a:rPr>
              <a:t>,….., </a:t>
            </a:r>
            <a:r>
              <a:rPr lang="en-GB" sz="1500">
                <a:solidFill>
                  <a:schemeClr val="dk1"/>
                </a:solidFill>
                <a:highlight>
                  <a:srgbClr val="00FF00"/>
                </a:highlight>
              </a:rPr>
              <a:t>(</a:t>
            </a:r>
            <a:r>
              <a:rPr b="1" i="1" lang="en-GB" sz="1500">
                <a:solidFill>
                  <a:schemeClr val="dk1"/>
                </a:solidFill>
                <a:highlight>
                  <a:srgbClr val="00FF00"/>
                </a:highlight>
              </a:rPr>
              <a:t>L=2</a:t>
            </a:r>
            <a:r>
              <a:rPr lang="en-GB" sz="1500">
                <a:solidFill>
                  <a:schemeClr val="dk1"/>
                </a:solidFill>
                <a:highlight>
                  <a:srgbClr val="00FF00"/>
                </a:highlight>
              </a:rPr>
              <a:t>)</a:t>
            </a:r>
            <a:endParaRPr sz="1500">
              <a:solidFill>
                <a:schemeClr val="dk1"/>
              </a:solidFill>
              <a:highlight>
                <a:srgbClr val="00FF00"/>
              </a:highlight>
            </a:endParaRPr>
          </a:p>
          <a:p>
            <a:pPr indent="-3092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500">
                <a:solidFill>
                  <a:srgbClr val="CC0000"/>
                </a:solidFill>
              </a:rPr>
              <a:t>0-&gt; </a:t>
            </a:r>
            <a:r>
              <a:rPr lang="en-GB" sz="1500">
                <a:solidFill>
                  <a:schemeClr val="dk1"/>
                </a:solidFill>
              </a:rPr>
              <a:t>First 0;</a:t>
            </a:r>
            <a:r>
              <a:rPr lang="en-GB" sz="1500">
                <a:solidFill>
                  <a:srgbClr val="CC0000"/>
                </a:solidFill>
              </a:rPr>
              <a:t> 1-&gt; </a:t>
            </a:r>
            <a:r>
              <a:rPr lang="en-GB" sz="1500">
                <a:solidFill>
                  <a:schemeClr val="dk1"/>
                </a:solidFill>
              </a:rPr>
              <a:t>First 1.</a:t>
            </a:r>
            <a:endParaRPr sz="1500">
              <a:solidFill>
                <a:schemeClr val="dk1"/>
              </a:solidFill>
            </a:endParaRPr>
          </a:p>
          <a:p>
            <a:pPr indent="-3092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500">
                <a:solidFill>
                  <a:schemeClr val="accent1"/>
                </a:solidFill>
              </a:rPr>
              <a:t>0</a:t>
            </a:r>
            <a:r>
              <a:rPr lang="en-GB" sz="1500">
                <a:solidFill>
                  <a:schemeClr val="dk1"/>
                </a:solidFill>
              </a:rPr>
              <a:t>-&gt; Second 0; </a:t>
            </a:r>
            <a:r>
              <a:rPr lang="en-GB" sz="1500">
                <a:solidFill>
                  <a:schemeClr val="accent1"/>
                </a:solidFill>
              </a:rPr>
              <a:t>1</a:t>
            </a:r>
            <a:r>
              <a:rPr lang="en-GB" sz="1500">
                <a:solidFill>
                  <a:schemeClr val="dk1"/>
                </a:solidFill>
              </a:rPr>
              <a:t>-&gt; Second 1.</a:t>
            </a:r>
            <a:endParaRPr sz="1500">
              <a:solidFill>
                <a:schemeClr val="dk1"/>
              </a:solidFill>
            </a:endParaRPr>
          </a:p>
          <a:p>
            <a:pPr indent="-3092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 sz="1500">
                <a:solidFill>
                  <a:schemeClr val="dk1"/>
                </a:solidFill>
              </a:rPr>
              <a:t>Predecessors and successors are again different. </a:t>
            </a:r>
            <a:r>
              <a:rPr lang="en-GB" sz="1500">
                <a:solidFill>
                  <a:srgbClr val="CC0000"/>
                </a:solidFill>
              </a:rPr>
              <a:t>0</a:t>
            </a:r>
            <a:r>
              <a:rPr lang="en-GB" sz="1500">
                <a:solidFill>
                  <a:srgbClr val="800000"/>
                </a:solidFill>
              </a:rPr>
              <a:t>,</a:t>
            </a:r>
            <a:r>
              <a:rPr lang="en-GB" sz="1500">
                <a:solidFill>
                  <a:srgbClr val="4A86E8"/>
                </a:solidFill>
              </a:rPr>
              <a:t>      </a:t>
            </a:r>
            <a:r>
              <a:rPr lang="en-GB" sz="1500">
                <a:solidFill>
                  <a:srgbClr val="800000"/>
                </a:solidFill>
              </a:rPr>
              <a:t>,</a:t>
            </a:r>
            <a:r>
              <a:rPr lang="en-GB" sz="1500">
                <a:solidFill>
                  <a:srgbClr val="CC0000"/>
                </a:solidFill>
              </a:rPr>
              <a:t>1</a:t>
            </a:r>
            <a:endParaRPr sz="1500">
              <a:solidFill>
                <a:srgbClr val="800000"/>
              </a:solidFill>
            </a:endParaRPr>
          </a:p>
          <a:p>
            <a:pPr indent="-3092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i="1" lang="en-GB" sz="1500">
                <a:solidFill>
                  <a:srgbClr val="800000"/>
                </a:solidFill>
              </a:rPr>
              <a:t>ceil(log</a:t>
            </a:r>
            <a:r>
              <a:rPr b="1" baseline="-25000" i="1" lang="en-GB" sz="1500">
                <a:solidFill>
                  <a:srgbClr val="800000"/>
                </a:solidFill>
              </a:rPr>
              <a:t>2</a:t>
            </a:r>
            <a:r>
              <a:rPr b="1" i="1" lang="en-GB" sz="1500">
                <a:solidFill>
                  <a:srgbClr val="800000"/>
                </a:solidFill>
              </a:rPr>
              <a:t>(2+</a:t>
            </a:r>
            <a:r>
              <a:rPr b="1" i="1" lang="en-GB" sz="1500">
                <a:solidFill>
                  <a:srgbClr val="800000"/>
                </a:solidFill>
                <a:highlight>
                  <a:srgbClr val="FFFF00"/>
                </a:highlight>
              </a:rPr>
              <a:t>2</a:t>
            </a:r>
            <a:r>
              <a:rPr b="1" i="1" lang="en-GB" sz="1500">
                <a:solidFill>
                  <a:srgbClr val="800000"/>
                </a:solidFill>
              </a:rPr>
              <a:t>)) = </a:t>
            </a:r>
            <a:r>
              <a:rPr b="1" lang="en-GB" sz="1500">
                <a:solidFill>
                  <a:srgbClr val="800000"/>
                </a:solidFill>
                <a:highlight>
                  <a:srgbClr val="00FF00"/>
                </a:highlight>
              </a:rPr>
              <a:t>2</a:t>
            </a:r>
            <a:r>
              <a:rPr lang="en-GB" sz="1500">
                <a:solidFill>
                  <a:srgbClr val="800000"/>
                </a:solidFill>
                <a:highlight>
                  <a:srgbClr val="00FF00"/>
                </a:highlight>
              </a:rPr>
              <a:t> bits per cell.</a:t>
            </a:r>
            <a:endParaRPr sz="1500">
              <a:solidFill>
                <a:srgbClr val="800000"/>
              </a:solidFill>
              <a:highlight>
                <a:srgbClr val="00FF00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41176"/>
              <a:buNone/>
            </a:pPr>
            <a:r>
              <a:t/>
            </a:r>
            <a:endParaRPr sz="1500">
              <a:solidFill>
                <a:srgbClr val="8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41176"/>
              <a:buNone/>
            </a:pPr>
            <a:r>
              <a:t/>
            </a:r>
            <a:endParaRPr sz="1500">
              <a:solidFill>
                <a:srgbClr val="800000"/>
              </a:solidFill>
            </a:endParaRPr>
          </a:p>
        </p:txBody>
      </p:sp>
      <p:sp>
        <p:nvSpPr>
          <p:cNvPr id="350" name="Google Shape;350;p29"/>
          <p:cNvSpPr txBox="1"/>
          <p:nvPr/>
        </p:nvSpPr>
        <p:spPr>
          <a:xfrm>
            <a:off x="4536000" y="3547450"/>
            <a:ext cx="32739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9"/>
          <p:cNvSpPr txBox="1"/>
          <p:nvPr/>
        </p:nvSpPr>
        <p:spPr>
          <a:xfrm>
            <a:off x="803275" y="3237230"/>
            <a:ext cx="2856230" cy="56007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FF0000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2000 x 2000 x 2 bits / 8 =1.0</a:t>
            </a:r>
            <a:r>
              <a:rPr b="0" i="0" lang="en-GB" sz="13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Mbytes for 2000 x 2000 grid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9"/>
          <p:cNvSpPr txBox="1"/>
          <p:nvPr/>
        </p:nvSpPr>
        <p:spPr>
          <a:xfrm>
            <a:off x="5594125" y="4102875"/>
            <a:ext cx="2047800" cy="364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Fig: Minimum Bend Path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9"/>
          <p:cNvSpPr txBox="1"/>
          <p:nvPr/>
        </p:nvSpPr>
        <p:spPr>
          <a:xfrm>
            <a:off x="3660350" y="2780475"/>
            <a:ext cx="2331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9"/>
          <p:cNvSpPr txBox="1"/>
          <p:nvPr/>
        </p:nvSpPr>
        <p:spPr>
          <a:xfrm>
            <a:off x="1041900" y="2684550"/>
            <a:ext cx="164400" cy="226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8775" y="1552813"/>
            <a:ext cx="37719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9"/>
          <p:cNvSpPr txBox="1"/>
          <p:nvPr/>
        </p:nvSpPr>
        <p:spPr>
          <a:xfrm>
            <a:off x="1855475" y="912142"/>
            <a:ext cx="10368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1" lang="en-GB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WAY 2</a:t>
            </a:r>
            <a:endParaRPr b="1" i="1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" name="Google Shape;357;p29"/>
          <p:cNvCxnSpPr/>
          <p:nvPr/>
        </p:nvCxnSpPr>
        <p:spPr>
          <a:xfrm>
            <a:off x="3192145" y="3088640"/>
            <a:ext cx="701040" cy="108585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58" name="Google Shape;358;p29"/>
          <p:cNvSpPr txBox="1"/>
          <p:nvPr/>
        </p:nvSpPr>
        <p:spPr>
          <a:xfrm>
            <a:off x="3387725" y="4159885"/>
            <a:ext cx="1461135" cy="737235"/>
          </a:xfrm>
          <a:prstGeom prst="rect">
            <a:avLst/>
          </a:prstGeom>
          <a:gradFill>
            <a:gsLst>
              <a:gs pos="0">
                <a:srgbClr val="FBFB11"/>
              </a:gs>
              <a:gs pos="100000">
                <a:srgbClr val="838309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represent 4 states: blank, obstacle, 0 ,1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Memory Requirements - Summary</a:t>
            </a:r>
            <a:endParaRPr/>
          </a:p>
        </p:txBody>
      </p:sp>
      <p:sp>
        <p:nvSpPr>
          <p:cNvPr id="364" name="Google Shape;364;p30"/>
          <p:cNvSpPr txBox="1"/>
          <p:nvPr>
            <p:ph idx="1" type="body"/>
          </p:nvPr>
        </p:nvSpPr>
        <p:spPr>
          <a:xfrm>
            <a:off x="311785" y="1152525"/>
            <a:ext cx="8700770" cy="37198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999"/>
              <a:buChar char="●"/>
            </a:pPr>
            <a:r>
              <a:rPr lang="en-GB"/>
              <a:t>For memory requirement calculations, the critical path length (L) is always considered to be (M+N-1) if the sequence is a series of natural numbers (1,2,3,4,5,....). Actual path length can be lower or equal to this value. 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0999"/>
              <a:buChar char="●"/>
            </a:pPr>
            <a:r>
              <a:rPr lang="en-GB"/>
              <a:t>If we use a repeating sequence, L is the total number of unique entities. For example, if we use 1,2,3,1,2,3... repeating sequence, L = 3. 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0999"/>
              <a:buChar char="●"/>
            </a:pPr>
            <a:r>
              <a:rPr lang="en-GB"/>
              <a:t>If the sequence is 0,1,0,1...., L = 2. So, L does not depend on the actual path length for memory calculation.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0999"/>
              <a:buFont typeface="Arial"/>
              <a:buNone/>
            </a:pPr>
            <a:r>
              <a:rPr lang="en-GB"/>
              <a:t>If you are asked to calculate the memory used by a definite path, that's a different question. Generally, </a:t>
            </a:r>
            <a:r>
              <a:rPr b="1" i="1" lang="en-GB">
                <a:solidFill>
                  <a:srgbClr val="FF0000"/>
                </a:solidFill>
              </a:rPr>
              <a:t>memory requirements</a:t>
            </a:r>
            <a:r>
              <a:rPr lang="en-GB"/>
              <a:t> denote the maximum memory required to run the algorithm.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/>
              <a:buNone/>
            </a:pPr>
            <a:r>
              <a:rPr lang="en-GB"/>
              <a:t>Example 4: Using </a:t>
            </a:r>
            <a:r>
              <a:rPr lang="en-GB">
                <a:solidFill>
                  <a:srgbClr val="CC0000"/>
                </a:solidFill>
              </a:rPr>
              <a:t>0</a:t>
            </a:r>
            <a:r>
              <a:rPr lang="en-GB">
                <a:solidFill>
                  <a:srgbClr val="0000FF"/>
                </a:solidFill>
              </a:rPr>
              <a:t>0</a:t>
            </a:r>
            <a:r>
              <a:rPr lang="en-GB">
                <a:solidFill>
                  <a:srgbClr val="CC0000"/>
                </a:solidFill>
              </a:rPr>
              <a:t>1</a:t>
            </a:r>
            <a:r>
              <a:rPr lang="en-GB">
                <a:solidFill>
                  <a:srgbClr val="0000FF"/>
                </a:solidFill>
              </a:rPr>
              <a:t>1</a:t>
            </a:r>
            <a:r>
              <a:rPr lang="en-GB">
                <a:solidFill>
                  <a:srgbClr val="CC0000"/>
                </a:solidFill>
              </a:rPr>
              <a:t>0</a:t>
            </a:r>
            <a:r>
              <a:rPr lang="en-GB">
                <a:solidFill>
                  <a:srgbClr val="0000FF"/>
                </a:solidFill>
              </a:rPr>
              <a:t>0</a:t>
            </a:r>
            <a:r>
              <a:rPr lang="en-GB">
                <a:solidFill>
                  <a:srgbClr val="CC0000"/>
                </a:solidFill>
              </a:rPr>
              <a:t>1</a:t>
            </a:r>
            <a:r>
              <a:rPr lang="en-GB">
                <a:solidFill>
                  <a:srgbClr val="0000FF"/>
                </a:solidFill>
              </a:rPr>
              <a:t>1</a:t>
            </a:r>
            <a:r>
              <a:rPr lang="en-GB">
                <a:solidFill>
                  <a:schemeClr val="dk1"/>
                </a:solidFill>
              </a:rPr>
              <a:t>..…</a:t>
            </a:r>
            <a:r>
              <a:rPr lang="en-GB"/>
              <a:t> Sequence</a:t>
            </a:r>
            <a:endParaRPr/>
          </a:p>
        </p:txBody>
      </p:sp>
      <p:pic>
        <p:nvPicPr>
          <p:cNvPr id="370" name="Google Shape;37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543025"/>
            <a:ext cx="37719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1"/>
          <p:cNvSpPr/>
          <p:nvPr/>
        </p:nvSpPr>
        <p:spPr>
          <a:xfrm>
            <a:off x="4134900" y="2457350"/>
            <a:ext cx="437100" cy="51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5825" y="1543025"/>
            <a:ext cx="37719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1"/>
          <p:cNvSpPr txBox="1"/>
          <p:nvPr/>
        </p:nvSpPr>
        <p:spPr>
          <a:xfrm>
            <a:off x="5298725" y="4037650"/>
            <a:ext cx="272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Label: </a:t>
            </a:r>
            <a:r>
              <a:rPr b="0" i="0" lang="en-GB" sz="1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GB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GB" sz="1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1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GB" sz="15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GB" sz="1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31"/>
          <p:cNvCxnSpPr/>
          <p:nvPr/>
        </p:nvCxnSpPr>
        <p:spPr>
          <a:xfrm flipH="1">
            <a:off x="6557850" y="4453150"/>
            <a:ext cx="731400" cy="30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75" name="Google Shape;375;p31"/>
          <p:cNvCxnSpPr/>
          <p:nvPr/>
        </p:nvCxnSpPr>
        <p:spPr>
          <a:xfrm flipH="1">
            <a:off x="5438350" y="2378850"/>
            <a:ext cx="900" cy="128790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76" name="Google Shape;376;p31"/>
          <p:cNvCxnSpPr/>
          <p:nvPr/>
        </p:nvCxnSpPr>
        <p:spPr>
          <a:xfrm>
            <a:off x="5439250" y="3767750"/>
            <a:ext cx="1246500" cy="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77" name="Google Shape;377;p31"/>
          <p:cNvSpPr txBox="1"/>
          <p:nvPr/>
        </p:nvSpPr>
        <p:spPr>
          <a:xfrm>
            <a:off x="6434850" y="4514600"/>
            <a:ext cx="97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2355" y="72390"/>
            <a:ext cx="4478655" cy="2780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7620" y="2853055"/>
            <a:ext cx="6718300" cy="229044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2"/>
          <p:cNvSpPr txBox="1"/>
          <p:nvPr/>
        </p:nvSpPr>
        <p:spPr>
          <a:xfrm>
            <a:off x="4444365" y="2226310"/>
            <a:ext cx="393700" cy="106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28 bytes</a:t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690" y="449580"/>
            <a:ext cx="1979295" cy="352869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3"/>
          <p:cNvSpPr txBox="1"/>
          <p:nvPr/>
        </p:nvSpPr>
        <p:spPr>
          <a:xfrm>
            <a:off x="289560" y="251460"/>
            <a:ext cx="34290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3"/>
          <p:cNvSpPr txBox="1"/>
          <p:nvPr/>
        </p:nvSpPr>
        <p:spPr>
          <a:xfrm>
            <a:off x="3636010" y="1223010"/>
            <a:ext cx="5279390" cy="204089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6 Manhattan Distance </a:t>
            </a:r>
            <a:r>
              <a:rPr b="1" i="0" lang="en-GB" sz="16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(treat the metal layer as</a:t>
            </a:r>
            <a:endParaRPr b="1" i="0" sz="16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a single node hence till B(not before B)</a:t>
            </a:r>
            <a:r>
              <a:rPr b="1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total = 6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(the cell containing the destination,B must also be considered)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4"/>
          <p:cNvSpPr txBox="1"/>
          <p:nvPr/>
        </p:nvSpPr>
        <p:spPr>
          <a:xfrm>
            <a:off x="152400" y="202565"/>
            <a:ext cx="8747760" cy="306705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4"/>
          <p:cNvSpPr txBox="1"/>
          <p:nvPr/>
        </p:nvSpPr>
        <p:spPr>
          <a:xfrm>
            <a:off x="385445" y="845820"/>
            <a:ext cx="2735580" cy="275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considering gates as obstacles: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8" name="Google Shape;39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485" y="1123950"/>
            <a:ext cx="3168650" cy="371094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4"/>
          <p:cNvSpPr txBox="1"/>
          <p:nvPr/>
        </p:nvSpPr>
        <p:spPr>
          <a:xfrm>
            <a:off x="5288280" y="845820"/>
            <a:ext cx="2454275" cy="232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not considering gates as obstacles: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8280" y="1123950"/>
            <a:ext cx="3110230" cy="3697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100" y="125730"/>
            <a:ext cx="8597900" cy="473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411" name="Google Shape;41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GB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Grid Routing- Lecture 16, </a:t>
            </a:r>
            <a:r>
              <a:rPr i="1" lang="en-GB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NPTEL Online certification Courses</a:t>
            </a:r>
            <a:r>
              <a:rPr lang="en-GB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, IIT Kharagpur.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GB" sz="12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M. A. Breuer, M. Sarrafzadeh and F. Somenzi, "Fundamental CAD algorithms," in IEEE Transactions on Computer-Aided Design of Integrated Circuits and Systems, vol. 19, no. 12, pp. 1449-1475, Dec. 2000, doi: 10.1109/43.898826.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GB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http://users.eecs.northwestern.edu/~haizhou/357/lec6.pdf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2024-11-27T14:33:00Z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6CD6B647DC9C4DE6898D11910BE65569_12</vt:lpwstr>
  </property>
  <property fmtid="{D5CDD505-2E9C-101B-9397-08002B2CF9AE}" pid="3" name="KSOProductBuildVer">
    <vt:lpwstr>1033-12.2.0.20795</vt:lpwstr>
  </property>
</Properties>
</file>