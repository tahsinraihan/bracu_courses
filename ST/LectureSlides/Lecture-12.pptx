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Constantia"/>
      <p:regular r:id="rId16"/>
      <p:bold r:id="rId17"/>
      <p:italic r:id="rId18"/>
      <p:boldItalic r:id="rId19"/>
    </p:embeddedFont>
    <p:embeddedFont>
      <p:font typeface="Cambria Math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mbriaMath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onstantia-bold.fntdata"/><Relationship Id="rId16" Type="http://schemas.openxmlformats.org/officeDocument/2006/relationships/font" Target="fonts/Constanti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onstantia-boldItalic.fntdata"/><Relationship Id="rId6" Type="http://schemas.openxmlformats.org/officeDocument/2006/relationships/slide" Target="slides/slide1.xml"/><Relationship Id="rId18" Type="http://schemas.openxmlformats.org/officeDocument/2006/relationships/font" Target="fonts/Constanti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2248410ee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22248410ee_3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6d6ec8a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56d6ec8ab6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84f56c754_6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3284f56c754_6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284f56c754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284f56c754_12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2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9" name="Google Shape;29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" name="Google Shape;36;p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2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40" name="Google Shape;40;p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p4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58" name="Google Shape;58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6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7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p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7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 flipH="1" rot="-10380037">
            <a:off x="4172401" y="1918610"/>
            <a:ext cx="4293497" cy="3360183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31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p10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27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p10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p1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0"/>
          <p:cNvSpPr/>
          <p:nvPr>
            <p:ph idx="2" type="pic"/>
          </p:nvPr>
        </p:nvSpPr>
        <p:spPr>
          <a:xfrm rot="420005">
            <a:off x="4433519" y="1993203"/>
            <a:ext cx="3771211" cy="3210857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1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2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7600940" y="3"/>
            <a:ext cx="1542914" cy="1371650"/>
            <a:chOff x="6098378" y="5"/>
            <a:chExt cx="3045625" cy="2030570"/>
          </a:xfrm>
        </p:grpSpPr>
        <p:sp>
          <p:nvSpPr>
            <p:cNvPr id="11" name="Google Shape;11;p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1"/>
          <p:cNvGrpSpPr/>
          <p:nvPr/>
        </p:nvGrpSpPr>
        <p:grpSpPr>
          <a:xfrm>
            <a:off x="-2" y="6104999"/>
            <a:ext cx="9144071" cy="752890"/>
            <a:chOff x="-10935211" y="3903669"/>
            <a:chExt cx="20079206" cy="1239937"/>
          </a:xfrm>
        </p:grpSpPr>
        <p:sp>
          <p:nvSpPr>
            <p:cNvPr id="17" name="Google Shape;17;p1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5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4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8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ctrTitle"/>
          </p:nvPr>
        </p:nvSpPr>
        <p:spPr>
          <a:xfrm>
            <a:off x="533400" y="19812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Lecture 12: The Pigeonhole Principle</a:t>
            </a:r>
            <a:endParaRPr/>
          </a:p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533400" y="38381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6.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Lecture Summary</a:t>
            </a:r>
            <a:endParaRPr/>
          </a:p>
        </p:txBody>
      </p:sp>
      <p:sp>
        <p:nvSpPr>
          <p:cNvPr id="133" name="Google Shape;133;p1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❖"/>
            </a:pPr>
            <a:r>
              <a:rPr lang="en-US"/>
              <a:t>The Pigeonhole Principle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❖"/>
            </a:pPr>
            <a:r>
              <a:rPr lang="en-US"/>
              <a:t>The Generalized Pigeonhole Principle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type="title"/>
          </p:nvPr>
        </p:nvSpPr>
        <p:spPr>
          <a:xfrm>
            <a:off x="457200" y="182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The Pigeonhole Principle</a:t>
            </a:r>
            <a:endParaRPr/>
          </a:p>
        </p:txBody>
      </p:sp>
      <p:sp>
        <p:nvSpPr>
          <p:cNvPr id="139" name="Google Shape;139;p15"/>
          <p:cNvSpPr txBox="1"/>
          <p:nvPr>
            <p:ph idx="1" type="body"/>
          </p:nvPr>
        </p:nvSpPr>
        <p:spPr>
          <a:xfrm>
            <a:off x="457200" y="1370150"/>
            <a:ext cx="8229600" cy="27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If a flock of 13 pigeons roosts in a set of  12 pigeonholes, one of the pigeonholes must have more than 1 pigeon.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4100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4100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4100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4100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endParaRPr b="1"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0507.jpg" id="140" name="Google Shape;14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2133600"/>
            <a:ext cx="5382551" cy="179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342675" y="3817525"/>
            <a:ext cx="8191800" cy="27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Pigeonhole Principle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: If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is a positive integer and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+ 1 objects are placed into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k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boxes, then at least one box contains two or more objects. </a:t>
            </a:r>
            <a:endParaRPr b="0" i="0" sz="24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Proof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: We use a proof  by contraposition. Suppose none of the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boxes has more than one object. Then the total number of objects would be at most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. This contradicts the statement that we have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+ 1 objects.</a:t>
            </a:r>
            <a:endParaRPr b="0" i="0" sz="24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457200" y="182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 sz="4100"/>
              <a:t>Picking Object Blindfolded</a:t>
            </a:r>
            <a:endParaRPr sz="4100"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228600" y="1232034"/>
            <a:ext cx="8388300" cy="12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1600">
                <a:latin typeface="Cambria Math"/>
                <a:ea typeface="Cambria Math"/>
                <a:cs typeface="Cambria Math"/>
                <a:sym typeface="Cambria Math"/>
              </a:rPr>
              <a:t>     Example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: Suppose you are blindfolded and picking out balls from a box like below. 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                       (a)  Minimum how many balls to pick to get 2 balls of same color?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                       (b)  Minimum how many balls to pick to get 2 red balls?   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1600">
                <a:latin typeface="Cambria Math"/>
                <a:ea typeface="Cambria Math"/>
                <a:cs typeface="Cambria Math"/>
                <a:sym typeface="Cambria Math"/>
              </a:rPr>
              <a:t>      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88075" y="2815433"/>
            <a:ext cx="1326300" cy="2349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 Red</a:t>
            </a:r>
            <a:endParaRPr b="1" i="0" sz="2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5 blue</a:t>
            </a:r>
            <a:endParaRPr b="1" i="0" sz="2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Black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274E1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type="title"/>
          </p:nvPr>
        </p:nvSpPr>
        <p:spPr>
          <a:xfrm>
            <a:off x="457200" y="182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 sz="4100"/>
              <a:t>Picking Object Blindfolded</a:t>
            </a:r>
            <a:endParaRPr sz="4100"/>
          </a:p>
        </p:txBody>
      </p:sp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228600" y="1232034"/>
            <a:ext cx="8388300" cy="12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1600">
                <a:latin typeface="Cambria Math"/>
                <a:ea typeface="Cambria Math"/>
                <a:cs typeface="Cambria Math"/>
                <a:sym typeface="Cambria Math"/>
              </a:rPr>
              <a:t>     Example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: Suppose you are blindfolded and picking out balls from a box like below. 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                       (a)  Minimum how many balls to pick to get 2 balls of same color?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                       (b)  Minimum how many balls to pick to get 2 red balls?   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1600">
                <a:latin typeface="Cambria Math"/>
                <a:ea typeface="Cambria Math"/>
                <a:cs typeface="Cambria Math"/>
                <a:sym typeface="Cambria Math"/>
              </a:rPr>
              <a:t>      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2330650" y="2690667"/>
            <a:ext cx="6072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(a) Worst case scenario would be, you pick 1 balls from each color = 3 balls. Then if you pick your 4th ball, it must match any of the color, and you will have your 2 same color balls.</a:t>
            </a:r>
            <a:endParaRPr i="0" sz="1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So, solution is </a:t>
            </a:r>
            <a:r>
              <a:rPr i="0" lang="en-US" sz="1600" u="none" cap="none" strike="noStrike">
                <a:solidFill>
                  <a:srgbClr val="3C78D8"/>
                </a:solidFill>
                <a:latin typeface="Cambria Math"/>
                <a:ea typeface="Cambria Math"/>
                <a:cs typeface="Cambria Math"/>
                <a:sym typeface="Cambria Math"/>
              </a:rPr>
              <a:t>(1 Red+1 Blue + 1 Black) + 1 = 4 balls</a:t>
            </a:r>
            <a:endParaRPr i="0" sz="1600" u="none" cap="none" strike="noStrike">
              <a:solidFill>
                <a:srgbClr val="3C78D8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88075" y="2815433"/>
            <a:ext cx="1326300" cy="2349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 Red</a:t>
            </a:r>
            <a:endParaRPr b="1" i="0" sz="2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5 blue</a:t>
            </a:r>
            <a:endParaRPr b="1" i="0" sz="2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Black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274E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2406850" y="4519467"/>
            <a:ext cx="607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(b) Worst case scenario would be, you pick all the blue and black balls. Then if you pick your next 2 balls, it must be of red color.</a:t>
            </a:r>
            <a:endParaRPr i="0" sz="1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So, solution is </a:t>
            </a:r>
            <a:r>
              <a:rPr i="0" lang="en-US" sz="1600" u="none" cap="none" strike="noStrike">
                <a:solidFill>
                  <a:srgbClr val="3C78D8"/>
                </a:solidFill>
                <a:latin typeface="Cambria Math"/>
                <a:ea typeface="Cambria Math"/>
                <a:cs typeface="Cambria Math"/>
                <a:sym typeface="Cambria Math"/>
              </a:rPr>
              <a:t>(5 Blue + 6 Black + 1 Red) + 1 = 13 balls</a:t>
            </a:r>
            <a:endParaRPr i="0" sz="1600" u="none" cap="none" strike="noStrike">
              <a:solidFill>
                <a:srgbClr val="3C78D8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533400" y="551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Pigeonhole Principle</a:t>
            </a:r>
            <a:endParaRPr/>
          </a:p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350325" y="2008874"/>
            <a:ext cx="8229600" cy="4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  Example 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Among any group of 367 people, there must be at least two with the same birthday, because there are only 366 possible birthdays.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	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Example 2: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How many students must be in a class to guarantee that at least two students receive the same score on the final exam, if the exam is graded on a scale from 0 to 100 points?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	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Solution: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There are 101 possible scores on the final. The pigeonhole principle shows that among any 102 students there must be at least 2 students with the same score.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274125" y="3394875"/>
            <a:ext cx="82296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Pigeonhole Principle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350325" y="1704074"/>
            <a:ext cx="8229600" cy="45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   Example 3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Show that for every integer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there is a multiple of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that has only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s and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s in its decimal expansion.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  Solution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Let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be a positive integer. Consider the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integers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11, 111, …., 11…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(where the last has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+ 1 1s). There are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possible remainders when an integer is divided by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 By the pigeonhole principle, when each of the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integers is divided by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at least two must have the same remainder. Subtract the smaller from the larger and the result is a multiple of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that has only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s and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s in its decimal expansion.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457200" y="182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The Generalized Pigeonhole Principle</a:t>
            </a:r>
            <a:endParaRPr sz="4000"/>
          </a:p>
        </p:txBody>
      </p:sp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457200" y="1460625"/>
            <a:ext cx="82296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 The Generalized Pigeonhole Principle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objects are placed into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boxes, then there is at least one box containing at least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⌈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/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⌉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objects.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 Proof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We use a proof by contraposition. Suppose that none of the boxes contains more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⌈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/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⌉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− 1 objects. Then the total number of objects is at most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where the inequality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⌈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/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⌉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&lt;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⌈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/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⌉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has been used. This is a contradiction because there are a total of n objects.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Among 100 people there are at least           ⌈100/12⌉ = 9 who were born in the same month.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3733800"/>
            <a:ext cx="3908870" cy="51816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/>
          <p:nvPr/>
        </p:nvSpPr>
        <p:spPr>
          <a:xfrm flipH="1" rot="-5400000">
            <a:off x="8382000" y="50292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457200" y="182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The Generalized Pigeonhole Principle</a:t>
            </a:r>
            <a:endParaRPr sz="4000"/>
          </a:p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381000" y="1249675"/>
            <a:ext cx="8229600" cy="14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    Example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:  a) How many cards must be selected from a standard deck of 52 cards to guarantee that at least three cards of the same suit are chosen? 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   b) How many must be selected to guarantee that at least three hearts are selected?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382700" y="3013975"/>
            <a:ext cx="8142600" cy="3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Solution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: a) We assume four boxes; one for each suit. Using the generalized pigeonhole principle, at least one box contains at least ⌈</a:t>
            </a:r>
            <a:r>
              <a:rPr i="1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/4⌉ cards. At least three cards of one suit are selected if ⌈</a:t>
            </a:r>
            <a:r>
              <a:rPr i="1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/4⌉ ≥3. The smallest integer </a:t>
            </a:r>
            <a:r>
              <a:rPr i="1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such that ⌈</a:t>
            </a:r>
            <a:r>
              <a:rPr i="1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/4⌉ ≥3 is                            </a:t>
            </a:r>
            <a:r>
              <a:rPr i="1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2 ∙ 4 + 1 = 9.</a:t>
            </a:r>
            <a:endParaRPr i="0" sz="22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b) A deck contains 13 hearts and 39 cards which are not hearts. So, if we select 41 cards, we may have 39 cards which are not hearts along with 2 hearts. However, when we select 42 cards, we must have at least three hearts. (Note that the generalized pigeonhole principle is </a:t>
            </a:r>
            <a:r>
              <a:rPr b="1" i="0" lang="en-US" sz="2200" u="none" cap="none" strike="noStrike">
                <a:solidFill>
                  <a:srgbClr val="9C254D"/>
                </a:solidFill>
                <a:latin typeface="Cambria Math"/>
                <a:ea typeface="Cambria Math"/>
                <a:cs typeface="Cambria Math"/>
                <a:sym typeface="Cambria Math"/>
              </a:rPr>
              <a:t>not 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used here.)</a:t>
            </a:r>
            <a:endParaRPr i="0" sz="22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title"/>
          </p:nvPr>
        </p:nvSpPr>
        <p:spPr>
          <a:xfrm>
            <a:off x="457200" y="113947"/>
            <a:ext cx="82296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Applications of Pigeonhole Principle</a:t>
            </a:r>
            <a:endParaRPr sz="4000"/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381000" y="1097275"/>
            <a:ext cx="8229600" cy="14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    Example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:  During a month with 30 days, a baseball team plays at least one game a day, but no more than 45 games in total. Show that there must be a period of some number of consecutive days during which the team must play exactly 14 games in sum.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424500" y="2388775"/>
            <a:ext cx="8142600" cy="4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Solution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: : Let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j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be the number of games played on or before the j-th day of the month. Then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… ,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30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is an increasing sequence of distinct positive integers, with 1 ≤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j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≤ 45. Moreover,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+ 14,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+ 14, … ,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30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+ 14 is also an increasing sequence of distinct positive integers, with 15 ≤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j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+ 14 ≤ 59. The 60 positive integers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… ,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30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+ 14,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+ 14, … ,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30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+ 14 are all less than or equal to 59. </a:t>
            </a:r>
            <a:endParaRPr i="0" sz="22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Hence, by the pigeonhole principle two of these integers are equal. Because the integers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j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, j = 1, 2, … , 30 are all distinct and the integers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j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+ 14, j = 1, 2, … , 30 are all distinct, there must be indices i and j with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a</a:t>
            </a:r>
            <a:r>
              <a:rPr baseline="-25000"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j</a:t>
            </a:r>
            <a:r>
              <a:rPr i="0" lang="en-US" sz="22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+ 14. This means that exactly 14 games were played from day j + 1 to day i.</a:t>
            </a:r>
            <a:endParaRPr i="0" sz="22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