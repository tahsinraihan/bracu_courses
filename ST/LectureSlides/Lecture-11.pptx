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Constantia"/>
      <p:regular r:id="rId22"/>
      <p:bold r:id="rId23"/>
      <p:italic r:id="rId24"/>
      <p:boldItalic r:id="rId25"/>
    </p:embeddedFont>
    <p:embeddedFont>
      <p:font typeface="Cambria Math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onstantia-regular.fntdata"/><Relationship Id="rId21" Type="http://schemas.openxmlformats.org/officeDocument/2006/relationships/slide" Target="slides/slide16.xml"/><Relationship Id="rId24" Type="http://schemas.openxmlformats.org/officeDocument/2006/relationships/font" Target="fonts/Constantia-italic.fntdata"/><Relationship Id="rId23" Type="http://schemas.openxmlformats.org/officeDocument/2006/relationships/font" Target="fonts/Constanti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mbriaMath-regular.fntdata"/><Relationship Id="rId25" Type="http://schemas.openxmlformats.org/officeDocument/2006/relationships/font" Target="fonts/Constanti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2248410ee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22248410ee_3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2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p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4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4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6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p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31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p10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27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p10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10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p1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0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4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4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p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p1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p1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5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4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8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ctrTitle"/>
          </p:nvPr>
        </p:nvSpPr>
        <p:spPr>
          <a:xfrm>
            <a:off x="533400" y="1752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11: The Basic Rules of Counting</a:t>
            </a:r>
            <a:endParaRPr/>
          </a:p>
        </p:txBody>
      </p:sp>
      <p:sp>
        <p:nvSpPr>
          <p:cNvPr id="127" name="Google Shape;127;p13"/>
          <p:cNvSpPr txBox="1"/>
          <p:nvPr>
            <p:ph idx="1" type="subTitle"/>
          </p:nvPr>
        </p:nvSpPr>
        <p:spPr>
          <a:xfrm>
            <a:off x="533400" y="3609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/>
              <a:t>.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Lecture Summary</a:t>
            </a:r>
            <a:endParaRPr/>
          </a:p>
        </p:txBody>
      </p:sp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Product Rule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Sum Rule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Subtraction Rule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Basic Counting Principles: The Product Rule</a:t>
            </a:r>
            <a:endParaRPr sz="4000"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457200" y="1935475"/>
            <a:ext cx="82296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The Product Rule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A procedure can be broken down into a sequence of two tasks. There are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to do the first task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to do the second task. Then there are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∙n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to do the procedure.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How many bit strings of length seven are there?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436975" y="4377750"/>
            <a:ext cx="81735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Since each of the seven bits is either a 0 or a 1, the answer is 2</a:t>
            </a:r>
            <a:r>
              <a:rPr b="0" baseline="3000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128.</a:t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Product Rule</a:t>
            </a:r>
            <a:endParaRPr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457200" y="1935474"/>
            <a:ext cx="8229600" cy="1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How many different license plates can be made if each plate contains a sequence of three uppercase English letters followed by three digits?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1.jp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5105400"/>
            <a:ext cx="201918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531275" y="3351950"/>
            <a:ext cx="8155500" cy="1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By the product rule,</a:t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there are 26 ∙ 26 ∙ 26 ∙ 10 ∙ 10 ∙ 10 = 17,576,000 different possible license plates.</a:t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457200" y="18288"/>
            <a:ext cx="82296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Seating Arrangement</a:t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228600" y="1232034"/>
            <a:ext cx="8388300" cy="4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 Example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We have 5 students, how many different seating arrangements are possible if we have 3 seats available?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  Possible solution: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2575" y="2092508"/>
            <a:ext cx="672175" cy="6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1025" y="2092508"/>
            <a:ext cx="672175" cy="6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5250" y="2092508"/>
            <a:ext cx="672175" cy="6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441475" y="3137008"/>
            <a:ext cx="31713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 the first chair, we have 5 </a:t>
            </a:r>
            <a:endParaRPr b="0" i="0" sz="12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students available to choose from</a:t>
            </a:r>
            <a:endParaRPr b="0" i="0" sz="12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099100" y="3561242"/>
            <a:ext cx="35658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 the second chair, we have 4 </a:t>
            </a:r>
            <a:endParaRPr b="0" i="0" sz="12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students available now to choose from</a:t>
            </a:r>
            <a:endParaRPr b="0" i="0" sz="12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074500" y="3213542"/>
            <a:ext cx="34209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 the third chair, we have </a:t>
            </a:r>
            <a:endParaRPr b="0" i="0" sz="12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remaining 3 students to choose from</a:t>
            </a:r>
            <a:endParaRPr b="0" i="0" sz="12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41475" y="3137008"/>
            <a:ext cx="2351100" cy="596400"/>
          </a:xfrm>
          <a:prstGeom prst="rect">
            <a:avLst/>
          </a:prstGeom>
          <a:noFill/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097375" y="3472008"/>
            <a:ext cx="2636400" cy="758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066125" y="3262075"/>
            <a:ext cx="2636400" cy="70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cxnSp>
        <p:nvCxnSpPr>
          <p:cNvPr id="164" name="Google Shape;164;p17"/>
          <p:cNvCxnSpPr>
            <a:stCxn id="155" idx="1"/>
          </p:cNvCxnSpPr>
          <p:nvPr/>
        </p:nvCxnSpPr>
        <p:spPr>
          <a:xfrm flipH="1">
            <a:off x="2038675" y="2428596"/>
            <a:ext cx="603900" cy="498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5" name="Google Shape;165;p17"/>
          <p:cNvCxnSpPr/>
          <p:nvPr/>
        </p:nvCxnSpPr>
        <p:spPr>
          <a:xfrm flipH="1" rot="-5400000">
            <a:off x="4323550" y="3101158"/>
            <a:ext cx="433500" cy="229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" name="Google Shape;166;p17"/>
          <p:cNvCxnSpPr>
            <a:stCxn id="157" idx="3"/>
          </p:cNvCxnSpPr>
          <p:nvPr/>
        </p:nvCxnSpPr>
        <p:spPr>
          <a:xfrm>
            <a:off x="5947425" y="2428596"/>
            <a:ext cx="747000" cy="556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7" name="Google Shape;167;p17"/>
          <p:cNvSpPr txBox="1"/>
          <p:nvPr/>
        </p:nvSpPr>
        <p:spPr>
          <a:xfrm>
            <a:off x="457200" y="4324967"/>
            <a:ext cx="82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and all three events have to occur all at once, so we can use product rule. </a:t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And possible arrangement would be (5</a:t>
            </a:r>
            <a:r>
              <a:rPr b="0" i="0" lang="en-US" sz="1700" u="none" cap="none" strike="noStrike">
                <a:solidFill>
                  <a:srgbClr val="040C28"/>
                </a:solidFill>
                <a:highlight>
                  <a:srgbClr val="FFFFFF"/>
                </a:highlight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b="0" i="0" lang="en-US" sz="1700" u="none" cap="none" strike="noStrike">
                <a:solidFill>
                  <a:srgbClr val="040C28"/>
                </a:solidFill>
                <a:highlight>
                  <a:srgbClr val="FFFFFF"/>
                </a:highlight>
                <a:latin typeface="Cambria Math"/>
                <a:ea typeface="Cambria Math"/>
                <a:cs typeface="Cambria Math"/>
                <a:sym typeface="Cambria Math"/>
              </a:rPr>
              <a:t>×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3) = 60</a:t>
            </a:r>
            <a:endParaRPr b="0" i="0" sz="2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453575" y="5256500"/>
            <a:ext cx="783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We can later try to solve the same problem with permutation or combination concept.</a:t>
            </a:r>
            <a:endParaRPr b="0" i="0" sz="2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Telephone Numbering Plan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228600" y="1232025"/>
            <a:ext cx="8697300" cy="2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6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: The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North American numbering plan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NANP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) specifies that a telephone number consists of 10 digits, consisting of a three-digit area code, a three-digit office code, and a four-digit station code.  There are some restrictions on the digits.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8572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➢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denote a digit from 0 through 9.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8572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➢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denote a digit from 2 through 9.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8572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➢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Let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Y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 denote a digit that is  0 or 1.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4000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■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In the old plan (in use in the 1960s) the format was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NYX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-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NNX-XXXX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3525" lvl="1" marL="40005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mbria Math"/>
              <a:buChar char="■"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In the new plan, the format is 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-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NXX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-</a:t>
            </a:r>
            <a:r>
              <a:rPr i="1" lang="en-US" sz="1600">
                <a:latin typeface="Cambria Math"/>
                <a:ea typeface="Cambria Math"/>
                <a:cs typeface="Cambria Math"/>
                <a:sym typeface="Cambria Math"/>
              </a:rPr>
              <a:t>XXXX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710"/>
              <a:buNone/>
            </a:pP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How many different telephone numbers are possible under the old plan and the new plan?</a:t>
            </a:r>
            <a:endParaRPr sz="16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259850" y="3797025"/>
            <a:ext cx="8229600" cy="24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Use the Product Rule.</a:t>
            </a:r>
            <a:endParaRPr b="0"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8 ∙2 ∙10 = 160 area codes with the format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NYX.</a:t>
            </a:r>
            <a:endParaRPr b="0"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 8 ∙10 ∙10 = 800 area codes with the format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NXX. </a:t>
            </a:r>
            <a:endParaRPr b="0"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8 ∙8 ∙10 = 640 office codes with the format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NNX.  </a:t>
            </a:r>
            <a:endParaRPr b="0"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7525" lvl="1" marL="64008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There are  10 ∙10 ∙10 ∙10 = 10,000 station codes with the format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XXXX. </a:t>
            </a:r>
            <a:endParaRPr b="0"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Number of  old plan telephone numbers: 160 ∙ 640 ∙ 10,000 = 1,024,000,000.</a:t>
            </a:r>
            <a:endParaRPr b="0" i="0" sz="1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Number of new plan telephone numbers: 800 ∙ 800 ∙ 10,000 = 6,400,000,000.</a:t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457200" y="2468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Counting Subsets of a Finite Set</a:t>
            </a:r>
            <a:endParaRPr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457200" y="1533000"/>
            <a:ext cx="8229600" cy="4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Counting Subsets of a Finite Set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Use the product rule to show that the number of different subsets of a finite set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is 2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When the elements of S are listed in an arbitrary order,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there is a one-to-one correspondence between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subsets of 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bit strings of length |</a:t>
            </a:r>
            <a:r>
              <a:rPr b="1" i="1" lang="en-US" sz="2400">
                <a:latin typeface="Cambria Math"/>
                <a:ea typeface="Cambria Math"/>
                <a:cs typeface="Cambria Math"/>
                <a:sym typeface="Cambria Math"/>
              </a:rPr>
              <a:t>S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 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when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 element is in the subset, the bit string has a 1 in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i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th position and a 0 otherwise.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   By the product rule, there are  2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S 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such bit strings, and therefore 2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baseline="30000" i="1" lang="en-US" sz="2400">
                <a:latin typeface="Cambria Math"/>
                <a:ea typeface="Cambria Math"/>
                <a:cs typeface="Cambria Math"/>
                <a:sym typeface="Cambria Math"/>
              </a:rPr>
              <a:t>S </a:t>
            </a:r>
            <a:r>
              <a:rPr baseline="30000" lang="en-US" sz="2400"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subsets.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Product Rule in Terms of Sets</a:t>
            </a:r>
            <a:endParaRPr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If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, … ,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are finite sets, then the number of elements in the Cartesian product of these sets is the product of the number of elements of each set.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70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task of choosing an element in the Cartesian product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⨉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⨉ ∙∙∙ ⨉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is done by choosing an element in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, an element in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 A</a:t>
            </a:r>
            <a:r>
              <a:rPr baseline="-25000" lang="en-US" sz="2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, …, and an element in </a:t>
            </a:r>
            <a:r>
              <a:rPr i="1" lang="en-US" sz="2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800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sz="2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By the product rule, it follows that: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371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Font typeface="Cambria Math"/>
              <a:buChar char="❖"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990600" y="5334000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⨉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⨉ ∙∙∙ ⨉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| = 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∙ 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∙  ∙∙∙  ∙ |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|. </a:t>
            </a:r>
            <a:r>
              <a:rPr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4000"/>
              <a:t>Basic Counting Principles:  The Sum Rule</a:t>
            </a:r>
            <a:endParaRPr sz="4000"/>
          </a:p>
        </p:txBody>
      </p:sp>
      <p:sp>
        <p:nvSpPr>
          <p:cNvPr id="194" name="Google Shape;194;p21"/>
          <p:cNvSpPr txBox="1"/>
          <p:nvPr>
            <p:ph idx="1" type="body"/>
          </p:nvPr>
        </p:nvSpPr>
        <p:spPr>
          <a:xfrm>
            <a:off x="457200" y="1249670"/>
            <a:ext cx="8229600" cy="48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The Sum Rule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If a task can be done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either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 one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or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in one of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, where none of the set of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 is the </a:t>
            </a: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same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as any of the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ways,  then there are 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 sz="2400">
                <a:latin typeface="Cambria Math"/>
                <a:ea typeface="Cambria Math"/>
                <a:cs typeface="Cambria Math"/>
                <a:sym typeface="Cambria Math"/>
              </a:rPr>
              <a:t> n</a:t>
            </a:r>
            <a:r>
              <a:rPr baseline="-25000" lang="en-US" sz="24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 ways  to do the task.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 The mathematics department must choose either a student or a faculty member as a representative for a university committee. How many choices are there for this representative if there are 37 members of the mathematics faculty and 83 mathematics majors and no one is both a faculty member and a student.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 sz="2400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: By the sum rule it follows that there are 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37 + 83 = 120 possible ways to pick a representative.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457200" y="170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The Sum Rule in terms of sets</a:t>
            </a:r>
            <a:endParaRPr sz="4000"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sum rule can be phrased in terms of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∪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|=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+ |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| as long as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are disjoint sets.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Or more generally,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The case where the sets have elements in common will be discussed when we consider </a:t>
            </a:r>
            <a:r>
              <a:rPr lang="en-US">
                <a:solidFill>
                  <a:srgbClr val="9C254D"/>
                </a:solidFill>
                <a:latin typeface="Cambria Math"/>
                <a:ea typeface="Cambria Math"/>
                <a:cs typeface="Cambria Math"/>
                <a:sym typeface="Cambria Math"/>
              </a:rPr>
              <a:t>the subtraction rule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(remember inclusion-exclusion principle?)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914400" y="3576088"/>
            <a:ext cx="73152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∪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∪ ∙∙∙ ∪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|= 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+ 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+ ∙∙∙ + |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|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when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∩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∅ for all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j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200"/>
              <a:t>Combining the Sum and Product Rule</a:t>
            </a:r>
            <a:endParaRPr sz="4200"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457200" y="1935476"/>
            <a:ext cx="82296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Suppose variable names in a programming language can be either a single letter or a letter followed by a digit. Find the number of possible names.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Two ways to make a label.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Only one letter = 26, 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 Letter followed by a digit = 26*10 = 260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[product rule]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Total labels = 26 + 260 = 286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[sum rule]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457200" y="18296"/>
            <a:ext cx="76197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Example: Counting Passwords</a:t>
            </a:r>
            <a:endParaRPr/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381000" y="862500"/>
            <a:ext cx="8275800" cy="14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710"/>
              <a:buNone/>
            </a:pP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: Each user on a computer system has a password, which is six to eight characters long, where each character is an uppercase letter or a digit. Each password must contain at least one digit. How many possible passwords are there?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381000" y="2274000"/>
            <a:ext cx="79926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Solution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Let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be the total number of passwords, and let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be the passwords of length 6, 7, and 8. 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28600" lvl="1" marL="228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By the sum rule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28600" lvl="1" marL="228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To find each of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, we find the number of passwords of the specified length composed of letters and digits and subtract the number composed only of letters. We find that: 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9250" lvl="2" marL="5143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■"/>
            </a:pP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36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− 26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2,176,782,336 − 308,915,776 = 1,867,866,560.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9250" lvl="2" marL="5143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■"/>
            </a:pP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36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− 26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78,364,164,096 − 8,031,810,176 = 70,332,353,920.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49250" lvl="2" marL="5143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■"/>
            </a:pP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36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− 26</a:t>
            </a:r>
            <a:r>
              <a:rPr b="0" baseline="30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= 2,821,109,907,456 − 208,827,064,576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457200" lvl="0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2,612,282,842,880.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28600" lvl="1" marL="228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Char char="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Consequently,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 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+</a:t>
            </a:r>
            <a:r>
              <a:rPr b="0" i="1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0" baseline="-2500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2,684,483,063,360.</a:t>
            </a:r>
            <a:endParaRPr b="0" i="0" sz="19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457200" y="18298"/>
            <a:ext cx="82296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Internet Addresses</a:t>
            </a:r>
            <a:endParaRPr/>
          </a:p>
        </p:txBody>
      </p:sp>
      <p:sp>
        <p:nvSpPr>
          <p:cNvPr id="220" name="Google Shape;220;p25"/>
          <p:cNvSpPr txBox="1"/>
          <p:nvPr>
            <p:ph idx="1" type="body"/>
          </p:nvPr>
        </p:nvSpPr>
        <p:spPr>
          <a:xfrm>
            <a:off x="381000" y="1199650"/>
            <a:ext cx="8229600" cy="5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Version 4 of the Internet Protocol (IPv4) uses 32 bits.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Class A Addresses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used for the largest networks, a 0, followed by a 7-bit net_id and a 24-bit host_id.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Class B Addresses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used for the medium-sized networks, a 10, followed by a 14-bit net_id and a 16-bit host_id.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Class C Addresses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used for the smallest networks, a 110, followed by a 21-bit net_id and a 8-bit host_id.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510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 Math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Neither Class D nor Class E addresses are assigned as the address of a computer on the internet. Only Classes A, B, and C are available.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510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1111111 is not available as the net_id of a Class A network.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0510" lvl="1" marL="640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Host_ids consisting of all 0s and all 1s are not available in any network.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2.jpg"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6900" y="1503375"/>
            <a:ext cx="5189801" cy="142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Counting Internet Addresses</a:t>
            </a:r>
            <a:endParaRPr/>
          </a:p>
        </p:txBody>
      </p:sp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457200" y="1173475"/>
            <a:ext cx="8229600" cy="49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Example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How many different IPv4 addresses are available for computers on the internet?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1800">
                <a:latin typeface="Cambria Math"/>
                <a:ea typeface="Cambria Math"/>
                <a:cs typeface="Cambria Math"/>
                <a:sym typeface="Cambria Math"/>
              </a:rPr>
              <a:t>    Solution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Use both the sum and the product rule. Let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be the number of available addresses, and let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and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denote the number of addresses for the respective classes.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To find,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− 1 = 127 net_ids. 		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− 2 = 16,777,214 host_ids.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127∙ 16,777,214 = 2,130,706,178.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To find,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= 16,384 net_ids. 		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16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− 2 = 16,534 host_ids.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16,384 ∙ 16, 534 = 1,073,709,056.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To find,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: 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21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= 2,097,152 net_ids. 		2</a:t>
            </a:r>
            <a:r>
              <a:rPr baseline="30000" lang="en-US" sz="18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− 2 = 254 host_ids.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2,097,152 ∙ 254 = 532,676,608.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60794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Hence, the total number of available IPv4 addresses is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 = 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+ 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+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x</a:t>
            </a:r>
            <a:r>
              <a:rPr baseline="-25000" lang="en-US" sz="18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   = 2,130,706,178 + 1,073,709,056 + 532,676,608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        = 3, 737,091,842.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3581400" y="5715000"/>
            <a:ext cx="4724400" cy="923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Not Enough Today 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newer IPv6 protocol solves the problem of too few addresses.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Basic Counting Principles: Subtraction Rule</a:t>
            </a:r>
            <a:endParaRPr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Subtraction Rule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If a task can be done either in one of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 or in one of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ways, then the total number of ways to do the task is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 n</a:t>
            </a:r>
            <a:r>
              <a:rPr baseline="-25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minus the number of ways  to do the task that are common to the two different ways.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Cambria Math"/>
              <a:buChar char="❖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Also known as, the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principle of inclusion-exclusion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addin_tmp.png" id="235" name="Google Shape;2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4876800"/>
            <a:ext cx="4812030" cy="38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type="title"/>
          </p:nvPr>
        </p:nvSpPr>
        <p:spPr>
          <a:xfrm>
            <a:off x="457200" y="182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Counting Bit Strings</a:t>
            </a:r>
            <a:endParaRPr/>
          </a:p>
        </p:txBody>
      </p:sp>
      <p:sp>
        <p:nvSpPr>
          <p:cNvPr id="241" name="Google Shape;241;p28"/>
          <p:cNvSpPr txBox="1"/>
          <p:nvPr>
            <p:ph idx="1" type="body"/>
          </p:nvPr>
        </p:nvSpPr>
        <p:spPr>
          <a:xfrm>
            <a:off x="330525" y="1392625"/>
            <a:ext cx="82296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  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How many bit strings of length eight either start with a 1 bit or end with the two bits 00?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descr="0503.jpg" id="242" name="Google Shape;2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724" y="2419651"/>
            <a:ext cx="2128243" cy="220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320775" y="2419650"/>
            <a:ext cx="8229600" cy="3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7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Solution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:  Use the subtraction rule.</a:t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Number of bit strings of length eight                                    that start with a 1 bit: 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128</a:t>
            </a:r>
            <a:endParaRPr b="0" i="0" sz="24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Number of bit strings of length eight                                    that end with bits 00: 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64</a:t>
            </a:r>
            <a:endParaRPr b="0" i="0" sz="24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Number of bit strings of length eight</a:t>
            </a:r>
            <a:r>
              <a:rPr lang="en-US" sz="24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that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start with a 1 bit and end with bits 00 : 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32</a:t>
            </a:r>
            <a:endParaRPr b="0" i="0" sz="24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2575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Cambria Math"/>
              <a:buChar char="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Hence, the number is 128 + 64 − 32 = 160.</a:t>
            </a:r>
            <a:endParaRPr b="0" i="0" sz="24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