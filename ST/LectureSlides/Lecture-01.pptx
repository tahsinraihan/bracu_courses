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embeddedFontLst>
    <p:embeddedFont>
      <p:font typeface="Constantia"/>
      <p:regular r:id="rId17"/>
      <p:bold r:id="rId18"/>
      <p:italic r:id="rId19"/>
      <p:boldItalic r:id="rId20"/>
    </p:embeddedFont>
    <p:embeddedFont>
      <p:font typeface="Cambria Math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496438-769B-4CE7-9DF6-45B5520241BC}">
  <a:tblStyle styleId="{70496438-769B-4CE7-9DF6-45B5520241BC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 b="off" i="off"/>
      <a:tcStyle>
        <a:fill>
          <a:solidFill>
            <a:srgbClr val="CA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4EA"/>
          </a:solidFill>
        </a:fill>
      </a:tcStyle>
    </a:band1V>
    <a:band2V>
      <a:tcTxStyle b="off" i="off"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stantia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CambriaMath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onstantia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Constantia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onstanti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5" name="Google Shape;25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1" type="subTitle"/>
          </p:nvPr>
        </p:nvSpPr>
        <p:spPr>
          <a:xfrm>
            <a:off x="533400" y="3228536"/>
            <a:ext cx="78546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Font typeface="Cambria Math"/>
              <a:buNone/>
              <a:defRPr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32" name="Google Shape;32;p2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175" y="5715116"/>
            <a:ext cx="9144053" cy="1142603"/>
            <a:chOff x="-4085248" y="3903669"/>
            <a:chExt cx="13229243" cy="1239938"/>
          </a:xfrm>
        </p:grpSpPr>
        <p:sp>
          <p:nvSpPr>
            <p:cNvPr id="36" name="Google Shape;36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530352" y="1316736"/>
            <a:ext cx="7772400" cy="136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p5"/>
          <p:cNvGrpSpPr/>
          <p:nvPr/>
        </p:nvGrpSpPr>
        <p:grpSpPr>
          <a:xfrm>
            <a:off x="175" y="5715116"/>
            <a:ext cx="9144053" cy="1142603"/>
            <a:chOff x="-4085248" y="3903669"/>
            <a:chExt cx="13229243" cy="1239938"/>
          </a:xfrm>
        </p:grpSpPr>
        <p:sp>
          <p:nvSpPr>
            <p:cNvPr id="58" name="Google Shape;58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457200" y="1855248"/>
            <a:ext cx="40401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8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8"/>
          <p:cNvSpPr txBox="1"/>
          <p:nvPr>
            <p:ph type="title"/>
          </p:nvPr>
        </p:nvSpPr>
        <p:spPr>
          <a:xfrm>
            <a:off x="457200" y="1999488"/>
            <a:ext cx="8305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8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/>
          <p:nvPr>
            <p:ph type="title"/>
          </p:nvPr>
        </p:nvSpPr>
        <p:spPr>
          <a:xfrm>
            <a:off x="685800" y="514352"/>
            <a:ext cx="2743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0"/>
          <p:cNvSpPr txBox="1"/>
          <p:nvPr>
            <p:ph idx="1" type="body"/>
          </p:nvPr>
        </p:nvSpPr>
        <p:spPr>
          <a:xfrm>
            <a:off x="685800" y="1676400"/>
            <a:ext cx="3566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⚫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⚫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97" name="Google Shape;97;p10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0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0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"/>
          <p:cNvSpPr/>
          <p:nvPr/>
        </p:nvSpPr>
        <p:spPr>
          <a:xfrm flipH="1" rot="-10380037">
            <a:off x="4172443" y="1911954"/>
            <a:ext cx="4293497" cy="3373422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p11"/>
          <p:cNvSpPr/>
          <p:nvPr/>
        </p:nvSpPr>
        <p:spPr>
          <a:xfrm flipH="1" rot="-10380733">
            <a:off x="8004186" y="5359728"/>
            <a:ext cx="155354" cy="155775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p11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1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p11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1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1"/>
          <p:cNvSpPr txBox="1"/>
          <p:nvPr>
            <p:ph idx="12" type="sldNum"/>
          </p:nvPr>
        </p:nvSpPr>
        <p:spPr>
          <a:xfrm>
            <a:off x="8077200" y="6356351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1"/>
          <p:cNvSpPr/>
          <p:nvPr>
            <p:ph idx="2" type="pic"/>
          </p:nvPr>
        </p:nvSpPr>
        <p:spPr>
          <a:xfrm rot="420005">
            <a:off x="4433567" y="1986923"/>
            <a:ext cx="3771211" cy="3223354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" type="body"/>
          </p:nvPr>
        </p:nvSpPr>
        <p:spPr>
          <a:xfrm rot="5400000">
            <a:off x="2377350" y="15330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2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7600939" y="3"/>
            <a:ext cx="1542914" cy="1371650"/>
            <a:chOff x="6098378" y="5"/>
            <a:chExt cx="3045625" cy="2030570"/>
          </a:xfrm>
        </p:grpSpPr>
        <p:sp>
          <p:nvSpPr>
            <p:cNvPr id="7" name="Google Shape;7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12;p1"/>
          <p:cNvGrpSpPr/>
          <p:nvPr/>
        </p:nvGrpSpPr>
        <p:grpSpPr>
          <a:xfrm>
            <a:off x="-2" y="6105001"/>
            <a:ext cx="9144070" cy="752890"/>
            <a:chOff x="-10935211" y="3903669"/>
            <a:chExt cx="20079206" cy="1239937"/>
          </a:xfrm>
        </p:grpSpPr>
        <p:sp>
          <p:nvSpPr>
            <p:cNvPr id="13" name="Google Shape;13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Cambria Math"/>
              <a:buChar char="⚫"/>
              <a:defRPr i="0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21945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Cambria Math"/>
              <a:buChar char="⚫"/>
              <a:defRPr i="0" sz="21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Cambria Math"/>
              <a:buChar char="⚫"/>
              <a:defRPr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mbria Math"/>
              <a:buChar char="⚫"/>
              <a:defRPr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Cambria Math"/>
              <a:buChar char="⚫"/>
              <a:defRPr i="0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0988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Cambria Math"/>
              <a:buChar char="⚫"/>
              <a:defRPr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 Math"/>
              <a:buChar char="•"/>
              <a:defRPr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 Math"/>
              <a:buChar char="•"/>
              <a:defRPr i="0" sz="1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ctrTitle"/>
          </p:nvPr>
        </p:nvSpPr>
        <p:spPr>
          <a:xfrm>
            <a:off x="988250" y="1399725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1: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127" name="Google Shape;127;p14"/>
          <p:cNvSpPr txBox="1"/>
          <p:nvPr>
            <p:ph idx="1" type="subTitle"/>
          </p:nvPr>
        </p:nvSpPr>
        <p:spPr>
          <a:xfrm>
            <a:off x="533400" y="3228536"/>
            <a:ext cx="78546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1.1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Propositions</a:t>
            </a:r>
            <a:endParaRPr/>
          </a:p>
        </p:txBody>
      </p:sp>
      <p:sp>
        <p:nvSpPr>
          <p:cNvPr id="133" name="Google Shape;133;p15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 </a:t>
            </a:r>
            <a:r>
              <a:rPr i="1" lang="en-US"/>
              <a:t>proposition</a:t>
            </a:r>
            <a:r>
              <a:rPr lang="en-US"/>
              <a:t> is a declarative sentence that is either true or false.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Examples of propositions:</a:t>
            </a:r>
            <a:endParaRPr/>
          </a:p>
          <a:p>
            <a:pPr indent="-514350" lvl="1" marL="88011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/>
              <a:t>The Moon is made of green cheese.</a:t>
            </a:r>
            <a:endParaRPr/>
          </a:p>
          <a:p>
            <a:pPr indent="-514350" lvl="1" marL="88011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/>
              <a:t>Trenton is the capital of New Jersey.</a:t>
            </a:r>
            <a:endParaRPr/>
          </a:p>
          <a:p>
            <a:pPr indent="-514350" lvl="1" marL="88011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/>
              <a:t>Toronto is the capital of Canada.</a:t>
            </a:r>
            <a:endParaRPr/>
          </a:p>
          <a:p>
            <a:pPr indent="-514350" lvl="1" marL="88011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/>
          </a:p>
          <a:p>
            <a:pPr indent="-514350" lvl="1" marL="88011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Examples that are not propositions.</a:t>
            </a:r>
            <a:endParaRPr/>
          </a:p>
          <a:p>
            <a:pPr indent="-514350" lvl="1" marL="88011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/>
              <a:t>Sit down!</a:t>
            </a:r>
            <a:endParaRPr/>
          </a:p>
          <a:p>
            <a:pPr indent="-514350" lvl="1" marL="88011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/>
              <a:t>What time is it?</a:t>
            </a:r>
            <a:endParaRPr/>
          </a:p>
          <a:p>
            <a:pPr indent="-514350" lvl="1" marL="88011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i="1" lang="en-US"/>
              <a:t>x</a:t>
            </a:r>
            <a:r>
              <a:rPr lang="en-US"/>
              <a:t> + 1 = 2</a:t>
            </a:r>
            <a:endParaRPr/>
          </a:p>
          <a:p>
            <a:pPr indent="-514350" lvl="1" marL="88011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i="1" lang="en-US"/>
              <a:t>x</a:t>
            </a:r>
            <a:r>
              <a:rPr lang="en-US"/>
              <a:t> + </a:t>
            </a:r>
            <a:r>
              <a:rPr i="1" lang="en-US"/>
              <a:t>y </a:t>
            </a:r>
            <a:r>
              <a:rPr lang="en-US"/>
              <a:t>= </a:t>
            </a:r>
            <a:r>
              <a:rPr i="1" lang="en-US"/>
              <a:t>z</a:t>
            </a:r>
            <a:endParaRPr/>
          </a:p>
          <a:p>
            <a:pPr indent="-141001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139" name="Google Shape;139;p16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Propositions that cannot be expressed in terms of simpler propositions are called </a:t>
            </a:r>
            <a:r>
              <a:rPr b="1" lang="en-US"/>
              <a:t>atomic propositions</a:t>
            </a:r>
            <a:r>
              <a:rPr lang="en-US"/>
              <a:t>.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Constructing Propositions</a:t>
            </a:r>
            <a:endParaRPr/>
          </a:p>
          <a:p>
            <a:pPr indent="-246380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Propositional Variables: </a:t>
            </a:r>
            <a:r>
              <a:rPr i="1" lang="en-US"/>
              <a:t>p</a:t>
            </a:r>
            <a:r>
              <a:rPr lang="en-US"/>
              <a:t>, </a:t>
            </a:r>
            <a:r>
              <a:rPr i="1" lang="en-US"/>
              <a:t>q, r</a:t>
            </a:r>
            <a:r>
              <a:rPr lang="en-US"/>
              <a:t>, </a:t>
            </a:r>
            <a:r>
              <a:rPr i="1" lang="en-US"/>
              <a:t>s</a:t>
            </a:r>
            <a:r>
              <a:rPr lang="en-US"/>
              <a:t>, …</a:t>
            </a:r>
            <a:endParaRPr/>
          </a:p>
          <a:p>
            <a:pPr indent="-246380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The proposition that is always true is denoted by </a:t>
            </a:r>
            <a:r>
              <a:rPr b="1" lang="en-US"/>
              <a:t>T</a:t>
            </a:r>
            <a:r>
              <a:rPr lang="en-US"/>
              <a:t> and the proposition that is always false is denoted by </a:t>
            </a:r>
            <a:r>
              <a:rPr b="1" lang="en-US"/>
              <a:t>F</a:t>
            </a:r>
            <a:r>
              <a:rPr lang="en-US"/>
              <a:t>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Constructing Propositions</a:t>
            </a:r>
            <a:endParaRPr/>
          </a:p>
          <a:p>
            <a:pPr indent="-246380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Propositional Variables: </a:t>
            </a:r>
            <a:r>
              <a:rPr i="1" lang="en-US"/>
              <a:t>p</a:t>
            </a:r>
            <a:r>
              <a:rPr lang="en-US"/>
              <a:t>, </a:t>
            </a:r>
            <a:r>
              <a:rPr i="1" lang="en-US"/>
              <a:t>q, r</a:t>
            </a:r>
            <a:r>
              <a:rPr lang="en-US"/>
              <a:t>, </a:t>
            </a:r>
            <a:r>
              <a:rPr i="1" lang="en-US"/>
              <a:t>s</a:t>
            </a:r>
            <a:r>
              <a:rPr lang="en-US"/>
              <a:t>, …</a:t>
            </a:r>
            <a:endParaRPr/>
          </a:p>
          <a:p>
            <a:pPr indent="-246380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The proposition that is always true is denoted by </a:t>
            </a:r>
            <a:r>
              <a:rPr b="1" lang="en-US"/>
              <a:t>T</a:t>
            </a:r>
            <a:r>
              <a:rPr lang="en-US"/>
              <a:t> and the proposition that is always false is denoted by </a:t>
            </a:r>
            <a:r>
              <a:rPr b="1" lang="en-US"/>
              <a:t>F</a:t>
            </a:r>
            <a:r>
              <a:rPr lang="en-US"/>
              <a:t>.</a:t>
            </a:r>
            <a:endParaRPr/>
          </a:p>
          <a:p>
            <a:pPr indent="-246380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Compound Propositions: constructed from logical connectives and other propositions</a:t>
            </a:r>
            <a:endParaRPr/>
          </a:p>
          <a:p>
            <a:pPr indent="-246380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Negation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endParaRPr/>
          </a:p>
          <a:p>
            <a:pPr indent="-246380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Conjunction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</a:t>
            </a:r>
            <a:endParaRPr/>
          </a:p>
          <a:p>
            <a:pPr indent="-246380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Disjunction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∨</a:t>
            </a:r>
            <a:endParaRPr/>
          </a:p>
          <a:p>
            <a:pPr indent="-246380" lvl="2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Implication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endParaRPr/>
          </a:p>
          <a:p>
            <a:pPr indent="-246380" lvl="2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Biconditional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↔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Compound Propositions: Negation</a:t>
            </a:r>
            <a:endParaRPr/>
          </a:p>
        </p:txBody>
      </p:sp>
      <p:pic>
        <p:nvPicPr>
          <p:cNvPr descr="A text on a white background&#10;&#10;Description automatically generated" id="151" name="Google Shape;151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91264"/>
            <a:ext cx="8229600" cy="24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Compound Propositions: Negation</a:t>
            </a:r>
            <a:endParaRPr/>
          </a:p>
        </p:txBody>
      </p:sp>
      <p:sp>
        <p:nvSpPr>
          <p:cNvPr id="157" name="Google Shape;157;p19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1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80"/>
              <a:buChar char="●"/>
            </a:pPr>
            <a:r>
              <a:rPr lang="en-US"/>
              <a:t>The </a:t>
            </a:r>
            <a:r>
              <a:rPr i="1" lang="en-US"/>
              <a:t>negation</a:t>
            </a:r>
            <a:r>
              <a:rPr lang="en-US"/>
              <a:t> of a proposition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is  denoted by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and has this truth table:</a:t>
            </a:r>
            <a:endParaRPr/>
          </a:p>
          <a:p>
            <a:pPr indent="-129540" lvl="1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280"/>
              <a:buNone/>
            </a:pPr>
            <a:r>
              <a:t/>
            </a:r>
            <a:endParaRPr/>
          </a:p>
          <a:p>
            <a:pPr indent="-129540" lvl="1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28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/>
              <a:t>Example</a:t>
            </a:r>
            <a:r>
              <a:rPr lang="en-US"/>
              <a:t>: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denotes “The earth is round.”, then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   denotes “It is not the case that the earth is round,” or more simply “The earth is not round.”  </a:t>
            </a:r>
            <a:endParaRPr/>
          </a:p>
        </p:txBody>
      </p:sp>
      <p:graphicFrame>
        <p:nvGraphicFramePr>
          <p:cNvPr id="158" name="Google Shape;158;p19"/>
          <p:cNvGraphicFramePr/>
          <p:nvPr/>
        </p:nvGraphicFramePr>
        <p:xfrm>
          <a:off x="1828800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{70496438-769B-4CE7-9DF6-45B5520241BC}</a:tableStyleId>
              </a:tblPr>
              <a:tblGrid>
                <a:gridCol w="2819400"/>
                <a:gridCol w="2819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lang="en-US" sz="1800" u="none" cap="none" strike="noStrike"/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Conjunction &amp; Disjunction</a:t>
            </a:r>
            <a:endParaRPr/>
          </a:p>
        </p:txBody>
      </p:sp>
      <p:pic>
        <p:nvPicPr>
          <p:cNvPr descr="A close-up of a sign&#10;&#10;Description automatically generated" id="164" name="Google Shape;164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65099"/>
            <a:ext cx="8229600" cy="8814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sign&#10;&#10;Description automatically generated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264" y="3666925"/>
            <a:ext cx="8225472" cy="876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Conjunction</a:t>
            </a:r>
            <a:endParaRPr/>
          </a:p>
        </p:txBody>
      </p:sp>
      <p:sp>
        <p:nvSpPr>
          <p:cNvPr id="171" name="Google Shape;171;p21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</a:t>
            </a:r>
            <a:r>
              <a:rPr i="1" lang="en-US"/>
              <a:t>conjunction</a:t>
            </a:r>
            <a:r>
              <a:rPr lang="en-US"/>
              <a:t> of propositions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and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is denoted by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  </a:t>
            </a:r>
            <a:r>
              <a:rPr lang="en-US"/>
              <a:t>and has this truth table: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/>
              <a:t>Example</a:t>
            </a:r>
            <a:r>
              <a:rPr lang="en-US"/>
              <a:t>: 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denotes “I am at home.”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denotes “It is raining.” then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denotes “I am at home and it is raining.”</a:t>
            </a:r>
            <a:endParaRPr/>
          </a:p>
        </p:txBody>
      </p:sp>
      <p:graphicFrame>
        <p:nvGraphicFramePr>
          <p:cNvPr id="172" name="Google Shape;172;p21"/>
          <p:cNvGraphicFramePr/>
          <p:nvPr/>
        </p:nvGraphicFramePr>
        <p:xfrm>
          <a:off x="1295400" y="2819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{70496438-769B-4CE7-9DF6-45B5520241BC}</a:tableStyleId>
              </a:tblPr>
              <a:tblGrid>
                <a:gridCol w="2032000"/>
                <a:gridCol w="2032000"/>
                <a:gridCol w="20320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 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 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Disjunction</a:t>
            </a:r>
            <a:endParaRPr/>
          </a:p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457200" y="1935480"/>
            <a:ext cx="8229600" cy="4693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</a:t>
            </a:r>
            <a:r>
              <a:rPr i="1" lang="en-US"/>
              <a:t>disjunction</a:t>
            </a:r>
            <a:r>
              <a:rPr lang="en-US"/>
              <a:t> of propositions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 is denoted by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∨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and has this truth table: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/>
              <a:t>Example</a:t>
            </a:r>
            <a:r>
              <a:rPr lang="en-US"/>
              <a:t>: 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denotes “I am at home.”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denotes “It is raining.” then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∨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denotes “I am at home or it is raining.”</a:t>
            </a:r>
            <a:endParaRPr/>
          </a:p>
        </p:txBody>
      </p:sp>
      <p:graphicFrame>
        <p:nvGraphicFramePr>
          <p:cNvPr id="179" name="Google Shape;179;p22"/>
          <p:cNvGraphicFramePr/>
          <p:nvPr/>
        </p:nvGraphicFramePr>
        <p:xfrm>
          <a:off x="15240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{70496438-769B-4CE7-9DF6-45B5520241BC}</a:tableStyleId>
              </a:tblPr>
              <a:tblGrid>
                <a:gridCol w="1879600"/>
                <a:gridCol w="1879600"/>
                <a:gridCol w="1879600"/>
              </a:tblGrid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r>
                        <a:rPr lang="en-US" sz="1800" u="none" cap="none" strike="noStrike"/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 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∨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The Connective Or in English</a:t>
            </a:r>
            <a:endParaRPr/>
          </a:p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381000" y="175260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In English “or” has two distinct meanings.</a:t>
            </a:r>
            <a:endParaRPr/>
          </a:p>
          <a:p>
            <a:pPr indent="-246380" lvl="1" marL="64008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○"/>
            </a:pPr>
            <a:r>
              <a:rPr b="1" lang="en-US" sz="1800">
                <a:solidFill>
                  <a:schemeClr val="dk2"/>
                </a:solidFill>
              </a:rPr>
              <a:t>“Inclusive Or”</a:t>
            </a:r>
            <a:r>
              <a:rPr lang="en-US" sz="1800">
                <a:solidFill>
                  <a:schemeClr val="dk2"/>
                </a:solidFill>
              </a:rPr>
              <a:t> </a:t>
            </a:r>
            <a:r>
              <a:rPr lang="en-US" sz="1800"/>
              <a:t> - In the sentence “Students who have taken CSE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230 </a:t>
            </a:r>
            <a:r>
              <a:rPr lang="en-US" sz="1800"/>
              <a:t>or MAT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120</a:t>
            </a:r>
            <a:r>
              <a:rPr lang="en-US" sz="1800"/>
              <a:t> may take this class,” we assume that students need to have taken one of the prerequisites, but may have taken both. This is the meaning of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disjunction. For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∨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to be true, either one or both of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q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must be true.</a:t>
            </a:r>
            <a:endParaRPr/>
          </a:p>
          <a:p>
            <a:pPr indent="-246380" lvl="1" marL="64008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○"/>
            </a:pPr>
            <a:r>
              <a:rPr b="1" lang="en-US" sz="1800">
                <a:solidFill>
                  <a:schemeClr val="dk2"/>
                </a:solidFill>
              </a:rPr>
              <a:t>“Exclusive Or”</a:t>
            </a:r>
            <a:r>
              <a:rPr b="1" lang="en-US" sz="1800">
                <a:solidFill>
                  <a:srgbClr val="212D74"/>
                </a:solidFill>
              </a:rPr>
              <a:t> </a:t>
            </a:r>
            <a:r>
              <a:rPr lang="en-US" sz="1800"/>
              <a:t> - When reading the sentence “Soup or salad comes with this entrée,” we do not expect to be able to get </a:t>
            </a:r>
            <a:r>
              <a:rPr b="1" lang="en-US" sz="1800"/>
              <a:t>both </a:t>
            </a:r>
            <a:r>
              <a:rPr lang="en-US" sz="1800"/>
              <a:t>soup and salad. This is the meaning of Exclusive Or (Xor). In </a:t>
            </a:r>
            <a:r>
              <a:rPr i="1" lang="en-US" sz="1800"/>
              <a:t>p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⊕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q , </a:t>
            </a:r>
            <a:r>
              <a:rPr lang="en-US" sz="1800"/>
              <a:t>one of </a:t>
            </a:r>
            <a:r>
              <a:rPr i="1" lang="en-US" sz="1800"/>
              <a:t>p</a:t>
            </a:r>
            <a:r>
              <a:rPr lang="en-US" sz="1800"/>
              <a:t> and </a:t>
            </a:r>
            <a:r>
              <a:rPr i="1" lang="en-US" sz="1800"/>
              <a:t>q</a:t>
            </a:r>
            <a:r>
              <a:rPr lang="en-US" sz="1800"/>
              <a:t> must be true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 but not both.  The truth table for ⊕ is:</a:t>
            </a:r>
            <a:endParaRPr i="1" sz="1800"/>
          </a:p>
          <a:p>
            <a:pPr indent="-149225" lvl="1" marL="64008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/>
          </a:p>
        </p:txBody>
      </p:sp>
      <p:graphicFrame>
        <p:nvGraphicFramePr>
          <p:cNvPr id="186" name="Google Shape;186;p23"/>
          <p:cNvGraphicFramePr/>
          <p:nvPr/>
        </p:nvGraphicFramePr>
        <p:xfrm>
          <a:off x="1905000" y="4648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{70496438-769B-4CE7-9DF6-45B5520241BC}</a:tableStyleId>
              </a:tblPr>
              <a:tblGrid>
                <a:gridCol w="1549400"/>
                <a:gridCol w="1549400"/>
                <a:gridCol w="15494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 </a:t>
                      </a:r>
                      <a:r>
                        <a:rPr i="0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⊕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