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Constantia"/>
      <p:regular r:id="rId22"/>
      <p:bold r:id="rId23"/>
      <p:italic r:id="rId24"/>
      <p:boldItalic r:id="rId25"/>
    </p:embeddedFont>
    <p:embeddedFont>
      <p:font typeface="Cambria Math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onstantia-regular.fntdata"/><Relationship Id="rId21" Type="http://schemas.openxmlformats.org/officeDocument/2006/relationships/slide" Target="slides/slide16.xml"/><Relationship Id="rId24" Type="http://schemas.openxmlformats.org/officeDocument/2006/relationships/font" Target="fonts/Constantia-italic.fntdata"/><Relationship Id="rId23" Type="http://schemas.openxmlformats.org/officeDocument/2006/relationships/font" Target="fonts/Constanti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mbriaMath-regular.fntdata"/><Relationship Id="rId25" Type="http://schemas.openxmlformats.org/officeDocument/2006/relationships/font" Target="fonts/Constanti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b5ee0d9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3b5ee0d90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b5ee0d9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3b5ee0d90f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ct val="100000"/>
              <a:buFont typeface="Calibri"/>
              <a:buNone/>
            </a:pPr>
            <a:r>
              <a:rPr lang="en-US"/>
              <a:t>Lecture 7: Primes and Greatest Common Divisors</a:t>
            </a:r>
            <a:endParaRPr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4.3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Prime Numbers and their Properties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Conjectures and Open Problems About Primes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Greatest Common Divisors and Least Common Multiples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Euclidean Algorithm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gcds as Linear Combinations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Primes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Definition</a:t>
            </a:r>
            <a:r>
              <a:rPr lang="en-US"/>
              <a:t>: A positive integer </a:t>
            </a:r>
            <a:r>
              <a:rPr i="1" lang="en-US"/>
              <a:t>p</a:t>
            </a:r>
            <a:r>
              <a:rPr lang="en-US"/>
              <a:t>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is called </a:t>
            </a:r>
            <a:r>
              <a:rPr i="1" lang="en-US"/>
              <a:t>prime</a:t>
            </a:r>
            <a:r>
              <a:rPr lang="en-US"/>
              <a:t> if the only positive factors of </a:t>
            </a:r>
            <a:r>
              <a:rPr i="1" lang="en-US"/>
              <a:t>p</a:t>
            </a:r>
            <a:r>
              <a:rPr lang="en-US"/>
              <a:t> are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and </a:t>
            </a:r>
            <a:r>
              <a:rPr i="1" lang="en-US"/>
              <a:t>p</a:t>
            </a:r>
            <a:r>
              <a:rPr lang="en-US"/>
              <a:t>. A positive integer that is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and is not prime is called </a:t>
            </a:r>
            <a:r>
              <a:rPr i="1" lang="en-US"/>
              <a:t>composite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b="1" lang="en-US"/>
              <a:t>Example</a:t>
            </a:r>
            <a:r>
              <a:rPr lang="en-US"/>
              <a:t>:  The integer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is prime because its only positive factors are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, but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/>
              <a:t> is composite because it is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Fundamental Theorem of Arithmetic</a:t>
            </a:r>
            <a:endParaRPr sz="40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Theorem</a:t>
            </a:r>
            <a:r>
              <a:rPr lang="en-US"/>
              <a:t>: Every positive integer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can be written uniquely as a prime or as the product of two or more primes where the </a:t>
            </a:r>
            <a:r>
              <a:rPr b="1" lang="en-US"/>
              <a:t>prime factors</a:t>
            </a:r>
            <a:r>
              <a:rPr lang="en-US"/>
              <a:t> are written in order of nondecreasing size.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</a:t>
            </a: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100 = 2 ∙ 2 ∙ 5 ∙ 5 = 2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∙ 5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641 = 641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999 = 3 ∙ 3 ∙ 3 ∙ 37 = 3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∙ 37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1024 = 2 ∙ 2 ∙ 2 ∙ 2 ∙ 2 ∙ 2 ∙ 2 ∙ 2 ∙ 2 ∙ 2 = 2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Finding Prime Numbers</a:t>
            </a:r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an integer </a:t>
            </a:r>
            <a:r>
              <a:rPr i="1" lang="en-US"/>
              <a:t>n</a:t>
            </a:r>
            <a:r>
              <a:rPr lang="en-US"/>
              <a:t> is a composite integer,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then it has a prime divisor less than or equal to √</a:t>
            </a:r>
            <a:r>
              <a:rPr i="1" lang="en-US"/>
              <a:t>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To see this, note that if </a:t>
            </a:r>
            <a:r>
              <a:rPr i="1" lang="en-US"/>
              <a:t>n</a:t>
            </a:r>
            <a:r>
              <a:rPr lang="en-US"/>
              <a:t> = </a:t>
            </a:r>
            <a:r>
              <a:rPr i="1" lang="en-US"/>
              <a:t>ab</a:t>
            </a:r>
            <a:r>
              <a:rPr lang="en-US"/>
              <a:t>, then  </a:t>
            </a:r>
            <a:r>
              <a:rPr i="1" lang="en-US"/>
              <a:t>a</a:t>
            </a:r>
            <a:r>
              <a:rPr lang="en-US"/>
              <a:t> ≤ √</a:t>
            </a:r>
            <a:r>
              <a:rPr i="1" lang="en-US"/>
              <a:t>n </a:t>
            </a:r>
            <a:r>
              <a:rPr lang="en-US"/>
              <a:t> or </a:t>
            </a:r>
            <a:r>
              <a:rPr i="1" lang="en-US"/>
              <a:t>b </a:t>
            </a:r>
            <a:r>
              <a:rPr lang="en-US"/>
              <a:t>≤√</a:t>
            </a:r>
            <a:r>
              <a:rPr i="1" lang="en-US"/>
              <a:t>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-US"/>
              <a:t>Trial division</a:t>
            </a:r>
            <a:r>
              <a:rPr b="1" lang="en-US"/>
              <a:t>,</a:t>
            </a:r>
            <a:r>
              <a:rPr lang="en-US"/>
              <a:t> a very </a:t>
            </a:r>
            <a:r>
              <a:rPr lang="en-US">
                <a:solidFill>
                  <a:srgbClr val="C00000"/>
                </a:solidFill>
              </a:rPr>
              <a:t>inefficient</a:t>
            </a:r>
            <a:r>
              <a:rPr lang="en-US"/>
              <a:t> method of determining if a number </a:t>
            </a:r>
            <a:r>
              <a:rPr i="1" lang="en-US"/>
              <a:t>n</a:t>
            </a:r>
            <a:r>
              <a:rPr lang="en-US"/>
              <a:t>  is prime, is to try every integer </a:t>
            </a:r>
            <a:r>
              <a:rPr i="1" lang="en-US"/>
              <a:t>i</a:t>
            </a:r>
            <a:r>
              <a:rPr lang="en-US"/>
              <a:t> ≤√</a:t>
            </a:r>
            <a:r>
              <a:rPr i="1" lang="en-US"/>
              <a:t>n </a:t>
            </a:r>
            <a:r>
              <a:rPr lang="en-US"/>
              <a:t>and see if n is divisible by </a:t>
            </a:r>
            <a:r>
              <a:rPr i="1" lang="en-US"/>
              <a:t>i</a:t>
            </a:r>
            <a:r>
              <a:rPr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Arial"/>
              <a:buNone/>
            </a:pPr>
            <a:r>
              <a:rPr i="1" lang="en-US"/>
              <a:t>Sieve of Eratosthenes</a:t>
            </a:r>
            <a:r>
              <a:rPr lang="en-US"/>
              <a:t> uses the trial division idea from the other way around.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24600" y="624840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continued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Sieve of Eratosthenes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010400" y="457200"/>
            <a:ext cx="167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Eratosthenes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276-194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B.C.)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/>
              <a:t>The </a:t>
            </a:r>
            <a:r>
              <a:rPr i="1" lang="en-US"/>
              <a:t>Sieve of Eratosthenes </a:t>
            </a:r>
            <a:r>
              <a:rPr lang="en-US"/>
              <a:t>can be used to find all primes not exceeding a specified positive integer. For example, begin with the list of integers between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/>
              <a:t>.</a:t>
            </a:r>
            <a:endParaRPr/>
          </a:p>
          <a:p>
            <a:pPr indent="-466916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Delete all 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.</a:t>
            </a:r>
            <a:endParaRPr/>
          </a:p>
          <a:p>
            <a:pPr indent="-466916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Delete all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.</a:t>
            </a:r>
            <a:endParaRPr/>
          </a:p>
          <a:p>
            <a:pPr indent="-466916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Next, delete all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.</a:t>
            </a:r>
            <a:endParaRPr/>
          </a:p>
          <a:p>
            <a:pPr indent="-466916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Next, delete all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.</a:t>
            </a:r>
            <a:endParaRPr/>
          </a:p>
          <a:p>
            <a:pPr indent="-466916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Since all the remaining integers  are not divisible by any of the previous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 the primes are:</a:t>
            </a:r>
            <a:r>
              <a:rPr lang="en-US" sz="2200"/>
              <a:t> </a:t>
            </a:r>
            <a:r>
              <a:rPr lang="en-US" sz="2200"/>
              <a:t>{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2, 3, 5, 7, 11, 1</a:t>
            </a:r>
            <a:r>
              <a:rPr lang="en-US" sz="2200"/>
              <a:t>3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, 17, 19, 23, 29, 31, 37, 41, 43, 47, 53</a:t>
            </a:r>
            <a:r>
              <a:rPr lang="en-US" sz="2200"/>
              <a:t>,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59, 61, 67, 71, 73, 79, 83, 89, 97</a:t>
            </a:r>
            <a:r>
              <a:rPr lang="en-US" sz="2200"/>
              <a:t>}</a:t>
            </a:r>
            <a:endParaRPr/>
          </a:p>
        </p:txBody>
      </p:sp>
      <p:pic>
        <p:nvPicPr>
          <p:cNvPr descr="0711.jp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152400"/>
            <a:ext cx="885444" cy="102184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6324600" y="6248400"/>
            <a:ext cx="25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continued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Sieve of Eratosthenes</a:t>
            </a:r>
            <a:endParaRPr/>
          </a:p>
        </p:txBody>
      </p:sp>
      <p:pic>
        <p:nvPicPr>
          <p:cNvPr descr="table32.jpg" id="167" name="Google Shape;16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35475"/>
            <a:ext cx="5181600" cy="43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638800" y="2148500"/>
            <a:ext cx="2971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Since, if 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ab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then  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≤ √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or 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≤√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For determining the prime numbers within 100, we only need to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divide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with primes that do not exceed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√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100 = 10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 Meaning simply checking 2, 3,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5 and 7 is enough to find all primes under 100.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010400" y="457200"/>
            <a:ext cx="167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Eratosthenes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276-194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B.C.)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0711.jp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152400"/>
            <a:ext cx="885444" cy="1021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Study of Primes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457200" y="1142999"/>
            <a:ext cx="8229600" cy="55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89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"/>
              <a:buChar char="●"/>
            </a:pPr>
            <a:r>
              <a:rPr b="1" lang="en-US" sz="2000"/>
              <a:t>Distribution of primes:</a:t>
            </a:r>
            <a:r>
              <a:rPr lang="en-US" sz="2000"/>
              <a:t> The number of primes not exceeding </a:t>
            </a:r>
            <a:r>
              <a:rPr i="1" lang="en-US" sz="2000"/>
              <a:t>x</a:t>
            </a:r>
            <a:r>
              <a:rPr lang="en-US" sz="2000"/>
              <a:t>, can be approximated by </a:t>
            </a:r>
            <a:r>
              <a:rPr b="1" i="1" lang="en-US" sz="2000"/>
              <a:t>x</a:t>
            </a:r>
            <a:r>
              <a:rPr b="1" lang="en-US" sz="2000"/>
              <a:t>/ln </a:t>
            </a:r>
            <a:r>
              <a:rPr b="1" i="1" lang="en-US" sz="2000"/>
              <a:t>x</a:t>
            </a:r>
            <a:r>
              <a:rPr lang="en-US" sz="2000"/>
              <a:t>. (The Prime Number Theorem)</a:t>
            </a:r>
            <a:endParaRPr sz="2000"/>
          </a:p>
          <a:p>
            <a:pPr indent="-24447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Generating primes:</a:t>
            </a:r>
            <a:r>
              <a:rPr lang="en-US" sz="2000"/>
              <a:t> A closed formula that always produces primes has not been found so far. It is proven that there is no </a:t>
            </a:r>
            <a:r>
              <a:rPr b="1" lang="en-US" sz="2000"/>
              <a:t>polynomial </a:t>
            </a:r>
            <a:r>
              <a:rPr lang="en-US" sz="2000"/>
              <a:t>with integer coefficients such that </a:t>
            </a:r>
            <a:r>
              <a:rPr i="1" lang="en-US" sz="2000"/>
              <a:t>f</a:t>
            </a:r>
            <a:r>
              <a:rPr lang="en-US" sz="2000"/>
              <a:t> (</a:t>
            </a:r>
            <a:r>
              <a:rPr i="1" lang="en-US" sz="2000"/>
              <a:t>n</a:t>
            </a:r>
            <a:r>
              <a:rPr lang="en-US" sz="2000"/>
              <a:t>) is prime for all positive integers n. </a:t>
            </a:r>
            <a:endParaRPr sz="2000"/>
          </a:p>
          <a:p>
            <a:pPr indent="-24447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Conjectures on primes: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US" sz="2000"/>
              <a:t>Goldbach’s Conjecture:</a:t>
            </a:r>
            <a:r>
              <a:rPr lang="en-US" sz="2000"/>
              <a:t> Every even integer </a:t>
            </a:r>
            <a:r>
              <a:rPr i="1" lang="en-US" sz="2000"/>
              <a:t>n</a:t>
            </a:r>
            <a:r>
              <a:rPr lang="en-US" sz="2000"/>
              <a:t>, </a:t>
            </a:r>
            <a:r>
              <a:rPr i="1" lang="en-US" sz="2000"/>
              <a:t>n</a:t>
            </a:r>
            <a:r>
              <a:rPr lang="en-US" sz="2000"/>
              <a:t> &gt; 2, is the sum of two primes. 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There are infinitely many primes of the form </a:t>
            </a:r>
            <a:r>
              <a:rPr i="1" lang="en-US" sz="2000"/>
              <a:t>n</a:t>
            </a:r>
            <a:r>
              <a:rPr baseline="30000" lang="en-US" sz="2000"/>
              <a:t>2</a:t>
            </a:r>
            <a:r>
              <a:rPr lang="en-US" sz="2000"/>
              <a:t> + 1, where n is a positive integer. But it has been shown that there are infinitely many primes  of the form </a:t>
            </a:r>
            <a:r>
              <a:rPr i="1" lang="en-US" sz="2000"/>
              <a:t>n</a:t>
            </a:r>
            <a:r>
              <a:rPr baseline="30000" lang="en-US" sz="2000"/>
              <a:t>2</a:t>
            </a:r>
            <a:r>
              <a:rPr lang="en-US" sz="2000"/>
              <a:t> + 1, where n is a positive  integer or  the product of at most two primes.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US" sz="2000"/>
              <a:t>The Twin Prime Conjecture:</a:t>
            </a:r>
            <a:r>
              <a:rPr lang="en-US" sz="2000"/>
              <a:t> There are infinitely many pairs of twin primes. Twin primes are pairs of primes that differ by 2. Examples are 3 and 5, 5 and 7, 11 and 13, etc.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Greatest Common Divisor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Definition</a:t>
            </a:r>
            <a:r>
              <a:rPr lang="en-US" sz="2200"/>
              <a:t>: Let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 </a:t>
            </a:r>
            <a:r>
              <a:rPr lang="en-US" sz="2200"/>
              <a:t>be integers, not both zero. The largest integer </a:t>
            </a:r>
            <a:r>
              <a:rPr i="1" lang="en-US" sz="2200"/>
              <a:t>d</a:t>
            </a:r>
            <a:r>
              <a:rPr lang="en-US" sz="2200"/>
              <a:t> such that </a:t>
            </a:r>
            <a:r>
              <a:rPr i="1" lang="en-US" sz="2200"/>
              <a:t>d </a:t>
            </a:r>
            <a:r>
              <a:rPr lang="en-US" sz="2200"/>
              <a:t>|</a:t>
            </a:r>
            <a:r>
              <a:rPr i="1" lang="en-US" sz="2200"/>
              <a:t> a </a:t>
            </a:r>
            <a:r>
              <a:rPr lang="en-US" sz="2200"/>
              <a:t>and also </a:t>
            </a:r>
            <a:r>
              <a:rPr i="1" lang="en-US" sz="2200"/>
              <a:t>d </a:t>
            </a:r>
            <a:r>
              <a:rPr lang="en-US" sz="2200"/>
              <a:t>| </a:t>
            </a:r>
            <a:r>
              <a:rPr i="1" lang="en-US" sz="2200"/>
              <a:t>b </a:t>
            </a:r>
            <a:r>
              <a:rPr lang="en-US" sz="2200"/>
              <a:t>is called the greatest common divisor of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. The  greatest common divisor of </a:t>
            </a:r>
            <a:r>
              <a:rPr i="1" lang="en-US" sz="2200"/>
              <a:t>a </a:t>
            </a:r>
            <a:r>
              <a:rPr lang="en-US" sz="2200"/>
              <a:t>and </a:t>
            </a:r>
            <a:r>
              <a:rPr i="1" lang="en-US" sz="2200"/>
              <a:t>b</a:t>
            </a:r>
            <a:r>
              <a:rPr lang="en-US" sz="2200"/>
              <a:t> is denoted by gcd(</a:t>
            </a:r>
            <a:r>
              <a:rPr i="1" lang="en-US" sz="2200"/>
              <a:t>a,b</a:t>
            </a:r>
            <a:r>
              <a:rPr lang="en-US" sz="2200"/>
              <a:t>).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One can find greatest common divisors of small numbers by inspection.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Example</a:t>
            </a:r>
            <a:r>
              <a:rPr lang="en-US" sz="2200"/>
              <a:t>:What is the greatest common divisor of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200"/>
              <a:t> and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36</a:t>
            </a:r>
            <a:r>
              <a:rPr lang="en-US" sz="2200"/>
              <a:t>?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</a:t>
            </a:r>
            <a:r>
              <a:rPr b="1" lang="en-US" sz="2200"/>
              <a:t>Solution</a:t>
            </a:r>
            <a:r>
              <a:rPr lang="en-US" sz="2200"/>
              <a:t>: gcd(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24, 36</a:t>
            </a:r>
            <a:r>
              <a:rPr lang="en-US" sz="2200"/>
              <a:t>)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12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 Example</a:t>
            </a:r>
            <a:r>
              <a:rPr lang="en-US" sz="2200"/>
              <a:t>:What is the greatest common divisor of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200"/>
              <a:t> and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22</a:t>
            </a:r>
            <a:r>
              <a:rPr lang="en-US" sz="2200"/>
              <a:t>?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</a:t>
            </a:r>
            <a:r>
              <a:rPr b="1" lang="en-US" sz="2200"/>
              <a:t>Solution</a:t>
            </a:r>
            <a:r>
              <a:rPr lang="en-US" sz="2200"/>
              <a:t>: gcd(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17,22</a:t>
            </a:r>
            <a:r>
              <a:rPr lang="en-US" sz="2200"/>
              <a:t>)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Co-primes / Relatively Primes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Definition</a:t>
            </a:r>
            <a:r>
              <a:rPr lang="en-US" sz="2000"/>
              <a:t>: The integers </a:t>
            </a:r>
            <a:r>
              <a:rPr i="1" lang="en-US" sz="2000"/>
              <a:t>a</a:t>
            </a:r>
            <a:r>
              <a:rPr lang="en-US" sz="2000"/>
              <a:t> and </a:t>
            </a:r>
            <a:r>
              <a:rPr i="1" lang="en-US" sz="2000"/>
              <a:t>b </a:t>
            </a:r>
            <a:r>
              <a:rPr lang="en-US" sz="2000"/>
              <a:t>are </a:t>
            </a:r>
            <a:r>
              <a:rPr i="1" lang="en-US" sz="2000"/>
              <a:t>relatively prime </a:t>
            </a:r>
            <a:r>
              <a:rPr lang="en-US" sz="2000"/>
              <a:t>if their greatest common divisor is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22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Definition</a:t>
            </a:r>
            <a:r>
              <a:rPr lang="en-US" sz="2000"/>
              <a:t>: The integers </a:t>
            </a:r>
            <a:r>
              <a:rPr i="1" lang="en-US" sz="2000"/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, </a:t>
            </a:r>
            <a:r>
              <a:rPr i="1" lang="en-US" sz="2000"/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 …, </a:t>
            </a:r>
            <a:r>
              <a:rPr i="1" lang="en-US" sz="2000"/>
              <a:t>a</a:t>
            </a:r>
            <a:r>
              <a:rPr baseline="-25000" i="1" lang="en-US" sz="2000"/>
              <a:t>n</a:t>
            </a:r>
            <a:r>
              <a:rPr lang="en-US" sz="2000"/>
              <a:t> are </a:t>
            </a:r>
            <a:r>
              <a:rPr i="1" lang="en-US" sz="2000"/>
              <a:t>pairwise</a:t>
            </a:r>
            <a:r>
              <a:rPr lang="en-US" sz="2000"/>
              <a:t> </a:t>
            </a:r>
            <a:r>
              <a:rPr i="1" lang="en-US" sz="2000"/>
              <a:t>relatively prime </a:t>
            </a:r>
            <a:r>
              <a:rPr lang="en-US" sz="2000"/>
              <a:t>if gcd(</a:t>
            </a:r>
            <a:r>
              <a:rPr i="1" lang="en-US" sz="2000"/>
              <a:t>a</a:t>
            </a:r>
            <a:r>
              <a:rPr baseline="-25000" i="1" lang="en-US" sz="2000"/>
              <a:t>i</a:t>
            </a:r>
            <a:r>
              <a:rPr lang="en-US" sz="2000"/>
              <a:t>, </a:t>
            </a:r>
            <a:r>
              <a:rPr i="1" lang="en-US" sz="2000"/>
              <a:t>a</a:t>
            </a:r>
            <a:r>
              <a:rPr baseline="-25000" i="1" lang="en-US" sz="2000"/>
              <a:t>j</a:t>
            </a:r>
            <a:r>
              <a:rPr lang="en-US" sz="2000"/>
              <a:t>)=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 whenever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 ≤ </a:t>
            </a:r>
            <a:r>
              <a:rPr i="1" lang="en-US" sz="2000"/>
              <a:t>i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&lt;</a:t>
            </a:r>
            <a:r>
              <a:rPr i="1" lang="en-US" sz="2000"/>
              <a:t>j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≤</a:t>
            </a:r>
            <a:r>
              <a:rPr i="1" lang="en-US" sz="2000"/>
              <a:t>n</a:t>
            </a:r>
            <a:r>
              <a:rPr lang="en-US" sz="2000"/>
              <a:t>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Determine whether the integers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10, 17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21 are pairwise relatively prime.</a:t>
            </a:r>
            <a:endParaRPr i="1"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b="1" lang="en-US" sz="2000"/>
              <a:t>Solution</a:t>
            </a:r>
            <a:r>
              <a:rPr lang="en-US" sz="2000"/>
              <a:t>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Because gcd(10, 17) = 1, gcd(10, 21) = 1, and gcd(17, 21) = 1, we can say that 10, 17, and 21 are pairwise relatively prime.</a:t>
            </a:r>
            <a:r>
              <a:rPr b="1" lang="en-US" sz="2000"/>
              <a:t>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Determine whether the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integers 10, 19, and 24 are pairwise relatively prime.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 sz="2000"/>
              <a:t> Solution</a:t>
            </a:r>
            <a:r>
              <a:rPr lang="en-US" sz="2000"/>
              <a:t>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Because gcd(10, 24) = 2, </a:t>
            </a:r>
            <a:r>
              <a:rPr lang="en-US" sz="2000"/>
              <a:t>the given numbers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are not pairwise relatively prime.</a:t>
            </a:r>
            <a:r>
              <a:rPr b="1" lang="en-US" sz="2000"/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Finding the Greatest Common Divisor Using Prime Factorizations</a:t>
            </a:r>
            <a:endParaRPr sz="4000"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40"/>
              <a:t>Suppose  the prime factorizations of </a:t>
            </a:r>
            <a:r>
              <a:rPr i="1" lang="en-US" sz="2040"/>
              <a:t>a</a:t>
            </a:r>
            <a:r>
              <a:rPr lang="en-US" sz="2040"/>
              <a:t> and </a:t>
            </a:r>
            <a:r>
              <a:rPr i="1" lang="en-US" sz="2040"/>
              <a:t>b</a:t>
            </a:r>
            <a:r>
              <a:rPr lang="en-US" sz="2040"/>
              <a:t> are:</a:t>
            </a:r>
            <a:endParaRPr sz="2040"/>
          </a:p>
          <a:p>
            <a:pPr indent="-152765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040"/>
          </a:p>
          <a:p>
            <a:pPr indent="-152765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040"/>
          </a:p>
          <a:p>
            <a:pPr indent="-274320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</a:pPr>
            <a:r>
              <a:rPr lang="en-US" sz="2040"/>
              <a:t>    where each exponent is a nonnegative integer, and where all primes occurring in either prime factorization are included in both. Then:</a:t>
            </a:r>
            <a:endParaRPr sz="2040"/>
          </a:p>
          <a:p>
            <a:pPr indent="-274320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040"/>
          </a:p>
          <a:p>
            <a:pPr indent="-274320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</a:pPr>
            <a:r>
              <a:rPr lang="en-US" sz="2040"/>
              <a:t>    </a:t>
            </a:r>
            <a:endParaRPr sz="2040"/>
          </a:p>
          <a:p>
            <a:pPr indent="-274320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Char char="●"/>
            </a:pPr>
            <a:r>
              <a:rPr b="1" lang="en-US" sz="2040"/>
              <a:t>Example</a:t>
            </a:r>
            <a:r>
              <a:rPr lang="en-US" sz="2040"/>
              <a:t>:   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120</a:t>
            </a:r>
            <a:r>
              <a:rPr lang="en-US" sz="2040"/>
              <a:t> = 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∙3 ∙5      500</a:t>
            </a:r>
            <a:r>
              <a:rPr lang="en-US" sz="2040"/>
              <a:t> = 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 ∙5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4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100"/>
              <a:buNone/>
            </a:pPr>
            <a:r>
              <a:rPr lang="en-US" sz="2040"/>
              <a:t>        gcd(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120</a:t>
            </a:r>
            <a:r>
              <a:rPr lang="en-US" sz="2040"/>
              <a:t>,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500</a:t>
            </a:r>
            <a:r>
              <a:rPr lang="en-US" sz="2040"/>
              <a:t>) =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min(3,2)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∙3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min(1,0)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∙5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min(1,3)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∙3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∙5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= 20</a:t>
            </a:r>
            <a:endParaRPr sz="2040"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SzPts val="2100"/>
              <a:buChar char="●"/>
            </a:pPr>
            <a:r>
              <a:rPr lang="en-US" sz="2040"/>
              <a:t>Finding the gcd of two positive integers using their prime factorizations is not efficient because there is no efficient algorithm for finding the prime factorization of a positive integer.</a:t>
            </a:r>
            <a:endParaRPr sz="2040"/>
          </a:p>
        </p:txBody>
      </p:sp>
      <p:pic>
        <p:nvPicPr>
          <p:cNvPr descr="addin_tmp.pn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438400"/>
            <a:ext cx="2034540" cy="259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6" name="Google Shape;1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2438400"/>
            <a:ext cx="194500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7" name="Google Shape;1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3505200"/>
            <a:ext cx="5343525" cy="369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Least Common Multiple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3"/>
              <a:buNone/>
            </a:pPr>
            <a:r>
              <a:rPr b="1" lang="en-US" sz="1800"/>
              <a:t>Definition</a:t>
            </a:r>
            <a:r>
              <a:rPr lang="en-US" sz="1800"/>
              <a:t>: The least common multiple of the positive integers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 </a:t>
            </a:r>
            <a:r>
              <a:rPr lang="en-US" sz="1800"/>
              <a:t>is the smallest  positive integer that is divisible by both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</a:t>
            </a:r>
            <a:r>
              <a:rPr lang="en-US" sz="1800"/>
              <a:t>. It is denoted by lcm(</a:t>
            </a:r>
            <a:r>
              <a:rPr i="1" lang="en-US" sz="1800"/>
              <a:t>a</a:t>
            </a:r>
            <a:r>
              <a:rPr lang="en-US" sz="1800"/>
              <a:t>,</a:t>
            </a:r>
            <a:r>
              <a:rPr i="1" lang="en-US" sz="1800"/>
              <a:t>b</a:t>
            </a:r>
            <a:r>
              <a:rPr lang="en-US" sz="1800"/>
              <a:t>).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4953" lvl="0" marL="274320" rtl="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least common multiple can also be computed from the prime factorizations. </a:t>
            </a:r>
            <a:r>
              <a:rPr b="1" lang="en-US" sz="1800"/>
              <a:t> </a:t>
            </a:r>
            <a:endParaRPr sz="1800"/>
          </a:p>
          <a:p>
            <a:pPr indent="-15367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t/>
            </a:r>
            <a:endParaRPr b="1"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t/>
            </a:r>
            <a:endParaRPr b="1"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</a:t>
            </a:r>
            <a:r>
              <a:rPr lang="en-US" sz="1800"/>
              <a:t>N</a:t>
            </a:r>
            <a:r>
              <a:rPr lang="en-US" sz="1800"/>
              <a:t>o smaller number is </a:t>
            </a:r>
            <a:r>
              <a:rPr lang="en-US" sz="1800"/>
              <a:t>divisible</a:t>
            </a:r>
            <a:r>
              <a:rPr lang="en-US" sz="1800"/>
              <a:t> by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</a:t>
            </a:r>
            <a:r>
              <a:rPr lang="en-US" sz="1800"/>
              <a:t> both.</a:t>
            </a:r>
            <a:endParaRPr b="1"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Example:  </a:t>
            </a:r>
            <a:r>
              <a:rPr lang="en-US" sz="1800"/>
              <a:t>lcm(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/>
              <a:t>,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/>
              <a:t>)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max(3,4)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max(5,3)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7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max(2,0)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7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="1" sz="1800"/>
          </a:p>
          <a:p>
            <a:pPr indent="-26797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greatest common divisor and the least common multiple of two integers are related by: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 Theorem </a:t>
            </a: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b="1" lang="en-US" sz="1800"/>
              <a:t>: </a:t>
            </a:r>
            <a:r>
              <a:rPr lang="en-US" sz="1800"/>
              <a:t>Let a and b be positive integers. Then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            </a:t>
            </a:r>
            <a:r>
              <a:rPr i="1" lang="en-US" sz="1800"/>
              <a:t>ab</a:t>
            </a:r>
            <a:r>
              <a:rPr lang="en-US" sz="1800"/>
              <a:t> = gcd(</a:t>
            </a:r>
            <a:r>
              <a:rPr i="1" lang="en-US" sz="1800"/>
              <a:t>a</a:t>
            </a:r>
            <a:r>
              <a:rPr lang="en-US" sz="1800"/>
              <a:t>,</a:t>
            </a:r>
            <a:r>
              <a:rPr i="1" lang="en-US" sz="1800"/>
              <a:t>b</a:t>
            </a:r>
            <a:r>
              <a:rPr lang="en-US" sz="1800"/>
              <a:t>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∙ lcm(</a:t>
            </a:r>
            <a:r>
              <a:rPr i="1" lang="en-US" sz="1800"/>
              <a:t>a,b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   (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proof  is Exercise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31)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t/>
            </a:r>
            <a:endParaRPr b="1"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t/>
            </a:r>
            <a:endParaRPr b="1" sz="1800"/>
          </a:p>
          <a:p>
            <a:pPr indent="-126523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t/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rPr lang="en-US" sz="1800"/>
              <a:t>  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1" y="3429000"/>
            <a:ext cx="5351145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Euclidean Algorithm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0"/>
              <a:buChar char="●"/>
            </a:pPr>
            <a:r>
              <a:rPr lang="en-US" sz="2400"/>
              <a:t>The </a:t>
            </a:r>
            <a:r>
              <a:rPr lang="en-US"/>
              <a:t>Euclidean</a:t>
            </a:r>
            <a:r>
              <a:rPr lang="en-US" sz="2400"/>
              <a:t> algorithm is an efficient method for  computing the greatest common divisor of two integers. It is based on the idea that gcd(</a:t>
            </a:r>
            <a:r>
              <a:rPr i="1" lang="en-US" sz="2400"/>
              <a:t>a</a:t>
            </a:r>
            <a:r>
              <a:rPr lang="en-US" sz="2400"/>
              <a:t>,</a:t>
            </a:r>
            <a:r>
              <a:rPr i="1" lang="en-US" sz="2400"/>
              <a:t>b</a:t>
            </a:r>
            <a:r>
              <a:rPr lang="en-US" sz="2400"/>
              <a:t>) is equal to gcd(</a:t>
            </a:r>
            <a:r>
              <a:rPr i="1" lang="en-US"/>
              <a:t>b</a:t>
            </a:r>
            <a:r>
              <a:rPr lang="en-US" sz="2400"/>
              <a:t>,</a:t>
            </a:r>
            <a:r>
              <a:rPr i="1" lang="en-US" sz="2400"/>
              <a:t>c</a:t>
            </a:r>
            <a:r>
              <a:rPr lang="en-US" sz="2400"/>
              <a:t>) when </a:t>
            </a:r>
            <a:r>
              <a:rPr i="1" lang="en-US" sz="2400"/>
              <a:t>a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&gt;</a:t>
            </a:r>
            <a:r>
              <a:rPr lang="en-US" sz="2400"/>
              <a:t> </a:t>
            </a:r>
            <a:r>
              <a:rPr i="1" lang="en-US" sz="2400"/>
              <a:t>b</a:t>
            </a:r>
            <a:r>
              <a:rPr lang="en-US" sz="2400"/>
              <a:t> and </a:t>
            </a:r>
            <a:r>
              <a:rPr i="1" lang="en-US" sz="2400"/>
              <a:t>c</a:t>
            </a:r>
            <a:r>
              <a:rPr lang="en-US" sz="2400"/>
              <a:t> is the remainder when a is divided by </a:t>
            </a:r>
            <a:r>
              <a:rPr i="1" lang="en-US" sz="2400"/>
              <a:t>b</a:t>
            </a:r>
            <a:r>
              <a:rPr lang="en-US" sz="2400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b="1" lang="en-US"/>
              <a:t>Example</a:t>
            </a:r>
            <a:r>
              <a:rPr lang="en-US"/>
              <a:t>: Find  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287</a:t>
            </a:r>
            <a:r>
              <a:rPr lang="en-US"/>
              <a:t>):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287 = 91 ∙ 3 + 14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 = 14 ∙ 6 + 7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14 =  7 ∙ 2 + 0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287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lang="en-US"/>
              <a:t>) = 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/>
              <a:t>) =  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) 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endParaRPr/>
          </a:p>
        </p:txBody>
      </p:sp>
      <p:pic>
        <p:nvPicPr>
          <p:cNvPr descr="0313.jpg" id="211" name="Google Shape;2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228600"/>
            <a:ext cx="894588" cy="103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5791200" y="1295400"/>
            <a:ext cx="3124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Euclid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325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B.C.E.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–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265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B.C.E.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13" name="Google Shape;213;p25"/>
          <p:cNvCxnSpPr/>
          <p:nvPr/>
        </p:nvCxnSpPr>
        <p:spPr>
          <a:xfrm flipH="1">
            <a:off x="1828950" y="4232025"/>
            <a:ext cx="515400" cy="187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4" name="Google Shape;214;p25"/>
          <p:cNvCxnSpPr/>
          <p:nvPr/>
        </p:nvCxnSpPr>
        <p:spPr>
          <a:xfrm flipH="1">
            <a:off x="2570863" y="4267200"/>
            <a:ext cx="838200" cy="152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5" name="Google Shape;215;p25"/>
          <p:cNvCxnSpPr/>
          <p:nvPr/>
        </p:nvCxnSpPr>
        <p:spPr>
          <a:xfrm flipH="1">
            <a:off x="1828725" y="4673475"/>
            <a:ext cx="500400" cy="127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6" name="Google Shape;216;p25"/>
          <p:cNvCxnSpPr/>
          <p:nvPr/>
        </p:nvCxnSpPr>
        <p:spPr>
          <a:xfrm flipH="1">
            <a:off x="2434575" y="4643050"/>
            <a:ext cx="846000" cy="176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7" name="Google Shape;217;p25"/>
          <p:cNvSpPr txBox="1"/>
          <p:nvPr/>
        </p:nvSpPr>
        <p:spPr>
          <a:xfrm>
            <a:off x="3429000" y="5105400"/>
            <a:ext cx="15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Stopping condition</a:t>
            </a:r>
            <a:endParaRPr b="0" i="0" sz="1400" u="none" cap="none" strike="noStrike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3846325" y="397615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Divide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287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by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endParaRPr b="0" i="0" sz="1400" u="none" cap="none" strike="noStrike">
              <a:solidFill>
                <a:srgbClr val="C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3846325" y="4436350"/>
            <a:ext cx="30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Divide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by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endParaRPr b="0" i="0" sz="1400" u="none" cap="none" strike="noStrike">
              <a:solidFill>
                <a:srgbClr val="C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3846325" y="4845563"/>
            <a:ext cx="30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Divide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by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endParaRPr b="0" i="0" sz="1400" u="none" cap="none" strike="noStrike">
              <a:solidFill>
                <a:srgbClr val="C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cxnSp>
        <p:nvCxnSpPr>
          <p:cNvPr id="221" name="Google Shape;221;p25"/>
          <p:cNvCxnSpPr/>
          <p:nvPr/>
        </p:nvCxnSpPr>
        <p:spPr>
          <a:xfrm rot="10800000">
            <a:off x="3368025" y="5000975"/>
            <a:ext cx="381000" cy="152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2" name="Google Shape;222;p25"/>
          <p:cNvSpPr txBox="1"/>
          <p:nvPr/>
        </p:nvSpPr>
        <p:spPr>
          <a:xfrm>
            <a:off x="6172200" y="617220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continued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Correctness of Euclidean Algorithm </a:t>
            </a:r>
            <a:endParaRPr/>
          </a:p>
        </p:txBody>
      </p: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Lemma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: Let </a:t>
            </a:r>
            <a:r>
              <a:rPr i="1" lang="en-US" sz="2200"/>
              <a:t>a</a:t>
            </a:r>
            <a:r>
              <a:rPr lang="en-US" sz="2200"/>
              <a:t> = </a:t>
            </a:r>
            <a:r>
              <a:rPr i="1" lang="en-US" sz="2200"/>
              <a:t>bq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lang="en-US" sz="2200"/>
              <a:t>, where </a:t>
            </a:r>
            <a:r>
              <a:rPr i="1" lang="en-US" sz="2200"/>
              <a:t>a</a:t>
            </a:r>
            <a:r>
              <a:rPr lang="en-US" sz="2200"/>
              <a:t>, </a:t>
            </a:r>
            <a:r>
              <a:rPr i="1" lang="en-US" sz="2200"/>
              <a:t>b</a:t>
            </a:r>
            <a:r>
              <a:rPr lang="en-US" sz="2200"/>
              <a:t>, </a:t>
            </a:r>
            <a:r>
              <a:rPr i="1" lang="en-US" sz="2200"/>
              <a:t>q</a:t>
            </a:r>
            <a:r>
              <a:rPr lang="en-US" sz="2200"/>
              <a:t>, and </a:t>
            </a:r>
            <a:r>
              <a:rPr i="1" lang="en-US" sz="2200"/>
              <a:t>r</a:t>
            </a:r>
            <a:r>
              <a:rPr lang="en-US" sz="2200"/>
              <a:t> are integers. Then gcd(</a:t>
            </a:r>
            <a:r>
              <a:rPr i="1" lang="en-US" sz="2200"/>
              <a:t>a,b</a:t>
            </a:r>
            <a:r>
              <a:rPr lang="en-US" sz="2200"/>
              <a:t>) = gcd(</a:t>
            </a:r>
            <a:r>
              <a:rPr i="1" lang="en-US" sz="2200"/>
              <a:t>b,r</a:t>
            </a:r>
            <a:r>
              <a:rPr lang="en-US" sz="2200"/>
              <a:t>).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Proof</a:t>
            </a:r>
            <a:r>
              <a:rPr lang="en-US" sz="2200"/>
              <a:t>: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Suppose that </a:t>
            </a:r>
            <a:r>
              <a:rPr i="1" lang="en-US" sz="2200"/>
              <a:t>d</a:t>
            </a:r>
            <a:r>
              <a:rPr lang="en-US" sz="2200"/>
              <a:t> divides both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. 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Then </a:t>
            </a:r>
            <a:r>
              <a:rPr i="1" lang="en-US" sz="2200"/>
              <a:t>d</a:t>
            </a:r>
            <a:r>
              <a:rPr lang="en-US" sz="2200"/>
              <a:t> also divides </a:t>
            </a:r>
            <a:r>
              <a:rPr i="1" lang="en-US" sz="2200"/>
              <a:t>a</a:t>
            </a:r>
            <a:r>
              <a:rPr lang="en-US" sz="2200"/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200"/>
              <a:t> </a:t>
            </a:r>
            <a:r>
              <a:rPr i="1" lang="en-US" sz="2200"/>
              <a:t>bq</a:t>
            </a:r>
            <a:r>
              <a:rPr lang="en-US" sz="2200"/>
              <a:t> = </a:t>
            </a:r>
            <a:r>
              <a:rPr i="1" lang="en-US" sz="2200"/>
              <a:t>r</a:t>
            </a:r>
            <a:r>
              <a:rPr lang="en-US" sz="2200"/>
              <a:t> (by 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 of Section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4.1</a:t>
            </a:r>
            <a:r>
              <a:rPr lang="en-US" sz="2200"/>
              <a:t>). 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Hence, any common divisor of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 must also be any  common divisor of </a:t>
            </a:r>
            <a:r>
              <a:rPr i="1" lang="en-US" sz="2200"/>
              <a:t>b</a:t>
            </a:r>
            <a:r>
              <a:rPr lang="en-US" sz="2200"/>
              <a:t> and </a:t>
            </a:r>
            <a:r>
              <a:rPr i="1" lang="en-US" sz="2200"/>
              <a:t>r</a:t>
            </a:r>
            <a:r>
              <a:rPr lang="en-US" sz="2200"/>
              <a:t>.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Suppose that </a:t>
            </a:r>
            <a:r>
              <a:rPr i="1" lang="en-US" sz="2200"/>
              <a:t>d</a:t>
            </a:r>
            <a:r>
              <a:rPr lang="en-US" sz="2200"/>
              <a:t> divides both </a:t>
            </a:r>
            <a:r>
              <a:rPr i="1" lang="en-US" sz="2200"/>
              <a:t>b</a:t>
            </a:r>
            <a:r>
              <a:rPr lang="en-US" sz="2200"/>
              <a:t> and </a:t>
            </a:r>
            <a:r>
              <a:rPr i="1" lang="en-US" sz="2200"/>
              <a:t>r</a:t>
            </a:r>
            <a:r>
              <a:rPr lang="en-US" sz="2200"/>
              <a:t>. 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Then </a:t>
            </a:r>
            <a:r>
              <a:rPr i="1" lang="en-US" sz="2200"/>
              <a:t>d</a:t>
            </a:r>
            <a:r>
              <a:rPr lang="en-US" sz="2200"/>
              <a:t> also divides </a:t>
            </a:r>
            <a:r>
              <a:rPr i="1" lang="en-US" sz="2200"/>
              <a:t>bq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lang="en-US" sz="2200"/>
              <a:t> = </a:t>
            </a:r>
            <a:r>
              <a:rPr i="1" lang="en-US" sz="2200"/>
              <a:t>a</a:t>
            </a:r>
            <a:r>
              <a:rPr lang="en-US" sz="2200"/>
              <a:t>. 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Hence, any common divisor of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 must also be a common divisor of </a:t>
            </a:r>
            <a:r>
              <a:rPr i="1" lang="en-US" sz="2200"/>
              <a:t>b</a:t>
            </a:r>
            <a:r>
              <a:rPr lang="en-US" sz="2200"/>
              <a:t> and </a:t>
            </a:r>
            <a:r>
              <a:rPr i="1" lang="en-US" sz="2200"/>
              <a:t>r</a:t>
            </a:r>
            <a:r>
              <a:rPr lang="en-US" sz="2200"/>
              <a:t>.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Therefore, gcd(</a:t>
            </a:r>
            <a:r>
              <a:rPr i="1" lang="en-US" sz="2200"/>
              <a:t>a,b</a:t>
            </a:r>
            <a:r>
              <a:rPr lang="en-US" sz="2200"/>
              <a:t>) = gcd(</a:t>
            </a:r>
            <a:r>
              <a:rPr i="1" lang="en-US" sz="2200"/>
              <a:t>b,r</a:t>
            </a:r>
            <a:r>
              <a:rPr lang="en-US" sz="2200"/>
              <a:t>).</a:t>
            </a:r>
            <a:endParaRPr sz="2200"/>
          </a:p>
        </p:txBody>
      </p:sp>
      <p:sp>
        <p:nvSpPr>
          <p:cNvPr id="229" name="Google Shape;229;p26"/>
          <p:cNvSpPr/>
          <p:nvPr/>
        </p:nvSpPr>
        <p:spPr>
          <a:xfrm flipH="1" rot="-5400000">
            <a:off x="5246150" y="59129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Correctness of Euclidean Algorithm </a:t>
            </a:r>
            <a:endParaRPr/>
          </a:p>
        </p:txBody>
      </p:sp>
      <p:sp>
        <p:nvSpPr>
          <p:cNvPr id="235" name="Google Shape;235;p2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Suppose that a and b are positive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lang="en-US" sz="1800"/>
              <a:t>      integers  with </a:t>
            </a:r>
            <a:r>
              <a:rPr i="1" lang="en-US" sz="1800"/>
              <a:t>a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≥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b.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                 </a:t>
            </a:r>
            <a:r>
              <a:rPr lang="en-US" sz="1800"/>
              <a:t>Let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/>
              <a:t> =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/>
              <a:t> = </a:t>
            </a:r>
            <a:r>
              <a:rPr i="1" lang="en-US" sz="1800"/>
              <a:t>b</a:t>
            </a:r>
            <a:r>
              <a:rPr lang="en-US" sz="1800"/>
              <a:t>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lang="en-US" sz="1800"/>
              <a:t>      Successive applications of the division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lang="en-US" sz="1800"/>
              <a:t>      algorithm yields:</a:t>
            </a:r>
            <a:endParaRPr sz="1800"/>
          </a:p>
          <a:p>
            <a:pPr indent="-223344" lvl="0" marL="274320" rtl="0" algn="l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/>
          </a:p>
          <a:p>
            <a:pPr indent="-223344" lvl="0" marL="274320" rtl="0" algn="l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/>
          </a:p>
          <a:p>
            <a:pPr indent="-223344" lvl="0" marL="274320" rtl="0" algn="l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Eventually, a remainder of zero occurs in the sequence of terms:  </a:t>
            </a:r>
            <a:r>
              <a:rPr i="1" lang="en-US" sz="1800"/>
              <a:t>a</a:t>
            </a:r>
            <a:r>
              <a:rPr lang="en-US" sz="1800"/>
              <a:t> =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1800"/>
              <a:t>&gt;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/>
              <a:t> &gt;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&gt; ∙ ∙ ∙  ≥ 0. The sequence can’t contain more than </a:t>
            </a:r>
            <a:r>
              <a:rPr i="1" lang="en-US" sz="1800"/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terms.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By Lemma 1, </a:t>
            </a:r>
            <a:r>
              <a:rPr lang="en-US" sz="1800"/>
              <a:t>gcd(</a:t>
            </a:r>
            <a:r>
              <a:rPr i="1" lang="en-US" sz="1800"/>
              <a:t>a</a:t>
            </a:r>
            <a:r>
              <a:rPr lang="en-US" sz="1800"/>
              <a:t>,</a:t>
            </a:r>
            <a:r>
              <a:rPr i="1" lang="en-US" sz="1800"/>
              <a:t>b</a:t>
            </a:r>
            <a:r>
              <a:rPr lang="en-US" sz="1800"/>
              <a:t>) = gcd(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/>
              <a:t>,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/>
              <a:t>)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∙ ∙ ∙ = gcd(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1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1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) = gcd(r</a:t>
            </a:r>
            <a:r>
              <a:rPr baseline="-25000" i="1" lang="en-US" sz="1800"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0) =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1800"/>
              <a:t>n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Hence the greatest common divisor is the last nonzero remainder in the sequence of divisions.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4655"/>
              <a:buNone/>
            </a:pPr>
            <a:r>
              <a:rPr lang="en-US" sz="1800"/>
              <a:t>            </a:t>
            </a:r>
            <a:endParaRPr sz="1800"/>
          </a:p>
        </p:txBody>
      </p:sp>
      <p:sp>
        <p:nvSpPr>
          <p:cNvPr id="236" name="Google Shape;236;p27"/>
          <p:cNvSpPr txBox="1"/>
          <p:nvPr/>
        </p:nvSpPr>
        <p:spPr>
          <a:xfrm>
            <a:off x="4876800" y="1905000"/>
            <a:ext cx="4038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∙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/>
          <p:nvPr/>
        </p:nvSpPr>
        <p:spPr>
          <a:xfrm flipH="1" rot="-5400000">
            <a:off x="8458200" y="5791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Dividing Congruences by an Integer</a:t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solidFill>
                  <a:srgbClr val="C00000"/>
                </a:solidFill>
              </a:rPr>
              <a:t>Dividing both sides of a valid congruence by an integer does not always produce a valid congruence</a:t>
            </a:r>
            <a:r>
              <a:rPr lang="en-US"/>
              <a:t> (see Section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4.1</a:t>
            </a:r>
            <a:r>
              <a:rPr lang="en-US"/>
              <a:t>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But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dividing by an integer </a:t>
            </a:r>
            <a:r>
              <a:rPr b="1" lang="en-US">
                <a:solidFill>
                  <a:schemeClr val="accent1"/>
                </a:solidFill>
              </a:rPr>
              <a:t>relatively prime</a:t>
            </a:r>
            <a:r>
              <a:rPr lang="en-US">
                <a:solidFill>
                  <a:schemeClr val="accent1"/>
                </a:solidFill>
                <a:latin typeface="Cambria Math"/>
                <a:ea typeface="Cambria Math"/>
                <a:cs typeface="Cambria Math"/>
                <a:sym typeface="Cambria Math"/>
              </a:rPr>
              <a:t> to the modulus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does produce a valid congruence: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b="1" lang="en-US"/>
              <a:t>Theorem 7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Let m be a positive integer and let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/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i="1" lang="en-US"/>
              <a:t>c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be integers. If </a:t>
            </a:r>
            <a:r>
              <a:rPr i="1" lang="en-US"/>
              <a:t>ac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/>
              <a:t> bc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 and gcd(</a:t>
            </a:r>
            <a:r>
              <a:rPr i="1" lang="en-US"/>
              <a:t>c,m</a:t>
            </a:r>
            <a:r>
              <a:rPr lang="en-US"/>
              <a:t>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1,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b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(mod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lang="en-US"/>
              <a:t>Proof</a:t>
            </a:r>
            <a:r>
              <a:rPr lang="en-US"/>
              <a:t>: Since </a:t>
            </a:r>
            <a:r>
              <a:rPr i="1" lang="en-US"/>
              <a:t>ac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/>
              <a:t> bc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), </a:t>
            </a:r>
            <a:r>
              <a:rPr i="1" lang="en-US"/>
              <a:t>m</a:t>
            </a:r>
            <a:r>
              <a:rPr lang="en-US"/>
              <a:t> | </a:t>
            </a:r>
            <a:r>
              <a:rPr i="1" lang="en-US"/>
              <a:t>ac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/>
              <a:t> </a:t>
            </a:r>
            <a:r>
              <a:rPr i="1" lang="en-US"/>
              <a:t>bc</a:t>
            </a:r>
            <a:r>
              <a:rPr lang="en-US"/>
              <a:t>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−</a:t>
            </a:r>
            <a:r>
              <a:rPr lang="en-US"/>
              <a:t> </a:t>
            </a:r>
            <a:r>
              <a:rPr i="1" lang="en-US"/>
              <a:t>b</a:t>
            </a:r>
            <a:r>
              <a:rPr lang="en-US"/>
              <a:t>)   by Lemma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 and the fact that gcd(</a:t>
            </a:r>
            <a:r>
              <a:rPr i="1" lang="en-US"/>
              <a:t>c</a:t>
            </a:r>
            <a:r>
              <a:rPr lang="en-US"/>
              <a:t>,</a:t>
            </a:r>
            <a:r>
              <a:rPr i="1" lang="en-US"/>
              <a:t>m</a:t>
            </a:r>
            <a:r>
              <a:rPr lang="en-US"/>
              <a:t>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 it follows that   </a:t>
            </a:r>
            <a:r>
              <a:rPr i="1" lang="en-US"/>
              <a:t>m</a:t>
            </a:r>
            <a:r>
              <a:rPr lang="en-US"/>
              <a:t> |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−</a:t>
            </a:r>
            <a:r>
              <a:rPr lang="en-US"/>
              <a:t> </a:t>
            </a:r>
            <a:r>
              <a:rPr i="1" lang="en-US"/>
              <a:t>b.</a:t>
            </a:r>
            <a:r>
              <a:rPr lang="en-US"/>
              <a:t>  Hence,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/>
              <a:t>a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/>
              <a:t>b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(mod </a:t>
            </a:r>
            <a:r>
              <a:rPr i="1" lang="en-US"/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r>
              <a:rPr lang="en-US"/>
              <a:t> </a:t>
            </a:r>
            <a:endParaRPr/>
          </a:p>
        </p:txBody>
      </p:sp>
      <p:sp>
        <p:nvSpPr>
          <p:cNvPr id="244" name="Google Shape;244;p28"/>
          <p:cNvSpPr/>
          <p:nvPr/>
        </p:nvSpPr>
        <p:spPr>
          <a:xfrm flipH="1" rot="-5400000">
            <a:off x="8382000" y="58674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