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6858000" cx="9144000"/>
  <p:notesSz cx="7010400" cy="9296400"/>
  <p:embeddedFontLst>
    <p:embeddedFont>
      <p:font typeface="Constantia"/>
      <p:regular r:id="rId26"/>
      <p:bold r:id="rId27"/>
      <p:italic r:id="rId28"/>
      <p:boldItalic r:id="rId29"/>
    </p:embeddedFont>
    <p:embeddedFont>
      <p:font typeface="Cambria Math"/>
      <p:regular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Constantia-regular.fntdata"/><Relationship Id="rId25" Type="http://schemas.openxmlformats.org/officeDocument/2006/relationships/slide" Target="slides/slide20.xml"/><Relationship Id="rId28" Type="http://schemas.openxmlformats.org/officeDocument/2006/relationships/font" Target="fonts/Constantia-italic.fntdata"/><Relationship Id="rId27" Type="http://schemas.openxmlformats.org/officeDocument/2006/relationships/font" Target="fonts/Constantia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Constantia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CambriaMath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970938" y="0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81100" y="698500"/>
            <a:ext cx="46482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" name="Google Shape;124;p3:notes"/>
          <p:cNvSpPr/>
          <p:nvPr>
            <p:ph idx="2" type="sldImg"/>
          </p:nvPr>
        </p:nvSpPr>
        <p:spPr>
          <a:xfrm>
            <a:off x="1181100" y="698500"/>
            <a:ext cx="46482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" name="Google Shape;130;p4:notes"/>
          <p:cNvSpPr/>
          <p:nvPr>
            <p:ph idx="2" type="sldImg"/>
          </p:nvPr>
        </p:nvSpPr>
        <p:spPr>
          <a:xfrm>
            <a:off x="1181100" y="698500"/>
            <a:ext cx="46482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" name="Google Shape;136;p6:notes"/>
          <p:cNvSpPr/>
          <p:nvPr>
            <p:ph idx="2" type="sldImg"/>
          </p:nvPr>
        </p:nvSpPr>
        <p:spPr>
          <a:xfrm>
            <a:off x="1181100" y="698500"/>
            <a:ext cx="46482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2" name="Google Shape;142;p7:notes"/>
          <p:cNvSpPr/>
          <p:nvPr>
            <p:ph idx="2" type="sldImg"/>
          </p:nvPr>
        </p:nvSpPr>
        <p:spPr>
          <a:xfrm>
            <a:off x="1181100" y="698500"/>
            <a:ext cx="46482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p8:notes"/>
          <p:cNvSpPr/>
          <p:nvPr>
            <p:ph idx="2" type="sldImg"/>
          </p:nvPr>
        </p:nvSpPr>
        <p:spPr>
          <a:xfrm>
            <a:off x="1181100" y="698500"/>
            <a:ext cx="46482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4" name="Google Shape;154;p9:notes"/>
          <p:cNvSpPr/>
          <p:nvPr>
            <p:ph idx="2" type="sldImg"/>
          </p:nvPr>
        </p:nvSpPr>
        <p:spPr>
          <a:xfrm>
            <a:off x="1181100" y="698500"/>
            <a:ext cx="46482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0" name="Google Shape;160;p10:notes"/>
          <p:cNvSpPr/>
          <p:nvPr>
            <p:ph idx="2" type="sldImg"/>
          </p:nvPr>
        </p:nvSpPr>
        <p:spPr>
          <a:xfrm>
            <a:off x="1181100" y="698500"/>
            <a:ext cx="46482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1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p11:notes"/>
          <p:cNvSpPr/>
          <p:nvPr>
            <p:ph idx="2" type="sldImg"/>
          </p:nvPr>
        </p:nvSpPr>
        <p:spPr>
          <a:xfrm>
            <a:off x="1181100" y="698500"/>
            <a:ext cx="46482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c5a9a747328e1d4_0:notes"/>
          <p:cNvSpPr txBox="1"/>
          <p:nvPr>
            <p:ph idx="1" type="body"/>
          </p:nvPr>
        </p:nvSpPr>
        <p:spPr>
          <a:xfrm>
            <a:off x="701040" y="4415790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2" name="Google Shape;172;gc5a9a747328e1d4_0:notes"/>
          <p:cNvSpPr/>
          <p:nvPr>
            <p:ph idx="2" type="sldImg"/>
          </p:nvPr>
        </p:nvSpPr>
        <p:spPr>
          <a:xfrm>
            <a:off x="1181100" y="698500"/>
            <a:ext cx="46482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2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8" name="Google Shape;178;p12:notes"/>
          <p:cNvSpPr/>
          <p:nvPr>
            <p:ph idx="2" type="sldImg"/>
          </p:nvPr>
        </p:nvSpPr>
        <p:spPr>
          <a:xfrm>
            <a:off x="1181100" y="698500"/>
            <a:ext cx="46482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4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7" name="Google Shape;187;p14:notes"/>
          <p:cNvSpPr/>
          <p:nvPr>
            <p:ph idx="2" type="sldImg"/>
          </p:nvPr>
        </p:nvSpPr>
        <p:spPr>
          <a:xfrm>
            <a:off x="1181100" y="698500"/>
            <a:ext cx="46482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5:notes"/>
          <p:cNvSpPr/>
          <p:nvPr>
            <p:ph idx="2" type="sldImg"/>
          </p:nvPr>
        </p:nvSpPr>
        <p:spPr>
          <a:xfrm>
            <a:off x="1181100" y="698500"/>
            <a:ext cx="46482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15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4" name="Google Shape;194;p15:notes"/>
          <p:cNvSpPr txBox="1"/>
          <p:nvPr>
            <p:ph idx="12" type="sldNum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6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1" name="Google Shape;201;p16:notes"/>
          <p:cNvSpPr/>
          <p:nvPr>
            <p:ph idx="2" type="sldImg"/>
          </p:nvPr>
        </p:nvSpPr>
        <p:spPr>
          <a:xfrm>
            <a:off x="1181100" y="698500"/>
            <a:ext cx="46482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7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8" name="Google Shape;208;p17:notes"/>
          <p:cNvSpPr/>
          <p:nvPr>
            <p:ph idx="2" type="sldImg"/>
          </p:nvPr>
        </p:nvSpPr>
        <p:spPr>
          <a:xfrm>
            <a:off x="1181100" y="698500"/>
            <a:ext cx="46482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8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4" name="Google Shape;214;p18:notes"/>
          <p:cNvSpPr/>
          <p:nvPr>
            <p:ph idx="2" type="sldImg"/>
          </p:nvPr>
        </p:nvSpPr>
        <p:spPr>
          <a:xfrm>
            <a:off x="1181100" y="698500"/>
            <a:ext cx="46482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9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2" name="Google Shape;222;p19:notes"/>
          <p:cNvSpPr/>
          <p:nvPr>
            <p:ph idx="2" type="sldImg"/>
          </p:nvPr>
        </p:nvSpPr>
        <p:spPr>
          <a:xfrm>
            <a:off x="1181100" y="698500"/>
            <a:ext cx="46482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0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5" name="Google Shape;235;p20:notes"/>
          <p:cNvSpPr/>
          <p:nvPr>
            <p:ph idx="2" type="sldImg"/>
          </p:nvPr>
        </p:nvSpPr>
        <p:spPr>
          <a:xfrm>
            <a:off x="1181100" y="698500"/>
            <a:ext cx="46482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1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1" name="Google Shape;241;p21:notes"/>
          <p:cNvSpPr/>
          <p:nvPr>
            <p:ph idx="2" type="sldImg"/>
          </p:nvPr>
        </p:nvSpPr>
        <p:spPr>
          <a:xfrm>
            <a:off x="1181100" y="698500"/>
            <a:ext cx="46482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3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7" name="Google Shape;247;p23:notes"/>
          <p:cNvSpPr/>
          <p:nvPr>
            <p:ph idx="2" type="sldImg"/>
          </p:nvPr>
        </p:nvSpPr>
        <p:spPr>
          <a:xfrm>
            <a:off x="1181100" y="698500"/>
            <a:ext cx="46482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4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6" name="Google Shape;256;p24:notes"/>
          <p:cNvSpPr/>
          <p:nvPr>
            <p:ph idx="2" type="sldImg"/>
          </p:nvPr>
        </p:nvSpPr>
        <p:spPr>
          <a:xfrm>
            <a:off x="1181100" y="698500"/>
            <a:ext cx="46482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CFE2F3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oogle Shape;28;p2"/>
          <p:cNvGrpSpPr/>
          <p:nvPr/>
        </p:nvGrpSpPr>
        <p:grpSpPr>
          <a:xfrm>
            <a:off x="6098378" y="7"/>
            <a:ext cx="3045625" cy="2707359"/>
            <a:chOff x="6098378" y="5"/>
            <a:chExt cx="3045625" cy="2030570"/>
          </a:xfrm>
        </p:grpSpPr>
        <p:sp>
          <p:nvSpPr>
            <p:cNvPr id="29" name="Google Shape;29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3949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533400" y="1371600"/>
            <a:ext cx="7851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18275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Font typeface="Calibri"/>
              <a:buNone/>
              <a:defRPr b="1" sz="56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533400" y="3228536"/>
            <a:ext cx="78546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18275" wrap="square" tIns="45700">
            <a:normAutofit/>
          </a:bodyPr>
          <a:lstStyle>
            <a:lvl1pPr lvl="0" marR="45720" algn="r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2470"/>
              <a:buNone/>
              <a:defRPr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  <a:defRPr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4pPr>
            <a:lvl5pPr lvl="4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5pPr>
            <a:lvl6pPr lvl="5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6pPr>
            <a:lvl7pPr lvl="6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7pPr>
            <a:lvl8pPr lvl="7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6" name="Google Shape;36;p2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9" name="Google Shape;39;p2"/>
          <p:cNvGrpSpPr/>
          <p:nvPr/>
        </p:nvGrpSpPr>
        <p:grpSpPr>
          <a:xfrm>
            <a:off x="175" y="5715115"/>
            <a:ext cx="9144053" cy="1142603"/>
            <a:chOff x="-4085248" y="3903669"/>
            <a:chExt cx="13229243" cy="1239938"/>
          </a:xfrm>
        </p:grpSpPr>
        <p:sp>
          <p:nvSpPr>
            <p:cNvPr id="40" name="Google Shape;40;p2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2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rgbClr val="D233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2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rgbClr val="9C25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-4085248" y="4891607"/>
              <a:ext cx="13229100" cy="252000"/>
            </a:xfrm>
            <a:prstGeom prst="rect">
              <a:avLst/>
            </a:prstGeom>
            <a:solidFill>
              <a:srgbClr val="2A39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"/>
          <p:cNvSpPr txBox="1"/>
          <p:nvPr>
            <p:ph idx="1" type="body"/>
          </p:nvPr>
        </p:nvSpPr>
        <p:spPr>
          <a:xfrm>
            <a:off x="457200" y="19354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5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3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3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CFE2F3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"/>
          <p:cNvSpPr txBox="1"/>
          <p:nvPr>
            <p:ph type="title"/>
          </p:nvPr>
        </p:nvSpPr>
        <p:spPr>
          <a:xfrm>
            <a:off x="530352" y="1316736"/>
            <a:ext cx="7772400" cy="13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Font typeface="Calibri"/>
              <a:buNone/>
              <a:defRPr b="1" sz="5600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"/>
          <p:cNvSpPr txBox="1"/>
          <p:nvPr>
            <p:ph idx="1" type="body"/>
          </p:nvPr>
        </p:nvSpPr>
        <p:spPr>
          <a:xfrm>
            <a:off x="530352" y="2704664"/>
            <a:ext cx="7772400" cy="15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2090"/>
              <a:buNone/>
              <a:defRPr sz="2200">
                <a:solidFill>
                  <a:srgbClr val="000000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120"/>
              <a:buNone/>
              <a:defRPr sz="1600">
                <a:solidFill>
                  <a:srgbClr val="000000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910"/>
              <a:buNone/>
              <a:defRPr sz="1400">
                <a:solidFill>
                  <a:srgbClr val="000000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910"/>
              <a:buNone/>
              <a:defRPr sz="1400">
                <a:solidFill>
                  <a:srgbClr val="000000"/>
                </a:solidFill>
              </a:defRPr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4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57" name="Google Shape;57;p4"/>
          <p:cNvGrpSpPr/>
          <p:nvPr/>
        </p:nvGrpSpPr>
        <p:grpSpPr>
          <a:xfrm>
            <a:off x="175" y="5715115"/>
            <a:ext cx="9144053" cy="1142603"/>
            <a:chOff x="-4085248" y="3903669"/>
            <a:chExt cx="13229243" cy="1239938"/>
          </a:xfrm>
        </p:grpSpPr>
        <p:sp>
          <p:nvSpPr>
            <p:cNvPr id="58" name="Google Shape;58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rgbClr val="D233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rgbClr val="9C25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4"/>
            <p:cNvSpPr/>
            <p:nvPr/>
          </p:nvSpPr>
          <p:spPr>
            <a:xfrm>
              <a:off x="-4085248" y="4891607"/>
              <a:ext cx="13229100" cy="252000"/>
            </a:xfrm>
            <a:prstGeom prst="rect">
              <a:avLst/>
            </a:prstGeom>
            <a:solidFill>
              <a:srgbClr val="2A39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5"/>
          <p:cNvSpPr txBox="1"/>
          <p:nvPr>
            <p:ph idx="1" type="body"/>
          </p:nvPr>
        </p:nvSpPr>
        <p:spPr>
          <a:xfrm>
            <a:off x="457200" y="1920085"/>
            <a:ext cx="4038600" cy="44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⚫"/>
              <a:defRPr sz="2600"/>
            </a:lvl1pPr>
            <a:lvl2pPr indent="-35814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  <a:defRPr sz="2400"/>
            </a:lvl2pPr>
            <a:lvl3pPr indent="-3175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⚫"/>
              <a:defRPr sz="2000"/>
            </a:lvl3pPr>
            <a:lvl4pPr indent="-302895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5"/>
          <p:cNvSpPr txBox="1"/>
          <p:nvPr>
            <p:ph idx="2" type="body"/>
          </p:nvPr>
        </p:nvSpPr>
        <p:spPr>
          <a:xfrm>
            <a:off x="4648200" y="1920085"/>
            <a:ext cx="4038600" cy="44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⚫"/>
              <a:defRPr sz="2600"/>
            </a:lvl1pPr>
            <a:lvl2pPr indent="-35814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  <a:defRPr sz="2400"/>
            </a:lvl2pPr>
            <a:lvl3pPr indent="-3175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⚫"/>
              <a:defRPr sz="2000"/>
            </a:lvl3pPr>
            <a:lvl4pPr indent="-302895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5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5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5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6"/>
          <p:cNvSpPr txBox="1"/>
          <p:nvPr>
            <p:ph idx="1" type="body"/>
          </p:nvPr>
        </p:nvSpPr>
        <p:spPr>
          <a:xfrm>
            <a:off x="457200" y="1855248"/>
            <a:ext cx="4040100" cy="65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80"/>
              <a:buNone/>
              <a:defRPr b="1" sz="24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6"/>
          <p:cNvSpPr txBox="1"/>
          <p:nvPr>
            <p:ph idx="2" type="body"/>
          </p:nvPr>
        </p:nvSpPr>
        <p:spPr>
          <a:xfrm>
            <a:off x="4645025" y="1859757"/>
            <a:ext cx="40419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80"/>
              <a:buNone/>
              <a:defRPr b="1" sz="24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6"/>
          <p:cNvSpPr txBox="1"/>
          <p:nvPr>
            <p:ph idx="3" type="body"/>
          </p:nvPr>
        </p:nvSpPr>
        <p:spPr>
          <a:xfrm>
            <a:off x="457200" y="2514600"/>
            <a:ext cx="4040100" cy="38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361315" lvl="0" marL="4572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90"/>
              <a:buChar char="⚫"/>
              <a:defRPr sz="2200"/>
            </a:lvl1pPr>
            <a:lvl2pPr indent="-3365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00"/>
              <a:buChar char="⚫"/>
              <a:defRPr sz="2000"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 sz="1800"/>
            </a:lvl3pPr>
            <a:lvl4pPr indent="-29464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4pPr>
            <a:lvl5pPr indent="-29464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6"/>
          <p:cNvSpPr txBox="1"/>
          <p:nvPr>
            <p:ph idx="4" type="body"/>
          </p:nvPr>
        </p:nvSpPr>
        <p:spPr>
          <a:xfrm>
            <a:off x="4645025" y="2514600"/>
            <a:ext cx="4041900" cy="38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361315" lvl="0" marL="4572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90"/>
              <a:buChar char="⚫"/>
              <a:defRPr sz="2200"/>
            </a:lvl1pPr>
            <a:lvl2pPr indent="-3365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00"/>
              <a:buChar char="⚫"/>
              <a:defRPr sz="2000"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 sz="1800"/>
            </a:lvl3pPr>
            <a:lvl4pPr indent="-29464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4pPr>
            <a:lvl5pPr indent="-29464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6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6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6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80;p7"/>
          <p:cNvGrpSpPr/>
          <p:nvPr/>
        </p:nvGrpSpPr>
        <p:grpSpPr>
          <a:xfrm>
            <a:off x="6098378" y="7"/>
            <a:ext cx="3045625" cy="2707359"/>
            <a:chOff x="6098378" y="5"/>
            <a:chExt cx="3045625" cy="2030570"/>
          </a:xfrm>
        </p:grpSpPr>
        <p:sp>
          <p:nvSpPr>
            <p:cNvPr id="81" name="Google Shape;81;p7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7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3949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7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7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7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6" name="Google Shape;86;p7"/>
          <p:cNvSpPr txBox="1"/>
          <p:nvPr>
            <p:ph type="title"/>
          </p:nvPr>
        </p:nvSpPr>
        <p:spPr>
          <a:xfrm>
            <a:off x="457200" y="1999488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  <a:defRPr b="0" sz="5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7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7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7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8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8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8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9"/>
          <p:cNvSpPr txBox="1"/>
          <p:nvPr>
            <p:ph type="title"/>
          </p:nvPr>
        </p:nvSpPr>
        <p:spPr>
          <a:xfrm>
            <a:off x="685800" y="514352"/>
            <a:ext cx="27432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libri"/>
              <a:buNone/>
              <a:defRPr b="0" sz="2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9"/>
          <p:cNvSpPr txBox="1"/>
          <p:nvPr>
            <p:ph idx="1" type="body"/>
          </p:nvPr>
        </p:nvSpPr>
        <p:spPr>
          <a:xfrm>
            <a:off x="685800" y="1676400"/>
            <a:ext cx="2743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1827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33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02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7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3575050" y="1676400"/>
            <a:ext cx="51117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39751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660"/>
              <a:buChar char="⚫"/>
              <a:defRPr sz="2800"/>
            </a:lvl1pPr>
            <a:lvl2pPr indent="-368935" lvl="1" marL="9144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210"/>
              <a:buChar char="⚫"/>
              <a:defRPr sz="2600"/>
            </a:lvl2pPr>
            <a:lvl3pPr indent="-33528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Char char="⚫"/>
              <a:defRPr sz="2400"/>
            </a:lvl3pPr>
            <a:lvl4pPr indent="-3111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⚫"/>
              <a:defRPr sz="2000"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9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9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0"/>
          <p:cNvSpPr/>
          <p:nvPr/>
        </p:nvSpPr>
        <p:spPr>
          <a:xfrm flipH="1" rot="-10380037">
            <a:off x="4172417" y="1918649"/>
            <a:ext cx="4293497" cy="3360146"/>
          </a:xfrm>
          <a:prstGeom prst="snipRoundRect">
            <a:avLst>
              <a:gd fmla="val 0" name="adj1"/>
              <a:gd fmla="val 3646" name="adj2"/>
            </a:avLst>
          </a:prstGeom>
          <a:solidFill>
            <a:srgbClr val="FFFFFF"/>
          </a:solidFill>
          <a:ln cap="rnd" cmpd="sng" w="9525">
            <a:solidFill>
              <a:srgbClr val="C0C0C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sx="98500" kx="100010" rotWithShape="0" algn="tl" dir="7500000" dist="38500" sy="100080">
              <a:srgbClr val="000000">
                <a:alpha val="2431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03" name="Google Shape;103;p10"/>
          <p:cNvSpPr/>
          <p:nvPr/>
        </p:nvSpPr>
        <p:spPr>
          <a:xfrm flipH="1" rot="-10380733">
            <a:off x="8004114" y="5359839"/>
            <a:ext cx="155354" cy="155354"/>
          </a:xfrm>
          <a:prstGeom prst="rtTriangl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bevel/>
            <a:headEnd len="sm" w="sm" type="none"/>
            <a:tailEnd len="sm" w="sm" type="none"/>
          </a:ln>
          <a:effectLst>
            <a:outerShdw blurRad="19685" rotWithShape="0" algn="tl" dir="12900000" dist="6350">
              <a:srgbClr val="000000">
                <a:alpha val="4627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04" name="Google Shape;104;p10"/>
          <p:cNvSpPr txBox="1"/>
          <p:nvPr>
            <p:ph type="title"/>
          </p:nvPr>
        </p:nvSpPr>
        <p:spPr>
          <a:xfrm>
            <a:off x="609600" y="1177000"/>
            <a:ext cx="3352800" cy="1582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libri"/>
              <a:buNone/>
              <a:defRPr b="1" sz="3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5" name="Google Shape;105;p10"/>
          <p:cNvSpPr txBox="1"/>
          <p:nvPr>
            <p:ph idx="1" type="body"/>
          </p:nvPr>
        </p:nvSpPr>
        <p:spPr>
          <a:xfrm>
            <a:off x="609600" y="2828775"/>
            <a:ext cx="3352800" cy="21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640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2400"/>
              <a:buFont typeface="Constantia"/>
              <a:buNone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2000"/>
              <a:buChar char="⚫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⚫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1600"/>
              <a:buChar char="⚫"/>
              <a:defRPr sz="1600"/>
            </a:lvl4pPr>
            <a:lvl5pPr indent="-3175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1400"/>
              <a:buChar char="⚫"/>
              <a:defRPr sz="1400"/>
            </a:lvl5pPr>
            <a:lvl6pPr indent="-3048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00"/>
              <a:buChar char="⚫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00"/>
              <a:buChar char="⚫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00"/>
              <a:buChar char="•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/>
        </p:txBody>
      </p:sp>
      <p:sp>
        <p:nvSpPr>
          <p:cNvPr id="106" name="Google Shape;106;p10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0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077200" y="6356350"/>
            <a:ext cx="609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9" name="Google Shape;109;p10"/>
          <p:cNvSpPr/>
          <p:nvPr>
            <p:ph idx="2" type="pic"/>
          </p:nvPr>
        </p:nvSpPr>
        <p:spPr>
          <a:xfrm rot="420005">
            <a:off x="4433574" y="1993209"/>
            <a:ext cx="3771211" cy="3210821"/>
          </a:xfrm>
          <a:prstGeom prst="rect">
            <a:avLst/>
          </a:prstGeom>
          <a:solidFill>
            <a:schemeClr val="lt2"/>
          </a:solidFill>
          <a:ln cap="rnd" cmpd="sng" w="9525">
            <a:solidFill>
              <a:srgbClr val="C0C0C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1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11"/>
          <p:cNvSpPr txBox="1"/>
          <p:nvPr>
            <p:ph idx="1" type="body"/>
          </p:nvPr>
        </p:nvSpPr>
        <p:spPr>
          <a:xfrm rot="5400000">
            <a:off x="2377500" y="15180"/>
            <a:ext cx="43890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5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p11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1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11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2"/>
          <p:cNvSpPr txBox="1"/>
          <p:nvPr>
            <p:ph type="title"/>
          </p:nvPr>
        </p:nvSpPr>
        <p:spPr>
          <a:xfrm rot="5400000">
            <a:off x="5052150" y="2491651"/>
            <a:ext cx="52119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12"/>
          <p:cNvSpPr txBox="1"/>
          <p:nvPr>
            <p:ph idx="1" type="body"/>
          </p:nvPr>
        </p:nvSpPr>
        <p:spPr>
          <a:xfrm rot="5400000">
            <a:off x="861150" y="510451"/>
            <a:ext cx="52119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5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12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2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2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1">
            <a:alphaModFix/>
          </a:blip>
          <a:tile algn="tl" flip="none" tx="0" sx="65002" ty="0" sy="65002"/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"/>
          <p:cNvGrpSpPr/>
          <p:nvPr/>
        </p:nvGrpSpPr>
        <p:grpSpPr>
          <a:xfrm>
            <a:off x="7600939" y="3"/>
            <a:ext cx="1542914" cy="1371650"/>
            <a:chOff x="6098378" y="5"/>
            <a:chExt cx="3045625" cy="2030570"/>
          </a:xfrm>
        </p:grpSpPr>
        <p:sp>
          <p:nvSpPr>
            <p:cNvPr id="11" name="Google Shape;11;p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3949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" name="Google Shape;16;p1"/>
          <p:cNvGrpSpPr/>
          <p:nvPr/>
        </p:nvGrpSpPr>
        <p:grpSpPr>
          <a:xfrm>
            <a:off x="-2" y="6104998"/>
            <a:ext cx="9144070" cy="752890"/>
            <a:chOff x="-10935211" y="3903669"/>
            <a:chExt cx="20079206" cy="1239937"/>
          </a:xfrm>
        </p:grpSpPr>
        <p:sp>
          <p:nvSpPr>
            <p:cNvPr id="17" name="Google Shape;17;p1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1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1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rgbClr val="D233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1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rgbClr val="9C25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1"/>
            <p:cNvSpPr/>
            <p:nvPr/>
          </p:nvSpPr>
          <p:spPr>
            <a:xfrm>
              <a:off x="-10935211" y="4891606"/>
              <a:ext cx="20079000" cy="252000"/>
            </a:xfrm>
            <a:prstGeom prst="rect">
              <a:avLst/>
            </a:prstGeom>
            <a:solidFill>
              <a:srgbClr val="2A39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" name="Google Shape;22;p1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5000"/>
              <a:buFont typeface="Calibri"/>
              <a:buNone/>
              <a:defRPr b="0" i="0" sz="5000" u="none" cap="none" strike="noStrike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1"/>
          <p:cNvSpPr txBox="1"/>
          <p:nvPr>
            <p:ph idx="1" type="body"/>
          </p:nvPr>
        </p:nvSpPr>
        <p:spPr>
          <a:xfrm>
            <a:off x="457200" y="19354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3"/>
              </a:buClr>
              <a:buSzPts val="2470"/>
              <a:buFont typeface="Noto Sans Symbols"/>
              <a:buChar char="⚫"/>
              <a:defRPr b="0" i="0" sz="2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-35814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Char char="⚫"/>
              <a:defRPr b="0" i="0" sz="2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-321945" lvl="2" marL="1371600" marR="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accent2"/>
              </a:buClr>
              <a:buSzPts val="1470"/>
              <a:buFont typeface="Noto Sans Symbols"/>
              <a:buChar char="⚫"/>
              <a:defRPr b="0" i="0" sz="21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-3111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-31115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-320040" lvl="5" marL="2743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-309880" lvl="6" marL="32004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b="0" i="0" sz="1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onstantia"/>
              <a:buChar char="•"/>
              <a:defRPr b="0" i="0" sz="1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onstantia"/>
              <a:buChar char="•"/>
              <a:defRPr b="0" i="0" sz="1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24" name="Google Shape;24;p1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25" name="Google Shape;25;p1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26" name="Google Shape;26;p1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jpg"/><Relationship Id="rId4" Type="http://schemas.openxmlformats.org/officeDocument/2006/relationships/image" Target="../media/image4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Relationship Id="rId4" Type="http://schemas.openxmlformats.org/officeDocument/2006/relationships/image" Target="../media/image3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3"/>
          <p:cNvSpPr txBox="1"/>
          <p:nvPr>
            <p:ph type="ctrTitle"/>
          </p:nvPr>
        </p:nvSpPr>
        <p:spPr>
          <a:xfrm>
            <a:off x="533400" y="1371600"/>
            <a:ext cx="65433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18275" wrap="square" tIns="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Calibri"/>
              <a:buNone/>
            </a:pPr>
            <a:r>
              <a:rPr lang="en-US"/>
              <a:t>Lecture 9: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Calibri"/>
              <a:buNone/>
            </a:pPr>
            <a:r>
              <a:rPr lang="en-US"/>
              <a:t>Sets</a:t>
            </a:r>
            <a:endParaRPr/>
          </a:p>
        </p:txBody>
      </p:sp>
      <p:sp>
        <p:nvSpPr>
          <p:cNvPr id="127" name="Google Shape;127;p13"/>
          <p:cNvSpPr txBox="1"/>
          <p:nvPr>
            <p:ph idx="1" type="subTitle"/>
          </p:nvPr>
        </p:nvSpPr>
        <p:spPr>
          <a:xfrm>
            <a:off x="533400" y="3228530"/>
            <a:ext cx="65457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18275" wrap="square" tIns="45700">
            <a:normAutofit/>
          </a:bodyPr>
          <a:lstStyle/>
          <a:p>
            <a:pPr indent="0" lvl="0" marL="0" marR="4572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Section 2.1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4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Section Summary</a:t>
            </a:r>
            <a:endParaRPr/>
          </a:p>
        </p:txBody>
      </p:sp>
      <p:sp>
        <p:nvSpPr>
          <p:cNvPr id="133" name="Google Shape;133;p14"/>
          <p:cNvSpPr txBox="1"/>
          <p:nvPr>
            <p:ph idx="1" type="body"/>
          </p:nvPr>
        </p:nvSpPr>
        <p:spPr>
          <a:xfrm>
            <a:off x="457200" y="19354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718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0"/>
              <a:buFont typeface="Cambria Math"/>
              <a:buChar char="●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Definition of sets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3718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0"/>
              <a:buFont typeface="Cambria Math"/>
              <a:buChar char="●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Describing Sets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25755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Font typeface="Cambria Math"/>
              <a:buChar char="○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Roster Method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25755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Font typeface="Cambria Math"/>
              <a:buChar char="○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Set-Builder Notation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3718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0"/>
              <a:buFont typeface="Cambria Math"/>
              <a:buChar char="●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Some Important Sets in Mathematics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3718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0"/>
              <a:buFont typeface="Cambria Math"/>
              <a:buChar char="●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Empty Set and Universal Set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3718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0"/>
              <a:buFont typeface="Cambria Math"/>
              <a:buChar char="●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Subsets and Set Equality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3718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0"/>
              <a:buFont typeface="Cambria Math"/>
              <a:buChar char="●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Cardinality of Sets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3718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0"/>
              <a:buFont typeface="Cambria Math"/>
              <a:buChar char="●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Tuples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3718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0"/>
              <a:buFont typeface="Cambria Math"/>
              <a:buChar char="●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Cartesian Product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5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Sets</a:t>
            </a:r>
            <a:endParaRPr/>
          </a:p>
        </p:txBody>
      </p:sp>
      <p:sp>
        <p:nvSpPr>
          <p:cNvPr id="139" name="Google Shape;139;p15"/>
          <p:cNvSpPr txBox="1"/>
          <p:nvPr>
            <p:ph idx="1" type="body"/>
          </p:nvPr>
        </p:nvSpPr>
        <p:spPr>
          <a:xfrm>
            <a:off x="457200" y="19354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Font typeface="Cambria Math"/>
              <a:buChar char="●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A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set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is an unordered collection of objects.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4688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Font typeface="Cambria Math"/>
              <a:buChar char="○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the students in this class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4688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Font typeface="Cambria Math"/>
              <a:buChar char="○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the chairs in this room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Font typeface="Cambria Math"/>
              <a:buChar char="●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The objects in a set are called the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elements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, or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members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of the set. A set is said to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contain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its elements.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●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The notation 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∈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 denotes that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is an element of the set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.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●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If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is not a member of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, write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∉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US"/>
              <a:t>Describing a Set: Roster Method</a:t>
            </a:r>
            <a:endParaRPr/>
          </a:p>
        </p:txBody>
      </p:sp>
      <p:sp>
        <p:nvSpPr>
          <p:cNvPr id="145" name="Google Shape;145;p16"/>
          <p:cNvSpPr txBox="1"/>
          <p:nvPr>
            <p:ph idx="1" type="body"/>
          </p:nvPr>
        </p:nvSpPr>
        <p:spPr>
          <a:xfrm>
            <a:off x="457200" y="19354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Font typeface="Cambria Math"/>
              <a:buChar char="●"/>
            </a:pP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S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= {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a,b,c,d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}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Font typeface="Cambria Math"/>
              <a:buChar char="●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Order not important 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       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S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= {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a,b,c,d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} = {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b,c,a,d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}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Font typeface="Cambria Math"/>
              <a:buChar char="●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Each distinct object is either a member or not; listing more than once does not change the set.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    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S</a:t>
            </a: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= {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a,b,c,d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} = {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a,b,c,b,c,d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}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Font typeface="Cambria Math"/>
              <a:buChar char="●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Elipses (…) may be used to describe a set without listing all of the members when the pattern is clear.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3718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0"/>
              <a:buFont typeface="Cambria Math"/>
              <a:buChar char="●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        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S</a:t>
            </a: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= {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a,b,c,d, ……,z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}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7"/>
          <p:cNvSpPr txBox="1"/>
          <p:nvPr>
            <p:ph type="title"/>
          </p:nvPr>
        </p:nvSpPr>
        <p:spPr>
          <a:xfrm>
            <a:off x="457200" y="733086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Roster Method</a:t>
            </a:r>
            <a:endParaRPr/>
          </a:p>
        </p:txBody>
      </p:sp>
      <p:sp>
        <p:nvSpPr>
          <p:cNvPr id="151" name="Google Shape;151;p17"/>
          <p:cNvSpPr txBox="1"/>
          <p:nvPr>
            <p:ph idx="1" type="body"/>
          </p:nvPr>
        </p:nvSpPr>
        <p:spPr>
          <a:xfrm>
            <a:off x="457200" y="19354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Font typeface="Cambria Math"/>
              <a:buChar char="●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Set of all vowels in the English alphabet: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            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V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= {a,e,i,o,u}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●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Set of all  odd positive integers less than 10: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            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O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= {1,3,5,7,9}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●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Set of all positive integers less than 100: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            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S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= {1,2,3,……..,99}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514350" lvl="0" marL="5143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Font typeface="Cambria Math"/>
              <a:buChar char="●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Set of all integers less than 0: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            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S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= {…., -3,-2,-1}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8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Some Important Sets</a:t>
            </a:r>
            <a:endParaRPr/>
          </a:p>
        </p:txBody>
      </p:sp>
      <p:sp>
        <p:nvSpPr>
          <p:cNvPr id="157" name="Google Shape;157;p18"/>
          <p:cNvSpPr txBox="1"/>
          <p:nvPr>
            <p:ph idx="1" type="body"/>
          </p:nvPr>
        </p:nvSpPr>
        <p:spPr>
          <a:xfrm>
            <a:off x="457200" y="19354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718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0"/>
              <a:buFont typeface="Cambria Math"/>
              <a:buChar char="●"/>
            </a:pP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=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natural numbers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= {0,1,2,3….}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37185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710"/>
              <a:buFont typeface="Cambria Math"/>
              <a:buChar char="●"/>
            </a:pP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Z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=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integers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= {…,-3,-2,-1,0,1,2,3,…}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37185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710"/>
              <a:buFont typeface="Cambria Math"/>
              <a:buChar char="●"/>
            </a:pP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Z⁺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=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positive integers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= {1,2,3,…..}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37185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710"/>
              <a:buFont typeface="Cambria Math"/>
              <a:buChar char="●"/>
            </a:pP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R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= set of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real numbers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37185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710"/>
              <a:buFont typeface="Cambria Math"/>
              <a:buChar char="●"/>
            </a:pP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R</a:t>
            </a:r>
            <a:r>
              <a:rPr b="1" baseline="30000" lang="en-US">
                <a:latin typeface="Cambria Math"/>
                <a:ea typeface="Cambria Math"/>
                <a:cs typeface="Cambria Math"/>
                <a:sym typeface="Cambria Math"/>
              </a:rPr>
              <a:t>+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= set of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positive real numbers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37185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710"/>
              <a:buFont typeface="Cambria Math"/>
              <a:buChar char="●"/>
            </a:pP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C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=  set of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complex numbers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.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37185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710"/>
              <a:buFont typeface="Cambria Math"/>
              <a:buChar char="●"/>
            </a:pP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Q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= set of rational numbers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117475" lvl="0" marL="27432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9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Set-Builder Notation</a:t>
            </a:r>
            <a:endParaRPr/>
          </a:p>
        </p:txBody>
      </p:sp>
      <p:sp>
        <p:nvSpPr>
          <p:cNvPr id="163" name="Google Shape;163;p19"/>
          <p:cNvSpPr txBox="1"/>
          <p:nvPr>
            <p:ph idx="1" type="body"/>
          </p:nvPr>
        </p:nvSpPr>
        <p:spPr>
          <a:xfrm>
            <a:off x="457200" y="19354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62556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5000"/>
              <a:buFont typeface="Cambria Math"/>
              <a:buChar char="●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Specify the property or properties that all members must satisfy: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19" lvl="0" marL="11887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ct val="95000"/>
              <a:buNone/>
            </a:pP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S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= {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x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|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x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is a positive integer less than 100}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19" lvl="0" marL="11887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ct val="95000"/>
              <a:buNone/>
            </a:pP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O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= {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x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|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x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is an odd positive integer less than 10}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19" lvl="0" marL="11887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ct val="95000"/>
              <a:buNone/>
            </a:pP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O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= {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x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∈</a:t>
            </a: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 Z⁺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|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x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is odd and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x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&lt; 10}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62556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ct val="95000"/>
              <a:buFont typeface="Cambria Math"/>
              <a:buChar char="●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A predicate may be used: 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19" lvl="0" marL="11887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ct val="95000"/>
              <a:buNone/>
            </a:pP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S</a:t>
            </a:r>
            <a:r>
              <a:rPr b="1" i="1" lang="en-US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=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{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x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| P(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x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)}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62556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ct val="95000"/>
              <a:buChar char="●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Example: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S</a:t>
            </a:r>
            <a:r>
              <a:rPr b="1" i="1" lang="en-US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=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{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x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|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Prime(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x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)}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62556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ct val="95000"/>
              <a:buFont typeface="Cambria Math"/>
              <a:buChar char="●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Positive rational numbers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: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ct val="71102"/>
              <a:buNone/>
            </a:pP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Q</a:t>
            </a:r>
            <a:r>
              <a:rPr b="1" baseline="30000" lang="en-US">
                <a:latin typeface="Cambria Math"/>
                <a:ea typeface="Cambria Math"/>
                <a:cs typeface="Cambria Math"/>
                <a:sym typeface="Cambria Math"/>
              </a:rPr>
              <a:t>+</a:t>
            </a:r>
            <a:r>
              <a:rPr baseline="30000" lang="en-US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= {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x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∈ </a:t>
            </a: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R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|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x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=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p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/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q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, for some positive integers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p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,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q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}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ct val="71102"/>
              <a:buNone/>
            </a:pPr>
            <a:r>
              <a:t/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0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Interval Notation</a:t>
            </a:r>
            <a:endParaRPr/>
          </a:p>
        </p:txBody>
      </p:sp>
      <p:sp>
        <p:nvSpPr>
          <p:cNvPr id="169" name="Google Shape;169;p20"/>
          <p:cNvSpPr txBox="1"/>
          <p:nvPr>
            <p:ph idx="1" type="body"/>
          </p:nvPr>
        </p:nvSpPr>
        <p:spPr>
          <a:xfrm>
            <a:off x="1280400" y="1918225"/>
            <a:ext cx="54459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37185" lvl="0" marL="45720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1710"/>
              <a:buFont typeface="Cambria Math"/>
              <a:buChar char="●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  [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,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] = {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x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|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≤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x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≤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}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3718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0"/>
              <a:buFont typeface="Cambria Math"/>
              <a:buChar char="●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  [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,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) = {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x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|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≤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x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&lt;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}  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3718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0"/>
              <a:buFont typeface="Cambria Math"/>
              <a:buChar char="●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  (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,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] = {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x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|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&lt;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x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≤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}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3718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0"/>
              <a:buFont typeface="Cambria Math"/>
              <a:buChar char="●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  (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,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) = {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x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|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&lt;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x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&lt;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}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  closed interval 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[a,b]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  open interval    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(a,b)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1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Universal Set and Empty Set</a:t>
            </a:r>
            <a:endParaRPr/>
          </a:p>
        </p:txBody>
      </p:sp>
      <p:sp>
        <p:nvSpPr>
          <p:cNvPr id="175" name="Google Shape;175;p21"/>
          <p:cNvSpPr txBox="1"/>
          <p:nvPr>
            <p:ph idx="1" type="body"/>
          </p:nvPr>
        </p:nvSpPr>
        <p:spPr>
          <a:xfrm>
            <a:off x="457200" y="19354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Font typeface="Cambria Math"/>
              <a:buChar char="●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The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universal set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U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is the set containing everything currently under consideration. </a:t>
            </a:r>
            <a:endParaRPr i="1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4688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Font typeface="Cambria Math"/>
              <a:buChar char="○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Sometimes implicit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4688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Font typeface="Cambria Math"/>
              <a:buChar char="○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Sometimes explicitly stated.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4688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Font typeface="Cambria Math"/>
              <a:buChar char="○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Contents depend on the context.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Font typeface="Cambria Math"/>
              <a:buChar char="●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The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empty set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is the set with no elements. 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85444" lvl="1" marL="91440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Font typeface="Cambria Math"/>
              <a:buChar char="○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Symbolized as ∅ or, {} .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2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Venn Diagrams</a:t>
            </a:r>
            <a:endParaRPr/>
          </a:p>
        </p:txBody>
      </p:sp>
      <p:sp>
        <p:nvSpPr>
          <p:cNvPr id="181" name="Google Shape;181;p22"/>
          <p:cNvSpPr txBox="1"/>
          <p:nvPr>
            <p:ph idx="1" type="body"/>
          </p:nvPr>
        </p:nvSpPr>
        <p:spPr>
          <a:xfrm>
            <a:off x="457200" y="1935475"/>
            <a:ext cx="41148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 Math"/>
              <a:buChar char="●"/>
            </a:pP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The universal set is represented by a rectangle.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 Math"/>
              <a:buChar char="●"/>
            </a:pP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Sets are shown as ovals, circles or other geometric shapes.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 Math"/>
              <a:buChar char="●"/>
            </a:pP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Sometimes points are used to represent the particular elements of the set.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pic>
        <p:nvPicPr>
          <p:cNvPr descr="0204.jpg" id="182" name="Google Shape;18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00600" y="5486400"/>
            <a:ext cx="893064" cy="103632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2"/>
          <p:cNvSpPr txBox="1"/>
          <p:nvPr/>
        </p:nvSpPr>
        <p:spPr>
          <a:xfrm>
            <a:off x="5943600" y="5638800"/>
            <a:ext cx="28194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John Venn (1834-1923)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Cambridge, UK</a:t>
            </a:r>
            <a:endParaRPr b="0" i="0" sz="18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pic>
        <p:nvPicPr>
          <p:cNvPr id="184" name="Google Shape;18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26402" y="2002851"/>
            <a:ext cx="4236598" cy="2409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3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Some things to remember</a:t>
            </a:r>
            <a:endParaRPr/>
          </a:p>
        </p:txBody>
      </p:sp>
      <p:sp>
        <p:nvSpPr>
          <p:cNvPr id="190" name="Google Shape;190;p23"/>
          <p:cNvSpPr txBox="1"/>
          <p:nvPr>
            <p:ph idx="1" type="body"/>
          </p:nvPr>
        </p:nvSpPr>
        <p:spPr>
          <a:xfrm>
            <a:off x="457200" y="19354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Font typeface="Cambria Math"/>
              <a:buChar char="●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Sets can be elements of sets.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        {{1,2,3},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, {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b,c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}}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         {</a:t>
            </a: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,</a:t>
            </a: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Z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,</a:t>
            </a: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Q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,</a:t>
            </a: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R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}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Font typeface="Cambria Math"/>
              <a:buChar char="●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The empty set is different from a set containing the empty set.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1710"/>
              <a:buNone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      ∅  ≠ { ∅ } 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4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Set Equality</a:t>
            </a:r>
            <a:endParaRPr/>
          </a:p>
        </p:txBody>
      </p:sp>
      <p:sp>
        <p:nvSpPr>
          <p:cNvPr id="197" name="Google Shape;197;p24"/>
          <p:cNvSpPr txBox="1"/>
          <p:nvPr>
            <p:ph idx="1" type="body"/>
          </p:nvPr>
        </p:nvSpPr>
        <p:spPr>
          <a:xfrm>
            <a:off x="457200" y="19354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   Definition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: Two sets are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equal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if and only if they have the same elements. 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5814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Font typeface="Cambria Math"/>
              <a:buChar char="●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Therefore if A and B are sets, then A and B are equal if and only if                                               . 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5814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Font typeface="Cambria Math"/>
              <a:buChar char="●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We write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=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if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and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are equal sets.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               {1,3,5}   = {3, 5, 1}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               {1,5,5,5,3,3,1} = {1,3,5}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</p:txBody>
      </p:sp>
      <p:pic>
        <p:nvPicPr>
          <p:cNvPr descr="addin_tmp.png" id="198" name="Google Shape;19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52060" y="3237550"/>
            <a:ext cx="3231833" cy="3829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5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Subsets</a:t>
            </a:r>
            <a:endParaRPr/>
          </a:p>
        </p:txBody>
      </p:sp>
      <p:sp>
        <p:nvSpPr>
          <p:cNvPr id="204" name="Google Shape;204;p25"/>
          <p:cNvSpPr txBox="1"/>
          <p:nvPr>
            <p:ph idx="1" type="body"/>
          </p:nvPr>
        </p:nvSpPr>
        <p:spPr>
          <a:xfrm>
            <a:off x="457200" y="19354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   Definition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:  The set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is a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subset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of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, if and only if every element of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is also an element of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.  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5814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●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The notation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⊆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 is used to indicate that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is a subset of the set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. 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5814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●"/>
            </a:pP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⊆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holds if and only if                                        is true. 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21944" lvl="1" marL="91440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1470"/>
              <a:buFont typeface="Calibri"/>
              <a:buChar char="○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∅ ⊆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S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, for every set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S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(Because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∈ ∅ is always false).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21944" lvl="1" marL="91440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1470"/>
              <a:buFont typeface="Calibri"/>
              <a:buChar char="○"/>
            </a:pP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S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⊆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S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, for every set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S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(Because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∈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S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→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 a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∈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S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).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</p:txBody>
      </p:sp>
      <p:pic>
        <p:nvPicPr>
          <p:cNvPr descr="addin_tmp.png" id="205" name="Google Shape;20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1994" y="3754807"/>
            <a:ext cx="2693194" cy="3190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6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US"/>
              <a:t>Showing a Set is or is not a Subset of Another Set</a:t>
            </a:r>
            <a:endParaRPr/>
          </a:p>
        </p:txBody>
      </p:sp>
      <p:sp>
        <p:nvSpPr>
          <p:cNvPr id="211" name="Google Shape;211;p26"/>
          <p:cNvSpPr txBox="1"/>
          <p:nvPr>
            <p:ph idx="1" type="body"/>
          </p:nvPr>
        </p:nvSpPr>
        <p:spPr>
          <a:xfrm>
            <a:off x="349350" y="1935475"/>
            <a:ext cx="84693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74319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Char char="●"/>
            </a:pP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Showing  that A is a Subset of B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: To show that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⊆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, show that if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x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belongs to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A,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then x also belongs to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.</a:t>
            </a:r>
            <a:endParaRPr b="1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19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●"/>
            </a:pP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Showing that A is not a Subset of B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: To show that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is not a subset of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,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⊈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,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 </a:t>
            </a:r>
            <a:r>
              <a:rPr lang="en-US" u="sng">
                <a:latin typeface="Cambria Math"/>
                <a:ea typeface="Cambria Math"/>
                <a:cs typeface="Cambria Math"/>
                <a:sym typeface="Cambria Math"/>
              </a:rPr>
              <a:t>find an element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x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∈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with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x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∉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.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 (Such an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x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is a </a:t>
            </a:r>
            <a:r>
              <a:rPr lang="en-US" u="sng">
                <a:latin typeface="Cambria Math"/>
                <a:ea typeface="Cambria Math"/>
                <a:cs typeface="Cambria Math"/>
                <a:sym typeface="Cambria Math"/>
              </a:rPr>
              <a:t>counterexample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to the claim that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x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∈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implies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x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∈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.)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    Examples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:</a:t>
            </a: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457199" lvl="1" marL="85039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Font typeface="Cambria Math"/>
              <a:buChar char="○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The set of all computer science majors at your school is a subset of all students at your school.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457200" lvl="1" marL="85039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Font typeface="Cambria Math"/>
              <a:buChar char="○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The set of integers with squares less than 100 is not a subset of the set of nonnegative integers.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7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Another look at Equality of Sets</a:t>
            </a:r>
            <a:endParaRPr/>
          </a:p>
        </p:txBody>
      </p:sp>
      <p:sp>
        <p:nvSpPr>
          <p:cNvPr id="217" name="Google Shape;217;p27"/>
          <p:cNvSpPr txBox="1"/>
          <p:nvPr>
            <p:ph idx="1" type="body"/>
          </p:nvPr>
        </p:nvSpPr>
        <p:spPr>
          <a:xfrm>
            <a:off x="457200" y="19354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Recall that two sets </a:t>
            </a:r>
            <a:r>
              <a:rPr i="1" lang="en-US"/>
              <a:t>A</a:t>
            </a:r>
            <a:r>
              <a:rPr lang="en-US"/>
              <a:t> and </a:t>
            </a:r>
            <a:r>
              <a:rPr i="1" lang="en-US"/>
              <a:t>B</a:t>
            </a:r>
            <a:r>
              <a:rPr lang="en-US"/>
              <a:t> are </a:t>
            </a:r>
            <a:r>
              <a:rPr i="1" lang="en-US"/>
              <a:t>equal</a:t>
            </a:r>
            <a:r>
              <a:rPr lang="en-US"/>
              <a:t>, denoted by         </a:t>
            </a:r>
            <a:r>
              <a:rPr i="1" lang="en-US"/>
              <a:t>A</a:t>
            </a:r>
            <a:r>
              <a:rPr lang="en-US"/>
              <a:t> = </a:t>
            </a:r>
            <a:r>
              <a:rPr i="1" lang="en-US"/>
              <a:t>B</a:t>
            </a:r>
            <a:r>
              <a:rPr lang="en-US"/>
              <a:t>, iff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Using logical equivalences we have that </a:t>
            </a:r>
            <a:r>
              <a:rPr i="1" lang="en-US"/>
              <a:t>A</a:t>
            </a:r>
            <a:r>
              <a:rPr lang="en-US"/>
              <a:t> = </a:t>
            </a:r>
            <a:r>
              <a:rPr i="1" lang="en-US"/>
              <a:t>B</a:t>
            </a:r>
            <a:r>
              <a:rPr lang="en-US"/>
              <a:t> iff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  <a:p>
            <a:pPr indent="-117475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 This is equivalent to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1710"/>
              <a:buNone/>
            </a:pPr>
            <a:r>
              <a:rPr lang="en-US"/>
              <a:t>                     </a:t>
            </a:r>
            <a:r>
              <a:rPr i="1" lang="en-US"/>
              <a:t>A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⊆ </a:t>
            </a:r>
            <a:r>
              <a:rPr i="1" lang="en-US"/>
              <a:t>B</a:t>
            </a:r>
            <a:r>
              <a:rPr lang="en-US"/>
              <a:t>        and      </a:t>
            </a:r>
            <a:r>
              <a:rPr i="1" lang="en-US"/>
              <a:t>B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⊆ </a:t>
            </a:r>
            <a:r>
              <a:rPr i="1" lang="en-US"/>
              <a:t>A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endParaRPr/>
          </a:p>
        </p:txBody>
      </p:sp>
      <p:pic>
        <p:nvPicPr>
          <p:cNvPr descr="addin_tmp.png" id="218" name="Google Shape;21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5400" y="3962400"/>
            <a:ext cx="6700838" cy="3829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ddin_tmp.png" id="219" name="Google Shape;219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62200" y="2667000"/>
            <a:ext cx="3231832" cy="3829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8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Proper Subsets</a:t>
            </a:r>
            <a:endParaRPr/>
          </a:p>
        </p:txBody>
      </p:sp>
      <p:sp>
        <p:nvSpPr>
          <p:cNvPr id="225" name="Google Shape;225;p28"/>
          <p:cNvSpPr txBox="1"/>
          <p:nvPr>
            <p:ph idx="1" type="body"/>
          </p:nvPr>
        </p:nvSpPr>
        <p:spPr>
          <a:xfrm>
            <a:off x="457200" y="19354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  Definition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: If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⊆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, but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≠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, then we say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is a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proper subset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of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, denoted by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⊂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. If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⊂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, then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b="1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b="1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   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is true. 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117475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   Venn Diagram: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</p:txBody>
      </p:sp>
      <p:pic>
        <p:nvPicPr>
          <p:cNvPr descr="addin_tmp.png" id="226" name="Google Shape;22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3200400"/>
            <a:ext cx="6755130" cy="382905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8"/>
          <p:cNvSpPr/>
          <p:nvPr/>
        </p:nvSpPr>
        <p:spPr>
          <a:xfrm>
            <a:off x="3778475" y="4495800"/>
            <a:ext cx="3308100" cy="1828800"/>
          </a:xfrm>
          <a:prstGeom prst="rect">
            <a:avLst/>
          </a:prstGeom>
          <a:noFill/>
          <a:ln cap="flat" cmpd="sng" w="25400">
            <a:solidFill>
              <a:srgbClr val="0A51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28" name="Google Shape;228;p28"/>
          <p:cNvSpPr txBox="1"/>
          <p:nvPr/>
        </p:nvSpPr>
        <p:spPr>
          <a:xfrm>
            <a:off x="6477000" y="4495800"/>
            <a:ext cx="609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U</a:t>
            </a:r>
            <a:endParaRPr b="0" i="1" sz="18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29" name="Google Shape;229;p28"/>
          <p:cNvSpPr/>
          <p:nvPr/>
        </p:nvSpPr>
        <p:spPr>
          <a:xfrm>
            <a:off x="4648200" y="4648200"/>
            <a:ext cx="1219200" cy="1295400"/>
          </a:xfrm>
          <a:prstGeom prst="ellipse">
            <a:avLst/>
          </a:prstGeom>
          <a:noFill/>
          <a:ln cap="flat" cmpd="sng" w="25400">
            <a:solidFill>
              <a:srgbClr val="0A51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30" name="Google Shape;230;p28"/>
          <p:cNvSpPr/>
          <p:nvPr/>
        </p:nvSpPr>
        <p:spPr>
          <a:xfrm>
            <a:off x="5029200" y="5105400"/>
            <a:ext cx="457200" cy="381000"/>
          </a:xfrm>
          <a:prstGeom prst="ellipse">
            <a:avLst/>
          </a:prstGeom>
          <a:noFill/>
          <a:ln cap="flat" cmpd="sng" w="25400">
            <a:solidFill>
              <a:srgbClr val="0A51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31" name="Google Shape;231;p28"/>
          <p:cNvSpPr txBox="1"/>
          <p:nvPr/>
        </p:nvSpPr>
        <p:spPr>
          <a:xfrm>
            <a:off x="5029200" y="4724400"/>
            <a:ext cx="609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B</a:t>
            </a:r>
            <a:endParaRPr b="0" i="1" sz="18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32" name="Google Shape;232;p28"/>
          <p:cNvSpPr txBox="1"/>
          <p:nvPr/>
        </p:nvSpPr>
        <p:spPr>
          <a:xfrm>
            <a:off x="5029200" y="5105400"/>
            <a:ext cx="609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A</a:t>
            </a:r>
            <a:endParaRPr b="0" i="1" sz="18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9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Set Cardinality</a:t>
            </a:r>
            <a:endParaRPr/>
          </a:p>
        </p:txBody>
      </p:sp>
      <p:sp>
        <p:nvSpPr>
          <p:cNvPr id="238" name="Google Shape;238;p29"/>
          <p:cNvSpPr txBox="1"/>
          <p:nvPr>
            <p:ph idx="1" type="body"/>
          </p:nvPr>
        </p:nvSpPr>
        <p:spPr>
          <a:xfrm>
            <a:off x="457200" y="19354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9525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If there are exactly n distinct elements in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S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where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is a nonnegative integer, we say that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S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is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finite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. Otherwise it is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infinite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. 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9525" lvl="0" marL="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Definition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:</a:t>
            </a: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The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cardinality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of  a finite set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A,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denoted by |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|,  is the number of (distinct) elements of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. 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Examples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: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85445" lvl="2" marL="68580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Font typeface="Calibri"/>
              <a:buAutoNum type="arabicPeriod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|ø| = 0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85445" lvl="2" marL="68580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Font typeface="Calibri"/>
              <a:buAutoNum type="arabicPeriod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Let S be the letters of the English alphabet. Then |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S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| = 26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85445" lvl="2" marL="68580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Font typeface="Calibri"/>
              <a:buAutoNum type="arabicPeriod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|{1,2,3}| = 3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85445" lvl="2" marL="68580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Font typeface="Calibri"/>
              <a:buAutoNum type="arabicPeriod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|{ø}| = 1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85445" lvl="2" marL="68580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Font typeface="Calibri"/>
              <a:buAutoNum type="arabicPeriod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The set of integers is infinite.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0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Power Sets</a:t>
            </a:r>
            <a:endParaRPr/>
          </a:p>
        </p:txBody>
      </p:sp>
      <p:sp>
        <p:nvSpPr>
          <p:cNvPr id="244" name="Google Shape;244;p30"/>
          <p:cNvSpPr txBox="1"/>
          <p:nvPr>
            <p:ph idx="1" type="body"/>
          </p:nvPr>
        </p:nvSpPr>
        <p:spPr>
          <a:xfrm>
            <a:off x="457200" y="19354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   Definition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: The set of all subsets of a set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, denoted P</a:t>
            </a: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(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)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, is called the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power set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of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.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  </a:t>
            </a: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Example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: If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= {a, b} then 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             P(A) = {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ø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, {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}, {b}, {a, b}}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70"/>
              <a:buFont typeface="Arial"/>
              <a:buNone/>
            </a:pPr>
            <a:r>
              <a:t/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470"/>
              <a:buFont typeface="Arial"/>
              <a:buNone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  </a:t>
            </a: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Example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: If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= {ø, {a, b}} then 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470"/>
              <a:buFont typeface="Arial"/>
              <a:buNone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             P(A) = {ø, {ø}, {{a, b}}, {ø, {a, b}}}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sz="16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●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If a set has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elements, then the cardinality of the power set is 2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ⁿ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. 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1710"/>
              <a:buNone/>
            </a:pPr>
            <a:r>
              <a:t/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1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Cartesian Product</a:t>
            </a:r>
            <a:endParaRPr/>
          </a:p>
        </p:txBody>
      </p:sp>
      <p:sp>
        <p:nvSpPr>
          <p:cNvPr id="250" name="Google Shape;250;p31"/>
          <p:cNvSpPr txBox="1"/>
          <p:nvPr>
            <p:ph idx="1" type="body"/>
          </p:nvPr>
        </p:nvSpPr>
        <p:spPr>
          <a:xfrm>
            <a:off x="457200" y="1905000"/>
            <a:ext cx="82296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75"/>
              <a:buNone/>
            </a:pP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   Definition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:  The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Cartesian Product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of two sets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and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, denoted by  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×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is the set of ordered pairs (a,b) where   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a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∈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  and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b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∈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.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SzPts val="4275"/>
              <a:buNone/>
            </a:pPr>
            <a:r>
              <a:t/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SzPts val="4275"/>
              <a:buNone/>
            </a:pP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   Example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: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SzPts val="4275"/>
              <a:buNone/>
            </a:pP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 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= {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a,b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}  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= {1,2,3}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SzPts val="4275"/>
              <a:buNone/>
            </a:pP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 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×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= {(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,1),(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,2),(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,3), (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,1),(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b,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2),(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b,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3)}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SzPts val="4275"/>
              <a:buNone/>
            </a:pPr>
            <a:r>
              <a:t/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SzPts val="2400"/>
              <a:buChar char="●"/>
            </a:pP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Definition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: A subset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R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of the Cartesian product</a:t>
            </a: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×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is called a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relation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from the set A to the set B.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188055" lvl="0" marL="274320" rtl="0" algn="l">
              <a:lnSpc>
                <a:spcPct val="100000"/>
              </a:lnSpc>
              <a:spcBef>
                <a:spcPts val="286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286"/>
              </a:spcBef>
              <a:spcAft>
                <a:spcPts val="0"/>
              </a:spcAft>
              <a:buSzPts val="2470"/>
              <a:buNone/>
            </a:pP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  </a:t>
            </a:r>
            <a:endParaRPr i="1" sz="24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pic>
        <p:nvPicPr>
          <p:cNvPr descr="addin_tmp.png" id="251" name="Google Shape;25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77273" y="3046100"/>
            <a:ext cx="5143500" cy="3829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0206.jpg" id="252" name="Google Shape;252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10200" y="381000"/>
            <a:ext cx="899160" cy="1042416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31"/>
          <p:cNvSpPr txBox="1"/>
          <p:nvPr/>
        </p:nvSpPr>
        <p:spPr>
          <a:xfrm>
            <a:off x="6400800" y="533400"/>
            <a:ext cx="17526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Ren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é Descartes (1596-1650)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2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Cartesian Product </a:t>
            </a:r>
            <a:endParaRPr/>
          </a:p>
        </p:txBody>
      </p:sp>
      <p:sp>
        <p:nvSpPr>
          <p:cNvPr id="259" name="Google Shape;259;p32"/>
          <p:cNvSpPr txBox="1"/>
          <p:nvPr>
            <p:ph idx="1" type="body"/>
          </p:nvPr>
        </p:nvSpPr>
        <p:spPr>
          <a:xfrm>
            <a:off x="457200" y="19354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Definition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: The cartesian products of the sets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,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,……,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i="1" lang="en-US" sz="24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denoted by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×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2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×</a:t>
            </a:r>
            <a:r>
              <a:rPr b="1"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…… ×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i="1" lang="en-US" sz="24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, is the set of ordered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-tuples (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,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,……,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i="1" lang="en-US" sz="24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)  where  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i="1" lang="en-US" sz="2400">
                <a:latin typeface="Cambria Math"/>
                <a:ea typeface="Cambria Math"/>
                <a:cs typeface="Cambria Math"/>
                <a:sym typeface="Cambria Math"/>
              </a:rPr>
              <a:t>i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  belongs to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i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for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i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= 1, …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. 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129238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129238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129238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  Example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: What is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×</a:t>
            </a: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×</a:t>
            </a: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C</a:t>
            </a: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where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= {0,1},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= {1,2} and   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C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= {0,1,2}</a:t>
            </a:r>
            <a:endParaRPr b="1"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  Solution: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×</a:t>
            </a: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×</a:t>
            </a: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C</a:t>
            </a: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 =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{(0,1,0), (0,1,1), (0,1,2),(0,2,0), (0,2,1), (0,2,2),(1,1,0), (1,1,1), (1,1,2), (1,2,0), (1,2,1), (1,2,2)}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pic>
        <p:nvPicPr>
          <p:cNvPr descr="addin_tmp.png" id="260" name="Google Shape;26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7801" y="3429000"/>
            <a:ext cx="6386512" cy="6881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Neo Flow">
  <a:themeElements>
    <a:clrScheme name="Flow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