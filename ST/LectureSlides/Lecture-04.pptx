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embeddedFontLst>
    <p:embeddedFont>
      <p:font typeface="Constantia"/>
      <p:regular r:id="rId27"/>
      <p:bold r:id="rId28"/>
      <p:italic r:id="rId29"/>
      <p:boldItalic r:id="rId30"/>
    </p:embeddedFont>
    <p:embeddedFont>
      <p:font typeface="Cambria Math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Constantia-bold.fntdata"/><Relationship Id="rId27" Type="http://schemas.openxmlformats.org/officeDocument/2006/relationships/font" Target="fonts/Constanti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nstanti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ambriaMath-regular.fntdata"/><Relationship Id="rId30" Type="http://schemas.openxmlformats.org/officeDocument/2006/relationships/font" Target="fonts/Constanti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124bf36e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1124bf36e6_3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107ed1d1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g31107ed1d1c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1124bf36e6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g31124bf36e6_9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1124bf36e6_9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31124bf36e6_9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533400" y="3228536"/>
            <a:ext cx="78546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Font typeface="Cambria Math"/>
              <a:buNone/>
              <a:defRPr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2"/>
          <p:cNvGrpSpPr/>
          <p:nvPr/>
        </p:nvGrpSpPr>
        <p:grpSpPr>
          <a:xfrm>
            <a:off x="175" y="5715116"/>
            <a:ext cx="9144053" cy="1142603"/>
            <a:chOff x="-4085248" y="3903669"/>
            <a:chExt cx="13229243" cy="1239938"/>
          </a:xfrm>
        </p:grpSpPr>
        <p:sp>
          <p:nvSpPr>
            <p:cNvPr id="40" name="Google Shape;40;p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530352" y="1316736"/>
            <a:ext cx="7772400" cy="136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1" name="Google Shape;61;p5"/>
          <p:cNvGrpSpPr/>
          <p:nvPr/>
        </p:nvGrpSpPr>
        <p:grpSpPr>
          <a:xfrm>
            <a:off x="175" y="5715116"/>
            <a:ext cx="9144053" cy="1142603"/>
            <a:chOff x="-4085248" y="3903669"/>
            <a:chExt cx="13229243" cy="1239938"/>
          </a:xfrm>
        </p:grpSpPr>
        <p:sp>
          <p:nvSpPr>
            <p:cNvPr id="62" name="Google Shape;62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6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" type="body"/>
          </p:nvPr>
        </p:nvSpPr>
        <p:spPr>
          <a:xfrm>
            <a:off x="457200" y="1855248"/>
            <a:ext cx="40401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7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8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5" name="Google Shape;85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8"/>
          <p:cNvSpPr txBox="1"/>
          <p:nvPr>
            <p:ph type="title"/>
          </p:nvPr>
        </p:nvSpPr>
        <p:spPr>
          <a:xfrm>
            <a:off x="457200" y="1999488"/>
            <a:ext cx="8305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>
            <p:ph type="title"/>
          </p:nvPr>
        </p:nvSpPr>
        <p:spPr>
          <a:xfrm>
            <a:off x="685800" y="514352"/>
            <a:ext cx="27432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0"/>
          <p:cNvSpPr txBox="1"/>
          <p:nvPr>
            <p:ph idx="1" type="body"/>
          </p:nvPr>
        </p:nvSpPr>
        <p:spPr>
          <a:xfrm>
            <a:off x="685800" y="1676400"/>
            <a:ext cx="3566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⚫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⚫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01" name="Google Shape;101;p10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0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0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/>
        </p:nvSpPr>
        <p:spPr>
          <a:xfrm flipH="1" rot="-10380037">
            <a:off x="4172443" y="1911954"/>
            <a:ext cx="4293497" cy="3373422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7" name="Google Shape;107;p11"/>
          <p:cNvSpPr/>
          <p:nvPr/>
        </p:nvSpPr>
        <p:spPr>
          <a:xfrm flipH="1" rot="-10380733">
            <a:off x="8004186" y="5359728"/>
            <a:ext cx="155354" cy="155775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8" name="Google Shape;108;p11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9" name="Google Shape;109;p11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10" name="Google Shape;110;p11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1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2" type="sldNum"/>
          </p:nvPr>
        </p:nvSpPr>
        <p:spPr>
          <a:xfrm>
            <a:off x="8077200" y="6356351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11"/>
          <p:cNvSpPr/>
          <p:nvPr>
            <p:ph idx="2" type="pic"/>
          </p:nvPr>
        </p:nvSpPr>
        <p:spPr>
          <a:xfrm rot="420005">
            <a:off x="4433567" y="1986923"/>
            <a:ext cx="3771211" cy="3223354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2"/>
          <p:cNvSpPr txBox="1"/>
          <p:nvPr>
            <p:ph idx="1" type="body"/>
          </p:nvPr>
        </p:nvSpPr>
        <p:spPr>
          <a:xfrm rot="5400000">
            <a:off x="2377350" y="15330"/>
            <a:ext cx="43893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2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2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7600939" y="3"/>
            <a:ext cx="1542914" cy="1371650"/>
            <a:chOff x="6098378" y="5"/>
            <a:chExt cx="3045625" cy="2030570"/>
          </a:xfrm>
        </p:grpSpPr>
        <p:sp>
          <p:nvSpPr>
            <p:cNvPr id="11" name="Google Shape;11;p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1"/>
          <p:cNvGrpSpPr/>
          <p:nvPr/>
        </p:nvGrpSpPr>
        <p:grpSpPr>
          <a:xfrm>
            <a:off x="-2" y="6105001"/>
            <a:ext cx="9144070" cy="752890"/>
            <a:chOff x="-10935211" y="3903669"/>
            <a:chExt cx="20079206" cy="1239937"/>
          </a:xfrm>
        </p:grpSpPr>
        <p:sp>
          <p:nvSpPr>
            <p:cNvPr id="17" name="Google Shape;17;p1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Cambria Math"/>
              <a:buChar char="⚫"/>
              <a:defRPr i="0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indent="-321945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Cambria Math"/>
              <a:buChar char="⚫"/>
              <a:defRPr i="0" sz="21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Cambria Math"/>
              <a:buChar char="⚫"/>
              <a:defRPr i="0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mbria Math"/>
              <a:buChar char="⚫"/>
              <a:defRPr i="0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indent="-32004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Cambria Math"/>
              <a:buChar char="⚫"/>
              <a:defRPr i="0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indent="-30988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Cambria Math"/>
              <a:buChar char="⚫"/>
              <a:defRPr i="0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 Math"/>
              <a:buChar char="•"/>
              <a:defRPr i="0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 Math"/>
              <a:buChar char="•"/>
              <a:defRPr i="0" sz="1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4: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Introduction to Proofs</a:t>
            </a:r>
            <a:endParaRPr/>
          </a:p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533400" y="3228536"/>
            <a:ext cx="78546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1.7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7" name="Google Shape;137;p15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Mathematical Proofs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Forms of Theorems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Direct Proofs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Indirect Proofs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Proof by Contraposition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Proof by Contradiction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Proofs of Mathematical Statements</a:t>
            </a:r>
            <a:endParaRPr/>
          </a:p>
        </p:txBody>
      </p:sp>
      <p:sp>
        <p:nvSpPr>
          <p:cNvPr id="143" name="Google Shape;143;p16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A </a:t>
            </a:r>
            <a:r>
              <a:rPr b="1" i="1" lang="en-US"/>
              <a:t>proof</a:t>
            </a:r>
            <a:r>
              <a:rPr lang="en-US"/>
              <a:t> is a valid argument that </a:t>
            </a:r>
            <a:r>
              <a:rPr lang="en-US" u="sng"/>
              <a:t>establishes the truth</a:t>
            </a:r>
            <a:r>
              <a:rPr lang="en-US"/>
              <a:t> of a statement.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Proofs have many practical applications:</a:t>
            </a:r>
            <a:endParaRPr/>
          </a:p>
          <a:p>
            <a:pPr indent="-26631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verification that computer programs are correct </a:t>
            </a:r>
            <a:endParaRPr/>
          </a:p>
          <a:p>
            <a:pPr indent="-26631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establishing that operating systems are secure </a:t>
            </a:r>
            <a:endParaRPr/>
          </a:p>
          <a:p>
            <a:pPr indent="-26631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enabling programs to make inferences in artificial intelligence </a:t>
            </a:r>
            <a:endParaRPr/>
          </a:p>
          <a:p>
            <a:pPr indent="-266319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showing that system specifications are consistent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Definitions</a:t>
            </a:r>
            <a:endParaRPr/>
          </a:p>
        </p:txBody>
      </p:sp>
      <p:sp>
        <p:nvSpPr>
          <p:cNvPr id="149" name="Google Shape;149;p17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A </a:t>
            </a:r>
            <a:r>
              <a:rPr b="1" i="1" lang="en-US"/>
              <a:t>theorem</a:t>
            </a:r>
            <a:r>
              <a:rPr b="1" lang="en-US"/>
              <a:t> </a:t>
            </a:r>
            <a:r>
              <a:rPr lang="en-US"/>
              <a:t>is a statement that can be shown to be true using: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definitions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other theorems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i="1" lang="en-US"/>
              <a:t>axioms</a:t>
            </a:r>
            <a:r>
              <a:rPr lang="en-US"/>
              <a:t> (statements which are given as true)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rules of inference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A </a:t>
            </a:r>
            <a:r>
              <a:rPr b="1" i="1" lang="en-US"/>
              <a:t>lemma</a:t>
            </a:r>
            <a:r>
              <a:rPr b="1" lang="en-US"/>
              <a:t> </a:t>
            </a:r>
            <a:r>
              <a:rPr lang="en-US"/>
              <a:t>is a ‘helping theorem’ or a result which is needed to prove a theorem.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A </a:t>
            </a:r>
            <a:r>
              <a:rPr b="1" i="1" lang="en-US"/>
              <a:t>corollary</a:t>
            </a:r>
            <a:r>
              <a:rPr b="1" lang="en-US"/>
              <a:t> </a:t>
            </a:r>
            <a:r>
              <a:rPr lang="en-US"/>
              <a:t>is a result which follows directly from a theorem.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Less important theorems are sometimes called </a:t>
            </a:r>
            <a:r>
              <a:rPr b="1" i="1" lang="en-US"/>
              <a:t>propositions</a:t>
            </a:r>
            <a:r>
              <a:rPr lang="en-US"/>
              <a:t>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A </a:t>
            </a:r>
            <a:r>
              <a:rPr b="1" i="1" lang="en-US"/>
              <a:t>conjecture</a:t>
            </a:r>
            <a:r>
              <a:rPr b="1" lang="en-US"/>
              <a:t> </a:t>
            </a:r>
            <a:r>
              <a:rPr lang="en-US"/>
              <a:t>is a statement that is being proposed to be true. Once a proof of a conjecture is found, it becomes a theorem. It may turn out to be false.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Forms of Theorems </a:t>
            </a:r>
            <a:endParaRPr/>
          </a:p>
        </p:txBody>
      </p:sp>
      <p:sp>
        <p:nvSpPr>
          <p:cNvPr id="155" name="Google Shape;155;p18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Many theorems assert that a property holds </a:t>
            </a:r>
            <a:r>
              <a:rPr lang="en-US" u="sng"/>
              <a:t>for all elements in a domain</a:t>
            </a:r>
            <a:r>
              <a:rPr lang="en-US"/>
              <a:t>, such as the integers, the real numbers, or some of the discrete structures that we will study in this class.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Often the universal quantifier (needed for a precise statement of a theorem) is omitted by standard mathematical convention.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For example, the statement: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</a:t>
            </a:r>
            <a:r>
              <a:rPr lang="en-US" sz="2200"/>
              <a:t>“If </a:t>
            </a:r>
            <a:r>
              <a:rPr i="1" lang="en-US" sz="2200"/>
              <a:t>x</a:t>
            </a:r>
            <a:r>
              <a:rPr lang="en-US" sz="2200"/>
              <a:t> &gt; </a:t>
            </a:r>
            <a:r>
              <a:rPr i="1" lang="en-US" sz="2200"/>
              <a:t>y</a:t>
            </a:r>
            <a:r>
              <a:rPr lang="en-US" sz="2200"/>
              <a:t>, where </a:t>
            </a:r>
            <a:r>
              <a:rPr i="1" lang="en-US" sz="2200"/>
              <a:t>x</a:t>
            </a:r>
            <a:r>
              <a:rPr lang="en-US" sz="2200"/>
              <a:t> and </a:t>
            </a:r>
            <a:r>
              <a:rPr i="1" lang="en-US" sz="2200"/>
              <a:t>y</a:t>
            </a:r>
            <a:r>
              <a:rPr lang="en-US" sz="2200"/>
              <a:t> are positive real numbers, then </a:t>
            </a:r>
            <a:r>
              <a:rPr i="1" lang="en-US" sz="2200"/>
              <a:t>x</a:t>
            </a:r>
            <a:r>
              <a:rPr baseline="30000" lang="en-US" sz="2200"/>
              <a:t>2</a:t>
            </a:r>
            <a:r>
              <a:rPr lang="en-US" sz="2200"/>
              <a:t> &gt; </a:t>
            </a:r>
            <a:r>
              <a:rPr i="1" lang="en-US" sz="2200"/>
              <a:t>y</a:t>
            </a:r>
            <a:r>
              <a:rPr baseline="30000" lang="en-US" sz="2200"/>
              <a:t>2</a:t>
            </a:r>
            <a:r>
              <a:rPr lang="en-US" sz="2200"/>
              <a:t> ”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really means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 </a:t>
            </a:r>
            <a:r>
              <a:rPr lang="en-US" sz="2200"/>
              <a:t>“For all positive real numbers </a:t>
            </a:r>
            <a:r>
              <a:rPr i="1" lang="en-US" sz="2200"/>
              <a:t>x</a:t>
            </a:r>
            <a:r>
              <a:rPr lang="en-US" sz="2200"/>
              <a:t> and </a:t>
            </a:r>
            <a:r>
              <a:rPr i="1" lang="en-US" sz="2200"/>
              <a:t>y</a:t>
            </a:r>
            <a:r>
              <a:rPr lang="en-US" sz="2200"/>
              <a:t>, if </a:t>
            </a:r>
            <a:r>
              <a:rPr i="1" lang="en-US" sz="2200"/>
              <a:t>x</a:t>
            </a:r>
            <a:r>
              <a:rPr lang="en-US" sz="2200"/>
              <a:t> &gt; </a:t>
            </a:r>
            <a:r>
              <a:rPr i="1" lang="en-US" sz="2200"/>
              <a:t>y</a:t>
            </a:r>
            <a:r>
              <a:rPr lang="en-US" sz="2200"/>
              <a:t>, then </a:t>
            </a:r>
            <a:r>
              <a:rPr i="1" lang="en-US" sz="2200"/>
              <a:t>x</a:t>
            </a:r>
            <a:r>
              <a:rPr baseline="30000" lang="en-US" sz="2200"/>
              <a:t>2</a:t>
            </a:r>
            <a:r>
              <a:rPr lang="en-US" sz="2200"/>
              <a:t> &gt; </a:t>
            </a:r>
            <a:r>
              <a:rPr i="1" lang="en-US" sz="2200"/>
              <a:t>y</a:t>
            </a:r>
            <a:r>
              <a:rPr baseline="30000" lang="en-US" sz="2200"/>
              <a:t>2</a:t>
            </a:r>
            <a:r>
              <a:rPr lang="en-US" sz="2200"/>
              <a:t> .”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Proving Theorems</a:t>
            </a:r>
            <a:endParaRPr/>
          </a:p>
        </p:txBody>
      </p:sp>
      <p:sp>
        <p:nvSpPr>
          <p:cNvPr id="161" name="Google Shape;161;p19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Many theorems have the form: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To prove them, we show that: where </a:t>
            </a:r>
            <a:r>
              <a:rPr i="1" lang="en-US"/>
              <a:t>c</a:t>
            </a:r>
            <a:r>
              <a:rPr lang="en-US"/>
              <a:t> is an arbitrary element of the domain,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By universal generalization the truth of the original formula follows.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So, we must prove something of the form: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pic>
        <p:nvPicPr>
          <p:cNvPr descr="addin_tmp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800" y="2438400"/>
            <a:ext cx="2416969" cy="319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429000"/>
            <a:ext cx="1714500" cy="319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64" name="Google Shape;16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4200" y="4800600"/>
            <a:ext cx="965835" cy="268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Proving Conditional Statements: </a:t>
            </a:r>
            <a:r>
              <a:rPr i="1" lang="en-US" sz="4000"/>
              <a:t>p </a:t>
            </a:r>
            <a:r>
              <a:rPr lang="en-US" sz="4000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i="1" lang="en-US" sz="40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4000"/>
              <a:t> </a:t>
            </a:r>
            <a:endParaRPr sz="4000"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i="1" lang="en-US"/>
              <a:t>Trivial Proof</a:t>
            </a:r>
            <a:r>
              <a:rPr lang="en-US"/>
              <a:t>: If we know </a:t>
            </a:r>
            <a:r>
              <a:rPr i="1" lang="en-US"/>
              <a:t>q</a:t>
            </a:r>
            <a:r>
              <a:rPr lang="en-US"/>
              <a:t> is true, then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          </a:t>
            </a:r>
            <a:r>
              <a:rPr i="1" lang="en-US"/>
              <a:t>p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  is true as well. 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“If it is raining  then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1=1</a:t>
            </a:r>
            <a:r>
              <a:rPr lang="en-US"/>
              <a:t>.”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     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 </a:t>
            </a:r>
            <a:r>
              <a:rPr i="1" lang="en-US"/>
              <a:t>Vacuous Proof</a:t>
            </a:r>
            <a:r>
              <a:rPr lang="en-US"/>
              <a:t>: If we know </a:t>
            </a:r>
            <a:r>
              <a:rPr i="1" lang="en-US"/>
              <a:t>p</a:t>
            </a:r>
            <a:r>
              <a:rPr lang="en-US"/>
              <a:t> is false then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           </a:t>
            </a:r>
            <a:r>
              <a:rPr i="1" lang="en-US"/>
              <a:t>p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  is true as well.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“If I am both rich and poor then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 + 2 = 5</a:t>
            </a:r>
            <a:r>
              <a:rPr lang="en-US"/>
              <a:t>.”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 [ Even though these examples seem silly, both trivial and vacuous proofs are often used in mathematical induction, as we will see in Chapter 5) 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Even and Odd Integers</a:t>
            </a:r>
            <a:endParaRPr/>
          </a:p>
        </p:txBody>
      </p:sp>
      <p:sp>
        <p:nvSpPr>
          <p:cNvPr id="176" name="Google Shape;176;p21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Definition</a:t>
            </a:r>
            <a:r>
              <a:rPr lang="en-US"/>
              <a:t>:  The integer </a:t>
            </a:r>
            <a:r>
              <a:rPr i="1" lang="en-US"/>
              <a:t>n</a:t>
            </a:r>
            <a:r>
              <a:rPr lang="en-US"/>
              <a:t> is even if there exists an integer </a:t>
            </a:r>
            <a:r>
              <a:rPr i="1" lang="en-US"/>
              <a:t>k</a:t>
            </a:r>
            <a:r>
              <a:rPr lang="en-US"/>
              <a:t> such that </a:t>
            </a:r>
            <a:r>
              <a:rPr i="1" lang="en-US"/>
              <a:t>n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k</a:t>
            </a:r>
            <a:r>
              <a:rPr lang="en-US"/>
              <a:t>, and </a:t>
            </a:r>
            <a:r>
              <a:rPr i="1" lang="en-US"/>
              <a:t>n</a:t>
            </a:r>
            <a:r>
              <a:rPr lang="en-US"/>
              <a:t> is odd if there exists an integer </a:t>
            </a:r>
            <a:r>
              <a:rPr i="1" lang="en-US"/>
              <a:t>k</a:t>
            </a:r>
            <a:r>
              <a:rPr lang="en-US"/>
              <a:t>, such that </a:t>
            </a:r>
            <a:r>
              <a:rPr i="1" lang="en-US"/>
              <a:t>n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k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. Note that every integer is either even or odd and no integer is both even and odd.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We will need this basic fact about the integers in some of the example proofs to follow. We will learn more about the integers in Chapter 4.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Proving Conditional Statements: </a:t>
            </a:r>
            <a:r>
              <a:rPr i="1" lang="en-US" sz="4000"/>
              <a:t>p </a:t>
            </a:r>
            <a:r>
              <a:rPr lang="en-US" sz="4000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i="1" lang="en-US" sz="40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4000"/>
              <a:t> </a:t>
            </a:r>
            <a:endParaRPr sz="4000"/>
          </a:p>
        </p:txBody>
      </p:sp>
      <p:sp>
        <p:nvSpPr>
          <p:cNvPr id="182" name="Google Shape;182;p22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62556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b="1" i="1" lang="en-US"/>
              <a:t>Direct Proof</a:t>
            </a:r>
            <a:r>
              <a:rPr b="1" lang="en-US"/>
              <a:t>:</a:t>
            </a:r>
            <a:r>
              <a:rPr lang="en-US"/>
              <a:t> Assume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is true. Use rules of inference, axioms, and logical equivalences to show that </a:t>
            </a:r>
            <a:r>
              <a:rPr i="1" lang="en-US"/>
              <a:t>q</a:t>
            </a:r>
            <a:r>
              <a:rPr lang="en-US"/>
              <a:t>  must also be true.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b="1" lang="en-US"/>
              <a:t>   Example</a:t>
            </a:r>
            <a:r>
              <a:rPr lang="en-US"/>
              <a:t>: Give a direct proof of the theorem “If </a:t>
            </a:r>
            <a:r>
              <a:rPr i="1" lang="en-US"/>
              <a:t>n</a:t>
            </a:r>
            <a:r>
              <a:rPr lang="en-US"/>
              <a:t> is an odd integer, then </a:t>
            </a:r>
            <a:r>
              <a:rPr i="1" lang="en-US"/>
              <a:t>n</a:t>
            </a:r>
            <a:r>
              <a:rPr baseline="30000" lang="en-US"/>
              <a:t>2 </a:t>
            </a:r>
            <a:r>
              <a:rPr lang="en-US"/>
              <a:t> is odd.”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/>
              <a:t>   </a:t>
            </a:r>
            <a:r>
              <a:rPr b="1" lang="en-US"/>
              <a:t>Solution</a:t>
            </a:r>
            <a:r>
              <a:rPr lang="en-US"/>
              <a:t>: Assume that </a:t>
            </a:r>
            <a:r>
              <a:rPr i="1" lang="en-US"/>
              <a:t>n</a:t>
            </a:r>
            <a:r>
              <a:rPr lang="en-US"/>
              <a:t> is odd. Then </a:t>
            </a:r>
            <a:r>
              <a:rPr i="1" lang="en-US"/>
              <a:t>n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k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for an integer </a:t>
            </a:r>
            <a:r>
              <a:rPr i="1" lang="en-US"/>
              <a:t>k</a:t>
            </a:r>
            <a:r>
              <a:rPr lang="en-US"/>
              <a:t>. Squaring both sides of the equation, we get: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/>
              <a:t>    </a:t>
            </a:r>
            <a:r>
              <a:rPr i="1" lang="en-US"/>
              <a:t>n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/>
              <a:t>  </a:t>
            </a:r>
            <a:r>
              <a:rPr lang="en-US"/>
              <a:t> = 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k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1)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  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i="1" lang="en-US"/>
              <a:t>k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+ 4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+1 = 2(2</a:t>
            </a:r>
            <a:r>
              <a:rPr i="1" lang="en-US"/>
              <a:t>k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+ 2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+ 1= 2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+ 1,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where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2</a:t>
            </a:r>
            <a:r>
              <a:rPr i="1" lang="en-US"/>
              <a:t>k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+ 2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, an integer.                                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</a:t>
            </a:r>
            <a:r>
              <a:rPr lang="en-US"/>
              <a:t>We have proved that if n</a:t>
            </a:r>
            <a:r>
              <a:rPr i="1" lang="en-US"/>
              <a:t> </a:t>
            </a:r>
            <a:r>
              <a:rPr lang="en-US"/>
              <a:t>is an odd integer, then </a:t>
            </a:r>
            <a:r>
              <a:rPr i="1" lang="en-US"/>
              <a:t>n</a:t>
            </a:r>
            <a:r>
              <a:rPr baseline="30000" lang="en-US"/>
              <a:t>2 </a:t>
            </a:r>
            <a:r>
              <a:rPr lang="en-US"/>
              <a:t> is an odd integer.  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/>
              <a:t>   </a:t>
            </a:r>
            <a:endParaRPr b="1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/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 flipH="1" rot="-5400000">
            <a:off x="2007500" y="5040375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Proving Conditional Statements: </a:t>
            </a:r>
            <a:r>
              <a:rPr i="1" lang="en-US" sz="4000"/>
              <a:t>p </a:t>
            </a:r>
            <a:r>
              <a:rPr lang="en-US" sz="4000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i="1" lang="en-US" sz="40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4000"/>
              <a:t> </a:t>
            </a:r>
            <a:endParaRPr sz="4000"/>
          </a:p>
        </p:txBody>
      </p:sp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500"/>
              <a:t>   Definition: </a:t>
            </a:r>
            <a:r>
              <a:rPr lang="en-US" sz="2500"/>
              <a:t>The real number </a:t>
            </a:r>
            <a:r>
              <a:rPr i="1" lang="en-US" sz="2500"/>
              <a:t>r </a:t>
            </a:r>
            <a:r>
              <a:rPr lang="en-US" sz="2500"/>
              <a:t>is </a:t>
            </a:r>
            <a:r>
              <a:rPr i="1" lang="en-US" sz="2500"/>
              <a:t>rational </a:t>
            </a:r>
            <a:r>
              <a:rPr lang="en-US" sz="2500"/>
              <a:t>if there exist integers </a:t>
            </a:r>
            <a:r>
              <a:rPr i="1" lang="en-US" sz="2500"/>
              <a:t>p</a:t>
            </a:r>
            <a:r>
              <a:rPr lang="en-US" sz="2500"/>
              <a:t> and </a:t>
            </a:r>
            <a:r>
              <a:rPr i="1" lang="en-US" sz="2500"/>
              <a:t>q</a:t>
            </a:r>
            <a:r>
              <a:rPr lang="en-US" sz="2500"/>
              <a:t> such that </a:t>
            </a:r>
            <a:r>
              <a:rPr i="1" lang="en-US" sz="2500"/>
              <a:t>r </a:t>
            </a:r>
            <a:r>
              <a:rPr lang="en-US" sz="2500"/>
              <a:t>= </a:t>
            </a:r>
            <a:r>
              <a:rPr i="1" lang="en-US" sz="2500"/>
              <a:t>p</a:t>
            </a:r>
            <a:r>
              <a:rPr lang="en-US" sz="2500"/>
              <a:t>/</a:t>
            </a:r>
            <a:r>
              <a:rPr i="1" lang="en-US" sz="2500"/>
              <a:t>q,</a:t>
            </a:r>
            <a:r>
              <a:rPr lang="en-US" sz="2500"/>
              <a:t> where  </a:t>
            </a:r>
            <a:r>
              <a:rPr i="1" lang="en-US" sz="2500"/>
              <a:t>q</a:t>
            </a:r>
            <a:r>
              <a:rPr lang="en-US" sz="2500">
                <a:latin typeface="Cambria Math"/>
                <a:ea typeface="Cambria Math"/>
                <a:cs typeface="Cambria Math"/>
                <a:sym typeface="Cambria Math"/>
              </a:rPr>
              <a:t>≠0</a:t>
            </a:r>
            <a:r>
              <a:rPr lang="en-US" sz="2500"/>
              <a:t>.</a:t>
            </a:r>
            <a:endParaRPr b="1" sz="25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 sz="2500"/>
              <a:t>   Example</a:t>
            </a:r>
            <a:r>
              <a:rPr lang="en-US" sz="2500"/>
              <a:t>: Prove that the sum of two rational numbers is rational.</a:t>
            </a:r>
            <a:endParaRPr sz="25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 sz="2500"/>
              <a:t>   Solution</a:t>
            </a:r>
            <a:r>
              <a:rPr i="1" lang="en-US" sz="2500"/>
              <a:t>: </a:t>
            </a:r>
            <a:r>
              <a:rPr lang="en-US" sz="2500"/>
              <a:t>Assume </a:t>
            </a:r>
            <a:r>
              <a:rPr i="1" lang="en-US" sz="2500"/>
              <a:t>r </a:t>
            </a:r>
            <a:r>
              <a:rPr lang="en-US" sz="2500"/>
              <a:t>and </a:t>
            </a:r>
            <a:r>
              <a:rPr i="1" lang="en-US" sz="2500"/>
              <a:t>s</a:t>
            </a:r>
            <a:r>
              <a:rPr lang="en-US" sz="2500"/>
              <a:t> are two rational numbers. Then there must be integers </a:t>
            </a:r>
            <a:r>
              <a:rPr i="1" lang="en-US" sz="2500"/>
              <a:t>p, q </a:t>
            </a:r>
            <a:r>
              <a:rPr lang="en-US" sz="2500"/>
              <a:t>and also </a:t>
            </a:r>
            <a:r>
              <a:rPr i="1" lang="en-US" sz="2500"/>
              <a:t>t, u  </a:t>
            </a:r>
            <a:r>
              <a:rPr lang="en-US" sz="2500"/>
              <a:t>such that</a:t>
            </a:r>
            <a:endParaRPr sz="25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i="1" sz="25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500"/>
              <a:t> </a:t>
            </a:r>
            <a:endParaRPr sz="25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5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500"/>
              <a:t>    Thus the sum is rational. </a:t>
            </a:r>
            <a:endParaRPr sz="2500"/>
          </a:p>
        </p:txBody>
      </p:sp>
      <p:pic>
        <p:nvPicPr>
          <p:cNvPr descr="addin_tmp.png" id="190" name="Google Shape;19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4587575"/>
            <a:ext cx="5283517" cy="382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91" name="Google Shape;19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5044776"/>
            <a:ext cx="4514850" cy="52006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3"/>
          <p:cNvSpPr/>
          <p:nvPr/>
        </p:nvSpPr>
        <p:spPr>
          <a:xfrm flipH="1" rot="-5400000">
            <a:off x="4495800" y="60205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5867400" y="4968575"/>
            <a:ext cx="259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where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v = pu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qt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        w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qu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≠ 0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Proof by Contraposition</a:t>
            </a:r>
            <a:endParaRPr sz="4000"/>
          </a:p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746" lvl="1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</a:pPr>
            <a:r>
              <a:rPr b="1" i="1" lang="en-US" sz="2000"/>
              <a:t>Proof by Contraposition</a:t>
            </a:r>
            <a:r>
              <a:rPr b="1" lang="en-US" sz="2000"/>
              <a:t>:</a:t>
            </a:r>
            <a:r>
              <a:rPr lang="en-US" sz="2000"/>
              <a:t> Assume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 sz="2000"/>
              <a:t>q</a:t>
            </a:r>
            <a:r>
              <a:rPr lang="en-US" sz="2000"/>
              <a:t>  and show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2000"/>
              <a:t>  is true also. This is sometimes called an </a:t>
            </a:r>
            <a:r>
              <a:rPr i="1" lang="en-US" sz="2000"/>
              <a:t>indirect proof </a:t>
            </a:r>
            <a:r>
              <a:rPr lang="en-US" sz="2000"/>
              <a:t>method. If we give a direct proof of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 sz="2000"/>
              <a:t>q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→ ¬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then we have a proof of </a:t>
            </a:r>
            <a:r>
              <a:rPr i="1" lang="en-US" sz="2000"/>
              <a:t>p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→ q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000"/>
          </a:p>
          <a:p>
            <a:pPr indent="-274320" lvl="2" marL="548640" rtl="0" algn="l">
              <a:lnSpc>
                <a:spcPct val="100000"/>
              </a:lnSpc>
              <a:spcBef>
                <a:spcPts val="357"/>
              </a:spcBef>
              <a:spcAft>
                <a:spcPts val="0"/>
              </a:spcAft>
              <a:buClr>
                <a:schemeClr val="accent3"/>
              </a:buClr>
              <a:buSzPts val="1995"/>
              <a:buNone/>
            </a:pPr>
            <a:r>
              <a:rPr i="1" lang="en-US" sz="2000"/>
              <a:t>     Why does this work? 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Example</a:t>
            </a:r>
            <a:r>
              <a:rPr lang="en-US" sz="2000"/>
              <a:t>: Prove that if </a:t>
            </a:r>
            <a:r>
              <a:rPr i="1" lang="en-US" sz="2000"/>
              <a:t>n </a:t>
            </a:r>
            <a:r>
              <a:rPr lang="en-US" sz="2000"/>
              <a:t>is an integer and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 sz="2000"/>
              <a:t>n +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/>
              <a:t> </a:t>
            </a:r>
            <a:r>
              <a:rPr lang="en-US" sz="2000"/>
              <a:t>is odd</a:t>
            </a:r>
            <a:r>
              <a:rPr i="1" lang="en-US" sz="2000"/>
              <a:t>, </a:t>
            </a:r>
            <a:r>
              <a:rPr lang="en-US" sz="2000"/>
              <a:t>then</a:t>
            </a:r>
            <a:r>
              <a:rPr i="1" lang="en-US" sz="2000"/>
              <a:t> n </a:t>
            </a:r>
            <a:r>
              <a:rPr lang="en-US" sz="2000"/>
              <a:t>is odd.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Solution</a:t>
            </a:r>
            <a:r>
              <a:rPr i="1" lang="en-US" sz="2000"/>
              <a:t>: </a:t>
            </a:r>
            <a:r>
              <a:rPr lang="en-US" sz="2000"/>
              <a:t>Assume </a:t>
            </a:r>
            <a:r>
              <a:rPr i="1" lang="en-US" sz="2000"/>
              <a:t>n</a:t>
            </a:r>
            <a:r>
              <a:rPr lang="en-US" sz="2000"/>
              <a:t> is even. So, </a:t>
            </a:r>
            <a:r>
              <a:rPr i="1" lang="en-US" sz="2000"/>
              <a:t>n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/>
              <a:t>k </a:t>
            </a:r>
            <a:r>
              <a:rPr lang="en-US" sz="2000"/>
              <a:t>for some integer </a:t>
            </a:r>
            <a:r>
              <a:rPr i="1" lang="en-US" sz="2000"/>
              <a:t>k</a:t>
            </a:r>
            <a:r>
              <a:rPr lang="en-US" sz="2000"/>
              <a:t>. Thus, 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3</a:t>
            </a:r>
            <a:r>
              <a:rPr i="1" lang="en-US" sz="2000"/>
              <a:t>n</a:t>
            </a:r>
            <a:r>
              <a:rPr lang="en-US" sz="2000"/>
              <a:t> +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 = 3(2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) + 2 =6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+2 = 2(3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+ 1) = 2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j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</a:t>
            </a:r>
            <a:r>
              <a:rPr i="1" lang="en-US" sz="2000"/>
              <a:t>j</a:t>
            </a:r>
            <a:r>
              <a:rPr lang="en-US" sz="2000"/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 sz="2000"/>
              <a:t>k</a:t>
            </a:r>
            <a:r>
              <a:rPr lang="en-US" sz="2000"/>
              <a:t> +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 i="1"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  Therefore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 sz="2000"/>
              <a:t>n</a:t>
            </a:r>
            <a:r>
              <a:rPr lang="en-US" sz="2000"/>
              <a:t> +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/>
              <a:t>is even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 Since we have shown ¬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→ ¬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/>
              <a:t>, 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must hold as well. </a:t>
            </a:r>
            <a:r>
              <a:rPr lang="en-US" sz="2000"/>
              <a:t>If </a:t>
            </a:r>
            <a:r>
              <a:rPr i="1" lang="en-US" sz="2000"/>
              <a:t>n </a:t>
            </a:r>
            <a:r>
              <a:rPr lang="en-US" sz="2000"/>
              <a:t>is an integer and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 sz="2000"/>
              <a:t>n +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/>
              <a:t> </a:t>
            </a:r>
            <a:r>
              <a:rPr lang="en-US" sz="2000"/>
              <a:t>is odd (not even) </a:t>
            </a:r>
            <a:r>
              <a:rPr i="1" lang="en-US" sz="2000"/>
              <a:t>, </a:t>
            </a:r>
            <a:r>
              <a:rPr lang="en-US" sz="2000"/>
              <a:t>then</a:t>
            </a:r>
            <a:r>
              <a:rPr i="1" lang="en-US" sz="2000"/>
              <a:t> n </a:t>
            </a:r>
            <a:r>
              <a:rPr lang="en-US" sz="2000"/>
              <a:t>is odd (not even).</a:t>
            </a:r>
            <a:endParaRPr sz="2000"/>
          </a:p>
        </p:txBody>
      </p:sp>
      <p:sp>
        <p:nvSpPr>
          <p:cNvPr id="200" name="Google Shape;200;p24"/>
          <p:cNvSpPr/>
          <p:nvPr/>
        </p:nvSpPr>
        <p:spPr>
          <a:xfrm flipH="1" rot="-5400000">
            <a:off x="7620000" y="60198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457200" y="944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Proof by Contraposition</a:t>
            </a:r>
            <a:endParaRPr sz="4000"/>
          </a:p>
        </p:txBody>
      </p:sp>
      <p:sp>
        <p:nvSpPr>
          <p:cNvPr id="206" name="Google Shape;206;p25"/>
          <p:cNvSpPr txBox="1"/>
          <p:nvPr>
            <p:ph idx="1" type="body"/>
          </p:nvPr>
        </p:nvSpPr>
        <p:spPr>
          <a:xfrm>
            <a:off x="457200" y="13258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Example</a:t>
            </a:r>
            <a:r>
              <a:rPr lang="en-US"/>
              <a:t>: Prove that for an integer </a:t>
            </a:r>
            <a:r>
              <a:rPr i="1" lang="en-US"/>
              <a:t>n,</a:t>
            </a:r>
            <a:r>
              <a:rPr lang="en-US"/>
              <a:t> if </a:t>
            </a:r>
            <a:r>
              <a:rPr i="1" lang="en-US"/>
              <a:t>n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/>
              <a:t> </a:t>
            </a:r>
            <a:r>
              <a:rPr lang="en-US"/>
              <a:t> is odd, then </a:t>
            </a:r>
            <a:r>
              <a:rPr i="1" lang="en-US"/>
              <a:t>n</a:t>
            </a:r>
            <a:r>
              <a:rPr lang="en-US"/>
              <a:t> is odd.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</a:t>
            </a:r>
            <a:r>
              <a:rPr b="1" lang="en-US"/>
              <a:t>Solution</a:t>
            </a:r>
            <a:r>
              <a:rPr lang="en-US"/>
              <a:t>:  Use proof by contraposition. Assume </a:t>
            </a:r>
            <a:r>
              <a:rPr i="1" lang="en-US"/>
              <a:t>n</a:t>
            </a:r>
            <a:r>
              <a:rPr lang="en-US"/>
              <a:t> is even (i.e., not odd).  Therefore, there exists an integer </a:t>
            </a:r>
            <a:r>
              <a:rPr i="1" lang="en-US"/>
              <a:t>k</a:t>
            </a:r>
            <a:r>
              <a:rPr lang="en-US"/>
              <a:t> such that </a:t>
            </a:r>
            <a:r>
              <a:rPr i="1" lang="en-US"/>
              <a:t>n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k</a:t>
            </a:r>
            <a:r>
              <a:rPr lang="en-US"/>
              <a:t>. Hence,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         </a:t>
            </a:r>
            <a:r>
              <a:rPr i="1" lang="en-US"/>
              <a:t>n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/>
              <a:t>  </a:t>
            </a:r>
            <a:r>
              <a:rPr lang="en-US"/>
              <a:t> =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i="1" lang="en-US"/>
              <a:t>k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/>
              <a:t>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k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)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and </a:t>
            </a:r>
            <a:r>
              <a:rPr i="1" lang="en-US"/>
              <a:t>n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/>
              <a:t>   </a:t>
            </a:r>
            <a:r>
              <a:rPr lang="en-US"/>
              <a:t>is even(i.e., not odd).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We have shown that if </a:t>
            </a:r>
            <a:r>
              <a:rPr i="1" lang="en-US"/>
              <a:t>n </a:t>
            </a:r>
            <a:r>
              <a:rPr lang="en-US"/>
              <a:t>is an even integer, then </a:t>
            </a:r>
            <a:r>
              <a:rPr i="1" lang="en-US"/>
              <a:t>n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/>
              <a:t>  </a:t>
            </a:r>
            <a:r>
              <a:rPr lang="en-US"/>
              <a:t>is even. Therefore by contraposition, for an integer</a:t>
            </a:r>
            <a:r>
              <a:rPr i="1" lang="en-US"/>
              <a:t> n,</a:t>
            </a:r>
            <a:r>
              <a:rPr lang="en-US"/>
              <a:t> if </a:t>
            </a:r>
            <a:r>
              <a:rPr i="1" lang="en-US"/>
              <a:t>n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/>
              <a:t> </a:t>
            </a:r>
            <a:r>
              <a:rPr lang="en-US"/>
              <a:t> is odd, then </a:t>
            </a:r>
            <a:r>
              <a:rPr i="1" lang="en-US"/>
              <a:t>n</a:t>
            </a:r>
            <a:r>
              <a:rPr lang="en-US"/>
              <a:t> is odd.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</a:t>
            </a:r>
            <a:endParaRPr b="1"/>
          </a:p>
        </p:txBody>
      </p:sp>
      <p:sp>
        <p:nvSpPr>
          <p:cNvPr id="207" name="Google Shape;207;p25"/>
          <p:cNvSpPr/>
          <p:nvPr/>
        </p:nvSpPr>
        <p:spPr>
          <a:xfrm flipH="1" rot="-5400000">
            <a:off x="4419600" y="5550175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457200" y="944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Proof by Contradiction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457200" y="1325875"/>
            <a:ext cx="8229600" cy="48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1638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i="1" lang="en-US" sz="2400"/>
              <a:t>Proof by Contradiction</a:t>
            </a:r>
            <a:r>
              <a:rPr b="1" lang="en-US" sz="2400"/>
              <a:t>:</a:t>
            </a:r>
            <a:r>
              <a:rPr lang="en-US" sz="2400"/>
              <a:t> (AKA </a:t>
            </a:r>
            <a:r>
              <a:rPr i="1" lang="en-US" sz="2400"/>
              <a:t>reductio ad absurdum</a:t>
            </a:r>
            <a:r>
              <a:rPr b="1" lang="en-US" sz="2400"/>
              <a:t>)</a:t>
            </a:r>
            <a:r>
              <a:rPr lang="en-US" sz="2400"/>
              <a:t>.  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400"/>
              <a:t>To prove </a:t>
            </a:r>
            <a:r>
              <a:rPr i="1" lang="en-US" sz="2400"/>
              <a:t>p </a:t>
            </a:r>
            <a:r>
              <a:rPr lang="en-US" sz="2400"/>
              <a:t>(the theorem), assume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2400"/>
              <a:t> and </a:t>
            </a:r>
            <a:r>
              <a:rPr lang="en-US" sz="2400" u="sng"/>
              <a:t>derive a contradiction</a:t>
            </a:r>
            <a:r>
              <a:rPr lang="en-US" sz="2400"/>
              <a:t> (such as </a:t>
            </a:r>
            <a:r>
              <a:rPr i="1" lang="en-US" sz="2400"/>
              <a:t>p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∧ ¬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).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400"/>
              <a:t>Since we have shown that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lang="en-US" sz="2400"/>
              <a:t> is true, it follows that the contrapositive  </a:t>
            </a:r>
            <a:r>
              <a:rPr b="1" lang="en-US" sz="2400"/>
              <a:t>T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also holds.</a:t>
            </a:r>
            <a:r>
              <a:rPr lang="en-US" sz="2400"/>
              <a:t>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Example</a:t>
            </a:r>
            <a:r>
              <a:rPr lang="en-US" sz="2400"/>
              <a:t>: </a:t>
            </a:r>
            <a:r>
              <a:rPr i="1" lang="en-US" sz="2400"/>
              <a:t> </a:t>
            </a:r>
            <a:r>
              <a:rPr lang="en-US" sz="2400"/>
              <a:t>Prove that if you pick 22 days from the calendar, at least 4 must fall on the same day of the week.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Solution</a:t>
            </a:r>
            <a:r>
              <a:rPr lang="en-US" sz="2400"/>
              <a:t>: Assume that no more than 3  of the 22 days fall on the same day of the week. Because there are 7 days of the week, we could only have picked 21 days. This contradicts the assumption that we have picked 22 days.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400"/>
              <a:t>                 </a:t>
            </a:r>
            <a:endParaRPr sz="2400"/>
          </a:p>
        </p:txBody>
      </p:sp>
      <p:sp>
        <p:nvSpPr>
          <p:cNvPr id="214" name="Google Shape;214;p26"/>
          <p:cNvSpPr/>
          <p:nvPr/>
        </p:nvSpPr>
        <p:spPr>
          <a:xfrm flipH="1" rot="-5400000">
            <a:off x="6553200" y="59436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Proof by Contradiction</a:t>
            </a:r>
            <a:endParaRPr/>
          </a:p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b="1" lang="en-US" sz="8000"/>
              <a:t>Example-1</a:t>
            </a:r>
            <a:r>
              <a:rPr lang="en-US" sz="8000"/>
              <a:t>: Use a proof by contradiction to give a proof that 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√2 is irrational.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b="1" lang="en-US" sz="8000">
                <a:latin typeface="Cambria Math"/>
                <a:ea typeface="Cambria Math"/>
                <a:cs typeface="Cambria Math"/>
                <a:sym typeface="Cambria Math"/>
              </a:rPr>
              <a:t>     </a:t>
            </a:r>
            <a:r>
              <a:rPr b="1" lang="en-US" sz="8000"/>
              <a:t>Solution</a:t>
            </a:r>
            <a:r>
              <a:rPr b="1" lang="en-US" sz="8000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Suppose √2 is rational. Then there exists integers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with √2 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= a/b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, where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b≠ 0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b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have no common factors (see Chapter 4). Then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                                               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    Therefore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30000" i="1" lang="en-US" sz="8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 sz="8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must be even. If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30000" i="1" lang="en-US" sz="8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 sz="8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is even then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must be even (an exercise). Since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is even,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 =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c 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for some integer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. Thus,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8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   Therefore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aseline="30000" lang="en-US" sz="8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is even.  Again then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must be even as well.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    But then 2 must divide both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. This contradicts our assumption that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have no common factors. We have proved by contradiction  that our initial assumption must be false  and  therefore  √2 is  irrational 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SzPct val="9500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</a:t>
            </a:r>
            <a:endParaRPr/>
          </a:p>
        </p:txBody>
      </p:sp>
      <p:pic>
        <p:nvPicPr>
          <p:cNvPr descr="addin_tmp.png" id="221" name="Google Shape;22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200400"/>
            <a:ext cx="8667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22" name="Google Shape;22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3276600"/>
            <a:ext cx="1121569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23" name="Google Shape;22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00" y="4419600"/>
            <a:ext cx="125015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24" name="Google Shape;22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4419600"/>
            <a:ext cx="1092994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7"/>
          <p:cNvSpPr/>
          <p:nvPr/>
        </p:nvSpPr>
        <p:spPr>
          <a:xfrm flipH="1" rot="-5400000">
            <a:off x="2438400" y="59436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Proof by Contradiction</a:t>
            </a:r>
            <a:endParaRPr/>
          </a:p>
        </p:txBody>
      </p:sp>
      <p:sp>
        <p:nvSpPr>
          <p:cNvPr id="231" name="Google Shape;231;p28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b="1" lang="en-US" sz="8000"/>
              <a:t>Example-2</a:t>
            </a:r>
            <a:r>
              <a:rPr lang="en-US" sz="8000"/>
              <a:t>: Give a proof by contradiction of the statement: “If 3n + 2 is odd, then n is odd.”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b="1" lang="en-US" sz="8000">
                <a:latin typeface="Cambria Math"/>
                <a:ea typeface="Cambria Math"/>
                <a:cs typeface="Cambria Math"/>
                <a:sym typeface="Cambria Math"/>
              </a:rPr>
              <a:t>     </a:t>
            </a:r>
            <a:r>
              <a:rPr b="1" lang="en-US" sz="8000"/>
              <a:t>Solution</a:t>
            </a:r>
            <a:r>
              <a:rPr b="1" lang="en-US" sz="8000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Let p be “3n + 2 is odd” and q be “n is odd.” To construct a proof by contradiction, assume that both p and ¬q are true. That is, assume that 3n + 2 is odd and that n is not odd. Because n is not odd, we know that it is even.                                                                                          -&gt; Because n is even, there is an integer k such that n = 2k. This implies that 3n + 2 = 3(2k) + 2 = 6k + 2 = 2(3k + 1).                                             -&gt; Because 3n + 2 is 2t, where t = 3k + 1, 3n + 2 is even. Note that the statement “3n + 2 is even” is equivalent to the statement ¬p, because an integer is even if and only if it is not odd.                                                   -&gt; Because both p and ¬p are true, we have a contradiction. This completes the proof by contradiction, proving that if 3n + 2 is odd, then n is odd.</a:t>
            </a:r>
            <a:endParaRPr sz="8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Theorems that are Biconditional Statements</a:t>
            </a:r>
            <a:endParaRPr/>
          </a:p>
        </p:txBody>
      </p:sp>
      <p:sp>
        <p:nvSpPr>
          <p:cNvPr id="237" name="Google Shape;237;p29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To prove a theorem that is a biconditional statement, that is, a statement of the form </a:t>
            </a:r>
            <a:r>
              <a:rPr i="1" lang="en-US"/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↔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we show that     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q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are </a:t>
            </a:r>
            <a:r>
              <a:rPr b="1" lang="en-US">
                <a:solidFill>
                  <a:srgbClr val="9C254D"/>
                </a:solidFill>
                <a:latin typeface="Cambria Math"/>
                <a:ea typeface="Cambria Math"/>
                <a:cs typeface="Cambria Math"/>
                <a:sym typeface="Cambria Math"/>
              </a:rPr>
              <a:t>both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true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Prove the theorem: “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an integer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then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odd if and only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odd.”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Solution: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We have already shown (previous slides) that both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Therefore we can conclude </a:t>
            </a:r>
            <a:r>
              <a:rPr i="1" lang="en-US"/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↔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Sometimes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iff 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is used as an abbreviation for “if and only if,” as in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“If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an integer, then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odd iff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odd.”</a:t>
            </a:r>
            <a:endParaRPr i="1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title"/>
          </p:nvPr>
        </p:nvSpPr>
        <p:spPr>
          <a:xfrm>
            <a:off x="457200" y="704100"/>
            <a:ext cx="807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Biconditional Statements are useful for proving equivalence </a:t>
            </a:r>
            <a:endParaRPr/>
          </a:p>
        </p:txBody>
      </p:sp>
      <p:sp>
        <p:nvSpPr>
          <p:cNvPr id="243" name="Google Shape;243;p30"/>
          <p:cNvSpPr txBox="1"/>
          <p:nvPr>
            <p:ph idx="1" type="body"/>
          </p:nvPr>
        </p:nvSpPr>
        <p:spPr>
          <a:xfrm>
            <a:off x="457200" y="1935475"/>
            <a:ext cx="8229600" cy="46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Show that these statements about the integer x are equivalent: (i) 3x + 2 is even, (ii) x + 5 is odd, (iii) x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even.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[Ch 1.7, Exercise 33]</a:t>
            </a:r>
            <a:endParaRPr i="1"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Solution: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Let, p = “3x + 2 is even”, q = “x + 5 is odd”, and r = “x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even”.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Assume, 3x + 2 is even. Therefore, 3x is even. [even – even = even]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Since, 3 is odd, x must be even.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Then, x + 5 must be odd. [even + odd = odd] (proved p → q)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Also, x can be written as 2k, where k is an integer.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Then x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(2k)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4k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 Thus, x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even. (proved p → r)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Now, we must prove the converse, r → p and q → p. Complete it yourself.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Then we will have, p ↔ q and p ↔ r. Therefore, p ≡ q and p ≡ r.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In other words, p ≡ q ≡ r 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44" name="Google Shape;244;p30"/>
          <p:cNvSpPr/>
          <p:nvPr/>
        </p:nvSpPr>
        <p:spPr>
          <a:xfrm flipH="1" rot="-5400000">
            <a:off x="4191000" y="63246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What is wrong with this?</a:t>
            </a:r>
            <a:endParaRPr/>
          </a:p>
        </p:txBody>
      </p:sp>
      <p:pic>
        <p:nvPicPr>
          <p:cNvPr descr="addin_tmp.png" id="250" name="Google Shape;25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124200"/>
            <a:ext cx="7248525" cy="236791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/>
        </p:nvSpPr>
        <p:spPr>
          <a:xfrm>
            <a:off x="762000" y="2133600"/>
            <a:ext cx="8001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“Proof” that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="0" i="1" sz="2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52" name="Google Shape;252;p31"/>
          <p:cNvSpPr txBox="1"/>
          <p:nvPr/>
        </p:nvSpPr>
        <p:spPr>
          <a:xfrm>
            <a:off x="1066800" y="5715000"/>
            <a:ext cx="432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Solution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Step 5.  a - b =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 by the premise and division by 0 is undefined. </a:t>
            </a:r>
            <a:endParaRPr b="0"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type="title"/>
          </p:nvPr>
        </p:nvSpPr>
        <p:spPr>
          <a:xfrm>
            <a:off x="457200" y="704100"/>
            <a:ext cx="807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Assumptions are important. </a:t>
            </a:r>
            <a:endParaRPr/>
          </a:p>
        </p:txBody>
      </p:sp>
      <p:sp>
        <p:nvSpPr>
          <p:cNvPr id="258" name="Google Shape;258;p32"/>
          <p:cNvSpPr txBox="1"/>
          <p:nvPr>
            <p:ph idx="1" type="body"/>
          </p:nvPr>
        </p:nvSpPr>
        <p:spPr>
          <a:xfrm>
            <a:off x="457200" y="1935475"/>
            <a:ext cx="8229600" cy="46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What should be the assumption when we try to prove these statements?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“if x is an irrational number and x &gt; 0, then √x is also irrational.”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mbria Math"/>
              <a:buChar char="○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direct proof: Assume x cannot be written as p/q, where q ≠ 0. (Difficult to prove the statement, as we cannot explicitly represent irrationality in algebra)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mbria Math"/>
              <a:buChar char="○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contraposition: Assume √x is rational, therefore √x = p/q, where q ≠ 0. (easier to proof for x from √x)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457200" y="704100"/>
            <a:ext cx="807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Assumptions are important. </a:t>
            </a:r>
            <a:endParaRPr/>
          </a:p>
        </p:txBody>
      </p:sp>
      <p:sp>
        <p:nvSpPr>
          <p:cNvPr id="264" name="Google Shape;264;p33"/>
          <p:cNvSpPr txBox="1"/>
          <p:nvPr>
            <p:ph idx="1" type="body"/>
          </p:nvPr>
        </p:nvSpPr>
        <p:spPr>
          <a:xfrm>
            <a:off x="457200" y="1935475"/>
            <a:ext cx="8229600" cy="46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What should be the assumption when we try to prove these statements?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“If x, y, and z are integers and all three are even, then x +y +z is even,”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 Math"/>
              <a:buChar char="○"/>
            </a:pPr>
            <a:r>
              <a:rPr lang="en-US" sz="2000" u="sng">
                <a:latin typeface="Cambria Math"/>
                <a:ea typeface="Cambria Math"/>
                <a:cs typeface="Cambria Math"/>
                <a:sym typeface="Cambria Math"/>
              </a:rPr>
              <a:t>for direct proof: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Assume x, y and z are evens, therefore, x = 2a, y = 2b and z = 2c. (Easier to find x+y+z)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mbria Math"/>
              <a:buChar char="○"/>
            </a:pPr>
            <a:r>
              <a:rPr lang="en-US" sz="2000" u="sng">
                <a:latin typeface="Cambria Math"/>
                <a:ea typeface="Cambria Math"/>
                <a:cs typeface="Cambria Math"/>
                <a:sym typeface="Cambria Math"/>
              </a:rPr>
              <a:t>for contraposition: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Assume x+y+z = 2k + 1. (Relatively Lengthy, have to separately consider x, y and z and their cases)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“if m and n are integers and mn is even, then m is even or n is even.”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 Math"/>
              <a:buChar char="○"/>
            </a:pPr>
            <a:r>
              <a:rPr lang="en-US" sz="2000" u="sng">
                <a:latin typeface="Cambria Math"/>
                <a:ea typeface="Cambria Math"/>
                <a:cs typeface="Cambria Math"/>
                <a:sym typeface="Cambria Math"/>
              </a:rPr>
              <a:t>for direct proof: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Assume mn is even, therefore mn = 2k. (Relatively Difficult, have to consider all cases of m and n)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mbria Math"/>
              <a:buChar char="○"/>
            </a:pPr>
            <a:r>
              <a:rPr lang="en-US" sz="2000" u="sng">
                <a:latin typeface="Cambria Math"/>
                <a:ea typeface="Cambria Math"/>
                <a:cs typeface="Cambria Math"/>
                <a:sym typeface="Cambria Math"/>
              </a:rPr>
              <a:t>for contraposition: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Assume m is odd and n is odd, therefore m = 2a+1, n = 2b+1. (Easier to find mn)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Looking Ahead</a:t>
            </a:r>
            <a:endParaRPr/>
          </a:p>
        </p:txBody>
      </p:sp>
      <p:sp>
        <p:nvSpPr>
          <p:cNvPr id="270" name="Google Shape;270;p34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 If direct methods of proof do not work: </a:t>
            </a:r>
            <a:endParaRPr/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We may need a clever use of a proof by contraposition.</a:t>
            </a:r>
            <a:endParaRPr/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Or a proof by contradiction.</a:t>
            </a:r>
            <a:endParaRPr/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Or try to </a:t>
            </a:r>
            <a:r>
              <a:rPr b="1" i="1" lang="en-US"/>
              <a:t>disprove </a:t>
            </a:r>
            <a:r>
              <a:rPr lang="en-US"/>
              <a:t>by counterexamples.</a:t>
            </a:r>
            <a:endParaRPr/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In Chapter 5, we will see mathematical induction and related techniques.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