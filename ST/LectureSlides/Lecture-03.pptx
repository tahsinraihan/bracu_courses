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9144000"/>
  <p:notesSz cx="6858000" cy="9144000"/>
  <p:embeddedFontLst>
    <p:embeddedFont>
      <p:font typeface="Constantia"/>
      <p:regular r:id="rId39"/>
      <p:bold r:id="rId40"/>
      <p:italic r:id="rId41"/>
      <p:boldItalic r:id="rId42"/>
    </p:embeddedFont>
    <p:embeddedFont>
      <p:font typeface="Cambria Math"/>
      <p:regular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D0622B-0EED-4246-A834-C73D56DCEAA0}">
  <a:tblStyle styleId="{68D0622B-0EED-4246-A834-C73D56DCEAA0}" styleName="Table_0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5"/>
          </a:solidFill>
        </a:fill>
      </a:tcStyle>
    </a:wholeTbl>
    <a:band1H>
      <a:tcTxStyle b="off" i="off"/>
      <a:tcStyle>
        <a:fill>
          <a:solidFill>
            <a:srgbClr val="CA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4EA"/>
          </a:solidFill>
        </a:fill>
      </a:tcStyle>
    </a:band1V>
    <a:band2V>
      <a:tcTxStyle b="off" i="off"/>
    </a:band2V>
    <a:la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nstantia-bold.fntdata"/><Relationship Id="rId20" Type="http://schemas.openxmlformats.org/officeDocument/2006/relationships/slide" Target="slides/slide14.xml"/><Relationship Id="rId42" Type="http://schemas.openxmlformats.org/officeDocument/2006/relationships/font" Target="fonts/Constantia-boldItalic.fntdata"/><Relationship Id="rId41" Type="http://schemas.openxmlformats.org/officeDocument/2006/relationships/font" Target="fonts/Constantia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CambriaMath-regular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Constantia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01717a13b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301717a13b1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01717a13b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01717a13b1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1717a13b1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01717a13b1_0_2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01717a13b1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-(a+b)  = -a-b</a:t>
            </a:r>
            <a:endParaRPr/>
          </a:p>
        </p:txBody>
      </p:sp>
      <p:sp>
        <p:nvSpPr>
          <p:cNvPr id="149" name="Google Shape;149;g301717a13b1_0_3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01717a13b1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01717a13b1_0_4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Universal  -&gt;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Existential ^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All: ∀x J(x)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Some/There/Atleast one: ∃x J(x)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None: </a:t>
            </a:r>
            <a:r>
              <a:rPr lang="en-US"/>
              <a:t>∀x¬ J(x) == ¬∃x J(x)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Not All: ¬∀x J(x)  </a:t>
            </a:r>
            <a:r>
              <a:rPr lang="en-US"/>
              <a:t>== ∃x ¬J(x)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All students voted for 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30-35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Nested Quantifier</a:t>
            </a:r>
            <a:endParaRPr/>
          </a:p>
        </p:txBody>
      </p:sp>
      <p:sp>
        <p:nvSpPr>
          <p:cNvPr id="333" name="Google Shape;333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2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9" name="Google Shape;29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533400" y="3228536"/>
            <a:ext cx="78546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Font typeface="Cambria Math"/>
              <a:buNone/>
              <a:defRPr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ambria Math"/>
              <a:buNone/>
              <a:defRPr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2"/>
          <p:cNvGrpSpPr/>
          <p:nvPr/>
        </p:nvGrpSpPr>
        <p:grpSpPr>
          <a:xfrm>
            <a:off x="175" y="5715116"/>
            <a:ext cx="9144053" cy="1142603"/>
            <a:chOff x="-4085248" y="3903669"/>
            <a:chExt cx="13229243" cy="1239938"/>
          </a:xfrm>
        </p:grpSpPr>
        <p:sp>
          <p:nvSpPr>
            <p:cNvPr id="40" name="Google Shape;40;p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type="title"/>
          </p:nvPr>
        </p:nvSpPr>
        <p:spPr>
          <a:xfrm>
            <a:off x="530352" y="1316736"/>
            <a:ext cx="7772400" cy="136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1" name="Google Shape;61;p5"/>
          <p:cNvGrpSpPr/>
          <p:nvPr/>
        </p:nvGrpSpPr>
        <p:grpSpPr>
          <a:xfrm>
            <a:off x="175" y="5715116"/>
            <a:ext cx="9144053" cy="1142603"/>
            <a:chOff x="-4085248" y="3903669"/>
            <a:chExt cx="13229243" cy="1239938"/>
          </a:xfrm>
        </p:grpSpPr>
        <p:sp>
          <p:nvSpPr>
            <p:cNvPr id="62" name="Google Shape;62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6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" type="body"/>
          </p:nvPr>
        </p:nvSpPr>
        <p:spPr>
          <a:xfrm>
            <a:off x="457200" y="1855248"/>
            <a:ext cx="40401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7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7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8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5" name="Google Shape;85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8"/>
          <p:cNvSpPr txBox="1"/>
          <p:nvPr>
            <p:ph type="title"/>
          </p:nvPr>
        </p:nvSpPr>
        <p:spPr>
          <a:xfrm>
            <a:off x="457200" y="1999488"/>
            <a:ext cx="83058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8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8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 txBox="1"/>
          <p:nvPr>
            <p:ph type="title"/>
          </p:nvPr>
        </p:nvSpPr>
        <p:spPr>
          <a:xfrm>
            <a:off x="685800" y="514352"/>
            <a:ext cx="27432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0"/>
          <p:cNvSpPr txBox="1"/>
          <p:nvPr>
            <p:ph idx="1" type="body"/>
          </p:nvPr>
        </p:nvSpPr>
        <p:spPr>
          <a:xfrm>
            <a:off x="685800" y="1676400"/>
            <a:ext cx="3566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⚫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⚫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01" name="Google Shape;101;p10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0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0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/>
          <p:nvPr/>
        </p:nvSpPr>
        <p:spPr>
          <a:xfrm flipH="1" rot="-10380037">
            <a:off x="4172443" y="1911954"/>
            <a:ext cx="4293497" cy="3373422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7" name="Google Shape;107;p11"/>
          <p:cNvSpPr/>
          <p:nvPr/>
        </p:nvSpPr>
        <p:spPr>
          <a:xfrm flipH="1" rot="-10380733">
            <a:off x="8004186" y="5359728"/>
            <a:ext cx="155354" cy="155775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8" name="Google Shape;108;p11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9" name="Google Shape;109;p11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10" name="Google Shape;110;p11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1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1"/>
          <p:cNvSpPr txBox="1"/>
          <p:nvPr>
            <p:ph idx="12" type="sldNum"/>
          </p:nvPr>
        </p:nvSpPr>
        <p:spPr>
          <a:xfrm>
            <a:off x="8077200" y="6356351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11"/>
          <p:cNvSpPr/>
          <p:nvPr>
            <p:ph idx="2" type="pic"/>
          </p:nvPr>
        </p:nvSpPr>
        <p:spPr>
          <a:xfrm rot="420005">
            <a:off x="4433567" y="1986923"/>
            <a:ext cx="3771211" cy="3223354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2"/>
          <p:cNvSpPr txBox="1"/>
          <p:nvPr>
            <p:ph idx="1" type="body"/>
          </p:nvPr>
        </p:nvSpPr>
        <p:spPr>
          <a:xfrm rot="5400000">
            <a:off x="2377350" y="15330"/>
            <a:ext cx="43893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2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2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7600939" y="3"/>
            <a:ext cx="1542914" cy="1371650"/>
            <a:chOff x="6098378" y="5"/>
            <a:chExt cx="3045625" cy="2030570"/>
          </a:xfrm>
        </p:grpSpPr>
        <p:sp>
          <p:nvSpPr>
            <p:cNvPr id="11" name="Google Shape;11;p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p1"/>
          <p:cNvGrpSpPr/>
          <p:nvPr/>
        </p:nvGrpSpPr>
        <p:grpSpPr>
          <a:xfrm>
            <a:off x="-2" y="6105001"/>
            <a:ext cx="9144070" cy="752890"/>
            <a:chOff x="-10935211" y="3903669"/>
            <a:chExt cx="20079206" cy="1239937"/>
          </a:xfrm>
        </p:grpSpPr>
        <p:sp>
          <p:nvSpPr>
            <p:cNvPr id="17" name="Google Shape;17;p1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Cambria Math"/>
              <a:buChar char="⚫"/>
              <a:defRPr i="0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indent="-321945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Cambria Math"/>
              <a:buChar char="⚫"/>
              <a:defRPr i="0" sz="21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Cambria Math"/>
              <a:buChar char="⚫"/>
              <a:defRPr i="0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mbria Math"/>
              <a:buChar char="⚫"/>
              <a:defRPr i="0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indent="-32004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Cambria Math"/>
              <a:buChar char="⚫"/>
              <a:defRPr i="0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indent="-30988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Cambria Math"/>
              <a:buChar char="⚫"/>
              <a:defRPr i="0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 Math"/>
              <a:buChar char="•"/>
              <a:defRPr i="0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 Math"/>
              <a:buChar char="•"/>
              <a:defRPr i="0" sz="1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0" type="dt"/>
          </p:nvPr>
        </p:nvSpPr>
        <p:spPr>
          <a:xfrm>
            <a:off x="457200" y="65087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1" type="ftr"/>
          </p:nvPr>
        </p:nvSpPr>
        <p:spPr>
          <a:xfrm>
            <a:off x="2667000" y="6508751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p1"/>
          <p:cNvSpPr txBox="1"/>
          <p:nvPr>
            <p:ph idx="12" type="sldNum"/>
          </p:nvPr>
        </p:nvSpPr>
        <p:spPr>
          <a:xfrm>
            <a:off x="7924800" y="6508751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jp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Lecture 3: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Propositional Equivalence</a:t>
            </a:r>
            <a:endParaRPr/>
          </a:p>
        </p:txBody>
      </p:sp>
      <p:sp>
        <p:nvSpPr>
          <p:cNvPr id="131" name="Google Shape;131;p14"/>
          <p:cNvSpPr txBox="1"/>
          <p:nvPr>
            <p:ph idx="1" type="subTitle"/>
          </p:nvPr>
        </p:nvSpPr>
        <p:spPr>
          <a:xfrm>
            <a:off x="533400" y="3228536"/>
            <a:ext cx="78546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1.3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Tautologies, Contradictions, and Contingencies</a:t>
            </a:r>
            <a:endParaRPr/>
          </a:p>
        </p:txBody>
      </p:sp>
      <p:sp>
        <p:nvSpPr>
          <p:cNvPr id="137" name="Google Shape;137;p15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A  </a:t>
            </a:r>
            <a:r>
              <a:rPr i="1" lang="en-US"/>
              <a:t>tautology</a:t>
            </a:r>
            <a:r>
              <a:rPr lang="en-US"/>
              <a:t> is a proposition which is always true.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Example: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1" lang="en-US"/>
              <a:t>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∨¬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A  </a:t>
            </a:r>
            <a:r>
              <a:rPr i="1" lang="en-US"/>
              <a:t>contradiction</a:t>
            </a:r>
            <a:r>
              <a:rPr lang="en-US"/>
              <a:t> is a proposition which is always false.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Example: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1" lang="en-US"/>
              <a:t>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∧¬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 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A  </a:t>
            </a:r>
            <a:r>
              <a:rPr i="1" lang="en-US"/>
              <a:t>contingency</a:t>
            </a:r>
            <a:r>
              <a:rPr lang="en-US"/>
              <a:t> is a proposition which is neither a tautology nor a contradiction, such as  </a:t>
            </a:r>
            <a:r>
              <a:rPr b="1" i="1" lang="en-US"/>
              <a:t>p</a:t>
            </a:r>
            <a:endParaRPr b="1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                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5997889" y="954882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graphicFrame>
        <p:nvGraphicFramePr>
          <p:cNvPr id="139" name="Google Shape;139;p15"/>
          <p:cNvGraphicFramePr/>
          <p:nvPr/>
        </p:nvGraphicFramePr>
        <p:xfrm>
          <a:off x="1676400" y="4953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{68D0622B-0EED-4246-A834-C73D56DCEAA0}</a:tableStyleId>
              </a:tblPr>
              <a:tblGrid>
                <a:gridCol w="1543050"/>
                <a:gridCol w="1504950"/>
                <a:gridCol w="1524000"/>
                <a:gridCol w="1524000"/>
              </a:tblGrid>
              <a:tr h="137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endParaRPr b="0" i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¬</a:t>
                      </a: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r>
                        <a:rPr lang="en-US" sz="1800" u="none" cap="none" strike="noStrike"/>
                        <a:t> </a:t>
                      </a: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∨¬</a:t>
                      </a: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r>
                        <a:rPr lang="en-US" sz="1800" u="none" cap="none" strike="noStrike"/>
                        <a:t>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r>
                        <a:rPr lang="en-US" sz="1800" u="none" cap="none" strike="noStrike"/>
                        <a:t> </a:t>
                      </a: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∧¬</a:t>
                      </a: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r>
                        <a:rPr lang="en-US" sz="1800" u="none" cap="none" strike="noStrike"/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1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>
            <p:ph type="title"/>
          </p:nvPr>
        </p:nvSpPr>
        <p:spPr>
          <a:xfrm>
            <a:off x="457200" y="323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Logical Equivalence: Examples</a:t>
            </a:r>
            <a:endParaRPr/>
          </a:p>
        </p:txBody>
      </p:sp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457200" y="16306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2000"/>
              <a:t>Two compound propositions p and q are </a:t>
            </a:r>
            <a:r>
              <a:rPr i="1" lang="en-US" sz="2000"/>
              <a:t>logically equivalent</a:t>
            </a:r>
            <a:r>
              <a:rPr lang="en-US" sz="2000"/>
              <a:t> if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p↔q</a:t>
            </a:r>
            <a:r>
              <a:rPr lang="en-US" sz="2000"/>
              <a:t>  is a tautology.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lang="en-US" sz="2000"/>
              <a:t>We write this as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⇔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 q</a:t>
            </a:r>
            <a:r>
              <a:rPr lang="en-US" sz="2000"/>
              <a:t>   or as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≡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 sz="2000"/>
              <a:t> where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 sz="2000"/>
              <a:t> and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 sz="2000"/>
              <a:t> are compound propositions.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lang="en-US" sz="2000"/>
              <a:t>Two compound propositions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 sz="2000"/>
              <a:t> and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 sz="2000"/>
              <a:t> are equivalent if and only if the columns in a truth table giving their truth values agree.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lang="en-US" sz="2000"/>
              <a:t>This truth table shows that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∨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q  </a:t>
            </a:r>
            <a:r>
              <a:rPr lang="en-US" sz="2000"/>
              <a:t>is equivalent to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p → q.</a:t>
            </a:r>
            <a:endParaRPr sz="2000"/>
          </a:p>
        </p:txBody>
      </p:sp>
      <p:graphicFrame>
        <p:nvGraphicFramePr>
          <p:cNvPr id="146" name="Google Shape;146;p16"/>
          <p:cNvGraphicFramePr/>
          <p:nvPr/>
        </p:nvGraphicFramePr>
        <p:xfrm>
          <a:off x="1447800" y="4124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{68D0622B-0EED-4246-A834-C73D56DCEAA0}</a:tableStyleId>
              </a:tblPr>
              <a:tblGrid>
                <a:gridCol w="914400"/>
                <a:gridCol w="914400"/>
                <a:gridCol w="1219200"/>
                <a:gridCol w="1447800"/>
                <a:gridCol w="1752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</a:t>
                      </a:r>
                      <a:r>
                        <a:rPr lang="en-US" sz="1800" u="none" cap="none" strike="noStrike"/>
                        <a:t>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¬</a:t>
                      </a: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¬</a:t>
                      </a: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 </a:t>
                      </a:r>
                      <a:r>
                        <a:rPr i="0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∨ </a:t>
                      </a: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p→ q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F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F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type="title"/>
          </p:nvPr>
        </p:nvSpPr>
        <p:spPr>
          <a:xfrm>
            <a:off x="457200" y="521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Example: De Morgan’s Laws</a:t>
            </a:r>
            <a:endParaRPr/>
          </a:p>
        </p:txBody>
      </p:sp>
      <p:pic>
        <p:nvPicPr>
          <p:cNvPr descr="addin_tmp.png" id="152" name="Google Shape;152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905000"/>
            <a:ext cx="3123300" cy="38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2590800"/>
            <a:ext cx="3123248" cy="3829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4" name="Google Shape;154;p17"/>
          <p:cNvGraphicFramePr/>
          <p:nvPr/>
        </p:nvGraphicFramePr>
        <p:xfrm>
          <a:off x="228600" y="441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{68D0622B-0EED-4246-A834-C73D56DCEAA0}</a:tableStyleId>
              </a:tblPr>
              <a:tblGrid>
                <a:gridCol w="914400"/>
                <a:gridCol w="914400"/>
                <a:gridCol w="1219200"/>
                <a:gridCol w="990600"/>
                <a:gridCol w="1371600"/>
                <a:gridCol w="1447800"/>
                <a:gridCol w="1752600"/>
              </a:tblGrid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endParaRPr b="0" i="1" sz="18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</a:t>
                      </a:r>
                      <a:endParaRPr b="0" i="1" sz="18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b="0"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¬p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b="0"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¬q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tantia"/>
                        <a:buNone/>
                      </a:pPr>
                      <a:r>
                        <a:rPr b="0" lang="en-US" sz="1800" u="none" cap="none" strike="noStrike"/>
                        <a:t>(</a:t>
                      </a:r>
                      <a:r>
                        <a:rPr b="0" i="1" lang="en-US" sz="1800" u="none" cap="none" strike="noStrike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p</a:t>
                      </a:r>
                      <a:r>
                        <a:rPr b="0" i="0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∨</a:t>
                      </a:r>
                      <a:r>
                        <a:rPr b="0" i="1" lang="en-US" sz="1800" u="none" cap="none" strike="noStrike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q</a:t>
                      </a:r>
                      <a:r>
                        <a:rPr b="0" i="0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)</a:t>
                      </a:r>
                      <a:endParaRPr b="0" i="0" sz="18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¬</a:t>
                      </a:r>
                      <a:r>
                        <a:rPr lang="en-US" sz="1800" u="none" cap="none" strike="noStrike"/>
                        <a:t>(</a:t>
                      </a:r>
                      <a:r>
                        <a:rPr i="1" lang="en-US" sz="1800" u="none" cap="none" strike="noStrike"/>
                        <a:t>p</a:t>
                      </a:r>
                      <a:r>
                        <a:rPr i="0" lang="en-US" sz="1800" u="none" cap="none" strike="noStrike"/>
                        <a:t>∨</a:t>
                      </a:r>
                      <a:r>
                        <a:rPr i="1" lang="en-US" sz="1800" u="none" cap="none" strike="noStrike"/>
                        <a:t>q</a:t>
                      </a:r>
                      <a:r>
                        <a:rPr i="0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)</a:t>
                      </a:r>
                      <a:endParaRPr i="0" sz="18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¬</a:t>
                      </a:r>
                      <a:r>
                        <a:rPr i="1" lang="en-US" sz="1800" u="none" cap="none" strike="noStrike"/>
                        <a:t>p</a:t>
                      </a:r>
                      <a:r>
                        <a:rPr i="0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∧¬</a:t>
                      </a:r>
                      <a:r>
                        <a:rPr i="1" lang="en-US" sz="1800" u="none" cap="none" strike="noStrike"/>
                        <a:t>q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F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F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F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F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F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F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5" name="Google Shape;155;p17"/>
          <p:cNvSpPr txBox="1"/>
          <p:nvPr/>
        </p:nvSpPr>
        <p:spPr>
          <a:xfrm>
            <a:off x="457200" y="3581400"/>
            <a:ext cx="723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This truth table shows that De Morgan’s Second Law holds.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descr="0106.jpg"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5450" y="3124200"/>
            <a:ext cx="874014" cy="1021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6324600" y="2209800"/>
            <a:ext cx="243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Augustus De Morgan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6934200" y="266700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1806-1871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457200" y="-117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Example: Distributive Laws</a:t>
            </a:r>
            <a:endParaRPr/>
          </a:p>
        </p:txBody>
      </p:sp>
      <p:graphicFrame>
        <p:nvGraphicFramePr>
          <p:cNvPr id="164" name="Google Shape;164;p18"/>
          <p:cNvGraphicFramePr/>
          <p:nvPr/>
        </p:nvGraphicFramePr>
        <p:xfrm>
          <a:off x="304800" y="2971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{68D0622B-0EED-4246-A834-C73D56DCEAA0}</a:tableStyleId>
              </a:tblPr>
              <a:tblGrid>
                <a:gridCol w="534650"/>
                <a:gridCol w="534675"/>
                <a:gridCol w="652825"/>
                <a:gridCol w="1018150"/>
                <a:gridCol w="1364750"/>
                <a:gridCol w="1172950"/>
                <a:gridCol w="1051000"/>
                <a:gridCol w="2281575"/>
              </a:tblGrid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endParaRPr b="0" i="1" sz="18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</a:t>
                      </a:r>
                      <a:endParaRPr b="0" i="1" sz="18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b="0"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b="0"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 </a:t>
                      </a:r>
                      <a:r>
                        <a:rPr b="0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∧ </a:t>
                      </a:r>
                      <a:r>
                        <a:rPr b="0"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tantia"/>
                        <a:buNone/>
                      </a:pPr>
                      <a:r>
                        <a:rPr i="1" lang="en-US" sz="1800" u="none" cap="none" strike="noStrike"/>
                        <a:t>p </a:t>
                      </a:r>
                      <a:r>
                        <a:rPr i="0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∨ </a:t>
                      </a:r>
                      <a:r>
                        <a:rPr i="1" lang="en-US" sz="1800" u="none" cap="none" strike="noStrike"/>
                        <a:t>(</a:t>
                      </a: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 </a:t>
                      </a: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∧ </a:t>
                      </a:r>
                      <a:r>
                        <a:rPr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r</a:t>
                      </a:r>
                      <a:r>
                        <a:rPr i="1" lang="en-US" sz="1800" u="none" cap="none" strike="noStrike"/>
                        <a:t>)</a:t>
                      </a:r>
                      <a:endParaRPr i="0" sz="18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b="0" i="1" lang="en-US" sz="1800" u="none" cap="none" strike="noStrike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p </a:t>
                      </a:r>
                      <a:r>
                        <a:rPr b="0" i="0" lang="en-US" sz="1800" u="none" cap="none" strike="noStrike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∨ </a:t>
                      </a:r>
                      <a:r>
                        <a:rPr b="0" i="1" lang="en-US" sz="1800" u="none" cap="none" strike="noStrike"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q</a:t>
                      </a:r>
                      <a:endParaRPr b="0" i="0" sz="18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b="0" i="1" lang="en-US" sz="1800" u="none" cap="none" strike="noStrike"/>
                        <a:t>p </a:t>
                      </a:r>
                      <a:r>
                        <a:rPr b="0" lang="en-US" sz="1800" u="none" cap="none" strike="noStrike"/>
                        <a:t>∨ </a:t>
                      </a:r>
                      <a:r>
                        <a:rPr b="0" i="1" lang="en-US" sz="1800" u="none" cap="none" strike="noStrike"/>
                        <a:t>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i="1" lang="en-US" sz="1800" u="none" cap="none" strike="noStrike"/>
                        <a:t>(p </a:t>
                      </a:r>
                      <a:r>
                        <a:rPr lang="en-US" sz="1800" u="none" cap="none" strike="noStrike"/>
                        <a:t>∨ </a:t>
                      </a:r>
                      <a:r>
                        <a:rPr i="1" lang="en-US" sz="1800" u="none" cap="none" strike="noStrike"/>
                        <a:t>q) </a:t>
                      </a:r>
                      <a:r>
                        <a:rPr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∧</a:t>
                      </a:r>
                      <a:r>
                        <a:rPr i="1" lang="en-US" sz="1800" u="none" cap="none" strike="noStrike"/>
                        <a:t> (p </a:t>
                      </a:r>
                      <a:r>
                        <a:rPr lang="en-US" sz="1800" u="none" cap="none" strike="noStrike"/>
                        <a:t>∨ </a:t>
                      </a:r>
                      <a:r>
                        <a:rPr i="1" lang="en-US" sz="1800" u="none" cap="none" strike="noStrike"/>
                        <a:t>r)</a:t>
                      </a:r>
                      <a:endParaRPr i="1" sz="1800" u="none" cap="none" strike="noStrik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F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F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F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F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  <a:tr h="401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F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F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65" name="Google Shape;165;p18"/>
          <p:cNvSpPr txBox="1"/>
          <p:nvPr/>
        </p:nvSpPr>
        <p:spPr>
          <a:xfrm>
            <a:off x="523200" y="2377625"/>
            <a:ext cx="839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This truth table shows that distributive law of disjunction over conjunction holds.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9325" y="1025063"/>
            <a:ext cx="4629150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Predicates and Quantifiers</a:t>
            </a:r>
            <a:endParaRPr/>
          </a:p>
        </p:txBody>
      </p:sp>
      <p:sp>
        <p:nvSpPr>
          <p:cNvPr id="172" name="Google Shape;172;p19"/>
          <p:cNvSpPr txBox="1"/>
          <p:nvPr>
            <p:ph idx="1" type="subTitle"/>
          </p:nvPr>
        </p:nvSpPr>
        <p:spPr>
          <a:xfrm>
            <a:off x="533400" y="3228536"/>
            <a:ext cx="78546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1.4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Section Summary</a:t>
            </a:r>
            <a:endParaRPr/>
          </a:p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Predicates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Variables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Quantifiers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Universal Quantifier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Existential Quantifier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Negating Quantifiers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De Morgan’s Laws for Quantifiers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Translating English to Logic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Introducing Predicate Logic</a:t>
            </a:r>
            <a:endParaRPr/>
          </a:p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Predicate logic uses the following new features: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Variables:   </a:t>
            </a:r>
            <a:r>
              <a:rPr i="1" lang="en-US"/>
              <a:t>x</a:t>
            </a:r>
            <a:r>
              <a:rPr lang="en-US"/>
              <a:t>, </a:t>
            </a:r>
            <a:r>
              <a:rPr i="1" lang="en-US"/>
              <a:t>y</a:t>
            </a:r>
            <a:r>
              <a:rPr lang="en-US"/>
              <a:t>, </a:t>
            </a:r>
            <a:r>
              <a:rPr i="1" lang="en-US"/>
              <a:t>z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Predicates:</a:t>
            </a:r>
            <a:r>
              <a:rPr i="1" lang="en-US"/>
              <a:t>  </a:t>
            </a:r>
            <a:r>
              <a:rPr lang="en-US"/>
              <a:t> </a:t>
            </a:r>
            <a:r>
              <a:rPr i="1" lang="en-US"/>
              <a:t>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), </a:t>
            </a:r>
            <a:r>
              <a:rPr i="1" lang="en-US"/>
              <a:t>M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Quantifiers (</a:t>
            </a:r>
            <a:r>
              <a:rPr i="1" lang="en-US"/>
              <a:t>to be covered in a few slides</a:t>
            </a:r>
            <a:r>
              <a:rPr lang="en-US"/>
              <a:t>):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i="1" lang="en-US"/>
              <a:t>Propositional functions</a:t>
            </a:r>
            <a:r>
              <a:rPr lang="en-US"/>
              <a:t> are a generalization of propositions.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They contain </a:t>
            </a:r>
            <a:r>
              <a:rPr lang="en-US" u="sng"/>
              <a:t>variables</a:t>
            </a:r>
            <a:r>
              <a:rPr lang="en-US"/>
              <a:t> and a </a:t>
            </a:r>
            <a:r>
              <a:rPr lang="en-US" u="sng"/>
              <a:t>predicate</a:t>
            </a:r>
            <a:r>
              <a:rPr lang="en-US"/>
              <a:t>, e.g., </a:t>
            </a:r>
            <a:r>
              <a:rPr i="1" lang="en-US"/>
              <a:t>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Variables can be replaced by elements from their </a:t>
            </a:r>
            <a:r>
              <a:rPr b="1" i="1" lang="en-US"/>
              <a:t>domain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Propositional Functions</a:t>
            </a:r>
            <a:endParaRPr/>
          </a:p>
        </p:txBody>
      </p:sp>
      <p:sp>
        <p:nvSpPr>
          <p:cNvPr id="190" name="Google Shape;190;p22"/>
          <p:cNvSpPr txBox="1"/>
          <p:nvPr>
            <p:ph idx="1" type="body"/>
          </p:nvPr>
        </p:nvSpPr>
        <p:spPr>
          <a:xfrm>
            <a:off x="457200" y="1935475"/>
            <a:ext cx="8229600" cy="45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Propositional functions become propositions (and have truth values) when their variables are each replaced by a value from the </a:t>
            </a:r>
            <a:r>
              <a:rPr i="1" lang="en-US"/>
              <a:t>domain </a:t>
            </a:r>
            <a:r>
              <a:rPr lang="en-US" sz="2400"/>
              <a:t>(or </a:t>
            </a:r>
            <a:r>
              <a:rPr i="1" lang="en-US" sz="2400"/>
              <a:t>bound</a:t>
            </a:r>
            <a:r>
              <a:rPr lang="en-US" sz="2400"/>
              <a:t> by a quantifier, as we will see later)</a:t>
            </a:r>
            <a:r>
              <a:rPr lang="en-US"/>
              <a:t>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For example, let</a:t>
            </a:r>
            <a:r>
              <a:rPr i="1" lang="en-US"/>
              <a:t> P(x)</a:t>
            </a:r>
            <a:r>
              <a:rPr lang="en-US"/>
              <a:t> denote  “</a:t>
            </a:r>
            <a:r>
              <a:rPr i="1" lang="en-US"/>
              <a:t>x</a:t>
            </a:r>
            <a:r>
              <a:rPr lang="en-US"/>
              <a:t> &gt;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0”</a:t>
            </a:r>
            <a:r>
              <a:rPr lang="en-US"/>
              <a:t> and the domain be the integers. Then: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Char char="○"/>
            </a:pPr>
            <a:r>
              <a:rPr lang="en-US"/>
              <a:t>P(-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)   is false.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Char char="○"/>
            </a:pPr>
            <a:r>
              <a:rPr lang="en-US"/>
              <a:t>P(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/>
              <a:t>)   is false.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Char char="○"/>
            </a:pPr>
            <a:r>
              <a:rPr lang="en-US"/>
              <a:t>P(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)  is true.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Often the domain is denoted by </a:t>
            </a:r>
            <a:r>
              <a:rPr i="1" lang="en-US"/>
              <a:t>U</a:t>
            </a:r>
            <a:r>
              <a:rPr lang="en-US"/>
              <a:t>. So in this example </a:t>
            </a:r>
            <a:r>
              <a:rPr i="1" lang="en-US"/>
              <a:t>U</a:t>
            </a:r>
            <a:r>
              <a:rPr lang="en-US"/>
              <a:t> is the integers.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Examples of Propositional Functions</a:t>
            </a:r>
            <a:endParaRPr/>
          </a:p>
        </p:txBody>
      </p:sp>
      <p:sp>
        <p:nvSpPr>
          <p:cNvPr id="196" name="Google Shape;196;p23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Let “</a:t>
            </a:r>
            <a:r>
              <a:rPr i="1" lang="en-US"/>
              <a:t>x</a:t>
            </a:r>
            <a:r>
              <a:rPr lang="en-US"/>
              <a:t> + </a:t>
            </a:r>
            <a:r>
              <a:rPr i="1" lang="en-US"/>
              <a:t>y</a:t>
            </a:r>
            <a:r>
              <a:rPr lang="en-US"/>
              <a:t> = </a:t>
            </a:r>
            <a:r>
              <a:rPr i="1" lang="en-US"/>
              <a:t>z” </a:t>
            </a:r>
            <a:r>
              <a:rPr lang="en-US"/>
              <a:t>be denoted by  </a:t>
            </a:r>
            <a:r>
              <a:rPr i="1" lang="en-US"/>
              <a:t>R</a:t>
            </a:r>
            <a:r>
              <a:rPr lang="en-US"/>
              <a:t>(</a:t>
            </a:r>
            <a:r>
              <a:rPr i="1" lang="en-US"/>
              <a:t>x, y, z</a:t>
            </a:r>
            <a:r>
              <a:rPr lang="en-US"/>
              <a:t>)</a:t>
            </a:r>
            <a:r>
              <a:rPr i="1" lang="en-US"/>
              <a:t> </a:t>
            </a:r>
            <a:r>
              <a:rPr lang="en-US"/>
              <a:t>and </a:t>
            </a:r>
            <a:r>
              <a:rPr i="1" lang="en-US"/>
              <a:t>U</a:t>
            </a:r>
            <a:r>
              <a:rPr lang="en-US"/>
              <a:t> (for all three variables) be the integers. </a:t>
            </a:r>
            <a:endParaRPr/>
          </a:p>
          <a:p>
            <a:pPr indent="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n-US"/>
              <a:t>Find these truth values:</a:t>
            </a:r>
            <a:r>
              <a:rPr i="1" lang="en-US"/>
              <a:t>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040"/>
              <a:buNone/>
            </a:pPr>
            <a:r>
              <a:rPr lang="en-US"/>
              <a:t>R(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2,-1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/>
              <a:t>)        </a:t>
            </a:r>
            <a:r>
              <a:rPr b="1" lang="en-US"/>
              <a:t>Solution:  F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040"/>
              <a:buNone/>
            </a:pPr>
            <a:r>
              <a:rPr lang="en-US"/>
              <a:t>R(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3,4,7</a:t>
            </a:r>
            <a:r>
              <a:rPr lang="en-US"/>
              <a:t>)         </a:t>
            </a:r>
            <a:r>
              <a:rPr b="1" lang="en-US"/>
              <a:t>Solution: T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040"/>
              <a:buNone/>
            </a:pPr>
            <a:r>
              <a:rPr lang="en-US"/>
              <a:t>R(</a:t>
            </a:r>
            <a:r>
              <a:rPr i="1" lang="en-US"/>
              <a:t>x</a:t>
            </a:r>
            <a:r>
              <a:rPr lang="en-US"/>
              <a:t>,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, </a:t>
            </a:r>
            <a:r>
              <a:rPr i="1" lang="en-US"/>
              <a:t>z</a:t>
            </a:r>
            <a:r>
              <a:rPr lang="en-US"/>
              <a:t>)       </a:t>
            </a:r>
            <a:r>
              <a:rPr b="1" lang="en-US"/>
              <a:t>Solution: Not a Proposition</a:t>
            </a:r>
            <a:endParaRPr b="1"/>
          </a:p>
          <a:p>
            <a:pPr indent="-246888" lvl="1" marL="64008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b="1"/>
          </a:p>
          <a:p>
            <a:pPr indent="-274320" lvl="0" marL="274320" rtl="0" algn="l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Now let  “</a:t>
            </a:r>
            <a:r>
              <a:rPr i="1" lang="en-US"/>
              <a:t>x</a:t>
            </a:r>
            <a:r>
              <a:rPr lang="en-US"/>
              <a:t> - </a:t>
            </a:r>
            <a:r>
              <a:rPr i="1" lang="en-US"/>
              <a:t>y</a:t>
            </a:r>
            <a:r>
              <a:rPr lang="en-US"/>
              <a:t> = </a:t>
            </a:r>
            <a:r>
              <a:rPr i="1" lang="en-US"/>
              <a:t>z” </a:t>
            </a:r>
            <a:r>
              <a:rPr lang="en-US"/>
              <a:t>be denoted by </a:t>
            </a:r>
            <a:r>
              <a:rPr i="1" lang="en-US"/>
              <a:t>Q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, </a:t>
            </a:r>
            <a:r>
              <a:rPr i="1" lang="en-US"/>
              <a:t>y</a:t>
            </a:r>
            <a:r>
              <a:rPr lang="en-US"/>
              <a:t>, </a:t>
            </a:r>
            <a:r>
              <a:rPr i="1" lang="en-US"/>
              <a:t>z</a:t>
            </a:r>
            <a:r>
              <a:rPr lang="en-US"/>
              <a:t>), with U as the integers.</a:t>
            </a:r>
            <a:r>
              <a:rPr i="1" lang="en-US"/>
              <a:t> </a:t>
            </a:r>
            <a:r>
              <a:rPr lang="en-US"/>
              <a:t>Find</a:t>
            </a:r>
            <a:r>
              <a:rPr b="1" lang="en-US"/>
              <a:t> </a:t>
            </a:r>
            <a:r>
              <a:rPr lang="en-US"/>
              <a:t>these truth values:</a:t>
            </a:r>
            <a:endParaRPr/>
          </a:p>
          <a:p>
            <a:pPr indent="0" lvl="0" marL="27432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1710"/>
              <a:buNone/>
            </a:pPr>
            <a:r>
              <a:rPr lang="en-US"/>
              <a:t>Q(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2,-1,3</a:t>
            </a:r>
            <a:r>
              <a:rPr lang="en-US"/>
              <a:t>)      </a:t>
            </a:r>
            <a:r>
              <a:rPr b="1" lang="en-US"/>
              <a:t>Solution:  T</a:t>
            </a:r>
            <a:endParaRPr/>
          </a:p>
          <a:p>
            <a:pPr indent="0" lvl="0" marL="27432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1710"/>
              <a:buNone/>
            </a:pPr>
            <a:r>
              <a:rPr lang="en-US"/>
              <a:t>Q(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3,4,7</a:t>
            </a:r>
            <a:r>
              <a:rPr lang="en-US"/>
              <a:t>)       </a:t>
            </a:r>
            <a:r>
              <a:rPr b="1" lang="en-US"/>
              <a:t>Solution: F</a:t>
            </a:r>
            <a:endParaRPr/>
          </a:p>
          <a:p>
            <a:pPr indent="0" lvl="0" marL="274320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ts val="1710"/>
              <a:buNone/>
            </a:pPr>
            <a:r>
              <a:rPr lang="en-US"/>
              <a:t>Q(</a:t>
            </a:r>
            <a:r>
              <a:rPr i="1" lang="en-US"/>
              <a:t>x</a:t>
            </a:r>
            <a:r>
              <a:rPr lang="en-US"/>
              <a:t>,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, </a:t>
            </a:r>
            <a:r>
              <a:rPr i="1" lang="en-US"/>
              <a:t>z</a:t>
            </a:r>
            <a:r>
              <a:rPr lang="en-US"/>
              <a:t>)    </a:t>
            </a:r>
            <a:r>
              <a:rPr b="1" lang="en-US"/>
              <a:t>Solution:  Not a Proposition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Compound Expressions</a:t>
            </a:r>
            <a:endParaRPr/>
          </a:p>
        </p:txBody>
      </p:sp>
      <p:sp>
        <p:nvSpPr>
          <p:cNvPr id="202" name="Google Shape;202;p24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If </a:t>
            </a:r>
            <a:r>
              <a:rPr i="1" lang="en-US"/>
              <a:t>P(x)</a:t>
            </a:r>
            <a:r>
              <a:rPr lang="en-US"/>
              <a:t> denotes  “</a:t>
            </a:r>
            <a:r>
              <a:rPr i="1" lang="en-US"/>
              <a:t>x</a:t>
            </a:r>
            <a:r>
              <a:rPr lang="en-US"/>
              <a:t> &gt;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0,”</a:t>
            </a:r>
            <a:r>
              <a:rPr lang="en-US"/>
              <a:t> find these truth values: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40"/>
              <a:buNone/>
            </a:pPr>
            <a:r>
              <a:rPr lang="en-US"/>
              <a:t>P(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∨ P(-1)       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T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40"/>
              <a:buNone/>
            </a:pPr>
            <a:r>
              <a:rPr lang="en-US"/>
              <a:t>P(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∧ P(-1)       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F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40"/>
              <a:buNone/>
            </a:pPr>
            <a:r>
              <a:rPr lang="en-US"/>
              <a:t>P(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→ P(-1)      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F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40"/>
              <a:buNone/>
            </a:pPr>
            <a:r>
              <a:rPr lang="en-US"/>
              <a:t>P(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→ ¬P(-1)   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T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Expressions with variables are not propositions and therefore do not have truth values.  For example,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40"/>
              <a:buNone/>
            </a:pPr>
            <a:r>
              <a:rPr lang="en-US"/>
              <a:t>P(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∧ P(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y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    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40"/>
              <a:buNone/>
            </a:pPr>
            <a:r>
              <a:rPr lang="en-US"/>
              <a:t>P(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/>
              <a:t>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→ P(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y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  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When used with quantifiers (to be introduced next), these expressions (propositional functions) become propositions.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Quantifiers</a:t>
            </a:r>
            <a:endParaRPr/>
          </a:p>
        </p:txBody>
      </p:sp>
      <p:sp>
        <p:nvSpPr>
          <p:cNvPr id="208" name="Google Shape;208;p25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We need </a:t>
            </a:r>
            <a:r>
              <a:rPr i="1" lang="en-US"/>
              <a:t>quantifiers</a:t>
            </a:r>
            <a:r>
              <a:rPr lang="en-US"/>
              <a:t> to express the meaning of English words including </a:t>
            </a:r>
            <a:r>
              <a:rPr i="1" lang="en-US"/>
              <a:t>all</a:t>
            </a:r>
            <a:r>
              <a:rPr lang="en-US"/>
              <a:t> and </a:t>
            </a:r>
            <a:r>
              <a:rPr i="1" lang="en-US"/>
              <a:t>some</a:t>
            </a:r>
            <a:r>
              <a:rPr lang="en-US"/>
              <a:t>: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“All men are Mortal.”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“Some cats do not have fur.”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The two most important quantifiers are: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85000"/>
              <a:buChar char="○"/>
            </a:pPr>
            <a:r>
              <a:rPr i="1" lang="en-US"/>
              <a:t>Universal Quantifier, </a:t>
            </a:r>
            <a:r>
              <a:rPr b="1" lang="en-US"/>
              <a:t>“</a:t>
            </a:r>
            <a:r>
              <a:rPr lang="en-US"/>
              <a:t>For all,”   symbol: </a:t>
            </a:r>
            <a:r>
              <a:rPr b="1" lang="en-US" sz="2800"/>
              <a:t>∀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85000"/>
              <a:buChar char="○"/>
            </a:pPr>
            <a:r>
              <a:rPr i="1" lang="en-US"/>
              <a:t>Existential Quantifier</a:t>
            </a:r>
            <a:r>
              <a:rPr lang="en-US"/>
              <a:t>, “There exists,”  symbol: </a:t>
            </a:r>
            <a:r>
              <a:rPr b="1" lang="en-US" sz="2800"/>
              <a:t>∃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We write as in ∀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and ∃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∀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means </a:t>
            </a:r>
            <a:r>
              <a:rPr i="1" lang="en-US"/>
              <a:t>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true for </a:t>
            </a:r>
            <a:r>
              <a:rPr lang="en-US" u="sng"/>
              <a:t>every</a:t>
            </a:r>
            <a:r>
              <a:rPr lang="en-US"/>
              <a:t> </a:t>
            </a:r>
            <a:r>
              <a:rPr i="1" lang="en-US"/>
              <a:t>x</a:t>
            </a:r>
            <a:r>
              <a:rPr lang="en-US"/>
              <a:t> in the </a:t>
            </a:r>
            <a:r>
              <a:rPr i="1" lang="en-US"/>
              <a:t>domain</a:t>
            </a:r>
            <a:r>
              <a:rPr lang="en-US"/>
              <a:t>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∃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means </a:t>
            </a:r>
            <a:r>
              <a:rPr i="1" lang="en-US"/>
              <a:t>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true for </a:t>
            </a:r>
            <a:r>
              <a:rPr lang="en-US" u="sng"/>
              <a:t>some</a:t>
            </a:r>
            <a:r>
              <a:rPr lang="en-US"/>
              <a:t> </a:t>
            </a:r>
            <a:r>
              <a:rPr i="1" lang="en-US"/>
              <a:t>x</a:t>
            </a:r>
            <a:r>
              <a:rPr lang="en-US"/>
              <a:t> in the </a:t>
            </a:r>
            <a:r>
              <a:rPr i="1" lang="en-US"/>
              <a:t>domain</a:t>
            </a:r>
            <a:r>
              <a:rPr lang="en-US"/>
              <a:t>.</a:t>
            </a:r>
            <a:endParaRPr/>
          </a:p>
          <a:p>
            <a:pPr indent="-274319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The quantifiers are said to bind the variable </a:t>
            </a:r>
            <a:r>
              <a:rPr i="1" lang="en-US"/>
              <a:t>x </a:t>
            </a:r>
            <a:r>
              <a:rPr lang="en-US"/>
              <a:t>in these expressions. </a:t>
            </a:r>
            <a:endParaRPr/>
          </a:p>
        </p:txBody>
      </p:sp>
      <p:pic>
        <p:nvPicPr>
          <p:cNvPr descr="0109.jpg" id="209" name="Google Shape;20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304800"/>
            <a:ext cx="890778" cy="103022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5"/>
          <p:cNvSpPr txBox="1"/>
          <p:nvPr/>
        </p:nvSpPr>
        <p:spPr>
          <a:xfrm>
            <a:off x="5334000" y="1371600"/>
            <a:ext cx="2895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Charles Peirce (1839-1914)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Universal Quantifier</a:t>
            </a:r>
            <a:endParaRPr/>
          </a:p>
        </p:txBody>
      </p:sp>
      <p:sp>
        <p:nvSpPr>
          <p:cNvPr id="216" name="Google Shape;216;p26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1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80"/>
              <a:buChar char="○"/>
            </a:pPr>
            <a:r>
              <a:rPr lang="en-US"/>
              <a:t>∀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</a:t>
            </a:r>
            <a:r>
              <a:rPr i="1" lang="en-US"/>
              <a:t>  </a:t>
            </a:r>
            <a:r>
              <a:rPr lang="en-US"/>
              <a:t>is read as </a:t>
            </a:r>
            <a:r>
              <a:rPr i="1" lang="en-US"/>
              <a:t>“</a:t>
            </a:r>
            <a:r>
              <a:rPr lang="en-US"/>
              <a:t>For all </a:t>
            </a:r>
            <a:r>
              <a:rPr i="1" lang="en-US"/>
              <a:t>x</a:t>
            </a:r>
            <a:r>
              <a:rPr lang="en-US"/>
              <a:t>, P(</a:t>
            </a:r>
            <a:r>
              <a:rPr i="1" lang="en-US"/>
              <a:t>x</a:t>
            </a:r>
            <a:r>
              <a:rPr lang="en-US"/>
              <a:t>)” or “For every </a:t>
            </a:r>
            <a:r>
              <a:rPr i="1" lang="en-US"/>
              <a:t>x</a:t>
            </a:r>
            <a:r>
              <a:rPr lang="en-US"/>
              <a:t>, P(</a:t>
            </a:r>
            <a:r>
              <a:rPr i="1" lang="en-US"/>
              <a:t>x</a:t>
            </a:r>
            <a:r>
              <a:rPr lang="en-US"/>
              <a:t>)”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b="1" lang="en-US"/>
              <a:t>Examples</a:t>
            </a:r>
            <a:r>
              <a:rPr lang="en-US"/>
              <a:t>:</a:t>
            </a:r>
            <a:endParaRPr/>
          </a:p>
          <a:p>
            <a:pPr indent="-457199" lvl="2" marL="1124712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Font typeface="Calibri"/>
              <a:buChar char="■"/>
            </a:pPr>
            <a:r>
              <a:rPr lang="en-US"/>
              <a:t>If</a:t>
            </a:r>
            <a:r>
              <a:rPr i="1" lang="en-US"/>
              <a:t> P(x)</a:t>
            </a:r>
            <a:r>
              <a:rPr lang="en-US"/>
              <a:t> denotes  “</a:t>
            </a:r>
            <a:r>
              <a:rPr i="1" lang="en-US"/>
              <a:t>x</a:t>
            </a:r>
            <a:r>
              <a:rPr lang="en-US"/>
              <a:t> &gt;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0”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the integers, then </a:t>
            </a:r>
            <a:r>
              <a:rPr lang="en-US"/>
              <a:t>∀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false.</a:t>
            </a:r>
            <a:endParaRPr/>
          </a:p>
          <a:p>
            <a:pPr indent="-457199" lvl="2" marL="1124712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Font typeface="Calibri"/>
              <a:buChar char="■"/>
            </a:pPr>
            <a:r>
              <a:rPr lang="en-US"/>
              <a:t>If</a:t>
            </a:r>
            <a:r>
              <a:rPr i="1" lang="en-US"/>
              <a:t> P(x)</a:t>
            </a:r>
            <a:r>
              <a:rPr lang="en-US"/>
              <a:t> denotes  “</a:t>
            </a:r>
            <a:r>
              <a:rPr i="1" lang="en-US"/>
              <a:t>x</a:t>
            </a:r>
            <a:r>
              <a:rPr lang="en-US"/>
              <a:t> &gt;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0”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is the positive integers, then     </a:t>
            </a:r>
            <a:r>
              <a:rPr lang="en-US"/>
              <a:t>∀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true.</a:t>
            </a:r>
            <a:endParaRPr/>
          </a:p>
          <a:p>
            <a:pPr indent="-457199" lvl="2" marL="1124712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Font typeface="Calibri"/>
              <a:buChar char="■"/>
            </a:pPr>
            <a:r>
              <a:rPr lang="en-US"/>
              <a:t>If</a:t>
            </a:r>
            <a:r>
              <a:rPr i="1" lang="en-US"/>
              <a:t> P(x)</a:t>
            </a:r>
            <a:r>
              <a:rPr lang="en-US"/>
              <a:t> denotes  “</a:t>
            </a:r>
            <a:r>
              <a:rPr i="1" lang="en-US"/>
              <a:t>x</a:t>
            </a:r>
            <a:r>
              <a:rPr lang="en-US"/>
              <a:t> is even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”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is the integers,  then </a:t>
            </a:r>
            <a:r>
              <a:rPr lang="en-US"/>
              <a:t>∀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false.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Existential Quantifier</a:t>
            </a:r>
            <a:endParaRPr/>
          </a:p>
        </p:txBody>
      </p:sp>
      <p:sp>
        <p:nvSpPr>
          <p:cNvPr id="222" name="Google Shape;222;p27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∃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read as </a:t>
            </a:r>
            <a:r>
              <a:rPr i="1" lang="en-US"/>
              <a:t>“</a:t>
            </a:r>
            <a:r>
              <a:rPr lang="en-US"/>
              <a:t>For some </a:t>
            </a:r>
            <a:r>
              <a:rPr i="1" lang="en-US"/>
              <a:t>x</a:t>
            </a:r>
            <a:r>
              <a:rPr lang="en-US"/>
              <a:t>, P(</a:t>
            </a:r>
            <a:r>
              <a:rPr i="1" lang="en-US"/>
              <a:t>x</a:t>
            </a:r>
            <a:r>
              <a:rPr lang="en-US"/>
              <a:t>)”,  or as “There is an </a:t>
            </a:r>
            <a:r>
              <a:rPr i="1" lang="en-US"/>
              <a:t>x</a:t>
            </a:r>
            <a:r>
              <a:rPr lang="en-US"/>
              <a:t> such that P(</a:t>
            </a:r>
            <a:r>
              <a:rPr i="1" lang="en-US"/>
              <a:t>x</a:t>
            </a:r>
            <a:r>
              <a:rPr lang="en-US"/>
              <a:t>),”  or “For at least one </a:t>
            </a:r>
            <a:r>
              <a:rPr i="1" lang="en-US"/>
              <a:t>x</a:t>
            </a:r>
            <a:r>
              <a:rPr lang="en-US"/>
              <a:t>, P(</a:t>
            </a:r>
            <a:r>
              <a:rPr i="1" lang="en-US"/>
              <a:t>x</a:t>
            </a:r>
            <a:r>
              <a:rPr lang="en-US"/>
              <a:t>).”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b="1" lang="en-US"/>
              <a:t>Examples</a:t>
            </a:r>
            <a:r>
              <a:rPr lang="en-US"/>
              <a:t>:</a:t>
            </a:r>
            <a:endParaRPr/>
          </a:p>
          <a:p>
            <a:pPr indent="-457199" lvl="2" marL="1124712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Font typeface="Calibri"/>
              <a:buChar char="■"/>
            </a:pPr>
            <a:r>
              <a:rPr i="1" lang="en-US"/>
              <a:t> </a:t>
            </a:r>
            <a:r>
              <a:rPr lang="en-US"/>
              <a:t>If</a:t>
            </a:r>
            <a:r>
              <a:rPr i="1" lang="en-US"/>
              <a:t> P(x)</a:t>
            </a:r>
            <a:r>
              <a:rPr lang="en-US"/>
              <a:t> denotes  “</a:t>
            </a:r>
            <a:r>
              <a:rPr i="1" lang="en-US"/>
              <a:t>x</a:t>
            </a:r>
            <a:r>
              <a:rPr lang="en-US"/>
              <a:t> &gt;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0”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is the integers, then ∃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true. It is also true if U is the positive integers.</a:t>
            </a:r>
            <a:endParaRPr/>
          </a:p>
          <a:p>
            <a:pPr indent="-457199" lvl="2" marL="1124712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Font typeface="Calibri"/>
              <a:buChar char="■"/>
            </a:pPr>
            <a:r>
              <a:rPr lang="en-US"/>
              <a:t>If</a:t>
            </a:r>
            <a:r>
              <a:rPr i="1" lang="en-US"/>
              <a:t> P(x)</a:t>
            </a:r>
            <a:r>
              <a:rPr lang="en-US"/>
              <a:t> denotes  “</a:t>
            </a:r>
            <a:r>
              <a:rPr i="1" lang="en-US"/>
              <a:t>x</a:t>
            </a:r>
            <a:r>
              <a:rPr lang="en-US"/>
              <a:t> &lt;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0”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is the positive integers,  then     ∃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false.</a:t>
            </a:r>
            <a:endParaRPr/>
          </a:p>
          <a:p>
            <a:pPr indent="-457199" lvl="2" marL="1124712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Font typeface="Calibri"/>
              <a:buChar char="■"/>
            </a:pPr>
            <a:r>
              <a:rPr lang="en-US"/>
              <a:t>If</a:t>
            </a:r>
            <a:r>
              <a:rPr i="1" lang="en-US"/>
              <a:t> P(x)</a:t>
            </a:r>
            <a:r>
              <a:rPr lang="en-US"/>
              <a:t> denotes  “</a:t>
            </a:r>
            <a:r>
              <a:rPr i="1" lang="en-US"/>
              <a:t>x</a:t>
            </a:r>
            <a:r>
              <a:rPr lang="en-US"/>
              <a:t> is even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”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is the integers,  then ∃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true.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Thinking about Quantifiers</a:t>
            </a:r>
            <a:endParaRPr/>
          </a:p>
        </p:txBody>
      </p:sp>
      <p:sp>
        <p:nvSpPr>
          <p:cNvPr id="228" name="Google Shape;228;p28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When the domain is finite, we can think of quantification as looping through the elements of the domain.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To evaluate ∀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loop through all </a:t>
            </a:r>
            <a:r>
              <a:rPr i="1" lang="en-US"/>
              <a:t>x</a:t>
            </a:r>
            <a:r>
              <a:rPr lang="en-US"/>
              <a:t> in the domain.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If at every step P(</a:t>
            </a:r>
            <a:r>
              <a:rPr i="1" lang="en-US"/>
              <a:t>x</a:t>
            </a:r>
            <a:r>
              <a:rPr lang="en-US"/>
              <a:t>) is true, then ∀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true.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If at a step P(</a:t>
            </a:r>
            <a:r>
              <a:rPr i="1" lang="en-US"/>
              <a:t>x</a:t>
            </a:r>
            <a:r>
              <a:rPr lang="en-US"/>
              <a:t>) is false, then ∀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false and the loop terminates.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To evaluate ∃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loop through all </a:t>
            </a:r>
            <a:r>
              <a:rPr i="1" lang="en-US"/>
              <a:t>x</a:t>
            </a:r>
            <a:r>
              <a:rPr lang="en-US"/>
              <a:t> in the domain.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If at some step, P(</a:t>
            </a:r>
            <a:r>
              <a:rPr i="1" lang="en-US"/>
              <a:t>x</a:t>
            </a:r>
            <a:r>
              <a:rPr lang="en-US"/>
              <a:t>) is true, then ∃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true and the loop terminates.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If the loop ends without finding an </a:t>
            </a:r>
            <a:r>
              <a:rPr i="1" lang="en-US"/>
              <a:t>x</a:t>
            </a:r>
            <a:r>
              <a:rPr lang="en-US"/>
              <a:t> for which P(</a:t>
            </a:r>
            <a:r>
              <a:rPr i="1" lang="en-US"/>
              <a:t>x</a:t>
            </a:r>
            <a:r>
              <a:rPr lang="en-US"/>
              <a:t>) is true, then ∃</a:t>
            </a:r>
            <a:r>
              <a:rPr i="1" lang="en-US"/>
              <a:t>x P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is false.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Even if the domains are infinite, we can still think of the quantifiers this fashion, but the loops will not terminate in some cases.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Properties of Quantifiers</a:t>
            </a:r>
            <a:endParaRPr/>
          </a:p>
        </p:txBody>
      </p:sp>
      <p:sp>
        <p:nvSpPr>
          <p:cNvPr id="234" name="Google Shape;234;p29"/>
          <p:cNvSpPr txBox="1"/>
          <p:nvPr>
            <p:ph idx="1" type="body"/>
          </p:nvPr>
        </p:nvSpPr>
        <p:spPr>
          <a:xfrm>
            <a:off x="457200" y="1935475"/>
            <a:ext cx="8229600" cy="4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truth value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∃x P(x)</a:t>
            </a:r>
            <a:r>
              <a:rPr lang="en-US"/>
              <a:t> 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∀ x P(x)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depend on both the propositional function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P(x)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and on  the domain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Examples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endParaRPr/>
          </a:p>
          <a:p>
            <a:pPr indent="-466915" lvl="1" marL="850392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Char char="○"/>
            </a:pPr>
            <a:r>
              <a:rPr lang="en-US"/>
              <a:t>If </a:t>
            </a:r>
            <a:r>
              <a:rPr i="1" lang="en-US"/>
              <a:t>U</a:t>
            </a:r>
            <a:r>
              <a:rPr lang="en-US"/>
              <a:t> is the  positive integers and </a:t>
            </a:r>
            <a:r>
              <a:rPr i="1" lang="en-US"/>
              <a:t>P(x) </a:t>
            </a:r>
            <a:r>
              <a:rPr lang="en-US"/>
              <a:t>is the statement           “</a:t>
            </a:r>
            <a:r>
              <a:rPr i="1" lang="en-US"/>
              <a:t>x</a:t>
            </a:r>
            <a:r>
              <a:rPr lang="en-US"/>
              <a:t> &lt;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”, then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∃x P(x)</a:t>
            </a:r>
            <a:r>
              <a:rPr b="1" lang="en-US"/>
              <a:t> is true, but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∀x P(x)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is false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/>
          </a:p>
          <a:p>
            <a:pPr indent="-466915" lvl="1" marL="850392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Char char="○"/>
            </a:pPr>
            <a:r>
              <a:rPr lang="en-US"/>
              <a:t>If </a:t>
            </a:r>
            <a:r>
              <a:rPr i="1" lang="en-US"/>
              <a:t>U</a:t>
            </a:r>
            <a:r>
              <a:rPr lang="en-US"/>
              <a:t> is the negative integers and </a:t>
            </a:r>
            <a:r>
              <a:rPr i="1" lang="en-US"/>
              <a:t>P(x) </a:t>
            </a:r>
            <a:r>
              <a:rPr lang="en-US"/>
              <a:t>is the statement           “</a:t>
            </a:r>
            <a:r>
              <a:rPr i="1" lang="en-US"/>
              <a:t>x</a:t>
            </a:r>
            <a:r>
              <a:rPr lang="en-US"/>
              <a:t> &lt;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”, then </a:t>
            </a:r>
            <a:r>
              <a:rPr b="1" lang="en-US"/>
              <a:t>both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∃x P(x)</a:t>
            </a:r>
            <a:r>
              <a:rPr b="1" lang="en-US"/>
              <a:t>  and 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∀x P(x)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are true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/>
          </a:p>
          <a:p>
            <a:pPr indent="-466915" lvl="1" marL="850392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Char char="○"/>
            </a:pPr>
            <a:r>
              <a:rPr lang="en-US"/>
              <a:t>If </a:t>
            </a:r>
            <a:r>
              <a:rPr i="1" lang="en-US"/>
              <a:t>U</a:t>
            </a:r>
            <a:r>
              <a:rPr lang="en-US"/>
              <a:t> consists of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,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/>
              <a:t>, and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/>
              <a:t>, and </a:t>
            </a:r>
            <a:r>
              <a:rPr i="1" lang="en-US"/>
              <a:t>P(x) </a:t>
            </a:r>
            <a:r>
              <a:rPr lang="en-US"/>
              <a:t>is the statement           “</a:t>
            </a:r>
            <a:r>
              <a:rPr i="1" lang="en-US"/>
              <a:t>x</a:t>
            </a:r>
            <a:r>
              <a:rPr lang="en-US"/>
              <a:t> &gt;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”, then </a:t>
            </a:r>
            <a:r>
              <a:rPr b="1" lang="en-US"/>
              <a:t>both</a:t>
            </a:r>
            <a:r>
              <a:rPr lang="en-US"/>
              <a:t>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∃x P(x)</a:t>
            </a:r>
            <a:r>
              <a:rPr b="1" lang="en-US"/>
              <a:t>   and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∀x P(x)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are true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466915" lvl="1" marL="850392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But if </a:t>
            </a:r>
            <a:r>
              <a:rPr i="1" lang="en-US"/>
              <a:t>P(x) </a:t>
            </a:r>
            <a:r>
              <a:rPr lang="en-US"/>
              <a:t>is the statement “</a:t>
            </a:r>
            <a:r>
              <a:rPr i="1" lang="en-US"/>
              <a:t>x</a:t>
            </a:r>
            <a:r>
              <a:rPr lang="en-US"/>
              <a:t> &lt;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”, then </a:t>
            </a:r>
            <a:r>
              <a:rPr b="1" lang="en-US"/>
              <a:t>both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∃x P(x)</a:t>
            </a:r>
            <a:r>
              <a:rPr b="1" lang="en-US"/>
              <a:t>   and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∀ x P(x)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are false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Precedence of Quantifiers</a:t>
            </a:r>
            <a:endParaRPr/>
          </a:p>
        </p:txBody>
      </p:sp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quantifiers ∀ and  ∃ have higher precedence than all the logical operators.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For example,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∀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P(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∨ Q(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 </a:t>
            </a:r>
            <a:r>
              <a:rPr lang="en-US"/>
              <a:t>means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(∀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P(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))∨ Q(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lang="en-US"/>
              <a:t>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∀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(P(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∨ Q(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)) means something different.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Unfortunately, often people write ∀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P(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∨ Q(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 when they mean ∀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P(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∨ Q(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Translating from English to Logic</a:t>
            </a:r>
            <a:endParaRPr/>
          </a:p>
        </p:txBody>
      </p:sp>
      <p:sp>
        <p:nvSpPr>
          <p:cNvPr id="246" name="Google Shape;246;p31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Example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:  Translate the following sentence into predicate logic: “Every </a:t>
            </a:r>
            <a:r>
              <a:rPr b="1" lang="en-US"/>
              <a:t>student </a:t>
            </a:r>
            <a:r>
              <a:rPr lang="en-US"/>
              <a:t>in this class has taken a course in </a:t>
            </a:r>
            <a:r>
              <a:rPr b="1" lang="en-US"/>
              <a:t>Java</a:t>
            </a:r>
            <a:r>
              <a:rPr lang="en-US"/>
              <a:t>.”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Solution</a:t>
            </a:r>
            <a:r>
              <a:rPr lang="en-US"/>
              <a:t>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First decide on the domain </a:t>
            </a:r>
            <a:r>
              <a:rPr i="1" lang="en-US"/>
              <a:t>U</a:t>
            </a:r>
            <a:r>
              <a:rPr lang="en-US"/>
              <a:t>.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b="1" lang="en-US"/>
              <a:t>Solution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: If </a:t>
            </a:r>
            <a:r>
              <a:rPr i="1" lang="en-US"/>
              <a:t>U</a:t>
            </a:r>
            <a:r>
              <a:rPr lang="en-US"/>
              <a:t> is all students in this class, define a propositional function J(</a:t>
            </a:r>
            <a:r>
              <a:rPr i="1" lang="en-US"/>
              <a:t>x</a:t>
            </a:r>
            <a:r>
              <a:rPr lang="en-US"/>
              <a:t>) denoting “x has taken a course in Java” and translate as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∀x J(x).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b="1" lang="en-US"/>
              <a:t>Solution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: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/>
              <a:t>But if </a:t>
            </a:r>
            <a:r>
              <a:rPr i="1" lang="en-US"/>
              <a:t>U</a:t>
            </a:r>
            <a:r>
              <a:rPr lang="en-US"/>
              <a:t> is all people, also define a propositional  function S(x) denoting “x is a student in this class” and translate as   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∀x (S(x)→ J(x))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/>
          </a:p>
          <a:p>
            <a:pPr indent="-246887" lvl="2" marL="914400" rtl="0" algn="l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SzPts val="147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           ∀x (S(x)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∧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J(x))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is not correct.  What does it mean?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Translating from English to Logic</a:t>
            </a:r>
            <a:endParaRPr/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Example 2</a:t>
            </a:r>
            <a:r>
              <a:rPr lang="en-US"/>
              <a:t>: Translate the following sentence into predicate logic: “Some </a:t>
            </a:r>
            <a:r>
              <a:rPr b="1" lang="en-US"/>
              <a:t>student </a:t>
            </a:r>
            <a:r>
              <a:rPr lang="en-US"/>
              <a:t>in this class has taken a course in </a:t>
            </a:r>
            <a:r>
              <a:rPr b="1" lang="en-US"/>
              <a:t>Java</a:t>
            </a:r>
            <a:r>
              <a:rPr lang="en-US"/>
              <a:t>.”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Solution</a:t>
            </a:r>
            <a:r>
              <a:rPr lang="en-US"/>
              <a:t>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First decide on the domain </a:t>
            </a:r>
            <a:r>
              <a:rPr i="1" lang="en-US"/>
              <a:t>U</a:t>
            </a:r>
            <a:r>
              <a:rPr lang="en-US"/>
              <a:t>.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b="1" lang="en-US"/>
              <a:t>Solution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: If </a:t>
            </a:r>
            <a:r>
              <a:rPr i="1" lang="en-US"/>
              <a:t>U</a:t>
            </a:r>
            <a:r>
              <a:rPr lang="en-US"/>
              <a:t> is all students in this class, translate as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                         ∃x J(x)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b="1" lang="en-US"/>
              <a:t>Solution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: But if </a:t>
            </a:r>
            <a:r>
              <a:rPr i="1" lang="en-US"/>
              <a:t>U</a:t>
            </a:r>
            <a:r>
              <a:rPr lang="en-US"/>
              <a:t> is all people, then translate as               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∃x (S(x) ∧ J(x)) </a:t>
            </a:r>
            <a:endParaRPr/>
          </a:p>
          <a:p>
            <a:pPr indent="-246887" lvl="2" marL="9144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      ∃x (S(x)→ J(x))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not correct. What does it mean?</a:t>
            </a:r>
            <a:endParaRPr/>
          </a:p>
          <a:p>
            <a:pPr indent="-1173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Equivalences in Predicate Logic</a:t>
            </a:r>
            <a:endParaRPr/>
          </a:p>
        </p:txBody>
      </p:sp>
      <p:sp>
        <p:nvSpPr>
          <p:cNvPr id="259" name="Google Shape;259;p33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Statements involving predicates and quantifiers are </a:t>
            </a:r>
            <a:r>
              <a:rPr i="1" lang="en-US"/>
              <a:t>logically equivalent </a:t>
            </a:r>
            <a:r>
              <a:rPr lang="en-US"/>
              <a:t>if and only if they have the same truth value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for every predicate substituted into these statements and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for every domain of discourse used for the variables in the expressions.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notation </a:t>
            </a:r>
            <a:r>
              <a:rPr i="1" lang="en-US"/>
              <a:t>S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T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indicates that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T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are logically equivalent.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 ∀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¬¬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S(x)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≡ ∀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 S(x)</a:t>
            </a:r>
            <a:endParaRPr i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Thinking about Quantifiers as Conjunctions and Disjunctions</a:t>
            </a:r>
            <a:endParaRPr/>
          </a:p>
        </p:txBody>
      </p:sp>
      <p:sp>
        <p:nvSpPr>
          <p:cNvPr id="266" name="Google Shape;266;p34"/>
          <p:cNvSpPr txBox="1"/>
          <p:nvPr>
            <p:ph idx="1" type="body"/>
          </p:nvPr>
        </p:nvSpPr>
        <p:spPr>
          <a:xfrm>
            <a:off x="457200" y="1935475"/>
            <a:ext cx="8229600" cy="4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If the domain is finite, a universally quantified proposition is equivalent to a conjunction of propositions without quantifiers and an existentially quantified proposition is equivalent to  a disjunction of propositions without quantifiers.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If </a:t>
            </a:r>
            <a:r>
              <a:rPr i="1" lang="en-US"/>
              <a:t>U</a:t>
            </a:r>
            <a:r>
              <a:rPr lang="en-US"/>
              <a:t> consists of the integers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, and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Even if the domains are infinite, you can still think of the quantifiers in this fashion, but the equivalent expressions without quantifiers will be infinitely long.</a:t>
            </a:r>
            <a:endParaRPr/>
          </a:p>
        </p:txBody>
      </p:sp>
      <p:pic>
        <p:nvPicPr>
          <p:cNvPr descr="addin_tmp.png" id="267" name="Google Shape;26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3976575"/>
            <a:ext cx="4079081" cy="319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68" name="Google Shape;26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3600" y="4662375"/>
            <a:ext cx="4062413" cy="31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Negating Quantified Expressions</a:t>
            </a:r>
            <a:endParaRPr/>
          </a:p>
        </p:txBody>
      </p:sp>
      <p:sp>
        <p:nvSpPr>
          <p:cNvPr id="274" name="Google Shape;274;p35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Consider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∀x J(x)</a:t>
            </a:r>
            <a:endParaRPr/>
          </a:p>
          <a:p>
            <a:pPr indent="-457200" lvl="1" marL="85039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/>
              <a:t>“Every student in your class has taken a course in Java.”</a:t>
            </a:r>
            <a:endParaRPr/>
          </a:p>
          <a:p>
            <a:pPr indent="-457200" lvl="1" marL="85039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/>
              <a:t> Here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J(x)</a:t>
            </a:r>
            <a:r>
              <a:rPr lang="en-US"/>
              <a:t>  is “x has taken a course in Java” and </a:t>
            </a:r>
            <a:endParaRPr/>
          </a:p>
          <a:p>
            <a:pPr indent="-457200" lvl="1" marL="85039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/>
              <a:t> the domain is students in your class.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Negating the original statement gives “</a:t>
            </a:r>
            <a:r>
              <a:rPr i="1" lang="en-US"/>
              <a:t>It is not the case that</a:t>
            </a:r>
            <a:r>
              <a:rPr lang="en-US"/>
              <a:t> every student in your class has taken Java.” This implies that “There is a student in your class who has not taken Java.”</a:t>
            </a:r>
            <a:endParaRPr/>
          </a:p>
          <a:p>
            <a:pPr indent="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71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 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Symbolically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¬∀x J(x)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∃x ¬J(x)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are equivalent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Negating Quantified Expressions (</a:t>
            </a:r>
            <a:r>
              <a:rPr i="1" lang="en-US"/>
              <a:t>continued</a:t>
            </a:r>
            <a:r>
              <a:rPr lang="en-US"/>
              <a:t>)</a:t>
            </a:r>
            <a:endParaRPr/>
          </a:p>
        </p:txBody>
      </p:sp>
      <p:sp>
        <p:nvSpPr>
          <p:cNvPr id="280" name="Google Shape;280;p36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Now Consider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∃ x J(x)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/>
              <a:t>“There is a student in this class who has taken a course in Java.”</a:t>
            </a:r>
            <a:endParaRPr i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/>
              <a:t>Where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J(x)</a:t>
            </a:r>
            <a:r>
              <a:rPr lang="en-US"/>
              <a:t>  is “x has taken a course in Java.”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Negating the original statement gives “It is not the case that there is a student in this class who has taken Java.” This implies that “Every student in this class has not taken Java”</a:t>
            </a:r>
            <a:endParaRPr/>
          </a:p>
          <a:p>
            <a:pPr indent="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71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 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Symbolically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¬∃x J(x)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∀x ¬J(x)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are equivalent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De Morgan’s Laws for Quantifiers</a:t>
            </a:r>
            <a:endParaRPr/>
          </a:p>
        </p:txBody>
      </p:sp>
      <p:sp>
        <p:nvSpPr>
          <p:cNvPr id="286" name="Google Shape;286;p37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rules for negating quantifiers are: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reasoning in the table shows that: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/>
          </a:p>
        </p:txBody>
      </p:sp>
      <p:pic>
        <p:nvPicPr>
          <p:cNvPr descr="table20.jpg" id="287" name="Google Shape;28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2438400"/>
            <a:ext cx="5024628" cy="12161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88" name="Google Shape;28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2200" y="4419600"/>
            <a:ext cx="3431858" cy="382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89" name="Google Shape;289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0" y="5105400"/>
            <a:ext cx="3431858" cy="382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Translation from English to Logic</a:t>
            </a:r>
            <a:endParaRPr/>
          </a:p>
        </p:txBody>
      </p:sp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Examples</a:t>
            </a:r>
            <a:r>
              <a:rPr lang="en-US"/>
              <a:t>: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libri"/>
              <a:buAutoNum type="arabicPeriod"/>
            </a:pPr>
            <a:r>
              <a:rPr lang="en-US"/>
              <a:t>“Some student in this class has visited Mexico.”</a:t>
            </a:r>
            <a:endParaRPr/>
          </a:p>
          <a:p>
            <a:pPr indent="-457200" lvl="1" marL="85039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/>
              <a:t>   </a:t>
            </a:r>
            <a:r>
              <a:rPr b="1" lang="en-US"/>
              <a:t>Solution</a:t>
            </a:r>
            <a:r>
              <a:rPr lang="en-US"/>
              <a:t>: Let </a:t>
            </a:r>
            <a:r>
              <a:rPr i="1" lang="en-US"/>
              <a:t>M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denote “</a:t>
            </a:r>
            <a:r>
              <a:rPr i="1" lang="en-US"/>
              <a:t>x</a:t>
            </a:r>
            <a:r>
              <a:rPr lang="en-US"/>
              <a:t> has visited Mexico” and </a:t>
            </a:r>
            <a:r>
              <a:rPr i="1" lang="en-US"/>
              <a:t>S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denote “</a:t>
            </a:r>
            <a:r>
              <a:rPr i="1" lang="en-US"/>
              <a:t>x</a:t>
            </a:r>
            <a:r>
              <a:rPr lang="en-US"/>
              <a:t> is a student in this class,” 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be all people.</a:t>
            </a:r>
            <a:endParaRPr/>
          </a:p>
          <a:p>
            <a:pPr indent="-457200" lvl="1" marL="85039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/>
              <a:t>                      ∃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  (S(x)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∧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M(x))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libri"/>
              <a:buAutoNum type="arabicPeriod"/>
            </a:pPr>
            <a:r>
              <a:rPr lang="en-US"/>
              <a:t>“Every student in this class has visited Canada or Mexico.”</a:t>
            </a:r>
            <a:endParaRPr/>
          </a:p>
          <a:p>
            <a:pPr indent="-457200" lvl="1" marL="85039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lang="en-US"/>
              <a:t>  </a:t>
            </a:r>
            <a:r>
              <a:rPr b="1" lang="en-US"/>
              <a:t>Solution</a:t>
            </a:r>
            <a:r>
              <a:rPr lang="en-US"/>
              <a:t>: Add </a:t>
            </a:r>
            <a:r>
              <a:rPr i="1" lang="en-US"/>
              <a:t>C</a:t>
            </a:r>
            <a:r>
              <a:rPr lang="en-US"/>
              <a:t>(</a:t>
            </a:r>
            <a:r>
              <a:rPr i="1" lang="en-US"/>
              <a:t>x</a:t>
            </a:r>
            <a:r>
              <a:rPr lang="en-US"/>
              <a:t>) denoting “</a:t>
            </a:r>
            <a:r>
              <a:rPr i="1" lang="en-US"/>
              <a:t>x</a:t>
            </a:r>
            <a:r>
              <a:rPr lang="en-US"/>
              <a:t> has visited Canada.”</a:t>
            </a:r>
            <a:endParaRPr/>
          </a:p>
          <a:p>
            <a:pPr indent="-457200" lvl="1" marL="85039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                  ∀x (S(x)→ (M(x)∨C(x)))</a:t>
            </a:r>
            <a:endParaRPr i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Some Translating from English into Logical Expressions</a:t>
            </a:r>
            <a:endParaRPr/>
          </a:p>
        </p:txBody>
      </p:sp>
      <p:sp>
        <p:nvSpPr>
          <p:cNvPr id="301" name="Google Shape;301;p39"/>
          <p:cNvSpPr txBox="1"/>
          <p:nvPr>
            <p:ph idx="1" type="body"/>
          </p:nvPr>
        </p:nvSpPr>
        <p:spPr>
          <a:xfrm>
            <a:off x="457200" y="1935475"/>
            <a:ext cx="8229600" cy="30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U = {fast, slow, turning}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F(x)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fast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S(x)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slow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T(x)</a:t>
            </a:r>
            <a:r>
              <a:rPr lang="en-US"/>
              <a:t>: x is turning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</a:t>
            </a:r>
            <a:r>
              <a:rPr lang="en-US"/>
              <a:t>Translate “Everything is fast.”</a:t>
            </a:r>
            <a:endParaRPr i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302" name="Google Shape;302;p39"/>
          <p:cNvSpPr txBox="1"/>
          <p:nvPr/>
        </p:nvSpPr>
        <p:spPr>
          <a:xfrm>
            <a:off x="697350" y="4623975"/>
            <a:ext cx="5990700" cy="1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Solution</a:t>
            </a:r>
            <a:r>
              <a:rPr b="0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</a:t>
            </a:r>
            <a:r>
              <a:rPr b="0" i="1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∀x F(x)</a:t>
            </a:r>
            <a:endParaRPr b="0" i="0" sz="26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0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Translation (cont)</a:t>
            </a:r>
            <a:endParaRPr/>
          </a:p>
        </p:txBody>
      </p:sp>
      <p:sp>
        <p:nvSpPr>
          <p:cNvPr id="308" name="Google Shape;308;p40"/>
          <p:cNvSpPr txBox="1"/>
          <p:nvPr>
            <p:ph idx="1" type="body"/>
          </p:nvPr>
        </p:nvSpPr>
        <p:spPr>
          <a:xfrm>
            <a:off x="457200" y="1935475"/>
            <a:ext cx="82296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U = {fast, slow, turning}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rPr i="1" lang="en-US"/>
              <a:t>F(x)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fast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rPr i="1" lang="en-US"/>
              <a:t>S(x)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slow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rPr i="1" lang="en-US"/>
              <a:t>T(x)</a:t>
            </a:r>
            <a:r>
              <a:rPr lang="en-US"/>
              <a:t>: x is turning</a:t>
            </a:r>
            <a:endParaRPr sz="26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None/>
            </a:pPr>
            <a:r>
              <a:rPr lang="en-US"/>
              <a:t>   “Nothing is slow.”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309" name="Google Shape;309;p40"/>
          <p:cNvSpPr txBox="1"/>
          <p:nvPr/>
        </p:nvSpPr>
        <p:spPr>
          <a:xfrm>
            <a:off x="389250" y="4852225"/>
            <a:ext cx="7440000" cy="1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Solution</a:t>
            </a:r>
            <a:r>
              <a:rPr b="0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b="0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∃</a:t>
            </a:r>
            <a:r>
              <a:rPr b="0" i="1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x S(x)  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What is this equivalent to?</a:t>
            </a:r>
            <a:endParaRPr b="0" i="0" sz="2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</a:t>
            </a:r>
            <a:r>
              <a:rPr b="1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Solution</a:t>
            </a:r>
            <a:r>
              <a:rPr b="0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  ∀</a:t>
            </a:r>
            <a:r>
              <a:rPr b="0" i="1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x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¬ </a:t>
            </a:r>
            <a:r>
              <a:rPr b="0" i="1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S(x) </a:t>
            </a:r>
            <a:endParaRPr b="0" i="0" sz="26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Translation (cont)</a:t>
            </a:r>
            <a:endParaRPr/>
          </a:p>
        </p:txBody>
      </p:sp>
      <p:sp>
        <p:nvSpPr>
          <p:cNvPr id="315" name="Google Shape;315;p41"/>
          <p:cNvSpPr txBox="1"/>
          <p:nvPr>
            <p:ph idx="1" type="body"/>
          </p:nvPr>
        </p:nvSpPr>
        <p:spPr>
          <a:xfrm>
            <a:off x="457200" y="1935476"/>
            <a:ext cx="8229600" cy="3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U = {fast, slow, turning}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rPr i="1" lang="en-US"/>
              <a:t>F(x)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fast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rPr i="1" lang="en-US"/>
              <a:t>S(x)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slow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rPr i="1" lang="en-US"/>
              <a:t>T(x)</a:t>
            </a:r>
            <a:r>
              <a:rPr lang="en-US"/>
              <a:t>: x is turning</a:t>
            </a:r>
            <a:endParaRPr sz="26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“All fast things are slow.”</a:t>
            </a:r>
            <a:endParaRPr/>
          </a:p>
        </p:txBody>
      </p:sp>
      <p:sp>
        <p:nvSpPr>
          <p:cNvPr id="316" name="Google Shape;316;p41"/>
          <p:cNvSpPr txBox="1"/>
          <p:nvPr/>
        </p:nvSpPr>
        <p:spPr>
          <a:xfrm>
            <a:off x="598425" y="4597150"/>
            <a:ext cx="77592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Solution</a:t>
            </a:r>
            <a:r>
              <a:rPr b="0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</a:t>
            </a:r>
            <a:r>
              <a:rPr b="0" i="1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∀x (F(x)→ S(x))</a:t>
            </a:r>
            <a:endParaRPr b="0" i="1" sz="2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Equivalent to: For all things, fast implies slow.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t/>
            </a:r>
            <a:endParaRPr i="1" sz="26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2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Translation (cont)</a:t>
            </a:r>
            <a:endParaRPr/>
          </a:p>
        </p:txBody>
      </p:sp>
      <p:sp>
        <p:nvSpPr>
          <p:cNvPr id="322" name="Google Shape;322;p42"/>
          <p:cNvSpPr txBox="1"/>
          <p:nvPr>
            <p:ph idx="1" type="body"/>
          </p:nvPr>
        </p:nvSpPr>
        <p:spPr>
          <a:xfrm>
            <a:off x="457200" y="1935477"/>
            <a:ext cx="8229600" cy="30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U = {fast, slow, turning}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rPr i="1" lang="en-US"/>
              <a:t>F(x)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fast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rPr i="1" lang="en-US"/>
              <a:t>S(x)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slow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rPr i="1" lang="en-US"/>
              <a:t>T(x)</a:t>
            </a:r>
            <a:r>
              <a:rPr lang="en-US"/>
              <a:t>: x is turning</a:t>
            </a:r>
            <a:endParaRPr sz="26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“Some fast things are turning.”</a:t>
            </a:r>
            <a:endParaRPr/>
          </a:p>
        </p:txBody>
      </p:sp>
      <p:sp>
        <p:nvSpPr>
          <p:cNvPr id="323" name="Google Shape;323;p42"/>
          <p:cNvSpPr txBox="1"/>
          <p:nvPr/>
        </p:nvSpPr>
        <p:spPr>
          <a:xfrm>
            <a:off x="541400" y="4444825"/>
            <a:ext cx="76335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Solution</a:t>
            </a:r>
            <a:r>
              <a:rPr b="0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∃</a:t>
            </a:r>
            <a:r>
              <a:rPr b="0" i="1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x (F(x)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∧ </a:t>
            </a:r>
            <a:r>
              <a:rPr b="0" i="1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T(x)) </a:t>
            </a:r>
            <a:endParaRPr b="0" i="1" sz="2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i="1"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</a:t>
            </a:r>
            <a:r>
              <a:rPr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Equivalent</a:t>
            </a:r>
            <a:r>
              <a:rPr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to: </a:t>
            </a:r>
            <a:r>
              <a:rPr b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Some </a:t>
            </a:r>
            <a:r>
              <a:rPr lang="en-US" sz="26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things are fast and turning</a:t>
            </a:r>
            <a:r>
              <a:rPr lang="en-US"/>
              <a:t>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3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Translation (cont)</a:t>
            </a:r>
            <a:endParaRPr/>
          </a:p>
        </p:txBody>
      </p:sp>
      <p:sp>
        <p:nvSpPr>
          <p:cNvPr id="329" name="Google Shape;329;p43"/>
          <p:cNvSpPr txBox="1"/>
          <p:nvPr>
            <p:ph idx="1" type="body"/>
          </p:nvPr>
        </p:nvSpPr>
        <p:spPr>
          <a:xfrm>
            <a:off x="457200" y="1935477"/>
            <a:ext cx="8229600" cy="26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U = {fast, slow, turning}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rPr i="1" lang="en-US"/>
              <a:t>F(x)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fast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rPr i="1" lang="en-US"/>
              <a:t>S(x)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slow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rPr i="1" lang="en-US"/>
              <a:t>T(x)</a:t>
            </a:r>
            <a:r>
              <a:rPr lang="en-US"/>
              <a:t>: x is turning</a:t>
            </a:r>
            <a:endParaRPr sz="26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“No slow thing is turning.”</a:t>
            </a:r>
            <a:endParaRPr/>
          </a:p>
        </p:txBody>
      </p:sp>
      <p:sp>
        <p:nvSpPr>
          <p:cNvPr id="330" name="Google Shape;330;p43"/>
          <p:cNvSpPr txBox="1"/>
          <p:nvPr/>
        </p:nvSpPr>
        <p:spPr>
          <a:xfrm>
            <a:off x="457700" y="472667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Solution</a:t>
            </a:r>
            <a:r>
              <a:rPr b="0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b="0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∃</a:t>
            </a:r>
            <a:r>
              <a:rPr b="0" i="1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x (S(x)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∧ </a:t>
            </a:r>
            <a:r>
              <a:rPr b="0" i="1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T(x))  </a:t>
            </a:r>
            <a:r>
              <a:rPr b="0" i="0" lang="en-US" sz="23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What is this equivalent to?</a:t>
            </a:r>
            <a:endParaRPr b="0" i="0" sz="23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</a:t>
            </a:r>
            <a:r>
              <a:rPr b="1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Solution</a:t>
            </a:r>
            <a:r>
              <a:rPr b="0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∀</a:t>
            </a:r>
            <a:r>
              <a:rPr b="0" i="1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x (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b="0" i="1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S(x) ∨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b="0" i="1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T(x))</a:t>
            </a:r>
            <a:endParaRPr b="0" i="0" sz="26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Translation (cont)</a:t>
            </a:r>
            <a:endParaRPr/>
          </a:p>
        </p:txBody>
      </p:sp>
      <p:sp>
        <p:nvSpPr>
          <p:cNvPr id="336" name="Google Shape;336;p44"/>
          <p:cNvSpPr txBox="1"/>
          <p:nvPr>
            <p:ph idx="1" type="body"/>
          </p:nvPr>
        </p:nvSpPr>
        <p:spPr>
          <a:xfrm>
            <a:off x="457200" y="1935477"/>
            <a:ext cx="8229600" cy="27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U = {fast, slow, turning}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rPr i="1" lang="en-US"/>
              <a:t>F(x)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fast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rPr i="1" lang="en-US"/>
              <a:t>S(x)</a:t>
            </a:r>
            <a:r>
              <a:rPr lang="en-US"/>
              <a:t>: </a:t>
            </a:r>
            <a:r>
              <a:rPr i="1" lang="en-US"/>
              <a:t>x</a:t>
            </a:r>
            <a:r>
              <a:rPr lang="en-US"/>
              <a:t> is slow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rPr i="1" lang="en-US"/>
              <a:t>T(x)</a:t>
            </a:r>
            <a:r>
              <a:rPr lang="en-US"/>
              <a:t>: x is turning</a:t>
            </a:r>
            <a:endParaRPr sz="2600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“If anything fast is a slow then it is also a turning.”</a:t>
            </a:r>
            <a:endParaRPr/>
          </a:p>
        </p:txBody>
      </p:sp>
      <p:sp>
        <p:nvSpPr>
          <p:cNvPr id="337" name="Google Shape;337;p44"/>
          <p:cNvSpPr txBox="1"/>
          <p:nvPr/>
        </p:nvSpPr>
        <p:spPr>
          <a:xfrm>
            <a:off x="480525" y="4954900"/>
            <a:ext cx="82959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Solution</a:t>
            </a:r>
            <a:r>
              <a:rPr b="0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</a:t>
            </a:r>
            <a:r>
              <a:rPr b="0" i="1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∀x ((F(x)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∧</a:t>
            </a:r>
            <a:r>
              <a:rPr b="0" i="1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S(x))→ T(x))</a:t>
            </a:r>
            <a:endParaRPr b="0" i="1" sz="2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/>
          <p:nvPr>
            <p:ph type="title"/>
          </p:nvPr>
        </p:nvSpPr>
        <p:spPr>
          <a:xfrm>
            <a:off x="457200" y="7040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Lewis Carroll Example</a:t>
            </a:r>
            <a:endParaRPr/>
          </a:p>
        </p:txBody>
      </p:sp>
      <p:sp>
        <p:nvSpPr>
          <p:cNvPr id="343" name="Google Shape;343;p45"/>
          <p:cNvSpPr txBox="1"/>
          <p:nvPr>
            <p:ph idx="1" type="body"/>
          </p:nvPr>
        </p:nvSpPr>
        <p:spPr>
          <a:xfrm>
            <a:off x="457200" y="1935480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The first two are called </a:t>
            </a:r>
            <a:r>
              <a:rPr i="1" lang="en-US"/>
              <a:t>premises</a:t>
            </a:r>
            <a:r>
              <a:rPr lang="en-US"/>
              <a:t> and the third is called the </a:t>
            </a:r>
            <a:r>
              <a:rPr i="1" lang="en-US"/>
              <a:t>conclusion</a:t>
            </a:r>
            <a:r>
              <a:rPr lang="en-US"/>
              <a:t>. </a:t>
            </a:r>
            <a:endParaRPr/>
          </a:p>
          <a:p>
            <a:pPr indent="-457200" lvl="1" marL="850392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Char char="○"/>
            </a:pPr>
            <a:r>
              <a:rPr lang="en-US"/>
              <a:t>“All lions are fierce.”</a:t>
            </a:r>
            <a:endParaRPr/>
          </a:p>
          <a:p>
            <a:pPr indent="-457200" lvl="1" marL="850392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Char char="○"/>
            </a:pPr>
            <a:r>
              <a:rPr lang="en-US"/>
              <a:t>“Some lions do not drink coffee.”</a:t>
            </a:r>
            <a:endParaRPr/>
          </a:p>
          <a:p>
            <a:pPr indent="-457200" lvl="1" marL="850392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Char char="○"/>
            </a:pPr>
            <a:r>
              <a:rPr lang="en-US"/>
              <a:t>“Some fierce creatures do not drink coffee.” </a:t>
            </a:r>
            <a:endParaRPr/>
          </a:p>
          <a:p>
            <a:pPr indent="-457200" lvl="0" marL="484632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Here is one way to translate these statements to predicate logic. Let P(x), Q(x), and R(x) be the propositional functions “x is a lion,” “x is fierce,” and “x drinks coffee,” respectively.</a:t>
            </a:r>
            <a:endParaRPr/>
          </a:p>
          <a:p>
            <a:pPr indent="-457200" lvl="1" marL="850392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Char char="○"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∀x (P(x)→ Q(x))</a:t>
            </a:r>
            <a:endParaRPr/>
          </a:p>
          <a:p>
            <a:pPr indent="-457200" lvl="1" marL="850392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Char char="○"/>
            </a:pPr>
            <a:r>
              <a:rPr lang="en-US"/>
              <a:t>∃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 (P(x)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∧ ¬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R(x))</a:t>
            </a:r>
            <a:endParaRPr/>
          </a:p>
          <a:p>
            <a:pPr indent="-457200" lvl="1" marL="850392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Char char="○"/>
            </a:pPr>
            <a:r>
              <a:rPr lang="en-US"/>
              <a:t>∃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 (Q(x)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∧ ¬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R(x))</a:t>
            </a:r>
            <a:endParaRPr/>
          </a:p>
          <a:p>
            <a:pPr indent="-457200" lvl="0" marL="484632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Later we will see how to prove that the conclusion follows from the premises.</a:t>
            </a:r>
            <a:endParaRPr/>
          </a:p>
        </p:txBody>
      </p:sp>
      <p:pic>
        <p:nvPicPr>
          <p:cNvPr descr="0110.jpg" id="344" name="Google Shape;34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0" y="76200"/>
            <a:ext cx="886968" cy="1036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5"/>
          <p:cNvSpPr txBox="1"/>
          <p:nvPr/>
        </p:nvSpPr>
        <p:spPr>
          <a:xfrm>
            <a:off x="6096000" y="1066800"/>
            <a:ext cx="28956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Charles Lutwidge Dodgson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(AKA Lewis Caroll)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   (1832-1898)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