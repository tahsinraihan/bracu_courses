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7010400" cy="9296400"/>
  <p:embeddedFontLst>
    <p:embeddedFont>
      <p:font typeface="Constantia"/>
      <p:regular r:id="rId27"/>
      <p:bold r:id="rId28"/>
      <p:italic r:id="rId29"/>
      <p:boldItalic r:id="rId30"/>
    </p:embeddedFont>
    <p:embeddedFont>
      <p:font typeface="Cambria Math"/>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onstantia-bold.fntdata"/><Relationship Id="rId27" Type="http://schemas.openxmlformats.org/officeDocument/2006/relationships/font" Target="fonts/Constantia-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nstantia-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ambriaMath-regular.fntdata"/><Relationship Id="rId30" Type="http://schemas.openxmlformats.org/officeDocument/2006/relationships/font" Target="fonts/Constantia-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4820"/>
          </a:xfrm>
          <a:prstGeom prst="rect">
            <a:avLst/>
          </a:prstGeom>
          <a:noFill/>
          <a:ln>
            <a:noFill/>
          </a:ln>
        </p:spPr>
        <p:txBody>
          <a:bodyPr anchorCtr="0" anchor="t" bIns="46575" lIns="93150" spcFirstLastPara="1" rIns="93150" wrap="square" tIns="4657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0"/>
            <a:ext cx="3037840" cy="464820"/>
          </a:xfrm>
          <a:prstGeom prst="rect">
            <a:avLst/>
          </a:prstGeom>
          <a:noFill/>
          <a:ln>
            <a:noFill/>
          </a:ln>
        </p:spPr>
        <p:txBody>
          <a:bodyPr anchorCtr="0" anchor="t" bIns="46575" lIns="93150" spcFirstLastPara="1" rIns="93150" wrap="square" tIns="4657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4820"/>
          </a:xfrm>
          <a:prstGeom prst="rect">
            <a:avLst/>
          </a:prstGeom>
          <a:noFill/>
          <a:ln>
            <a:noFill/>
          </a:ln>
        </p:spPr>
        <p:txBody>
          <a:bodyPr anchorCtr="0" anchor="b" bIns="46575" lIns="93150" spcFirstLastPara="1" rIns="93150" wrap="square" tIns="4657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13a84b5ef5_0_0: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24" name="Google Shape;124;g313a84b5ef5_0_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7: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30" name="Google Shape;130;p27: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9: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36" name="Google Shape;136;p29: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0: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53" name="Google Shape;153;p3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31: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72" name="Google Shape;172;p31: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2: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86" name="Google Shape;186;p32: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34: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01" name="Google Shape;201;p34: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3: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08" name="Google Shape;208;p33: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13a8d5f346_0_0: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25" name="Google Shape;225;g313a8d5f346_0_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17b062ca71_0_0: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42" name="Google Shape;242;g317b062ca71_0_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1506d2431f_0_29: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50" name="Google Shape;250;g31506d2431f_0_29: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17b062ca71_0_34: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58" name="Google Shape;258;g317b062ca71_0_34: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17b062ca71_0_55: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65" name="Google Shape;265;g317b062ca71_0_55: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17b062ca71_0_62: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72" name="Google Shape;272;g317b062ca71_0_62: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6: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36: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80" name="Google Shape;280;p36:notes"/>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9: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86" name="Google Shape;286;p39: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40: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92" name="Google Shape;292;p4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41: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302" name="Google Shape;302;p41: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2: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311" name="Google Shape;311;p42: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3: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320" name="Google Shape;320;p43: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1506d2431f_0_3: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330" name="Google Shape;330;g31506d2431f_0_3: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CFE2F3"/>
        </a:solidFill>
      </p:bgPr>
    </p:bg>
    <p:spTree>
      <p:nvGrpSpPr>
        <p:cNvPr id="27" name="Shape 27"/>
        <p:cNvGrpSpPr/>
        <p:nvPr/>
      </p:nvGrpSpPr>
      <p:grpSpPr>
        <a:xfrm>
          <a:off x="0" y="0"/>
          <a:ext cx="0" cy="0"/>
          <a:chOff x="0" y="0"/>
          <a:chExt cx="0" cy="0"/>
        </a:xfrm>
      </p:grpSpPr>
      <p:grpSp>
        <p:nvGrpSpPr>
          <p:cNvPr id="28" name="Google Shape;28;p2"/>
          <p:cNvGrpSpPr/>
          <p:nvPr/>
        </p:nvGrpSpPr>
        <p:grpSpPr>
          <a:xfrm>
            <a:off x="6098378" y="7"/>
            <a:ext cx="3045625" cy="2707359"/>
            <a:chOff x="6098378" y="5"/>
            <a:chExt cx="3045625" cy="2030570"/>
          </a:xfrm>
        </p:grpSpPr>
        <p:sp>
          <p:nvSpPr>
            <p:cNvPr id="29" name="Google Shape;29;p2"/>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2"/>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lvl1pPr lvl="0" algn="l">
              <a:lnSpc>
                <a:spcPct val="100000"/>
              </a:lnSpc>
              <a:spcBef>
                <a:spcPts val="0"/>
              </a:spcBef>
              <a:spcAft>
                <a:spcPts val="0"/>
              </a:spcAft>
              <a:buClr>
                <a:schemeClr val="accent1"/>
              </a:buClr>
              <a:buSzPts val="5600"/>
              <a:buFont typeface="Calibri"/>
              <a:buNone/>
              <a:defRPr b="1" sz="5600">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
          <p:cNvSpPr txBox="1"/>
          <p:nvPr>
            <p:ph idx="1" type="subTitle"/>
          </p:nvPr>
        </p:nvSpPr>
        <p:spPr>
          <a:xfrm>
            <a:off x="533400" y="3228536"/>
            <a:ext cx="7854600" cy="1752600"/>
          </a:xfrm>
          <a:prstGeom prst="rect">
            <a:avLst/>
          </a:prstGeom>
          <a:noFill/>
          <a:ln>
            <a:noFill/>
          </a:ln>
        </p:spPr>
        <p:txBody>
          <a:bodyPr anchorCtr="0" anchor="t" bIns="45700" lIns="0" spcFirstLastPara="1" rIns="18275" wrap="square" tIns="45700">
            <a:normAutofit/>
          </a:bodyPr>
          <a:lstStyle>
            <a:lvl1pPr lvl="0" marR="45720" algn="r">
              <a:lnSpc>
                <a:spcPct val="100000"/>
              </a:lnSpc>
              <a:spcBef>
                <a:spcPts val="520"/>
              </a:spcBef>
              <a:spcAft>
                <a:spcPts val="0"/>
              </a:spcAft>
              <a:buClr>
                <a:schemeClr val="dk2"/>
              </a:buClr>
              <a:buSzPts val="2470"/>
              <a:buNone/>
              <a:defRPr>
                <a:solidFill>
                  <a:schemeClr val="dk2"/>
                </a:solidFill>
              </a:defRPr>
            </a:lvl1pPr>
            <a:lvl2pPr lvl="1" algn="ctr">
              <a:lnSpc>
                <a:spcPct val="100000"/>
              </a:lnSpc>
              <a:spcBef>
                <a:spcPts val="360"/>
              </a:spcBef>
              <a:spcAft>
                <a:spcPts val="0"/>
              </a:spcAft>
              <a:buSzPts val="1530"/>
              <a:buNone/>
              <a:defRPr/>
            </a:lvl2pPr>
            <a:lvl3pPr lvl="2" algn="ctr">
              <a:lnSpc>
                <a:spcPct val="100000"/>
              </a:lnSpc>
              <a:spcBef>
                <a:spcPts val="360"/>
              </a:spcBef>
              <a:spcAft>
                <a:spcPts val="0"/>
              </a:spcAft>
              <a:buSzPts val="1260"/>
              <a:buNone/>
              <a:defRPr/>
            </a:lvl3pPr>
            <a:lvl4pPr lvl="3" algn="ctr">
              <a:lnSpc>
                <a:spcPct val="100000"/>
              </a:lnSpc>
              <a:spcBef>
                <a:spcPts val="360"/>
              </a:spcBef>
              <a:spcAft>
                <a:spcPts val="0"/>
              </a:spcAft>
              <a:buSzPts val="1170"/>
              <a:buNone/>
              <a:defRPr/>
            </a:lvl4pPr>
            <a:lvl5pPr lvl="4" algn="ctr">
              <a:lnSpc>
                <a:spcPct val="100000"/>
              </a:lnSpc>
              <a:spcBef>
                <a:spcPts val="360"/>
              </a:spcBef>
              <a:spcAft>
                <a:spcPts val="0"/>
              </a:spcAft>
              <a:buSzPts val="1170"/>
              <a:buNone/>
              <a:defRPr/>
            </a:lvl5pPr>
            <a:lvl6pPr lvl="5" algn="ctr">
              <a:lnSpc>
                <a:spcPct val="100000"/>
              </a:lnSpc>
              <a:spcBef>
                <a:spcPts val="360"/>
              </a:spcBef>
              <a:spcAft>
                <a:spcPts val="0"/>
              </a:spcAft>
              <a:buSzPts val="1440"/>
              <a:buNone/>
              <a:defRPr/>
            </a:lvl6pPr>
            <a:lvl7pPr lvl="6" algn="ctr">
              <a:lnSpc>
                <a:spcPct val="100000"/>
              </a:lnSpc>
              <a:spcBef>
                <a:spcPts val="360"/>
              </a:spcBef>
              <a:spcAft>
                <a:spcPts val="0"/>
              </a:spcAft>
              <a:buSzPts val="144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36" name="Google Shape;36;p2"/>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9" name="Google Shape;39;p2"/>
          <p:cNvGrpSpPr/>
          <p:nvPr/>
        </p:nvGrpSpPr>
        <p:grpSpPr>
          <a:xfrm>
            <a:off x="175" y="5715115"/>
            <a:ext cx="9144053" cy="1142603"/>
            <a:chOff x="-4085248" y="3903669"/>
            <a:chExt cx="13229243" cy="1239938"/>
          </a:xfrm>
        </p:grpSpPr>
        <p:sp>
          <p:nvSpPr>
            <p:cNvPr id="40" name="Google Shape;40;p2"/>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8" name="Google Shape;48;p3"/>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CFE2F3"/>
        </a:solidFill>
      </p:bgPr>
    </p:bg>
    <p:spTree>
      <p:nvGrpSpPr>
        <p:cNvPr id="51" name="Shape 51"/>
        <p:cNvGrpSpPr/>
        <p:nvPr/>
      </p:nvGrpSpPr>
      <p:grpSpPr>
        <a:xfrm>
          <a:off x="0" y="0"/>
          <a:ext cx="0" cy="0"/>
          <a:chOff x="0" y="0"/>
          <a:chExt cx="0" cy="0"/>
        </a:xfrm>
      </p:grpSpPr>
      <p:sp>
        <p:nvSpPr>
          <p:cNvPr id="52" name="Google Shape;52;p4"/>
          <p:cNvSpPr txBox="1"/>
          <p:nvPr>
            <p:ph type="title"/>
          </p:nvPr>
        </p:nvSpPr>
        <p:spPr>
          <a:xfrm>
            <a:off x="530352" y="1316736"/>
            <a:ext cx="7772400" cy="1362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5600"/>
              <a:buFont typeface="Calibri"/>
              <a:buNone/>
              <a:defRPr b="1" sz="5600" cap="none">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
          <p:cNvSpPr txBox="1"/>
          <p:nvPr>
            <p:ph idx="1" type="body"/>
          </p:nvPr>
        </p:nvSpPr>
        <p:spPr>
          <a:xfrm>
            <a:off x="530352" y="2704664"/>
            <a:ext cx="7772400" cy="15096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440"/>
              </a:spcBef>
              <a:spcAft>
                <a:spcPts val="0"/>
              </a:spcAft>
              <a:buClr>
                <a:schemeClr val="accent1"/>
              </a:buClr>
              <a:buSzPts val="2090"/>
              <a:buNone/>
              <a:defRPr sz="2200">
                <a:solidFill>
                  <a:srgbClr val="000000"/>
                </a:solidFill>
              </a:defRPr>
            </a:lvl1pPr>
            <a:lvl2pPr indent="-228600" lvl="1" marL="914400" algn="l">
              <a:lnSpc>
                <a:spcPct val="100000"/>
              </a:lnSpc>
              <a:spcBef>
                <a:spcPts val="360"/>
              </a:spcBef>
              <a:spcAft>
                <a:spcPts val="0"/>
              </a:spcAft>
              <a:buSzPts val="1530"/>
              <a:buNone/>
              <a:defRPr sz="1800"/>
            </a:lvl2pPr>
            <a:lvl3pPr indent="-228600" lvl="2" marL="1371600" algn="l">
              <a:lnSpc>
                <a:spcPct val="100000"/>
              </a:lnSpc>
              <a:spcBef>
                <a:spcPts val="320"/>
              </a:spcBef>
              <a:spcAft>
                <a:spcPts val="0"/>
              </a:spcAft>
              <a:buClr>
                <a:srgbClr val="000000"/>
              </a:buClr>
              <a:buSzPts val="1120"/>
              <a:buNone/>
              <a:defRPr sz="1600">
                <a:solidFill>
                  <a:srgbClr val="000000"/>
                </a:solidFill>
              </a:defRPr>
            </a:lvl3pPr>
            <a:lvl4pPr indent="-228600" lvl="3" marL="1828800" algn="l">
              <a:lnSpc>
                <a:spcPct val="100000"/>
              </a:lnSpc>
              <a:spcBef>
                <a:spcPts val="280"/>
              </a:spcBef>
              <a:spcAft>
                <a:spcPts val="0"/>
              </a:spcAft>
              <a:buClr>
                <a:srgbClr val="000000"/>
              </a:buClr>
              <a:buSzPts val="910"/>
              <a:buNone/>
              <a:defRPr sz="1400">
                <a:solidFill>
                  <a:srgbClr val="000000"/>
                </a:solidFill>
              </a:defRPr>
            </a:lvl4pPr>
            <a:lvl5pPr indent="-228600" lvl="4" marL="2286000" algn="l">
              <a:lnSpc>
                <a:spcPct val="100000"/>
              </a:lnSpc>
              <a:spcBef>
                <a:spcPts val="280"/>
              </a:spcBef>
              <a:spcAft>
                <a:spcPts val="0"/>
              </a:spcAft>
              <a:buClr>
                <a:srgbClr val="000000"/>
              </a:buClr>
              <a:buSzPts val="910"/>
              <a:buNone/>
              <a:defRPr sz="1400">
                <a:solidFill>
                  <a:srgbClr val="000000"/>
                </a:solidFill>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p4"/>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57" name="Google Shape;57;p4"/>
          <p:cNvGrpSpPr/>
          <p:nvPr/>
        </p:nvGrpSpPr>
        <p:grpSpPr>
          <a:xfrm>
            <a:off x="175" y="5715115"/>
            <a:ext cx="9144053" cy="1142603"/>
            <a:chOff x="-4085248" y="3903669"/>
            <a:chExt cx="13229243" cy="1239938"/>
          </a:xfrm>
        </p:grpSpPr>
        <p:sp>
          <p:nvSpPr>
            <p:cNvPr id="58" name="Google Shape;58;p4"/>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4"/>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4"/>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3" name="Shape 63"/>
        <p:cNvGrpSpPr/>
        <p:nvPr/>
      </p:nvGrpSpPr>
      <p:grpSpPr>
        <a:xfrm>
          <a:off x="0" y="0"/>
          <a:ext cx="0" cy="0"/>
          <a:chOff x="0" y="0"/>
          <a:chExt cx="0" cy="0"/>
        </a:xfrm>
      </p:grpSpPr>
      <p:sp>
        <p:nvSpPr>
          <p:cNvPr id="64" name="Google Shape;64;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
          <p:cNvSpPr txBox="1"/>
          <p:nvPr>
            <p:ph idx="1" type="body"/>
          </p:nvPr>
        </p:nvSpPr>
        <p:spPr>
          <a:xfrm>
            <a:off x="457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5"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6" name="Google Shape;66;p5"/>
          <p:cNvSpPr txBox="1"/>
          <p:nvPr>
            <p:ph idx="2" type="body"/>
          </p:nvPr>
        </p:nvSpPr>
        <p:spPr>
          <a:xfrm>
            <a:off x="4648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5"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7" name="Google Shape;67;p5"/>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0" name="Shape 70"/>
        <p:cNvGrpSpPr/>
        <p:nvPr/>
      </p:nvGrpSpPr>
      <p:grpSpPr>
        <a:xfrm>
          <a:off x="0" y="0"/>
          <a:ext cx="0" cy="0"/>
          <a:chOff x="0" y="0"/>
          <a:chExt cx="0" cy="0"/>
        </a:xfrm>
      </p:grpSpPr>
      <p:sp>
        <p:nvSpPr>
          <p:cNvPr id="71" name="Google Shape;71;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
          <p:cNvSpPr txBox="1"/>
          <p:nvPr>
            <p:ph idx="1" type="body"/>
          </p:nvPr>
        </p:nvSpPr>
        <p:spPr>
          <a:xfrm>
            <a:off x="457200" y="1855248"/>
            <a:ext cx="4040100" cy="659400"/>
          </a:xfrm>
          <a:prstGeom prst="rect">
            <a:avLst/>
          </a:prstGeom>
          <a:noFill/>
          <a:ln>
            <a:noFill/>
          </a:ln>
        </p:spPr>
        <p:txBody>
          <a:bodyPr anchorCtr="0" anchor="ctr" bIns="0" lIns="45700" spcFirstLastPara="1" rIns="45700" wrap="square" tIns="0">
            <a:no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3" name="Google Shape;73;p6"/>
          <p:cNvSpPr txBox="1"/>
          <p:nvPr>
            <p:ph idx="2" type="body"/>
          </p:nvPr>
        </p:nvSpPr>
        <p:spPr>
          <a:xfrm>
            <a:off x="4645025" y="1859757"/>
            <a:ext cx="4041900" cy="654900"/>
          </a:xfrm>
          <a:prstGeom prst="rect">
            <a:avLst/>
          </a:prstGeom>
          <a:noFill/>
          <a:ln>
            <a:noFill/>
          </a:ln>
        </p:spPr>
        <p:txBody>
          <a:bodyPr anchorCtr="0" anchor="ctr" bIns="0" lIns="45700" spcFirstLastPara="1" rIns="45700" wrap="square" tIns="0">
            <a:norm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4" name="Google Shape;74;p6"/>
          <p:cNvSpPr txBox="1"/>
          <p:nvPr>
            <p:ph idx="3" type="body"/>
          </p:nvPr>
        </p:nvSpPr>
        <p:spPr>
          <a:xfrm>
            <a:off x="457200" y="2514600"/>
            <a:ext cx="40401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40" lvl="3" marL="1828800" algn="l">
              <a:lnSpc>
                <a:spcPct val="100000"/>
              </a:lnSpc>
              <a:spcBef>
                <a:spcPts val="320"/>
              </a:spcBef>
              <a:spcAft>
                <a:spcPts val="0"/>
              </a:spcAft>
              <a:buSzPts val="1040"/>
              <a:buChar char="⚫"/>
              <a:defRPr sz="1600"/>
            </a:lvl4pPr>
            <a:lvl5pPr indent="-294640" lvl="4" marL="2286000" algn="l">
              <a:lnSpc>
                <a:spcPct val="100000"/>
              </a:lnSpc>
              <a:spcBef>
                <a:spcPts val="320"/>
              </a:spcBef>
              <a:spcAft>
                <a:spcPts val="0"/>
              </a:spcAft>
              <a:buSzPts val="1040"/>
              <a:buChar char="⚫"/>
              <a:defRPr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5" name="Google Shape;75;p6"/>
          <p:cNvSpPr txBox="1"/>
          <p:nvPr>
            <p:ph idx="4" type="body"/>
          </p:nvPr>
        </p:nvSpPr>
        <p:spPr>
          <a:xfrm>
            <a:off x="4645025" y="2514600"/>
            <a:ext cx="40419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40" lvl="3" marL="1828800" algn="l">
              <a:lnSpc>
                <a:spcPct val="100000"/>
              </a:lnSpc>
              <a:spcBef>
                <a:spcPts val="320"/>
              </a:spcBef>
              <a:spcAft>
                <a:spcPts val="0"/>
              </a:spcAft>
              <a:buSzPts val="1040"/>
              <a:buChar char="⚫"/>
              <a:defRPr sz="1600"/>
            </a:lvl4pPr>
            <a:lvl5pPr indent="-294640" lvl="4" marL="2286000" algn="l">
              <a:lnSpc>
                <a:spcPct val="100000"/>
              </a:lnSpc>
              <a:spcBef>
                <a:spcPts val="320"/>
              </a:spcBef>
              <a:spcAft>
                <a:spcPts val="0"/>
              </a:spcAft>
              <a:buSzPts val="1040"/>
              <a:buChar char="⚫"/>
              <a:defRPr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6" name="Google Shape;76;p6"/>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grpSp>
        <p:nvGrpSpPr>
          <p:cNvPr id="80" name="Google Shape;80;p7"/>
          <p:cNvGrpSpPr/>
          <p:nvPr/>
        </p:nvGrpSpPr>
        <p:grpSpPr>
          <a:xfrm>
            <a:off x="6098378" y="7"/>
            <a:ext cx="3045625" cy="2707359"/>
            <a:chOff x="6098378" y="5"/>
            <a:chExt cx="3045625" cy="2030570"/>
          </a:xfrm>
        </p:grpSpPr>
        <p:sp>
          <p:nvSpPr>
            <p:cNvPr id="81" name="Google Shape;81;p7"/>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7"/>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7"/>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7"/>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7"/>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7"/>
          <p:cNvSpPr txBox="1"/>
          <p:nvPr>
            <p:ph type="title"/>
          </p:nvPr>
        </p:nvSpPr>
        <p:spPr>
          <a:xfrm>
            <a:off x="457200" y="1999488"/>
            <a:ext cx="83058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7"/>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7"/>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7"/>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8"/>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8"/>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8"/>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4" name="Shape 94"/>
        <p:cNvGrpSpPr/>
        <p:nvPr/>
      </p:nvGrpSpPr>
      <p:grpSpPr>
        <a:xfrm>
          <a:off x="0" y="0"/>
          <a:ext cx="0" cy="0"/>
          <a:chOff x="0" y="0"/>
          <a:chExt cx="0" cy="0"/>
        </a:xfrm>
      </p:grpSpPr>
      <p:sp>
        <p:nvSpPr>
          <p:cNvPr id="95" name="Google Shape;95;p9"/>
          <p:cNvSpPr txBox="1"/>
          <p:nvPr>
            <p:ph type="title"/>
          </p:nvPr>
        </p:nvSpPr>
        <p:spPr>
          <a:xfrm>
            <a:off x="685800" y="514352"/>
            <a:ext cx="2743200" cy="11622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9"/>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lnSpc>
                <a:spcPct val="100000"/>
              </a:lnSpc>
              <a:spcBef>
                <a:spcPts val="280"/>
              </a:spcBef>
              <a:spcAft>
                <a:spcPts val="0"/>
              </a:spcAft>
              <a:buSzPts val="1330"/>
              <a:buNone/>
              <a:defRPr sz="1400"/>
            </a:lvl1pPr>
            <a:lvl2pPr indent="-228600" lvl="1" marL="914400" algn="l">
              <a:lnSpc>
                <a:spcPct val="100000"/>
              </a:lnSpc>
              <a:spcBef>
                <a:spcPts val="240"/>
              </a:spcBef>
              <a:spcAft>
                <a:spcPts val="0"/>
              </a:spcAft>
              <a:buSzPts val="102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585"/>
              <a:buNone/>
              <a:defRPr sz="900"/>
            </a:lvl4pPr>
            <a:lvl5pPr indent="-228600" lvl="4" marL="2286000" algn="l">
              <a:lnSpc>
                <a:spcPct val="100000"/>
              </a:lnSpc>
              <a:spcBef>
                <a:spcPts val="180"/>
              </a:spcBef>
              <a:spcAft>
                <a:spcPts val="0"/>
              </a:spcAft>
              <a:buSzPts val="585"/>
              <a:buNone/>
              <a:defRPr sz="9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7" name="Google Shape;97;p9"/>
          <p:cNvSpPr txBox="1"/>
          <p:nvPr>
            <p:ph idx="2" type="body"/>
          </p:nvPr>
        </p:nvSpPr>
        <p:spPr>
          <a:xfrm>
            <a:off x="3575050" y="1676400"/>
            <a:ext cx="5111700" cy="4572000"/>
          </a:xfrm>
          <a:prstGeom prst="rect">
            <a:avLst/>
          </a:prstGeom>
          <a:noFill/>
          <a:ln>
            <a:noFill/>
          </a:ln>
        </p:spPr>
        <p:txBody>
          <a:bodyPr anchorCtr="0" anchor="t" bIns="45700" lIns="91425" spcFirstLastPara="1" rIns="91425" wrap="square" tIns="0">
            <a:normAutofit/>
          </a:bodyPr>
          <a:lstStyle>
            <a:lvl1pPr indent="-397510" lvl="0" marL="457200" algn="l">
              <a:lnSpc>
                <a:spcPct val="100000"/>
              </a:lnSpc>
              <a:spcBef>
                <a:spcPts val="560"/>
              </a:spcBef>
              <a:spcAft>
                <a:spcPts val="0"/>
              </a:spcAft>
              <a:buSzPts val="2660"/>
              <a:buChar char="⚫"/>
              <a:defRPr sz="2800"/>
            </a:lvl1pPr>
            <a:lvl2pPr indent="-368935" lvl="1" marL="914400" algn="l">
              <a:lnSpc>
                <a:spcPct val="100000"/>
              </a:lnSpc>
              <a:spcBef>
                <a:spcPts val="520"/>
              </a:spcBef>
              <a:spcAft>
                <a:spcPts val="0"/>
              </a:spcAft>
              <a:buSzPts val="2210"/>
              <a:buChar char="⚫"/>
              <a:defRPr sz="2600"/>
            </a:lvl2pPr>
            <a:lvl3pPr indent="-335280" lvl="2" marL="1371600" algn="l">
              <a:lnSpc>
                <a:spcPct val="100000"/>
              </a:lnSpc>
              <a:spcBef>
                <a:spcPts val="480"/>
              </a:spcBef>
              <a:spcAft>
                <a:spcPts val="0"/>
              </a:spcAft>
              <a:buSzPts val="1680"/>
              <a:buChar char="⚫"/>
              <a:defRPr sz="2400"/>
            </a:lvl3pPr>
            <a:lvl4pPr indent="-311150" lvl="3" marL="1828800" algn="l">
              <a:lnSpc>
                <a:spcPct val="100000"/>
              </a:lnSpc>
              <a:spcBef>
                <a:spcPts val="400"/>
              </a:spcBef>
              <a:spcAft>
                <a:spcPts val="0"/>
              </a:spcAft>
              <a:buSzPts val="1300"/>
              <a:buChar char="⚫"/>
              <a:defRPr sz="20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8" name="Google Shape;98;p9"/>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9"/>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9"/>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1" name="Shape 101"/>
        <p:cNvGrpSpPr/>
        <p:nvPr/>
      </p:nvGrpSpPr>
      <p:grpSpPr>
        <a:xfrm>
          <a:off x="0" y="0"/>
          <a:ext cx="0" cy="0"/>
          <a:chOff x="0" y="0"/>
          <a:chExt cx="0" cy="0"/>
        </a:xfrm>
      </p:grpSpPr>
      <p:sp>
        <p:nvSpPr>
          <p:cNvPr id="102" name="Google Shape;102;p10"/>
          <p:cNvSpPr/>
          <p:nvPr/>
        </p:nvSpPr>
        <p:spPr>
          <a:xfrm flipH="1" rot="-10380037">
            <a:off x="4172417" y="1918649"/>
            <a:ext cx="4293497" cy="3360146"/>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10" rotWithShape="0" algn="tl" dir="7500000" dist="38500" sy="100080">
              <a:srgbClr val="000000">
                <a:alpha val="2392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03" name="Google Shape;103;p10"/>
          <p:cNvSpPr/>
          <p:nvPr/>
        </p:nvSpPr>
        <p:spPr>
          <a:xfrm flipH="1" rot="-10380733">
            <a:off x="8004114" y="5359839"/>
            <a:ext cx="155354" cy="155354"/>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588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04" name="Google Shape;104;p10"/>
          <p:cNvSpPr txBox="1"/>
          <p:nvPr>
            <p:ph type="title"/>
          </p:nvPr>
        </p:nvSpPr>
        <p:spPr>
          <a:xfrm>
            <a:off x="609600" y="1177000"/>
            <a:ext cx="3352800" cy="1582500"/>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chemeClr val="dk2"/>
              </a:buClr>
              <a:buSzPts val="3600"/>
              <a:buFont typeface="Calibri"/>
              <a:buNone/>
              <a:defRPr b="1" sz="3600">
                <a:solidFill>
                  <a:schemeClr val="dk2"/>
                </a:solidFill>
              </a:defRPr>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05" name="Google Shape;105;p10"/>
          <p:cNvSpPr txBox="1"/>
          <p:nvPr>
            <p:ph idx="1" type="body"/>
          </p:nvPr>
        </p:nvSpPr>
        <p:spPr>
          <a:xfrm>
            <a:off x="609600" y="2828775"/>
            <a:ext cx="3352800" cy="2179200"/>
          </a:xfrm>
          <a:prstGeom prst="rect">
            <a:avLst/>
          </a:prstGeom>
          <a:noFill/>
          <a:ln>
            <a:noFill/>
          </a:ln>
        </p:spPr>
        <p:txBody>
          <a:bodyPr anchorCtr="0" anchor="t" bIns="45700" lIns="64000" spcFirstLastPara="1" rIns="45700" wrap="square" tIns="45700">
            <a:normAutofit/>
          </a:bodyPr>
          <a:lstStyle>
            <a:lvl1pPr indent="-228600" lvl="0" marL="457200" algn="l">
              <a:lnSpc>
                <a:spcPct val="100000"/>
              </a:lnSpc>
              <a:spcBef>
                <a:spcPts val="250"/>
              </a:spcBef>
              <a:spcAft>
                <a:spcPts val="0"/>
              </a:spcAft>
              <a:buSzPts val="2400"/>
              <a:buFont typeface="Constantia"/>
              <a:buNone/>
              <a:defRPr sz="2400"/>
            </a:lvl1pPr>
            <a:lvl2pPr indent="-355600" lvl="1" marL="914400" algn="l">
              <a:lnSpc>
                <a:spcPct val="100000"/>
              </a:lnSpc>
              <a:spcBef>
                <a:spcPts val="240"/>
              </a:spcBef>
              <a:spcAft>
                <a:spcPts val="0"/>
              </a:spcAft>
              <a:buSzPts val="2000"/>
              <a:buChar char="⚫"/>
              <a:defRPr sz="2000"/>
            </a:lvl2pPr>
            <a:lvl3pPr indent="-342900" lvl="2" marL="1371600" algn="l">
              <a:lnSpc>
                <a:spcPct val="100000"/>
              </a:lnSpc>
              <a:spcBef>
                <a:spcPts val="200"/>
              </a:spcBef>
              <a:spcAft>
                <a:spcPts val="0"/>
              </a:spcAft>
              <a:buSzPts val="1800"/>
              <a:buChar char="⚫"/>
              <a:defRPr sz="1800"/>
            </a:lvl3pPr>
            <a:lvl4pPr indent="-330200" lvl="3" marL="1828800" algn="l">
              <a:lnSpc>
                <a:spcPct val="100000"/>
              </a:lnSpc>
              <a:spcBef>
                <a:spcPts val="180"/>
              </a:spcBef>
              <a:spcAft>
                <a:spcPts val="0"/>
              </a:spcAft>
              <a:buSzPts val="1600"/>
              <a:buChar char="⚫"/>
              <a:defRPr sz="1600"/>
            </a:lvl4pPr>
            <a:lvl5pPr indent="-317500" lvl="4" marL="2286000" algn="l">
              <a:lnSpc>
                <a:spcPct val="100000"/>
              </a:lnSpc>
              <a:spcBef>
                <a:spcPts val="180"/>
              </a:spcBef>
              <a:spcAft>
                <a:spcPts val="0"/>
              </a:spcAft>
              <a:buSzPts val="1400"/>
              <a:buChar char="⚫"/>
              <a:defRPr sz="1400"/>
            </a:lvl5pPr>
            <a:lvl6pPr indent="-304800" lvl="5" marL="2743200" algn="l">
              <a:lnSpc>
                <a:spcPct val="100000"/>
              </a:lnSpc>
              <a:spcBef>
                <a:spcPts val="360"/>
              </a:spcBef>
              <a:spcAft>
                <a:spcPts val="0"/>
              </a:spcAft>
              <a:buSzPts val="1200"/>
              <a:buChar char="⚫"/>
              <a:defRPr sz="1200"/>
            </a:lvl6pPr>
            <a:lvl7pPr indent="-304800" lvl="6" marL="3200400" algn="l">
              <a:lnSpc>
                <a:spcPct val="100000"/>
              </a:lnSpc>
              <a:spcBef>
                <a:spcPts val="360"/>
              </a:spcBef>
              <a:spcAft>
                <a:spcPts val="0"/>
              </a:spcAft>
              <a:buSzPts val="1200"/>
              <a:buChar char="⚫"/>
              <a:defRPr sz="1200"/>
            </a:lvl7pPr>
            <a:lvl8pPr indent="-304800" lvl="7" marL="3657600" algn="l">
              <a:lnSpc>
                <a:spcPct val="100000"/>
              </a:lnSpc>
              <a:spcBef>
                <a:spcPts val="360"/>
              </a:spcBef>
              <a:spcAft>
                <a:spcPts val="0"/>
              </a:spcAft>
              <a:buSzPts val="1200"/>
              <a:buChar char="•"/>
              <a:defRPr sz="1200"/>
            </a:lvl8pPr>
            <a:lvl9pPr indent="-304800" lvl="8" marL="4114800" algn="l">
              <a:lnSpc>
                <a:spcPct val="100000"/>
              </a:lnSpc>
              <a:spcBef>
                <a:spcPts val="360"/>
              </a:spcBef>
              <a:spcAft>
                <a:spcPts val="0"/>
              </a:spcAft>
              <a:buSzPts val="1200"/>
              <a:buChar char="•"/>
              <a:defRPr sz="1200"/>
            </a:lvl9pPr>
          </a:lstStyle>
          <a:p/>
        </p:txBody>
      </p:sp>
      <p:sp>
        <p:nvSpPr>
          <p:cNvPr id="106" name="Google Shape;106;p10"/>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0"/>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0"/>
          <p:cNvSpPr txBox="1"/>
          <p:nvPr>
            <p:ph idx="12" type="sldNum"/>
          </p:nvPr>
        </p:nvSpPr>
        <p:spPr>
          <a:xfrm>
            <a:off x="8077200" y="6356350"/>
            <a:ext cx="6096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
        <p:nvSpPr>
          <p:cNvPr id="109" name="Google Shape;109;p10"/>
          <p:cNvSpPr/>
          <p:nvPr>
            <p:ph idx="2" type="pic"/>
          </p:nvPr>
        </p:nvSpPr>
        <p:spPr>
          <a:xfrm rot="420005">
            <a:off x="4433574" y="1993209"/>
            <a:ext cx="3771211" cy="3210821"/>
          </a:xfrm>
          <a:prstGeom prst="rect">
            <a:avLst/>
          </a:prstGeom>
          <a:solidFill>
            <a:schemeClr val="lt2"/>
          </a:solidFill>
          <a:ln cap="rnd" cmpd="sng" w="9525">
            <a:solidFill>
              <a:srgbClr val="C0C0C0"/>
            </a:solidFill>
            <a:prstDash val="solid"/>
            <a:round/>
            <a:headEnd len="sm" w="sm" type="none"/>
            <a:tailEnd len="sm" w="sm" type="none"/>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0" name="Shape 110"/>
        <p:cNvGrpSpPr/>
        <p:nvPr/>
      </p:nvGrpSpPr>
      <p:grpSpPr>
        <a:xfrm>
          <a:off x="0" y="0"/>
          <a:ext cx="0" cy="0"/>
          <a:chOff x="0" y="0"/>
          <a:chExt cx="0" cy="0"/>
        </a:xfrm>
      </p:grpSpPr>
      <p:sp>
        <p:nvSpPr>
          <p:cNvPr id="111" name="Google Shape;111;p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1"/>
          <p:cNvSpPr txBox="1"/>
          <p:nvPr>
            <p:ph idx="1" type="body"/>
          </p:nvPr>
        </p:nvSpPr>
        <p:spPr>
          <a:xfrm rot="5400000">
            <a:off x="2377500" y="15180"/>
            <a:ext cx="4389000" cy="82296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3" name="Google Shape;113;p1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6" name="Shape 116"/>
        <p:cNvGrpSpPr/>
        <p:nvPr/>
      </p:nvGrpSpPr>
      <p:grpSpPr>
        <a:xfrm>
          <a:off x="0" y="0"/>
          <a:ext cx="0" cy="0"/>
          <a:chOff x="0" y="0"/>
          <a:chExt cx="0" cy="0"/>
        </a:xfrm>
      </p:grpSpPr>
      <p:sp>
        <p:nvSpPr>
          <p:cNvPr id="117" name="Google Shape;117;p12"/>
          <p:cNvSpPr txBox="1"/>
          <p:nvPr>
            <p:ph type="title"/>
          </p:nvPr>
        </p:nvSpPr>
        <p:spPr>
          <a:xfrm rot="5400000">
            <a:off x="5052150" y="2491651"/>
            <a:ext cx="5211900" cy="20574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12"/>
          <p:cNvSpPr txBox="1"/>
          <p:nvPr>
            <p:ph idx="1" type="body"/>
          </p:nvPr>
        </p:nvSpPr>
        <p:spPr>
          <a:xfrm rot="5400000">
            <a:off x="861150" y="510451"/>
            <a:ext cx="5211900" cy="60198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9" name="Google Shape;119;p12"/>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2"/>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2"/>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2" ty="0" sy="65002"/>
        </a:blipFill>
      </p:bgPr>
    </p:bg>
    <p:spTree>
      <p:nvGrpSpPr>
        <p:cNvPr id="9" name="Shape 9"/>
        <p:cNvGrpSpPr/>
        <p:nvPr/>
      </p:nvGrpSpPr>
      <p:grpSpPr>
        <a:xfrm>
          <a:off x="0" y="0"/>
          <a:ext cx="0" cy="0"/>
          <a:chOff x="0" y="0"/>
          <a:chExt cx="0" cy="0"/>
        </a:xfrm>
      </p:grpSpPr>
      <p:grpSp>
        <p:nvGrpSpPr>
          <p:cNvPr id="10" name="Google Shape;10;p1"/>
          <p:cNvGrpSpPr/>
          <p:nvPr/>
        </p:nvGrpSpPr>
        <p:grpSpPr>
          <a:xfrm>
            <a:off x="7600939" y="3"/>
            <a:ext cx="1542914" cy="1371650"/>
            <a:chOff x="6098378" y="5"/>
            <a:chExt cx="3045625" cy="2030570"/>
          </a:xfrm>
        </p:grpSpPr>
        <p:sp>
          <p:nvSpPr>
            <p:cNvPr id="11" name="Google Shape;11;p1"/>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 name="Google Shape;16;p1"/>
          <p:cNvGrpSpPr/>
          <p:nvPr/>
        </p:nvGrpSpPr>
        <p:grpSpPr>
          <a:xfrm>
            <a:off x="-2" y="6104998"/>
            <a:ext cx="9144070" cy="752890"/>
            <a:chOff x="-10935211" y="3903669"/>
            <a:chExt cx="20079206" cy="1239937"/>
          </a:xfrm>
        </p:grpSpPr>
        <p:sp>
          <p:nvSpPr>
            <p:cNvPr id="17" name="Google Shape;17;p1"/>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
            <p:cNvSpPr/>
            <p:nvPr/>
          </p:nvSpPr>
          <p:spPr>
            <a:xfrm>
              <a:off x="-10935211" y="4891606"/>
              <a:ext cx="200790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lnSpc>
                <a:spcPct val="100000"/>
              </a:lnSpc>
              <a:spcBef>
                <a:spcPts val="0"/>
              </a:spcBef>
              <a:spcAft>
                <a:spcPts val="0"/>
              </a:spcAft>
              <a:buClr>
                <a:srgbClr val="0B5394"/>
              </a:buClr>
              <a:buSzPts val="5000"/>
              <a:buFont typeface="Calibri"/>
              <a:buNone/>
              <a:defRPr b="0" i="0" sz="5000" u="none" cap="none" strike="noStrike">
                <a:solidFill>
                  <a:srgbClr val="0B5394"/>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1"/>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85445" lvl="0" marL="457200" marR="0" rtl="0" algn="l">
              <a:lnSpc>
                <a:spcPct val="100000"/>
              </a:lnSpc>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lnSpc>
                <a:spcPct val="100000"/>
              </a:lnSpc>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5" lvl="2" marL="1371600" marR="0" rtl="0" algn="l">
              <a:lnSpc>
                <a:spcPct val="100000"/>
              </a:lnSpc>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lnSpc>
                <a:spcPct val="100000"/>
              </a:lnSpc>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lnSpc>
                <a:spcPct val="100000"/>
              </a:lnSpc>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40" lvl="5" marL="2743200" marR="0" rtl="0" algn="l">
              <a:lnSpc>
                <a:spcPct val="100000"/>
              </a:lnSpc>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80" lvl="6" marL="3200400" marR="0" rtl="0" algn="l">
              <a:lnSpc>
                <a:spcPct val="100000"/>
              </a:lnSpc>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lnSpc>
                <a:spcPct val="100000"/>
              </a:lnSpc>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lnSpc>
                <a:spcPct val="100000"/>
              </a:lnSpc>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24" name="Google Shape;24;p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5" name="Google Shape;25;p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6" name="Google Shape;26;p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3"/>
          <p:cNvSpPr txBox="1"/>
          <p:nvPr>
            <p:ph type="ctrTitle"/>
          </p:nvPr>
        </p:nvSpPr>
        <p:spPr>
          <a:xfrm>
            <a:off x="533400" y="1371600"/>
            <a:ext cx="6543300" cy="1828800"/>
          </a:xfrm>
          <a:prstGeom prst="rect">
            <a:avLst/>
          </a:prstGeom>
          <a:noFill/>
          <a:ln>
            <a:noFill/>
          </a:ln>
        </p:spPr>
        <p:txBody>
          <a:bodyPr anchorCtr="0" anchor="b" bIns="0" lIns="0" spcFirstLastPara="1" rIns="18275" wrap="square" tIns="0">
            <a:normAutofit/>
          </a:bodyPr>
          <a:lstStyle/>
          <a:p>
            <a:pPr indent="0" lvl="0" marL="0" rtl="0" algn="r">
              <a:lnSpc>
                <a:spcPct val="100000"/>
              </a:lnSpc>
              <a:spcBef>
                <a:spcPts val="0"/>
              </a:spcBef>
              <a:spcAft>
                <a:spcPts val="0"/>
              </a:spcAft>
              <a:buClr>
                <a:srgbClr val="4CE0EA"/>
              </a:buClr>
              <a:buSzPts val="5600"/>
              <a:buFont typeface="Calibri"/>
              <a:buNone/>
            </a:pPr>
            <a:r>
              <a:rPr lang="en-US"/>
              <a:t>Lecture 10:</a:t>
            </a:r>
            <a:endParaRPr/>
          </a:p>
          <a:p>
            <a:pPr indent="0" lvl="0" marL="0" rtl="0" algn="r">
              <a:lnSpc>
                <a:spcPct val="100000"/>
              </a:lnSpc>
              <a:spcBef>
                <a:spcPts val="0"/>
              </a:spcBef>
              <a:spcAft>
                <a:spcPts val="0"/>
              </a:spcAft>
              <a:buClr>
                <a:srgbClr val="4CE0EA"/>
              </a:buClr>
              <a:buSzPts val="5600"/>
              <a:buFont typeface="Calibri"/>
              <a:buNone/>
            </a:pPr>
            <a:r>
              <a:rPr lang="en-US"/>
              <a:t>Set Operations</a:t>
            </a:r>
            <a:endParaRPr/>
          </a:p>
        </p:txBody>
      </p:sp>
      <p:sp>
        <p:nvSpPr>
          <p:cNvPr id="127" name="Google Shape;127;p13"/>
          <p:cNvSpPr txBox="1"/>
          <p:nvPr>
            <p:ph idx="1" type="subTitle"/>
          </p:nvPr>
        </p:nvSpPr>
        <p:spPr>
          <a:xfrm>
            <a:off x="533400" y="3228530"/>
            <a:ext cx="6545700" cy="17526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SzPts val="2470"/>
              <a:buNone/>
            </a:pPr>
            <a:r>
              <a:rPr lang="en-US">
                <a:latin typeface="Cambria Math"/>
                <a:ea typeface="Cambria Math"/>
                <a:cs typeface="Cambria Math"/>
                <a:sym typeface="Cambria Math"/>
              </a:rPr>
              <a:t>Section 2.2</a:t>
            </a:r>
            <a:endParaRPr>
              <a:latin typeface="Cambria Math"/>
              <a:ea typeface="Cambria Math"/>
              <a:cs typeface="Cambria Math"/>
              <a:sym typeface="Cambria Math"/>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Section Summary</a:t>
            </a:r>
            <a:endParaRPr/>
          </a:p>
        </p:txBody>
      </p:sp>
      <p:sp>
        <p:nvSpPr>
          <p:cNvPr id="133" name="Google Shape;133;p14"/>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Font typeface="Cambria Math"/>
              <a:buChar char="●"/>
            </a:pPr>
            <a:r>
              <a:rPr lang="en-US">
                <a:latin typeface="Cambria Math"/>
                <a:ea typeface="Cambria Math"/>
                <a:cs typeface="Cambria Math"/>
                <a:sym typeface="Cambria Math"/>
              </a:rPr>
              <a:t>Set Operations</a:t>
            </a:r>
            <a:endParaRPr>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Font typeface="Cambria Math"/>
              <a:buChar char="○"/>
            </a:pPr>
            <a:r>
              <a:rPr lang="en-US">
                <a:latin typeface="Cambria Math"/>
                <a:ea typeface="Cambria Math"/>
                <a:cs typeface="Cambria Math"/>
                <a:sym typeface="Cambria Math"/>
              </a:rPr>
              <a:t>Union</a:t>
            </a:r>
            <a:endParaRPr>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Font typeface="Cambria Math"/>
              <a:buChar char="○"/>
            </a:pPr>
            <a:r>
              <a:rPr lang="en-US">
                <a:latin typeface="Cambria Math"/>
                <a:ea typeface="Cambria Math"/>
                <a:cs typeface="Cambria Math"/>
                <a:sym typeface="Cambria Math"/>
              </a:rPr>
              <a:t>Intersection</a:t>
            </a:r>
            <a:endParaRPr>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Font typeface="Cambria Math"/>
              <a:buChar char="○"/>
            </a:pPr>
            <a:r>
              <a:rPr lang="en-US">
                <a:latin typeface="Cambria Math"/>
                <a:ea typeface="Cambria Math"/>
                <a:cs typeface="Cambria Math"/>
                <a:sym typeface="Cambria Math"/>
              </a:rPr>
              <a:t>Complementation</a:t>
            </a:r>
            <a:endParaRPr>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Font typeface="Cambria Math"/>
              <a:buChar char="○"/>
            </a:pPr>
            <a:r>
              <a:rPr lang="en-US">
                <a:latin typeface="Cambria Math"/>
                <a:ea typeface="Cambria Math"/>
                <a:cs typeface="Cambria Math"/>
                <a:sym typeface="Cambria Math"/>
              </a:rPr>
              <a:t>Difference</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Font typeface="Cambria Math"/>
              <a:buChar char="●"/>
            </a:pPr>
            <a:r>
              <a:rPr lang="en-US">
                <a:latin typeface="Cambria Math"/>
                <a:ea typeface="Cambria Math"/>
                <a:cs typeface="Cambria Math"/>
                <a:sym typeface="Cambria Math"/>
              </a:rPr>
              <a:t>Set Cardinality: Inclusion, Exclusion</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Font typeface="Cambria Math"/>
              <a:buChar char="●"/>
            </a:pPr>
            <a:r>
              <a:rPr lang="en-US">
                <a:latin typeface="Cambria Math"/>
                <a:ea typeface="Cambria Math"/>
                <a:cs typeface="Cambria Math"/>
                <a:sym typeface="Cambria Math"/>
              </a:rPr>
              <a:t>Set Identities</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Font typeface="Cambria Math"/>
              <a:buChar char="●"/>
            </a:pPr>
            <a:r>
              <a:rPr lang="en-US">
                <a:latin typeface="Cambria Math"/>
                <a:ea typeface="Cambria Math"/>
                <a:cs typeface="Cambria Math"/>
                <a:sym typeface="Cambria Math"/>
              </a:rPr>
              <a:t>Proving Identities</a:t>
            </a:r>
            <a:endParaRPr>
              <a:latin typeface="Cambria Math"/>
              <a:ea typeface="Cambria Math"/>
              <a:cs typeface="Cambria Math"/>
              <a:sym typeface="Cambria Math"/>
            </a:endParaRPr>
          </a:p>
          <a:p>
            <a:pPr indent="0" lvl="0" marL="0" rtl="0" algn="l">
              <a:lnSpc>
                <a:spcPct val="100000"/>
              </a:lnSpc>
              <a:spcBef>
                <a:spcPts val="520"/>
              </a:spcBef>
              <a:spcAft>
                <a:spcPts val="0"/>
              </a:spcAft>
              <a:buSzPts val="1710"/>
              <a:buNone/>
            </a:pPr>
            <a:r>
              <a:t/>
            </a:r>
            <a:endParaRPr>
              <a:latin typeface="Cambria Math"/>
              <a:ea typeface="Cambria Math"/>
              <a:cs typeface="Cambria Math"/>
              <a:sym typeface="Cambria Math"/>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Union</a:t>
            </a:r>
            <a:endParaRPr/>
          </a:p>
        </p:txBody>
      </p:sp>
      <p:sp>
        <p:nvSpPr>
          <p:cNvPr id="139" name="Google Shape;139;p15"/>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b="1" lang="en-US">
                <a:latin typeface="Cambria Math"/>
                <a:ea typeface="Cambria Math"/>
                <a:cs typeface="Cambria Math"/>
                <a:sym typeface="Cambria Math"/>
              </a:rPr>
              <a:t>Definition</a:t>
            </a:r>
            <a:r>
              <a:rPr lang="en-US">
                <a:latin typeface="Cambria Math"/>
                <a:ea typeface="Cambria Math"/>
                <a:cs typeface="Cambria Math"/>
                <a:sym typeface="Cambria Math"/>
              </a:rPr>
              <a:t>: Let </a:t>
            </a:r>
            <a:r>
              <a:rPr i="1" lang="en-US">
                <a:latin typeface="Cambria Math"/>
                <a:ea typeface="Cambria Math"/>
                <a:cs typeface="Cambria Math"/>
                <a:sym typeface="Cambria Math"/>
              </a:rPr>
              <a:t>A</a:t>
            </a:r>
            <a:r>
              <a:rPr lang="en-US">
                <a:latin typeface="Cambria Math"/>
                <a:ea typeface="Cambria Math"/>
                <a:cs typeface="Cambria Math"/>
                <a:sym typeface="Cambria Math"/>
              </a:rPr>
              <a:t> and </a:t>
            </a:r>
            <a:r>
              <a:rPr i="1" lang="en-US">
                <a:latin typeface="Cambria Math"/>
                <a:ea typeface="Cambria Math"/>
                <a:cs typeface="Cambria Math"/>
                <a:sym typeface="Cambria Math"/>
              </a:rPr>
              <a:t>B</a:t>
            </a:r>
            <a:r>
              <a:rPr lang="en-US">
                <a:latin typeface="Cambria Math"/>
                <a:ea typeface="Cambria Math"/>
                <a:cs typeface="Cambria Math"/>
                <a:sym typeface="Cambria Math"/>
              </a:rPr>
              <a:t> be sets. The </a:t>
            </a:r>
            <a:r>
              <a:rPr i="1" lang="en-US">
                <a:latin typeface="Cambria Math"/>
                <a:ea typeface="Cambria Math"/>
                <a:cs typeface="Cambria Math"/>
                <a:sym typeface="Cambria Math"/>
              </a:rPr>
              <a:t>union</a:t>
            </a:r>
            <a:r>
              <a:rPr lang="en-US">
                <a:latin typeface="Cambria Math"/>
                <a:ea typeface="Cambria Math"/>
                <a:cs typeface="Cambria Math"/>
                <a:sym typeface="Cambria Math"/>
              </a:rPr>
              <a:t> of the sets </a:t>
            </a:r>
            <a:r>
              <a:rPr i="1" lang="en-US">
                <a:latin typeface="Cambria Math"/>
                <a:ea typeface="Cambria Math"/>
                <a:cs typeface="Cambria Math"/>
                <a:sym typeface="Cambria Math"/>
              </a:rPr>
              <a:t>A</a:t>
            </a:r>
            <a:r>
              <a:rPr lang="en-US">
                <a:latin typeface="Cambria Math"/>
                <a:ea typeface="Cambria Math"/>
                <a:cs typeface="Cambria Math"/>
                <a:sym typeface="Cambria Math"/>
              </a:rPr>
              <a:t> and </a:t>
            </a:r>
            <a:r>
              <a:rPr i="1" lang="en-US">
                <a:latin typeface="Cambria Math"/>
                <a:ea typeface="Cambria Math"/>
                <a:cs typeface="Cambria Math"/>
                <a:sym typeface="Cambria Math"/>
              </a:rPr>
              <a:t>B</a:t>
            </a:r>
            <a:r>
              <a:rPr lang="en-US">
                <a:latin typeface="Cambria Math"/>
                <a:ea typeface="Cambria Math"/>
                <a:cs typeface="Cambria Math"/>
                <a:sym typeface="Cambria Math"/>
              </a:rPr>
              <a:t>, denoted by </a:t>
            </a:r>
            <a:r>
              <a:rPr i="1" lang="en-US">
                <a:latin typeface="Cambria Math"/>
                <a:ea typeface="Cambria Math"/>
                <a:cs typeface="Cambria Math"/>
                <a:sym typeface="Cambria Math"/>
              </a:rPr>
              <a:t>A</a:t>
            </a:r>
            <a:r>
              <a:rPr b="1" lang="en-US">
                <a:latin typeface="Cambria Math"/>
                <a:ea typeface="Cambria Math"/>
                <a:cs typeface="Cambria Math"/>
                <a:sym typeface="Cambria Math"/>
              </a:rPr>
              <a:t> </a:t>
            </a:r>
            <a:r>
              <a:rPr lang="en-US">
                <a:latin typeface="Cambria Math"/>
                <a:ea typeface="Cambria Math"/>
                <a:cs typeface="Cambria Math"/>
                <a:sym typeface="Cambria Math"/>
              </a:rPr>
              <a:t>∪ </a:t>
            </a:r>
            <a:r>
              <a:rPr i="1" lang="en-US">
                <a:latin typeface="Cambria Math"/>
                <a:ea typeface="Cambria Math"/>
                <a:cs typeface="Cambria Math"/>
                <a:sym typeface="Cambria Math"/>
              </a:rPr>
              <a:t>B, </a:t>
            </a:r>
            <a:r>
              <a:rPr lang="en-US">
                <a:latin typeface="Cambria Math"/>
                <a:ea typeface="Cambria Math"/>
                <a:cs typeface="Cambria Math"/>
                <a:sym typeface="Cambria Math"/>
              </a:rPr>
              <a:t> is the set: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Char char="●"/>
            </a:pPr>
            <a:r>
              <a:rPr b="1" lang="en-US">
                <a:latin typeface="Cambria Math"/>
                <a:ea typeface="Cambria Math"/>
                <a:cs typeface="Cambria Math"/>
                <a:sym typeface="Cambria Math"/>
              </a:rPr>
              <a:t>Example</a:t>
            </a:r>
            <a:r>
              <a:rPr lang="en-US">
                <a:latin typeface="Cambria Math"/>
                <a:ea typeface="Cambria Math"/>
                <a:cs typeface="Cambria Math"/>
                <a:sym typeface="Cambria Math"/>
              </a:rPr>
              <a:t>: What is   {1,2,3}  ∪ {3, 4, 5}?</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t>
            </a:r>
            <a:r>
              <a:rPr b="1" lang="en-US">
                <a:latin typeface="Cambria Math"/>
                <a:ea typeface="Cambria Math"/>
                <a:cs typeface="Cambria Math"/>
                <a:sym typeface="Cambria Math"/>
              </a:rPr>
              <a:t>Solution</a:t>
            </a:r>
            <a:r>
              <a:rPr lang="en-US">
                <a:latin typeface="Cambria Math"/>
                <a:ea typeface="Cambria Math"/>
                <a:cs typeface="Cambria Math"/>
                <a:sym typeface="Cambria Math"/>
              </a:rPr>
              <a:t>: {1,2,3,4,5}</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t>
            </a:r>
            <a:r>
              <a:rPr lang="en-US" sz="2400">
                <a:latin typeface="Cambria Math"/>
                <a:ea typeface="Cambria Math"/>
                <a:cs typeface="Cambria Math"/>
                <a:sym typeface="Cambria Math"/>
              </a:rPr>
              <a:t>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t>
            </a:r>
            <a:endParaRPr>
              <a:latin typeface="Cambria Math"/>
              <a:ea typeface="Cambria Math"/>
              <a:cs typeface="Cambria Math"/>
              <a:sym typeface="Cambria Math"/>
            </a:endParaRPr>
          </a:p>
        </p:txBody>
      </p:sp>
      <p:pic>
        <p:nvPicPr>
          <p:cNvPr descr="addin_tmp.png" id="140" name="Google Shape;140;p15"/>
          <p:cNvPicPr preferRelativeResize="0"/>
          <p:nvPr/>
        </p:nvPicPr>
        <p:blipFill rotWithShape="1">
          <a:blip r:embed="rId3">
            <a:alphaModFix/>
          </a:blip>
          <a:srcRect b="0" l="0" r="0" t="0"/>
          <a:stretch/>
        </p:blipFill>
        <p:spPr>
          <a:xfrm>
            <a:off x="1811626" y="2971800"/>
            <a:ext cx="4127251" cy="382900"/>
          </a:xfrm>
          <a:prstGeom prst="rect">
            <a:avLst/>
          </a:prstGeom>
          <a:noFill/>
          <a:ln>
            <a:noFill/>
          </a:ln>
        </p:spPr>
      </p:pic>
      <p:sp>
        <p:nvSpPr>
          <p:cNvPr id="141" name="Google Shape;141;p15"/>
          <p:cNvSpPr txBox="1"/>
          <p:nvPr/>
        </p:nvSpPr>
        <p:spPr>
          <a:xfrm>
            <a:off x="5715000" y="4267200"/>
            <a:ext cx="2743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Venn Diagram for </a:t>
            </a:r>
            <a:r>
              <a:rPr b="0" i="1" lang="en-US" sz="1800" u="none" cap="none" strike="noStrike">
                <a:solidFill>
                  <a:schemeClr val="dk1"/>
                </a:solidFill>
                <a:latin typeface="Constantia"/>
                <a:ea typeface="Constantia"/>
                <a:cs typeface="Constantia"/>
                <a:sym typeface="Constantia"/>
              </a:rPr>
              <a:t>A</a:t>
            </a:r>
            <a:r>
              <a:rPr b="0" i="0" lang="en-US" sz="1800" u="none" cap="none" strike="noStrike">
                <a:solidFill>
                  <a:schemeClr val="dk1"/>
                </a:solidFill>
                <a:latin typeface="Cambria Math"/>
                <a:ea typeface="Cambria Math"/>
                <a:cs typeface="Cambria Math"/>
                <a:sym typeface="Cambria Math"/>
              </a:rPr>
              <a:t> ∪ </a:t>
            </a:r>
            <a:r>
              <a:rPr b="0" i="1" lang="en-US" sz="1800" u="none" cap="none" strike="noStrike">
                <a:solidFill>
                  <a:schemeClr val="dk1"/>
                </a:solidFill>
                <a:latin typeface="Cambria Math"/>
                <a:ea typeface="Cambria Math"/>
                <a:cs typeface="Cambria Math"/>
                <a:sym typeface="Cambria Math"/>
              </a:rPr>
              <a:t>B</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grpSp>
        <p:nvGrpSpPr>
          <p:cNvPr id="142" name="Google Shape;142;p15"/>
          <p:cNvGrpSpPr/>
          <p:nvPr/>
        </p:nvGrpSpPr>
        <p:grpSpPr>
          <a:xfrm>
            <a:off x="5372096" y="4636507"/>
            <a:ext cx="3429000" cy="1447800"/>
            <a:chOff x="5562600" y="4724400"/>
            <a:chExt cx="3429000" cy="1447800"/>
          </a:xfrm>
        </p:grpSpPr>
        <p:sp>
          <p:nvSpPr>
            <p:cNvPr id="143" name="Google Shape;143;p15"/>
            <p:cNvSpPr txBox="1"/>
            <p:nvPr/>
          </p:nvSpPr>
          <p:spPr>
            <a:xfrm>
              <a:off x="8153400" y="4800600"/>
              <a:ext cx="838200" cy="37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sp>
          <p:nvSpPr>
            <p:cNvPr id="144" name="Google Shape;144;p15"/>
            <p:cNvSpPr txBox="1"/>
            <p:nvPr/>
          </p:nvSpPr>
          <p:spPr>
            <a:xfrm>
              <a:off x="6248400" y="5181600"/>
              <a:ext cx="381000" cy="37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145" name="Google Shape;145;p15"/>
            <p:cNvSpPr txBox="1"/>
            <p:nvPr/>
          </p:nvSpPr>
          <p:spPr>
            <a:xfrm>
              <a:off x="7467600" y="5257800"/>
              <a:ext cx="381000" cy="37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B</a:t>
              </a:r>
              <a:endParaRPr b="0" i="1" sz="1800" u="none" cap="none" strike="noStrike">
                <a:solidFill>
                  <a:schemeClr val="dk1"/>
                </a:solidFill>
                <a:latin typeface="Constantia"/>
                <a:ea typeface="Constantia"/>
                <a:cs typeface="Constantia"/>
                <a:sym typeface="Constantia"/>
              </a:endParaRPr>
            </a:p>
          </p:txBody>
        </p:sp>
        <p:grpSp>
          <p:nvGrpSpPr>
            <p:cNvPr id="146" name="Google Shape;146;p15"/>
            <p:cNvGrpSpPr/>
            <p:nvPr/>
          </p:nvGrpSpPr>
          <p:grpSpPr>
            <a:xfrm>
              <a:off x="5562600" y="4724400"/>
              <a:ext cx="2971800" cy="1447800"/>
              <a:chOff x="5562600" y="4724400"/>
              <a:chExt cx="2971800" cy="1447800"/>
            </a:xfrm>
          </p:grpSpPr>
          <p:sp>
            <p:nvSpPr>
              <p:cNvPr id="147" name="Google Shape;147;p15"/>
              <p:cNvSpPr/>
              <p:nvPr/>
            </p:nvSpPr>
            <p:spPr>
              <a:xfrm>
                <a:off x="5562600" y="47244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148" name="Google Shape;148;p15"/>
              <p:cNvGrpSpPr/>
              <p:nvPr/>
            </p:nvGrpSpPr>
            <p:grpSpPr>
              <a:xfrm>
                <a:off x="6096000" y="5029200"/>
                <a:ext cx="1905000" cy="990600"/>
                <a:chOff x="6096000" y="5029200"/>
                <a:chExt cx="1905000" cy="990600"/>
              </a:xfrm>
            </p:grpSpPr>
            <p:sp>
              <p:nvSpPr>
                <p:cNvPr id="149" name="Google Shape;149;p15"/>
                <p:cNvSpPr/>
                <p:nvPr/>
              </p:nvSpPr>
              <p:spPr>
                <a:xfrm>
                  <a:off x="6096000" y="5029200"/>
                  <a:ext cx="1219200" cy="990600"/>
                </a:xfrm>
                <a:prstGeom prst="ellipse">
                  <a:avLst/>
                </a:prstGeom>
                <a:gradFill>
                  <a:gsLst>
                    <a:gs pos="0">
                      <a:srgbClr val="89AAED">
                        <a:alpha val="0"/>
                      </a:srgbClr>
                    </a:gs>
                    <a:gs pos="50000">
                      <a:srgbClr val="B7C9F3"/>
                    </a:gs>
                    <a:gs pos="100000">
                      <a:srgbClr val="DCE4F8"/>
                    </a:gs>
                  </a:gsLst>
                  <a:lin ang="5400012" scaled="0"/>
                </a:gra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50" name="Google Shape;150;p15"/>
                <p:cNvSpPr/>
                <p:nvPr/>
              </p:nvSpPr>
              <p:spPr>
                <a:xfrm>
                  <a:off x="6781800" y="5029200"/>
                  <a:ext cx="1219200" cy="990600"/>
                </a:xfrm>
                <a:prstGeom prst="ellipse">
                  <a:avLst/>
                </a:prstGeom>
                <a:gradFill>
                  <a:gsLst>
                    <a:gs pos="0">
                      <a:srgbClr val="89AAED">
                        <a:alpha val="0"/>
                      </a:srgbClr>
                    </a:gs>
                    <a:gs pos="50000">
                      <a:srgbClr val="B7C9F3"/>
                    </a:gs>
                    <a:gs pos="100000">
                      <a:srgbClr val="DCE4F8"/>
                    </a:gs>
                  </a:gsLst>
                  <a:lin ang="5400012" scaled="0"/>
                </a:gra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Intersection</a:t>
            </a:r>
            <a:endParaRPr/>
          </a:p>
        </p:txBody>
      </p:sp>
      <p:sp>
        <p:nvSpPr>
          <p:cNvPr id="156" name="Google Shape;156;p16"/>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61619" lvl="0" marL="274320" rtl="0" algn="l">
              <a:lnSpc>
                <a:spcPct val="90000"/>
              </a:lnSpc>
              <a:spcBef>
                <a:spcPts val="0"/>
              </a:spcBef>
              <a:spcAft>
                <a:spcPts val="0"/>
              </a:spcAft>
              <a:buSzPts val="2270"/>
              <a:buChar char="●"/>
            </a:pPr>
            <a:r>
              <a:rPr b="1" lang="en-US" sz="2400">
                <a:latin typeface="Cambria Math"/>
                <a:ea typeface="Cambria Math"/>
                <a:cs typeface="Cambria Math"/>
                <a:sym typeface="Cambria Math"/>
              </a:rPr>
              <a:t>Definition</a:t>
            </a:r>
            <a:r>
              <a:rPr lang="en-US" sz="2400">
                <a:latin typeface="Cambria Math"/>
                <a:ea typeface="Cambria Math"/>
                <a:cs typeface="Cambria Math"/>
                <a:sym typeface="Cambria Math"/>
              </a:rPr>
              <a:t>:  The </a:t>
            </a:r>
            <a:r>
              <a:rPr i="1" lang="en-US" sz="2400">
                <a:latin typeface="Cambria Math"/>
                <a:ea typeface="Cambria Math"/>
                <a:cs typeface="Cambria Math"/>
                <a:sym typeface="Cambria Math"/>
              </a:rPr>
              <a:t>intersection</a:t>
            </a:r>
            <a:r>
              <a:rPr lang="en-US" sz="2400">
                <a:latin typeface="Cambria Math"/>
                <a:ea typeface="Cambria Math"/>
                <a:cs typeface="Cambria Math"/>
                <a:sym typeface="Cambria Math"/>
              </a:rPr>
              <a:t> of sets </a:t>
            </a:r>
            <a:r>
              <a:rPr i="1" lang="en-US" sz="2400">
                <a:latin typeface="Cambria Math"/>
                <a:ea typeface="Cambria Math"/>
                <a:cs typeface="Cambria Math"/>
                <a:sym typeface="Cambria Math"/>
              </a:rPr>
              <a:t>A</a:t>
            </a:r>
            <a:r>
              <a:rPr lang="en-US" sz="2400">
                <a:latin typeface="Cambria Math"/>
                <a:ea typeface="Cambria Math"/>
                <a:cs typeface="Cambria Math"/>
                <a:sym typeface="Cambria Math"/>
              </a:rPr>
              <a:t> and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denoted by      </a:t>
            </a:r>
            <a:r>
              <a:rPr i="1" lang="en-US" sz="2400">
                <a:latin typeface="Cambria Math"/>
                <a:ea typeface="Cambria Math"/>
                <a:cs typeface="Cambria Math"/>
                <a:sym typeface="Cambria Math"/>
              </a:rPr>
              <a:t>A </a:t>
            </a:r>
            <a:r>
              <a:rPr lang="en-US" sz="2400">
                <a:latin typeface="Cambria Math"/>
                <a:ea typeface="Cambria Math"/>
                <a:cs typeface="Cambria Math"/>
                <a:sym typeface="Cambria Math"/>
              </a:rPr>
              <a:t>∩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is</a:t>
            </a:r>
            <a:endParaRPr sz="2400">
              <a:latin typeface="Cambria Math"/>
              <a:ea typeface="Cambria Math"/>
              <a:cs typeface="Cambria Math"/>
              <a:sym typeface="Cambria Math"/>
            </a:endParaRPr>
          </a:p>
          <a:p>
            <a:pPr indent="-117475" lvl="0" marL="274320" rtl="0" algn="l">
              <a:lnSpc>
                <a:spcPct val="90000"/>
              </a:lnSpc>
              <a:spcBef>
                <a:spcPts val="520"/>
              </a:spcBef>
              <a:spcAft>
                <a:spcPts val="0"/>
              </a:spcAft>
              <a:buSzPts val="2470"/>
              <a:buNone/>
            </a:pPr>
            <a:r>
              <a:t/>
            </a:r>
            <a:endParaRPr sz="2400">
              <a:latin typeface="Cambria Math"/>
              <a:ea typeface="Cambria Math"/>
              <a:cs typeface="Cambria Math"/>
              <a:sym typeface="Cambria Math"/>
            </a:endParaRPr>
          </a:p>
          <a:p>
            <a:pPr indent="-261619" lvl="0" marL="274320" rtl="0" algn="l">
              <a:lnSpc>
                <a:spcPct val="90000"/>
              </a:lnSpc>
              <a:spcBef>
                <a:spcPts val="520"/>
              </a:spcBef>
              <a:spcAft>
                <a:spcPts val="0"/>
              </a:spcAft>
              <a:buSzPts val="2270"/>
              <a:buChar char="●"/>
            </a:pPr>
            <a:r>
              <a:rPr lang="en-US" sz="2400">
                <a:latin typeface="Cambria Math"/>
                <a:ea typeface="Cambria Math"/>
                <a:cs typeface="Cambria Math"/>
                <a:sym typeface="Cambria Math"/>
              </a:rPr>
              <a:t>Note if the intersection is empty, then </a:t>
            </a:r>
            <a:r>
              <a:rPr i="1" lang="en-US" sz="2400">
                <a:latin typeface="Cambria Math"/>
                <a:ea typeface="Cambria Math"/>
                <a:cs typeface="Cambria Math"/>
                <a:sym typeface="Cambria Math"/>
              </a:rPr>
              <a:t>A</a:t>
            </a:r>
            <a:r>
              <a:rPr b="1" lang="en-US" sz="2400">
                <a:latin typeface="Cambria Math"/>
                <a:ea typeface="Cambria Math"/>
                <a:cs typeface="Cambria Math"/>
                <a:sym typeface="Cambria Math"/>
              </a:rPr>
              <a:t> </a:t>
            </a:r>
            <a:r>
              <a:rPr lang="en-US" sz="2400">
                <a:latin typeface="Cambria Math"/>
                <a:ea typeface="Cambria Math"/>
                <a:cs typeface="Cambria Math"/>
                <a:sym typeface="Cambria Math"/>
              </a:rPr>
              <a:t>and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are said to be </a:t>
            </a:r>
            <a:r>
              <a:rPr i="1" lang="en-US" sz="2400">
                <a:latin typeface="Cambria Math"/>
                <a:ea typeface="Cambria Math"/>
                <a:cs typeface="Cambria Math"/>
                <a:sym typeface="Cambria Math"/>
              </a:rPr>
              <a:t>disjoint</a:t>
            </a:r>
            <a:r>
              <a:rPr lang="en-US" sz="2400">
                <a:latin typeface="Cambria Math"/>
                <a:ea typeface="Cambria Math"/>
                <a:cs typeface="Cambria Math"/>
                <a:sym typeface="Cambria Math"/>
              </a:rPr>
              <a:t>.</a:t>
            </a:r>
            <a:endParaRPr sz="2400">
              <a:latin typeface="Cambria Math"/>
              <a:ea typeface="Cambria Math"/>
              <a:cs typeface="Cambria Math"/>
              <a:sym typeface="Cambria Math"/>
            </a:endParaRPr>
          </a:p>
          <a:p>
            <a:pPr indent="-261619" lvl="0" marL="274320" rtl="0" algn="l">
              <a:lnSpc>
                <a:spcPct val="90000"/>
              </a:lnSpc>
              <a:spcBef>
                <a:spcPts val="520"/>
              </a:spcBef>
              <a:spcAft>
                <a:spcPts val="0"/>
              </a:spcAft>
              <a:buSzPts val="2270"/>
              <a:buChar char="●"/>
            </a:pPr>
            <a:r>
              <a:rPr b="1" lang="en-US" sz="2400">
                <a:latin typeface="Cambria Math"/>
                <a:ea typeface="Cambria Math"/>
                <a:cs typeface="Cambria Math"/>
                <a:sym typeface="Cambria Math"/>
              </a:rPr>
              <a:t>Example</a:t>
            </a:r>
            <a:r>
              <a:rPr lang="en-US" sz="2400">
                <a:latin typeface="Cambria Math"/>
                <a:ea typeface="Cambria Math"/>
                <a:cs typeface="Cambria Math"/>
                <a:sym typeface="Cambria Math"/>
              </a:rPr>
              <a:t>: What is {1,2,3} ∩ {3,4,5} ? </a:t>
            </a:r>
            <a:endParaRPr sz="2400">
              <a:latin typeface="Cambria Math"/>
              <a:ea typeface="Cambria Math"/>
              <a:cs typeface="Cambria Math"/>
              <a:sym typeface="Cambria Math"/>
            </a:endParaRPr>
          </a:p>
          <a:p>
            <a:pPr indent="-274320" lvl="0" marL="274320" rtl="0" algn="l">
              <a:lnSpc>
                <a:spcPct val="90000"/>
              </a:lnSpc>
              <a:spcBef>
                <a:spcPts val="520"/>
              </a:spcBef>
              <a:spcAft>
                <a:spcPts val="0"/>
              </a:spcAft>
              <a:buSzPts val="2470"/>
              <a:buNone/>
            </a:pPr>
            <a:r>
              <a:rPr lang="en-US" sz="2400">
                <a:latin typeface="Cambria Math"/>
                <a:ea typeface="Cambria Math"/>
                <a:cs typeface="Cambria Math"/>
                <a:sym typeface="Cambria Math"/>
              </a:rPr>
              <a:t>             </a:t>
            </a:r>
            <a:r>
              <a:rPr b="1" lang="en-US" sz="2400">
                <a:latin typeface="Cambria Math"/>
                <a:ea typeface="Cambria Math"/>
                <a:cs typeface="Cambria Math"/>
                <a:sym typeface="Cambria Math"/>
              </a:rPr>
              <a:t>Solution</a:t>
            </a:r>
            <a:r>
              <a:rPr lang="en-US" sz="2400">
                <a:latin typeface="Cambria Math"/>
                <a:ea typeface="Cambria Math"/>
                <a:cs typeface="Cambria Math"/>
                <a:sym typeface="Cambria Math"/>
              </a:rPr>
              <a:t>:   {3}</a:t>
            </a:r>
            <a:endParaRPr sz="2400">
              <a:latin typeface="Cambria Math"/>
              <a:ea typeface="Cambria Math"/>
              <a:cs typeface="Cambria Math"/>
              <a:sym typeface="Cambria Math"/>
            </a:endParaRPr>
          </a:p>
          <a:p>
            <a:pPr indent="-261618" lvl="0" marL="274320" rtl="0" algn="l">
              <a:lnSpc>
                <a:spcPct val="90000"/>
              </a:lnSpc>
              <a:spcBef>
                <a:spcPts val="520"/>
              </a:spcBef>
              <a:spcAft>
                <a:spcPts val="0"/>
              </a:spcAft>
              <a:buSzPts val="2270"/>
              <a:buChar char="●"/>
            </a:pPr>
            <a:r>
              <a:rPr b="1" lang="en-US" sz="2400">
                <a:latin typeface="Cambria Math"/>
                <a:ea typeface="Cambria Math"/>
                <a:cs typeface="Cambria Math"/>
                <a:sym typeface="Cambria Math"/>
              </a:rPr>
              <a:t>Example:</a:t>
            </a:r>
            <a:r>
              <a:rPr lang="en-US" sz="2400">
                <a:latin typeface="Cambria Math"/>
                <a:ea typeface="Cambria Math"/>
                <a:cs typeface="Cambria Math"/>
                <a:sym typeface="Cambria Math"/>
              </a:rPr>
              <a:t>What is {1,2,3} ∩ {4,5,6} ?    </a:t>
            </a:r>
            <a:endParaRPr sz="2400">
              <a:latin typeface="Cambria Math"/>
              <a:ea typeface="Cambria Math"/>
              <a:cs typeface="Cambria Math"/>
              <a:sym typeface="Cambria Math"/>
            </a:endParaRPr>
          </a:p>
          <a:p>
            <a:pPr indent="-274320" lvl="0" marL="274320" rtl="0" algn="l">
              <a:lnSpc>
                <a:spcPct val="90000"/>
              </a:lnSpc>
              <a:spcBef>
                <a:spcPts val="520"/>
              </a:spcBef>
              <a:spcAft>
                <a:spcPts val="0"/>
              </a:spcAft>
              <a:buSzPts val="2470"/>
              <a:buNone/>
            </a:pPr>
            <a:r>
              <a:rPr lang="en-US" sz="2400">
                <a:latin typeface="Cambria Math"/>
                <a:ea typeface="Cambria Math"/>
                <a:cs typeface="Cambria Math"/>
                <a:sym typeface="Cambria Math"/>
              </a:rPr>
              <a:t>             </a:t>
            </a:r>
            <a:r>
              <a:rPr b="1" lang="en-US" sz="2400">
                <a:latin typeface="Cambria Math"/>
                <a:ea typeface="Cambria Math"/>
                <a:cs typeface="Cambria Math"/>
                <a:sym typeface="Cambria Math"/>
              </a:rPr>
              <a:t>Solution</a:t>
            </a:r>
            <a:r>
              <a:rPr lang="en-US" sz="2400">
                <a:latin typeface="Cambria Math"/>
                <a:ea typeface="Cambria Math"/>
                <a:cs typeface="Cambria Math"/>
                <a:sym typeface="Cambria Math"/>
              </a:rPr>
              <a:t>: ∅</a:t>
            </a:r>
            <a:endParaRPr sz="2400">
              <a:latin typeface="Cambria Math"/>
              <a:ea typeface="Cambria Math"/>
              <a:cs typeface="Cambria Math"/>
              <a:sym typeface="Cambria Math"/>
            </a:endParaRPr>
          </a:p>
        </p:txBody>
      </p:sp>
      <p:pic>
        <p:nvPicPr>
          <p:cNvPr descr="addin_tmp.png" id="157" name="Google Shape;157;p16"/>
          <p:cNvPicPr preferRelativeResize="0"/>
          <p:nvPr/>
        </p:nvPicPr>
        <p:blipFill rotWithShape="1">
          <a:blip r:embed="rId3">
            <a:alphaModFix/>
          </a:blip>
          <a:srcRect b="0" l="0" r="0" t="0"/>
          <a:stretch/>
        </p:blipFill>
        <p:spPr>
          <a:xfrm>
            <a:off x="3058950" y="2611534"/>
            <a:ext cx="3026093" cy="382905"/>
          </a:xfrm>
          <a:prstGeom prst="rect">
            <a:avLst/>
          </a:prstGeom>
          <a:noFill/>
          <a:ln>
            <a:noFill/>
          </a:ln>
        </p:spPr>
      </p:pic>
      <p:grpSp>
        <p:nvGrpSpPr>
          <p:cNvPr id="158" name="Google Shape;158;p16"/>
          <p:cNvGrpSpPr/>
          <p:nvPr/>
        </p:nvGrpSpPr>
        <p:grpSpPr>
          <a:xfrm>
            <a:off x="5715000" y="4724400"/>
            <a:ext cx="3429000" cy="1447800"/>
            <a:chOff x="5715000" y="4724400"/>
            <a:chExt cx="3429000" cy="1447800"/>
          </a:xfrm>
        </p:grpSpPr>
        <p:sp>
          <p:nvSpPr>
            <p:cNvPr id="159" name="Google Shape;159;p16"/>
            <p:cNvSpPr/>
            <p:nvPr/>
          </p:nvSpPr>
          <p:spPr>
            <a:xfrm>
              <a:off x="6934200" y="5105400"/>
              <a:ext cx="533400" cy="838200"/>
            </a:xfrm>
            <a:prstGeom prst="ellipse">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160" name="Google Shape;160;p16"/>
            <p:cNvGrpSpPr/>
            <p:nvPr/>
          </p:nvGrpSpPr>
          <p:grpSpPr>
            <a:xfrm>
              <a:off x="5715000" y="4724400"/>
              <a:ext cx="2971800" cy="1447800"/>
              <a:chOff x="5715000" y="4724400"/>
              <a:chExt cx="2971800" cy="1447800"/>
            </a:xfrm>
          </p:grpSpPr>
          <p:sp>
            <p:nvSpPr>
              <p:cNvPr id="161" name="Google Shape;161;p16"/>
              <p:cNvSpPr/>
              <p:nvPr/>
            </p:nvSpPr>
            <p:spPr>
              <a:xfrm>
                <a:off x="5715000" y="47244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162" name="Google Shape;162;p16"/>
              <p:cNvGrpSpPr/>
              <p:nvPr/>
            </p:nvGrpSpPr>
            <p:grpSpPr>
              <a:xfrm>
                <a:off x="6248400" y="5029200"/>
                <a:ext cx="1905000" cy="990600"/>
                <a:chOff x="6248400" y="5029200"/>
                <a:chExt cx="1905000" cy="990600"/>
              </a:xfrm>
            </p:grpSpPr>
            <p:sp>
              <p:nvSpPr>
                <p:cNvPr id="163" name="Google Shape;163;p16"/>
                <p:cNvSpPr/>
                <p:nvPr/>
              </p:nvSpPr>
              <p:spPr>
                <a:xfrm>
                  <a:off x="62484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64" name="Google Shape;164;p16"/>
                <p:cNvSpPr/>
                <p:nvPr/>
              </p:nvSpPr>
              <p:spPr>
                <a:xfrm>
                  <a:off x="69342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grpSp>
        <p:grpSp>
          <p:nvGrpSpPr>
            <p:cNvPr id="165" name="Google Shape;165;p16"/>
            <p:cNvGrpSpPr/>
            <p:nvPr/>
          </p:nvGrpSpPr>
          <p:grpSpPr>
            <a:xfrm>
              <a:off x="6400800" y="4800600"/>
              <a:ext cx="2743200" cy="826500"/>
              <a:chOff x="6400800" y="4800600"/>
              <a:chExt cx="2743200" cy="826500"/>
            </a:xfrm>
          </p:grpSpPr>
          <p:sp>
            <p:nvSpPr>
              <p:cNvPr id="166" name="Google Shape;166;p16"/>
              <p:cNvSpPr txBox="1"/>
              <p:nvPr/>
            </p:nvSpPr>
            <p:spPr>
              <a:xfrm>
                <a:off x="8305800" y="4800600"/>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sp>
            <p:nvSpPr>
              <p:cNvPr id="167" name="Google Shape;167;p16"/>
              <p:cNvSpPr txBox="1"/>
              <p:nvPr/>
            </p:nvSpPr>
            <p:spPr>
              <a:xfrm>
                <a:off x="6400800" y="51816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168" name="Google Shape;168;p16"/>
              <p:cNvSpPr txBox="1"/>
              <p:nvPr/>
            </p:nvSpPr>
            <p:spPr>
              <a:xfrm>
                <a:off x="7620000" y="52578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B</a:t>
                </a:r>
                <a:endParaRPr b="0" i="1" sz="1800" u="none" cap="none" strike="noStrike">
                  <a:solidFill>
                    <a:schemeClr val="dk1"/>
                  </a:solidFill>
                  <a:latin typeface="Constantia"/>
                  <a:ea typeface="Constantia"/>
                  <a:cs typeface="Constantia"/>
                  <a:sym typeface="Constantia"/>
                </a:endParaRPr>
              </a:p>
            </p:txBody>
          </p:sp>
        </p:grpSp>
      </p:grpSp>
      <p:sp>
        <p:nvSpPr>
          <p:cNvPr id="169" name="Google Shape;169;p16"/>
          <p:cNvSpPr txBox="1"/>
          <p:nvPr/>
        </p:nvSpPr>
        <p:spPr>
          <a:xfrm>
            <a:off x="5715000" y="4355100"/>
            <a:ext cx="2971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Venn Diagram</a:t>
            </a:r>
            <a:r>
              <a:rPr b="0" i="0" lang="en-US" sz="1800" u="none" cap="none" strike="noStrike">
                <a:solidFill>
                  <a:schemeClr val="dk1"/>
                </a:solidFill>
                <a:latin typeface="Cambria Math"/>
                <a:ea typeface="Cambria Math"/>
                <a:cs typeface="Cambria Math"/>
                <a:sym typeface="Cambria Math"/>
              </a:rPr>
              <a:t>  for </a:t>
            </a:r>
            <a:r>
              <a:rPr b="0" i="1" lang="en-US" sz="1800" u="none" cap="none" strike="noStrike">
                <a:solidFill>
                  <a:schemeClr val="dk1"/>
                </a:solidFill>
                <a:latin typeface="Constantia"/>
                <a:ea typeface="Constantia"/>
                <a:cs typeface="Constantia"/>
                <a:sym typeface="Constantia"/>
              </a:rPr>
              <a:t>A</a:t>
            </a:r>
            <a:r>
              <a:rPr b="0" i="1" lang="en-US" sz="1800" u="none" cap="none" strike="noStrike">
                <a:solidFill>
                  <a:schemeClr val="dk1"/>
                </a:solidFill>
                <a:latin typeface="Cambria Math"/>
                <a:ea typeface="Cambria Math"/>
                <a:cs typeface="Cambria Math"/>
                <a:sym typeface="Cambria Math"/>
              </a:rPr>
              <a:t> </a:t>
            </a:r>
            <a:r>
              <a:rPr b="0" i="0" lang="en-US" sz="1800" u="none" cap="none" strike="noStrike">
                <a:solidFill>
                  <a:schemeClr val="dk1"/>
                </a:solidFill>
                <a:latin typeface="Cambria Math"/>
                <a:ea typeface="Cambria Math"/>
                <a:cs typeface="Cambria Math"/>
                <a:sym typeface="Cambria Math"/>
              </a:rPr>
              <a:t>∩</a:t>
            </a:r>
            <a:r>
              <a:rPr b="0" i="1" lang="en-US" sz="1800" u="none" cap="none" strike="noStrike">
                <a:solidFill>
                  <a:schemeClr val="dk1"/>
                </a:solidFill>
                <a:latin typeface="Constantia"/>
                <a:ea typeface="Constantia"/>
                <a:cs typeface="Constantia"/>
                <a:sym typeface="Constantia"/>
              </a:rPr>
              <a:t>B</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Complement</a:t>
            </a:r>
            <a:endParaRPr/>
          </a:p>
        </p:txBody>
      </p:sp>
      <p:sp>
        <p:nvSpPr>
          <p:cNvPr id="175" name="Google Shape;175;p17"/>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a:latin typeface="Cambria Math"/>
                <a:ea typeface="Cambria Math"/>
                <a:cs typeface="Cambria Math"/>
                <a:sym typeface="Cambria Math"/>
              </a:rPr>
              <a:t>  Definition</a:t>
            </a:r>
            <a:r>
              <a:rPr lang="en-US">
                <a:latin typeface="Cambria Math"/>
                <a:ea typeface="Cambria Math"/>
                <a:cs typeface="Cambria Math"/>
                <a:sym typeface="Cambria Math"/>
              </a:rPr>
              <a:t>: If </a:t>
            </a:r>
            <a:r>
              <a:rPr i="1" lang="en-US">
                <a:latin typeface="Cambria Math"/>
                <a:ea typeface="Cambria Math"/>
                <a:cs typeface="Cambria Math"/>
                <a:sym typeface="Cambria Math"/>
              </a:rPr>
              <a:t>A</a:t>
            </a:r>
            <a:r>
              <a:rPr lang="en-US">
                <a:latin typeface="Cambria Math"/>
                <a:ea typeface="Cambria Math"/>
                <a:cs typeface="Cambria Math"/>
                <a:sym typeface="Cambria Math"/>
              </a:rPr>
              <a:t> is a set, then the complement of the </a:t>
            </a:r>
            <a:r>
              <a:rPr i="1" lang="en-US">
                <a:latin typeface="Cambria Math"/>
                <a:ea typeface="Cambria Math"/>
                <a:cs typeface="Cambria Math"/>
                <a:sym typeface="Cambria Math"/>
              </a:rPr>
              <a:t>A</a:t>
            </a:r>
            <a:r>
              <a:rPr b="1" lang="en-US">
                <a:latin typeface="Cambria Math"/>
                <a:ea typeface="Cambria Math"/>
                <a:cs typeface="Cambria Math"/>
                <a:sym typeface="Cambria Math"/>
              </a:rPr>
              <a:t> </a:t>
            </a:r>
            <a:r>
              <a:rPr lang="en-US">
                <a:latin typeface="Cambria Math"/>
                <a:ea typeface="Cambria Math"/>
                <a:cs typeface="Cambria Math"/>
                <a:sym typeface="Cambria Math"/>
              </a:rPr>
              <a:t>(with respect to </a:t>
            </a:r>
            <a:r>
              <a:rPr i="1" lang="en-US">
                <a:latin typeface="Cambria Math"/>
                <a:ea typeface="Cambria Math"/>
                <a:cs typeface="Cambria Math"/>
                <a:sym typeface="Cambria Math"/>
              </a:rPr>
              <a:t>U</a:t>
            </a:r>
            <a:r>
              <a:rPr lang="en-US">
                <a:latin typeface="Cambria Math"/>
                <a:ea typeface="Cambria Math"/>
                <a:cs typeface="Cambria Math"/>
                <a:sym typeface="Cambria Math"/>
              </a:rPr>
              <a:t>), denoted by </a:t>
            </a:r>
            <a:r>
              <a:rPr i="1" lang="en-US">
                <a:latin typeface="Cambria Math"/>
                <a:ea typeface="Cambria Math"/>
                <a:cs typeface="Cambria Math"/>
                <a:sym typeface="Cambria Math"/>
              </a:rPr>
              <a:t>Ā</a:t>
            </a:r>
            <a:r>
              <a:rPr lang="en-US">
                <a:latin typeface="Cambria Math"/>
                <a:ea typeface="Cambria Math"/>
                <a:cs typeface="Cambria Math"/>
                <a:sym typeface="Cambria Math"/>
              </a:rPr>
              <a:t> is the set  </a:t>
            </a:r>
            <a:r>
              <a:rPr i="1" lang="en-US">
                <a:latin typeface="Cambria Math"/>
                <a:ea typeface="Cambria Math"/>
                <a:cs typeface="Cambria Math"/>
                <a:sym typeface="Cambria Math"/>
              </a:rPr>
              <a:t>U</a:t>
            </a:r>
            <a:r>
              <a:rPr lang="en-US">
                <a:latin typeface="Cambria Math"/>
                <a:ea typeface="Cambria Math"/>
                <a:cs typeface="Cambria Math"/>
                <a:sym typeface="Cambria Math"/>
              </a:rPr>
              <a:t> – </a:t>
            </a:r>
            <a:r>
              <a:rPr i="1" lang="en-US">
                <a:latin typeface="Cambria Math"/>
                <a:ea typeface="Cambria Math"/>
                <a:cs typeface="Cambria Math"/>
                <a:sym typeface="Cambria Math"/>
              </a:rPr>
              <a:t>A</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t>
            </a:r>
            <a:r>
              <a:rPr i="1" lang="en-US">
                <a:latin typeface="Cambria Math"/>
                <a:ea typeface="Cambria Math"/>
                <a:cs typeface="Cambria Math"/>
                <a:sym typeface="Cambria Math"/>
              </a:rPr>
              <a:t>Ā </a:t>
            </a:r>
            <a:r>
              <a:rPr lang="en-US">
                <a:latin typeface="Cambria Math"/>
                <a:ea typeface="Cambria Math"/>
                <a:cs typeface="Cambria Math"/>
                <a:sym typeface="Cambria Math"/>
              </a:rPr>
              <a:t>= {</a:t>
            </a:r>
            <a:r>
              <a:rPr i="1" lang="en-US">
                <a:latin typeface="Cambria Math"/>
                <a:ea typeface="Cambria Math"/>
                <a:cs typeface="Cambria Math"/>
                <a:sym typeface="Cambria Math"/>
              </a:rPr>
              <a:t>x</a:t>
            </a:r>
            <a:r>
              <a:rPr lang="en-US">
                <a:latin typeface="Cambria Math"/>
                <a:ea typeface="Cambria Math"/>
                <a:cs typeface="Cambria Math"/>
                <a:sym typeface="Cambria Math"/>
              </a:rPr>
              <a:t> ∈ </a:t>
            </a:r>
            <a:r>
              <a:rPr i="1" lang="en-US">
                <a:latin typeface="Cambria Math"/>
                <a:ea typeface="Cambria Math"/>
                <a:cs typeface="Cambria Math"/>
                <a:sym typeface="Cambria Math"/>
              </a:rPr>
              <a:t>U</a:t>
            </a:r>
            <a:r>
              <a:rPr lang="en-US">
                <a:latin typeface="Cambria Math"/>
                <a:ea typeface="Cambria Math"/>
                <a:cs typeface="Cambria Math"/>
                <a:sym typeface="Cambria Math"/>
              </a:rPr>
              <a:t> | </a:t>
            </a:r>
            <a:r>
              <a:rPr i="1" lang="en-US">
                <a:latin typeface="Cambria Math"/>
                <a:ea typeface="Cambria Math"/>
                <a:cs typeface="Cambria Math"/>
                <a:sym typeface="Cambria Math"/>
              </a:rPr>
              <a:t>x </a:t>
            </a:r>
            <a:r>
              <a:rPr lang="en-US">
                <a:latin typeface="Cambria Math"/>
                <a:ea typeface="Cambria Math"/>
                <a:cs typeface="Cambria Math"/>
                <a:sym typeface="Cambria Math"/>
              </a:rPr>
              <a:t>∉ </a:t>
            </a:r>
            <a:r>
              <a:rPr i="1" lang="en-US">
                <a:latin typeface="Cambria Math"/>
                <a:ea typeface="Cambria Math"/>
                <a:cs typeface="Cambria Math"/>
                <a:sym typeface="Cambria Math"/>
              </a:rPr>
              <a:t>A</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(The complement of A is sometimes denoted by </a:t>
            </a:r>
            <a:r>
              <a:rPr i="1" lang="en-US">
                <a:latin typeface="Cambria Math"/>
                <a:ea typeface="Cambria Math"/>
                <a:cs typeface="Cambria Math"/>
                <a:sym typeface="Cambria Math"/>
              </a:rPr>
              <a:t>A</a:t>
            </a:r>
            <a:r>
              <a:rPr baseline="30000" i="1" lang="en-US">
                <a:latin typeface="Cambria Math"/>
                <a:ea typeface="Cambria Math"/>
                <a:cs typeface="Cambria Math"/>
                <a:sym typeface="Cambria Math"/>
              </a:rPr>
              <a:t>c </a:t>
            </a:r>
            <a:r>
              <a:rPr i="1" lang="en-US">
                <a:latin typeface="Cambria Math"/>
                <a:ea typeface="Cambria Math"/>
                <a:cs typeface="Cambria Math"/>
                <a:sym typeface="Cambria Math"/>
              </a:rPr>
              <a:t>.</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b="1" lang="en-US">
                <a:latin typeface="Cambria Math"/>
                <a:ea typeface="Cambria Math"/>
                <a:cs typeface="Cambria Math"/>
                <a:sym typeface="Cambria Math"/>
              </a:rPr>
              <a:t>  Example</a:t>
            </a:r>
            <a:r>
              <a:rPr lang="en-US">
                <a:latin typeface="Cambria Math"/>
                <a:ea typeface="Cambria Math"/>
                <a:cs typeface="Cambria Math"/>
                <a:sym typeface="Cambria Math"/>
              </a:rPr>
              <a:t>: If </a:t>
            </a:r>
            <a:r>
              <a:rPr i="1" lang="en-US">
                <a:latin typeface="Cambria Math"/>
                <a:ea typeface="Cambria Math"/>
                <a:cs typeface="Cambria Math"/>
                <a:sym typeface="Cambria Math"/>
              </a:rPr>
              <a:t>U</a:t>
            </a:r>
            <a:r>
              <a:rPr lang="en-US">
                <a:latin typeface="Cambria Math"/>
                <a:ea typeface="Cambria Math"/>
                <a:cs typeface="Cambria Math"/>
                <a:sym typeface="Cambria Math"/>
              </a:rPr>
              <a:t> is the positive integers less than 100, what is the complement of {</a:t>
            </a:r>
            <a:r>
              <a:rPr i="1" lang="en-US">
                <a:latin typeface="Cambria Math"/>
                <a:ea typeface="Cambria Math"/>
                <a:cs typeface="Cambria Math"/>
                <a:sym typeface="Cambria Math"/>
              </a:rPr>
              <a:t>x</a:t>
            </a:r>
            <a:r>
              <a:rPr lang="en-US">
                <a:latin typeface="Cambria Math"/>
                <a:ea typeface="Cambria Math"/>
                <a:cs typeface="Cambria Math"/>
                <a:sym typeface="Cambria Math"/>
              </a:rPr>
              <a:t> | </a:t>
            </a:r>
            <a:r>
              <a:rPr i="1" lang="en-US">
                <a:latin typeface="Cambria Math"/>
                <a:ea typeface="Cambria Math"/>
                <a:cs typeface="Cambria Math"/>
                <a:sym typeface="Cambria Math"/>
              </a:rPr>
              <a:t>x </a:t>
            </a:r>
            <a:r>
              <a:rPr lang="en-US">
                <a:latin typeface="Cambria Math"/>
                <a:ea typeface="Cambria Math"/>
                <a:cs typeface="Cambria Math"/>
                <a:sym typeface="Cambria Math"/>
              </a:rPr>
              <a:t>&gt; 70}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Solution: {</a:t>
            </a:r>
            <a:r>
              <a:rPr i="1" lang="en-US">
                <a:latin typeface="Cambria Math"/>
                <a:ea typeface="Cambria Math"/>
                <a:cs typeface="Cambria Math"/>
                <a:sym typeface="Cambria Math"/>
              </a:rPr>
              <a:t>x</a:t>
            </a:r>
            <a:r>
              <a:rPr lang="en-US">
                <a:latin typeface="Cambria Math"/>
                <a:ea typeface="Cambria Math"/>
                <a:cs typeface="Cambria Math"/>
                <a:sym typeface="Cambria Math"/>
              </a:rPr>
              <a:t> | </a:t>
            </a:r>
            <a:r>
              <a:rPr i="1" lang="en-US">
                <a:latin typeface="Cambria Math"/>
                <a:ea typeface="Cambria Math"/>
                <a:cs typeface="Cambria Math"/>
                <a:sym typeface="Cambria Math"/>
              </a:rPr>
              <a:t>x </a:t>
            </a:r>
            <a:r>
              <a:rPr lang="en-US">
                <a:latin typeface="Cambria Math"/>
                <a:ea typeface="Cambria Math"/>
                <a:cs typeface="Cambria Math"/>
                <a:sym typeface="Cambria Math"/>
              </a:rPr>
              <a:t>≤ 70} </a:t>
            </a:r>
            <a:endParaRPr>
              <a:latin typeface="Cambria Math"/>
              <a:ea typeface="Cambria Math"/>
              <a:cs typeface="Cambria Math"/>
              <a:sym typeface="Cambria Math"/>
            </a:endParaRPr>
          </a:p>
        </p:txBody>
      </p:sp>
      <p:grpSp>
        <p:nvGrpSpPr>
          <p:cNvPr id="176" name="Google Shape;176;p17"/>
          <p:cNvGrpSpPr/>
          <p:nvPr/>
        </p:nvGrpSpPr>
        <p:grpSpPr>
          <a:xfrm>
            <a:off x="5512775" y="4899600"/>
            <a:ext cx="3733800" cy="1676400"/>
            <a:chOff x="5562600" y="4495800"/>
            <a:chExt cx="3733800" cy="1676400"/>
          </a:xfrm>
        </p:grpSpPr>
        <p:grpSp>
          <p:nvGrpSpPr>
            <p:cNvPr id="177" name="Google Shape;177;p17"/>
            <p:cNvGrpSpPr/>
            <p:nvPr/>
          </p:nvGrpSpPr>
          <p:grpSpPr>
            <a:xfrm>
              <a:off x="5562600" y="4724400"/>
              <a:ext cx="2971800" cy="1447800"/>
              <a:chOff x="5562600" y="4724400"/>
              <a:chExt cx="2971800" cy="1447800"/>
            </a:xfrm>
          </p:grpSpPr>
          <p:sp>
            <p:nvSpPr>
              <p:cNvPr id="178" name="Google Shape;178;p17"/>
              <p:cNvSpPr/>
              <p:nvPr/>
            </p:nvSpPr>
            <p:spPr>
              <a:xfrm>
                <a:off x="5562600" y="4724400"/>
                <a:ext cx="2971800" cy="1447800"/>
              </a:xfrm>
              <a:prstGeom prst="rect">
                <a:avLst/>
              </a:prstGeom>
              <a:solidFill>
                <a:schemeClr val="accent3"/>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79" name="Google Shape;179;p17"/>
              <p:cNvSpPr/>
              <p:nvPr/>
            </p:nvSpPr>
            <p:spPr>
              <a:xfrm>
                <a:off x="6096000" y="5029200"/>
                <a:ext cx="1219200" cy="990600"/>
              </a:xfrm>
              <a:prstGeom prst="ellipse">
                <a:avLst/>
              </a:prstGeom>
              <a:solidFill>
                <a:schemeClr val="l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sp>
          <p:nvSpPr>
            <p:cNvPr id="180" name="Google Shape;180;p17"/>
            <p:cNvSpPr txBox="1"/>
            <p:nvPr/>
          </p:nvSpPr>
          <p:spPr>
            <a:xfrm>
              <a:off x="6248400" y="51816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181" name="Google Shape;181;p17"/>
            <p:cNvSpPr txBox="1"/>
            <p:nvPr/>
          </p:nvSpPr>
          <p:spPr>
            <a:xfrm>
              <a:off x="8458200" y="4495800"/>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grpSp>
      <p:sp>
        <p:nvSpPr>
          <p:cNvPr id="182" name="Google Shape;182;p17"/>
          <p:cNvSpPr txBox="1"/>
          <p:nvPr/>
        </p:nvSpPr>
        <p:spPr>
          <a:xfrm>
            <a:off x="5257800" y="4724400"/>
            <a:ext cx="3581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Venn Diagram for Complement</a:t>
            </a:r>
            <a:endParaRPr b="0" i="0" sz="1800" u="none" cap="none" strike="noStrike">
              <a:solidFill>
                <a:schemeClr val="dk1"/>
              </a:solidFill>
              <a:latin typeface="Constantia"/>
              <a:ea typeface="Constantia"/>
              <a:cs typeface="Constantia"/>
              <a:sym typeface="Constantia"/>
            </a:endParaRPr>
          </a:p>
        </p:txBody>
      </p:sp>
      <p:sp>
        <p:nvSpPr>
          <p:cNvPr id="183" name="Google Shape;183;p17"/>
          <p:cNvSpPr/>
          <p:nvPr/>
        </p:nvSpPr>
        <p:spPr>
          <a:xfrm>
            <a:off x="5638800" y="5410200"/>
            <a:ext cx="3369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Ā</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Difference</a:t>
            </a:r>
            <a:endParaRPr/>
          </a:p>
        </p:txBody>
      </p:sp>
      <p:sp>
        <p:nvSpPr>
          <p:cNvPr id="189" name="Google Shape;189;p18"/>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b="1" lang="en-US">
                <a:latin typeface="Cambria Math"/>
                <a:ea typeface="Cambria Math"/>
                <a:cs typeface="Cambria Math"/>
                <a:sym typeface="Cambria Math"/>
              </a:rPr>
              <a:t>Definition</a:t>
            </a:r>
            <a:r>
              <a:rPr lang="en-US">
                <a:latin typeface="Cambria Math"/>
                <a:ea typeface="Cambria Math"/>
                <a:cs typeface="Cambria Math"/>
                <a:sym typeface="Cambria Math"/>
              </a:rPr>
              <a:t>: Let  </a:t>
            </a:r>
            <a:r>
              <a:rPr i="1" lang="en-US">
                <a:latin typeface="Cambria Math"/>
                <a:ea typeface="Cambria Math"/>
                <a:cs typeface="Cambria Math"/>
                <a:sym typeface="Cambria Math"/>
              </a:rPr>
              <a:t>A </a:t>
            </a:r>
            <a:r>
              <a:rPr lang="en-US">
                <a:latin typeface="Cambria Math"/>
                <a:ea typeface="Cambria Math"/>
                <a:cs typeface="Cambria Math"/>
                <a:sym typeface="Cambria Math"/>
              </a:rPr>
              <a:t>and </a:t>
            </a:r>
            <a:r>
              <a:rPr i="1" lang="en-US">
                <a:latin typeface="Cambria Math"/>
                <a:ea typeface="Cambria Math"/>
                <a:cs typeface="Cambria Math"/>
                <a:sym typeface="Cambria Math"/>
              </a:rPr>
              <a:t>B</a:t>
            </a:r>
            <a:r>
              <a:rPr lang="en-US">
                <a:latin typeface="Cambria Math"/>
                <a:ea typeface="Cambria Math"/>
                <a:cs typeface="Cambria Math"/>
                <a:sym typeface="Cambria Math"/>
              </a:rPr>
              <a:t> be sets. The </a:t>
            </a:r>
            <a:r>
              <a:rPr i="1" lang="en-US">
                <a:latin typeface="Cambria Math"/>
                <a:ea typeface="Cambria Math"/>
                <a:cs typeface="Cambria Math"/>
                <a:sym typeface="Cambria Math"/>
              </a:rPr>
              <a:t>difference</a:t>
            </a:r>
            <a:r>
              <a:rPr lang="en-US">
                <a:latin typeface="Cambria Math"/>
                <a:ea typeface="Cambria Math"/>
                <a:cs typeface="Cambria Math"/>
                <a:sym typeface="Cambria Math"/>
              </a:rPr>
              <a:t> of </a:t>
            </a:r>
            <a:r>
              <a:rPr i="1" lang="en-US">
                <a:latin typeface="Cambria Math"/>
                <a:ea typeface="Cambria Math"/>
                <a:cs typeface="Cambria Math"/>
                <a:sym typeface="Cambria Math"/>
              </a:rPr>
              <a:t>A</a:t>
            </a:r>
            <a:r>
              <a:rPr lang="en-US">
                <a:latin typeface="Cambria Math"/>
                <a:ea typeface="Cambria Math"/>
                <a:cs typeface="Cambria Math"/>
                <a:sym typeface="Cambria Math"/>
              </a:rPr>
              <a:t> and </a:t>
            </a:r>
            <a:r>
              <a:rPr i="1" lang="en-US">
                <a:latin typeface="Cambria Math"/>
                <a:ea typeface="Cambria Math"/>
                <a:cs typeface="Cambria Math"/>
                <a:sym typeface="Cambria Math"/>
              </a:rPr>
              <a:t>B</a:t>
            </a:r>
            <a:r>
              <a:rPr lang="en-US">
                <a:latin typeface="Cambria Math"/>
                <a:ea typeface="Cambria Math"/>
                <a:cs typeface="Cambria Math"/>
                <a:sym typeface="Cambria Math"/>
              </a:rPr>
              <a:t>, denoted by </a:t>
            </a:r>
            <a:r>
              <a:rPr i="1" lang="en-US">
                <a:latin typeface="Cambria Math"/>
                <a:ea typeface="Cambria Math"/>
                <a:cs typeface="Cambria Math"/>
                <a:sym typeface="Cambria Math"/>
              </a:rPr>
              <a:t>A</a:t>
            </a:r>
            <a:r>
              <a:rPr lang="en-US">
                <a:latin typeface="Cambria Math"/>
                <a:ea typeface="Cambria Math"/>
                <a:cs typeface="Cambria Math"/>
                <a:sym typeface="Cambria Math"/>
              </a:rPr>
              <a:t> – </a:t>
            </a:r>
            <a:r>
              <a:rPr i="1" lang="en-US">
                <a:latin typeface="Cambria Math"/>
                <a:ea typeface="Cambria Math"/>
                <a:cs typeface="Cambria Math"/>
                <a:sym typeface="Cambria Math"/>
              </a:rPr>
              <a:t>B</a:t>
            </a:r>
            <a:r>
              <a:rPr lang="en-US">
                <a:latin typeface="Cambria Math"/>
                <a:ea typeface="Cambria Math"/>
                <a:cs typeface="Cambria Math"/>
                <a:sym typeface="Cambria Math"/>
              </a:rPr>
              <a:t>, is the set containing the elements of </a:t>
            </a:r>
            <a:r>
              <a:rPr i="1" lang="en-US">
                <a:latin typeface="Cambria Math"/>
                <a:ea typeface="Cambria Math"/>
                <a:cs typeface="Cambria Math"/>
                <a:sym typeface="Cambria Math"/>
              </a:rPr>
              <a:t>A</a:t>
            </a:r>
            <a:r>
              <a:rPr lang="en-US">
                <a:latin typeface="Cambria Math"/>
                <a:ea typeface="Cambria Math"/>
                <a:cs typeface="Cambria Math"/>
                <a:sym typeface="Cambria Math"/>
              </a:rPr>
              <a:t> that are not in </a:t>
            </a:r>
            <a:r>
              <a:rPr i="1" lang="en-US">
                <a:latin typeface="Cambria Math"/>
                <a:ea typeface="Cambria Math"/>
                <a:cs typeface="Cambria Math"/>
                <a:sym typeface="Cambria Math"/>
              </a:rPr>
              <a:t>B</a:t>
            </a:r>
            <a:r>
              <a:rPr lang="en-US">
                <a:latin typeface="Cambria Math"/>
                <a:ea typeface="Cambria Math"/>
                <a:cs typeface="Cambria Math"/>
                <a:sym typeface="Cambria Math"/>
              </a:rPr>
              <a:t>. The difference of </a:t>
            </a:r>
            <a:r>
              <a:rPr i="1" lang="en-US">
                <a:latin typeface="Cambria Math"/>
                <a:ea typeface="Cambria Math"/>
                <a:cs typeface="Cambria Math"/>
                <a:sym typeface="Cambria Math"/>
              </a:rPr>
              <a:t>A</a:t>
            </a:r>
            <a:r>
              <a:rPr lang="en-US">
                <a:latin typeface="Cambria Math"/>
                <a:ea typeface="Cambria Math"/>
                <a:cs typeface="Cambria Math"/>
                <a:sym typeface="Cambria Math"/>
              </a:rPr>
              <a:t> and </a:t>
            </a:r>
            <a:r>
              <a:rPr i="1" lang="en-US">
                <a:latin typeface="Cambria Math"/>
                <a:ea typeface="Cambria Math"/>
                <a:cs typeface="Cambria Math"/>
                <a:sym typeface="Cambria Math"/>
              </a:rPr>
              <a:t>B</a:t>
            </a:r>
            <a:r>
              <a:rPr lang="en-US">
                <a:latin typeface="Cambria Math"/>
                <a:ea typeface="Cambria Math"/>
                <a:cs typeface="Cambria Math"/>
                <a:sym typeface="Cambria Math"/>
              </a:rPr>
              <a:t> is also called the complement of </a:t>
            </a:r>
            <a:r>
              <a:rPr i="1" lang="en-US">
                <a:latin typeface="Cambria Math"/>
                <a:ea typeface="Cambria Math"/>
                <a:cs typeface="Cambria Math"/>
                <a:sym typeface="Cambria Math"/>
              </a:rPr>
              <a:t>B</a:t>
            </a:r>
            <a:r>
              <a:rPr lang="en-US">
                <a:latin typeface="Cambria Math"/>
                <a:ea typeface="Cambria Math"/>
                <a:cs typeface="Cambria Math"/>
                <a:sym typeface="Cambria Math"/>
              </a:rPr>
              <a:t> with respect to </a:t>
            </a:r>
            <a:r>
              <a:rPr i="1" lang="en-US">
                <a:latin typeface="Cambria Math"/>
                <a:ea typeface="Cambria Math"/>
                <a:cs typeface="Cambria Math"/>
                <a:sym typeface="Cambria Math"/>
              </a:rPr>
              <a:t>A</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 </a:t>
            </a:r>
            <a:r>
              <a:rPr lang="en-US">
                <a:latin typeface="Cambria Math"/>
                <a:ea typeface="Cambria Math"/>
                <a:cs typeface="Cambria Math"/>
                <a:sym typeface="Cambria Math"/>
              </a:rPr>
              <a:t>– B =</a:t>
            </a:r>
            <a:r>
              <a:rPr lang="en-US">
                <a:latin typeface="Cambria Math"/>
                <a:ea typeface="Cambria Math"/>
                <a:cs typeface="Cambria Math"/>
                <a:sym typeface="Cambria Math"/>
              </a:rPr>
              <a:t> {</a:t>
            </a:r>
            <a:r>
              <a:rPr lang="en-US">
                <a:latin typeface="Cambria Math"/>
                <a:ea typeface="Cambria Math"/>
                <a:cs typeface="Cambria Math"/>
                <a:sym typeface="Cambria Math"/>
              </a:rPr>
              <a:t>x | x ∈ A ∧ x ∉ B</a:t>
            </a:r>
            <a:r>
              <a:rPr lang="en-US">
                <a:latin typeface="Cambria Math"/>
                <a:ea typeface="Cambria Math"/>
                <a:cs typeface="Cambria Math"/>
                <a:sym typeface="Cambria Math"/>
              </a:rPr>
              <a:t>} </a:t>
            </a:r>
            <a:r>
              <a:rPr lang="en-US">
                <a:latin typeface="Cambria Math"/>
                <a:ea typeface="Cambria Math"/>
                <a:cs typeface="Cambria Math"/>
                <a:sym typeface="Cambria Math"/>
              </a:rPr>
              <a:t> =   A∩B</a:t>
            </a:r>
            <a:r>
              <a:rPr baseline="30000" lang="en-US">
                <a:latin typeface="Cambria Math"/>
                <a:ea typeface="Cambria Math"/>
                <a:cs typeface="Cambria Math"/>
                <a:sym typeface="Cambria Math"/>
              </a:rPr>
              <a:t>c</a:t>
            </a:r>
            <a:endParaRPr baseline="30000">
              <a:latin typeface="Cambria Math"/>
              <a:ea typeface="Cambria Math"/>
              <a:cs typeface="Cambria Math"/>
              <a:sym typeface="Cambria Math"/>
            </a:endParaRPr>
          </a:p>
        </p:txBody>
      </p:sp>
      <p:grpSp>
        <p:nvGrpSpPr>
          <p:cNvPr id="190" name="Google Shape;190;p18"/>
          <p:cNvGrpSpPr/>
          <p:nvPr/>
        </p:nvGrpSpPr>
        <p:grpSpPr>
          <a:xfrm>
            <a:off x="1905000" y="4644000"/>
            <a:ext cx="3429000" cy="1447800"/>
            <a:chOff x="5410200" y="4876800"/>
            <a:chExt cx="3429000" cy="1447800"/>
          </a:xfrm>
        </p:grpSpPr>
        <p:sp>
          <p:nvSpPr>
            <p:cNvPr id="191" name="Google Shape;191;p18"/>
            <p:cNvSpPr/>
            <p:nvPr/>
          </p:nvSpPr>
          <p:spPr>
            <a:xfrm>
              <a:off x="5410200" y="48768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92" name="Google Shape;192;p18"/>
            <p:cNvSpPr/>
            <p:nvPr/>
          </p:nvSpPr>
          <p:spPr>
            <a:xfrm>
              <a:off x="5943600" y="5181600"/>
              <a:ext cx="1219200" cy="990600"/>
            </a:xfrm>
            <a:prstGeom prst="ellipse">
              <a:avLst/>
            </a:prstGeom>
            <a:solidFill>
              <a:srgbClr val="21B2C8"/>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93" name="Google Shape;193;p18"/>
            <p:cNvSpPr/>
            <p:nvPr/>
          </p:nvSpPr>
          <p:spPr>
            <a:xfrm>
              <a:off x="6629400" y="51816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94" name="Google Shape;194;p18"/>
            <p:cNvSpPr txBox="1"/>
            <p:nvPr/>
          </p:nvSpPr>
          <p:spPr>
            <a:xfrm>
              <a:off x="8001000" y="4953000"/>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U</a:t>
              </a:r>
              <a:endParaRPr b="0" i="0" sz="1800" u="none" cap="none" strike="noStrike">
                <a:solidFill>
                  <a:schemeClr val="dk1"/>
                </a:solidFill>
                <a:latin typeface="Constantia"/>
                <a:ea typeface="Constantia"/>
                <a:cs typeface="Constantia"/>
                <a:sym typeface="Constantia"/>
              </a:endParaRPr>
            </a:p>
          </p:txBody>
        </p:sp>
        <p:sp>
          <p:nvSpPr>
            <p:cNvPr id="195" name="Google Shape;195;p18"/>
            <p:cNvSpPr txBox="1"/>
            <p:nvPr/>
          </p:nvSpPr>
          <p:spPr>
            <a:xfrm>
              <a:off x="5715000" y="51816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A</a:t>
              </a:r>
              <a:endParaRPr b="0" i="0" sz="1800" u="none" cap="none" strike="noStrike">
                <a:solidFill>
                  <a:schemeClr val="dk1"/>
                </a:solidFill>
                <a:latin typeface="Constantia"/>
                <a:ea typeface="Constantia"/>
                <a:cs typeface="Constantia"/>
                <a:sym typeface="Constantia"/>
              </a:endParaRPr>
            </a:p>
          </p:txBody>
        </p:sp>
        <p:sp>
          <p:nvSpPr>
            <p:cNvPr id="196" name="Google Shape;196;p18"/>
            <p:cNvSpPr txBox="1"/>
            <p:nvPr/>
          </p:nvSpPr>
          <p:spPr>
            <a:xfrm>
              <a:off x="7315200" y="54102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B</a:t>
              </a:r>
              <a:endParaRPr b="0" i="0" sz="1800" u="none" cap="none" strike="noStrike">
                <a:solidFill>
                  <a:schemeClr val="dk1"/>
                </a:solidFill>
                <a:latin typeface="Constantia"/>
                <a:ea typeface="Constantia"/>
                <a:cs typeface="Constantia"/>
                <a:sym typeface="Constantia"/>
              </a:endParaRPr>
            </a:p>
          </p:txBody>
        </p:sp>
        <p:sp>
          <p:nvSpPr>
            <p:cNvPr id="197" name="Google Shape;197;p18"/>
            <p:cNvSpPr/>
            <p:nvPr/>
          </p:nvSpPr>
          <p:spPr>
            <a:xfrm>
              <a:off x="6629400" y="5257800"/>
              <a:ext cx="533400" cy="838200"/>
            </a:xfrm>
            <a:prstGeom prst="ellipse">
              <a:avLst/>
            </a:prstGeom>
            <a:solidFill>
              <a:schemeClr val="l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sp>
        <p:nvSpPr>
          <p:cNvPr id="198" name="Google Shape;198;p18"/>
          <p:cNvSpPr txBox="1"/>
          <p:nvPr/>
        </p:nvSpPr>
        <p:spPr>
          <a:xfrm>
            <a:off x="1905000" y="4274700"/>
            <a:ext cx="2991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Venn Diagram</a:t>
            </a:r>
            <a:r>
              <a:rPr b="0" i="0" lang="en-US" sz="1800" u="none" cap="none" strike="noStrike">
                <a:solidFill>
                  <a:schemeClr val="dk1"/>
                </a:solidFill>
                <a:latin typeface="Cambria Math"/>
                <a:ea typeface="Cambria Math"/>
                <a:cs typeface="Cambria Math"/>
                <a:sym typeface="Cambria Math"/>
              </a:rPr>
              <a:t>  for </a:t>
            </a:r>
            <a:r>
              <a:rPr b="0" i="1" lang="en-US" sz="1800" u="none" cap="none" strike="noStrike">
                <a:solidFill>
                  <a:schemeClr val="dk1"/>
                </a:solidFill>
                <a:latin typeface="Cambria Math"/>
                <a:ea typeface="Cambria Math"/>
                <a:cs typeface="Cambria Math"/>
                <a:sym typeface="Cambria Math"/>
              </a:rPr>
              <a:t>A</a:t>
            </a:r>
            <a:r>
              <a:rPr b="0" i="0" lang="en-US" sz="1800" u="none" cap="none" strike="noStrike">
                <a:solidFill>
                  <a:schemeClr val="dk1"/>
                </a:solidFill>
                <a:latin typeface="Cambria Math"/>
                <a:ea typeface="Cambria Math"/>
                <a:cs typeface="Cambria Math"/>
                <a:sym typeface="Cambria Math"/>
              </a:rPr>
              <a:t> − </a:t>
            </a:r>
            <a:r>
              <a:rPr b="0" i="1" lang="en-US" sz="1800" u="none" cap="none" strike="noStrike">
                <a:solidFill>
                  <a:schemeClr val="dk1"/>
                </a:solidFill>
                <a:latin typeface="Cambria Math"/>
                <a:ea typeface="Cambria Math"/>
                <a:cs typeface="Cambria Math"/>
                <a:sym typeface="Cambria Math"/>
              </a:rPr>
              <a:t>B</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Review Questions</a:t>
            </a:r>
            <a:endParaRPr/>
          </a:p>
        </p:txBody>
      </p:sp>
      <p:sp>
        <p:nvSpPr>
          <p:cNvPr id="204" name="Google Shape;204;p19"/>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1900"/>
              <a:buNone/>
            </a:pPr>
            <a:r>
              <a:rPr b="1" lang="en-US" sz="1800">
                <a:latin typeface="Cambria Math"/>
                <a:ea typeface="Cambria Math"/>
                <a:cs typeface="Cambria Math"/>
                <a:sym typeface="Cambria Math"/>
              </a:rPr>
              <a:t>Example</a:t>
            </a:r>
            <a:r>
              <a:rPr lang="en-US" sz="1800">
                <a:latin typeface="Cambria Math"/>
                <a:ea typeface="Cambria Math"/>
                <a:cs typeface="Cambria Math"/>
                <a:sym typeface="Cambria Math"/>
              </a:rPr>
              <a:t>: </a:t>
            </a:r>
            <a:r>
              <a:rPr i="1" lang="en-US" sz="1800">
                <a:latin typeface="Cambria Math"/>
                <a:ea typeface="Cambria Math"/>
                <a:cs typeface="Cambria Math"/>
                <a:sym typeface="Cambria Math"/>
              </a:rPr>
              <a:t>U</a:t>
            </a:r>
            <a:r>
              <a:rPr lang="en-US" sz="1800">
                <a:latin typeface="Cambria Math"/>
                <a:ea typeface="Cambria Math"/>
                <a:cs typeface="Cambria Math"/>
                <a:sym typeface="Cambria Math"/>
              </a:rPr>
              <a:t> = {</a:t>
            </a:r>
            <a:r>
              <a:rPr lang="en-US" sz="1800">
                <a:latin typeface="Cambria Math"/>
                <a:ea typeface="Cambria Math"/>
                <a:cs typeface="Cambria Math"/>
                <a:sym typeface="Cambria Math"/>
              </a:rPr>
              <a:t>0,1,2,3,4,5,6,7,8,9,10</a:t>
            </a:r>
            <a:r>
              <a:rPr lang="en-US" sz="1800">
                <a:latin typeface="Cambria Math"/>
                <a:ea typeface="Cambria Math"/>
                <a:cs typeface="Cambria Math"/>
                <a:sym typeface="Cambria Math"/>
              </a:rPr>
              <a:t>}  </a:t>
            </a:r>
            <a:r>
              <a:rPr i="1" lang="en-US" sz="1800">
                <a:latin typeface="Cambria Math"/>
                <a:ea typeface="Cambria Math"/>
                <a:cs typeface="Cambria Math"/>
                <a:sym typeface="Cambria Math"/>
              </a:rPr>
              <a:t>A</a:t>
            </a:r>
            <a:r>
              <a:rPr lang="en-US" sz="1800">
                <a:latin typeface="Cambria Math"/>
                <a:ea typeface="Cambria Math"/>
                <a:cs typeface="Cambria Math"/>
                <a:sym typeface="Cambria Math"/>
              </a:rPr>
              <a:t> = {1,2,3,4,5},    </a:t>
            </a:r>
            <a:r>
              <a:rPr i="1" lang="en-US" sz="1800">
                <a:latin typeface="Cambria Math"/>
                <a:ea typeface="Cambria Math"/>
                <a:cs typeface="Cambria Math"/>
                <a:sym typeface="Cambria Math"/>
              </a:rPr>
              <a:t>B</a:t>
            </a:r>
            <a:r>
              <a:rPr lang="en-US" sz="1800">
                <a:latin typeface="Cambria Math"/>
                <a:ea typeface="Cambria Math"/>
                <a:cs typeface="Cambria Math"/>
                <a:sym typeface="Cambria Math"/>
              </a:rPr>
              <a:t> ={4,5,6,7,8}</a:t>
            </a:r>
            <a:endParaRPr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A</a:t>
            </a:r>
            <a:r>
              <a:rPr b="1" lang="en-US" sz="1800">
                <a:latin typeface="Cambria Math"/>
                <a:ea typeface="Cambria Math"/>
                <a:cs typeface="Cambria Math"/>
                <a:sym typeface="Cambria Math"/>
              </a:rPr>
              <a:t> </a:t>
            </a:r>
            <a:r>
              <a:rPr lang="en-US" sz="1800">
                <a:latin typeface="Cambria Math"/>
                <a:ea typeface="Cambria Math"/>
                <a:cs typeface="Cambria Math"/>
                <a:sym typeface="Cambria Math"/>
              </a:rPr>
              <a:t>∪ </a:t>
            </a:r>
            <a:r>
              <a:rPr i="1" lang="en-US" sz="1800">
                <a:latin typeface="Cambria Math"/>
                <a:ea typeface="Cambria Math"/>
                <a:cs typeface="Cambria Math"/>
                <a:sym typeface="Cambria Math"/>
              </a:rPr>
              <a:t>B</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 Solution: </a:t>
            </a:r>
            <a:r>
              <a:rPr lang="en-US" sz="1800">
                <a:latin typeface="Cambria Math"/>
                <a:ea typeface="Cambria Math"/>
                <a:cs typeface="Cambria Math"/>
                <a:sym typeface="Cambria Math"/>
              </a:rPr>
              <a:t>{1,2,3,4,5,6,7,8}</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A</a:t>
            </a:r>
            <a:r>
              <a:rPr b="1" lang="en-US" sz="1800">
                <a:latin typeface="Cambria Math"/>
                <a:ea typeface="Cambria Math"/>
                <a:cs typeface="Cambria Math"/>
                <a:sym typeface="Cambria Math"/>
              </a:rPr>
              <a:t> </a:t>
            </a:r>
            <a:r>
              <a:rPr lang="en-US" sz="1800">
                <a:latin typeface="Cambria Math"/>
                <a:ea typeface="Cambria Math"/>
                <a:cs typeface="Cambria Math"/>
                <a:sym typeface="Cambria Math"/>
              </a:rPr>
              <a:t>∩ </a:t>
            </a:r>
            <a:r>
              <a:rPr i="1" lang="en-US" sz="1800">
                <a:latin typeface="Cambria Math"/>
                <a:ea typeface="Cambria Math"/>
                <a:cs typeface="Cambria Math"/>
                <a:sym typeface="Cambria Math"/>
              </a:rPr>
              <a:t>B</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 Solution: </a:t>
            </a:r>
            <a:r>
              <a:rPr lang="en-US" sz="1800">
                <a:latin typeface="Cambria Math"/>
                <a:ea typeface="Cambria Math"/>
                <a:cs typeface="Cambria Math"/>
                <a:sym typeface="Cambria Math"/>
              </a:rPr>
              <a:t>{4,5}</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Ā</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  Solution: </a:t>
            </a:r>
            <a:r>
              <a:rPr lang="en-US" sz="1800">
                <a:latin typeface="Cambria Math"/>
                <a:ea typeface="Cambria Math"/>
                <a:cs typeface="Cambria Math"/>
                <a:sym typeface="Cambria Math"/>
              </a:rPr>
              <a:t>{0,6,7,8,9,10}</a:t>
            </a:r>
            <a:endParaRPr b="1"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mbria Math"/>
              <a:buAutoNum type="alphaLcPeriod"/>
            </a:pPr>
            <a:r>
              <a:rPr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lang="en-US" sz="1800">
                <a:latin typeface="Cambria Math"/>
                <a:ea typeface="Cambria Math"/>
                <a:cs typeface="Cambria Math"/>
                <a:sym typeface="Cambria Math"/>
              </a:rPr>
              <a:t> </a:t>
            </a:r>
            <a:r>
              <a:rPr b="1" lang="en-US" sz="1800">
                <a:latin typeface="Cambria Math"/>
                <a:ea typeface="Cambria Math"/>
                <a:cs typeface="Cambria Math"/>
                <a:sym typeface="Cambria Math"/>
              </a:rPr>
              <a:t>Solution:</a:t>
            </a:r>
            <a:r>
              <a:rPr lang="en-US" sz="1800">
                <a:latin typeface="Cambria Math"/>
                <a:ea typeface="Cambria Math"/>
                <a:cs typeface="Cambria Math"/>
                <a:sym typeface="Cambria Math"/>
              </a:rPr>
              <a:t> {0,1,2,3,9,10}</a:t>
            </a:r>
            <a:endParaRPr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A</a:t>
            </a:r>
            <a:r>
              <a:rPr b="1" lang="en-US" sz="1800">
                <a:latin typeface="Cambria Math"/>
                <a:ea typeface="Cambria Math"/>
                <a:cs typeface="Cambria Math"/>
                <a:sym typeface="Cambria Math"/>
              </a:rPr>
              <a:t> – </a:t>
            </a:r>
            <a:r>
              <a:rPr i="1" lang="en-US" sz="1800">
                <a:latin typeface="Cambria Math"/>
                <a:ea typeface="Cambria Math"/>
                <a:cs typeface="Cambria Math"/>
                <a:sym typeface="Cambria Math"/>
              </a:rPr>
              <a:t>B</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  Solution: </a:t>
            </a:r>
            <a:r>
              <a:rPr lang="en-US" sz="1800">
                <a:latin typeface="Cambria Math"/>
                <a:ea typeface="Cambria Math"/>
                <a:cs typeface="Cambria Math"/>
                <a:sym typeface="Cambria Math"/>
              </a:rPr>
              <a:t>{1,2,3} </a:t>
            </a:r>
            <a:endParaRPr b="1"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B</a:t>
            </a:r>
            <a:r>
              <a:rPr b="1" lang="en-US" sz="1800">
                <a:latin typeface="Cambria Math"/>
                <a:ea typeface="Cambria Math"/>
                <a:cs typeface="Cambria Math"/>
                <a:sym typeface="Cambria Math"/>
              </a:rPr>
              <a:t> – </a:t>
            </a:r>
            <a:r>
              <a:rPr i="1" lang="en-US" sz="1800">
                <a:latin typeface="Cambria Math"/>
                <a:ea typeface="Cambria Math"/>
                <a:cs typeface="Cambria Math"/>
                <a:sym typeface="Cambria Math"/>
              </a:rPr>
              <a:t>A</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Solution: </a:t>
            </a:r>
            <a:r>
              <a:rPr lang="en-US" sz="1800">
                <a:latin typeface="Cambria Math"/>
                <a:ea typeface="Cambria Math"/>
                <a:cs typeface="Cambria Math"/>
                <a:sym typeface="Cambria Math"/>
              </a:rPr>
              <a:t>{6,7,8} </a:t>
            </a:r>
            <a:r>
              <a:rPr b="1" lang="en-US" sz="1800">
                <a:latin typeface="Cambria Math"/>
                <a:ea typeface="Cambria Math"/>
                <a:cs typeface="Cambria Math"/>
                <a:sym typeface="Cambria Math"/>
              </a:rPr>
              <a:t>			</a:t>
            </a:r>
            <a:endParaRPr b="1" sz="1800">
              <a:latin typeface="Cambria Math"/>
              <a:ea typeface="Cambria Math"/>
              <a:cs typeface="Cambria Math"/>
              <a:sym typeface="Cambria Math"/>
            </a:endParaRPr>
          </a:p>
          <a:p>
            <a:pPr indent="-117348" lvl="1" marL="640080" rtl="0" algn="l">
              <a:lnSpc>
                <a:spcPct val="100000"/>
              </a:lnSpc>
              <a:spcBef>
                <a:spcPts val="480"/>
              </a:spcBef>
              <a:spcAft>
                <a:spcPts val="0"/>
              </a:spcAft>
              <a:buSzPts val="2040"/>
              <a:buNone/>
            </a:pPr>
            <a:r>
              <a:t/>
            </a:r>
            <a:endParaRPr sz="1800">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None/>
            </a:pPr>
            <a:r>
              <a:t/>
            </a:r>
            <a:endParaRPr sz="1800">
              <a:latin typeface="Cambria Math"/>
              <a:ea typeface="Cambria Math"/>
              <a:cs typeface="Cambria Math"/>
              <a:sym typeface="Cambria Math"/>
            </a:endParaRPr>
          </a:p>
        </p:txBody>
      </p:sp>
      <p:pic>
        <p:nvPicPr>
          <p:cNvPr descr="addin_tmp.png" id="205" name="Google Shape;205;p19"/>
          <p:cNvPicPr preferRelativeResize="0"/>
          <p:nvPr/>
        </p:nvPicPr>
        <p:blipFill rotWithShape="1">
          <a:blip r:embed="rId3">
            <a:alphaModFix/>
          </a:blip>
          <a:srcRect b="0" l="0" r="0" t="0"/>
          <a:stretch/>
        </p:blipFill>
        <p:spPr>
          <a:xfrm>
            <a:off x="1286526" y="4213176"/>
            <a:ext cx="167625" cy="197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0"/>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The Cardinality of the Union of Two Sets</a:t>
            </a:r>
            <a:endParaRPr sz="3600"/>
          </a:p>
        </p:txBody>
      </p:sp>
      <p:sp>
        <p:nvSpPr>
          <p:cNvPr id="211" name="Google Shape;211;p20"/>
          <p:cNvSpPr txBox="1"/>
          <p:nvPr/>
        </p:nvSpPr>
        <p:spPr>
          <a:xfrm>
            <a:off x="685800" y="923125"/>
            <a:ext cx="8229600" cy="53709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100000"/>
              </a:lnSpc>
              <a:spcBef>
                <a:spcPts val="0"/>
              </a:spcBef>
              <a:spcAft>
                <a:spcPts val="0"/>
              </a:spcAft>
              <a:buClr>
                <a:schemeClr val="accent3"/>
              </a:buClr>
              <a:buSzPts val="2400"/>
              <a:buFont typeface="Cambria Math"/>
              <a:buChar char="•"/>
            </a:pPr>
            <a:r>
              <a:rPr b="0" i="0" lang="en-US" sz="2400" u="none" cap="none" strike="noStrike">
                <a:solidFill>
                  <a:schemeClr val="dk1"/>
                </a:solidFill>
                <a:latin typeface="Cambria Math"/>
                <a:ea typeface="Cambria Math"/>
                <a:cs typeface="Cambria Math"/>
                <a:sym typeface="Cambria Math"/>
              </a:rPr>
              <a:t>Inclusion-Exclusion Principle</a:t>
            </a:r>
            <a:endParaRPr b="0" i="0" sz="2400" u="none" cap="none" strike="noStrike">
              <a:solidFill>
                <a:srgbClr val="000000"/>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rPr b="0" i="0" lang="en-US" sz="2400" u="none" cap="none" strike="noStrike">
                <a:solidFill>
                  <a:schemeClr val="dk1"/>
                </a:solidFill>
                <a:latin typeface="Cambria Math"/>
                <a:ea typeface="Cambria Math"/>
                <a:cs typeface="Cambria Math"/>
                <a:sym typeface="Cambria Math"/>
              </a:rPr>
              <a:t>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a:t>
            </a:r>
            <a:endParaRPr b="0" i="0" sz="2400" u="none" cap="none" strike="noStrike">
              <a:solidFill>
                <a:schemeClr val="dk1"/>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accent3"/>
              </a:buClr>
              <a:buSzPts val="2470"/>
              <a:buFont typeface="Arial"/>
              <a:buNone/>
            </a:pPr>
            <a:r>
              <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accent3"/>
              </a:buClr>
              <a:buSzPts val="2470"/>
              <a:buFont typeface="Arial"/>
              <a:buNone/>
            </a:pPr>
            <a:r>
              <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accent3"/>
              </a:buClr>
              <a:buSzPts val="2470"/>
              <a:buFont typeface="Arial"/>
              <a:buNone/>
            </a:pPr>
            <a:r>
              <a:t/>
            </a:r>
            <a:endParaRPr b="0" i="0" sz="2400" u="none" cap="none" strike="noStrike">
              <a:solidFill>
                <a:schemeClr val="dk1"/>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chemeClr val="accent3"/>
              </a:buClr>
              <a:buSzPts val="2400"/>
              <a:buFont typeface="Arial"/>
              <a:buChar char="•"/>
            </a:pPr>
            <a:r>
              <a:rPr b="1" i="0" lang="en-US" sz="2400" u="none" cap="none" strike="noStrike">
                <a:solidFill>
                  <a:schemeClr val="dk1"/>
                </a:solidFill>
                <a:latin typeface="Cambria Math"/>
                <a:ea typeface="Cambria Math"/>
                <a:cs typeface="Cambria Math"/>
                <a:sym typeface="Cambria Math"/>
              </a:rPr>
              <a:t>Example</a:t>
            </a:r>
            <a:r>
              <a:rPr b="0" i="0" lang="en-US" sz="2400" u="none" cap="none" strike="noStrike">
                <a:solidFill>
                  <a:schemeClr val="dk1"/>
                </a:solidFill>
                <a:latin typeface="Cambria Math"/>
                <a:ea typeface="Cambria Math"/>
                <a:cs typeface="Cambria Math"/>
                <a:sym typeface="Cambria Math"/>
              </a:rPr>
              <a:t>: Let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be the math majors in your class and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be the CS majors. To count the number of students who are either math majors or CS majors:</a:t>
            </a:r>
            <a:endParaRPr b="0" i="0" sz="2400" u="none" cap="none" strike="noStrike">
              <a:solidFill>
                <a:schemeClr val="dk1"/>
              </a:solidFill>
              <a:latin typeface="Cambria Math"/>
              <a:ea typeface="Cambria Math"/>
              <a:cs typeface="Cambria Math"/>
              <a:sym typeface="Cambria Math"/>
            </a:endParaRPr>
          </a:p>
          <a:p>
            <a:pPr indent="-381000" lvl="1" marL="914400" marR="0" rtl="0" algn="l">
              <a:lnSpc>
                <a:spcPct val="100000"/>
              </a:lnSpc>
              <a:spcBef>
                <a:spcPts val="364"/>
              </a:spcBef>
              <a:spcAft>
                <a:spcPts val="0"/>
              </a:spcAft>
              <a:buClr>
                <a:schemeClr val="accent3"/>
              </a:buClr>
              <a:buSzPts val="2400"/>
              <a:buFont typeface="Arial"/>
              <a:buChar char="○"/>
            </a:pPr>
            <a:r>
              <a:rPr b="0" i="0" lang="en-US" sz="2400" u="none" cap="none" strike="noStrike">
                <a:solidFill>
                  <a:schemeClr val="dk1"/>
                </a:solidFill>
                <a:latin typeface="Cambria Math"/>
                <a:ea typeface="Cambria Math"/>
                <a:cs typeface="Cambria Math"/>
                <a:sym typeface="Cambria Math"/>
              </a:rPr>
              <a:t>Add the number of math majors and the number of CS majors.</a:t>
            </a:r>
            <a:endParaRPr b="0" i="0" sz="2400" u="none" cap="none" strike="noStrike">
              <a:solidFill>
                <a:schemeClr val="dk1"/>
              </a:solidFill>
              <a:latin typeface="Cambria Math"/>
              <a:ea typeface="Cambria Math"/>
              <a:cs typeface="Cambria Math"/>
              <a:sym typeface="Cambria Math"/>
            </a:endParaRPr>
          </a:p>
          <a:p>
            <a:pPr indent="-381000" lvl="1" marL="914400" marR="0" rtl="0" algn="l">
              <a:lnSpc>
                <a:spcPct val="100000"/>
              </a:lnSpc>
              <a:spcBef>
                <a:spcPts val="364"/>
              </a:spcBef>
              <a:spcAft>
                <a:spcPts val="0"/>
              </a:spcAft>
              <a:buClr>
                <a:schemeClr val="accent3"/>
              </a:buClr>
              <a:buSzPts val="2400"/>
              <a:buFont typeface="Arial"/>
              <a:buChar char="○"/>
            </a:pPr>
            <a:r>
              <a:rPr b="0" i="0" lang="en-US" sz="2400" u="none" cap="none" strike="noStrike">
                <a:solidFill>
                  <a:schemeClr val="dk1"/>
                </a:solidFill>
                <a:latin typeface="Cambria Math"/>
                <a:ea typeface="Cambria Math"/>
                <a:cs typeface="Cambria Math"/>
                <a:sym typeface="Cambria Math"/>
              </a:rPr>
              <a:t>Then subtract the number of joint CS/math majors.</a:t>
            </a:r>
            <a:endParaRPr b="0" i="0" sz="2400" u="none" cap="none" strike="noStrike">
              <a:solidFill>
                <a:srgbClr val="000000"/>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rPr b="0" i="0" lang="en-US" sz="2400" u="none" cap="none" strike="noStrike">
                <a:solidFill>
                  <a:schemeClr val="dk1"/>
                </a:solidFill>
                <a:latin typeface="Cambria Math"/>
                <a:ea typeface="Cambria Math"/>
                <a:cs typeface="Cambria Math"/>
                <a:sym typeface="Cambria Math"/>
              </a:rPr>
              <a:t> </a:t>
            </a:r>
            <a:endParaRPr b="0" i="0" sz="2400" u="none" cap="none" strike="noStrike">
              <a:solidFill>
                <a:schemeClr val="dk1"/>
              </a:solidFill>
              <a:latin typeface="Cambria Math"/>
              <a:ea typeface="Cambria Math"/>
              <a:cs typeface="Cambria Math"/>
              <a:sym typeface="Cambria Math"/>
            </a:endParaRPr>
          </a:p>
        </p:txBody>
      </p:sp>
      <p:grpSp>
        <p:nvGrpSpPr>
          <p:cNvPr id="212" name="Google Shape;212;p20"/>
          <p:cNvGrpSpPr/>
          <p:nvPr/>
        </p:nvGrpSpPr>
        <p:grpSpPr>
          <a:xfrm>
            <a:off x="5158827" y="1333247"/>
            <a:ext cx="3466376" cy="1774134"/>
            <a:chOff x="5715000" y="4724400"/>
            <a:chExt cx="3429000" cy="1447800"/>
          </a:xfrm>
        </p:grpSpPr>
        <p:sp>
          <p:nvSpPr>
            <p:cNvPr id="213" name="Google Shape;213;p20"/>
            <p:cNvSpPr/>
            <p:nvPr/>
          </p:nvSpPr>
          <p:spPr>
            <a:xfrm>
              <a:off x="6934200" y="5105400"/>
              <a:ext cx="533400" cy="838200"/>
            </a:xfrm>
            <a:prstGeom prst="ellipse">
              <a:avLst/>
            </a:prstGeom>
            <a:solidFill>
              <a:srgbClr val="B2E9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214" name="Google Shape;214;p20"/>
            <p:cNvGrpSpPr/>
            <p:nvPr/>
          </p:nvGrpSpPr>
          <p:grpSpPr>
            <a:xfrm>
              <a:off x="5715000" y="4724400"/>
              <a:ext cx="2971800" cy="1447800"/>
              <a:chOff x="5715000" y="4724400"/>
              <a:chExt cx="2971800" cy="1447800"/>
            </a:xfrm>
          </p:grpSpPr>
          <p:sp>
            <p:nvSpPr>
              <p:cNvPr id="215" name="Google Shape;215;p20"/>
              <p:cNvSpPr/>
              <p:nvPr/>
            </p:nvSpPr>
            <p:spPr>
              <a:xfrm>
                <a:off x="5715000" y="47244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216" name="Google Shape;216;p20"/>
              <p:cNvGrpSpPr/>
              <p:nvPr/>
            </p:nvGrpSpPr>
            <p:grpSpPr>
              <a:xfrm>
                <a:off x="6248400" y="5029200"/>
                <a:ext cx="1905000" cy="990600"/>
                <a:chOff x="6248400" y="5029200"/>
                <a:chExt cx="1905000" cy="990600"/>
              </a:xfrm>
            </p:grpSpPr>
            <p:sp>
              <p:nvSpPr>
                <p:cNvPr id="217" name="Google Shape;217;p20"/>
                <p:cNvSpPr/>
                <p:nvPr/>
              </p:nvSpPr>
              <p:spPr>
                <a:xfrm>
                  <a:off x="62484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218" name="Google Shape;218;p20"/>
                <p:cNvSpPr/>
                <p:nvPr/>
              </p:nvSpPr>
              <p:spPr>
                <a:xfrm>
                  <a:off x="69342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grpSp>
        <p:grpSp>
          <p:nvGrpSpPr>
            <p:cNvPr id="219" name="Google Shape;219;p20"/>
            <p:cNvGrpSpPr/>
            <p:nvPr/>
          </p:nvGrpSpPr>
          <p:grpSpPr>
            <a:xfrm>
              <a:off x="6400800" y="4800600"/>
              <a:ext cx="2743200" cy="758700"/>
              <a:chOff x="6400800" y="4800600"/>
              <a:chExt cx="2743200" cy="758700"/>
            </a:xfrm>
          </p:grpSpPr>
          <p:sp>
            <p:nvSpPr>
              <p:cNvPr id="220" name="Google Shape;220;p20"/>
              <p:cNvSpPr txBox="1"/>
              <p:nvPr/>
            </p:nvSpPr>
            <p:spPr>
              <a:xfrm>
                <a:off x="8305800" y="4800600"/>
                <a:ext cx="8382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sp>
            <p:nvSpPr>
              <p:cNvPr id="221" name="Google Shape;221;p20"/>
              <p:cNvSpPr txBox="1"/>
              <p:nvPr/>
            </p:nvSpPr>
            <p:spPr>
              <a:xfrm>
                <a:off x="6400800" y="5181600"/>
                <a:ext cx="3810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222" name="Google Shape;222;p20"/>
              <p:cNvSpPr txBox="1"/>
              <p:nvPr/>
            </p:nvSpPr>
            <p:spPr>
              <a:xfrm>
                <a:off x="7620000" y="5257800"/>
                <a:ext cx="3810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B</a:t>
                </a:r>
                <a:endParaRPr b="0" i="1" sz="1800" u="none" cap="none" strike="noStrike">
                  <a:solidFill>
                    <a:schemeClr val="dk1"/>
                  </a:solidFill>
                  <a:latin typeface="Constantia"/>
                  <a:ea typeface="Constantia"/>
                  <a:cs typeface="Constantia"/>
                  <a:sym typeface="Constantia"/>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1"/>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Inclusion-Exclusion Principle</a:t>
            </a:r>
            <a:endParaRPr sz="3600"/>
          </a:p>
        </p:txBody>
      </p:sp>
      <p:sp>
        <p:nvSpPr>
          <p:cNvPr id="228" name="Google Shape;228;p21"/>
          <p:cNvSpPr txBox="1"/>
          <p:nvPr/>
        </p:nvSpPr>
        <p:spPr>
          <a:xfrm>
            <a:off x="457200" y="923125"/>
            <a:ext cx="8458200" cy="53709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100000"/>
              </a:lnSpc>
              <a:spcBef>
                <a:spcPts val="364"/>
              </a:spcBef>
              <a:spcAft>
                <a:spcPts val="0"/>
              </a:spcAft>
              <a:buClr>
                <a:srgbClr val="000000"/>
              </a:buClr>
              <a:buSzPts val="2600"/>
              <a:buFont typeface="Arial"/>
              <a:buNone/>
            </a:pPr>
            <a:r>
              <a:rPr b="1" i="0" lang="en-US" sz="2400" u="none" cap="none" strike="noStrike">
                <a:solidFill>
                  <a:schemeClr val="dk1"/>
                </a:solidFill>
                <a:latin typeface="Cambria Math"/>
                <a:ea typeface="Cambria Math"/>
                <a:cs typeface="Cambria Math"/>
                <a:sym typeface="Cambria Math"/>
              </a:rPr>
              <a:t>Example: </a:t>
            </a:r>
            <a:r>
              <a:rPr b="0" i="0" lang="en-US" sz="2400" u="none" cap="none" strike="noStrike">
                <a:solidFill>
                  <a:schemeClr val="dk1"/>
                </a:solidFill>
                <a:latin typeface="Cambria Math"/>
                <a:ea typeface="Cambria Math"/>
                <a:cs typeface="Cambria Math"/>
                <a:sym typeface="Cambria Math"/>
              </a:rPr>
              <a:t>A restaurant served 50 guests one day. At the end, there was 37 orders of burgers and 29 orders of smoothies. If everyone ordered a burger or a smoothie that day, how many people ordered both?</a:t>
            </a:r>
            <a:endParaRPr b="0" i="0" sz="2400" u="none" cap="none" strike="noStrike">
              <a:solidFill>
                <a:schemeClr val="dk1"/>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rPr b="1" i="0" lang="en-US" sz="2400" u="none" cap="none" strike="noStrike">
                <a:solidFill>
                  <a:schemeClr val="dk1"/>
                </a:solidFill>
                <a:latin typeface="Cambria Math"/>
                <a:ea typeface="Cambria Math"/>
                <a:cs typeface="Cambria Math"/>
                <a:sym typeface="Cambria Math"/>
              </a:rPr>
              <a:t>Solution:</a:t>
            </a:r>
            <a:endParaRPr b="1" i="0" sz="2400" u="none" cap="none" strike="noStrike">
              <a:solidFill>
                <a:schemeClr val="dk1"/>
              </a:solidFill>
              <a:latin typeface="Cambria Math"/>
              <a:ea typeface="Cambria Math"/>
              <a:cs typeface="Cambria Math"/>
              <a:sym typeface="Cambria Math"/>
            </a:endParaRPr>
          </a:p>
          <a:p>
            <a:pPr indent="9525" lvl="0" marL="0" marR="0" rtl="0" algn="l">
              <a:lnSpc>
                <a:spcPct val="100000"/>
              </a:lnSpc>
              <a:spcBef>
                <a:spcPts val="364"/>
              </a:spcBef>
              <a:spcAft>
                <a:spcPts val="0"/>
              </a:spcAft>
              <a:buClr>
                <a:srgbClr val="000000"/>
              </a:buClr>
              <a:buSzPts val="2600"/>
              <a:buFont typeface="Arial"/>
              <a:buNone/>
            </a:pPr>
            <a:r>
              <a:rPr b="0" i="0" lang="en-US" sz="2400" u="none" cap="none" strike="noStrike">
                <a:solidFill>
                  <a:schemeClr val="dk1"/>
                </a:solidFill>
                <a:latin typeface="Cambria Math"/>
                <a:ea typeface="Cambria Math"/>
                <a:cs typeface="Cambria Math"/>
                <a:sym typeface="Cambria Math"/>
              </a:rPr>
              <a:t>Let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and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be the sets of people who ordered burgers and smoothies respectively. Then,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37 and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29.</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rPr b="0" i="0" lang="en-US" sz="2400" u="none" cap="none" strike="noStrike">
                <a:solidFill>
                  <a:schemeClr val="dk1"/>
                </a:solidFill>
                <a:latin typeface="Cambria Math"/>
                <a:ea typeface="Cambria Math"/>
                <a:cs typeface="Cambria Math"/>
                <a:sym typeface="Cambria Math"/>
              </a:rPr>
              <a:t>Since,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50 </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rPr b="0" i="0" lang="en-US" sz="2400" u="none" cap="none" strike="noStrike">
                <a:solidFill>
                  <a:schemeClr val="dk1"/>
                </a:solidFill>
                <a:latin typeface="Cambria Math"/>
                <a:ea typeface="Cambria Math"/>
                <a:cs typeface="Cambria Math"/>
                <a:sym typeface="Cambria Math"/>
              </a:rPr>
              <a:t>=&gt;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50</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rPr b="0" i="0" lang="en-US" sz="2400" u="none" cap="none" strike="noStrike">
                <a:solidFill>
                  <a:schemeClr val="dk1"/>
                </a:solidFill>
                <a:latin typeface="Cambria Math"/>
                <a:ea typeface="Cambria Math"/>
                <a:cs typeface="Cambria Math"/>
                <a:sym typeface="Cambria Math"/>
              </a:rPr>
              <a:t>=&gt;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− 50</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rPr b="0" i="0" lang="en-US" sz="2400" u="none" cap="none" strike="noStrike">
                <a:solidFill>
                  <a:schemeClr val="dk1"/>
                </a:solidFill>
                <a:latin typeface="Cambria Math"/>
                <a:ea typeface="Cambria Math"/>
                <a:cs typeface="Cambria Math"/>
                <a:sym typeface="Cambria Math"/>
              </a:rPr>
              <a:t>=&gt;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37 + 29 − 50 = 16.</a:t>
            </a:r>
            <a:endParaRPr b="0" i="0" sz="2400" u="none" cap="none" strike="noStrike">
              <a:solidFill>
                <a:schemeClr val="dk1"/>
              </a:solidFill>
              <a:latin typeface="Cambria Math"/>
              <a:ea typeface="Cambria Math"/>
              <a:cs typeface="Cambria Math"/>
              <a:sym typeface="Cambria Math"/>
            </a:endParaRPr>
          </a:p>
        </p:txBody>
      </p:sp>
      <p:grpSp>
        <p:nvGrpSpPr>
          <p:cNvPr id="229" name="Google Shape;229;p21"/>
          <p:cNvGrpSpPr/>
          <p:nvPr/>
        </p:nvGrpSpPr>
        <p:grpSpPr>
          <a:xfrm>
            <a:off x="5069127" y="4164147"/>
            <a:ext cx="3466376" cy="1774134"/>
            <a:chOff x="5715000" y="4724400"/>
            <a:chExt cx="3429000" cy="1447800"/>
          </a:xfrm>
        </p:grpSpPr>
        <p:sp>
          <p:nvSpPr>
            <p:cNvPr id="230" name="Google Shape;230;p21"/>
            <p:cNvSpPr/>
            <p:nvPr/>
          </p:nvSpPr>
          <p:spPr>
            <a:xfrm>
              <a:off x="6934200" y="5105400"/>
              <a:ext cx="533400" cy="838200"/>
            </a:xfrm>
            <a:prstGeom prst="ellipse">
              <a:avLst/>
            </a:prstGeom>
            <a:solidFill>
              <a:srgbClr val="B2E9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231" name="Google Shape;231;p21"/>
            <p:cNvGrpSpPr/>
            <p:nvPr/>
          </p:nvGrpSpPr>
          <p:grpSpPr>
            <a:xfrm>
              <a:off x="5715000" y="4724400"/>
              <a:ext cx="2971800" cy="1447800"/>
              <a:chOff x="5715000" y="4724400"/>
              <a:chExt cx="2971800" cy="1447800"/>
            </a:xfrm>
          </p:grpSpPr>
          <p:sp>
            <p:nvSpPr>
              <p:cNvPr id="232" name="Google Shape;232;p21"/>
              <p:cNvSpPr/>
              <p:nvPr/>
            </p:nvSpPr>
            <p:spPr>
              <a:xfrm>
                <a:off x="5715000" y="47244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233" name="Google Shape;233;p21"/>
              <p:cNvGrpSpPr/>
              <p:nvPr/>
            </p:nvGrpSpPr>
            <p:grpSpPr>
              <a:xfrm>
                <a:off x="6248400" y="5029200"/>
                <a:ext cx="1905000" cy="990600"/>
                <a:chOff x="6248400" y="5029200"/>
                <a:chExt cx="1905000" cy="990600"/>
              </a:xfrm>
            </p:grpSpPr>
            <p:sp>
              <p:nvSpPr>
                <p:cNvPr id="234" name="Google Shape;234;p21"/>
                <p:cNvSpPr/>
                <p:nvPr/>
              </p:nvSpPr>
              <p:spPr>
                <a:xfrm>
                  <a:off x="62484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235" name="Google Shape;235;p21"/>
                <p:cNvSpPr/>
                <p:nvPr/>
              </p:nvSpPr>
              <p:spPr>
                <a:xfrm>
                  <a:off x="69342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grpSp>
        <p:grpSp>
          <p:nvGrpSpPr>
            <p:cNvPr id="236" name="Google Shape;236;p21"/>
            <p:cNvGrpSpPr/>
            <p:nvPr/>
          </p:nvGrpSpPr>
          <p:grpSpPr>
            <a:xfrm>
              <a:off x="6400800" y="4800600"/>
              <a:ext cx="2743200" cy="758700"/>
              <a:chOff x="6400800" y="4800600"/>
              <a:chExt cx="2743200" cy="758700"/>
            </a:xfrm>
          </p:grpSpPr>
          <p:sp>
            <p:nvSpPr>
              <p:cNvPr id="237" name="Google Shape;237;p21"/>
              <p:cNvSpPr txBox="1"/>
              <p:nvPr/>
            </p:nvSpPr>
            <p:spPr>
              <a:xfrm>
                <a:off x="8305800" y="4800600"/>
                <a:ext cx="8382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sp>
            <p:nvSpPr>
              <p:cNvPr id="238" name="Google Shape;238;p21"/>
              <p:cNvSpPr txBox="1"/>
              <p:nvPr/>
            </p:nvSpPr>
            <p:spPr>
              <a:xfrm>
                <a:off x="6400800" y="5181600"/>
                <a:ext cx="3810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239" name="Google Shape;239;p21"/>
              <p:cNvSpPr txBox="1"/>
              <p:nvPr/>
            </p:nvSpPr>
            <p:spPr>
              <a:xfrm>
                <a:off x="7620000" y="5257800"/>
                <a:ext cx="3810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B</a:t>
                </a:r>
                <a:endParaRPr b="0" i="1" sz="1800" u="none" cap="none" strike="noStrike">
                  <a:solidFill>
                    <a:schemeClr val="dk1"/>
                  </a:solidFill>
                  <a:latin typeface="Constantia"/>
                  <a:ea typeface="Constantia"/>
                  <a:cs typeface="Constantia"/>
                  <a:sym typeface="Constantia"/>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22"/>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Inclusion-Exclusion Principle</a:t>
            </a:r>
            <a:endParaRPr sz="3600"/>
          </a:p>
        </p:txBody>
      </p:sp>
      <p:sp>
        <p:nvSpPr>
          <p:cNvPr id="245" name="Google Shape;245;p22"/>
          <p:cNvSpPr txBox="1"/>
          <p:nvPr/>
        </p:nvSpPr>
        <p:spPr>
          <a:xfrm>
            <a:off x="457200" y="923125"/>
            <a:ext cx="8458200" cy="53709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100000"/>
              </a:lnSpc>
              <a:spcBef>
                <a:spcPts val="364"/>
              </a:spcBef>
              <a:spcAft>
                <a:spcPts val="0"/>
              </a:spcAft>
              <a:buClr>
                <a:srgbClr val="000000"/>
              </a:buClr>
              <a:buSzPts val="2600"/>
              <a:buFont typeface="Arial"/>
              <a:buNone/>
            </a:pPr>
            <a:r>
              <a:rPr b="1" i="0" lang="en-US" sz="2000" u="none" cap="none" strike="noStrike">
                <a:solidFill>
                  <a:schemeClr val="dk1"/>
                </a:solidFill>
                <a:latin typeface="Cambria Math"/>
                <a:ea typeface="Cambria Math"/>
                <a:cs typeface="Cambria Math"/>
                <a:sym typeface="Cambria Math"/>
              </a:rPr>
              <a:t>Example: </a:t>
            </a:r>
            <a:r>
              <a:rPr b="0" i="0" lang="en-US" sz="2000" u="none" cap="none" strike="noStrike">
                <a:solidFill>
                  <a:schemeClr val="dk1"/>
                </a:solidFill>
                <a:latin typeface="Cambria Math"/>
                <a:ea typeface="Cambria Math"/>
                <a:cs typeface="Cambria Math"/>
                <a:sym typeface="Cambria Math"/>
              </a:rPr>
              <a:t>A coding competition had 100 students participating. 50 of the participants were able to solve the first problem. However, for the second and third problem, 39 and 23 students were able to solve them, respectively. </a:t>
            </a:r>
            <a:r>
              <a:rPr b="1" i="0" lang="en-US" sz="2000" u="none" cap="none" strike="noStrike">
                <a:solidFill>
                  <a:schemeClr val="dk1"/>
                </a:solidFill>
                <a:latin typeface="Cambria Math"/>
                <a:ea typeface="Cambria Math"/>
                <a:cs typeface="Cambria Math"/>
                <a:sym typeface="Cambria Math"/>
              </a:rPr>
              <a:t>If 10 students solved all three problems and 12 solved any 2, how many students solved none</a:t>
            </a:r>
            <a:r>
              <a:rPr b="0" i="0" lang="en-US" sz="2000" u="none" cap="none" strike="noStrike">
                <a:solidFill>
                  <a:schemeClr val="dk1"/>
                </a:solidFill>
                <a:latin typeface="Cambria Math"/>
                <a:ea typeface="Cambria Math"/>
                <a:cs typeface="Cambria Math"/>
                <a:sym typeface="Cambria Math"/>
              </a:rPr>
              <a:t>?</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t/>
            </a:r>
            <a:endParaRPr b="0" i="0" sz="2400" u="none" cap="none" strike="noStrike">
              <a:solidFill>
                <a:schemeClr val="dk1"/>
              </a:solidFill>
              <a:latin typeface="Cambria Math"/>
              <a:ea typeface="Cambria Math"/>
              <a:cs typeface="Cambria Math"/>
              <a:sym typeface="Cambria Math"/>
            </a:endParaRPr>
          </a:p>
        </p:txBody>
      </p:sp>
      <p:sp>
        <p:nvSpPr>
          <p:cNvPr id="246" name="Google Shape;246;p22"/>
          <p:cNvSpPr txBox="1"/>
          <p:nvPr/>
        </p:nvSpPr>
        <p:spPr>
          <a:xfrm>
            <a:off x="387425" y="2637750"/>
            <a:ext cx="7850700" cy="387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mbria Math"/>
                <a:ea typeface="Cambria Math"/>
                <a:cs typeface="Cambria Math"/>
                <a:sym typeface="Cambria Math"/>
              </a:rPr>
              <a:t>Solution: </a:t>
            </a:r>
            <a:r>
              <a:rPr b="0" i="0" lang="en-US" sz="2000" u="none" cap="none" strike="noStrike">
                <a:solidFill>
                  <a:schemeClr val="dk1"/>
                </a:solidFill>
                <a:latin typeface="Cambria Math"/>
                <a:ea typeface="Cambria Math"/>
                <a:cs typeface="Cambria Math"/>
                <a:sym typeface="Cambria Math"/>
              </a:rPr>
              <a:t>Let, S1, S2 and S3 be the sets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of students who answered the first,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second and third problem respectively, &amp;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U be the universal set of all participants.</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Then, |S1| = 50 = a+x+z+10,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|S2| = 39 = b+x+y+10, |S3| = 23 = c+y+z+10 and |U| = 100.</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Inferring from the Venn Diagram,</a:t>
            </a:r>
            <a:endParaRPr b="0" i="0" sz="2000" u="none" cap="none" strike="noStrike">
              <a:solidFill>
                <a:schemeClr val="dk1"/>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Number of students that solved zero problems = m,</a:t>
            </a:r>
            <a:endParaRPr b="0" i="0" sz="2000" u="none" cap="none" strike="noStrike">
              <a:solidFill>
                <a:schemeClr val="dk1"/>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Number of students that solved 1 problem = a+b+c,</a:t>
            </a:r>
            <a:endParaRPr b="0" i="0" sz="2000" u="none" cap="none" strike="noStrike">
              <a:solidFill>
                <a:schemeClr val="dk1"/>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Number of students that solved 2 problems = x+y+z = 12 (given), </a:t>
            </a:r>
            <a:endParaRPr b="0" i="0" sz="2000" u="none" cap="none" strike="noStrike">
              <a:solidFill>
                <a:schemeClr val="dk1"/>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Number of students that solved all 3 problems = 10.</a:t>
            </a:r>
            <a:endParaRPr b="0" i="0" sz="2000" u="none" cap="none" strike="noStrike">
              <a:solidFill>
                <a:schemeClr val="dk1"/>
              </a:solidFill>
              <a:latin typeface="Cambria Math"/>
              <a:ea typeface="Cambria Math"/>
              <a:cs typeface="Cambria Math"/>
              <a:sym typeface="Cambria Math"/>
            </a:endParaRPr>
          </a:p>
        </p:txBody>
      </p:sp>
      <p:pic>
        <p:nvPicPr>
          <p:cNvPr id="247" name="Google Shape;247;p22"/>
          <p:cNvPicPr preferRelativeResize="0"/>
          <p:nvPr/>
        </p:nvPicPr>
        <p:blipFill rotWithShape="1">
          <a:blip r:embed="rId3">
            <a:alphaModFix/>
          </a:blip>
          <a:srcRect b="21669" l="3008" r="5559" t="10015"/>
          <a:stretch/>
        </p:blipFill>
        <p:spPr>
          <a:xfrm>
            <a:off x="4978525" y="2221975"/>
            <a:ext cx="3965902" cy="23302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3"/>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Inclusion-Exclusion Principle</a:t>
            </a:r>
            <a:endParaRPr sz="3600"/>
          </a:p>
        </p:txBody>
      </p:sp>
      <p:sp>
        <p:nvSpPr>
          <p:cNvPr id="253" name="Google Shape;253;p23"/>
          <p:cNvSpPr txBox="1"/>
          <p:nvPr/>
        </p:nvSpPr>
        <p:spPr>
          <a:xfrm>
            <a:off x="457200" y="923125"/>
            <a:ext cx="8458200" cy="53709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100000"/>
              </a:lnSpc>
              <a:spcBef>
                <a:spcPts val="364"/>
              </a:spcBef>
              <a:spcAft>
                <a:spcPts val="0"/>
              </a:spcAft>
              <a:buClr>
                <a:srgbClr val="000000"/>
              </a:buClr>
              <a:buSzPts val="2600"/>
              <a:buFont typeface="Arial"/>
              <a:buNone/>
            </a:pPr>
            <a:r>
              <a:rPr b="1" i="0" lang="en-US" sz="2000" u="none" cap="none" strike="noStrike">
                <a:solidFill>
                  <a:schemeClr val="dk1"/>
                </a:solidFill>
                <a:latin typeface="Cambria Math"/>
                <a:ea typeface="Cambria Math"/>
                <a:cs typeface="Cambria Math"/>
                <a:sym typeface="Cambria Math"/>
              </a:rPr>
              <a:t>Example: </a:t>
            </a:r>
            <a:r>
              <a:rPr b="0" i="0" lang="en-US" sz="2000" u="none" cap="none" strike="noStrike">
                <a:solidFill>
                  <a:schemeClr val="dk1"/>
                </a:solidFill>
                <a:latin typeface="Cambria Math"/>
                <a:ea typeface="Cambria Math"/>
                <a:cs typeface="Cambria Math"/>
                <a:sym typeface="Cambria Math"/>
              </a:rPr>
              <a:t>A coding competition had 100 students participating. 50 of the participants were able to solve the first problem. However, for the second and third problem, 39 and 23 students were able to solve them, respectively. </a:t>
            </a:r>
            <a:r>
              <a:rPr b="1" i="0" lang="en-US" sz="2000" u="none" cap="none" strike="noStrike">
                <a:solidFill>
                  <a:schemeClr val="dk1"/>
                </a:solidFill>
                <a:latin typeface="Cambria Math"/>
                <a:ea typeface="Cambria Math"/>
                <a:cs typeface="Cambria Math"/>
                <a:sym typeface="Cambria Math"/>
              </a:rPr>
              <a:t>If 10 students solved all three problems and 12 solved any 2, how many students solved none</a:t>
            </a:r>
            <a:r>
              <a:rPr b="0" i="0" lang="en-US" sz="2000" u="none" cap="none" strike="noStrike">
                <a:solidFill>
                  <a:schemeClr val="dk1"/>
                </a:solidFill>
                <a:latin typeface="Cambria Math"/>
                <a:ea typeface="Cambria Math"/>
                <a:cs typeface="Cambria Math"/>
                <a:sym typeface="Cambria Math"/>
              </a:rPr>
              <a:t>?</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t/>
            </a:r>
            <a:endParaRPr b="0" i="0" sz="2400" u="none" cap="none" strike="noStrike">
              <a:solidFill>
                <a:schemeClr val="dk1"/>
              </a:solidFill>
              <a:latin typeface="Cambria Math"/>
              <a:ea typeface="Cambria Math"/>
              <a:cs typeface="Cambria Math"/>
              <a:sym typeface="Cambria Math"/>
            </a:endParaRPr>
          </a:p>
        </p:txBody>
      </p:sp>
      <p:sp>
        <p:nvSpPr>
          <p:cNvPr id="254" name="Google Shape;254;p23"/>
          <p:cNvSpPr txBox="1"/>
          <p:nvPr/>
        </p:nvSpPr>
        <p:spPr>
          <a:xfrm>
            <a:off x="387425" y="2637750"/>
            <a:ext cx="7850700" cy="3570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mbria Math"/>
                <a:ea typeface="Cambria Math"/>
                <a:cs typeface="Cambria Math"/>
                <a:sym typeface="Cambria Math"/>
              </a:rPr>
              <a:t>Solution (continued):</a:t>
            </a:r>
            <a:endParaRPr b="1"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Here,  |S1|+|S2|+|S3| = 50+39+23</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=&gt; (a+x+z+10)+(b+x+y+10)+</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        (c+y+z+10) = 112</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=&gt; a+b+c+2x+2y+2z = 82</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=&gt; a+b+c = 82 – 2(x+y+z)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=&gt; a+b+c = 82 – 2*12 = 58</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So, 58 students solved exactly 1 problem.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Also, |U| = m+(a+b+c)+(x+y+z)+10 = 100.</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=&gt; m+58+12+10=100 =&gt; m = 100–80 = 20.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Thus, 20 students solved zero problems.</a:t>
            </a:r>
            <a:endParaRPr b="0" i="0" sz="2000" u="none" cap="none" strike="noStrike">
              <a:solidFill>
                <a:schemeClr val="dk1"/>
              </a:solidFill>
              <a:latin typeface="Cambria Math"/>
              <a:ea typeface="Cambria Math"/>
              <a:cs typeface="Cambria Math"/>
              <a:sym typeface="Cambria Math"/>
            </a:endParaRPr>
          </a:p>
        </p:txBody>
      </p:sp>
      <p:pic>
        <p:nvPicPr>
          <p:cNvPr id="255" name="Google Shape;255;p23"/>
          <p:cNvPicPr preferRelativeResize="0"/>
          <p:nvPr/>
        </p:nvPicPr>
        <p:blipFill rotWithShape="1">
          <a:blip r:embed="rId3">
            <a:alphaModFix/>
          </a:blip>
          <a:srcRect b="21669" l="3008" r="5559" t="10015"/>
          <a:stretch/>
        </p:blipFill>
        <p:spPr>
          <a:xfrm>
            <a:off x="4978525" y="2221975"/>
            <a:ext cx="3965902" cy="23302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9" name="Shape 259"/>
        <p:cNvGrpSpPr/>
        <p:nvPr/>
      </p:nvGrpSpPr>
      <p:grpSpPr>
        <a:xfrm>
          <a:off x="0" y="0"/>
          <a:ext cx="0" cy="0"/>
          <a:chOff x="0" y="0"/>
          <a:chExt cx="0" cy="0"/>
        </a:xfrm>
      </p:grpSpPr>
      <p:sp>
        <p:nvSpPr>
          <p:cNvPr id="260" name="Google Shape;260;p24"/>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Inclusion-Exclusion Principle for 3 Sets</a:t>
            </a:r>
            <a:endParaRPr sz="3600"/>
          </a:p>
        </p:txBody>
      </p:sp>
      <p:sp>
        <p:nvSpPr>
          <p:cNvPr id="261" name="Google Shape;261;p24"/>
          <p:cNvSpPr txBox="1"/>
          <p:nvPr/>
        </p:nvSpPr>
        <p:spPr>
          <a:xfrm>
            <a:off x="293550" y="923125"/>
            <a:ext cx="8621700" cy="5370900"/>
          </a:xfrm>
          <a:prstGeom prst="rect">
            <a:avLst/>
          </a:prstGeom>
          <a:noFill/>
          <a:ln>
            <a:noFill/>
          </a:ln>
        </p:spPr>
        <p:txBody>
          <a:bodyPr anchorCtr="0" anchor="t" bIns="45700" lIns="91425" spcFirstLastPara="1" rIns="91425" wrap="square" tIns="45700">
            <a:noAutofit/>
          </a:bodyPr>
          <a:lstStyle/>
          <a:p>
            <a:pPr indent="-248920" lvl="0" marL="274320" marR="0" rtl="0" algn="l">
              <a:lnSpc>
                <a:spcPct val="100000"/>
              </a:lnSpc>
              <a:spcBef>
                <a:spcPts val="0"/>
              </a:spcBef>
              <a:spcAft>
                <a:spcPts val="0"/>
              </a:spcAft>
              <a:buClr>
                <a:schemeClr val="accent3"/>
              </a:buClr>
              <a:buSzPts val="2000"/>
              <a:buFont typeface="Cambria Math"/>
              <a:buChar char="•"/>
            </a:pPr>
            <a:r>
              <a:rPr b="0" i="0" lang="en-US" sz="2000" u="none" cap="none" strike="noStrike">
                <a:solidFill>
                  <a:schemeClr val="dk1"/>
                </a:solidFill>
                <a:latin typeface="Cambria Math"/>
                <a:ea typeface="Cambria Math"/>
                <a:cs typeface="Cambria Math"/>
                <a:sym typeface="Cambria Math"/>
              </a:rPr>
              <a:t>For 3 sets, the Inclusion-Exclusion Principle becomes:</a:t>
            </a:r>
            <a:endParaRPr b="0" i="0" sz="2000" u="none" cap="none" strike="noStrike">
              <a:solidFill>
                <a:srgbClr val="000000"/>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rPr b="1" i="0" lang="en-US" sz="2000" u="none" cap="none" strike="noStrike">
                <a:solidFill>
                  <a:schemeClr val="dk1"/>
                </a:solidFill>
                <a:latin typeface="Cambria Math"/>
                <a:ea typeface="Cambria Math"/>
                <a:cs typeface="Cambria Math"/>
                <a:sym typeface="Cambria Math"/>
              </a:rPr>
              <a:t>   |A ∪ B ∪ C| = </a:t>
            </a:r>
            <a:r>
              <a:rPr b="1" i="0" lang="en-US" sz="2000" u="none" cap="none" strike="noStrike">
                <a:solidFill>
                  <a:srgbClr val="9C254D"/>
                </a:solidFill>
                <a:latin typeface="Cambria Math"/>
                <a:ea typeface="Cambria Math"/>
                <a:cs typeface="Cambria Math"/>
                <a:sym typeface="Cambria Math"/>
              </a:rPr>
              <a:t>|A| + |B| + |C|</a:t>
            </a:r>
            <a:r>
              <a:rPr b="1" i="0" lang="en-US" sz="2000" u="none" cap="none" strike="noStrike">
                <a:solidFill>
                  <a:schemeClr val="dk1"/>
                </a:solidFill>
                <a:latin typeface="Cambria Math"/>
                <a:ea typeface="Cambria Math"/>
                <a:cs typeface="Cambria Math"/>
                <a:sym typeface="Cambria Math"/>
              </a:rPr>
              <a:t> </a:t>
            </a:r>
            <a:r>
              <a:rPr b="1" i="0" lang="en-US" sz="2000" u="none" cap="none" strike="noStrike">
                <a:solidFill>
                  <a:srgbClr val="3949AB"/>
                </a:solidFill>
                <a:latin typeface="Cambria Math"/>
                <a:ea typeface="Cambria Math"/>
                <a:cs typeface="Cambria Math"/>
                <a:sym typeface="Cambria Math"/>
              </a:rPr>
              <a:t>− |A ∩ B| − |B ∩ C| − |C ∩ A|</a:t>
            </a:r>
            <a:r>
              <a:rPr b="1" i="0" lang="en-US" sz="2000" u="none" cap="none" strike="noStrike">
                <a:solidFill>
                  <a:schemeClr val="dk1"/>
                </a:solidFill>
                <a:latin typeface="Cambria Math"/>
                <a:ea typeface="Cambria Math"/>
                <a:cs typeface="Cambria Math"/>
                <a:sym typeface="Cambria Math"/>
              </a:rPr>
              <a:t> </a:t>
            </a:r>
            <a:r>
              <a:rPr b="1" i="0" lang="en-US" sz="2000" u="none" cap="none" strike="noStrike">
                <a:solidFill>
                  <a:srgbClr val="21B2C8"/>
                </a:solidFill>
                <a:latin typeface="Cambria Math"/>
                <a:ea typeface="Cambria Math"/>
                <a:cs typeface="Cambria Math"/>
                <a:sym typeface="Cambria Math"/>
              </a:rPr>
              <a:t>+ |A ∩ B ∩ C|</a:t>
            </a:r>
            <a:endParaRPr b="1" i="0" sz="2000" u="none" cap="none" strike="noStrike">
              <a:solidFill>
                <a:srgbClr val="21B2C8"/>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p:txBody>
      </p:sp>
      <p:pic>
        <p:nvPicPr>
          <p:cNvPr id="262" name="Google Shape;262;p24"/>
          <p:cNvPicPr preferRelativeResize="0"/>
          <p:nvPr/>
        </p:nvPicPr>
        <p:blipFill rotWithShape="1">
          <a:blip r:embed="rId3">
            <a:alphaModFix/>
          </a:blip>
          <a:srcRect b="0" l="0" r="0" t="0"/>
          <a:stretch/>
        </p:blipFill>
        <p:spPr>
          <a:xfrm>
            <a:off x="304800" y="1955001"/>
            <a:ext cx="8534401" cy="34170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p25"/>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Inclusion-Exclusion Principle for 3 Sets</a:t>
            </a:r>
            <a:endParaRPr sz="3600"/>
          </a:p>
        </p:txBody>
      </p:sp>
      <p:sp>
        <p:nvSpPr>
          <p:cNvPr id="268" name="Google Shape;268;p25"/>
          <p:cNvSpPr txBox="1"/>
          <p:nvPr/>
        </p:nvSpPr>
        <p:spPr>
          <a:xfrm>
            <a:off x="293550" y="923125"/>
            <a:ext cx="8621700" cy="5370900"/>
          </a:xfrm>
          <a:prstGeom prst="rect">
            <a:avLst/>
          </a:prstGeom>
          <a:noFill/>
          <a:ln>
            <a:noFill/>
          </a:ln>
        </p:spPr>
        <p:txBody>
          <a:bodyPr anchorCtr="0" anchor="t" bIns="45700" lIns="91425" spcFirstLastPara="1" rIns="91425" wrap="square" tIns="45700">
            <a:noAutofit/>
          </a:bodyPr>
          <a:lstStyle/>
          <a:p>
            <a:pPr indent="-248920" lvl="0" marL="274320" marR="0" rtl="0" algn="l">
              <a:lnSpc>
                <a:spcPct val="100000"/>
              </a:lnSpc>
              <a:spcBef>
                <a:spcPts val="0"/>
              </a:spcBef>
              <a:spcAft>
                <a:spcPts val="0"/>
              </a:spcAft>
              <a:buClr>
                <a:schemeClr val="accent3"/>
              </a:buClr>
              <a:buSzPts val="2000"/>
              <a:buFont typeface="Cambria Math"/>
              <a:buChar char="•"/>
            </a:pPr>
            <a:r>
              <a:rPr b="1" i="0" lang="en-US" sz="2000" u="none" cap="none" strike="noStrike">
                <a:solidFill>
                  <a:schemeClr val="dk1"/>
                </a:solidFill>
                <a:latin typeface="Cambria Math"/>
                <a:ea typeface="Cambria Math"/>
                <a:cs typeface="Cambria Math"/>
                <a:sym typeface="Cambria Math"/>
              </a:rPr>
              <a:t>Example:</a:t>
            </a:r>
            <a:r>
              <a:rPr b="0" i="0" lang="en-US" sz="2000" u="none" cap="none" strike="noStrike">
                <a:solidFill>
                  <a:schemeClr val="dk1"/>
                </a:solidFill>
                <a:latin typeface="Cambria Math"/>
                <a:ea typeface="Cambria Math"/>
                <a:cs typeface="Cambria Math"/>
                <a:sym typeface="Cambria Math"/>
              </a:rPr>
              <a:t> In a class,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3949AB"/>
                </a:solidFill>
                <a:latin typeface="Cambria Math"/>
                <a:ea typeface="Cambria Math"/>
                <a:cs typeface="Cambria Math"/>
                <a:sym typeface="Cambria Math"/>
              </a:rPr>
              <a:t>1232 students have taken a course in Spanish, </a:t>
            </a:r>
            <a:endParaRPr b="0" i="0" sz="2000" u="none" cap="none" strike="noStrike">
              <a:solidFill>
                <a:srgbClr val="3949AB"/>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9C254D"/>
                </a:solidFill>
                <a:latin typeface="Cambria Math"/>
                <a:ea typeface="Cambria Math"/>
                <a:cs typeface="Cambria Math"/>
                <a:sym typeface="Cambria Math"/>
              </a:rPr>
              <a:t>879 have taken a course in French, and </a:t>
            </a:r>
            <a:endParaRPr b="0" i="0" sz="2000" u="none" cap="none" strike="noStrike">
              <a:solidFill>
                <a:srgbClr val="9C254D"/>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38761D"/>
                </a:solidFill>
                <a:latin typeface="Cambria Math"/>
                <a:ea typeface="Cambria Math"/>
                <a:cs typeface="Cambria Math"/>
                <a:sym typeface="Cambria Math"/>
              </a:rPr>
              <a:t>114 have taken a course in Russian. Further, </a:t>
            </a:r>
            <a:endParaRPr b="0" i="0" sz="2000" u="none" cap="none" strike="noStrike">
              <a:solidFill>
                <a:srgbClr val="38761D"/>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3949AB"/>
                </a:solidFill>
                <a:latin typeface="Cambria Math"/>
                <a:ea typeface="Cambria Math"/>
                <a:cs typeface="Cambria Math"/>
                <a:sym typeface="Cambria Math"/>
              </a:rPr>
              <a:t>103 have taken courses in both </a:t>
            </a:r>
            <a:endParaRPr b="0" i="0" sz="2000" u="none" cap="none" strike="noStrike">
              <a:solidFill>
                <a:srgbClr val="3949AB"/>
              </a:solidFill>
              <a:latin typeface="Cambria Math"/>
              <a:ea typeface="Cambria Math"/>
              <a:cs typeface="Cambria Math"/>
              <a:sym typeface="Cambria Math"/>
            </a:endParaRPr>
          </a:p>
          <a:p>
            <a:pPr indent="9525"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3949AB"/>
                </a:solidFill>
                <a:latin typeface="Cambria Math"/>
                <a:ea typeface="Cambria Math"/>
                <a:cs typeface="Cambria Math"/>
                <a:sym typeface="Cambria Math"/>
              </a:rPr>
              <a:t>Spanish and French, </a:t>
            </a:r>
            <a:endParaRPr b="0" i="0" sz="2000" u="none" cap="none" strike="noStrike">
              <a:solidFill>
                <a:srgbClr val="3949AB"/>
              </a:solidFill>
              <a:latin typeface="Cambria Math"/>
              <a:ea typeface="Cambria Math"/>
              <a:cs typeface="Cambria Math"/>
              <a:sym typeface="Cambria Math"/>
            </a:endParaRPr>
          </a:p>
          <a:p>
            <a:pPr indent="9525"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9C254D"/>
                </a:solidFill>
                <a:latin typeface="Cambria Math"/>
                <a:ea typeface="Cambria Math"/>
                <a:cs typeface="Cambria Math"/>
                <a:sym typeface="Cambria Math"/>
              </a:rPr>
              <a:t>23 have taken courses in both </a:t>
            </a:r>
            <a:endParaRPr b="0" i="0" sz="2000" u="none" cap="none" strike="noStrike">
              <a:solidFill>
                <a:srgbClr val="9C254D"/>
              </a:solidFill>
              <a:latin typeface="Cambria Math"/>
              <a:ea typeface="Cambria Math"/>
              <a:cs typeface="Cambria Math"/>
              <a:sym typeface="Cambria Math"/>
            </a:endParaRPr>
          </a:p>
          <a:p>
            <a:pPr indent="9525"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9C254D"/>
                </a:solidFill>
                <a:latin typeface="Cambria Math"/>
                <a:ea typeface="Cambria Math"/>
                <a:cs typeface="Cambria Math"/>
                <a:sym typeface="Cambria Math"/>
              </a:rPr>
              <a:t>Spanish and Russian, and </a:t>
            </a:r>
            <a:endParaRPr b="0" i="0" sz="2000" u="none" cap="none" strike="noStrike">
              <a:solidFill>
                <a:srgbClr val="9C254D"/>
              </a:solidFill>
              <a:latin typeface="Cambria Math"/>
              <a:ea typeface="Cambria Math"/>
              <a:cs typeface="Cambria Math"/>
              <a:sym typeface="Cambria Math"/>
            </a:endParaRPr>
          </a:p>
          <a:p>
            <a:pPr indent="9525"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38761D"/>
                </a:solidFill>
                <a:latin typeface="Cambria Math"/>
                <a:ea typeface="Cambria Math"/>
                <a:cs typeface="Cambria Math"/>
                <a:sym typeface="Cambria Math"/>
              </a:rPr>
              <a:t>14 have taken courses in both </a:t>
            </a:r>
            <a:endParaRPr b="0" i="0" sz="2000" u="none" cap="none" strike="noStrike">
              <a:solidFill>
                <a:srgbClr val="38761D"/>
              </a:solidFill>
              <a:latin typeface="Cambria Math"/>
              <a:ea typeface="Cambria Math"/>
              <a:cs typeface="Cambria Math"/>
              <a:sym typeface="Cambria Math"/>
            </a:endParaRPr>
          </a:p>
          <a:p>
            <a:pPr indent="9525"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38761D"/>
                </a:solidFill>
                <a:latin typeface="Cambria Math"/>
                <a:ea typeface="Cambria Math"/>
                <a:cs typeface="Cambria Math"/>
                <a:sym typeface="Cambria Math"/>
              </a:rPr>
              <a:t>French and Russian.</a:t>
            </a:r>
            <a:r>
              <a:rPr b="0" i="0" lang="en-US" sz="2000" u="none" cap="none" strike="noStrike">
                <a:solidFill>
                  <a:schemeClr val="dk1"/>
                </a:solidFill>
                <a:latin typeface="Cambria Math"/>
                <a:ea typeface="Cambria Math"/>
                <a:cs typeface="Cambria Math"/>
                <a:sym typeface="Cambria Math"/>
              </a:rPr>
              <a:t> </a:t>
            </a:r>
            <a:endParaRPr b="0" i="0" sz="2000" u="none" cap="none" strike="noStrike">
              <a:solidFill>
                <a:schemeClr val="dk1"/>
              </a:solidFill>
              <a:latin typeface="Cambria Math"/>
              <a:ea typeface="Cambria Math"/>
              <a:cs typeface="Cambria Math"/>
              <a:sym typeface="Cambria Math"/>
            </a:endParaRPr>
          </a:p>
          <a:p>
            <a:pPr indent="9525"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3949AB"/>
                </a:solidFill>
                <a:latin typeface="Cambria Math"/>
                <a:ea typeface="Cambria Math"/>
                <a:cs typeface="Cambria Math"/>
                <a:sym typeface="Cambria Math"/>
              </a:rPr>
              <a:t>If 2092 students have taken a course in </a:t>
            </a:r>
            <a:endParaRPr b="0" i="0" sz="2000" u="none" cap="none" strike="noStrike">
              <a:solidFill>
                <a:srgbClr val="3949AB"/>
              </a:solidFill>
              <a:latin typeface="Cambria Math"/>
              <a:ea typeface="Cambria Math"/>
              <a:cs typeface="Cambria Math"/>
              <a:sym typeface="Cambria Math"/>
            </a:endParaRPr>
          </a:p>
          <a:p>
            <a:pPr indent="9525" lvl="0" marL="0" marR="0" rtl="0" algn="l">
              <a:lnSpc>
                <a:spcPct val="100000"/>
              </a:lnSpc>
              <a:spcBef>
                <a:spcPts val="364"/>
              </a:spcBef>
              <a:spcAft>
                <a:spcPts val="0"/>
              </a:spcAft>
              <a:buClr>
                <a:schemeClr val="dk1"/>
              </a:buClr>
              <a:buSzPts val="1100"/>
              <a:buFont typeface="Arial"/>
              <a:buNone/>
            </a:pPr>
            <a:r>
              <a:rPr b="0" i="0" lang="en-US" sz="2000" u="none" cap="none" strike="noStrike">
                <a:solidFill>
                  <a:srgbClr val="3949AB"/>
                </a:solidFill>
                <a:latin typeface="Cambria Math"/>
                <a:ea typeface="Cambria Math"/>
                <a:cs typeface="Cambria Math"/>
                <a:sym typeface="Cambria Math"/>
              </a:rPr>
              <a:t>at least one of Spanish, French and Russian, </a:t>
            </a:r>
            <a:endParaRPr b="0" i="0" sz="2000" u="none" cap="none" strike="noStrike">
              <a:solidFill>
                <a:srgbClr val="3949AB"/>
              </a:solidFill>
              <a:latin typeface="Cambria Math"/>
              <a:ea typeface="Cambria Math"/>
              <a:cs typeface="Cambria Math"/>
              <a:sym typeface="Cambria Math"/>
            </a:endParaRPr>
          </a:p>
          <a:p>
            <a:pPr indent="9525" lvl="0" marL="0" marR="0" rtl="0" algn="l">
              <a:lnSpc>
                <a:spcPct val="100000"/>
              </a:lnSpc>
              <a:spcBef>
                <a:spcPts val="364"/>
              </a:spcBef>
              <a:spcAft>
                <a:spcPts val="0"/>
              </a:spcAft>
              <a:buClr>
                <a:schemeClr val="dk1"/>
              </a:buClr>
              <a:buSzPts val="1100"/>
              <a:buFont typeface="Arial"/>
              <a:buNone/>
            </a:pPr>
            <a:r>
              <a:rPr b="0" i="0" lang="en-US" sz="2000" u="none" cap="none" strike="noStrike">
                <a:solidFill>
                  <a:schemeClr val="dk1"/>
                </a:solidFill>
                <a:latin typeface="Cambria Math"/>
                <a:ea typeface="Cambria Math"/>
                <a:cs typeface="Cambria Math"/>
                <a:sym typeface="Cambria Math"/>
              </a:rPr>
              <a:t>how many students have taken a course in all 3 languages?</a:t>
            </a:r>
            <a:endParaRPr b="0" i="0" sz="2000" u="none" cap="none" strike="noStrike">
              <a:solidFill>
                <a:schemeClr val="dk1"/>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p:txBody>
      </p:sp>
      <p:pic>
        <p:nvPicPr>
          <p:cNvPr id="269" name="Google Shape;269;p25"/>
          <p:cNvPicPr preferRelativeResize="0"/>
          <p:nvPr/>
        </p:nvPicPr>
        <p:blipFill rotWithShape="1">
          <a:blip r:embed="rId3">
            <a:alphaModFix/>
          </a:blip>
          <a:srcRect b="0" l="0" r="0" t="0"/>
          <a:stretch/>
        </p:blipFill>
        <p:spPr>
          <a:xfrm>
            <a:off x="5417094" y="1841387"/>
            <a:ext cx="3608426" cy="32819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p26"/>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Inclusion-Exclusion Principle for 3 Sets</a:t>
            </a:r>
            <a:endParaRPr sz="3600"/>
          </a:p>
        </p:txBody>
      </p:sp>
      <p:sp>
        <p:nvSpPr>
          <p:cNvPr id="275" name="Google Shape;275;p26"/>
          <p:cNvSpPr txBox="1"/>
          <p:nvPr/>
        </p:nvSpPr>
        <p:spPr>
          <a:xfrm>
            <a:off x="293550" y="5047175"/>
            <a:ext cx="8621700" cy="1579800"/>
          </a:xfrm>
          <a:prstGeom prst="rect">
            <a:avLst/>
          </a:prstGeom>
          <a:noFill/>
          <a:ln>
            <a:noFill/>
          </a:ln>
        </p:spPr>
        <p:txBody>
          <a:bodyPr anchorCtr="0" anchor="t" bIns="45700" lIns="91425" spcFirstLastPara="1" rIns="91425" wrap="square" tIns="45700">
            <a:noAutofit/>
          </a:bodyPr>
          <a:lstStyle/>
          <a:p>
            <a:pPr indent="-248920" lvl="0" marL="274320" marR="0" rtl="0" algn="l">
              <a:lnSpc>
                <a:spcPct val="100000"/>
              </a:lnSpc>
              <a:spcBef>
                <a:spcPts val="0"/>
              </a:spcBef>
              <a:spcAft>
                <a:spcPts val="0"/>
              </a:spcAft>
              <a:buClr>
                <a:schemeClr val="accent3"/>
              </a:buClr>
              <a:buSzPts val="2000"/>
              <a:buFont typeface="Cambria Math"/>
              <a:buChar char="•"/>
            </a:pPr>
            <a:r>
              <a:rPr b="1" i="0" lang="en-US" sz="2000" u="none" cap="none" strike="noStrike">
                <a:solidFill>
                  <a:schemeClr val="dk1"/>
                </a:solidFill>
                <a:latin typeface="Cambria Math"/>
                <a:ea typeface="Cambria Math"/>
                <a:cs typeface="Cambria Math"/>
                <a:sym typeface="Cambria Math"/>
              </a:rPr>
              <a:t>Example (Cont.):</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Here, |S∪F∪R| = |S|+ |F|+ |R| − |S∩F| − |S∩R| − |F∩R| + |S∩F∩R|</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    =&gt; 2092 = 1232 + 879 + 114 −103 −23 −14 + |S∩F∩R|.</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    =&gt; |S∩F∩R| = 7.</a:t>
            </a:r>
            <a:endParaRPr b="0" i="0" sz="2000" u="none" cap="none" strike="noStrike">
              <a:solidFill>
                <a:schemeClr val="dk1"/>
              </a:solidFill>
              <a:latin typeface="Cambria Math"/>
              <a:ea typeface="Cambria Math"/>
              <a:cs typeface="Cambria Math"/>
              <a:sym typeface="Cambria Math"/>
            </a:endParaRPr>
          </a:p>
        </p:txBody>
      </p:sp>
      <p:pic>
        <p:nvPicPr>
          <p:cNvPr id="276" name="Google Shape;276;p26"/>
          <p:cNvPicPr preferRelativeResize="0"/>
          <p:nvPr/>
        </p:nvPicPr>
        <p:blipFill rotWithShape="1">
          <a:blip r:embed="rId3">
            <a:alphaModFix/>
          </a:blip>
          <a:srcRect b="0" l="0" r="0" t="0"/>
          <a:stretch/>
        </p:blipFill>
        <p:spPr>
          <a:xfrm>
            <a:off x="2292340" y="976503"/>
            <a:ext cx="4559319" cy="4146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7"/>
          <p:cNvSpPr txBox="1"/>
          <p:nvPr>
            <p:ph type="title"/>
          </p:nvPr>
        </p:nvSpPr>
        <p:spPr>
          <a:xfrm>
            <a:off x="457200" y="-12"/>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sz="4000"/>
              <a:t>Set Identities</a:t>
            </a:r>
            <a:endParaRPr sz="4000"/>
          </a:p>
        </p:txBody>
      </p:sp>
      <p:pic>
        <p:nvPicPr>
          <p:cNvPr id="283" name="Google Shape;283;p27"/>
          <p:cNvPicPr preferRelativeResize="0"/>
          <p:nvPr/>
        </p:nvPicPr>
        <p:blipFill rotWithShape="1">
          <a:blip r:embed="rId3">
            <a:alphaModFix/>
          </a:blip>
          <a:srcRect b="0" l="0" r="0" t="0"/>
          <a:stretch/>
        </p:blipFill>
        <p:spPr>
          <a:xfrm>
            <a:off x="2759600" y="1142988"/>
            <a:ext cx="3777193" cy="541021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Proving Set Identities</a:t>
            </a:r>
            <a:endParaRPr/>
          </a:p>
        </p:txBody>
      </p:sp>
      <p:sp>
        <p:nvSpPr>
          <p:cNvPr id="289" name="Google Shape;289;p28"/>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SzPts val="2470"/>
              <a:buFont typeface="Cambria Math"/>
              <a:buChar char="●"/>
            </a:pPr>
            <a:r>
              <a:rPr lang="en-US">
                <a:latin typeface="Cambria Math"/>
                <a:ea typeface="Cambria Math"/>
                <a:cs typeface="Cambria Math"/>
                <a:sym typeface="Cambria Math"/>
              </a:rPr>
              <a:t>Different ways to prove set identities:</a:t>
            </a:r>
            <a:endParaRPr>
              <a:latin typeface="Cambria Math"/>
              <a:ea typeface="Cambria Math"/>
              <a:cs typeface="Cambria Math"/>
              <a:sym typeface="Cambria Math"/>
            </a:endParaRPr>
          </a:p>
          <a:p>
            <a:pPr indent="-514350" lvl="1" marL="880110" rtl="0" algn="l">
              <a:lnSpc>
                <a:spcPct val="100000"/>
              </a:lnSpc>
              <a:spcBef>
                <a:spcPts val="480"/>
              </a:spcBef>
              <a:spcAft>
                <a:spcPts val="0"/>
              </a:spcAft>
              <a:buSzPts val="2040"/>
              <a:buFont typeface="Cambria Math"/>
              <a:buAutoNum type="arabicPeriod"/>
            </a:pPr>
            <a:r>
              <a:rPr lang="en-US">
                <a:latin typeface="Cambria Math"/>
                <a:ea typeface="Cambria Math"/>
                <a:cs typeface="Cambria Math"/>
                <a:sym typeface="Cambria Math"/>
              </a:rPr>
              <a:t>Prove that </a:t>
            </a:r>
            <a:r>
              <a:rPr b="1" lang="en-US">
                <a:latin typeface="Cambria Math"/>
                <a:ea typeface="Cambria Math"/>
                <a:cs typeface="Cambria Math"/>
                <a:sym typeface="Cambria Math"/>
              </a:rPr>
              <a:t>each set (side of the identity) is a subset of the other</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514350" lvl="1" marL="880110" rtl="0" algn="l">
              <a:lnSpc>
                <a:spcPct val="100000"/>
              </a:lnSpc>
              <a:spcBef>
                <a:spcPts val="480"/>
              </a:spcBef>
              <a:spcAft>
                <a:spcPts val="0"/>
              </a:spcAft>
              <a:buSzPts val="2040"/>
              <a:buFont typeface="Cambria Math"/>
              <a:buAutoNum type="arabicPeriod"/>
            </a:pPr>
            <a:r>
              <a:rPr lang="en-US">
                <a:latin typeface="Cambria Math"/>
                <a:ea typeface="Cambria Math"/>
                <a:cs typeface="Cambria Math"/>
                <a:sym typeface="Cambria Math"/>
              </a:rPr>
              <a:t>Use set builder notation and </a:t>
            </a:r>
            <a:r>
              <a:rPr b="1" lang="en-US">
                <a:latin typeface="Cambria Math"/>
                <a:ea typeface="Cambria Math"/>
                <a:cs typeface="Cambria Math"/>
                <a:sym typeface="Cambria Math"/>
              </a:rPr>
              <a:t>propositional logic</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514350" lvl="1" marL="880110" rtl="0" algn="l">
              <a:lnSpc>
                <a:spcPct val="100000"/>
              </a:lnSpc>
              <a:spcBef>
                <a:spcPts val="480"/>
              </a:spcBef>
              <a:spcAft>
                <a:spcPts val="0"/>
              </a:spcAft>
              <a:buSzPts val="2040"/>
              <a:buFont typeface="Calibri"/>
              <a:buAutoNum type="arabicPeriod"/>
            </a:pPr>
            <a:r>
              <a:rPr b="1" lang="en-US">
                <a:latin typeface="Cambria Math"/>
                <a:ea typeface="Cambria Math"/>
                <a:cs typeface="Cambria Math"/>
                <a:sym typeface="Cambria Math"/>
              </a:rPr>
              <a:t>Membership Tables:</a:t>
            </a:r>
            <a:r>
              <a:rPr lang="en-US">
                <a:latin typeface="Cambria Math"/>
                <a:ea typeface="Cambria Math"/>
                <a:cs typeface="Cambria Math"/>
                <a:sym typeface="Cambria Math"/>
              </a:rPr>
              <a:t> Verify that elements in the same combination of sets always either belong or do not belong to the same side of the identity.  Use 1 to indicate it is in the set and a 0 to indicate that it is not.</a:t>
            </a:r>
            <a:endParaRPr>
              <a:latin typeface="Cambria Math"/>
              <a:ea typeface="Cambria Math"/>
              <a:cs typeface="Cambria Math"/>
              <a:sym typeface="Cambria Math"/>
            </a:endParaRPr>
          </a:p>
          <a:p>
            <a:pPr indent="-357505" lvl="0" marL="514350" rtl="0" algn="l">
              <a:lnSpc>
                <a:spcPct val="100000"/>
              </a:lnSpc>
              <a:spcBef>
                <a:spcPts val="520"/>
              </a:spcBef>
              <a:spcAft>
                <a:spcPts val="0"/>
              </a:spcAft>
              <a:buSzPts val="2470"/>
              <a:buFont typeface="Calibri"/>
              <a:buNone/>
            </a:pPr>
            <a:r>
              <a:t/>
            </a:r>
            <a:endParaRPr>
              <a:latin typeface="Cambria Math"/>
              <a:ea typeface="Cambria Math"/>
              <a:cs typeface="Cambria Math"/>
              <a:sym typeface="Cambria Math"/>
            </a:endParaRPr>
          </a:p>
          <a:p>
            <a:pPr indent="-357505" lvl="0" marL="514350" rtl="0" algn="l">
              <a:lnSpc>
                <a:spcPct val="100000"/>
              </a:lnSpc>
              <a:spcBef>
                <a:spcPts val="520"/>
              </a:spcBef>
              <a:spcAft>
                <a:spcPts val="0"/>
              </a:spcAft>
              <a:buSzPts val="2470"/>
              <a:buFont typeface="Calibri"/>
              <a:buNone/>
            </a:pPr>
            <a:r>
              <a:t/>
            </a:r>
            <a:endParaRPr>
              <a:latin typeface="Cambria Math"/>
              <a:ea typeface="Cambria Math"/>
              <a:cs typeface="Cambria Math"/>
              <a:sym typeface="Cambria Math"/>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Proving Set Identities: Second De Morgan Law</a:t>
            </a:r>
            <a:endParaRPr/>
          </a:p>
        </p:txBody>
      </p:sp>
      <p:sp>
        <p:nvSpPr>
          <p:cNvPr id="295" name="Google Shape;295;p29"/>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a:latin typeface="Cambria Math"/>
                <a:ea typeface="Cambria Math"/>
                <a:cs typeface="Cambria Math"/>
                <a:sym typeface="Cambria Math"/>
              </a:rPr>
              <a:t>Example</a:t>
            </a:r>
            <a:r>
              <a:rPr lang="en-US">
                <a:latin typeface="Cambria Math"/>
                <a:ea typeface="Cambria Math"/>
                <a:cs typeface="Cambria Math"/>
                <a:sym typeface="Cambria Math"/>
              </a:rPr>
              <a:t>: Prove that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b="1" lang="en-US">
                <a:latin typeface="Cambria Math"/>
                <a:ea typeface="Cambria Math"/>
                <a:cs typeface="Cambria Math"/>
                <a:sym typeface="Cambria Math"/>
              </a:rPr>
              <a:t>Solution</a:t>
            </a:r>
            <a:r>
              <a:rPr lang="en-US">
                <a:latin typeface="Cambria Math"/>
                <a:ea typeface="Cambria Math"/>
                <a:cs typeface="Cambria Math"/>
                <a:sym typeface="Cambria Math"/>
              </a:rPr>
              <a:t>:   We prove this identity by showing that:</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rPr lang="en-US">
                <a:latin typeface="Cambria Math"/>
                <a:ea typeface="Cambria Math"/>
                <a:cs typeface="Cambria Math"/>
                <a:sym typeface="Cambria Math"/>
              </a:rPr>
              <a:t>  </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rPr lang="en-US">
                <a:latin typeface="Cambria Math"/>
                <a:ea typeface="Cambria Math"/>
                <a:cs typeface="Cambria Math"/>
                <a:sym typeface="Cambria Math"/>
              </a:rPr>
              <a:t>        1)                                           and</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rPr lang="en-US">
                <a:latin typeface="Cambria Math"/>
                <a:ea typeface="Cambria Math"/>
                <a:cs typeface="Cambria Math"/>
                <a:sym typeface="Cambria Math"/>
              </a:rPr>
              <a:t>     </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rPr lang="en-US">
                <a:latin typeface="Cambria Math"/>
                <a:ea typeface="Cambria Math"/>
                <a:cs typeface="Cambria Math"/>
                <a:sym typeface="Cambria Math"/>
              </a:rPr>
              <a:t>         2)</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p:txBody>
      </p:sp>
      <p:pic>
        <p:nvPicPr>
          <p:cNvPr descr="addin_tmp.png" id="296" name="Google Shape;296;p29"/>
          <p:cNvPicPr preferRelativeResize="0"/>
          <p:nvPr/>
        </p:nvPicPr>
        <p:blipFill rotWithShape="1">
          <a:blip r:embed="rId3">
            <a:alphaModFix/>
          </a:blip>
          <a:srcRect b="0" l="0" r="0" t="0"/>
          <a:stretch/>
        </p:blipFill>
        <p:spPr>
          <a:xfrm>
            <a:off x="3962400" y="2057400"/>
            <a:ext cx="2534602" cy="328613"/>
          </a:xfrm>
          <a:prstGeom prst="rect">
            <a:avLst/>
          </a:prstGeom>
          <a:noFill/>
          <a:ln>
            <a:noFill/>
          </a:ln>
        </p:spPr>
      </p:pic>
      <p:pic>
        <p:nvPicPr>
          <p:cNvPr descr="addin_tmp.png" id="297" name="Google Shape;297;p29"/>
          <p:cNvPicPr preferRelativeResize="0"/>
          <p:nvPr/>
        </p:nvPicPr>
        <p:blipFill rotWithShape="1">
          <a:blip r:embed="rId4">
            <a:alphaModFix/>
          </a:blip>
          <a:srcRect b="0" l="0" r="0" t="0"/>
          <a:stretch/>
        </p:blipFill>
        <p:spPr>
          <a:xfrm>
            <a:off x="1905000" y="4876800"/>
            <a:ext cx="2534602" cy="377190"/>
          </a:xfrm>
          <a:prstGeom prst="rect">
            <a:avLst/>
          </a:prstGeom>
          <a:noFill/>
          <a:ln>
            <a:noFill/>
          </a:ln>
        </p:spPr>
      </p:pic>
      <p:pic>
        <p:nvPicPr>
          <p:cNvPr descr="addin_tmp.png" id="298" name="Google Shape;298;p29"/>
          <p:cNvPicPr preferRelativeResize="0"/>
          <p:nvPr/>
        </p:nvPicPr>
        <p:blipFill rotWithShape="1">
          <a:blip r:embed="rId5">
            <a:alphaModFix/>
          </a:blip>
          <a:srcRect b="0" l="0" r="0" t="0"/>
          <a:stretch/>
        </p:blipFill>
        <p:spPr>
          <a:xfrm>
            <a:off x="1828800" y="3429000"/>
            <a:ext cx="2534602" cy="377190"/>
          </a:xfrm>
          <a:prstGeom prst="rect">
            <a:avLst/>
          </a:prstGeom>
          <a:noFill/>
          <a:ln>
            <a:noFill/>
          </a:ln>
        </p:spPr>
      </p:pic>
      <p:sp>
        <p:nvSpPr>
          <p:cNvPr id="299" name="Google Shape;299;p29"/>
          <p:cNvSpPr txBox="1"/>
          <p:nvPr/>
        </p:nvSpPr>
        <p:spPr>
          <a:xfrm>
            <a:off x="2514600" y="6172200"/>
            <a:ext cx="327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Continued on next slide</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Proving Set Identities: Second De Morgan Law (Cont.)</a:t>
            </a:r>
            <a:endParaRPr/>
          </a:p>
        </p:txBody>
      </p:sp>
      <p:sp>
        <p:nvSpPr>
          <p:cNvPr id="305" name="Google Shape;305;p30"/>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lang="en-US">
                <a:latin typeface="Cambria Math"/>
                <a:ea typeface="Cambria Math"/>
                <a:cs typeface="Cambria Math"/>
                <a:sym typeface="Cambria Math"/>
              </a:rPr>
              <a:t>1)  Show that: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p:txBody>
      </p:sp>
      <p:pic>
        <p:nvPicPr>
          <p:cNvPr descr="addin_tmp.png" id="306" name="Google Shape;306;p30"/>
          <p:cNvPicPr preferRelativeResize="0"/>
          <p:nvPr/>
        </p:nvPicPr>
        <p:blipFill rotWithShape="1">
          <a:blip r:embed="rId3">
            <a:alphaModFix/>
          </a:blip>
          <a:srcRect b="0" l="0" r="0" t="0"/>
          <a:stretch/>
        </p:blipFill>
        <p:spPr>
          <a:xfrm>
            <a:off x="2590800" y="2030350"/>
            <a:ext cx="2534602" cy="377190"/>
          </a:xfrm>
          <a:prstGeom prst="rect">
            <a:avLst/>
          </a:prstGeom>
          <a:noFill/>
          <a:ln>
            <a:noFill/>
          </a:ln>
        </p:spPr>
      </p:pic>
      <p:pic>
        <p:nvPicPr>
          <p:cNvPr descr="addin_tmp.png" id="307" name="Google Shape;307;p30"/>
          <p:cNvPicPr preferRelativeResize="0"/>
          <p:nvPr/>
        </p:nvPicPr>
        <p:blipFill rotWithShape="1">
          <a:blip r:embed="rId4">
            <a:alphaModFix/>
          </a:blip>
          <a:srcRect b="0" l="0" r="0" t="0"/>
          <a:stretch/>
        </p:blipFill>
        <p:spPr>
          <a:xfrm>
            <a:off x="1752600" y="2590801"/>
            <a:ext cx="6518909" cy="2070735"/>
          </a:xfrm>
          <a:prstGeom prst="rect">
            <a:avLst/>
          </a:prstGeom>
          <a:noFill/>
          <a:ln>
            <a:noFill/>
          </a:ln>
        </p:spPr>
      </p:pic>
      <p:sp>
        <p:nvSpPr>
          <p:cNvPr id="308" name="Google Shape;308;p30"/>
          <p:cNvSpPr txBox="1"/>
          <p:nvPr/>
        </p:nvSpPr>
        <p:spPr>
          <a:xfrm>
            <a:off x="2514600" y="6172200"/>
            <a:ext cx="327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Continued on next slide</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Proving Set Identities: Second De Morgan Law (Cont.)</a:t>
            </a:r>
            <a:endParaRPr/>
          </a:p>
        </p:txBody>
      </p:sp>
      <p:sp>
        <p:nvSpPr>
          <p:cNvPr id="314" name="Google Shape;314;p31"/>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lang="en-US">
                <a:latin typeface="Cambria Math"/>
                <a:ea typeface="Cambria Math"/>
                <a:cs typeface="Cambria Math"/>
                <a:sym typeface="Cambria Math"/>
              </a:rPr>
              <a:t>  2) Show that: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p:txBody>
      </p:sp>
      <p:pic>
        <p:nvPicPr>
          <p:cNvPr descr="addin_tmp.png" id="315" name="Google Shape;315;p31"/>
          <p:cNvPicPr preferRelativeResize="0"/>
          <p:nvPr/>
        </p:nvPicPr>
        <p:blipFill rotWithShape="1">
          <a:blip r:embed="rId3">
            <a:alphaModFix/>
          </a:blip>
          <a:srcRect b="0" l="0" r="0" t="0"/>
          <a:stretch/>
        </p:blipFill>
        <p:spPr>
          <a:xfrm>
            <a:off x="1371600" y="2743200"/>
            <a:ext cx="6869430" cy="2108835"/>
          </a:xfrm>
          <a:prstGeom prst="rect">
            <a:avLst/>
          </a:prstGeom>
          <a:noFill/>
          <a:ln>
            <a:noFill/>
          </a:ln>
        </p:spPr>
      </p:pic>
      <p:pic>
        <p:nvPicPr>
          <p:cNvPr descr="addin_tmp.png" id="316" name="Google Shape;316;p31"/>
          <p:cNvPicPr preferRelativeResize="0"/>
          <p:nvPr/>
        </p:nvPicPr>
        <p:blipFill rotWithShape="1">
          <a:blip r:embed="rId4">
            <a:alphaModFix/>
          </a:blip>
          <a:srcRect b="0" l="0" r="0" t="0"/>
          <a:stretch/>
        </p:blipFill>
        <p:spPr>
          <a:xfrm>
            <a:off x="2628225" y="1997600"/>
            <a:ext cx="2534602" cy="377190"/>
          </a:xfrm>
          <a:prstGeom prst="rect">
            <a:avLst/>
          </a:prstGeom>
          <a:noFill/>
          <a:ln>
            <a:noFill/>
          </a:ln>
        </p:spPr>
      </p:pic>
      <p:sp>
        <p:nvSpPr>
          <p:cNvPr id="317" name="Google Shape;317;p31"/>
          <p:cNvSpPr/>
          <p:nvPr/>
        </p:nvSpPr>
        <p:spPr>
          <a:xfrm flipH="1" rot="-5400000">
            <a:off x="8305800" y="55626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descr="addin_tmp.png" id="322" name="Google Shape;322;p32"/>
          <p:cNvPicPr preferRelativeResize="0"/>
          <p:nvPr>
            <p:ph idx="1" type="body"/>
          </p:nvPr>
        </p:nvPicPr>
        <p:blipFill rotWithShape="1">
          <a:blip r:embed="rId3">
            <a:alphaModFix/>
          </a:blip>
          <a:srcRect b="0" l="0" r="0" t="0"/>
          <a:stretch/>
        </p:blipFill>
        <p:spPr>
          <a:xfrm>
            <a:off x="339150" y="2830800"/>
            <a:ext cx="8465700" cy="2731800"/>
          </a:xfrm>
          <a:prstGeom prst="rect">
            <a:avLst/>
          </a:prstGeom>
          <a:noFill/>
          <a:ln>
            <a:noFill/>
          </a:ln>
        </p:spPr>
      </p:pic>
      <p:sp>
        <p:nvSpPr>
          <p:cNvPr id="323" name="Google Shape;323;p32"/>
          <p:cNvSpPr/>
          <p:nvPr/>
        </p:nvSpPr>
        <p:spPr>
          <a:xfrm flipH="1" rot="-5400000">
            <a:off x="5181600" y="59436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324" name="Google Shape;324;p3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Proving Set Identities with Propositional Logic</a:t>
            </a:r>
            <a:endParaRPr/>
          </a:p>
        </p:txBody>
      </p:sp>
      <p:sp>
        <p:nvSpPr>
          <p:cNvPr id="325" name="Google Shape;325;p32"/>
          <p:cNvSpPr txBox="1"/>
          <p:nvPr/>
        </p:nvSpPr>
        <p:spPr>
          <a:xfrm>
            <a:off x="339150" y="2022625"/>
            <a:ext cx="8465700" cy="4186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We can also prove the second De Morgan’s law by the following process with propositional logic on Set Builder Notation:</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Therefore,                                           .</a:t>
            </a:r>
            <a:endParaRPr b="0" i="0" sz="2000" u="none" cap="none" strike="noStrike">
              <a:solidFill>
                <a:schemeClr val="dk1"/>
              </a:solidFill>
              <a:latin typeface="Cambria Math"/>
              <a:ea typeface="Cambria Math"/>
              <a:cs typeface="Cambria Math"/>
              <a:sym typeface="Cambria Math"/>
            </a:endParaRPr>
          </a:p>
        </p:txBody>
      </p:sp>
      <p:sp>
        <p:nvSpPr>
          <p:cNvPr id="326" name="Google Shape;326;p32"/>
          <p:cNvSpPr/>
          <p:nvPr/>
        </p:nvSpPr>
        <p:spPr>
          <a:xfrm>
            <a:off x="1728950" y="3747100"/>
            <a:ext cx="5791500" cy="598200"/>
          </a:xfrm>
          <a:prstGeom prst="rect">
            <a:avLst/>
          </a:prstGeom>
          <a:noFill/>
          <a:ln cap="flat" cmpd="sng" w="285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nstantia"/>
              <a:ea typeface="Constantia"/>
              <a:cs typeface="Constantia"/>
              <a:sym typeface="Constantia"/>
            </a:endParaRPr>
          </a:p>
        </p:txBody>
      </p:sp>
      <p:pic>
        <p:nvPicPr>
          <p:cNvPr descr="addin_tmp.png" id="327" name="Google Shape;327;p32"/>
          <p:cNvPicPr preferRelativeResize="0"/>
          <p:nvPr/>
        </p:nvPicPr>
        <p:blipFill rotWithShape="1">
          <a:blip r:embed="rId4">
            <a:alphaModFix/>
          </a:blip>
          <a:srcRect b="0" l="0" r="0" t="0"/>
          <a:stretch/>
        </p:blipFill>
        <p:spPr>
          <a:xfrm>
            <a:off x="1728950" y="5791199"/>
            <a:ext cx="2187912" cy="283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3"/>
          <p:cNvSpPr/>
          <p:nvPr/>
        </p:nvSpPr>
        <p:spPr>
          <a:xfrm flipH="1" rot="-5400000">
            <a:off x="8001000" y="57912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333" name="Google Shape;333;p3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Proving Set Identities with Membership Tables</a:t>
            </a:r>
            <a:endParaRPr/>
          </a:p>
        </p:txBody>
      </p:sp>
      <p:sp>
        <p:nvSpPr>
          <p:cNvPr id="334" name="Google Shape;334;p33"/>
          <p:cNvSpPr txBox="1"/>
          <p:nvPr/>
        </p:nvSpPr>
        <p:spPr>
          <a:xfrm>
            <a:off x="522825" y="2022625"/>
            <a:ext cx="8323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We can use a membership table to show that </a:t>
            </a:r>
            <a:r>
              <a:rPr b="1" i="0" lang="en-US" sz="2000" u="none" cap="none" strike="noStrike">
                <a:solidFill>
                  <a:schemeClr val="dk1"/>
                </a:solidFill>
                <a:latin typeface="Cambria Math"/>
                <a:ea typeface="Cambria Math"/>
                <a:cs typeface="Cambria Math"/>
                <a:sym typeface="Cambria Math"/>
              </a:rPr>
              <a:t>A∩(B∪C) = (A∩B)∪(A∩C)</a:t>
            </a:r>
            <a:r>
              <a:rPr b="0" i="0" lang="en-US" sz="2000" u="none" cap="none" strike="noStrike">
                <a:solidFill>
                  <a:schemeClr val="dk1"/>
                </a:solidFill>
                <a:latin typeface="Cambria Math"/>
                <a:ea typeface="Cambria Math"/>
                <a:cs typeface="Cambria Math"/>
                <a:sym typeface="Cambria Math"/>
              </a:rPr>
              <a:t>:</a:t>
            </a:r>
            <a:endParaRPr b="0" i="0" sz="2000" u="none" cap="none" strike="noStrike">
              <a:solidFill>
                <a:schemeClr val="dk1"/>
              </a:solidFill>
              <a:latin typeface="Cambria Math"/>
              <a:ea typeface="Cambria Math"/>
              <a:cs typeface="Cambria Math"/>
              <a:sym typeface="Cambria Math"/>
            </a:endParaRPr>
          </a:p>
        </p:txBody>
      </p:sp>
      <p:pic>
        <p:nvPicPr>
          <p:cNvPr id="335" name="Google Shape;335;p33"/>
          <p:cNvPicPr preferRelativeResize="0"/>
          <p:nvPr/>
        </p:nvPicPr>
        <p:blipFill rotWithShape="1">
          <a:blip r:embed="rId3">
            <a:alphaModFix/>
          </a:blip>
          <a:srcRect b="0" l="0" r="0" t="0"/>
          <a:stretch/>
        </p:blipFill>
        <p:spPr>
          <a:xfrm>
            <a:off x="723900" y="2612475"/>
            <a:ext cx="7696200" cy="3081486"/>
          </a:xfrm>
          <a:prstGeom prst="rect">
            <a:avLst/>
          </a:prstGeom>
          <a:noFill/>
          <a:ln>
            <a:noFill/>
          </a:ln>
        </p:spPr>
      </p:pic>
      <p:sp>
        <p:nvSpPr>
          <p:cNvPr id="336" name="Google Shape;336;p33"/>
          <p:cNvSpPr/>
          <p:nvPr/>
        </p:nvSpPr>
        <p:spPr>
          <a:xfrm>
            <a:off x="3632850" y="3188875"/>
            <a:ext cx="1026600" cy="24321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nstantia"/>
              <a:ea typeface="Constantia"/>
              <a:cs typeface="Constantia"/>
              <a:sym typeface="Constantia"/>
            </a:endParaRPr>
          </a:p>
        </p:txBody>
      </p:sp>
      <p:sp>
        <p:nvSpPr>
          <p:cNvPr id="337" name="Google Shape;337;p33"/>
          <p:cNvSpPr/>
          <p:nvPr/>
        </p:nvSpPr>
        <p:spPr>
          <a:xfrm>
            <a:off x="6774100" y="3188875"/>
            <a:ext cx="1443900" cy="24321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o 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