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52F01E8-0ACD-4EDC-9336-3E8512ACB67B}">
  <a:tblStyle styleId="{C52F01E8-0ACD-4EDC-9336-3E8512ACB67B}"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4f5185d14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4f5185d14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4f5185d143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4f5185d143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4f5185d143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4f5185d143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4f5185d143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4f5185d143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4f5185d143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4f5185d143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4f5185d143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4f5185d143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4f5185d143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4f5185d143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4f5185d143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4f5185d143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4f5185d143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4f5185d143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4f54e69f2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4f54e69f2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4f54e69f2b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4f54e69f2b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4f54e69f2b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4f54e69f2b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55805aa83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55805aa83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4f54e69f2b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4f54e69f2b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4f54e69f2b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4f54e69f2b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4f54e69f2b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4f54e69f2b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4f54e69f2b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4f54e69f2b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4f54e69f2b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4f54e69f2b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4f54e69f2b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4f54e69f2b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4f54e69f2b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4f54e69f2b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4f54e69f2b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4f54e69f2b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4f54e69f2b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4f54e69f2b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4f54e69f2b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4f54e69f2b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4e74b5226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4e74b5226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4e74b52269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34e74b52269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4e74b52269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4e74b52269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4e88a0e4e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34e88a0e4e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4e88a0e4e1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34e88a0e4e1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4e88a0e4e1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34e88a0e4e1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4e88a0e4e1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34e88a0e4e1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1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6.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4.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2.png"/><Relationship Id="rId4" Type="http://schemas.openxmlformats.org/officeDocument/2006/relationships/image" Target="../media/image17.png"/><Relationship Id="rId5" Type="http://schemas.openxmlformats.org/officeDocument/2006/relationships/image" Target="../media/image13.png"/><Relationship Id="rId6" Type="http://schemas.openxmlformats.org/officeDocument/2006/relationships/image" Target="../media/image9.png"/><Relationship Id="rId7"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5.png"/><Relationship Id="rId4" Type="http://schemas.openxmlformats.org/officeDocument/2006/relationships/image" Target="../media/image7.png"/><Relationship Id="rId5" Type="http://schemas.openxmlformats.org/officeDocument/2006/relationships/image" Target="../media/image10.png"/><Relationship Id="rId6"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5.png"/><Relationship Id="rId4" Type="http://schemas.openxmlformats.org/officeDocument/2006/relationships/image" Target="../media/image23.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3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8.png"/><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2.png"/><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0.jpg"/><Relationship Id="rId4" Type="http://schemas.openxmlformats.org/officeDocument/2006/relationships/image" Target="../media/image21.jpg"/><Relationship Id="rId5" Type="http://schemas.openxmlformats.org/officeDocument/2006/relationships/image" Target="../media/image30.jpg"/><Relationship Id="rId6" Type="http://schemas.openxmlformats.org/officeDocument/2006/relationships/image" Target="../media/image34.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6.png"/><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31.png"/><Relationship Id="rId4" Type="http://schemas.openxmlformats.org/officeDocument/2006/relationships/image" Target="../media/image33.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9.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7.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4.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36.png"/><Relationship Id="rId4" Type="http://schemas.openxmlformats.org/officeDocument/2006/relationships/image" Target="../media/image3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39.png"/><Relationship Id="rId4" Type="http://schemas.openxmlformats.org/officeDocument/2006/relationships/image" Target="../media/image3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3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423000" y="1857825"/>
            <a:ext cx="8520600" cy="8727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Neural Network (Perceptrons)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ph type="title"/>
          </p:nvPr>
        </p:nvSpPr>
        <p:spPr>
          <a:xfrm>
            <a:off x="3098075" y="163775"/>
            <a:ext cx="3345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Classification dataset</a:t>
            </a:r>
            <a:endParaRPr/>
          </a:p>
        </p:txBody>
      </p:sp>
      <p:graphicFrame>
        <p:nvGraphicFramePr>
          <p:cNvPr id="60" name="Google Shape;60;p14"/>
          <p:cNvGraphicFramePr/>
          <p:nvPr/>
        </p:nvGraphicFramePr>
        <p:xfrm>
          <a:off x="1284925" y="890899"/>
          <a:ext cx="3000000" cy="3000000"/>
        </p:xfrm>
        <a:graphic>
          <a:graphicData uri="http://schemas.openxmlformats.org/drawingml/2006/table">
            <a:tbl>
              <a:tblPr>
                <a:noFill/>
                <a:tableStyleId>{C52F01E8-0ACD-4EDC-9336-3E8512ACB67B}</a:tableStyleId>
              </a:tblPr>
              <a:tblGrid>
                <a:gridCol w="1064500"/>
                <a:gridCol w="1024000"/>
              </a:tblGrid>
              <a:tr h="148625">
                <a:tc>
                  <a:txBody>
                    <a:bodyPr/>
                    <a:lstStyle/>
                    <a:p>
                      <a:pPr indent="0" lvl="0" marL="0" rtl="0" algn="l">
                        <a:spcBef>
                          <a:spcPts val="0"/>
                        </a:spcBef>
                        <a:spcAft>
                          <a:spcPts val="0"/>
                        </a:spcAft>
                        <a:buNone/>
                      </a:pPr>
                      <a:r>
                        <a:rPr lang="en" sz="1200"/>
                        <a:t>Hours Study</a:t>
                      </a:r>
                      <a:endParaRPr sz="1200"/>
                    </a:p>
                  </a:txBody>
                  <a:tcPr marT="0" marB="0" marR="0" marL="0"/>
                </a:tc>
                <a:tc>
                  <a:txBody>
                    <a:bodyPr/>
                    <a:lstStyle/>
                    <a:p>
                      <a:pPr indent="0" lvl="0" marL="0" rtl="0" algn="l">
                        <a:spcBef>
                          <a:spcPts val="0"/>
                        </a:spcBef>
                        <a:spcAft>
                          <a:spcPts val="0"/>
                        </a:spcAft>
                        <a:buNone/>
                      </a:pPr>
                      <a:r>
                        <a:rPr lang="en" sz="1200"/>
                        <a:t>Pass</a:t>
                      </a:r>
                      <a:endParaRPr sz="1200"/>
                    </a:p>
                  </a:txBody>
                  <a:tcPr marT="0" marB="0" marR="0" marL="0"/>
                </a:tc>
              </a:tr>
              <a:tr h="148075">
                <a:tc>
                  <a:txBody>
                    <a:bodyPr/>
                    <a:lstStyle/>
                    <a:p>
                      <a:pPr indent="0" lvl="0" marL="0" rtl="0" algn="l">
                        <a:spcBef>
                          <a:spcPts val="0"/>
                        </a:spcBef>
                        <a:spcAft>
                          <a:spcPts val="0"/>
                        </a:spcAft>
                        <a:buNone/>
                      </a:pPr>
                      <a:r>
                        <a:rPr lang="en" sz="1200"/>
                        <a:t>2</a:t>
                      </a:r>
                      <a:endParaRPr sz="1200"/>
                    </a:p>
                  </a:txBody>
                  <a:tcPr marT="0" marB="0" marR="0" marL="0"/>
                </a:tc>
                <a:tc>
                  <a:txBody>
                    <a:bodyPr/>
                    <a:lstStyle/>
                    <a:p>
                      <a:pPr indent="0" lvl="0" marL="0" rtl="0" algn="l">
                        <a:spcBef>
                          <a:spcPts val="0"/>
                        </a:spcBef>
                        <a:spcAft>
                          <a:spcPts val="0"/>
                        </a:spcAft>
                        <a:buNone/>
                      </a:pPr>
                      <a:r>
                        <a:rPr lang="en" sz="1200"/>
                        <a:t>No</a:t>
                      </a:r>
                      <a:endParaRPr sz="1200"/>
                    </a:p>
                  </a:txBody>
                  <a:tcPr marT="0" marB="0" marR="0" marL="0"/>
                </a:tc>
              </a:tr>
              <a:tr h="148625">
                <a:tc>
                  <a:txBody>
                    <a:bodyPr/>
                    <a:lstStyle/>
                    <a:p>
                      <a:pPr indent="0" lvl="0" marL="0" rtl="0" algn="l">
                        <a:spcBef>
                          <a:spcPts val="0"/>
                        </a:spcBef>
                        <a:spcAft>
                          <a:spcPts val="0"/>
                        </a:spcAft>
                        <a:buNone/>
                      </a:pPr>
                      <a:r>
                        <a:rPr lang="en" sz="1200"/>
                        <a:t>3</a:t>
                      </a:r>
                      <a:endParaRPr sz="1200"/>
                    </a:p>
                  </a:txBody>
                  <a:tcPr marT="0" marB="0" marR="0" marL="0"/>
                </a:tc>
                <a:tc>
                  <a:txBody>
                    <a:bodyPr/>
                    <a:lstStyle/>
                    <a:p>
                      <a:pPr indent="0" lvl="0" marL="0" rtl="0" algn="l">
                        <a:spcBef>
                          <a:spcPts val="0"/>
                        </a:spcBef>
                        <a:spcAft>
                          <a:spcPts val="0"/>
                        </a:spcAft>
                        <a:buClr>
                          <a:schemeClr val="dk1"/>
                        </a:buClr>
                        <a:buSzPts val="1100"/>
                        <a:buFont typeface="Arial"/>
                        <a:buNone/>
                      </a:pPr>
                      <a:r>
                        <a:rPr lang="en" sz="1200">
                          <a:solidFill>
                            <a:schemeClr val="dk1"/>
                          </a:solidFill>
                        </a:rPr>
                        <a:t>No</a:t>
                      </a:r>
                      <a:endParaRPr sz="1200"/>
                    </a:p>
                  </a:txBody>
                  <a:tcPr marT="0" marB="0" marR="0" marL="0"/>
                </a:tc>
              </a:tr>
              <a:tr h="148625">
                <a:tc>
                  <a:txBody>
                    <a:bodyPr/>
                    <a:lstStyle/>
                    <a:p>
                      <a:pPr indent="0" lvl="0" marL="0" rtl="0" algn="l">
                        <a:spcBef>
                          <a:spcPts val="0"/>
                        </a:spcBef>
                        <a:spcAft>
                          <a:spcPts val="0"/>
                        </a:spcAft>
                        <a:buNone/>
                      </a:pPr>
                      <a:r>
                        <a:rPr lang="en" sz="1200"/>
                        <a:t>4</a:t>
                      </a:r>
                      <a:endParaRPr sz="1200"/>
                    </a:p>
                  </a:txBody>
                  <a:tcPr marT="0" marB="0" marR="0" marL="0"/>
                </a:tc>
                <a:tc>
                  <a:txBody>
                    <a:bodyPr/>
                    <a:lstStyle/>
                    <a:p>
                      <a:pPr indent="0" lvl="0" marL="0" rtl="0" algn="l">
                        <a:spcBef>
                          <a:spcPts val="0"/>
                        </a:spcBef>
                        <a:spcAft>
                          <a:spcPts val="0"/>
                        </a:spcAft>
                        <a:buNone/>
                      </a:pPr>
                      <a:r>
                        <a:rPr lang="en" sz="1200"/>
                        <a:t>Yes</a:t>
                      </a:r>
                      <a:endParaRPr sz="1200"/>
                    </a:p>
                  </a:txBody>
                  <a:tcPr marT="0" marB="0" marR="0" marL="0"/>
                </a:tc>
              </a:tr>
              <a:tr h="148075">
                <a:tc>
                  <a:txBody>
                    <a:bodyPr/>
                    <a:lstStyle/>
                    <a:p>
                      <a:pPr indent="0" lvl="0" marL="0" rtl="0" algn="l">
                        <a:spcBef>
                          <a:spcPts val="0"/>
                        </a:spcBef>
                        <a:spcAft>
                          <a:spcPts val="0"/>
                        </a:spcAft>
                        <a:buNone/>
                      </a:pPr>
                      <a:r>
                        <a:rPr lang="en" sz="1200"/>
                        <a:t>5</a:t>
                      </a:r>
                      <a:endParaRPr sz="1200"/>
                    </a:p>
                  </a:txBody>
                  <a:tcPr marT="0" marB="0" marR="0" marL="0"/>
                </a:tc>
                <a:tc>
                  <a:txBody>
                    <a:bodyPr/>
                    <a:lstStyle/>
                    <a:p>
                      <a:pPr indent="0" lvl="0" marL="0" rtl="0" algn="l">
                        <a:spcBef>
                          <a:spcPts val="0"/>
                        </a:spcBef>
                        <a:spcAft>
                          <a:spcPts val="0"/>
                        </a:spcAft>
                        <a:buClr>
                          <a:schemeClr val="dk1"/>
                        </a:buClr>
                        <a:buSzPts val="1100"/>
                        <a:buFont typeface="Arial"/>
                        <a:buNone/>
                      </a:pPr>
                      <a:r>
                        <a:rPr lang="en" sz="1200">
                          <a:solidFill>
                            <a:schemeClr val="dk1"/>
                          </a:solidFill>
                        </a:rPr>
                        <a:t>No</a:t>
                      </a:r>
                      <a:endParaRPr sz="1200"/>
                    </a:p>
                  </a:txBody>
                  <a:tcPr marT="0" marB="0" marR="0" marL="0"/>
                </a:tc>
              </a:tr>
              <a:tr h="148075">
                <a:tc>
                  <a:txBody>
                    <a:bodyPr/>
                    <a:lstStyle/>
                    <a:p>
                      <a:pPr indent="0" lvl="0" marL="0" rtl="0" algn="l">
                        <a:spcBef>
                          <a:spcPts val="0"/>
                        </a:spcBef>
                        <a:spcAft>
                          <a:spcPts val="0"/>
                        </a:spcAft>
                        <a:buNone/>
                      </a:pPr>
                      <a:r>
                        <a:rPr lang="en" sz="1200"/>
                        <a:t>6</a:t>
                      </a:r>
                      <a:endParaRPr sz="1200"/>
                    </a:p>
                  </a:txBody>
                  <a:tcPr marT="0" marB="0" marR="0" marL="0"/>
                </a:tc>
                <a:tc>
                  <a:txBody>
                    <a:bodyPr/>
                    <a:lstStyle/>
                    <a:p>
                      <a:pPr indent="0" lvl="0" marL="0" rtl="0" algn="l">
                        <a:spcBef>
                          <a:spcPts val="0"/>
                        </a:spcBef>
                        <a:spcAft>
                          <a:spcPts val="0"/>
                        </a:spcAft>
                        <a:buClr>
                          <a:schemeClr val="dk1"/>
                        </a:buClr>
                        <a:buSzPts val="1100"/>
                        <a:buFont typeface="Arial"/>
                        <a:buNone/>
                      </a:pPr>
                      <a:r>
                        <a:rPr lang="en" sz="1200">
                          <a:solidFill>
                            <a:schemeClr val="dk1"/>
                          </a:solidFill>
                        </a:rPr>
                        <a:t>Yes</a:t>
                      </a:r>
                      <a:endParaRPr sz="1200"/>
                    </a:p>
                  </a:txBody>
                  <a:tcPr marT="0" marB="0" marR="0" marL="0"/>
                </a:tc>
              </a:tr>
              <a:tr h="148075">
                <a:tc>
                  <a:txBody>
                    <a:bodyPr/>
                    <a:lstStyle/>
                    <a:p>
                      <a:pPr indent="0" lvl="0" marL="0" rtl="0" algn="l">
                        <a:spcBef>
                          <a:spcPts val="0"/>
                        </a:spcBef>
                        <a:spcAft>
                          <a:spcPts val="0"/>
                        </a:spcAft>
                        <a:buNone/>
                      </a:pPr>
                      <a:r>
                        <a:rPr lang="en" sz="1200"/>
                        <a:t>7</a:t>
                      </a:r>
                      <a:endParaRPr sz="1200"/>
                    </a:p>
                  </a:txBody>
                  <a:tcPr marT="0" marB="0" marR="0" marL="0"/>
                </a:tc>
                <a:tc>
                  <a:txBody>
                    <a:bodyPr/>
                    <a:lstStyle/>
                    <a:p>
                      <a:pPr indent="0" lvl="0" marL="0" rtl="0" algn="l">
                        <a:spcBef>
                          <a:spcPts val="0"/>
                        </a:spcBef>
                        <a:spcAft>
                          <a:spcPts val="0"/>
                        </a:spcAft>
                        <a:buClr>
                          <a:schemeClr val="dk1"/>
                        </a:buClr>
                        <a:buSzPts val="1100"/>
                        <a:buFont typeface="Arial"/>
                        <a:buNone/>
                      </a:pPr>
                      <a:r>
                        <a:rPr lang="en" sz="1200">
                          <a:solidFill>
                            <a:schemeClr val="dk1"/>
                          </a:solidFill>
                        </a:rPr>
                        <a:t>Yes</a:t>
                      </a:r>
                      <a:endParaRPr sz="1200"/>
                    </a:p>
                  </a:txBody>
                  <a:tcPr marT="0" marB="0" marR="0" marL="0"/>
                </a:tc>
              </a:tr>
              <a:tr h="148075">
                <a:tc>
                  <a:txBody>
                    <a:bodyPr/>
                    <a:lstStyle/>
                    <a:p>
                      <a:pPr indent="0" lvl="0" marL="0" rtl="0" algn="l">
                        <a:spcBef>
                          <a:spcPts val="0"/>
                        </a:spcBef>
                        <a:spcAft>
                          <a:spcPts val="0"/>
                        </a:spcAft>
                        <a:buNone/>
                      </a:pPr>
                      <a:r>
                        <a:rPr lang="en" sz="1200"/>
                        <a:t>8</a:t>
                      </a:r>
                      <a:endParaRPr sz="1200"/>
                    </a:p>
                  </a:txBody>
                  <a:tcPr marT="0" marB="0" marR="0" marL="0"/>
                </a:tc>
                <a:tc>
                  <a:txBody>
                    <a:bodyPr/>
                    <a:lstStyle/>
                    <a:p>
                      <a:pPr indent="0" lvl="0" marL="0" rtl="0" algn="l">
                        <a:spcBef>
                          <a:spcPts val="0"/>
                        </a:spcBef>
                        <a:spcAft>
                          <a:spcPts val="0"/>
                        </a:spcAft>
                        <a:buClr>
                          <a:schemeClr val="dk1"/>
                        </a:buClr>
                        <a:buSzPts val="1100"/>
                        <a:buFont typeface="Arial"/>
                        <a:buNone/>
                      </a:pPr>
                      <a:r>
                        <a:rPr lang="en" sz="1200">
                          <a:solidFill>
                            <a:schemeClr val="dk1"/>
                          </a:solidFill>
                        </a:rPr>
                        <a:t>Yes</a:t>
                      </a:r>
                      <a:endParaRPr sz="1200"/>
                    </a:p>
                  </a:txBody>
                  <a:tcPr marT="0" marB="0" marR="0" marL="0"/>
                </a:tc>
              </a:tr>
              <a:tr h="148075">
                <a:tc>
                  <a:txBody>
                    <a:bodyPr/>
                    <a:lstStyle/>
                    <a:p>
                      <a:pPr indent="0" lvl="0" marL="0" rtl="0" algn="l">
                        <a:spcBef>
                          <a:spcPts val="0"/>
                        </a:spcBef>
                        <a:spcAft>
                          <a:spcPts val="0"/>
                        </a:spcAft>
                        <a:buNone/>
                      </a:pPr>
                      <a:r>
                        <a:rPr lang="en" sz="1200"/>
                        <a:t>9</a:t>
                      </a:r>
                      <a:endParaRPr sz="1200"/>
                    </a:p>
                  </a:txBody>
                  <a:tcPr marT="0" marB="0" marR="0" marL="0"/>
                </a:tc>
                <a:tc>
                  <a:txBody>
                    <a:bodyPr/>
                    <a:lstStyle/>
                    <a:p>
                      <a:pPr indent="0" lvl="0" marL="0" rtl="0" algn="l">
                        <a:spcBef>
                          <a:spcPts val="0"/>
                        </a:spcBef>
                        <a:spcAft>
                          <a:spcPts val="0"/>
                        </a:spcAft>
                        <a:buClr>
                          <a:schemeClr val="dk1"/>
                        </a:buClr>
                        <a:buSzPts val="1100"/>
                        <a:buFont typeface="Arial"/>
                        <a:buNone/>
                      </a:pPr>
                      <a:r>
                        <a:rPr lang="en" sz="1200">
                          <a:solidFill>
                            <a:schemeClr val="dk1"/>
                          </a:solidFill>
                        </a:rPr>
                        <a:t>Yes</a:t>
                      </a:r>
                      <a:endParaRPr sz="1200"/>
                    </a:p>
                  </a:txBody>
                  <a:tcPr marT="0" marB="0" marR="0" marL="0"/>
                </a:tc>
              </a:tr>
              <a:tr h="126950">
                <a:tc>
                  <a:txBody>
                    <a:bodyPr/>
                    <a:lstStyle/>
                    <a:p>
                      <a:pPr indent="0" lvl="0" marL="0" rtl="0" algn="l">
                        <a:spcBef>
                          <a:spcPts val="0"/>
                        </a:spcBef>
                        <a:spcAft>
                          <a:spcPts val="0"/>
                        </a:spcAft>
                        <a:buNone/>
                      </a:pPr>
                      <a:r>
                        <a:rPr lang="en" sz="1200"/>
                        <a:t>10</a:t>
                      </a:r>
                      <a:endParaRPr sz="1200"/>
                    </a:p>
                  </a:txBody>
                  <a:tcPr marT="0" marB="0" marR="0" marL="0"/>
                </a:tc>
                <a:tc>
                  <a:txBody>
                    <a:bodyPr/>
                    <a:lstStyle/>
                    <a:p>
                      <a:pPr indent="0" lvl="0" marL="0" rtl="0" algn="l">
                        <a:spcBef>
                          <a:spcPts val="0"/>
                        </a:spcBef>
                        <a:spcAft>
                          <a:spcPts val="0"/>
                        </a:spcAft>
                        <a:buNone/>
                      </a:pPr>
                      <a:r>
                        <a:rPr lang="en" sz="1200"/>
                        <a:t>?</a:t>
                      </a:r>
                      <a:endParaRPr sz="1200"/>
                    </a:p>
                  </a:txBody>
                  <a:tcPr marT="0" marB="0" marR="0" marL="0"/>
                </a:tc>
              </a:tr>
            </a:tbl>
          </a:graphicData>
        </a:graphic>
      </p:graphicFrame>
      <p:cxnSp>
        <p:nvCxnSpPr>
          <p:cNvPr id="61" name="Google Shape;61;p14"/>
          <p:cNvCxnSpPr/>
          <p:nvPr/>
        </p:nvCxnSpPr>
        <p:spPr>
          <a:xfrm>
            <a:off x="3611825" y="1749000"/>
            <a:ext cx="1360500" cy="0"/>
          </a:xfrm>
          <a:prstGeom prst="straightConnector1">
            <a:avLst/>
          </a:prstGeom>
          <a:noFill/>
          <a:ln cap="flat" cmpd="sng" w="9525">
            <a:solidFill>
              <a:schemeClr val="dk2"/>
            </a:solidFill>
            <a:prstDash val="solid"/>
            <a:round/>
            <a:headEnd len="med" w="med" type="none"/>
            <a:tailEnd len="med" w="med" type="triangle"/>
          </a:ln>
        </p:spPr>
      </p:cxnSp>
      <p:graphicFrame>
        <p:nvGraphicFramePr>
          <p:cNvPr id="62" name="Google Shape;62;p14"/>
          <p:cNvGraphicFramePr/>
          <p:nvPr/>
        </p:nvGraphicFramePr>
        <p:xfrm>
          <a:off x="5210725" y="943224"/>
          <a:ext cx="3000000" cy="3000000"/>
        </p:xfrm>
        <a:graphic>
          <a:graphicData uri="http://schemas.openxmlformats.org/drawingml/2006/table">
            <a:tbl>
              <a:tblPr>
                <a:noFill/>
                <a:tableStyleId>{C52F01E8-0ACD-4EDC-9336-3E8512ACB67B}</a:tableStyleId>
              </a:tblPr>
              <a:tblGrid>
                <a:gridCol w="1064500"/>
                <a:gridCol w="1024000"/>
              </a:tblGrid>
              <a:tr h="148625">
                <a:tc>
                  <a:txBody>
                    <a:bodyPr/>
                    <a:lstStyle/>
                    <a:p>
                      <a:pPr indent="0" lvl="0" marL="0" rtl="0" algn="l">
                        <a:spcBef>
                          <a:spcPts val="0"/>
                        </a:spcBef>
                        <a:spcAft>
                          <a:spcPts val="0"/>
                        </a:spcAft>
                        <a:buNone/>
                      </a:pPr>
                      <a:r>
                        <a:rPr lang="en" sz="1200"/>
                        <a:t>Hours Study</a:t>
                      </a:r>
                      <a:endParaRPr sz="1200"/>
                    </a:p>
                  </a:txBody>
                  <a:tcPr marT="0" marB="0" marR="0" marL="0"/>
                </a:tc>
                <a:tc>
                  <a:txBody>
                    <a:bodyPr/>
                    <a:lstStyle/>
                    <a:p>
                      <a:pPr indent="0" lvl="0" marL="0" rtl="0" algn="l">
                        <a:spcBef>
                          <a:spcPts val="0"/>
                        </a:spcBef>
                        <a:spcAft>
                          <a:spcPts val="0"/>
                        </a:spcAft>
                        <a:buNone/>
                      </a:pPr>
                      <a:r>
                        <a:rPr lang="en" sz="1200"/>
                        <a:t>Pass</a:t>
                      </a:r>
                      <a:endParaRPr sz="1200"/>
                    </a:p>
                  </a:txBody>
                  <a:tcPr marT="0" marB="0" marR="0" marL="0"/>
                </a:tc>
              </a:tr>
              <a:tr h="148075">
                <a:tc>
                  <a:txBody>
                    <a:bodyPr/>
                    <a:lstStyle/>
                    <a:p>
                      <a:pPr indent="0" lvl="0" marL="0" rtl="0" algn="l">
                        <a:spcBef>
                          <a:spcPts val="0"/>
                        </a:spcBef>
                        <a:spcAft>
                          <a:spcPts val="0"/>
                        </a:spcAft>
                        <a:buNone/>
                      </a:pPr>
                      <a:r>
                        <a:rPr lang="en" sz="1200"/>
                        <a:t>2</a:t>
                      </a:r>
                      <a:endParaRPr sz="1200"/>
                    </a:p>
                  </a:txBody>
                  <a:tcPr marT="0" marB="0" marR="0" marL="0"/>
                </a:tc>
                <a:tc>
                  <a:txBody>
                    <a:bodyPr/>
                    <a:lstStyle/>
                    <a:p>
                      <a:pPr indent="0" lvl="0" marL="0" rtl="0" algn="l">
                        <a:spcBef>
                          <a:spcPts val="0"/>
                        </a:spcBef>
                        <a:spcAft>
                          <a:spcPts val="0"/>
                        </a:spcAft>
                        <a:buNone/>
                      </a:pPr>
                      <a:r>
                        <a:rPr lang="en" sz="1200"/>
                        <a:t>0</a:t>
                      </a:r>
                      <a:endParaRPr sz="1200"/>
                    </a:p>
                  </a:txBody>
                  <a:tcPr marT="0" marB="0" marR="0" marL="0"/>
                </a:tc>
              </a:tr>
              <a:tr h="148625">
                <a:tc>
                  <a:txBody>
                    <a:bodyPr/>
                    <a:lstStyle/>
                    <a:p>
                      <a:pPr indent="0" lvl="0" marL="0" rtl="0" algn="l">
                        <a:spcBef>
                          <a:spcPts val="0"/>
                        </a:spcBef>
                        <a:spcAft>
                          <a:spcPts val="0"/>
                        </a:spcAft>
                        <a:buNone/>
                      </a:pPr>
                      <a:r>
                        <a:rPr lang="en" sz="1200"/>
                        <a:t>3</a:t>
                      </a:r>
                      <a:endParaRPr sz="1200"/>
                    </a:p>
                  </a:txBody>
                  <a:tcPr marT="0" marB="0" marR="0" marL="0"/>
                </a:tc>
                <a:tc>
                  <a:txBody>
                    <a:bodyPr/>
                    <a:lstStyle/>
                    <a:p>
                      <a:pPr indent="0" lvl="0" marL="0" rtl="0" algn="l">
                        <a:spcBef>
                          <a:spcPts val="0"/>
                        </a:spcBef>
                        <a:spcAft>
                          <a:spcPts val="0"/>
                        </a:spcAft>
                        <a:buNone/>
                      </a:pPr>
                      <a:r>
                        <a:rPr lang="en" sz="1200">
                          <a:solidFill>
                            <a:schemeClr val="dk1"/>
                          </a:solidFill>
                        </a:rPr>
                        <a:t>0</a:t>
                      </a:r>
                      <a:endParaRPr sz="1200"/>
                    </a:p>
                  </a:txBody>
                  <a:tcPr marT="0" marB="0" marR="0" marL="0"/>
                </a:tc>
              </a:tr>
              <a:tr h="148625">
                <a:tc>
                  <a:txBody>
                    <a:bodyPr/>
                    <a:lstStyle/>
                    <a:p>
                      <a:pPr indent="0" lvl="0" marL="0" rtl="0" algn="l">
                        <a:spcBef>
                          <a:spcPts val="0"/>
                        </a:spcBef>
                        <a:spcAft>
                          <a:spcPts val="0"/>
                        </a:spcAft>
                        <a:buNone/>
                      </a:pPr>
                      <a:r>
                        <a:rPr lang="en" sz="1200"/>
                        <a:t>4</a:t>
                      </a:r>
                      <a:endParaRPr sz="1200"/>
                    </a:p>
                  </a:txBody>
                  <a:tcPr marT="0" marB="0" marR="0" marL="0"/>
                </a:tc>
                <a:tc>
                  <a:txBody>
                    <a:bodyPr/>
                    <a:lstStyle/>
                    <a:p>
                      <a:pPr indent="0" lvl="0" marL="0" rtl="0" algn="l">
                        <a:spcBef>
                          <a:spcPts val="0"/>
                        </a:spcBef>
                        <a:spcAft>
                          <a:spcPts val="0"/>
                        </a:spcAft>
                        <a:buNone/>
                      </a:pPr>
                      <a:r>
                        <a:rPr lang="en" sz="1200"/>
                        <a:t>1</a:t>
                      </a:r>
                      <a:endParaRPr sz="1200"/>
                    </a:p>
                  </a:txBody>
                  <a:tcPr marT="0" marB="0" marR="0" marL="0"/>
                </a:tc>
              </a:tr>
              <a:tr h="148075">
                <a:tc>
                  <a:txBody>
                    <a:bodyPr/>
                    <a:lstStyle/>
                    <a:p>
                      <a:pPr indent="0" lvl="0" marL="0" rtl="0" algn="l">
                        <a:spcBef>
                          <a:spcPts val="0"/>
                        </a:spcBef>
                        <a:spcAft>
                          <a:spcPts val="0"/>
                        </a:spcAft>
                        <a:buNone/>
                      </a:pPr>
                      <a:r>
                        <a:rPr lang="en" sz="1200"/>
                        <a:t>5</a:t>
                      </a:r>
                      <a:endParaRPr sz="1200"/>
                    </a:p>
                  </a:txBody>
                  <a:tcPr marT="0" marB="0" marR="0" marL="0"/>
                </a:tc>
                <a:tc>
                  <a:txBody>
                    <a:bodyPr/>
                    <a:lstStyle/>
                    <a:p>
                      <a:pPr indent="0" lvl="0" marL="0" rtl="0" algn="l">
                        <a:spcBef>
                          <a:spcPts val="0"/>
                        </a:spcBef>
                        <a:spcAft>
                          <a:spcPts val="0"/>
                        </a:spcAft>
                        <a:buNone/>
                      </a:pPr>
                      <a:r>
                        <a:rPr lang="en" sz="1200">
                          <a:solidFill>
                            <a:schemeClr val="dk1"/>
                          </a:solidFill>
                        </a:rPr>
                        <a:t>0</a:t>
                      </a:r>
                      <a:endParaRPr sz="1200"/>
                    </a:p>
                  </a:txBody>
                  <a:tcPr marT="0" marB="0" marR="0" marL="0"/>
                </a:tc>
              </a:tr>
              <a:tr h="148075">
                <a:tc>
                  <a:txBody>
                    <a:bodyPr/>
                    <a:lstStyle/>
                    <a:p>
                      <a:pPr indent="0" lvl="0" marL="0" rtl="0" algn="l">
                        <a:spcBef>
                          <a:spcPts val="0"/>
                        </a:spcBef>
                        <a:spcAft>
                          <a:spcPts val="0"/>
                        </a:spcAft>
                        <a:buNone/>
                      </a:pPr>
                      <a:r>
                        <a:rPr lang="en" sz="1200"/>
                        <a:t>6</a:t>
                      </a:r>
                      <a:endParaRPr sz="1200"/>
                    </a:p>
                  </a:txBody>
                  <a:tcPr marT="0" marB="0" marR="0" marL="0"/>
                </a:tc>
                <a:tc>
                  <a:txBody>
                    <a:bodyPr/>
                    <a:lstStyle/>
                    <a:p>
                      <a:pPr indent="0" lvl="0" marL="0" rtl="0" algn="l">
                        <a:spcBef>
                          <a:spcPts val="0"/>
                        </a:spcBef>
                        <a:spcAft>
                          <a:spcPts val="0"/>
                        </a:spcAft>
                        <a:buNone/>
                      </a:pPr>
                      <a:r>
                        <a:rPr lang="en" sz="1200">
                          <a:solidFill>
                            <a:schemeClr val="dk1"/>
                          </a:solidFill>
                        </a:rPr>
                        <a:t>1</a:t>
                      </a:r>
                      <a:endParaRPr sz="1200"/>
                    </a:p>
                  </a:txBody>
                  <a:tcPr marT="0" marB="0" marR="0" marL="0"/>
                </a:tc>
              </a:tr>
              <a:tr h="148075">
                <a:tc>
                  <a:txBody>
                    <a:bodyPr/>
                    <a:lstStyle/>
                    <a:p>
                      <a:pPr indent="0" lvl="0" marL="0" rtl="0" algn="l">
                        <a:spcBef>
                          <a:spcPts val="0"/>
                        </a:spcBef>
                        <a:spcAft>
                          <a:spcPts val="0"/>
                        </a:spcAft>
                        <a:buNone/>
                      </a:pPr>
                      <a:r>
                        <a:rPr lang="en" sz="1200"/>
                        <a:t>7</a:t>
                      </a:r>
                      <a:endParaRPr sz="1200"/>
                    </a:p>
                  </a:txBody>
                  <a:tcPr marT="0" marB="0" marR="0" marL="0"/>
                </a:tc>
                <a:tc>
                  <a:txBody>
                    <a:bodyPr/>
                    <a:lstStyle/>
                    <a:p>
                      <a:pPr indent="0" lvl="0" marL="0" rtl="0" algn="l">
                        <a:spcBef>
                          <a:spcPts val="0"/>
                        </a:spcBef>
                        <a:spcAft>
                          <a:spcPts val="0"/>
                        </a:spcAft>
                        <a:buNone/>
                      </a:pPr>
                      <a:r>
                        <a:rPr lang="en" sz="1200">
                          <a:solidFill>
                            <a:schemeClr val="dk1"/>
                          </a:solidFill>
                        </a:rPr>
                        <a:t>1</a:t>
                      </a:r>
                      <a:endParaRPr sz="1200"/>
                    </a:p>
                  </a:txBody>
                  <a:tcPr marT="0" marB="0" marR="0" marL="0"/>
                </a:tc>
              </a:tr>
              <a:tr h="148075">
                <a:tc>
                  <a:txBody>
                    <a:bodyPr/>
                    <a:lstStyle/>
                    <a:p>
                      <a:pPr indent="0" lvl="0" marL="0" rtl="0" algn="l">
                        <a:spcBef>
                          <a:spcPts val="0"/>
                        </a:spcBef>
                        <a:spcAft>
                          <a:spcPts val="0"/>
                        </a:spcAft>
                        <a:buNone/>
                      </a:pPr>
                      <a:r>
                        <a:rPr lang="en" sz="1200"/>
                        <a:t>8</a:t>
                      </a:r>
                      <a:endParaRPr sz="1200"/>
                    </a:p>
                  </a:txBody>
                  <a:tcPr marT="0" marB="0" marR="0" marL="0"/>
                </a:tc>
                <a:tc>
                  <a:txBody>
                    <a:bodyPr/>
                    <a:lstStyle/>
                    <a:p>
                      <a:pPr indent="0" lvl="0" marL="0" rtl="0" algn="l">
                        <a:spcBef>
                          <a:spcPts val="0"/>
                        </a:spcBef>
                        <a:spcAft>
                          <a:spcPts val="0"/>
                        </a:spcAft>
                        <a:buNone/>
                      </a:pPr>
                      <a:r>
                        <a:rPr lang="en" sz="1200">
                          <a:solidFill>
                            <a:schemeClr val="dk1"/>
                          </a:solidFill>
                        </a:rPr>
                        <a:t>1</a:t>
                      </a:r>
                      <a:endParaRPr sz="1200"/>
                    </a:p>
                  </a:txBody>
                  <a:tcPr marT="0" marB="0" marR="0" marL="0"/>
                </a:tc>
              </a:tr>
              <a:tr h="148075">
                <a:tc>
                  <a:txBody>
                    <a:bodyPr/>
                    <a:lstStyle/>
                    <a:p>
                      <a:pPr indent="0" lvl="0" marL="0" rtl="0" algn="l">
                        <a:spcBef>
                          <a:spcPts val="0"/>
                        </a:spcBef>
                        <a:spcAft>
                          <a:spcPts val="0"/>
                        </a:spcAft>
                        <a:buNone/>
                      </a:pPr>
                      <a:r>
                        <a:rPr lang="en" sz="1200"/>
                        <a:t>9</a:t>
                      </a:r>
                      <a:endParaRPr sz="1200"/>
                    </a:p>
                  </a:txBody>
                  <a:tcPr marT="0" marB="0" marR="0" marL="0"/>
                </a:tc>
                <a:tc>
                  <a:txBody>
                    <a:bodyPr/>
                    <a:lstStyle/>
                    <a:p>
                      <a:pPr indent="0" lvl="0" marL="0" rtl="0" algn="l">
                        <a:spcBef>
                          <a:spcPts val="0"/>
                        </a:spcBef>
                        <a:spcAft>
                          <a:spcPts val="0"/>
                        </a:spcAft>
                        <a:buNone/>
                      </a:pPr>
                      <a:r>
                        <a:rPr lang="en" sz="1200">
                          <a:solidFill>
                            <a:schemeClr val="dk1"/>
                          </a:solidFill>
                        </a:rPr>
                        <a:t>1</a:t>
                      </a:r>
                      <a:endParaRPr sz="1200"/>
                    </a:p>
                  </a:txBody>
                  <a:tcPr marT="0" marB="0" marR="0" marL="0"/>
                </a:tc>
              </a:tr>
              <a:tr h="126950">
                <a:tc>
                  <a:txBody>
                    <a:bodyPr/>
                    <a:lstStyle/>
                    <a:p>
                      <a:pPr indent="0" lvl="0" marL="0" rtl="0" algn="l">
                        <a:spcBef>
                          <a:spcPts val="0"/>
                        </a:spcBef>
                        <a:spcAft>
                          <a:spcPts val="0"/>
                        </a:spcAft>
                        <a:buNone/>
                      </a:pPr>
                      <a:r>
                        <a:rPr lang="en" sz="1200"/>
                        <a:t>10</a:t>
                      </a:r>
                      <a:endParaRPr sz="1200"/>
                    </a:p>
                  </a:txBody>
                  <a:tcPr marT="0" marB="0" marR="0" marL="0"/>
                </a:tc>
                <a:tc>
                  <a:txBody>
                    <a:bodyPr/>
                    <a:lstStyle/>
                    <a:p>
                      <a:pPr indent="0" lvl="0" marL="0" rtl="0" algn="l">
                        <a:spcBef>
                          <a:spcPts val="0"/>
                        </a:spcBef>
                        <a:spcAft>
                          <a:spcPts val="0"/>
                        </a:spcAft>
                        <a:buNone/>
                      </a:pPr>
                      <a:r>
                        <a:rPr lang="en" sz="1200"/>
                        <a:t>?</a:t>
                      </a:r>
                      <a:endParaRPr sz="1200"/>
                    </a:p>
                  </a:txBody>
                  <a:tcPr marT="0" marB="0" marR="0" marL="0"/>
                </a:tc>
              </a:tr>
            </a:tbl>
          </a:graphicData>
        </a:graphic>
      </p:graphicFrame>
      <p:sp>
        <p:nvSpPr>
          <p:cNvPr id="63" name="Google Shape;63;p14"/>
          <p:cNvSpPr txBox="1"/>
          <p:nvPr>
            <p:ph idx="4294967295" type="subTitle"/>
          </p:nvPr>
        </p:nvSpPr>
        <p:spPr>
          <a:xfrm>
            <a:off x="396725" y="3164925"/>
            <a:ext cx="8520600" cy="1122000"/>
          </a:xfrm>
          <a:prstGeom prst="rect">
            <a:avLst/>
          </a:prstGeom>
        </p:spPr>
        <p:txBody>
          <a:bodyPr anchorCtr="0" anchor="t" bIns="91425" lIns="91425" spcFirstLastPara="1" rIns="91425" wrap="square" tIns="91425">
            <a:normAutofit fontScale="70000" lnSpcReduction="20000"/>
          </a:bodyPr>
          <a:lstStyle/>
          <a:p>
            <a:pPr indent="-308610" lvl="0" marL="457200" rtl="0" algn="l">
              <a:spcBef>
                <a:spcPts val="0"/>
              </a:spcBef>
              <a:spcAft>
                <a:spcPts val="0"/>
              </a:spcAft>
              <a:buSzPct val="100000"/>
              <a:buChar char="●"/>
            </a:pPr>
            <a:r>
              <a:rPr lang="en"/>
              <a:t>Here, let’s say we are trying to predict whether a student is going to pass based on hours study</a:t>
            </a:r>
            <a:endParaRPr/>
          </a:p>
          <a:p>
            <a:pPr indent="-308610" lvl="0" marL="457200" rtl="0" algn="l">
              <a:spcBef>
                <a:spcPts val="0"/>
              </a:spcBef>
              <a:spcAft>
                <a:spcPts val="0"/>
              </a:spcAft>
              <a:buSzPct val="100000"/>
              <a:buChar char="●"/>
            </a:pPr>
            <a:r>
              <a:rPr lang="en"/>
              <a:t>Hours study, in this case is the feature and Pass, is a label</a:t>
            </a:r>
            <a:endParaRPr/>
          </a:p>
          <a:p>
            <a:pPr indent="-308610" lvl="0" marL="457200" rtl="0" algn="l">
              <a:spcBef>
                <a:spcPts val="0"/>
              </a:spcBef>
              <a:spcAft>
                <a:spcPts val="0"/>
              </a:spcAft>
              <a:buSzPct val="100000"/>
              <a:buChar char="●"/>
            </a:pPr>
            <a:r>
              <a:rPr lang="en"/>
              <a:t>Pass is a categorical variable consisting of two values {Yes, No}</a:t>
            </a:r>
            <a:endParaRPr/>
          </a:p>
          <a:p>
            <a:pPr indent="-308610" lvl="0" marL="457200" rtl="0" algn="l">
              <a:spcBef>
                <a:spcPts val="0"/>
              </a:spcBef>
              <a:spcAft>
                <a:spcPts val="0"/>
              </a:spcAft>
              <a:buSzPct val="100000"/>
              <a:buChar char="●"/>
            </a:pPr>
            <a:r>
              <a:rPr lang="en"/>
              <a:t>Such categorical variable outcome prediction is </a:t>
            </a:r>
            <a:r>
              <a:rPr lang="en"/>
              <a:t>referred to as classification problem</a:t>
            </a:r>
            <a:endParaRPr/>
          </a:p>
          <a:p>
            <a:pPr indent="-308610" lvl="0" marL="457200" rtl="0" algn="l">
              <a:spcBef>
                <a:spcPts val="0"/>
              </a:spcBef>
              <a:spcAft>
                <a:spcPts val="0"/>
              </a:spcAft>
              <a:buSzPct val="100000"/>
              <a:buChar char="●"/>
            </a:pPr>
            <a:r>
              <a:rPr lang="en"/>
              <a:t>It is a task of supervised learning</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graphicFrame>
        <p:nvGraphicFramePr>
          <p:cNvPr id="68" name="Google Shape;68;p15"/>
          <p:cNvGraphicFramePr/>
          <p:nvPr/>
        </p:nvGraphicFramePr>
        <p:xfrm>
          <a:off x="1284925" y="281299"/>
          <a:ext cx="3000000" cy="3000000"/>
        </p:xfrm>
        <a:graphic>
          <a:graphicData uri="http://schemas.openxmlformats.org/drawingml/2006/table">
            <a:tbl>
              <a:tblPr>
                <a:noFill/>
                <a:tableStyleId>{C52F01E8-0ACD-4EDC-9336-3E8512ACB67B}</a:tableStyleId>
              </a:tblPr>
              <a:tblGrid>
                <a:gridCol w="1064500"/>
                <a:gridCol w="1024000"/>
              </a:tblGrid>
              <a:tr h="148625">
                <a:tc>
                  <a:txBody>
                    <a:bodyPr/>
                    <a:lstStyle/>
                    <a:p>
                      <a:pPr indent="0" lvl="0" marL="0" rtl="0" algn="l">
                        <a:spcBef>
                          <a:spcPts val="0"/>
                        </a:spcBef>
                        <a:spcAft>
                          <a:spcPts val="0"/>
                        </a:spcAft>
                        <a:buNone/>
                      </a:pPr>
                      <a:r>
                        <a:rPr lang="en" sz="1200"/>
                        <a:t>Hours Study</a:t>
                      </a:r>
                      <a:endParaRPr sz="1200"/>
                    </a:p>
                  </a:txBody>
                  <a:tcPr marT="0" marB="0" marR="0" marL="0"/>
                </a:tc>
                <a:tc>
                  <a:txBody>
                    <a:bodyPr/>
                    <a:lstStyle/>
                    <a:p>
                      <a:pPr indent="0" lvl="0" marL="0" rtl="0" algn="l">
                        <a:spcBef>
                          <a:spcPts val="0"/>
                        </a:spcBef>
                        <a:spcAft>
                          <a:spcPts val="0"/>
                        </a:spcAft>
                        <a:buNone/>
                      </a:pPr>
                      <a:r>
                        <a:rPr lang="en" sz="1200"/>
                        <a:t>Pass</a:t>
                      </a:r>
                      <a:endParaRPr sz="1200"/>
                    </a:p>
                  </a:txBody>
                  <a:tcPr marT="0" marB="0" marR="0" marL="0"/>
                </a:tc>
              </a:tr>
              <a:tr h="148075">
                <a:tc>
                  <a:txBody>
                    <a:bodyPr/>
                    <a:lstStyle/>
                    <a:p>
                      <a:pPr indent="0" lvl="0" marL="0" rtl="0" algn="l">
                        <a:spcBef>
                          <a:spcPts val="0"/>
                        </a:spcBef>
                        <a:spcAft>
                          <a:spcPts val="0"/>
                        </a:spcAft>
                        <a:buNone/>
                      </a:pPr>
                      <a:r>
                        <a:rPr lang="en" sz="1200"/>
                        <a:t>2</a:t>
                      </a:r>
                      <a:endParaRPr sz="1200"/>
                    </a:p>
                  </a:txBody>
                  <a:tcPr marT="0" marB="0" marR="0" marL="0"/>
                </a:tc>
                <a:tc>
                  <a:txBody>
                    <a:bodyPr/>
                    <a:lstStyle/>
                    <a:p>
                      <a:pPr indent="0" lvl="0" marL="0" rtl="0" algn="l">
                        <a:spcBef>
                          <a:spcPts val="0"/>
                        </a:spcBef>
                        <a:spcAft>
                          <a:spcPts val="0"/>
                        </a:spcAft>
                        <a:buNone/>
                      </a:pPr>
                      <a:r>
                        <a:rPr lang="en" sz="1200"/>
                        <a:t>No</a:t>
                      </a:r>
                      <a:endParaRPr sz="1200"/>
                    </a:p>
                  </a:txBody>
                  <a:tcPr marT="0" marB="0" marR="0" marL="0"/>
                </a:tc>
              </a:tr>
              <a:tr h="148625">
                <a:tc>
                  <a:txBody>
                    <a:bodyPr/>
                    <a:lstStyle/>
                    <a:p>
                      <a:pPr indent="0" lvl="0" marL="0" rtl="0" algn="l">
                        <a:spcBef>
                          <a:spcPts val="0"/>
                        </a:spcBef>
                        <a:spcAft>
                          <a:spcPts val="0"/>
                        </a:spcAft>
                        <a:buNone/>
                      </a:pPr>
                      <a:r>
                        <a:rPr lang="en" sz="1200"/>
                        <a:t>3</a:t>
                      </a:r>
                      <a:endParaRPr sz="1200"/>
                    </a:p>
                  </a:txBody>
                  <a:tcPr marT="0" marB="0" marR="0" marL="0"/>
                </a:tc>
                <a:tc>
                  <a:txBody>
                    <a:bodyPr/>
                    <a:lstStyle/>
                    <a:p>
                      <a:pPr indent="0" lvl="0" marL="0" rtl="0" algn="l">
                        <a:spcBef>
                          <a:spcPts val="0"/>
                        </a:spcBef>
                        <a:spcAft>
                          <a:spcPts val="0"/>
                        </a:spcAft>
                        <a:buNone/>
                      </a:pPr>
                      <a:r>
                        <a:rPr lang="en" sz="1200">
                          <a:solidFill>
                            <a:schemeClr val="dk1"/>
                          </a:solidFill>
                        </a:rPr>
                        <a:t>No</a:t>
                      </a:r>
                      <a:endParaRPr sz="1200"/>
                    </a:p>
                  </a:txBody>
                  <a:tcPr marT="0" marB="0" marR="0" marL="0"/>
                </a:tc>
              </a:tr>
              <a:tr h="148625">
                <a:tc>
                  <a:txBody>
                    <a:bodyPr/>
                    <a:lstStyle/>
                    <a:p>
                      <a:pPr indent="0" lvl="0" marL="0" rtl="0" algn="l">
                        <a:spcBef>
                          <a:spcPts val="0"/>
                        </a:spcBef>
                        <a:spcAft>
                          <a:spcPts val="0"/>
                        </a:spcAft>
                        <a:buNone/>
                      </a:pPr>
                      <a:r>
                        <a:rPr lang="en" sz="1200"/>
                        <a:t>4</a:t>
                      </a:r>
                      <a:endParaRPr sz="1200"/>
                    </a:p>
                  </a:txBody>
                  <a:tcPr marT="0" marB="0" marR="0" marL="0"/>
                </a:tc>
                <a:tc>
                  <a:txBody>
                    <a:bodyPr/>
                    <a:lstStyle/>
                    <a:p>
                      <a:pPr indent="0" lvl="0" marL="0" rtl="0" algn="l">
                        <a:spcBef>
                          <a:spcPts val="0"/>
                        </a:spcBef>
                        <a:spcAft>
                          <a:spcPts val="0"/>
                        </a:spcAft>
                        <a:buNone/>
                      </a:pPr>
                      <a:r>
                        <a:rPr lang="en" sz="1200"/>
                        <a:t>Yes</a:t>
                      </a:r>
                      <a:endParaRPr sz="1200"/>
                    </a:p>
                  </a:txBody>
                  <a:tcPr marT="0" marB="0" marR="0" marL="0"/>
                </a:tc>
              </a:tr>
              <a:tr h="148075">
                <a:tc>
                  <a:txBody>
                    <a:bodyPr/>
                    <a:lstStyle/>
                    <a:p>
                      <a:pPr indent="0" lvl="0" marL="0" rtl="0" algn="l">
                        <a:spcBef>
                          <a:spcPts val="0"/>
                        </a:spcBef>
                        <a:spcAft>
                          <a:spcPts val="0"/>
                        </a:spcAft>
                        <a:buNone/>
                      </a:pPr>
                      <a:r>
                        <a:rPr lang="en" sz="1200"/>
                        <a:t>5</a:t>
                      </a:r>
                      <a:endParaRPr sz="1200"/>
                    </a:p>
                  </a:txBody>
                  <a:tcPr marT="0" marB="0" marR="0" marL="0"/>
                </a:tc>
                <a:tc>
                  <a:txBody>
                    <a:bodyPr/>
                    <a:lstStyle/>
                    <a:p>
                      <a:pPr indent="0" lvl="0" marL="0" rtl="0" algn="l">
                        <a:spcBef>
                          <a:spcPts val="0"/>
                        </a:spcBef>
                        <a:spcAft>
                          <a:spcPts val="0"/>
                        </a:spcAft>
                        <a:buNone/>
                      </a:pPr>
                      <a:r>
                        <a:rPr lang="en" sz="1200">
                          <a:solidFill>
                            <a:schemeClr val="dk1"/>
                          </a:solidFill>
                        </a:rPr>
                        <a:t>No</a:t>
                      </a:r>
                      <a:endParaRPr sz="1200"/>
                    </a:p>
                  </a:txBody>
                  <a:tcPr marT="0" marB="0" marR="0" marL="0"/>
                </a:tc>
              </a:tr>
              <a:tr h="148075">
                <a:tc>
                  <a:txBody>
                    <a:bodyPr/>
                    <a:lstStyle/>
                    <a:p>
                      <a:pPr indent="0" lvl="0" marL="0" rtl="0" algn="l">
                        <a:spcBef>
                          <a:spcPts val="0"/>
                        </a:spcBef>
                        <a:spcAft>
                          <a:spcPts val="0"/>
                        </a:spcAft>
                        <a:buNone/>
                      </a:pPr>
                      <a:r>
                        <a:rPr lang="en" sz="1200"/>
                        <a:t>6</a:t>
                      </a:r>
                      <a:endParaRPr sz="1200"/>
                    </a:p>
                  </a:txBody>
                  <a:tcPr marT="0" marB="0" marR="0" marL="0"/>
                </a:tc>
                <a:tc>
                  <a:txBody>
                    <a:bodyPr/>
                    <a:lstStyle/>
                    <a:p>
                      <a:pPr indent="0" lvl="0" marL="0" rtl="0" algn="l">
                        <a:spcBef>
                          <a:spcPts val="0"/>
                        </a:spcBef>
                        <a:spcAft>
                          <a:spcPts val="0"/>
                        </a:spcAft>
                        <a:buNone/>
                      </a:pPr>
                      <a:r>
                        <a:rPr lang="en" sz="1200">
                          <a:solidFill>
                            <a:schemeClr val="dk1"/>
                          </a:solidFill>
                        </a:rPr>
                        <a:t>Yes</a:t>
                      </a:r>
                      <a:endParaRPr sz="1200"/>
                    </a:p>
                  </a:txBody>
                  <a:tcPr marT="0" marB="0" marR="0" marL="0"/>
                </a:tc>
              </a:tr>
              <a:tr h="148075">
                <a:tc>
                  <a:txBody>
                    <a:bodyPr/>
                    <a:lstStyle/>
                    <a:p>
                      <a:pPr indent="0" lvl="0" marL="0" rtl="0" algn="l">
                        <a:spcBef>
                          <a:spcPts val="0"/>
                        </a:spcBef>
                        <a:spcAft>
                          <a:spcPts val="0"/>
                        </a:spcAft>
                        <a:buNone/>
                      </a:pPr>
                      <a:r>
                        <a:rPr lang="en" sz="1200"/>
                        <a:t>7</a:t>
                      </a:r>
                      <a:endParaRPr sz="1200"/>
                    </a:p>
                  </a:txBody>
                  <a:tcPr marT="0" marB="0" marR="0" marL="0"/>
                </a:tc>
                <a:tc>
                  <a:txBody>
                    <a:bodyPr/>
                    <a:lstStyle/>
                    <a:p>
                      <a:pPr indent="0" lvl="0" marL="0" rtl="0" algn="l">
                        <a:spcBef>
                          <a:spcPts val="0"/>
                        </a:spcBef>
                        <a:spcAft>
                          <a:spcPts val="0"/>
                        </a:spcAft>
                        <a:buNone/>
                      </a:pPr>
                      <a:r>
                        <a:rPr lang="en" sz="1200">
                          <a:solidFill>
                            <a:schemeClr val="dk1"/>
                          </a:solidFill>
                        </a:rPr>
                        <a:t>Yes</a:t>
                      </a:r>
                      <a:endParaRPr sz="1200"/>
                    </a:p>
                  </a:txBody>
                  <a:tcPr marT="0" marB="0" marR="0" marL="0"/>
                </a:tc>
              </a:tr>
              <a:tr h="148075">
                <a:tc>
                  <a:txBody>
                    <a:bodyPr/>
                    <a:lstStyle/>
                    <a:p>
                      <a:pPr indent="0" lvl="0" marL="0" rtl="0" algn="l">
                        <a:spcBef>
                          <a:spcPts val="0"/>
                        </a:spcBef>
                        <a:spcAft>
                          <a:spcPts val="0"/>
                        </a:spcAft>
                        <a:buNone/>
                      </a:pPr>
                      <a:r>
                        <a:rPr lang="en" sz="1200"/>
                        <a:t>8</a:t>
                      </a:r>
                      <a:endParaRPr sz="1200"/>
                    </a:p>
                  </a:txBody>
                  <a:tcPr marT="0" marB="0" marR="0" marL="0"/>
                </a:tc>
                <a:tc>
                  <a:txBody>
                    <a:bodyPr/>
                    <a:lstStyle/>
                    <a:p>
                      <a:pPr indent="0" lvl="0" marL="0" rtl="0" algn="l">
                        <a:spcBef>
                          <a:spcPts val="0"/>
                        </a:spcBef>
                        <a:spcAft>
                          <a:spcPts val="0"/>
                        </a:spcAft>
                        <a:buNone/>
                      </a:pPr>
                      <a:r>
                        <a:rPr lang="en" sz="1200">
                          <a:solidFill>
                            <a:schemeClr val="dk1"/>
                          </a:solidFill>
                        </a:rPr>
                        <a:t>Yes</a:t>
                      </a:r>
                      <a:endParaRPr sz="1200"/>
                    </a:p>
                  </a:txBody>
                  <a:tcPr marT="0" marB="0" marR="0" marL="0"/>
                </a:tc>
              </a:tr>
              <a:tr h="148075">
                <a:tc>
                  <a:txBody>
                    <a:bodyPr/>
                    <a:lstStyle/>
                    <a:p>
                      <a:pPr indent="0" lvl="0" marL="0" rtl="0" algn="l">
                        <a:spcBef>
                          <a:spcPts val="0"/>
                        </a:spcBef>
                        <a:spcAft>
                          <a:spcPts val="0"/>
                        </a:spcAft>
                        <a:buNone/>
                      </a:pPr>
                      <a:r>
                        <a:rPr lang="en" sz="1200"/>
                        <a:t>9</a:t>
                      </a:r>
                      <a:endParaRPr sz="1200"/>
                    </a:p>
                  </a:txBody>
                  <a:tcPr marT="0" marB="0" marR="0" marL="0"/>
                </a:tc>
                <a:tc>
                  <a:txBody>
                    <a:bodyPr/>
                    <a:lstStyle/>
                    <a:p>
                      <a:pPr indent="0" lvl="0" marL="0" rtl="0" algn="l">
                        <a:spcBef>
                          <a:spcPts val="0"/>
                        </a:spcBef>
                        <a:spcAft>
                          <a:spcPts val="0"/>
                        </a:spcAft>
                        <a:buNone/>
                      </a:pPr>
                      <a:r>
                        <a:rPr lang="en" sz="1200">
                          <a:solidFill>
                            <a:schemeClr val="dk1"/>
                          </a:solidFill>
                        </a:rPr>
                        <a:t>Yes</a:t>
                      </a:r>
                      <a:endParaRPr sz="1200"/>
                    </a:p>
                  </a:txBody>
                  <a:tcPr marT="0" marB="0" marR="0" marL="0"/>
                </a:tc>
              </a:tr>
              <a:tr h="126950">
                <a:tc>
                  <a:txBody>
                    <a:bodyPr/>
                    <a:lstStyle/>
                    <a:p>
                      <a:pPr indent="0" lvl="0" marL="0" rtl="0" algn="l">
                        <a:spcBef>
                          <a:spcPts val="0"/>
                        </a:spcBef>
                        <a:spcAft>
                          <a:spcPts val="0"/>
                        </a:spcAft>
                        <a:buNone/>
                      </a:pPr>
                      <a:r>
                        <a:rPr lang="en" sz="1200"/>
                        <a:t>10</a:t>
                      </a:r>
                      <a:endParaRPr sz="1200"/>
                    </a:p>
                  </a:txBody>
                  <a:tcPr marT="0" marB="0" marR="0" marL="0"/>
                </a:tc>
                <a:tc>
                  <a:txBody>
                    <a:bodyPr/>
                    <a:lstStyle/>
                    <a:p>
                      <a:pPr indent="0" lvl="0" marL="0" rtl="0" algn="l">
                        <a:spcBef>
                          <a:spcPts val="0"/>
                        </a:spcBef>
                        <a:spcAft>
                          <a:spcPts val="0"/>
                        </a:spcAft>
                        <a:buNone/>
                      </a:pPr>
                      <a:r>
                        <a:rPr lang="en" sz="1200"/>
                        <a:t>?</a:t>
                      </a:r>
                      <a:endParaRPr sz="1200"/>
                    </a:p>
                  </a:txBody>
                  <a:tcPr marT="0" marB="0" marR="0" marL="0"/>
                </a:tc>
              </a:tr>
            </a:tbl>
          </a:graphicData>
        </a:graphic>
      </p:graphicFrame>
      <p:cxnSp>
        <p:nvCxnSpPr>
          <p:cNvPr id="69" name="Google Shape;69;p15"/>
          <p:cNvCxnSpPr/>
          <p:nvPr/>
        </p:nvCxnSpPr>
        <p:spPr>
          <a:xfrm>
            <a:off x="3611825" y="1139400"/>
            <a:ext cx="1360500" cy="0"/>
          </a:xfrm>
          <a:prstGeom prst="straightConnector1">
            <a:avLst/>
          </a:prstGeom>
          <a:noFill/>
          <a:ln cap="flat" cmpd="sng" w="9525">
            <a:solidFill>
              <a:schemeClr val="dk2"/>
            </a:solidFill>
            <a:prstDash val="solid"/>
            <a:round/>
            <a:headEnd len="med" w="med" type="none"/>
            <a:tailEnd len="med" w="med" type="triangle"/>
          </a:ln>
        </p:spPr>
      </p:cxnSp>
      <p:graphicFrame>
        <p:nvGraphicFramePr>
          <p:cNvPr id="70" name="Google Shape;70;p15"/>
          <p:cNvGraphicFramePr/>
          <p:nvPr/>
        </p:nvGraphicFramePr>
        <p:xfrm>
          <a:off x="5210725" y="333624"/>
          <a:ext cx="3000000" cy="3000000"/>
        </p:xfrm>
        <a:graphic>
          <a:graphicData uri="http://schemas.openxmlformats.org/drawingml/2006/table">
            <a:tbl>
              <a:tblPr>
                <a:noFill/>
                <a:tableStyleId>{C52F01E8-0ACD-4EDC-9336-3E8512ACB67B}</a:tableStyleId>
              </a:tblPr>
              <a:tblGrid>
                <a:gridCol w="1064500"/>
                <a:gridCol w="1024000"/>
              </a:tblGrid>
              <a:tr h="148625">
                <a:tc>
                  <a:txBody>
                    <a:bodyPr/>
                    <a:lstStyle/>
                    <a:p>
                      <a:pPr indent="0" lvl="0" marL="0" rtl="0" algn="l">
                        <a:spcBef>
                          <a:spcPts val="0"/>
                        </a:spcBef>
                        <a:spcAft>
                          <a:spcPts val="0"/>
                        </a:spcAft>
                        <a:buNone/>
                      </a:pPr>
                      <a:r>
                        <a:rPr lang="en" sz="1200"/>
                        <a:t>Hours Study</a:t>
                      </a:r>
                      <a:endParaRPr sz="1200"/>
                    </a:p>
                  </a:txBody>
                  <a:tcPr marT="0" marB="0" marR="0" marL="0"/>
                </a:tc>
                <a:tc>
                  <a:txBody>
                    <a:bodyPr/>
                    <a:lstStyle/>
                    <a:p>
                      <a:pPr indent="0" lvl="0" marL="0" rtl="0" algn="l">
                        <a:spcBef>
                          <a:spcPts val="0"/>
                        </a:spcBef>
                        <a:spcAft>
                          <a:spcPts val="0"/>
                        </a:spcAft>
                        <a:buNone/>
                      </a:pPr>
                      <a:r>
                        <a:rPr lang="en" sz="1200"/>
                        <a:t>Pass</a:t>
                      </a:r>
                      <a:endParaRPr sz="1200"/>
                    </a:p>
                  </a:txBody>
                  <a:tcPr marT="0" marB="0" marR="0" marL="0"/>
                </a:tc>
              </a:tr>
              <a:tr h="148075">
                <a:tc>
                  <a:txBody>
                    <a:bodyPr/>
                    <a:lstStyle/>
                    <a:p>
                      <a:pPr indent="0" lvl="0" marL="0" rtl="0" algn="l">
                        <a:spcBef>
                          <a:spcPts val="0"/>
                        </a:spcBef>
                        <a:spcAft>
                          <a:spcPts val="0"/>
                        </a:spcAft>
                        <a:buNone/>
                      </a:pPr>
                      <a:r>
                        <a:rPr lang="en" sz="1200"/>
                        <a:t>2</a:t>
                      </a:r>
                      <a:endParaRPr sz="1200"/>
                    </a:p>
                  </a:txBody>
                  <a:tcPr marT="0" marB="0" marR="0" marL="0"/>
                </a:tc>
                <a:tc>
                  <a:txBody>
                    <a:bodyPr/>
                    <a:lstStyle/>
                    <a:p>
                      <a:pPr indent="0" lvl="0" marL="0" rtl="0" algn="l">
                        <a:spcBef>
                          <a:spcPts val="0"/>
                        </a:spcBef>
                        <a:spcAft>
                          <a:spcPts val="0"/>
                        </a:spcAft>
                        <a:buNone/>
                      </a:pPr>
                      <a:r>
                        <a:rPr lang="en" sz="1200"/>
                        <a:t>0</a:t>
                      </a:r>
                      <a:endParaRPr sz="1200"/>
                    </a:p>
                  </a:txBody>
                  <a:tcPr marT="0" marB="0" marR="0" marL="0"/>
                </a:tc>
              </a:tr>
              <a:tr h="148625">
                <a:tc>
                  <a:txBody>
                    <a:bodyPr/>
                    <a:lstStyle/>
                    <a:p>
                      <a:pPr indent="0" lvl="0" marL="0" rtl="0" algn="l">
                        <a:spcBef>
                          <a:spcPts val="0"/>
                        </a:spcBef>
                        <a:spcAft>
                          <a:spcPts val="0"/>
                        </a:spcAft>
                        <a:buNone/>
                      </a:pPr>
                      <a:r>
                        <a:rPr lang="en" sz="1200"/>
                        <a:t>3</a:t>
                      </a:r>
                      <a:endParaRPr sz="1200"/>
                    </a:p>
                  </a:txBody>
                  <a:tcPr marT="0" marB="0" marR="0" marL="0"/>
                </a:tc>
                <a:tc>
                  <a:txBody>
                    <a:bodyPr/>
                    <a:lstStyle/>
                    <a:p>
                      <a:pPr indent="0" lvl="0" marL="0" rtl="0" algn="l">
                        <a:spcBef>
                          <a:spcPts val="0"/>
                        </a:spcBef>
                        <a:spcAft>
                          <a:spcPts val="0"/>
                        </a:spcAft>
                        <a:buNone/>
                      </a:pPr>
                      <a:r>
                        <a:rPr lang="en" sz="1200">
                          <a:solidFill>
                            <a:schemeClr val="dk1"/>
                          </a:solidFill>
                        </a:rPr>
                        <a:t>0</a:t>
                      </a:r>
                      <a:endParaRPr sz="1200"/>
                    </a:p>
                  </a:txBody>
                  <a:tcPr marT="0" marB="0" marR="0" marL="0"/>
                </a:tc>
              </a:tr>
              <a:tr h="148625">
                <a:tc>
                  <a:txBody>
                    <a:bodyPr/>
                    <a:lstStyle/>
                    <a:p>
                      <a:pPr indent="0" lvl="0" marL="0" rtl="0" algn="l">
                        <a:spcBef>
                          <a:spcPts val="0"/>
                        </a:spcBef>
                        <a:spcAft>
                          <a:spcPts val="0"/>
                        </a:spcAft>
                        <a:buNone/>
                      </a:pPr>
                      <a:r>
                        <a:rPr lang="en" sz="1200"/>
                        <a:t>4</a:t>
                      </a:r>
                      <a:endParaRPr sz="1200"/>
                    </a:p>
                  </a:txBody>
                  <a:tcPr marT="0" marB="0" marR="0" marL="0"/>
                </a:tc>
                <a:tc>
                  <a:txBody>
                    <a:bodyPr/>
                    <a:lstStyle/>
                    <a:p>
                      <a:pPr indent="0" lvl="0" marL="0" rtl="0" algn="l">
                        <a:spcBef>
                          <a:spcPts val="0"/>
                        </a:spcBef>
                        <a:spcAft>
                          <a:spcPts val="0"/>
                        </a:spcAft>
                        <a:buNone/>
                      </a:pPr>
                      <a:r>
                        <a:rPr lang="en" sz="1200"/>
                        <a:t>1</a:t>
                      </a:r>
                      <a:endParaRPr sz="1200"/>
                    </a:p>
                  </a:txBody>
                  <a:tcPr marT="0" marB="0" marR="0" marL="0"/>
                </a:tc>
              </a:tr>
              <a:tr h="148075">
                <a:tc>
                  <a:txBody>
                    <a:bodyPr/>
                    <a:lstStyle/>
                    <a:p>
                      <a:pPr indent="0" lvl="0" marL="0" rtl="0" algn="l">
                        <a:spcBef>
                          <a:spcPts val="0"/>
                        </a:spcBef>
                        <a:spcAft>
                          <a:spcPts val="0"/>
                        </a:spcAft>
                        <a:buNone/>
                      </a:pPr>
                      <a:r>
                        <a:rPr lang="en" sz="1200"/>
                        <a:t>5</a:t>
                      </a:r>
                      <a:endParaRPr sz="1200"/>
                    </a:p>
                  </a:txBody>
                  <a:tcPr marT="0" marB="0" marR="0" marL="0"/>
                </a:tc>
                <a:tc>
                  <a:txBody>
                    <a:bodyPr/>
                    <a:lstStyle/>
                    <a:p>
                      <a:pPr indent="0" lvl="0" marL="0" rtl="0" algn="l">
                        <a:spcBef>
                          <a:spcPts val="0"/>
                        </a:spcBef>
                        <a:spcAft>
                          <a:spcPts val="0"/>
                        </a:spcAft>
                        <a:buNone/>
                      </a:pPr>
                      <a:r>
                        <a:rPr lang="en" sz="1200">
                          <a:solidFill>
                            <a:schemeClr val="dk1"/>
                          </a:solidFill>
                        </a:rPr>
                        <a:t>0</a:t>
                      </a:r>
                      <a:endParaRPr sz="1200"/>
                    </a:p>
                  </a:txBody>
                  <a:tcPr marT="0" marB="0" marR="0" marL="0"/>
                </a:tc>
              </a:tr>
              <a:tr h="148075">
                <a:tc>
                  <a:txBody>
                    <a:bodyPr/>
                    <a:lstStyle/>
                    <a:p>
                      <a:pPr indent="0" lvl="0" marL="0" rtl="0" algn="l">
                        <a:spcBef>
                          <a:spcPts val="0"/>
                        </a:spcBef>
                        <a:spcAft>
                          <a:spcPts val="0"/>
                        </a:spcAft>
                        <a:buNone/>
                      </a:pPr>
                      <a:r>
                        <a:rPr lang="en" sz="1200"/>
                        <a:t>6</a:t>
                      </a:r>
                      <a:endParaRPr sz="1200"/>
                    </a:p>
                  </a:txBody>
                  <a:tcPr marT="0" marB="0" marR="0" marL="0"/>
                </a:tc>
                <a:tc>
                  <a:txBody>
                    <a:bodyPr/>
                    <a:lstStyle/>
                    <a:p>
                      <a:pPr indent="0" lvl="0" marL="0" rtl="0" algn="l">
                        <a:spcBef>
                          <a:spcPts val="0"/>
                        </a:spcBef>
                        <a:spcAft>
                          <a:spcPts val="0"/>
                        </a:spcAft>
                        <a:buNone/>
                      </a:pPr>
                      <a:r>
                        <a:rPr lang="en" sz="1200">
                          <a:solidFill>
                            <a:schemeClr val="dk1"/>
                          </a:solidFill>
                        </a:rPr>
                        <a:t>1</a:t>
                      </a:r>
                      <a:endParaRPr sz="1200"/>
                    </a:p>
                  </a:txBody>
                  <a:tcPr marT="0" marB="0" marR="0" marL="0"/>
                </a:tc>
              </a:tr>
              <a:tr h="148075">
                <a:tc>
                  <a:txBody>
                    <a:bodyPr/>
                    <a:lstStyle/>
                    <a:p>
                      <a:pPr indent="0" lvl="0" marL="0" rtl="0" algn="l">
                        <a:spcBef>
                          <a:spcPts val="0"/>
                        </a:spcBef>
                        <a:spcAft>
                          <a:spcPts val="0"/>
                        </a:spcAft>
                        <a:buNone/>
                      </a:pPr>
                      <a:r>
                        <a:rPr lang="en" sz="1200"/>
                        <a:t>7</a:t>
                      </a:r>
                      <a:endParaRPr sz="1200"/>
                    </a:p>
                  </a:txBody>
                  <a:tcPr marT="0" marB="0" marR="0" marL="0"/>
                </a:tc>
                <a:tc>
                  <a:txBody>
                    <a:bodyPr/>
                    <a:lstStyle/>
                    <a:p>
                      <a:pPr indent="0" lvl="0" marL="0" rtl="0" algn="l">
                        <a:spcBef>
                          <a:spcPts val="0"/>
                        </a:spcBef>
                        <a:spcAft>
                          <a:spcPts val="0"/>
                        </a:spcAft>
                        <a:buNone/>
                      </a:pPr>
                      <a:r>
                        <a:rPr lang="en" sz="1200">
                          <a:solidFill>
                            <a:schemeClr val="dk1"/>
                          </a:solidFill>
                        </a:rPr>
                        <a:t>1</a:t>
                      </a:r>
                      <a:endParaRPr sz="1200"/>
                    </a:p>
                  </a:txBody>
                  <a:tcPr marT="0" marB="0" marR="0" marL="0"/>
                </a:tc>
              </a:tr>
              <a:tr h="148075">
                <a:tc>
                  <a:txBody>
                    <a:bodyPr/>
                    <a:lstStyle/>
                    <a:p>
                      <a:pPr indent="0" lvl="0" marL="0" rtl="0" algn="l">
                        <a:spcBef>
                          <a:spcPts val="0"/>
                        </a:spcBef>
                        <a:spcAft>
                          <a:spcPts val="0"/>
                        </a:spcAft>
                        <a:buNone/>
                      </a:pPr>
                      <a:r>
                        <a:rPr lang="en" sz="1200"/>
                        <a:t>8</a:t>
                      </a:r>
                      <a:endParaRPr sz="1200"/>
                    </a:p>
                  </a:txBody>
                  <a:tcPr marT="0" marB="0" marR="0" marL="0"/>
                </a:tc>
                <a:tc>
                  <a:txBody>
                    <a:bodyPr/>
                    <a:lstStyle/>
                    <a:p>
                      <a:pPr indent="0" lvl="0" marL="0" rtl="0" algn="l">
                        <a:spcBef>
                          <a:spcPts val="0"/>
                        </a:spcBef>
                        <a:spcAft>
                          <a:spcPts val="0"/>
                        </a:spcAft>
                        <a:buNone/>
                      </a:pPr>
                      <a:r>
                        <a:rPr lang="en" sz="1200">
                          <a:solidFill>
                            <a:schemeClr val="dk1"/>
                          </a:solidFill>
                        </a:rPr>
                        <a:t>1</a:t>
                      </a:r>
                      <a:endParaRPr sz="1200"/>
                    </a:p>
                  </a:txBody>
                  <a:tcPr marT="0" marB="0" marR="0" marL="0"/>
                </a:tc>
              </a:tr>
              <a:tr h="148075">
                <a:tc>
                  <a:txBody>
                    <a:bodyPr/>
                    <a:lstStyle/>
                    <a:p>
                      <a:pPr indent="0" lvl="0" marL="0" rtl="0" algn="l">
                        <a:spcBef>
                          <a:spcPts val="0"/>
                        </a:spcBef>
                        <a:spcAft>
                          <a:spcPts val="0"/>
                        </a:spcAft>
                        <a:buNone/>
                      </a:pPr>
                      <a:r>
                        <a:rPr lang="en" sz="1200"/>
                        <a:t>9</a:t>
                      </a:r>
                      <a:endParaRPr sz="1200"/>
                    </a:p>
                  </a:txBody>
                  <a:tcPr marT="0" marB="0" marR="0" marL="0"/>
                </a:tc>
                <a:tc>
                  <a:txBody>
                    <a:bodyPr/>
                    <a:lstStyle/>
                    <a:p>
                      <a:pPr indent="0" lvl="0" marL="0" rtl="0" algn="l">
                        <a:spcBef>
                          <a:spcPts val="0"/>
                        </a:spcBef>
                        <a:spcAft>
                          <a:spcPts val="0"/>
                        </a:spcAft>
                        <a:buNone/>
                      </a:pPr>
                      <a:r>
                        <a:rPr lang="en" sz="1200">
                          <a:solidFill>
                            <a:schemeClr val="dk1"/>
                          </a:solidFill>
                        </a:rPr>
                        <a:t>1</a:t>
                      </a:r>
                      <a:endParaRPr sz="1200"/>
                    </a:p>
                  </a:txBody>
                  <a:tcPr marT="0" marB="0" marR="0" marL="0"/>
                </a:tc>
              </a:tr>
              <a:tr h="126950">
                <a:tc>
                  <a:txBody>
                    <a:bodyPr/>
                    <a:lstStyle/>
                    <a:p>
                      <a:pPr indent="0" lvl="0" marL="0" rtl="0" algn="l">
                        <a:spcBef>
                          <a:spcPts val="0"/>
                        </a:spcBef>
                        <a:spcAft>
                          <a:spcPts val="0"/>
                        </a:spcAft>
                        <a:buNone/>
                      </a:pPr>
                      <a:r>
                        <a:rPr lang="en" sz="1200"/>
                        <a:t>10</a:t>
                      </a:r>
                      <a:endParaRPr sz="1200"/>
                    </a:p>
                  </a:txBody>
                  <a:tcPr marT="0" marB="0" marR="0" marL="0"/>
                </a:tc>
                <a:tc>
                  <a:txBody>
                    <a:bodyPr/>
                    <a:lstStyle/>
                    <a:p>
                      <a:pPr indent="0" lvl="0" marL="0" rtl="0" algn="l">
                        <a:spcBef>
                          <a:spcPts val="0"/>
                        </a:spcBef>
                        <a:spcAft>
                          <a:spcPts val="0"/>
                        </a:spcAft>
                        <a:buNone/>
                      </a:pPr>
                      <a:r>
                        <a:rPr lang="en" sz="1200"/>
                        <a:t>?</a:t>
                      </a:r>
                      <a:endParaRPr sz="1200"/>
                    </a:p>
                  </a:txBody>
                  <a:tcPr marT="0" marB="0" marR="0" marL="0"/>
                </a:tc>
              </a:tr>
            </a:tbl>
          </a:graphicData>
        </a:graphic>
      </p:graphicFrame>
      <p:sp>
        <p:nvSpPr>
          <p:cNvPr id="71" name="Google Shape;71;p15"/>
          <p:cNvSpPr txBox="1"/>
          <p:nvPr>
            <p:ph idx="4294967295" type="subTitle"/>
          </p:nvPr>
        </p:nvSpPr>
        <p:spPr>
          <a:xfrm>
            <a:off x="534100" y="2055675"/>
            <a:ext cx="3718800" cy="520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Let’s try to plot the dataset</a:t>
            </a:r>
            <a:endParaRPr/>
          </a:p>
        </p:txBody>
      </p:sp>
      <p:sp>
        <p:nvSpPr>
          <p:cNvPr id="72" name="Google Shape;72;p15"/>
          <p:cNvSpPr txBox="1"/>
          <p:nvPr>
            <p:ph idx="4294967295" type="subTitle"/>
          </p:nvPr>
        </p:nvSpPr>
        <p:spPr>
          <a:xfrm>
            <a:off x="627625" y="4386175"/>
            <a:ext cx="5561400" cy="520200"/>
          </a:xfrm>
          <a:prstGeom prst="rect">
            <a:avLst/>
          </a:prstGeom>
        </p:spPr>
        <p:txBody>
          <a:bodyPr anchorCtr="0" anchor="t" bIns="91425" lIns="91425" spcFirstLastPara="1" rIns="91425" wrap="square" tIns="91425">
            <a:normAutofit fontScale="92500"/>
          </a:bodyPr>
          <a:lstStyle/>
          <a:p>
            <a:pPr indent="-334327" lvl="0" marL="457200" rtl="0" algn="l">
              <a:spcBef>
                <a:spcPts val="0"/>
              </a:spcBef>
              <a:spcAft>
                <a:spcPts val="0"/>
              </a:spcAft>
              <a:buClr>
                <a:srgbClr val="FF0000"/>
              </a:buClr>
              <a:buSzPct val="100000"/>
              <a:buChar char="●"/>
            </a:pPr>
            <a:r>
              <a:rPr lang="en">
                <a:solidFill>
                  <a:srgbClr val="FF0000"/>
                </a:solidFill>
              </a:rPr>
              <a:t>Linear models can be problematic to fit such data</a:t>
            </a:r>
            <a:endParaRPr>
              <a:solidFill>
                <a:srgbClr val="FF0000"/>
              </a:solidFill>
            </a:endParaRPr>
          </a:p>
        </p:txBody>
      </p:sp>
      <p:pic>
        <p:nvPicPr>
          <p:cNvPr id="73" name="Google Shape;73;p15" title="Classification.drawio (4).png"/>
          <p:cNvPicPr preferRelativeResize="0"/>
          <p:nvPr/>
        </p:nvPicPr>
        <p:blipFill>
          <a:blip r:embed="rId3">
            <a:alphaModFix/>
          </a:blip>
          <a:stretch>
            <a:fillRect/>
          </a:stretch>
        </p:blipFill>
        <p:spPr>
          <a:xfrm>
            <a:off x="1802500" y="2473175"/>
            <a:ext cx="2302575" cy="1805617"/>
          </a:xfrm>
          <a:prstGeom prst="rect">
            <a:avLst/>
          </a:prstGeom>
          <a:noFill/>
          <a:ln>
            <a:noFill/>
          </a:ln>
        </p:spPr>
      </p:pic>
      <p:pic>
        <p:nvPicPr>
          <p:cNvPr id="74" name="Google Shape;74;p15" title="Classification.drawio (5).png"/>
          <p:cNvPicPr preferRelativeResize="0"/>
          <p:nvPr/>
        </p:nvPicPr>
        <p:blipFill>
          <a:blip r:embed="rId4">
            <a:alphaModFix/>
          </a:blip>
          <a:stretch>
            <a:fillRect/>
          </a:stretch>
        </p:blipFill>
        <p:spPr>
          <a:xfrm>
            <a:off x="4572000" y="2359799"/>
            <a:ext cx="2447167" cy="19190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6"/>
          <p:cNvSpPr txBox="1"/>
          <p:nvPr>
            <p:ph idx="4294967295" type="subTitle"/>
          </p:nvPr>
        </p:nvSpPr>
        <p:spPr>
          <a:xfrm>
            <a:off x="619125" y="263500"/>
            <a:ext cx="6021000" cy="520200"/>
          </a:xfrm>
          <a:prstGeom prst="rect">
            <a:avLst/>
          </a:prstGeom>
        </p:spPr>
        <p:txBody>
          <a:bodyPr anchorCtr="0" anchor="t" bIns="91425" lIns="91425" spcFirstLastPara="1" rIns="91425" wrap="square" tIns="91425">
            <a:noAutofit/>
          </a:bodyPr>
          <a:lstStyle/>
          <a:p>
            <a:pPr indent="-314960" lvl="0" marL="457200" rtl="0" algn="l">
              <a:spcBef>
                <a:spcPts val="0"/>
              </a:spcBef>
              <a:spcAft>
                <a:spcPts val="0"/>
              </a:spcAft>
              <a:buSzPts val="1360"/>
              <a:buChar char="●"/>
            </a:pPr>
            <a:r>
              <a:rPr lang="en" sz="1360"/>
              <a:t>Thus, we convert the linear hypothesis to a non-linear one to fit the data</a:t>
            </a:r>
            <a:endParaRPr sz="1360"/>
          </a:p>
        </p:txBody>
      </p:sp>
      <p:sp>
        <p:nvSpPr>
          <p:cNvPr id="80" name="Google Shape;80;p16"/>
          <p:cNvSpPr txBox="1"/>
          <p:nvPr>
            <p:ph idx="4294967295" type="subTitle"/>
          </p:nvPr>
        </p:nvSpPr>
        <p:spPr>
          <a:xfrm>
            <a:off x="675700" y="2646300"/>
            <a:ext cx="6980700" cy="109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sz="1300"/>
              <a:t>One such non-linear </a:t>
            </a:r>
            <a:r>
              <a:rPr lang="en" sz="1300"/>
              <a:t>activation</a:t>
            </a:r>
            <a:r>
              <a:rPr lang="en" sz="1300"/>
              <a:t> function here used is Sigmoid</a:t>
            </a:r>
            <a:endParaRPr sz="1300"/>
          </a:p>
          <a:p>
            <a:pPr indent="-311150" lvl="0" marL="457200" rtl="0" algn="l">
              <a:spcBef>
                <a:spcPts val="0"/>
              </a:spcBef>
              <a:spcAft>
                <a:spcPts val="0"/>
              </a:spcAft>
              <a:buSzPts val="1300"/>
              <a:buChar char="●"/>
            </a:pPr>
            <a:r>
              <a:rPr lang="en" sz="1300"/>
              <a:t>Such an activation function converts a linear hypothesis into non-linear one </a:t>
            </a:r>
            <a:endParaRPr sz="1300"/>
          </a:p>
          <a:p>
            <a:pPr indent="-311150" lvl="0" marL="457200" rtl="0" algn="l">
              <a:spcBef>
                <a:spcPts val="0"/>
              </a:spcBef>
              <a:spcAft>
                <a:spcPts val="0"/>
              </a:spcAft>
              <a:buSzPts val="1300"/>
              <a:buChar char="●"/>
            </a:pPr>
            <a:r>
              <a:rPr lang="en" sz="1300"/>
              <a:t>Such nonlinear classification is known as logistic regression</a:t>
            </a:r>
            <a:endParaRPr sz="1300"/>
          </a:p>
          <a:p>
            <a:pPr indent="-311150" lvl="0" marL="457200" rtl="0" algn="l">
              <a:spcBef>
                <a:spcPts val="0"/>
              </a:spcBef>
              <a:spcAft>
                <a:spcPts val="0"/>
              </a:spcAft>
              <a:buSzPts val="1300"/>
              <a:buChar char="●"/>
            </a:pPr>
            <a:r>
              <a:rPr lang="en" sz="1300"/>
              <a:t>There are other activation functions available (ReLU, Tanh)</a:t>
            </a:r>
            <a:endParaRPr sz="1300"/>
          </a:p>
        </p:txBody>
      </p:sp>
      <p:pic>
        <p:nvPicPr>
          <p:cNvPr id="81" name="Google Shape;81;p16" title="Classification.drawio (3).png"/>
          <p:cNvPicPr preferRelativeResize="0"/>
          <p:nvPr/>
        </p:nvPicPr>
        <p:blipFill>
          <a:blip r:embed="rId3">
            <a:alphaModFix/>
          </a:blip>
          <a:stretch>
            <a:fillRect/>
          </a:stretch>
        </p:blipFill>
        <p:spPr>
          <a:xfrm>
            <a:off x="3253975" y="891500"/>
            <a:ext cx="2199075" cy="172445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Sigmoid function</a:t>
            </a:r>
            <a:endParaRPr/>
          </a:p>
        </p:txBody>
      </p:sp>
      <p:sp>
        <p:nvSpPr>
          <p:cNvPr id="87" name="Google Shape;87;p17"/>
          <p:cNvSpPr txBox="1"/>
          <p:nvPr>
            <p:ph idx="4294967295" type="subTitle"/>
          </p:nvPr>
        </p:nvSpPr>
        <p:spPr>
          <a:xfrm>
            <a:off x="734575" y="1155025"/>
            <a:ext cx="6980700" cy="855600"/>
          </a:xfrm>
          <a:prstGeom prst="rect">
            <a:avLst/>
          </a:prstGeom>
        </p:spPr>
        <p:txBody>
          <a:bodyPr anchorCtr="0" anchor="t" bIns="91425" lIns="91425" spcFirstLastPara="1" rIns="91425" wrap="square" tIns="91425">
            <a:noAutofit/>
          </a:bodyPr>
          <a:lstStyle/>
          <a:p>
            <a:pPr indent="-311467" lvl="0" marL="457200" rtl="0" algn="l">
              <a:lnSpc>
                <a:spcPct val="150000"/>
              </a:lnSpc>
              <a:spcBef>
                <a:spcPts val="0"/>
              </a:spcBef>
              <a:spcAft>
                <a:spcPts val="0"/>
              </a:spcAft>
              <a:buSzPts val="1305"/>
              <a:buChar char="●"/>
            </a:pPr>
            <a:r>
              <a:rPr lang="en" sz="1305"/>
              <a:t>If we are trying to fit a linear equation z = w.x+b to a non-linear pattern, we convert it to a </a:t>
            </a:r>
            <a:r>
              <a:rPr lang="en" sz="1305"/>
              <a:t>nonlinear</a:t>
            </a:r>
            <a:r>
              <a:rPr lang="en" sz="1305"/>
              <a:t> equation instead</a:t>
            </a:r>
            <a:endParaRPr sz="1305"/>
          </a:p>
          <a:p>
            <a:pPr indent="-311467" lvl="0" marL="457200" rtl="0" algn="l">
              <a:lnSpc>
                <a:spcPct val="150000"/>
              </a:lnSpc>
              <a:spcBef>
                <a:spcPts val="0"/>
              </a:spcBef>
              <a:spcAft>
                <a:spcPts val="0"/>
              </a:spcAft>
              <a:buSzPts val="1305"/>
              <a:buChar char="●"/>
            </a:pPr>
            <a:r>
              <a:rPr lang="en" sz="1305"/>
              <a:t>The conversion is done through non-linear activation functions</a:t>
            </a:r>
            <a:endParaRPr sz="1305"/>
          </a:p>
          <a:p>
            <a:pPr indent="-311467" lvl="0" marL="457200" rtl="0" algn="l">
              <a:lnSpc>
                <a:spcPct val="150000"/>
              </a:lnSpc>
              <a:spcBef>
                <a:spcPts val="0"/>
              </a:spcBef>
              <a:spcAft>
                <a:spcPts val="0"/>
              </a:spcAft>
              <a:buSzPts val="1305"/>
              <a:buChar char="●"/>
            </a:pPr>
            <a:r>
              <a:rPr lang="en" sz="1305"/>
              <a:t>One such function is the sigmoid function.</a:t>
            </a:r>
            <a:endParaRPr sz="1305"/>
          </a:p>
        </p:txBody>
      </p:sp>
      <p:pic>
        <p:nvPicPr>
          <p:cNvPr id="88" name="Google Shape;88;p17" title="Screenshot 2025-04-22 133331.png"/>
          <p:cNvPicPr preferRelativeResize="0"/>
          <p:nvPr/>
        </p:nvPicPr>
        <p:blipFill>
          <a:blip r:embed="rId3">
            <a:alphaModFix/>
          </a:blip>
          <a:stretch>
            <a:fillRect/>
          </a:stretch>
        </p:blipFill>
        <p:spPr>
          <a:xfrm>
            <a:off x="3638625" y="2442250"/>
            <a:ext cx="1503700" cy="670175"/>
          </a:xfrm>
          <a:prstGeom prst="rect">
            <a:avLst/>
          </a:prstGeom>
          <a:noFill/>
          <a:ln>
            <a:noFill/>
          </a:ln>
        </p:spPr>
      </p:pic>
      <p:sp>
        <p:nvSpPr>
          <p:cNvPr id="89" name="Google Shape;89;p17"/>
          <p:cNvSpPr txBox="1"/>
          <p:nvPr>
            <p:ph idx="4294967295" type="subTitle"/>
          </p:nvPr>
        </p:nvSpPr>
        <p:spPr>
          <a:xfrm>
            <a:off x="1272950" y="3145125"/>
            <a:ext cx="6243600" cy="15408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None/>
            </a:pPr>
            <a:r>
              <a:rPr lang="en" sz="1305"/>
              <a:t>Where, z = w.x+b [The linear function that we are trying to convert]</a:t>
            </a:r>
            <a:endParaRPr sz="1305"/>
          </a:p>
          <a:p>
            <a:pPr indent="0" lvl="0" marL="0" rtl="0" algn="l">
              <a:lnSpc>
                <a:spcPct val="95000"/>
              </a:lnSpc>
              <a:spcBef>
                <a:spcPts val="1200"/>
              </a:spcBef>
              <a:spcAft>
                <a:spcPts val="0"/>
              </a:spcAft>
              <a:buNone/>
            </a:pPr>
            <a:r>
              <a:rPr lang="en" sz="1305"/>
              <a:t>w = weight [Learnable parameter]</a:t>
            </a:r>
            <a:endParaRPr sz="1305"/>
          </a:p>
          <a:p>
            <a:pPr indent="0" lvl="0" marL="0" rtl="0" algn="l">
              <a:lnSpc>
                <a:spcPct val="95000"/>
              </a:lnSpc>
              <a:spcBef>
                <a:spcPts val="1200"/>
              </a:spcBef>
              <a:spcAft>
                <a:spcPts val="0"/>
              </a:spcAft>
              <a:buNone/>
            </a:pPr>
            <a:r>
              <a:rPr lang="en" sz="1305"/>
              <a:t>b</a:t>
            </a:r>
            <a:r>
              <a:rPr lang="en" sz="1305"/>
              <a:t> = bias [Learnable parameter]</a:t>
            </a:r>
            <a:endParaRPr sz="1305"/>
          </a:p>
          <a:p>
            <a:pPr indent="0" lvl="0" marL="0" rtl="0" algn="l">
              <a:lnSpc>
                <a:spcPct val="95000"/>
              </a:lnSpc>
              <a:spcBef>
                <a:spcPts val="1200"/>
              </a:spcBef>
              <a:spcAft>
                <a:spcPts val="1200"/>
              </a:spcAft>
              <a:buNone/>
            </a:pPr>
            <a:r>
              <a:rPr lang="en" sz="1305"/>
              <a:t>x = feature value [For multiple features, it’s a matrix multiplied with a weight matrix]</a:t>
            </a:r>
            <a:endParaRPr sz="1305"/>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pic>
        <p:nvPicPr>
          <p:cNvPr id="94" name="Google Shape;94;p18" title="Classification.drawio (3).png"/>
          <p:cNvPicPr preferRelativeResize="0"/>
          <p:nvPr/>
        </p:nvPicPr>
        <p:blipFill>
          <a:blip r:embed="rId3">
            <a:alphaModFix/>
          </a:blip>
          <a:stretch>
            <a:fillRect/>
          </a:stretch>
        </p:blipFill>
        <p:spPr>
          <a:xfrm>
            <a:off x="6099225" y="246875"/>
            <a:ext cx="2306975" cy="1809075"/>
          </a:xfrm>
          <a:prstGeom prst="rect">
            <a:avLst/>
          </a:prstGeom>
          <a:noFill/>
          <a:ln>
            <a:noFill/>
          </a:ln>
        </p:spPr>
      </p:pic>
      <p:sp>
        <p:nvSpPr>
          <p:cNvPr id="95" name="Google Shape;95;p18"/>
          <p:cNvSpPr txBox="1"/>
          <p:nvPr>
            <p:ph idx="4294967295" type="subTitle"/>
          </p:nvPr>
        </p:nvSpPr>
        <p:spPr>
          <a:xfrm>
            <a:off x="939300" y="723850"/>
            <a:ext cx="5774700" cy="10845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305"/>
              <a:t>Let’s </a:t>
            </a:r>
            <a:r>
              <a:rPr lang="en" sz="1305"/>
              <a:t>assume,</a:t>
            </a:r>
            <a:endParaRPr sz="1305"/>
          </a:p>
          <a:p>
            <a:pPr indent="0" lvl="0" marL="0" rtl="0" algn="l">
              <a:lnSpc>
                <a:spcPct val="100000"/>
              </a:lnSpc>
              <a:spcBef>
                <a:spcPts val="1200"/>
              </a:spcBef>
              <a:spcAft>
                <a:spcPts val="0"/>
              </a:spcAft>
              <a:buNone/>
            </a:pPr>
            <a:r>
              <a:rPr lang="en" sz="1305"/>
              <a:t>Hours Study = x</a:t>
            </a:r>
            <a:endParaRPr sz="1305"/>
          </a:p>
          <a:p>
            <a:pPr indent="0" lvl="0" marL="0" rtl="0" algn="l">
              <a:lnSpc>
                <a:spcPct val="100000"/>
              </a:lnSpc>
              <a:spcBef>
                <a:spcPts val="1200"/>
              </a:spcBef>
              <a:spcAft>
                <a:spcPts val="1200"/>
              </a:spcAft>
              <a:buNone/>
            </a:pPr>
            <a:r>
              <a:rPr lang="en" sz="1305"/>
              <a:t>Pass = y</a:t>
            </a:r>
            <a:endParaRPr sz="1305"/>
          </a:p>
        </p:txBody>
      </p:sp>
      <p:sp>
        <p:nvSpPr>
          <p:cNvPr id="96" name="Google Shape;96;p18"/>
          <p:cNvSpPr txBox="1"/>
          <p:nvPr>
            <p:ph idx="4294967295" type="subTitle"/>
          </p:nvPr>
        </p:nvSpPr>
        <p:spPr>
          <a:xfrm>
            <a:off x="455325" y="2387000"/>
            <a:ext cx="5321400" cy="1553100"/>
          </a:xfrm>
          <a:prstGeom prst="rect">
            <a:avLst/>
          </a:prstGeom>
        </p:spPr>
        <p:txBody>
          <a:bodyPr anchorCtr="0" anchor="t" bIns="91425" lIns="91425" spcFirstLastPara="1" rIns="91425" wrap="square" tIns="91425">
            <a:noAutofit/>
          </a:bodyPr>
          <a:lstStyle/>
          <a:p>
            <a:pPr indent="-311467" lvl="0" marL="457200" rtl="0" algn="l">
              <a:lnSpc>
                <a:spcPct val="100000"/>
              </a:lnSpc>
              <a:spcBef>
                <a:spcPts val="0"/>
              </a:spcBef>
              <a:spcAft>
                <a:spcPts val="0"/>
              </a:spcAft>
              <a:buSzPts val="1305"/>
              <a:buChar char="●"/>
            </a:pPr>
            <a:r>
              <a:rPr lang="en" sz="1305"/>
              <a:t>We’ll have to figure out z = w.x+b, and pass it through the nonlinear function</a:t>
            </a:r>
            <a:endParaRPr sz="1305"/>
          </a:p>
          <a:p>
            <a:pPr indent="-311467" lvl="0" marL="457200" rtl="0" algn="l">
              <a:lnSpc>
                <a:spcPct val="100000"/>
              </a:lnSpc>
              <a:spcBef>
                <a:spcPts val="0"/>
              </a:spcBef>
              <a:spcAft>
                <a:spcPts val="0"/>
              </a:spcAft>
              <a:buSzPts val="1305"/>
              <a:buChar char="●"/>
            </a:pPr>
            <a:r>
              <a:rPr lang="en" sz="1305"/>
              <a:t>The challenge is to find appropriate values for w and b, which we can do through gradient descent</a:t>
            </a:r>
            <a:endParaRPr sz="1305"/>
          </a:p>
          <a:p>
            <a:pPr indent="-311467" lvl="0" marL="457200" rtl="0" algn="l">
              <a:lnSpc>
                <a:spcPct val="100000"/>
              </a:lnSpc>
              <a:spcBef>
                <a:spcPts val="0"/>
              </a:spcBef>
              <a:spcAft>
                <a:spcPts val="0"/>
              </a:spcAft>
              <a:buSzPts val="1305"/>
              <a:buChar char="●"/>
            </a:pPr>
            <a:r>
              <a:rPr lang="en" sz="1305"/>
              <a:t>For gradient descent, we calculate the derivative of the loss function, and subtract the derivative from the respective </a:t>
            </a:r>
            <a:r>
              <a:rPr lang="en" sz="1305"/>
              <a:t>parameter</a:t>
            </a:r>
            <a:r>
              <a:rPr lang="en" sz="1305"/>
              <a:t> to update it</a:t>
            </a:r>
            <a:endParaRPr sz="1305"/>
          </a:p>
        </p:txBody>
      </p:sp>
      <p:pic>
        <p:nvPicPr>
          <p:cNvPr id="97" name="Google Shape;97;p18" title="Classification-Page-2.drawio.png"/>
          <p:cNvPicPr preferRelativeResize="0"/>
          <p:nvPr/>
        </p:nvPicPr>
        <p:blipFill>
          <a:blip r:embed="rId4">
            <a:alphaModFix/>
          </a:blip>
          <a:stretch>
            <a:fillRect/>
          </a:stretch>
        </p:blipFill>
        <p:spPr>
          <a:xfrm>
            <a:off x="6053400" y="2308521"/>
            <a:ext cx="2913975" cy="201222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9"/>
          <p:cNvSpPr txBox="1"/>
          <p:nvPr>
            <p:ph type="title"/>
          </p:nvPr>
        </p:nvSpPr>
        <p:spPr>
          <a:xfrm>
            <a:off x="3422250" y="458100"/>
            <a:ext cx="22995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Loss function</a:t>
            </a:r>
            <a:endParaRPr/>
          </a:p>
        </p:txBody>
      </p:sp>
      <p:sp>
        <p:nvSpPr>
          <p:cNvPr id="103" name="Google Shape;103;p19"/>
          <p:cNvSpPr txBox="1"/>
          <p:nvPr>
            <p:ph idx="1" type="body"/>
          </p:nvPr>
        </p:nvSpPr>
        <p:spPr>
          <a:xfrm>
            <a:off x="311700" y="1302900"/>
            <a:ext cx="3882300" cy="1878600"/>
          </a:xfrm>
          <a:prstGeom prst="rect">
            <a:avLst/>
          </a:prstGeom>
        </p:spPr>
        <p:txBody>
          <a:bodyPr anchorCtr="0" anchor="t" bIns="91425" lIns="91425" spcFirstLastPara="1" rIns="91425" wrap="square" tIns="91425">
            <a:normAutofit lnSpcReduction="20000"/>
          </a:bodyPr>
          <a:lstStyle/>
          <a:p>
            <a:pPr indent="0" lvl="0" marL="0" rtl="0" algn="l">
              <a:lnSpc>
                <a:spcPct val="100000"/>
              </a:lnSpc>
              <a:spcBef>
                <a:spcPts val="0"/>
              </a:spcBef>
              <a:spcAft>
                <a:spcPts val="0"/>
              </a:spcAft>
              <a:buNone/>
            </a:pPr>
            <a:r>
              <a:rPr lang="en" sz="1200"/>
              <a:t>Logistic regression uses the following loss </a:t>
            </a:r>
            <a:r>
              <a:rPr lang="en" sz="1200"/>
              <a:t>function:</a:t>
            </a:r>
            <a:endParaRPr sz="1200"/>
          </a:p>
          <a:p>
            <a:pPr indent="0" lvl="0" marL="0" rtl="0" algn="l">
              <a:lnSpc>
                <a:spcPct val="100000"/>
              </a:lnSpc>
              <a:spcBef>
                <a:spcPts val="1200"/>
              </a:spcBef>
              <a:spcAft>
                <a:spcPts val="0"/>
              </a:spcAft>
              <a:buNone/>
            </a:pPr>
            <a:r>
              <a:rPr lang="en" sz="1200"/>
              <a:t>loss = -y.log(a) - (1-y).log(1-a)</a:t>
            </a:r>
            <a:endParaRPr sz="1200"/>
          </a:p>
          <a:p>
            <a:pPr indent="0" lvl="0" marL="0" rtl="0" algn="l">
              <a:lnSpc>
                <a:spcPct val="100000"/>
              </a:lnSpc>
              <a:spcBef>
                <a:spcPts val="1200"/>
              </a:spcBef>
              <a:spcAft>
                <a:spcPts val="0"/>
              </a:spcAft>
              <a:buNone/>
            </a:pPr>
            <a:r>
              <a:rPr lang="en" sz="1200"/>
              <a:t>Where, </a:t>
            </a:r>
            <a:endParaRPr sz="1200"/>
          </a:p>
          <a:p>
            <a:pPr indent="0" lvl="0" marL="0" rtl="0" algn="l">
              <a:lnSpc>
                <a:spcPct val="100000"/>
              </a:lnSpc>
              <a:spcBef>
                <a:spcPts val="1200"/>
              </a:spcBef>
              <a:spcAft>
                <a:spcPts val="0"/>
              </a:spcAft>
              <a:buNone/>
            </a:pPr>
            <a:r>
              <a:rPr lang="en" sz="1200"/>
              <a:t>y = Ground truth</a:t>
            </a:r>
            <a:endParaRPr sz="1200"/>
          </a:p>
          <a:p>
            <a:pPr indent="0" lvl="0" marL="0" rtl="0" algn="l">
              <a:lnSpc>
                <a:spcPct val="100000"/>
              </a:lnSpc>
              <a:spcBef>
                <a:spcPts val="1200"/>
              </a:spcBef>
              <a:spcAft>
                <a:spcPts val="0"/>
              </a:spcAft>
              <a:buNone/>
            </a:pPr>
            <a:r>
              <a:rPr lang="en" sz="1200"/>
              <a:t>a</a:t>
            </a:r>
            <a:r>
              <a:rPr lang="en" sz="1200"/>
              <a:t> = Predicted value</a:t>
            </a:r>
            <a:endParaRPr sz="1200"/>
          </a:p>
          <a:p>
            <a:pPr indent="0" lvl="0" marL="0" rtl="0" algn="l">
              <a:lnSpc>
                <a:spcPct val="100000"/>
              </a:lnSpc>
              <a:spcBef>
                <a:spcPts val="1200"/>
              </a:spcBef>
              <a:spcAft>
                <a:spcPts val="1200"/>
              </a:spcAft>
              <a:buClr>
                <a:schemeClr val="dk1"/>
              </a:buClr>
              <a:buSzPts val="1100"/>
              <a:buFont typeface="Arial"/>
              <a:buNone/>
            </a:pPr>
            <a:r>
              <a:t/>
            </a:r>
            <a:endParaRPr sz="1200"/>
          </a:p>
        </p:txBody>
      </p:sp>
      <p:sp>
        <p:nvSpPr>
          <p:cNvPr id="104" name="Google Shape;104;p19"/>
          <p:cNvSpPr txBox="1"/>
          <p:nvPr>
            <p:ph idx="1" type="body"/>
          </p:nvPr>
        </p:nvSpPr>
        <p:spPr>
          <a:xfrm>
            <a:off x="4499775" y="1213325"/>
            <a:ext cx="4266300" cy="38145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en" sz="1200"/>
              <a:t>Intuition behind the loss function: </a:t>
            </a:r>
            <a:endParaRPr sz="1200"/>
          </a:p>
          <a:p>
            <a:pPr indent="0" lvl="0" marL="0" rtl="0" algn="l">
              <a:lnSpc>
                <a:spcPct val="100000"/>
              </a:lnSpc>
              <a:spcBef>
                <a:spcPts val="1200"/>
              </a:spcBef>
              <a:spcAft>
                <a:spcPts val="0"/>
              </a:spcAft>
              <a:buNone/>
            </a:pPr>
            <a:r>
              <a:rPr lang="en" sz="1200"/>
              <a:t>If y = 1 and a = 0.000005 [Extreme case of misclassification]</a:t>
            </a:r>
            <a:endParaRPr sz="1200"/>
          </a:p>
          <a:p>
            <a:pPr indent="0" lvl="0" marL="0" rtl="0" algn="l">
              <a:lnSpc>
                <a:spcPct val="100000"/>
              </a:lnSpc>
              <a:spcBef>
                <a:spcPts val="1200"/>
              </a:spcBef>
              <a:spcAft>
                <a:spcPts val="0"/>
              </a:spcAft>
              <a:buNone/>
            </a:pPr>
            <a:r>
              <a:rPr lang="en" sz="1200"/>
              <a:t>loss = -1.log0 - </a:t>
            </a:r>
            <a:r>
              <a:rPr lang="en" sz="1200"/>
              <a:t>(1-1).</a:t>
            </a:r>
            <a:r>
              <a:rPr lang="en" sz="1200"/>
              <a:t>log(1-0) = 5.301 [High loss value]</a:t>
            </a:r>
            <a:endParaRPr sz="1200"/>
          </a:p>
          <a:p>
            <a:pPr indent="0" lvl="0" marL="0" rtl="0" algn="l">
              <a:lnSpc>
                <a:spcPct val="100000"/>
              </a:lnSpc>
              <a:spcBef>
                <a:spcPts val="1200"/>
              </a:spcBef>
              <a:spcAft>
                <a:spcPts val="0"/>
              </a:spcAft>
              <a:buNone/>
            </a:pPr>
            <a:r>
              <a:rPr lang="en" sz="1200"/>
              <a:t>If y = 1 and a = 1 [Best case of correct classification]</a:t>
            </a:r>
            <a:endParaRPr sz="1200"/>
          </a:p>
          <a:p>
            <a:pPr indent="0" lvl="0" marL="0" rtl="0" algn="l">
              <a:lnSpc>
                <a:spcPct val="100000"/>
              </a:lnSpc>
              <a:spcBef>
                <a:spcPts val="1200"/>
              </a:spcBef>
              <a:spcAft>
                <a:spcPts val="0"/>
              </a:spcAft>
              <a:buNone/>
            </a:pPr>
            <a:r>
              <a:rPr lang="en" sz="1200"/>
              <a:t>loss = -1.log1 - (1-1).log(1-1) = 0 </a:t>
            </a:r>
            <a:r>
              <a:rPr lang="en" sz="1200"/>
              <a:t>[Low loss value]</a:t>
            </a:r>
            <a:endParaRPr sz="1200"/>
          </a:p>
          <a:p>
            <a:pPr indent="0" lvl="0" marL="0" rtl="0" algn="l">
              <a:lnSpc>
                <a:spcPct val="100000"/>
              </a:lnSpc>
              <a:spcBef>
                <a:spcPts val="1200"/>
              </a:spcBef>
              <a:spcAft>
                <a:spcPts val="0"/>
              </a:spcAft>
              <a:buNone/>
            </a:pPr>
            <a:r>
              <a:t/>
            </a:r>
            <a:endParaRPr sz="1200"/>
          </a:p>
          <a:p>
            <a:pPr indent="0" lvl="0" marL="0" rtl="0" algn="l">
              <a:lnSpc>
                <a:spcPct val="100000"/>
              </a:lnSpc>
              <a:spcBef>
                <a:spcPts val="1200"/>
              </a:spcBef>
              <a:spcAft>
                <a:spcPts val="0"/>
              </a:spcAft>
              <a:buClr>
                <a:schemeClr val="dk1"/>
              </a:buClr>
              <a:buSzPts val="1100"/>
              <a:buFont typeface="Arial"/>
              <a:buNone/>
            </a:pPr>
            <a:r>
              <a:rPr lang="en" sz="1200"/>
              <a:t>If y = 0 and a = .000095 [Extreme case of misclassification]</a:t>
            </a:r>
            <a:endParaRPr sz="1200"/>
          </a:p>
          <a:p>
            <a:pPr indent="0" lvl="0" marL="0" rtl="0" algn="l">
              <a:lnSpc>
                <a:spcPct val="100000"/>
              </a:lnSpc>
              <a:spcBef>
                <a:spcPts val="1200"/>
              </a:spcBef>
              <a:spcAft>
                <a:spcPts val="0"/>
              </a:spcAft>
              <a:buClr>
                <a:schemeClr val="dk1"/>
              </a:buClr>
              <a:buSzPts val="1100"/>
              <a:buFont typeface="Arial"/>
              <a:buNone/>
            </a:pPr>
            <a:r>
              <a:rPr lang="en" sz="1200"/>
              <a:t>loss = -0.log1 - (1-0).log(1-1) = 4.022 [High loss value]</a:t>
            </a:r>
            <a:endParaRPr sz="1200"/>
          </a:p>
          <a:p>
            <a:pPr indent="0" lvl="0" marL="0" rtl="0" algn="l">
              <a:lnSpc>
                <a:spcPct val="100000"/>
              </a:lnSpc>
              <a:spcBef>
                <a:spcPts val="1200"/>
              </a:spcBef>
              <a:spcAft>
                <a:spcPts val="0"/>
              </a:spcAft>
              <a:buClr>
                <a:schemeClr val="dk1"/>
              </a:buClr>
              <a:buSzPts val="1100"/>
              <a:buFont typeface="Arial"/>
              <a:buNone/>
            </a:pPr>
            <a:r>
              <a:rPr lang="en" sz="1200"/>
              <a:t>If y = 0 and a = 0 [Best case of correct classification]</a:t>
            </a:r>
            <a:endParaRPr sz="1200"/>
          </a:p>
          <a:p>
            <a:pPr indent="0" lvl="0" marL="0" rtl="0" algn="l">
              <a:lnSpc>
                <a:spcPct val="100000"/>
              </a:lnSpc>
              <a:spcBef>
                <a:spcPts val="1200"/>
              </a:spcBef>
              <a:spcAft>
                <a:spcPts val="1200"/>
              </a:spcAft>
              <a:buClr>
                <a:schemeClr val="dk1"/>
              </a:buClr>
              <a:buSzPts val="1100"/>
              <a:buFont typeface="Arial"/>
              <a:buNone/>
            </a:pPr>
            <a:r>
              <a:rPr lang="en" sz="1200"/>
              <a:t>loss = -0.log0 - (1-0).log(1-0) = 0 [Low loss value]</a:t>
            </a:r>
            <a:endParaRPr sz="1200"/>
          </a:p>
        </p:txBody>
      </p:sp>
      <p:cxnSp>
        <p:nvCxnSpPr>
          <p:cNvPr id="105" name="Google Shape;105;p19"/>
          <p:cNvCxnSpPr/>
          <p:nvPr/>
        </p:nvCxnSpPr>
        <p:spPr>
          <a:xfrm rot="10800000">
            <a:off x="4194000" y="1068775"/>
            <a:ext cx="6600" cy="36432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0"/>
          <p:cNvSpPr txBox="1"/>
          <p:nvPr>
            <p:ph type="title"/>
          </p:nvPr>
        </p:nvSpPr>
        <p:spPr>
          <a:xfrm>
            <a:off x="2757950" y="333850"/>
            <a:ext cx="40524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Steps of logistic regression</a:t>
            </a:r>
            <a:endParaRPr/>
          </a:p>
        </p:txBody>
      </p:sp>
      <p:sp>
        <p:nvSpPr>
          <p:cNvPr id="111" name="Google Shape;111;p20"/>
          <p:cNvSpPr txBox="1"/>
          <p:nvPr>
            <p:ph idx="4294967295" type="subTitle"/>
          </p:nvPr>
        </p:nvSpPr>
        <p:spPr>
          <a:xfrm>
            <a:off x="1096325" y="1150775"/>
            <a:ext cx="5321400" cy="1553100"/>
          </a:xfrm>
          <a:prstGeom prst="rect">
            <a:avLst/>
          </a:prstGeom>
        </p:spPr>
        <p:txBody>
          <a:bodyPr anchorCtr="0" anchor="t" bIns="91425" lIns="91425" spcFirstLastPara="1" rIns="91425" wrap="square" tIns="91425">
            <a:noAutofit/>
          </a:bodyPr>
          <a:lstStyle/>
          <a:p>
            <a:pPr indent="-311467" lvl="0" marL="457200" rtl="0" algn="l">
              <a:lnSpc>
                <a:spcPct val="150000"/>
              </a:lnSpc>
              <a:spcBef>
                <a:spcPts val="0"/>
              </a:spcBef>
              <a:spcAft>
                <a:spcPts val="0"/>
              </a:spcAft>
              <a:buSzPts val="1305"/>
              <a:buChar char="●"/>
            </a:pPr>
            <a:r>
              <a:rPr lang="en" sz="1305"/>
              <a:t>Randomly initialize the w and b for z=w.x+b</a:t>
            </a:r>
            <a:endParaRPr sz="1305"/>
          </a:p>
          <a:p>
            <a:pPr indent="-311467" lvl="0" marL="457200" rtl="0" algn="l">
              <a:lnSpc>
                <a:spcPct val="150000"/>
              </a:lnSpc>
              <a:spcBef>
                <a:spcPts val="0"/>
              </a:spcBef>
              <a:spcAft>
                <a:spcPts val="0"/>
              </a:spcAft>
              <a:buSzPts val="1305"/>
              <a:buChar char="●"/>
            </a:pPr>
            <a:r>
              <a:rPr lang="en" sz="1305"/>
              <a:t>Calculate the z for the initial w and b</a:t>
            </a:r>
            <a:endParaRPr sz="1305"/>
          </a:p>
          <a:p>
            <a:pPr indent="-311467" lvl="0" marL="457200" rtl="0" algn="l">
              <a:lnSpc>
                <a:spcPct val="150000"/>
              </a:lnSpc>
              <a:spcBef>
                <a:spcPts val="0"/>
              </a:spcBef>
              <a:spcAft>
                <a:spcPts val="0"/>
              </a:spcAft>
              <a:buSzPts val="1305"/>
              <a:buChar char="●"/>
            </a:pPr>
            <a:r>
              <a:rPr lang="en" sz="1305"/>
              <a:t>Calculate the loss</a:t>
            </a:r>
            <a:endParaRPr sz="1305"/>
          </a:p>
          <a:p>
            <a:pPr indent="-311467" lvl="0" marL="457200" rtl="0" algn="l">
              <a:lnSpc>
                <a:spcPct val="150000"/>
              </a:lnSpc>
              <a:spcBef>
                <a:spcPts val="0"/>
              </a:spcBef>
              <a:spcAft>
                <a:spcPts val="0"/>
              </a:spcAft>
              <a:buSzPts val="1305"/>
              <a:buChar char="●"/>
            </a:pPr>
            <a:r>
              <a:rPr lang="en" sz="1305"/>
              <a:t>Apply gradient descent to update the w and b</a:t>
            </a:r>
            <a:endParaRPr sz="1305"/>
          </a:p>
          <a:p>
            <a:pPr indent="-311467" lvl="0" marL="457200" rtl="0" algn="l">
              <a:lnSpc>
                <a:spcPct val="150000"/>
              </a:lnSpc>
              <a:spcBef>
                <a:spcPts val="0"/>
              </a:spcBef>
              <a:spcAft>
                <a:spcPts val="0"/>
              </a:spcAft>
              <a:buSzPts val="1305"/>
              <a:buChar char="●"/>
            </a:pPr>
            <a:r>
              <a:rPr lang="en" sz="1305"/>
              <a:t>Repeat the process until convergence</a:t>
            </a:r>
            <a:endParaRPr sz="1305"/>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1"/>
          <p:cNvSpPr txBox="1"/>
          <p:nvPr>
            <p:ph idx="4294967295" type="subTitle"/>
          </p:nvPr>
        </p:nvSpPr>
        <p:spPr>
          <a:xfrm>
            <a:off x="993625" y="826025"/>
            <a:ext cx="6328800" cy="696300"/>
          </a:xfrm>
          <a:prstGeom prst="rect">
            <a:avLst/>
          </a:prstGeom>
        </p:spPr>
        <p:txBody>
          <a:bodyPr anchorCtr="0" anchor="t" bIns="91425" lIns="91425" spcFirstLastPara="1" rIns="91425" wrap="square" tIns="91425">
            <a:noAutofit/>
          </a:bodyPr>
          <a:lstStyle/>
          <a:p>
            <a:pPr indent="-311467" lvl="0" marL="457200" rtl="0" algn="l">
              <a:lnSpc>
                <a:spcPct val="150000"/>
              </a:lnSpc>
              <a:spcBef>
                <a:spcPts val="0"/>
              </a:spcBef>
              <a:spcAft>
                <a:spcPts val="0"/>
              </a:spcAft>
              <a:buSzPts val="1305"/>
              <a:buChar char="●"/>
            </a:pPr>
            <a:r>
              <a:rPr lang="en" sz="1305"/>
              <a:t>Logistic regression can be expressed as a single neuron neural network</a:t>
            </a:r>
            <a:endParaRPr sz="1305"/>
          </a:p>
          <a:p>
            <a:pPr indent="-311467" lvl="0" marL="457200" rtl="0" algn="l">
              <a:lnSpc>
                <a:spcPct val="150000"/>
              </a:lnSpc>
              <a:spcBef>
                <a:spcPts val="0"/>
              </a:spcBef>
              <a:spcAft>
                <a:spcPts val="0"/>
              </a:spcAft>
              <a:buSzPts val="1305"/>
              <a:buChar char="●"/>
            </a:pPr>
            <a:r>
              <a:rPr lang="en" sz="1305"/>
              <a:t>Where, for a single feature and a single neuron, the network looks like:</a:t>
            </a:r>
            <a:endParaRPr sz="1305"/>
          </a:p>
        </p:txBody>
      </p:sp>
      <p:pic>
        <p:nvPicPr>
          <p:cNvPr id="117" name="Google Shape;117;p21" title="NNSingle.drawio (1).png"/>
          <p:cNvPicPr preferRelativeResize="0"/>
          <p:nvPr/>
        </p:nvPicPr>
        <p:blipFill>
          <a:blip r:embed="rId3">
            <a:alphaModFix/>
          </a:blip>
          <a:stretch>
            <a:fillRect/>
          </a:stretch>
        </p:blipFill>
        <p:spPr>
          <a:xfrm>
            <a:off x="2840625" y="1568123"/>
            <a:ext cx="3203599" cy="950750"/>
          </a:xfrm>
          <a:prstGeom prst="rect">
            <a:avLst/>
          </a:prstGeom>
          <a:noFill/>
          <a:ln>
            <a:noFill/>
          </a:ln>
        </p:spPr>
      </p:pic>
      <p:pic>
        <p:nvPicPr>
          <p:cNvPr id="118" name="Google Shape;118;p21" title="NNSingle.drawio (2).png"/>
          <p:cNvPicPr preferRelativeResize="0"/>
          <p:nvPr/>
        </p:nvPicPr>
        <p:blipFill>
          <a:blip r:embed="rId4">
            <a:alphaModFix/>
          </a:blip>
          <a:stretch>
            <a:fillRect/>
          </a:stretch>
        </p:blipFill>
        <p:spPr>
          <a:xfrm>
            <a:off x="2753050" y="3227249"/>
            <a:ext cx="3378751" cy="1231925"/>
          </a:xfrm>
          <a:prstGeom prst="rect">
            <a:avLst/>
          </a:prstGeom>
          <a:noFill/>
          <a:ln>
            <a:noFill/>
          </a:ln>
        </p:spPr>
      </p:pic>
      <p:sp>
        <p:nvSpPr>
          <p:cNvPr id="119" name="Google Shape;119;p21"/>
          <p:cNvSpPr txBox="1"/>
          <p:nvPr>
            <p:ph idx="4294967295" type="subTitle"/>
          </p:nvPr>
        </p:nvSpPr>
        <p:spPr>
          <a:xfrm>
            <a:off x="1026325" y="2770600"/>
            <a:ext cx="6328800" cy="400500"/>
          </a:xfrm>
          <a:prstGeom prst="rect">
            <a:avLst/>
          </a:prstGeom>
        </p:spPr>
        <p:txBody>
          <a:bodyPr anchorCtr="0" anchor="t" bIns="91425" lIns="91425" spcFirstLastPara="1" rIns="91425" wrap="square" tIns="91425">
            <a:noAutofit/>
          </a:bodyPr>
          <a:lstStyle/>
          <a:p>
            <a:pPr indent="-311467" lvl="0" marL="457200" rtl="0" algn="l">
              <a:lnSpc>
                <a:spcPct val="150000"/>
              </a:lnSpc>
              <a:spcBef>
                <a:spcPts val="0"/>
              </a:spcBef>
              <a:spcAft>
                <a:spcPts val="0"/>
              </a:spcAft>
              <a:buSzPts val="1305"/>
              <a:buChar char="●"/>
            </a:pPr>
            <a:r>
              <a:rPr lang="en" sz="1305"/>
              <a:t>For multiple features on a single neuron, the </a:t>
            </a:r>
            <a:r>
              <a:rPr lang="en" sz="1305"/>
              <a:t>architecture</a:t>
            </a:r>
            <a:r>
              <a:rPr lang="en" sz="1305"/>
              <a:t> may look like:</a:t>
            </a:r>
            <a:endParaRPr sz="1305"/>
          </a:p>
        </p:txBody>
      </p:sp>
      <p:sp>
        <p:nvSpPr>
          <p:cNvPr id="120" name="Google Shape;120;p21"/>
          <p:cNvSpPr txBox="1"/>
          <p:nvPr>
            <p:ph type="title"/>
          </p:nvPr>
        </p:nvSpPr>
        <p:spPr>
          <a:xfrm>
            <a:off x="1267200" y="155200"/>
            <a:ext cx="5955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Logistic regression to neural networks</a:t>
            </a:r>
            <a:endParaRPr/>
          </a:p>
        </p:txBody>
      </p:sp>
      <p:sp>
        <p:nvSpPr>
          <p:cNvPr id="121" name="Google Shape;121;p21"/>
          <p:cNvSpPr txBox="1"/>
          <p:nvPr>
            <p:ph idx="4294967295" type="subTitle"/>
          </p:nvPr>
        </p:nvSpPr>
        <p:spPr>
          <a:xfrm>
            <a:off x="1080600" y="4515325"/>
            <a:ext cx="6328800" cy="400500"/>
          </a:xfrm>
          <a:prstGeom prst="rect">
            <a:avLst/>
          </a:prstGeom>
        </p:spPr>
        <p:txBody>
          <a:bodyPr anchorCtr="0" anchor="t" bIns="91425" lIns="91425" spcFirstLastPara="1" rIns="91425" wrap="square" tIns="91425">
            <a:noAutofit/>
          </a:bodyPr>
          <a:lstStyle/>
          <a:p>
            <a:pPr indent="-311467" lvl="0" marL="457200" rtl="0" algn="l">
              <a:lnSpc>
                <a:spcPct val="150000"/>
              </a:lnSpc>
              <a:spcBef>
                <a:spcPts val="0"/>
              </a:spcBef>
              <a:spcAft>
                <a:spcPts val="0"/>
              </a:spcAft>
              <a:buSzPts val="1305"/>
              <a:buChar char="●"/>
            </a:pPr>
            <a:r>
              <a:rPr lang="en" sz="1305"/>
              <a:t>Single layer neural networks are referred to as perceptrons</a:t>
            </a:r>
            <a:endParaRPr sz="1305"/>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2"/>
          <p:cNvSpPr txBox="1"/>
          <p:nvPr>
            <p:ph type="title"/>
          </p:nvPr>
        </p:nvSpPr>
        <p:spPr>
          <a:xfrm>
            <a:off x="1685275" y="283725"/>
            <a:ext cx="5955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Logistic regression to neural networks</a:t>
            </a:r>
            <a:endParaRPr/>
          </a:p>
        </p:txBody>
      </p:sp>
      <p:sp>
        <p:nvSpPr>
          <p:cNvPr id="127" name="Google Shape;127;p22"/>
          <p:cNvSpPr txBox="1"/>
          <p:nvPr>
            <p:ph idx="4294967295" type="subTitle"/>
          </p:nvPr>
        </p:nvSpPr>
        <p:spPr>
          <a:xfrm>
            <a:off x="712375" y="856425"/>
            <a:ext cx="6328800" cy="408600"/>
          </a:xfrm>
          <a:prstGeom prst="rect">
            <a:avLst/>
          </a:prstGeom>
        </p:spPr>
        <p:txBody>
          <a:bodyPr anchorCtr="0" anchor="t" bIns="91425" lIns="91425" spcFirstLastPara="1" rIns="91425" wrap="square" tIns="91425">
            <a:noAutofit/>
          </a:bodyPr>
          <a:lstStyle/>
          <a:p>
            <a:pPr indent="-311467" lvl="0" marL="457200" rtl="0" algn="l">
              <a:lnSpc>
                <a:spcPct val="150000"/>
              </a:lnSpc>
              <a:spcBef>
                <a:spcPts val="0"/>
              </a:spcBef>
              <a:spcAft>
                <a:spcPts val="0"/>
              </a:spcAft>
              <a:buSzPts val="1305"/>
              <a:buChar char="●"/>
            </a:pPr>
            <a:r>
              <a:rPr lang="en" sz="1305"/>
              <a:t>A network can involve multiple neurons</a:t>
            </a:r>
            <a:endParaRPr sz="1305"/>
          </a:p>
        </p:txBody>
      </p:sp>
      <p:pic>
        <p:nvPicPr>
          <p:cNvPr id="128" name="Google Shape;128;p22" title="NNSingle-Page-2.drawio.png"/>
          <p:cNvPicPr preferRelativeResize="0"/>
          <p:nvPr/>
        </p:nvPicPr>
        <p:blipFill>
          <a:blip r:embed="rId3">
            <a:alphaModFix/>
          </a:blip>
          <a:stretch>
            <a:fillRect/>
          </a:stretch>
        </p:blipFill>
        <p:spPr>
          <a:xfrm>
            <a:off x="3141574" y="1223050"/>
            <a:ext cx="2216624" cy="1302900"/>
          </a:xfrm>
          <a:prstGeom prst="rect">
            <a:avLst/>
          </a:prstGeom>
          <a:noFill/>
          <a:ln>
            <a:noFill/>
          </a:ln>
        </p:spPr>
      </p:pic>
      <p:pic>
        <p:nvPicPr>
          <p:cNvPr id="129" name="Google Shape;129;p22" title="unnamed.png"/>
          <p:cNvPicPr preferRelativeResize="0"/>
          <p:nvPr/>
        </p:nvPicPr>
        <p:blipFill>
          <a:blip r:embed="rId4">
            <a:alphaModFix/>
          </a:blip>
          <a:stretch>
            <a:fillRect/>
          </a:stretch>
        </p:blipFill>
        <p:spPr>
          <a:xfrm>
            <a:off x="2556149" y="3301175"/>
            <a:ext cx="3140846" cy="1445175"/>
          </a:xfrm>
          <a:prstGeom prst="rect">
            <a:avLst/>
          </a:prstGeom>
          <a:noFill/>
          <a:ln>
            <a:noFill/>
          </a:ln>
        </p:spPr>
      </p:pic>
      <p:sp>
        <p:nvSpPr>
          <p:cNvPr id="130" name="Google Shape;130;p22"/>
          <p:cNvSpPr txBox="1"/>
          <p:nvPr>
            <p:ph idx="4294967295" type="subTitle"/>
          </p:nvPr>
        </p:nvSpPr>
        <p:spPr>
          <a:xfrm>
            <a:off x="712375" y="2892575"/>
            <a:ext cx="6328800" cy="408600"/>
          </a:xfrm>
          <a:prstGeom prst="rect">
            <a:avLst/>
          </a:prstGeom>
        </p:spPr>
        <p:txBody>
          <a:bodyPr anchorCtr="0" anchor="t" bIns="91425" lIns="91425" spcFirstLastPara="1" rIns="91425" wrap="square" tIns="91425">
            <a:noAutofit/>
          </a:bodyPr>
          <a:lstStyle/>
          <a:p>
            <a:pPr indent="-311467" lvl="0" marL="457200" rtl="0" algn="l">
              <a:lnSpc>
                <a:spcPct val="150000"/>
              </a:lnSpc>
              <a:spcBef>
                <a:spcPts val="0"/>
              </a:spcBef>
              <a:spcAft>
                <a:spcPts val="0"/>
              </a:spcAft>
              <a:buSzPts val="1305"/>
              <a:buChar char="●"/>
            </a:pPr>
            <a:r>
              <a:rPr lang="en" sz="1305"/>
              <a:t>And it can become fairly large and complex</a:t>
            </a:r>
            <a:endParaRPr sz="1305"/>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3"/>
          <p:cNvSpPr txBox="1"/>
          <p:nvPr>
            <p:ph type="title"/>
          </p:nvPr>
        </p:nvSpPr>
        <p:spPr>
          <a:xfrm>
            <a:off x="311700" y="1254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N</a:t>
            </a:r>
            <a:r>
              <a:rPr lang="en"/>
              <a:t>eural networks</a:t>
            </a:r>
            <a:endParaRPr/>
          </a:p>
          <a:p>
            <a:pPr indent="0" lvl="0" marL="0" rtl="0" algn="l">
              <a:spcBef>
                <a:spcPts val="0"/>
              </a:spcBef>
              <a:spcAft>
                <a:spcPts val="0"/>
              </a:spcAft>
              <a:buNone/>
            </a:pPr>
            <a:r>
              <a:t/>
            </a:r>
            <a:endParaRPr/>
          </a:p>
        </p:txBody>
      </p:sp>
      <p:sp>
        <p:nvSpPr>
          <p:cNvPr id="136" name="Google Shape;136;p23"/>
          <p:cNvSpPr txBox="1"/>
          <p:nvPr>
            <p:ph idx="1" type="body"/>
          </p:nvPr>
        </p:nvSpPr>
        <p:spPr>
          <a:xfrm>
            <a:off x="311700" y="738900"/>
            <a:ext cx="8638200" cy="3612600"/>
          </a:xfrm>
          <a:prstGeom prst="rect">
            <a:avLst/>
          </a:prstGeom>
        </p:spPr>
        <p:txBody>
          <a:bodyPr anchorCtr="0" anchor="t" bIns="91425" lIns="91425" spcFirstLastPara="1" rIns="91425" wrap="square" tIns="91425">
            <a:normAutofit fontScale="92500" lnSpcReduction="10000"/>
          </a:bodyPr>
          <a:lstStyle/>
          <a:p>
            <a:pPr indent="-334327" lvl="0" marL="457200" rtl="0" algn="l">
              <a:spcBef>
                <a:spcPts val="0"/>
              </a:spcBef>
              <a:spcAft>
                <a:spcPts val="0"/>
              </a:spcAft>
              <a:buSzPct val="100000"/>
              <a:buChar char="●"/>
            </a:pPr>
            <a:r>
              <a:rPr lang="en"/>
              <a:t>A method of processing based on multiple connected processing unit</a:t>
            </a:r>
            <a:endParaRPr/>
          </a:p>
          <a:p>
            <a:pPr indent="-334327" lvl="0" marL="457200" rtl="0" algn="l">
              <a:spcBef>
                <a:spcPts val="0"/>
              </a:spcBef>
              <a:spcAft>
                <a:spcPts val="0"/>
              </a:spcAft>
              <a:buSzPct val="100000"/>
              <a:buChar char="●"/>
            </a:pPr>
            <a:r>
              <a:rPr lang="en"/>
              <a:t>Each neuron is a linear function, followed by a nonlinear activation function</a:t>
            </a:r>
            <a:endParaRPr/>
          </a:p>
          <a:p>
            <a:pPr indent="-334327" lvl="0" marL="457200" rtl="0" algn="l">
              <a:spcBef>
                <a:spcPts val="0"/>
              </a:spcBef>
              <a:spcAft>
                <a:spcPts val="0"/>
              </a:spcAft>
              <a:buSzPct val="100000"/>
              <a:buChar char="●"/>
            </a:pPr>
            <a:r>
              <a:rPr lang="en"/>
              <a:t>The connectivity of the neurons build up a nested function</a:t>
            </a:r>
            <a:endParaRPr/>
          </a:p>
          <a:p>
            <a:pPr indent="-334327" lvl="0" marL="457200" rtl="0" algn="l">
              <a:spcBef>
                <a:spcPts val="0"/>
              </a:spcBef>
              <a:spcAft>
                <a:spcPts val="0"/>
              </a:spcAft>
              <a:buSzPct val="100000"/>
              <a:buChar char="●"/>
            </a:pPr>
            <a:r>
              <a:rPr lang="en"/>
              <a:t>Can learn complex patterns</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334327" lvl="0" marL="457200" rtl="0" algn="l">
              <a:spcBef>
                <a:spcPts val="1200"/>
              </a:spcBef>
              <a:spcAft>
                <a:spcPts val="0"/>
              </a:spcAft>
              <a:buSzPct val="100000"/>
              <a:buChar char="●"/>
            </a:pPr>
            <a:r>
              <a:rPr lang="en"/>
              <a:t>In the neural network above: z = σ(σ(x</a:t>
            </a:r>
            <a:r>
              <a:rPr baseline="-25000" lang="en"/>
              <a:t>1</a:t>
            </a:r>
            <a:r>
              <a:rPr lang="en"/>
              <a:t>.w</a:t>
            </a:r>
            <a:r>
              <a:rPr baseline="-25000" lang="en"/>
              <a:t>1</a:t>
            </a:r>
            <a:r>
              <a:rPr lang="en"/>
              <a:t>+b</a:t>
            </a:r>
            <a:r>
              <a:rPr baseline="-25000" lang="en"/>
              <a:t>1</a:t>
            </a:r>
            <a:r>
              <a:rPr lang="en"/>
              <a:t>).w</a:t>
            </a:r>
            <a:r>
              <a:rPr baseline="-25000" lang="en"/>
              <a:t>2</a:t>
            </a:r>
            <a:r>
              <a:rPr lang="en"/>
              <a:t>+b</a:t>
            </a:r>
            <a:r>
              <a:rPr baseline="-25000" lang="en"/>
              <a:t>2</a:t>
            </a:r>
            <a:r>
              <a:rPr lang="en"/>
              <a:t>)</a:t>
            </a:r>
            <a:endParaRPr/>
          </a:p>
          <a:p>
            <a:pPr indent="-334327" lvl="0" marL="457200" rtl="0" algn="l">
              <a:spcBef>
                <a:spcPts val="0"/>
              </a:spcBef>
              <a:spcAft>
                <a:spcPts val="0"/>
              </a:spcAft>
              <a:buSzPct val="100000"/>
              <a:buChar char="●"/>
            </a:pPr>
            <a:r>
              <a:rPr lang="en"/>
              <a:t>In a larger network, the function becomes much more nested and </a:t>
            </a:r>
            <a:r>
              <a:rPr lang="en"/>
              <a:t>complex</a:t>
            </a:r>
            <a:r>
              <a:rPr lang="en"/>
              <a:t> with many learnable parameters, giving it the </a:t>
            </a:r>
            <a:r>
              <a:rPr lang="en"/>
              <a:t>ability</a:t>
            </a:r>
            <a:r>
              <a:rPr lang="en"/>
              <a:t> to learn complex patterns</a:t>
            </a:r>
            <a:endParaRPr/>
          </a:p>
          <a:p>
            <a:pPr indent="-334327" lvl="0" marL="457200" rtl="0" algn="l">
              <a:spcBef>
                <a:spcPts val="0"/>
              </a:spcBef>
              <a:spcAft>
                <a:spcPts val="0"/>
              </a:spcAft>
              <a:buSzPct val="100000"/>
              <a:buChar char="●"/>
            </a:pPr>
            <a:r>
              <a:rPr lang="en"/>
              <a:t>The learning process stays the same. After initialization, the weights {w</a:t>
            </a:r>
            <a:r>
              <a:rPr baseline="-25000" lang="en"/>
              <a:t>1</a:t>
            </a:r>
            <a:r>
              <a:rPr lang="en"/>
              <a:t>, w</a:t>
            </a:r>
            <a:r>
              <a:rPr baseline="-25000" lang="en"/>
              <a:t>2</a:t>
            </a:r>
            <a:r>
              <a:rPr lang="en"/>
              <a:t>, w</a:t>
            </a:r>
            <a:r>
              <a:rPr baseline="-25000" lang="en"/>
              <a:t>3</a:t>
            </a:r>
            <a:r>
              <a:rPr lang="en"/>
              <a:t>,…, w</a:t>
            </a:r>
            <a:r>
              <a:rPr baseline="-25000" lang="en"/>
              <a:t>n</a:t>
            </a:r>
            <a:r>
              <a:rPr lang="en"/>
              <a:t>} and biases {b</a:t>
            </a:r>
            <a:r>
              <a:rPr baseline="-25000" lang="en"/>
              <a:t>1</a:t>
            </a:r>
            <a:r>
              <a:rPr lang="en"/>
              <a:t>, b</a:t>
            </a:r>
            <a:r>
              <a:rPr baseline="-25000" lang="en"/>
              <a:t>2</a:t>
            </a:r>
            <a:r>
              <a:rPr lang="en"/>
              <a:t>, b</a:t>
            </a:r>
            <a:r>
              <a:rPr baseline="-25000" lang="en"/>
              <a:t>3</a:t>
            </a:r>
            <a:r>
              <a:rPr lang="en"/>
              <a:t>,..., b</a:t>
            </a:r>
            <a:r>
              <a:rPr baseline="-25000" lang="en"/>
              <a:t>m</a:t>
            </a:r>
            <a:r>
              <a:rPr lang="en"/>
              <a:t>} have to be updated through gradient descent</a:t>
            </a:r>
            <a:endParaRPr/>
          </a:p>
        </p:txBody>
      </p:sp>
      <p:pic>
        <p:nvPicPr>
          <p:cNvPr id="137" name="Google Shape;137;p23" title="NNSingle-Page-3.drawio.png"/>
          <p:cNvPicPr preferRelativeResize="0"/>
          <p:nvPr/>
        </p:nvPicPr>
        <p:blipFill>
          <a:blip r:embed="rId3">
            <a:alphaModFix/>
          </a:blip>
          <a:stretch>
            <a:fillRect/>
          </a:stretch>
        </p:blipFill>
        <p:spPr>
          <a:xfrm>
            <a:off x="2751375" y="1990712"/>
            <a:ext cx="2250625" cy="7234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4"/>
          <p:cNvSpPr txBox="1"/>
          <p:nvPr>
            <p:ph type="title"/>
          </p:nvPr>
        </p:nvSpPr>
        <p:spPr>
          <a:xfrm>
            <a:off x="311700" y="752075"/>
            <a:ext cx="8520600" cy="3072900"/>
          </a:xfrm>
          <a:prstGeom prst="rect">
            <a:avLst/>
          </a:prstGeom>
        </p:spPr>
        <p:txBody>
          <a:bodyPr anchorCtr="0" anchor="t" bIns="91425" lIns="91425" spcFirstLastPara="1" rIns="91425" wrap="square" tIns="91425">
            <a:normAutofit fontScale="90000"/>
          </a:bodyPr>
          <a:lstStyle/>
          <a:p>
            <a:pPr indent="-336423" lvl="0" marL="457200" rtl="0" algn="l">
              <a:spcBef>
                <a:spcPts val="0"/>
              </a:spcBef>
              <a:spcAft>
                <a:spcPts val="0"/>
              </a:spcAft>
              <a:buSzPct val="100000"/>
              <a:buChar char="●"/>
            </a:pPr>
            <a:r>
              <a:rPr lang="en" sz="1886"/>
              <a:t>The types of neural networks that we talked about until now is known as feedforward neural networks</a:t>
            </a:r>
            <a:endParaRPr sz="1886"/>
          </a:p>
          <a:p>
            <a:pPr indent="-336423" lvl="0" marL="457200" rtl="0" algn="l">
              <a:spcBef>
                <a:spcPts val="0"/>
              </a:spcBef>
              <a:spcAft>
                <a:spcPts val="0"/>
              </a:spcAft>
              <a:buSzPct val="100000"/>
              <a:buChar char="●"/>
            </a:pPr>
            <a:r>
              <a:rPr lang="en" sz="1886"/>
              <a:t>There are also other forms of neural networks</a:t>
            </a:r>
            <a:endParaRPr sz="1886"/>
          </a:p>
          <a:p>
            <a:pPr indent="-336423" lvl="0" marL="457200" rtl="0" algn="l">
              <a:spcBef>
                <a:spcPts val="0"/>
              </a:spcBef>
              <a:spcAft>
                <a:spcPts val="0"/>
              </a:spcAft>
              <a:buSzPct val="100000"/>
              <a:buChar char="●"/>
            </a:pPr>
            <a:r>
              <a:rPr lang="en" sz="1886"/>
              <a:t>Some of the basic </a:t>
            </a:r>
            <a:r>
              <a:rPr lang="en" sz="1886"/>
              <a:t>types</a:t>
            </a:r>
            <a:r>
              <a:rPr lang="en" sz="1886"/>
              <a:t> are:</a:t>
            </a:r>
            <a:endParaRPr sz="1886"/>
          </a:p>
          <a:p>
            <a:pPr indent="-336423" lvl="1" marL="914400" rtl="0" algn="l">
              <a:spcBef>
                <a:spcPts val="0"/>
              </a:spcBef>
              <a:spcAft>
                <a:spcPts val="0"/>
              </a:spcAft>
              <a:buSzPct val="100000"/>
              <a:buChar char="○"/>
            </a:pPr>
            <a:r>
              <a:rPr lang="en" sz="1886"/>
              <a:t>Feedforward Neural Networks</a:t>
            </a:r>
            <a:endParaRPr sz="1886"/>
          </a:p>
          <a:p>
            <a:pPr indent="-336423" lvl="1" marL="914400" rtl="0" algn="l">
              <a:spcBef>
                <a:spcPts val="0"/>
              </a:spcBef>
              <a:spcAft>
                <a:spcPts val="0"/>
              </a:spcAft>
              <a:buSzPct val="100000"/>
              <a:buChar char="○"/>
            </a:pPr>
            <a:r>
              <a:rPr lang="en" sz="1886"/>
              <a:t>Convolutional Neural Networks</a:t>
            </a:r>
            <a:endParaRPr sz="1886"/>
          </a:p>
          <a:p>
            <a:pPr indent="-336423" lvl="1" marL="914400" rtl="0" algn="l">
              <a:spcBef>
                <a:spcPts val="0"/>
              </a:spcBef>
              <a:spcAft>
                <a:spcPts val="0"/>
              </a:spcAft>
              <a:buSzPct val="100000"/>
              <a:buChar char="○"/>
            </a:pPr>
            <a:r>
              <a:rPr lang="en" sz="1886"/>
              <a:t>Recurrent Neural Networks</a:t>
            </a:r>
            <a:endParaRPr sz="1886"/>
          </a:p>
          <a:p>
            <a:pPr indent="-336423" lvl="1" marL="914400" rtl="0" algn="l">
              <a:spcBef>
                <a:spcPts val="0"/>
              </a:spcBef>
              <a:spcAft>
                <a:spcPts val="0"/>
              </a:spcAft>
              <a:buSzPct val="100000"/>
              <a:buChar char="○"/>
            </a:pPr>
            <a:r>
              <a:rPr lang="en" sz="1886"/>
              <a:t>Generative Adversarial Networks</a:t>
            </a:r>
            <a:endParaRPr sz="1886"/>
          </a:p>
          <a:p>
            <a:pPr indent="-336423" lvl="1" marL="914400" rtl="0" algn="l">
              <a:spcBef>
                <a:spcPts val="0"/>
              </a:spcBef>
              <a:spcAft>
                <a:spcPts val="0"/>
              </a:spcAft>
              <a:buSzPct val="100000"/>
              <a:buChar char="○"/>
            </a:pPr>
            <a:r>
              <a:rPr lang="en" sz="1886"/>
              <a:t>Transformers</a:t>
            </a:r>
            <a:endParaRPr sz="1886"/>
          </a:p>
          <a:p>
            <a:pPr indent="-336423" lvl="1" marL="914400" rtl="0" algn="l">
              <a:spcBef>
                <a:spcPts val="0"/>
              </a:spcBef>
              <a:spcAft>
                <a:spcPts val="0"/>
              </a:spcAft>
              <a:buSzPct val="100000"/>
              <a:buChar char="○"/>
            </a:pPr>
            <a:r>
              <a:rPr lang="en" sz="1886"/>
              <a:t>… and Many More!</a:t>
            </a:r>
            <a:endParaRPr sz="1886"/>
          </a:p>
          <a:p>
            <a:pPr indent="-336423" lvl="0" marL="457200" rtl="0" algn="l">
              <a:spcBef>
                <a:spcPts val="0"/>
              </a:spcBef>
              <a:spcAft>
                <a:spcPts val="0"/>
              </a:spcAft>
              <a:buSzPct val="100000"/>
              <a:buChar char="●"/>
            </a:pPr>
            <a:r>
              <a:rPr lang="en" sz="1886"/>
              <a:t>For this lecture, we are going to talk about the feedforward networks only</a:t>
            </a:r>
            <a:endParaRPr sz="1886"/>
          </a:p>
          <a:p>
            <a:pPr indent="0" lvl="0" marL="0" rtl="0" algn="l">
              <a:spcBef>
                <a:spcPts val="0"/>
              </a:spcBef>
              <a:spcAft>
                <a:spcPts val="0"/>
              </a:spcAft>
              <a:buSzPct val="81147"/>
              <a:buNone/>
            </a:pPr>
            <a:r>
              <a:t/>
            </a:r>
            <a:endParaRPr sz="1220"/>
          </a:p>
        </p:txBody>
      </p:sp>
      <p:sp>
        <p:nvSpPr>
          <p:cNvPr id="143" name="Google Shape;143;p24"/>
          <p:cNvSpPr txBox="1"/>
          <p:nvPr>
            <p:ph type="title"/>
          </p:nvPr>
        </p:nvSpPr>
        <p:spPr>
          <a:xfrm>
            <a:off x="311700" y="1254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Neural networks</a:t>
            </a:r>
            <a:endParaRPr/>
          </a:p>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5"/>
          <p:cNvSpPr txBox="1"/>
          <p:nvPr>
            <p:ph type="title"/>
          </p:nvPr>
        </p:nvSpPr>
        <p:spPr>
          <a:xfrm>
            <a:off x="2279350" y="313425"/>
            <a:ext cx="40134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Training a Neural Network</a:t>
            </a:r>
            <a:endParaRPr/>
          </a:p>
        </p:txBody>
      </p:sp>
      <p:sp>
        <p:nvSpPr>
          <p:cNvPr id="149" name="Google Shape;149;p25"/>
          <p:cNvSpPr txBox="1"/>
          <p:nvPr>
            <p:ph idx="1" type="body"/>
          </p:nvPr>
        </p:nvSpPr>
        <p:spPr>
          <a:xfrm>
            <a:off x="311700" y="1027150"/>
            <a:ext cx="8520600" cy="3416400"/>
          </a:xfrm>
          <a:prstGeom prst="rect">
            <a:avLst/>
          </a:prstGeom>
        </p:spPr>
        <p:txBody>
          <a:bodyPr anchorCtr="0" anchor="t" bIns="91425" lIns="91425" spcFirstLastPara="1" rIns="91425" wrap="square" tIns="91425">
            <a:normAutofit/>
          </a:bodyPr>
          <a:lstStyle/>
          <a:p>
            <a:pPr indent="-336550" lvl="0" marL="457200" rtl="0" algn="l">
              <a:lnSpc>
                <a:spcPct val="105000"/>
              </a:lnSpc>
              <a:spcBef>
                <a:spcPts val="0"/>
              </a:spcBef>
              <a:spcAft>
                <a:spcPts val="0"/>
              </a:spcAft>
              <a:buSzPts val="1700"/>
              <a:buChar char="●"/>
            </a:pPr>
            <a:r>
              <a:rPr lang="en" sz="1700"/>
              <a:t>Collect dataset</a:t>
            </a:r>
            <a:endParaRPr sz="1700"/>
          </a:p>
          <a:p>
            <a:pPr indent="-336550" lvl="0" marL="457200" rtl="0" algn="l">
              <a:lnSpc>
                <a:spcPct val="105000"/>
              </a:lnSpc>
              <a:spcBef>
                <a:spcPts val="0"/>
              </a:spcBef>
              <a:spcAft>
                <a:spcPts val="0"/>
              </a:spcAft>
              <a:buSzPts val="1700"/>
              <a:buChar char="●"/>
            </a:pPr>
            <a:r>
              <a:rPr lang="en" sz="1700"/>
              <a:t>Define the architecture of the Neural Network model that is to be trained on the data</a:t>
            </a:r>
            <a:endParaRPr sz="1700"/>
          </a:p>
          <a:p>
            <a:pPr indent="-336550" lvl="0" marL="457200" rtl="0" algn="l">
              <a:lnSpc>
                <a:spcPct val="105000"/>
              </a:lnSpc>
              <a:spcBef>
                <a:spcPts val="0"/>
              </a:spcBef>
              <a:spcAft>
                <a:spcPts val="0"/>
              </a:spcAft>
              <a:buSzPts val="1700"/>
              <a:buChar char="●"/>
            </a:pPr>
            <a:r>
              <a:rPr lang="en" sz="1700"/>
              <a:t>Initialize all the weights and biases</a:t>
            </a:r>
            <a:endParaRPr sz="1700"/>
          </a:p>
          <a:p>
            <a:pPr indent="-336550" lvl="0" marL="457200" rtl="0" algn="l">
              <a:lnSpc>
                <a:spcPct val="105000"/>
              </a:lnSpc>
              <a:spcBef>
                <a:spcPts val="0"/>
              </a:spcBef>
              <a:spcAft>
                <a:spcPts val="0"/>
              </a:spcAft>
              <a:buSzPts val="1700"/>
              <a:buChar char="●"/>
            </a:pPr>
            <a:r>
              <a:rPr lang="en" sz="1700"/>
              <a:t>Calculate output based on the initialized weights and bias, which is called forward propagation</a:t>
            </a:r>
            <a:endParaRPr sz="1700"/>
          </a:p>
          <a:p>
            <a:pPr indent="-336550" lvl="0" marL="457200" rtl="0" algn="l">
              <a:lnSpc>
                <a:spcPct val="105000"/>
              </a:lnSpc>
              <a:spcBef>
                <a:spcPts val="0"/>
              </a:spcBef>
              <a:spcAft>
                <a:spcPts val="0"/>
              </a:spcAft>
              <a:buSzPts val="1700"/>
              <a:buChar char="●"/>
            </a:pPr>
            <a:r>
              <a:rPr lang="en" sz="1700"/>
              <a:t>Calculate loss using an appropriate loss function</a:t>
            </a:r>
            <a:endParaRPr sz="1700"/>
          </a:p>
          <a:p>
            <a:pPr indent="-336550" lvl="0" marL="457200" rtl="0" algn="l">
              <a:lnSpc>
                <a:spcPct val="105000"/>
              </a:lnSpc>
              <a:spcBef>
                <a:spcPts val="0"/>
              </a:spcBef>
              <a:spcAft>
                <a:spcPts val="0"/>
              </a:spcAft>
              <a:buSzPts val="1700"/>
              <a:buChar char="●"/>
            </a:pPr>
            <a:r>
              <a:rPr lang="en" sz="1700"/>
              <a:t>Update the last layer weights and bias using the gradient of the loss</a:t>
            </a:r>
            <a:endParaRPr sz="1700"/>
          </a:p>
          <a:p>
            <a:pPr indent="-336550" lvl="0" marL="457200" rtl="0" algn="l">
              <a:lnSpc>
                <a:spcPct val="105000"/>
              </a:lnSpc>
              <a:spcBef>
                <a:spcPts val="0"/>
              </a:spcBef>
              <a:spcAft>
                <a:spcPts val="0"/>
              </a:spcAft>
              <a:buSzPts val="1700"/>
              <a:buChar char="●"/>
            </a:pPr>
            <a:r>
              <a:rPr lang="en" sz="1700"/>
              <a:t>Propagate</a:t>
            </a:r>
            <a:r>
              <a:rPr lang="en" sz="1700"/>
              <a:t> the gradient to update the backwards layers, known as backpropagation</a:t>
            </a:r>
            <a:endParaRPr sz="1700"/>
          </a:p>
          <a:p>
            <a:pPr indent="-336550" lvl="0" marL="457200" rtl="0" algn="l">
              <a:lnSpc>
                <a:spcPct val="105000"/>
              </a:lnSpc>
              <a:spcBef>
                <a:spcPts val="0"/>
              </a:spcBef>
              <a:spcAft>
                <a:spcPts val="0"/>
              </a:spcAft>
              <a:buSzPts val="1700"/>
              <a:buChar char="●"/>
            </a:pPr>
            <a:r>
              <a:rPr lang="en" sz="1700"/>
              <a:t>Run in a loop until convergence</a:t>
            </a:r>
            <a:endParaRPr sz="17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Forward Propagation</a:t>
            </a:r>
            <a:endParaRPr/>
          </a:p>
        </p:txBody>
      </p:sp>
      <p:pic>
        <p:nvPicPr>
          <p:cNvPr id="155" name="Google Shape;155;p26" title="FP1.drawio.png"/>
          <p:cNvPicPr preferRelativeResize="0"/>
          <p:nvPr/>
        </p:nvPicPr>
        <p:blipFill>
          <a:blip r:embed="rId3">
            <a:alphaModFix/>
          </a:blip>
          <a:stretch>
            <a:fillRect/>
          </a:stretch>
        </p:blipFill>
        <p:spPr>
          <a:xfrm>
            <a:off x="958875" y="1335025"/>
            <a:ext cx="385731" cy="1338225"/>
          </a:xfrm>
          <a:prstGeom prst="rect">
            <a:avLst/>
          </a:prstGeom>
          <a:noFill/>
          <a:ln>
            <a:noFill/>
          </a:ln>
        </p:spPr>
      </p:pic>
      <p:pic>
        <p:nvPicPr>
          <p:cNvPr id="156" name="Google Shape;156;p26" title="FP2.drawio.png"/>
          <p:cNvPicPr preferRelativeResize="0"/>
          <p:nvPr/>
        </p:nvPicPr>
        <p:blipFill>
          <a:blip r:embed="rId4">
            <a:alphaModFix/>
          </a:blip>
          <a:stretch>
            <a:fillRect/>
          </a:stretch>
        </p:blipFill>
        <p:spPr>
          <a:xfrm>
            <a:off x="3640024" y="1275574"/>
            <a:ext cx="1353419" cy="1457150"/>
          </a:xfrm>
          <a:prstGeom prst="rect">
            <a:avLst/>
          </a:prstGeom>
          <a:noFill/>
          <a:ln>
            <a:noFill/>
          </a:ln>
        </p:spPr>
      </p:pic>
      <p:pic>
        <p:nvPicPr>
          <p:cNvPr id="157" name="Google Shape;157;p26" title="FP3.drawio.png"/>
          <p:cNvPicPr preferRelativeResize="0"/>
          <p:nvPr/>
        </p:nvPicPr>
        <p:blipFill>
          <a:blip r:embed="rId5">
            <a:alphaModFix/>
          </a:blip>
          <a:stretch>
            <a:fillRect/>
          </a:stretch>
        </p:blipFill>
        <p:spPr>
          <a:xfrm>
            <a:off x="1861870" y="3237470"/>
            <a:ext cx="2192300" cy="1559375"/>
          </a:xfrm>
          <a:prstGeom prst="rect">
            <a:avLst/>
          </a:prstGeom>
          <a:noFill/>
          <a:ln>
            <a:noFill/>
          </a:ln>
        </p:spPr>
      </p:pic>
      <p:pic>
        <p:nvPicPr>
          <p:cNvPr id="158" name="Google Shape;158;p26" title="FP4 (1).png"/>
          <p:cNvPicPr preferRelativeResize="0"/>
          <p:nvPr/>
        </p:nvPicPr>
        <p:blipFill>
          <a:blip r:embed="rId6">
            <a:alphaModFix/>
          </a:blip>
          <a:stretch>
            <a:fillRect/>
          </a:stretch>
        </p:blipFill>
        <p:spPr>
          <a:xfrm>
            <a:off x="5753550" y="3393750"/>
            <a:ext cx="2217214" cy="1338225"/>
          </a:xfrm>
          <a:prstGeom prst="rect">
            <a:avLst/>
          </a:prstGeom>
          <a:noFill/>
          <a:ln>
            <a:noFill/>
          </a:ln>
        </p:spPr>
      </p:pic>
      <p:pic>
        <p:nvPicPr>
          <p:cNvPr id="159" name="Google Shape;159;p26" title="FP ReLU.png"/>
          <p:cNvPicPr preferRelativeResize="0"/>
          <p:nvPr/>
        </p:nvPicPr>
        <p:blipFill>
          <a:blip r:embed="rId7">
            <a:alphaModFix/>
          </a:blip>
          <a:stretch>
            <a:fillRect/>
          </a:stretch>
        </p:blipFill>
        <p:spPr>
          <a:xfrm>
            <a:off x="6759225" y="1394512"/>
            <a:ext cx="1242964" cy="13382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7"/>
          <p:cNvSpPr txBox="1"/>
          <p:nvPr>
            <p:ph type="title"/>
          </p:nvPr>
        </p:nvSpPr>
        <p:spPr>
          <a:xfrm>
            <a:off x="1377000" y="263300"/>
            <a:ext cx="5718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Back to the Single Neuron Perceptron</a:t>
            </a:r>
            <a:endParaRPr/>
          </a:p>
        </p:txBody>
      </p:sp>
      <p:pic>
        <p:nvPicPr>
          <p:cNvPr id="165" name="Google Shape;165;p27" title="NNSingle-Page-4.drawio.png"/>
          <p:cNvPicPr preferRelativeResize="0"/>
          <p:nvPr/>
        </p:nvPicPr>
        <p:blipFill>
          <a:blip r:embed="rId3">
            <a:alphaModFix/>
          </a:blip>
          <a:stretch>
            <a:fillRect/>
          </a:stretch>
        </p:blipFill>
        <p:spPr>
          <a:xfrm>
            <a:off x="2264200" y="961688"/>
            <a:ext cx="3685526" cy="1287725"/>
          </a:xfrm>
          <a:prstGeom prst="rect">
            <a:avLst/>
          </a:prstGeom>
          <a:noFill/>
          <a:ln>
            <a:noFill/>
          </a:ln>
        </p:spPr>
      </p:pic>
      <p:sp>
        <p:nvSpPr>
          <p:cNvPr id="166" name="Google Shape;166;p27"/>
          <p:cNvSpPr txBox="1"/>
          <p:nvPr>
            <p:ph type="title"/>
          </p:nvPr>
        </p:nvSpPr>
        <p:spPr>
          <a:xfrm>
            <a:off x="355550" y="2299900"/>
            <a:ext cx="8520600" cy="1074000"/>
          </a:xfrm>
          <a:prstGeom prst="rect">
            <a:avLst/>
          </a:prstGeom>
        </p:spPr>
        <p:txBody>
          <a:bodyPr anchorCtr="0" anchor="t" bIns="91425" lIns="91425" spcFirstLastPara="1" rIns="91425" wrap="square" tIns="91425">
            <a:normAutofit fontScale="90000"/>
          </a:bodyPr>
          <a:lstStyle/>
          <a:p>
            <a:pPr indent="-336423" lvl="0" marL="457200" rtl="0" algn="l">
              <a:spcBef>
                <a:spcPts val="0"/>
              </a:spcBef>
              <a:spcAft>
                <a:spcPts val="0"/>
              </a:spcAft>
              <a:buSzPct val="100000"/>
              <a:buChar char="●"/>
            </a:pPr>
            <a:r>
              <a:rPr lang="en" sz="1886"/>
              <a:t>Here, there are two input feature values (x</a:t>
            </a:r>
            <a:r>
              <a:rPr baseline="-25000" lang="en" sz="1886"/>
              <a:t>1</a:t>
            </a:r>
            <a:r>
              <a:rPr lang="en" sz="1886"/>
              <a:t>, x</a:t>
            </a:r>
            <a:r>
              <a:rPr baseline="-25000" lang="en" sz="1886"/>
              <a:t>2</a:t>
            </a:r>
            <a:r>
              <a:rPr lang="en" sz="1886"/>
              <a:t>), output is (a)</a:t>
            </a:r>
            <a:endParaRPr sz="1886"/>
          </a:p>
          <a:p>
            <a:pPr indent="-336423" lvl="0" marL="457200" rtl="0" algn="l">
              <a:spcBef>
                <a:spcPts val="0"/>
              </a:spcBef>
              <a:spcAft>
                <a:spcPts val="0"/>
              </a:spcAft>
              <a:buSzPct val="100000"/>
              <a:buChar char="●"/>
            </a:pPr>
            <a:r>
              <a:rPr lang="en" sz="1886"/>
              <a:t>The loss function discussed in the logistic regression can be used here, referred to as sigmoid loss function</a:t>
            </a:r>
            <a:endParaRPr sz="1886"/>
          </a:p>
          <a:p>
            <a:pPr indent="0" lvl="0" marL="0" rtl="0" algn="l">
              <a:spcBef>
                <a:spcPts val="0"/>
              </a:spcBef>
              <a:spcAft>
                <a:spcPts val="0"/>
              </a:spcAft>
              <a:buSzPct val="81147"/>
              <a:buNone/>
            </a:pPr>
            <a:r>
              <a:t/>
            </a:r>
            <a:endParaRPr sz="122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8"/>
          <p:cNvSpPr txBox="1"/>
          <p:nvPr>
            <p:ph type="title"/>
          </p:nvPr>
        </p:nvSpPr>
        <p:spPr>
          <a:xfrm>
            <a:off x="1377000" y="263300"/>
            <a:ext cx="57180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Update process</a:t>
            </a:r>
            <a:endParaRPr/>
          </a:p>
        </p:txBody>
      </p:sp>
      <p:pic>
        <p:nvPicPr>
          <p:cNvPr id="172" name="Google Shape;172;p28" title="NNSingle-Page-4.drawio.png"/>
          <p:cNvPicPr preferRelativeResize="0"/>
          <p:nvPr/>
        </p:nvPicPr>
        <p:blipFill>
          <a:blip r:embed="rId3">
            <a:alphaModFix/>
          </a:blip>
          <a:stretch>
            <a:fillRect/>
          </a:stretch>
        </p:blipFill>
        <p:spPr>
          <a:xfrm>
            <a:off x="2264200" y="961688"/>
            <a:ext cx="3685526" cy="1287725"/>
          </a:xfrm>
          <a:prstGeom prst="rect">
            <a:avLst/>
          </a:prstGeom>
          <a:noFill/>
          <a:ln>
            <a:noFill/>
          </a:ln>
        </p:spPr>
      </p:pic>
      <p:sp>
        <p:nvSpPr>
          <p:cNvPr id="173" name="Google Shape;173;p28"/>
          <p:cNvSpPr txBox="1"/>
          <p:nvPr>
            <p:ph type="title"/>
          </p:nvPr>
        </p:nvSpPr>
        <p:spPr>
          <a:xfrm>
            <a:off x="355550" y="2299900"/>
            <a:ext cx="8520600" cy="2515200"/>
          </a:xfrm>
          <a:prstGeom prst="rect">
            <a:avLst/>
          </a:prstGeom>
        </p:spPr>
        <p:txBody>
          <a:bodyPr anchorCtr="0" anchor="t" bIns="91425" lIns="91425" spcFirstLastPara="1" rIns="91425" wrap="square" tIns="91425">
            <a:normAutofit/>
          </a:bodyPr>
          <a:lstStyle/>
          <a:p>
            <a:pPr indent="-348403" lvl="0" marL="457200" rtl="0" algn="l">
              <a:spcBef>
                <a:spcPts val="0"/>
              </a:spcBef>
              <a:spcAft>
                <a:spcPts val="0"/>
              </a:spcAft>
              <a:buSzPts val="1887"/>
              <a:buChar char="●"/>
            </a:pPr>
            <a:r>
              <a:rPr lang="en" sz="1886"/>
              <a:t>Calculate output </a:t>
            </a:r>
            <a:r>
              <a:rPr i="1" lang="en" sz="1886"/>
              <a:t>a</a:t>
            </a:r>
            <a:r>
              <a:rPr lang="en" sz="1886"/>
              <a:t> for all the data points in the dataset</a:t>
            </a:r>
            <a:endParaRPr sz="1886"/>
          </a:p>
          <a:p>
            <a:pPr indent="-348403" lvl="0" marL="457200" rtl="0" algn="l">
              <a:spcBef>
                <a:spcPts val="0"/>
              </a:spcBef>
              <a:spcAft>
                <a:spcPts val="0"/>
              </a:spcAft>
              <a:buSzPts val="1887"/>
              <a:buChar char="●"/>
            </a:pPr>
            <a:r>
              <a:rPr lang="en" sz="1886"/>
              <a:t>Calculate loss for </a:t>
            </a:r>
            <a:r>
              <a:rPr i="1" lang="en" sz="1886"/>
              <a:t>n</a:t>
            </a:r>
            <a:r>
              <a:rPr lang="en" sz="1886"/>
              <a:t> number of data points using:</a:t>
            </a:r>
            <a:endParaRPr sz="1886"/>
          </a:p>
          <a:p>
            <a:pPr indent="0" lvl="0" marL="0" rtl="0" algn="l">
              <a:spcBef>
                <a:spcPts val="0"/>
              </a:spcBef>
              <a:spcAft>
                <a:spcPts val="0"/>
              </a:spcAft>
              <a:buNone/>
            </a:pPr>
            <a:r>
              <a:t/>
            </a:r>
            <a:endParaRPr sz="1886"/>
          </a:p>
          <a:p>
            <a:pPr indent="0" lvl="0" marL="0" rtl="0" algn="l">
              <a:spcBef>
                <a:spcPts val="0"/>
              </a:spcBef>
              <a:spcAft>
                <a:spcPts val="0"/>
              </a:spcAft>
              <a:buNone/>
            </a:pPr>
            <a:r>
              <a:t/>
            </a:r>
            <a:endParaRPr sz="1886"/>
          </a:p>
          <a:p>
            <a:pPr indent="-348403" lvl="0" marL="457200" rtl="0" algn="l">
              <a:spcBef>
                <a:spcPts val="0"/>
              </a:spcBef>
              <a:spcAft>
                <a:spcPts val="0"/>
              </a:spcAft>
              <a:buSzPts val="1887"/>
              <a:buChar char="●"/>
            </a:pPr>
            <a:r>
              <a:rPr lang="en" sz="1886"/>
              <a:t>To update x</a:t>
            </a:r>
            <a:r>
              <a:rPr baseline="-25000" lang="en" sz="1886"/>
              <a:t>ᵢ</a:t>
            </a:r>
            <a:r>
              <a:rPr lang="en" sz="1886"/>
              <a:t>, Calculate derivative of loss using</a:t>
            </a:r>
            <a:endParaRPr sz="1886"/>
          </a:p>
          <a:p>
            <a:pPr indent="-348403" lvl="0" marL="457200" rtl="0" algn="l">
              <a:spcBef>
                <a:spcPts val="0"/>
              </a:spcBef>
              <a:spcAft>
                <a:spcPts val="0"/>
              </a:spcAft>
              <a:buSzPts val="1887"/>
              <a:buChar char="●"/>
            </a:pPr>
            <a:r>
              <a:rPr lang="en" sz="1886"/>
              <a:t>Update </a:t>
            </a:r>
            <a:r>
              <a:rPr lang="en" sz="1886"/>
              <a:t>x</a:t>
            </a:r>
            <a:r>
              <a:rPr baseline="-25000" lang="en" sz="1886"/>
              <a:t>ᵢ </a:t>
            </a:r>
            <a:r>
              <a:rPr lang="en" sz="1886"/>
              <a:t>using</a:t>
            </a:r>
            <a:endParaRPr sz="1886"/>
          </a:p>
          <a:p>
            <a:pPr indent="-348403" lvl="0" marL="457200" rtl="0" algn="l">
              <a:spcBef>
                <a:spcPts val="0"/>
              </a:spcBef>
              <a:spcAft>
                <a:spcPts val="0"/>
              </a:spcAft>
              <a:buSzPts val="1887"/>
              <a:buChar char="●"/>
            </a:pPr>
            <a:r>
              <a:rPr lang="en" sz="1886"/>
              <a:t>Where, α is the learning rate</a:t>
            </a:r>
            <a:endParaRPr sz="1886"/>
          </a:p>
          <a:p>
            <a:pPr indent="-348403" lvl="0" marL="457200" rtl="0" algn="l">
              <a:spcBef>
                <a:spcPts val="0"/>
              </a:spcBef>
              <a:spcAft>
                <a:spcPts val="0"/>
              </a:spcAft>
              <a:buSzPts val="1887"/>
              <a:buChar char="●"/>
            </a:pPr>
            <a:r>
              <a:rPr lang="en" sz="1886"/>
              <a:t>Update all the weights and biases in the network</a:t>
            </a:r>
            <a:endParaRPr sz="1886"/>
          </a:p>
        </p:txBody>
      </p:sp>
      <p:pic>
        <p:nvPicPr>
          <p:cNvPr id="174" name="Google Shape;174;p28" title="Screenshot 2025-04-22 175002.png"/>
          <p:cNvPicPr preferRelativeResize="0"/>
          <p:nvPr/>
        </p:nvPicPr>
        <p:blipFill>
          <a:blip r:embed="rId4">
            <a:alphaModFix/>
          </a:blip>
          <a:stretch>
            <a:fillRect/>
          </a:stretch>
        </p:blipFill>
        <p:spPr>
          <a:xfrm>
            <a:off x="5856250" y="3368375"/>
            <a:ext cx="416924" cy="471300"/>
          </a:xfrm>
          <a:prstGeom prst="rect">
            <a:avLst/>
          </a:prstGeom>
          <a:noFill/>
          <a:ln>
            <a:noFill/>
          </a:ln>
        </p:spPr>
      </p:pic>
      <p:pic>
        <p:nvPicPr>
          <p:cNvPr id="175" name="Google Shape;175;p28" title="Screenshot 2025-04-22 175413.png"/>
          <p:cNvPicPr preferRelativeResize="0"/>
          <p:nvPr/>
        </p:nvPicPr>
        <p:blipFill>
          <a:blip r:embed="rId5">
            <a:alphaModFix/>
          </a:blip>
          <a:stretch>
            <a:fillRect/>
          </a:stretch>
        </p:blipFill>
        <p:spPr>
          <a:xfrm>
            <a:off x="2614400" y="3839675"/>
            <a:ext cx="1929026" cy="347800"/>
          </a:xfrm>
          <a:prstGeom prst="rect">
            <a:avLst/>
          </a:prstGeom>
          <a:noFill/>
          <a:ln>
            <a:noFill/>
          </a:ln>
        </p:spPr>
      </p:pic>
      <p:pic>
        <p:nvPicPr>
          <p:cNvPr id="176" name="Google Shape;176;p28" title="Screenshot 2025-04-23 125859.png"/>
          <p:cNvPicPr preferRelativeResize="0"/>
          <p:nvPr/>
        </p:nvPicPr>
        <p:blipFill>
          <a:blip r:embed="rId6">
            <a:alphaModFix/>
          </a:blip>
          <a:stretch>
            <a:fillRect/>
          </a:stretch>
        </p:blipFill>
        <p:spPr>
          <a:xfrm>
            <a:off x="1328649" y="3060150"/>
            <a:ext cx="4198419" cy="3478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9"/>
          <p:cNvSpPr txBox="1"/>
          <p:nvPr>
            <p:ph type="title"/>
          </p:nvPr>
        </p:nvSpPr>
        <p:spPr>
          <a:xfrm>
            <a:off x="1389550" y="87850"/>
            <a:ext cx="57180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Gradient Calculation</a:t>
            </a:r>
            <a:endParaRPr/>
          </a:p>
        </p:txBody>
      </p:sp>
      <p:pic>
        <p:nvPicPr>
          <p:cNvPr id="182" name="Google Shape;182;p29" title="NNSingle-Page-4.drawio.png"/>
          <p:cNvPicPr preferRelativeResize="0"/>
          <p:nvPr/>
        </p:nvPicPr>
        <p:blipFill>
          <a:blip r:embed="rId3">
            <a:alphaModFix/>
          </a:blip>
          <a:stretch>
            <a:fillRect/>
          </a:stretch>
        </p:blipFill>
        <p:spPr>
          <a:xfrm>
            <a:off x="2270475" y="660538"/>
            <a:ext cx="3685526" cy="1287725"/>
          </a:xfrm>
          <a:prstGeom prst="rect">
            <a:avLst/>
          </a:prstGeom>
          <a:noFill/>
          <a:ln>
            <a:noFill/>
          </a:ln>
        </p:spPr>
      </p:pic>
      <p:pic>
        <p:nvPicPr>
          <p:cNvPr id="183" name="Google Shape;183;p29" title="Capture.JPG"/>
          <p:cNvPicPr preferRelativeResize="0"/>
          <p:nvPr/>
        </p:nvPicPr>
        <p:blipFill rotWithShape="1">
          <a:blip r:embed="rId4">
            <a:alphaModFix/>
          </a:blip>
          <a:srcRect b="3119" l="0" r="0" t="0"/>
          <a:stretch/>
        </p:blipFill>
        <p:spPr>
          <a:xfrm>
            <a:off x="791750" y="1744575"/>
            <a:ext cx="6430001" cy="33187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0"/>
          <p:cNvSpPr txBox="1"/>
          <p:nvPr>
            <p:ph type="title"/>
          </p:nvPr>
        </p:nvSpPr>
        <p:spPr>
          <a:xfrm>
            <a:off x="1389550" y="87850"/>
            <a:ext cx="57180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Let’s calculate the derivatives</a:t>
            </a:r>
            <a:endParaRPr/>
          </a:p>
        </p:txBody>
      </p:sp>
      <p:pic>
        <p:nvPicPr>
          <p:cNvPr id="189" name="Google Shape;189;p30" title="Screenshot 2025-04-22 184009.png"/>
          <p:cNvPicPr preferRelativeResize="0"/>
          <p:nvPr/>
        </p:nvPicPr>
        <p:blipFill>
          <a:blip r:embed="rId3">
            <a:alphaModFix/>
          </a:blip>
          <a:stretch>
            <a:fillRect/>
          </a:stretch>
        </p:blipFill>
        <p:spPr>
          <a:xfrm>
            <a:off x="954500" y="781625"/>
            <a:ext cx="4476233" cy="417814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1"/>
          <p:cNvSpPr txBox="1"/>
          <p:nvPr>
            <p:ph type="title"/>
          </p:nvPr>
        </p:nvSpPr>
        <p:spPr>
          <a:xfrm>
            <a:off x="1389550" y="87850"/>
            <a:ext cx="57180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Let’s calculate the derivatives</a:t>
            </a:r>
            <a:endParaRPr/>
          </a:p>
        </p:txBody>
      </p:sp>
      <p:pic>
        <p:nvPicPr>
          <p:cNvPr id="195" name="Google Shape;195;p31" title="Screenshot 2025-04-22 185140.png"/>
          <p:cNvPicPr preferRelativeResize="0"/>
          <p:nvPr/>
        </p:nvPicPr>
        <p:blipFill>
          <a:blip r:embed="rId3">
            <a:alphaModFix/>
          </a:blip>
          <a:stretch>
            <a:fillRect/>
          </a:stretch>
        </p:blipFill>
        <p:spPr>
          <a:xfrm>
            <a:off x="497075" y="1026025"/>
            <a:ext cx="3953376" cy="3389250"/>
          </a:xfrm>
          <a:prstGeom prst="rect">
            <a:avLst/>
          </a:prstGeom>
          <a:noFill/>
          <a:ln>
            <a:noFill/>
          </a:ln>
        </p:spPr>
      </p:pic>
      <p:pic>
        <p:nvPicPr>
          <p:cNvPr id="196" name="Google Shape;196;p31" title="Screenshot 2025-04-22 190329.png"/>
          <p:cNvPicPr preferRelativeResize="0"/>
          <p:nvPr/>
        </p:nvPicPr>
        <p:blipFill>
          <a:blip r:embed="rId4">
            <a:alphaModFix/>
          </a:blip>
          <a:stretch>
            <a:fillRect/>
          </a:stretch>
        </p:blipFill>
        <p:spPr>
          <a:xfrm>
            <a:off x="5141725" y="1026025"/>
            <a:ext cx="3354900" cy="2755150"/>
          </a:xfrm>
          <a:prstGeom prst="rect">
            <a:avLst/>
          </a:prstGeom>
          <a:noFill/>
          <a:ln>
            <a:noFill/>
          </a:ln>
        </p:spPr>
      </p:pic>
      <p:cxnSp>
        <p:nvCxnSpPr>
          <p:cNvPr id="197" name="Google Shape;197;p31"/>
          <p:cNvCxnSpPr/>
          <p:nvPr/>
        </p:nvCxnSpPr>
        <p:spPr>
          <a:xfrm>
            <a:off x="4676025" y="842200"/>
            <a:ext cx="31200" cy="37911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pic>
        <p:nvPicPr>
          <p:cNvPr id="202" name="Google Shape;202;p32" title="Screenshot 2025-04-22 194836.png"/>
          <p:cNvPicPr preferRelativeResize="0"/>
          <p:nvPr/>
        </p:nvPicPr>
        <p:blipFill>
          <a:blip r:embed="rId3">
            <a:alphaModFix/>
          </a:blip>
          <a:stretch>
            <a:fillRect/>
          </a:stretch>
        </p:blipFill>
        <p:spPr>
          <a:xfrm>
            <a:off x="310900" y="873550"/>
            <a:ext cx="3687700" cy="3870750"/>
          </a:xfrm>
          <a:prstGeom prst="rect">
            <a:avLst/>
          </a:prstGeom>
          <a:noFill/>
          <a:ln>
            <a:noFill/>
          </a:ln>
        </p:spPr>
      </p:pic>
      <p:cxnSp>
        <p:nvCxnSpPr>
          <p:cNvPr id="203" name="Google Shape;203;p32"/>
          <p:cNvCxnSpPr/>
          <p:nvPr/>
        </p:nvCxnSpPr>
        <p:spPr>
          <a:xfrm flipH="1">
            <a:off x="3861325" y="785800"/>
            <a:ext cx="12600" cy="4123500"/>
          </a:xfrm>
          <a:prstGeom prst="straightConnector1">
            <a:avLst/>
          </a:prstGeom>
          <a:noFill/>
          <a:ln cap="flat" cmpd="sng" w="9525">
            <a:solidFill>
              <a:schemeClr val="dk2"/>
            </a:solidFill>
            <a:prstDash val="solid"/>
            <a:round/>
            <a:headEnd len="med" w="med" type="none"/>
            <a:tailEnd len="med" w="med" type="none"/>
          </a:ln>
        </p:spPr>
      </p:cxnSp>
      <p:pic>
        <p:nvPicPr>
          <p:cNvPr id="204" name="Google Shape;204;p32" title="Screenshot 2025-04-22 194958.png"/>
          <p:cNvPicPr preferRelativeResize="0"/>
          <p:nvPr/>
        </p:nvPicPr>
        <p:blipFill>
          <a:blip r:embed="rId4">
            <a:alphaModFix/>
          </a:blip>
          <a:stretch>
            <a:fillRect/>
          </a:stretch>
        </p:blipFill>
        <p:spPr>
          <a:xfrm>
            <a:off x="4300800" y="812813"/>
            <a:ext cx="3968124" cy="3992225"/>
          </a:xfrm>
          <a:prstGeom prst="rect">
            <a:avLst/>
          </a:prstGeom>
          <a:noFill/>
          <a:ln>
            <a:noFill/>
          </a:ln>
        </p:spPr>
      </p:pic>
      <p:sp>
        <p:nvSpPr>
          <p:cNvPr id="205" name="Google Shape;205;p32"/>
          <p:cNvSpPr txBox="1"/>
          <p:nvPr>
            <p:ph type="title"/>
          </p:nvPr>
        </p:nvSpPr>
        <p:spPr>
          <a:xfrm>
            <a:off x="1389550" y="87850"/>
            <a:ext cx="57180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Let’s calculate the derivatives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3"/>
          <p:cNvSpPr txBox="1"/>
          <p:nvPr>
            <p:ph idx="1" type="body"/>
          </p:nvPr>
        </p:nvSpPr>
        <p:spPr>
          <a:xfrm>
            <a:off x="696075" y="569675"/>
            <a:ext cx="3004500" cy="3351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SzPts val="605"/>
              <a:buNone/>
            </a:pPr>
            <a:r>
              <a:rPr lang="en" sz="1290"/>
              <a:t>T</a:t>
            </a:r>
            <a:r>
              <a:rPr lang="en" sz="1290"/>
              <a:t>he gradient with respect to w</a:t>
            </a:r>
            <a:r>
              <a:rPr baseline="-25000" lang="en" sz="1290"/>
              <a:t>1 </a:t>
            </a:r>
            <a:r>
              <a:rPr lang="en" sz="1290"/>
              <a:t>is,</a:t>
            </a:r>
            <a:endParaRPr sz="1290"/>
          </a:p>
        </p:txBody>
      </p:sp>
      <p:sp>
        <p:nvSpPr>
          <p:cNvPr id="211" name="Google Shape;211;p33"/>
          <p:cNvSpPr txBox="1"/>
          <p:nvPr>
            <p:ph idx="1" type="body"/>
          </p:nvPr>
        </p:nvSpPr>
        <p:spPr>
          <a:xfrm>
            <a:off x="658350" y="1555525"/>
            <a:ext cx="3729300" cy="3351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SzPts val="605"/>
              <a:buNone/>
            </a:pPr>
            <a:r>
              <a:rPr lang="en" sz="1290"/>
              <a:t>T</a:t>
            </a:r>
            <a:r>
              <a:rPr lang="en" sz="1290"/>
              <a:t>he gradient with respect to w</a:t>
            </a:r>
            <a:r>
              <a:rPr baseline="-25000" lang="en" sz="1290"/>
              <a:t>2</a:t>
            </a:r>
            <a:r>
              <a:rPr baseline="-25000" lang="en" sz="1290"/>
              <a:t> </a:t>
            </a:r>
            <a:r>
              <a:rPr lang="en" sz="1290"/>
              <a:t>would be</a:t>
            </a:r>
            <a:r>
              <a:rPr lang="en" sz="1290"/>
              <a:t>,</a:t>
            </a:r>
            <a:endParaRPr sz="1290"/>
          </a:p>
        </p:txBody>
      </p:sp>
      <p:sp>
        <p:nvSpPr>
          <p:cNvPr id="212" name="Google Shape;212;p33"/>
          <p:cNvSpPr txBox="1"/>
          <p:nvPr>
            <p:ph idx="1" type="body"/>
          </p:nvPr>
        </p:nvSpPr>
        <p:spPr>
          <a:xfrm>
            <a:off x="758750" y="2622825"/>
            <a:ext cx="7131900" cy="3351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SzPts val="605"/>
              <a:buNone/>
            </a:pPr>
            <a:r>
              <a:rPr lang="en" sz="1290"/>
              <a:t>This is for a single data point. For </a:t>
            </a:r>
            <a:r>
              <a:rPr i="1" lang="en" sz="1290"/>
              <a:t>n</a:t>
            </a:r>
            <a:r>
              <a:rPr lang="en" sz="1290"/>
              <a:t> number of samples, all the gradients have to be summed up and then averaged</a:t>
            </a:r>
            <a:endParaRPr sz="1290"/>
          </a:p>
        </p:txBody>
      </p:sp>
      <p:sp>
        <p:nvSpPr>
          <p:cNvPr id="213" name="Google Shape;213;p33"/>
          <p:cNvSpPr txBox="1"/>
          <p:nvPr>
            <p:ph idx="1" type="body"/>
          </p:nvPr>
        </p:nvSpPr>
        <p:spPr>
          <a:xfrm>
            <a:off x="416075" y="174225"/>
            <a:ext cx="3004500" cy="3351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SzPts val="605"/>
              <a:buNone/>
            </a:pPr>
            <a:r>
              <a:rPr lang="en" sz="1290"/>
              <a:t>So, for a single neuron perceptron,</a:t>
            </a:r>
            <a:endParaRPr sz="1290"/>
          </a:p>
        </p:txBody>
      </p:sp>
      <p:cxnSp>
        <p:nvCxnSpPr>
          <p:cNvPr id="214" name="Google Shape;214;p33"/>
          <p:cNvCxnSpPr/>
          <p:nvPr/>
        </p:nvCxnSpPr>
        <p:spPr>
          <a:xfrm>
            <a:off x="3147000" y="4082975"/>
            <a:ext cx="6300" cy="344700"/>
          </a:xfrm>
          <a:prstGeom prst="straightConnector1">
            <a:avLst/>
          </a:prstGeom>
          <a:noFill/>
          <a:ln cap="flat" cmpd="sng" w="9525">
            <a:solidFill>
              <a:schemeClr val="dk2"/>
            </a:solidFill>
            <a:prstDash val="dash"/>
            <a:round/>
            <a:headEnd len="med" w="med" type="none"/>
            <a:tailEnd len="med" w="med" type="none"/>
          </a:ln>
        </p:spPr>
      </p:cxnSp>
      <p:pic>
        <p:nvPicPr>
          <p:cNvPr id="215" name="Google Shape;215;p33" title="Capture.JPG"/>
          <p:cNvPicPr preferRelativeResize="0"/>
          <p:nvPr/>
        </p:nvPicPr>
        <p:blipFill>
          <a:blip r:embed="rId3">
            <a:alphaModFix/>
          </a:blip>
          <a:stretch>
            <a:fillRect/>
          </a:stretch>
        </p:blipFill>
        <p:spPr>
          <a:xfrm>
            <a:off x="2333150" y="1104300"/>
            <a:ext cx="1951993" cy="344700"/>
          </a:xfrm>
          <a:prstGeom prst="rect">
            <a:avLst/>
          </a:prstGeom>
          <a:noFill/>
          <a:ln>
            <a:noFill/>
          </a:ln>
        </p:spPr>
      </p:pic>
      <p:pic>
        <p:nvPicPr>
          <p:cNvPr id="216" name="Google Shape;216;p33" title="Capture.JPG"/>
          <p:cNvPicPr preferRelativeResize="0"/>
          <p:nvPr/>
        </p:nvPicPr>
        <p:blipFill>
          <a:blip r:embed="rId4">
            <a:alphaModFix/>
          </a:blip>
          <a:stretch>
            <a:fillRect/>
          </a:stretch>
        </p:blipFill>
        <p:spPr>
          <a:xfrm>
            <a:off x="2333150" y="2130193"/>
            <a:ext cx="1952000" cy="316132"/>
          </a:xfrm>
          <a:prstGeom prst="rect">
            <a:avLst/>
          </a:prstGeom>
          <a:noFill/>
          <a:ln>
            <a:noFill/>
          </a:ln>
        </p:spPr>
      </p:pic>
      <p:pic>
        <p:nvPicPr>
          <p:cNvPr id="217" name="Google Shape;217;p33" title="Capture.JPG"/>
          <p:cNvPicPr preferRelativeResize="0"/>
          <p:nvPr/>
        </p:nvPicPr>
        <p:blipFill>
          <a:blip r:embed="rId5">
            <a:alphaModFix/>
          </a:blip>
          <a:stretch>
            <a:fillRect/>
          </a:stretch>
        </p:blipFill>
        <p:spPr>
          <a:xfrm>
            <a:off x="1878587" y="3286752"/>
            <a:ext cx="2543126" cy="719350"/>
          </a:xfrm>
          <a:prstGeom prst="rect">
            <a:avLst/>
          </a:prstGeom>
          <a:noFill/>
          <a:ln>
            <a:noFill/>
          </a:ln>
        </p:spPr>
      </p:pic>
      <p:pic>
        <p:nvPicPr>
          <p:cNvPr id="218" name="Google Shape;218;p33" title="Capture.JPG"/>
          <p:cNvPicPr preferRelativeResize="0"/>
          <p:nvPr/>
        </p:nvPicPr>
        <p:blipFill>
          <a:blip r:embed="rId6">
            <a:alphaModFix/>
          </a:blip>
          <a:stretch>
            <a:fillRect/>
          </a:stretch>
        </p:blipFill>
        <p:spPr>
          <a:xfrm>
            <a:off x="1861025" y="4478074"/>
            <a:ext cx="2543150" cy="30462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4"/>
          <p:cNvSpPr txBox="1"/>
          <p:nvPr>
            <p:ph type="title"/>
          </p:nvPr>
        </p:nvSpPr>
        <p:spPr>
          <a:xfrm>
            <a:off x="311700" y="1881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Some Basic Simulations</a:t>
            </a:r>
            <a:endParaRPr/>
          </a:p>
        </p:txBody>
      </p:sp>
      <p:sp>
        <p:nvSpPr>
          <p:cNvPr id="224" name="Google Shape;224;p34"/>
          <p:cNvSpPr txBox="1"/>
          <p:nvPr>
            <p:ph idx="1" type="body"/>
          </p:nvPr>
        </p:nvSpPr>
        <p:spPr>
          <a:xfrm>
            <a:off x="343025" y="651150"/>
            <a:ext cx="2722500" cy="479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Let’s have a toy dataset</a:t>
            </a:r>
            <a:endParaRPr/>
          </a:p>
        </p:txBody>
      </p:sp>
      <p:graphicFrame>
        <p:nvGraphicFramePr>
          <p:cNvPr id="225" name="Google Shape;225;p34"/>
          <p:cNvGraphicFramePr/>
          <p:nvPr/>
        </p:nvGraphicFramePr>
        <p:xfrm>
          <a:off x="3221275" y="760799"/>
          <a:ext cx="3000000" cy="3000000"/>
        </p:xfrm>
        <a:graphic>
          <a:graphicData uri="http://schemas.openxmlformats.org/drawingml/2006/table">
            <a:tbl>
              <a:tblPr>
                <a:noFill/>
                <a:tableStyleId>{C52F01E8-0ACD-4EDC-9336-3E8512ACB67B}</a:tableStyleId>
              </a:tblPr>
              <a:tblGrid>
                <a:gridCol w="1064500"/>
                <a:gridCol w="1024000"/>
              </a:tblGrid>
              <a:tr h="148625">
                <a:tc>
                  <a:txBody>
                    <a:bodyPr/>
                    <a:lstStyle/>
                    <a:p>
                      <a:pPr indent="0" lvl="0" marL="0" rtl="0" algn="ctr">
                        <a:spcBef>
                          <a:spcPts val="0"/>
                        </a:spcBef>
                        <a:spcAft>
                          <a:spcPts val="0"/>
                        </a:spcAft>
                        <a:buNone/>
                      </a:pPr>
                      <a:r>
                        <a:rPr lang="en" sz="1200"/>
                        <a:t>X</a:t>
                      </a:r>
                      <a:endParaRPr sz="1200"/>
                    </a:p>
                  </a:txBody>
                  <a:tcPr marT="0" marB="0" marR="0" marL="0"/>
                </a:tc>
                <a:tc>
                  <a:txBody>
                    <a:bodyPr/>
                    <a:lstStyle/>
                    <a:p>
                      <a:pPr indent="0" lvl="0" marL="0" rtl="0" algn="ctr">
                        <a:spcBef>
                          <a:spcPts val="0"/>
                        </a:spcBef>
                        <a:spcAft>
                          <a:spcPts val="0"/>
                        </a:spcAft>
                        <a:buNone/>
                      </a:pPr>
                      <a:r>
                        <a:rPr lang="en" sz="1200"/>
                        <a:t>Y</a:t>
                      </a:r>
                      <a:endParaRPr sz="1200"/>
                    </a:p>
                  </a:txBody>
                  <a:tcPr marT="0" marB="0" marR="0" marL="0"/>
                </a:tc>
              </a:tr>
              <a:tr h="148075">
                <a:tc>
                  <a:txBody>
                    <a:bodyPr/>
                    <a:lstStyle/>
                    <a:p>
                      <a:pPr indent="0" lvl="0" marL="0" rtl="0" algn="ctr">
                        <a:spcBef>
                          <a:spcPts val="0"/>
                        </a:spcBef>
                        <a:spcAft>
                          <a:spcPts val="0"/>
                        </a:spcAft>
                        <a:buNone/>
                      </a:pPr>
                      <a:r>
                        <a:rPr lang="en" sz="1200"/>
                        <a:t>.1</a:t>
                      </a:r>
                      <a:endParaRPr sz="1200"/>
                    </a:p>
                  </a:txBody>
                  <a:tcPr marT="0" marB="0" marR="0" marL="0"/>
                </a:tc>
                <a:tc>
                  <a:txBody>
                    <a:bodyPr/>
                    <a:lstStyle/>
                    <a:p>
                      <a:pPr indent="0" lvl="0" marL="0" rtl="0" algn="ctr">
                        <a:spcBef>
                          <a:spcPts val="0"/>
                        </a:spcBef>
                        <a:spcAft>
                          <a:spcPts val="0"/>
                        </a:spcAft>
                        <a:buNone/>
                      </a:pPr>
                      <a:r>
                        <a:rPr lang="en" sz="1200"/>
                        <a:t>0</a:t>
                      </a:r>
                      <a:endParaRPr sz="1200"/>
                    </a:p>
                  </a:txBody>
                  <a:tcPr marT="0" marB="0" marR="0" marL="0"/>
                </a:tc>
              </a:tr>
              <a:tr h="148625">
                <a:tc>
                  <a:txBody>
                    <a:bodyPr/>
                    <a:lstStyle/>
                    <a:p>
                      <a:pPr indent="0" lvl="0" marL="0" rtl="0" algn="ctr">
                        <a:spcBef>
                          <a:spcPts val="0"/>
                        </a:spcBef>
                        <a:spcAft>
                          <a:spcPts val="0"/>
                        </a:spcAft>
                        <a:buNone/>
                      </a:pPr>
                      <a:r>
                        <a:rPr lang="en" sz="1200"/>
                        <a:t>.2</a:t>
                      </a:r>
                      <a:endParaRPr sz="1200"/>
                    </a:p>
                  </a:txBody>
                  <a:tcPr marT="0" marB="0" marR="0" marL="0"/>
                </a:tc>
                <a:tc>
                  <a:txBody>
                    <a:bodyPr/>
                    <a:lstStyle/>
                    <a:p>
                      <a:pPr indent="0" lvl="0" marL="0" rtl="0" algn="ctr">
                        <a:spcBef>
                          <a:spcPts val="0"/>
                        </a:spcBef>
                        <a:spcAft>
                          <a:spcPts val="0"/>
                        </a:spcAft>
                        <a:buClr>
                          <a:schemeClr val="dk1"/>
                        </a:buClr>
                        <a:buSzPts val="1100"/>
                        <a:buFont typeface="Arial"/>
                        <a:buNone/>
                      </a:pPr>
                      <a:r>
                        <a:rPr lang="en" sz="1200">
                          <a:solidFill>
                            <a:schemeClr val="dk1"/>
                          </a:solidFill>
                        </a:rPr>
                        <a:t>0</a:t>
                      </a:r>
                      <a:endParaRPr sz="1200"/>
                    </a:p>
                  </a:txBody>
                  <a:tcPr marT="0" marB="0" marR="0" marL="0"/>
                </a:tc>
              </a:tr>
              <a:tr h="148625">
                <a:tc>
                  <a:txBody>
                    <a:bodyPr/>
                    <a:lstStyle/>
                    <a:p>
                      <a:pPr indent="0" lvl="0" marL="0" rtl="0" algn="ctr">
                        <a:spcBef>
                          <a:spcPts val="0"/>
                        </a:spcBef>
                        <a:spcAft>
                          <a:spcPts val="0"/>
                        </a:spcAft>
                        <a:buNone/>
                      </a:pPr>
                      <a:r>
                        <a:rPr lang="en" sz="1200"/>
                        <a:t>.3</a:t>
                      </a:r>
                      <a:endParaRPr sz="1200"/>
                    </a:p>
                  </a:txBody>
                  <a:tcPr marT="0" marB="0" marR="0" marL="0"/>
                </a:tc>
                <a:tc>
                  <a:txBody>
                    <a:bodyPr/>
                    <a:lstStyle/>
                    <a:p>
                      <a:pPr indent="0" lvl="0" marL="0" rtl="0" algn="ctr">
                        <a:spcBef>
                          <a:spcPts val="0"/>
                        </a:spcBef>
                        <a:spcAft>
                          <a:spcPts val="0"/>
                        </a:spcAft>
                        <a:buNone/>
                      </a:pPr>
                      <a:r>
                        <a:rPr lang="en" sz="1200"/>
                        <a:t>1</a:t>
                      </a:r>
                      <a:endParaRPr sz="1200"/>
                    </a:p>
                  </a:txBody>
                  <a:tcPr marT="0" marB="0" marR="0" marL="0"/>
                </a:tc>
              </a:tr>
              <a:tr h="142750">
                <a:tc>
                  <a:txBody>
                    <a:bodyPr/>
                    <a:lstStyle/>
                    <a:p>
                      <a:pPr indent="0" lvl="0" marL="0" rtl="0" algn="ctr">
                        <a:spcBef>
                          <a:spcPts val="0"/>
                        </a:spcBef>
                        <a:spcAft>
                          <a:spcPts val="0"/>
                        </a:spcAft>
                        <a:buNone/>
                      </a:pPr>
                      <a:r>
                        <a:rPr lang="en" sz="1200"/>
                        <a:t>.4</a:t>
                      </a:r>
                      <a:endParaRPr sz="1200"/>
                    </a:p>
                  </a:txBody>
                  <a:tcPr marT="0" marB="0" marR="0" marL="0"/>
                </a:tc>
                <a:tc>
                  <a:txBody>
                    <a:bodyPr/>
                    <a:lstStyle/>
                    <a:p>
                      <a:pPr indent="0" lvl="0" marL="0" rtl="0" algn="ctr">
                        <a:spcBef>
                          <a:spcPts val="0"/>
                        </a:spcBef>
                        <a:spcAft>
                          <a:spcPts val="0"/>
                        </a:spcAft>
                        <a:buClr>
                          <a:schemeClr val="dk1"/>
                        </a:buClr>
                        <a:buSzPts val="1100"/>
                        <a:buFont typeface="Arial"/>
                        <a:buNone/>
                      </a:pPr>
                      <a:r>
                        <a:rPr lang="en" sz="1200">
                          <a:solidFill>
                            <a:schemeClr val="dk1"/>
                          </a:solidFill>
                        </a:rPr>
                        <a:t>?</a:t>
                      </a:r>
                      <a:endParaRPr sz="1200"/>
                    </a:p>
                  </a:txBody>
                  <a:tcPr marT="0" marB="0" marR="0" marL="0"/>
                </a:tc>
              </a:tr>
            </a:tbl>
          </a:graphicData>
        </a:graphic>
      </p:graphicFrame>
      <p:sp>
        <p:nvSpPr>
          <p:cNvPr id="226" name="Google Shape;226;p34"/>
          <p:cNvSpPr txBox="1"/>
          <p:nvPr>
            <p:ph idx="1" type="body"/>
          </p:nvPr>
        </p:nvSpPr>
        <p:spPr>
          <a:xfrm>
            <a:off x="495400" y="1826025"/>
            <a:ext cx="5289900" cy="479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We are trying to fit it with the following perceptron</a:t>
            </a:r>
            <a:endParaRPr/>
          </a:p>
        </p:txBody>
      </p:sp>
      <p:pic>
        <p:nvPicPr>
          <p:cNvPr id="227" name="Google Shape;227;p34" title="NNSingle.drawio (1).png"/>
          <p:cNvPicPr preferRelativeResize="0"/>
          <p:nvPr/>
        </p:nvPicPr>
        <p:blipFill>
          <a:blip r:embed="rId3">
            <a:alphaModFix/>
          </a:blip>
          <a:stretch>
            <a:fillRect/>
          </a:stretch>
        </p:blipFill>
        <p:spPr>
          <a:xfrm>
            <a:off x="2119975" y="2305423"/>
            <a:ext cx="3203599" cy="950750"/>
          </a:xfrm>
          <a:prstGeom prst="rect">
            <a:avLst/>
          </a:prstGeom>
          <a:noFill/>
          <a:ln>
            <a:noFill/>
          </a:ln>
        </p:spPr>
      </p:pic>
      <p:sp>
        <p:nvSpPr>
          <p:cNvPr id="228" name="Google Shape;228;p34"/>
          <p:cNvSpPr txBox="1"/>
          <p:nvPr>
            <p:ph idx="1" type="body"/>
          </p:nvPr>
        </p:nvSpPr>
        <p:spPr>
          <a:xfrm>
            <a:off x="495400" y="3320500"/>
            <a:ext cx="5571900" cy="3918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1200"/>
              </a:spcAft>
              <a:buNone/>
            </a:pPr>
            <a:r>
              <a:rPr i="1" lang="en"/>
              <a:t>w</a:t>
            </a:r>
            <a:r>
              <a:rPr lang="en"/>
              <a:t> and </a:t>
            </a:r>
            <a:r>
              <a:rPr i="1" lang="en"/>
              <a:t>b</a:t>
            </a:r>
            <a:r>
              <a:rPr lang="en"/>
              <a:t> are the unknowns, which have to be figured out</a:t>
            </a:r>
            <a:endParaRPr/>
          </a:p>
        </p:txBody>
      </p:sp>
      <p:sp>
        <p:nvSpPr>
          <p:cNvPr id="229" name="Google Shape;229;p34"/>
          <p:cNvSpPr txBox="1"/>
          <p:nvPr>
            <p:ph idx="1" type="body"/>
          </p:nvPr>
        </p:nvSpPr>
        <p:spPr>
          <a:xfrm>
            <a:off x="572600" y="3855150"/>
            <a:ext cx="5571900" cy="3918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1200"/>
              </a:spcAft>
              <a:buNone/>
            </a:pPr>
            <a:r>
              <a:rPr lang="en"/>
              <a:t>For three data points, the loss function is: </a:t>
            </a:r>
            <a:endParaRPr/>
          </a:p>
        </p:txBody>
      </p:sp>
      <p:pic>
        <p:nvPicPr>
          <p:cNvPr id="230" name="Google Shape;230;p34" title="Screenshot 2025-04-23 125731.png"/>
          <p:cNvPicPr preferRelativeResize="0"/>
          <p:nvPr/>
        </p:nvPicPr>
        <p:blipFill>
          <a:blip r:embed="rId4">
            <a:alphaModFix/>
          </a:blip>
          <a:stretch>
            <a:fillRect/>
          </a:stretch>
        </p:blipFill>
        <p:spPr>
          <a:xfrm>
            <a:off x="1930050" y="4289525"/>
            <a:ext cx="4105667" cy="4481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5"/>
          <p:cNvSpPr txBox="1"/>
          <p:nvPr>
            <p:ph idx="1" type="body"/>
          </p:nvPr>
        </p:nvSpPr>
        <p:spPr>
          <a:xfrm>
            <a:off x="643800" y="945675"/>
            <a:ext cx="8099100" cy="1231200"/>
          </a:xfrm>
          <a:prstGeom prst="rect">
            <a:avLst/>
          </a:prstGeom>
        </p:spPr>
        <p:txBody>
          <a:bodyPr anchorCtr="0" anchor="t" bIns="91425" lIns="91425" spcFirstLastPara="1" rIns="91425" wrap="square" tIns="91425">
            <a:noAutofit/>
          </a:bodyPr>
          <a:lstStyle/>
          <a:p>
            <a:pPr indent="0" lvl="0" marL="0" rtl="0" algn="l">
              <a:lnSpc>
                <a:spcPct val="80000"/>
              </a:lnSpc>
              <a:spcBef>
                <a:spcPts val="0"/>
              </a:spcBef>
              <a:spcAft>
                <a:spcPts val="0"/>
              </a:spcAft>
              <a:buSzPts val="523"/>
              <a:buNone/>
            </a:pPr>
            <a:r>
              <a:rPr lang="en" sz="1055"/>
              <a:t>Initializing,</a:t>
            </a:r>
            <a:endParaRPr sz="1055"/>
          </a:p>
          <a:p>
            <a:pPr indent="0" lvl="0" marL="0" rtl="0" algn="l">
              <a:lnSpc>
                <a:spcPct val="80000"/>
              </a:lnSpc>
              <a:spcBef>
                <a:spcPts val="1200"/>
              </a:spcBef>
              <a:spcAft>
                <a:spcPts val="0"/>
              </a:spcAft>
              <a:buSzPts val="523"/>
              <a:buNone/>
            </a:pPr>
            <a:r>
              <a:rPr lang="en" sz="1055"/>
              <a:t>W = .7</a:t>
            </a:r>
            <a:endParaRPr sz="1055"/>
          </a:p>
          <a:p>
            <a:pPr indent="0" lvl="0" marL="0" rtl="0" algn="l">
              <a:lnSpc>
                <a:spcPct val="80000"/>
              </a:lnSpc>
              <a:spcBef>
                <a:spcPts val="1200"/>
              </a:spcBef>
              <a:spcAft>
                <a:spcPts val="0"/>
              </a:spcAft>
              <a:buSzPts val="523"/>
              <a:buNone/>
            </a:pPr>
            <a:r>
              <a:rPr lang="en" sz="1055"/>
              <a:t>b = .1</a:t>
            </a:r>
            <a:endParaRPr sz="1055"/>
          </a:p>
          <a:p>
            <a:pPr indent="0" lvl="0" marL="0" rtl="0" algn="l">
              <a:lnSpc>
                <a:spcPct val="80000"/>
              </a:lnSpc>
              <a:spcBef>
                <a:spcPts val="1200"/>
              </a:spcBef>
              <a:spcAft>
                <a:spcPts val="0"/>
              </a:spcAft>
              <a:buSzPts val="523"/>
              <a:buNone/>
            </a:pPr>
            <a:r>
              <a:rPr lang="en" sz="1055"/>
              <a:t>Thus, z = .7x+.1</a:t>
            </a:r>
            <a:endParaRPr sz="1055"/>
          </a:p>
          <a:p>
            <a:pPr indent="0" lvl="0" marL="0" rtl="0" algn="l">
              <a:lnSpc>
                <a:spcPct val="80000"/>
              </a:lnSpc>
              <a:spcBef>
                <a:spcPts val="1200"/>
              </a:spcBef>
              <a:spcAft>
                <a:spcPts val="1200"/>
              </a:spcAft>
              <a:buSzPts val="523"/>
              <a:buNone/>
            </a:pPr>
            <a:r>
              <a:t/>
            </a:r>
            <a:endParaRPr sz="1055"/>
          </a:p>
        </p:txBody>
      </p:sp>
      <p:sp>
        <p:nvSpPr>
          <p:cNvPr id="236" name="Google Shape;236;p35"/>
          <p:cNvSpPr txBox="1"/>
          <p:nvPr>
            <p:ph idx="1" type="body"/>
          </p:nvPr>
        </p:nvSpPr>
        <p:spPr>
          <a:xfrm>
            <a:off x="522450" y="2220750"/>
            <a:ext cx="8099100" cy="753000"/>
          </a:xfrm>
          <a:prstGeom prst="rect">
            <a:avLst/>
          </a:prstGeom>
        </p:spPr>
        <p:txBody>
          <a:bodyPr anchorCtr="0" anchor="t" bIns="91425" lIns="91425" spcFirstLastPara="1" rIns="91425" wrap="square" tIns="91425">
            <a:noAutofit/>
          </a:bodyPr>
          <a:lstStyle/>
          <a:p>
            <a:pPr indent="-295592" lvl="0" marL="457200" rtl="0" algn="l">
              <a:lnSpc>
                <a:spcPct val="200000"/>
              </a:lnSpc>
              <a:spcBef>
                <a:spcPts val="0"/>
              </a:spcBef>
              <a:spcAft>
                <a:spcPts val="0"/>
              </a:spcAft>
              <a:buSzPts val="1055"/>
              <a:buChar char="●"/>
            </a:pPr>
            <a:r>
              <a:rPr lang="en" sz="1055"/>
              <a:t>As the weights are randomly initialized, it should not fit our data points well, resulting in large error.</a:t>
            </a:r>
            <a:endParaRPr sz="1055"/>
          </a:p>
          <a:p>
            <a:pPr indent="-295592" lvl="0" marL="457200" rtl="0" algn="l">
              <a:lnSpc>
                <a:spcPct val="200000"/>
              </a:lnSpc>
              <a:spcBef>
                <a:spcPts val="0"/>
              </a:spcBef>
              <a:spcAft>
                <a:spcPts val="0"/>
              </a:spcAft>
              <a:buSzPts val="1055"/>
              <a:buChar char="●"/>
            </a:pPr>
            <a:r>
              <a:rPr lang="en" sz="1055"/>
              <a:t>Let’s calculate the error through the loss function</a:t>
            </a:r>
            <a:endParaRPr sz="1055"/>
          </a:p>
        </p:txBody>
      </p:sp>
      <p:sp>
        <p:nvSpPr>
          <p:cNvPr id="237" name="Google Shape;237;p35"/>
          <p:cNvSpPr txBox="1"/>
          <p:nvPr>
            <p:ph idx="1" type="body"/>
          </p:nvPr>
        </p:nvSpPr>
        <p:spPr>
          <a:xfrm>
            <a:off x="1720850" y="3745750"/>
            <a:ext cx="5188500" cy="753000"/>
          </a:xfrm>
          <a:prstGeom prst="rect">
            <a:avLst/>
          </a:prstGeom>
        </p:spPr>
        <p:txBody>
          <a:bodyPr anchorCtr="0" anchor="t" bIns="91425" lIns="91425" spcFirstLastPara="1" rIns="91425" wrap="square" tIns="91425">
            <a:noAutofit/>
          </a:bodyPr>
          <a:lstStyle/>
          <a:p>
            <a:pPr indent="0" lvl="0" marL="0" rtl="0" algn="ctr">
              <a:lnSpc>
                <a:spcPct val="200000"/>
              </a:lnSpc>
              <a:spcBef>
                <a:spcPts val="0"/>
              </a:spcBef>
              <a:spcAft>
                <a:spcPts val="1200"/>
              </a:spcAft>
              <a:buNone/>
            </a:pPr>
            <a:r>
              <a:rPr lang="en" sz="1055">
                <a:solidFill>
                  <a:srgbClr val="FF0000"/>
                </a:solidFill>
              </a:rPr>
              <a:t>(Please note that we should use the normalized version of all the values </a:t>
            </a:r>
            <a:r>
              <a:rPr lang="en" sz="1055">
                <a:solidFill>
                  <a:srgbClr val="FF0000"/>
                </a:solidFill>
              </a:rPr>
              <a:t>for faster and appropriate convergence</a:t>
            </a:r>
            <a:r>
              <a:rPr lang="en" sz="1055">
                <a:solidFill>
                  <a:srgbClr val="FF0000"/>
                </a:solidFill>
              </a:rPr>
              <a:t>. For simplicity, we are ignoring that step here.)</a:t>
            </a:r>
            <a:endParaRPr sz="1055">
              <a:solidFill>
                <a:srgbClr val="FF0000"/>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6"/>
          <p:cNvSpPr txBox="1"/>
          <p:nvPr>
            <p:ph idx="1" type="body"/>
          </p:nvPr>
        </p:nvSpPr>
        <p:spPr>
          <a:xfrm>
            <a:off x="472325" y="258350"/>
            <a:ext cx="5854200" cy="325800"/>
          </a:xfrm>
          <a:prstGeom prst="rect">
            <a:avLst/>
          </a:prstGeom>
        </p:spPr>
        <p:txBody>
          <a:bodyPr anchorCtr="0" anchor="t" bIns="91425" lIns="91425" spcFirstLastPara="1" rIns="91425" wrap="square" tIns="91425">
            <a:noAutofit/>
          </a:bodyPr>
          <a:lstStyle/>
          <a:p>
            <a:pPr indent="-295592" lvl="0" marL="457200" rtl="0" algn="l">
              <a:lnSpc>
                <a:spcPct val="200000"/>
              </a:lnSpc>
              <a:spcBef>
                <a:spcPts val="0"/>
              </a:spcBef>
              <a:spcAft>
                <a:spcPts val="0"/>
              </a:spcAft>
              <a:buSzPts val="1055"/>
              <a:buChar char="●"/>
            </a:pPr>
            <a:r>
              <a:rPr lang="en" sz="1055"/>
              <a:t>Now, calculating the sum of loss for the three points in the dataset:</a:t>
            </a:r>
            <a:endParaRPr sz="1055"/>
          </a:p>
        </p:txBody>
      </p:sp>
      <p:sp>
        <p:nvSpPr>
          <p:cNvPr id="243" name="Google Shape;243;p36"/>
          <p:cNvSpPr txBox="1"/>
          <p:nvPr>
            <p:ph idx="1" type="body"/>
          </p:nvPr>
        </p:nvSpPr>
        <p:spPr>
          <a:xfrm>
            <a:off x="5418575" y="549525"/>
            <a:ext cx="2353200" cy="325800"/>
          </a:xfrm>
          <a:prstGeom prst="rect">
            <a:avLst/>
          </a:prstGeom>
        </p:spPr>
        <p:txBody>
          <a:bodyPr anchorCtr="0" anchor="t" bIns="91425" lIns="91425" spcFirstLastPara="1" rIns="91425" wrap="square" tIns="91425">
            <a:noAutofit/>
          </a:bodyPr>
          <a:lstStyle/>
          <a:p>
            <a:pPr indent="0" lvl="0" marL="0" rtl="0" algn="l">
              <a:lnSpc>
                <a:spcPct val="200000"/>
              </a:lnSpc>
              <a:spcBef>
                <a:spcPts val="0"/>
              </a:spcBef>
              <a:spcAft>
                <a:spcPts val="1200"/>
              </a:spcAft>
              <a:buNone/>
            </a:pPr>
            <a:r>
              <a:rPr lang="en" sz="1055"/>
              <a:t>[For the first data point]</a:t>
            </a:r>
            <a:endParaRPr sz="1055"/>
          </a:p>
        </p:txBody>
      </p:sp>
      <p:sp>
        <p:nvSpPr>
          <p:cNvPr id="244" name="Google Shape;244;p36"/>
          <p:cNvSpPr txBox="1"/>
          <p:nvPr>
            <p:ph idx="1" type="body"/>
          </p:nvPr>
        </p:nvSpPr>
        <p:spPr>
          <a:xfrm>
            <a:off x="5341125" y="1005075"/>
            <a:ext cx="2353200" cy="325800"/>
          </a:xfrm>
          <a:prstGeom prst="rect">
            <a:avLst/>
          </a:prstGeom>
        </p:spPr>
        <p:txBody>
          <a:bodyPr anchorCtr="0" anchor="t" bIns="91425" lIns="91425" spcFirstLastPara="1" rIns="91425" wrap="square" tIns="91425">
            <a:noAutofit/>
          </a:bodyPr>
          <a:lstStyle/>
          <a:p>
            <a:pPr indent="0" lvl="0" marL="0" rtl="0" algn="l">
              <a:lnSpc>
                <a:spcPct val="200000"/>
              </a:lnSpc>
              <a:spcBef>
                <a:spcPts val="0"/>
              </a:spcBef>
              <a:spcAft>
                <a:spcPts val="1200"/>
              </a:spcAft>
              <a:buNone/>
            </a:pPr>
            <a:r>
              <a:rPr lang="en" sz="1055"/>
              <a:t>[For the second data point]</a:t>
            </a:r>
            <a:endParaRPr sz="1055"/>
          </a:p>
        </p:txBody>
      </p:sp>
      <p:sp>
        <p:nvSpPr>
          <p:cNvPr id="245" name="Google Shape;245;p36"/>
          <p:cNvSpPr txBox="1"/>
          <p:nvPr>
            <p:ph idx="1" type="body"/>
          </p:nvPr>
        </p:nvSpPr>
        <p:spPr>
          <a:xfrm>
            <a:off x="5418575" y="1460625"/>
            <a:ext cx="2353200" cy="325800"/>
          </a:xfrm>
          <a:prstGeom prst="rect">
            <a:avLst/>
          </a:prstGeom>
        </p:spPr>
        <p:txBody>
          <a:bodyPr anchorCtr="0" anchor="t" bIns="91425" lIns="91425" spcFirstLastPara="1" rIns="91425" wrap="square" tIns="91425">
            <a:noAutofit/>
          </a:bodyPr>
          <a:lstStyle/>
          <a:p>
            <a:pPr indent="0" lvl="0" marL="0" rtl="0" algn="l">
              <a:lnSpc>
                <a:spcPct val="200000"/>
              </a:lnSpc>
              <a:spcBef>
                <a:spcPts val="0"/>
              </a:spcBef>
              <a:spcAft>
                <a:spcPts val="1200"/>
              </a:spcAft>
              <a:buNone/>
            </a:pPr>
            <a:r>
              <a:rPr lang="en" sz="1055"/>
              <a:t>[For the third data point]</a:t>
            </a:r>
            <a:endParaRPr sz="1055"/>
          </a:p>
        </p:txBody>
      </p:sp>
      <p:pic>
        <p:nvPicPr>
          <p:cNvPr id="246" name="Google Shape;246;p36" title="Screenshot 2025-04-23 122623.png"/>
          <p:cNvPicPr preferRelativeResize="0"/>
          <p:nvPr/>
        </p:nvPicPr>
        <p:blipFill>
          <a:blip r:embed="rId3">
            <a:alphaModFix/>
          </a:blip>
          <a:stretch>
            <a:fillRect/>
          </a:stretch>
        </p:blipFill>
        <p:spPr>
          <a:xfrm>
            <a:off x="1158150" y="560275"/>
            <a:ext cx="4260425" cy="1384475"/>
          </a:xfrm>
          <a:prstGeom prst="rect">
            <a:avLst/>
          </a:prstGeom>
          <a:noFill/>
          <a:ln>
            <a:noFill/>
          </a:ln>
        </p:spPr>
      </p:pic>
      <p:sp>
        <p:nvSpPr>
          <p:cNvPr id="247" name="Google Shape;247;p36"/>
          <p:cNvSpPr txBox="1"/>
          <p:nvPr>
            <p:ph idx="1" type="body"/>
          </p:nvPr>
        </p:nvSpPr>
        <p:spPr>
          <a:xfrm>
            <a:off x="472325" y="4174450"/>
            <a:ext cx="5854200" cy="325800"/>
          </a:xfrm>
          <a:prstGeom prst="rect">
            <a:avLst/>
          </a:prstGeom>
        </p:spPr>
        <p:txBody>
          <a:bodyPr anchorCtr="0" anchor="t" bIns="91425" lIns="91425" spcFirstLastPara="1" rIns="91425" wrap="square" tIns="91425">
            <a:noAutofit/>
          </a:bodyPr>
          <a:lstStyle/>
          <a:p>
            <a:pPr indent="0" lvl="0" marL="457200" rtl="0" algn="l">
              <a:lnSpc>
                <a:spcPct val="200000"/>
              </a:lnSpc>
              <a:spcBef>
                <a:spcPts val="0"/>
              </a:spcBef>
              <a:spcAft>
                <a:spcPts val="1200"/>
              </a:spcAft>
              <a:buNone/>
            </a:pPr>
            <a:r>
              <a:rPr lang="en" sz="1055"/>
              <a:t>Average loss value across the three data points is 0.928/3 = 0.309</a:t>
            </a:r>
            <a:endParaRPr sz="1055"/>
          </a:p>
        </p:txBody>
      </p:sp>
      <p:pic>
        <p:nvPicPr>
          <p:cNvPr id="248" name="Google Shape;248;p36" title="Capture.JPG"/>
          <p:cNvPicPr preferRelativeResize="0"/>
          <p:nvPr/>
        </p:nvPicPr>
        <p:blipFill>
          <a:blip r:embed="rId4">
            <a:alphaModFix/>
          </a:blip>
          <a:stretch>
            <a:fillRect/>
          </a:stretch>
        </p:blipFill>
        <p:spPr>
          <a:xfrm>
            <a:off x="1115925" y="1979950"/>
            <a:ext cx="4755120" cy="19249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7"/>
          <p:cNvSpPr txBox="1"/>
          <p:nvPr>
            <p:ph idx="1" type="body"/>
          </p:nvPr>
        </p:nvSpPr>
        <p:spPr>
          <a:xfrm>
            <a:off x="472325" y="258350"/>
            <a:ext cx="5854200" cy="325800"/>
          </a:xfrm>
          <a:prstGeom prst="rect">
            <a:avLst/>
          </a:prstGeom>
        </p:spPr>
        <p:txBody>
          <a:bodyPr anchorCtr="0" anchor="t" bIns="91425" lIns="91425" spcFirstLastPara="1" rIns="91425" wrap="square" tIns="91425">
            <a:noAutofit/>
          </a:bodyPr>
          <a:lstStyle/>
          <a:p>
            <a:pPr indent="-295592" lvl="0" marL="457200" rtl="0" algn="l">
              <a:lnSpc>
                <a:spcPct val="200000"/>
              </a:lnSpc>
              <a:spcBef>
                <a:spcPts val="0"/>
              </a:spcBef>
              <a:spcAft>
                <a:spcPts val="0"/>
              </a:spcAft>
              <a:buSzPts val="1055"/>
              <a:buChar char="●"/>
            </a:pPr>
            <a:r>
              <a:rPr lang="en" sz="1055"/>
              <a:t>Let’s try to reduce the loss value</a:t>
            </a:r>
            <a:endParaRPr sz="1055"/>
          </a:p>
          <a:p>
            <a:pPr indent="-295592" lvl="0" marL="457200" rtl="0" algn="l">
              <a:lnSpc>
                <a:spcPct val="200000"/>
              </a:lnSpc>
              <a:spcBef>
                <a:spcPts val="0"/>
              </a:spcBef>
              <a:spcAft>
                <a:spcPts val="0"/>
              </a:spcAft>
              <a:buSzPts val="1055"/>
              <a:buChar char="●"/>
            </a:pPr>
            <a:r>
              <a:rPr lang="en" sz="1055"/>
              <a:t>We’ll have to update both w and b using:</a:t>
            </a:r>
            <a:endParaRPr sz="1055"/>
          </a:p>
          <a:p>
            <a:pPr indent="0" lvl="0" marL="457200" rtl="0" algn="l">
              <a:lnSpc>
                <a:spcPct val="200000"/>
              </a:lnSpc>
              <a:spcBef>
                <a:spcPts val="1200"/>
              </a:spcBef>
              <a:spcAft>
                <a:spcPts val="1200"/>
              </a:spcAft>
              <a:buNone/>
            </a:pPr>
            <a:r>
              <a:t/>
            </a:r>
            <a:endParaRPr sz="1055"/>
          </a:p>
        </p:txBody>
      </p:sp>
      <p:sp>
        <p:nvSpPr>
          <p:cNvPr id="254" name="Google Shape;254;p37"/>
          <p:cNvSpPr txBox="1"/>
          <p:nvPr>
            <p:ph idx="1" type="body"/>
          </p:nvPr>
        </p:nvSpPr>
        <p:spPr>
          <a:xfrm>
            <a:off x="589300" y="3173750"/>
            <a:ext cx="5854200" cy="425400"/>
          </a:xfrm>
          <a:prstGeom prst="rect">
            <a:avLst/>
          </a:prstGeom>
        </p:spPr>
        <p:txBody>
          <a:bodyPr anchorCtr="0" anchor="t" bIns="91425" lIns="91425" spcFirstLastPara="1" rIns="91425" wrap="square" tIns="91425">
            <a:noAutofit/>
          </a:bodyPr>
          <a:lstStyle/>
          <a:p>
            <a:pPr indent="-295592" lvl="0" marL="457200" rtl="0" algn="l">
              <a:lnSpc>
                <a:spcPct val="200000"/>
              </a:lnSpc>
              <a:spcBef>
                <a:spcPts val="0"/>
              </a:spcBef>
              <a:spcAft>
                <a:spcPts val="0"/>
              </a:spcAft>
              <a:buSzPts val="1055"/>
              <a:buChar char="●"/>
            </a:pPr>
            <a:r>
              <a:rPr lang="en" sz="1055"/>
              <a:t>Where, α is the learning rate</a:t>
            </a:r>
            <a:endParaRPr sz="1055"/>
          </a:p>
          <a:p>
            <a:pPr indent="0" lvl="0" marL="457200" rtl="0" algn="l">
              <a:lnSpc>
                <a:spcPct val="200000"/>
              </a:lnSpc>
              <a:spcBef>
                <a:spcPts val="1200"/>
              </a:spcBef>
              <a:spcAft>
                <a:spcPts val="1200"/>
              </a:spcAft>
              <a:buNone/>
            </a:pPr>
            <a:r>
              <a:t/>
            </a:r>
            <a:endParaRPr sz="1055"/>
          </a:p>
        </p:txBody>
      </p:sp>
      <p:pic>
        <p:nvPicPr>
          <p:cNvPr id="255" name="Google Shape;255;p37" title="Capture.JPG"/>
          <p:cNvPicPr preferRelativeResize="0"/>
          <p:nvPr/>
        </p:nvPicPr>
        <p:blipFill>
          <a:blip r:embed="rId3">
            <a:alphaModFix/>
          </a:blip>
          <a:stretch>
            <a:fillRect/>
          </a:stretch>
        </p:blipFill>
        <p:spPr>
          <a:xfrm>
            <a:off x="1434750" y="1110875"/>
            <a:ext cx="3297850" cy="20179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38"/>
          <p:cNvSpPr txBox="1"/>
          <p:nvPr>
            <p:ph idx="1" type="body"/>
          </p:nvPr>
        </p:nvSpPr>
        <p:spPr>
          <a:xfrm>
            <a:off x="628200" y="3829025"/>
            <a:ext cx="5854200" cy="939000"/>
          </a:xfrm>
          <a:prstGeom prst="rect">
            <a:avLst/>
          </a:prstGeom>
        </p:spPr>
        <p:txBody>
          <a:bodyPr anchorCtr="0" anchor="t" bIns="91425" lIns="91425" spcFirstLastPara="1" rIns="91425" wrap="square" tIns="91425">
            <a:noAutofit/>
          </a:bodyPr>
          <a:lstStyle/>
          <a:p>
            <a:pPr indent="-295592" lvl="0" marL="457200" rtl="0" algn="l">
              <a:lnSpc>
                <a:spcPct val="200000"/>
              </a:lnSpc>
              <a:spcBef>
                <a:spcPts val="0"/>
              </a:spcBef>
              <a:spcAft>
                <a:spcPts val="0"/>
              </a:spcAft>
              <a:buSzPts val="1055"/>
              <a:buChar char="●"/>
            </a:pPr>
            <a:r>
              <a:rPr lang="en" sz="1055"/>
              <a:t>Thus, if α=1, the updated  w and b are:</a:t>
            </a:r>
            <a:endParaRPr sz="1055"/>
          </a:p>
          <a:p>
            <a:pPr indent="-295592" lvl="0" marL="457200" rtl="0" algn="l">
              <a:lnSpc>
                <a:spcPct val="200000"/>
              </a:lnSpc>
              <a:spcBef>
                <a:spcPts val="0"/>
              </a:spcBef>
              <a:spcAft>
                <a:spcPts val="0"/>
              </a:spcAft>
              <a:buSzPts val="1055"/>
              <a:buChar char="●"/>
            </a:pPr>
            <a:r>
              <a:rPr lang="en" sz="1055"/>
              <a:t>w = .7 - 1 * .013 =  0.687</a:t>
            </a:r>
            <a:endParaRPr sz="1055"/>
          </a:p>
          <a:p>
            <a:pPr indent="-295592" lvl="0" marL="457200" rtl="0" algn="l">
              <a:lnSpc>
                <a:spcPct val="200000"/>
              </a:lnSpc>
              <a:spcBef>
                <a:spcPts val="0"/>
              </a:spcBef>
              <a:spcAft>
                <a:spcPts val="0"/>
              </a:spcAft>
              <a:buSzPts val="1055"/>
              <a:buChar char="●"/>
            </a:pPr>
            <a:r>
              <a:rPr lang="en" sz="1055"/>
              <a:t>B = .1 - 1 * .23 = -0.13</a:t>
            </a:r>
            <a:endParaRPr sz="1055"/>
          </a:p>
        </p:txBody>
      </p:sp>
      <p:pic>
        <p:nvPicPr>
          <p:cNvPr id="261" name="Google Shape;261;p38" title="Capture.JPG"/>
          <p:cNvPicPr preferRelativeResize="0"/>
          <p:nvPr/>
        </p:nvPicPr>
        <p:blipFill>
          <a:blip r:embed="rId3">
            <a:alphaModFix/>
          </a:blip>
          <a:stretch>
            <a:fillRect/>
          </a:stretch>
        </p:blipFill>
        <p:spPr>
          <a:xfrm>
            <a:off x="888725" y="361500"/>
            <a:ext cx="5905950" cy="34146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9"/>
          <p:cNvSpPr txBox="1"/>
          <p:nvPr>
            <p:ph idx="1" type="body"/>
          </p:nvPr>
        </p:nvSpPr>
        <p:spPr>
          <a:xfrm>
            <a:off x="472325" y="258350"/>
            <a:ext cx="5854200" cy="325800"/>
          </a:xfrm>
          <a:prstGeom prst="rect">
            <a:avLst/>
          </a:prstGeom>
        </p:spPr>
        <p:txBody>
          <a:bodyPr anchorCtr="0" anchor="t" bIns="91425" lIns="91425" spcFirstLastPara="1" rIns="91425" wrap="square" tIns="91425">
            <a:noAutofit/>
          </a:bodyPr>
          <a:lstStyle/>
          <a:p>
            <a:pPr indent="0" lvl="0" marL="457200" rtl="0" algn="l">
              <a:lnSpc>
                <a:spcPct val="200000"/>
              </a:lnSpc>
              <a:spcBef>
                <a:spcPts val="0"/>
              </a:spcBef>
              <a:spcAft>
                <a:spcPts val="1200"/>
              </a:spcAft>
              <a:buNone/>
            </a:pPr>
            <a:r>
              <a:rPr lang="en" sz="1055"/>
              <a:t>Recalculating the sum of loss:</a:t>
            </a:r>
            <a:endParaRPr sz="1055"/>
          </a:p>
        </p:txBody>
      </p:sp>
      <p:pic>
        <p:nvPicPr>
          <p:cNvPr id="267" name="Google Shape;267;p39" title="Capture.JPG"/>
          <p:cNvPicPr preferRelativeResize="0"/>
          <p:nvPr/>
        </p:nvPicPr>
        <p:blipFill>
          <a:blip r:embed="rId3">
            <a:alphaModFix/>
          </a:blip>
          <a:stretch>
            <a:fillRect/>
          </a:stretch>
        </p:blipFill>
        <p:spPr>
          <a:xfrm>
            <a:off x="1023800" y="686975"/>
            <a:ext cx="5040699" cy="2962401"/>
          </a:xfrm>
          <a:prstGeom prst="rect">
            <a:avLst/>
          </a:prstGeom>
          <a:noFill/>
          <a:ln>
            <a:noFill/>
          </a:ln>
        </p:spPr>
      </p:pic>
      <p:sp>
        <p:nvSpPr>
          <p:cNvPr id="268" name="Google Shape;268;p39"/>
          <p:cNvSpPr txBox="1"/>
          <p:nvPr>
            <p:ph idx="1" type="body"/>
          </p:nvPr>
        </p:nvSpPr>
        <p:spPr>
          <a:xfrm>
            <a:off x="568025" y="3719325"/>
            <a:ext cx="6792600" cy="1133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055"/>
              <a:t>Average = 0.86 / 3 = 0.287</a:t>
            </a:r>
            <a:endParaRPr sz="1055"/>
          </a:p>
          <a:p>
            <a:pPr indent="0" lvl="0" marL="0" rtl="0" algn="l">
              <a:lnSpc>
                <a:spcPct val="100000"/>
              </a:lnSpc>
              <a:spcBef>
                <a:spcPts val="1200"/>
              </a:spcBef>
              <a:spcAft>
                <a:spcPts val="0"/>
              </a:spcAft>
              <a:buNone/>
            </a:pPr>
            <a:r>
              <a:rPr lang="en" sz="1055"/>
              <a:t>Slightly better than before!</a:t>
            </a:r>
            <a:endParaRPr sz="1055"/>
          </a:p>
          <a:p>
            <a:pPr indent="0" lvl="0" marL="0" rtl="0" algn="l">
              <a:lnSpc>
                <a:spcPct val="100000"/>
              </a:lnSpc>
              <a:spcBef>
                <a:spcPts val="1200"/>
              </a:spcBef>
              <a:spcAft>
                <a:spcPts val="1200"/>
              </a:spcAft>
              <a:buNone/>
            </a:pPr>
            <a:r>
              <a:rPr lang="en" sz="1055"/>
              <a:t>We need to run this many times in a loop to get further improvements. (Depending on the nature of data, </a:t>
            </a:r>
            <a:r>
              <a:rPr lang="en" sz="1055"/>
              <a:t>good enough</a:t>
            </a:r>
            <a:r>
              <a:rPr lang="en" sz="1055"/>
              <a:t> convergence might not be possible.)</a:t>
            </a:r>
            <a:endParaRPr sz="1055"/>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40"/>
          <p:cNvSpPr txBox="1"/>
          <p:nvPr>
            <p:ph type="title"/>
          </p:nvPr>
        </p:nvSpPr>
        <p:spPr>
          <a:xfrm>
            <a:off x="2196825" y="170100"/>
            <a:ext cx="5020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But what about a larger network?</a:t>
            </a:r>
            <a:endParaRPr/>
          </a:p>
        </p:txBody>
      </p:sp>
      <p:pic>
        <p:nvPicPr>
          <p:cNvPr id="274" name="Google Shape;274;p40" title="Screenshot 2025-04-24 004918.png"/>
          <p:cNvPicPr preferRelativeResize="0"/>
          <p:nvPr/>
        </p:nvPicPr>
        <p:blipFill>
          <a:blip r:embed="rId3">
            <a:alphaModFix/>
          </a:blip>
          <a:stretch>
            <a:fillRect/>
          </a:stretch>
        </p:blipFill>
        <p:spPr>
          <a:xfrm>
            <a:off x="391850" y="963775"/>
            <a:ext cx="7375800" cy="4033574"/>
          </a:xfrm>
          <a:prstGeom prst="rect">
            <a:avLst/>
          </a:prstGeom>
          <a:noFill/>
          <a:ln>
            <a:noFill/>
          </a:ln>
        </p:spPr>
      </p:pic>
      <p:pic>
        <p:nvPicPr>
          <p:cNvPr id="275" name="Google Shape;275;p40" title="NNSingle-Page-1.drawio.png"/>
          <p:cNvPicPr preferRelativeResize="0"/>
          <p:nvPr/>
        </p:nvPicPr>
        <p:blipFill>
          <a:blip r:embed="rId4">
            <a:alphaModFix/>
          </a:blip>
          <a:stretch>
            <a:fillRect/>
          </a:stretch>
        </p:blipFill>
        <p:spPr>
          <a:xfrm>
            <a:off x="4188450" y="1017451"/>
            <a:ext cx="4572001" cy="11609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pic>
        <p:nvPicPr>
          <p:cNvPr id="280" name="Google Shape;280;p41" title="NNSingle-Page-1.drawio.png"/>
          <p:cNvPicPr preferRelativeResize="0"/>
          <p:nvPr/>
        </p:nvPicPr>
        <p:blipFill>
          <a:blip r:embed="rId3">
            <a:alphaModFix/>
          </a:blip>
          <a:stretch>
            <a:fillRect/>
          </a:stretch>
        </p:blipFill>
        <p:spPr>
          <a:xfrm>
            <a:off x="2053650" y="443175"/>
            <a:ext cx="3921300" cy="995725"/>
          </a:xfrm>
          <a:prstGeom prst="rect">
            <a:avLst/>
          </a:prstGeom>
          <a:noFill/>
          <a:ln>
            <a:noFill/>
          </a:ln>
        </p:spPr>
      </p:pic>
      <p:pic>
        <p:nvPicPr>
          <p:cNvPr id="281" name="Google Shape;281;p41" title="Screenshot 2025-04-24 024231.png"/>
          <p:cNvPicPr preferRelativeResize="0"/>
          <p:nvPr/>
        </p:nvPicPr>
        <p:blipFill>
          <a:blip r:embed="rId4">
            <a:alphaModFix/>
          </a:blip>
          <a:stretch>
            <a:fillRect/>
          </a:stretch>
        </p:blipFill>
        <p:spPr>
          <a:xfrm>
            <a:off x="645525" y="1666050"/>
            <a:ext cx="7270725" cy="2987974"/>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pic>
        <p:nvPicPr>
          <p:cNvPr id="286" name="Google Shape;286;p42" title="Screenshot 2025-04-24 024851.png"/>
          <p:cNvPicPr preferRelativeResize="0"/>
          <p:nvPr/>
        </p:nvPicPr>
        <p:blipFill>
          <a:blip r:embed="rId3">
            <a:alphaModFix/>
          </a:blip>
          <a:stretch>
            <a:fillRect/>
          </a:stretch>
        </p:blipFill>
        <p:spPr>
          <a:xfrm>
            <a:off x="1257225" y="589375"/>
            <a:ext cx="3375676" cy="431500"/>
          </a:xfrm>
          <a:prstGeom prst="rect">
            <a:avLst/>
          </a:prstGeom>
          <a:noFill/>
          <a:ln>
            <a:noFill/>
          </a:ln>
        </p:spPr>
      </p:pic>
      <p:sp>
        <p:nvSpPr>
          <p:cNvPr id="287" name="Google Shape;287;p42"/>
          <p:cNvSpPr txBox="1"/>
          <p:nvPr>
            <p:ph idx="4294967295" type="subTitle"/>
          </p:nvPr>
        </p:nvSpPr>
        <p:spPr>
          <a:xfrm>
            <a:off x="689975" y="1087950"/>
            <a:ext cx="6980700" cy="855600"/>
          </a:xfrm>
          <a:prstGeom prst="rect">
            <a:avLst/>
          </a:prstGeom>
        </p:spPr>
        <p:txBody>
          <a:bodyPr anchorCtr="0" anchor="t" bIns="91425" lIns="91425" spcFirstLastPara="1" rIns="91425" wrap="square" tIns="91425">
            <a:noAutofit/>
          </a:bodyPr>
          <a:lstStyle/>
          <a:p>
            <a:pPr indent="-311467" lvl="0" marL="457200" rtl="0" algn="l">
              <a:lnSpc>
                <a:spcPct val="150000"/>
              </a:lnSpc>
              <a:spcBef>
                <a:spcPts val="0"/>
              </a:spcBef>
              <a:spcAft>
                <a:spcPts val="0"/>
              </a:spcAft>
              <a:buSzPts val="1305"/>
              <a:buChar char="●"/>
            </a:pPr>
            <a:r>
              <a:rPr lang="en" sz="1305"/>
              <a:t>This is a fairly large differentiation and, with increasing layer count, can very quickly go out of hand. But wait…</a:t>
            </a:r>
            <a:endParaRPr sz="1305"/>
          </a:p>
        </p:txBody>
      </p:sp>
      <p:pic>
        <p:nvPicPr>
          <p:cNvPr id="288" name="Google Shape;288;p42" title="Screenshot 2025-04-24 024851.png"/>
          <p:cNvPicPr preferRelativeResize="0"/>
          <p:nvPr/>
        </p:nvPicPr>
        <p:blipFill>
          <a:blip r:embed="rId3">
            <a:alphaModFix/>
          </a:blip>
          <a:stretch>
            <a:fillRect/>
          </a:stretch>
        </p:blipFill>
        <p:spPr>
          <a:xfrm>
            <a:off x="1890275" y="2010625"/>
            <a:ext cx="3375676" cy="431500"/>
          </a:xfrm>
          <a:prstGeom prst="rect">
            <a:avLst/>
          </a:prstGeom>
          <a:noFill/>
          <a:ln>
            <a:noFill/>
          </a:ln>
        </p:spPr>
      </p:pic>
      <p:cxnSp>
        <p:nvCxnSpPr>
          <p:cNvPr id="289" name="Google Shape;289;p42"/>
          <p:cNvCxnSpPr/>
          <p:nvPr/>
        </p:nvCxnSpPr>
        <p:spPr>
          <a:xfrm flipH="1">
            <a:off x="4264550" y="1850150"/>
            <a:ext cx="6300" cy="574500"/>
          </a:xfrm>
          <a:prstGeom prst="straightConnector1">
            <a:avLst/>
          </a:prstGeom>
          <a:noFill/>
          <a:ln cap="flat" cmpd="sng" w="9525">
            <a:solidFill>
              <a:srgbClr val="FF0000"/>
            </a:solidFill>
            <a:prstDash val="solid"/>
            <a:round/>
            <a:headEnd len="med" w="med" type="none"/>
            <a:tailEnd len="med" w="med" type="none"/>
          </a:ln>
        </p:spPr>
      </p:cxnSp>
      <p:cxnSp>
        <p:nvCxnSpPr>
          <p:cNvPr id="290" name="Google Shape;290;p42"/>
          <p:cNvCxnSpPr/>
          <p:nvPr/>
        </p:nvCxnSpPr>
        <p:spPr>
          <a:xfrm>
            <a:off x="4264600" y="1850150"/>
            <a:ext cx="948900" cy="12600"/>
          </a:xfrm>
          <a:prstGeom prst="straightConnector1">
            <a:avLst/>
          </a:prstGeom>
          <a:noFill/>
          <a:ln cap="flat" cmpd="sng" w="9525">
            <a:solidFill>
              <a:srgbClr val="FF0000"/>
            </a:solidFill>
            <a:prstDash val="solid"/>
            <a:round/>
            <a:headEnd len="med" w="med" type="none"/>
            <a:tailEnd len="med" w="med" type="none"/>
          </a:ln>
        </p:spPr>
      </p:cxnSp>
      <p:cxnSp>
        <p:nvCxnSpPr>
          <p:cNvPr id="291" name="Google Shape;291;p42"/>
          <p:cNvCxnSpPr/>
          <p:nvPr/>
        </p:nvCxnSpPr>
        <p:spPr>
          <a:xfrm rot="10800000">
            <a:off x="5213600" y="1862725"/>
            <a:ext cx="12300" cy="574200"/>
          </a:xfrm>
          <a:prstGeom prst="straightConnector1">
            <a:avLst/>
          </a:prstGeom>
          <a:noFill/>
          <a:ln cap="flat" cmpd="sng" w="9525">
            <a:solidFill>
              <a:srgbClr val="FF0000"/>
            </a:solidFill>
            <a:prstDash val="solid"/>
            <a:round/>
            <a:headEnd len="med" w="med" type="none"/>
            <a:tailEnd len="med" w="med" type="none"/>
          </a:ln>
        </p:spPr>
      </p:cxnSp>
      <p:cxnSp>
        <p:nvCxnSpPr>
          <p:cNvPr id="292" name="Google Shape;292;p42"/>
          <p:cNvCxnSpPr/>
          <p:nvPr/>
        </p:nvCxnSpPr>
        <p:spPr>
          <a:xfrm rot="10800000">
            <a:off x="4264700" y="2424425"/>
            <a:ext cx="961200" cy="0"/>
          </a:xfrm>
          <a:prstGeom prst="straightConnector1">
            <a:avLst/>
          </a:prstGeom>
          <a:noFill/>
          <a:ln cap="flat" cmpd="sng" w="9525">
            <a:solidFill>
              <a:srgbClr val="FF0000"/>
            </a:solidFill>
            <a:prstDash val="solid"/>
            <a:round/>
            <a:headEnd len="med" w="med" type="none"/>
            <a:tailEnd len="med" w="med" type="none"/>
          </a:ln>
        </p:spPr>
      </p:cxnSp>
      <p:sp>
        <p:nvSpPr>
          <p:cNvPr id="293" name="Google Shape;293;p42"/>
          <p:cNvSpPr txBox="1"/>
          <p:nvPr>
            <p:ph idx="4294967295" type="subTitle"/>
          </p:nvPr>
        </p:nvSpPr>
        <p:spPr>
          <a:xfrm>
            <a:off x="727425" y="2571750"/>
            <a:ext cx="7245000" cy="1987500"/>
          </a:xfrm>
          <a:prstGeom prst="rect">
            <a:avLst/>
          </a:prstGeom>
        </p:spPr>
        <p:txBody>
          <a:bodyPr anchorCtr="0" anchor="t" bIns="91425" lIns="91425" spcFirstLastPara="1" rIns="91425" wrap="square" tIns="91425">
            <a:noAutofit/>
          </a:bodyPr>
          <a:lstStyle/>
          <a:p>
            <a:pPr indent="-311467" lvl="0" marL="457200" rtl="0" algn="l">
              <a:lnSpc>
                <a:spcPct val="150000"/>
              </a:lnSpc>
              <a:spcBef>
                <a:spcPts val="0"/>
              </a:spcBef>
              <a:spcAft>
                <a:spcPts val="0"/>
              </a:spcAft>
              <a:buSzPts val="1305"/>
              <a:buChar char="●"/>
            </a:pPr>
            <a:r>
              <a:rPr lang="en" sz="1305"/>
              <a:t>While calculating the derivative w.r.t. w</a:t>
            </a:r>
            <a:r>
              <a:rPr baseline="-25000" lang="en"/>
              <a:t>2, </a:t>
            </a:r>
            <a:r>
              <a:rPr lang="en" sz="1305"/>
              <a:t>the red-marked portion has already been calculated. We can just get the numerical values and plug them in.</a:t>
            </a:r>
            <a:endParaRPr sz="1305"/>
          </a:p>
          <a:p>
            <a:pPr indent="-311467" lvl="0" marL="457200" rtl="0" algn="l">
              <a:lnSpc>
                <a:spcPct val="150000"/>
              </a:lnSpc>
              <a:spcBef>
                <a:spcPts val="0"/>
              </a:spcBef>
              <a:spcAft>
                <a:spcPts val="0"/>
              </a:spcAft>
              <a:buSzPts val="1305"/>
              <a:buChar char="●"/>
            </a:pPr>
            <a:r>
              <a:rPr lang="en" sz="1305"/>
              <a:t>For the gradient of each of the layer, we just need to store the gradient value for the earlier layer and plug them in, making the derivative calculation process much simpler.</a:t>
            </a:r>
            <a:endParaRPr sz="1305"/>
          </a:p>
          <a:p>
            <a:pPr indent="-311467" lvl="0" marL="457200" rtl="0" algn="l">
              <a:lnSpc>
                <a:spcPct val="150000"/>
              </a:lnSpc>
              <a:spcBef>
                <a:spcPts val="0"/>
              </a:spcBef>
              <a:spcAft>
                <a:spcPts val="0"/>
              </a:spcAft>
              <a:buSzPts val="1305"/>
              <a:buChar char="●"/>
            </a:pPr>
            <a:r>
              <a:rPr lang="en" sz="1305"/>
              <a:t>In such </a:t>
            </a:r>
            <a:r>
              <a:rPr lang="en" sz="1305"/>
              <a:t>a case,</a:t>
            </a:r>
            <a:r>
              <a:rPr lang="en" sz="1305"/>
              <a:t> we are just propagating the gradient back from the later layer, hence the name </a:t>
            </a:r>
            <a:r>
              <a:rPr lang="en" sz="1305"/>
              <a:t>‘backpropagation</a:t>
            </a:r>
            <a:r>
              <a:rPr lang="en" sz="1305"/>
              <a:t>’.</a:t>
            </a:r>
            <a:endParaRPr sz="1305"/>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idx="4294967295" type="subTitle"/>
          </p:nvPr>
        </p:nvSpPr>
        <p:spPr>
          <a:xfrm>
            <a:off x="739900" y="480625"/>
            <a:ext cx="6995400" cy="3410700"/>
          </a:xfrm>
          <a:prstGeom prst="rect">
            <a:avLst/>
          </a:prstGeom>
        </p:spPr>
        <p:txBody>
          <a:bodyPr anchorCtr="0" anchor="t" bIns="91425" lIns="91425" spcFirstLastPara="1" rIns="91425" wrap="square" tIns="91425">
            <a:noAutofit/>
          </a:bodyPr>
          <a:lstStyle/>
          <a:p>
            <a:pPr indent="0" lvl="0" marL="457200" rtl="0" algn="l">
              <a:lnSpc>
                <a:spcPct val="100000"/>
              </a:lnSpc>
              <a:spcBef>
                <a:spcPts val="0"/>
              </a:spcBef>
              <a:spcAft>
                <a:spcPts val="0"/>
              </a:spcAft>
              <a:buNone/>
            </a:pPr>
            <a:r>
              <a:t/>
            </a:r>
            <a:endParaRPr sz="1305"/>
          </a:p>
          <a:p>
            <a:pPr indent="-311467" lvl="0" marL="457200" rtl="0" algn="l">
              <a:lnSpc>
                <a:spcPct val="115000"/>
              </a:lnSpc>
              <a:spcBef>
                <a:spcPts val="1200"/>
              </a:spcBef>
              <a:spcAft>
                <a:spcPts val="0"/>
              </a:spcAft>
              <a:buSzPts val="1305"/>
              <a:buChar char="●"/>
            </a:pPr>
            <a:r>
              <a:rPr lang="en" sz="1305"/>
              <a:t>No matter how complex an expression is, it can be broken down into simple arithmetic expressions.</a:t>
            </a:r>
            <a:endParaRPr sz="1305"/>
          </a:p>
          <a:p>
            <a:pPr indent="-311467" lvl="0" marL="457200" rtl="0" algn="l">
              <a:lnSpc>
                <a:spcPct val="115000"/>
              </a:lnSpc>
              <a:spcBef>
                <a:spcPts val="0"/>
              </a:spcBef>
              <a:spcAft>
                <a:spcPts val="0"/>
              </a:spcAft>
              <a:buSzPts val="1305"/>
              <a:buChar char="●"/>
            </a:pPr>
            <a:r>
              <a:rPr lang="en" sz="1305"/>
              <a:t>It is possible to easily calculate the derivative of these individual simple expressions, get their values, apply chain rule repeatedly, and plug them in to the earlier operation from the later operation.</a:t>
            </a:r>
            <a:endParaRPr sz="1305"/>
          </a:p>
          <a:p>
            <a:pPr indent="-311467" lvl="0" marL="457200" rtl="0" algn="l">
              <a:lnSpc>
                <a:spcPct val="115000"/>
              </a:lnSpc>
              <a:spcBef>
                <a:spcPts val="0"/>
              </a:spcBef>
              <a:spcAft>
                <a:spcPts val="0"/>
              </a:spcAft>
              <a:buSzPts val="1305"/>
              <a:buChar char="●"/>
            </a:pPr>
            <a:r>
              <a:rPr lang="en" sz="1305"/>
              <a:t>This method is known as automatic </a:t>
            </a:r>
            <a:r>
              <a:rPr lang="en" sz="1305"/>
              <a:t>differentiation </a:t>
            </a:r>
            <a:r>
              <a:rPr lang="en" sz="1305"/>
              <a:t>and is capable of calculating all the gradients in a single backward swoop.</a:t>
            </a:r>
            <a:endParaRPr sz="1305"/>
          </a:p>
          <a:p>
            <a:pPr indent="-311467" lvl="0" marL="457200" rtl="0" algn="l">
              <a:lnSpc>
                <a:spcPct val="115000"/>
              </a:lnSpc>
              <a:spcBef>
                <a:spcPts val="0"/>
              </a:spcBef>
              <a:spcAft>
                <a:spcPts val="0"/>
              </a:spcAft>
              <a:buSzPts val="1305"/>
              <a:buChar char="●"/>
            </a:pPr>
            <a:r>
              <a:rPr lang="en" sz="1305"/>
              <a:t>This is how deep learning libraries are capable of calculating derivatives even in very complex networks.</a:t>
            </a:r>
            <a:endParaRPr sz="1305"/>
          </a:p>
          <a:p>
            <a:pPr indent="-311467" lvl="0" marL="457200" rtl="0" algn="l">
              <a:lnSpc>
                <a:spcPct val="115000"/>
              </a:lnSpc>
              <a:spcBef>
                <a:spcPts val="0"/>
              </a:spcBef>
              <a:spcAft>
                <a:spcPts val="0"/>
              </a:spcAft>
              <a:buSzPts val="1305"/>
              <a:buChar char="●"/>
            </a:pPr>
            <a:r>
              <a:rPr lang="en" sz="1305"/>
              <a:t>Some other differentiation </a:t>
            </a:r>
            <a:r>
              <a:rPr lang="en" sz="1305"/>
              <a:t>alternatives</a:t>
            </a:r>
            <a:r>
              <a:rPr lang="en" sz="1305"/>
              <a:t> would be symbolic differentiation (</a:t>
            </a:r>
            <a:r>
              <a:rPr lang="en" sz="1305"/>
              <a:t>can become too complex</a:t>
            </a:r>
            <a:r>
              <a:rPr lang="en" sz="1305"/>
              <a:t> in a large </a:t>
            </a:r>
            <a:r>
              <a:rPr lang="en" sz="1305"/>
              <a:t>network) </a:t>
            </a:r>
            <a:r>
              <a:rPr lang="en" sz="1305"/>
              <a:t>and numerical differentiation (not very accurate). </a:t>
            </a:r>
            <a:endParaRPr sz="1305"/>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