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6" r:id="rId1"/>
  </p:sldMasterIdLst>
  <p:notesMasterIdLst>
    <p:notesMasterId r:id="rId28"/>
  </p:notesMasterIdLst>
  <p:handoutMasterIdLst>
    <p:handoutMasterId r:id="rId29"/>
  </p:handoutMasterIdLst>
  <p:sldIdLst>
    <p:sldId id="264" r:id="rId2"/>
    <p:sldId id="376" r:id="rId3"/>
    <p:sldId id="352" r:id="rId4"/>
    <p:sldId id="378" r:id="rId5"/>
    <p:sldId id="371" r:id="rId6"/>
    <p:sldId id="379" r:id="rId7"/>
    <p:sldId id="377" r:id="rId8"/>
    <p:sldId id="355" r:id="rId9"/>
    <p:sldId id="356" r:id="rId10"/>
    <p:sldId id="373" r:id="rId11"/>
    <p:sldId id="357" r:id="rId12"/>
    <p:sldId id="310" r:id="rId13"/>
    <p:sldId id="329" r:id="rId14"/>
    <p:sldId id="367" r:id="rId15"/>
    <p:sldId id="375" r:id="rId16"/>
    <p:sldId id="358" r:id="rId17"/>
    <p:sldId id="359" r:id="rId18"/>
    <p:sldId id="360" r:id="rId19"/>
    <p:sldId id="361" r:id="rId20"/>
    <p:sldId id="362" r:id="rId21"/>
    <p:sldId id="363" r:id="rId22"/>
    <p:sldId id="364" r:id="rId23"/>
    <p:sldId id="369" r:id="rId24"/>
    <p:sldId id="368" r:id="rId25"/>
    <p:sldId id="366" r:id="rId26"/>
    <p:sldId id="365" r:id="rId27"/>
  </p:sldIdLst>
  <p:sldSz cx="9144000" cy="6858000" type="screen4x3"/>
  <p:notesSz cx="6881813"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75" autoAdjust="0"/>
    <p:restoredTop sz="94660"/>
  </p:normalViewPr>
  <p:slideViewPr>
    <p:cSldViewPr>
      <p:cViewPr varScale="1">
        <p:scale>
          <a:sx n="91" d="100"/>
          <a:sy n="91" d="100"/>
        </p:scale>
        <p:origin x="1308" y="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913"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97313" y="0"/>
            <a:ext cx="2982912" cy="465138"/>
          </a:xfrm>
          <a:prstGeom prst="rect">
            <a:avLst/>
          </a:prstGeom>
        </p:spPr>
        <p:txBody>
          <a:bodyPr vert="horz" lIns="91440" tIns="45720" rIns="91440" bIns="45720" rtlCol="0"/>
          <a:lstStyle>
            <a:lvl1pPr algn="r">
              <a:defRPr sz="1200"/>
            </a:lvl1pPr>
          </a:lstStyle>
          <a:p>
            <a:fld id="{C8ECF0FB-799B-46EA-A835-C9D7C2C4F312}" type="datetimeFigureOut">
              <a:rPr lang="en-US" smtClean="0"/>
              <a:pPr/>
              <a:t>2/28/2022</a:t>
            </a:fld>
            <a:endParaRPr lang="en-US"/>
          </a:p>
        </p:txBody>
      </p:sp>
      <p:sp>
        <p:nvSpPr>
          <p:cNvPr id="4" name="Footer Placeholder 3"/>
          <p:cNvSpPr>
            <a:spLocks noGrp="1"/>
          </p:cNvSpPr>
          <p:nvPr>
            <p:ph type="ftr" sz="quarter" idx="2"/>
          </p:nvPr>
        </p:nvSpPr>
        <p:spPr>
          <a:xfrm>
            <a:off x="0" y="8829675"/>
            <a:ext cx="2982913"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97313" y="8829675"/>
            <a:ext cx="2982912" cy="465138"/>
          </a:xfrm>
          <a:prstGeom prst="rect">
            <a:avLst/>
          </a:prstGeom>
        </p:spPr>
        <p:txBody>
          <a:bodyPr vert="horz" lIns="91440" tIns="45720" rIns="91440" bIns="45720" rtlCol="0" anchor="b"/>
          <a:lstStyle>
            <a:lvl1pPr algn="r">
              <a:defRPr sz="1200"/>
            </a:lvl1pPr>
          </a:lstStyle>
          <a:p>
            <a:fld id="{A7BA0443-C80F-4595-B112-8B8C0A3F7E0B}" type="slidenum">
              <a:rPr lang="en-US" smtClean="0"/>
              <a:pPr/>
              <a:t>‹#›</a:t>
            </a:fld>
            <a:endParaRPr lang="en-US"/>
          </a:p>
        </p:txBody>
      </p:sp>
    </p:spTree>
    <p:extLst>
      <p:ext uri="{BB962C8B-B14F-4D97-AF65-F5344CB8AC3E}">
        <p14:creationId xmlns:p14="http://schemas.microsoft.com/office/powerpoint/2010/main" val="676615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913"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97313" y="0"/>
            <a:ext cx="2982912" cy="465138"/>
          </a:xfrm>
          <a:prstGeom prst="rect">
            <a:avLst/>
          </a:prstGeom>
        </p:spPr>
        <p:txBody>
          <a:bodyPr vert="horz" lIns="91440" tIns="45720" rIns="91440" bIns="45720" rtlCol="0"/>
          <a:lstStyle>
            <a:lvl1pPr algn="r">
              <a:defRPr sz="1200"/>
            </a:lvl1pPr>
          </a:lstStyle>
          <a:p>
            <a:fld id="{43A56063-5998-4D81-8820-D47268AFD437}" type="datetimeFigureOut">
              <a:rPr lang="en-US" smtClean="0"/>
              <a:pPr/>
              <a:t>2/28/2022</a:t>
            </a:fld>
            <a:endParaRPr lang="en-US"/>
          </a:p>
        </p:txBody>
      </p:sp>
      <p:sp>
        <p:nvSpPr>
          <p:cNvPr id="4" name="Slide Image Placeholder 3"/>
          <p:cNvSpPr>
            <a:spLocks noGrp="1" noRot="1" noChangeAspect="1"/>
          </p:cNvSpPr>
          <p:nvPr>
            <p:ph type="sldImg" idx="2"/>
          </p:nvPr>
        </p:nvSpPr>
        <p:spPr>
          <a:xfrm>
            <a:off x="1117600" y="696913"/>
            <a:ext cx="4648200" cy="34861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8975" y="4416425"/>
            <a:ext cx="5505450" cy="41830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2982913" cy="46513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97313" y="8829675"/>
            <a:ext cx="2982912" cy="465138"/>
          </a:xfrm>
          <a:prstGeom prst="rect">
            <a:avLst/>
          </a:prstGeom>
        </p:spPr>
        <p:txBody>
          <a:bodyPr vert="horz" lIns="91440" tIns="45720" rIns="91440" bIns="45720" rtlCol="0" anchor="b"/>
          <a:lstStyle>
            <a:lvl1pPr algn="r">
              <a:defRPr sz="1200"/>
            </a:lvl1pPr>
          </a:lstStyle>
          <a:p>
            <a:fld id="{AC87D4BA-5DC1-4F07-B729-34A8B475F75B}" type="slidenum">
              <a:rPr lang="en-US" smtClean="0"/>
              <a:pPr/>
              <a:t>‹#›</a:t>
            </a:fld>
            <a:endParaRPr lang="en-US"/>
          </a:p>
        </p:txBody>
      </p:sp>
    </p:spTree>
    <p:extLst>
      <p:ext uri="{BB962C8B-B14F-4D97-AF65-F5344CB8AC3E}">
        <p14:creationId xmlns:p14="http://schemas.microsoft.com/office/powerpoint/2010/main" val="24487485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87D4BA-5DC1-4F07-B729-34A8B475F75B}" type="slidenum">
              <a:rPr lang="en-US" smtClean="0"/>
              <a:pPr/>
              <a:t>1</a:t>
            </a:fld>
            <a:endParaRPr lang="en-US"/>
          </a:p>
        </p:txBody>
      </p:sp>
    </p:spTree>
    <p:extLst>
      <p:ext uri="{BB962C8B-B14F-4D97-AF65-F5344CB8AC3E}">
        <p14:creationId xmlns:p14="http://schemas.microsoft.com/office/powerpoint/2010/main" val="39724437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5" name="Group 24"/>
          <p:cNvGrpSpPr/>
          <p:nvPr/>
        </p:nvGrpSpPr>
        <p:grpSpPr>
          <a:xfrm>
            <a:off x="203200" y="0"/>
            <a:ext cx="3778250" cy="6858001"/>
            <a:chOff x="203200" y="0"/>
            <a:chExt cx="3778250" cy="6858001"/>
          </a:xfrm>
        </p:grpSpPr>
        <p:sp>
          <p:nvSpPr>
            <p:cNvPr id="14" name="Freeform 6"/>
            <p:cNvSpPr/>
            <p:nvPr/>
          </p:nvSpPr>
          <p:spPr bwMode="auto">
            <a:xfrm>
              <a:off x="641350" y="0"/>
              <a:ext cx="1365250" cy="3971925"/>
            </a:xfrm>
            <a:custGeom>
              <a:avLst/>
              <a:gdLst/>
              <a:ahLst/>
              <a:cxnLst/>
              <a:rect l="0" t="0" r="r" b="b"/>
              <a:pathLst>
                <a:path w="860" h="2502">
                  <a:moveTo>
                    <a:pt x="0" y="2445"/>
                  </a:moveTo>
                  <a:lnTo>
                    <a:pt x="228" y="2502"/>
                  </a:lnTo>
                  <a:lnTo>
                    <a:pt x="860" y="0"/>
                  </a:lnTo>
                  <a:lnTo>
                    <a:pt x="620" y="0"/>
                  </a:lnTo>
                  <a:lnTo>
                    <a:pt x="0" y="2445"/>
                  </a:lnTo>
                  <a:close/>
                </a:path>
              </a:pathLst>
            </a:custGeom>
            <a:solidFill>
              <a:schemeClr val="accent1"/>
            </a:solidFill>
            <a:ln>
              <a:noFill/>
            </a:ln>
          </p:spPr>
        </p:sp>
        <p:sp>
          <p:nvSpPr>
            <p:cNvPr id="15" name="Freeform 7"/>
            <p:cNvSpPr/>
            <p:nvPr/>
          </p:nvSpPr>
          <p:spPr bwMode="auto">
            <a:xfrm>
              <a:off x="203200" y="0"/>
              <a:ext cx="1336675" cy="3862388"/>
            </a:xfrm>
            <a:custGeom>
              <a:avLst/>
              <a:gdLst/>
              <a:ahLst/>
              <a:cxnLst/>
              <a:rect l="0" t="0" r="r" b="b"/>
              <a:pathLst>
                <a:path w="842" h="2433">
                  <a:moveTo>
                    <a:pt x="842" y="0"/>
                  </a:moveTo>
                  <a:lnTo>
                    <a:pt x="602" y="0"/>
                  </a:lnTo>
                  <a:lnTo>
                    <a:pt x="0" y="2376"/>
                  </a:lnTo>
                  <a:lnTo>
                    <a:pt x="228" y="2433"/>
                  </a:lnTo>
                  <a:lnTo>
                    <a:pt x="842" y="0"/>
                  </a:lnTo>
                  <a:close/>
                </a:path>
              </a:pathLst>
            </a:custGeom>
            <a:solidFill>
              <a:schemeClr val="tx1">
                <a:lumMod val="65000"/>
                <a:lumOff val="35000"/>
              </a:schemeClr>
            </a:solidFill>
            <a:ln>
              <a:noFill/>
            </a:ln>
          </p:spPr>
        </p:sp>
        <p:sp>
          <p:nvSpPr>
            <p:cNvPr id="16" name="Freeform 8"/>
            <p:cNvSpPr/>
            <p:nvPr/>
          </p:nvSpPr>
          <p:spPr bwMode="auto">
            <a:xfrm>
              <a:off x="207963" y="3776663"/>
              <a:ext cx="1936750" cy="3081338"/>
            </a:xfrm>
            <a:custGeom>
              <a:avLst/>
              <a:gdLst/>
              <a:ahLst/>
              <a:cxnLst/>
              <a:rect l="0" t="0" r="r" b="b"/>
              <a:pathLst>
                <a:path w="1220" h="1941">
                  <a:moveTo>
                    <a:pt x="0" y="0"/>
                  </a:moveTo>
                  <a:lnTo>
                    <a:pt x="1166" y="1941"/>
                  </a:lnTo>
                  <a:lnTo>
                    <a:pt x="1220" y="1941"/>
                  </a:lnTo>
                  <a:lnTo>
                    <a:pt x="0" y="0"/>
                  </a:lnTo>
                  <a:close/>
                </a:path>
              </a:pathLst>
            </a:custGeom>
            <a:solidFill>
              <a:schemeClr val="tx1">
                <a:lumMod val="85000"/>
                <a:lumOff val="15000"/>
              </a:schemeClr>
            </a:solidFill>
            <a:ln>
              <a:noFill/>
            </a:ln>
          </p:spPr>
        </p:sp>
        <p:sp>
          <p:nvSpPr>
            <p:cNvPr id="20" name="Freeform 9"/>
            <p:cNvSpPr/>
            <p:nvPr/>
          </p:nvSpPr>
          <p:spPr bwMode="auto">
            <a:xfrm>
              <a:off x="646113" y="3886200"/>
              <a:ext cx="2373313" cy="2971800"/>
            </a:xfrm>
            <a:custGeom>
              <a:avLst/>
              <a:gdLst/>
              <a:ahLst/>
              <a:cxnLst/>
              <a:rect l="0" t="0" r="r" b="b"/>
              <a:pathLst>
                <a:path w="1495" h="1872">
                  <a:moveTo>
                    <a:pt x="1495" y="1872"/>
                  </a:moveTo>
                  <a:lnTo>
                    <a:pt x="0" y="0"/>
                  </a:lnTo>
                  <a:lnTo>
                    <a:pt x="1442" y="1872"/>
                  </a:lnTo>
                  <a:lnTo>
                    <a:pt x="1495" y="1872"/>
                  </a:lnTo>
                  <a:close/>
                </a:path>
              </a:pathLst>
            </a:custGeom>
            <a:solidFill>
              <a:schemeClr val="accent1">
                <a:lumMod val="50000"/>
              </a:schemeClr>
            </a:solidFill>
            <a:ln>
              <a:noFill/>
            </a:ln>
          </p:spPr>
        </p:sp>
        <p:sp>
          <p:nvSpPr>
            <p:cNvPr id="21" name="Freeform 10"/>
            <p:cNvSpPr/>
            <p:nvPr/>
          </p:nvSpPr>
          <p:spPr bwMode="auto">
            <a:xfrm>
              <a:off x="641350" y="3881438"/>
              <a:ext cx="3340100" cy="2976563"/>
            </a:xfrm>
            <a:custGeom>
              <a:avLst/>
              <a:gdLst/>
              <a:ahLst/>
              <a:cxnLst/>
              <a:rect l="0" t="0" r="r" b="b"/>
              <a:pathLst>
                <a:path w="2104" h="1875">
                  <a:moveTo>
                    <a:pt x="0" y="0"/>
                  </a:moveTo>
                  <a:lnTo>
                    <a:pt x="3" y="3"/>
                  </a:lnTo>
                  <a:lnTo>
                    <a:pt x="1498" y="1875"/>
                  </a:lnTo>
                  <a:lnTo>
                    <a:pt x="2104" y="1875"/>
                  </a:lnTo>
                  <a:lnTo>
                    <a:pt x="228" y="57"/>
                  </a:lnTo>
                  <a:lnTo>
                    <a:pt x="0" y="0"/>
                  </a:lnTo>
                  <a:close/>
                </a:path>
              </a:pathLst>
            </a:custGeom>
            <a:solidFill>
              <a:schemeClr val="accent1">
                <a:lumMod val="75000"/>
              </a:schemeClr>
            </a:solidFill>
            <a:ln>
              <a:noFill/>
            </a:ln>
          </p:spPr>
        </p:sp>
        <p:sp>
          <p:nvSpPr>
            <p:cNvPr id="22" name="Freeform 11"/>
            <p:cNvSpPr/>
            <p:nvPr/>
          </p:nvSpPr>
          <p:spPr bwMode="auto">
            <a:xfrm>
              <a:off x="203200" y="3771900"/>
              <a:ext cx="2660650" cy="3086100"/>
            </a:xfrm>
            <a:custGeom>
              <a:avLst/>
              <a:gdLst/>
              <a:ahLst/>
              <a:cxnLst/>
              <a:rect l="0" t="0" r="r" b="b"/>
              <a:pathLst>
                <a:path w="1676" h="1944">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1739673" y="914401"/>
            <a:ext cx="6947127" cy="3488266"/>
          </a:xfrm>
        </p:spPr>
        <p:txBody>
          <a:bodyPr anchor="b">
            <a:normAutofit/>
          </a:bodyPr>
          <a:lstStyle>
            <a:lvl1pPr algn="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924238" y="4402666"/>
            <a:ext cx="5762563" cy="1364531"/>
          </a:xfrm>
        </p:spPr>
        <p:txBody>
          <a:bodyPr anchor="t">
            <a:normAutofit/>
          </a:bodyPr>
          <a:lstStyle>
            <a:lvl1pPr marL="0" indent="0" algn="r">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325773" y="6117336"/>
            <a:ext cx="857473" cy="365125"/>
          </a:xfrm>
        </p:spPr>
        <p:txBody>
          <a:bodyPr/>
          <a:lstStyle/>
          <a:p>
            <a:fld id="{1D8BD707-D9CF-40AE-B4C6-C98DA3205C09}" type="datetimeFigureOut">
              <a:rPr lang="en-US" smtClean="0"/>
              <a:pPr/>
              <a:t>2/28/2022</a:t>
            </a:fld>
            <a:endParaRPr lang="en-US"/>
          </a:p>
        </p:txBody>
      </p:sp>
      <p:sp>
        <p:nvSpPr>
          <p:cNvPr id="5" name="Footer Placeholder 4"/>
          <p:cNvSpPr>
            <a:spLocks noGrp="1"/>
          </p:cNvSpPr>
          <p:nvPr>
            <p:ph type="ftr" sz="quarter" idx="11"/>
          </p:nvPr>
        </p:nvSpPr>
        <p:spPr>
          <a:xfrm>
            <a:off x="3623733" y="6117336"/>
            <a:ext cx="3609438" cy="365125"/>
          </a:xfrm>
        </p:spPr>
        <p:txBody>
          <a:bodyPr/>
          <a:lstStyle/>
          <a:p>
            <a:endParaRPr lang="en-US"/>
          </a:p>
        </p:txBody>
      </p:sp>
      <p:sp>
        <p:nvSpPr>
          <p:cNvPr id="6" name="Slide Number Placeholder 5"/>
          <p:cNvSpPr>
            <a:spLocks noGrp="1"/>
          </p:cNvSpPr>
          <p:nvPr>
            <p:ph type="sldNum" sz="quarter" idx="12"/>
          </p:nvPr>
        </p:nvSpPr>
        <p:spPr>
          <a:xfrm>
            <a:off x="8275320" y="6117336"/>
            <a:ext cx="411480" cy="365125"/>
          </a:xfrm>
        </p:spPr>
        <p:txBody>
          <a:bodyPr/>
          <a:lstStyle/>
          <a:p>
            <a:fld id="{B6F15528-21DE-4FAA-801E-634DDDAF4B2B}" type="slidenum">
              <a:rPr lang="en-US" smtClean="0"/>
              <a:pPr/>
              <a:t>‹#›</a:t>
            </a:fld>
            <a:endParaRPr lang="en-US"/>
          </a:p>
        </p:txBody>
      </p:sp>
      <p:sp>
        <p:nvSpPr>
          <p:cNvPr id="23" name="Freeform 12"/>
          <p:cNvSpPr/>
          <p:nvPr/>
        </p:nvSpPr>
        <p:spPr bwMode="auto">
          <a:xfrm>
            <a:off x="203200" y="3771900"/>
            <a:ext cx="361950" cy="90488"/>
          </a:xfrm>
          <a:custGeom>
            <a:avLst/>
            <a:gdLst/>
            <a:ahLst/>
            <a:cxnLst/>
            <a:rect l="0" t="0" r="r" b="b"/>
            <a:pathLst>
              <a:path w="228" h="57">
                <a:moveTo>
                  <a:pt x="228" y="57"/>
                </a:moveTo>
                <a:lnTo>
                  <a:pt x="0" y="0"/>
                </a:lnTo>
                <a:lnTo>
                  <a:pt x="222" y="54"/>
                </a:lnTo>
                <a:lnTo>
                  <a:pt x="228" y="57"/>
                </a:lnTo>
                <a:close/>
              </a:path>
            </a:pathLst>
          </a:custGeom>
          <a:solidFill>
            <a:srgbClr val="29ABE2"/>
          </a:solid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3"/>
          <p:cNvSpPr/>
          <p:nvPr/>
        </p:nvSpPr>
        <p:spPr bwMode="auto">
          <a:xfrm>
            <a:off x="560388" y="3867150"/>
            <a:ext cx="61913" cy="80963"/>
          </a:xfrm>
          <a:custGeom>
            <a:avLst/>
            <a:gdLst/>
            <a:ahLst/>
            <a:cxnLst/>
            <a:rect l="0" t="0" r="r" b="b"/>
            <a:pathLst>
              <a:path w="39" h="51">
                <a:moveTo>
                  <a:pt x="0" y="0"/>
                </a:moveTo>
                <a:lnTo>
                  <a:pt x="39" y="51"/>
                </a:lnTo>
                <a:lnTo>
                  <a:pt x="3" y="0"/>
                </a:lnTo>
                <a:lnTo>
                  <a:pt x="0" y="0"/>
                </a:lnTo>
                <a:close/>
              </a:path>
            </a:pathLst>
          </a:custGeom>
          <a:solidFill>
            <a:srgbClr val="29ABE2"/>
          </a:solidFill>
          <a:ln>
            <a:noFill/>
          </a:ln>
          <a:extLst>
            <a:ext uri="{91240B29-F687-4f45-9708-019B960494DF}">
              <a14:hiddenLine xmlns:a14="http://schemas.microsoft.com/office/drawing/2010/main" xmlns="" w="9525">
                <a:solidFill>
                  <a:srgbClr val="000000"/>
                </a:solidFill>
                <a:round/>
                <a:headEnd/>
                <a:tailEnd/>
              </a14:hiddenLine>
            </a:ext>
          </a:extLst>
        </p:spPr>
      </p:sp>
    </p:spTree>
    <p:extLst>
      <p:ext uri="{BB962C8B-B14F-4D97-AF65-F5344CB8AC3E}">
        <p14:creationId xmlns:p14="http://schemas.microsoft.com/office/powerpoint/2010/main" val="35587869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44329" y="6108173"/>
            <a:ext cx="857473" cy="365125"/>
          </a:xfrm>
        </p:spPr>
        <p:txBody>
          <a:bodyPr/>
          <a:lstStyle/>
          <a:p>
            <a:fld id="{1D8BD707-D9CF-40AE-B4C6-C98DA3205C09}" type="datetimeFigureOut">
              <a:rPr lang="en-US" smtClean="0"/>
              <a:pPr/>
              <a:t>2/28/2022</a:t>
            </a:fld>
            <a:endParaRPr lang="en-US"/>
          </a:p>
        </p:txBody>
      </p:sp>
      <p:sp>
        <p:nvSpPr>
          <p:cNvPr id="5" name="Footer Placeholder 4"/>
          <p:cNvSpPr>
            <a:spLocks noGrp="1"/>
          </p:cNvSpPr>
          <p:nvPr>
            <p:ph type="ftr" sz="quarter" idx="11"/>
          </p:nvPr>
        </p:nvSpPr>
        <p:spPr>
          <a:xfrm>
            <a:off x="1972647" y="6108173"/>
            <a:ext cx="5314517" cy="365125"/>
          </a:xfrm>
        </p:spPr>
        <p:txBody>
          <a:bodyPr/>
          <a:lstStyle/>
          <a:p>
            <a:endParaRPr lang="en-US"/>
          </a:p>
        </p:txBody>
      </p:sp>
      <p:sp>
        <p:nvSpPr>
          <p:cNvPr id="6" name="Slide Number Placeholder 5"/>
          <p:cNvSpPr>
            <a:spLocks noGrp="1"/>
          </p:cNvSpPr>
          <p:nvPr>
            <p:ph type="sldNum" sz="quarter" idx="12"/>
          </p:nvPr>
        </p:nvSpPr>
        <p:spPr>
          <a:xfrm>
            <a:off x="8258967" y="6108173"/>
            <a:ext cx="427833" cy="365125"/>
          </a:xfrm>
        </p:spPr>
        <p:txBody>
          <a:bodyPr/>
          <a:lstStyle/>
          <a:p>
            <a:fld id="{B6F15528-21DE-4FAA-801E-634DDDAF4B2B}" type="slidenum">
              <a:rPr lang="en-US" smtClean="0"/>
              <a:pPr/>
              <a:t>‹#›</a:t>
            </a:fld>
            <a:endParaRPr lang="en-US"/>
          </a:p>
        </p:txBody>
      </p:sp>
      <p:pic>
        <p:nvPicPr>
          <p:cNvPr id="8" name="Picture 7" descr="A picture containing drawing, shirt&#10;&#10;Description automatically generated">
            <a:extLst>
              <a:ext uri="{FF2B5EF4-FFF2-40B4-BE49-F238E27FC236}">
                <a16:creationId xmlns:a16="http://schemas.microsoft.com/office/drawing/2014/main" id="{0F306AE3-F028-4200-B8D2-2C8359AA759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050" y="5981700"/>
            <a:ext cx="876300" cy="876300"/>
          </a:xfrm>
          <a:prstGeom prst="rect">
            <a:avLst/>
          </a:prstGeom>
        </p:spPr>
      </p:pic>
      <p:sp>
        <p:nvSpPr>
          <p:cNvPr id="9" name="TextBox 8">
            <a:extLst>
              <a:ext uri="{FF2B5EF4-FFF2-40B4-BE49-F238E27FC236}">
                <a16:creationId xmlns:a16="http://schemas.microsoft.com/office/drawing/2014/main" id="{7A9FCBA1-3AA0-420E-91C7-1BFEE49F484A}"/>
              </a:ext>
            </a:extLst>
          </p:cNvPr>
          <p:cNvSpPr txBox="1"/>
          <p:nvPr userDrawn="1"/>
        </p:nvSpPr>
        <p:spPr>
          <a:xfrm>
            <a:off x="8001000" y="76200"/>
            <a:ext cx="1066800" cy="381000"/>
          </a:xfrm>
          <a:prstGeom prst="rect">
            <a:avLst/>
          </a:prstGeom>
          <a:effectLst>
            <a:glow rad="63500">
              <a:schemeClr val="accent1">
                <a:satMod val="175000"/>
                <a:alpha val="40000"/>
              </a:schemeClr>
            </a:glow>
          </a:effectLst>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b="1" dirty="0"/>
              <a:t>ENV-103</a:t>
            </a:r>
          </a:p>
        </p:txBody>
      </p:sp>
    </p:spTree>
    <p:extLst>
      <p:ext uri="{BB962C8B-B14F-4D97-AF65-F5344CB8AC3E}">
        <p14:creationId xmlns:p14="http://schemas.microsoft.com/office/powerpoint/2010/main" val="18444626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86995" y="2666998"/>
            <a:ext cx="6699805" cy="2360071"/>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86998" y="5027070"/>
            <a:ext cx="6699802"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273317" y="6116070"/>
            <a:ext cx="413483" cy="365125"/>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915798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685801"/>
            <a:ext cx="7704667"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82133" y="2667000"/>
            <a:ext cx="3739896" cy="336867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946904" y="2667000"/>
            <a:ext cx="3739896" cy="334682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2/28/2022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160680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329481" y="2658533"/>
            <a:ext cx="3456291"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13523"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61710" y="2667000"/>
            <a:ext cx="3467806"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957266"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2/28/2022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132615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2/28/2022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553100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2/28/2022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755981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1600200"/>
            <a:ext cx="2662534"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3947553" y="685800"/>
            <a:ext cx="4681962"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3524" y="2971800"/>
            <a:ext cx="2662534"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167200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2332" y="1752599"/>
            <a:ext cx="4070679"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5697495" y="914400"/>
            <a:ext cx="2461371"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2332" y="3124199"/>
            <a:ext cx="4070679"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2/28/2022</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059520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3" y="4732865"/>
            <a:ext cx="751599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789975" y="932112"/>
            <a:ext cx="6171065"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3523" y="5299603"/>
            <a:ext cx="751599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229415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685800"/>
            <a:ext cx="751599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343400"/>
            <a:ext cx="7515992"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378453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598235" y="3428999"/>
            <a:ext cx="6631128"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13523" y="4343400"/>
            <a:ext cx="751599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709962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13525" y="3308581"/>
            <a:ext cx="751598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777381"/>
            <a:ext cx="751599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674373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13525" y="3886200"/>
            <a:ext cx="751599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775200"/>
            <a:ext cx="751599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9835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13525" y="685801"/>
            <a:ext cx="7515991"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13524" y="3505200"/>
            <a:ext cx="7515992"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343400"/>
            <a:ext cx="7515992"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281330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2/28/2022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434060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1393" y="685800"/>
            <a:ext cx="1328123"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13524" y="685800"/>
            <a:ext cx="6016373"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2/28/2022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05062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14" name="Group 13"/>
          <p:cNvGrpSpPr/>
          <p:nvPr/>
        </p:nvGrpSpPr>
        <p:grpSpPr>
          <a:xfrm>
            <a:off x="0" y="0"/>
            <a:ext cx="2132013" cy="6858001"/>
            <a:chOff x="0" y="0"/>
            <a:chExt cx="2132013" cy="6858001"/>
          </a:xfrm>
        </p:grpSpPr>
        <p:sp>
          <p:nvSpPr>
            <p:cNvPr id="15" name="Freeform 6"/>
            <p:cNvSpPr/>
            <p:nvPr/>
          </p:nvSpPr>
          <p:spPr bwMode="auto">
            <a:xfrm>
              <a:off x="0" y="0"/>
              <a:ext cx="1073150" cy="5291138"/>
            </a:xfrm>
            <a:custGeom>
              <a:avLst/>
              <a:gdLst/>
              <a:ahLst/>
              <a:cxnLst/>
              <a:rect l="0" t="0" r="r" b="b"/>
              <a:pathLst>
                <a:path w="676" h="3333">
                  <a:moveTo>
                    <a:pt x="0" y="3132"/>
                  </a:moveTo>
                  <a:lnTo>
                    <a:pt x="0" y="3312"/>
                  </a:lnTo>
                  <a:lnTo>
                    <a:pt x="126" y="3333"/>
                  </a:lnTo>
                  <a:lnTo>
                    <a:pt x="676" y="0"/>
                  </a:lnTo>
                  <a:lnTo>
                    <a:pt x="514" y="0"/>
                  </a:lnTo>
                  <a:lnTo>
                    <a:pt x="0" y="3132"/>
                  </a:lnTo>
                  <a:close/>
                </a:path>
              </a:pathLst>
            </a:custGeom>
            <a:solidFill>
              <a:schemeClr val="accent1"/>
            </a:solidFill>
            <a:ln>
              <a:noFill/>
            </a:ln>
          </p:spPr>
        </p:sp>
        <p:sp>
          <p:nvSpPr>
            <p:cNvPr id="16" name="Freeform 7"/>
            <p:cNvSpPr/>
            <p:nvPr/>
          </p:nvSpPr>
          <p:spPr bwMode="auto">
            <a:xfrm>
              <a:off x="0" y="0"/>
              <a:ext cx="758825" cy="4624388"/>
            </a:xfrm>
            <a:custGeom>
              <a:avLst/>
              <a:gdLst/>
              <a:ahLst/>
              <a:cxnLst/>
              <a:rect l="0" t="0" r="r" b="b"/>
              <a:pathLst>
                <a:path w="478" h="2913">
                  <a:moveTo>
                    <a:pt x="478" y="0"/>
                  </a:moveTo>
                  <a:lnTo>
                    <a:pt x="318" y="0"/>
                  </a:lnTo>
                  <a:lnTo>
                    <a:pt x="0" y="1938"/>
                  </a:lnTo>
                  <a:lnTo>
                    <a:pt x="0" y="2913"/>
                  </a:lnTo>
                  <a:lnTo>
                    <a:pt x="478" y="0"/>
                  </a:lnTo>
                  <a:close/>
                </a:path>
              </a:pathLst>
            </a:custGeom>
            <a:solidFill>
              <a:schemeClr val="tx1">
                <a:lumMod val="65000"/>
                <a:lumOff val="35000"/>
              </a:schemeClr>
            </a:solidFill>
            <a:ln>
              <a:noFill/>
            </a:ln>
          </p:spPr>
        </p:sp>
        <p:sp>
          <p:nvSpPr>
            <p:cNvPr id="17" name="Freeform 8"/>
            <p:cNvSpPr/>
            <p:nvPr/>
          </p:nvSpPr>
          <p:spPr bwMode="auto">
            <a:xfrm>
              <a:off x="0" y="5662613"/>
              <a:ext cx="906463" cy="1195388"/>
            </a:xfrm>
            <a:custGeom>
              <a:avLst/>
              <a:gdLst/>
              <a:ahLst/>
              <a:cxnLst/>
              <a:rect l="0" t="0" r="r" b="b"/>
              <a:pathLst>
                <a:path w="571" h="753">
                  <a:moveTo>
                    <a:pt x="0" y="0"/>
                  </a:moveTo>
                  <a:lnTo>
                    <a:pt x="0" y="12"/>
                  </a:lnTo>
                  <a:lnTo>
                    <a:pt x="538" y="753"/>
                  </a:lnTo>
                  <a:lnTo>
                    <a:pt x="571" y="753"/>
                  </a:lnTo>
                  <a:lnTo>
                    <a:pt x="0" y="0"/>
                  </a:lnTo>
                  <a:close/>
                </a:path>
              </a:pathLst>
            </a:custGeom>
            <a:solidFill>
              <a:schemeClr val="tx1">
                <a:lumMod val="85000"/>
                <a:lumOff val="15000"/>
              </a:schemeClr>
            </a:solidFill>
            <a:ln>
              <a:noFill/>
            </a:ln>
          </p:spPr>
        </p:sp>
        <p:sp>
          <p:nvSpPr>
            <p:cNvPr id="18" name="Freeform 9"/>
            <p:cNvSpPr/>
            <p:nvPr/>
          </p:nvSpPr>
          <p:spPr bwMode="auto">
            <a:xfrm>
              <a:off x="0" y="5295900"/>
              <a:ext cx="1487488" cy="1562100"/>
            </a:xfrm>
            <a:custGeom>
              <a:avLst/>
              <a:gdLst/>
              <a:ahLst/>
              <a:cxnLst/>
              <a:rect l="0" t="0" r="r" b="b"/>
              <a:pathLst>
                <a:path w="937" h="984">
                  <a:moveTo>
                    <a:pt x="0" y="0"/>
                  </a:moveTo>
                  <a:lnTo>
                    <a:pt x="0" y="3"/>
                  </a:lnTo>
                  <a:lnTo>
                    <a:pt x="901" y="984"/>
                  </a:lnTo>
                  <a:lnTo>
                    <a:pt x="937" y="984"/>
                  </a:lnTo>
                  <a:lnTo>
                    <a:pt x="0" y="0"/>
                  </a:lnTo>
                  <a:close/>
                </a:path>
              </a:pathLst>
            </a:custGeom>
            <a:solidFill>
              <a:schemeClr val="accent1">
                <a:lumMod val="50000"/>
              </a:schemeClr>
            </a:solidFill>
            <a:ln>
              <a:noFill/>
            </a:ln>
          </p:spPr>
        </p:sp>
        <p:sp>
          <p:nvSpPr>
            <p:cNvPr id="19" name="Freeform 10"/>
            <p:cNvSpPr/>
            <p:nvPr/>
          </p:nvSpPr>
          <p:spPr bwMode="auto">
            <a:xfrm>
              <a:off x="0" y="5257800"/>
              <a:ext cx="2132013" cy="1600200"/>
            </a:xfrm>
            <a:custGeom>
              <a:avLst/>
              <a:gdLst/>
              <a:ahLst/>
              <a:cxnLst/>
              <a:rect l="0" t="0" r="r" b="b"/>
              <a:pathLst>
                <a:path w="1343" h="1008">
                  <a:moveTo>
                    <a:pt x="0" y="24"/>
                  </a:moveTo>
                  <a:lnTo>
                    <a:pt x="937" y="1008"/>
                  </a:lnTo>
                  <a:lnTo>
                    <a:pt x="1343" y="1008"/>
                  </a:lnTo>
                  <a:lnTo>
                    <a:pt x="126" y="21"/>
                  </a:lnTo>
                  <a:lnTo>
                    <a:pt x="0" y="0"/>
                  </a:lnTo>
                  <a:lnTo>
                    <a:pt x="0" y="24"/>
                  </a:lnTo>
                  <a:close/>
                </a:path>
              </a:pathLst>
            </a:custGeom>
            <a:solidFill>
              <a:schemeClr val="accent1">
                <a:lumMod val="75000"/>
              </a:schemeClr>
            </a:solidFill>
            <a:ln>
              <a:noFill/>
            </a:ln>
          </p:spPr>
        </p:sp>
        <p:sp>
          <p:nvSpPr>
            <p:cNvPr id="20" name="Freeform 11"/>
            <p:cNvSpPr/>
            <p:nvPr/>
          </p:nvSpPr>
          <p:spPr bwMode="auto">
            <a:xfrm>
              <a:off x="0" y="5357813"/>
              <a:ext cx="1377950" cy="1500188"/>
            </a:xfrm>
            <a:custGeom>
              <a:avLst/>
              <a:gdLst/>
              <a:ahLst/>
              <a:cxnLst/>
              <a:rect l="0" t="0" r="r" b="b"/>
              <a:pathLst>
                <a:path w="868" h="945">
                  <a:moveTo>
                    <a:pt x="0" y="192"/>
                  </a:moveTo>
                  <a:lnTo>
                    <a:pt x="571" y="945"/>
                  </a:lnTo>
                  <a:lnTo>
                    <a:pt x="868" y="945"/>
                  </a:lnTo>
                  <a:lnTo>
                    <a:pt x="0" y="0"/>
                  </a:lnTo>
                  <a:lnTo>
                    <a:pt x="0" y="192"/>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982133" y="457201"/>
            <a:ext cx="7704667" cy="19812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82134" y="2667000"/>
            <a:ext cx="7704666" cy="335699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358679" y="6116070"/>
            <a:ext cx="85747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D8BD707-D9CF-40AE-B4C6-C98DA3205C09}" type="datetimeFigureOut">
              <a:rPr lang="en-US" smtClean="0"/>
              <a:pPr/>
              <a:t>2/28/2022</a:t>
            </a:fld>
            <a:endParaRPr lang="en-US"/>
          </a:p>
        </p:txBody>
      </p:sp>
      <p:sp>
        <p:nvSpPr>
          <p:cNvPr id="5" name="Footer Placeholder 4"/>
          <p:cNvSpPr>
            <a:spLocks noGrp="1"/>
          </p:cNvSpPr>
          <p:nvPr>
            <p:ph type="ftr" sz="quarter" idx="3"/>
          </p:nvPr>
        </p:nvSpPr>
        <p:spPr>
          <a:xfrm>
            <a:off x="1986997" y="6116070"/>
            <a:ext cx="531451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8273317" y="6116070"/>
            <a:ext cx="41348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420480779"/>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 id="2147483828" r:id="rId12"/>
    <p:sldLayoutId id="2147483829" r:id="rId13"/>
    <p:sldLayoutId id="2147483830" r:id="rId14"/>
    <p:sldLayoutId id="2147483831" r:id="rId15"/>
    <p:sldLayoutId id="2147483832" r:id="rId16"/>
    <p:sldLayoutId id="2147483833"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 Id="rId5" Type="http://schemas.openxmlformats.org/officeDocument/2006/relationships/image" Target="../media/image4.jpe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1.xml"/><Relationship Id="rId1" Type="http://schemas.openxmlformats.org/officeDocument/2006/relationships/tags" Target="../tags/tag5.xml"/><Relationship Id="rId5" Type="http://schemas.openxmlformats.org/officeDocument/2006/relationships/image" Target="../media/image8.jpeg"/><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7.xml"/><Relationship Id="rId1" Type="http://schemas.openxmlformats.org/officeDocument/2006/relationships/tags" Target="../tags/tag13.xml"/></Relationships>
</file>

<file path=ppt/slides/_rels/slide1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1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slideLayout" Target="../slideLayouts/slideLayout2.xml"/><Relationship Id="rId1" Type="http://schemas.openxmlformats.org/officeDocument/2006/relationships/tags" Target="../tags/tag17.xml"/><Relationship Id="rId4" Type="http://schemas.openxmlformats.org/officeDocument/2006/relationships/image" Target="../media/image18.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2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2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3.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4">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79" name="Group 46">
            <a:extLst>
              <a:ext uri="{FF2B5EF4-FFF2-40B4-BE49-F238E27FC236}">
                <a16:creationId xmlns:a16="http://schemas.microsoft.com/office/drawing/2014/main" id="{E9D059B6-ADD8-488A-B346-63289E90D13F}"/>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576" y="-4763"/>
            <a:ext cx="3761187" cy="6862763"/>
            <a:chOff x="2928938" y="-4763"/>
            <a:chExt cx="5014912" cy="6862763"/>
          </a:xfrm>
        </p:grpSpPr>
        <p:sp>
          <p:nvSpPr>
            <p:cNvPr id="48" name="Freeform 6">
              <a:extLst>
                <a:ext uri="{FF2B5EF4-FFF2-40B4-BE49-F238E27FC236}">
                  <a16:creationId xmlns:a16="http://schemas.microsoft.com/office/drawing/2014/main" id="{F69B42B4-BC82-4495-A6F9-A28167B56A0E}"/>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49" name="Freeform 7">
              <a:extLst>
                <a:ext uri="{FF2B5EF4-FFF2-40B4-BE49-F238E27FC236}">
                  <a16:creationId xmlns:a16="http://schemas.microsoft.com/office/drawing/2014/main" id="{83CC168C-2AD4-4FFB-9F25-420ED6514C7D}"/>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50" name="Freeform 9">
              <a:extLst>
                <a:ext uri="{FF2B5EF4-FFF2-40B4-BE49-F238E27FC236}">
                  <a16:creationId xmlns:a16="http://schemas.microsoft.com/office/drawing/2014/main" id="{6C9F369A-6158-4AE8-BA04-138A9DFFAE05}"/>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51" name="Freeform 10">
              <a:extLst>
                <a:ext uri="{FF2B5EF4-FFF2-40B4-BE49-F238E27FC236}">
                  <a16:creationId xmlns:a16="http://schemas.microsoft.com/office/drawing/2014/main" id="{FC7B1DF4-AD98-42A8-820F-667A3DCC40AC}"/>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52" name="Freeform 11">
              <a:extLst>
                <a:ext uri="{FF2B5EF4-FFF2-40B4-BE49-F238E27FC236}">
                  <a16:creationId xmlns:a16="http://schemas.microsoft.com/office/drawing/2014/main" id="{61C58B74-3656-4FD5-AC47-EE3A59EBB818}"/>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53" name="Freeform 12">
              <a:extLst>
                <a:ext uri="{FF2B5EF4-FFF2-40B4-BE49-F238E27FC236}">
                  <a16:creationId xmlns:a16="http://schemas.microsoft.com/office/drawing/2014/main" id="{8B349A01-D803-4A18-B608-47BFCED43435}"/>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useBgFill="1">
        <p:nvSpPr>
          <p:cNvPr id="80" name="Rectangle 54">
            <a:extLst>
              <a:ext uri="{FF2B5EF4-FFF2-40B4-BE49-F238E27FC236}">
                <a16:creationId xmlns:a16="http://schemas.microsoft.com/office/drawing/2014/main" id="{9CD9ACDE-8038-488C-AB0C-5FD1A373C8C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DA6C2449-5F66-4753-AAA3-4AD81E57A0E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554794" cy="6858000"/>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grpSp>
        <p:nvGrpSpPr>
          <p:cNvPr id="59" name="Group 58">
            <a:extLst>
              <a:ext uri="{FF2B5EF4-FFF2-40B4-BE49-F238E27FC236}">
                <a16:creationId xmlns:a16="http://schemas.microsoft.com/office/drawing/2014/main" id="{329F7DAB-18F4-436A-A0D8-61013DEB6F50}"/>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6068" y="1"/>
            <a:ext cx="2443597" cy="6858000"/>
            <a:chOff x="141424" y="1"/>
            <a:chExt cx="3258129" cy="6858000"/>
          </a:xfrm>
        </p:grpSpPr>
        <p:sp>
          <p:nvSpPr>
            <p:cNvPr id="60" name="Freeform 6">
              <a:extLst>
                <a:ext uri="{FF2B5EF4-FFF2-40B4-BE49-F238E27FC236}">
                  <a16:creationId xmlns:a16="http://schemas.microsoft.com/office/drawing/2014/main" id="{AA2A446D-5444-4251-A0C1-1C33937BB10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bwMode="auto">
            <a:xfrm>
              <a:off x="495233" y="1"/>
              <a:ext cx="858884" cy="2780957"/>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lumMod val="75000"/>
              </a:schemeClr>
            </a:solidFill>
            <a:ln>
              <a:noFill/>
            </a:ln>
          </p:spPr>
        </p:sp>
        <p:sp>
          <p:nvSpPr>
            <p:cNvPr id="61" name="Freeform 7">
              <a:extLst>
                <a:ext uri="{FF2B5EF4-FFF2-40B4-BE49-F238E27FC236}">
                  <a16:creationId xmlns:a16="http://schemas.microsoft.com/office/drawing/2014/main" id="{E013EF53-9F7F-40D2-9E88-917DCF6430BE}"/>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bwMode="auto">
            <a:xfrm>
              <a:off x="141424" y="1"/>
              <a:ext cx="835810" cy="2671495"/>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sp>
        <p:sp>
          <p:nvSpPr>
            <p:cNvPr id="62" name="Freeform 12">
              <a:extLst>
                <a:ext uri="{FF2B5EF4-FFF2-40B4-BE49-F238E27FC236}">
                  <a16:creationId xmlns:a16="http://schemas.microsoft.com/office/drawing/2014/main" id="{210AE139-2815-4F3D-A56C-2608DB3D770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bwMode="auto">
            <a:xfrm>
              <a:off x="141424" y="2585830"/>
              <a:ext cx="2175413" cy="4272171"/>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sp>
        <p:sp>
          <p:nvSpPr>
            <p:cNvPr id="63" name="Freeform 13">
              <a:extLst>
                <a:ext uri="{FF2B5EF4-FFF2-40B4-BE49-F238E27FC236}">
                  <a16:creationId xmlns:a16="http://schemas.microsoft.com/office/drawing/2014/main" id="{7C52B438-B53F-4BCB-A9A8-183E8815AA87}"/>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bwMode="auto">
            <a:xfrm>
              <a:off x="499078" y="2695292"/>
              <a:ext cx="2690743" cy="4162709"/>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64" name="Freeform: Shape 63">
              <a:extLst>
                <a:ext uri="{FF2B5EF4-FFF2-40B4-BE49-F238E27FC236}">
                  <a16:creationId xmlns:a16="http://schemas.microsoft.com/office/drawing/2014/main" id="{557375C8-AF41-41DF-8F04-72401D4B9EB2}"/>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bwMode="auto">
            <a:xfrm>
              <a:off x="495233" y="2690532"/>
              <a:ext cx="2904320" cy="4167469"/>
            </a:xfrm>
            <a:custGeom>
              <a:avLst/>
              <a:gdLst>
                <a:gd name="connsiteX0" fmla="*/ 0 w 2904320"/>
                <a:gd name="connsiteY0" fmla="*/ 0 h 4167469"/>
                <a:gd name="connsiteX1" fmla="*/ 288431 w 2904320"/>
                <a:gd name="connsiteY1" fmla="*/ 90425 h 4167469"/>
                <a:gd name="connsiteX2" fmla="*/ 2904320 w 2904320"/>
                <a:gd name="connsiteY2" fmla="*/ 3220465 h 4167469"/>
                <a:gd name="connsiteX3" fmla="*/ 2904320 w 2904320"/>
                <a:gd name="connsiteY3" fmla="*/ 4167469 h 4167469"/>
                <a:gd name="connsiteX4" fmla="*/ 2694589 w 2904320"/>
                <a:gd name="connsiteY4" fmla="*/ 4167469 h 4167469"/>
                <a:gd name="connsiteX5" fmla="*/ 3846 w 2904320"/>
                <a:gd name="connsiteY5" fmla="*/ 4759 h 4167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04320" h="4167469">
                  <a:moveTo>
                    <a:pt x="0" y="0"/>
                  </a:moveTo>
                  <a:lnTo>
                    <a:pt x="288431" y="90425"/>
                  </a:lnTo>
                  <a:lnTo>
                    <a:pt x="2904320" y="3220465"/>
                  </a:lnTo>
                  <a:lnTo>
                    <a:pt x="2904320" y="4167469"/>
                  </a:lnTo>
                  <a:lnTo>
                    <a:pt x="2694589" y="4167469"/>
                  </a:lnTo>
                  <a:lnTo>
                    <a:pt x="3846" y="4759"/>
                  </a:lnTo>
                  <a:close/>
                </a:path>
              </a:pathLst>
            </a:custGeom>
            <a:solidFill>
              <a:schemeClr val="accent1">
                <a:lumMod val="75000"/>
              </a:schemeClr>
            </a:solidFill>
            <a:ln>
              <a:noFill/>
            </a:ln>
          </p:spPr>
        </p:sp>
        <p:sp>
          <p:nvSpPr>
            <p:cNvPr id="65" name="Freeform 15">
              <a:extLst>
                <a:ext uri="{FF2B5EF4-FFF2-40B4-BE49-F238E27FC236}">
                  <a16:creationId xmlns:a16="http://schemas.microsoft.com/office/drawing/2014/main" id="{1B37C1D7-483C-4CD7-85AB-F4EEA6E57367}"/>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bwMode="auto">
            <a:xfrm>
              <a:off x="141424" y="2581071"/>
              <a:ext cx="2894568" cy="427693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sp>
      </p:grpSp>
      <p:pic>
        <p:nvPicPr>
          <p:cNvPr id="3" name="Picture 2" descr="A picture containing drawing, shirt&#10;&#10;Description automatically generated">
            <a:extLst>
              <a:ext uri="{FF2B5EF4-FFF2-40B4-BE49-F238E27FC236}">
                <a16:creationId xmlns:a16="http://schemas.microsoft.com/office/drawing/2014/main" id="{97CD00F5-D549-4417-A28E-565ECE44EE1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924799" y="5619948"/>
            <a:ext cx="1238051" cy="1238051"/>
          </a:xfrm>
          <a:prstGeom prst="rect">
            <a:avLst/>
          </a:prstGeom>
        </p:spPr>
      </p:pic>
      <p:sp>
        <p:nvSpPr>
          <p:cNvPr id="5" name="Rectangle: Rounded Corners 4">
            <a:extLst>
              <a:ext uri="{FF2B5EF4-FFF2-40B4-BE49-F238E27FC236}">
                <a16:creationId xmlns:a16="http://schemas.microsoft.com/office/drawing/2014/main" id="{68DBE504-36DD-4DF3-BFA6-D020600871BA}"/>
              </a:ext>
            </a:extLst>
          </p:cNvPr>
          <p:cNvSpPr/>
          <p:nvPr/>
        </p:nvSpPr>
        <p:spPr>
          <a:xfrm>
            <a:off x="7162800" y="152400"/>
            <a:ext cx="1875132" cy="762000"/>
          </a:xfrm>
          <a:prstGeom prst="roundRect">
            <a:avLst>
              <a:gd name="adj" fmla="val 50000"/>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800" b="1" dirty="0"/>
              <a:t>ENV 103</a:t>
            </a:r>
          </a:p>
        </p:txBody>
      </p:sp>
      <p:sp>
        <p:nvSpPr>
          <p:cNvPr id="21" name="Rectangle 2">
            <a:extLst>
              <a:ext uri="{FF2B5EF4-FFF2-40B4-BE49-F238E27FC236}">
                <a16:creationId xmlns:a16="http://schemas.microsoft.com/office/drawing/2014/main" id="{19EFA974-F551-4918-B480-6F42B8CBFB4D}"/>
              </a:ext>
            </a:extLst>
          </p:cNvPr>
          <p:cNvSpPr txBox="1">
            <a:spLocks noChangeArrowheads="1"/>
          </p:cNvSpPr>
          <p:nvPr/>
        </p:nvSpPr>
        <p:spPr>
          <a:xfrm>
            <a:off x="3638405" y="2770751"/>
            <a:ext cx="3197653" cy="762000"/>
          </a:xfrm>
          <a:prstGeom prst="rect">
            <a:avLst/>
          </a:prstGeom>
          <a:effectLst/>
        </p:spPr>
        <p:txBody>
          <a:bodyPr vert="horz" lIns="91440" tIns="45720" rIns="91440" bIns="45720" rtlCol="0" anchor="ctr">
            <a:no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defRPr/>
            </a:pPr>
            <a:r>
              <a:rPr lang="en-GB" sz="8000" b="1" dirty="0">
                <a:latin typeface="Garamond" pitchFamily="18" charset="0"/>
              </a:rPr>
              <a:t>SOIL</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1000"/>
                                        <p:tgtEl>
                                          <p:spTgt spid="21"/>
                                        </p:tgtEl>
                                      </p:cBhvr>
                                    </p:animEffect>
                                    <p:anim calcmode="lin" valueType="num">
                                      <p:cBhvr>
                                        <p:cTn id="8" dur="1000" fill="hold"/>
                                        <p:tgtEl>
                                          <p:spTgt spid="21"/>
                                        </p:tgtEl>
                                        <p:attrNameLst>
                                          <p:attrName>ppt_x</p:attrName>
                                        </p:attrNameLst>
                                      </p:cBhvr>
                                      <p:tavLst>
                                        <p:tav tm="0">
                                          <p:val>
                                            <p:strVal val="#ppt_x"/>
                                          </p:val>
                                        </p:tav>
                                        <p:tav tm="100000">
                                          <p:val>
                                            <p:strVal val="#ppt_x"/>
                                          </p:val>
                                        </p:tav>
                                      </p:tavLst>
                                    </p:anim>
                                    <p:anim calcmode="lin" valueType="num">
                                      <p:cBhvr>
                                        <p:cTn id="9"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0" presetClass="entr" presetSubtype="0" fill="hold" nodeType="clickEffect">
                                  <p:stCondLst>
                                    <p:cond delay="0"/>
                                  </p:stCondLst>
                                  <p:childTnLst>
                                    <p:set>
                                      <p:cBhvr>
                                        <p:cTn id="13" dur="1" fill="hold">
                                          <p:stCondLst>
                                            <p:cond delay="0"/>
                                          </p:stCondLst>
                                        </p:cTn>
                                        <p:tgtEl>
                                          <p:spTgt spid="21">
                                            <p:txEl>
                                              <p:pRg st="0" end="0"/>
                                            </p:txEl>
                                          </p:spTgt>
                                        </p:tgtEl>
                                        <p:attrNameLst>
                                          <p:attrName>style.visibility</p:attrName>
                                        </p:attrNameLst>
                                      </p:cBhvr>
                                      <p:to>
                                        <p:strVal val="visible"/>
                                      </p:to>
                                    </p:set>
                                    <p:animEffect transition="in" filter="wedge">
                                      <p:cBhvr>
                                        <p:cTn id="14" dur="2000"/>
                                        <p:tgtEl>
                                          <p:spTgt spid="2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0CB15-4053-4942-B430-11EEBA7DBB60}"/>
              </a:ext>
            </a:extLst>
          </p:cNvPr>
          <p:cNvSpPr>
            <a:spLocks noGrp="1"/>
          </p:cNvSpPr>
          <p:nvPr>
            <p:ph type="title"/>
          </p:nvPr>
        </p:nvSpPr>
        <p:spPr>
          <a:xfrm>
            <a:off x="2743200" y="876300"/>
            <a:ext cx="3505200" cy="1142999"/>
          </a:xfrm>
        </p:spPr>
        <p:txBody>
          <a:bodyPr>
            <a:noAutofit/>
          </a:bodyPr>
          <a:lstStyle/>
          <a:p>
            <a:r>
              <a:rPr lang="en-US" sz="5000" dirty="0"/>
              <a:t>SOIL</a:t>
            </a:r>
            <a:br>
              <a:rPr lang="en-US" sz="5000" dirty="0"/>
            </a:br>
            <a:endParaRPr lang="en-US" sz="5000" dirty="0"/>
          </a:p>
        </p:txBody>
      </p:sp>
      <p:sp>
        <p:nvSpPr>
          <p:cNvPr id="3" name="Content Placeholder 2">
            <a:extLst>
              <a:ext uri="{FF2B5EF4-FFF2-40B4-BE49-F238E27FC236}">
                <a16:creationId xmlns:a16="http://schemas.microsoft.com/office/drawing/2014/main" id="{6511931B-8F63-4FB9-93AA-A61A93F9E49E}"/>
              </a:ext>
            </a:extLst>
          </p:cNvPr>
          <p:cNvSpPr>
            <a:spLocks noGrp="1"/>
          </p:cNvSpPr>
          <p:nvPr>
            <p:ph idx="1"/>
          </p:nvPr>
        </p:nvSpPr>
        <p:spPr>
          <a:xfrm>
            <a:off x="609600" y="1600200"/>
            <a:ext cx="8172450" cy="2209801"/>
          </a:xfrm>
        </p:spPr>
        <p:txBody>
          <a:bodyPr>
            <a:normAutofit lnSpcReduction="10000"/>
          </a:bodyPr>
          <a:lstStyle/>
          <a:p>
            <a:pPr algn="just"/>
            <a:r>
              <a:rPr lang="en-US" altLang="en-US" sz="2800" dirty="0">
                <a:latin typeface="Comic Sans MS" panose="030F0702030302020204" pitchFamily="66" charset="0"/>
              </a:rPr>
              <a:t>The collection of natural bodies occupying parts of the earth’s surface that have properties due to integrated effect of physical, chemical and organic processes so that it can support plant growth. </a:t>
            </a:r>
          </a:p>
          <a:p>
            <a:pPr algn="just"/>
            <a:endParaRPr lang="en-US" dirty="0"/>
          </a:p>
        </p:txBody>
      </p:sp>
      <p:pic>
        <p:nvPicPr>
          <p:cNvPr id="1026" name="Picture 2" descr="Why Soil Matters">
            <a:extLst>
              <a:ext uri="{FF2B5EF4-FFF2-40B4-BE49-F238E27FC236}">
                <a16:creationId xmlns:a16="http://schemas.microsoft.com/office/drawing/2014/main" id="{75AA24EB-FCED-4DD9-AA9F-0C8A597BB6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3962400"/>
            <a:ext cx="4457700" cy="274320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4241022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026"/>
                                        </p:tgtEl>
                                        <p:attrNameLst>
                                          <p:attrName>style.visibility</p:attrName>
                                        </p:attrNameLst>
                                      </p:cBhvr>
                                      <p:to>
                                        <p:strVal val="visible"/>
                                      </p:to>
                                    </p:set>
                                    <p:animEffect transition="in" filter="fade">
                                      <p:cBhvr>
                                        <p:cTn id="21" dur="1000"/>
                                        <p:tgtEl>
                                          <p:spTgt spid="1026"/>
                                        </p:tgtEl>
                                      </p:cBhvr>
                                    </p:animEffect>
                                    <p:anim calcmode="lin" valueType="num">
                                      <p:cBhvr>
                                        <p:cTn id="22" dur="1000" fill="hold"/>
                                        <p:tgtEl>
                                          <p:spTgt spid="1026"/>
                                        </p:tgtEl>
                                        <p:attrNameLst>
                                          <p:attrName>ppt_x</p:attrName>
                                        </p:attrNameLst>
                                      </p:cBhvr>
                                      <p:tavLst>
                                        <p:tav tm="0">
                                          <p:val>
                                            <p:strVal val="#ppt_x"/>
                                          </p:val>
                                        </p:tav>
                                        <p:tav tm="100000">
                                          <p:val>
                                            <p:strVal val="#ppt_x"/>
                                          </p:val>
                                        </p:tav>
                                      </p:tavLst>
                                    </p:anim>
                                    <p:anim calcmode="lin" valueType="num">
                                      <p:cBhvr>
                                        <p:cTn id="23" dur="1000" fill="hold"/>
                                        <p:tgtEl>
                                          <p:spTgt spid="10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F2A27E9-36B2-4328-A3E3-CC6766CA9A41}"/>
              </a:ext>
            </a:extLst>
          </p:cNvPr>
          <p:cNvSpPr>
            <a:spLocks noGrp="1"/>
          </p:cNvSpPr>
          <p:nvPr>
            <p:ph type="subTitle" idx="1"/>
          </p:nvPr>
        </p:nvSpPr>
        <p:spPr>
          <a:xfrm>
            <a:off x="990600" y="457200"/>
            <a:ext cx="7924800" cy="6172200"/>
          </a:xfrm>
        </p:spPr>
        <p:txBody>
          <a:bodyPr>
            <a:normAutofit/>
          </a:bodyPr>
          <a:lstStyle/>
          <a:p>
            <a:pPr eaLnBrk="1" fontAlgn="auto" hangingPunct="1">
              <a:spcAft>
                <a:spcPts val="0"/>
              </a:spcAft>
              <a:buFont typeface="Wingdings 2"/>
              <a:buNone/>
              <a:defRPr/>
            </a:pPr>
            <a:r>
              <a:rPr lang="en-US" sz="2400" b="1" dirty="0">
                <a:solidFill>
                  <a:schemeClr val="tx1"/>
                </a:solidFill>
                <a:latin typeface="Comic Sans MS" pitchFamily="66" charset="0"/>
                <a:cs typeface="Times New Roman" pitchFamily="18" charset="0"/>
              </a:rPr>
              <a:t>Weathering of Rocks and Minerals</a:t>
            </a:r>
          </a:p>
          <a:p>
            <a:pPr eaLnBrk="1" fontAlgn="auto" hangingPunct="1">
              <a:spcAft>
                <a:spcPts val="0"/>
              </a:spcAft>
              <a:buFont typeface="Wingdings 2"/>
              <a:buNone/>
              <a:defRPr/>
            </a:pPr>
            <a:endParaRPr lang="en-US" sz="2400" b="1" dirty="0">
              <a:solidFill>
                <a:srgbClr val="FFC000"/>
              </a:solidFill>
              <a:latin typeface="Times New Roman" pitchFamily="18" charset="0"/>
              <a:cs typeface="Times New Roman" pitchFamily="18" charset="0"/>
            </a:endParaRPr>
          </a:p>
          <a:p>
            <a:pPr marL="231775" indent="-231775" algn="just" eaLnBrk="1" fontAlgn="auto" hangingPunct="1">
              <a:spcAft>
                <a:spcPts val="0"/>
              </a:spcAft>
              <a:buFont typeface="Wingdings" pitchFamily="2" charset="2"/>
              <a:buChar char="§"/>
              <a:defRPr/>
            </a:pPr>
            <a:r>
              <a:rPr lang="en-US" sz="2200" dirty="0">
                <a:latin typeface="Comic Sans MS" pitchFamily="66" charset="0"/>
                <a:cs typeface="Times New Roman" pitchFamily="18" charset="0"/>
              </a:rPr>
              <a:t>Weathering refers to the physical, chemical and biological factors/processes that disintegrate and decompose rocks and the minerals contained in them, at or near the earth’s surface, into separate solid particles and dissolved materials.</a:t>
            </a:r>
          </a:p>
          <a:p>
            <a:pPr marL="231775" indent="-231775" algn="just" eaLnBrk="1" fontAlgn="auto" hangingPunct="1">
              <a:spcAft>
                <a:spcPts val="0"/>
              </a:spcAft>
              <a:buFont typeface="Wingdings 2"/>
              <a:buNone/>
              <a:defRPr/>
            </a:pPr>
            <a:endParaRPr lang="en-US" sz="2200" dirty="0">
              <a:latin typeface="Comic Sans MS" pitchFamily="66" charset="0"/>
              <a:cs typeface="Times New Roman" pitchFamily="18" charset="0"/>
            </a:endParaRPr>
          </a:p>
          <a:p>
            <a:pPr marL="231775" indent="-231775" algn="just" eaLnBrk="1" fontAlgn="auto" hangingPunct="1">
              <a:spcAft>
                <a:spcPts val="0"/>
              </a:spcAft>
              <a:buFont typeface="Wingdings 2"/>
              <a:buNone/>
              <a:defRPr/>
            </a:pPr>
            <a:r>
              <a:rPr lang="en-US" sz="2200" b="1" dirty="0">
                <a:latin typeface="Times New Roman" pitchFamily="18" charset="0"/>
                <a:cs typeface="Times New Roman" pitchFamily="18" charset="0"/>
              </a:rPr>
              <a:t>Controlling factors of weathering:</a:t>
            </a:r>
          </a:p>
          <a:p>
            <a:pPr marL="342900" indent="-342900" algn="just" eaLnBrk="1" fontAlgn="auto" hangingPunct="1">
              <a:spcAft>
                <a:spcPts val="0"/>
              </a:spcAft>
              <a:buFont typeface="Arial" panose="020B0604020202020204" pitchFamily="34" charset="0"/>
              <a:buChar char="•"/>
              <a:defRPr/>
            </a:pPr>
            <a:r>
              <a:rPr lang="en-US" sz="2200" b="1" dirty="0">
                <a:latin typeface="Times New Roman" pitchFamily="18" charset="0"/>
                <a:cs typeface="Times New Roman" pitchFamily="18" charset="0"/>
              </a:rPr>
              <a:t>Structure and composition of rocks</a:t>
            </a:r>
          </a:p>
          <a:p>
            <a:pPr marL="342900" indent="-342900" algn="just" eaLnBrk="1" fontAlgn="auto" hangingPunct="1">
              <a:spcAft>
                <a:spcPts val="0"/>
              </a:spcAft>
              <a:buFont typeface="Arial" panose="020B0604020202020204" pitchFamily="34" charset="0"/>
              <a:buChar char="•"/>
              <a:defRPr/>
            </a:pPr>
            <a:r>
              <a:rPr lang="en-US" sz="2200" b="1" dirty="0">
                <a:latin typeface="Times New Roman" pitchFamily="18" charset="0"/>
                <a:cs typeface="Times New Roman" pitchFamily="18" charset="0"/>
              </a:rPr>
              <a:t>Nature of ground slope</a:t>
            </a:r>
          </a:p>
          <a:p>
            <a:pPr marL="342900" indent="-342900" algn="just" eaLnBrk="1" fontAlgn="auto" hangingPunct="1">
              <a:spcAft>
                <a:spcPts val="0"/>
              </a:spcAft>
              <a:buFont typeface="Arial" panose="020B0604020202020204" pitchFamily="34" charset="0"/>
              <a:buChar char="•"/>
              <a:defRPr/>
            </a:pPr>
            <a:r>
              <a:rPr lang="en-US" sz="2200" b="1" dirty="0">
                <a:latin typeface="Times New Roman" pitchFamily="18" charset="0"/>
                <a:cs typeface="Times New Roman" pitchFamily="18" charset="0"/>
              </a:rPr>
              <a:t>Climatic variations</a:t>
            </a:r>
          </a:p>
          <a:p>
            <a:pPr marL="342900" indent="-342900" algn="just" eaLnBrk="1" fontAlgn="auto" hangingPunct="1">
              <a:spcAft>
                <a:spcPts val="0"/>
              </a:spcAft>
              <a:buFont typeface="Arial" panose="020B0604020202020204" pitchFamily="34" charset="0"/>
              <a:buChar char="•"/>
              <a:defRPr/>
            </a:pPr>
            <a:r>
              <a:rPr lang="en-US" sz="2200" b="1" dirty="0">
                <a:latin typeface="Times New Roman" pitchFamily="18" charset="0"/>
                <a:cs typeface="Times New Roman" pitchFamily="18" charset="0"/>
              </a:rPr>
              <a:t>Floral effects</a:t>
            </a:r>
          </a:p>
          <a:p>
            <a:pPr marL="342900" indent="-342900" algn="just" eaLnBrk="1" fontAlgn="auto" hangingPunct="1">
              <a:spcAft>
                <a:spcPts val="0"/>
              </a:spcAft>
              <a:buFont typeface="Arial" panose="020B0604020202020204" pitchFamily="34" charset="0"/>
              <a:buChar char="•"/>
              <a:defRPr/>
            </a:pPr>
            <a:endParaRPr lang="en-US" sz="2200" b="1" dirty="0">
              <a:latin typeface="Times New Roman" pitchFamily="18" charset="0"/>
              <a:cs typeface="Times New Roman" pitchFamily="18" charset="0"/>
            </a:endParaRPr>
          </a:p>
          <a:p>
            <a:pPr algn="just" eaLnBrk="1" fontAlgn="auto" hangingPunct="1">
              <a:spcAft>
                <a:spcPts val="0"/>
              </a:spcAft>
              <a:buFont typeface="Wingdings 2"/>
              <a:buNone/>
              <a:defRPr/>
            </a:pPr>
            <a:endParaRPr lang="en-US" sz="2200" dirty="0">
              <a:latin typeface="Times New Roman" pitchFamily="18" charset="0"/>
              <a:cs typeface="Times New Roman"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1000"/>
                                        <p:tgtEl>
                                          <p:spTgt spid="3">
                                            <p:txEl>
                                              <p:pRg st="4" end="4"/>
                                            </p:txEl>
                                          </p:spTgt>
                                        </p:tgtEl>
                                      </p:cBhvr>
                                    </p:animEffect>
                                    <p:anim calcmode="lin" valueType="num">
                                      <p:cBhvr>
                                        <p:cTn id="2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1000"/>
                                        <p:tgtEl>
                                          <p:spTgt spid="3">
                                            <p:txEl>
                                              <p:pRg st="5" end="5"/>
                                            </p:txEl>
                                          </p:spTgt>
                                        </p:tgtEl>
                                      </p:cBhvr>
                                    </p:animEffect>
                                    <p:anim calcmode="lin" valueType="num">
                                      <p:cBhvr>
                                        <p:cTn id="29"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1000"/>
                                        <p:tgtEl>
                                          <p:spTgt spid="3">
                                            <p:txEl>
                                              <p:pRg st="6" end="6"/>
                                            </p:txEl>
                                          </p:spTgt>
                                        </p:tgtEl>
                                      </p:cBhvr>
                                    </p:animEffect>
                                    <p:anim calcmode="lin" valueType="num">
                                      <p:cBhvr>
                                        <p:cTn id="36"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1000"/>
                                        <p:tgtEl>
                                          <p:spTgt spid="3">
                                            <p:txEl>
                                              <p:pRg st="7" end="7"/>
                                            </p:txEl>
                                          </p:spTgt>
                                        </p:tgtEl>
                                      </p:cBhvr>
                                    </p:animEffect>
                                    <p:anim calcmode="lin" valueType="num">
                                      <p:cBhvr>
                                        <p:cTn id="43"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8" end="8"/>
                                            </p:txEl>
                                          </p:spTgt>
                                        </p:tgtEl>
                                        <p:attrNameLst>
                                          <p:attrName>style.visibility</p:attrName>
                                        </p:attrNameLst>
                                      </p:cBhvr>
                                      <p:to>
                                        <p:strVal val="visible"/>
                                      </p:to>
                                    </p:set>
                                    <p:animEffect transition="in" filter="fade">
                                      <p:cBhvr>
                                        <p:cTn id="49" dur="1000"/>
                                        <p:tgtEl>
                                          <p:spTgt spid="3">
                                            <p:txEl>
                                              <p:pRg st="8" end="8"/>
                                            </p:txEl>
                                          </p:spTgt>
                                        </p:tgtEl>
                                      </p:cBhvr>
                                    </p:animEffect>
                                    <p:anim calcmode="lin" valueType="num">
                                      <p:cBhvr>
                                        <p:cTn id="50"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F1E0543-787B-447A-B9D6-98755EB8BE88}"/>
              </a:ext>
            </a:extLst>
          </p:cNvPr>
          <p:cNvSpPr>
            <a:spLocks noGrp="1"/>
          </p:cNvSpPr>
          <p:nvPr>
            <p:ph type="title"/>
          </p:nvPr>
        </p:nvSpPr>
        <p:spPr>
          <a:xfrm>
            <a:off x="1068493" y="0"/>
            <a:ext cx="7704667" cy="1295399"/>
          </a:xfrm>
        </p:spPr>
        <p:txBody>
          <a:bodyPr/>
          <a:lstStyle/>
          <a:p>
            <a:r>
              <a:rPr lang="en-US" dirty="0"/>
              <a:t>Types of Weathering process</a:t>
            </a:r>
          </a:p>
        </p:txBody>
      </p:sp>
      <p:sp>
        <p:nvSpPr>
          <p:cNvPr id="3" name="Content Placeholder 2">
            <a:extLst>
              <a:ext uri="{FF2B5EF4-FFF2-40B4-BE49-F238E27FC236}">
                <a16:creationId xmlns:a16="http://schemas.microsoft.com/office/drawing/2014/main" id="{BE45FE97-F9D4-4FBC-957B-5F0DC348D178}"/>
              </a:ext>
            </a:extLst>
          </p:cNvPr>
          <p:cNvSpPr>
            <a:spLocks noGrp="1"/>
          </p:cNvSpPr>
          <p:nvPr>
            <p:ph idx="1"/>
          </p:nvPr>
        </p:nvSpPr>
        <p:spPr>
          <a:xfrm>
            <a:off x="152400" y="2590800"/>
            <a:ext cx="8915400" cy="4074160"/>
          </a:xfrm>
        </p:spPr>
        <p:txBody>
          <a:bodyPr>
            <a:noAutofit/>
          </a:bodyPr>
          <a:lstStyle/>
          <a:p>
            <a:pPr marL="231775" indent="-231775" algn="just">
              <a:spcAft>
                <a:spcPts val="0"/>
              </a:spcAft>
              <a:buFont typeface="Wingdings" pitchFamily="2" charset="2"/>
              <a:buChar char="§"/>
              <a:defRPr/>
            </a:pPr>
            <a:r>
              <a:rPr lang="en-US" sz="2200" b="1" dirty="0">
                <a:latin typeface="Comic Sans MS" pitchFamily="66" charset="0"/>
                <a:cs typeface="Times New Roman" pitchFamily="18" charset="0"/>
              </a:rPr>
              <a:t>Physical weathering</a:t>
            </a:r>
            <a:r>
              <a:rPr lang="en-US" sz="2200" dirty="0">
                <a:latin typeface="Comic Sans MS" pitchFamily="66" charset="0"/>
                <a:cs typeface="Times New Roman" pitchFamily="18" charset="0"/>
              </a:rPr>
              <a:t> breaks rocks into small mineral particles.</a:t>
            </a:r>
          </a:p>
          <a:p>
            <a:pPr marL="688975" lvl="2" indent="-231775" algn="just">
              <a:spcAft>
                <a:spcPts val="0"/>
              </a:spcAft>
              <a:buFont typeface="Wingdings" pitchFamily="2" charset="2"/>
              <a:buChar char="§"/>
              <a:defRPr/>
            </a:pPr>
            <a:r>
              <a:rPr lang="en-US" sz="2200" dirty="0">
                <a:solidFill>
                  <a:schemeClr val="tx1"/>
                </a:solidFill>
                <a:latin typeface="Comic Sans MS" pitchFamily="66" charset="0"/>
                <a:cs typeface="Times New Roman" pitchFamily="18" charset="0"/>
              </a:rPr>
              <a:t>Agents:</a:t>
            </a:r>
          </a:p>
          <a:p>
            <a:pPr marL="1146175" lvl="4" indent="-231775" algn="just">
              <a:spcAft>
                <a:spcPts val="0"/>
              </a:spcAft>
              <a:buFont typeface="Wingdings" pitchFamily="2" charset="2"/>
              <a:buChar char="§"/>
              <a:defRPr/>
            </a:pPr>
            <a:r>
              <a:rPr lang="en-US" sz="2200" dirty="0">
                <a:solidFill>
                  <a:schemeClr val="tx1"/>
                </a:solidFill>
                <a:latin typeface="Comic Sans MS" pitchFamily="66" charset="0"/>
                <a:cs typeface="Times New Roman" pitchFamily="18" charset="0"/>
              </a:rPr>
              <a:t>Water</a:t>
            </a:r>
          </a:p>
          <a:p>
            <a:pPr marL="1146175" lvl="4" indent="-231775" algn="just">
              <a:spcAft>
                <a:spcPts val="0"/>
              </a:spcAft>
              <a:buFont typeface="Wingdings" pitchFamily="2" charset="2"/>
              <a:buChar char="§"/>
              <a:defRPr/>
            </a:pPr>
            <a:r>
              <a:rPr lang="en-US" sz="2200" dirty="0">
                <a:solidFill>
                  <a:schemeClr val="tx1"/>
                </a:solidFill>
                <a:latin typeface="Comic Sans MS" pitchFamily="66" charset="0"/>
                <a:cs typeface="Times New Roman" pitchFamily="18" charset="0"/>
              </a:rPr>
              <a:t>Frost</a:t>
            </a:r>
          </a:p>
          <a:p>
            <a:pPr marL="1146175" lvl="4" indent="-231775" algn="just">
              <a:spcAft>
                <a:spcPts val="0"/>
              </a:spcAft>
              <a:buFont typeface="Wingdings" pitchFamily="2" charset="2"/>
              <a:buChar char="§"/>
              <a:defRPr/>
            </a:pPr>
            <a:r>
              <a:rPr lang="en-US" sz="2200" dirty="0">
                <a:solidFill>
                  <a:schemeClr val="tx1"/>
                </a:solidFill>
                <a:latin typeface="Comic Sans MS" pitchFamily="66" charset="0"/>
                <a:cs typeface="Times New Roman" pitchFamily="18" charset="0"/>
              </a:rPr>
              <a:t>Temperature</a:t>
            </a:r>
          </a:p>
          <a:p>
            <a:pPr marL="1146175" lvl="4" indent="-231775" algn="just">
              <a:spcAft>
                <a:spcPts val="0"/>
              </a:spcAft>
              <a:buFont typeface="Wingdings" pitchFamily="2" charset="2"/>
              <a:buChar char="§"/>
              <a:defRPr/>
            </a:pPr>
            <a:r>
              <a:rPr lang="en-US" sz="2200" dirty="0">
                <a:solidFill>
                  <a:schemeClr val="tx1"/>
                </a:solidFill>
                <a:latin typeface="Comic Sans MS" pitchFamily="66" charset="0"/>
                <a:cs typeface="Times New Roman" pitchFamily="18" charset="0"/>
              </a:rPr>
              <a:t>Wind</a:t>
            </a:r>
          </a:p>
          <a:p>
            <a:pPr marL="233363" lvl="4" indent="0" algn="just">
              <a:spcAft>
                <a:spcPts val="0"/>
              </a:spcAft>
              <a:buNone/>
              <a:defRPr/>
            </a:pPr>
            <a:r>
              <a:rPr lang="en-US" sz="2200" b="1" dirty="0">
                <a:latin typeface="Comic Sans MS" pitchFamily="66" charset="0"/>
                <a:cs typeface="Times New Roman" pitchFamily="18" charset="0"/>
              </a:rPr>
              <a:t>Types of Physical weathering</a:t>
            </a:r>
          </a:p>
          <a:p>
            <a:pPr marL="628650" indent="-171450" algn="just">
              <a:spcAft>
                <a:spcPts val="0"/>
              </a:spcAft>
              <a:defRPr/>
            </a:pPr>
            <a:r>
              <a:rPr lang="en-US" sz="2200" dirty="0">
                <a:latin typeface="Comic Sans MS" pitchFamily="66" charset="0"/>
                <a:cs typeface="Times New Roman" pitchFamily="18" charset="0"/>
              </a:rPr>
              <a:t> Block disintegration due to temperature change</a:t>
            </a:r>
          </a:p>
          <a:p>
            <a:pPr lvl="1" algn="just">
              <a:spcAft>
                <a:spcPts val="0"/>
              </a:spcAft>
              <a:defRPr/>
            </a:pPr>
            <a:r>
              <a:rPr lang="en-US" sz="2200" dirty="0">
                <a:latin typeface="Comic Sans MS" pitchFamily="66" charset="0"/>
                <a:cs typeface="Times New Roman" pitchFamily="18" charset="0"/>
              </a:rPr>
              <a:t>Granular disintegration due to temperature change</a:t>
            </a:r>
          </a:p>
          <a:p>
            <a:pPr lvl="1" algn="just">
              <a:spcAft>
                <a:spcPts val="0"/>
              </a:spcAft>
              <a:defRPr/>
            </a:pPr>
            <a:r>
              <a:rPr lang="en-US" sz="2200" dirty="0">
                <a:latin typeface="Comic Sans MS" pitchFamily="66" charset="0"/>
                <a:cs typeface="Times New Roman" pitchFamily="18" charset="0"/>
              </a:rPr>
              <a:t>Shattering due to rain shower and heat</a:t>
            </a:r>
          </a:p>
          <a:p>
            <a:pPr lvl="1" algn="just">
              <a:spcAft>
                <a:spcPts val="0"/>
              </a:spcAft>
              <a:defRPr/>
            </a:pPr>
            <a:r>
              <a:rPr lang="en-US" sz="2200" dirty="0">
                <a:latin typeface="Comic Sans MS" pitchFamily="66" charset="0"/>
                <a:cs typeface="Times New Roman" pitchFamily="18" charset="0"/>
              </a:rPr>
              <a:t>Block disintegration due to frost</a:t>
            </a:r>
          </a:p>
          <a:p>
            <a:pPr lvl="1" algn="just">
              <a:spcAft>
                <a:spcPts val="0"/>
              </a:spcAft>
              <a:defRPr/>
            </a:pPr>
            <a:r>
              <a:rPr lang="en-US" sz="2200" dirty="0">
                <a:latin typeface="Comic Sans MS" pitchFamily="66" charset="0"/>
                <a:cs typeface="Times New Roman" pitchFamily="18" charset="0"/>
              </a:rPr>
              <a:t>Exfoliation due to wind and temperature</a:t>
            </a:r>
          </a:p>
          <a:p>
            <a:pPr marL="517525" indent="0" algn="just">
              <a:spcAft>
                <a:spcPts val="0"/>
              </a:spcAft>
              <a:buNone/>
              <a:defRPr/>
            </a:pPr>
            <a:endParaRPr lang="en-US" sz="2200" dirty="0">
              <a:latin typeface="Comic Sans MS" pitchFamily="66" charset="0"/>
              <a:cs typeface="Times New Roman" pitchFamily="18" charset="0"/>
            </a:endParaRPr>
          </a:p>
          <a:p>
            <a:pPr marL="0" indent="0" algn="just">
              <a:spcAft>
                <a:spcPts val="0"/>
              </a:spcAft>
              <a:buNone/>
              <a:defRPr/>
            </a:pPr>
            <a:endParaRPr lang="en-US" sz="2200" dirty="0">
              <a:latin typeface="Comic Sans MS" pitchFamily="66" charset="0"/>
              <a:cs typeface="Times New Roman" pitchFamily="18" charset="0"/>
            </a:endParaRPr>
          </a:p>
          <a:p>
            <a:pPr marL="231775" indent="-231775" algn="just" eaLnBrk="1" fontAlgn="auto" hangingPunct="1">
              <a:spcAft>
                <a:spcPts val="0"/>
              </a:spcAft>
              <a:buFont typeface="Wingdings 2"/>
              <a:buNone/>
              <a:defRPr/>
            </a:pPr>
            <a:r>
              <a:rPr lang="en-US" sz="2200" dirty="0">
                <a:latin typeface="Comic Sans MS" pitchFamily="66" charset="0"/>
                <a:cs typeface="Times New Roman" pitchFamily="18" charset="0"/>
              </a:rPr>
              <a:t>		</a:t>
            </a:r>
          </a:p>
          <a:p>
            <a:endParaRPr lang="en-US" dirty="0"/>
          </a:p>
        </p:txBody>
      </p:sp>
    </p:spTree>
    <p:custDataLst>
      <p:tags r:id="rId1"/>
    </p:custDataLst>
    <p:extLst>
      <p:ext uri="{BB962C8B-B14F-4D97-AF65-F5344CB8AC3E}">
        <p14:creationId xmlns:p14="http://schemas.microsoft.com/office/powerpoint/2010/main" val="4122428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Effect transition="in" filter="fade">
                                      <p:cBhvr>
                                        <p:cTn id="35" dur="1000"/>
                                        <p:tgtEl>
                                          <p:spTgt spid="3">
                                            <p:txEl>
                                              <p:pRg st="3" end="3"/>
                                            </p:txEl>
                                          </p:spTgt>
                                        </p:tgtEl>
                                      </p:cBhvr>
                                    </p:animEffect>
                                    <p:anim calcmode="lin" valueType="num">
                                      <p:cBhvr>
                                        <p:cTn id="36"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4" end="4"/>
                                            </p:txEl>
                                          </p:spTgt>
                                        </p:tgtEl>
                                        <p:attrNameLst>
                                          <p:attrName>style.visibility</p:attrName>
                                        </p:attrNameLst>
                                      </p:cBhvr>
                                      <p:to>
                                        <p:strVal val="visible"/>
                                      </p:to>
                                    </p:set>
                                    <p:animEffect transition="in" filter="fade">
                                      <p:cBhvr>
                                        <p:cTn id="42" dur="1000"/>
                                        <p:tgtEl>
                                          <p:spTgt spid="3">
                                            <p:txEl>
                                              <p:pRg st="4" end="4"/>
                                            </p:txEl>
                                          </p:spTgt>
                                        </p:tgtEl>
                                      </p:cBhvr>
                                    </p:animEffect>
                                    <p:anim calcmode="lin" valueType="num">
                                      <p:cBhvr>
                                        <p:cTn id="4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5" end="5"/>
                                            </p:txEl>
                                          </p:spTgt>
                                        </p:tgtEl>
                                        <p:attrNameLst>
                                          <p:attrName>style.visibility</p:attrName>
                                        </p:attrNameLst>
                                      </p:cBhvr>
                                      <p:to>
                                        <p:strVal val="visible"/>
                                      </p:to>
                                    </p:set>
                                    <p:animEffect transition="in" filter="fade">
                                      <p:cBhvr>
                                        <p:cTn id="49" dur="1000"/>
                                        <p:tgtEl>
                                          <p:spTgt spid="3">
                                            <p:txEl>
                                              <p:pRg st="5" end="5"/>
                                            </p:txEl>
                                          </p:spTgt>
                                        </p:tgtEl>
                                      </p:cBhvr>
                                    </p:animEffect>
                                    <p:anim calcmode="lin" valueType="num">
                                      <p:cBhvr>
                                        <p:cTn id="50"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3">
                                            <p:txEl>
                                              <p:pRg st="6" end="6"/>
                                            </p:txEl>
                                          </p:spTgt>
                                        </p:tgtEl>
                                        <p:attrNameLst>
                                          <p:attrName>style.visibility</p:attrName>
                                        </p:attrNameLst>
                                      </p:cBhvr>
                                      <p:to>
                                        <p:strVal val="visible"/>
                                      </p:to>
                                    </p:set>
                                    <p:animEffect transition="in" filter="fade">
                                      <p:cBhvr>
                                        <p:cTn id="56" dur="1000"/>
                                        <p:tgtEl>
                                          <p:spTgt spid="3">
                                            <p:txEl>
                                              <p:pRg st="6" end="6"/>
                                            </p:txEl>
                                          </p:spTgt>
                                        </p:tgtEl>
                                      </p:cBhvr>
                                    </p:animEffect>
                                    <p:anim calcmode="lin" valueType="num">
                                      <p:cBhvr>
                                        <p:cTn id="57"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3">
                                            <p:txEl>
                                              <p:pRg st="7" end="7"/>
                                            </p:txEl>
                                          </p:spTgt>
                                        </p:tgtEl>
                                        <p:attrNameLst>
                                          <p:attrName>style.visibility</p:attrName>
                                        </p:attrNameLst>
                                      </p:cBhvr>
                                      <p:to>
                                        <p:strVal val="visible"/>
                                      </p:to>
                                    </p:set>
                                    <p:animEffect transition="in" filter="fade">
                                      <p:cBhvr>
                                        <p:cTn id="63" dur="1000"/>
                                        <p:tgtEl>
                                          <p:spTgt spid="3">
                                            <p:txEl>
                                              <p:pRg st="7" end="7"/>
                                            </p:txEl>
                                          </p:spTgt>
                                        </p:tgtEl>
                                      </p:cBhvr>
                                    </p:animEffect>
                                    <p:anim calcmode="lin" valueType="num">
                                      <p:cBhvr>
                                        <p:cTn id="64"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nodeType="clickEffect">
                                  <p:stCondLst>
                                    <p:cond delay="0"/>
                                  </p:stCondLst>
                                  <p:childTnLst>
                                    <p:set>
                                      <p:cBhvr>
                                        <p:cTn id="69" dur="1" fill="hold">
                                          <p:stCondLst>
                                            <p:cond delay="0"/>
                                          </p:stCondLst>
                                        </p:cTn>
                                        <p:tgtEl>
                                          <p:spTgt spid="3">
                                            <p:txEl>
                                              <p:pRg st="8" end="8"/>
                                            </p:txEl>
                                          </p:spTgt>
                                        </p:tgtEl>
                                        <p:attrNameLst>
                                          <p:attrName>style.visibility</p:attrName>
                                        </p:attrNameLst>
                                      </p:cBhvr>
                                      <p:to>
                                        <p:strVal val="visible"/>
                                      </p:to>
                                    </p:set>
                                    <p:animEffect transition="in" filter="fade">
                                      <p:cBhvr>
                                        <p:cTn id="70" dur="1000"/>
                                        <p:tgtEl>
                                          <p:spTgt spid="3">
                                            <p:txEl>
                                              <p:pRg st="8" end="8"/>
                                            </p:txEl>
                                          </p:spTgt>
                                        </p:tgtEl>
                                      </p:cBhvr>
                                    </p:animEffect>
                                    <p:anim calcmode="lin" valueType="num">
                                      <p:cBhvr>
                                        <p:cTn id="71"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nodeType="clickEffect">
                                  <p:stCondLst>
                                    <p:cond delay="0"/>
                                  </p:stCondLst>
                                  <p:childTnLst>
                                    <p:set>
                                      <p:cBhvr>
                                        <p:cTn id="76" dur="1" fill="hold">
                                          <p:stCondLst>
                                            <p:cond delay="0"/>
                                          </p:stCondLst>
                                        </p:cTn>
                                        <p:tgtEl>
                                          <p:spTgt spid="3">
                                            <p:txEl>
                                              <p:pRg st="9" end="9"/>
                                            </p:txEl>
                                          </p:spTgt>
                                        </p:tgtEl>
                                        <p:attrNameLst>
                                          <p:attrName>style.visibility</p:attrName>
                                        </p:attrNameLst>
                                      </p:cBhvr>
                                      <p:to>
                                        <p:strVal val="visible"/>
                                      </p:to>
                                    </p:set>
                                    <p:animEffect transition="in" filter="fade">
                                      <p:cBhvr>
                                        <p:cTn id="77" dur="1000"/>
                                        <p:tgtEl>
                                          <p:spTgt spid="3">
                                            <p:txEl>
                                              <p:pRg st="9" end="9"/>
                                            </p:txEl>
                                          </p:spTgt>
                                        </p:tgtEl>
                                      </p:cBhvr>
                                    </p:animEffect>
                                    <p:anim calcmode="lin" valueType="num">
                                      <p:cBhvr>
                                        <p:cTn id="78"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79"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nodeType="clickEffect">
                                  <p:stCondLst>
                                    <p:cond delay="0"/>
                                  </p:stCondLst>
                                  <p:childTnLst>
                                    <p:set>
                                      <p:cBhvr>
                                        <p:cTn id="83" dur="1" fill="hold">
                                          <p:stCondLst>
                                            <p:cond delay="0"/>
                                          </p:stCondLst>
                                        </p:cTn>
                                        <p:tgtEl>
                                          <p:spTgt spid="3">
                                            <p:txEl>
                                              <p:pRg st="10" end="10"/>
                                            </p:txEl>
                                          </p:spTgt>
                                        </p:tgtEl>
                                        <p:attrNameLst>
                                          <p:attrName>style.visibility</p:attrName>
                                        </p:attrNameLst>
                                      </p:cBhvr>
                                      <p:to>
                                        <p:strVal val="visible"/>
                                      </p:to>
                                    </p:set>
                                    <p:animEffect transition="in" filter="fade">
                                      <p:cBhvr>
                                        <p:cTn id="84" dur="1000"/>
                                        <p:tgtEl>
                                          <p:spTgt spid="3">
                                            <p:txEl>
                                              <p:pRg st="10" end="10"/>
                                            </p:txEl>
                                          </p:spTgt>
                                        </p:tgtEl>
                                      </p:cBhvr>
                                    </p:animEffect>
                                    <p:anim calcmode="lin" valueType="num">
                                      <p:cBhvr>
                                        <p:cTn id="85"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86"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nodeType="clickEffect">
                                  <p:stCondLst>
                                    <p:cond delay="0"/>
                                  </p:stCondLst>
                                  <p:childTnLst>
                                    <p:set>
                                      <p:cBhvr>
                                        <p:cTn id="90" dur="1" fill="hold">
                                          <p:stCondLst>
                                            <p:cond delay="0"/>
                                          </p:stCondLst>
                                        </p:cTn>
                                        <p:tgtEl>
                                          <p:spTgt spid="3">
                                            <p:txEl>
                                              <p:pRg st="11" end="11"/>
                                            </p:txEl>
                                          </p:spTgt>
                                        </p:tgtEl>
                                        <p:attrNameLst>
                                          <p:attrName>style.visibility</p:attrName>
                                        </p:attrNameLst>
                                      </p:cBhvr>
                                      <p:to>
                                        <p:strVal val="visible"/>
                                      </p:to>
                                    </p:set>
                                    <p:animEffect transition="in" filter="fade">
                                      <p:cBhvr>
                                        <p:cTn id="91" dur="1000"/>
                                        <p:tgtEl>
                                          <p:spTgt spid="3">
                                            <p:txEl>
                                              <p:pRg st="11" end="11"/>
                                            </p:txEl>
                                          </p:spTgt>
                                        </p:tgtEl>
                                      </p:cBhvr>
                                    </p:animEffect>
                                    <p:anim calcmode="lin" valueType="num">
                                      <p:cBhvr>
                                        <p:cTn id="92"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93" dur="1000" fill="hold"/>
                                        <p:tgtEl>
                                          <p:spTgt spid="3">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nodeType="clickEffect">
                                  <p:stCondLst>
                                    <p:cond delay="0"/>
                                  </p:stCondLst>
                                  <p:childTnLst>
                                    <p:set>
                                      <p:cBhvr>
                                        <p:cTn id="97" dur="1" fill="hold">
                                          <p:stCondLst>
                                            <p:cond delay="0"/>
                                          </p:stCondLst>
                                        </p:cTn>
                                        <p:tgtEl>
                                          <p:spTgt spid="3">
                                            <p:txEl>
                                              <p:pRg st="14" end="14"/>
                                            </p:txEl>
                                          </p:spTgt>
                                        </p:tgtEl>
                                        <p:attrNameLst>
                                          <p:attrName>style.visibility</p:attrName>
                                        </p:attrNameLst>
                                      </p:cBhvr>
                                      <p:to>
                                        <p:strVal val="visible"/>
                                      </p:to>
                                    </p:set>
                                    <p:animEffect transition="in" filter="fade">
                                      <p:cBhvr>
                                        <p:cTn id="98" dur="1000"/>
                                        <p:tgtEl>
                                          <p:spTgt spid="3">
                                            <p:txEl>
                                              <p:pRg st="14" end="14"/>
                                            </p:txEl>
                                          </p:spTgt>
                                        </p:tgtEl>
                                      </p:cBhvr>
                                    </p:animEffect>
                                    <p:anim calcmode="lin" valueType="num">
                                      <p:cBhvr>
                                        <p:cTn id="99" dur="1000" fill="hold"/>
                                        <p:tgtEl>
                                          <p:spTgt spid="3">
                                            <p:txEl>
                                              <p:pRg st="14" end="14"/>
                                            </p:txEl>
                                          </p:spTgt>
                                        </p:tgtEl>
                                        <p:attrNameLst>
                                          <p:attrName>ppt_x</p:attrName>
                                        </p:attrNameLst>
                                      </p:cBhvr>
                                      <p:tavLst>
                                        <p:tav tm="0">
                                          <p:val>
                                            <p:strVal val="#ppt_x"/>
                                          </p:val>
                                        </p:tav>
                                        <p:tav tm="100000">
                                          <p:val>
                                            <p:strVal val="#ppt_x"/>
                                          </p:val>
                                        </p:tav>
                                      </p:tavLst>
                                    </p:anim>
                                    <p:anim calcmode="lin" valueType="num">
                                      <p:cBhvr>
                                        <p:cTn id="100" dur="1000" fill="hold"/>
                                        <p:tgtEl>
                                          <p:spTgt spid="3">
                                            <p:txEl>
                                              <p:pRg st="14" end="1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4" descr="physical-weathering-diagram.gif">
            <a:extLst>
              <a:ext uri="{FF2B5EF4-FFF2-40B4-BE49-F238E27FC236}">
                <a16:creationId xmlns:a16="http://schemas.microsoft.com/office/drawing/2014/main" id="{226FE310-6640-4618-B31A-F619E023E82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1471" y="3733801"/>
            <a:ext cx="5275451" cy="2433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4" name="Picture 4">
            <a:extLst>
              <a:ext uri="{FF2B5EF4-FFF2-40B4-BE49-F238E27FC236}">
                <a16:creationId xmlns:a16="http://schemas.microsoft.com/office/drawing/2014/main" id="{D607415B-AF88-488A-9A77-AEF87E42D1D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609600"/>
            <a:ext cx="4114800" cy="2803207"/>
          </a:xfrm>
          <a:prstGeom prst="rect">
            <a:avLst/>
          </a:prstGeom>
          <a:noFill/>
          <a:extLst>
            <a:ext uri="{909E8E84-426E-40DD-AFC4-6F175D3DCCD1}">
              <a14:hiddenFill xmlns:a14="http://schemas.microsoft.com/office/drawing/2010/main">
                <a:solidFill>
                  <a:srgbClr val="FFFFFF"/>
                </a:solidFill>
              </a14:hiddenFill>
            </a:ext>
          </a:extLst>
        </p:spPr>
      </p:pic>
      <p:sp>
        <p:nvSpPr>
          <p:cNvPr id="3" name="Subtitle 2">
            <a:extLst>
              <a:ext uri="{FF2B5EF4-FFF2-40B4-BE49-F238E27FC236}">
                <a16:creationId xmlns:a16="http://schemas.microsoft.com/office/drawing/2014/main" id="{036F2892-173D-4D4C-8346-D4DF5E7F4795}"/>
              </a:ext>
            </a:extLst>
          </p:cNvPr>
          <p:cNvSpPr>
            <a:spLocks noGrp="1"/>
          </p:cNvSpPr>
          <p:nvPr>
            <p:ph type="subTitle" idx="1"/>
          </p:nvPr>
        </p:nvSpPr>
        <p:spPr>
          <a:xfrm>
            <a:off x="1337598" y="6167250"/>
            <a:ext cx="2743200" cy="507701"/>
          </a:xfrm>
        </p:spPr>
        <p:txBody>
          <a:bodyPr/>
          <a:lstStyle/>
          <a:p>
            <a:r>
              <a:rPr lang="en-US" dirty="0"/>
              <a:t>PHYSICAL WEATHERING</a:t>
            </a:r>
          </a:p>
        </p:txBody>
      </p:sp>
      <p:pic>
        <p:nvPicPr>
          <p:cNvPr id="7" name="Picture 2" descr="Onion Skin / Exfoliation Weathering">
            <a:extLst>
              <a:ext uri="{FF2B5EF4-FFF2-40B4-BE49-F238E27FC236}">
                <a16:creationId xmlns:a16="http://schemas.microsoft.com/office/drawing/2014/main" id="{DC5CBE72-E9FC-4E6B-98E2-B3FE51CDFFD8}"/>
              </a:ext>
            </a:extLst>
          </p:cNvPr>
          <p:cNvPicPr>
            <a:picLocks noGrp="1" noChangeAspect="1" noChangeArrowheads="1"/>
          </p:cNvPicPr>
          <p:nvPr>
            <p:ph idx="4294967295"/>
          </p:nvPr>
        </p:nvPicPr>
        <p:blipFill>
          <a:blip r:embed="rId5">
            <a:extLst>
              <a:ext uri="{28A0092B-C50C-407E-A947-70E740481C1C}">
                <a14:useLocalDpi xmlns:a14="http://schemas.microsoft.com/office/drawing/2010/main" val="0"/>
              </a:ext>
            </a:extLst>
          </a:blip>
          <a:srcRect/>
          <a:stretch>
            <a:fillRect/>
          </a:stretch>
        </p:blipFill>
        <p:spPr bwMode="auto">
          <a:xfrm>
            <a:off x="5486400" y="1828800"/>
            <a:ext cx="3581400" cy="3640018"/>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616285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0484"/>
                                        </p:tgtEl>
                                        <p:attrNameLst>
                                          <p:attrName>style.visibility</p:attrName>
                                        </p:attrNameLst>
                                      </p:cBhvr>
                                      <p:to>
                                        <p:strVal val="visible"/>
                                      </p:to>
                                    </p:set>
                                    <p:animEffect transition="in" filter="fade">
                                      <p:cBhvr>
                                        <p:cTn id="7" dur="1000"/>
                                        <p:tgtEl>
                                          <p:spTgt spid="20484"/>
                                        </p:tgtEl>
                                      </p:cBhvr>
                                    </p:animEffect>
                                    <p:anim calcmode="lin" valueType="num">
                                      <p:cBhvr>
                                        <p:cTn id="8" dur="1000" fill="hold"/>
                                        <p:tgtEl>
                                          <p:spTgt spid="20484"/>
                                        </p:tgtEl>
                                        <p:attrNameLst>
                                          <p:attrName>ppt_x</p:attrName>
                                        </p:attrNameLst>
                                      </p:cBhvr>
                                      <p:tavLst>
                                        <p:tav tm="0">
                                          <p:val>
                                            <p:strVal val="#ppt_x"/>
                                          </p:val>
                                        </p:tav>
                                        <p:tav tm="100000">
                                          <p:val>
                                            <p:strVal val="#ppt_x"/>
                                          </p:val>
                                        </p:tav>
                                      </p:tavLst>
                                    </p:anim>
                                    <p:anim calcmode="lin" valueType="num">
                                      <p:cBhvr>
                                        <p:cTn id="9" dur="1000" fill="hold"/>
                                        <p:tgtEl>
                                          <p:spTgt spid="2048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0242"/>
                                        </p:tgtEl>
                                        <p:attrNameLst>
                                          <p:attrName>style.visibility</p:attrName>
                                        </p:attrNameLst>
                                      </p:cBhvr>
                                      <p:to>
                                        <p:strVal val="visible"/>
                                      </p:to>
                                    </p:set>
                                    <p:animEffect transition="in" filter="fade">
                                      <p:cBhvr>
                                        <p:cTn id="21" dur="1000"/>
                                        <p:tgtEl>
                                          <p:spTgt spid="10242"/>
                                        </p:tgtEl>
                                      </p:cBhvr>
                                    </p:animEffect>
                                    <p:anim calcmode="lin" valueType="num">
                                      <p:cBhvr>
                                        <p:cTn id="22" dur="1000" fill="hold"/>
                                        <p:tgtEl>
                                          <p:spTgt spid="10242"/>
                                        </p:tgtEl>
                                        <p:attrNameLst>
                                          <p:attrName>ppt_x</p:attrName>
                                        </p:attrNameLst>
                                      </p:cBhvr>
                                      <p:tavLst>
                                        <p:tav tm="0">
                                          <p:val>
                                            <p:strVal val="#ppt_x"/>
                                          </p:val>
                                        </p:tav>
                                        <p:tav tm="100000">
                                          <p:val>
                                            <p:strVal val="#ppt_x"/>
                                          </p:val>
                                        </p:tav>
                                      </p:tavLst>
                                    </p:anim>
                                    <p:anim calcmode="lin" valueType="num">
                                      <p:cBhvr>
                                        <p:cTn id="23" dur="1000" fill="hold"/>
                                        <p:tgtEl>
                                          <p:spTgt spid="1024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698940-75B7-4E6A-AEC6-57FF15C622A2}"/>
              </a:ext>
            </a:extLst>
          </p:cNvPr>
          <p:cNvSpPr>
            <a:spLocks noGrp="1"/>
          </p:cNvSpPr>
          <p:nvPr>
            <p:ph idx="1"/>
          </p:nvPr>
        </p:nvSpPr>
        <p:spPr>
          <a:xfrm>
            <a:off x="719666" y="838200"/>
            <a:ext cx="8119534" cy="5638800"/>
          </a:xfrm>
        </p:spPr>
        <p:txBody>
          <a:bodyPr/>
          <a:lstStyle/>
          <a:p>
            <a:pPr marL="231775" indent="-231775" algn="just" eaLnBrk="1" fontAlgn="auto" hangingPunct="1">
              <a:spcAft>
                <a:spcPts val="0"/>
              </a:spcAft>
              <a:buFont typeface="Wingdings" pitchFamily="2" charset="2"/>
              <a:buChar char="§"/>
              <a:defRPr/>
            </a:pPr>
            <a:r>
              <a:rPr lang="en-US" sz="2400" b="1" dirty="0">
                <a:latin typeface="Comic Sans MS" pitchFamily="66" charset="0"/>
                <a:cs typeface="Times New Roman" pitchFamily="18" charset="0"/>
              </a:rPr>
              <a:t>Chemical weathering: </a:t>
            </a:r>
            <a:r>
              <a:rPr lang="en-US" sz="2400" dirty="0">
                <a:latin typeface="Comic Sans MS" pitchFamily="66" charset="0"/>
                <a:cs typeface="Times New Roman" pitchFamily="18" charset="0"/>
              </a:rPr>
              <a:t>Disintegration and decomposition of rocks due to chemical reactions is called chemical </a:t>
            </a:r>
            <a:r>
              <a:rPr lang="en-US" dirty="0">
                <a:latin typeface="Comic Sans MS" pitchFamily="66" charset="0"/>
                <a:cs typeface="Times New Roman" pitchFamily="18" charset="0"/>
              </a:rPr>
              <a:t> weathering </a:t>
            </a:r>
            <a:r>
              <a:rPr lang="en-US" sz="2400" dirty="0">
                <a:latin typeface="Comic Sans MS" pitchFamily="66" charset="0"/>
                <a:cs typeface="Times New Roman" pitchFamily="18" charset="0"/>
              </a:rPr>
              <a:t>wherein the minerals of the rocks weather away. </a:t>
            </a:r>
          </a:p>
          <a:p>
            <a:pPr marL="0" indent="0" algn="just" eaLnBrk="1" fontAlgn="auto" hangingPunct="1">
              <a:spcAft>
                <a:spcPts val="0"/>
              </a:spcAft>
              <a:buNone/>
              <a:defRPr/>
            </a:pPr>
            <a:endParaRPr lang="en-US" sz="2400" dirty="0">
              <a:latin typeface="Comic Sans MS" pitchFamily="66" charset="0"/>
              <a:cs typeface="Times New Roman" pitchFamily="18" charset="0"/>
            </a:endParaRPr>
          </a:p>
          <a:p>
            <a:pPr marL="231775" indent="-231775" algn="just" eaLnBrk="1" fontAlgn="auto" hangingPunct="1">
              <a:spcAft>
                <a:spcPts val="0"/>
              </a:spcAft>
              <a:buFont typeface="Wingdings 2"/>
              <a:buNone/>
              <a:defRPr/>
            </a:pPr>
            <a:endParaRPr lang="en-US" sz="2400" dirty="0">
              <a:latin typeface="Comic Sans MS" pitchFamily="66" charset="0"/>
              <a:cs typeface="Times New Roman" pitchFamily="18" charset="0"/>
            </a:endParaRPr>
          </a:p>
          <a:p>
            <a:pPr marL="231775" indent="-231775" algn="just" eaLnBrk="1" fontAlgn="auto" hangingPunct="1">
              <a:spcAft>
                <a:spcPts val="0"/>
              </a:spcAft>
              <a:buFont typeface="Wingdings" pitchFamily="2" charset="2"/>
              <a:buChar char="§"/>
              <a:defRPr/>
            </a:pPr>
            <a:r>
              <a:rPr lang="en-US" sz="2400" b="1" dirty="0">
                <a:latin typeface="Comic Sans MS" pitchFamily="66" charset="0"/>
                <a:cs typeface="Times New Roman" pitchFamily="18" charset="0"/>
              </a:rPr>
              <a:t>Biological weathering : </a:t>
            </a:r>
            <a:r>
              <a:rPr lang="en-US" sz="2400" dirty="0">
                <a:latin typeface="Comic Sans MS" pitchFamily="66" charset="0"/>
                <a:cs typeface="Times New Roman" pitchFamily="18" charset="0"/>
              </a:rPr>
              <a:t>Biological weathering occurs by biological agents like microorganisms, plant roots </a:t>
            </a:r>
            <a:r>
              <a:rPr lang="en-US" sz="2400" dirty="0" err="1">
                <a:latin typeface="Comic Sans MS" pitchFamily="66" charset="0"/>
                <a:cs typeface="Times New Roman" pitchFamily="18" charset="0"/>
              </a:rPr>
              <a:t>etc</a:t>
            </a:r>
            <a:r>
              <a:rPr lang="en-US" sz="2400" dirty="0">
                <a:latin typeface="Comic Sans MS" pitchFamily="66" charset="0"/>
                <a:cs typeface="Times New Roman" pitchFamily="18" charset="0"/>
              </a:rPr>
              <a:t> which can cause the breakdown or bind the particles together .</a:t>
            </a:r>
          </a:p>
          <a:p>
            <a:endParaRPr lang="en-US" dirty="0"/>
          </a:p>
        </p:txBody>
      </p:sp>
    </p:spTree>
    <p:custDataLst>
      <p:tags r:id="rId1"/>
    </p:custDataLst>
    <p:extLst>
      <p:ext uri="{BB962C8B-B14F-4D97-AF65-F5344CB8AC3E}">
        <p14:creationId xmlns:p14="http://schemas.microsoft.com/office/powerpoint/2010/main" val="794994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a:extLst>
              <a:ext uri="{FF2B5EF4-FFF2-40B4-BE49-F238E27FC236}">
                <a16:creationId xmlns:a16="http://schemas.microsoft.com/office/drawing/2014/main" id="{AAF3789B-6B1E-4F78-B47D-7E3C80ADF3B0}"/>
              </a:ext>
            </a:extLst>
          </p:cNvPr>
          <p:cNvSpPr>
            <a:spLocks noGrp="1"/>
          </p:cNvSpPr>
          <p:nvPr>
            <p:ph type="subTitle" idx="1"/>
          </p:nvPr>
        </p:nvSpPr>
        <p:spPr>
          <a:xfrm>
            <a:off x="2924237" y="4876800"/>
            <a:ext cx="5762563" cy="1364531"/>
          </a:xfrm>
        </p:spPr>
        <p:txBody>
          <a:bodyPr/>
          <a:lstStyle/>
          <a:p>
            <a:r>
              <a:rPr lang="en-US" dirty="0"/>
              <a:t>BIOLOGICAL WEATHERING</a:t>
            </a:r>
          </a:p>
        </p:txBody>
      </p:sp>
      <p:pic>
        <p:nvPicPr>
          <p:cNvPr id="22532" name="Picture 4" descr="Biological weathering A number of plants and animals may create ...">
            <a:extLst>
              <a:ext uri="{FF2B5EF4-FFF2-40B4-BE49-F238E27FC236}">
                <a16:creationId xmlns:a16="http://schemas.microsoft.com/office/drawing/2014/main" id="{03E1AA44-7139-4BEE-8366-8F5B29369364}"/>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bwMode="auto">
          <a:xfrm>
            <a:off x="2438400" y="841235"/>
            <a:ext cx="4809201" cy="42960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3710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9439A-BA41-4A87-AF7E-B91A196F52A6}"/>
              </a:ext>
            </a:extLst>
          </p:cNvPr>
          <p:cNvSpPr>
            <a:spLocks noGrp="1"/>
          </p:cNvSpPr>
          <p:nvPr>
            <p:ph type="title"/>
          </p:nvPr>
        </p:nvSpPr>
        <p:spPr>
          <a:xfrm>
            <a:off x="1143000" y="152400"/>
            <a:ext cx="7543800" cy="533400"/>
          </a:xfrm>
        </p:spPr>
        <p:txBody>
          <a:bodyPr/>
          <a:lstStyle/>
          <a:p>
            <a:pPr algn="ctr" eaLnBrk="1" fontAlgn="auto" hangingPunct="1">
              <a:spcAft>
                <a:spcPts val="0"/>
              </a:spcAft>
              <a:defRPr/>
            </a:pPr>
            <a:r>
              <a:rPr lang="en-US" sz="2600" dirty="0">
                <a:solidFill>
                  <a:schemeClr val="tx2">
                    <a:satMod val="130000"/>
                  </a:schemeClr>
                </a:solidFill>
                <a:latin typeface="Comic Sans MS" pitchFamily="66" charset="0"/>
                <a:cs typeface="Times New Roman" pitchFamily="18" charset="0"/>
              </a:rPr>
              <a:t>Erosion</a:t>
            </a:r>
          </a:p>
        </p:txBody>
      </p:sp>
      <p:sp>
        <p:nvSpPr>
          <p:cNvPr id="3" name="Content Placeholder 2">
            <a:extLst>
              <a:ext uri="{FF2B5EF4-FFF2-40B4-BE49-F238E27FC236}">
                <a16:creationId xmlns:a16="http://schemas.microsoft.com/office/drawing/2014/main" id="{16B129AE-1425-4EAC-AD51-A213E50094E9}"/>
              </a:ext>
            </a:extLst>
          </p:cNvPr>
          <p:cNvSpPr>
            <a:spLocks noGrp="1"/>
          </p:cNvSpPr>
          <p:nvPr>
            <p:ph idx="1"/>
          </p:nvPr>
        </p:nvSpPr>
        <p:spPr>
          <a:xfrm>
            <a:off x="609600" y="685800"/>
            <a:ext cx="8305800" cy="6019800"/>
          </a:xfrm>
        </p:spPr>
        <p:txBody>
          <a:bodyPr>
            <a:normAutofit fontScale="85000" lnSpcReduction="10000"/>
          </a:bodyPr>
          <a:lstStyle/>
          <a:p>
            <a:pPr marL="365760" indent="-283464" algn="just" eaLnBrk="1" fontAlgn="auto" hangingPunct="1">
              <a:spcAft>
                <a:spcPts val="0"/>
              </a:spcAft>
              <a:buFont typeface="Wingdings" pitchFamily="2" charset="2"/>
              <a:buNone/>
              <a:defRPr/>
            </a:pPr>
            <a:r>
              <a:rPr lang="en-US" sz="2400" dirty="0">
                <a:latin typeface="Comic Sans MS" pitchFamily="66" charset="0"/>
              </a:rPr>
              <a:t>The wearing away of land surface by wind, water, ice or other geologic agents. </a:t>
            </a:r>
            <a:r>
              <a:rPr lang="en-US" sz="2400" u="sng" dirty="0">
                <a:latin typeface="Comic Sans MS" pitchFamily="66" charset="0"/>
              </a:rPr>
              <a:t>Soil erosion </a:t>
            </a:r>
            <a:r>
              <a:rPr lang="en-US" sz="2400" dirty="0">
                <a:latin typeface="Comic Sans MS" pitchFamily="66" charset="0"/>
              </a:rPr>
              <a:t>is the detachment and movement of soil particles by water, wind ice or gravity. </a:t>
            </a:r>
          </a:p>
          <a:p>
            <a:pPr marL="365760" indent="-283464" algn="just" eaLnBrk="1" fontAlgn="auto" hangingPunct="1">
              <a:spcAft>
                <a:spcPts val="0"/>
              </a:spcAft>
              <a:buFont typeface="Wingdings" pitchFamily="2" charset="2"/>
              <a:buNone/>
              <a:defRPr/>
            </a:pPr>
            <a:r>
              <a:rPr lang="en-US" sz="2400" dirty="0">
                <a:latin typeface="Comic Sans MS" pitchFamily="66" charset="0"/>
              </a:rPr>
              <a:t>It is a natural process happening all the time, but usually slowly because of the protective coverage of vegetation. It is part of both soil formation and soil loss. </a:t>
            </a:r>
          </a:p>
          <a:p>
            <a:pPr marL="365760" indent="-283464" algn="just" eaLnBrk="1" fontAlgn="auto" hangingPunct="1">
              <a:spcAft>
                <a:spcPts val="0"/>
              </a:spcAft>
              <a:buFont typeface="Wingdings 2" panose="05020102010507070707" pitchFamily="18" charset="2"/>
              <a:buNone/>
              <a:defRPr/>
            </a:pPr>
            <a:r>
              <a:rPr lang="en-US" sz="2400" u="sng" dirty="0">
                <a:latin typeface="Comic Sans MS" pitchFamily="66" charset="0"/>
              </a:rPr>
              <a:t>Why concerned about soil erosion? </a:t>
            </a:r>
            <a:r>
              <a:rPr lang="en-US" sz="2400" dirty="0">
                <a:latin typeface="Comic Sans MS" pitchFamily="66" charset="0"/>
              </a:rPr>
              <a:t>– top layer of soil or topsoil (12-25cm) contains essential chemical elements for  plants and soil biota. </a:t>
            </a:r>
          </a:p>
          <a:p>
            <a:pPr marL="365760" indent="-283464" algn="just" eaLnBrk="1" fontAlgn="auto" hangingPunct="1">
              <a:spcAft>
                <a:spcPts val="0"/>
              </a:spcAft>
              <a:buFont typeface="Wingdings" pitchFamily="2" charset="2"/>
              <a:buNone/>
              <a:defRPr/>
            </a:pPr>
            <a:r>
              <a:rPr lang="en-US" sz="2400" dirty="0">
                <a:latin typeface="Comic Sans MS" pitchFamily="66" charset="0"/>
              </a:rPr>
              <a:t>Erosion can occur </a:t>
            </a:r>
            <a:r>
              <a:rPr lang="en-US" sz="2400" u="sng" dirty="0">
                <a:latin typeface="Comic Sans MS" pitchFamily="66" charset="0"/>
              </a:rPr>
              <a:t>naturally</a:t>
            </a:r>
            <a:r>
              <a:rPr lang="en-US" sz="2400" dirty="0">
                <a:latin typeface="Comic Sans MS" pitchFamily="66" charset="0"/>
              </a:rPr>
              <a:t> and also be accelerated by </a:t>
            </a:r>
            <a:r>
              <a:rPr lang="en-US" sz="2400" u="sng" dirty="0">
                <a:latin typeface="Comic Sans MS" pitchFamily="66" charset="0"/>
              </a:rPr>
              <a:t>human activities. </a:t>
            </a:r>
          </a:p>
          <a:p>
            <a:pPr marL="365760" indent="-283464" algn="just" eaLnBrk="1" fontAlgn="auto" hangingPunct="1">
              <a:spcAft>
                <a:spcPts val="0"/>
              </a:spcAft>
              <a:buFont typeface="Wingdings 2"/>
              <a:buChar char=""/>
              <a:defRPr/>
            </a:pPr>
            <a:r>
              <a:rPr lang="en-US" sz="2400" dirty="0">
                <a:latin typeface="Comic Sans MS" pitchFamily="66" charset="0"/>
              </a:rPr>
              <a:t>Rates of soil erosion are highest in dry climates where there is little surface vegetation to shelter the soil against wind.</a:t>
            </a:r>
          </a:p>
          <a:p>
            <a:pPr marL="365760" indent="-283464" algn="just" eaLnBrk="1" fontAlgn="auto" hangingPunct="1">
              <a:spcAft>
                <a:spcPts val="0"/>
              </a:spcAft>
              <a:buFont typeface="Wingdings 2"/>
              <a:buChar char=""/>
              <a:defRPr/>
            </a:pPr>
            <a:r>
              <a:rPr lang="en-US" sz="2400" dirty="0">
                <a:latin typeface="Comic Sans MS" pitchFamily="66" charset="0"/>
              </a:rPr>
              <a:t>On steep slopes in wet climates where the gradient increases the speed of surface water flows during heavy rainfall.</a:t>
            </a:r>
          </a:p>
          <a:p>
            <a:pPr marL="365760" indent="-283464" algn="just" eaLnBrk="1" fontAlgn="auto" hangingPunct="1">
              <a:spcAft>
                <a:spcPts val="0"/>
              </a:spcAft>
              <a:buFont typeface="Wingdings 2"/>
              <a:buChar char=""/>
              <a:defRPr/>
            </a:pPr>
            <a:r>
              <a:rPr lang="en-US" sz="2400" dirty="0">
                <a:latin typeface="Comic Sans MS" pitchFamily="66" charset="0"/>
              </a:rPr>
              <a:t>Humans cause soil erosion (clear natural vegetation)</a:t>
            </a:r>
          </a:p>
          <a:p>
            <a:pPr marL="365760" indent="-283464" algn="just" eaLnBrk="1" fontAlgn="auto" hangingPunct="1">
              <a:spcAft>
                <a:spcPts val="0"/>
              </a:spcAft>
              <a:buFont typeface="Wingdings 2"/>
              <a:buChar char=""/>
              <a:defRPr/>
            </a:pPr>
            <a:r>
              <a:rPr lang="en-US" sz="2400" u="sng" dirty="0">
                <a:latin typeface="Comic Sans MS" pitchFamily="66" charset="0"/>
              </a:rPr>
              <a:t>Three major human practices </a:t>
            </a:r>
            <a:r>
              <a:rPr lang="en-US" sz="2400" dirty="0">
                <a:latin typeface="Comic Sans MS" pitchFamily="66" charset="0"/>
              </a:rPr>
              <a:t>that expose soil to erosion and lead to soil degradation are over cultivation, overgrazing and deforestation.  </a:t>
            </a:r>
          </a:p>
          <a:p>
            <a:pPr marL="365760" indent="-283464" eaLnBrk="1" fontAlgn="auto" hangingPunct="1">
              <a:spcAft>
                <a:spcPts val="0"/>
              </a:spcAft>
              <a:buFont typeface="Wingdings 2"/>
              <a:buChar char=""/>
              <a:defRPr/>
            </a:pPr>
            <a:endParaRPr lang="en-US" sz="2400" dirty="0">
              <a:latin typeface="Comic Sans MS" pitchFamily="66" charset="0"/>
              <a:cs typeface="Times New Roman"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 calcmode="lin" valueType="num">
                                      <p:cBhvr additive="base">
                                        <p:cTn id="3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5" end="5"/>
                                            </p:txEl>
                                          </p:spTgt>
                                        </p:tgtEl>
                                        <p:attrNameLst>
                                          <p:attrName>style.visibility</p:attrName>
                                        </p:attrNameLst>
                                      </p:cBhvr>
                                      <p:to>
                                        <p:strVal val="visible"/>
                                      </p:to>
                                    </p:set>
                                    <p:anim calcmode="lin" valueType="num">
                                      <p:cBhvr additive="base">
                                        <p:cTn id="4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 calcmode="lin" valueType="num">
                                      <p:cBhvr additive="base">
                                        <p:cTn id="4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7" end="7"/>
                                            </p:txEl>
                                          </p:spTgt>
                                        </p:tgtEl>
                                        <p:attrNameLst>
                                          <p:attrName>style.visibility</p:attrName>
                                        </p:attrNameLst>
                                      </p:cBhvr>
                                      <p:to>
                                        <p:strVal val="visible"/>
                                      </p:to>
                                    </p:set>
                                    <p:anim calcmode="lin" valueType="num">
                                      <p:cBhvr additive="base">
                                        <p:cTn id="5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00280-E394-4490-A9DE-DF337F22FCD2}"/>
              </a:ext>
            </a:extLst>
          </p:cNvPr>
          <p:cNvSpPr>
            <a:spLocks noGrp="1"/>
          </p:cNvSpPr>
          <p:nvPr>
            <p:ph type="title"/>
          </p:nvPr>
        </p:nvSpPr>
        <p:spPr>
          <a:xfrm>
            <a:off x="1143000" y="49213"/>
            <a:ext cx="7543800" cy="484187"/>
          </a:xfrm>
        </p:spPr>
        <p:txBody>
          <a:bodyPr>
            <a:normAutofit fontScale="90000"/>
          </a:bodyPr>
          <a:lstStyle/>
          <a:p>
            <a:pPr algn="ctr" eaLnBrk="1" fontAlgn="auto" hangingPunct="1">
              <a:spcAft>
                <a:spcPts val="0"/>
              </a:spcAft>
              <a:defRPr/>
            </a:pPr>
            <a:r>
              <a:rPr lang="en-US" sz="2800" b="1" dirty="0">
                <a:solidFill>
                  <a:schemeClr val="tx2">
                    <a:satMod val="130000"/>
                  </a:schemeClr>
                </a:solidFill>
                <a:latin typeface="Comic Sans MS" pitchFamily="66" charset="0"/>
                <a:cs typeface="Times New Roman" pitchFamily="18" charset="0"/>
              </a:rPr>
              <a:t>Factors of Soil Erosion</a:t>
            </a:r>
          </a:p>
        </p:txBody>
      </p:sp>
      <p:sp>
        <p:nvSpPr>
          <p:cNvPr id="3" name="Content Placeholder 2">
            <a:extLst>
              <a:ext uri="{FF2B5EF4-FFF2-40B4-BE49-F238E27FC236}">
                <a16:creationId xmlns:a16="http://schemas.microsoft.com/office/drawing/2014/main" id="{E961E2F2-7A26-4C8F-B2A7-CA22A0E0E4B4}"/>
              </a:ext>
            </a:extLst>
          </p:cNvPr>
          <p:cNvSpPr>
            <a:spLocks noGrp="1"/>
          </p:cNvSpPr>
          <p:nvPr>
            <p:ph idx="1"/>
          </p:nvPr>
        </p:nvSpPr>
        <p:spPr>
          <a:xfrm>
            <a:off x="609600" y="609600"/>
            <a:ext cx="8382000" cy="6019800"/>
          </a:xfrm>
        </p:spPr>
        <p:txBody>
          <a:bodyPr>
            <a:normAutofit lnSpcReduction="10000"/>
          </a:bodyPr>
          <a:lstStyle/>
          <a:p>
            <a:pPr marL="365760" indent="-283464" algn="just" eaLnBrk="1" fontAlgn="auto" hangingPunct="1">
              <a:lnSpc>
                <a:spcPct val="90000"/>
              </a:lnSpc>
              <a:spcAft>
                <a:spcPts val="0"/>
              </a:spcAft>
              <a:buFont typeface="Wingdings 2"/>
              <a:buChar char=""/>
              <a:defRPr/>
            </a:pPr>
            <a:r>
              <a:rPr lang="en-US" sz="2400" b="1" dirty="0">
                <a:latin typeface="Comic Sans MS" pitchFamily="66" charset="0"/>
              </a:rPr>
              <a:t>Climatic factors</a:t>
            </a:r>
          </a:p>
          <a:p>
            <a:pPr marL="640080" lvl="1" indent="-237744" algn="just" eaLnBrk="1" fontAlgn="auto" hangingPunct="1">
              <a:lnSpc>
                <a:spcPct val="90000"/>
              </a:lnSpc>
              <a:spcAft>
                <a:spcPts val="0"/>
              </a:spcAft>
              <a:buFont typeface="Verdana"/>
              <a:buChar char="◦"/>
              <a:defRPr/>
            </a:pPr>
            <a:r>
              <a:rPr lang="en-US" sz="2400" dirty="0">
                <a:latin typeface="Comic Sans MS" pitchFamily="66" charset="0"/>
              </a:rPr>
              <a:t> include the amount and intensity of precipitation, the average temperature, as well as the typical temperature range, and seasonality, the wind speed, storm frequency.</a:t>
            </a:r>
          </a:p>
          <a:p>
            <a:pPr marL="365760" indent="-283464" algn="just" eaLnBrk="1" fontAlgn="auto" hangingPunct="1">
              <a:lnSpc>
                <a:spcPct val="90000"/>
              </a:lnSpc>
              <a:spcAft>
                <a:spcPts val="0"/>
              </a:spcAft>
              <a:buFont typeface="Wingdings 2"/>
              <a:buChar char=""/>
              <a:defRPr/>
            </a:pPr>
            <a:r>
              <a:rPr lang="en-US" sz="2400" b="1" dirty="0">
                <a:latin typeface="Comic Sans MS" pitchFamily="66" charset="0"/>
              </a:rPr>
              <a:t> Geologic factors</a:t>
            </a:r>
          </a:p>
          <a:p>
            <a:pPr marL="640080" lvl="1" indent="-237744" algn="just" eaLnBrk="1" fontAlgn="auto" hangingPunct="1">
              <a:lnSpc>
                <a:spcPct val="90000"/>
              </a:lnSpc>
              <a:spcAft>
                <a:spcPts val="0"/>
              </a:spcAft>
              <a:buFont typeface="Verdana"/>
              <a:buChar char="◦"/>
              <a:defRPr/>
            </a:pPr>
            <a:r>
              <a:rPr lang="en-US" sz="2400" dirty="0">
                <a:latin typeface="Comic Sans MS" pitchFamily="66" charset="0"/>
              </a:rPr>
              <a:t> include the sediment or rock type, its porosity and permeability, the slope (gradient) of the land, and if the rocks are weathered or not.</a:t>
            </a:r>
          </a:p>
          <a:p>
            <a:pPr marL="365760" indent="-283464" algn="just" eaLnBrk="1" fontAlgn="auto" hangingPunct="1">
              <a:lnSpc>
                <a:spcPct val="90000"/>
              </a:lnSpc>
              <a:spcAft>
                <a:spcPts val="0"/>
              </a:spcAft>
              <a:buFont typeface="Wingdings 2"/>
              <a:buChar char=""/>
              <a:defRPr/>
            </a:pPr>
            <a:r>
              <a:rPr lang="en-US" sz="2400" dirty="0">
                <a:latin typeface="Comic Sans MS" pitchFamily="66" charset="0"/>
              </a:rPr>
              <a:t> </a:t>
            </a:r>
            <a:r>
              <a:rPr lang="en-US" sz="2400" b="1" dirty="0">
                <a:latin typeface="Comic Sans MS" pitchFamily="66" charset="0"/>
              </a:rPr>
              <a:t>Biological factors</a:t>
            </a:r>
          </a:p>
          <a:p>
            <a:pPr marL="640080" lvl="1" indent="-237744" algn="just" eaLnBrk="1" fontAlgn="auto" hangingPunct="1">
              <a:lnSpc>
                <a:spcPct val="90000"/>
              </a:lnSpc>
              <a:spcAft>
                <a:spcPts val="0"/>
              </a:spcAft>
              <a:buFont typeface="Verdana"/>
              <a:buChar char="◦"/>
              <a:defRPr/>
            </a:pPr>
            <a:r>
              <a:rPr lang="en-US" sz="2400" dirty="0">
                <a:latin typeface="Comic Sans MS" pitchFamily="66" charset="0"/>
              </a:rPr>
              <a:t> include ground cover whether it is covered by vegetation or not, the type of organisms inhabiting the area, and the land use. </a:t>
            </a:r>
          </a:p>
          <a:p>
            <a:pPr marL="640080" lvl="1" indent="-237744" algn="just" eaLnBrk="1" fontAlgn="auto" hangingPunct="1">
              <a:lnSpc>
                <a:spcPct val="90000"/>
              </a:lnSpc>
              <a:spcAft>
                <a:spcPts val="0"/>
              </a:spcAft>
              <a:buFont typeface="Wingdings" pitchFamily="2" charset="2"/>
              <a:buNone/>
              <a:defRPr/>
            </a:pPr>
            <a:endParaRPr lang="en-US" sz="2400" dirty="0">
              <a:latin typeface="Comic Sans MS" pitchFamily="66" charset="0"/>
            </a:endParaRPr>
          </a:p>
          <a:p>
            <a:pPr marL="640080" lvl="1" indent="-237744" algn="just" eaLnBrk="1" fontAlgn="auto" hangingPunct="1">
              <a:lnSpc>
                <a:spcPct val="90000"/>
              </a:lnSpc>
              <a:spcAft>
                <a:spcPts val="0"/>
              </a:spcAft>
              <a:buFont typeface="Wingdings" pitchFamily="2" charset="2"/>
              <a:buNone/>
              <a:defRPr/>
            </a:pPr>
            <a:r>
              <a:rPr lang="en-US" sz="2400" dirty="0">
                <a:latin typeface="Comic Sans MS" pitchFamily="66" charset="0"/>
              </a:rPr>
              <a:t>In general, areas with high-intensity precipitation, more frequent rainfall, more wind, or more storms are expected to have more erosion. </a:t>
            </a:r>
          </a:p>
          <a:p>
            <a:pPr marL="365760" indent="-283464" eaLnBrk="1" fontAlgn="auto" hangingPunct="1">
              <a:spcAft>
                <a:spcPts val="0"/>
              </a:spcAft>
              <a:buFont typeface="Wingdings 2"/>
              <a:buChar char=""/>
              <a:defRPr/>
            </a:pPr>
            <a:endParaRPr 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 calcmode="lin" valueType="num">
                                      <p:cBhvr additive="base">
                                        <p:cTn id="2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1000"/>
                                        <p:tgtEl>
                                          <p:spTgt spid="3">
                                            <p:txEl>
                                              <p:pRg st="2" end="2"/>
                                            </p:txEl>
                                          </p:spTgt>
                                        </p:tgtEl>
                                      </p:cBhvr>
                                    </p:animEffect>
                                    <p:anim calcmode="lin" valueType="num">
                                      <p:cBhvr>
                                        <p:cTn id="2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 calcmode="lin" valueType="num">
                                      <p:cBhvr additive="base">
                                        <p:cTn id="34"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3">
                                            <p:txEl>
                                              <p:pRg st="4" end="4"/>
                                            </p:txEl>
                                          </p:spTgt>
                                        </p:tgtEl>
                                        <p:attrNameLst>
                                          <p:attrName>style.visibility</p:attrName>
                                        </p:attrNameLst>
                                      </p:cBhvr>
                                      <p:to>
                                        <p:strVal val="visible"/>
                                      </p:to>
                                    </p:set>
                                    <p:animEffect transition="in" filter="fade">
                                      <p:cBhvr>
                                        <p:cTn id="40" dur="1000"/>
                                        <p:tgtEl>
                                          <p:spTgt spid="3">
                                            <p:txEl>
                                              <p:pRg st="4" end="4"/>
                                            </p:txEl>
                                          </p:spTgt>
                                        </p:tgtEl>
                                      </p:cBhvr>
                                    </p:animEffect>
                                    <p:anim calcmode="lin" valueType="num">
                                      <p:cBhvr>
                                        <p:cTn id="41"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3">
                                            <p:txEl>
                                              <p:pRg st="5" end="5"/>
                                            </p:txEl>
                                          </p:spTgt>
                                        </p:tgtEl>
                                        <p:attrNameLst>
                                          <p:attrName>style.visibility</p:attrName>
                                        </p:attrNameLst>
                                      </p:cBhvr>
                                      <p:to>
                                        <p:strVal val="visible"/>
                                      </p:to>
                                    </p:set>
                                    <p:anim calcmode="lin" valueType="num">
                                      <p:cBhvr additive="base">
                                        <p:cTn id="4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3">
                                            <p:txEl>
                                              <p:pRg st="7" end="7"/>
                                            </p:txEl>
                                          </p:spTgt>
                                        </p:tgtEl>
                                        <p:attrNameLst>
                                          <p:attrName>style.visibility</p:attrName>
                                        </p:attrNameLst>
                                      </p:cBhvr>
                                      <p:to>
                                        <p:strVal val="visible"/>
                                      </p:to>
                                    </p:set>
                                    <p:anim calcmode="lin" valueType="num">
                                      <p:cBhvr additive="base">
                                        <p:cTn id="5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4" descr="soil-erosion.jpg">
            <a:extLst>
              <a:ext uri="{FF2B5EF4-FFF2-40B4-BE49-F238E27FC236}">
                <a16:creationId xmlns:a16="http://schemas.microsoft.com/office/drawing/2014/main" id="{E2DFFEE0-BA39-40DE-9BE8-5FF8B5FD2C4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419600" y="1666875"/>
            <a:ext cx="4495800" cy="337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5" name="Picture 3" descr="images.jpg">
            <a:extLst>
              <a:ext uri="{FF2B5EF4-FFF2-40B4-BE49-F238E27FC236}">
                <a16:creationId xmlns:a16="http://schemas.microsoft.com/office/drawing/2014/main" id="{AA424EDB-0B9C-418A-A880-5B946AD8002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4252913"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6" name="Picture 5" descr="soil2.jpg">
            <a:extLst>
              <a:ext uri="{FF2B5EF4-FFF2-40B4-BE49-F238E27FC236}">
                <a16:creationId xmlns:a16="http://schemas.microsoft.com/office/drawing/2014/main" id="{E5618C3E-56FB-4EAB-A2AE-A8CE3FF00FE3}"/>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0" y="3352800"/>
            <a:ext cx="4267200"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85E45-F705-4F21-BF1D-91D4150FFE17}"/>
              </a:ext>
            </a:extLst>
          </p:cNvPr>
          <p:cNvSpPr>
            <a:spLocks noGrp="1"/>
          </p:cNvSpPr>
          <p:nvPr>
            <p:ph type="title"/>
          </p:nvPr>
        </p:nvSpPr>
        <p:spPr>
          <a:xfrm>
            <a:off x="1295400" y="152400"/>
            <a:ext cx="7499350" cy="457200"/>
          </a:xfrm>
        </p:spPr>
        <p:txBody>
          <a:bodyPr>
            <a:normAutofit fontScale="90000"/>
          </a:bodyPr>
          <a:lstStyle/>
          <a:p>
            <a:pPr algn="ctr" eaLnBrk="1" fontAlgn="auto" hangingPunct="1">
              <a:spcAft>
                <a:spcPts val="0"/>
              </a:spcAft>
              <a:defRPr/>
            </a:pPr>
            <a:r>
              <a:rPr lang="en-US" sz="2600" b="1" dirty="0">
                <a:solidFill>
                  <a:schemeClr val="tx2">
                    <a:satMod val="130000"/>
                  </a:schemeClr>
                </a:solidFill>
                <a:latin typeface="Comic Sans MS" pitchFamily="66" charset="0"/>
                <a:cs typeface="Times New Roman" pitchFamily="18" charset="0"/>
              </a:rPr>
              <a:t>Effects of Soil Erosion</a:t>
            </a:r>
          </a:p>
        </p:txBody>
      </p:sp>
      <p:sp>
        <p:nvSpPr>
          <p:cNvPr id="14339" name="Content Placeholder 2">
            <a:extLst>
              <a:ext uri="{FF2B5EF4-FFF2-40B4-BE49-F238E27FC236}">
                <a16:creationId xmlns:a16="http://schemas.microsoft.com/office/drawing/2014/main" id="{219E34B7-6199-42F5-8EB8-0A34D85BBE04}"/>
              </a:ext>
            </a:extLst>
          </p:cNvPr>
          <p:cNvSpPr>
            <a:spLocks noGrp="1"/>
          </p:cNvSpPr>
          <p:nvPr>
            <p:ph idx="1"/>
          </p:nvPr>
        </p:nvSpPr>
        <p:spPr>
          <a:xfrm>
            <a:off x="1143000" y="838200"/>
            <a:ext cx="7772400" cy="5715000"/>
          </a:xfrm>
        </p:spPr>
        <p:txBody>
          <a:bodyPr/>
          <a:lstStyle/>
          <a:p>
            <a:pPr algn="just" eaLnBrk="1" hangingPunct="1"/>
            <a:r>
              <a:rPr lang="en-US" altLang="en-US" sz="2200" dirty="0">
                <a:latin typeface="Comic Sans MS" panose="030F0702030302020204" pitchFamily="66" charset="0"/>
              </a:rPr>
              <a:t>Land becomes less productive.</a:t>
            </a:r>
          </a:p>
          <a:p>
            <a:pPr algn="just" eaLnBrk="1" hangingPunct="1"/>
            <a:r>
              <a:rPr lang="en-US" altLang="en-US" sz="2200" dirty="0">
                <a:latin typeface="Comic Sans MS" panose="030F0702030302020204" pitchFamily="66" charset="0"/>
              </a:rPr>
              <a:t>Crop yields go down.</a:t>
            </a:r>
          </a:p>
          <a:p>
            <a:pPr algn="just" eaLnBrk="1" hangingPunct="1"/>
            <a:r>
              <a:rPr lang="en-US" altLang="en-US" sz="2200" dirty="0">
                <a:latin typeface="Comic Sans MS" panose="030F0702030302020204" pitchFamily="66" charset="0"/>
              </a:rPr>
              <a:t>Cost of farming go up.</a:t>
            </a:r>
          </a:p>
          <a:p>
            <a:pPr algn="just" eaLnBrk="1" hangingPunct="1"/>
            <a:r>
              <a:rPr lang="en-US" altLang="en-US" sz="2200" dirty="0">
                <a:latin typeface="Comic Sans MS" panose="030F0702030302020204" pitchFamily="66" charset="0"/>
              </a:rPr>
              <a:t>Environmental calamity like famine or flood becomes more frequent.</a:t>
            </a:r>
          </a:p>
          <a:p>
            <a:pPr algn="just" eaLnBrk="1" hangingPunct="1"/>
            <a:r>
              <a:rPr lang="en-US" altLang="en-US" sz="2200" dirty="0">
                <a:latin typeface="Comic Sans MS" panose="030F0702030302020204" pitchFamily="66" charset="0"/>
              </a:rPr>
              <a:t>Eroded particles increase the amount of sediment at rivers.</a:t>
            </a:r>
          </a:p>
          <a:p>
            <a:pPr eaLnBrk="1" hangingPunct="1"/>
            <a:endParaRPr lang="en-US" altLang="en-US" sz="2400" dirty="0">
              <a:latin typeface="Times New Roman" panose="02020603050405020304" pitchFamily="18" charset="0"/>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14339">
                                            <p:txEl>
                                              <p:pRg st="0" end="0"/>
                                            </p:txEl>
                                          </p:spTgt>
                                        </p:tgtEl>
                                        <p:attrNameLst>
                                          <p:attrName>style.visibility</p:attrName>
                                        </p:attrNameLst>
                                      </p:cBhvr>
                                      <p:to>
                                        <p:strVal val="visible"/>
                                      </p:to>
                                    </p:set>
                                    <p:animEffect transition="in" filter="fade">
                                      <p:cBhvr>
                                        <p:cTn id="13" dur="1000"/>
                                        <p:tgtEl>
                                          <p:spTgt spid="14339">
                                            <p:txEl>
                                              <p:pRg st="0" end="0"/>
                                            </p:txEl>
                                          </p:spTgt>
                                        </p:tgtEl>
                                      </p:cBhvr>
                                    </p:animEffect>
                                    <p:anim calcmode="lin" valueType="num">
                                      <p:cBhvr>
                                        <p:cTn id="14" dur="1000" fill="hold"/>
                                        <p:tgtEl>
                                          <p:spTgt spid="14339">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1433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14339">
                                            <p:txEl>
                                              <p:pRg st="1" end="1"/>
                                            </p:txEl>
                                          </p:spTgt>
                                        </p:tgtEl>
                                        <p:attrNameLst>
                                          <p:attrName>style.visibility</p:attrName>
                                        </p:attrNameLst>
                                      </p:cBhvr>
                                      <p:to>
                                        <p:strVal val="visible"/>
                                      </p:to>
                                    </p:set>
                                    <p:animEffect transition="in" filter="fade">
                                      <p:cBhvr>
                                        <p:cTn id="20" dur="1000"/>
                                        <p:tgtEl>
                                          <p:spTgt spid="14339">
                                            <p:txEl>
                                              <p:pRg st="1" end="1"/>
                                            </p:txEl>
                                          </p:spTgt>
                                        </p:tgtEl>
                                      </p:cBhvr>
                                    </p:animEffect>
                                    <p:anim calcmode="lin" valueType="num">
                                      <p:cBhvr>
                                        <p:cTn id="21" dur="1000" fill="hold"/>
                                        <p:tgtEl>
                                          <p:spTgt spid="14339">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1433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14339">
                                            <p:txEl>
                                              <p:pRg st="2" end="2"/>
                                            </p:txEl>
                                          </p:spTgt>
                                        </p:tgtEl>
                                        <p:attrNameLst>
                                          <p:attrName>style.visibility</p:attrName>
                                        </p:attrNameLst>
                                      </p:cBhvr>
                                      <p:to>
                                        <p:strVal val="visible"/>
                                      </p:to>
                                    </p:set>
                                    <p:animEffect transition="in" filter="fade">
                                      <p:cBhvr>
                                        <p:cTn id="27" dur="1000"/>
                                        <p:tgtEl>
                                          <p:spTgt spid="14339">
                                            <p:txEl>
                                              <p:pRg st="2" end="2"/>
                                            </p:txEl>
                                          </p:spTgt>
                                        </p:tgtEl>
                                      </p:cBhvr>
                                    </p:animEffect>
                                    <p:anim calcmode="lin" valueType="num">
                                      <p:cBhvr>
                                        <p:cTn id="28" dur="1000" fill="hold"/>
                                        <p:tgtEl>
                                          <p:spTgt spid="14339">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1433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14339">
                                            <p:txEl>
                                              <p:pRg st="3" end="3"/>
                                            </p:txEl>
                                          </p:spTgt>
                                        </p:tgtEl>
                                        <p:attrNameLst>
                                          <p:attrName>style.visibility</p:attrName>
                                        </p:attrNameLst>
                                      </p:cBhvr>
                                      <p:to>
                                        <p:strVal val="visible"/>
                                      </p:to>
                                    </p:set>
                                    <p:animEffect transition="in" filter="fade">
                                      <p:cBhvr>
                                        <p:cTn id="34" dur="1000"/>
                                        <p:tgtEl>
                                          <p:spTgt spid="14339">
                                            <p:txEl>
                                              <p:pRg st="3" end="3"/>
                                            </p:txEl>
                                          </p:spTgt>
                                        </p:tgtEl>
                                      </p:cBhvr>
                                    </p:animEffect>
                                    <p:anim calcmode="lin" valueType="num">
                                      <p:cBhvr>
                                        <p:cTn id="35" dur="1000" fill="hold"/>
                                        <p:tgtEl>
                                          <p:spTgt spid="14339">
                                            <p:txEl>
                                              <p:pRg st="3" end="3"/>
                                            </p:txEl>
                                          </p:spTgt>
                                        </p:tgtEl>
                                        <p:attrNameLst>
                                          <p:attrName>ppt_x</p:attrName>
                                        </p:attrNameLst>
                                      </p:cBhvr>
                                      <p:tavLst>
                                        <p:tav tm="0">
                                          <p:val>
                                            <p:strVal val="#ppt_x"/>
                                          </p:val>
                                        </p:tav>
                                        <p:tav tm="100000">
                                          <p:val>
                                            <p:strVal val="#ppt_x"/>
                                          </p:val>
                                        </p:tav>
                                      </p:tavLst>
                                    </p:anim>
                                    <p:anim calcmode="lin" valueType="num">
                                      <p:cBhvr>
                                        <p:cTn id="36" dur="1000" fill="hold"/>
                                        <p:tgtEl>
                                          <p:spTgt spid="1433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14339">
                                            <p:txEl>
                                              <p:pRg st="4" end="4"/>
                                            </p:txEl>
                                          </p:spTgt>
                                        </p:tgtEl>
                                        <p:attrNameLst>
                                          <p:attrName>style.visibility</p:attrName>
                                        </p:attrNameLst>
                                      </p:cBhvr>
                                      <p:to>
                                        <p:strVal val="visible"/>
                                      </p:to>
                                    </p:set>
                                    <p:animEffect transition="in" filter="fade">
                                      <p:cBhvr>
                                        <p:cTn id="41" dur="1000"/>
                                        <p:tgtEl>
                                          <p:spTgt spid="14339">
                                            <p:txEl>
                                              <p:pRg st="4" end="4"/>
                                            </p:txEl>
                                          </p:spTgt>
                                        </p:tgtEl>
                                      </p:cBhvr>
                                    </p:animEffect>
                                    <p:anim calcmode="lin" valueType="num">
                                      <p:cBhvr>
                                        <p:cTn id="42" dur="1000" fill="hold"/>
                                        <p:tgtEl>
                                          <p:spTgt spid="14339">
                                            <p:txEl>
                                              <p:pRg st="4" end="4"/>
                                            </p:txEl>
                                          </p:spTgt>
                                        </p:tgtEl>
                                        <p:attrNameLst>
                                          <p:attrName>ppt_x</p:attrName>
                                        </p:attrNameLst>
                                      </p:cBhvr>
                                      <p:tavLst>
                                        <p:tav tm="0">
                                          <p:val>
                                            <p:strVal val="#ppt_x"/>
                                          </p:val>
                                        </p:tav>
                                        <p:tav tm="100000">
                                          <p:val>
                                            <p:strVal val="#ppt_x"/>
                                          </p:val>
                                        </p:tav>
                                      </p:tavLst>
                                    </p:anim>
                                    <p:anim calcmode="lin" valueType="num">
                                      <p:cBhvr>
                                        <p:cTn id="43" dur="1000" fill="hold"/>
                                        <p:tgtEl>
                                          <p:spTgt spid="14339">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Text Box 4">
            <a:extLst>
              <a:ext uri="{FF2B5EF4-FFF2-40B4-BE49-F238E27FC236}">
                <a16:creationId xmlns:a16="http://schemas.microsoft.com/office/drawing/2014/main" id="{D218D38C-64E6-4A8A-B8A0-31812F320FDB}"/>
              </a:ext>
            </a:extLst>
          </p:cNvPr>
          <p:cNvSpPr txBox="1">
            <a:spLocks noChangeArrowheads="1"/>
          </p:cNvSpPr>
          <p:nvPr/>
        </p:nvSpPr>
        <p:spPr bwMode="auto">
          <a:xfrm>
            <a:off x="1143000" y="838200"/>
            <a:ext cx="7696200" cy="492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endParaRPr lang="en-US" altLang="en-US" sz="2200" u="sng" dirty="0">
              <a:latin typeface="Comic Sans MS" panose="030F0702030302020204" pitchFamily="66" charset="0"/>
            </a:endParaRPr>
          </a:p>
          <a:p>
            <a:pPr algn="just"/>
            <a:r>
              <a:rPr lang="en-US" altLang="en-US" sz="2200" u="sng" dirty="0">
                <a:latin typeface="Comic Sans MS" panose="030F0702030302020204" pitchFamily="66" charset="0"/>
              </a:rPr>
              <a:t>Soil Forming factors: </a:t>
            </a:r>
            <a:endParaRPr lang="en-US" altLang="en-US" sz="2200" dirty="0">
              <a:latin typeface="Comic Sans MS" panose="030F0702030302020204" pitchFamily="66" charset="0"/>
            </a:endParaRPr>
          </a:p>
          <a:p>
            <a:pPr algn="just">
              <a:buFontTx/>
              <a:buChar char="•"/>
            </a:pPr>
            <a:r>
              <a:rPr lang="en-US" altLang="en-US" sz="2200" dirty="0">
                <a:latin typeface="Comic Sans MS" panose="030F0702030302020204" pitchFamily="66" charset="0"/>
              </a:rPr>
              <a:t> Climate</a:t>
            </a:r>
          </a:p>
          <a:p>
            <a:pPr algn="just">
              <a:buFontTx/>
              <a:buChar char="•"/>
            </a:pPr>
            <a:r>
              <a:rPr lang="en-US" altLang="en-US" sz="2200" dirty="0">
                <a:latin typeface="Comic Sans MS" panose="030F0702030302020204" pitchFamily="66" charset="0"/>
              </a:rPr>
              <a:t>  Organisms</a:t>
            </a:r>
          </a:p>
          <a:p>
            <a:pPr algn="just">
              <a:buFontTx/>
              <a:buChar char="•"/>
            </a:pPr>
            <a:r>
              <a:rPr lang="en-US" altLang="en-US" sz="2200" dirty="0">
                <a:latin typeface="Comic Sans MS" panose="030F0702030302020204" pitchFamily="66" charset="0"/>
              </a:rPr>
              <a:t>  Parent Material</a:t>
            </a:r>
          </a:p>
          <a:p>
            <a:pPr algn="just">
              <a:buFontTx/>
              <a:buChar char="•"/>
            </a:pPr>
            <a:r>
              <a:rPr lang="en-US" altLang="en-US" sz="2200" dirty="0">
                <a:latin typeface="Comic Sans MS" panose="030F0702030302020204" pitchFamily="66" charset="0"/>
              </a:rPr>
              <a:t>  Topography</a:t>
            </a:r>
          </a:p>
          <a:p>
            <a:pPr algn="just">
              <a:buFontTx/>
              <a:buChar char="•"/>
            </a:pPr>
            <a:r>
              <a:rPr lang="en-US" altLang="en-US" sz="2200" dirty="0">
                <a:latin typeface="Comic Sans MS" panose="030F0702030302020204" pitchFamily="66" charset="0"/>
              </a:rPr>
              <a:t>  Time</a:t>
            </a:r>
          </a:p>
          <a:p>
            <a:pPr algn="just">
              <a:buFontTx/>
              <a:buChar char="•"/>
            </a:pPr>
            <a:endParaRPr lang="en-US" altLang="en-US" sz="2200" dirty="0">
              <a:latin typeface="Comic Sans MS" panose="030F0702030302020204" pitchFamily="66" charset="0"/>
            </a:endParaRPr>
          </a:p>
          <a:p>
            <a:pPr algn="just"/>
            <a:r>
              <a:rPr lang="en-US" altLang="en-US" sz="2200" u="sng" dirty="0">
                <a:latin typeface="Comic Sans MS" panose="030F0702030302020204" pitchFamily="66" charset="0"/>
                <a:cs typeface="Times New Roman" panose="02020603050405020304" pitchFamily="18" charset="0"/>
              </a:rPr>
              <a:t>Interactions of Soil Forming Factors</a:t>
            </a:r>
          </a:p>
          <a:p>
            <a:pPr algn="just"/>
            <a:r>
              <a:rPr lang="en-US" altLang="en-US" sz="2200" dirty="0">
                <a:latin typeface="Comic Sans MS" panose="030F0702030302020204" pitchFamily="66" charset="0"/>
                <a:cs typeface="Times New Roman" panose="02020603050405020304" pitchFamily="18" charset="0"/>
              </a:rPr>
              <a:t>The formation of soil is a complex process, and the five soil formation factors are active simultaneously and interdependently. Individual factors are of interest because they help us simplify and explain soil formation.</a:t>
            </a:r>
            <a:endParaRPr lang="en-US" altLang="en-US" sz="2200" dirty="0">
              <a:latin typeface="Comic Sans MS" panose="030F0702030302020204" pitchFamily="66" charset="0"/>
            </a:endParaRPr>
          </a:p>
          <a:p>
            <a:pPr>
              <a:buFontTx/>
              <a:buChar char="•"/>
            </a:pPr>
            <a:endParaRPr lang="en-US" altLang="en-US" sz="2800" dirty="0">
              <a:latin typeface="Garamond" panose="02020404030301010803"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5363">
                                            <p:txEl>
                                              <p:pRg st="1" end="1"/>
                                            </p:txEl>
                                          </p:spTgt>
                                        </p:tgtEl>
                                        <p:attrNameLst>
                                          <p:attrName>style.visibility</p:attrName>
                                        </p:attrNameLst>
                                      </p:cBhvr>
                                      <p:to>
                                        <p:strVal val="visible"/>
                                      </p:to>
                                    </p:set>
                                    <p:animEffect transition="in" filter="fade">
                                      <p:cBhvr>
                                        <p:cTn id="7" dur="1000"/>
                                        <p:tgtEl>
                                          <p:spTgt spid="15363">
                                            <p:txEl>
                                              <p:pRg st="1" end="1"/>
                                            </p:txEl>
                                          </p:spTgt>
                                        </p:tgtEl>
                                      </p:cBhvr>
                                    </p:animEffect>
                                    <p:anim calcmode="lin" valueType="num">
                                      <p:cBhvr>
                                        <p:cTn id="8" dur="1000" fill="hold"/>
                                        <p:tgtEl>
                                          <p:spTgt spid="1536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536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15363">
                                            <p:txEl>
                                              <p:pRg st="2" end="2"/>
                                            </p:txEl>
                                          </p:spTgt>
                                        </p:tgtEl>
                                        <p:attrNameLst>
                                          <p:attrName>style.visibility</p:attrName>
                                        </p:attrNameLst>
                                      </p:cBhvr>
                                      <p:to>
                                        <p:strVal val="visible"/>
                                      </p:to>
                                    </p:set>
                                    <p:anim calcmode="lin" valueType="num">
                                      <p:cBhvr additive="base">
                                        <p:cTn id="14" dur="500" fill="hold"/>
                                        <p:tgtEl>
                                          <p:spTgt spid="15363">
                                            <p:txEl>
                                              <p:pRg st="2" end="2"/>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1536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15363">
                                            <p:txEl>
                                              <p:pRg st="3" end="3"/>
                                            </p:txEl>
                                          </p:spTgt>
                                        </p:tgtEl>
                                        <p:attrNameLst>
                                          <p:attrName>style.visibility</p:attrName>
                                        </p:attrNameLst>
                                      </p:cBhvr>
                                      <p:to>
                                        <p:strVal val="visible"/>
                                      </p:to>
                                    </p:set>
                                    <p:anim calcmode="lin" valueType="num">
                                      <p:cBhvr additive="base">
                                        <p:cTn id="20" dur="500" fill="hold"/>
                                        <p:tgtEl>
                                          <p:spTgt spid="15363">
                                            <p:txEl>
                                              <p:pRg st="3" end="3"/>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1536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15363">
                                            <p:txEl>
                                              <p:pRg st="4" end="4"/>
                                            </p:txEl>
                                          </p:spTgt>
                                        </p:tgtEl>
                                        <p:attrNameLst>
                                          <p:attrName>style.visibility</p:attrName>
                                        </p:attrNameLst>
                                      </p:cBhvr>
                                      <p:to>
                                        <p:strVal val="visible"/>
                                      </p:to>
                                    </p:set>
                                    <p:anim calcmode="lin" valueType="num">
                                      <p:cBhvr additive="base">
                                        <p:cTn id="26" dur="500" fill="hold"/>
                                        <p:tgtEl>
                                          <p:spTgt spid="15363">
                                            <p:txEl>
                                              <p:pRg st="4" end="4"/>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1536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15363">
                                            <p:txEl>
                                              <p:pRg st="5" end="5"/>
                                            </p:txEl>
                                          </p:spTgt>
                                        </p:tgtEl>
                                        <p:attrNameLst>
                                          <p:attrName>style.visibility</p:attrName>
                                        </p:attrNameLst>
                                      </p:cBhvr>
                                      <p:to>
                                        <p:strVal val="visible"/>
                                      </p:to>
                                    </p:set>
                                    <p:anim calcmode="lin" valueType="num">
                                      <p:cBhvr additive="base">
                                        <p:cTn id="32" dur="500" fill="hold"/>
                                        <p:tgtEl>
                                          <p:spTgt spid="15363">
                                            <p:txEl>
                                              <p:pRg st="5" end="5"/>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1536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15363">
                                            <p:txEl>
                                              <p:pRg st="6" end="6"/>
                                            </p:txEl>
                                          </p:spTgt>
                                        </p:tgtEl>
                                        <p:attrNameLst>
                                          <p:attrName>style.visibility</p:attrName>
                                        </p:attrNameLst>
                                      </p:cBhvr>
                                      <p:to>
                                        <p:strVal val="visible"/>
                                      </p:to>
                                    </p:set>
                                    <p:anim calcmode="lin" valueType="num">
                                      <p:cBhvr additive="base">
                                        <p:cTn id="38" dur="500" fill="hold"/>
                                        <p:tgtEl>
                                          <p:spTgt spid="15363">
                                            <p:txEl>
                                              <p:pRg st="6" end="6"/>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1536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nodeType="clickEffect">
                                  <p:stCondLst>
                                    <p:cond delay="0"/>
                                  </p:stCondLst>
                                  <p:childTnLst>
                                    <p:set>
                                      <p:cBhvr>
                                        <p:cTn id="43" dur="1" fill="hold">
                                          <p:stCondLst>
                                            <p:cond delay="0"/>
                                          </p:stCondLst>
                                        </p:cTn>
                                        <p:tgtEl>
                                          <p:spTgt spid="15363">
                                            <p:txEl>
                                              <p:pRg st="8" end="8"/>
                                            </p:txEl>
                                          </p:spTgt>
                                        </p:tgtEl>
                                        <p:attrNameLst>
                                          <p:attrName>style.visibility</p:attrName>
                                        </p:attrNameLst>
                                      </p:cBhvr>
                                      <p:to>
                                        <p:strVal val="visible"/>
                                      </p:to>
                                    </p:set>
                                    <p:anim calcmode="lin" valueType="num">
                                      <p:cBhvr additive="base">
                                        <p:cTn id="44" dur="500" fill="hold"/>
                                        <p:tgtEl>
                                          <p:spTgt spid="15363">
                                            <p:txEl>
                                              <p:pRg st="8" end="8"/>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1536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nodeType="clickEffect">
                                  <p:stCondLst>
                                    <p:cond delay="0"/>
                                  </p:stCondLst>
                                  <p:childTnLst>
                                    <p:set>
                                      <p:cBhvr>
                                        <p:cTn id="49" dur="1" fill="hold">
                                          <p:stCondLst>
                                            <p:cond delay="0"/>
                                          </p:stCondLst>
                                        </p:cTn>
                                        <p:tgtEl>
                                          <p:spTgt spid="15363">
                                            <p:txEl>
                                              <p:pRg st="9" end="9"/>
                                            </p:txEl>
                                          </p:spTgt>
                                        </p:tgtEl>
                                        <p:attrNameLst>
                                          <p:attrName>style.visibility</p:attrName>
                                        </p:attrNameLst>
                                      </p:cBhvr>
                                      <p:to>
                                        <p:strVal val="visible"/>
                                      </p:to>
                                    </p:set>
                                    <p:anim calcmode="lin" valueType="num">
                                      <p:cBhvr additive="base">
                                        <p:cTn id="50" dur="500" fill="hold"/>
                                        <p:tgtEl>
                                          <p:spTgt spid="15363">
                                            <p:txEl>
                                              <p:pRg st="9" end="9"/>
                                            </p:txEl>
                                          </p:spTgt>
                                        </p:tgtEl>
                                        <p:attrNameLst>
                                          <p:attrName>ppt_x</p:attrName>
                                        </p:attrNameLst>
                                      </p:cBhvr>
                                      <p:tavLst>
                                        <p:tav tm="0">
                                          <p:val>
                                            <p:strVal val="#ppt_x"/>
                                          </p:val>
                                        </p:tav>
                                        <p:tav tm="100000">
                                          <p:val>
                                            <p:strVal val="#ppt_x"/>
                                          </p:val>
                                        </p:tav>
                                      </p:tavLst>
                                    </p:anim>
                                    <p:anim calcmode="lin" valueType="num">
                                      <p:cBhvr additive="base">
                                        <p:cTn id="51" dur="500" fill="hold"/>
                                        <p:tgtEl>
                                          <p:spTgt spid="1536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E85737C8-8F2E-49A9-9C31-7859E3628D24}"/>
              </a:ext>
            </a:extLst>
          </p:cNvPr>
          <p:cNvSpPr>
            <a:spLocks noGrp="1" noChangeArrowheads="1"/>
          </p:cNvSpPr>
          <p:nvPr>
            <p:ph type="title"/>
          </p:nvPr>
        </p:nvSpPr>
        <p:spPr>
          <a:xfrm>
            <a:off x="1143000" y="228600"/>
            <a:ext cx="7543800" cy="533400"/>
          </a:xfrm>
        </p:spPr>
        <p:txBody>
          <a:bodyPr/>
          <a:lstStyle/>
          <a:p>
            <a:pPr eaLnBrk="1" fontAlgn="auto" hangingPunct="1">
              <a:spcAft>
                <a:spcPts val="0"/>
              </a:spcAft>
              <a:defRPr/>
            </a:pPr>
            <a:r>
              <a:rPr lang="en-US" sz="2400" u="sng" dirty="0">
                <a:solidFill>
                  <a:schemeClr val="tx1"/>
                </a:solidFill>
                <a:latin typeface="Comic Sans MS" pitchFamily="66" charset="0"/>
              </a:rPr>
              <a:t>Composition of Soil</a:t>
            </a:r>
          </a:p>
        </p:txBody>
      </p:sp>
      <p:sp>
        <p:nvSpPr>
          <p:cNvPr id="16387" name="Rectangle 3">
            <a:extLst>
              <a:ext uri="{FF2B5EF4-FFF2-40B4-BE49-F238E27FC236}">
                <a16:creationId xmlns:a16="http://schemas.microsoft.com/office/drawing/2014/main" id="{2E517EB7-9B93-4CF2-AAF3-33CB9E8ED147}"/>
              </a:ext>
            </a:extLst>
          </p:cNvPr>
          <p:cNvSpPr>
            <a:spLocks noGrp="1" noChangeArrowheads="1"/>
          </p:cNvSpPr>
          <p:nvPr>
            <p:ph idx="1"/>
          </p:nvPr>
        </p:nvSpPr>
        <p:spPr>
          <a:xfrm>
            <a:off x="1066800" y="762000"/>
            <a:ext cx="7924800" cy="5867400"/>
          </a:xfrm>
        </p:spPr>
        <p:txBody>
          <a:bodyPr>
            <a:normAutofit fontScale="92500"/>
          </a:bodyPr>
          <a:lstStyle/>
          <a:p>
            <a:pPr eaLnBrk="1" hangingPunct="1"/>
            <a:endParaRPr lang="en-US" altLang="en-US" sz="2200" dirty="0">
              <a:latin typeface="Garamond" panose="02020404030301010803" pitchFamily="18" charset="0"/>
            </a:endParaRPr>
          </a:p>
          <a:p>
            <a:pPr eaLnBrk="1" hangingPunct="1">
              <a:buFont typeface="Wingdings" panose="05000000000000000000" pitchFamily="2" charset="2"/>
              <a:buNone/>
            </a:pPr>
            <a:r>
              <a:rPr lang="en-US" altLang="en-US" sz="2200" dirty="0">
                <a:latin typeface="Comic Sans MS" panose="030F0702030302020204" pitchFamily="66" charset="0"/>
              </a:rPr>
              <a:t>Consists of four major </a:t>
            </a:r>
          </a:p>
          <a:p>
            <a:pPr eaLnBrk="1" hangingPunct="1">
              <a:buFont typeface="Wingdings" panose="05000000000000000000" pitchFamily="2" charset="2"/>
              <a:buNone/>
            </a:pPr>
            <a:r>
              <a:rPr lang="en-US" altLang="en-US" sz="2200" dirty="0">
                <a:latin typeface="Comic Sans MS" panose="030F0702030302020204" pitchFamily="66" charset="0"/>
              </a:rPr>
              <a:t>components-</a:t>
            </a:r>
          </a:p>
          <a:p>
            <a:pPr eaLnBrk="1" hangingPunct="1"/>
            <a:r>
              <a:rPr lang="en-US" altLang="en-US" sz="2200" dirty="0">
                <a:latin typeface="Comic Sans MS" panose="030F0702030302020204" pitchFamily="66" charset="0"/>
              </a:rPr>
              <a:t>Organic matter : 5%</a:t>
            </a:r>
          </a:p>
          <a:p>
            <a:pPr eaLnBrk="1" hangingPunct="1"/>
            <a:r>
              <a:rPr lang="en-US" altLang="en-US" sz="2200" dirty="0">
                <a:latin typeface="Comic Sans MS" panose="030F0702030302020204" pitchFamily="66" charset="0"/>
              </a:rPr>
              <a:t>Mineral matter : 45%</a:t>
            </a:r>
          </a:p>
          <a:p>
            <a:pPr eaLnBrk="1" hangingPunct="1"/>
            <a:r>
              <a:rPr lang="en-US" altLang="en-US" sz="2200" dirty="0">
                <a:latin typeface="Comic Sans MS" panose="030F0702030302020204" pitchFamily="66" charset="0"/>
              </a:rPr>
              <a:t>Water  : 20-30%</a:t>
            </a:r>
          </a:p>
          <a:p>
            <a:pPr eaLnBrk="1" hangingPunct="1"/>
            <a:r>
              <a:rPr lang="en-US" altLang="en-US" sz="2200" dirty="0">
                <a:latin typeface="Comic Sans MS" panose="030F0702030302020204" pitchFamily="66" charset="0"/>
              </a:rPr>
              <a:t>Air : 20-30%</a:t>
            </a:r>
          </a:p>
          <a:p>
            <a:pPr eaLnBrk="1" hangingPunct="1"/>
            <a:endParaRPr lang="en-US" altLang="en-US" sz="2200" dirty="0">
              <a:latin typeface="Garamond" panose="02020404030301010803" pitchFamily="18" charset="0"/>
            </a:endParaRPr>
          </a:p>
          <a:p>
            <a:pPr eaLnBrk="1" hangingPunct="1">
              <a:buFont typeface="Wingdings 2" panose="05020102010507070707" pitchFamily="18" charset="2"/>
              <a:buNone/>
            </a:pPr>
            <a:endParaRPr lang="en-US" altLang="en-US" sz="2200" dirty="0">
              <a:latin typeface="Garamond" panose="02020404030301010803" pitchFamily="18" charset="0"/>
            </a:endParaRPr>
          </a:p>
          <a:p>
            <a:pPr algn="just" eaLnBrk="1" hangingPunct="1">
              <a:buFont typeface="Wingdings" panose="05000000000000000000" pitchFamily="2" charset="2"/>
              <a:buNone/>
            </a:pPr>
            <a:endParaRPr lang="en-US" altLang="en-US" sz="2200" dirty="0">
              <a:latin typeface="Garamond" panose="02020404030301010803" pitchFamily="18" charset="0"/>
            </a:endParaRPr>
          </a:p>
          <a:p>
            <a:pPr algn="just" eaLnBrk="1" hangingPunct="1">
              <a:buFont typeface="Wingdings" panose="05000000000000000000" pitchFamily="2" charset="2"/>
              <a:buNone/>
            </a:pPr>
            <a:r>
              <a:rPr lang="en-US" altLang="en-US" sz="2200" dirty="0">
                <a:latin typeface="Comic Sans MS" panose="030F0702030302020204" pitchFamily="66" charset="0"/>
              </a:rPr>
              <a:t>   Soil is made up of air and water in roughly equal parts, although the percentages keep changing depending on the water. Mineral particles are formed by weathering of the rock. Organic matters from dead plant and animals. </a:t>
            </a:r>
          </a:p>
          <a:p>
            <a:pPr eaLnBrk="1" hangingPunct="1">
              <a:buFont typeface="Wingdings" panose="05000000000000000000" pitchFamily="2" charset="2"/>
              <a:buNone/>
            </a:pPr>
            <a:endParaRPr lang="en-US" altLang="en-US" dirty="0">
              <a:latin typeface="Garamond" panose="02020404030301010803" pitchFamily="18" charset="0"/>
            </a:endParaRPr>
          </a:p>
          <a:p>
            <a:pPr eaLnBrk="1" hangingPunct="1"/>
            <a:endParaRPr lang="en-US" altLang="en-US" dirty="0">
              <a:latin typeface="Garamond" panose="02020404030301010803" pitchFamily="18" charset="0"/>
            </a:endParaRPr>
          </a:p>
        </p:txBody>
      </p:sp>
      <p:pic>
        <p:nvPicPr>
          <p:cNvPr id="16388" name="Picture 6" descr="D:\ENV 103 SGR\Spring'13\New folder (3)\Scan (5).BMP">
            <a:extLst>
              <a:ext uri="{FF2B5EF4-FFF2-40B4-BE49-F238E27FC236}">
                <a16:creationId xmlns:a16="http://schemas.microsoft.com/office/drawing/2014/main" id="{AE7CC23C-40CB-4A71-AB99-E80196DB68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1066800"/>
            <a:ext cx="3786188" cy="350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6387">
                                            <p:txEl>
                                              <p:pRg st="1" end="1"/>
                                            </p:txEl>
                                          </p:spTgt>
                                        </p:tgtEl>
                                        <p:attrNameLst>
                                          <p:attrName>style.visibility</p:attrName>
                                        </p:attrNameLst>
                                      </p:cBhvr>
                                      <p:to>
                                        <p:strVal val="visible"/>
                                      </p:to>
                                    </p:set>
                                    <p:animEffect transition="in" filter="fade">
                                      <p:cBhvr>
                                        <p:cTn id="7" dur="1000"/>
                                        <p:tgtEl>
                                          <p:spTgt spid="16387">
                                            <p:txEl>
                                              <p:pRg st="1" end="1"/>
                                            </p:txEl>
                                          </p:spTgt>
                                        </p:tgtEl>
                                      </p:cBhvr>
                                    </p:animEffect>
                                    <p:anim calcmode="lin" valueType="num">
                                      <p:cBhvr>
                                        <p:cTn id="8" dur="1000" fill="hold"/>
                                        <p:tgtEl>
                                          <p:spTgt spid="16387">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638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6387">
                                            <p:txEl>
                                              <p:pRg st="2" end="2"/>
                                            </p:txEl>
                                          </p:spTgt>
                                        </p:tgtEl>
                                        <p:attrNameLst>
                                          <p:attrName>style.visibility</p:attrName>
                                        </p:attrNameLst>
                                      </p:cBhvr>
                                      <p:to>
                                        <p:strVal val="visible"/>
                                      </p:to>
                                    </p:set>
                                    <p:animEffect transition="in" filter="fade">
                                      <p:cBhvr>
                                        <p:cTn id="14" dur="1000"/>
                                        <p:tgtEl>
                                          <p:spTgt spid="16387">
                                            <p:txEl>
                                              <p:pRg st="2" end="2"/>
                                            </p:txEl>
                                          </p:spTgt>
                                        </p:tgtEl>
                                      </p:cBhvr>
                                    </p:animEffect>
                                    <p:anim calcmode="lin" valueType="num">
                                      <p:cBhvr>
                                        <p:cTn id="15" dur="1000" fill="hold"/>
                                        <p:tgtEl>
                                          <p:spTgt spid="1638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6387">
                                            <p:txEl>
                                              <p:pRg st="2" end="2"/>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6387">
                                            <p:txEl>
                                              <p:pRg st="3" end="3"/>
                                            </p:txEl>
                                          </p:spTgt>
                                        </p:tgtEl>
                                        <p:attrNameLst>
                                          <p:attrName>style.visibility</p:attrName>
                                        </p:attrNameLst>
                                      </p:cBhvr>
                                      <p:to>
                                        <p:strVal val="visible"/>
                                      </p:to>
                                    </p:set>
                                    <p:animEffect transition="in" filter="fade">
                                      <p:cBhvr>
                                        <p:cTn id="19" dur="1000"/>
                                        <p:tgtEl>
                                          <p:spTgt spid="16387">
                                            <p:txEl>
                                              <p:pRg st="3" end="3"/>
                                            </p:txEl>
                                          </p:spTgt>
                                        </p:tgtEl>
                                      </p:cBhvr>
                                    </p:animEffect>
                                    <p:anim calcmode="lin" valueType="num">
                                      <p:cBhvr>
                                        <p:cTn id="20" dur="1000" fill="hold"/>
                                        <p:tgtEl>
                                          <p:spTgt spid="16387">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16387">
                                            <p:txEl>
                                              <p:pRg st="3" end="3"/>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16387">
                                            <p:txEl>
                                              <p:pRg st="4" end="4"/>
                                            </p:txEl>
                                          </p:spTgt>
                                        </p:tgtEl>
                                        <p:attrNameLst>
                                          <p:attrName>style.visibility</p:attrName>
                                        </p:attrNameLst>
                                      </p:cBhvr>
                                      <p:to>
                                        <p:strVal val="visible"/>
                                      </p:to>
                                    </p:set>
                                    <p:animEffect transition="in" filter="fade">
                                      <p:cBhvr>
                                        <p:cTn id="24" dur="1000"/>
                                        <p:tgtEl>
                                          <p:spTgt spid="16387">
                                            <p:txEl>
                                              <p:pRg st="4" end="4"/>
                                            </p:txEl>
                                          </p:spTgt>
                                        </p:tgtEl>
                                      </p:cBhvr>
                                    </p:animEffect>
                                    <p:anim calcmode="lin" valueType="num">
                                      <p:cBhvr>
                                        <p:cTn id="25" dur="1000" fill="hold"/>
                                        <p:tgtEl>
                                          <p:spTgt spid="16387">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16387">
                                            <p:txEl>
                                              <p:pRg st="4" end="4"/>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16387">
                                            <p:txEl>
                                              <p:pRg st="5" end="5"/>
                                            </p:txEl>
                                          </p:spTgt>
                                        </p:tgtEl>
                                        <p:attrNameLst>
                                          <p:attrName>style.visibility</p:attrName>
                                        </p:attrNameLst>
                                      </p:cBhvr>
                                      <p:to>
                                        <p:strVal val="visible"/>
                                      </p:to>
                                    </p:set>
                                    <p:animEffect transition="in" filter="fade">
                                      <p:cBhvr>
                                        <p:cTn id="29" dur="1000"/>
                                        <p:tgtEl>
                                          <p:spTgt spid="16387">
                                            <p:txEl>
                                              <p:pRg st="5" end="5"/>
                                            </p:txEl>
                                          </p:spTgt>
                                        </p:tgtEl>
                                      </p:cBhvr>
                                    </p:animEffect>
                                    <p:anim calcmode="lin" valueType="num">
                                      <p:cBhvr>
                                        <p:cTn id="30" dur="1000" fill="hold"/>
                                        <p:tgtEl>
                                          <p:spTgt spid="16387">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16387">
                                            <p:txEl>
                                              <p:pRg st="5" end="5"/>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16387">
                                            <p:txEl>
                                              <p:pRg st="6" end="6"/>
                                            </p:txEl>
                                          </p:spTgt>
                                        </p:tgtEl>
                                        <p:attrNameLst>
                                          <p:attrName>style.visibility</p:attrName>
                                        </p:attrNameLst>
                                      </p:cBhvr>
                                      <p:to>
                                        <p:strVal val="visible"/>
                                      </p:to>
                                    </p:set>
                                    <p:animEffect transition="in" filter="fade">
                                      <p:cBhvr>
                                        <p:cTn id="34" dur="1000"/>
                                        <p:tgtEl>
                                          <p:spTgt spid="16387">
                                            <p:txEl>
                                              <p:pRg st="6" end="6"/>
                                            </p:txEl>
                                          </p:spTgt>
                                        </p:tgtEl>
                                      </p:cBhvr>
                                    </p:animEffect>
                                    <p:anim calcmode="lin" valueType="num">
                                      <p:cBhvr>
                                        <p:cTn id="35" dur="1000" fill="hold"/>
                                        <p:tgtEl>
                                          <p:spTgt spid="16387">
                                            <p:txEl>
                                              <p:pRg st="6" end="6"/>
                                            </p:txEl>
                                          </p:spTgt>
                                        </p:tgtEl>
                                        <p:attrNameLst>
                                          <p:attrName>ppt_x</p:attrName>
                                        </p:attrNameLst>
                                      </p:cBhvr>
                                      <p:tavLst>
                                        <p:tav tm="0">
                                          <p:val>
                                            <p:strVal val="#ppt_x"/>
                                          </p:val>
                                        </p:tav>
                                        <p:tav tm="100000">
                                          <p:val>
                                            <p:strVal val="#ppt_x"/>
                                          </p:val>
                                        </p:tav>
                                      </p:tavLst>
                                    </p:anim>
                                    <p:anim calcmode="lin" valueType="num">
                                      <p:cBhvr>
                                        <p:cTn id="36" dur="1000" fill="hold"/>
                                        <p:tgtEl>
                                          <p:spTgt spid="1638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16388"/>
                                        </p:tgtEl>
                                        <p:attrNameLst>
                                          <p:attrName>style.visibility</p:attrName>
                                        </p:attrNameLst>
                                      </p:cBhvr>
                                      <p:to>
                                        <p:strVal val="visible"/>
                                      </p:to>
                                    </p:set>
                                    <p:animEffect transition="in" filter="fade">
                                      <p:cBhvr>
                                        <p:cTn id="41" dur="1000"/>
                                        <p:tgtEl>
                                          <p:spTgt spid="16388"/>
                                        </p:tgtEl>
                                      </p:cBhvr>
                                    </p:animEffect>
                                    <p:anim calcmode="lin" valueType="num">
                                      <p:cBhvr>
                                        <p:cTn id="42" dur="1000" fill="hold"/>
                                        <p:tgtEl>
                                          <p:spTgt spid="16388"/>
                                        </p:tgtEl>
                                        <p:attrNameLst>
                                          <p:attrName>ppt_x</p:attrName>
                                        </p:attrNameLst>
                                      </p:cBhvr>
                                      <p:tavLst>
                                        <p:tav tm="0">
                                          <p:val>
                                            <p:strVal val="#ppt_x"/>
                                          </p:val>
                                        </p:tav>
                                        <p:tav tm="100000">
                                          <p:val>
                                            <p:strVal val="#ppt_x"/>
                                          </p:val>
                                        </p:tav>
                                      </p:tavLst>
                                    </p:anim>
                                    <p:anim calcmode="lin" valueType="num">
                                      <p:cBhvr>
                                        <p:cTn id="43" dur="1000" fill="hold"/>
                                        <p:tgtEl>
                                          <p:spTgt spid="16388"/>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nodeType="clickEffect">
                                  <p:stCondLst>
                                    <p:cond delay="0"/>
                                  </p:stCondLst>
                                  <p:childTnLst>
                                    <p:set>
                                      <p:cBhvr>
                                        <p:cTn id="47" dur="1" fill="hold">
                                          <p:stCondLst>
                                            <p:cond delay="0"/>
                                          </p:stCondLst>
                                        </p:cTn>
                                        <p:tgtEl>
                                          <p:spTgt spid="16387">
                                            <p:txEl>
                                              <p:pRg st="10" end="10"/>
                                            </p:txEl>
                                          </p:spTgt>
                                        </p:tgtEl>
                                        <p:attrNameLst>
                                          <p:attrName>style.visibility</p:attrName>
                                        </p:attrNameLst>
                                      </p:cBhvr>
                                      <p:to>
                                        <p:strVal val="visible"/>
                                      </p:to>
                                    </p:set>
                                    <p:animEffect transition="in" filter="fade">
                                      <p:cBhvr>
                                        <p:cTn id="48" dur="1000"/>
                                        <p:tgtEl>
                                          <p:spTgt spid="16387">
                                            <p:txEl>
                                              <p:pRg st="10" end="10"/>
                                            </p:txEl>
                                          </p:spTgt>
                                        </p:tgtEl>
                                      </p:cBhvr>
                                    </p:animEffect>
                                    <p:anim calcmode="lin" valueType="num">
                                      <p:cBhvr>
                                        <p:cTn id="49" dur="1000" fill="hold"/>
                                        <p:tgtEl>
                                          <p:spTgt spid="16387">
                                            <p:txEl>
                                              <p:pRg st="10" end="10"/>
                                            </p:txEl>
                                          </p:spTgt>
                                        </p:tgtEl>
                                        <p:attrNameLst>
                                          <p:attrName>ppt_x</p:attrName>
                                        </p:attrNameLst>
                                      </p:cBhvr>
                                      <p:tavLst>
                                        <p:tav tm="0">
                                          <p:val>
                                            <p:strVal val="#ppt_x"/>
                                          </p:val>
                                        </p:tav>
                                        <p:tav tm="100000">
                                          <p:val>
                                            <p:strVal val="#ppt_x"/>
                                          </p:val>
                                        </p:tav>
                                      </p:tavLst>
                                    </p:anim>
                                    <p:anim calcmode="lin" valueType="num">
                                      <p:cBhvr>
                                        <p:cTn id="50" dur="1000" fill="hold"/>
                                        <p:tgtEl>
                                          <p:spTgt spid="16387">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ontent Placeholder 2">
            <a:extLst>
              <a:ext uri="{FF2B5EF4-FFF2-40B4-BE49-F238E27FC236}">
                <a16:creationId xmlns:a16="http://schemas.microsoft.com/office/drawing/2014/main" id="{E30A623B-5543-4C8E-912E-5E4A40F8BA7C}"/>
              </a:ext>
            </a:extLst>
          </p:cNvPr>
          <p:cNvSpPr>
            <a:spLocks noGrp="1"/>
          </p:cNvSpPr>
          <p:nvPr>
            <p:ph idx="1"/>
          </p:nvPr>
        </p:nvSpPr>
        <p:spPr>
          <a:xfrm>
            <a:off x="1066800" y="304800"/>
            <a:ext cx="7924800" cy="5943600"/>
          </a:xfrm>
        </p:spPr>
        <p:txBody>
          <a:bodyPr/>
          <a:lstStyle/>
          <a:p>
            <a:pPr algn="just">
              <a:buFont typeface="Wingdings 2" panose="05020102010507070707" pitchFamily="18" charset="2"/>
              <a:buNone/>
            </a:pPr>
            <a:r>
              <a:rPr lang="en-US" altLang="en-US" sz="2200" b="1" u="sng" dirty="0">
                <a:latin typeface="Comic Sans MS" panose="030F0702030302020204" pitchFamily="66" charset="0"/>
              </a:rPr>
              <a:t>Soil Texture</a:t>
            </a:r>
          </a:p>
          <a:p>
            <a:pPr algn="just">
              <a:buFont typeface="Wingdings 2" panose="05020102010507070707" pitchFamily="18" charset="2"/>
              <a:buNone/>
            </a:pPr>
            <a:r>
              <a:rPr lang="en-US" altLang="en-US" sz="2200" dirty="0">
                <a:latin typeface="Comic Sans MS" panose="030F0702030302020204" pitchFamily="66" charset="0"/>
              </a:rPr>
              <a:t> The mineral particles present in soil vary in size. The</a:t>
            </a:r>
          </a:p>
          <a:p>
            <a:pPr algn="just">
              <a:buFont typeface="Wingdings 2" panose="05020102010507070707" pitchFamily="18" charset="2"/>
              <a:buNone/>
            </a:pPr>
            <a:r>
              <a:rPr lang="en-US" altLang="en-US" sz="2200" dirty="0">
                <a:latin typeface="Comic Sans MS" panose="030F0702030302020204" pitchFamily="66" charset="0"/>
              </a:rPr>
              <a:t>size ranges between 2 mm to less than 0.002 mm in</a:t>
            </a:r>
          </a:p>
          <a:p>
            <a:pPr algn="just">
              <a:buFont typeface="Wingdings 2" panose="05020102010507070707" pitchFamily="18" charset="2"/>
              <a:buNone/>
            </a:pPr>
            <a:r>
              <a:rPr lang="en-US" altLang="en-US" sz="2200" dirty="0">
                <a:latin typeface="Comic Sans MS" panose="030F0702030302020204" pitchFamily="66" charset="0"/>
              </a:rPr>
              <a:t>diameter. Depending on size there are three types of</a:t>
            </a:r>
          </a:p>
          <a:p>
            <a:pPr algn="just">
              <a:buFont typeface="Wingdings 2" panose="05020102010507070707" pitchFamily="18" charset="2"/>
              <a:buNone/>
            </a:pPr>
            <a:r>
              <a:rPr lang="en-US" altLang="en-US" sz="2200" dirty="0">
                <a:latin typeface="Comic Sans MS" panose="030F0702030302020204" pitchFamily="66" charset="0"/>
              </a:rPr>
              <a:t>soil particles:</a:t>
            </a:r>
          </a:p>
          <a:p>
            <a:pPr algn="just"/>
            <a:r>
              <a:rPr lang="en-US" altLang="en-US" sz="2200" dirty="0">
                <a:latin typeface="Comic Sans MS" panose="030F0702030302020204" pitchFamily="66" charset="0"/>
              </a:rPr>
              <a:t>Sand </a:t>
            </a:r>
          </a:p>
          <a:p>
            <a:pPr algn="just"/>
            <a:r>
              <a:rPr lang="en-US" altLang="en-US" sz="2200" dirty="0">
                <a:latin typeface="Comic Sans MS" panose="030F0702030302020204" pitchFamily="66" charset="0"/>
              </a:rPr>
              <a:t>Silt </a:t>
            </a:r>
          </a:p>
          <a:p>
            <a:pPr algn="just"/>
            <a:r>
              <a:rPr lang="en-US" altLang="en-US" sz="2200" dirty="0">
                <a:latin typeface="Comic Sans MS" panose="030F0702030302020204" pitchFamily="66" charset="0"/>
              </a:rPr>
              <a:t>Clay</a:t>
            </a:r>
          </a:p>
          <a:p>
            <a:pPr algn="just">
              <a:buFont typeface="Wingdings 2" panose="05020102010507070707" pitchFamily="18" charset="2"/>
              <a:buNone/>
            </a:pPr>
            <a:r>
              <a:rPr lang="en-US" altLang="en-US" sz="2200" dirty="0">
                <a:latin typeface="Comic Sans MS" panose="030F0702030302020204" pitchFamily="66" charset="0"/>
              </a:rPr>
              <a:t>The relative proportions of sand, silt and clay in soil is called soil texture. Soil texture is </a:t>
            </a:r>
            <a:r>
              <a:rPr lang="en-US" altLang="en-US" sz="2200" u="sng" dirty="0">
                <a:latin typeface="Comic Sans MS" panose="030F0702030302020204" pitchFamily="66" charset="0"/>
              </a:rPr>
              <a:t>important</a:t>
            </a:r>
            <a:r>
              <a:rPr lang="en-US" altLang="en-US" sz="2200" dirty="0">
                <a:latin typeface="Comic Sans MS" panose="030F0702030302020204" pitchFamily="66" charset="0"/>
              </a:rPr>
              <a:t> because</a:t>
            </a:r>
          </a:p>
          <a:p>
            <a:pPr algn="just"/>
            <a:r>
              <a:rPr lang="en-US" altLang="en-US" sz="2200" dirty="0">
                <a:latin typeface="Comic Sans MS" panose="030F0702030302020204" pitchFamily="66" charset="0"/>
              </a:rPr>
              <a:t>Influence on soil properties</a:t>
            </a:r>
          </a:p>
          <a:p>
            <a:pPr algn="just"/>
            <a:r>
              <a:rPr lang="en-US" altLang="en-US" sz="2200" dirty="0">
                <a:latin typeface="Comic Sans MS" panose="030F0702030302020204" pitchFamily="66" charset="0"/>
              </a:rPr>
              <a:t>Effects the suitability of soil for most uses </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410">
                                            <p:txEl>
                                              <p:pRg st="0" end="0"/>
                                            </p:txEl>
                                          </p:spTgt>
                                        </p:tgtEl>
                                        <p:attrNameLst>
                                          <p:attrName>style.visibility</p:attrName>
                                        </p:attrNameLst>
                                      </p:cBhvr>
                                      <p:to>
                                        <p:strVal val="visible"/>
                                      </p:to>
                                    </p:set>
                                    <p:anim calcmode="lin" valueType="num">
                                      <p:cBhvr additive="base">
                                        <p:cTn id="7" dur="500" fill="hold"/>
                                        <p:tgtEl>
                                          <p:spTgt spid="174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4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7410">
                                            <p:txEl>
                                              <p:pRg st="1" end="1"/>
                                            </p:txEl>
                                          </p:spTgt>
                                        </p:tgtEl>
                                        <p:attrNameLst>
                                          <p:attrName>style.visibility</p:attrName>
                                        </p:attrNameLst>
                                      </p:cBhvr>
                                      <p:to>
                                        <p:strVal val="visible"/>
                                      </p:to>
                                    </p:set>
                                    <p:anim calcmode="lin" valueType="num">
                                      <p:cBhvr additive="base">
                                        <p:cTn id="13" dur="500" fill="hold"/>
                                        <p:tgtEl>
                                          <p:spTgt spid="1741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7410">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7410">
                                            <p:txEl>
                                              <p:pRg st="2" end="2"/>
                                            </p:txEl>
                                          </p:spTgt>
                                        </p:tgtEl>
                                        <p:attrNameLst>
                                          <p:attrName>style.visibility</p:attrName>
                                        </p:attrNameLst>
                                      </p:cBhvr>
                                      <p:to>
                                        <p:strVal val="visible"/>
                                      </p:to>
                                    </p:set>
                                    <p:anim calcmode="lin" valueType="num">
                                      <p:cBhvr additive="base">
                                        <p:cTn id="17" dur="500" fill="hold"/>
                                        <p:tgtEl>
                                          <p:spTgt spid="17410">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7410">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7410">
                                            <p:txEl>
                                              <p:pRg st="3" end="3"/>
                                            </p:txEl>
                                          </p:spTgt>
                                        </p:tgtEl>
                                        <p:attrNameLst>
                                          <p:attrName>style.visibility</p:attrName>
                                        </p:attrNameLst>
                                      </p:cBhvr>
                                      <p:to>
                                        <p:strVal val="visible"/>
                                      </p:to>
                                    </p:set>
                                    <p:anim calcmode="lin" valueType="num">
                                      <p:cBhvr additive="base">
                                        <p:cTn id="21" dur="500" fill="hold"/>
                                        <p:tgtEl>
                                          <p:spTgt spid="17410">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7410">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7410">
                                            <p:txEl>
                                              <p:pRg st="4" end="4"/>
                                            </p:txEl>
                                          </p:spTgt>
                                        </p:tgtEl>
                                        <p:attrNameLst>
                                          <p:attrName>style.visibility</p:attrName>
                                        </p:attrNameLst>
                                      </p:cBhvr>
                                      <p:to>
                                        <p:strVal val="visible"/>
                                      </p:to>
                                    </p:set>
                                    <p:anim calcmode="lin" valueType="num">
                                      <p:cBhvr additive="base">
                                        <p:cTn id="25" dur="500" fill="hold"/>
                                        <p:tgtEl>
                                          <p:spTgt spid="17410">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7410">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7410">
                                            <p:txEl>
                                              <p:pRg st="5" end="5"/>
                                            </p:txEl>
                                          </p:spTgt>
                                        </p:tgtEl>
                                        <p:attrNameLst>
                                          <p:attrName>style.visibility</p:attrName>
                                        </p:attrNameLst>
                                      </p:cBhvr>
                                      <p:to>
                                        <p:strVal val="visible"/>
                                      </p:to>
                                    </p:set>
                                    <p:anim calcmode="lin" valueType="num">
                                      <p:cBhvr additive="base">
                                        <p:cTn id="29" dur="500" fill="hold"/>
                                        <p:tgtEl>
                                          <p:spTgt spid="17410">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7410">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17410">
                                            <p:txEl>
                                              <p:pRg st="6" end="6"/>
                                            </p:txEl>
                                          </p:spTgt>
                                        </p:tgtEl>
                                        <p:attrNameLst>
                                          <p:attrName>style.visibility</p:attrName>
                                        </p:attrNameLst>
                                      </p:cBhvr>
                                      <p:to>
                                        <p:strVal val="visible"/>
                                      </p:to>
                                    </p:set>
                                    <p:anim calcmode="lin" valueType="num">
                                      <p:cBhvr additive="base">
                                        <p:cTn id="33" dur="500" fill="hold"/>
                                        <p:tgtEl>
                                          <p:spTgt spid="17410">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7410">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17410">
                                            <p:txEl>
                                              <p:pRg st="7" end="7"/>
                                            </p:txEl>
                                          </p:spTgt>
                                        </p:tgtEl>
                                        <p:attrNameLst>
                                          <p:attrName>style.visibility</p:attrName>
                                        </p:attrNameLst>
                                      </p:cBhvr>
                                      <p:to>
                                        <p:strVal val="visible"/>
                                      </p:to>
                                    </p:set>
                                    <p:anim calcmode="lin" valueType="num">
                                      <p:cBhvr additive="base">
                                        <p:cTn id="37" dur="500" fill="hold"/>
                                        <p:tgtEl>
                                          <p:spTgt spid="17410">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7410">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7410">
                                            <p:txEl>
                                              <p:pRg st="8" end="8"/>
                                            </p:txEl>
                                          </p:spTgt>
                                        </p:tgtEl>
                                        <p:attrNameLst>
                                          <p:attrName>style.visibility</p:attrName>
                                        </p:attrNameLst>
                                      </p:cBhvr>
                                      <p:to>
                                        <p:strVal val="visible"/>
                                      </p:to>
                                    </p:set>
                                    <p:anim calcmode="lin" valueType="num">
                                      <p:cBhvr additive="base">
                                        <p:cTn id="43" dur="500" fill="hold"/>
                                        <p:tgtEl>
                                          <p:spTgt spid="17410">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7410">
                                            <p:txEl>
                                              <p:pRg st="8" end="8"/>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17410">
                                            <p:txEl>
                                              <p:pRg st="9" end="9"/>
                                            </p:txEl>
                                          </p:spTgt>
                                        </p:tgtEl>
                                        <p:attrNameLst>
                                          <p:attrName>style.visibility</p:attrName>
                                        </p:attrNameLst>
                                      </p:cBhvr>
                                      <p:to>
                                        <p:strVal val="visible"/>
                                      </p:to>
                                    </p:set>
                                    <p:anim calcmode="lin" valueType="num">
                                      <p:cBhvr additive="base">
                                        <p:cTn id="47" dur="500" fill="hold"/>
                                        <p:tgtEl>
                                          <p:spTgt spid="17410">
                                            <p:txEl>
                                              <p:pRg st="9" end="9"/>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17410">
                                            <p:txEl>
                                              <p:pRg st="9" end="9"/>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17410">
                                            <p:txEl>
                                              <p:pRg st="10" end="10"/>
                                            </p:txEl>
                                          </p:spTgt>
                                        </p:tgtEl>
                                        <p:attrNameLst>
                                          <p:attrName>style.visibility</p:attrName>
                                        </p:attrNameLst>
                                      </p:cBhvr>
                                      <p:to>
                                        <p:strVal val="visible"/>
                                      </p:to>
                                    </p:set>
                                    <p:anim calcmode="lin" valueType="num">
                                      <p:cBhvr additive="base">
                                        <p:cTn id="51" dur="500" fill="hold"/>
                                        <p:tgtEl>
                                          <p:spTgt spid="17410">
                                            <p:txEl>
                                              <p:pRg st="10" end="10"/>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17410">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3">
            <a:extLst>
              <a:ext uri="{FF2B5EF4-FFF2-40B4-BE49-F238E27FC236}">
                <a16:creationId xmlns:a16="http://schemas.microsoft.com/office/drawing/2014/main" id="{8609346D-DE15-4E9A-931D-8F655AF401B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228600"/>
            <a:ext cx="6781800" cy="651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18434"/>
                                        </p:tgtEl>
                                        <p:attrNameLst>
                                          <p:attrName>style.visibility</p:attrName>
                                        </p:attrNameLst>
                                      </p:cBhvr>
                                      <p:to>
                                        <p:strVal val="visible"/>
                                      </p:to>
                                    </p:set>
                                    <p:anim calcmode="lin" valueType="num">
                                      <p:cBhvr>
                                        <p:cTn id="7" dur="1000" fill="hold"/>
                                        <p:tgtEl>
                                          <p:spTgt spid="18434"/>
                                        </p:tgtEl>
                                        <p:attrNameLst>
                                          <p:attrName>ppt_w</p:attrName>
                                        </p:attrNameLst>
                                      </p:cBhvr>
                                      <p:tavLst>
                                        <p:tav tm="0">
                                          <p:val>
                                            <p:fltVal val="0"/>
                                          </p:val>
                                        </p:tav>
                                        <p:tav tm="100000">
                                          <p:val>
                                            <p:strVal val="#ppt_w"/>
                                          </p:val>
                                        </p:tav>
                                      </p:tavLst>
                                    </p:anim>
                                    <p:anim calcmode="lin" valueType="num">
                                      <p:cBhvr>
                                        <p:cTn id="8" dur="1000" fill="hold"/>
                                        <p:tgtEl>
                                          <p:spTgt spid="18434"/>
                                        </p:tgtEl>
                                        <p:attrNameLst>
                                          <p:attrName>ppt_h</p:attrName>
                                        </p:attrNameLst>
                                      </p:cBhvr>
                                      <p:tavLst>
                                        <p:tav tm="0">
                                          <p:val>
                                            <p:fltVal val="0"/>
                                          </p:val>
                                        </p:tav>
                                        <p:tav tm="100000">
                                          <p:val>
                                            <p:strVal val="#ppt_h"/>
                                          </p:val>
                                        </p:tav>
                                      </p:tavLst>
                                    </p:anim>
                                    <p:anim calcmode="lin" valueType="num">
                                      <p:cBhvr>
                                        <p:cTn id="9" dur="1000" fill="hold"/>
                                        <p:tgtEl>
                                          <p:spTgt spid="18434"/>
                                        </p:tgtEl>
                                        <p:attrNameLst>
                                          <p:attrName>style.rotation</p:attrName>
                                        </p:attrNameLst>
                                      </p:cBhvr>
                                      <p:tavLst>
                                        <p:tav tm="0">
                                          <p:val>
                                            <p:fltVal val="90"/>
                                          </p:val>
                                        </p:tav>
                                        <p:tav tm="100000">
                                          <p:val>
                                            <p:fltVal val="0"/>
                                          </p:val>
                                        </p:tav>
                                      </p:tavLst>
                                    </p:anim>
                                    <p:animEffect transition="in" filter="fade">
                                      <p:cBhvr>
                                        <p:cTn id="10" dur="1000"/>
                                        <p:tgtEl>
                                          <p:spTgt spid="184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86961871-1204-41E3-A662-7141F5895F9D}"/>
              </a:ext>
            </a:extLst>
          </p:cNvPr>
          <p:cNvSpPr>
            <a:spLocks noGrp="1"/>
          </p:cNvSpPr>
          <p:nvPr>
            <p:ph type="title"/>
          </p:nvPr>
        </p:nvSpPr>
        <p:spPr bwMode="auto">
          <a:xfrm>
            <a:off x="1295400" y="152400"/>
            <a:ext cx="7162800" cy="411163"/>
          </a:xfrm>
        </p:spPr>
        <p:txBody>
          <a:bodyPr vert="horz" wrap="square" lIns="91440" tIns="45720" rIns="91440" bIns="45720" numCol="1" anchorCtr="0" compatLnSpc="1">
            <a:prstTxWarp prst="textNoShape">
              <a:avLst/>
            </a:prstTxWarp>
            <a:normAutofit fontScale="90000"/>
          </a:bodyPr>
          <a:lstStyle/>
          <a:p>
            <a:pPr algn="ctr">
              <a:defRPr/>
            </a:pPr>
            <a:r>
              <a:rPr lang="en-US" sz="2200" b="1" u="sng" dirty="0">
                <a:solidFill>
                  <a:schemeClr val="tx1"/>
                </a:solidFill>
                <a:effectLst/>
                <a:latin typeface="Comic Sans MS" pitchFamily="66" charset="0"/>
              </a:rPr>
              <a:t>Soil Horizon and Profile</a:t>
            </a:r>
            <a:endParaRPr lang="en-US" sz="2200" b="1" u="sng" dirty="0">
              <a:effectLst/>
            </a:endParaRPr>
          </a:p>
        </p:txBody>
      </p:sp>
      <p:sp>
        <p:nvSpPr>
          <p:cNvPr id="19459" name="Content Placeholder 2">
            <a:extLst>
              <a:ext uri="{FF2B5EF4-FFF2-40B4-BE49-F238E27FC236}">
                <a16:creationId xmlns:a16="http://schemas.microsoft.com/office/drawing/2014/main" id="{CE522229-4775-4BF8-ABEE-5295777B8304}"/>
              </a:ext>
            </a:extLst>
          </p:cNvPr>
          <p:cNvSpPr>
            <a:spLocks noGrp="1"/>
          </p:cNvSpPr>
          <p:nvPr>
            <p:ph idx="1"/>
          </p:nvPr>
        </p:nvSpPr>
        <p:spPr>
          <a:xfrm>
            <a:off x="1066800" y="609600"/>
            <a:ext cx="7848600" cy="2362200"/>
          </a:xfrm>
        </p:spPr>
        <p:txBody>
          <a:bodyPr>
            <a:normAutofit lnSpcReduction="10000"/>
          </a:bodyPr>
          <a:lstStyle/>
          <a:p>
            <a:pPr algn="just" eaLnBrk="1" hangingPunct="1">
              <a:lnSpc>
                <a:spcPct val="80000"/>
              </a:lnSpc>
            </a:pPr>
            <a:r>
              <a:rPr lang="en-US" altLang="en-US" sz="2000" dirty="0">
                <a:latin typeface="Comic Sans MS" panose="030F0702030302020204" pitchFamily="66" charset="0"/>
              </a:rPr>
              <a:t>The process of soil formation creates vertical difference in layers that are often quite distinct. These horizontal layers are known as horizons. </a:t>
            </a:r>
          </a:p>
          <a:p>
            <a:pPr algn="just" eaLnBrk="1" hangingPunct="1">
              <a:lnSpc>
                <a:spcPct val="80000"/>
              </a:lnSpc>
            </a:pPr>
            <a:r>
              <a:rPr lang="en-US" altLang="en-US" sz="2000" dirty="0">
                <a:latin typeface="Comic Sans MS" panose="030F0702030302020204" pitchFamily="66" charset="0"/>
              </a:rPr>
              <a:t>A vertical slice through the different  horizons is called  the soil profile. </a:t>
            </a:r>
          </a:p>
          <a:p>
            <a:r>
              <a:rPr lang="en-US" altLang="en-US" sz="2000" dirty="0">
                <a:latin typeface="Comic Sans MS" panose="030F0702030302020204" pitchFamily="66" charset="0"/>
              </a:rPr>
              <a:t>Why study soil profile- can learn about the type and characteristics of soil and helps determine  how the soil can be used. </a:t>
            </a:r>
          </a:p>
        </p:txBody>
      </p:sp>
      <p:pic>
        <p:nvPicPr>
          <p:cNvPr id="19460" name="Picture 5">
            <a:extLst>
              <a:ext uri="{FF2B5EF4-FFF2-40B4-BE49-F238E27FC236}">
                <a16:creationId xmlns:a16="http://schemas.microsoft.com/office/drawing/2014/main" id="{F5842FF9-1238-48D2-9297-77B6145E76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3200400"/>
            <a:ext cx="3352800" cy="3411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1" name="Picture 8">
            <a:extLst>
              <a:ext uri="{FF2B5EF4-FFF2-40B4-BE49-F238E27FC236}">
                <a16:creationId xmlns:a16="http://schemas.microsoft.com/office/drawing/2014/main" id="{1C3360AF-47B3-4DD6-AB17-B8498D2D980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81525" y="3124200"/>
            <a:ext cx="4410075"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362"/>
                                        </p:tgtEl>
                                        <p:attrNameLst>
                                          <p:attrName>style.visibility</p:attrName>
                                        </p:attrNameLst>
                                      </p:cBhvr>
                                      <p:to>
                                        <p:strVal val="visible"/>
                                      </p:to>
                                    </p:set>
                                    <p:animEffect transition="in" filter="fade">
                                      <p:cBhvr>
                                        <p:cTn id="7" dur="1000"/>
                                        <p:tgtEl>
                                          <p:spTgt spid="15362"/>
                                        </p:tgtEl>
                                      </p:cBhvr>
                                    </p:animEffect>
                                    <p:anim calcmode="lin" valueType="num">
                                      <p:cBhvr>
                                        <p:cTn id="8" dur="1000" fill="hold"/>
                                        <p:tgtEl>
                                          <p:spTgt spid="15362"/>
                                        </p:tgtEl>
                                        <p:attrNameLst>
                                          <p:attrName>ppt_x</p:attrName>
                                        </p:attrNameLst>
                                      </p:cBhvr>
                                      <p:tavLst>
                                        <p:tav tm="0">
                                          <p:val>
                                            <p:strVal val="#ppt_x"/>
                                          </p:val>
                                        </p:tav>
                                        <p:tav tm="100000">
                                          <p:val>
                                            <p:strVal val="#ppt_x"/>
                                          </p:val>
                                        </p:tav>
                                      </p:tavLst>
                                    </p:anim>
                                    <p:anim calcmode="lin" valueType="num">
                                      <p:cBhvr>
                                        <p:cTn id="9" dur="1000" fill="hold"/>
                                        <p:tgtEl>
                                          <p:spTgt spid="1536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19459">
                                            <p:txEl>
                                              <p:pRg st="0" end="0"/>
                                            </p:txEl>
                                          </p:spTgt>
                                        </p:tgtEl>
                                        <p:attrNameLst>
                                          <p:attrName>style.visibility</p:attrName>
                                        </p:attrNameLst>
                                      </p:cBhvr>
                                      <p:to>
                                        <p:strVal val="visible"/>
                                      </p:to>
                                    </p:set>
                                    <p:anim calcmode="lin" valueType="num">
                                      <p:cBhvr additive="base">
                                        <p:cTn id="14" dur="500" fill="hold"/>
                                        <p:tgtEl>
                                          <p:spTgt spid="19459">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1945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19459">
                                            <p:txEl>
                                              <p:pRg st="1" end="1"/>
                                            </p:txEl>
                                          </p:spTgt>
                                        </p:tgtEl>
                                        <p:attrNameLst>
                                          <p:attrName>style.visibility</p:attrName>
                                        </p:attrNameLst>
                                      </p:cBhvr>
                                      <p:to>
                                        <p:strVal val="visible"/>
                                      </p:to>
                                    </p:set>
                                    <p:anim calcmode="lin" valueType="num">
                                      <p:cBhvr additive="base">
                                        <p:cTn id="20" dur="500" fill="hold"/>
                                        <p:tgtEl>
                                          <p:spTgt spid="19459">
                                            <p:txEl>
                                              <p:pRg st="1" end="1"/>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1945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19459">
                                            <p:txEl>
                                              <p:pRg st="2" end="2"/>
                                            </p:txEl>
                                          </p:spTgt>
                                        </p:tgtEl>
                                        <p:attrNameLst>
                                          <p:attrName>style.visibility</p:attrName>
                                        </p:attrNameLst>
                                      </p:cBhvr>
                                      <p:to>
                                        <p:strVal val="visible"/>
                                      </p:to>
                                    </p:set>
                                    <p:anim calcmode="lin" valueType="num">
                                      <p:cBhvr additive="base">
                                        <p:cTn id="26" dur="500" fill="hold"/>
                                        <p:tgtEl>
                                          <p:spTgt spid="19459">
                                            <p:txEl>
                                              <p:pRg st="2" end="2"/>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1945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19460"/>
                                        </p:tgtEl>
                                        <p:attrNameLst>
                                          <p:attrName>style.visibility</p:attrName>
                                        </p:attrNameLst>
                                      </p:cBhvr>
                                      <p:to>
                                        <p:strVal val="visible"/>
                                      </p:to>
                                    </p:set>
                                    <p:animEffect transition="in" filter="barn(inVertical)">
                                      <p:cBhvr>
                                        <p:cTn id="32" dur="500"/>
                                        <p:tgtEl>
                                          <p:spTgt spid="19460"/>
                                        </p:tgtEl>
                                      </p:cBhvr>
                                    </p:animEffect>
                                  </p:childTnLst>
                                </p:cTn>
                              </p:par>
                              <p:par>
                                <p:cTn id="33" presetID="16" presetClass="entr" presetSubtype="21" fill="hold" nodeType="withEffect">
                                  <p:stCondLst>
                                    <p:cond delay="0"/>
                                  </p:stCondLst>
                                  <p:childTnLst>
                                    <p:set>
                                      <p:cBhvr>
                                        <p:cTn id="34" dur="1" fill="hold">
                                          <p:stCondLst>
                                            <p:cond delay="0"/>
                                          </p:stCondLst>
                                        </p:cTn>
                                        <p:tgtEl>
                                          <p:spTgt spid="19461"/>
                                        </p:tgtEl>
                                        <p:attrNameLst>
                                          <p:attrName>style.visibility</p:attrName>
                                        </p:attrNameLst>
                                      </p:cBhvr>
                                      <p:to>
                                        <p:strVal val="visible"/>
                                      </p:to>
                                    </p:set>
                                    <p:animEffect transition="in" filter="barn(inVertical)">
                                      <p:cBhvr>
                                        <p:cTn id="35" dur="500"/>
                                        <p:tgtEl>
                                          <p:spTgt spid="194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9214F35B-1CFA-49B9-88C1-E7F2CD8A9635}"/>
              </a:ext>
            </a:extLst>
          </p:cNvPr>
          <p:cNvSpPr>
            <a:spLocks noGrp="1"/>
          </p:cNvSpPr>
          <p:nvPr>
            <p:ph type="title"/>
          </p:nvPr>
        </p:nvSpPr>
        <p:spPr bwMode="auto">
          <a:xfrm>
            <a:off x="1219200" y="274638"/>
            <a:ext cx="6934200" cy="639762"/>
          </a:xfrm>
        </p:spPr>
        <p:txBody>
          <a:bodyPr vert="horz" wrap="square" lIns="91440" tIns="45720" rIns="91440" bIns="45720" numCol="1" anchorCtr="0" compatLnSpc="1">
            <a:prstTxWarp prst="textNoShape">
              <a:avLst/>
            </a:prstTxWarp>
          </a:bodyPr>
          <a:lstStyle/>
          <a:p>
            <a:pPr algn="ctr"/>
            <a:r>
              <a:rPr lang="en-US" altLang="en-US" sz="2200" b="1" u="sng" dirty="0">
                <a:solidFill>
                  <a:schemeClr val="tx1"/>
                </a:solidFill>
                <a:effectLst/>
                <a:latin typeface="Comic Sans MS" panose="030F0702030302020204" pitchFamily="66" charset="0"/>
              </a:rPr>
              <a:t>Importance of Soil as a Resource </a:t>
            </a:r>
          </a:p>
        </p:txBody>
      </p:sp>
      <p:sp>
        <p:nvSpPr>
          <p:cNvPr id="20483" name="Content Placeholder 2">
            <a:extLst>
              <a:ext uri="{FF2B5EF4-FFF2-40B4-BE49-F238E27FC236}">
                <a16:creationId xmlns:a16="http://schemas.microsoft.com/office/drawing/2014/main" id="{5FB60B17-2D6C-400A-A706-4C7BF5168587}"/>
              </a:ext>
            </a:extLst>
          </p:cNvPr>
          <p:cNvSpPr>
            <a:spLocks noGrp="1"/>
          </p:cNvSpPr>
          <p:nvPr>
            <p:ph idx="1"/>
          </p:nvPr>
        </p:nvSpPr>
        <p:spPr>
          <a:xfrm>
            <a:off x="1143000" y="1143000"/>
            <a:ext cx="7848600" cy="5105400"/>
          </a:xfrm>
        </p:spPr>
        <p:txBody>
          <a:bodyPr/>
          <a:lstStyle/>
          <a:p>
            <a:pPr>
              <a:buFont typeface="Wingdings 2" panose="05020102010507070707" pitchFamily="18" charset="2"/>
              <a:buNone/>
            </a:pPr>
            <a:r>
              <a:rPr lang="en-US" altLang="en-US" sz="2200" dirty="0">
                <a:latin typeface="Comic Sans MS" panose="030F0702030302020204" pitchFamily="66" charset="0"/>
              </a:rPr>
              <a:t>Soil is one of the three major natural resources, alongside air and water.</a:t>
            </a:r>
          </a:p>
          <a:p>
            <a:r>
              <a:rPr lang="en-US" altLang="en-US" sz="2200" dirty="0">
                <a:latin typeface="Comic Sans MS" panose="030F0702030302020204" pitchFamily="66" charset="0"/>
              </a:rPr>
              <a:t>Soil acts as a principal medium of plant growth-which provide food for human </a:t>
            </a:r>
          </a:p>
          <a:p>
            <a:r>
              <a:rPr lang="en-US" altLang="en-US" sz="2200" dirty="0">
                <a:latin typeface="Comic Sans MS" panose="030F0702030302020204" pitchFamily="66" charset="0"/>
              </a:rPr>
              <a:t>Regulates water supplies</a:t>
            </a:r>
          </a:p>
          <a:p>
            <a:r>
              <a:rPr lang="en-US" altLang="en-US" sz="2200" dirty="0">
                <a:latin typeface="Comic Sans MS" panose="030F0702030302020204" pitchFamily="66" charset="0"/>
              </a:rPr>
              <a:t>Recycles raw materials and waste products </a:t>
            </a:r>
          </a:p>
          <a:p>
            <a:r>
              <a:rPr lang="en-US" altLang="en-US" sz="2200" dirty="0">
                <a:latin typeface="Comic Sans MS" panose="030F0702030302020204" pitchFamily="66" charset="0"/>
              </a:rPr>
              <a:t>Serves as a major engineering medium for human built structure </a:t>
            </a:r>
          </a:p>
          <a:p>
            <a:r>
              <a:rPr lang="en-US" altLang="en-US" sz="2200" dirty="0">
                <a:latin typeface="Comic Sans MS" panose="030F0702030302020204" pitchFamily="66" charset="0"/>
              </a:rPr>
              <a:t>Indirectly regulates the climate keeping our environment habitable </a:t>
            </a:r>
          </a:p>
          <a:p>
            <a:endParaRPr lang="en-US" altLang="en-US" sz="2200" dirty="0">
              <a:latin typeface="Comic Sans MS" panose="030F0702030302020204" pitchFamily="66"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0482"/>
                                        </p:tgtEl>
                                        <p:attrNameLst>
                                          <p:attrName>style.visibility</p:attrName>
                                        </p:attrNameLst>
                                      </p:cBhvr>
                                      <p:to>
                                        <p:strVal val="visible"/>
                                      </p:to>
                                    </p:set>
                                    <p:animEffect transition="in" filter="fade">
                                      <p:cBhvr>
                                        <p:cTn id="7" dur="1000"/>
                                        <p:tgtEl>
                                          <p:spTgt spid="20482"/>
                                        </p:tgtEl>
                                      </p:cBhvr>
                                    </p:animEffect>
                                    <p:anim calcmode="lin" valueType="num">
                                      <p:cBhvr>
                                        <p:cTn id="8" dur="1000" fill="hold"/>
                                        <p:tgtEl>
                                          <p:spTgt spid="20482"/>
                                        </p:tgtEl>
                                        <p:attrNameLst>
                                          <p:attrName>ppt_x</p:attrName>
                                        </p:attrNameLst>
                                      </p:cBhvr>
                                      <p:tavLst>
                                        <p:tav tm="0">
                                          <p:val>
                                            <p:strVal val="#ppt_x"/>
                                          </p:val>
                                        </p:tav>
                                        <p:tav tm="100000">
                                          <p:val>
                                            <p:strVal val="#ppt_x"/>
                                          </p:val>
                                        </p:tav>
                                      </p:tavLst>
                                    </p:anim>
                                    <p:anim calcmode="lin" valueType="num">
                                      <p:cBhvr>
                                        <p:cTn id="9" dur="1000" fill="hold"/>
                                        <p:tgtEl>
                                          <p:spTgt spid="2048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0483">
                                            <p:txEl>
                                              <p:pRg st="0" end="0"/>
                                            </p:txEl>
                                          </p:spTgt>
                                        </p:tgtEl>
                                        <p:attrNameLst>
                                          <p:attrName>style.visibility</p:attrName>
                                        </p:attrNameLst>
                                      </p:cBhvr>
                                      <p:to>
                                        <p:strVal val="visible"/>
                                      </p:to>
                                    </p:set>
                                    <p:animEffect transition="in" filter="fade">
                                      <p:cBhvr>
                                        <p:cTn id="14" dur="1000"/>
                                        <p:tgtEl>
                                          <p:spTgt spid="20483">
                                            <p:txEl>
                                              <p:pRg st="0" end="0"/>
                                            </p:txEl>
                                          </p:spTgt>
                                        </p:tgtEl>
                                      </p:cBhvr>
                                    </p:animEffect>
                                    <p:anim calcmode="lin" valueType="num">
                                      <p:cBhvr>
                                        <p:cTn id="15" dur="1000" fill="hold"/>
                                        <p:tgtEl>
                                          <p:spTgt spid="2048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048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0483">
                                            <p:txEl>
                                              <p:pRg st="1" end="1"/>
                                            </p:txEl>
                                          </p:spTgt>
                                        </p:tgtEl>
                                        <p:attrNameLst>
                                          <p:attrName>style.visibility</p:attrName>
                                        </p:attrNameLst>
                                      </p:cBhvr>
                                      <p:to>
                                        <p:strVal val="visible"/>
                                      </p:to>
                                    </p:set>
                                    <p:anim calcmode="lin" valueType="num">
                                      <p:cBhvr additive="base">
                                        <p:cTn id="21" dur="500" fill="hold"/>
                                        <p:tgtEl>
                                          <p:spTgt spid="20483">
                                            <p:txEl>
                                              <p:pRg st="1" end="1"/>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048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0483">
                                            <p:txEl>
                                              <p:pRg st="2" end="2"/>
                                            </p:txEl>
                                          </p:spTgt>
                                        </p:tgtEl>
                                        <p:attrNameLst>
                                          <p:attrName>style.visibility</p:attrName>
                                        </p:attrNameLst>
                                      </p:cBhvr>
                                      <p:to>
                                        <p:strVal val="visible"/>
                                      </p:to>
                                    </p:set>
                                    <p:anim calcmode="lin" valueType="num">
                                      <p:cBhvr additive="base">
                                        <p:cTn id="27" dur="500" fill="hold"/>
                                        <p:tgtEl>
                                          <p:spTgt spid="20483">
                                            <p:txEl>
                                              <p:pRg st="2" end="2"/>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048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20483">
                                            <p:txEl>
                                              <p:pRg st="3" end="3"/>
                                            </p:txEl>
                                          </p:spTgt>
                                        </p:tgtEl>
                                        <p:attrNameLst>
                                          <p:attrName>style.visibility</p:attrName>
                                        </p:attrNameLst>
                                      </p:cBhvr>
                                      <p:to>
                                        <p:strVal val="visible"/>
                                      </p:to>
                                    </p:set>
                                    <p:anim calcmode="lin" valueType="num">
                                      <p:cBhvr additive="base">
                                        <p:cTn id="33" dur="500" fill="hold"/>
                                        <p:tgtEl>
                                          <p:spTgt spid="20483">
                                            <p:txEl>
                                              <p:pRg st="3" end="3"/>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048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20483">
                                            <p:txEl>
                                              <p:pRg st="4" end="4"/>
                                            </p:txEl>
                                          </p:spTgt>
                                        </p:tgtEl>
                                        <p:attrNameLst>
                                          <p:attrName>style.visibility</p:attrName>
                                        </p:attrNameLst>
                                      </p:cBhvr>
                                      <p:to>
                                        <p:strVal val="visible"/>
                                      </p:to>
                                    </p:set>
                                    <p:anim calcmode="lin" valueType="num">
                                      <p:cBhvr additive="base">
                                        <p:cTn id="39" dur="500" fill="hold"/>
                                        <p:tgtEl>
                                          <p:spTgt spid="20483">
                                            <p:txEl>
                                              <p:pRg st="4" end="4"/>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2048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20483">
                                            <p:txEl>
                                              <p:pRg st="5" end="5"/>
                                            </p:txEl>
                                          </p:spTgt>
                                        </p:tgtEl>
                                        <p:attrNameLst>
                                          <p:attrName>style.visibility</p:attrName>
                                        </p:attrNameLst>
                                      </p:cBhvr>
                                      <p:to>
                                        <p:strVal val="visible"/>
                                      </p:to>
                                    </p:set>
                                    <p:anim calcmode="lin" valueType="num">
                                      <p:cBhvr additive="base">
                                        <p:cTn id="45" dur="500" fill="hold"/>
                                        <p:tgtEl>
                                          <p:spTgt spid="20483">
                                            <p:txEl>
                                              <p:pRg st="5" end="5"/>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2048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3F0AB-0C76-427A-B04B-20C6A47CB94D}"/>
              </a:ext>
            </a:extLst>
          </p:cNvPr>
          <p:cNvSpPr>
            <a:spLocks noGrp="1"/>
          </p:cNvSpPr>
          <p:nvPr>
            <p:ph type="title"/>
          </p:nvPr>
        </p:nvSpPr>
        <p:spPr>
          <a:xfrm>
            <a:off x="1435100" y="274638"/>
            <a:ext cx="7499350" cy="334962"/>
          </a:xfrm>
        </p:spPr>
        <p:txBody>
          <a:bodyPr>
            <a:noAutofit/>
          </a:bodyPr>
          <a:lstStyle/>
          <a:p>
            <a:pPr algn="ctr">
              <a:defRPr/>
            </a:pPr>
            <a:r>
              <a:rPr lang="en-US" sz="2200" b="1" u="sng" dirty="0">
                <a:latin typeface="Comic Sans MS" pitchFamily="66" charset="0"/>
              </a:rPr>
              <a:t>Concern regarding soil</a:t>
            </a:r>
          </a:p>
        </p:txBody>
      </p:sp>
      <p:sp>
        <p:nvSpPr>
          <p:cNvPr id="21507" name="Content Placeholder 2">
            <a:extLst>
              <a:ext uri="{FF2B5EF4-FFF2-40B4-BE49-F238E27FC236}">
                <a16:creationId xmlns:a16="http://schemas.microsoft.com/office/drawing/2014/main" id="{53D444A3-11B8-4D38-B123-1A78B2E63DB6}"/>
              </a:ext>
            </a:extLst>
          </p:cNvPr>
          <p:cNvSpPr>
            <a:spLocks noGrp="1"/>
          </p:cNvSpPr>
          <p:nvPr>
            <p:ph idx="1"/>
          </p:nvPr>
        </p:nvSpPr>
        <p:spPr>
          <a:xfrm>
            <a:off x="609600" y="838200"/>
            <a:ext cx="8305800" cy="5943600"/>
          </a:xfrm>
        </p:spPr>
        <p:txBody>
          <a:bodyPr>
            <a:normAutofit/>
          </a:bodyPr>
          <a:lstStyle/>
          <a:p>
            <a:pPr algn="just">
              <a:buFont typeface="Wingdings 2" panose="05020102010507070707" pitchFamily="18" charset="2"/>
              <a:buNone/>
            </a:pPr>
            <a:r>
              <a:rPr lang="en-US" altLang="en-US" sz="2000" dirty="0">
                <a:latin typeface="Comic Sans MS" panose="030F0702030302020204" pitchFamily="66" charset="0"/>
              </a:rPr>
              <a:t>   We are concerned about soil because once the soil is lost from the field it takes more time than we have for new soil to be developed. It takes nature under the most </a:t>
            </a:r>
            <a:r>
              <a:rPr lang="en-US" altLang="en-US" sz="2000" dirty="0" err="1">
                <a:latin typeface="Comic Sans MS" panose="030F0702030302020204" pitchFamily="66" charset="0"/>
              </a:rPr>
              <a:t>favourable</a:t>
            </a:r>
            <a:r>
              <a:rPr lang="en-US" altLang="en-US" sz="2000" dirty="0">
                <a:latin typeface="Comic Sans MS" panose="030F0702030302020204" pitchFamily="66" charset="0"/>
              </a:rPr>
              <a:t> climatic conditions together with good vegetative cover 200 to 1000 years or more to build </a:t>
            </a:r>
            <a:r>
              <a:rPr lang="en-US" altLang="en-US" sz="2000" u="sng" dirty="0">
                <a:latin typeface="Comic Sans MS" panose="030F0702030302020204" pitchFamily="66" charset="0"/>
              </a:rPr>
              <a:t>one inch </a:t>
            </a:r>
            <a:r>
              <a:rPr lang="en-US" altLang="en-US" sz="2000" dirty="0">
                <a:latin typeface="Comic Sans MS" panose="030F0702030302020204" pitchFamily="66" charset="0"/>
              </a:rPr>
              <a:t>of topsoil from the raw material of subsoil. If a seven inch layer of topsoil is allowed to wash away at least 1400 to 7000 years of nature’s work goes to waste. Hence for all practical purposes it could be said that soil is by far the most important, basic and irreplaceable resource. </a:t>
            </a:r>
          </a:p>
          <a:p>
            <a:pPr algn="just">
              <a:buFont typeface="Wingdings 2" panose="05020102010507070707" pitchFamily="18" charset="2"/>
              <a:buNone/>
            </a:pPr>
            <a:endParaRPr lang="en-US" altLang="en-US" sz="2000" dirty="0">
              <a:latin typeface="Comic Sans MS" panose="030F0702030302020204" pitchFamily="66" charset="0"/>
            </a:endParaRPr>
          </a:p>
          <a:p>
            <a:pPr algn="just">
              <a:buFont typeface="Wingdings 2" panose="05020102010507070707" pitchFamily="18" charset="2"/>
              <a:buNone/>
            </a:pPr>
            <a:r>
              <a:rPr lang="en-US" altLang="en-US" sz="2000" dirty="0">
                <a:latin typeface="Comic Sans MS" panose="030F0702030302020204" pitchFamily="66" charset="0"/>
              </a:rPr>
              <a:t>   The growing degradation and loss of soil means that the expanding population in many parts of the world is pressing this resource to its limits and its absence in the environment is going to have devastating results for humanity. </a:t>
            </a:r>
          </a:p>
          <a:p>
            <a:pPr algn="just"/>
            <a:endParaRPr lang="en-US" altLang="en-US" sz="2000" dirty="0">
              <a:latin typeface="Comic Sans MS" panose="030F0702030302020204" pitchFamily="66"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21507">
                                            <p:txEl>
                                              <p:pRg st="0" end="0"/>
                                            </p:txEl>
                                          </p:spTgt>
                                        </p:tgtEl>
                                        <p:attrNameLst>
                                          <p:attrName>style.visibility</p:attrName>
                                        </p:attrNameLst>
                                      </p:cBhvr>
                                      <p:to>
                                        <p:strVal val="visible"/>
                                      </p:to>
                                    </p:set>
                                    <p:animEffect transition="in" filter="fade">
                                      <p:cBhvr>
                                        <p:cTn id="13" dur="1000"/>
                                        <p:tgtEl>
                                          <p:spTgt spid="21507">
                                            <p:txEl>
                                              <p:pRg st="0" end="0"/>
                                            </p:txEl>
                                          </p:spTgt>
                                        </p:tgtEl>
                                      </p:cBhvr>
                                    </p:animEffect>
                                    <p:anim calcmode="lin" valueType="num">
                                      <p:cBhvr>
                                        <p:cTn id="14" dur="1000" fill="hold"/>
                                        <p:tgtEl>
                                          <p:spTgt spid="21507">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2150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21507">
                                            <p:txEl>
                                              <p:pRg st="2" end="2"/>
                                            </p:txEl>
                                          </p:spTgt>
                                        </p:tgtEl>
                                        <p:attrNameLst>
                                          <p:attrName>style.visibility</p:attrName>
                                        </p:attrNameLst>
                                      </p:cBhvr>
                                      <p:to>
                                        <p:strVal val="visible"/>
                                      </p:to>
                                    </p:set>
                                    <p:animEffect transition="in" filter="fade">
                                      <p:cBhvr>
                                        <p:cTn id="20" dur="1000"/>
                                        <p:tgtEl>
                                          <p:spTgt spid="21507">
                                            <p:txEl>
                                              <p:pRg st="2" end="2"/>
                                            </p:txEl>
                                          </p:spTgt>
                                        </p:tgtEl>
                                      </p:cBhvr>
                                    </p:animEffect>
                                    <p:anim calcmode="lin" valueType="num">
                                      <p:cBhvr>
                                        <p:cTn id="21" dur="1000" fill="hold"/>
                                        <p:tgtEl>
                                          <p:spTgt spid="21507">
                                            <p:txEl>
                                              <p:pRg st="2" end="2"/>
                                            </p:txEl>
                                          </p:spTgt>
                                        </p:tgtEl>
                                        <p:attrNameLst>
                                          <p:attrName>ppt_x</p:attrName>
                                        </p:attrNameLst>
                                      </p:cBhvr>
                                      <p:tavLst>
                                        <p:tav tm="0">
                                          <p:val>
                                            <p:strVal val="#ppt_x"/>
                                          </p:val>
                                        </p:tav>
                                        <p:tav tm="100000">
                                          <p:val>
                                            <p:strVal val="#ppt_x"/>
                                          </p:val>
                                        </p:tav>
                                      </p:tavLst>
                                    </p:anim>
                                    <p:anim calcmode="lin" valueType="num">
                                      <p:cBhvr>
                                        <p:cTn id="22" dur="1000" fill="hold"/>
                                        <p:tgtEl>
                                          <p:spTgt spid="21507">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Content Placeholder 2">
            <a:extLst>
              <a:ext uri="{FF2B5EF4-FFF2-40B4-BE49-F238E27FC236}">
                <a16:creationId xmlns:a16="http://schemas.microsoft.com/office/drawing/2014/main" id="{0AD69ACD-2478-4705-BE85-AFEF8C15F1B8}"/>
              </a:ext>
            </a:extLst>
          </p:cNvPr>
          <p:cNvSpPr>
            <a:spLocks noGrp="1"/>
          </p:cNvSpPr>
          <p:nvPr>
            <p:ph idx="1"/>
          </p:nvPr>
        </p:nvSpPr>
        <p:spPr>
          <a:xfrm>
            <a:off x="952500" y="838200"/>
            <a:ext cx="7848600" cy="2286000"/>
          </a:xfrm>
        </p:spPr>
        <p:txBody>
          <a:bodyPr>
            <a:normAutofit lnSpcReduction="10000"/>
          </a:bodyPr>
          <a:lstStyle/>
          <a:p>
            <a:pPr>
              <a:buFont typeface="Wingdings 2" panose="05020102010507070707" pitchFamily="18" charset="2"/>
              <a:buNone/>
              <a:defRPr/>
            </a:pPr>
            <a:r>
              <a:rPr lang="en-US" sz="2200" b="1" u="sng" dirty="0">
                <a:latin typeface="Comic Sans MS" pitchFamily="66" charset="0"/>
              </a:rPr>
              <a:t>Agriculture and Soil </a:t>
            </a:r>
          </a:p>
          <a:p>
            <a:pPr algn="just">
              <a:buFont typeface="Wingdings 2" panose="05020102010507070707" pitchFamily="18" charset="2"/>
              <a:buNone/>
              <a:defRPr/>
            </a:pPr>
            <a:r>
              <a:rPr lang="en-US" sz="2200" dirty="0">
                <a:latin typeface="Comic Sans MS" pitchFamily="66" charset="0"/>
              </a:rPr>
              <a:t>Agriculture is very important, old and traditional type</a:t>
            </a:r>
          </a:p>
          <a:p>
            <a:pPr algn="just">
              <a:buFont typeface="Wingdings 2" panose="05020102010507070707" pitchFamily="18" charset="2"/>
              <a:buNone/>
              <a:defRPr/>
            </a:pPr>
            <a:r>
              <a:rPr lang="en-US" sz="2200" dirty="0">
                <a:latin typeface="Comic Sans MS" pitchFamily="66" charset="0"/>
              </a:rPr>
              <a:t>of primary economic activity. It is an economic activity</a:t>
            </a:r>
          </a:p>
          <a:p>
            <a:pPr algn="just">
              <a:buFont typeface="Wingdings 2" panose="05020102010507070707" pitchFamily="18" charset="2"/>
              <a:buNone/>
              <a:defRPr/>
            </a:pPr>
            <a:r>
              <a:rPr lang="en-US" sz="2200" dirty="0">
                <a:latin typeface="Comic Sans MS" pitchFamily="66" charset="0"/>
              </a:rPr>
              <a:t>conducted by </a:t>
            </a:r>
            <a:r>
              <a:rPr lang="en-US" sz="2200" dirty="0">
                <a:solidFill>
                  <a:schemeClr val="tx2">
                    <a:lumMod val="10000"/>
                  </a:schemeClr>
                </a:solidFill>
                <a:latin typeface="Comic Sans MS" pitchFamily="66" charset="0"/>
              </a:rPr>
              <a:t>Humans</a:t>
            </a:r>
            <a:r>
              <a:rPr lang="en-US" sz="2200" dirty="0">
                <a:latin typeface="Comic Sans MS" pitchFamily="66" charset="0"/>
              </a:rPr>
              <a:t> to </a:t>
            </a:r>
            <a:r>
              <a:rPr lang="en-US" sz="2200" dirty="0">
                <a:solidFill>
                  <a:schemeClr val="tx2">
                    <a:lumMod val="10000"/>
                  </a:schemeClr>
                </a:solidFill>
                <a:latin typeface="Comic Sans MS" pitchFamily="66" charset="0"/>
              </a:rPr>
              <a:t>grow crops and raise livestock</a:t>
            </a:r>
          </a:p>
          <a:p>
            <a:pPr algn="just">
              <a:buFont typeface="Wingdings 2" panose="05020102010507070707" pitchFamily="18" charset="2"/>
              <a:buNone/>
              <a:defRPr/>
            </a:pPr>
            <a:r>
              <a:rPr lang="en-US" sz="2200" dirty="0">
                <a:latin typeface="Comic Sans MS" pitchFamily="66" charset="0"/>
              </a:rPr>
              <a:t>directly from the </a:t>
            </a:r>
            <a:r>
              <a:rPr lang="en-US" sz="2200" dirty="0">
                <a:solidFill>
                  <a:schemeClr val="tx2">
                    <a:lumMod val="10000"/>
                  </a:schemeClr>
                </a:solidFill>
                <a:latin typeface="Comic Sans MS" pitchFamily="66" charset="0"/>
              </a:rPr>
              <a:t>field</a:t>
            </a:r>
            <a:r>
              <a:rPr lang="en-US" sz="2200" dirty="0">
                <a:latin typeface="Comic Sans MS" pitchFamily="66" charset="0"/>
              </a:rPr>
              <a:t> under their </a:t>
            </a:r>
            <a:r>
              <a:rPr lang="en-US" sz="2200" dirty="0">
                <a:solidFill>
                  <a:schemeClr val="tx2">
                    <a:lumMod val="10000"/>
                  </a:schemeClr>
                </a:solidFill>
                <a:latin typeface="Comic Sans MS" pitchFamily="66" charset="0"/>
              </a:rPr>
              <a:t>direct supervision</a:t>
            </a:r>
            <a:r>
              <a:rPr lang="en-US" sz="2200" dirty="0">
                <a:latin typeface="Comic Sans MS" pitchFamily="66" charset="0"/>
              </a:rPr>
              <a:t>. </a:t>
            </a:r>
          </a:p>
          <a:p>
            <a:pPr>
              <a:buFont typeface="Wingdings 2" panose="05020102010507070707" pitchFamily="18" charset="2"/>
              <a:buNone/>
              <a:defRPr/>
            </a:pPr>
            <a:endParaRPr lang="en-US" sz="2200" dirty="0">
              <a:latin typeface="Comic Sans MS" pitchFamily="66" charset="0"/>
            </a:endParaRPr>
          </a:p>
          <a:p>
            <a:pPr>
              <a:defRPr/>
            </a:pPr>
            <a:endParaRPr lang="en-US" sz="2200" dirty="0">
              <a:latin typeface="Comic Sans MS" pitchFamily="66" charset="0"/>
            </a:endParaRPr>
          </a:p>
        </p:txBody>
      </p:sp>
      <p:pic>
        <p:nvPicPr>
          <p:cNvPr id="4" name="Picture 2" descr="C:\Users\joy\Downloads\farming.jpg">
            <a:extLst>
              <a:ext uri="{FF2B5EF4-FFF2-40B4-BE49-F238E27FC236}">
                <a16:creationId xmlns:a16="http://schemas.microsoft.com/office/drawing/2014/main" id="{4632E7FF-9F5F-467D-839C-3157F9118026}"/>
              </a:ext>
            </a:extLst>
          </p:cNvPr>
          <p:cNvPicPr>
            <a:picLocks noChangeAspect="1" noChangeArrowheads="1"/>
          </p:cNvPicPr>
          <p:nvPr/>
        </p:nvPicPr>
        <p:blipFill>
          <a:blip r:embed="rId3" cstate="print"/>
          <a:srcRect/>
          <a:stretch>
            <a:fillRect/>
          </a:stretch>
        </p:blipFill>
        <p:spPr bwMode="auto">
          <a:xfrm>
            <a:off x="914400" y="3200400"/>
            <a:ext cx="3962400" cy="3200400"/>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pic>
        <p:nvPicPr>
          <p:cNvPr id="5" name="Picture 2" descr="C:\Users\joy\Downloads\Kenyancommercialfarm.jpg">
            <a:extLst>
              <a:ext uri="{FF2B5EF4-FFF2-40B4-BE49-F238E27FC236}">
                <a16:creationId xmlns:a16="http://schemas.microsoft.com/office/drawing/2014/main" id="{61DA1DC4-2A82-4EE9-ABD1-D7FF42DA40E5}"/>
              </a:ext>
            </a:extLst>
          </p:cNvPr>
          <p:cNvPicPr>
            <a:picLocks noChangeAspect="1" noChangeArrowheads="1"/>
          </p:cNvPicPr>
          <p:nvPr/>
        </p:nvPicPr>
        <p:blipFill>
          <a:blip r:embed="rId4" cstate="print"/>
          <a:srcRect/>
          <a:stretch>
            <a:fillRect/>
          </a:stretch>
        </p:blipFill>
        <p:spPr bwMode="auto">
          <a:xfrm>
            <a:off x="5105400" y="3276600"/>
            <a:ext cx="3744415" cy="3036910"/>
          </a:xfrm>
          <a:prstGeom prst="rect">
            <a:avLst/>
          </a:prstGeom>
          <a:ln w="88900" cap="sq" cmpd="thickThin">
            <a:solidFill>
              <a:srgbClr val="000000"/>
            </a:solidFill>
            <a:prstDash val="solid"/>
            <a:miter lim="800000"/>
          </a:ln>
          <a:effectLst>
            <a:innerShdw blurRad="76200">
              <a:srgbClr val="000000"/>
            </a:innerShdw>
          </a:effectLst>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animEffect transition="in" filter="fade">
                                      <p:cBhvr>
                                        <p:cTn id="7" dur="1000"/>
                                        <p:tgtEl>
                                          <p:spTgt spid="19459">
                                            <p:txEl>
                                              <p:pRg st="0" end="0"/>
                                            </p:txEl>
                                          </p:spTgt>
                                        </p:tgtEl>
                                      </p:cBhvr>
                                    </p:animEffect>
                                    <p:anim calcmode="lin" valueType="num">
                                      <p:cBhvr>
                                        <p:cTn id="8" dur="1000" fill="hold"/>
                                        <p:tgtEl>
                                          <p:spTgt spid="1945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945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9459">
                                            <p:txEl>
                                              <p:pRg st="1" end="1"/>
                                            </p:txEl>
                                          </p:spTgt>
                                        </p:tgtEl>
                                        <p:attrNameLst>
                                          <p:attrName>style.visibility</p:attrName>
                                        </p:attrNameLst>
                                      </p:cBhvr>
                                      <p:to>
                                        <p:strVal val="visible"/>
                                      </p:to>
                                    </p:set>
                                    <p:animEffect transition="in" filter="fade">
                                      <p:cBhvr>
                                        <p:cTn id="14" dur="1000"/>
                                        <p:tgtEl>
                                          <p:spTgt spid="19459">
                                            <p:txEl>
                                              <p:pRg st="1" end="1"/>
                                            </p:txEl>
                                          </p:spTgt>
                                        </p:tgtEl>
                                      </p:cBhvr>
                                    </p:animEffect>
                                    <p:anim calcmode="lin" valueType="num">
                                      <p:cBhvr>
                                        <p:cTn id="15" dur="1000" fill="hold"/>
                                        <p:tgtEl>
                                          <p:spTgt spid="19459">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9459">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9459">
                                            <p:txEl>
                                              <p:pRg st="2" end="2"/>
                                            </p:txEl>
                                          </p:spTgt>
                                        </p:tgtEl>
                                        <p:attrNameLst>
                                          <p:attrName>style.visibility</p:attrName>
                                        </p:attrNameLst>
                                      </p:cBhvr>
                                      <p:to>
                                        <p:strVal val="visible"/>
                                      </p:to>
                                    </p:set>
                                    <p:animEffect transition="in" filter="fade">
                                      <p:cBhvr>
                                        <p:cTn id="19" dur="1000"/>
                                        <p:tgtEl>
                                          <p:spTgt spid="19459">
                                            <p:txEl>
                                              <p:pRg st="2" end="2"/>
                                            </p:txEl>
                                          </p:spTgt>
                                        </p:tgtEl>
                                      </p:cBhvr>
                                    </p:animEffect>
                                    <p:anim calcmode="lin" valueType="num">
                                      <p:cBhvr>
                                        <p:cTn id="20" dur="1000" fill="hold"/>
                                        <p:tgtEl>
                                          <p:spTgt spid="19459">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19459">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19459">
                                            <p:txEl>
                                              <p:pRg st="3" end="3"/>
                                            </p:txEl>
                                          </p:spTgt>
                                        </p:tgtEl>
                                        <p:attrNameLst>
                                          <p:attrName>style.visibility</p:attrName>
                                        </p:attrNameLst>
                                      </p:cBhvr>
                                      <p:to>
                                        <p:strVal val="visible"/>
                                      </p:to>
                                    </p:set>
                                    <p:animEffect transition="in" filter="fade">
                                      <p:cBhvr>
                                        <p:cTn id="24" dur="1000"/>
                                        <p:tgtEl>
                                          <p:spTgt spid="19459">
                                            <p:txEl>
                                              <p:pRg st="3" end="3"/>
                                            </p:txEl>
                                          </p:spTgt>
                                        </p:tgtEl>
                                      </p:cBhvr>
                                    </p:animEffect>
                                    <p:anim calcmode="lin" valueType="num">
                                      <p:cBhvr>
                                        <p:cTn id="25" dur="1000" fill="hold"/>
                                        <p:tgtEl>
                                          <p:spTgt spid="19459">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19459">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19459">
                                            <p:txEl>
                                              <p:pRg st="4" end="4"/>
                                            </p:txEl>
                                          </p:spTgt>
                                        </p:tgtEl>
                                        <p:attrNameLst>
                                          <p:attrName>style.visibility</p:attrName>
                                        </p:attrNameLst>
                                      </p:cBhvr>
                                      <p:to>
                                        <p:strVal val="visible"/>
                                      </p:to>
                                    </p:set>
                                    <p:animEffect transition="in" filter="fade">
                                      <p:cBhvr>
                                        <p:cTn id="29" dur="1000"/>
                                        <p:tgtEl>
                                          <p:spTgt spid="19459">
                                            <p:txEl>
                                              <p:pRg st="4" end="4"/>
                                            </p:txEl>
                                          </p:spTgt>
                                        </p:tgtEl>
                                      </p:cBhvr>
                                    </p:animEffect>
                                    <p:anim calcmode="lin" valueType="num">
                                      <p:cBhvr>
                                        <p:cTn id="30" dur="1000" fill="hold"/>
                                        <p:tgtEl>
                                          <p:spTgt spid="19459">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19459">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16" presetClass="entr" presetSubtype="21" fill="hold" nodeType="click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barn(inVertical)">
                                      <p:cBhvr>
                                        <p:cTn id="36" dur="500"/>
                                        <p:tgtEl>
                                          <p:spTgt spid="4"/>
                                        </p:tgtEl>
                                      </p:cBhvr>
                                    </p:animEffect>
                                  </p:childTnLst>
                                </p:cTn>
                              </p:par>
                              <p:par>
                                <p:cTn id="37" presetID="16" presetClass="entr" presetSubtype="21" fill="hold" nodeType="with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barn(inVertical)">
                                      <p:cBhvr>
                                        <p:cTn id="3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Content Placeholder 2">
            <a:extLst>
              <a:ext uri="{FF2B5EF4-FFF2-40B4-BE49-F238E27FC236}">
                <a16:creationId xmlns:a16="http://schemas.microsoft.com/office/drawing/2014/main" id="{B6BD1F63-E0F3-4CE5-9B1C-554C808355F1}"/>
              </a:ext>
            </a:extLst>
          </p:cNvPr>
          <p:cNvSpPr>
            <a:spLocks noGrp="1"/>
          </p:cNvSpPr>
          <p:nvPr>
            <p:ph idx="1"/>
          </p:nvPr>
        </p:nvSpPr>
        <p:spPr>
          <a:xfrm>
            <a:off x="990600" y="838200"/>
            <a:ext cx="7620000" cy="5715000"/>
          </a:xfrm>
        </p:spPr>
        <p:txBody>
          <a:bodyPr/>
          <a:lstStyle/>
          <a:p>
            <a:pPr marL="60325" indent="-60325" algn="just">
              <a:buFont typeface="Wingdings 2" panose="05020102010507070707" pitchFamily="18" charset="2"/>
              <a:buNone/>
            </a:pPr>
            <a:r>
              <a:rPr lang="en-US" altLang="en-US" sz="2800" dirty="0">
                <a:latin typeface="Comic Sans MS" panose="030F0702030302020204" pitchFamily="66" charset="0"/>
              </a:rPr>
              <a:t>Agriculture involves use of fertilizer, pesticide, irrigation etc. Agriculture depends heavily on </a:t>
            </a:r>
            <a:r>
              <a:rPr lang="en-US" altLang="en-US" sz="2800" u="sng" dirty="0">
                <a:latin typeface="Comic Sans MS" panose="030F0702030302020204" pitchFamily="66" charset="0"/>
              </a:rPr>
              <a:t>soil quality.</a:t>
            </a:r>
            <a:r>
              <a:rPr lang="en-US" altLang="en-US" sz="2800" dirty="0">
                <a:latin typeface="Comic Sans MS" panose="030F0702030302020204" pitchFamily="66" charset="0"/>
              </a:rPr>
              <a:t>  </a:t>
            </a:r>
            <a:r>
              <a:rPr lang="en-US" altLang="en-US" sz="2800" u="sng" dirty="0">
                <a:latin typeface="Comic Sans MS" panose="030F0702030302020204" pitchFamily="66" charset="0"/>
              </a:rPr>
              <a:t>Intensive agriculture </a:t>
            </a:r>
            <a:r>
              <a:rPr lang="en-US" altLang="en-US" sz="2800" dirty="0">
                <a:latin typeface="Comic Sans MS" panose="030F0702030302020204" pitchFamily="66" charset="0"/>
              </a:rPr>
              <a:t>can also lead to the decline in the soil quality.  Intensive agriculture uses </a:t>
            </a:r>
            <a:r>
              <a:rPr lang="en-US" altLang="en-US" sz="2800" u="sng" dirty="0">
                <a:latin typeface="Comic Sans MS" panose="030F0702030302020204" pitchFamily="66" charset="0"/>
              </a:rPr>
              <a:t>high levels </a:t>
            </a:r>
            <a:r>
              <a:rPr lang="en-US" altLang="en-US" sz="2800" dirty="0">
                <a:latin typeface="Comic Sans MS" panose="030F0702030302020204" pitchFamily="66" charset="0"/>
              </a:rPr>
              <a:t>of complementary inputs such as irrigation, chemical fertilizers and pesticides to achieve maximum yields at the lowest possible cost.</a:t>
            </a:r>
          </a:p>
          <a:p>
            <a:pPr algn="just">
              <a:buFont typeface="Wingdings 2" panose="05020102010507070707" pitchFamily="18" charset="2"/>
              <a:buNone/>
            </a:pPr>
            <a:endParaRPr lang="en-US" altLang="en-US" sz="2400" dirty="0">
              <a:latin typeface="Comic Sans MS" panose="030F0702030302020204" pitchFamily="66" charset="0"/>
            </a:endParaRPr>
          </a:p>
          <a:p>
            <a:endParaRPr lang="en-US" altLang="en-US" sz="2200" dirty="0">
              <a:latin typeface="Comic Sans MS" panose="030F0702030302020204" pitchFamily="66"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3554">
                                            <p:txEl>
                                              <p:pRg st="0" end="0"/>
                                            </p:txEl>
                                          </p:spTgt>
                                        </p:tgtEl>
                                        <p:attrNameLst>
                                          <p:attrName>style.visibility</p:attrName>
                                        </p:attrNameLst>
                                      </p:cBhvr>
                                      <p:to>
                                        <p:strVal val="visible"/>
                                      </p:to>
                                    </p:set>
                                    <p:animEffect transition="in" filter="fade">
                                      <p:cBhvr>
                                        <p:cTn id="7" dur="1000"/>
                                        <p:tgtEl>
                                          <p:spTgt spid="23554">
                                            <p:txEl>
                                              <p:pRg st="0" end="0"/>
                                            </p:txEl>
                                          </p:spTgt>
                                        </p:tgtEl>
                                      </p:cBhvr>
                                    </p:animEffect>
                                    <p:anim calcmode="lin" valueType="num">
                                      <p:cBhvr>
                                        <p:cTn id="8" dur="1000" fill="hold"/>
                                        <p:tgtEl>
                                          <p:spTgt spid="2355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3554">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4"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Content Placeholder 2">
            <a:extLst>
              <a:ext uri="{FF2B5EF4-FFF2-40B4-BE49-F238E27FC236}">
                <a16:creationId xmlns:a16="http://schemas.microsoft.com/office/drawing/2014/main" id="{BFB01E87-DA15-499E-8471-4FE0A323716B}"/>
              </a:ext>
            </a:extLst>
          </p:cNvPr>
          <p:cNvSpPr>
            <a:spLocks noGrp="1"/>
          </p:cNvSpPr>
          <p:nvPr>
            <p:ph idx="1"/>
          </p:nvPr>
        </p:nvSpPr>
        <p:spPr>
          <a:xfrm>
            <a:off x="1219200" y="838200"/>
            <a:ext cx="7467600" cy="5410200"/>
          </a:xfrm>
        </p:spPr>
        <p:txBody>
          <a:bodyPr>
            <a:normAutofit fontScale="92500"/>
          </a:bodyPr>
          <a:lstStyle/>
          <a:p>
            <a:pPr>
              <a:buFont typeface="Wingdings 2" panose="05020102010507070707" pitchFamily="18" charset="2"/>
              <a:buNone/>
            </a:pPr>
            <a:r>
              <a:rPr lang="en-US" altLang="en-US" sz="2200" u="sng" dirty="0">
                <a:latin typeface="Comic Sans MS" panose="030F0702030302020204" pitchFamily="66" charset="0"/>
              </a:rPr>
              <a:t>The negative impacts of intensive agriculture may</a:t>
            </a:r>
          </a:p>
          <a:p>
            <a:pPr>
              <a:buFont typeface="Wingdings 2" panose="05020102010507070707" pitchFamily="18" charset="2"/>
              <a:buNone/>
            </a:pPr>
            <a:r>
              <a:rPr lang="en-US" altLang="en-US" sz="2200" u="sng" dirty="0">
                <a:latin typeface="Comic Sans MS" panose="030F0702030302020204" pitchFamily="66" charset="0"/>
              </a:rPr>
              <a:t>include</a:t>
            </a:r>
          </a:p>
          <a:p>
            <a:pPr>
              <a:buFont typeface="Wingdings 2" panose="05020102010507070707" pitchFamily="18" charset="2"/>
              <a:buNone/>
            </a:pPr>
            <a:endParaRPr lang="en-US" altLang="en-US" sz="2200" dirty="0">
              <a:latin typeface="Comic Sans MS" panose="030F0702030302020204" pitchFamily="66" charset="0"/>
            </a:endParaRPr>
          </a:p>
          <a:p>
            <a:r>
              <a:rPr lang="en-US" altLang="en-US" sz="2200" dirty="0">
                <a:latin typeface="Comic Sans MS" panose="030F0702030302020204" pitchFamily="66" charset="0"/>
              </a:rPr>
              <a:t>Deforestation and emission of green house gases</a:t>
            </a:r>
          </a:p>
          <a:p>
            <a:r>
              <a:rPr lang="en-US" altLang="en-US" sz="2200" dirty="0">
                <a:latin typeface="Comic Sans MS" panose="030F0702030302020204" pitchFamily="66" charset="0"/>
              </a:rPr>
              <a:t>Soil erosion</a:t>
            </a:r>
          </a:p>
          <a:p>
            <a:r>
              <a:rPr lang="en-US" altLang="en-US" sz="2200" dirty="0">
                <a:latin typeface="Comic Sans MS" panose="030F0702030302020204" pitchFamily="66" charset="0"/>
              </a:rPr>
              <a:t>Soil degradation or decline in soil quality</a:t>
            </a:r>
          </a:p>
          <a:p>
            <a:r>
              <a:rPr lang="en-US" altLang="en-US" sz="2200" dirty="0">
                <a:latin typeface="Comic Sans MS" panose="030F0702030302020204" pitchFamily="66" charset="0"/>
              </a:rPr>
              <a:t>Over extraction of ground water </a:t>
            </a:r>
          </a:p>
          <a:p>
            <a:r>
              <a:rPr lang="en-US" altLang="en-US" sz="2200" dirty="0">
                <a:latin typeface="Comic Sans MS" panose="030F0702030302020204" pitchFamily="66" charset="0"/>
              </a:rPr>
              <a:t>Excess use of pesticide and fertilizer may lead to surface and ground water pollution</a:t>
            </a:r>
          </a:p>
          <a:p>
            <a:r>
              <a:rPr lang="en-US" altLang="en-US" sz="2200" dirty="0">
                <a:latin typeface="Comic Sans MS" panose="030F0702030302020204" pitchFamily="66" charset="0"/>
              </a:rPr>
              <a:t>Overgrazing leading to loss of biodiversity </a:t>
            </a:r>
          </a:p>
          <a:p>
            <a:pPr>
              <a:buFont typeface="Wingdings 2" panose="05020102010507070707" pitchFamily="18" charset="2"/>
              <a:buNone/>
            </a:pPr>
            <a:endParaRPr lang="en-US" altLang="en-US" sz="2200" dirty="0">
              <a:latin typeface="Comic Sans MS" panose="030F0702030302020204" pitchFamily="66" charset="0"/>
            </a:endParaRPr>
          </a:p>
          <a:p>
            <a:pPr>
              <a:buFont typeface="Wingdings 2" panose="05020102010507070707" pitchFamily="18" charset="2"/>
              <a:buNone/>
            </a:pPr>
            <a:r>
              <a:rPr lang="en-US" altLang="en-US" sz="2200" u="sng" dirty="0">
                <a:latin typeface="Comic Sans MS" panose="030F0702030302020204" pitchFamily="66" charset="0"/>
              </a:rPr>
              <a:t>The solution is Soil conservation and Sustainable agriculture.</a:t>
            </a:r>
          </a:p>
          <a:p>
            <a:pPr>
              <a:buFont typeface="Wingdings 2" panose="05020102010507070707" pitchFamily="18" charset="2"/>
              <a:buNone/>
            </a:pPr>
            <a:endParaRPr lang="en-US" altLang="en-US" sz="2200" dirty="0">
              <a:latin typeface="Comic Sans MS" panose="030F0702030302020204" pitchFamily="66"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4578">
                                            <p:txEl>
                                              <p:pRg st="0" end="0"/>
                                            </p:txEl>
                                          </p:spTgt>
                                        </p:tgtEl>
                                        <p:attrNameLst>
                                          <p:attrName>style.visibility</p:attrName>
                                        </p:attrNameLst>
                                      </p:cBhvr>
                                      <p:to>
                                        <p:strVal val="visible"/>
                                      </p:to>
                                    </p:set>
                                    <p:anim calcmode="lin" valueType="num">
                                      <p:cBhvr additive="base">
                                        <p:cTn id="7" dur="500" fill="hold"/>
                                        <p:tgtEl>
                                          <p:spTgt spid="2457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578">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4578">
                                            <p:txEl>
                                              <p:pRg st="1" end="1"/>
                                            </p:txEl>
                                          </p:spTgt>
                                        </p:tgtEl>
                                        <p:attrNameLst>
                                          <p:attrName>style.visibility</p:attrName>
                                        </p:attrNameLst>
                                      </p:cBhvr>
                                      <p:to>
                                        <p:strVal val="visible"/>
                                      </p:to>
                                    </p:set>
                                    <p:anim calcmode="lin" valueType="num">
                                      <p:cBhvr additive="base">
                                        <p:cTn id="11" dur="500" fill="hold"/>
                                        <p:tgtEl>
                                          <p:spTgt spid="24578">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457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4578">
                                            <p:txEl>
                                              <p:pRg st="3" end="3"/>
                                            </p:txEl>
                                          </p:spTgt>
                                        </p:tgtEl>
                                        <p:attrNameLst>
                                          <p:attrName>style.visibility</p:attrName>
                                        </p:attrNameLst>
                                      </p:cBhvr>
                                      <p:to>
                                        <p:strVal val="visible"/>
                                      </p:to>
                                    </p:set>
                                    <p:anim calcmode="lin" valueType="num">
                                      <p:cBhvr additive="base">
                                        <p:cTn id="17" dur="500" fill="hold"/>
                                        <p:tgtEl>
                                          <p:spTgt spid="24578">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457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24578">
                                            <p:txEl>
                                              <p:pRg st="4" end="4"/>
                                            </p:txEl>
                                          </p:spTgt>
                                        </p:tgtEl>
                                        <p:attrNameLst>
                                          <p:attrName>style.visibility</p:attrName>
                                        </p:attrNameLst>
                                      </p:cBhvr>
                                      <p:to>
                                        <p:strVal val="visible"/>
                                      </p:to>
                                    </p:set>
                                    <p:anim calcmode="lin" valueType="num">
                                      <p:cBhvr additive="base">
                                        <p:cTn id="23" dur="500" fill="hold"/>
                                        <p:tgtEl>
                                          <p:spTgt spid="24578">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457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24578">
                                            <p:txEl>
                                              <p:pRg st="5" end="5"/>
                                            </p:txEl>
                                          </p:spTgt>
                                        </p:tgtEl>
                                        <p:attrNameLst>
                                          <p:attrName>style.visibility</p:attrName>
                                        </p:attrNameLst>
                                      </p:cBhvr>
                                      <p:to>
                                        <p:strVal val="visible"/>
                                      </p:to>
                                    </p:set>
                                    <p:anim calcmode="lin" valueType="num">
                                      <p:cBhvr additive="base">
                                        <p:cTn id="29" dur="500" fill="hold"/>
                                        <p:tgtEl>
                                          <p:spTgt spid="24578">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457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24578">
                                            <p:txEl>
                                              <p:pRg st="6" end="6"/>
                                            </p:txEl>
                                          </p:spTgt>
                                        </p:tgtEl>
                                        <p:attrNameLst>
                                          <p:attrName>style.visibility</p:attrName>
                                        </p:attrNameLst>
                                      </p:cBhvr>
                                      <p:to>
                                        <p:strVal val="visible"/>
                                      </p:to>
                                    </p:set>
                                    <p:anim calcmode="lin" valueType="num">
                                      <p:cBhvr additive="base">
                                        <p:cTn id="35" dur="500" fill="hold"/>
                                        <p:tgtEl>
                                          <p:spTgt spid="24578">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24578">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24578">
                                            <p:txEl>
                                              <p:pRg st="7" end="7"/>
                                            </p:txEl>
                                          </p:spTgt>
                                        </p:tgtEl>
                                        <p:attrNameLst>
                                          <p:attrName>style.visibility</p:attrName>
                                        </p:attrNameLst>
                                      </p:cBhvr>
                                      <p:to>
                                        <p:strVal val="visible"/>
                                      </p:to>
                                    </p:set>
                                    <p:anim calcmode="lin" valueType="num">
                                      <p:cBhvr additive="base">
                                        <p:cTn id="41" dur="500" fill="hold"/>
                                        <p:tgtEl>
                                          <p:spTgt spid="24578">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24578">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24578">
                                            <p:txEl>
                                              <p:pRg st="8" end="8"/>
                                            </p:txEl>
                                          </p:spTgt>
                                        </p:tgtEl>
                                        <p:attrNameLst>
                                          <p:attrName>style.visibility</p:attrName>
                                        </p:attrNameLst>
                                      </p:cBhvr>
                                      <p:to>
                                        <p:strVal val="visible"/>
                                      </p:to>
                                    </p:set>
                                    <p:anim calcmode="lin" valueType="num">
                                      <p:cBhvr additive="base">
                                        <p:cTn id="47" dur="500" fill="hold"/>
                                        <p:tgtEl>
                                          <p:spTgt spid="24578">
                                            <p:txEl>
                                              <p:pRg st="8" end="8"/>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24578">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24578">
                                            <p:txEl>
                                              <p:pRg st="10" end="10"/>
                                            </p:txEl>
                                          </p:spTgt>
                                        </p:tgtEl>
                                        <p:attrNameLst>
                                          <p:attrName>style.visibility</p:attrName>
                                        </p:attrNameLst>
                                      </p:cBhvr>
                                      <p:to>
                                        <p:strVal val="visible"/>
                                      </p:to>
                                    </p:set>
                                    <p:anim calcmode="lin" valueType="num">
                                      <p:cBhvr additive="base">
                                        <p:cTn id="53" dur="500" fill="hold"/>
                                        <p:tgtEl>
                                          <p:spTgt spid="24578">
                                            <p:txEl>
                                              <p:pRg st="10" end="10"/>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24578">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Content Placeholder 2">
            <a:extLst>
              <a:ext uri="{FF2B5EF4-FFF2-40B4-BE49-F238E27FC236}">
                <a16:creationId xmlns:a16="http://schemas.microsoft.com/office/drawing/2014/main" id="{E1681CB7-7D4A-4E28-9E19-5733228BD29A}"/>
              </a:ext>
            </a:extLst>
          </p:cNvPr>
          <p:cNvSpPr>
            <a:spLocks noGrp="1"/>
          </p:cNvSpPr>
          <p:nvPr>
            <p:ph idx="1"/>
          </p:nvPr>
        </p:nvSpPr>
        <p:spPr>
          <a:xfrm>
            <a:off x="990600" y="-68000"/>
            <a:ext cx="7848600" cy="6096000"/>
          </a:xfrm>
        </p:spPr>
        <p:txBody>
          <a:bodyPr/>
          <a:lstStyle/>
          <a:p>
            <a:pPr algn="just">
              <a:buFont typeface="Wingdings 2" panose="05020102010507070707" pitchFamily="18" charset="2"/>
              <a:buNone/>
              <a:defRPr/>
            </a:pPr>
            <a:r>
              <a:rPr lang="en-US" sz="2000" u="sng" dirty="0">
                <a:latin typeface="Comic Sans MS" pitchFamily="66" charset="0"/>
              </a:rPr>
              <a:t>Soil conservation </a:t>
            </a:r>
            <a:r>
              <a:rPr lang="en-US" sz="2000" dirty="0">
                <a:latin typeface="Comic Sans MS" pitchFamily="66" charset="0"/>
              </a:rPr>
              <a:t>may be defined as ‘the positive tasks</a:t>
            </a:r>
          </a:p>
          <a:p>
            <a:pPr algn="just">
              <a:buFont typeface="Wingdings 2" panose="05020102010507070707" pitchFamily="18" charset="2"/>
              <a:buNone/>
              <a:defRPr/>
            </a:pPr>
            <a:r>
              <a:rPr lang="en-US" sz="2000" dirty="0">
                <a:latin typeface="Comic Sans MS" pitchFamily="66" charset="0"/>
              </a:rPr>
              <a:t>of  land use and management so that there shall be no</a:t>
            </a:r>
          </a:p>
          <a:p>
            <a:pPr algn="just">
              <a:buFont typeface="Wingdings 2" panose="05020102010507070707" pitchFamily="18" charset="2"/>
              <a:buNone/>
              <a:defRPr/>
            </a:pPr>
            <a:r>
              <a:rPr lang="en-US" sz="2000" dirty="0">
                <a:latin typeface="Comic Sans MS" pitchFamily="66" charset="0"/>
              </a:rPr>
              <a:t>loss of stability, productivity or usefulness for the</a:t>
            </a:r>
          </a:p>
          <a:p>
            <a:pPr algn="just">
              <a:buFont typeface="Wingdings 2" panose="05020102010507070707" pitchFamily="18" charset="2"/>
              <a:buNone/>
              <a:defRPr/>
            </a:pPr>
            <a:r>
              <a:rPr lang="en-US" sz="2000" dirty="0">
                <a:latin typeface="Comic Sans MS" pitchFamily="66" charset="0"/>
              </a:rPr>
              <a:t>chosen purpose’. </a:t>
            </a:r>
          </a:p>
          <a:p>
            <a:pPr algn="just">
              <a:buFont typeface="Wingdings 2" panose="05020102010507070707" pitchFamily="18" charset="2"/>
              <a:buNone/>
              <a:defRPr/>
            </a:pPr>
            <a:r>
              <a:rPr lang="en-US" sz="2000" dirty="0">
                <a:latin typeface="Comic Sans MS" pitchFamily="66" charset="0"/>
              </a:rPr>
              <a:t>The aim of soil conservation is the </a:t>
            </a:r>
            <a:r>
              <a:rPr lang="en-US" sz="2000" dirty="0">
                <a:solidFill>
                  <a:srgbClr val="000000"/>
                </a:solidFill>
                <a:latin typeface="Comic Sans MS" pitchFamily="66" charset="0"/>
              </a:rPr>
              <a:t>prevention</a:t>
            </a:r>
            <a:r>
              <a:rPr lang="en-US" sz="2000" dirty="0">
                <a:latin typeface="Comic Sans MS" pitchFamily="66" charset="0"/>
              </a:rPr>
              <a:t> of </a:t>
            </a:r>
            <a:r>
              <a:rPr lang="en-US" sz="2000" dirty="0">
                <a:solidFill>
                  <a:srgbClr val="000000"/>
                </a:solidFill>
                <a:latin typeface="Comic Sans MS" pitchFamily="66" charset="0"/>
              </a:rPr>
              <a:t>soil erosion </a:t>
            </a:r>
            <a:r>
              <a:rPr lang="en-US" sz="2000" dirty="0">
                <a:latin typeface="Comic Sans MS" pitchFamily="66" charset="0"/>
              </a:rPr>
              <a:t>so that the </a:t>
            </a:r>
            <a:r>
              <a:rPr lang="en-US" sz="2000" dirty="0">
                <a:solidFill>
                  <a:srgbClr val="000000"/>
                </a:solidFill>
                <a:latin typeface="Comic Sans MS" pitchFamily="66" charset="0"/>
              </a:rPr>
              <a:t>fertile topsoil is retained</a:t>
            </a:r>
            <a:r>
              <a:rPr lang="en-US" sz="2000" dirty="0">
                <a:latin typeface="Comic Sans MS" pitchFamily="66" charset="0"/>
              </a:rPr>
              <a:t>.</a:t>
            </a:r>
          </a:p>
          <a:p>
            <a:pPr marL="274320" indent="-274320" algn="just" eaLnBrk="1" fontAlgn="auto" hangingPunct="1">
              <a:spcAft>
                <a:spcPts val="0"/>
              </a:spcAft>
              <a:buFont typeface="Wingdings" pitchFamily="2" charset="2"/>
              <a:buNone/>
              <a:defRPr/>
            </a:pPr>
            <a:r>
              <a:rPr lang="en-US" sz="2000" u="sng" dirty="0">
                <a:solidFill>
                  <a:schemeClr val="tx2">
                    <a:lumMod val="10000"/>
                  </a:schemeClr>
                </a:solidFill>
                <a:latin typeface="Comic Sans MS" pitchFamily="66" charset="0"/>
              </a:rPr>
              <a:t>Strategies of soil conservation</a:t>
            </a:r>
          </a:p>
          <a:p>
            <a:pPr marL="640080" lvl="1" indent="-274320" algn="just" eaLnBrk="1" fontAlgn="auto" hangingPunct="1">
              <a:spcAft>
                <a:spcPts val="0"/>
              </a:spcAft>
              <a:buFont typeface="Wingdings 2"/>
              <a:buChar char=""/>
              <a:defRPr/>
            </a:pPr>
            <a:r>
              <a:rPr lang="en-US" sz="2000" dirty="0">
                <a:latin typeface="Comic Sans MS" pitchFamily="66" charset="0"/>
              </a:rPr>
              <a:t>Changing mechanical methods – terracing in mountain areas</a:t>
            </a:r>
          </a:p>
          <a:p>
            <a:pPr marL="274320" indent="-274320" eaLnBrk="1" fontAlgn="auto" hangingPunct="1">
              <a:spcAft>
                <a:spcPts val="0"/>
              </a:spcAft>
              <a:buFont typeface="Wingdings" pitchFamily="2" charset="2"/>
              <a:buNone/>
              <a:defRPr/>
            </a:pPr>
            <a:endParaRPr lang="en-US" sz="2800" dirty="0">
              <a:latin typeface="Garamond" pitchFamily="18" charset="0"/>
            </a:endParaRPr>
          </a:p>
          <a:p>
            <a:pPr algn="just">
              <a:buFont typeface="Wingdings 2" panose="05020102010507070707" pitchFamily="18" charset="2"/>
              <a:buNone/>
              <a:defRPr/>
            </a:pPr>
            <a:endParaRPr lang="en-US" sz="2000" dirty="0">
              <a:latin typeface="Comic Sans MS" pitchFamily="66" charset="0"/>
            </a:endParaRPr>
          </a:p>
          <a:p>
            <a:pPr algn="just">
              <a:buFont typeface="Wingdings 2" panose="05020102010507070707" pitchFamily="18" charset="2"/>
              <a:buNone/>
              <a:defRPr/>
            </a:pPr>
            <a:endParaRPr lang="en-US" sz="2000" u="sng" dirty="0">
              <a:latin typeface="Comic Sans MS" pitchFamily="66" charset="0"/>
            </a:endParaRPr>
          </a:p>
          <a:p>
            <a:pPr>
              <a:buFont typeface="Wingdings 2" panose="05020102010507070707" pitchFamily="18" charset="2"/>
              <a:buNone/>
              <a:defRPr/>
            </a:pPr>
            <a:endParaRPr lang="en-US" sz="2200" dirty="0">
              <a:latin typeface="Comic Sans MS" pitchFamily="66" charset="0"/>
            </a:endParaRPr>
          </a:p>
        </p:txBody>
      </p:sp>
      <p:pic>
        <p:nvPicPr>
          <p:cNvPr id="25603" name="Picture 4" descr="D:\ENV 103 SGR\my slides\terraces-in-china.jpeg">
            <a:extLst>
              <a:ext uri="{FF2B5EF4-FFF2-40B4-BE49-F238E27FC236}">
                <a16:creationId xmlns:a16="http://schemas.microsoft.com/office/drawing/2014/main" id="{67AAE971-FDBF-4AFA-89E8-A3B3E7DE47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3878000"/>
            <a:ext cx="3632200" cy="2827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animEffect transition="in" filter="fade">
                                      <p:cBhvr>
                                        <p:cTn id="7" dur="1000"/>
                                        <p:tgtEl>
                                          <p:spTgt spid="21507">
                                            <p:txEl>
                                              <p:pRg st="0" end="0"/>
                                            </p:txEl>
                                          </p:spTgt>
                                        </p:tgtEl>
                                      </p:cBhvr>
                                    </p:animEffect>
                                    <p:anim calcmode="lin" valueType="num">
                                      <p:cBhvr>
                                        <p:cTn id="8" dur="1000" fill="hold"/>
                                        <p:tgtEl>
                                          <p:spTgt spid="2150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1507">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1507">
                                            <p:txEl>
                                              <p:pRg st="1" end="1"/>
                                            </p:txEl>
                                          </p:spTgt>
                                        </p:tgtEl>
                                        <p:attrNameLst>
                                          <p:attrName>style.visibility</p:attrName>
                                        </p:attrNameLst>
                                      </p:cBhvr>
                                      <p:to>
                                        <p:strVal val="visible"/>
                                      </p:to>
                                    </p:set>
                                    <p:animEffect transition="in" filter="fade">
                                      <p:cBhvr>
                                        <p:cTn id="12" dur="1000"/>
                                        <p:tgtEl>
                                          <p:spTgt spid="21507">
                                            <p:txEl>
                                              <p:pRg st="1" end="1"/>
                                            </p:txEl>
                                          </p:spTgt>
                                        </p:tgtEl>
                                      </p:cBhvr>
                                    </p:animEffect>
                                    <p:anim calcmode="lin" valueType="num">
                                      <p:cBhvr>
                                        <p:cTn id="13" dur="1000" fill="hold"/>
                                        <p:tgtEl>
                                          <p:spTgt spid="21507">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21507">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1507">
                                            <p:txEl>
                                              <p:pRg st="2" end="2"/>
                                            </p:txEl>
                                          </p:spTgt>
                                        </p:tgtEl>
                                        <p:attrNameLst>
                                          <p:attrName>style.visibility</p:attrName>
                                        </p:attrNameLst>
                                      </p:cBhvr>
                                      <p:to>
                                        <p:strVal val="visible"/>
                                      </p:to>
                                    </p:set>
                                    <p:animEffect transition="in" filter="fade">
                                      <p:cBhvr>
                                        <p:cTn id="17" dur="1000"/>
                                        <p:tgtEl>
                                          <p:spTgt spid="21507">
                                            <p:txEl>
                                              <p:pRg st="2" end="2"/>
                                            </p:txEl>
                                          </p:spTgt>
                                        </p:tgtEl>
                                      </p:cBhvr>
                                    </p:animEffect>
                                    <p:anim calcmode="lin" valueType="num">
                                      <p:cBhvr>
                                        <p:cTn id="18" dur="1000" fill="hold"/>
                                        <p:tgtEl>
                                          <p:spTgt spid="21507">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21507">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21507">
                                            <p:txEl>
                                              <p:pRg st="3" end="3"/>
                                            </p:txEl>
                                          </p:spTgt>
                                        </p:tgtEl>
                                        <p:attrNameLst>
                                          <p:attrName>style.visibility</p:attrName>
                                        </p:attrNameLst>
                                      </p:cBhvr>
                                      <p:to>
                                        <p:strVal val="visible"/>
                                      </p:to>
                                    </p:set>
                                    <p:animEffect transition="in" filter="fade">
                                      <p:cBhvr>
                                        <p:cTn id="22" dur="1000"/>
                                        <p:tgtEl>
                                          <p:spTgt spid="21507">
                                            <p:txEl>
                                              <p:pRg st="3" end="3"/>
                                            </p:txEl>
                                          </p:spTgt>
                                        </p:tgtEl>
                                      </p:cBhvr>
                                    </p:animEffect>
                                    <p:anim calcmode="lin" valueType="num">
                                      <p:cBhvr>
                                        <p:cTn id="23" dur="1000" fill="hold"/>
                                        <p:tgtEl>
                                          <p:spTgt spid="21507">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2150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21507">
                                            <p:txEl>
                                              <p:pRg st="4" end="4"/>
                                            </p:txEl>
                                          </p:spTgt>
                                        </p:tgtEl>
                                        <p:attrNameLst>
                                          <p:attrName>style.visibility</p:attrName>
                                        </p:attrNameLst>
                                      </p:cBhvr>
                                      <p:to>
                                        <p:strVal val="visible"/>
                                      </p:to>
                                    </p:set>
                                    <p:animEffect transition="in" filter="fade">
                                      <p:cBhvr>
                                        <p:cTn id="29" dur="1000"/>
                                        <p:tgtEl>
                                          <p:spTgt spid="21507">
                                            <p:txEl>
                                              <p:pRg st="4" end="4"/>
                                            </p:txEl>
                                          </p:spTgt>
                                        </p:tgtEl>
                                      </p:cBhvr>
                                    </p:animEffect>
                                    <p:anim calcmode="lin" valueType="num">
                                      <p:cBhvr>
                                        <p:cTn id="30" dur="1000" fill="hold"/>
                                        <p:tgtEl>
                                          <p:spTgt spid="21507">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2150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21507">
                                            <p:txEl>
                                              <p:pRg st="5" end="5"/>
                                            </p:txEl>
                                          </p:spTgt>
                                        </p:tgtEl>
                                        <p:attrNameLst>
                                          <p:attrName>style.visibility</p:attrName>
                                        </p:attrNameLst>
                                      </p:cBhvr>
                                      <p:to>
                                        <p:strVal val="visible"/>
                                      </p:to>
                                    </p:set>
                                    <p:animEffect transition="in" filter="fade">
                                      <p:cBhvr>
                                        <p:cTn id="36" dur="1000"/>
                                        <p:tgtEl>
                                          <p:spTgt spid="21507">
                                            <p:txEl>
                                              <p:pRg st="5" end="5"/>
                                            </p:txEl>
                                          </p:spTgt>
                                        </p:tgtEl>
                                      </p:cBhvr>
                                    </p:animEffect>
                                    <p:anim calcmode="lin" valueType="num">
                                      <p:cBhvr>
                                        <p:cTn id="37" dur="1000" fill="hold"/>
                                        <p:tgtEl>
                                          <p:spTgt spid="21507">
                                            <p:txEl>
                                              <p:pRg st="5" end="5"/>
                                            </p:txEl>
                                          </p:spTgt>
                                        </p:tgtEl>
                                        <p:attrNameLst>
                                          <p:attrName>ppt_x</p:attrName>
                                        </p:attrNameLst>
                                      </p:cBhvr>
                                      <p:tavLst>
                                        <p:tav tm="0">
                                          <p:val>
                                            <p:strVal val="#ppt_x"/>
                                          </p:val>
                                        </p:tav>
                                        <p:tav tm="100000">
                                          <p:val>
                                            <p:strVal val="#ppt_x"/>
                                          </p:val>
                                        </p:tav>
                                      </p:tavLst>
                                    </p:anim>
                                    <p:anim calcmode="lin" valueType="num">
                                      <p:cBhvr>
                                        <p:cTn id="38" dur="1000" fill="hold"/>
                                        <p:tgtEl>
                                          <p:spTgt spid="2150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21507">
                                            <p:txEl>
                                              <p:pRg st="6" end="6"/>
                                            </p:txEl>
                                          </p:spTgt>
                                        </p:tgtEl>
                                        <p:attrNameLst>
                                          <p:attrName>style.visibility</p:attrName>
                                        </p:attrNameLst>
                                      </p:cBhvr>
                                      <p:to>
                                        <p:strVal val="visible"/>
                                      </p:to>
                                    </p:set>
                                    <p:animEffect transition="in" filter="fade">
                                      <p:cBhvr>
                                        <p:cTn id="43" dur="1000"/>
                                        <p:tgtEl>
                                          <p:spTgt spid="21507">
                                            <p:txEl>
                                              <p:pRg st="6" end="6"/>
                                            </p:txEl>
                                          </p:spTgt>
                                        </p:tgtEl>
                                      </p:cBhvr>
                                    </p:animEffect>
                                    <p:anim calcmode="lin" valueType="num">
                                      <p:cBhvr>
                                        <p:cTn id="44" dur="1000" fill="hold"/>
                                        <p:tgtEl>
                                          <p:spTgt spid="21507">
                                            <p:txEl>
                                              <p:pRg st="6" end="6"/>
                                            </p:txEl>
                                          </p:spTgt>
                                        </p:tgtEl>
                                        <p:attrNameLst>
                                          <p:attrName>ppt_x</p:attrName>
                                        </p:attrNameLst>
                                      </p:cBhvr>
                                      <p:tavLst>
                                        <p:tav tm="0">
                                          <p:val>
                                            <p:strVal val="#ppt_x"/>
                                          </p:val>
                                        </p:tav>
                                        <p:tav tm="100000">
                                          <p:val>
                                            <p:strVal val="#ppt_x"/>
                                          </p:val>
                                        </p:tav>
                                      </p:tavLst>
                                    </p:anim>
                                    <p:anim calcmode="lin" valueType="num">
                                      <p:cBhvr>
                                        <p:cTn id="45" dur="1000" fill="hold"/>
                                        <p:tgtEl>
                                          <p:spTgt spid="2150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Content Placeholder 2">
            <a:extLst>
              <a:ext uri="{FF2B5EF4-FFF2-40B4-BE49-F238E27FC236}">
                <a16:creationId xmlns:a16="http://schemas.microsoft.com/office/drawing/2014/main" id="{56369FE0-4A56-4725-8CD7-695C53B45495}"/>
              </a:ext>
            </a:extLst>
          </p:cNvPr>
          <p:cNvSpPr>
            <a:spLocks noGrp="1"/>
          </p:cNvSpPr>
          <p:nvPr>
            <p:ph idx="1"/>
          </p:nvPr>
        </p:nvSpPr>
        <p:spPr>
          <a:xfrm>
            <a:off x="1066800" y="762000"/>
            <a:ext cx="7772400" cy="5867400"/>
          </a:xfrm>
        </p:spPr>
        <p:txBody>
          <a:bodyPr>
            <a:normAutofit fontScale="92500" lnSpcReduction="10000"/>
          </a:bodyPr>
          <a:lstStyle/>
          <a:p>
            <a:pPr lvl="1" algn="just" eaLnBrk="1" hangingPunct="1"/>
            <a:r>
              <a:rPr lang="en-US" altLang="en-US" sz="2200" dirty="0">
                <a:latin typeface="Comic Sans MS" panose="030F0702030302020204" pitchFamily="66" charset="0"/>
              </a:rPr>
              <a:t>Changing farming practices – crop rotation, mixed cropping</a:t>
            </a:r>
          </a:p>
          <a:p>
            <a:pPr lvl="1" algn="just" eaLnBrk="1" hangingPunct="1"/>
            <a:endParaRPr lang="en-US" altLang="en-US" sz="2400" dirty="0">
              <a:latin typeface="Garamond" panose="02020404030301010803" pitchFamily="18" charset="0"/>
            </a:endParaRPr>
          </a:p>
          <a:p>
            <a:pPr lvl="1" algn="just" eaLnBrk="1" hangingPunct="1"/>
            <a:endParaRPr lang="en-US" altLang="en-US" sz="2400" dirty="0">
              <a:latin typeface="Garamond" panose="02020404030301010803" pitchFamily="18" charset="0"/>
            </a:endParaRPr>
          </a:p>
          <a:p>
            <a:pPr lvl="1" algn="just" eaLnBrk="1" hangingPunct="1"/>
            <a:endParaRPr lang="en-US" altLang="en-US" sz="2400" dirty="0">
              <a:latin typeface="Garamond" panose="02020404030301010803" pitchFamily="18" charset="0"/>
            </a:endParaRPr>
          </a:p>
          <a:p>
            <a:pPr lvl="1" algn="just" eaLnBrk="1" hangingPunct="1"/>
            <a:endParaRPr lang="en-US" altLang="en-US" sz="2400" dirty="0">
              <a:latin typeface="Garamond" panose="02020404030301010803" pitchFamily="18" charset="0"/>
            </a:endParaRPr>
          </a:p>
          <a:p>
            <a:pPr lvl="1" algn="just" eaLnBrk="1" hangingPunct="1">
              <a:buFont typeface="Wingdings" panose="05000000000000000000" pitchFamily="2" charset="2"/>
              <a:buNone/>
            </a:pPr>
            <a:endParaRPr lang="en-US" altLang="en-US" sz="2400" dirty="0">
              <a:latin typeface="Garamond" panose="02020404030301010803" pitchFamily="18" charset="0"/>
            </a:endParaRPr>
          </a:p>
          <a:p>
            <a:pPr lvl="1" algn="just" eaLnBrk="1" hangingPunct="1">
              <a:buFont typeface="Wingdings" panose="05000000000000000000" pitchFamily="2" charset="2"/>
              <a:buNone/>
            </a:pPr>
            <a:endParaRPr lang="en-US" altLang="en-US" sz="2400" dirty="0">
              <a:latin typeface="Garamond" panose="02020404030301010803" pitchFamily="18" charset="0"/>
            </a:endParaRPr>
          </a:p>
          <a:p>
            <a:pPr lvl="1" algn="just" eaLnBrk="1" hangingPunct="1">
              <a:buFont typeface="Wingdings" panose="05000000000000000000" pitchFamily="2" charset="2"/>
              <a:buNone/>
            </a:pPr>
            <a:endParaRPr lang="en-US" altLang="en-US" sz="2400" dirty="0">
              <a:latin typeface="Garamond" panose="02020404030301010803" pitchFamily="18" charset="0"/>
            </a:endParaRPr>
          </a:p>
          <a:p>
            <a:pPr lvl="1" algn="just" eaLnBrk="1" hangingPunct="1">
              <a:buFont typeface="Wingdings" panose="05000000000000000000" pitchFamily="2" charset="2"/>
              <a:buNone/>
            </a:pPr>
            <a:r>
              <a:rPr lang="en-US" altLang="en-US" sz="2200" dirty="0">
                <a:latin typeface="Comic Sans MS" panose="030F0702030302020204" pitchFamily="66" charset="0"/>
              </a:rPr>
              <a:t>                   Crop rotation for 3 growing seasons</a:t>
            </a:r>
          </a:p>
          <a:p>
            <a:pPr lvl="1" algn="just" eaLnBrk="1" hangingPunct="1">
              <a:buFont typeface="Wingdings" panose="05000000000000000000" pitchFamily="2" charset="2"/>
              <a:buNone/>
            </a:pPr>
            <a:endParaRPr lang="en-US" altLang="en-US" sz="2200" dirty="0">
              <a:latin typeface="Comic Sans MS" panose="030F0702030302020204" pitchFamily="66" charset="0"/>
            </a:endParaRPr>
          </a:p>
          <a:p>
            <a:pPr lvl="1" algn="just" eaLnBrk="1" hangingPunct="1"/>
            <a:r>
              <a:rPr lang="en-US" altLang="en-US" sz="2200" dirty="0">
                <a:latin typeface="Comic Sans MS" panose="030F0702030302020204" pitchFamily="66" charset="0"/>
              </a:rPr>
              <a:t>Community solution – tree planting on slopes in and next to farming areas, in order to replace trees already cleared</a:t>
            </a:r>
          </a:p>
          <a:p>
            <a:endParaRPr lang="en-US" altLang="en-US" dirty="0"/>
          </a:p>
        </p:txBody>
      </p:sp>
      <p:pic>
        <p:nvPicPr>
          <p:cNvPr id="26627" name="Picture 3" descr="D:\ENV 103 SGR\my slides\3_yr_Crop_Rota_short_Sep_08_1.jpg">
            <a:extLst>
              <a:ext uri="{FF2B5EF4-FFF2-40B4-BE49-F238E27FC236}">
                <a16:creationId xmlns:a16="http://schemas.microsoft.com/office/drawing/2014/main" id="{5F6735B7-6A2C-43FC-98AA-E27A991DC3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1752600"/>
            <a:ext cx="2981325" cy="260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6626">
                                            <p:txEl>
                                              <p:pRg st="0" end="0"/>
                                            </p:txEl>
                                          </p:spTgt>
                                        </p:tgtEl>
                                        <p:attrNameLst>
                                          <p:attrName>style.visibility</p:attrName>
                                        </p:attrNameLst>
                                      </p:cBhvr>
                                      <p:to>
                                        <p:strVal val="visible"/>
                                      </p:to>
                                    </p:set>
                                    <p:anim calcmode="lin" valueType="num">
                                      <p:cBhvr additive="base">
                                        <p:cTn id="7" dur="500" fill="hold"/>
                                        <p:tgtEl>
                                          <p:spTgt spid="2662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662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6627"/>
                                        </p:tgtEl>
                                        <p:attrNameLst>
                                          <p:attrName>style.visibility</p:attrName>
                                        </p:attrNameLst>
                                      </p:cBhvr>
                                      <p:to>
                                        <p:strVal val="visible"/>
                                      </p:to>
                                    </p:set>
                                    <p:anim calcmode="lin" valueType="num">
                                      <p:cBhvr additive="base">
                                        <p:cTn id="13" dur="500" fill="hold"/>
                                        <p:tgtEl>
                                          <p:spTgt spid="26627"/>
                                        </p:tgtEl>
                                        <p:attrNameLst>
                                          <p:attrName>ppt_x</p:attrName>
                                        </p:attrNameLst>
                                      </p:cBhvr>
                                      <p:tavLst>
                                        <p:tav tm="0">
                                          <p:val>
                                            <p:strVal val="#ppt_x"/>
                                          </p:val>
                                        </p:tav>
                                        <p:tav tm="100000">
                                          <p:val>
                                            <p:strVal val="#ppt_x"/>
                                          </p:val>
                                        </p:tav>
                                      </p:tavLst>
                                    </p:anim>
                                    <p:anim calcmode="lin" valueType="num">
                                      <p:cBhvr additive="base">
                                        <p:cTn id="14" dur="500" fill="hold"/>
                                        <p:tgtEl>
                                          <p:spTgt spid="2662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6626">
                                            <p:txEl>
                                              <p:pRg st="8" end="8"/>
                                            </p:txEl>
                                          </p:spTgt>
                                        </p:tgtEl>
                                        <p:attrNameLst>
                                          <p:attrName>style.visibility</p:attrName>
                                        </p:attrNameLst>
                                      </p:cBhvr>
                                      <p:to>
                                        <p:strVal val="visible"/>
                                      </p:to>
                                    </p:set>
                                    <p:anim calcmode="lin" valueType="num">
                                      <p:cBhvr additive="base">
                                        <p:cTn id="19" dur="500" fill="hold"/>
                                        <p:tgtEl>
                                          <p:spTgt spid="26626">
                                            <p:txEl>
                                              <p:pRg st="8" end="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6626">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6626">
                                            <p:txEl>
                                              <p:pRg st="10" end="10"/>
                                            </p:txEl>
                                          </p:spTgt>
                                        </p:tgtEl>
                                        <p:attrNameLst>
                                          <p:attrName>style.visibility</p:attrName>
                                        </p:attrNameLst>
                                      </p:cBhvr>
                                      <p:to>
                                        <p:strVal val="visible"/>
                                      </p:to>
                                    </p:set>
                                    <p:anim calcmode="lin" valueType="num">
                                      <p:cBhvr additive="base">
                                        <p:cTn id="25" dur="500" fill="hold"/>
                                        <p:tgtEl>
                                          <p:spTgt spid="26626">
                                            <p:txEl>
                                              <p:pRg st="10" end="1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6626">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Content Placeholder 2">
            <a:extLst>
              <a:ext uri="{FF2B5EF4-FFF2-40B4-BE49-F238E27FC236}">
                <a16:creationId xmlns:a16="http://schemas.microsoft.com/office/drawing/2014/main" id="{72FB340E-5C67-408A-9318-FAD5B126A4FE}"/>
              </a:ext>
            </a:extLst>
          </p:cNvPr>
          <p:cNvSpPr>
            <a:spLocks noGrp="1"/>
          </p:cNvSpPr>
          <p:nvPr>
            <p:ph idx="1"/>
          </p:nvPr>
        </p:nvSpPr>
        <p:spPr>
          <a:xfrm>
            <a:off x="457200" y="609600"/>
            <a:ext cx="8458200" cy="5638800"/>
          </a:xfrm>
        </p:spPr>
        <p:txBody>
          <a:bodyPr/>
          <a:lstStyle/>
          <a:p>
            <a:pPr algn="just">
              <a:buFont typeface="Wingdings 2" panose="05020102010507070707" pitchFamily="18" charset="2"/>
              <a:buNone/>
            </a:pPr>
            <a:r>
              <a:rPr lang="en-US" altLang="en-US" sz="2400" u="sng" dirty="0">
                <a:latin typeface="Comic Sans MS" panose="030F0702030302020204" pitchFamily="66" charset="0"/>
              </a:rPr>
              <a:t>Sustainable agriculture</a:t>
            </a:r>
            <a:r>
              <a:rPr lang="en-US" altLang="en-US" sz="2400" dirty="0">
                <a:latin typeface="Comic Sans MS" panose="030F0702030302020204" pitchFamily="66" charset="0"/>
              </a:rPr>
              <a:t> should involve the successful management of resources to satisfy changing human needs while maintaining or enhancing the quality of the environment and conserving natural resources. </a:t>
            </a:r>
          </a:p>
          <a:p>
            <a:pPr algn="just">
              <a:buFont typeface="Wingdings 2" panose="05020102010507070707" pitchFamily="18" charset="2"/>
              <a:buNone/>
            </a:pPr>
            <a:endParaRPr lang="en-US" altLang="en-US" sz="2400" u="sng" dirty="0">
              <a:latin typeface="Comic Sans MS" panose="030F0702030302020204" pitchFamily="66" charset="0"/>
            </a:endParaRPr>
          </a:p>
          <a:p>
            <a:pPr algn="just"/>
            <a:r>
              <a:rPr lang="en-US" altLang="en-US" sz="2400" dirty="0">
                <a:latin typeface="Comic Sans MS" panose="030F0702030302020204" pitchFamily="66" charset="0"/>
              </a:rPr>
              <a:t>Ecologically sound</a:t>
            </a:r>
          </a:p>
          <a:p>
            <a:pPr algn="just"/>
            <a:r>
              <a:rPr lang="en-US" altLang="en-US" sz="2400" dirty="0">
                <a:latin typeface="Comic Sans MS" panose="030F0702030302020204" pitchFamily="66" charset="0"/>
              </a:rPr>
              <a:t>Economically viable</a:t>
            </a:r>
          </a:p>
          <a:p>
            <a:pPr algn="just"/>
            <a:r>
              <a:rPr lang="en-US" altLang="en-US" sz="2400" dirty="0">
                <a:latin typeface="Comic Sans MS" panose="030F0702030302020204" pitchFamily="66" charset="0"/>
              </a:rPr>
              <a:t>Socially &amp; culturally appropriate</a:t>
            </a:r>
          </a:p>
          <a:p>
            <a:pPr algn="just"/>
            <a:r>
              <a:rPr lang="en-US" altLang="en-US" sz="2400" dirty="0">
                <a:latin typeface="Comic Sans MS" panose="030F0702030302020204" pitchFamily="66" charset="0"/>
              </a:rPr>
              <a:t>Based on holistic scientific approach</a:t>
            </a:r>
          </a:p>
          <a:p>
            <a:pPr>
              <a:buFont typeface="Wingdings 2" panose="05020102010507070707" pitchFamily="18" charset="2"/>
              <a:buNone/>
            </a:pPr>
            <a:endParaRPr lang="en-US" altLang="en-US" sz="2200"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7650">
                                            <p:txEl>
                                              <p:pRg st="0" end="0"/>
                                            </p:txEl>
                                          </p:spTgt>
                                        </p:tgtEl>
                                        <p:attrNameLst>
                                          <p:attrName>style.visibility</p:attrName>
                                        </p:attrNameLst>
                                      </p:cBhvr>
                                      <p:to>
                                        <p:strVal val="visible"/>
                                      </p:to>
                                    </p:set>
                                    <p:animEffect transition="in" filter="barn(inVertical)">
                                      <p:cBhvr>
                                        <p:cTn id="7" dur="500"/>
                                        <p:tgtEl>
                                          <p:spTgt spid="2765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27650">
                                            <p:txEl>
                                              <p:pRg st="2" end="2"/>
                                            </p:txEl>
                                          </p:spTgt>
                                        </p:tgtEl>
                                        <p:attrNameLst>
                                          <p:attrName>style.visibility</p:attrName>
                                        </p:attrNameLst>
                                      </p:cBhvr>
                                      <p:to>
                                        <p:strVal val="visible"/>
                                      </p:to>
                                    </p:set>
                                    <p:animEffect transition="in" filter="fade">
                                      <p:cBhvr>
                                        <p:cTn id="12" dur="1000"/>
                                        <p:tgtEl>
                                          <p:spTgt spid="27650">
                                            <p:txEl>
                                              <p:pRg st="2" end="2"/>
                                            </p:txEl>
                                          </p:spTgt>
                                        </p:tgtEl>
                                      </p:cBhvr>
                                    </p:animEffect>
                                    <p:anim calcmode="lin" valueType="num">
                                      <p:cBhvr>
                                        <p:cTn id="13" dur="1000" fill="hold"/>
                                        <p:tgtEl>
                                          <p:spTgt spid="27650">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2765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7650">
                                            <p:txEl>
                                              <p:pRg st="3" end="3"/>
                                            </p:txEl>
                                          </p:spTgt>
                                        </p:tgtEl>
                                        <p:attrNameLst>
                                          <p:attrName>style.visibility</p:attrName>
                                        </p:attrNameLst>
                                      </p:cBhvr>
                                      <p:to>
                                        <p:strVal val="visible"/>
                                      </p:to>
                                    </p:set>
                                    <p:anim calcmode="lin" valueType="num">
                                      <p:cBhvr additive="base">
                                        <p:cTn id="19" dur="500" fill="hold"/>
                                        <p:tgtEl>
                                          <p:spTgt spid="27650">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765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7650">
                                            <p:txEl>
                                              <p:pRg st="4" end="4"/>
                                            </p:txEl>
                                          </p:spTgt>
                                        </p:tgtEl>
                                        <p:attrNameLst>
                                          <p:attrName>style.visibility</p:attrName>
                                        </p:attrNameLst>
                                      </p:cBhvr>
                                      <p:to>
                                        <p:strVal val="visible"/>
                                      </p:to>
                                    </p:set>
                                    <p:anim calcmode="lin" valueType="num">
                                      <p:cBhvr additive="base">
                                        <p:cTn id="25" dur="500" fill="hold"/>
                                        <p:tgtEl>
                                          <p:spTgt spid="27650">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765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7650">
                                            <p:txEl>
                                              <p:pRg st="5" end="5"/>
                                            </p:txEl>
                                          </p:spTgt>
                                        </p:tgtEl>
                                        <p:attrNameLst>
                                          <p:attrName>style.visibility</p:attrName>
                                        </p:attrNameLst>
                                      </p:cBhvr>
                                      <p:to>
                                        <p:strVal val="visible"/>
                                      </p:to>
                                    </p:set>
                                    <p:anim calcmode="lin" valueType="num">
                                      <p:cBhvr additive="base">
                                        <p:cTn id="31" dur="500" fill="hold"/>
                                        <p:tgtEl>
                                          <p:spTgt spid="27650">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7650">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Content Placeholder 2">
            <a:extLst>
              <a:ext uri="{FF2B5EF4-FFF2-40B4-BE49-F238E27FC236}">
                <a16:creationId xmlns:a16="http://schemas.microsoft.com/office/drawing/2014/main" id="{81950E39-60F6-4F1C-A988-6AD64EC64905}"/>
              </a:ext>
            </a:extLst>
          </p:cNvPr>
          <p:cNvSpPr>
            <a:spLocks noGrp="1"/>
          </p:cNvSpPr>
          <p:nvPr>
            <p:ph idx="1"/>
          </p:nvPr>
        </p:nvSpPr>
        <p:spPr>
          <a:xfrm>
            <a:off x="1219200" y="609600"/>
            <a:ext cx="7696200" cy="5638800"/>
          </a:xfrm>
        </p:spPr>
        <p:txBody>
          <a:bodyPr/>
          <a:lstStyle/>
          <a:p>
            <a:pPr>
              <a:buFont typeface="Wingdings 2" panose="05020102010507070707" pitchFamily="18" charset="2"/>
              <a:buNone/>
            </a:pPr>
            <a:r>
              <a:rPr lang="en-US" altLang="en-US" sz="2400" u="sng" dirty="0">
                <a:latin typeface="Comic Sans MS" panose="030F0702030302020204" pitchFamily="66" charset="0"/>
              </a:rPr>
              <a:t>Goal of Sustainable agriculture </a:t>
            </a:r>
            <a:r>
              <a:rPr lang="en-US" altLang="en-US" sz="2400" dirty="0">
                <a:latin typeface="Comic Sans MS" panose="030F0702030302020204" pitchFamily="66" charset="0"/>
              </a:rPr>
              <a:t> is </a:t>
            </a:r>
          </a:p>
          <a:p>
            <a:r>
              <a:rPr lang="en-US" altLang="en-US" sz="2400" dirty="0">
                <a:latin typeface="Comic Sans MS" panose="030F0702030302020204" pitchFamily="66" charset="0"/>
              </a:rPr>
              <a:t>to produce food and fiber on a sustainable basis</a:t>
            </a:r>
          </a:p>
          <a:p>
            <a:r>
              <a:rPr lang="en-US" altLang="en-US" sz="2400" dirty="0">
                <a:latin typeface="Comic Sans MS" panose="030F0702030302020204" pitchFamily="66" charset="0"/>
                <a:cs typeface="Times New Roman" panose="02020603050405020304" pitchFamily="18" charset="0"/>
              </a:rPr>
              <a:t>Produce good-quality food</a:t>
            </a:r>
            <a:endParaRPr lang="en-US" altLang="en-US" sz="2400" dirty="0">
              <a:latin typeface="Comic Sans MS" panose="030F0702030302020204" pitchFamily="66" charset="0"/>
            </a:endParaRPr>
          </a:p>
          <a:p>
            <a:r>
              <a:rPr lang="en-US" altLang="en-US" sz="2400" dirty="0">
                <a:latin typeface="Comic Sans MS" panose="030F0702030302020204" pitchFamily="66" charset="0"/>
              </a:rPr>
              <a:t>repair the damage to the environment caused by destructive practices</a:t>
            </a:r>
          </a:p>
          <a:p>
            <a:r>
              <a:rPr lang="en-US" altLang="en-US" sz="2400" dirty="0">
                <a:latin typeface="Comic Sans MS" panose="030F0702030302020204" pitchFamily="66" charset="0"/>
              </a:rPr>
              <a:t>regulate environmental health </a:t>
            </a:r>
          </a:p>
          <a:p>
            <a:r>
              <a:rPr lang="en-US" altLang="en-US" sz="2400" dirty="0">
                <a:latin typeface="Comic Sans MS" panose="030F0702030302020204" pitchFamily="66" charset="0"/>
              </a:rPr>
              <a:t>conservation of natural resources</a:t>
            </a:r>
          </a:p>
          <a:p>
            <a:r>
              <a:rPr lang="en-US" altLang="en-US" sz="2400" dirty="0">
                <a:latin typeface="Comic Sans MS" panose="030F0702030302020204" pitchFamily="66" charset="0"/>
              </a:rPr>
              <a:t>economic viability </a:t>
            </a:r>
          </a:p>
          <a:p>
            <a:r>
              <a:rPr lang="en-US" altLang="en-US" sz="2400" dirty="0">
                <a:latin typeface="Comic Sans MS" panose="030F0702030302020204" pitchFamily="66" charset="0"/>
              </a:rPr>
              <a:t>energy conservation </a:t>
            </a:r>
          </a:p>
          <a:p>
            <a:endParaRPr lang="en-US" altLang="en-US" sz="2200" dirty="0">
              <a:latin typeface="Comic Sans MS" panose="030F0702030302020204" pitchFamily="66"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8674">
                                            <p:txEl>
                                              <p:pRg st="0" end="0"/>
                                            </p:txEl>
                                          </p:spTgt>
                                        </p:tgtEl>
                                        <p:attrNameLst>
                                          <p:attrName>style.visibility</p:attrName>
                                        </p:attrNameLst>
                                      </p:cBhvr>
                                      <p:to>
                                        <p:strVal val="visible"/>
                                      </p:to>
                                    </p:set>
                                    <p:animEffect transition="in" filter="fade">
                                      <p:cBhvr>
                                        <p:cTn id="7" dur="1000"/>
                                        <p:tgtEl>
                                          <p:spTgt spid="28674">
                                            <p:txEl>
                                              <p:pRg st="0" end="0"/>
                                            </p:txEl>
                                          </p:spTgt>
                                        </p:tgtEl>
                                      </p:cBhvr>
                                    </p:animEffect>
                                    <p:anim calcmode="lin" valueType="num">
                                      <p:cBhvr>
                                        <p:cTn id="8" dur="1000" fill="hold"/>
                                        <p:tgtEl>
                                          <p:spTgt spid="2867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867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8674">
                                            <p:txEl>
                                              <p:pRg st="1" end="1"/>
                                            </p:txEl>
                                          </p:spTgt>
                                        </p:tgtEl>
                                        <p:attrNameLst>
                                          <p:attrName>style.visibility</p:attrName>
                                        </p:attrNameLst>
                                      </p:cBhvr>
                                      <p:to>
                                        <p:strVal val="visible"/>
                                      </p:to>
                                    </p:set>
                                    <p:animEffect transition="in" filter="fade">
                                      <p:cBhvr>
                                        <p:cTn id="14" dur="1000"/>
                                        <p:tgtEl>
                                          <p:spTgt spid="28674">
                                            <p:txEl>
                                              <p:pRg st="1" end="1"/>
                                            </p:txEl>
                                          </p:spTgt>
                                        </p:tgtEl>
                                      </p:cBhvr>
                                    </p:animEffect>
                                    <p:anim calcmode="lin" valueType="num">
                                      <p:cBhvr>
                                        <p:cTn id="15" dur="1000" fill="hold"/>
                                        <p:tgtEl>
                                          <p:spTgt spid="2867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867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8674">
                                            <p:txEl>
                                              <p:pRg st="2" end="2"/>
                                            </p:txEl>
                                          </p:spTgt>
                                        </p:tgtEl>
                                        <p:attrNameLst>
                                          <p:attrName>style.visibility</p:attrName>
                                        </p:attrNameLst>
                                      </p:cBhvr>
                                      <p:to>
                                        <p:strVal val="visible"/>
                                      </p:to>
                                    </p:set>
                                    <p:animEffect transition="in" filter="fade">
                                      <p:cBhvr>
                                        <p:cTn id="21" dur="1000"/>
                                        <p:tgtEl>
                                          <p:spTgt spid="28674">
                                            <p:txEl>
                                              <p:pRg st="2" end="2"/>
                                            </p:txEl>
                                          </p:spTgt>
                                        </p:tgtEl>
                                      </p:cBhvr>
                                    </p:animEffect>
                                    <p:anim calcmode="lin" valueType="num">
                                      <p:cBhvr>
                                        <p:cTn id="22" dur="1000" fill="hold"/>
                                        <p:tgtEl>
                                          <p:spTgt spid="2867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867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8674">
                                            <p:txEl>
                                              <p:pRg st="3" end="3"/>
                                            </p:txEl>
                                          </p:spTgt>
                                        </p:tgtEl>
                                        <p:attrNameLst>
                                          <p:attrName>style.visibility</p:attrName>
                                        </p:attrNameLst>
                                      </p:cBhvr>
                                      <p:to>
                                        <p:strVal val="visible"/>
                                      </p:to>
                                    </p:set>
                                    <p:animEffect transition="in" filter="fade">
                                      <p:cBhvr>
                                        <p:cTn id="28" dur="1000"/>
                                        <p:tgtEl>
                                          <p:spTgt spid="28674">
                                            <p:txEl>
                                              <p:pRg st="3" end="3"/>
                                            </p:txEl>
                                          </p:spTgt>
                                        </p:tgtEl>
                                      </p:cBhvr>
                                    </p:animEffect>
                                    <p:anim calcmode="lin" valueType="num">
                                      <p:cBhvr>
                                        <p:cTn id="29" dur="1000" fill="hold"/>
                                        <p:tgtEl>
                                          <p:spTgt spid="2867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867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28674">
                                            <p:txEl>
                                              <p:pRg st="4" end="4"/>
                                            </p:txEl>
                                          </p:spTgt>
                                        </p:tgtEl>
                                        <p:attrNameLst>
                                          <p:attrName>style.visibility</p:attrName>
                                        </p:attrNameLst>
                                      </p:cBhvr>
                                      <p:to>
                                        <p:strVal val="visible"/>
                                      </p:to>
                                    </p:set>
                                    <p:animEffect transition="in" filter="fade">
                                      <p:cBhvr>
                                        <p:cTn id="35" dur="1000"/>
                                        <p:tgtEl>
                                          <p:spTgt spid="28674">
                                            <p:txEl>
                                              <p:pRg st="4" end="4"/>
                                            </p:txEl>
                                          </p:spTgt>
                                        </p:tgtEl>
                                      </p:cBhvr>
                                    </p:animEffect>
                                    <p:anim calcmode="lin" valueType="num">
                                      <p:cBhvr>
                                        <p:cTn id="36" dur="1000" fill="hold"/>
                                        <p:tgtEl>
                                          <p:spTgt spid="28674">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2867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28674">
                                            <p:txEl>
                                              <p:pRg st="5" end="5"/>
                                            </p:txEl>
                                          </p:spTgt>
                                        </p:tgtEl>
                                        <p:attrNameLst>
                                          <p:attrName>style.visibility</p:attrName>
                                        </p:attrNameLst>
                                      </p:cBhvr>
                                      <p:to>
                                        <p:strVal val="visible"/>
                                      </p:to>
                                    </p:set>
                                    <p:animEffect transition="in" filter="fade">
                                      <p:cBhvr>
                                        <p:cTn id="42" dur="1000"/>
                                        <p:tgtEl>
                                          <p:spTgt spid="28674">
                                            <p:txEl>
                                              <p:pRg st="5" end="5"/>
                                            </p:txEl>
                                          </p:spTgt>
                                        </p:tgtEl>
                                      </p:cBhvr>
                                    </p:animEffect>
                                    <p:anim calcmode="lin" valueType="num">
                                      <p:cBhvr>
                                        <p:cTn id="43" dur="1000" fill="hold"/>
                                        <p:tgtEl>
                                          <p:spTgt spid="28674">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2867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28674">
                                            <p:txEl>
                                              <p:pRg st="6" end="6"/>
                                            </p:txEl>
                                          </p:spTgt>
                                        </p:tgtEl>
                                        <p:attrNameLst>
                                          <p:attrName>style.visibility</p:attrName>
                                        </p:attrNameLst>
                                      </p:cBhvr>
                                      <p:to>
                                        <p:strVal val="visible"/>
                                      </p:to>
                                    </p:set>
                                    <p:animEffect transition="in" filter="fade">
                                      <p:cBhvr>
                                        <p:cTn id="49" dur="1000"/>
                                        <p:tgtEl>
                                          <p:spTgt spid="28674">
                                            <p:txEl>
                                              <p:pRg st="6" end="6"/>
                                            </p:txEl>
                                          </p:spTgt>
                                        </p:tgtEl>
                                      </p:cBhvr>
                                    </p:animEffect>
                                    <p:anim calcmode="lin" valueType="num">
                                      <p:cBhvr>
                                        <p:cTn id="50" dur="1000" fill="hold"/>
                                        <p:tgtEl>
                                          <p:spTgt spid="28674">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2867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28674">
                                            <p:txEl>
                                              <p:pRg st="7" end="7"/>
                                            </p:txEl>
                                          </p:spTgt>
                                        </p:tgtEl>
                                        <p:attrNameLst>
                                          <p:attrName>style.visibility</p:attrName>
                                        </p:attrNameLst>
                                      </p:cBhvr>
                                      <p:to>
                                        <p:strVal val="visible"/>
                                      </p:to>
                                    </p:set>
                                    <p:animEffect transition="in" filter="fade">
                                      <p:cBhvr>
                                        <p:cTn id="56" dur="1000"/>
                                        <p:tgtEl>
                                          <p:spTgt spid="28674">
                                            <p:txEl>
                                              <p:pRg st="7" end="7"/>
                                            </p:txEl>
                                          </p:spTgt>
                                        </p:tgtEl>
                                      </p:cBhvr>
                                    </p:animEffect>
                                    <p:anim calcmode="lin" valueType="num">
                                      <p:cBhvr>
                                        <p:cTn id="57" dur="1000" fill="hold"/>
                                        <p:tgtEl>
                                          <p:spTgt spid="28674">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28674">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Content Placeholder 2">
            <a:extLst>
              <a:ext uri="{FF2B5EF4-FFF2-40B4-BE49-F238E27FC236}">
                <a16:creationId xmlns:a16="http://schemas.microsoft.com/office/drawing/2014/main" id="{E5F1030E-C805-4784-985A-5B3B7DBA2971}"/>
              </a:ext>
            </a:extLst>
          </p:cNvPr>
          <p:cNvSpPr>
            <a:spLocks noGrp="1"/>
          </p:cNvSpPr>
          <p:nvPr>
            <p:ph idx="1"/>
          </p:nvPr>
        </p:nvSpPr>
        <p:spPr>
          <a:xfrm>
            <a:off x="914400" y="990600"/>
            <a:ext cx="7696200" cy="5410200"/>
          </a:xfrm>
        </p:spPr>
        <p:txBody>
          <a:bodyPr/>
          <a:lstStyle/>
          <a:p>
            <a:pPr>
              <a:buFont typeface="Wingdings 2" panose="05020102010507070707" pitchFamily="18" charset="2"/>
              <a:buNone/>
            </a:pPr>
            <a:r>
              <a:rPr lang="en-US" altLang="en-US" sz="2400" u="sng" dirty="0">
                <a:latin typeface="Comic Sans MS" panose="030F0702030302020204" pitchFamily="66" charset="0"/>
                <a:cs typeface="Times New Roman" panose="02020603050405020304" pitchFamily="18" charset="0"/>
              </a:rPr>
              <a:t>Some appropriate technology in sustainable agriculture </a:t>
            </a:r>
          </a:p>
          <a:p>
            <a:pPr>
              <a:buFont typeface="Wingdings 2" panose="05020102010507070707" pitchFamily="18" charset="2"/>
              <a:buNone/>
            </a:pPr>
            <a:endParaRPr lang="en-US" altLang="en-US" sz="2400" dirty="0">
              <a:latin typeface="Comic Sans MS" panose="030F0702030302020204" pitchFamily="66" charset="0"/>
              <a:cs typeface="Times New Roman" panose="02020603050405020304" pitchFamily="18" charset="0"/>
            </a:endParaRPr>
          </a:p>
          <a:p>
            <a:pPr algn="just"/>
            <a:r>
              <a:rPr lang="en-US" altLang="en-US" sz="2400" dirty="0">
                <a:latin typeface="Comic Sans MS" panose="030F0702030302020204" pitchFamily="66" charset="0"/>
                <a:cs typeface="Times New Roman" panose="02020603050405020304" pitchFamily="18" charset="0"/>
              </a:rPr>
              <a:t>Improved irrigation </a:t>
            </a:r>
          </a:p>
          <a:p>
            <a:pPr algn="just"/>
            <a:r>
              <a:rPr lang="en-US" altLang="en-US" sz="2400" dirty="0">
                <a:latin typeface="Comic Sans MS" panose="030F0702030302020204" pitchFamily="66" charset="0"/>
                <a:cs typeface="Times New Roman" panose="02020603050405020304" pitchFamily="18" charset="0"/>
              </a:rPr>
              <a:t>Chemicals – Mixture of Organic and Inorganic fertilizers</a:t>
            </a:r>
          </a:p>
          <a:p>
            <a:pPr algn="just"/>
            <a:r>
              <a:rPr lang="en-US" altLang="en-US" sz="2400" dirty="0">
                <a:latin typeface="Comic Sans MS" panose="030F0702030302020204" pitchFamily="66" charset="0"/>
                <a:cs typeface="Times New Roman" panose="02020603050405020304" pitchFamily="18" charset="0"/>
              </a:rPr>
              <a:t>Mixed cropping , Crop rotation</a:t>
            </a:r>
          </a:p>
          <a:p>
            <a:pPr algn="just"/>
            <a:r>
              <a:rPr lang="en-US" altLang="en-US" sz="2400" dirty="0">
                <a:latin typeface="Comic Sans MS" panose="030F0702030302020204" pitchFamily="66" charset="0"/>
                <a:cs typeface="Times New Roman" panose="02020603050405020304" pitchFamily="18" charset="0"/>
              </a:rPr>
              <a:t>Natural predators</a:t>
            </a:r>
          </a:p>
          <a:p>
            <a:pPr algn="just"/>
            <a:r>
              <a:rPr lang="en-US" altLang="en-US" sz="2400" dirty="0">
                <a:latin typeface="Comic Sans MS" panose="030F0702030302020204" pitchFamily="66" charset="0"/>
                <a:cs typeface="Times New Roman" panose="02020603050405020304" pitchFamily="18" charset="0"/>
              </a:rPr>
              <a:t>New seeds and plant varieties</a:t>
            </a:r>
          </a:p>
          <a:p>
            <a:pPr algn="just"/>
            <a:r>
              <a:rPr lang="en-US" altLang="en-US" sz="2400" dirty="0">
                <a:latin typeface="Comic Sans MS" panose="030F0702030302020204" pitchFamily="66" charset="0"/>
                <a:cs typeface="Times New Roman" panose="02020603050405020304" pitchFamily="18" charset="0"/>
              </a:rPr>
              <a:t>High-yielding variety of seeds( HYVs)</a:t>
            </a:r>
          </a:p>
          <a:p>
            <a:pPr algn="just"/>
            <a:r>
              <a:rPr lang="en-US" altLang="en-US" sz="2400" dirty="0">
                <a:latin typeface="Comic Sans MS" panose="030F0702030302020204" pitchFamily="66" charset="0"/>
                <a:cs typeface="Times New Roman" panose="02020603050405020304" pitchFamily="18" charset="0"/>
              </a:rPr>
              <a:t>Power from living resources (biofuels, biogas) </a:t>
            </a:r>
          </a:p>
          <a:p>
            <a:pPr>
              <a:buFont typeface="Wingdings 2" panose="05020102010507070707" pitchFamily="18" charset="2"/>
              <a:buNone/>
            </a:pPr>
            <a:endParaRPr lang="en-US" altLang="en-US" sz="2200" dirty="0">
              <a:latin typeface="Comic Sans MS" panose="030F0702030302020204" pitchFamily="66" charset="0"/>
            </a:endParaRPr>
          </a:p>
          <a:p>
            <a:endParaRPr lang="en-US" altLang="en-US" dirty="0">
              <a:latin typeface="Comic Sans MS" panose="030F0702030302020204" pitchFamily="66"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9698">
                                            <p:txEl>
                                              <p:pRg st="0" end="0"/>
                                            </p:txEl>
                                          </p:spTgt>
                                        </p:tgtEl>
                                        <p:attrNameLst>
                                          <p:attrName>style.visibility</p:attrName>
                                        </p:attrNameLst>
                                      </p:cBhvr>
                                      <p:to>
                                        <p:strVal val="visible"/>
                                      </p:to>
                                    </p:set>
                                    <p:animEffect transition="in" filter="fade">
                                      <p:cBhvr>
                                        <p:cTn id="7" dur="1000"/>
                                        <p:tgtEl>
                                          <p:spTgt spid="29698">
                                            <p:txEl>
                                              <p:pRg st="0" end="0"/>
                                            </p:txEl>
                                          </p:spTgt>
                                        </p:tgtEl>
                                      </p:cBhvr>
                                    </p:animEffect>
                                    <p:anim calcmode="lin" valueType="num">
                                      <p:cBhvr>
                                        <p:cTn id="8" dur="1000" fill="hold"/>
                                        <p:tgtEl>
                                          <p:spTgt spid="2969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969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9698">
                                            <p:txEl>
                                              <p:pRg st="2" end="2"/>
                                            </p:txEl>
                                          </p:spTgt>
                                        </p:tgtEl>
                                        <p:attrNameLst>
                                          <p:attrName>style.visibility</p:attrName>
                                        </p:attrNameLst>
                                      </p:cBhvr>
                                      <p:to>
                                        <p:strVal val="visible"/>
                                      </p:to>
                                    </p:set>
                                    <p:animEffect transition="in" filter="fade">
                                      <p:cBhvr>
                                        <p:cTn id="14" dur="1000"/>
                                        <p:tgtEl>
                                          <p:spTgt spid="29698">
                                            <p:txEl>
                                              <p:pRg st="2" end="2"/>
                                            </p:txEl>
                                          </p:spTgt>
                                        </p:tgtEl>
                                      </p:cBhvr>
                                    </p:animEffect>
                                    <p:anim calcmode="lin" valueType="num">
                                      <p:cBhvr>
                                        <p:cTn id="15" dur="1000" fill="hold"/>
                                        <p:tgtEl>
                                          <p:spTgt spid="29698">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29698">
                                            <p:txEl>
                                              <p:pRg st="2" end="2"/>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29698">
                                            <p:txEl>
                                              <p:pRg st="3" end="3"/>
                                            </p:txEl>
                                          </p:spTgt>
                                        </p:tgtEl>
                                        <p:attrNameLst>
                                          <p:attrName>style.visibility</p:attrName>
                                        </p:attrNameLst>
                                      </p:cBhvr>
                                      <p:to>
                                        <p:strVal val="visible"/>
                                      </p:to>
                                    </p:set>
                                    <p:animEffect transition="in" filter="fade">
                                      <p:cBhvr>
                                        <p:cTn id="19" dur="1000"/>
                                        <p:tgtEl>
                                          <p:spTgt spid="29698">
                                            <p:txEl>
                                              <p:pRg st="3" end="3"/>
                                            </p:txEl>
                                          </p:spTgt>
                                        </p:tgtEl>
                                      </p:cBhvr>
                                    </p:animEffect>
                                    <p:anim calcmode="lin" valueType="num">
                                      <p:cBhvr>
                                        <p:cTn id="20" dur="1000" fill="hold"/>
                                        <p:tgtEl>
                                          <p:spTgt spid="29698">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29698">
                                            <p:txEl>
                                              <p:pRg st="3" end="3"/>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29698">
                                            <p:txEl>
                                              <p:pRg st="4" end="4"/>
                                            </p:txEl>
                                          </p:spTgt>
                                        </p:tgtEl>
                                        <p:attrNameLst>
                                          <p:attrName>style.visibility</p:attrName>
                                        </p:attrNameLst>
                                      </p:cBhvr>
                                      <p:to>
                                        <p:strVal val="visible"/>
                                      </p:to>
                                    </p:set>
                                    <p:animEffect transition="in" filter="fade">
                                      <p:cBhvr>
                                        <p:cTn id="24" dur="1000"/>
                                        <p:tgtEl>
                                          <p:spTgt spid="29698">
                                            <p:txEl>
                                              <p:pRg st="4" end="4"/>
                                            </p:txEl>
                                          </p:spTgt>
                                        </p:tgtEl>
                                      </p:cBhvr>
                                    </p:animEffect>
                                    <p:anim calcmode="lin" valueType="num">
                                      <p:cBhvr>
                                        <p:cTn id="25" dur="1000" fill="hold"/>
                                        <p:tgtEl>
                                          <p:spTgt spid="29698">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29698">
                                            <p:txEl>
                                              <p:pRg st="4" end="4"/>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29698">
                                            <p:txEl>
                                              <p:pRg st="5" end="5"/>
                                            </p:txEl>
                                          </p:spTgt>
                                        </p:tgtEl>
                                        <p:attrNameLst>
                                          <p:attrName>style.visibility</p:attrName>
                                        </p:attrNameLst>
                                      </p:cBhvr>
                                      <p:to>
                                        <p:strVal val="visible"/>
                                      </p:to>
                                    </p:set>
                                    <p:animEffect transition="in" filter="fade">
                                      <p:cBhvr>
                                        <p:cTn id="29" dur="1000"/>
                                        <p:tgtEl>
                                          <p:spTgt spid="29698">
                                            <p:txEl>
                                              <p:pRg st="5" end="5"/>
                                            </p:txEl>
                                          </p:spTgt>
                                        </p:tgtEl>
                                      </p:cBhvr>
                                    </p:animEffect>
                                    <p:anim calcmode="lin" valueType="num">
                                      <p:cBhvr>
                                        <p:cTn id="30" dur="1000" fill="hold"/>
                                        <p:tgtEl>
                                          <p:spTgt spid="29698">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29698">
                                            <p:txEl>
                                              <p:pRg st="5" end="5"/>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29698">
                                            <p:txEl>
                                              <p:pRg st="6" end="6"/>
                                            </p:txEl>
                                          </p:spTgt>
                                        </p:tgtEl>
                                        <p:attrNameLst>
                                          <p:attrName>style.visibility</p:attrName>
                                        </p:attrNameLst>
                                      </p:cBhvr>
                                      <p:to>
                                        <p:strVal val="visible"/>
                                      </p:to>
                                    </p:set>
                                    <p:animEffect transition="in" filter="fade">
                                      <p:cBhvr>
                                        <p:cTn id="34" dur="1000"/>
                                        <p:tgtEl>
                                          <p:spTgt spid="29698">
                                            <p:txEl>
                                              <p:pRg st="6" end="6"/>
                                            </p:txEl>
                                          </p:spTgt>
                                        </p:tgtEl>
                                      </p:cBhvr>
                                    </p:animEffect>
                                    <p:anim calcmode="lin" valueType="num">
                                      <p:cBhvr>
                                        <p:cTn id="35" dur="1000" fill="hold"/>
                                        <p:tgtEl>
                                          <p:spTgt spid="29698">
                                            <p:txEl>
                                              <p:pRg st="6" end="6"/>
                                            </p:txEl>
                                          </p:spTgt>
                                        </p:tgtEl>
                                        <p:attrNameLst>
                                          <p:attrName>ppt_x</p:attrName>
                                        </p:attrNameLst>
                                      </p:cBhvr>
                                      <p:tavLst>
                                        <p:tav tm="0">
                                          <p:val>
                                            <p:strVal val="#ppt_x"/>
                                          </p:val>
                                        </p:tav>
                                        <p:tav tm="100000">
                                          <p:val>
                                            <p:strVal val="#ppt_x"/>
                                          </p:val>
                                        </p:tav>
                                      </p:tavLst>
                                    </p:anim>
                                    <p:anim calcmode="lin" valueType="num">
                                      <p:cBhvr>
                                        <p:cTn id="36" dur="1000" fill="hold"/>
                                        <p:tgtEl>
                                          <p:spTgt spid="29698">
                                            <p:txEl>
                                              <p:pRg st="6" end="6"/>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29698">
                                            <p:txEl>
                                              <p:pRg st="7" end="7"/>
                                            </p:txEl>
                                          </p:spTgt>
                                        </p:tgtEl>
                                        <p:attrNameLst>
                                          <p:attrName>style.visibility</p:attrName>
                                        </p:attrNameLst>
                                      </p:cBhvr>
                                      <p:to>
                                        <p:strVal val="visible"/>
                                      </p:to>
                                    </p:set>
                                    <p:animEffect transition="in" filter="fade">
                                      <p:cBhvr>
                                        <p:cTn id="39" dur="1000"/>
                                        <p:tgtEl>
                                          <p:spTgt spid="29698">
                                            <p:txEl>
                                              <p:pRg st="7" end="7"/>
                                            </p:txEl>
                                          </p:spTgt>
                                        </p:tgtEl>
                                      </p:cBhvr>
                                    </p:animEffect>
                                    <p:anim calcmode="lin" valueType="num">
                                      <p:cBhvr>
                                        <p:cTn id="40" dur="1000" fill="hold"/>
                                        <p:tgtEl>
                                          <p:spTgt spid="29698">
                                            <p:txEl>
                                              <p:pRg st="7" end="7"/>
                                            </p:txEl>
                                          </p:spTgt>
                                        </p:tgtEl>
                                        <p:attrNameLst>
                                          <p:attrName>ppt_x</p:attrName>
                                        </p:attrNameLst>
                                      </p:cBhvr>
                                      <p:tavLst>
                                        <p:tav tm="0">
                                          <p:val>
                                            <p:strVal val="#ppt_x"/>
                                          </p:val>
                                        </p:tav>
                                        <p:tav tm="100000">
                                          <p:val>
                                            <p:strVal val="#ppt_x"/>
                                          </p:val>
                                        </p:tav>
                                      </p:tavLst>
                                    </p:anim>
                                    <p:anim calcmode="lin" valueType="num">
                                      <p:cBhvr>
                                        <p:cTn id="41" dur="1000" fill="hold"/>
                                        <p:tgtEl>
                                          <p:spTgt spid="29698">
                                            <p:txEl>
                                              <p:pRg st="7" end="7"/>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29698">
                                            <p:txEl>
                                              <p:pRg st="8" end="8"/>
                                            </p:txEl>
                                          </p:spTgt>
                                        </p:tgtEl>
                                        <p:attrNameLst>
                                          <p:attrName>style.visibility</p:attrName>
                                        </p:attrNameLst>
                                      </p:cBhvr>
                                      <p:to>
                                        <p:strVal val="visible"/>
                                      </p:to>
                                    </p:set>
                                    <p:animEffect transition="in" filter="fade">
                                      <p:cBhvr>
                                        <p:cTn id="44" dur="1000"/>
                                        <p:tgtEl>
                                          <p:spTgt spid="29698">
                                            <p:txEl>
                                              <p:pRg st="8" end="8"/>
                                            </p:txEl>
                                          </p:spTgt>
                                        </p:tgtEl>
                                      </p:cBhvr>
                                    </p:animEffect>
                                    <p:anim calcmode="lin" valueType="num">
                                      <p:cBhvr>
                                        <p:cTn id="45" dur="1000" fill="hold"/>
                                        <p:tgtEl>
                                          <p:spTgt spid="29698">
                                            <p:txEl>
                                              <p:pRg st="8" end="8"/>
                                            </p:txEl>
                                          </p:spTgt>
                                        </p:tgtEl>
                                        <p:attrNameLst>
                                          <p:attrName>ppt_x</p:attrName>
                                        </p:attrNameLst>
                                      </p:cBhvr>
                                      <p:tavLst>
                                        <p:tav tm="0">
                                          <p:val>
                                            <p:strVal val="#ppt_x"/>
                                          </p:val>
                                        </p:tav>
                                        <p:tav tm="100000">
                                          <p:val>
                                            <p:strVal val="#ppt_x"/>
                                          </p:val>
                                        </p:tav>
                                      </p:tavLst>
                                    </p:anim>
                                    <p:anim calcmode="lin" valueType="num">
                                      <p:cBhvr>
                                        <p:cTn id="46" dur="1000" fill="hold"/>
                                        <p:tgtEl>
                                          <p:spTgt spid="29698">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0.6|0.6"/>
</p:tagLst>
</file>

<file path=ppt/tags/tag2.xml><?xml version="1.0" encoding="utf-8"?>
<p:tagLst xmlns:a="http://schemas.openxmlformats.org/drawingml/2006/main" xmlns:r="http://schemas.openxmlformats.org/officeDocument/2006/relationships" xmlns:p="http://schemas.openxmlformats.org/presentationml/2006/main">
  <p:tag name="TIMING" val="|0.6|59.4|17.5"/>
</p:tagLst>
</file>

<file path=ppt/tags/tag3.xml><?xml version="1.0" encoding="utf-8"?>
<p:tagLst xmlns:a="http://schemas.openxmlformats.org/drawingml/2006/main" xmlns:r="http://schemas.openxmlformats.org/officeDocument/2006/relationships" xmlns:p="http://schemas.openxmlformats.org/presentationml/2006/main">
  <p:tag name="TIMING" val="|0.7|1.7|6|20.2|3.4|2.7|2.3"/>
</p:tagLst>
</file>

<file path=ppt/tags/tag4.xml><?xml version="1.0" encoding="utf-8"?>
<p:tagLst xmlns:a="http://schemas.openxmlformats.org/drawingml/2006/main" xmlns:r="http://schemas.openxmlformats.org/officeDocument/2006/relationships" xmlns:p="http://schemas.openxmlformats.org/presentationml/2006/main">
  <p:tag name="TIMING" val="|0.9|3.4|23.4|3.4|1.2|1.5|1.8|13.3|4.5|78.1|50.2|26|46.9|46.3"/>
</p:tagLst>
</file>

<file path=ppt/tags/tag5.xml><?xml version="1.0" encoding="utf-8"?>
<p:tagLst xmlns:a="http://schemas.openxmlformats.org/drawingml/2006/main" xmlns:r="http://schemas.openxmlformats.org/officeDocument/2006/relationships" xmlns:p="http://schemas.openxmlformats.org/presentationml/2006/main">
  <p:tag name="TIMING" val="|1|14.1|32.7"/>
</p:tagLst>
</file>

<file path=ppt/tags/tag6.xml><?xml version="1.0" encoding="utf-8"?>
<p:tagLst xmlns:a="http://schemas.openxmlformats.org/drawingml/2006/main" xmlns:r="http://schemas.openxmlformats.org/officeDocument/2006/relationships" xmlns:p="http://schemas.openxmlformats.org/presentationml/2006/main">
  <p:tag name="TIMING" val="|0.7|51.3"/>
</p:tagLst>
</file>

<file path=ppt/tags/tag7.xml><?xml version="1.0" encoding="utf-8"?>
<p:tagLst xmlns:a="http://schemas.openxmlformats.org/drawingml/2006/main" xmlns:r="http://schemas.openxmlformats.org/officeDocument/2006/relationships" xmlns:p="http://schemas.openxmlformats.org/presentationml/2006/main">
  <p:tag name="TIMING" val="|1.2|1.9|17.8|35|33.2|23.6|18.8|21.3|3.5"/>
</p:tagLst>
</file>

<file path=ppt/tags/tag8.xml><?xml version="1.0" encoding="utf-8"?>
<p:tagLst xmlns:a="http://schemas.openxmlformats.org/drawingml/2006/main" xmlns:r="http://schemas.openxmlformats.org/officeDocument/2006/relationships" xmlns:p="http://schemas.openxmlformats.org/presentationml/2006/main">
  <p:tag name="TIMING" val="|1.3|10.8|1.6|65.2|2.8|53.1|3.2|11.7"/>
</p:tagLst>
</file>

<file path=ppt/tags/tag9.xml><?xml version="1.0" encoding="utf-8"?>
<p:tagLst xmlns:a="http://schemas.openxmlformats.org/drawingml/2006/main" xmlns:r="http://schemas.openxmlformats.org/officeDocument/2006/relationships" xmlns:p="http://schemas.openxmlformats.org/presentationml/2006/main">
  <p:tag name="TIMING" val="|0.8|5.7|15.5|6.5|4.8|6.2"/>
</p:tagLst>
</file>

<file path=ppt/tags/tag10.xml><?xml version="1.0" encoding="utf-8"?>
<p:tagLst xmlns:a="http://schemas.openxmlformats.org/drawingml/2006/main" xmlns:r="http://schemas.openxmlformats.org/officeDocument/2006/relationships" xmlns:p="http://schemas.openxmlformats.org/presentationml/2006/main">
  <p:tag name="TIMING" val="|0.8|2.8|3.7|1.7|1.6|1.6|1.4|0.4"/>
</p:tagLst>
</file>

<file path=ppt/tags/tag11.xml><?xml version="1.0" encoding="utf-8"?>
<p:tagLst xmlns:a="http://schemas.openxmlformats.org/drawingml/2006/main" xmlns:r="http://schemas.openxmlformats.org/officeDocument/2006/relationships" xmlns:p="http://schemas.openxmlformats.org/presentationml/2006/main">
  <p:tag name="TIMING" val="|2.9|11.5|16.3|3.1"/>
</p:tagLst>
</file>

<file path=ppt/tags/tag12.xml><?xml version="1.0" encoding="utf-8"?>
<p:tagLst xmlns:a="http://schemas.openxmlformats.org/drawingml/2006/main" xmlns:r="http://schemas.openxmlformats.org/officeDocument/2006/relationships" xmlns:p="http://schemas.openxmlformats.org/presentationml/2006/main">
  <p:tag name="TIMING" val="|0.7|1.2|19.3"/>
</p:tagLst>
</file>

<file path=ppt/tags/tag13.xml><?xml version="1.0" encoding="utf-8"?>
<p:tagLst xmlns:a="http://schemas.openxmlformats.org/drawingml/2006/main" xmlns:r="http://schemas.openxmlformats.org/officeDocument/2006/relationships" xmlns:p="http://schemas.openxmlformats.org/presentationml/2006/main">
  <p:tag name="TIMING" val="|0.7"/>
</p:tagLst>
</file>

<file path=ppt/tags/tag14.xml><?xml version="1.0" encoding="utf-8"?>
<p:tagLst xmlns:a="http://schemas.openxmlformats.org/drawingml/2006/main" xmlns:r="http://schemas.openxmlformats.org/officeDocument/2006/relationships" xmlns:p="http://schemas.openxmlformats.org/presentationml/2006/main">
  <p:tag name="TIMING" val="|0.9|2.9|11.1|14|18.1"/>
</p:tagLst>
</file>

<file path=ppt/tags/tag15.xml><?xml version="1.0" encoding="utf-8"?>
<p:tagLst xmlns:a="http://schemas.openxmlformats.org/drawingml/2006/main" xmlns:r="http://schemas.openxmlformats.org/officeDocument/2006/relationships" xmlns:p="http://schemas.openxmlformats.org/presentationml/2006/main">
  <p:tag name="TIMING" val="|0.6|3.9|6.2|19.3|19.4|5.8|9.6"/>
</p:tagLst>
</file>

<file path=ppt/tags/tag16.xml><?xml version="1.0" encoding="utf-8"?>
<p:tagLst xmlns:a="http://schemas.openxmlformats.org/drawingml/2006/main" xmlns:r="http://schemas.openxmlformats.org/officeDocument/2006/relationships" xmlns:p="http://schemas.openxmlformats.org/presentationml/2006/main">
  <p:tag name="TIMING" val="|0.6|4.9|83.8"/>
</p:tagLst>
</file>

<file path=ppt/tags/tag17.xml><?xml version="1.0" encoding="utf-8"?>
<p:tagLst xmlns:a="http://schemas.openxmlformats.org/drawingml/2006/main" xmlns:r="http://schemas.openxmlformats.org/officeDocument/2006/relationships" xmlns:p="http://schemas.openxmlformats.org/presentationml/2006/main">
  <p:tag name="TIMING" val="|0.7|1.9|17.4"/>
</p:tagLst>
</file>

<file path=ppt/tags/tag18.xml><?xml version="1.0" encoding="utf-8"?>
<p:tagLst xmlns:a="http://schemas.openxmlformats.org/drawingml/2006/main" xmlns:r="http://schemas.openxmlformats.org/officeDocument/2006/relationships" xmlns:p="http://schemas.openxmlformats.org/presentationml/2006/main">
  <p:tag name="TIMING" val="|0.8"/>
</p:tagLst>
</file>

<file path=ppt/tags/tag19.xml><?xml version="1.0" encoding="utf-8"?>
<p:tagLst xmlns:a="http://schemas.openxmlformats.org/drawingml/2006/main" xmlns:r="http://schemas.openxmlformats.org/officeDocument/2006/relationships" xmlns:p="http://schemas.openxmlformats.org/presentationml/2006/main">
  <p:tag name="TIMING" val="|0.6|3.6|23.3|14.5|10.8|26|7.8|4.6"/>
</p:tagLst>
</file>

<file path=ppt/tags/tag20.xml><?xml version="1.0" encoding="utf-8"?>
<p:tagLst xmlns:a="http://schemas.openxmlformats.org/drawingml/2006/main" xmlns:r="http://schemas.openxmlformats.org/officeDocument/2006/relationships" xmlns:p="http://schemas.openxmlformats.org/presentationml/2006/main">
  <p:tag name="TIMING" val="|0.7|16.9|7.8|9.2"/>
</p:tagLst>
</file>

<file path=ppt/tags/tag21.xml><?xml version="1.0" encoding="utf-8"?>
<p:tagLst xmlns:a="http://schemas.openxmlformats.org/drawingml/2006/main" xmlns:r="http://schemas.openxmlformats.org/officeDocument/2006/relationships" xmlns:p="http://schemas.openxmlformats.org/presentationml/2006/main">
  <p:tag name="TIMING" val="|0.8|9.1|37.1|1.2"/>
</p:tagLst>
</file>

<file path=ppt/tags/tag22.xml><?xml version="1.0" encoding="utf-8"?>
<p:tagLst xmlns:a="http://schemas.openxmlformats.org/drawingml/2006/main" xmlns:r="http://schemas.openxmlformats.org/officeDocument/2006/relationships" xmlns:p="http://schemas.openxmlformats.org/presentationml/2006/main">
  <p:tag name="TIMING" val="|0.9|28.7|4.7|1.8|3.2"/>
</p:tagLst>
</file>

<file path=ppt/tags/tag23.xml><?xml version="1.0" encoding="utf-8"?>
<p:tagLst xmlns:a="http://schemas.openxmlformats.org/drawingml/2006/main" xmlns:r="http://schemas.openxmlformats.org/officeDocument/2006/relationships" xmlns:p="http://schemas.openxmlformats.org/presentationml/2006/main">
  <p:tag name="TIMING" val="|0.7|3.5|8.3|3.3|5.8|3.5|3.7|3.1"/>
</p:tagLst>
</file>

<file path=ppt/tags/tag24.xml><?xml version="1.0" encoding="utf-8"?>
<p:tagLst xmlns:a="http://schemas.openxmlformats.org/drawingml/2006/main" xmlns:r="http://schemas.openxmlformats.org/officeDocument/2006/relationships" xmlns:p="http://schemas.openxmlformats.org/presentationml/2006/main">
  <p:tag name="TIMING" val="|0.7|4"/>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EBEBEB"/>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1207</TotalTime>
  <Words>1407</Words>
  <Application>Microsoft Office PowerPoint</Application>
  <PresentationFormat>On-screen Show (4:3)</PresentationFormat>
  <Paragraphs>168</Paragraphs>
  <Slides>26</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26</vt:i4>
      </vt:variant>
    </vt:vector>
  </HeadingPairs>
  <TitlesOfParts>
    <vt:vector size="36" baseType="lpstr">
      <vt:lpstr>Arial</vt:lpstr>
      <vt:lpstr>Calibri</vt:lpstr>
      <vt:lpstr>Century Gothic</vt:lpstr>
      <vt:lpstr>Comic Sans MS</vt:lpstr>
      <vt:lpstr>Garamond</vt:lpstr>
      <vt:lpstr>Times New Roman</vt:lpstr>
      <vt:lpstr>Verdana</vt:lpstr>
      <vt:lpstr>Wingdings</vt:lpstr>
      <vt:lpstr>Wingdings 2</vt:lpstr>
      <vt:lpstr>Parallax</vt:lpstr>
      <vt:lpstr>PowerPoint Presentation</vt:lpstr>
      <vt:lpstr>SOIL </vt:lpstr>
      <vt:lpstr>PowerPoint Presentation</vt:lpstr>
      <vt:lpstr>Types of Weathering process</vt:lpstr>
      <vt:lpstr>PowerPoint Presentation</vt:lpstr>
      <vt:lpstr>PowerPoint Presentation</vt:lpstr>
      <vt:lpstr>PowerPoint Presentation</vt:lpstr>
      <vt:lpstr>Erosion</vt:lpstr>
      <vt:lpstr>Factors of Soil Erosion</vt:lpstr>
      <vt:lpstr>PowerPoint Presentation</vt:lpstr>
      <vt:lpstr>Effects of Soil Erosion</vt:lpstr>
      <vt:lpstr>PowerPoint Presentation</vt:lpstr>
      <vt:lpstr>Composition of Soil</vt:lpstr>
      <vt:lpstr>PowerPoint Presentation</vt:lpstr>
      <vt:lpstr>PowerPoint Presentation</vt:lpstr>
      <vt:lpstr>Soil Horizon and Profile</vt:lpstr>
      <vt:lpstr>Importance of Soil as a Resource </vt:lpstr>
      <vt:lpstr>Concern regarding soil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Mohammad Mehedi Hasan</dc:creator>
  <cp:lastModifiedBy>Ms. Moushumi Zahur</cp:lastModifiedBy>
  <cp:revision>85</cp:revision>
  <dcterms:created xsi:type="dcterms:W3CDTF">2020-07-14T14:58:22Z</dcterms:created>
  <dcterms:modified xsi:type="dcterms:W3CDTF">2022-02-28T04:53:14Z</dcterms:modified>
</cp:coreProperties>
</file>