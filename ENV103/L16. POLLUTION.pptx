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1"/>
  </p:sldMasterIdLst>
  <p:notesMasterIdLst>
    <p:notesMasterId r:id="rId30"/>
  </p:notesMasterIdLst>
  <p:handoutMasterIdLst>
    <p:handoutMasterId r:id="rId31"/>
  </p:handoutMasterIdLst>
  <p:sldIdLst>
    <p:sldId id="264" r:id="rId2"/>
    <p:sldId id="256" r:id="rId3"/>
    <p:sldId id="257" r:id="rId4"/>
    <p:sldId id="258" r:id="rId5"/>
    <p:sldId id="259" r:id="rId6"/>
    <p:sldId id="277" r:id="rId7"/>
    <p:sldId id="294" r:id="rId8"/>
    <p:sldId id="292" r:id="rId9"/>
    <p:sldId id="296" r:id="rId10"/>
    <p:sldId id="299" r:id="rId11"/>
    <p:sldId id="262" r:id="rId12"/>
    <p:sldId id="289" r:id="rId13"/>
    <p:sldId id="286" r:id="rId14"/>
    <p:sldId id="263" r:id="rId15"/>
    <p:sldId id="300" r:id="rId16"/>
    <p:sldId id="265" r:id="rId17"/>
    <p:sldId id="287" r:id="rId18"/>
    <p:sldId id="266" r:id="rId19"/>
    <p:sldId id="267" r:id="rId20"/>
    <p:sldId id="268" r:id="rId21"/>
    <p:sldId id="269" r:id="rId22"/>
    <p:sldId id="270" r:id="rId23"/>
    <p:sldId id="283" r:id="rId24"/>
    <p:sldId id="284" r:id="rId25"/>
    <p:sldId id="271" r:id="rId26"/>
    <p:sldId id="272" r:id="rId27"/>
    <p:sldId id="301" r:id="rId28"/>
    <p:sldId id="298" r:id="rId29"/>
  </p:sldIdLst>
  <p:sldSz cx="9144000" cy="6858000" type="screen4x3"/>
  <p:notesSz cx="6881813"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75" autoAdjust="0"/>
    <p:restoredTop sz="94660"/>
  </p:normalViewPr>
  <p:slideViewPr>
    <p:cSldViewPr>
      <p:cViewPr varScale="1">
        <p:scale>
          <a:sx n="91" d="100"/>
          <a:sy n="91" d="100"/>
        </p:scale>
        <p:origin x="1308"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913"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97313" y="0"/>
            <a:ext cx="2982912" cy="465138"/>
          </a:xfrm>
          <a:prstGeom prst="rect">
            <a:avLst/>
          </a:prstGeom>
        </p:spPr>
        <p:txBody>
          <a:bodyPr vert="horz" lIns="91440" tIns="45720" rIns="91440" bIns="45720" rtlCol="0"/>
          <a:lstStyle>
            <a:lvl1pPr algn="r">
              <a:defRPr sz="1200"/>
            </a:lvl1pPr>
          </a:lstStyle>
          <a:p>
            <a:fld id="{C8ECF0FB-799B-46EA-A835-C9D7C2C4F312}" type="datetimeFigureOut">
              <a:rPr lang="en-US" smtClean="0"/>
              <a:pPr/>
              <a:t>4/13/2022</a:t>
            </a:fld>
            <a:endParaRPr lang="en-US"/>
          </a:p>
        </p:txBody>
      </p:sp>
      <p:sp>
        <p:nvSpPr>
          <p:cNvPr id="4" name="Footer Placeholder 3"/>
          <p:cNvSpPr>
            <a:spLocks noGrp="1"/>
          </p:cNvSpPr>
          <p:nvPr>
            <p:ph type="ftr" sz="quarter" idx="2"/>
          </p:nvPr>
        </p:nvSpPr>
        <p:spPr>
          <a:xfrm>
            <a:off x="0" y="8829675"/>
            <a:ext cx="2982913"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97313" y="8829675"/>
            <a:ext cx="2982912" cy="465138"/>
          </a:xfrm>
          <a:prstGeom prst="rect">
            <a:avLst/>
          </a:prstGeom>
        </p:spPr>
        <p:txBody>
          <a:bodyPr vert="horz" lIns="91440" tIns="45720" rIns="91440" bIns="45720" rtlCol="0" anchor="b"/>
          <a:lstStyle>
            <a:lvl1pPr algn="r">
              <a:defRPr sz="1200"/>
            </a:lvl1pPr>
          </a:lstStyle>
          <a:p>
            <a:fld id="{A7BA0443-C80F-4595-B112-8B8C0A3F7E0B}" type="slidenum">
              <a:rPr lang="en-US" smtClean="0"/>
              <a:pPr/>
              <a:t>‹#›</a:t>
            </a:fld>
            <a:endParaRPr lang="en-US"/>
          </a:p>
        </p:txBody>
      </p:sp>
    </p:spTree>
    <p:extLst>
      <p:ext uri="{BB962C8B-B14F-4D97-AF65-F5344CB8AC3E}">
        <p14:creationId xmlns:p14="http://schemas.microsoft.com/office/powerpoint/2010/main" val="676615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913"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97313" y="0"/>
            <a:ext cx="2982912" cy="465138"/>
          </a:xfrm>
          <a:prstGeom prst="rect">
            <a:avLst/>
          </a:prstGeom>
        </p:spPr>
        <p:txBody>
          <a:bodyPr vert="horz" lIns="91440" tIns="45720" rIns="91440" bIns="45720" rtlCol="0"/>
          <a:lstStyle>
            <a:lvl1pPr algn="r">
              <a:defRPr sz="1200"/>
            </a:lvl1pPr>
          </a:lstStyle>
          <a:p>
            <a:fld id="{43A56063-5998-4D81-8820-D47268AFD437}" type="datetimeFigureOut">
              <a:rPr lang="en-US" smtClean="0"/>
              <a:pPr/>
              <a:t>4/13/2022</a:t>
            </a:fld>
            <a:endParaRPr lang="en-US"/>
          </a:p>
        </p:txBody>
      </p:sp>
      <p:sp>
        <p:nvSpPr>
          <p:cNvPr id="4" name="Slide Image Placeholder 3"/>
          <p:cNvSpPr>
            <a:spLocks noGrp="1" noRot="1" noChangeAspect="1"/>
          </p:cNvSpPr>
          <p:nvPr>
            <p:ph type="sldImg" idx="2"/>
          </p:nvPr>
        </p:nvSpPr>
        <p:spPr>
          <a:xfrm>
            <a:off x="1117600" y="696913"/>
            <a:ext cx="4648200"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8975" y="4416425"/>
            <a:ext cx="5505450" cy="41830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2982913" cy="4651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97313" y="8829675"/>
            <a:ext cx="2982912" cy="465138"/>
          </a:xfrm>
          <a:prstGeom prst="rect">
            <a:avLst/>
          </a:prstGeom>
        </p:spPr>
        <p:txBody>
          <a:bodyPr vert="horz" lIns="91440" tIns="45720" rIns="91440" bIns="45720" rtlCol="0" anchor="b"/>
          <a:lstStyle>
            <a:lvl1pPr algn="r">
              <a:defRPr sz="1200"/>
            </a:lvl1pPr>
          </a:lstStyle>
          <a:p>
            <a:fld id="{AC87D4BA-5DC1-4F07-B729-34A8B475F75B}" type="slidenum">
              <a:rPr lang="en-US" smtClean="0"/>
              <a:pPr/>
              <a:t>‹#›</a:t>
            </a:fld>
            <a:endParaRPr lang="en-US"/>
          </a:p>
        </p:txBody>
      </p:sp>
    </p:spTree>
    <p:extLst>
      <p:ext uri="{BB962C8B-B14F-4D97-AF65-F5344CB8AC3E}">
        <p14:creationId xmlns:p14="http://schemas.microsoft.com/office/powerpoint/2010/main" val="2448748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87D4BA-5DC1-4F07-B729-34A8B475F75B}" type="slidenum">
              <a:rPr lang="en-US" smtClean="0"/>
              <a:pPr/>
              <a:t>1</a:t>
            </a:fld>
            <a:endParaRPr lang="en-US"/>
          </a:p>
        </p:txBody>
      </p:sp>
    </p:spTree>
    <p:extLst>
      <p:ext uri="{BB962C8B-B14F-4D97-AF65-F5344CB8AC3E}">
        <p14:creationId xmlns:p14="http://schemas.microsoft.com/office/powerpoint/2010/main" val="39724437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1D8BD707-D9CF-40AE-B4C6-C98DA3205C09}" type="datetimeFigureOut">
              <a:rPr lang="en-US" smtClean="0"/>
              <a:pPr/>
              <a:t>4/13/2022</a:t>
            </a:fld>
            <a:endParaRPr lang="en-US"/>
          </a:p>
        </p:txBody>
      </p:sp>
      <p:sp>
        <p:nvSpPr>
          <p:cNvPr id="5" name="Footer Placeholder 4"/>
          <p:cNvSpPr>
            <a:spLocks noGrp="1"/>
          </p:cNvSpPr>
          <p:nvPr>
            <p:ph type="ftr" sz="quarter" idx="11"/>
          </p:nvPr>
        </p:nvSpPr>
        <p:spPr>
          <a:xfrm>
            <a:off x="3623733" y="6117336"/>
            <a:ext cx="3609438" cy="365125"/>
          </a:xfrm>
        </p:spPr>
        <p:txBody>
          <a:bodyPr/>
          <a:lstStyle/>
          <a:p>
            <a:endParaRPr lang="en-US"/>
          </a:p>
        </p:txBody>
      </p:sp>
      <p:sp>
        <p:nvSpPr>
          <p:cNvPr id="6" name="Slide Number Placeholder 5"/>
          <p:cNvSpPr>
            <a:spLocks noGrp="1"/>
          </p:cNvSpPr>
          <p:nvPr>
            <p:ph type="sldNum" sz="quarter" idx="12"/>
          </p:nvPr>
        </p:nvSpPr>
        <p:spPr>
          <a:xfrm>
            <a:off x="8275320" y="6117336"/>
            <a:ext cx="411480" cy="365125"/>
          </a:xfrm>
        </p:spPr>
        <p:txBody>
          <a:bodyPr/>
          <a:lstStyle/>
          <a:p>
            <a:fld id="{B6F15528-21DE-4FAA-801E-634DDDAF4B2B}" type="slidenum">
              <a:rPr lang="en-US" smtClean="0"/>
              <a:pPr/>
              <a:t>‹#›</a:t>
            </a:fld>
            <a:endParaRPr 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Tree>
    <p:extLst>
      <p:ext uri="{BB962C8B-B14F-4D97-AF65-F5344CB8AC3E}">
        <p14:creationId xmlns:p14="http://schemas.microsoft.com/office/powerpoint/2010/main" val="3558786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1D8BD707-D9CF-40AE-B4C6-C98DA3205C09}" type="datetimeFigureOut">
              <a:rPr lang="en-US" smtClean="0"/>
              <a:pPr/>
              <a:t>4/13/2022</a:t>
            </a:fld>
            <a:endParaRPr lang="en-US"/>
          </a:p>
        </p:txBody>
      </p:sp>
      <p:sp>
        <p:nvSpPr>
          <p:cNvPr id="5" name="Footer Placeholder 4"/>
          <p:cNvSpPr>
            <a:spLocks noGrp="1"/>
          </p:cNvSpPr>
          <p:nvPr>
            <p:ph type="ftr" sz="quarter" idx="11"/>
          </p:nvPr>
        </p:nvSpPr>
        <p:spPr>
          <a:xfrm>
            <a:off x="1972647" y="6108173"/>
            <a:ext cx="5314517" cy="365125"/>
          </a:xfrm>
        </p:spPr>
        <p:txBody>
          <a:bodyPr/>
          <a:lstStyle/>
          <a:p>
            <a:endParaRPr lang="en-US"/>
          </a:p>
        </p:txBody>
      </p:sp>
      <p:sp>
        <p:nvSpPr>
          <p:cNvPr id="6" name="Slide Number Placeholder 5"/>
          <p:cNvSpPr>
            <a:spLocks noGrp="1"/>
          </p:cNvSpPr>
          <p:nvPr>
            <p:ph type="sldNum" sz="quarter" idx="12"/>
          </p:nvPr>
        </p:nvSpPr>
        <p:spPr>
          <a:xfrm>
            <a:off x="8258967" y="6108173"/>
            <a:ext cx="427833" cy="365125"/>
          </a:xfrm>
        </p:spPr>
        <p:txBody>
          <a:bodyPr/>
          <a:lstStyle/>
          <a:p>
            <a:fld id="{B6F15528-21DE-4FAA-801E-634DDDAF4B2B}" type="slidenum">
              <a:rPr lang="en-US" smtClean="0"/>
              <a:pPr/>
              <a:t>‹#›</a:t>
            </a:fld>
            <a:endParaRPr lang="en-US"/>
          </a:p>
        </p:txBody>
      </p:sp>
      <p:pic>
        <p:nvPicPr>
          <p:cNvPr id="8" name="Picture 7" descr="A picture containing drawing, shirt&#10;&#10;Description automatically generated">
            <a:extLst>
              <a:ext uri="{FF2B5EF4-FFF2-40B4-BE49-F238E27FC236}">
                <a16:creationId xmlns:a16="http://schemas.microsoft.com/office/drawing/2014/main" id="{0F306AE3-F028-4200-B8D2-2C8359AA759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050" y="5981700"/>
            <a:ext cx="876300" cy="876300"/>
          </a:xfrm>
          <a:prstGeom prst="rect">
            <a:avLst/>
          </a:prstGeom>
        </p:spPr>
      </p:pic>
      <p:sp>
        <p:nvSpPr>
          <p:cNvPr id="9" name="TextBox 8">
            <a:extLst>
              <a:ext uri="{FF2B5EF4-FFF2-40B4-BE49-F238E27FC236}">
                <a16:creationId xmlns:a16="http://schemas.microsoft.com/office/drawing/2014/main" id="{7A9FCBA1-3AA0-420E-91C7-1BFEE49F484A}"/>
              </a:ext>
            </a:extLst>
          </p:cNvPr>
          <p:cNvSpPr txBox="1"/>
          <p:nvPr userDrawn="1"/>
        </p:nvSpPr>
        <p:spPr>
          <a:xfrm>
            <a:off x="8001000" y="76200"/>
            <a:ext cx="1066800" cy="381000"/>
          </a:xfrm>
          <a:prstGeom prst="rect">
            <a:avLst/>
          </a:prstGeom>
          <a:effectLst>
            <a:glow rad="63500">
              <a:schemeClr val="accent1">
                <a:satMod val="175000"/>
                <a:alpha val="40000"/>
              </a:schemeClr>
            </a:glow>
          </a:effectLst>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b="1" dirty="0"/>
              <a:t>ENV-103</a:t>
            </a:r>
          </a:p>
        </p:txBody>
      </p:sp>
    </p:spTree>
    <p:extLst>
      <p:ext uri="{BB962C8B-B14F-4D97-AF65-F5344CB8AC3E}">
        <p14:creationId xmlns:p14="http://schemas.microsoft.com/office/powerpoint/2010/main" val="1844462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273317" y="6116070"/>
            <a:ext cx="413483" cy="365125"/>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915798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4/13/2022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16068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4/13/2022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13261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4/13/2022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55310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75598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16720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4/13/2022</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05952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22941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378453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709962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674373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9835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281330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434060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050622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066800" y="304800"/>
            <a:ext cx="7543800" cy="1431925"/>
          </a:xfrm>
        </p:spPr>
        <p:txBody>
          <a:bodyPr/>
          <a:lstStyle/>
          <a:p>
            <a:r>
              <a:rPr lang="en-US"/>
              <a:t>Click to edit Master title style</a:t>
            </a:r>
          </a:p>
        </p:txBody>
      </p:sp>
      <p:sp>
        <p:nvSpPr>
          <p:cNvPr id="3" name="Table Placeholder 2"/>
          <p:cNvSpPr>
            <a:spLocks noGrp="1"/>
          </p:cNvSpPr>
          <p:nvPr>
            <p:ph type="tbl" idx="1"/>
          </p:nvPr>
        </p:nvSpPr>
        <p:spPr>
          <a:xfrm>
            <a:off x="1066800" y="1981200"/>
            <a:ext cx="7543800" cy="4114800"/>
          </a:xfrm>
        </p:spPr>
        <p:txBody>
          <a:bodyPr>
            <a:normAutofit/>
          </a:bodyPr>
          <a:lstStyle/>
          <a:p>
            <a:pPr lvl="0"/>
            <a:endParaRPr lang="en-US" noProof="0"/>
          </a:p>
        </p:txBody>
      </p:sp>
      <p:sp>
        <p:nvSpPr>
          <p:cNvPr id="4" name="Date Placeholder 23">
            <a:extLst>
              <a:ext uri="{FF2B5EF4-FFF2-40B4-BE49-F238E27FC236}">
                <a16:creationId xmlns:a16="http://schemas.microsoft.com/office/drawing/2014/main" id="{12E2C733-BD36-40C2-B30E-1937D2C26D2A}"/>
              </a:ext>
            </a:extLst>
          </p:cNvPr>
          <p:cNvSpPr>
            <a:spLocks noGrp="1"/>
          </p:cNvSpPr>
          <p:nvPr>
            <p:ph type="dt" sz="half" idx="10"/>
          </p:nvPr>
        </p:nvSpPr>
        <p:spPr/>
        <p:txBody>
          <a:bodyPr/>
          <a:lstStyle>
            <a:lvl1pPr>
              <a:defRPr/>
            </a:lvl1pPr>
          </a:lstStyle>
          <a:p>
            <a:pPr>
              <a:defRPr/>
            </a:pPr>
            <a:endParaRPr lang="en-US"/>
          </a:p>
        </p:txBody>
      </p:sp>
      <p:sp>
        <p:nvSpPr>
          <p:cNvPr id="5" name="Footer Placeholder 9">
            <a:extLst>
              <a:ext uri="{FF2B5EF4-FFF2-40B4-BE49-F238E27FC236}">
                <a16:creationId xmlns:a16="http://schemas.microsoft.com/office/drawing/2014/main" id="{876971A8-8679-4D41-88C3-3230EED39A1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1">
            <a:extLst>
              <a:ext uri="{FF2B5EF4-FFF2-40B4-BE49-F238E27FC236}">
                <a16:creationId xmlns:a16="http://schemas.microsoft.com/office/drawing/2014/main" id="{704E801A-8B8D-44DE-8141-3ED8779909EC}"/>
              </a:ext>
            </a:extLst>
          </p:cNvPr>
          <p:cNvSpPr>
            <a:spLocks noGrp="1"/>
          </p:cNvSpPr>
          <p:nvPr>
            <p:ph type="sldNum" sz="quarter" idx="12"/>
          </p:nvPr>
        </p:nvSpPr>
        <p:spPr/>
        <p:txBody>
          <a:bodyPr/>
          <a:lstStyle>
            <a:lvl1pPr>
              <a:defRPr/>
            </a:lvl1pPr>
          </a:lstStyle>
          <a:p>
            <a:pPr>
              <a:defRPr/>
            </a:pPr>
            <a:fld id="{0D0EC173-3360-454A-90C8-D3D6C2F9748B}" type="slidenum">
              <a:rPr lang="en-US" altLang="en-US"/>
              <a:pPr>
                <a:defRPr/>
              </a:pPr>
              <a:t>‹#›</a:t>
            </a:fld>
            <a:endParaRPr lang="en-US" altLang="en-US"/>
          </a:p>
        </p:txBody>
      </p:sp>
    </p:spTree>
    <p:extLst>
      <p:ext uri="{BB962C8B-B14F-4D97-AF65-F5344CB8AC3E}">
        <p14:creationId xmlns:p14="http://schemas.microsoft.com/office/powerpoint/2010/main" val="4043519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D8BD707-D9CF-40AE-B4C6-C98DA3205C09}" type="datetimeFigureOut">
              <a:rPr lang="en-US" smtClean="0"/>
              <a:pPr/>
              <a:t>4/13/2022</a:t>
            </a:fld>
            <a:endParaRPr 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420480779"/>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 id="2147483830" r:id="rId14"/>
    <p:sldLayoutId id="2147483831" r:id="rId15"/>
    <p:sldLayoutId id="2147483832" r:id="rId16"/>
    <p:sldLayoutId id="2147483833" r:id="rId17"/>
    <p:sldLayoutId id="2147483834" r:id="rId18"/>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9.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27.xml.rels><?xml version="1.0" encoding="UTF-8" standalone="yes"?>
<Relationships xmlns="http://schemas.openxmlformats.org/package/2006/relationships"><Relationship Id="rId3" Type="http://schemas.openxmlformats.org/officeDocument/2006/relationships/hyperlink" Target="https://www.conserve-energy-future.com/causes-problems-solutions-littering.php" TargetMode="External"/><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8.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pic>
        <p:nvPicPr>
          <p:cNvPr id="3" name="Picture 2" descr="A picture containing drawing, shirt&#10;&#10;Description automatically generated">
            <a:extLst>
              <a:ext uri="{FF2B5EF4-FFF2-40B4-BE49-F238E27FC236}">
                <a16:creationId xmlns:a16="http://schemas.microsoft.com/office/drawing/2014/main" id="{97CD00F5-D549-4417-A28E-565ECE44EE1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24799" y="5619948"/>
            <a:ext cx="1238051" cy="1238051"/>
          </a:xfrm>
          <a:prstGeom prst="rect">
            <a:avLst/>
          </a:prstGeom>
        </p:spPr>
      </p:pic>
      <p:sp>
        <p:nvSpPr>
          <p:cNvPr id="5" name="Rectangle: Rounded Corners 4">
            <a:extLst>
              <a:ext uri="{FF2B5EF4-FFF2-40B4-BE49-F238E27FC236}">
                <a16:creationId xmlns:a16="http://schemas.microsoft.com/office/drawing/2014/main" id="{68DBE504-36DD-4DF3-BFA6-D020600871BA}"/>
              </a:ext>
            </a:extLst>
          </p:cNvPr>
          <p:cNvSpPr/>
          <p:nvPr/>
        </p:nvSpPr>
        <p:spPr>
          <a:xfrm>
            <a:off x="7428157" y="205760"/>
            <a:ext cx="1609775" cy="457200"/>
          </a:xfrm>
          <a:prstGeom prst="roundRect">
            <a:avLst>
              <a:gd name="adj" fmla="val 50000"/>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ENV 103</a:t>
            </a:r>
          </a:p>
        </p:txBody>
      </p:sp>
      <p:sp>
        <p:nvSpPr>
          <p:cNvPr id="2" name="Title 1">
            <a:extLst>
              <a:ext uri="{FF2B5EF4-FFF2-40B4-BE49-F238E27FC236}">
                <a16:creationId xmlns:a16="http://schemas.microsoft.com/office/drawing/2014/main" id="{EB55EE60-729B-47A0-9798-4CD37089AD5A}"/>
              </a:ext>
            </a:extLst>
          </p:cNvPr>
          <p:cNvSpPr>
            <a:spLocks noGrp="1"/>
          </p:cNvSpPr>
          <p:nvPr>
            <p:ph type="ctrTitle"/>
          </p:nvPr>
        </p:nvSpPr>
        <p:spPr>
          <a:xfrm>
            <a:off x="1752600" y="2597458"/>
            <a:ext cx="6028638" cy="1863808"/>
          </a:xfrm>
        </p:spPr>
        <p:txBody>
          <a:bodyPr/>
          <a:lstStyle/>
          <a:p>
            <a:pPr algn="ctr"/>
            <a:r>
              <a:rPr lang="en-US" dirty="0"/>
              <a:t>ENVIRONMENTAL POLLUTION</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8256"/>
    </mc:Choice>
    <mc:Fallback xmlns="">
      <p:transition spd="slow" advTm="825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61BCFE2E-0933-44C0-85B6-8541312A77D7}"/>
              </a:ext>
            </a:extLst>
          </p:cNvPr>
          <p:cNvSpPr>
            <a:spLocks noGrp="1" noChangeArrowheads="1"/>
          </p:cNvSpPr>
          <p:nvPr>
            <p:ph type="title"/>
          </p:nvPr>
        </p:nvSpPr>
        <p:spPr/>
        <p:txBody>
          <a:bodyPr>
            <a:normAutofit/>
          </a:bodyPr>
          <a:lstStyle/>
          <a:p>
            <a:pPr eaLnBrk="1" fontAlgn="auto" hangingPunct="1">
              <a:spcAft>
                <a:spcPts val="0"/>
              </a:spcAft>
              <a:defRPr/>
            </a:pPr>
            <a:r>
              <a:rPr lang="en-US" sz="7200" dirty="0">
                <a:solidFill>
                  <a:schemeClr val="tx2">
                    <a:satMod val="130000"/>
                  </a:schemeClr>
                </a:solidFill>
                <a:latin typeface="Garamond" pitchFamily="18" charset="0"/>
              </a:rPr>
              <a:t/>
            </a:r>
            <a:br>
              <a:rPr lang="en-US" sz="7200" dirty="0">
                <a:solidFill>
                  <a:schemeClr val="tx2">
                    <a:satMod val="130000"/>
                  </a:schemeClr>
                </a:solidFill>
                <a:latin typeface="Garamond" pitchFamily="18" charset="0"/>
              </a:rPr>
            </a:br>
            <a:endParaRPr lang="en-US" sz="4000" dirty="0">
              <a:solidFill>
                <a:schemeClr val="tx2">
                  <a:satMod val="130000"/>
                </a:schemeClr>
              </a:solidFill>
            </a:endParaRPr>
          </a:p>
        </p:txBody>
      </p:sp>
      <p:sp>
        <p:nvSpPr>
          <p:cNvPr id="8195" name="Content Placeholder 2">
            <a:extLst>
              <a:ext uri="{FF2B5EF4-FFF2-40B4-BE49-F238E27FC236}">
                <a16:creationId xmlns:a16="http://schemas.microsoft.com/office/drawing/2014/main" id="{63E80A6A-139B-49E8-A696-900DCD03D78A}"/>
              </a:ext>
            </a:extLst>
          </p:cNvPr>
          <p:cNvSpPr>
            <a:spLocks noGrp="1"/>
          </p:cNvSpPr>
          <p:nvPr>
            <p:ph idx="1"/>
          </p:nvPr>
        </p:nvSpPr>
        <p:spPr>
          <a:xfrm>
            <a:off x="838200" y="457200"/>
            <a:ext cx="8077200" cy="5638800"/>
          </a:xfrm>
        </p:spPr>
        <p:txBody>
          <a:bodyPr>
            <a:normAutofit/>
          </a:bodyPr>
          <a:lstStyle/>
          <a:p>
            <a:pPr algn="ctr" eaLnBrk="1" hangingPunct="1">
              <a:buFont typeface="Wingdings" panose="05000000000000000000" pitchFamily="2" charset="2"/>
              <a:buNone/>
            </a:pPr>
            <a:r>
              <a:rPr lang="en-US" altLang="en-US" sz="4000" b="1" dirty="0">
                <a:latin typeface="Garamond" panose="02020404030301010803" pitchFamily="18" charset="0"/>
              </a:rPr>
              <a:t>Environmental pollutions</a:t>
            </a:r>
          </a:p>
          <a:p>
            <a:r>
              <a:rPr lang="en-US" altLang="en-US" sz="2800" dirty="0">
                <a:latin typeface="Garamond" panose="02020404030301010803" pitchFamily="18" charset="0"/>
              </a:rPr>
              <a:t>Any alteration to air, water, soil or food that threatens the health, survival  capability of  humans or other living organisms, is called pollution.</a:t>
            </a:r>
            <a:r>
              <a:rPr lang="en-US" dirty="0"/>
              <a:t> </a:t>
            </a:r>
          </a:p>
          <a:p>
            <a:endParaRPr lang="en-US" dirty="0"/>
          </a:p>
          <a:p>
            <a:r>
              <a:rPr lang="en-US" sz="2800" dirty="0">
                <a:latin typeface="Garamond" panose="02020404030301010803" pitchFamily="18" charset="0"/>
              </a:rPr>
              <a:t>Pollution is a global problem. </a:t>
            </a:r>
            <a:endParaRPr lang="en-US" altLang="en-US" sz="2800" dirty="0">
              <a:latin typeface="Garamond" panose="02020404030301010803" pitchFamily="18"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14614"/>
    </mc:Choice>
    <mc:Fallback xmlns="">
      <p:transition spd="slow" advTm="11461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fade">
                                      <p:cBhvr>
                                        <p:cTn id="7" dur="1000"/>
                                        <p:tgtEl>
                                          <p:spTgt spid="8195">
                                            <p:txEl>
                                              <p:pRg st="0" end="0"/>
                                            </p:txEl>
                                          </p:spTgt>
                                        </p:tgtEl>
                                      </p:cBhvr>
                                    </p:animEffect>
                                    <p:anim calcmode="lin" valueType="num">
                                      <p:cBhvr>
                                        <p:cTn id="8" dur="1000" fill="hold"/>
                                        <p:tgtEl>
                                          <p:spTgt spid="819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19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195">
                                            <p:txEl>
                                              <p:pRg st="1" end="1"/>
                                            </p:txEl>
                                          </p:spTgt>
                                        </p:tgtEl>
                                        <p:attrNameLst>
                                          <p:attrName>style.visibility</p:attrName>
                                        </p:attrNameLst>
                                      </p:cBhvr>
                                      <p:to>
                                        <p:strVal val="visible"/>
                                      </p:to>
                                    </p:set>
                                    <p:animEffect transition="in" filter="fade">
                                      <p:cBhvr>
                                        <p:cTn id="14" dur="1000"/>
                                        <p:tgtEl>
                                          <p:spTgt spid="8195">
                                            <p:txEl>
                                              <p:pRg st="1" end="1"/>
                                            </p:txEl>
                                          </p:spTgt>
                                        </p:tgtEl>
                                      </p:cBhvr>
                                    </p:animEffect>
                                    <p:anim calcmode="lin" valueType="num">
                                      <p:cBhvr>
                                        <p:cTn id="15" dur="1000" fill="hold"/>
                                        <p:tgtEl>
                                          <p:spTgt spid="819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819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195">
                                            <p:txEl>
                                              <p:pRg st="3" end="3"/>
                                            </p:txEl>
                                          </p:spTgt>
                                        </p:tgtEl>
                                        <p:attrNameLst>
                                          <p:attrName>style.visibility</p:attrName>
                                        </p:attrNameLst>
                                      </p:cBhvr>
                                      <p:to>
                                        <p:strVal val="visible"/>
                                      </p:to>
                                    </p:set>
                                    <p:animEffect transition="in" filter="fade">
                                      <p:cBhvr>
                                        <p:cTn id="21" dur="1000"/>
                                        <p:tgtEl>
                                          <p:spTgt spid="8195">
                                            <p:txEl>
                                              <p:pRg st="3" end="3"/>
                                            </p:txEl>
                                          </p:spTgt>
                                        </p:tgtEl>
                                      </p:cBhvr>
                                    </p:animEffect>
                                    <p:anim calcmode="lin" valueType="num">
                                      <p:cBhvr>
                                        <p:cTn id="22" dur="1000" fill="hold"/>
                                        <p:tgtEl>
                                          <p:spTgt spid="8195">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819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
            <a:extLst>
              <a:ext uri="{FF2B5EF4-FFF2-40B4-BE49-F238E27FC236}">
                <a16:creationId xmlns:a16="http://schemas.microsoft.com/office/drawing/2014/main" id="{56C46B1B-A203-4C6B-9492-97001CB231BE}"/>
              </a:ext>
            </a:extLst>
          </p:cNvPr>
          <p:cNvSpPr>
            <a:spLocks noGrp="1"/>
          </p:cNvSpPr>
          <p:nvPr>
            <p:ph idx="1"/>
          </p:nvPr>
        </p:nvSpPr>
        <p:spPr>
          <a:xfrm>
            <a:off x="0" y="1447800"/>
            <a:ext cx="9144000" cy="5295900"/>
          </a:xfrm>
        </p:spPr>
        <p:txBody>
          <a:bodyPr>
            <a:normAutofit fontScale="25000" lnSpcReduction="20000"/>
          </a:bodyPr>
          <a:lstStyle/>
          <a:p>
            <a:pPr algn="ctr" eaLnBrk="1" hangingPunct="1">
              <a:buFont typeface="Wingdings" panose="05000000000000000000" pitchFamily="2" charset="2"/>
              <a:buNone/>
            </a:pPr>
            <a:r>
              <a:rPr lang="en-US" altLang="en-US" sz="12800" b="1" u="sng" dirty="0">
                <a:latin typeface="Garamond" panose="02020404030301010803" pitchFamily="18" charset="0"/>
              </a:rPr>
              <a:t>Causes of pollution</a:t>
            </a:r>
          </a:p>
          <a:p>
            <a:pPr lvl="1" eaLnBrk="1" hangingPunct="1"/>
            <a:r>
              <a:rPr lang="en-US" altLang="en-US" sz="9600" b="1" dirty="0">
                <a:latin typeface="Garamond" panose="02020404030301010803" pitchFamily="18" charset="0"/>
              </a:rPr>
              <a:t>Natural</a:t>
            </a:r>
          </a:p>
          <a:p>
            <a:pPr lvl="2" eaLnBrk="1" hangingPunct="1"/>
            <a:r>
              <a:rPr lang="en-US" altLang="en-US" sz="9600" dirty="0">
                <a:latin typeface="Garamond" panose="02020404030301010803" pitchFamily="18" charset="0"/>
              </a:rPr>
              <a:t>Volcanic eruptions</a:t>
            </a:r>
          </a:p>
          <a:p>
            <a:pPr lvl="2" eaLnBrk="1" hangingPunct="1"/>
            <a:r>
              <a:rPr lang="en-US" altLang="en-US" sz="9600" dirty="0">
                <a:latin typeface="Garamond" panose="02020404030301010803" pitchFamily="18" charset="0"/>
              </a:rPr>
              <a:t>Soil erosion/ sediment transport</a:t>
            </a:r>
          </a:p>
          <a:p>
            <a:pPr lvl="2" eaLnBrk="1" hangingPunct="1"/>
            <a:r>
              <a:rPr lang="en-US" altLang="en-US" sz="9600" dirty="0">
                <a:latin typeface="Garamond" panose="02020404030301010803" pitchFamily="18" charset="0"/>
              </a:rPr>
              <a:t>Dust storms</a:t>
            </a:r>
          </a:p>
          <a:p>
            <a:pPr lvl="2" eaLnBrk="1" hangingPunct="1"/>
            <a:r>
              <a:rPr lang="en-US" altLang="en-US" sz="9600" dirty="0">
                <a:latin typeface="Garamond" panose="02020404030301010803" pitchFamily="18" charset="0"/>
              </a:rPr>
              <a:t>Tsunami</a:t>
            </a:r>
          </a:p>
          <a:p>
            <a:pPr lvl="1" eaLnBrk="1" hangingPunct="1"/>
            <a:r>
              <a:rPr lang="en-US" altLang="en-US" sz="9600" b="1" dirty="0">
                <a:latin typeface="Garamond" panose="02020404030301010803" pitchFamily="18" charset="0"/>
              </a:rPr>
              <a:t>Man made</a:t>
            </a:r>
          </a:p>
          <a:p>
            <a:pPr lvl="2" eaLnBrk="1" hangingPunct="1"/>
            <a:r>
              <a:rPr lang="en-US" altLang="en-US" sz="9600" dirty="0">
                <a:latin typeface="Garamond" panose="02020404030301010803" pitchFamily="18" charset="0"/>
              </a:rPr>
              <a:t>Domestic</a:t>
            </a:r>
          </a:p>
          <a:p>
            <a:pPr lvl="2" eaLnBrk="1" hangingPunct="1"/>
            <a:r>
              <a:rPr lang="en-US" altLang="en-US" sz="9600" dirty="0">
                <a:latin typeface="Garamond" panose="02020404030301010803" pitchFamily="18" charset="0"/>
              </a:rPr>
              <a:t>Industrial</a:t>
            </a:r>
          </a:p>
          <a:p>
            <a:pPr lvl="2" eaLnBrk="1" hangingPunct="1"/>
            <a:r>
              <a:rPr lang="en-US" altLang="en-US" sz="9600" dirty="0">
                <a:latin typeface="Garamond" panose="02020404030301010803" pitchFamily="18" charset="0"/>
              </a:rPr>
              <a:t>Agricultural</a:t>
            </a:r>
          </a:p>
          <a:p>
            <a:pPr lvl="2"/>
            <a:r>
              <a:rPr lang="en-US" altLang="en-US" sz="9600" dirty="0">
                <a:latin typeface="Garamond" panose="02020404030301010803" pitchFamily="18" charset="0"/>
              </a:rPr>
              <a:t>Mining</a:t>
            </a:r>
            <a:endParaRPr lang="en-US" altLang="en-US" sz="7200" dirty="0">
              <a:solidFill>
                <a:srgbClr val="FF0000"/>
              </a:solidFill>
              <a:latin typeface="Garamond" panose="02020404030301010803" pitchFamily="18" charset="0"/>
            </a:endParaRPr>
          </a:p>
          <a:p>
            <a:pPr lvl="1" eaLnBrk="1" hangingPunct="1"/>
            <a:endParaRPr lang="en-US" altLang="en-US" sz="12800" dirty="0">
              <a:latin typeface="Garamond" panose="02020404030301010803" pitchFamily="18" charset="0"/>
            </a:endParaRPr>
          </a:p>
          <a:p>
            <a:pPr lvl="1" eaLnBrk="1" hangingPunct="1"/>
            <a:endParaRPr lang="en-US" altLang="en-US" sz="12800" dirty="0">
              <a:latin typeface="Garamond" panose="02020404030301010803" pitchFamily="18" charset="0"/>
            </a:endParaRPr>
          </a:p>
          <a:p>
            <a:pPr lvl="1" eaLnBrk="1" hangingPunct="1">
              <a:buFontTx/>
              <a:buNone/>
            </a:pPr>
            <a:endParaRPr lang="en-US" altLang="en-US" sz="2400" dirty="0">
              <a:latin typeface="Garamond" panose="02020404030301010803" pitchFamily="18"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6704"/>
    </mc:Choice>
    <mc:Fallback xmlns="">
      <p:transition spd="slow" advTm="3670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218">
                                            <p:txEl>
                                              <p:pRg st="0" end="0"/>
                                            </p:txEl>
                                          </p:spTgt>
                                        </p:tgtEl>
                                        <p:attrNameLst>
                                          <p:attrName>style.visibility</p:attrName>
                                        </p:attrNameLst>
                                      </p:cBhvr>
                                      <p:to>
                                        <p:strVal val="visible"/>
                                      </p:to>
                                    </p:set>
                                    <p:anim calcmode="lin" valueType="num">
                                      <p:cBhvr additive="base">
                                        <p:cTn id="7" dur="500" fill="hold"/>
                                        <p:tgtEl>
                                          <p:spTgt spid="921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1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218">
                                            <p:txEl>
                                              <p:pRg st="1" end="1"/>
                                            </p:txEl>
                                          </p:spTgt>
                                        </p:tgtEl>
                                        <p:attrNameLst>
                                          <p:attrName>style.visibility</p:attrName>
                                        </p:attrNameLst>
                                      </p:cBhvr>
                                      <p:to>
                                        <p:strVal val="visible"/>
                                      </p:to>
                                    </p:set>
                                    <p:anim calcmode="lin" valueType="num">
                                      <p:cBhvr additive="base">
                                        <p:cTn id="11" dur="500" fill="hold"/>
                                        <p:tgtEl>
                                          <p:spTgt spid="921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218">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218">
                                            <p:txEl>
                                              <p:pRg st="2" end="2"/>
                                            </p:txEl>
                                          </p:spTgt>
                                        </p:tgtEl>
                                        <p:attrNameLst>
                                          <p:attrName>style.visibility</p:attrName>
                                        </p:attrNameLst>
                                      </p:cBhvr>
                                      <p:to>
                                        <p:strVal val="visible"/>
                                      </p:to>
                                    </p:set>
                                    <p:anim calcmode="lin" valueType="num">
                                      <p:cBhvr additive="base">
                                        <p:cTn id="15" dur="500" fill="hold"/>
                                        <p:tgtEl>
                                          <p:spTgt spid="9218">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9218">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9218">
                                            <p:txEl>
                                              <p:pRg st="3" end="3"/>
                                            </p:txEl>
                                          </p:spTgt>
                                        </p:tgtEl>
                                        <p:attrNameLst>
                                          <p:attrName>style.visibility</p:attrName>
                                        </p:attrNameLst>
                                      </p:cBhvr>
                                      <p:to>
                                        <p:strVal val="visible"/>
                                      </p:to>
                                    </p:set>
                                    <p:anim calcmode="lin" valueType="num">
                                      <p:cBhvr additive="base">
                                        <p:cTn id="19" dur="500" fill="hold"/>
                                        <p:tgtEl>
                                          <p:spTgt spid="921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218">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9218">
                                            <p:txEl>
                                              <p:pRg st="4" end="4"/>
                                            </p:txEl>
                                          </p:spTgt>
                                        </p:tgtEl>
                                        <p:attrNameLst>
                                          <p:attrName>style.visibility</p:attrName>
                                        </p:attrNameLst>
                                      </p:cBhvr>
                                      <p:to>
                                        <p:strVal val="visible"/>
                                      </p:to>
                                    </p:set>
                                    <p:anim calcmode="lin" valueType="num">
                                      <p:cBhvr additive="base">
                                        <p:cTn id="23" dur="500" fill="hold"/>
                                        <p:tgtEl>
                                          <p:spTgt spid="9218">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218">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9218">
                                            <p:txEl>
                                              <p:pRg st="5" end="5"/>
                                            </p:txEl>
                                          </p:spTgt>
                                        </p:tgtEl>
                                        <p:attrNameLst>
                                          <p:attrName>style.visibility</p:attrName>
                                        </p:attrNameLst>
                                      </p:cBhvr>
                                      <p:to>
                                        <p:strVal val="visible"/>
                                      </p:to>
                                    </p:set>
                                    <p:anim calcmode="lin" valueType="num">
                                      <p:cBhvr additive="base">
                                        <p:cTn id="27" dur="500" fill="hold"/>
                                        <p:tgtEl>
                                          <p:spTgt spid="9218">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9218">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9218">
                                            <p:txEl>
                                              <p:pRg st="6" end="6"/>
                                            </p:txEl>
                                          </p:spTgt>
                                        </p:tgtEl>
                                        <p:attrNameLst>
                                          <p:attrName>style.visibility</p:attrName>
                                        </p:attrNameLst>
                                      </p:cBhvr>
                                      <p:to>
                                        <p:strVal val="visible"/>
                                      </p:to>
                                    </p:set>
                                    <p:anim calcmode="lin" valueType="num">
                                      <p:cBhvr additive="base">
                                        <p:cTn id="31" dur="500" fill="hold"/>
                                        <p:tgtEl>
                                          <p:spTgt spid="9218">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218">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9218">
                                            <p:txEl>
                                              <p:pRg st="7" end="7"/>
                                            </p:txEl>
                                          </p:spTgt>
                                        </p:tgtEl>
                                        <p:attrNameLst>
                                          <p:attrName>style.visibility</p:attrName>
                                        </p:attrNameLst>
                                      </p:cBhvr>
                                      <p:to>
                                        <p:strVal val="visible"/>
                                      </p:to>
                                    </p:set>
                                    <p:anim calcmode="lin" valueType="num">
                                      <p:cBhvr additive="base">
                                        <p:cTn id="35" dur="500" fill="hold"/>
                                        <p:tgtEl>
                                          <p:spTgt spid="9218">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9218">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9218">
                                            <p:txEl>
                                              <p:pRg st="8" end="8"/>
                                            </p:txEl>
                                          </p:spTgt>
                                        </p:tgtEl>
                                        <p:attrNameLst>
                                          <p:attrName>style.visibility</p:attrName>
                                        </p:attrNameLst>
                                      </p:cBhvr>
                                      <p:to>
                                        <p:strVal val="visible"/>
                                      </p:to>
                                    </p:set>
                                    <p:anim calcmode="lin" valueType="num">
                                      <p:cBhvr additive="base">
                                        <p:cTn id="39" dur="500" fill="hold"/>
                                        <p:tgtEl>
                                          <p:spTgt spid="9218">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9218">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9218">
                                            <p:txEl>
                                              <p:pRg st="9" end="9"/>
                                            </p:txEl>
                                          </p:spTgt>
                                        </p:tgtEl>
                                        <p:attrNameLst>
                                          <p:attrName>style.visibility</p:attrName>
                                        </p:attrNameLst>
                                      </p:cBhvr>
                                      <p:to>
                                        <p:strVal val="visible"/>
                                      </p:to>
                                    </p:set>
                                    <p:anim calcmode="lin" valueType="num">
                                      <p:cBhvr additive="base">
                                        <p:cTn id="43" dur="500" fill="hold"/>
                                        <p:tgtEl>
                                          <p:spTgt spid="9218">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218">
                                            <p:txEl>
                                              <p:pRg st="9" end="9"/>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9218">
                                            <p:txEl>
                                              <p:pRg st="10" end="10"/>
                                            </p:txEl>
                                          </p:spTgt>
                                        </p:tgtEl>
                                        <p:attrNameLst>
                                          <p:attrName>style.visibility</p:attrName>
                                        </p:attrNameLst>
                                      </p:cBhvr>
                                      <p:to>
                                        <p:strVal val="visible"/>
                                      </p:to>
                                    </p:set>
                                    <p:anim calcmode="lin" valueType="num">
                                      <p:cBhvr additive="base">
                                        <p:cTn id="47" dur="500" fill="hold"/>
                                        <p:tgtEl>
                                          <p:spTgt spid="9218">
                                            <p:txEl>
                                              <p:pRg st="10" end="1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9218">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856DC7ED-1C25-4584-8AF2-DDF5B0568495}"/>
              </a:ext>
            </a:extLst>
          </p:cNvPr>
          <p:cNvSpPr>
            <a:spLocks noGrp="1" noChangeArrowheads="1"/>
          </p:cNvSpPr>
          <p:nvPr>
            <p:ph type="title"/>
          </p:nvPr>
        </p:nvSpPr>
        <p:spPr>
          <a:xfrm>
            <a:off x="1066800" y="304800"/>
            <a:ext cx="7543800" cy="914400"/>
          </a:xfrm>
        </p:spPr>
        <p:txBody>
          <a:bodyPr/>
          <a:lstStyle/>
          <a:p>
            <a:pPr algn="ctr" eaLnBrk="1" fontAlgn="auto" hangingPunct="1">
              <a:spcAft>
                <a:spcPts val="0"/>
              </a:spcAft>
              <a:defRPr/>
            </a:pPr>
            <a:r>
              <a:rPr lang="en-US" sz="4000" dirty="0">
                <a:solidFill>
                  <a:schemeClr val="tx1"/>
                </a:solidFill>
                <a:latin typeface="Garamond" pitchFamily="18" charset="0"/>
              </a:rPr>
              <a:t>Types of pollution</a:t>
            </a:r>
          </a:p>
        </p:txBody>
      </p:sp>
      <p:sp>
        <p:nvSpPr>
          <p:cNvPr id="10243" name="Rectangle 3">
            <a:extLst>
              <a:ext uri="{FF2B5EF4-FFF2-40B4-BE49-F238E27FC236}">
                <a16:creationId xmlns:a16="http://schemas.microsoft.com/office/drawing/2014/main" id="{24F5BE47-7365-4A5B-ABB2-E24F44B9E177}"/>
              </a:ext>
            </a:extLst>
          </p:cNvPr>
          <p:cNvSpPr>
            <a:spLocks noGrp="1"/>
          </p:cNvSpPr>
          <p:nvPr>
            <p:ph idx="1"/>
          </p:nvPr>
        </p:nvSpPr>
        <p:spPr>
          <a:xfrm>
            <a:off x="533400" y="1219200"/>
            <a:ext cx="8077200" cy="4876800"/>
          </a:xfrm>
        </p:spPr>
        <p:txBody>
          <a:bodyPr/>
          <a:lstStyle/>
          <a:p>
            <a:pPr eaLnBrk="1" hangingPunct="1"/>
            <a:r>
              <a:rPr lang="en-US" altLang="en-US" sz="2800" dirty="0">
                <a:latin typeface="Garamond" panose="02020404030301010803" pitchFamily="18" charset="0"/>
              </a:rPr>
              <a:t>Water pollution</a:t>
            </a:r>
          </a:p>
          <a:p>
            <a:pPr lvl="1" eaLnBrk="1" hangingPunct="1"/>
            <a:r>
              <a:rPr lang="en-US" altLang="en-US" sz="2800" dirty="0">
                <a:latin typeface="Garamond" panose="02020404030301010803" pitchFamily="18" charset="0"/>
              </a:rPr>
              <a:t>Surface water</a:t>
            </a:r>
          </a:p>
          <a:p>
            <a:pPr lvl="1" eaLnBrk="1" hangingPunct="1"/>
            <a:r>
              <a:rPr lang="en-US" altLang="en-US" sz="2800" dirty="0">
                <a:latin typeface="Garamond" panose="02020404030301010803" pitchFamily="18" charset="0"/>
              </a:rPr>
              <a:t>Ground water</a:t>
            </a:r>
          </a:p>
          <a:p>
            <a:pPr lvl="1" eaLnBrk="1" hangingPunct="1"/>
            <a:r>
              <a:rPr lang="en-US" altLang="en-US" sz="2800" dirty="0">
                <a:latin typeface="Garamond" panose="02020404030301010803" pitchFamily="18" charset="0"/>
              </a:rPr>
              <a:t>Marine water</a:t>
            </a:r>
          </a:p>
          <a:p>
            <a:pPr marL="403225" lvl="1" indent="0" eaLnBrk="1" hangingPunct="1">
              <a:buNone/>
            </a:pPr>
            <a:endParaRPr lang="en-US" altLang="en-US" sz="2800" dirty="0">
              <a:latin typeface="Garamond" panose="02020404030301010803" pitchFamily="18" charset="0"/>
            </a:endParaRPr>
          </a:p>
          <a:p>
            <a:pPr eaLnBrk="1" hangingPunct="1"/>
            <a:r>
              <a:rPr lang="en-US" altLang="en-US" sz="2800" dirty="0">
                <a:latin typeface="Garamond" panose="02020404030301010803" pitchFamily="18" charset="0"/>
              </a:rPr>
              <a:t>Soil or land pollution</a:t>
            </a:r>
          </a:p>
          <a:p>
            <a:pPr eaLnBrk="1" hangingPunct="1"/>
            <a:r>
              <a:rPr lang="en-US" altLang="en-US" sz="2800" dirty="0">
                <a:latin typeface="Garamond" panose="02020404030301010803" pitchFamily="18" charset="0"/>
              </a:rPr>
              <a:t>Air pollution</a:t>
            </a:r>
          </a:p>
          <a:p>
            <a:pPr eaLnBrk="1" hangingPunct="1"/>
            <a:r>
              <a:rPr lang="en-US" altLang="en-US" sz="2800" dirty="0">
                <a:latin typeface="Garamond" panose="02020404030301010803" pitchFamily="18" charset="0"/>
              </a:rPr>
              <a:t>Noise pollution</a:t>
            </a:r>
          </a:p>
          <a:p>
            <a:pPr eaLnBrk="1" hangingPunct="1"/>
            <a:endParaRPr lang="en-US" altLang="en-US" dirty="0">
              <a:latin typeface="Garamond" panose="02020404030301010803" pitchFamily="18"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2958"/>
    </mc:Choice>
    <mc:Fallback xmlns="">
      <p:transition spd="slow" advTm="3295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4818"/>
                                        </p:tgtEl>
                                        <p:attrNameLst>
                                          <p:attrName>style.visibility</p:attrName>
                                        </p:attrNameLst>
                                      </p:cBhvr>
                                      <p:to>
                                        <p:strVal val="visible"/>
                                      </p:to>
                                    </p:set>
                                    <p:animEffect transition="in" filter="fade">
                                      <p:cBhvr>
                                        <p:cTn id="7" dur="1000"/>
                                        <p:tgtEl>
                                          <p:spTgt spid="34818"/>
                                        </p:tgtEl>
                                      </p:cBhvr>
                                    </p:animEffect>
                                    <p:anim calcmode="lin" valueType="num">
                                      <p:cBhvr>
                                        <p:cTn id="8" dur="1000" fill="hold"/>
                                        <p:tgtEl>
                                          <p:spTgt spid="34818"/>
                                        </p:tgtEl>
                                        <p:attrNameLst>
                                          <p:attrName>ppt_x</p:attrName>
                                        </p:attrNameLst>
                                      </p:cBhvr>
                                      <p:tavLst>
                                        <p:tav tm="0">
                                          <p:val>
                                            <p:strVal val="#ppt_x"/>
                                          </p:val>
                                        </p:tav>
                                        <p:tav tm="100000">
                                          <p:val>
                                            <p:strVal val="#ppt_x"/>
                                          </p:val>
                                        </p:tav>
                                      </p:tavLst>
                                    </p:anim>
                                    <p:anim calcmode="lin" valueType="num">
                                      <p:cBhvr>
                                        <p:cTn id="9" dur="1000" fill="hold"/>
                                        <p:tgtEl>
                                          <p:spTgt spid="3481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243">
                                            <p:txEl>
                                              <p:pRg st="0" end="0"/>
                                            </p:txEl>
                                          </p:spTgt>
                                        </p:tgtEl>
                                        <p:attrNameLst>
                                          <p:attrName>style.visibility</p:attrName>
                                        </p:attrNameLst>
                                      </p:cBhvr>
                                      <p:to>
                                        <p:strVal val="visible"/>
                                      </p:to>
                                    </p:set>
                                    <p:animEffect transition="in" filter="fade">
                                      <p:cBhvr>
                                        <p:cTn id="14" dur="1000"/>
                                        <p:tgtEl>
                                          <p:spTgt spid="10243">
                                            <p:txEl>
                                              <p:pRg st="0" end="0"/>
                                            </p:txEl>
                                          </p:spTgt>
                                        </p:tgtEl>
                                      </p:cBhvr>
                                    </p:animEffect>
                                    <p:anim calcmode="lin" valueType="num">
                                      <p:cBhvr>
                                        <p:cTn id="15" dur="1000" fill="hold"/>
                                        <p:tgtEl>
                                          <p:spTgt spid="1024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10243">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0243">
                                            <p:txEl>
                                              <p:pRg st="1" end="1"/>
                                            </p:txEl>
                                          </p:spTgt>
                                        </p:tgtEl>
                                        <p:attrNameLst>
                                          <p:attrName>style.visibility</p:attrName>
                                        </p:attrNameLst>
                                      </p:cBhvr>
                                      <p:to>
                                        <p:strVal val="visible"/>
                                      </p:to>
                                    </p:set>
                                    <p:animEffect transition="in" filter="fade">
                                      <p:cBhvr>
                                        <p:cTn id="19" dur="1000"/>
                                        <p:tgtEl>
                                          <p:spTgt spid="10243">
                                            <p:txEl>
                                              <p:pRg st="1" end="1"/>
                                            </p:txEl>
                                          </p:spTgt>
                                        </p:tgtEl>
                                      </p:cBhvr>
                                    </p:animEffect>
                                    <p:anim calcmode="lin" valueType="num">
                                      <p:cBhvr>
                                        <p:cTn id="20" dur="1000" fill="hold"/>
                                        <p:tgtEl>
                                          <p:spTgt spid="1024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10243">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0243">
                                            <p:txEl>
                                              <p:pRg st="2" end="2"/>
                                            </p:txEl>
                                          </p:spTgt>
                                        </p:tgtEl>
                                        <p:attrNameLst>
                                          <p:attrName>style.visibility</p:attrName>
                                        </p:attrNameLst>
                                      </p:cBhvr>
                                      <p:to>
                                        <p:strVal val="visible"/>
                                      </p:to>
                                    </p:set>
                                    <p:animEffect transition="in" filter="fade">
                                      <p:cBhvr>
                                        <p:cTn id="24" dur="1000"/>
                                        <p:tgtEl>
                                          <p:spTgt spid="10243">
                                            <p:txEl>
                                              <p:pRg st="2" end="2"/>
                                            </p:txEl>
                                          </p:spTgt>
                                        </p:tgtEl>
                                      </p:cBhvr>
                                    </p:animEffect>
                                    <p:anim calcmode="lin" valueType="num">
                                      <p:cBhvr>
                                        <p:cTn id="25" dur="1000" fill="hold"/>
                                        <p:tgtEl>
                                          <p:spTgt spid="10243">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10243">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0243">
                                            <p:txEl>
                                              <p:pRg st="3" end="3"/>
                                            </p:txEl>
                                          </p:spTgt>
                                        </p:tgtEl>
                                        <p:attrNameLst>
                                          <p:attrName>style.visibility</p:attrName>
                                        </p:attrNameLst>
                                      </p:cBhvr>
                                      <p:to>
                                        <p:strVal val="visible"/>
                                      </p:to>
                                    </p:set>
                                    <p:animEffect transition="in" filter="fade">
                                      <p:cBhvr>
                                        <p:cTn id="29" dur="1000"/>
                                        <p:tgtEl>
                                          <p:spTgt spid="10243">
                                            <p:txEl>
                                              <p:pRg st="3" end="3"/>
                                            </p:txEl>
                                          </p:spTgt>
                                        </p:tgtEl>
                                      </p:cBhvr>
                                    </p:animEffect>
                                    <p:anim calcmode="lin" valueType="num">
                                      <p:cBhvr>
                                        <p:cTn id="30" dur="1000" fill="hold"/>
                                        <p:tgtEl>
                                          <p:spTgt spid="10243">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1024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10243">
                                            <p:txEl>
                                              <p:pRg st="5" end="5"/>
                                            </p:txEl>
                                          </p:spTgt>
                                        </p:tgtEl>
                                        <p:attrNameLst>
                                          <p:attrName>style.visibility</p:attrName>
                                        </p:attrNameLst>
                                      </p:cBhvr>
                                      <p:to>
                                        <p:strVal val="visible"/>
                                      </p:to>
                                    </p:set>
                                    <p:animEffect transition="in" filter="fade">
                                      <p:cBhvr>
                                        <p:cTn id="36" dur="1000"/>
                                        <p:tgtEl>
                                          <p:spTgt spid="10243">
                                            <p:txEl>
                                              <p:pRg st="5" end="5"/>
                                            </p:txEl>
                                          </p:spTgt>
                                        </p:tgtEl>
                                      </p:cBhvr>
                                    </p:animEffect>
                                    <p:anim calcmode="lin" valueType="num">
                                      <p:cBhvr>
                                        <p:cTn id="37" dur="1000" fill="hold"/>
                                        <p:tgtEl>
                                          <p:spTgt spid="10243">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1024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10243">
                                            <p:txEl>
                                              <p:pRg st="6" end="6"/>
                                            </p:txEl>
                                          </p:spTgt>
                                        </p:tgtEl>
                                        <p:attrNameLst>
                                          <p:attrName>style.visibility</p:attrName>
                                        </p:attrNameLst>
                                      </p:cBhvr>
                                      <p:to>
                                        <p:strVal val="visible"/>
                                      </p:to>
                                    </p:set>
                                    <p:animEffect transition="in" filter="fade">
                                      <p:cBhvr>
                                        <p:cTn id="43" dur="1000"/>
                                        <p:tgtEl>
                                          <p:spTgt spid="10243">
                                            <p:txEl>
                                              <p:pRg st="6" end="6"/>
                                            </p:txEl>
                                          </p:spTgt>
                                        </p:tgtEl>
                                      </p:cBhvr>
                                    </p:animEffect>
                                    <p:anim calcmode="lin" valueType="num">
                                      <p:cBhvr>
                                        <p:cTn id="44" dur="1000" fill="hold"/>
                                        <p:tgtEl>
                                          <p:spTgt spid="10243">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1024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10243">
                                            <p:txEl>
                                              <p:pRg st="7" end="7"/>
                                            </p:txEl>
                                          </p:spTgt>
                                        </p:tgtEl>
                                        <p:attrNameLst>
                                          <p:attrName>style.visibility</p:attrName>
                                        </p:attrNameLst>
                                      </p:cBhvr>
                                      <p:to>
                                        <p:strVal val="visible"/>
                                      </p:to>
                                    </p:set>
                                    <p:animEffect transition="in" filter="fade">
                                      <p:cBhvr>
                                        <p:cTn id="50" dur="1000"/>
                                        <p:tgtEl>
                                          <p:spTgt spid="10243">
                                            <p:txEl>
                                              <p:pRg st="7" end="7"/>
                                            </p:txEl>
                                          </p:spTgt>
                                        </p:tgtEl>
                                      </p:cBhvr>
                                    </p:animEffect>
                                    <p:anim calcmode="lin" valueType="num">
                                      <p:cBhvr>
                                        <p:cTn id="51" dur="1000" fill="hold"/>
                                        <p:tgtEl>
                                          <p:spTgt spid="10243">
                                            <p:txEl>
                                              <p:pRg st="7" end="7"/>
                                            </p:txEl>
                                          </p:spTgt>
                                        </p:tgtEl>
                                        <p:attrNameLst>
                                          <p:attrName>ppt_x</p:attrName>
                                        </p:attrNameLst>
                                      </p:cBhvr>
                                      <p:tavLst>
                                        <p:tav tm="0">
                                          <p:val>
                                            <p:strVal val="#ppt_x"/>
                                          </p:val>
                                        </p:tav>
                                        <p:tav tm="100000">
                                          <p:val>
                                            <p:strVal val="#ppt_x"/>
                                          </p:val>
                                        </p:tav>
                                      </p:tavLst>
                                    </p:anim>
                                    <p:anim calcmode="lin" valueType="num">
                                      <p:cBhvr>
                                        <p:cTn id="52" dur="1000" fill="hold"/>
                                        <p:tgtEl>
                                          <p:spTgt spid="1024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p:bldP spid="1024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1CE6792D-DFA1-423F-81D2-0F1ECC353564}"/>
              </a:ext>
            </a:extLst>
          </p:cNvPr>
          <p:cNvSpPr>
            <a:spLocks noGrp="1" noChangeArrowheads="1"/>
          </p:cNvSpPr>
          <p:nvPr>
            <p:ph type="title"/>
          </p:nvPr>
        </p:nvSpPr>
        <p:spPr>
          <a:xfrm>
            <a:off x="228600" y="457200"/>
            <a:ext cx="7543800" cy="609600"/>
          </a:xfrm>
        </p:spPr>
        <p:txBody>
          <a:bodyPr>
            <a:normAutofit fontScale="90000"/>
          </a:bodyPr>
          <a:lstStyle/>
          <a:p>
            <a:pPr algn="ctr" eaLnBrk="1" fontAlgn="auto" hangingPunct="1">
              <a:spcAft>
                <a:spcPts val="0"/>
              </a:spcAft>
              <a:defRPr/>
            </a:pPr>
            <a:r>
              <a:rPr lang="en-US" sz="3600" dirty="0">
                <a:solidFill>
                  <a:schemeClr val="tx1"/>
                </a:solidFill>
                <a:latin typeface="Garamond" pitchFamily="18" charset="0"/>
              </a:rPr>
              <a:t/>
            </a:r>
            <a:br>
              <a:rPr lang="en-US" sz="3600" dirty="0">
                <a:solidFill>
                  <a:schemeClr val="tx1"/>
                </a:solidFill>
                <a:latin typeface="Garamond" pitchFamily="18" charset="0"/>
              </a:rPr>
            </a:br>
            <a:r>
              <a:rPr lang="en-US" sz="3600" dirty="0">
                <a:solidFill>
                  <a:schemeClr val="tx1"/>
                </a:solidFill>
                <a:latin typeface="Garamond" pitchFamily="18" charset="0"/>
              </a:rPr>
              <a:t>Water pollution</a:t>
            </a:r>
            <a:r>
              <a:rPr lang="en-US" sz="4000" dirty="0">
                <a:solidFill>
                  <a:schemeClr val="tx2">
                    <a:satMod val="130000"/>
                  </a:schemeClr>
                </a:solidFill>
                <a:latin typeface="Garamond" pitchFamily="18" charset="0"/>
              </a:rPr>
              <a:t/>
            </a:r>
            <a:br>
              <a:rPr lang="en-US" sz="4000" dirty="0">
                <a:solidFill>
                  <a:schemeClr val="tx2">
                    <a:satMod val="130000"/>
                  </a:schemeClr>
                </a:solidFill>
                <a:latin typeface="Garamond" pitchFamily="18" charset="0"/>
              </a:rPr>
            </a:br>
            <a:endParaRPr lang="en-US" sz="4000" dirty="0">
              <a:solidFill>
                <a:schemeClr val="tx2">
                  <a:satMod val="130000"/>
                </a:schemeClr>
              </a:solidFill>
              <a:latin typeface="Garamond" pitchFamily="18" charset="0"/>
            </a:endParaRPr>
          </a:p>
        </p:txBody>
      </p:sp>
      <p:sp>
        <p:nvSpPr>
          <p:cNvPr id="11267" name="Rectangle 3">
            <a:extLst>
              <a:ext uri="{FF2B5EF4-FFF2-40B4-BE49-F238E27FC236}">
                <a16:creationId xmlns:a16="http://schemas.microsoft.com/office/drawing/2014/main" id="{2AC33188-82AC-4986-A216-59531A48C22A}"/>
              </a:ext>
            </a:extLst>
          </p:cNvPr>
          <p:cNvSpPr>
            <a:spLocks noGrp="1"/>
          </p:cNvSpPr>
          <p:nvPr>
            <p:ph idx="1"/>
          </p:nvPr>
        </p:nvSpPr>
        <p:spPr>
          <a:xfrm>
            <a:off x="746919" y="1425099"/>
            <a:ext cx="8001000" cy="5029200"/>
          </a:xfrm>
        </p:spPr>
        <p:txBody>
          <a:bodyPr>
            <a:normAutofit fontScale="92500" lnSpcReduction="10000"/>
          </a:bodyPr>
          <a:lstStyle/>
          <a:p>
            <a:pPr algn="just" eaLnBrk="1" hangingPunct="1"/>
            <a:r>
              <a:rPr lang="en-US" altLang="en-US" sz="2800" dirty="0">
                <a:latin typeface="Garamond" panose="02020404030301010803" pitchFamily="18" charset="0"/>
              </a:rPr>
              <a:t>Water pollution refers to degradation of water quality. </a:t>
            </a:r>
          </a:p>
          <a:p>
            <a:pPr algn="just"/>
            <a:r>
              <a:rPr lang="en-US" altLang="en-US" sz="2800" dirty="0">
                <a:latin typeface="Garamond" panose="02020404030301010803" pitchFamily="18" charset="0"/>
              </a:rPr>
              <a:t>Water in domestic uses must be free from constituents harmful to health. It should taste and smell good. It should not damage household appliances.</a:t>
            </a:r>
            <a:r>
              <a:rPr lang="en-US" sz="2800" dirty="0">
                <a:solidFill>
                  <a:schemeClr val="accent4"/>
                </a:solidFill>
              </a:rPr>
              <a:t/>
            </a:r>
            <a:br>
              <a:rPr lang="en-US" sz="2800" dirty="0">
                <a:solidFill>
                  <a:schemeClr val="accent4"/>
                </a:solidFill>
              </a:rPr>
            </a:br>
            <a:endParaRPr lang="en-US" altLang="en-US" sz="2800" dirty="0">
              <a:solidFill>
                <a:schemeClr val="accent4"/>
              </a:solidFill>
              <a:latin typeface="Garamond" panose="02020404030301010803" pitchFamily="18" charset="0"/>
            </a:endParaRPr>
          </a:p>
          <a:p>
            <a:pPr algn="just" eaLnBrk="1" hangingPunct="1"/>
            <a:r>
              <a:rPr lang="en-US" altLang="en-US" sz="2800" dirty="0">
                <a:latin typeface="Garamond" panose="02020404030301010803" pitchFamily="18" charset="0"/>
              </a:rPr>
              <a:t>Water quality for industrial processes varies widely depending on the process. Some requires distilled water also. </a:t>
            </a:r>
          </a:p>
          <a:p>
            <a:pPr algn="just" eaLnBrk="1" hangingPunct="1"/>
            <a:r>
              <a:rPr lang="en-US" altLang="en-US" sz="2800" dirty="0">
                <a:latin typeface="Garamond" panose="02020404030301010803" pitchFamily="18" charset="0"/>
              </a:rPr>
              <a:t>Water pollution can occur as</a:t>
            </a:r>
          </a:p>
          <a:p>
            <a:pPr lvl="1" algn="just" eaLnBrk="1" hangingPunct="1"/>
            <a:r>
              <a:rPr lang="en-US" altLang="en-US" dirty="0">
                <a:latin typeface="Garamond" panose="02020404030301010803" pitchFamily="18" charset="0"/>
              </a:rPr>
              <a:t>Surface water pollution</a:t>
            </a:r>
          </a:p>
          <a:p>
            <a:pPr lvl="1" algn="just" eaLnBrk="1" hangingPunct="1"/>
            <a:r>
              <a:rPr lang="en-US" altLang="en-US" dirty="0">
                <a:latin typeface="Garamond" panose="02020404030301010803" pitchFamily="18" charset="0"/>
              </a:rPr>
              <a:t>Ground water pollution</a:t>
            </a:r>
          </a:p>
          <a:p>
            <a:pPr lvl="1" algn="just" eaLnBrk="1" hangingPunct="1"/>
            <a:r>
              <a:rPr lang="en-US" altLang="en-US" dirty="0">
                <a:latin typeface="Garamond" panose="02020404030301010803" pitchFamily="18" charset="0"/>
              </a:rPr>
              <a:t>Marine pollution</a:t>
            </a:r>
          </a:p>
          <a:p>
            <a:pPr algn="just" eaLnBrk="1" hangingPunct="1">
              <a:buFont typeface="Wingdings" panose="05000000000000000000" pitchFamily="2" charset="2"/>
              <a:buNone/>
            </a:pPr>
            <a:endParaRPr lang="en-US" altLang="en-US" dirty="0"/>
          </a:p>
          <a:p>
            <a:pPr lvl="1" eaLnBrk="1" hangingPunct="1">
              <a:buFontTx/>
              <a:buNone/>
            </a:pPr>
            <a:endParaRPr lang="en-US"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94749"/>
    </mc:Choice>
    <mc:Fallback xmlns="">
      <p:transition spd="slow" advTm="9474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5842"/>
                                        </p:tgtEl>
                                        <p:attrNameLst>
                                          <p:attrName>style.visibility</p:attrName>
                                        </p:attrNameLst>
                                      </p:cBhvr>
                                      <p:to>
                                        <p:strVal val="visible"/>
                                      </p:to>
                                    </p:set>
                                    <p:animEffect transition="in" filter="fade">
                                      <p:cBhvr>
                                        <p:cTn id="7" dur="1000"/>
                                        <p:tgtEl>
                                          <p:spTgt spid="35842"/>
                                        </p:tgtEl>
                                      </p:cBhvr>
                                    </p:animEffect>
                                    <p:anim calcmode="lin" valueType="num">
                                      <p:cBhvr>
                                        <p:cTn id="8" dur="1000" fill="hold"/>
                                        <p:tgtEl>
                                          <p:spTgt spid="35842"/>
                                        </p:tgtEl>
                                        <p:attrNameLst>
                                          <p:attrName>ppt_x</p:attrName>
                                        </p:attrNameLst>
                                      </p:cBhvr>
                                      <p:tavLst>
                                        <p:tav tm="0">
                                          <p:val>
                                            <p:strVal val="#ppt_x"/>
                                          </p:val>
                                        </p:tav>
                                        <p:tav tm="100000">
                                          <p:val>
                                            <p:strVal val="#ppt_x"/>
                                          </p:val>
                                        </p:tav>
                                      </p:tavLst>
                                    </p:anim>
                                    <p:anim calcmode="lin" valueType="num">
                                      <p:cBhvr>
                                        <p:cTn id="9" dur="1000" fill="hold"/>
                                        <p:tgtEl>
                                          <p:spTgt spid="3584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11267">
                                            <p:txEl>
                                              <p:pRg st="0" end="0"/>
                                            </p:txEl>
                                          </p:spTgt>
                                        </p:tgtEl>
                                        <p:attrNameLst>
                                          <p:attrName>style.visibility</p:attrName>
                                        </p:attrNameLst>
                                      </p:cBhvr>
                                      <p:to>
                                        <p:strVal val="visible"/>
                                      </p:to>
                                    </p:set>
                                    <p:anim calcmode="lin" valueType="num">
                                      <p:cBhvr additive="base">
                                        <p:cTn id="14" dur="500" fill="hold"/>
                                        <p:tgtEl>
                                          <p:spTgt spid="11267">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112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11267">
                                            <p:txEl>
                                              <p:pRg st="1" end="1"/>
                                            </p:txEl>
                                          </p:spTgt>
                                        </p:tgtEl>
                                        <p:attrNameLst>
                                          <p:attrName>style.visibility</p:attrName>
                                        </p:attrNameLst>
                                      </p:cBhvr>
                                      <p:to>
                                        <p:strVal val="visible"/>
                                      </p:to>
                                    </p:set>
                                    <p:anim calcmode="lin" valueType="num">
                                      <p:cBhvr additive="base">
                                        <p:cTn id="20" dur="500" fill="hold"/>
                                        <p:tgtEl>
                                          <p:spTgt spid="11267">
                                            <p:txEl>
                                              <p:pRg st="1" end="1"/>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12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11267">
                                            <p:txEl>
                                              <p:pRg st="2" end="2"/>
                                            </p:txEl>
                                          </p:spTgt>
                                        </p:tgtEl>
                                        <p:attrNameLst>
                                          <p:attrName>style.visibility</p:attrName>
                                        </p:attrNameLst>
                                      </p:cBhvr>
                                      <p:to>
                                        <p:strVal val="visible"/>
                                      </p:to>
                                    </p:set>
                                    <p:anim calcmode="lin" valueType="num">
                                      <p:cBhvr additive="base">
                                        <p:cTn id="26" dur="500" fill="hold"/>
                                        <p:tgtEl>
                                          <p:spTgt spid="11267">
                                            <p:txEl>
                                              <p:pRg st="2" end="2"/>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112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1267">
                                            <p:txEl>
                                              <p:pRg st="3" end="3"/>
                                            </p:txEl>
                                          </p:spTgt>
                                        </p:tgtEl>
                                        <p:attrNameLst>
                                          <p:attrName>style.visibility</p:attrName>
                                        </p:attrNameLst>
                                      </p:cBhvr>
                                      <p:to>
                                        <p:strVal val="visible"/>
                                      </p:to>
                                    </p:set>
                                    <p:anim calcmode="lin" valueType="num">
                                      <p:cBhvr additive="base">
                                        <p:cTn id="32" dur="500" fill="hold"/>
                                        <p:tgtEl>
                                          <p:spTgt spid="11267">
                                            <p:txEl>
                                              <p:pRg st="3" end="3"/>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11267">
                                            <p:txEl>
                                              <p:pRg st="3" end="3"/>
                                            </p:txEl>
                                          </p:spTgt>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11267">
                                            <p:txEl>
                                              <p:pRg st="4" end="4"/>
                                            </p:txEl>
                                          </p:spTgt>
                                        </p:tgtEl>
                                        <p:attrNameLst>
                                          <p:attrName>style.visibility</p:attrName>
                                        </p:attrNameLst>
                                      </p:cBhvr>
                                      <p:to>
                                        <p:strVal val="visible"/>
                                      </p:to>
                                    </p:set>
                                    <p:anim calcmode="lin" valueType="num">
                                      <p:cBhvr additive="base">
                                        <p:cTn id="36" dur="500" fill="hold"/>
                                        <p:tgtEl>
                                          <p:spTgt spid="11267">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11267">
                                            <p:txEl>
                                              <p:pRg st="4" end="4"/>
                                            </p:txEl>
                                          </p:spTgt>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11267">
                                            <p:txEl>
                                              <p:pRg st="5" end="5"/>
                                            </p:txEl>
                                          </p:spTgt>
                                        </p:tgtEl>
                                        <p:attrNameLst>
                                          <p:attrName>style.visibility</p:attrName>
                                        </p:attrNameLst>
                                      </p:cBhvr>
                                      <p:to>
                                        <p:strVal val="visible"/>
                                      </p:to>
                                    </p:set>
                                    <p:anim calcmode="lin" valueType="num">
                                      <p:cBhvr additive="base">
                                        <p:cTn id="40" dur="500" fill="hold"/>
                                        <p:tgtEl>
                                          <p:spTgt spid="11267">
                                            <p:txEl>
                                              <p:pRg st="5" end="5"/>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11267">
                                            <p:txEl>
                                              <p:pRg st="5" end="5"/>
                                            </p:txEl>
                                          </p:spTgt>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11267">
                                            <p:txEl>
                                              <p:pRg st="6" end="6"/>
                                            </p:txEl>
                                          </p:spTgt>
                                        </p:tgtEl>
                                        <p:attrNameLst>
                                          <p:attrName>style.visibility</p:attrName>
                                        </p:attrNameLst>
                                      </p:cBhvr>
                                      <p:to>
                                        <p:strVal val="visible"/>
                                      </p:to>
                                    </p:set>
                                    <p:anim calcmode="lin" valueType="num">
                                      <p:cBhvr additive="base">
                                        <p:cTn id="44" dur="500" fill="hold"/>
                                        <p:tgtEl>
                                          <p:spTgt spid="11267">
                                            <p:txEl>
                                              <p:pRg st="6" end="6"/>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1126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p:bldP spid="11267"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44B15-E6B0-4504-AB48-9BD1778870F3}"/>
              </a:ext>
            </a:extLst>
          </p:cNvPr>
          <p:cNvSpPr>
            <a:spLocks noGrp="1"/>
          </p:cNvSpPr>
          <p:nvPr>
            <p:ph type="title"/>
          </p:nvPr>
        </p:nvSpPr>
        <p:spPr>
          <a:xfrm>
            <a:off x="800100" y="489012"/>
            <a:ext cx="7543800" cy="533400"/>
          </a:xfrm>
        </p:spPr>
        <p:txBody>
          <a:bodyPr>
            <a:normAutofit fontScale="90000"/>
          </a:bodyPr>
          <a:lstStyle/>
          <a:p>
            <a:pPr algn="ctr" eaLnBrk="1" fontAlgn="auto" hangingPunct="1">
              <a:spcAft>
                <a:spcPts val="0"/>
              </a:spcAft>
              <a:defRPr/>
            </a:pPr>
            <a:r>
              <a:rPr lang="en-US" sz="3600" dirty="0">
                <a:solidFill>
                  <a:schemeClr val="tx1"/>
                </a:solidFill>
                <a:latin typeface="Garamond" pitchFamily="18" charset="0"/>
              </a:rPr>
              <a:t>Some sources of water pollution</a:t>
            </a:r>
          </a:p>
        </p:txBody>
      </p:sp>
      <p:sp>
        <p:nvSpPr>
          <p:cNvPr id="12291" name="Content Placeholder 2">
            <a:extLst>
              <a:ext uri="{FF2B5EF4-FFF2-40B4-BE49-F238E27FC236}">
                <a16:creationId xmlns:a16="http://schemas.microsoft.com/office/drawing/2014/main" id="{9E28855F-988B-43A7-8DF3-56B64250BA98}"/>
              </a:ext>
            </a:extLst>
          </p:cNvPr>
          <p:cNvSpPr>
            <a:spLocks noGrp="1"/>
          </p:cNvSpPr>
          <p:nvPr>
            <p:ph sz="half" idx="1"/>
          </p:nvPr>
        </p:nvSpPr>
        <p:spPr>
          <a:xfrm>
            <a:off x="800100" y="1295400"/>
            <a:ext cx="4152900" cy="4800600"/>
          </a:xfrm>
        </p:spPr>
        <p:txBody>
          <a:bodyPr>
            <a:normAutofit fontScale="25000" lnSpcReduction="20000"/>
          </a:bodyPr>
          <a:lstStyle/>
          <a:p>
            <a:pPr eaLnBrk="1" hangingPunct="1"/>
            <a:r>
              <a:rPr lang="en-US" altLang="en-US" sz="9600" u="sng" dirty="0">
                <a:latin typeface="Garamond" panose="02020404030301010803" pitchFamily="18" charset="0"/>
              </a:rPr>
              <a:t>Surface water</a:t>
            </a:r>
          </a:p>
          <a:p>
            <a:r>
              <a:rPr lang="en-US" altLang="en-US" sz="9600" dirty="0">
                <a:latin typeface="Garamond" panose="02020404030301010803" pitchFamily="18" charset="0"/>
              </a:rPr>
              <a:t>Industrial effluent</a:t>
            </a:r>
            <a:endParaRPr lang="en-US" altLang="en-US" sz="9600" dirty="0">
              <a:solidFill>
                <a:srgbClr val="FF0000"/>
              </a:solidFill>
              <a:latin typeface="Garamond" panose="02020404030301010803" pitchFamily="18" charset="0"/>
            </a:endParaRPr>
          </a:p>
          <a:p>
            <a:r>
              <a:rPr lang="en-US" altLang="en-US" sz="9600" dirty="0">
                <a:latin typeface="Garamond" panose="02020404030301010803" pitchFamily="18" charset="0"/>
              </a:rPr>
              <a:t>Urban runoff</a:t>
            </a:r>
            <a:endParaRPr lang="en-US" altLang="en-US" sz="9600" dirty="0">
              <a:solidFill>
                <a:srgbClr val="FF0000"/>
              </a:solidFill>
              <a:latin typeface="Garamond" panose="02020404030301010803" pitchFamily="18" charset="0"/>
            </a:endParaRPr>
          </a:p>
          <a:p>
            <a:pPr eaLnBrk="1" hangingPunct="1"/>
            <a:r>
              <a:rPr lang="en-US" altLang="en-US" sz="9600" dirty="0">
                <a:latin typeface="Garamond" panose="02020404030301010803" pitchFamily="18" charset="0"/>
              </a:rPr>
              <a:t>Agricultural runoff</a:t>
            </a:r>
          </a:p>
          <a:p>
            <a:r>
              <a:rPr lang="en-US" altLang="en-US" sz="9600" dirty="0">
                <a:latin typeface="Garamond" panose="02020404030301010803" pitchFamily="18" charset="0"/>
              </a:rPr>
              <a:t>Accidental spills of chemicals</a:t>
            </a:r>
          </a:p>
          <a:p>
            <a:r>
              <a:rPr lang="en-US" altLang="en-US" sz="9600" dirty="0">
                <a:latin typeface="Garamond" panose="02020404030301010803" pitchFamily="18" charset="0"/>
              </a:rPr>
              <a:t>Sediments.</a:t>
            </a:r>
          </a:p>
          <a:p>
            <a:r>
              <a:rPr lang="en-US" altLang="en-US" sz="9600" dirty="0">
                <a:latin typeface="Garamond" panose="02020404030301010803" pitchFamily="18" charset="0"/>
              </a:rPr>
              <a:t>Sewage. </a:t>
            </a:r>
            <a:endParaRPr lang="en-US" sz="9600" dirty="0">
              <a:latin typeface="Garamond" panose="02020404030301010803" pitchFamily="18" charset="0"/>
            </a:endParaRPr>
          </a:p>
          <a:p>
            <a:r>
              <a:rPr lang="en-US" altLang="en-US" sz="9600" dirty="0">
                <a:latin typeface="Garamond" panose="02020404030301010803" pitchFamily="18" charset="0"/>
              </a:rPr>
              <a:t>Mining activity.</a:t>
            </a:r>
            <a:r>
              <a:rPr lang="en-US" sz="9600" dirty="0">
                <a:latin typeface="Garamond" panose="02020404030301010803" pitchFamily="18" charset="0"/>
              </a:rPr>
              <a:t> </a:t>
            </a:r>
          </a:p>
          <a:p>
            <a:r>
              <a:rPr lang="en-US" sz="9600" dirty="0">
                <a:latin typeface="Garamond" panose="02020404030301010803" pitchFamily="18" charset="0"/>
              </a:rPr>
              <a:t>Temperature. </a:t>
            </a:r>
            <a:endParaRPr lang="en-US" altLang="en-US" sz="9600" dirty="0">
              <a:latin typeface="Garamond" panose="02020404030301010803" pitchFamily="18" charset="0"/>
            </a:endParaRPr>
          </a:p>
        </p:txBody>
      </p:sp>
      <p:sp>
        <p:nvSpPr>
          <p:cNvPr id="12292" name="Content Placeholder 3">
            <a:extLst>
              <a:ext uri="{FF2B5EF4-FFF2-40B4-BE49-F238E27FC236}">
                <a16:creationId xmlns:a16="http://schemas.microsoft.com/office/drawing/2014/main" id="{2D72A3BB-FFD6-491C-8CCB-C3259D48920F}"/>
              </a:ext>
            </a:extLst>
          </p:cNvPr>
          <p:cNvSpPr>
            <a:spLocks noGrp="1"/>
          </p:cNvSpPr>
          <p:nvPr>
            <p:ph sz="half" idx="2"/>
          </p:nvPr>
        </p:nvSpPr>
        <p:spPr>
          <a:xfrm>
            <a:off x="4808220" y="1943100"/>
            <a:ext cx="4152900" cy="2971800"/>
          </a:xfrm>
        </p:spPr>
        <p:txBody>
          <a:bodyPr>
            <a:normAutofit fontScale="25000" lnSpcReduction="20000"/>
          </a:bodyPr>
          <a:lstStyle/>
          <a:p>
            <a:pPr eaLnBrk="1" hangingPunct="1"/>
            <a:r>
              <a:rPr lang="en-US" altLang="en-US" sz="11200" u="sng" dirty="0">
                <a:latin typeface="Garamond" panose="02020404030301010803" pitchFamily="18" charset="0"/>
              </a:rPr>
              <a:t>Groundwater</a:t>
            </a:r>
          </a:p>
          <a:p>
            <a:pPr eaLnBrk="1" hangingPunct="1"/>
            <a:r>
              <a:rPr lang="en-US" altLang="en-US" sz="9600" dirty="0">
                <a:latin typeface="Garamond" panose="02020404030301010803" pitchFamily="18" charset="0"/>
              </a:rPr>
              <a:t>Leaks from waste disposal site</a:t>
            </a:r>
          </a:p>
          <a:p>
            <a:pPr eaLnBrk="1" hangingPunct="1"/>
            <a:r>
              <a:rPr lang="en-US" altLang="en-US" sz="9600" dirty="0">
                <a:latin typeface="Garamond" panose="02020404030301010803" pitchFamily="18" charset="0"/>
              </a:rPr>
              <a:t>Saltwater intrusion into coastal aquifers</a:t>
            </a:r>
          </a:p>
          <a:p>
            <a:pPr eaLnBrk="1" hangingPunct="1"/>
            <a:r>
              <a:rPr lang="en-US" altLang="en-US" sz="9600" dirty="0">
                <a:latin typeface="Garamond" panose="02020404030301010803" pitchFamily="18" charset="0"/>
              </a:rPr>
              <a:t>Seepage from mines and septic systems</a:t>
            </a:r>
          </a:p>
          <a:p>
            <a:pPr eaLnBrk="1" hangingPunct="1"/>
            <a:r>
              <a:rPr lang="en-US" altLang="en-US" sz="9600" dirty="0">
                <a:latin typeface="Garamond" panose="02020404030301010803" pitchFamily="18" charset="0"/>
              </a:rPr>
              <a:t>Seepage from pesticides</a:t>
            </a:r>
          </a:p>
          <a:p>
            <a:pPr eaLnBrk="1" hangingPunct="1"/>
            <a:r>
              <a:rPr lang="en-US" altLang="en-US" sz="9600" dirty="0">
                <a:latin typeface="Garamond" panose="02020404030301010803" pitchFamily="18" charset="0"/>
              </a:rPr>
              <a:t> Seepage from accidental spills</a:t>
            </a:r>
          </a:p>
          <a:p>
            <a:pPr eaLnBrk="1" hangingPunct="1"/>
            <a:r>
              <a:rPr lang="en-US" altLang="en-US" sz="9600" dirty="0">
                <a:latin typeface="Garamond" panose="02020404030301010803" pitchFamily="18" charset="0"/>
              </a:rPr>
              <a:t>Seepage from polluted stream</a:t>
            </a:r>
          </a:p>
          <a:p>
            <a:pPr lvl="1" eaLnBrk="1" hangingPunct="1"/>
            <a:endParaRPr lang="en-US"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12878"/>
    </mc:Choice>
    <mc:Fallback xmlns="">
      <p:transition spd="slow" advTm="21287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12291">
                                            <p:txEl>
                                              <p:pRg st="0" end="0"/>
                                            </p:txEl>
                                          </p:spTgt>
                                        </p:tgtEl>
                                        <p:attrNameLst>
                                          <p:attrName>style.visibility</p:attrName>
                                        </p:attrNameLst>
                                      </p:cBhvr>
                                      <p:to>
                                        <p:strVal val="visible"/>
                                      </p:to>
                                    </p:set>
                                    <p:animEffect transition="in" filter="fade">
                                      <p:cBhvr>
                                        <p:cTn id="13" dur="1000"/>
                                        <p:tgtEl>
                                          <p:spTgt spid="12291">
                                            <p:txEl>
                                              <p:pRg st="0" end="0"/>
                                            </p:txEl>
                                          </p:spTgt>
                                        </p:tgtEl>
                                      </p:cBhvr>
                                    </p:animEffect>
                                    <p:anim calcmode="lin" valueType="num">
                                      <p:cBhvr>
                                        <p:cTn id="14" dur="1000" fill="hold"/>
                                        <p:tgtEl>
                                          <p:spTgt spid="12291">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1229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12291">
                                            <p:txEl>
                                              <p:pRg st="1" end="1"/>
                                            </p:txEl>
                                          </p:spTgt>
                                        </p:tgtEl>
                                        <p:attrNameLst>
                                          <p:attrName>style.visibility</p:attrName>
                                        </p:attrNameLst>
                                      </p:cBhvr>
                                      <p:to>
                                        <p:strVal val="visible"/>
                                      </p:to>
                                    </p:set>
                                    <p:animEffect transition="in" filter="fade">
                                      <p:cBhvr>
                                        <p:cTn id="20" dur="1000"/>
                                        <p:tgtEl>
                                          <p:spTgt spid="12291">
                                            <p:txEl>
                                              <p:pRg st="1" end="1"/>
                                            </p:txEl>
                                          </p:spTgt>
                                        </p:tgtEl>
                                      </p:cBhvr>
                                    </p:animEffect>
                                    <p:anim calcmode="lin" valueType="num">
                                      <p:cBhvr>
                                        <p:cTn id="21" dur="1000" fill="hold"/>
                                        <p:tgtEl>
                                          <p:spTgt spid="12291">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1229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12291">
                                            <p:txEl>
                                              <p:pRg st="2" end="2"/>
                                            </p:txEl>
                                          </p:spTgt>
                                        </p:tgtEl>
                                        <p:attrNameLst>
                                          <p:attrName>style.visibility</p:attrName>
                                        </p:attrNameLst>
                                      </p:cBhvr>
                                      <p:to>
                                        <p:strVal val="visible"/>
                                      </p:to>
                                    </p:set>
                                    <p:animEffect transition="in" filter="fade">
                                      <p:cBhvr>
                                        <p:cTn id="27" dur="1000"/>
                                        <p:tgtEl>
                                          <p:spTgt spid="12291">
                                            <p:txEl>
                                              <p:pRg st="2" end="2"/>
                                            </p:txEl>
                                          </p:spTgt>
                                        </p:tgtEl>
                                      </p:cBhvr>
                                    </p:animEffect>
                                    <p:anim calcmode="lin" valueType="num">
                                      <p:cBhvr>
                                        <p:cTn id="28" dur="1000" fill="hold"/>
                                        <p:tgtEl>
                                          <p:spTgt spid="12291">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1229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12291">
                                            <p:txEl>
                                              <p:pRg st="3" end="3"/>
                                            </p:txEl>
                                          </p:spTgt>
                                        </p:tgtEl>
                                        <p:attrNameLst>
                                          <p:attrName>style.visibility</p:attrName>
                                        </p:attrNameLst>
                                      </p:cBhvr>
                                      <p:to>
                                        <p:strVal val="visible"/>
                                      </p:to>
                                    </p:set>
                                    <p:animEffect transition="in" filter="fade">
                                      <p:cBhvr>
                                        <p:cTn id="34" dur="1000"/>
                                        <p:tgtEl>
                                          <p:spTgt spid="12291">
                                            <p:txEl>
                                              <p:pRg st="3" end="3"/>
                                            </p:txEl>
                                          </p:spTgt>
                                        </p:tgtEl>
                                      </p:cBhvr>
                                    </p:animEffect>
                                    <p:anim calcmode="lin" valueType="num">
                                      <p:cBhvr>
                                        <p:cTn id="35" dur="1000" fill="hold"/>
                                        <p:tgtEl>
                                          <p:spTgt spid="12291">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1229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12291">
                                            <p:txEl>
                                              <p:pRg st="4" end="4"/>
                                            </p:txEl>
                                          </p:spTgt>
                                        </p:tgtEl>
                                        <p:attrNameLst>
                                          <p:attrName>style.visibility</p:attrName>
                                        </p:attrNameLst>
                                      </p:cBhvr>
                                      <p:to>
                                        <p:strVal val="visible"/>
                                      </p:to>
                                    </p:set>
                                    <p:animEffect transition="in" filter="fade">
                                      <p:cBhvr>
                                        <p:cTn id="41" dur="1000"/>
                                        <p:tgtEl>
                                          <p:spTgt spid="12291">
                                            <p:txEl>
                                              <p:pRg st="4" end="4"/>
                                            </p:txEl>
                                          </p:spTgt>
                                        </p:tgtEl>
                                      </p:cBhvr>
                                    </p:animEffect>
                                    <p:anim calcmode="lin" valueType="num">
                                      <p:cBhvr>
                                        <p:cTn id="42" dur="1000" fill="hold"/>
                                        <p:tgtEl>
                                          <p:spTgt spid="12291">
                                            <p:txEl>
                                              <p:pRg st="4" end="4"/>
                                            </p:txEl>
                                          </p:spTgt>
                                        </p:tgtEl>
                                        <p:attrNameLst>
                                          <p:attrName>ppt_x</p:attrName>
                                        </p:attrNameLst>
                                      </p:cBhvr>
                                      <p:tavLst>
                                        <p:tav tm="0">
                                          <p:val>
                                            <p:strVal val="#ppt_x"/>
                                          </p:val>
                                        </p:tav>
                                        <p:tav tm="100000">
                                          <p:val>
                                            <p:strVal val="#ppt_x"/>
                                          </p:val>
                                        </p:tav>
                                      </p:tavLst>
                                    </p:anim>
                                    <p:anim calcmode="lin" valueType="num">
                                      <p:cBhvr>
                                        <p:cTn id="43" dur="1000" fill="hold"/>
                                        <p:tgtEl>
                                          <p:spTgt spid="1229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12291">
                                            <p:txEl>
                                              <p:pRg st="5" end="5"/>
                                            </p:txEl>
                                          </p:spTgt>
                                        </p:tgtEl>
                                        <p:attrNameLst>
                                          <p:attrName>style.visibility</p:attrName>
                                        </p:attrNameLst>
                                      </p:cBhvr>
                                      <p:to>
                                        <p:strVal val="visible"/>
                                      </p:to>
                                    </p:set>
                                    <p:animEffect transition="in" filter="fade">
                                      <p:cBhvr>
                                        <p:cTn id="48" dur="1000"/>
                                        <p:tgtEl>
                                          <p:spTgt spid="12291">
                                            <p:txEl>
                                              <p:pRg st="5" end="5"/>
                                            </p:txEl>
                                          </p:spTgt>
                                        </p:tgtEl>
                                      </p:cBhvr>
                                    </p:animEffect>
                                    <p:anim calcmode="lin" valueType="num">
                                      <p:cBhvr>
                                        <p:cTn id="49" dur="1000" fill="hold"/>
                                        <p:tgtEl>
                                          <p:spTgt spid="12291">
                                            <p:txEl>
                                              <p:pRg st="5" end="5"/>
                                            </p:txEl>
                                          </p:spTgt>
                                        </p:tgtEl>
                                        <p:attrNameLst>
                                          <p:attrName>ppt_x</p:attrName>
                                        </p:attrNameLst>
                                      </p:cBhvr>
                                      <p:tavLst>
                                        <p:tav tm="0">
                                          <p:val>
                                            <p:strVal val="#ppt_x"/>
                                          </p:val>
                                        </p:tav>
                                        <p:tav tm="100000">
                                          <p:val>
                                            <p:strVal val="#ppt_x"/>
                                          </p:val>
                                        </p:tav>
                                      </p:tavLst>
                                    </p:anim>
                                    <p:anim calcmode="lin" valueType="num">
                                      <p:cBhvr>
                                        <p:cTn id="50" dur="1000" fill="hold"/>
                                        <p:tgtEl>
                                          <p:spTgt spid="12291">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12291">
                                            <p:txEl>
                                              <p:pRg st="6" end="6"/>
                                            </p:txEl>
                                          </p:spTgt>
                                        </p:tgtEl>
                                        <p:attrNameLst>
                                          <p:attrName>style.visibility</p:attrName>
                                        </p:attrNameLst>
                                      </p:cBhvr>
                                      <p:to>
                                        <p:strVal val="visible"/>
                                      </p:to>
                                    </p:set>
                                    <p:animEffect transition="in" filter="fade">
                                      <p:cBhvr>
                                        <p:cTn id="55" dur="1000"/>
                                        <p:tgtEl>
                                          <p:spTgt spid="12291">
                                            <p:txEl>
                                              <p:pRg st="6" end="6"/>
                                            </p:txEl>
                                          </p:spTgt>
                                        </p:tgtEl>
                                      </p:cBhvr>
                                    </p:animEffect>
                                    <p:anim calcmode="lin" valueType="num">
                                      <p:cBhvr>
                                        <p:cTn id="56" dur="1000" fill="hold"/>
                                        <p:tgtEl>
                                          <p:spTgt spid="12291">
                                            <p:txEl>
                                              <p:pRg st="6" end="6"/>
                                            </p:txEl>
                                          </p:spTgt>
                                        </p:tgtEl>
                                        <p:attrNameLst>
                                          <p:attrName>ppt_x</p:attrName>
                                        </p:attrNameLst>
                                      </p:cBhvr>
                                      <p:tavLst>
                                        <p:tav tm="0">
                                          <p:val>
                                            <p:strVal val="#ppt_x"/>
                                          </p:val>
                                        </p:tav>
                                        <p:tav tm="100000">
                                          <p:val>
                                            <p:strVal val="#ppt_x"/>
                                          </p:val>
                                        </p:tav>
                                      </p:tavLst>
                                    </p:anim>
                                    <p:anim calcmode="lin" valueType="num">
                                      <p:cBhvr>
                                        <p:cTn id="57" dur="1000" fill="hold"/>
                                        <p:tgtEl>
                                          <p:spTgt spid="12291">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12291">
                                            <p:txEl>
                                              <p:pRg st="7" end="7"/>
                                            </p:txEl>
                                          </p:spTgt>
                                        </p:tgtEl>
                                        <p:attrNameLst>
                                          <p:attrName>style.visibility</p:attrName>
                                        </p:attrNameLst>
                                      </p:cBhvr>
                                      <p:to>
                                        <p:strVal val="visible"/>
                                      </p:to>
                                    </p:set>
                                    <p:animEffect transition="in" filter="fade">
                                      <p:cBhvr>
                                        <p:cTn id="62" dur="1000"/>
                                        <p:tgtEl>
                                          <p:spTgt spid="12291">
                                            <p:txEl>
                                              <p:pRg st="7" end="7"/>
                                            </p:txEl>
                                          </p:spTgt>
                                        </p:tgtEl>
                                      </p:cBhvr>
                                    </p:animEffect>
                                    <p:anim calcmode="lin" valueType="num">
                                      <p:cBhvr>
                                        <p:cTn id="63" dur="1000" fill="hold"/>
                                        <p:tgtEl>
                                          <p:spTgt spid="12291">
                                            <p:txEl>
                                              <p:pRg st="7" end="7"/>
                                            </p:txEl>
                                          </p:spTgt>
                                        </p:tgtEl>
                                        <p:attrNameLst>
                                          <p:attrName>ppt_x</p:attrName>
                                        </p:attrNameLst>
                                      </p:cBhvr>
                                      <p:tavLst>
                                        <p:tav tm="0">
                                          <p:val>
                                            <p:strVal val="#ppt_x"/>
                                          </p:val>
                                        </p:tav>
                                        <p:tav tm="100000">
                                          <p:val>
                                            <p:strVal val="#ppt_x"/>
                                          </p:val>
                                        </p:tav>
                                      </p:tavLst>
                                    </p:anim>
                                    <p:anim calcmode="lin" valueType="num">
                                      <p:cBhvr>
                                        <p:cTn id="64" dur="1000" fill="hold"/>
                                        <p:tgtEl>
                                          <p:spTgt spid="12291">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12291">
                                            <p:txEl>
                                              <p:pRg st="8" end="8"/>
                                            </p:txEl>
                                          </p:spTgt>
                                        </p:tgtEl>
                                        <p:attrNameLst>
                                          <p:attrName>style.visibility</p:attrName>
                                        </p:attrNameLst>
                                      </p:cBhvr>
                                      <p:to>
                                        <p:strVal val="visible"/>
                                      </p:to>
                                    </p:set>
                                    <p:animEffect transition="in" filter="fade">
                                      <p:cBhvr>
                                        <p:cTn id="69" dur="1000"/>
                                        <p:tgtEl>
                                          <p:spTgt spid="12291">
                                            <p:txEl>
                                              <p:pRg st="8" end="8"/>
                                            </p:txEl>
                                          </p:spTgt>
                                        </p:tgtEl>
                                      </p:cBhvr>
                                    </p:animEffect>
                                    <p:anim calcmode="lin" valueType="num">
                                      <p:cBhvr>
                                        <p:cTn id="70" dur="1000" fill="hold"/>
                                        <p:tgtEl>
                                          <p:spTgt spid="12291">
                                            <p:txEl>
                                              <p:pRg st="8" end="8"/>
                                            </p:txEl>
                                          </p:spTgt>
                                        </p:tgtEl>
                                        <p:attrNameLst>
                                          <p:attrName>ppt_x</p:attrName>
                                        </p:attrNameLst>
                                      </p:cBhvr>
                                      <p:tavLst>
                                        <p:tav tm="0">
                                          <p:val>
                                            <p:strVal val="#ppt_x"/>
                                          </p:val>
                                        </p:tav>
                                        <p:tav tm="100000">
                                          <p:val>
                                            <p:strVal val="#ppt_x"/>
                                          </p:val>
                                        </p:tav>
                                      </p:tavLst>
                                    </p:anim>
                                    <p:anim calcmode="lin" valueType="num">
                                      <p:cBhvr>
                                        <p:cTn id="71" dur="1000" fill="hold"/>
                                        <p:tgtEl>
                                          <p:spTgt spid="12291">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 presetClass="entr" presetSubtype="4" fill="hold" grpId="0" nodeType="clickEffect">
                                  <p:stCondLst>
                                    <p:cond delay="0"/>
                                  </p:stCondLst>
                                  <p:childTnLst>
                                    <p:set>
                                      <p:cBhvr>
                                        <p:cTn id="75" dur="1" fill="hold">
                                          <p:stCondLst>
                                            <p:cond delay="0"/>
                                          </p:stCondLst>
                                        </p:cTn>
                                        <p:tgtEl>
                                          <p:spTgt spid="12292">
                                            <p:txEl>
                                              <p:pRg st="0" end="0"/>
                                            </p:txEl>
                                          </p:spTgt>
                                        </p:tgtEl>
                                        <p:attrNameLst>
                                          <p:attrName>style.visibility</p:attrName>
                                        </p:attrNameLst>
                                      </p:cBhvr>
                                      <p:to>
                                        <p:strVal val="visible"/>
                                      </p:to>
                                    </p:set>
                                    <p:anim calcmode="lin" valueType="num">
                                      <p:cBhvr additive="base">
                                        <p:cTn id="76" dur="500" fill="hold"/>
                                        <p:tgtEl>
                                          <p:spTgt spid="12292">
                                            <p:txEl>
                                              <p:pRg st="0" end="0"/>
                                            </p:txEl>
                                          </p:spTgt>
                                        </p:tgtEl>
                                        <p:attrNameLst>
                                          <p:attrName>ppt_x</p:attrName>
                                        </p:attrNameLst>
                                      </p:cBhvr>
                                      <p:tavLst>
                                        <p:tav tm="0">
                                          <p:val>
                                            <p:strVal val="#ppt_x"/>
                                          </p:val>
                                        </p:tav>
                                        <p:tav tm="100000">
                                          <p:val>
                                            <p:strVal val="#ppt_x"/>
                                          </p:val>
                                        </p:tav>
                                      </p:tavLst>
                                    </p:anim>
                                    <p:anim calcmode="lin" valueType="num">
                                      <p:cBhvr additive="base">
                                        <p:cTn id="77" dur="500" fill="hold"/>
                                        <p:tgtEl>
                                          <p:spTgt spid="1229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 presetClass="entr" presetSubtype="4" fill="hold" grpId="0" nodeType="clickEffect">
                                  <p:stCondLst>
                                    <p:cond delay="0"/>
                                  </p:stCondLst>
                                  <p:childTnLst>
                                    <p:set>
                                      <p:cBhvr>
                                        <p:cTn id="81" dur="1" fill="hold">
                                          <p:stCondLst>
                                            <p:cond delay="0"/>
                                          </p:stCondLst>
                                        </p:cTn>
                                        <p:tgtEl>
                                          <p:spTgt spid="12292">
                                            <p:txEl>
                                              <p:pRg st="1" end="1"/>
                                            </p:txEl>
                                          </p:spTgt>
                                        </p:tgtEl>
                                        <p:attrNameLst>
                                          <p:attrName>style.visibility</p:attrName>
                                        </p:attrNameLst>
                                      </p:cBhvr>
                                      <p:to>
                                        <p:strVal val="visible"/>
                                      </p:to>
                                    </p:set>
                                    <p:anim calcmode="lin" valueType="num">
                                      <p:cBhvr additive="base">
                                        <p:cTn id="82" dur="500" fill="hold"/>
                                        <p:tgtEl>
                                          <p:spTgt spid="12292">
                                            <p:txEl>
                                              <p:pRg st="1" end="1"/>
                                            </p:txEl>
                                          </p:spTgt>
                                        </p:tgtEl>
                                        <p:attrNameLst>
                                          <p:attrName>ppt_x</p:attrName>
                                        </p:attrNameLst>
                                      </p:cBhvr>
                                      <p:tavLst>
                                        <p:tav tm="0">
                                          <p:val>
                                            <p:strVal val="#ppt_x"/>
                                          </p:val>
                                        </p:tav>
                                        <p:tav tm="100000">
                                          <p:val>
                                            <p:strVal val="#ppt_x"/>
                                          </p:val>
                                        </p:tav>
                                      </p:tavLst>
                                    </p:anim>
                                    <p:anim calcmode="lin" valueType="num">
                                      <p:cBhvr additive="base">
                                        <p:cTn id="83" dur="500" fill="hold"/>
                                        <p:tgtEl>
                                          <p:spTgt spid="1229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2" presetClass="entr" presetSubtype="4" fill="hold" grpId="0" nodeType="clickEffect">
                                  <p:stCondLst>
                                    <p:cond delay="0"/>
                                  </p:stCondLst>
                                  <p:childTnLst>
                                    <p:set>
                                      <p:cBhvr>
                                        <p:cTn id="87" dur="1" fill="hold">
                                          <p:stCondLst>
                                            <p:cond delay="0"/>
                                          </p:stCondLst>
                                        </p:cTn>
                                        <p:tgtEl>
                                          <p:spTgt spid="12292">
                                            <p:txEl>
                                              <p:pRg st="2" end="2"/>
                                            </p:txEl>
                                          </p:spTgt>
                                        </p:tgtEl>
                                        <p:attrNameLst>
                                          <p:attrName>style.visibility</p:attrName>
                                        </p:attrNameLst>
                                      </p:cBhvr>
                                      <p:to>
                                        <p:strVal val="visible"/>
                                      </p:to>
                                    </p:set>
                                    <p:anim calcmode="lin" valueType="num">
                                      <p:cBhvr additive="base">
                                        <p:cTn id="88" dur="500" fill="hold"/>
                                        <p:tgtEl>
                                          <p:spTgt spid="12292">
                                            <p:txEl>
                                              <p:pRg st="2" end="2"/>
                                            </p:txEl>
                                          </p:spTgt>
                                        </p:tgtEl>
                                        <p:attrNameLst>
                                          <p:attrName>ppt_x</p:attrName>
                                        </p:attrNameLst>
                                      </p:cBhvr>
                                      <p:tavLst>
                                        <p:tav tm="0">
                                          <p:val>
                                            <p:strVal val="#ppt_x"/>
                                          </p:val>
                                        </p:tav>
                                        <p:tav tm="100000">
                                          <p:val>
                                            <p:strVal val="#ppt_x"/>
                                          </p:val>
                                        </p:tav>
                                      </p:tavLst>
                                    </p:anim>
                                    <p:anim calcmode="lin" valueType="num">
                                      <p:cBhvr additive="base">
                                        <p:cTn id="89" dur="500" fill="hold"/>
                                        <p:tgtEl>
                                          <p:spTgt spid="1229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2" presetClass="entr" presetSubtype="4" fill="hold" grpId="0" nodeType="clickEffect">
                                  <p:stCondLst>
                                    <p:cond delay="0"/>
                                  </p:stCondLst>
                                  <p:childTnLst>
                                    <p:set>
                                      <p:cBhvr>
                                        <p:cTn id="93" dur="1" fill="hold">
                                          <p:stCondLst>
                                            <p:cond delay="0"/>
                                          </p:stCondLst>
                                        </p:cTn>
                                        <p:tgtEl>
                                          <p:spTgt spid="12292">
                                            <p:txEl>
                                              <p:pRg st="3" end="3"/>
                                            </p:txEl>
                                          </p:spTgt>
                                        </p:tgtEl>
                                        <p:attrNameLst>
                                          <p:attrName>style.visibility</p:attrName>
                                        </p:attrNameLst>
                                      </p:cBhvr>
                                      <p:to>
                                        <p:strVal val="visible"/>
                                      </p:to>
                                    </p:set>
                                    <p:anim calcmode="lin" valueType="num">
                                      <p:cBhvr additive="base">
                                        <p:cTn id="94" dur="500" fill="hold"/>
                                        <p:tgtEl>
                                          <p:spTgt spid="12292">
                                            <p:txEl>
                                              <p:pRg st="3" end="3"/>
                                            </p:txEl>
                                          </p:spTgt>
                                        </p:tgtEl>
                                        <p:attrNameLst>
                                          <p:attrName>ppt_x</p:attrName>
                                        </p:attrNameLst>
                                      </p:cBhvr>
                                      <p:tavLst>
                                        <p:tav tm="0">
                                          <p:val>
                                            <p:strVal val="#ppt_x"/>
                                          </p:val>
                                        </p:tav>
                                        <p:tav tm="100000">
                                          <p:val>
                                            <p:strVal val="#ppt_x"/>
                                          </p:val>
                                        </p:tav>
                                      </p:tavLst>
                                    </p:anim>
                                    <p:anim calcmode="lin" valueType="num">
                                      <p:cBhvr additive="base">
                                        <p:cTn id="95" dur="500" fill="hold"/>
                                        <p:tgtEl>
                                          <p:spTgt spid="1229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2" presetClass="entr" presetSubtype="4" fill="hold" grpId="0" nodeType="clickEffect">
                                  <p:stCondLst>
                                    <p:cond delay="0"/>
                                  </p:stCondLst>
                                  <p:childTnLst>
                                    <p:set>
                                      <p:cBhvr>
                                        <p:cTn id="99" dur="1" fill="hold">
                                          <p:stCondLst>
                                            <p:cond delay="0"/>
                                          </p:stCondLst>
                                        </p:cTn>
                                        <p:tgtEl>
                                          <p:spTgt spid="12292">
                                            <p:txEl>
                                              <p:pRg st="4" end="4"/>
                                            </p:txEl>
                                          </p:spTgt>
                                        </p:tgtEl>
                                        <p:attrNameLst>
                                          <p:attrName>style.visibility</p:attrName>
                                        </p:attrNameLst>
                                      </p:cBhvr>
                                      <p:to>
                                        <p:strVal val="visible"/>
                                      </p:to>
                                    </p:set>
                                    <p:anim calcmode="lin" valueType="num">
                                      <p:cBhvr additive="base">
                                        <p:cTn id="100" dur="500" fill="hold"/>
                                        <p:tgtEl>
                                          <p:spTgt spid="12292">
                                            <p:txEl>
                                              <p:pRg st="4" end="4"/>
                                            </p:txEl>
                                          </p:spTgt>
                                        </p:tgtEl>
                                        <p:attrNameLst>
                                          <p:attrName>ppt_x</p:attrName>
                                        </p:attrNameLst>
                                      </p:cBhvr>
                                      <p:tavLst>
                                        <p:tav tm="0">
                                          <p:val>
                                            <p:strVal val="#ppt_x"/>
                                          </p:val>
                                        </p:tav>
                                        <p:tav tm="100000">
                                          <p:val>
                                            <p:strVal val="#ppt_x"/>
                                          </p:val>
                                        </p:tav>
                                      </p:tavLst>
                                    </p:anim>
                                    <p:anim calcmode="lin" valueType="num">
                                      <p:cBhvr additive="base">
                                        <p:cTn id="101" dur="500" fill="hold"/>
                                        <p:tgtEl>
                                          <p:spTgt spid="1229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2" presetClass="entr" presetSubtype="4" fill="hold" grpId="0" nodeType="clickEffect">
                                  <p:stCondLst>
                                    <p:cond delay="0"/>
                                  </p:stCondLst>
                                  <p:childTnLst>
                                    <p:set>
                                      <p:cBhvr>
                                        <p:cTn id="105" dur="1" fill="hold">
                                          <p:stCondLst>
                                            <p:cond delay="0"/>
                                          </p:stCondLst>
                                        </p:cTn>
                                        <p:tgtEl>
                                          <p:spTgt spid="12292">
                                            <p:txEl>
                                              <p:pRg st="5" end="5"/>
                                            </p:txEl>
                                          </p:spTgt>
                                        </p:tgtEl>
                                        <p:attrNameLst>
                                          <p:attrName>style.visibility</p:attrName>
                                        </p:attrNameLst>
                                      </p:cBhvr>
                                      <p:to>
                                        <p:strVal val="visible"/>
                                      </p:to>
                                    </p:set>
                                    <p:anim calcmode="lin" valueType="num">
                                      <p:cBhvr additive="base">
                                        <p:cTn id="106" dur="500" fill="hold"/>
                                        <p:tgtEl>
                                          <p:spTgt spid="12292">
                                            <p:txEl>
                                              <p:pRg st="5" end="5"/>
                                            </p:txEl>
                                          </p:spTgt>
                                        </p:tgtEl>
                                        <p:attrNameLst>
                                          <p:attrName>ppt_x</p:attrName>
                                        </p:attrNameLst>
                                      </p:cBhvr>
                                      <p:tavLst>
                                        <p:tav tm="0">
                                          <p:val>
                                            <p:strVal val="#ppt_x"/>
                                          </p:val>
                                        </p:tav>
                                        <p:tav tm="100000">
                                          <p:val>
                                            <p:strVal val="#ppt_x"/>
                                          </p:val>
                                        </p:tav>
                                      </p:tavLst>
                                    </p:anim>
                                    <p:anim calcmode="lin" valueType="num">
                                      <p:cBhvr additive="base">
                                        <p:cTn id="107" dur="500" fill="hold"/>
                                        <p:tgtEl>
                                          <p:spTgt spid="1229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2" presetClass="entr" presetSubtype="4" fill="hold" grpId="0" nodeType="clickEffect">
                                  <p:stCondLst>
                                    <p:cond delay="0"/>
                                  </p:stCondLst>
                                  <p:childTnLst>
                                    <p:set>
                                      <p:cBhvr>
                                        <p:cTn id="111" dur="1" fill="hold">
                                          <p:stCondLst>
                                            <p:cond delay="0"/>
                                          </p:stCondLst>
                                        </p:cTn>
                                        <p:tgtEl>
                                          <p:spTgt spid="12292">
                                            <p:txEl>
                                              <p:pRg st="6" end="6"/>
                                            </p:txEl>
                                          </p:spTgt>
                                        </p:tgtEl>
                                        <p:attrNameLst>
                                          <p:attrName>style.visibility</p:attrName>
                                        </p:attrNameLst>
                                      </p:cBhvr>
                                      <p:to>
                                        <p:strVal val="visible"/>
                                      </p:to>
                                    </p:set>
                                    <p:anim calcmode="lin" valueType="num">
                                      <p:cBhvr additive="base">
                                        <p:cTn id="112" dur="500" fill="hold"/>
                                        <p:tgtEl>
                                          <p:spTgt spid="12292">
                                            <p:txEl>
                                              <p:pRg st="6" end="6"/>
                                            </p:txEl>
                                          </p:spTgt>
                                        </p:tgtEl>
                                        <p:attrNameLst>
                                          <p:attrName>ppt_x</p:attrName>
                                        </p:attrNameLst>
                                      </p:cBhvr>
                                      <p:tavLst>
                                        <p:tav tm="0">
                                          <p:val>
                                            <p:strVal val="#ppt_x"/>
                                          </p:val>
                                        </p:tav>
                                        <p:tav tm="100000">
                                          <p:val>
                                            <p:strVal val="#ppt_x"/>
                                          </p:val>
                                        </p:tav>
                                      </p:tavLst>
                                    </p:anim>
                                    <p:anim calcmode="lin" valueType="num">
                                      <p:cBhvr additive="base">
                                        <p:cTn id="113" dur="500" fill="hold"/>
                                        <p:tgtEl>
                                          <p:spTgt spid="1229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2291" grpId="0" build="p"/>
      <p:bldP spid="12292"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1014889-F18E-4D3D-8A0E-5BF875BD059D}"/>
              </a:ext>
            </a:extLst>
          </p:cNvPr>
          <p:cNvSpPr>
            <a:spLocks noGrp="1"/>
          </p:cNvSpPr>
          <p:nvPr>
            <p:ph type="title"/>
          </p:nvPr>
        </p:nvSpPr>
        <p:spPr>
          <a:xfrm>
            <a:off x="152400" y="571500"/>
            <a:ext cx="8305800" cy="533400"/>
          </a:xfrm>
        </p:spPr>
        <p:txBody>
          <a:bodyPr>
            <a:normAutofit fontScale="90000"/>
          </a:bodyPr>
          <a:lstStyle/>
          <a:p>
            <a:pPr algn="ctr" eaLnBrk="1" hangingPunct="1">
              <a:defRPr/>
            </a:pPr>
            <a:r>
              <a:rPr lang="en-US" sz="3600" dirty="0">
                <a:solidFill>
                  <a:schemeClr val="tx1"/>
                </a:solidFill>
                <a:latin typeface="Garamond" pitchFamily="18" charset="0"/>
              </a:rPr>
              <a:t>Major categories of water pollution</a:t>
            </a:r>
          </a:p>
        </p:txBody>
      </p:sp>
      <p:sp>
        <p:nvSpPr>
          <p:cNvPr id="13315" name="Content Placeholder 5">
            <a:extLst>
              <a:ext uri="{FF2B5EF4-FFF2-40B4-BE49-F238E27FC236}">
                <a16:creationId xmlns:a16="http://schemas.microsoft.com/office/drawing/2014/main" id="{AD6646D9-4063-470F-836D-01C363DDF746}"/>
              </a:ext>
            </a:extLst>
          </p:cNvPr>
          <p:cNvSpPr>
            <a:spLocks noGrp="1"/>
          </p:cNvSpPr>
          <p:nvPr>
            <p:ph idx="1"/>
          </p:nvPr>
        </p:nvSpPr>
        <p:spPr>
          <a:xfrm>
            <a:off x="495300" y="1371600"/>
            <a:ext cx="8153400" cy="4648200"/>
          </a:xfrm>
        </p:spPr>
        <p:txBody>
          <a:bodyPr/>
          <a:lstStyle/>
          <a:p>
            <a:pPr algn="just" eaLnBrk="1" hangingPunct="1"/>
            <a:r>
              <a:rPr lang="en-US" altLang="en-US" dirty="0">
                <a:latin typeface="Garamond" panose="02020404030301010803" pitchFamily="18" charset="0"/>
              </a:rPr>
              <a:t>Infectious agents: disease causing agents or pathogens, including bacteria, viruses, protozoa, parasites. These come from raw sewage and animal waste and they may be responsible for 80% of the disease in the developing countries.</a:t>
            </a:r>
          </a:p>
          <a:p>
            <a:pPr algn="just" eaLnBrk="1" hangingPunct="1"/>
            <a:r>
              <a:rPr lang="en-US" altLang="en-US" dirty="0">
                <a:latin typeface="Garamond" panose="02020404030301010803" pitchFamily="18" charset="0"/>
              </a:rPr>
              <a:t>Water soluble inorganic chemicals: acid, salts and metals. Make water unfit to consume and use for irrigation. Also can harm organism.</a:t>
            </a:r>
          </a:p>
          <a:p>
            <a:pPr eaLnBrk="1" hangingPunct="1">
              <a:buFont typeface="Wingdings" panose="05000000000000000000" pitchFamily="2" charset="2"/>
              <a:buNone/>
            </a:pPr>
            <a:endParaRPr lang="en-US" altLang="en-US" sz="2800" dirty="0">
              <a:latin typeface="Garamond" panose="02020404030301010803" pitchFamily="18"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6662"/>
    </mc:Choice>
    <mc:Fallback xmlns="">
      <p:transition spd="slow" advTm="4666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315">
                                            <p:txEl>
                                              <p:pRg st="0" end="0"/>
                                            </p:txEl>
                                          </p:spTgt>
                                        </p:tgtEl>
                                        <p:attrNameLst>
                                          <p:attrName>style.visibility</p:attrName>
                                        </p:attrNameLst>
                                      </p:cBhvr>
                                      <p:to>
                                        <p:strVal val="visible"/>
                                      </p:to>
                                    </p:set>
                                    <p:anim calcmode="lin" valueType="num">
                                      <p:cBhvr additive="base">
                                        <p:cTn id="13" dur="500" fill="hold"/>
                                        <p:tgtEl>
                                          <p:spTgt spid="1331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3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315">
                                            <p:txEl>
                                              <p:pRg st="1" end="1"/>
                                            </p:txEl>
                                          </p:spTgt>
                                        </p:tgtEl>
                                        <p:attrNameLst>
                                          <p:attrName>style.visibility</p:attrName>
                                        </p:attrNameLst>
                                      </p:cBhvr>
                                      <p:to>
                                        <p:strVal val="visible"/>
                                      </p:to>
                                    </p:set>
                                    <p:anim calcmode="lin" valueType="num">
                                      <p:cBhvr additive="base">
                                        <p:cTn id="19" dur="500" fill="hold"/>
                                        <p:tgtEl>
                                          <p:spTgt spid="1331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31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F170FD29-DDA7-4C6B-97DD-C0F2B51E5129}"/>
              </a:ext>
            </a:extLst>
          </p:cNvPr>
          <p:cNvSpPr>
            <a:spLocks noGrp="1"/>
          </p:cNvSpPr>
          <p:nvPr>
            <p:ph idx="1"/>
          </p:nvPr>
        </p:nvSpPr>
        <p:spPr>
          <a:xfrm>
            <a:off x="152400" y="609600"/>
            <a:ext cx="8382000" cy="4495800"/>
          </a:xfrm>
        </p:spPr>
        <p:txBody>
          <a:bodyPr>
            <a:normAutofit/>
          </a:bodyPr>
          <a:lstStyle/>
          <a:p>
            <a:pPr algn="just"/>
            <a:r>
              <a:rPr lang="en-US" altLang="en-US" dirty="0">
                <a:latin typeface="Garamond" panose="02020404030301010803" pitchFamily="18" charset="0"/>
              </a:rPr>
              <a:t>Organic chemicals: including oil, gasoline, plastics, pesticides and detergents. Present health risk to human and other organisms.</a:t>
            </a:r>
          </a:p>
          <a:p>
            <a:pPr algn="just"/>
            <a:r>
              <a:rPr lang="en-US" altLang="en-US" dirty="0">
                <a:latin typeface="Garamond" panose="02020404030301010803" pitchFamily="18" charset="0"/>
              </a:rPr>
              <a:t>Plant nutrients: nitrates, phosphates, ammonium… from fertilizer mostly.</a:t>
            </a:r>
            <a:r>
              <a:rPr lang="en-US" dirty="0"/>
              <a:t> </a:t>
            </a:r>
          </a:p>
          <a:p>
            <a:pPr algn="just"/>
            <a:r>
              <a:rPr lang="en-US" altLang="en-US" dirty="0">
                <a:latin typeface="Garamond" panose="02020404030301010803" pitchFamily="18" charset="0"/>
              </a:rPr>
              <a:t>Sediments: mud, silt , sand. disrupt photosynthesis and bad for aquatic animals.</a:t>
            </a:r>
          </a:p>
          <a:p>
            <a:pPr algn="just"/>
            <a:r>
              <a:rPr lang="en-US" altLang="en-US" dirty="0">
                <a:latin typeface="Garamond" panose="02020404030301010803" pitchFamily="18" charset="0"/>
              </a:rPr>
              <a:t>Heat: from cooling water for power plants and other industrial plants also affect aquatic lives directly.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7353"/>
    </mc:Choice>
    <mc:Fallback xmlns="">
      <p:transition spd="slow" advTm="6735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338">
                                            <p:txEl>
                                              <p:pRg st="0" end="0"/>
                                            </p:txEl>
                                          </p:spTgt>
                                        </p:tgtEl>
                                        <p:attrNameLst>
                                          <p:attrName>style.visibility</p:attrName>
                                        </p:attrNameLst>
                                      </p:cBhvr>
                                      <p:to>
                                        <p:strVal val="visible"/>
                                      </p:to>
                                    </p:set>
                                    <p:anim calcmode="lin" valueType="num">
                                      <p:cBhvr additive="base">
                                        <p:cTn id="7" dur="500" fill="hold"/>
                                        <p:tgtEl>
                                          <p:spTgt spid="1433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33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338">
                                            <p:txEl>
                                              <p:pRg st="1" end="1"/>
                                            </p:txEl>
                                          </p:spTgt>
                                        </p:tgtEl>
                                        <p:attrNameLst>
                                          <p:attrName>style.visibility</p:attrName>
                                        </p:attrNameLst>
                                      </p:cBhvr>
                                      <p:to>
                                        <p:strVal val="visible"/>
                                      </p:to>
                                    </p:set>
                                    <p:anim calcmode="lin" valueType="num">
                                      <p:cBhvr additive="base">
                                        <p:cTn id="13" dur="500" fill="hold"/>
                                        <p:tgtEl>
                                          <p:spTgt spid="1433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33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338">
                                            <p:txEl>
                                              <p:pRg st="2" end="2"/>
                                            </p:txEl>
                                          </p:spTgt>
                                        </p:tgtEl>
                                        <p:attrNameLst>
                                          <p:attrName>style.visibility</p:attrName>
                                        </p:attrNameLst>
                                      </p:cBhvr>
                                      <p:to>
                                        <p:strVal val="visible"/>
                                      </p:to>
                                    </p:set>
                                    <p:anim calcmode="lin" valueType="num">
                                      <p:cBhvr additive="base">
                                        <p:cTn id="19" dur="500" fill="hold"/>
                                        <p:tgtEl>
                                          <p:spTgt spid="1433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33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338">
                                            <p:txEl>
                                              <p:pRg st="3" end="3"/>
                                            </p:txEl>
                                          </p:spTgt>
                                        </p:tgtEl>
                                        <p:attrNameLst>
                                          <p:attrName>style.visibility</p:attrName>
                                        </p:attrNameLst>
                                      </p:cBhvr>
                                      <p:to>
                                        <p:strVal val="visible"/>
                                      </p:to>
                                    </p:set>
                                    <p:anim calcmode="lin" valueType="num">
                                      <p:cBhvr additive="base">
                                        <p:cTn id="25" dur="500" fill="hold"/>
                                        <p:tgtEl>
                                          <p:spTgt spid="1433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33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E3B69A92-90C0-472B-A4AC-4C8D6369A2DA}"/>
              </a:ext>
            </a:extLst>
          </p:cNvPr>
          <p:cNvSpPr>
            <a:spLocks noGrp="1" noChangeArrowheads="1"/>
          </p:cNvSpPr>
          <p:nvPr>
            <p:ph type="title"/>
          </p:nvPr>
        </p:nvSpPr>
        <p:spPr>
          <a:xfrm>
            <a:off x="1066800" y="152400"/>
            <a:ext cx="7543800" cy="762000"/>
          </a:xfrm>
        </p:spPr>
        <p:txBody>
          <a:bodyPr/>
          <a:lstStyle/>
          <a:p>
            <a:pPr algn="ctr" eaLnBrk="1" hangingPunct="1">
              <a:defRPr/>
            </a:pPr>
            <a:r>
              <a:rPr lang="en-US" sz="3600" dirty="0">
                <a:solidFill>
                  <a:schemeClr val="tx1"/>
                </a:solidFill>
                <a:latin typeface="Garamond" pitchFamily="18" charset="0"/>
              </a:rPr>
              <a:t>Causes of surface water pollution</a:t>
            </a:r>
          </a:p>
        </p:txBody>
      </p:sp>
      <p:sp>
        <p:nvSpPr>
          <p:cNvPr id="15363" name="Rectangle 3">
            <a:extLst>
              <a:ext uri="{FF2B5EF4-FFF2-40B4-BE49-F238E27FC236}">
                <a16:creationId xmlns:a16="http://schemas.microsoft.com/office/drawing/2014/main" id="{3D597C57-8EB2-452F-9AA4-B16A9EDB97C8}"/>
              </a:ext>
            </a:extLst>
          </p:cNvPr>
          <p:cNvSpPr>
            <a:spLocks noGrp="1"/>
          </p:cNvSpPr>
          <p:nvPr>
            <p:ph type="body" idx="1"/>
          </p:nvPr>
        </p:nvSpPr>
        <p:spPr>
          <a:xfrm>
            <a:off x="533400" y="1752600"/>
            <a:ext cx="8610600" cy="5410200"/>
          </a:xfrm>
        </p:spPr>
        <p:txBody>
          <a:bodyPr>
            <a:normAutofit lnSpcReduction="10000"/>
          </a:bodyPr>
          <a:lstStyle/>
          <a:p>
            <a:pPr algn="just" eaLnBrk="1" hangingPunct="1"/>
            <a:r>
              <a:rPr lang="en-US" altLang="en-US" sz="2800" dirty="0">
                <a:latin typeface="Garamond" panose="02020404030301010803" pitchFamily="18" charset="0"/>
              </a:rPr>
              <a:t>Uncontrolled discharge of waste water from agricultural land</a:t>
            </a:r>
          </a:p>
          <a:p>
            <a:pPr algn="just" eaLnBrk="1" hangingPunct="1"/>
            <a:r>
              <a:rPr lang="en-US" altLang="en-US" sz="2800" dirty="0">
                <a:latin typeface="Garamond" panose="02020404030301010803" pitchFamily="18" charset="0"/>
              </a:rPr>
              <a:t>Discharge of domestic waste water</a:t>
            </a:r>
          </a:p>
          <a:p>
            <a:pPr algn="just" eaLnBrk="1" hangingPunct="1"/>
            <a:r>
              <a:rPr lang="en-US" altLang="en-US" sz="2800" dirty="0">
                <a:latin typeface="Garamond" panose="02020404030301010803" pitchFamily="18" charset="0"/>
              </a:rPr>
              <a:t>Industrial waste</a:t>
            </a:r>
          </a:p>
          <a:p>
            <a:pPr algn="just" eaLnBrk="1" hangingPunct="1"/>
            <a:r>
              <a:rPr lang="en-US" altLang="en-US" sz="2800" dirty="0">
                <a:latin typeface="Garamond" panose="02020404030301010803" pitchFamily="18" charset="0"/>
              </a:rPr>
              <a:t>Acid rain through air pollution is also one of the causes of surface water pollution.</a:t>
            </a:r>
          </a:p>
          <a:p>
            <a:pPr algn="just" eaLnBrk="1" hangingPunct="1"/>
            <a:r>
              <a:rPr lang="en-US" altLang="en-US" sz="2800" dirty="0">
                <a:latin typeface="Garamond" panose="02020404030301010803" pitchFamily="18" charset="0"/>
              </a:rPr>
              <a:t>Decaying of organic matters into water bodies</a:t>
            </a:r>
          </a:p>
          <a:p>
            <a:pPr algn="just" eaLnBrk="1" hangingPunct="1"/>
            <a:r>
              <a:rPr lang="en-US" altLang="en-US" sz="2800" dirty="0">
                <a:latin typeface="Garamond" panose="02020404030301010803" pitchFamily="18" charset="0"/>
              </a:rPr>
              <a:t>Salt water intrusion in ground water</a:t>
            </a:r>
          </a:p>
          <a:p>
            <a:pPr algn="just" eaLnBrk="1" hangingPunct="1"/>
            <a:r>
              <a:rPr lang="en-US" altLang="en-US" sz="2800" dirty="0">
                <a:latin typeface="Garamond" panose="02020404030301010803" pitchFamily="18" charset="0"/>
              </a:rPr>
              <a:t>Leaching of chemicals</a:t>
            </a:r>
          </a:p>
          <a:p>
            <a:pPr algn="just" eaLnBrk="1" hangingPunct="1"/>
            <a:r>
              <a:rPr lang="en-US" altLang="en-US" sz="2800" dirty="0">
                <a:latin typeface="Garamond" panose="02020404030301010803" pitchFamily="18" charset="0"/>
              </a:rPr>
              <a:t>Wash down of components of volcanic eruptions</a:t>
            </a:r>
          </a:p>
          <a:p>
            <a:pPr eaLnBrk="1" hangingPunct="1"/>
            <a:endParaRPr lang="en-US" altLang="en-US" sz="2800" dirty="0">
              <a:latin typeface="Garamond" panose="02020404030301010803" pitchFamily="18" charset="0"/>
            </a:endParaRPr>
          </a:p>
          <a:p>
            <a:pPr eaLnBrk="1" hangingPunct="1">
              <a:buFont typeface="Wingdings" panose="05000000000000000000" pitchFamily="2" charset="2"/>
              <a:buNone/>
            </a:pPr>
            <a:endParaRPr lang="en-US" altLang="en-US" sz="2800" dirty="0">
              <a:latin typeface="Garamond" panose="02020404030301010803" pitchFamily="18"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1387"/>
    </mc:Choice>
    <mc:Fallback xmlns="">
      <p:transition spd="slow" advTm="4138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8914"/>
                                        </p:tgtEl>
                                        <p:attrNameLst>
                                          <p:attrName>style.visibility</p:attrName>
                                        </p:attrNameLst>
                                      </p:cBhvr>
                                      <p:to>
                                        <p:strVal val="visible"/>
                                      </p:to>
                                    </p:set>
                                    <p:anim calcmode="lin" valueType="num">
                                      <p:cBhvr additive="base">
                                        <p:cTn id="7" dur="500" fill="hold"/>
                                        <p:tgtEl>
                                          <p:spTgt spid="38914"/>
                                        </p:tgtEl>
                                        <p:attrNameLst>
                                          <p:attrName>ppt_x</p:attrName>
                                        </p:attrNameLst>
                                      </p:cBhvr>
                                      <p:tavLst>
                                        <p:tav tm="0">
                                          <p:val>
                                            <p:strVal val="#ppt_x"/>
                                          </p:val>
                                        </p:tav>
                                        <p:tav tm="100000">
                                          <p:val>
                                            <p:strVal val="#ppt_x"/>
                                          </p:val>
                                        </p:tav>
                                      </p:tavLst>
                                    </p:anim>
                                    <p:anim calcmode="lin" valueType="num">
                                      <p:cBhvr additive="base">
                                        <p:cTn id="8" dur="500" fill="hold"/>
                                        <p:tgtEl>
                                          <p:spTgt spid="389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15363">
                                            <p:txEl>
                                              <p:pRg st="0" end="0"/>
                                            </p:txEl>
                                          </p:spTgt>
                                        </p:tgtEl>
                                        <p:attrNameLst>
                                          <p:attrName>style.visibility</p:attrName>
                                        </p:attrNameLst>
                                      </p:cBhvr>
                                      <p:to>
                                        <p:strVal val="visible"/>
                                      </p:to>
                                    </p:set>
                                    <p:animEffect transition="in" filter="fade">
                                      <p:cBhvr>
                                        <p:cTn id="13" dur="1000"/>
                                        <p:tgtEl>
                                          <p:spTgt spid="15363">
                                            <p:txEl>
                                              <p:pRg st="0" end="0"/>
                                            </p:txEl>
                                          </p:spTgt>
                                        </p:tgtEl>
                                      </p:cBhvr>
                                    </p:animEffect>
                                    <p:anim calcmode="lin" valueType="num">
                                      <p:cBhvr>
                                        <p:cTn id="14" dur="1000" fill="hold"/>
                                        <p:tgtEl>
                                          <p:spTgt spid="1536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1536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15363">
                                            <p:txEl>
                                              <p:pRg st="1" end="1"/>
                                            </p:txEl>
                                          </p:spTgt>
                                        </p:tgtEl>
                                        <p:attrNameLst>
                                          <p:attrName>style.visibility</p:attrName>
                                        </p:attrNameLst>
                                      </p:cBhvr>
                                      <p:to>
                                        <p:strVal val="visible"/>
                                      </p:to>
                                    </p:set>
                                    <p:animEffect transition="in" filter="fade">
                                      <p:cBhvr>
                                        <p:cTn id="20" dur="1000"/>
                                        <p:tgtEl>
                                          <p:spTgt spid="15363">
                                            <p:txEl>
                                              <p:pRg st="1" end="1"/>
                                            </p:txEl>
                                          </p:spTgt>
                                        </p:tgtEl>
                                      </p:cBhvr>
                                    </p:animEffect>
                                    <p:anim calcmode="lin" valueType="num">
                                      <p:cBhvr>
                                        <p:cTn id="21" dur="1000" fill="hold"/>
                                        <p:tgtEl>
                                          <p:spTgt spid="1536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1536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15363">
                                            <p:txEl>
                                              <p:pRg st="2" end="2"/>
                                            </p:txEl>
                                          </p:spTgt>
                                        </p:tgtEl>
                                        <p:attrNameLst>
                                          <p:attrName>style.visibility</p:attrName>
                                        </p:attrNameLst>
                                      </p:cBhvr>
                                      <p:to>
                                        <p:strVal val="visible"/>
                                      </p:to>
                                    </p:set>
                                    <p:animEffect transition="in" filter="fade">
                                      <p:cBhvr>
                                        <p:cTn id="27" dur="1000"/>
                                        <p:tgtEl>
                                          <p:spTgt spid="15363">
                                            <p:txEl>
                                              <p:pRg st="2" end="2"/>
                                            </p:txEl>
                                          </p:spTgt>
                                        </p:tgtEl>
                                      </p:cBhvr>
                                    </p:animEffect>
                                    <p:anim calcmode="lin" valueType="num">
                                      <p:cBhvr>
                                        <p:cTn id="28" dur="1000" fill="hold"/>
                                        <p:tgtEl>
                                          <p:spTgt spid="1536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1536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15363">
                                            <p:txEl>
                                              <p:pRg st="3" end="3"/>
                                            </p:txEl>
                                          </p:spTgt>
                                        </p:tgtEl>
                                        <p:attrNameLst>
                                          <p:attrName>style.visibility</p:attrName>
                                        </p:attrNameLst>
                                      </p:cBhvr>
                                      <p:to>
                                        <p:strVal val="visible"/>
                                      </p:to>
                                    </p:set>
                                    <p:animEffect transition="in" filter="fade">
                                      <p:cBhvr>
                                        <p:cTn id="34" dur="1000"/>
                                        <p:tgtEl>
                                          <p:spTgt spid="15363">
                                            <p:txEl>
                                              <p:pRg st="3" end="3"/>
                                            </p:txEl>
                                          </p:spTgt>
                                        </p:tgtEl>
                                      </p:cBhvr>
                                    </p:animEffect>
                                    <p:anim calcmode="lin" valueType="num">
                                      <p:cBhvr>
                                        <p:cTn id="35" dur="1000" fill="hold"/>
                                        <p:tgtEl>
                                          <p:spTgt spid="15363">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1536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15363">
                                            <p:txEl>
                                              <p:pRg st="4" end="4"/>
                                            </p:txEl>
                                          </p:spTgt>
                                        </p:tgtEl>
                                        <p:attrNameLst>
                                          <p:attrName>style.visibility</p:attrName>
                                        </p:attrNameLst>
                                      </p:cBhvr>
                                      <p:to>
                                        <p:strVal val="visible"/>
                                      </p:to>
                                    </p:set>
                                    <p:animEffect transition="in" filter="fade">
                                      <p:cBhvr>
                                        <p:cTn id="41" dur="1000"/>
                                        <p:tgtEl>
                                          <p:spTgt spid="15363">
                                            <p:txEl>
                                              <p:pRg st="4" end="4"/>
                                            </p:txEl>
                                          </p:spTgt>
                                        </p:tgtEl>
                                      </p:cBhvr>
                                    </p:animEffect>
                                    <p:anim calcmode="lin" valueType="num">
                                      <p:cBhvr>
                                        <p:cTn id="42" dur="1000" fill="hold"/>
                                        <p:tgtEl>
                                          <p:spTgt spid="15363">
                                            <p:txEl>
                                              <p:pRg st="4" end="4"/>
                                            </p:txEl>
                                          </p:spTgt>
                                        </p:tgtEl>
                                        <p:attrNameLst>
                                          <p:attrName>ppt_x</p:attrName>
                                        </p:attrNameLst>
                                      </p:cBhvr>
                                      <p:tavLst>
                                        <p:tav tm="0">
                                          <p:val>
                                            <p:strVal val="#ppt_x"/>
                                          </p:val>
                                        </p:tav>
                                        <p:tav tm="100000">
                                          <p:val>
                                            <p:strVal val="#ppt_x"/>
                                          </p:val>
                                        </p:tav>
                                      </p:tavLst>
                                    </p:anim>
                                    <p:anim calcmode="lin" valueType="num">
                                      <p:cBhvr>
                                        <p:cTn id="43" dur="1000" fill="hold"/>
                                        <p:tgtEl>
                                          <p:spTgt spid="1536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15363">
                                            <p:txEl>
                                              <p:pRg st="5" end="5"/>
                                            </p:txEl>
                                          </p:spTgt>
                                        </p:tgtEl>
                                        <p:attrNameLst>
                                          <p:attrName>style.visibility</p:attrName>
                                        </p:attrNameLst>
                                      </p:cBhvr>
                                      <p:to>
                                        <p:strVal val="visible"/>
                                      </p:to>
                                    </p:set>
                                    <p:animEffect transition="in" filter="fade">
                                      <p:cBhvr>
                                        <p:cTn id="48" dur="1000"/>
                                        <p:tgtEl>
                                          <p:spTgt spid="15363">
                                            <p:txEl>
                                              <p:pRg st="5" end="5"/>
                                            </p:txEl>
                                          </p:spTgt>
                                        </p:tgtEl>
                                      </p:cBhvr>
                                    </p:animEffect>
                                    <p:anim calcmode="lin" valueType="num">
                                      <p:cBhvr>
                                        <p:cTn id="49" dur="1000" fill="hold"/>
                                        <p:tgtEl>
                                          <p:spTgt spid="15363">
                                            <p:txEl>
                                              <p:pRg st="5" end="5"/>
                                            </p:txEl>
                                          </p:spTgt>
                                        </p:tgtEl>
                                        <p:attrNameLst>
                                          <p:attrName>ppt_x</p:attrName>
                                        </p:attrNameLst>
                                      </p:cBhvr>
                                      <p:tavLst>
                                        <p:tav tm="0">
                                          <p:val>
                                            <p:strVal val="#ppt_x"/>
                                          </p:val>
                                        </p:tav>
                                        <p:tav tm="100000">
                                          <p:val>
                                            <p:strVal val="#ppt_x"/>
                                          </p:val>
                                        </p:tav>
                                      </p:tavLst>
                                    </p:anim>
                                    <p:anim calcmode="lin" valueType="num">
                                      <p:cBhvr>
                                        <p:cTn id="50" dur="1000" fill="hold"/>
                                        <p:tgtEl>
                                          <p:spTgt spid="1536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15363">
                                            <p:txEl>
                                              <p:pRg st="6" end="6"/>
                                            </p:txEl>
                                          </p:spTgt>
                                        </p:tgtEl>
                                        <p:attrNameLst>
                                          <p:attrName>style.visibility</p:attrName>
                                        </p:attrNameLst>
                                      </p:cBhvr>
                                      <p:to>
                                        <p:strVal val="visible"/>
                                      </p:to>
                                    </p:set>
                                    <p:animEffect transition="in" filter="fade">
                                      <p:cBhvr>
                                        <p:cTn id="55" dur="1000"/>
                                        <p:tgtEl>
                                          <p:spTgt spid="15363">
                                            <p:txEl>
                                              <p:pRg st="6" end="6"/>
                                            </p:txEl>
                                          </p:spTgt>
                                        </p:tgtEl>
                                      </p:cBhvr>
                                    </p:animEffect>
                                    <p:anim calcmode="lin" valueType="num">
                                      <p:cBhvr>
                                        <p:cTn id="56" dur="1000" fill="hold"/>
                                        <p:tgtEl>
                                          <p:spTgt spid="15363">
                                            <p:txEl>
                                              <p:pRg st="6" end="6"/>
                                            </p:txEl>
                                          </p:spTgt>
                                        </p:tgtEl>
                                        <p:attrNameLst>
                                          <p:attrName>ppt_x</p:attrName>
                                        </p:attrNameLst>
                                      </p:cBhvr>
                                      <p:tavLst>
                                        <p:tav tm="0">
                                          <p:val>
                                            <p:strVal val="#ppt_x"/>
                                          </p:val>
                                        </p:tav>
                                        <p:tav tm="100000">
                                          <p:val>
                                            <p:strVal val="#ppt_x"/>
                                          </p:val>
                                        </p:tav>
                                      </p:tavLst>
                                    </p:anim>
                                    <p:anim calcmode="lin" valueType="num">
                                      <p:cBhvr>
                                        <p:cTn id="57" dur="1000" fill="hold"/>
                                        <p:tgtEl>
                                          <p:spTgt spid="1536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15363">
                                            <p:txEl>
                                              <p:pRg st="7" end="7"/>
                                            </p:txEl>
                                          </p:spTgt>
                                        </p:tgtEl>
                                        <p:attrNameLst>
                                          <p:attrName>style.visibility</p:attrName>
                                        </p:attrNameLst>
                                      </p:cBhvr>
                                      <p:to>
                                        <p:strVal val="visible"/>
                                      </p:to>
                                    </p:set>
                                    <p:animEffect transition="in" filter="fade">
                                      <p:cBhvr>
                                        <p:cTn id="62" dur="1000"/>
                                        <p:tgtEl>
                                          <p:spTgt spid="15363">
                                            <p:txEl>
                                              <p:pRg st="7" end="7"/>
                                            </p:txEl>
                                          </p:spTgt>
                                        </p:tgtEl>
                                      </p:cBhvr>
                                    </p:animEffect>
                                    <p:anim calcmode="lin" valueType="num">
                                      <p:cBhvr>
                                        <p:cTn id="63" dur="1000" fill="hold"/>
                                        <p:tgtEl>
                                          <p:spTgt spid="15363">
                                            <p:txEl>
                                              <p:pRg st="7" end="7"/>
                                            </p:txEl>
                                          </p:spTgt>
                                        </p:tgtEl>
                                        <p:attrNameLst>
                                          <p:attrName>ppt_x</p:attrName>
                                        </p:attrNameLst>
                                      </p:cBhvr>
                                      <p:tavLst>
                                        <p:tav tm="0">
                                          <p:val>
                                            <p:strVal val="#ppt_x"/>
                                          </p:val>
                                        </p:tav>
                                        <p:tav tm="100000">
                                          <p:val>
                                            <p:strVal val="#ppt_x"/>
                                          </p:val>
                                        </p:tav>
                                      </p:tavLst>
                                    </p:anim>
                                    <p:anim calcmode="lin" valueType="num">
                                      <p:cBhvr>
                                        <p:cTn id="64" dur="1000" fill="hold"/>
                                        <p:tgtEl>
                                          <p:spTgt spid="1536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4" grpId="0"/>
      <p:bldP spid="1536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92B98FD3-0F34-44F7-A8CF-72379A79EB5D}"/>
              </a:ext>
            </a:extLst>
          </p:cNvPr>
          <p:cNvSpPr>
            <a:spLocks noGrp="1" noChangeArrowheads="1"/>
          </p:cNvSpPr>
          <p:nvPr>
            <p:ph type="title"/>
          </p:nvPr>
        </p:nvSpPr>
        <p:spPr>
          <a:xfrm>
            <a:off x="838200" y="152400"/>
            <a:ext cx="7543800" cy="762000"/>
          </a:xfrm>
        </p:spPr>
        <p:txBody>
          <a:bodyPr/>
          <a:lstStyle/>
          <a:p>
            <a:pPr algn="ctr" eaLnBrk="1" hangingPunct="1">
              <a:defRPr/>
            </a:pPr>
            <a:r>
              <a:rPr lang="en-US" sz="3600" dirty="0">
                <a:solidFill>
                  <a:schemeClr val="tx1"/>
                </a:solidFill>
                <a:latin typeface="Garamond" pitchFamily="18" charset="0"/>
              </a:rPr>
              <a:t>Ground water pollution</a:t>
            </a:r>
          </a:p>
        </p:txBody>
      </p:sp>
      <p:sp>
        <p:nvSpPr>
          <p:cNvPr id="16387" name="Rectangle 3">
            <a:extLst>
              <a:ext uri="{FF2B5EF4-FFF2-40B4-BE49-F238E27FC236}">
                <a16:creationId xmlns:a16="http://schemas.microsoft.com/office/drawing/2014/main" id="{9C012CDA-C732-4C03-9F67-7F687D785434}"/>
              </a:ext>
            </a:extLst>
          </p:cNvPr>
          <p:cNvSpPr>
            <a:spLocks noGrp="1"/>
          </p:cNvSpPr>
          <p:nvPr>
            <p:ph type="body" idx="1"/>
          </p:nvPr>
        </p:nvSpPr>
        <p:spPr>
          <a:xfrm>
            <a:off x="457200" y="1371600"/>
            <a:ext cx="8686800" cy="5486400"/>
          </a:xfrm>
        </p:spPr>
        <p:txBody>
          <a:bodyPr/>
          <a:lstStyle/>
          <a:p>
            <a:pPr algn="just" eaLnBrk="1" hangingPunct="1"/>
            <a:r>
              <a:rPr lang="en-US" altLang="en-US" sz="2800" dirty="0">
                <a:latin typeface="Garamond" panose="02020404030301010803" pitchFamily="18" charset="0"/>
              </a:rPr>
              <a:t>Domestic and industrial waste water pollutes the ground water.</a:t>
            </a:r>
          </a:p>
          <a:p>
            <a:pPr algn="just" eaLnBrk="1" hangingPunct="1"/>
            <a:r>
              <a:rPr lang="en-US" altLang="en-US" sz="2800" dirty="0">
                <a:latin typeface="Garamond" panose="02020404030301010803" pitchFamily="18" charset="0"/>
              </a:rPr>
              <a:t>Pesticides used in agricultural activities enter the ground water through irrigation water.</a:t>
            </a:r>
          </a:p>
          <a:p>
            <a:pPr eaLnBrk="1" hangingPunct="1">
              <a:buFont typeface="Wingdings" panose="05000000000000000000" pitchFamily="2" charset="2"/>
              <a:buNone/>
            </a:pPr>
            <a:endParaRPr lang="en-US" altLang="en-US" sz="2800" dirty="0">
              <a:latin typeface="Garamond" panose="02020404030301010803" pitchFamily="18"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0304"/>
    </mc:Choice>
    <mc:Fallback xmlns="">
      <p:transition spd="slow" advTm="2030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9938"/>
                                        </p:tgtEl>
                                        <p:attrNameLst>
                                          <p:attrName>style.visibility</p:attrName>
                                        </p:attrNameLst>
                                      </p:cBhvr>
                                      <p:to>
                                        <p:strVal val="visible"/>
                                      </p:to>
                                    </p:set>
                                    <p:anim calcmode="lin" valueType="num">
                                      <p:cBhvr additive="base">
                                        <p:cTn id="7" dur="500" fill="hold"/>
                                        <p:tgtEl>
                                          <p:spTgt spid="39938"/>
                                        </p:tgtEl>
                                        <p:attrNameLst>
                                          <p:attrName>ppt_x</p:attrName>
                                        </p:attrNameLst>
                                      </p:cBhvr>
                                      <p:tavLst>
                                        <p:tav tm="0">
                                          <p:val>
                                            <p:strVal val="#ppt_x"/>
                                          </p:val>
                                        </p:tav>
                                        <p:tav tm="100000">
                                          <p:val>
                                            <p:strVal val="#ppt_x"/>
                                          </p:val>
                                        </p:tav>
                                      </p:tavLst>
                                    </p:anim>
                                    <p:anim calcmode="lin" valueType="num">
                                      <p:cBhvr additive="base">
                                        <p:cTn id="8" dur="500" fill="hold"/>
                                        <p:tgtEl>
                                          <p:spTgt spid="3993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387">
                                            <p:txEl>
                                              <p:pRg st="0" end="0"/>
                                            </p:txEl>
                                          </p:spTgt>
                                        </p:tgtEl>
                                        <p:attrNameLst>
                                          <p:attrName>style.visibility</p:attrName>
                                        </p:attrNameLst>
                                      </p:cBhvr>
                                      <p:to>
                                        <p:strVal val="visible"/>
                                      </p:to>
                                    </p:set>
                                    <p:anim calcmode="lin" valueType="num">
                                      <p:cBhvr additive="base">
                                        <p:cTn id="13" dur="500" fill="hold"/>
                                        <p:tgtEl>
                                          <p:spTgt spid="16387">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3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387">
                                            <p:txEl>
                                              <p:pRg st="1" end="1"/>
                                            </p:txEl>
                                          </p:spTgt>
                                        </p:tgtEl>
                                        <p:attrNameLst>
                                          <p:attrName>style.visibility</p:attrName>
                                        </p:attrNameLst>
                                      </p:cBhvr>
                                      <p:to>
                                        <p:strVal val="visible"/>
                                      </p:to>
                                    </p:set>
                                    <p:anim calcmode="lin" valueType="num">
                                      <p:cBhvr additive="base">
                                        <p:cTn id="19" dur="500" fill="hold"/>
                                        <p:tgtEl>
                                          <p:spTgt spid="16387">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38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8" grpId="0"/>
      <p:bldP spid="1638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B4BA2D58-1340-4A07-BD23-DBB9721841EE}"/>
              </a:ext>
            </a:extLst>
          </p:cNvPr>
          <p:cNvSpPr>
            <a:spLocks noGrp="1" noChangeArrowheads="1"/>
          </p:cNvSpPr>
          <p:nvPr>
            <p:ph type="title"/>
          </p:nvPr>
        </p:nvSpPr>
        <p:spPr>
          <a:xfrm>
            <a:off x="1066800" y="152400"/>
            <a:ext cx="7543800" cy="533400"/>
          </a:xfrm>
        </p:spPr>
        <p:txBody>
          <a:bodyPr>
            <a:normAutofit fontScale="90000"/>
          </a:bodyPr>
          <a:lstStyle/>
          <a:p>
            <a:pPr algn="ctr" eaLnBrk="1" fontAlgn="auto" hangingPunct="1">
              <a:spcAft>
                <a:spcPts val="0"/>
              </a:spcAft>
              <a:defRPr/>
            </a:pPr>
            <a:r>
              <a:rPr lang="en-US" sz="3200" dirty="0">
                <a:solidFill>
                  <a:schemeClr val="tx1"/>
                </a:solidFill>
                <a:latin typeface="Garamond" pitchFamily="18" charset="0"/>
              </a:rPr>
              <a:t> Marine pollution</a:t>
            </a:r>
          </a:p>
        </p:txBody>
      </p:sp>
      <p:graphicFrame>
        <p:nvGraphicFramePr>
          <p:cNvPr id="41101" name="Group 141">
            <a:extLst>
              <a:ext uri="{FF2B5EF4-FFF2-40B4-BE49-F238E27FC236}">
                <a16:creationId xmlns:a16="http://schemas.microsoft.com/office/drawing/2014/main" id="{8426D7A5-7DC2-4978-BDFD-F0D5C9709D6C}"/>
              </a:ext>
            </a:extLst>
          </p:cNvPr>
          <p:cNvGraphicFramePr>
            <a:graphicFrameLocks noGrp="1"/>
          </p:cNvGraphicFramePr>
          <p:nvPr>
            <p:ph type="tbl" idx="1"/>
          </p:nvPr>
        </p:nvGraphicFramePr>
        <p:xfrm>
          <a:off x="228600" y="990600"/>
          <a:ext cx="8763000" cy="5638802"/>
        </p:xfrm>
        <a:graphic>
          <a:graphicData uri="http://schemas.openxmlformats.org/drawingml/2006/table">
            <a:tbl>
              <a:tblPr/>
              <a:tblGrid>
                <a:gridCol w="1819275">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2943225">
                  <a:extLst>
                    <a:ext uri="{9D8B030D-6E8A-4147-A177-3AD203B41FA5}">
                      <a16:colId xmlns:a16="http://schemas.microsoft.com/office/drawing/2014/main" val="20002"/>
                    </a:ext>
                  </a:extLst>
                </a:gridCol>
              </a:tblGrid>
              <a:tr h="43497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8" charset="0"/>
                          <a:cs typeface="Times New Roman" pitchFamily="18" charset="0"/>
                        </a:rPr>
                        <a:t>Pollutants</a:t>
                      </a: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8" charset="0"/>
                          <a:cs typeface="Times New Roman" pitchFamily="18" charset="0"/>
                        </a:rPr>
                        <a:t>Sources</a:t>
                      </a: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8" charset="0"/>
                          <a:cs typeface="Times New Roman" pitchFamily="18" charset="0"/>
                        </a:rPr>
                        <a:t>Impacts</a:t>
                      </a: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1282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8" charset="0"/>
                          <a:cs typeface="Times New Roman" pitchFamily="18" charset="0"/>
                        </a:rPr>
                        <a:t>sediments</a:t>
                      </a: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8" charset="0"/>
                          <a:cs typeface="Times New Roman" pitchFamily="18" charset="0"/>
                        </a:rPr>
                        <a:t>Deforestation, soil erosion, mining and farming</a:t>
                      </a: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8" charset="0"/>
                          <a:cs typeface="Times New Roman" pitchFamily="18" charset="0"/>
                        </a:rPr>
                        <a:t>Blocks water flows and coastal ecosystems, clogs gills of fish</a:t>
                      </a: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1123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8" charset="0"/>
                          <a:cs typeface="Times New Roman" pitchFamily="18" charset="0"/>
                        </a:rPr>
                        <a:t>Pathogenic organisms </a:t>
                      </a: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8" charset="0"/>
                          <a:cs typeface="Times New Roman" pitchFamily="18" charset="0"/>
                        </a:rPr>
                        <a:t> Sewage and livestock wastes</a:t>
                      </a: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8" charset="0"/>
                          <a:cs typeface="Times New Roman" pitchFamily="18" charset="0"/>
                        </a:rPr>
                        <a:t>Contaminates coastal swimming places and seafood, spreading diseases</a:t>
                      </a: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2231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8" charset="0"/>
                          <a:cs typeface="Times New Roman" pitchFamily="18" charset="0"/>
                        </a:rPr>
                        <a:t>Litter, specially plastics</a:t>
                      </a: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8" charset="0"/>
                          <a:cs typeface="Times New Roman" pitchFamily="18" charset="0"/>
                        </a:rPr>
                        <a:t>Disposed by people and plastic industry, thrown overboard from ships</a:t>
                      </a: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8" charset="0"/>
                          <a:cs typeface="Times New Roman" pitchFamily="18" charset="0"/>
                        </a:rPr>
                        <a:t>Pollutes the water and beach areas</a:t>
                      </a: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2231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8" charset="0"/>
                          <a:cs typeface="Times New Roman" pitchFamily="18" charset="0"/>
                        </a:rPr>
                        <a:t>Oil</a:t>
                      </a: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8" charset="0"/>
                          <a:cs typeface="Times New Roman" pitchFamily="18" charset="0"/>
                        </a:rPr>
                        <a:t>industries, ships and oil tankers</a:t>
                      </a: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8" charset="0"/>
                          <a:cs typeface="Times New Roman" pitchFamily="18" charset="0"/>
                        </a:rPr>
                        <a:t>Kill sea fish and causes diseases in marine life</a:t>
                      </a: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239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8" charset="0"/>
                          <a:cs typeface="Times New Roman" pitchFamily="18" charset="0"/>
                        </a:rPr>
                        <a:t>Radioactive waste</a:t>
                      </a: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8" charset="0"/>
                          <a:cs typeface="Times New Roman" pitchFamily="18" charset="0"/>
                        </a:rPr>
                        <a:t>Discharge from nuclear power stations, reprocessing plants etc.</a:t>
                      </a: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8" charset="0"/>
                          <a:cs typeface="Times New Roman" pitchFamily="18" charset="0"/>
                        </a:rPr>
                        <a:t>Causes diseases in marine life</a:t>
                      </a: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01123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8" charset="0"/>
                          <a:cs typeface="Times New Roman" pitchFamily="18" charset="0"/>
                        </a:rPr>
                        <a:t>Toxic waste (heavy metal and chemicals</a:t>
                      </a: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8" charset="0"/>
                          <a:cs typeface="Times New Roman" pitchFamily="18" charset="0"/>
                        </a:rPr>
                        <a:t>Metals from mining and industries, pesticides from farms, discharge water from cities</a:t>
                      </a: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8" charset="0"/>
                          <a:cs typeface="Times New Roman" pitchFamily="18" charset="0"/>
                        </a:rPr>
                        <a:t>Poisons marine life and contaminates sea food</a:t>
                      </a: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19348"/>
    </mc:Choice>
    <mc:Fallback xmlns="">
      <p:transition spd="slow" advTm="11934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0962"/>
                                        </p:tgtEl>
                                        <p:attrNameLst>
                                          <p:attrName>style.visibility</p:attrName>
                                        </p:attrNameLst>
                                      </p:cBhvr>
                                      <p:to>
                                        <p:strVal val="visible"/>
                                      </p:to>
                                    </p:set>
                                    <p:anim calcmode="lin" valueType="num">
                                      <p:cBhvr additive="base">
                                        <p:cTn id="7" dur="500" fill="hold"/>
                                        <p:tgtEl>
                                          <p:spTgt spid="40962"/>
                                        </p:tgtEl>
                                        <p:attrNameLst>
                                          <p:attrName>ppt_x</p:attrName>
                                        </p:attrNameLst>
                                      </p:cBhvr>
                                      <p:tavLst>
                                        <p:tav tm="0">
                                          <p:val>
                                            <p:strVal val="#ppt_x"/>
                                          </p:val>
                                        </p:tav>
                                        <p:tav tm="100000">
                                          <p:val>
                                            <p:strVal val="#ppt_x"/>
                                          </p:val>
                                        </p:tav>
                                      </p:tavLst>
                                    </p:anim>
                                    <p:anim calcmode="lin" valueType="num">
                                      <p:cBhvr additive="base">
                                        <p:cTn id="8" dur="500" fill="hold"/>
                                        <p:tgtEl>
                                          <p:spTgt spid="4096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1101"/>
                                        </p:tgtEl>
                                        <p:attrNameLst>
                                          <p:attrName>style.visibility</p:attrName>
                                        </p:attrNameLst>
                                      </p:cBhvr>
                                      <p:to>
                                        <p:strVal val="visible"/>
                                      </p:to>
                                    </p:set>
                                    <p:anim calcmode="lin" valueType="num">
                                      <p:cBhvr additive="base">
                                        <p:cTn id="13" dur="500" fill="hold"/>
                                        <p:tgtEl>
                                          <p:spTgt spid="41101"/>
                                        </p:tgtEl>
                                        <p:attrNameLst>
                                          <p:attrName>ppt_x</p:attrName>
                                        </p:attrNameLst>
                                      </p:cBhvr>
                                      <p:tavLst>
                                        <p:tav tm="0">
                                          <p:val>
                                            <p:strVal val="#ppt_x"/>
                                          </p:val>
                                        </p:tav>
                                        <p:tav tm="100000">
                                          <p:val>
                                            <p:strVal val="#ppt_x"/>
                                          </p:val>
                                        </p:tav>
                                      </p:tavLst>
                                    </p:anim>
                                    <p:anim calcmode="lin" valueType="num">
                                      <p:cBhvr additive="base">
                                        <p:cTn id="14" dur="500" fill="hold"/>
                                        <p:tgtEl>
                                          <p:spTgt spid="411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75B880E0-64FF-4554-B635-2FA247DA491D}"/>
              </a:ext>
            </a:extLst>
          </p:cNvPr>
          <p:cNvSpPr>
            <a:spLocks noGrp="1" noChangeArrowheads="1"/>
          </p:cNvSpPr>
          <p:nvPr>
            <p:ph type="ctrTitle"/>
          </p:nvPr>
        </p:nvSpPr>
        <p:spPr bwMode="auto">
          <a:xfrm>
            <a:off x="1676400" y="685800"/>
            <a:ext cx="6781800" cy="593725"/>
          </a:xfrm>
        </p:spPr>
        <p:txBody>
          <a:bodyPr vert="horz" wrap="square" lIns="91440" tIns="45720" rIns="91440" bIns="45720" numCol="1" anchorCtr="0" compatLnSpc="1">
            <a:prstTxWarp prst="textNoShape">
              <a:avLst/>
            </a:prstTxWarp>
          </a:bodyPr>
          <a:lstStyle/>
          <a:p>
            <a:pPr algn="just" eaLnBrk="1" hangingPunct="1"/>
            <a:r>
              <a:rPr lang="en-US" altLang="en-US" sz="2800" dirty="0">
                <a:solidFill>
                  <a:schemeClr val="tx1"/>
                </a:solidFill>
                <a:effectLst/>
                <a:latin typeface="Garamond" panose="02020404030301010803" pitchFamily="18" charset="0"/>
              </a:rPr>
              <a:t>Coastal/marine pollution: why should we care</a:t>
            </a:r>
            <a:endParaRPr lang="en-US" altLang="en-US" sz="2800" dirty="0">
              <a:effectLst/>
            </a:endParaRPr>
          </a:p>
        </p:txBody>
      </p:sp>
      <p:sp>
        <p:nvSpPr>
          <p:cNvPr id="3" name="Subtitle 2">
            <a:extLst>
              <a:ext uri="{FF2B5EF4-FFF2-40B4-BE49-F238E27FC236}">
                <a16:creationId xmlns:a16="http://schemas.microsoft.com/office/drawing/2014/main" id="{F5126D1D-AB84-403F-ADD9-51F06B0080EB}"/>
              </a:ext>
            </a:extLst>
          </p:cNvPr>
          <p:cNvSpPr>
            <a:spLocks noGrp="1"/>
          </p:cNvSpPr>
          <p:nvPr>
            <p:ph type="subTitle" idx="1"/>
          </p:nvPr>
        </p:nvSpPr>
        <p:spPr>
          <a:xfrm>
            <a:off x="762000" y="1676400"/>
            <a:ext cx="7848600" cy="4648200"/>
          </a:xfrm>
        </p:spPr>
        <p:txBody>
          <a:bodyPr>
            <a:normAutofit/>
          </a:bodyPr>
          <a:lstStyle/>
          <a:p>
            <a:pPr algn="just" eaLnBrk="1" fontAlgn="auto" hangingPunct="1">
              <a:spcAft>
                <a:spcPts val="0"/>
              </a:spcAft>
              <a:buFont typeface="Wingdings 2"/>
              <a:buNone/>
              <a:defRPr/>
            </a:pPr>
            <a:endParaRPr lang="en-US" sz="2400" dirty="0">
              <a:latin typeface="Times New Roman" pitchFamily="18" charset="0"/>
              <a:cs typeface="Times New Roman" pitchFamily="18" charset="0"/>
            </a:endParaRPr>
          </a:p>
          <a:p>
            <a:pPr lvl="1" algn="just" eaLnBrk="1" fontAlgn="auto" hangingPunct="1">
              <a:spcAft>
                <a:spcPts val="0"/>
              </a:spcAft>
              <a:buFont typeface="Arial" pitchFamily="34" charset="0"/>
              <a:buChar char="•"/>
              <a:defRPr/>
            </a:pPr>
            <a:r>
              <a:rPr lang="en-US" sz="2400" dirty="0">
                <a:solidFill>
                  <a:schemeClr val="tx1"/>
                </a:solidFill>
                <a:latin typeface="Times New Roman" pitchFamily="18" charset="0"/>
                <a:cs typeface="Times New Roman" pitchFamily="18" charset="0"/>
              </a:rPr>
              <a:t>About half of our population live within 200 km of the coast</a:t>
            </a:r>
          </a:p>
          <a:p>
            <a:pPr lvl="1" algn="just" eaLnBrk="1" fontAlgn="auto" hangingPunct="1">
              <a:spcAft>
                <a:spcPts val="0"/>
              </a:spcAft>
              <a:buFont typeface="Arial" pitchFamily="34" charset="0"/>
              <a:buChar char="•"/>
              <a:defRPr/>
            </a:pPr>
            <a:r>
              <a:rPr lang="en-US" sz="2400" dirty="0">
                <a:solidFill>
                  <a:schemeClr val="tx1"/>
                </a:solidFill>
                <a:latin typeface="Times New Roman" pitchFamily="18" charset="0"/>
                <a:cs typeface="Times New Roman" pitchFamily="18" charset="0"/>
              </a:rPr>
              <a:t>We eat at least 15 lbs. of seafood per person each year</a:t>
            </a:r>
          </a:p>
          <a:p>
            <a:pPr lvl="1" algn="just" eaLnBrk="1" fontAlgn="auto" hangingPunct="1">
              <a:spcAft>
                <a:spcPts val="0"/>
              </a:spcAft>
              <a:buFont typeface="Arial" pitchFamily="34" charset="0"/>
              <a:buChar char="•"/>
              <a:defRPr/>
            </a:pPr>
            <a:r>
              <a:rPr lang="en-US" sz="2400" dirty="0">
                <a:solidFill>
                  <a:schemeClr val="tx1"/>
                </a:solidFill>
                <a:latin typeface="Times New Roman" pitchFamily="18" charset="0"/>
                <a:cs typeface="Times New Roman" pitchFamily="18" charset="0"/>
              </a:rPr>
              <a:t>Just about everything bought &amp; sold goes through ports in cargo ships</a:t>
            </a:r>
          </a:p>
          <a:p>
            <a:pPr lvl="1" algn="just" eaLnBrk="1" fontAlgn="auto" hangingPunct="1">
              <a:spcAft>
                <a:spcPts val="0"/>
              </a:spcAft>
              <a:buFont typeface="Arial" pitchFamily="34" charset="0"/>
              <a:buChar char="•"/>
              <a:defRPr/>
            </a:pPr>
            <a:r>
              <a:rPr lang="en-US" sz="2400" dirty="0">
                <a:solidFill>
                  <a:schemeClr val="tx1"/>
                </a:solidFill>
                <a:latin typeface="Times New Roman" pitchFamily="18" charset="0"/>
                <a:cs typeface="Times New Roman" pitchFamily="18" charset="0"/>
              </a:rPr>
              <a:t>90% of ocean species live in continental shelf close to land. Each one play vital role for balance of the nature.</a:t>
            </a:r>
          </a:p>
          <a:p>
            <a:pPr lvl="1" algn="just" eaLnBrk="1" fontAlgn="auto" hangingPunct="1">
              <a:spcAft>
                <a:spcPts val="0"/>
              </a:spcAft>
              <a:buFont typeface="Arial" pitchFamily="34" charset="0"/>
              <a:buChar char="•"/>
              <a:defRPr/>
            </a:pPr>
            <a:r>
              <a:rPr lang="en-US" sz="2400" dirty="0">
                <a:solidFill>
                  <a:schemeClr val="tx1"/>
                </a:solidFill>
                <a:latin typeface="Times New Roman" pitchFamily="18" charset="0"/>
                <a:cs typeface="Times New Roman" pitchFamily="18" charset="0"/>
              </a:rPr>
              <a:t>17% of our oil and 25% natural gas come from offshore</a:t>
            </a:r>
          </a:p>
          <a:p>
            <a:pPr eaLnBrk="1" fontAlgn="auto" hangingPunct="1">
              <a:spcAft>
                <a:spcPts val="0"/>
              </a:spcAft>
              <a:buFont typeface="Wingdings 2"/>
              <a:buNone/>
              <a:defRPr/>
            </a:pPr>
            <a:endParaRPr 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0528"/>
    </mc:Choice>
    <mc:Fallback xmlns="">
      <p:transition spd="slow" advTm="4052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434"/>
                                        </p:tgtEl>
                                        <p:attrNameLst>
                                          <p:attrName>style.visibility</p:attrName>
                                        </p:attrNameLst>
                                      </p:cBhvr>
                                      <p:to>
                                        <p:strVal val="visible"/>
                                      </p:to>
                                    </p:set>
                                    <p:animEffect transition="in" filter="fade">
                                      <p:cBhvr>
                                        <p:cTn id="7" dur="1000"/>
                                        <p:tgtEl>
                                          <p:spTgt spid="18434"/>
                                        </p:tgtEl>
                                      </p:cBhvr>
                                    </p:animEffect>
                                    <p:anim calcmode="lin" valueType="num">
                                      <p:cBhvr>
                                        <p:cTn id="8" dur="1000" fill="hold"/>
                                        <p:tgtEl>
                                          <p:spTgt spid="18434"/>
                                        </p:tgtEl>
                                        <p:attrNameLst>
                                          <p:attrName>ppt_x</p:attrName>
                                        </p:attrNameLst>
                                      </p:cBhvr>
                                      <p:tavLst>
                                        <p:tav tm="0">
                                          <p:val>
                                            <p:strVal val="#ppt_x"/>
                                          </p:val>
                                        </p:tav>
                                        <p:tav tm="100000">
                                          <p:val>
                                            <p:strVal val="#ppt_x"/>
                                          </p:val>
                                        </p:tav>
                                      </p:tavLst>
                                    </p:anim>
                                    <p:anim calcmode="lin" valueType="num">
                                      <p:cBhvr>
                                        <p:cTn id="9" dur="1000" fill="hold"/>
                                        <p:tgtEl>
                                          <p:spTgt spid="1843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1000"/>
                                        <p:tgtEl>
                                          <p:spTgt spid="3">
                                            <p:txEl>
                                              <p:pRg st="4" end="4"/>
                                            </p:txEl>
                                          </p:spTgt>
                                        </p:tgtEl>
                                      </p:cBhvr>
                                    </p:animEffect>
                                    <p:anim calcmode="lin" valueType="num">
                                      <p:cBhvr>
                                        <p:cTn id="3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1000"/>
                                        <p:tgtEl>
                                          <p:spTgt spid="3">
                                            <p:txEl>
                                              <p:pRg st="5" end="5"/>
                                            </p:txEl>
                                          </p:spTgt>
                                        </p:tgtEl>
                                      </p:cBhvr>
                                    </p:animEffect>
                                    <p:anim calcmode="lin" valueType="num">
                                      <p:cBhvr>
                                        <p:cTn id="3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B287E62-ECCE-411E-AEE9-EEDFBA7FBEC1}"/>
              </a:ext>
            </a:extLst>
          </p:cNvPr>
          <p:cNvSpPr>
            <a:spLocks noGrp="1"/>
          </p:cNvSpPr>
          <p:nvPr>
            <p:ph type="subTitle" idx="1"/>
          </p:nvPr>
        </p:nvSpPr>
        <p:spPr>
          <a:xfrm>
            <a:off x="1143000" y="533400"/>
            <a:ext cx="7315200" cy="5867400"/>
          </a:xfrm>
        </p:spPr>
        <p:txBody>
          <a:bodyPr>
            <a:normAutofit lnSpcReduction="10000"/>
          </a:bodyPr>
          <a:lstStyle/>
          <a:p>
            <a:pPr algn="ctr" eaLnBrk="1" fontAlgn="auto" hangingPunct="1">
              <a:spcAft>
                <a:spcPts val="0"/>
              </a:spcAft>
              <a:buFont typeface="Wingdings 2"/>
              <a:buNone/>
              <a:defRPr/>
            </a:pPr>
            <a:r>
              <a:rPr lang="en-US" sz="2400" b="1" dirty="0">
                <a:solidFill>
                  <a:schemeClr val="tx1"/>
                </a:solidFill>
                <a:latin typeface="Times New Roman" pitchFamily="18" charset="0"/>
                <a:cs typeface="Times New Roman" pitchFamily="18" charset="0"/>
              </a:rPr>
              <a:t>Effects of Water Pollution </a:t>
            </a:r>
          </a:p>
          <a:p>
            <a:pPr eaLnBrk="1" fontAlgn="auto" hangingPunct="1">
              <a:spcAft>
                <a:spcPts val="0"/>
              </a:spcAft>
              <a:buFont typeface="Wingdings 2"/>
              <a:buNone/>
              <a:defRPr/>
            </a:pPr>
            <a:endParaRPr lang="en-US" sz="2000" dirty="0">
              <a:solidFill>
                <a:schemeClr val="tx1"/>
              </a:solidFill>
              <a:latin typeface="Times New Roman" pitchFamily="18" charset="0"/>
              <a:cs typeface="Times New Roman" pitchFamily="18" charset="0"/>
            </a:endParaRPr>
          </a:p>
          <a:p>
            <a:pPr algn="just" eaLnBrk="1" fontAlgn="auto" hangingPunct="1">
              <a:spcAft>
                <a:spcPts val="0"/>
              </a:spcAft>
              <a:buFont typeface="Wingdings" pitchFamily="2" charset="2"/>
              <a:buChar char="q"/>
              <a:defRPr/>
            </a:pPr>
            <a:r>
              <a:rPr lang="en-US" sz="2000" dirty="0">
                <a:solidFill>
                  <a:schemeClr val="tx1"/>
                </a:solidFill>
                <a:latin typeface="Times New Roman" pitchFamily="18" charset="0"/>
                <a:cs typeface="Times New Roman" pitchFamily="18" charset="0"/>
              </a:rPr>
              <a:t> </a:t>
            </a:r>
            <a:r>
              <a:rPr lang="en-US" sz="2400" dirty="0">
                <a:solidFill>
                  <a:schemeClr val="tx1"/>
                </a:solidFill>
                <a:latin typeface="Times New Roman" pitchFamily="18" charset="0"/>
                <a:cs typeface="Times New Roman" pitchFamily="18" charset="0"/>
              </a:rPr>
              <a:t>Kills life that inhabits water-based ecosystems.  Dead fish, birds, dolphins, and many other animals often found on beaches, killed by pollutants in their habitat.</a:t>
            </a:r>
          </a:p>
          <a:p>
            <a:pPr algn="just" eaLnBrk="1" fontAlgn="auto" hangingPunct="1">
              <a:spcAft>
                <a:spcPts val="0"/>
              </a:spcAft>
              <a:buFont typeface="Wingdings" pitchFamily="2" charset="2"/>
              <a:buChar char="q"/>
              <a:defRPr/>
            </a:pPr>
            <a:r>
              <a:rPr lang="en-US" sz="2400" dirty="0">
                <a:solidFill>
                  <a:schemeClr val="tx1"/>
                </a:solidFill>
                <a:latin typeface="Times New Roman" pitchFamily="18" charset="0"/>
                <a:cs typeface="Times New Roman" pitchFamily="18" charset="0"/>
              </a:rPr>
              <a:t> Pollution disrupts the natural food chain as well.  Pollutants such as lead and cadmium are eaten by tiny animals.  Later, these animals are consumed by fish and shellfish, and the food chain continues to be disrupted at all higher levels.</a:t>
            </a:r>
          </a:p>
          <a:p>
            <a:pPr algn="just" eaLnBrk="1" fontAlgn="auto" hangingPunct="1">
              <a:spcAft>
                <a:spcPts val="0"/>
              </a:spcAft>
              <a:buFont typeface="Wingdings" pitchFamily="2" charset="2"/>
              <a:buChar char="q"/>
              <a:defRPr/>
            </a:pPr>
            <a:r>
              <a:rPr lang="en-US" sz="2400" dirty="0">
                <a:solidFill>
                  <a:schemeClr val="tx1"/>
                </a:solidFill>
                <a:latin typeface="Times New Roman" pitchFamily="18" charset="0"/>
                <a:cs typeface="Times New Roman" pitchFamily="18" charset="0"/>
              </a:rPr>
              <a:t>- Eventually, humans are affected by this process as well.  People can get diseases such as hepatitis by eating seafood that has been poisoned.</a:t>
            </a:r>
          </a:p>
          <a:p>
            <a:pPr algn="just" eaLnBrk="1" fontAlgn="auto" hangingPunct="1">
              <a:spcAft>
                <a:spcPts val="0"/>
              </a:spcAft>
              <a:buFont typeface="Wingdings" pitchFamily="2" charset="2"/>
              <a:buChar char="q"/>
              <a:defRPr/>
            </a:pPr>
            <a:r>
              <a:rPr lang="en-US" sz="2400" dirty="0">
                <a:solidFill>
                  <a:schemeClr val="tx1"/>
                </a:solidFill>
                <a:latin typeface="Times New Roman" pitchFamily="18" charset="0"/>
                <a:cs typeface="Times New Roman" pitchFamily="18" charset="0"/>
              </a:rPr>
              <a:t>- Drinking polluted water can cause cholera or typhoid infections, along with diarrhea.</a:t>
            </a:r>
          </a:p>
          <a:p>
            <a:pPr eaLnBrk="1" fontAlgn="auto" hangingPunct="1">
              <a:spcAft>
                <a:spcPts val="0"/>
              </a:spcAft>
              <a:buFont typeface="Wingdings 2"/>
              <a:buNone/>
              <a:defRPr/>
            </a:pPr>
            <a:endParaRPr lang="en-US" sz="2000"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6749"/>
    </mc:Choice>
    <mc:Fallback xmlns="">
      <p:transition spd="slow" advTm="5674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A8489558-74D3-4C41-A72B-E918C8FA7B40}"/>
              </a:ext>
            </a:extLst>
          </p:cNvPr>
          <p:cNvSpPr>
            <a:spLocks noGrp="1" noChangeArrowheads="1"/>
          </p:cNvSpPr>
          <p:nvPr>
            <p:ph type="title"/>
          </p:nvPr>
        </p:nvSpPr>
        <p:spPr>
          <a:xfrm>
            <a:off x="457200" y="228600"/>
            <a:ext cx="8153400" cy="609600"/>
          </a:xfrm>
        </p:spPr>
        <p:txBody>
          <a:bodyPr>
            <a:normAutofit fontScale="90000"/>
          </a:bodyPr>
          <a:lstStyle/>
          <a:p>
            <a:pPr algn="ctr" eaLnBrk="1" fontAlgn="auto" hangingPunct="1">
              <a:spcAft>
                <a:spcPts val="0"/>
              </a:spcAft>
              <a:defRPr/>
            </a:pPr>
            <a:r>
              <a:rPr lang="en-US" sz="3600" dirty="0">
                <a:solidFill>
                  <a:schemeClr val="tx1"/>
                </a:solidFill>
                <a:latin typeface="Garamond" pitchFamily="18" charset="0"/>
              </a:rPr>
              <a:t>Measures to control water pollution</a:t>
            </a:r>
          </a:p>
        </p:txBody>
      </p:sp>
      <p:sp>
        <p:nvSpPr>
          <p:cNvPr id="20483" name="Rectangle 3">
            <a:extLst>
              <a:ext uri="{FF2B5EF4-FFF2-40B4-BE49-F238E27FC236}">
                <a16:creationId xmlns:a16="http://schemas.microsoft.com/office/drawing/2014/main" id="{D3187143-AE03-492E-B34E-CB7FDE85D1BE}"/>
              </a:ext>
            </a:extLst>
          </p:cNvPr>
          <p:cNvSpPr>
            <a:spLocks noGrp="1"/>
          </p:cNvSpPr>
          <p:nvPr>
            <p:ph idx="1"/>
          </p:nvPr>
        </p:nvSpPr>
        <p:spPr>
          <a:xfrm>
            <a:off x="990600" y="1676400"/>
            <a:ext cx="7924800" cy="5334000"/>
          </a:xfrm>
        </p:spPr>
        <p:txBody>
          <a:bodyPr/>
          <a:lstStyle/>
          <a:p>
            <a:pPr algn="just" eaLnBrk="1" hangingPunct="1"/>
            <a:r>
              <a:rPr lang="en-US" altLang="en-US" sz="2800" dirty="0">
                <a:latin typeface="Garamond" panose="02020404030301010803" pitchFamily="18" charset="0"/>
              </a:rPr>
              <a:t>Pollution can be reduced by providing suitable facilities for collection, treatment and disposal of domestic waste.</a:t>
            </a:r>
          </a:p>
          <a:p>
            <a:pPr algn="just" eaLnBrk="1" hangingPunct="1"/>
            <a:r>
              <a:rPr lang="en-US" altLang="en-US" sz="2800" dirty="0">
                <a:latin typeface="Garamond" panose="02020404030301010803" pitchFamily="18" charset="0"/>
              </a:rPr>
              <a:t>Adopting modern technologies in industries that use less water.</a:t>
            </a:r>
          </a:p>
          <a:p>
            <a:pPr algn="just" eaLnBrk="1" hangingPunct="1"/>
            <a:r>
              <a:rPr lang="en-US" altLang="en-US" sz="2800" dirty="0">
                <a:latin typeface="Garamond" panose="02020404030301010803" pitchFamily="18" charset="0"/>
              </a:rPr>
              <a:t>Reusing and recycling industrial waste water.</a:t>
            </a:r>
          </a:p>
          <a:p>
            <a:pPr algn="just" eaLnBrk="1" hangingPunct="1"/>
            <a:r>
              <a:rPr lang="en-US" altLang="en-US" sz="2800" dirty="0">
                <a:latin typeface="Garamond" panose="02020404030301010803" pitchFamily="18" charset="0"/>
              </a:rPr>
              <a:t>Preventing wild dumping of solid and liquid waste on land.</a:t>
            </a:r>
          </a:p>
          <a:p>
            <a:pPr algn="just" eaLnBrk="1" hangingPunct="1"/>
            <a:r>
              <a:rPr lang="en-US" altLang="en-US" sz="2800" dirty="0">
                <a:latin typeface="Garamond" panose="02020404030301010803" pitchFamily="18" charset="0"/>
              </a:rPr>
              <a:t>Proving proper sanitation facilities at urban and rural areas.</a:t>
            </a:r>
          </a:p>
          <a:p>
            <a:pPr eaLnBrk="1" hangingPunct="1">
              <a:buFont typeface="Wingdings" panose="05000000000000000000" pitchFamily="2" charset="2"/>
              <a:buNone/>
            </a:pPr>
            <a:endParaRPr lang="en-US" altLang="en-US" sz="2800" dirty="0">
              <a:latin typeface="Garamond" panose="02020404030301010803" pitchFamily="18" charset="0"/>
            </a:endParaRPr>
          </a:p>
          <a:p>
            <a:pPr eaLnBrk="1" hangingPunct="1">
              <a:buFont typeface="Wingdings" panose="05000000000000000000" pitchFamily="2" charset="2"/>
              <a:buNone/>
            </a:pPr>
            <a:endParaRPr lang="en-US" altLang="en-US" sz="2400" dirty="0">
              <a:latin typeface="Garamond" panose="02020404030301010803" pitchFamily="18"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5494"/>
    </mc:Choice>
    <mc:Fallback xmlns="">
      <p:transition spd="slow" advTm="4549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1986"/>
                                        </p:tgtEl>
                                        <p:attrNameLst>
                                          <p:attrName>style.visibility</p:attrName>
                                        </p:attrNameLst>
                                      </p:cBhvr>
                                      <p:to>
                                        <p:strVal val="visible"/>
                                      </p:to>
                                    </p:set>
                                    <p:animEffect transition="in" filter="fade">
                                      <p:cBhvr>
                                        <p:cTn id="7" dur="1000"/>
                                        <p:tgtEl>
                                          <p:spTgt spid="41986"/>
                                        </p:tgtEl>
                                      </p:cBhvr>
                                    </p:animEffect>
                                    <p:anim calcmode="lin" valueType="num">
                                      <p:cBhvr>
                                        <p:cTn id="8" dur="1000" fill="hold"/>
                                        <p:tgtEl>
                                          <p:spTgt spid="41986"/>
                                        </p:tgtEl>
                                        <p:attrNameLst>
                                          <p:attrName>ppt_x</p:attrName>
                                        </p:attrNameLst>
                                      </p:cBhvr>
                                      <p:tavLst>
                                        <p:tav tm="0">
                                          <p:val>
                                            <p:strVal val="#ppt_x"/>
                                          </p:val>
                                        </p:tav>
                                        <p:tav tm="100000">
                                          <p:val>
                                            <p:strVal val="#ppt_x"/>
                                          </p:val>
                                        </p:tav>
                                      </p:tavLst>
                                    </p:anim>
                                    <p:anim calcmode="lin" valueType="num">
                                      <p:cBhvr>
                                        <p:cTn id="9" dur="1000" fill="hold"/>
                                        <p:tgtEl>
                                          <p:spTgt spid="4198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0483">
                                            <p:txEl>
                                              <p:pRg st="0" end="0"/>
                                            </p:txEl>
                                          </p:spTgt>
                                        </p:tgtEl>
                                        <p:attrNameLst>
                                          <p:attrName>style.visibility</p:attrName>
                                        </p:attrNameLst>
                                      </p:cBhvr>
                                      <p:to>
                                        <p:strVal val="visible"/>
                                      </p:to>
                                    </p:set>
                                    <p:animEffect transition="in" filter="fade">
                                      <p:cBhvr>
                                        <p:cTn id="14" dur="1000"/>
                                        <p:tgtEl>
                                          <p:spTgt spid="20483">
                                            <p:txEl>
                                              <p:pRg st="0" end="0"/>
                                            </p:txEl>
                                          </p:spTgt>
                                        </p:tgtEl>
                                      </p:cBhvr>
                                    </p:animEffect>
                                    <p:anim calcmode="lin" valueType="num">
                                      <p:cBhvr>
                                        <p:cTn id="15" dur="1000" fill="hold"/>
                                        <p:tgtEl>
                                          <p:spTgt spid="2048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048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0483">
                                            <p:txEl>
                                              <p:pRg st="1" end="1"/>
                                            </p:txEl>
                                          </p:spTgt>
                                        </p:tgtEl>
                                        <p:attrNameLst>
                                          <p:attrName>style.visibility</p:attrName>
                                        </p:attrNameLst>
                                      </p:cBhvr>
                                      <p:to>
                                        <p:strVal val="visible"/>
                                      </p:to>
                                    </p:set>
                                    <p:animEffect transition="in" filter="fade">
                                      <p:cBhvr>
                                        <p:cTn id="21" dur="1000"/>
                                        <p:tgtEl>
                                          <p:spTgt spid="20483">
                                            <p:txEl>
                                              <p:pRg st="1" end="1"/>
                                            </p:txEl>
                                          </p:spTgt>
                                        </p:tgtEl>
                                      </p:cBhvr>
                                    </p:animEffect>
                                    <p:anim calcmode="lin" valueType="num">
                                      <p:cBhvr>
                                        <p:cTn id="22" dur="1000" fill="hold"/>
                                        <p:tgtEl>
                                          <p:spTgt spid="2048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048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0483">
                                            <p:txEl>
                                              <p:pRg st="2" end="2"/>
                                            </p:txEl>
                                          </p:spTgt>
                                        </p:tgtEl>
                                        <p:attrNameLst>
                                          <p:attrName>style.visibility</p:attrName>
                                        </p:attrNameLst>
                                      </p:cBhvr>
                                      <p:to>
                                        <p:strVal val="visible"/>
                                      </p:to>
                                    </p:set>
                                    <p:animEffect transition="in" filter="fade">
                                      <p:cBhvr>
                                        <p:cTn id="28" dur="1000"/>
                                        <p:tgtEl>
                                          <p:spTgt spid="20483">
                                            <p:txEl>
                                              <p:pRg st="2" end="2"/>
                                            </p:txEl>
                                          </p:spTgt>
                                        </p:tgtEl>
                                      </p:cBhvr>
                                    </p:animEffect>
                                    <p:anim calcmode="lin" valueType="num">
                                      <p:cBhvr>
                                        <p:cTn id="29" dur="1000" fill="hold"/>
                                        <p:tgtEl>
                                          <p:spTgt spid="2048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048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0483">
                                            <p:txEl>
                                              <p:pRg st="3" end="3"/>
                                            </p:txEl>
                                          </p:spTgt>
                                        </p:tgtEl>
                                        <p:attrNameLst>
                                          <p:attrName>style.visibility</p:attrName>
                                        </p:attrNameLst>
                                      </p:cBhvr>
                                      <p:to>
                                        <p:strVal val="visible"/>
                                      </p:to>
                                    </p:set>
                                    <p:animEffect transition="in" filter="fade">
                                      <p:cBhvr>
                                        <p:cTn id="35" dur="1000"/>
                                        <p:tgtEl>
                                          <p:spTgt spid="20483">
                                            <p:txEl>
                                              <p:pRg st="3" end="3"/>
                                            </p:txEl>
                                          </p:spTgt>
                                        </p:tgtEl>
                                      </p:cBhvr>
                                    </p:animEffect>
                                    <p:anim calcmode="lin" valueType="num">
                                      <p:cBhvr>
                                        <p:cTn id="36" dur="1000" fill="hold"/>
                                        <p:tgtEl>
                                          <p:spTgt spid="2048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048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0483">
                                            <p:txEl>
                                              <p:pRg st="4" end="4"/>
                                            </p:txEl>
                                          </p:spTgt>
                                        </p:tgtEl>
                                        <p:attrNameLst>
                                          <p:attrName>style.visibility</p:attrName>
                                        </p:attrNameLst>
                                      </p:cBhvr>
                                      <p:to>
                                        <p:strVal val="visible"/>
                                      </p:to>
                                    </p:set>
                                    <p:animEffect transition="in" filter="fade">
                                      <p:cBhvr>
                                        <p:cTn id="42" dur="1000"/>
                                        <p:tgtEl>
                                          <p:spTgt spid="20483">
                                            <p:txEl>
                                              <p:pRg st="4" end="4"/>
                                            </p:txEl>
                                          </p:spTgt>
                                        </p:tgtEl>
                                      </p:cBhvr>
                                    </p:animEffect>
                                    <p:anim calcmode="lin" valueType="num">
                                      <p:cBhvr>
                                        <p:cTn id="43" dur="1000" fill="hold"/>
                                        <p:tgtEl>
                                          <p:spTgt spid="20483">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048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6" grpId="0"/>
      <p:bldP spid="2048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BA925AF3-6A58-4459-8A99-D45918DAF51D}"/>
              </a:ext>
            </a:extLst>
          </p:cNvPr>
          <p:cNvSpPr>
            <a:spLocks noGrp="1" noChangeArrowheads="1"/>
          </p:cNvSpPr>
          <p:nvPr>
            <p:ph type="title"/>
          </p:nvPr>
        </p:nvSpPr>
        <p:spPr>
          <a:xfrm>
            <a:off x="914400" y="782715"/>
            <a:ext cx="7543800" cy="685800"/>
          </a:xfrm>
        </p:spPr>
        <p:txBody>
          <a:bodyPr/>
          <a:lstStyle/>
          <a:p>
            <a:pPr algn="ctr" eaLnBrk="1" fontAlgn="auto" hangingPunct="1">
              <a:spcAft>
                <a:spcPts val="0"/>
              </a:spcAft>
              <a:defRPr/>
            </a:pPr>
            <a:r>
              <a:rPr lang="en-US" sz="3600" dirty="0">
                <a:solidFill>
                  <a:schemeClr val="tx1"/>
                </a:solidFill>
                <a:latin typeface="Garamond" pitchFamily="18" charset="0"/>
              </a:rPr>
              <a:t>Land or soil pollution</a:t>
            </a:r>
          </a:p>
        </p:txBody>
      </p:sp>
      <p:sp>
        <p:nvSpPr>
          <p:cNvPr id="21507" name="Rectangle 3">
            <a:extLst>
              <a:ext uri="{FF2B5EF4-FFF2-40B4-BE49-F238E27FC236}">
                <a16:creationId xmlns:a16="http://schemas.microsoft.com/office/drawing/2014/main" id="{FC1FCC64-0BDB-47F0-ACC7-D529876A5035}"/>
              </a:ext>
            </a:extLst>
          </p:cNvPr>
          <p:cNvSpPr>
            <a:spLocks noGrp="1"/>
          </p:cNvSpPr>
          <p:nvPr>
            <p:ph idx="1"/>
          </p:nvPr>
        </p:nvSpPr>
        <p:spPr>
          <a:xfrm>
            <a:off x="1066800" y="1371600"/>
            <a:ext cx="7543800" cy="4724400"/>
          </a:xfrm>
        </p:spPr>
        <p:txBody>
          <a:bodyPr/>
          <a:lstStyle/>
          <a:p>
            <a:pPr algn="just" eaLnBrk="1" hangingPunct="1">
              <a:buFont typeface="Wingdings" panose="05000000000000000000" pitchFamily="2" charset="2"/>
              <a:buNone/>
            </a:pPr>
            <a:r>
              <a:rPr lang="en-US" altLang="en-US" dirty="0">
                <a:latin typeface="Garamond" panose="02020404030301010803" pitchFamily="18" charset="0"/>
              </a:rPr>
              <a:t>   Dumping of solid wastes and waste water alter the structure, density, fertility of the soil and kill the microorganisms that exist in the land mass. Land pollution not only makes the soil unfit  for use  also become a source of ground water pollution.</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7053"/>
    </mc:Choice>
    <mc:Fallback xmlns="">
      <p:transition spd="slow" advTm="2705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4034"/>
                                        </p:tgtEl>
                                        <p:attrNameLst>
                                          <p:attrName>style.visibility</p:attrName>
                                        </p:attrNameLst>
                                      </p:cBhvr>
                                      <p:to>
                                        <p:strVal val="visible"/>
                                      </p:to>
                                    </p:set>
                                    <p:animEffect transition="in" filter="fade">
                                      <p:cBhvr>
                                        <p:cTn id="7" dur="1000"/>
                                        <p:tgtEl>
                                          <p:spTgt spid="44034"/>
                                        </p:tgtEl>
                                      </p:cBhvr>
                                    </p:animEffect>
                                    <p:anim calcmode="lin" valueType="num">
                                      <p:cBhvr>
                                        <p:cTn id="8" dur="1000" fill="hold"/>
                                        <p:tgtEl>
                                          <p:spTgt spid="44034"/>
                                        </p:tgtEl>
                                        <p:attrNameLst>
                                          <p:attrName>ppt_x</p:attrName>
                                        </p:attrNameLst>
                                      </p:cBhvr>
                                      <p:tavLst>
                                        <p:tav tm="0">
                                          <p:val>
                                            <p:strVal val="#ppt_x"/>
                                          </p:val>
                                        </p:tav>
                                        <p:tav tm="100000">
                                          <p:val>
                                            <p:strVal val="#ppt_x"/>
                                          </p:val>
                                        </p:tav>
                                      </p:tavLst>
                                    </p:anim>
                                    <p:anim calcmode="lin" valueType="num">
                                      <p:cBhvr>
                                        <p:cTn id="9" dur="1000" fill="hold"/>
                                        <p:tgtEl>
                                          <p:spTgt spid="4403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1507">
                                            <p:txEl>
                                              <p:pRg st="0" end="0"/>
                                            </p:txEl>
                                          </p:spTgt>
                                        </p:tgtEl>
                                        <p:attrNameLst>
                                          <p:attrName>style.visibility</p:attrName>
                                        </p:attrNameLst>
                                      </p:cBhvr>
                                      <p:to>
                                        <p:strVal val="visible"/>
                                      </p:to>
                                    </p:set>
                                    <p:animEffect transition="in" filter="fade">
                                      <p:cBhvr>
                                        <p:cTn id="14" dur="1000"/>
                                        <p:tgtEl>
                                          <p:spTgt spid="21507">
                                            <p:txEl>
                                              <p:pRg st="0" end="0"/>
                                            </p:txEl>
                                          </p:spTgt>
                                        </p:tgtEl>
                                      </p:cBhvr>
                                    </p:animEffect>
                                    <p:anim calcmode="lin" valueType="num">
                                      <p:cBhvr>
                                        <p:cTn id="15" dur="1000" fill="hold"/>
                                        <p:tgtEl>
                                          <p:spTgt spid="2150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150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4" grpId="0"/>
      <p:bldP spid="21507"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E4626795-AB48-4FDD-B401-7EAFFE767299}"/>
              </a:ext>
            </a:extLst>
          </p:cNvPr>
          <p:cNvSpPr>
            <a:spLocks noGrp="1" noChangeArrowheads="1"/>
          </p:cNvSpPr>
          <p:nvPr>
            <p:ph type="title"/>
          </p:nvPr>
        </p:nvSpPr>
        <p:spPr>
          <a:xfrm>
            <a:off x="838200" y="762000"/>
            <a:ext cx="7543800" cy="685800"/>
          </a:xfrm>
        </p:spPr>
        <p:txBody>
          <a:bodyPr/>
          <a:lstStyle/>
          <a:p>
            <a:pPr algn="ctr" eaLnBrk="1" fontAlgn="auto" hangingPunct="1">
              <a:spcAft>
                <a:spcPts val="0"/>
              </a:spcAft>
              <a:defRPr/>
            </a:pPr>
            <a:r>
              <a:rPr lang="en-US" sz="3600" dirty="0">
                <a:solidFill>
                  <a:schemeClr val="tx1"/>
                </a:solidFill>
                <a:latin typeface="Garamond" pitchFamily="18" charset="0"/>
              </a:rPr>
              <a:t>Causes of land pollution</a:t>
            </a:r>
          </a:p>
        </p:txBody>
      </p:sp>
      <p:sp>
        <p:nvSpPr>
          <p:cNvPr id="22531" name="Rectangle 3">
            <a:extLst>
              <a:ext uri="{FF2B5EF4-FFF2-40B4-BE49-F238E27FC236}">
                <a16:creationId xmlns:a16="http://schemas.microsoft.com/office/drawing/2014/main" id="{AD98BF42-4039-46AD-B9F5-8AC43A6EC0E6}"/>
              </a:ext>
            </a:extLst>
          </p:cNvPr>
          <p:cNvSpPr>
            <a:spLocks noGrp="1"/>
          </p:cNvSpPr>
          <p:nvPr>
            <p:ph idx="1"/>
          </p:nvPr>
        </p:nvSpPr>
        <p:spPr>
          <a:xfrm>
            <a:off x="838200" y="1371600"/>
            <a:ext cx="7772400" cy="4724400"/>
          </a:xfrm>
        </p:spPr>
        <p:txBody>
          <a:bodyPr/>
          <a:lstStyle/>
          <a:p>
            <a:pPr algn="just" eaLnBrk="1" hangingPunct="1"/>
            <a:r>
              <a:rPr lang="en-US" altLang="en-US" sz="2800" dirty="0">
                <a:latin typeface="Garamond" panose="02020404030301010803" pitchFamily="18" charset="0"/>
              </a:rPr>
              <a:t>Discharge of liquid effluents from domestic and industrial activities on land</a:t>
            </a:r>
          </a:p>
          <a:p>
            <a:pPr algn="just" eaLnBrk="1" hangingPunct="1"/>
            <a:r>
              <a:rPr lang="en-US" altLang="en-US" sz="2800" dirty="0">
                <a:latin typeface="Garamond" panose="02020404030301010803" pitchFamily="18" charset="0"/>
              </a:rPr>
              <a:t>Dumping of solid refuse resulting from domestic, industrial, agricultural and health care activities</a:t>
            </a:r>
          </a:p>
          <a:p>
            <a:pPr algn="just" eaLnBrk="1" hangingPunct="1"/>
            <a:r>
              <a:rPr lang="en-US" altLang="en-US" sz="2800" dirty="0">
                <a:latin typeface="Garamond" panose="02020404030301010803" pitchFamily="18" charset="0"/>
              </a:rPr>
              <a:t>Mining activities</a:t>
            </a:r>
          </a:p>
          <a:p>
            <a:pPr algn="just" eaLnBrk="1" hangingPunct="1"/>
            <a:r>
              <a:rPr lang="en-US" altLang="en-US" sz="2800" dirty="0">
                <a:latin typeface="Garamond" panose="02020404030301010803" pitchFamily="18" charset="0"/>
              </a:rPr>
              <a:t>Agricultural activities</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1940"/>
    </mc:Choice>
    <mc:Fallback xmlns="">
      <p:transition spd="slow" advTm="3194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5058"/>
                                        </p:tgtEl>
                                        <p:attrNameLst>
                                          <p:attrName>style.visibility</p:attrName>
                                        </p:attrNameLst>
                                      </p:cBhvr>
                                      <p:to>
                                        <p:strVal val="visible"/>
                                      </p:to>
                                    </p:set>
                                    <p:animEffect transition="in" filter="fade">
                                      <p:cBhvr>
                                        <p:cTn id="7" dur="1000"/>
                                        <p:tgtEl>
                                          <p:spTgt spid="45058"/>
                                        </p:tgtEl>
                                      </p:cBhvr>
                                    </p:animEffect>
                                    <p:anim calcmode="lin" valueType="num">
                                      <p:cBhvr>
                                        <p:cTn id="8" dur="1000" fill="hold"/>
                                        <p:tgtEl>
                                          <p:spTgt spid="45058"/>
                                        </p:tgtEl>
                                        <p:attrNameLst>
                                          <p:attrName>ppt_x</p:attrName>
                                        </p:attrNameLst>
                                      </p:cBhvr>
                                      <p:tavLst>
                                        <p:tav tm="0">
                                          <p:val>
                                            <p:strVal val="#ppt_x"/>
                                          </p:val>
                                        </p:tav>
                                        <p:tav tm="100000">
                                          <p:val>
                                            <p:strVal val="#ppt_x"/>
                                          </p:val>
                                        </p:tav>
                                      </p:tavLst>
                                    </p:anim>
                                    <p:anim calcmode="lin" valueType="num">
                                      <p:cBhvr>
                                        <p:cTn id="9" dur="1000" fill="hold"/>
                                        <p:tgtEl>
                                          <p:spTgt spid="4505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2531">
                                            <p:txEl>
                                              <p:pRg st="0" end="0"/>
                                            </p:txEl>
                                          </p:spTgt>
                                        </p:tgtEl>
                                        <p:attrNameLst>
                                          <p:attrName>style.visibility</p:attrName>
                                        </p:attrNameLst>
                                      </p:cBhvr>
                                      <p:to>
                                        <p:strVal val="visible"/>
                                      </p:to>
                                    </p:set>
                                    <p:animEffect transition="in" filter="fade">
                                      <p:cBhvr>
                                        <p:cTn id="14" dur="1000"/>
                                        <p:tgtEl>
                                          <p:spTgt spid="22531">
                                            <p:txEl>
                                              <p:pRg st="0" end="0"/>
                                            </p:txEl>
                                          </p:spTgt>
                                        </p:tgtEl>
                                      </p:cBhvr>
                                    </p:animEffect>
                                    <p:anim calcmode="lin" valueType="num">
                                      <p:cBhvr>
                                        <p:cTn id="15" dur="1000" fill="hold"/>
                                        <p:tgtEl>
                                          <p:spTgt spid="22531">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253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2531">
                                            <p:txEl>
                                              <p:pRg st="1" end="1"/>
                                            </p:txEl>
                                          </p:spTgt>
                                        </p:tgtEl>
                                        <p:attrNameLst>
                                          <p:attrName>style.visibility</p:attrName>
                                        </p:attrNameLst>
                                      </p:cBhvr>
                                      <p:to>
                                        <p:strVal val="visible"/>
                                      </p:to>
                                    </p:set>
                                    <p:anim calcmode="lin" valueType="num">
                                      <p:cBhvr additive="base">
                                        <p:cTn id="21" dur="500" fill="hold"/>
                                        <p:tgtEl>
                                          <p:spTgt spid="22531">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253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2531">
                                            <p:txEl>
                                              <p:pRg st="2" end="2"/>
                                            </p:txEl>
                                          </p:spTgt>
                                        </p:tgtEl>
                                        <p:attrNameLst>
                                          <p:attrName>style.visibility</p:attrName>
                                        </p:attrNameLst>
                                      </p:cBhvr>
                                      <p:to>
                                        <p:strVal val="visible"/>
                                      </p:to>
                                    </p:set>
                                    <p:anim calcmode="lin" valueType="num">
                                      <p:cBhvr additive="base">
                                        <p:cTn id="27" dur="500" fill="hold"/>
                                        <p:tgtEl>
                                          <p:spTgt spid="22531">
                                            <p:txEl>
                                              <p:pRg st="2" end="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253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22531">
                                            <p:txEl>
                                              <p:pRg st="3" end="3"/>
                                            </p:txEl>
                                          </p:spTgt>
                                        </p:tgtEl>
                                        <p:attrNameLst>
                                          <p:attrName>style.visibility</p:attrName>
                                        </p:attrNameLst>
                                      </p:cBhvr>
                                      <p:to>
                                        <p:strVal val="visible"/>
                                      </p:to>
                                    </p:set>
                                    <p:anim calcmode="lin" valueType="num">
                                      <p:cBhvr additive="base">
                                        <p:cTn id="33" dur="500" fill="hold"/>
                                        <p:tgtEl>
                                          <p:spTgt spid="22531">
                                            <p:txEl>
                                              <p:pRg st="3" end="3"/>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253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2">
            <a:extLst>
              <a:ext uri="{FF2B5EF4-FFF2-40B4-BE49-F238E27FC236}">
                <a16:creationId xmlns:a16="http://schemas.microsoft.com/office/drawing/2014/main" id="{681D74E4-AD52-44E1-8A21-EAC952727109}"/>
              </a:ext>
            </a:extLst>
          </p:cNvPr>
          <p:cNvSpPr>
            <a:spLocks noGrp="1"/>
          </p:cNvSpPr>
          <p:nvPr>
            <p:ph idx="1"/>
          </p:nvPr>
        </p:nvSpPr>
        <p:spPr>
          <a:xfrm>
            <a:off x="990600" y="533400"/>
            <a:ext cx="7772400" cy="5943600"/>
          </a:xfrm>
        </p:spPr>
        <p:txBody>
          <a:bodyPr/>
          <a:lstStyle/>
          <a:p>
            <a:pPr eaLnBrk="1" hangingPunct="1">
              <a:buFont typeface="Wingdings" panose="05000000000000000000" pitchFamily="2" charset="2"/>
              <a:buNone/>
            </a:pPr>
            <a:r>
              <a:rPr lang="en-US" altLang="en-US" sz="2800" dirty="0">
                <a:latin typeface="Times New Roman" panose="02020603050405020304" pitchFamily="18" charset="0"/>
                <a:cs typeface="Times New Roman" panose="02020603050405020304" pitchFamily="18" charset="0"/>
              </a:rPr>
              <a:t>Effects of Land Pollution</a:t>
            </a:r>
          </a:p>
          <a:p>
            <a:pPr eaLnBrk="1" hangingPunct="1">
              <a:buFont typeface="Wingdings" panose="05000000000000000000" pitchFamily="2" charset="2"/>
              <a:buNone/>
            </a:pPr>
            <a:endParaRPr lang="en-US" altLang="en-US" sz="2400" dirty="0">
              <a:latin typeface="Times New Roman" panose="02020603050405020304" pitchFamily="18" charset="0"/>
              <a:cs typeface="Times New Roman" panose="02020603050405020304" pitchFamily="18" charset="0"/>
            </a:endParaRPr>
          </a:p>
          <a:p>
            <a:pPr eaLnBrk="1" hangingPunct="1"/>
            <a:r>
              <a:rPr lang="en-US" altLang="en-US" sz="2400" dirty="0">
                <a:latin typeface="Times New Roman" panose="02020603050405020304" pitchFamily="18" charset="0"/>
                <a:cs typeface="Times New Roman" panose="02020603050405020304" pitchFamily="18" charset="0"/>
              </a:rPr>
              <a:t>Risk of seeping into the ground water causing contamination – affect plant &amp; animal</a:t>
            </a:r>
          </a:p>
          <a:p>
            <a:pPr eaLnBrk="1" hangingPunct="1"/>
            <a:r>
              <a:rPr lang="en-US" altLang="en-US" sz="2400" dirty="0">
                <a:latin typeface="Times New Roman" panose="02020603050405020304" pitchFamily="18" charset="0"/>
                <a:cs typeface="Times New Roman" panose="02020603050405020304" pitchFamily="18" charset="0"/>
              </a:rPr>
              <a:t>Runoff from contaminated land can lead to water pollution </a:t>
            </a:r>
          </a:p>
          <a:p>
            <a:pPr eaLnBrk="1" hangingPunct="1"/>
            <a:r>
              <a:rPr lang="en-US" altLang="en-US" sz="2400" dirty="0">
                <a:latin typeface="Times New Roman" panose="02020603050405020304" pitchFamily="18" charset="0"/>
                <a:cs typeface="Times New Roman" panose="02020603050405020304" pitchFamily="18" charset="0"/>
              </a:rPr>
              <a:t>Land may become unfit for crop production</a:t>
            </a:r>
          </a:p>
          <a:p>
            <a:pPr eaLnBrk="1" hangingPunct="1"/>
            <a:r>
              <a:rPr lang="en-US" altLang="en-US" sz="2400" dirty="0">
                <a:latin typeface="Times New Roman" panose="02020603050405020304" pitchFamily="18" charset="0"/>
                <a:cs typeface="Times New Roman" panose="02020603050405020304" pitchFamily="18" charset="0"/>
              </a:rPr>
              <a:t>Toxins may contaminate food chain &amp; ultimately enter human body causing disease </a:t>
            </a:r>
          </a:p>
          <a:p>
            <a:pPr eaLnBrk="1" hangingPunct="1"/>
            <a:endParaRPr lang="en-US" altLang="en-US" sz="2000" dirty="0"/>
          </a:p>
          <a:p>
            <a:pPr eaLnBrk="1" hangingPunct="1"/>
            <a:endParaRPr lang="en-US" altLang="en-US" sz="2000"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8600"/>
    </mc:Choice>
    <mc:Fallback xmlns="">
      <p:transition spd="slow" advTm="286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3554">
                                            <p:txEl>
                                              <p:pRg st="0" end="0"/>
                                            </p:txEl>
                                          </p:spTgt>
                                        </p:tgtEl>
                                        <p:attrNameLst>
                                          <p:attrName>style.visibility</p:attrName>
                                        </p:attrNameLst>
                                      </p:cBhvr>
                                      <p:to>
                                        <p:strVal val="visible"/>
                                      </p:to>
                                    </p:set>
                                    <p:animEffect transition="in" filter="fade">
                                      <p:cBhvr>
                                        <p:cTn id="7" dur="1000"/>
                                        <p:tgtEl>
                                          <p:spTgt spid="23554">
                                            <p:txEl>
                                              <p:pRg st="0" end="0"/>
                                            </p:txEl>
                                          </p:spTgt>
                                        </p:tgtEl>
                                      </p:cBhvr>
                                    </p:animEffect>
                                    <p:anim calcmode="lin" valueType="num">
                                      <p:cBhvr>
                                        <p:cTn id="8" dur="1000" fill="hold"/>
                                        <p:tgtEl>
                                          <p:spTgt spid="2355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355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3554">
                                            <p:txEl>
                                              <p:pRg st="2" end="2"/>
                                            </p:txEl>
                                          </p:spTgt>
                                        </p:tgtEl>
                                        <p:attrNameLst>
                                          <p:attrName>style.visibility</p:attrName>
                                        </p:attrNameLst>
                                      </p:cBhvr>
                                      <p:to>
                                        <p:strVal val="visible"/>
                                      </p:to>
                                    </p:set>
                                    <p:animEffect transition="in" filter="fade">
                                      <p:cBhvr>
                                        <p:cTn id="14" dur="1000"/>
                                        <p:tgtEl>
                                          <p:spTgt spid="23554">
                                            <p:txEl>
                                              <p:pRg st="2" end="2"/>
                                            </p:txEl>
                                          </p:spTgt>
                                        </p:tgtEl>
                                      </p:cBhvr>
                                    </p:animEffect>
                                    <p:anim calcmode="lin" valueType="num">
                                      <p:cBhvr>
                                        <p:cTn id="15" dur="1000" fill="hold"/>
                                        <p:tgtEl>
                                          <p:spTgt spid="2355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2355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3554">
                                            <p:txEl>
                                              <p:pRg st="3" end="3"/>
                                            </p:txEl>
                                          </p:spTgt>
                                        </p:tgtEl>
                                        <p:attrNameLst>
                                          <p:attrName>style.visibility</p:attrName>
                                        </p:attrNameLst>
                                      </p:cBhvr>
                                      <p:to>
                                        <p:strVal val="visible"/>
                                      </p:to>
                                    </p:set>
                                    <p:animEffect transition="in" filter="fade">
                                      <p:cBhvr>
                                        <p:cTn id="21" dur="1000"/>
                                        <p:tgtEl>
                                          <p:spTgt spid="23554">
                                            <p:txEl>
                                              <p:pRg st="3" end="3"/>
                                            </p:txEl>
                                          </p:spTgt>
                                        </p:tgtEl>
                                      </p:cBhvr>
                                    </p:animEffect>
                                    <p:anim calcmode="lin" valueType="num">
                                      <p:cBhvr>
                                        <p:cTn id="22" dur="1000" fill="hold"/>
                                        <p:tgtEl>
                                          <p:spTgt spid="23554">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2355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3554">
                                            <p:txEl>
                                              <p:pRg st="4" end="4"/>
                                            </p:txEl>
                                          </p:spTgt>
                                        </p:tgtEl>
                                        <p:attrNameLst>
                                          <p:attrName>style.visibility</p:attrName>
                                        </p:attrNameLst>
                                      </p:cBhvr>
                                      <p:to>
                                        <p:strVal val="visible"/>
                                      </p:to>
                                    </p:set>
                                    <p:animEffect transition="in" filter="fade">
                                      <p:cBhvr>
                                        <p:cTn id="28" dur="1000"/>
                                        <p:tgtEl>
                                          <p:spTgt spid="23554">
                                            <p:txEl>
                                              <p:pRg st="4" end="4"/>
                                            </p:txEl>
                                          </p:spTgt>
                                        </p:tgtEl>
                                      </p:cBhvr>
                                    </p:animEffect>
                                    <p:anim calcmode="lin" valueType="num">
                                      <p:cBhvr>
                                        <p:cTn id="29" dur="1000" fill="hold"/>
                                        <p:tgtEl>
                                          <p:spTgt spid="23554">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2355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3554">
                                            <p:txEl>
                                              <p:pRg st="5" end="5"/>
                                            </p:txEl>
                                          </p:spTgt>
                                        </p:tgtEl>
                                        <p:attrNameLst>
                                          <p:attrName>style.visibility</p:attrName>
                                        </p:attrNameLst>
                                      </p:cBhvr>
                                      <p:to>
                                        <p:strVal val="visible"/>
                                      </p:to>
                                    </p:set>
                                    <p:animEffect transition="in" filter="fade">
                                      <p:cBhvr>
                                        <p:cTn id="35" dur="1000"/>
                                        <p:tgtEl>
                                          <p:spTgt spid="23554">
                                            <p:txEl>
                                              <p:pRg st="5" end="5"/>
                                            </p:txEl>
                                          </p:spTgt>
                                        </p:tgtEl>
                                      </p:cBhvr>
                                    </p:animEffect>
                                    <p:anim calcmode="lin" valueType="num">
                                      <p:cBhvr>
                                        <p:cTn id="36" dur="1000" fill="hold"/>
                                        <p:tgtEl>
                                          <p:spTgt spid="23554">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2355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0D44D70E-6A32-46A9-ADFE-578509832C0D}"/>
              </a:ext>
            </a:extLst>
          </p:cNvPr>
          <p:cNvSpPr>
            <a:spLocks noGrp="1" noChangeArrowheads="1"/>
          </p:cNvSpPr>
          <p:nvPr>
            <p:ph type="title"/>
          </p:nvPr>
        </p:nvSpPr>
        <p:spPr>
          <a:xfrm>
            <a:off x="737755" y="457200"/>
            <a:ext cx="7543800" cy="609600"/>
          </a:xfrm>
        </p:spPr>
        <p:txBody>
          <a:bodyPr>
            <a:normAutofit fontScale="90000"/>
          </a:bodyPr>
          <a:lstStyle/>
          <a:p>
            <a:pPr algn="ctr" eaLnBrk="1" fontAlgn="auto" hangingPunct="1">
              <a:spcAft>
                <a:spcPts val="0"/>
              </a:spcAft>
              <a:defRPr/>
            </a:pPr>
            <a:r>
              <a:rPr lang="en-US" sz="4000" dirty="0">
                <a:solidFill>
                  <a:schemeClr val="tx1"/>
                </a:solidFill>
                <a:latin typeface="Garamond" pitchFamily="18" charset="0"/>
              </a:rPr>
              <a:t>Air pollution</a:t>
            </a:r>
          </a:p>
        </p:txBody>
      </p:sp>
      <p:sp>
        <p:nvSpPr>
          <p:cNvPr id="24579" name="Rectangle 3">
            <a:extLst>
              <a:ext uri="{FF2B5EF4-FFF2-40B4-BE49-F238E27FC236}">
                <a16:creationId xmlns:a16="http://schemas.microsoft.com/office/drawing/2014/main" id="{44B761C0-CB4B-402E-9D9E-8EE4E4357B32}"/>
              </a:ext>
            </a:extLst>
          </p:cNvPr>
          <p:cNvSpPr>
            <a:spLocks noGrp="1"/>
          </p:cNvSpPr>
          <p:nvPr>
            <p:ph idx="1"/>
          </p:nvPr>
        </p:nvSpPr>
        <p:spPr>
          <a:xfrm>
            <a:off x="762000" y="1371600"/>
            <a:ext cx="8077200" cy="5181600"/>
          </a:xfrm>
        </p:spPr>
        <p:txBody>
          <a:bodyPr>
            <a:normAutofit/>
          </a:bodyPr>
          <a:lstStyle/>
          <a:p>
            <a:pPr algn="just">
              <a:buNone/>
            </a:pPr>
            <a:r>
              <a:rPr lang="en-US" altLang="en-US" b="1" dirty="0"/>
              <a:t>   </a:t>
            </a:r>
            <a:r>
              <a:rPr lang="en-US" altLang="en-US" dirty="0">
                <a:latin typeface="Garamond" panose="02020404030301010803" pitchFamily="18" charset="0"/>
              </a:rPr>
              <a:t>Air pollution is the introduction of chemicals, particulate matter, or biological materials into the atmosphere that cause harm or discomfort to humans or other living organisms, or cause damage to the natural environment or built environment. </a:t>
            </a:r>
            <a:endParaRPr lang="en-US" altLang="en-US" dirty="0">
              <a:solidFill>
                <a:srgbClr val="FF0000"/>
              </a:solidFill>
              <a:latin typeface="Garamond" panose="02020404030301010803" pitchFamily="18"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8448"/>
    </mc:Choice>
    <mc:Fallback xmlns="">
      <p:transition spd="slow" advTm="6844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6082"/>
                                        </p:tgtEl>
                                        <p:attrNameLst>
                                          <p:attrName>style.visibility</p:attrName>
                                        </p:attrNameLst>
                                      </p:cBhvr>
                                      <p:to>
                                        <p:strVal val="visible"/>
                                      </p:to>
                                    </p:set>
                                    <p:anim calcmode="lin" valueType="num">
                                      <p:cBhvr additive="base">
                                        <p:cTn id="7" dur="500" fill="hold"/>
                                        <p:tgtEl>
                                          <p:spTgt spid="46082"/>
                                        </p:tgtEl>
                                        <p:attrNameLst>
                                          <p:attrName>ppt_x</p:attrName>
                                        </p:attrNameLst>
                                      </p:cBhvr>
                                      <p:tavLst>
                                        <p:tav tm="0">
                                          <p:val>
                                            <p:strVal val="#ppt_x"/>
                                          </p:val>
                                        </p:tav>
                                        <p:tav tm="100000">
                                          <p:val>
                                            <p:strVal val="#ppt_x"/>
                                          </p:val>
                                        </p:tav>
                                      </p:tavLst>
                                    </p:anim>
                                    <p:anim calcmode="lin" valueType="num">
                                      <p:cBhvr additive="base">
                                        <p:cTn id="8" dur="500" fill="hold"/>
                                        <p:tgtEl>
                                          <p:spTgt spid="4608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4579">
                                            <p:txEl>
                                              <p:pRg st="0" end="0"/>
                                            </p:txEl>
                                          </p:spTgt>
                                        </p:tgtEl>
                                        <p:attrNameLst>
                                          <p:attrName>style.visibility</p:attrName>
                                        </p:attrNameLst>
                                      </p:cBhvr>
                                      <p:to>
                                        <p:strVal val="visible"/>
                                      </p:to>
                                    </p:set>
                                    <p:anim calcmode="lin" valueType="num">
                                      <p:cBhvr additive="base">
                                        <p:cTn id="13" dur="500" fill="hold"/>
                                        <p:tgtEl>
                                          <p:spTgt spid="24579">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579">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AF1B8E57-0939-40F1-AD36-14DCBF93AA39}"/>
              </a:ext>
            </a:extLst>
          </p:cNvPr>
          <p:cNvSpPr>
            <a:spLocks noGrp="1" noChangeArrowheads="1"/>
          </p:cNvSpPr>
          <p:nvPr>
            <p:ph type="title"/>
          </p:nvPr>
        </p:nvSpPr>
        <p:spPr>
          <a:xfrm>
            <a:off x="1066800" y="152400"/>
            <a:ext cx="7543800" cy="381000"/>
          </a:xfrm>
        </p:spPr>
        <p:txBody>
          <a:bodyPr>
            <a:normAutofit fontScale="90000"/>
          </a:bodyPr>
          <a:lstStyle/>
          <a:p>
            <a:pPr algn="ctr" eaLnBrk="1" fontAlgn="auto" hangingPunct="1">
              <a:spcAft>
                <a:spcPts val="0"/>
              </a:spcAft>
              <a:defRPr/>
            </a:pPr>
            <a:r>
              <a:rPr lang="en-US" sz="3600" dirty="0">
                <a:solidFill>
                  <a:schemeClr val="tx1"/>
                </a:solidFill>
                <a:latin typeface="Garamond" pitchFamily="18" charset="0"/>
              </a:rPr>
              <a:t>Sources of air pollution</a:t>
            </a:r>
          </a:p>
        </p:txBody>
      </p:sp>
      <p:sp>
        <p:nvSpPr>
          <p:cNvPr id="47107" name="Rectangle 3">
            <a:extLst>
              <a:ext uri="{FF2B5EF4-FFF2-40B4-BE49-F238E27FC236}">
                <a16:creationId xmlns:a16="http://schemas.microsoft.com/office/drawing/2014/main" id="{C40A92A6-E58D-4C51-8EBE-D2D27C1F5087}"/>
              </a:ext>
            </a:extLst>
          </p:cNvPr>
          <p:cNvSpPr>
            <a:spLocks noGrp="1" noChangeArrowheads="1"/>
          </p:cNvSpPr>
          <p:nvPr>
            <p:ph sz="half" idx="1"/>
          </p:nvPr>
        </p:nvSpPr>
        <p:spPr>
          <a:xfrm>
            <a:off x="762000" y="1066800"/>
            <a:ext cx="4182862" cy="5562600"/>
          </a:xfrm>
        </p:spPr>
        <p:txBody>
          <a:bodyPr>
            <a:normAutofit fontScale="92500" lnSpcReduction="10000"/>
          </a:bodyPr>
          <a:lstStyle/>
          <a:p>
            <a:pPr marL="365760" indent="-283464" algn="just" eaLnBrk="1" fontAlgn="auto" hangingPunct="1">
              <a:spcAft>
                <a:spcPts val="0"/>
              </a:spcAft>
              <a:buFont typeface="Wingdings 2"/>
              <a:buChar char=""/>
              <a:defRPr/>
            </a:pPr>
            <a:r>
              <a:rPr lang="en-US" sz="2800" b="1" dirty="0">
                <a:latin typeface="Garamond" pitchFamily="18" charset="0"/>
              </a:rPr>
              <a:t>Natural sources</a:t>
            </a:r>
          </a:p>
          <a:p>
            <a:pPr marL="640080" lvl="1" indent="-237744" algn="just" eaLnBrk="1" fontAlgn="auto" hangingPunct="1">
              <a:spcAft>
                <a:spcPts val="0"/>
              </a:spcAft>
              <a:buFont typeface="Verdana"/>
              <a:buChar char="◦"/>
              <a:defRPr/>
            </a:pPr>
            <a:r>
              <a:rPr lang="en-US" sz="2800" dirty="0">
                <a:latin typeface="Garamond" pitchFamily="18" charset="0"/>
              </a:rPr>
              <a:t>Emission of natural gases</a:t>
            </a:r>
          </a:p>
          <a:p>
            <a:pPr marL="640080" lvl="1" indent="-237744" algn="just">
              <a:spcAft>
                <a:spcPts val="0"/>
              </a:spcAft>
              <a:buFont typeface="Verdana"/>
              <a:buChar char="◦"/>
              <a:defRPr/>
            </a:pPr>
            <a:r>
              <a:rPr lang="en-US" sz="2800" dirty="0">
                <a:latin typeface="Garamond" pitchFamily="18" charset="0"/>
              </a:rPr>
              <a:t>Volcanic eruptions</a:t>
            </a:r>
            <a:endParaRPr lang="en-US" sz="2800" dirty="0">
              <a:solidFill>
                <a:srgbClr val="FF0000"/>
              </a:solidFill>
              <a:latin typeface="Garamond" pitchFamily="18" charset="0"/>
            </a:endParaRPr>
          </a:p>
          <a:p>
            <a:pPr marL="640080" lvl="1" indent="-237744" eaLnBrk="1" fontAlgn="auto" hangingPunct="1">
              <a:spcAft>
                <a:spcPts val="0"/>
              </a:spcAft>
              <a:buFont typeface="Verdana"/>
              <a:buChar char="◦"/>
              <a:defRPr/>
            </a:pPr>
            <a:r>
              <a:rPr lang="en-US" sz="2800" dirty="0">
                <a:latin typeface="Garamond" pitchFamily="18" charset="0"/>
              </a:rPr>
              <a:t>Decomposition of organic matter</a:t>
            </a:r>
          </a:p>
          <a:p>
            <a:pPr marL="640080" lvl="1" indent="-237744" algn="just" eaLnBrk="1" fontAlgn="auto" hangingPunct="1">
              <a:spcAft>
                <a:spcPts val="0"/>
              </a:spcAft>
              <a:buFont typeface="Verdana"/>
              <a:buChar char="◦"/>
              <a:defRPr/>
            </a:pPr>
            <a:r>
              <a:rPr lang="en-US" sz="2800" dirty="0">
                <a:latin typeface="Garamond" pitchFamily="18" charset="0"/>
              </a:rPr>
              <a:t>Dust storms</a:t>
            </a:r>
          </a:p>
          <a:p>
            <a:pPr marL="640080" lvl="1" indent="-237744" algn="just">
              <a:spcAft>
                <a:spcPts val="0"/>
              </a:spcAft>
              <a:buFont typeface="Verdana"/>
              <a:buChar char="◦"/>
              <a:defRPr/>
            </a:pPr>
            <a:r>
              <a:rPr lang="en-US" sz="2800" dirty="0">
                <a:latin typeface="Garamond" pitchFamily="18" charset="0"/>
              </a:rPr>
              <a:t>Forest fires</a:t>
            </a:r>
          </a:p>
          <a:p>
            <a:pPr marL="365760" indent="-283464" algn="just" eaLnBrk="1" fontAlgn="auto" hangingPunct="1">
              <a:spcAft>
                <a:spcPts val="0"/>
              </a:spcAft>
              <a:buFont typeface="Wingdings 2"/>
              <a:buChar char=""/>
              <a:defRPr/>
            </a:pPr>
            <a:r>
              <a:rPr lang="en-US" sz="2800" b="1" dirty="0">
                <a:latin typeface="Garamond" pitchFamily="18" charset="0"/>
              </a:rPr>
              <a:t>Man-made sources</a:t>
            </a:r>
          </a:p>
          <a:p>
            <a:pPr marL="640080" lvl="1" indent="-237744" algn="just" eaLnBrk="1" fontAlgn="auto" hangingPunct="1">
              <a:spcAft>
                <a:spcPts val="0"/>
              </a:spcAft>
              <a:buFont typeface="Verdana"/>
              <a:buChar char="◦"/>
              <a:defRPr/>
            </a:pPr>
            <a:r>
              <a:rPr lang="en-US" sz="2800" dirty="0">
                <a:latin typeface="Garamond" pitchFamily="18" charset="0"/>
              </a:rPr>
              <a:t>Industrial activity</a:t>
            </a:r>
          </a:p>
          <a:p>
            <a:pPr marL="640080" lvl="1" indent="-237744" algn="just" eaLnBrk="1" fontAlgn="auto" hangingPunct="1">
              <a:spcAft>
                <a:spcPts val="0"/>
              </a:spcAft>
              <a:buFont typeface="Verdana"/>
              <a:buChar char="◦"/>
              <a:defRPr/>
            </a:pPr>
            <a:r>
              <a:rPr lang="en-US" sz="2800" dirty="0">
                <a:latin typeface="Garamond" pitchFamily="18" charset="0"/>
              </a:rPr>
              <a:t>Construction activity</a:t>
            </a:r>
          </a:p>
          <a:p>
            <a:pPr marL="640080" lvl="1" indent="-237744" algn="just" eaLnBrk="1" fontAlgn="auto" hangingPunct="1">
              <a:spcAft>
                <a:spcPts val="0"/>
              </a:spcAft>
              <a:buFont typeface="Verdana"/>
              <a:buChar char="◦"/>
              <a:defRPr/>
            </a:pPr>
            <a:r>
              <a:rPr lang="en-US" sz="2800" dirty="0">
                <a:latin typeface="Garamond" pitchFamily="18" charset="0"/>
              </a:rPr>
              <a:t>Mining activity</a:t>
            </a:r>
          </a:p>
          <a:p>
            <a:pPr marL="640080" lvl="1" indent="-237744" algn="just" eaLnBrk="1" fontAlgn="auto" hangingPunct="1">
              <a:spcAft>
                <a:spcPts val="0"/>
              </a:spcAft>
              <a:buFont typeface="Verdana"/>
              <a:buChar char="◦"/>
              <a:defRPr/>
            </a:pPr>
            <a:r>
              <a:rPr lang="en-US" sz="2800" dirty="0">
                <a:latin typeface="Garamond" pitchFamily="18" charset="0"/>
              </a:rPr>
              <a:t>automobiles</a:t>
            </a:r>
          </a:p>
          <a:p>
            <a:pPr marL="640080" lvl="1" indent="-237744" eaLnBrk="1" fontAlgn="auto" hangingPunct="1">
              <a:spcAft>
                <a:spcPts val="0"/>
              </a:spcAft>
              <a:buFont typeface="Verdana"/>
              <a:buChar char="◦"/>
              <a:defRPr/>
            </a:pPr>
            <a:endParaRPr lang="en-US" dirty="0">
              <a:latin typeface="Garamond" pitchFamily="18" charset="0"/>
            </a:endParaRPr>
          </a:p>
          <a:p>
            <a:pPr marL="640080" lvl="1" indent="-237744" eaLnBrk="1" fontAlgn="auto" hangingPunct="1">
              <a:spcAft>
                <a:spcPts val="0"/>
              </a:spcAft>
              <a:buFont typeface="Verdana"/>
              <a:buChar char="◦"/>
              <a:defRPr/>
            </a:pPr>
            <a:endParaRPr lang="en-US" b="1" dirty="0">
              <a:latin typeface="Garamond" pitchFamily="18" charset="0"/>
            </a:endParaRPr>
          </a:p>
          <a:p>
            <a:pPr marL="640080" lvl="1" indent="-237744" eaLnBrk="1" fontAlgn="auto" hangingPunct="1">
              <a:spcAft>
                <a:spcPts val="0"/>
              </a:spcAft>
              <a:buFont typeface="Verdana"/>
              <a:buChar char="◦"/>
              <a:defRPr/>
            </a:pPr>
            <a:endParaRPr lang="en-US" dirty="0"/>
          </a:p>
        </p:txBody>
      </p:sp>
      <p:sp>
        <p:nvSpPr>
          <p:cNvPr id="6" name="Content Placeholder 5">
            <a:extLst>
              <a:ext uri="{FF2B5EF4-FFF2-40B4-BE49-F238E27FC236}">
                <a16:creationId xmlns:a16="http://schemas.microsoft.com/office/drawing/2014/main" id="{C56F858A-B88C-41DA-B404-2B27BA745A4A}"/>
              </a:ext>
            </a:extLst>
          </p:cNvPr>
          <p:cNvSpPr>
            <a:spLocks noGrp="1"/>
          </p:cNvSpPr>
          <p:nvPr>
            <p:ph sz="half" idx="2"/>
          </p:nvPr>
        </p:nvSpPr>
        <p:spPr>
          <a:xfrm>
            <a:off x="5021062" y="762000"/>
            <a:ext cx="3733800" cy="5257800"/>
          </a:xfrm>
        </p:spPr>
        <p:txBody>
          <a:bodyPr>
            <a:normAutofit fontScale="92500" lnSpcReduction="10000"/>
          </a:bodyPr>
          <a:lstStyle/>
          <a:p>
            <a:pPr marL="365760" indent="-283464" algn="just" eaLnBrk="1" fontAlgn="auto" hangingPunct="1">
              <a:spcAft>
                <a:spcPts val="0"/>
              </a:spcAft>
              <a:buFont typeface="Wingdings 2"/>
              <a:buChar char=""/>
              <a:defRPr/>
            </a:pPr>
            <a:r>
              <a:rPr lang="en-US" sz="2800" b="1" dirty="0">
                <a:latin typeface="Garamond" pitchFamily="18" charset="0"/>
              </a:rPr>
              <a:t>Stationary sources</a:t>
            </a:r>
          </a:p>
          <a:p>
            <a:pPr marL="640080" lvl="1" indent="-237744" algn="just" eaLnBrk="1" fontAlgn="auto" hangingPunct="1">
              <a:spcAft>
                <a:spcPts val="0"/>
              </a:spcAft>
              <a:buFont typeface="Verdana"/>
              <a:buChar char="◦"/>
              <a:defRPr/>
            </a:pPr>
            <a:r>
              <a:rPr lang="en-US" sz="2800" dirty="0">
                <a:latin typeface="Garamond" pitchFamily="18" charset="0"/>
              </a:rPr>
              <a:t>Those have a relatively fixed location</a:t>
            </a:r>
          </a:p>
          <a:p>
            <a:pPr marL="365760" indent="-283464" algn="just" eaLnBrk="1" fontAlgn="auto" hangingPunct="1">
              <a:spcAft>
                <a:spcPts val="0"/>
              </a:spcAft>
              <a:buFont typeface="Wingdings 2"/>
              <a:buChar char=""/>
              <a:defRPr/>
            </a:pPr>
            <a:r>
              <a:rPr lang="en-US" sz="2800" b="1" dirty="0">
                <a:latin typeface="Garamond" pitchFamily="18" charset="0"/>
              </a:rPr>
              <a:t>Mobile sources</a:t>
            </a:r>
          </a:p>
          <a:p>
            <a:pPr marL="640080" lvl="1" indent="-237744" algn="just" eaLnBrk="1" fontAlgn="auto" hangingPunct="1">
              <a:spcAft>
                <a:spcPts val="0"/>
              </a:spcAft>
              <a:buFont typeface="Verdana"/>
              <a:buChar char="◦"/>
              <a:defRPr/>
            </a:pPr>
            <a:r>
              <a:rPr lang="en-US" sz="2800" dirty="0">
                <a:latin typeface="Garamond" pitchFamily="18" charset="0"/>
              </a:rPr>
              <a:t>Emitters of air pollutants that move from place to place while yielding emissions. These includes automobiles , trucks, buses, aircrafts, ships and trains</a:t>
            </a:r>
            <a:r>
              <a:rPr lang="en-US" dirty="0">
                <a:latin typeface="Garamond" pitchFamily="18" charset="0"/>
              </a:rPr>
              <a:t>.</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35162"/>
    </mc:Choice>
    <mc:Fallback xmlns="">
      <p:transition spd="slow" advTm="13516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 calcmode="lin" valueType="num">
                                      <p:cBhvr additive="base">
                                        <p:cTn id="7" dur="500" fill="hold"/>
                                        <p:tgtEl>
                                          <p:spTgt spid="471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10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anim calcmode="lin" valueType="num">
                                      <p:cBhvr additive="base">
                                        <p:cTn id="11" dur="500" fill="hold"/>
                                        <p:tgtEl>
                                          <p:spTgt spid="4710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710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7107">
                                            <p:txEl>
                                              <p:pRg st="2" end="2"/>
                                            </p:txEl>
                                          </p:spTgt>
                                        </p:tgtEl>
                                        <p:attrNameLst>
                                          <p:attrName>style.visibility</p:attrName>
                                        </p:attrNameLst>
                                      </p:cBhvr>
                                      <p:to>
                                        <p:strVal val="visible"/>
                                      </p:to>
                                    </p:set>
                                    <p:anim calcmode="lin" valueType="num">
                                      <p:cBhvr additive="base">
                                        <p:cTn id="15" dur="500" fill="hold"/>
                                        <p:tgtEl>
                                          <p:spTgt spid="4710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7107">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7107">
                                            <p:txEl>
                                              <p:pRg st="3" end="3"/>
                                            </p:txEl>
                                          </p:spTgt>
                                        </p:tgtEl>
                                        <p:attrNameLst>
                                          <p:attrName>style.visibility</p:attrName>
                                        </p:attrNameLst>
                                      </p:cBhvr>
                                      <p:to>
                                        <p:strVal val="visible"/>
                                      </p:to>
                                    </p:set>
                                    <p:anim calcmode="lin" valueType="num">
                                      <p:cBhvr additive="base">
                                        <p:cTn id="19" dur="500" fill="hold"/>
                                        <p:tgtEl>
                                          <p:spTgt spid="4710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107">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47107">
                                            <p:txEl>
                                              <p:pRg st="4" end="4"/>
                                            </p:txEl>
                                          </p:spTgt>
                                        </p:tgtEl>
                                        <p:attrNameLst>
                                          <p:attrName>style.visibility</p:attrName>
                                        </p:attrNameLst>
                                      </p:cBhvr>
                                      <p:to>
                                        <p:strVal val="visible"/>
                                      </p:to>
                                    </p:set>
                                    <p:anim calcmode="lin" valueType="num">
                                      <p:cBhvr additive="base">
                                        <p:cTn id="23" dur="500" fill="hold"/>
                                        <p:tgtEl>
                                          <p:spTgt spid="47107">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7107">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7107">
                                            <p:txEl>
                                              <p:pRg st="5" end="5"/>
                                            </p:txEl>
                                          </p:spTgt>
                                        </p:tgtEl>
                                        <p:attrNameLst>
                                          <p:attrName>style.visibility</p:attrName>
                                        </p:attrNameLst>
                                      </p:cBhvr>
                                      <p:to>
                                        <p:strVal val="visible"/>
                                      </p:to>
                                    </p:set>
                                    <p:anim calcmode="lin" valueType="num">
                                      <p:cBhvr additive="base">
                                        <p:cTn id="27" dur="500" fill="hold"/>
                                        <p:tgtEl>
                                          <p:spTgt spid="47107">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710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47107">
                                            <p:txEl>
                                              <p:pRg st="6" end="6"/>
                                            </p:txEl>
                                          </p:spTgt>
                                        </p:tgtEl>
                                        <p:attrNameLst>
                                          <p:attrName>style.visibility</p:attrName>
                                        </p:attrNameLst>
                                      </p:cBhvr>
                                      <p:to>
                                        <p:strVal val="visible"/>
                                      </p:to>
                                    </p:set>
                                    <p:anim calcmode="lin" valueType="num">
                                      <p:cBhvr additive="base">
                                        <p:cTn id="33" dur="500" fill="hold"/>
                                        <p:tgtEl>
                                          <p:spTgt spid="47107">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7107">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47107">
                                            <p:txEl>
                                              <p:pRg st="7" end="7"/>
                                            </p:txEl>
                                          </p:spTgt>
                                        </p:tgtEl>
                                        <p:attrNameLst>
                                          <p:attrName>style.visibility</p:attrName>
                                        </p:attrNameLst>
                                      </p:cBhvr>
                                      <p:to>
                                        <p:strVal val="visible"/>
                                      </p:to>
                                    </p:set>
                                    <p:anim calcmode="lin" valueType="num">
                                      <p:cBhvr additive="base">
                                        <p:cTn id="37" dur="500" fill="hold"/>
                                        <p:tgtEl>
                                          <p:spTgt spid="47107">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7107">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47107">
                                            <p:txEl>
                                              <p:pRg st="8" end="8"/>
                                            </p:txEl>
                                          </p:spTgt>
                                        </p:tgtEl>
                                        <p:attrNameLst>
                                          <p:attrName>style.visibility</p:attrName>
                                        </p:attrNameLst>
                                      </p:cBhvr>
                                      <p:to>
                                        <p:strVal val="visible"/>
                                      </p:to>
                                    </p:set>
                                    <p:anim calcmode="lin" valueType="num">
                                      <p:cBhvr additive="base">
                                        <p:cTn id="41" dur="500" fill="hold"/>
                                        <p:tgtEl>
                                          <p:spTgt spid="47107">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7107">
                                            <p:txEl>
                                              <p:pRg st="8" end="8"/>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47107">
                                            <p:txEl>
                                              <p:pRg st="9" end="9"/>
                                            </p:txEl>
                                          </p:spTgt>
                                        </p:tgtEl>
                                        <p:attrNameLst>
                                          <p:attrName>style.visibility</p:attrName>
                                        </p:attrNameLst>
                                      </p:cBhvr>
                                      <p:to>
                                        <p:strVal val="visible"/>
                                      </p:to>
                                    </p:set>
                                    <p:anim calcmode="lin" valueType="num">
                                      <p:cBhvr additive="base">
                                        <p:cTn id="45" dur="500" fill="hold"/>
                                        <p:tgtEl>
                                          <p:spTgt spid="47107">
                                            <p:txEl>
                                              <p:pRg st="9" end="9"/>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7107">
                                            <p:txEl>
                                              <p:pRg st="9" end="9"/>
                                            </p:tx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47107">
                                            <p:txEl>
                                              <p:pRg st="10" end="10"/>
                                            </p:txEl>
                                          </p:spTgt>
                                        </p:tgtEl>
                                        <p:attrNameLst>
                                          <p:attrName>style.visibility</p:attrName>
                                        </p:attrNameLst>
                                      </p:cBhvr>
                                      <p:to>
                                        <p:strVal val="visible"/>
                                      </p:to>
                                    </p:set>
                                    <p:anim calcmode="lin" valueType="num">
                                      <p:cBhvr additive="base">
                                        <p:cTn id="49" dur="500" fill="hold"/>
                                        <p:tgtEl>
                                          <p:spTgt spid="47107">
                                            <p:txEl>
                                              <p:pRg st="10" end="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7107">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6">
                                            <p:txEl>
                                              <p:pRg st="0" end="0"/>
                                            </p:txEl>
                                          </p:spTgt>
                                        </p:tgtEl>
                                        <p:attrNameLst>
                                          <p:attrName>style.visibility</p:attrName>
                                        </p:attrNameLst>
                                      </p:cBhvr>
                                      <p:to>
                                        <p:strVal val="visible"/>
                                      </p:to>
                                    </p:set>
                                    <p:anim calcmode="lin" valueType="num">
                                      <p:cBhvr additive="base">
                                        <p:cTn id="55"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6">
                                            <p:txEl>
                                              <p:pRg st="0" end="0"/>
                                            </p:txEl>
                                          </p:spTgt>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6">
                                            <p:txEl>
                                              <p:pRg st="1" end="1"/>
                                            </p:txEl>
                                          </p:spTgt>
                                        </p:tgtEl>
                                        <p:attrNameLst>
                                          <p:attrName>style.visibility</p:attrName>
                                        </p:attrNameLst>
                                      </p:cBhvr>
                                      <p:to>
                                        <p:strVal val="visible"/>
                                      </p:to>
                                    </p:set>
                                    <p:anim calcmode="lin" valueType="num">
                                      <p:cBhvr additive="base">
                                        <p:cTn id="59"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6">
                                            <p:txEl>
                                              <p:pRg st="2" end="2"/>
                                            </p:txEl>
                                          </p:spTgt>
                                        </p:tgtEl>
                                        <p:attrNameLst>
                                          <p:attrName>style.visibility</p:attrName>
                                        </p:attrNameLst>
                                      </p:cBhvr>
                                      <p:to>
                                        <p:strVal val="visible"/>
                                      </p:to>
                                    </p:set>
                                    <p:anim calcmode="lin" valueType="num">
                                      <p:cBhvr additive="base">
                                        <p:cTn id="65"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6">
                                            <p:txEl>
                                              <p:pRg st="2" end="2"/>
                                            </p:txEl>
                                          </p:spTgt>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6">
                                            <p:txEl>
                                              <p:pRg st="3" end="3"/>
                                            </p:txEl>
                                          </p:spTgt>
                                        </p:tgtEl>
                                        <p:attrNameLst>
                                          <p:attrName>style.visibility</p:attrName>
                                        </p:attrNameLst>
                                      </p:cBhvr>
                                      <p:to>
                                        <p:strVal val="visible"/>
                                      </p:to>
                                    </p:set>
                                    <p:anim calcmode="lin" valueType="num">
                                      <p:cBhvr additive="base">
                                        <p:cTn id="69"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p:bldP spid="6"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4E2EB486-FF55-4DAC-A9E4-FB76124D3573}"/>
              </a:ext>
            </a:extLst>
          </p:cNvPr>
          <p:cNvSpPr>
            <a:spLocks noGrp="1" noChangeArrowheads="1"/>
          </p:cNvSpPr>
          <p:nvPr>
            <p:ph type="title"/>
          </p:nvPr>
        </p:nvSpPr>
        <p:spPr>
          <a:xfrm>
            <a:off x="1066800" y="152400"/>
            <a:ext cx="7543800" cy="609600"/>
          </a:xfrm>
        </p:spPr>
        <p:txBody>
          <a:bodyPr>
            <a:normAutofit fontScale="90000"/>
          </a:bodyPr>
          <a:lstStyle/>
          <a:p>
            <a:pPr algn="ctr" eaLnBrk="1" fontAlgn="auto" hangingPunct="1">
              <a:spcAft>
                <a:spcPts val="0"/>
              </a:spcAft>
              <a:defRPr/>
            </a:pPr>
            <a:r>
              <a:rPr lang="en-US" sz="3600" dirty="0">
                <a:solidFill>
                  <a:schemeClr val="tx1"/>
                </a:solidFill>
                <a:latin typeface="Garamond" pitchFamily="18" charset="0"/>
              </a:rPr>
              <a:t>Causes of air pollution</a:t>
            </a:r>
          </a:p>
        </p:txBody>
      </p:sp>
      <p:sp>
        <p:nvSpPr>
          <p:cNvPr id="27651" name="Rectangle 3">
            <a:extLst>
              <a:ext uri="{FF2B5EF4-FFF2-40B4-BE49-F238E27FC236}">
                <a16:creationId xmlns:a16="http://schemas.microsoft.com/office/drawing/2014/main" id="{1C76F8FB-B6A8-4FD9-920C-81123B55EEAF}"/>
              </a:ext>
            </a:extLst>
          </p:cNvPr>
          <p:cNvSpPr>
            <a:spLocks noGrp="1"/>
          </p:cNvSpPr>
          <p:nvPr>
            <p:ph idx="1"/>
          </p:nvPr>
        </p:nvSpPr>
        <p:spPr>
          <a:xfrm>
            <a:off x="914400" y="1066800"/>
            <a:ext cx="8077200" cy="5638800"/>
          </a:xfrm>
        </p:spPr>
        <p:txBody>
          <a:bodyPr>
            <a:normAutofit/>
          </a:bodyPr>
          <a:lstStyle/>
          <a:p>
            <a:r>
              <a:rPr lang="en-US" altLang="en-US" sz="2800" dirty="0">
                <a:latin typeface="Garamond" panose="02020404030301010803" pitchFamily="18" charset="0"/>
              </a:rPr>
              <a:t>Burning fossil fuels in power stations and exhaust fumes from cars, trucks and buses</a:t>
            </a:r>
            <a:r>
              <a:rPr lang="en-US" altLang="en-US" sz="2800" dirty="0">
                <a:solidFill>
                  <a:srgbClr val="FF0000"/>
                </a:solidFill>
                <a:latin typeface="Garamond" panose="02020404030301010803" pitchFamily="18" charset="0"/>
              </a:rPr>
              <a:t>.</a:t>
            </a:r>
            <a:r>
              <a:rPr lang="en-US" sz="2800" dirty="0">
                <a:solidFill>
                  <a:srgbClr val="FF0000"/>
                </a:solidFill>
              </a:rPr>
              <a:t> </a:t>
            </a:r>
            <a:endParaRPr lang="en-US" altLang="en-US" sz="2800" dirty="0">
              <a:solidFill>
                <a:srgbClr val="FF0000"/>
              </a:solidFill>
              <a:latin typeface="Garamond" panose="02020404030301010803" pitchFamily="18" charset="0"/>
            </a:endParaRPr>
          </a:p>
          <a:p>
            <a:pPr eaLnBrk="1" hangingPunct="1"/>
            <a:r>
              <a:rPr lang="en-US" altLang="en-US" sz="2800" dirty="0">
                <a:latin typeface="Garamond" panose="02020404030301010803" pitchFamily="18" charset="0"/>
              </a:rPr>
              <a:t>Waste burnt from chemical and other industries</a:t>
            </a:r>
          </a:p>
          <a:p>
            <a:pPr eaLnBrk="1" hangingPunct="1"/>
            <a:r>
              <a:rPr lang="en-US" altLang="en-US" sz="2800" dirty="0">
                <a:latin typeface="Garamond" panose="02020404030301010803" pitchFamily="18" charset="0"/>
              </a:rPr>
              <a:t>Bare soil in agricultural areas picked up and carried by the wind</a:t>
            </a:r>
          </a:p>
          <a:p>
            <a:pPr eaLnBrk="1" hangingPunct="1"/>
            <a:r>
              <a:rPr lang="en-US" altLang="en-US" sz="2800" dirty="0">
                <a:latin typeface="Garamond" panose="02020404030301010803" pitchFamily="18" charset="0"/>
              </a:rPr>
              <a:t>Increased use of  automobiles</a:t>
            </a:r>
          </a:p>
          <a:p>
            <a:pPr eaLnBrk="1" hangingPunct="1"/>
            <a:r>
              <a:rPr lang="en-US" altLang="en-US" sz="2800" dirty="0">
                <a:latin typeface="Garamond" panose="02020404030301010803" pitchFamily="18" charset="0"/>
              </a:rPr>
              <a:t>Increased use of chemicals, especially CFCs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8034"/>
    </mc:Choice>
    <mc:Fallback xmlns="">
      <p:transition spd="slow" advTm="5803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8130"/>
                                        </p:tgtEl>
                                        <p:attrNameLst>
                                          <p:attrName>style.visibility</p:attrName>
                                        </p:attrNameLst>
                                      </p:cBhvr>
                                      <p:to>
                                        <p:strVal val="visible"/>
                                      </p:to>
                                    </p:set>
                                    <p:anim calcmode="lin" valueType="num">
                                      <p:cBhvr additive="base">
                                        <p:cTn id="7" dur="500" fill="hold"/>
                                        <p:tgtEl>
                                          <p:spTgt spid="48130"/>
                                        </p:tgtEl>
                                        <p:attrNameLst>
                                          <p:attrName>ppt_x</p:attrName>
                                        </p:attrNameLst>
                                      </p:cBhvr>
                                      <p:tavLst>
                                        <p:tav tm="0">
                                          <p:val>
                                            <p:strVal val="#ppt_x"/>
                                          </p:val>
                                        </p:tav>
                                        <p:tav tm="100000">
                                          <p:val>
                                            <p:strVal val="#ppt_x"/>
                                          </p:val>
                                        </p:tav>
                                      </p:tavLst>
                                    </p:anim>
                                    <p:anim calcmode="lin" valueType="num">
                                      <p:cBhvr additive="base">
                                        <p:cTn id="8" dur="500" fill="hold"/>
                                        <p:tgtEl>
                                          <p:spTgt spid="4813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7651">
                                            <p:txEl>
                                              <p:pRg st="0" end="0"/>
                                            </p:txEl>
                                          </p:spTgt>
                                        </p:tgtEl>
                                        <p:attrNameLst>
                                          <p:attrName>style.visibility</p:attrName>
                                        </p:attrNameLst>
                                      </p:cBhvr>
                                      <p:to>
                                        <p:strVal val="visible"/>
                                      </p:to>
                                    </p:set>
                                    <p:anim calcmode="lin" valueType="num">
                                      <p:cBhvr additive="base">
                                        <p:cTn id="13" dur="500" fill="hold"/>
                                        <p:tgtEl>
                                          <p:spTgt spid="27651">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76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7651">
                                            <p:txEl>
                                              <p:pRg st="1" end="1"/>
                                            </p:txEl>
                                          </p:spTgt>
                                        </p:tgtEl>
                                        <p:attrNameLst>
                                          <p:attrName>style.visibility</p:attrName>
                                        </p:attrNameLst>
                                      </p:cBhvr>
                                      <p:to>
                                        <p:strVal val="visible"/>
                                      </p:to>
                                    </p:set>
                                    <p:anim calcmode="lin" valueType="num">
                                      <p:cBhvr additive="base">
                                        <p:cTn id="19" dur="500" fill="hold"/>
                                        <p:tgtEl>
                                          <p:spTgt spid="27651">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76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7651">
                                            <p:txEl>
                                              <p:pRg st="2" end="2"/>
                                            </p:txEl>
                                          </p:spTgt>
                                        </p:tgtEl>
                                        <p:attrNameLst>
                                          <p:attrName>style.visibility</p:attrName>
                                        </p:attrNameLst>
                                      </p:cBhvr>
                                      <p:to>
                                        <p:strVal val="visible"/>
                                      </p:to>
                                    </p:set>
                                    <p:anim calcmode="lin" valueType="num">
                                      <p:cBhvr additive="base">
                                        <p:cTn id="25" dur="500" fill="hold"/>
                                        <p:tgtEl>
                                          <p:spTgt spid="27651">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765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7651">
                                            <p:txEl>
                                              <p:pRg st="3" end="3"/>
                                            </p:txEl>
                                          </p:spTgt>
                                        </p:tgtEl>
                                        <p:attrNameLst>
                                          <p:attrName>style.visibility</p:attrName>
                                        </p:attrNameLst>
                                      </p:cBhvr>
                                      <p:to>
                                        <p:strVal val="visible"/>
                                      </p:to>
                                    </p:set>
                                    <p:anim calcmode="lin" valueType="num">
                                      <p:cBhvr additive="base">
                                        <p:cTn id="31" dur="500" fill="hold"/>
                                        <p:tgtEl>
                                          <p:spTgt spid="27651">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765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7651">
                                            <p:txEl>
                                              <p:pRg st="4" end="4"/>
                                            </p:txEl>
                                          </p:spTgt>
                                        </p:tgtEl>
                                        <p:attrNameLst>
                                          <p:attrName>style.visibility</p:attrName>
                                        </p:attrNameLst>
                                      </p:cBhvr>
                                      <p:to>
                                        <p:strVal val="visible"/>
                                      </p:to>
                                    </p:set>
                                    <p:anim calcmode="lin" valueType="num">
                                      <p:cBhvr additive="base">
                                        <p:cTn id="37" dur="500" fill="hold"/>
                                        <p:tgtEl>
                                          <p:spTgt spid="27651">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765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p:bldP spid="27651"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CD60D76F-DA9D-45B2-956D-48140FDDCD60}"/>
              </a:ext>
            </a:extLst>
          </p:cNvPr>
          <p:cNvSpPr>
            <a:spLocks noGrp="1" noChangeArrowheads="1"/>
          </p:cNvSpPr>
          <p:nvPr>
            <p:ph type="title"/>
          </p:nvPr>
        </p:nvSpPr>
        <p:spPr>
          <a:xfrm>
            <a:off x="1066800" y="152400"/>
            <a:ext cx="7543800" cy="609600"/>
          </a:xfrm>
        </p:spPr>
        <p:txBody>
          <a:bodyPr>
            <a:normAutofit fontScale="90000"/>
          </a:bodyPr>
          <a:lstStyle/>
          <a:p>
            <a:pPr algn="ctr" eaLnBrk="1" fontAlgn="auto" hangingPunct="1">
              <a:spcAft>
                <a:spcPts val="0"/>
              </a:spcAft>
              <a:defRPr/>
            </a:pPr>
            <a:r>
              <a:rPr lang="en-US" sz="3600" dirty="0">
                <a:solidFill>
                  <a:schemeClr val="tx1"/>
                </a:solidFill>
                <a:latin typeface="Garamond" pitchFamily="18" charset="0"/>
              </a:rPr>
              <a:t>Effects of air pollution</a:t>
            </a:r>
          </a:p>
        </p:txBody>
      </p:sp>
      <p:sp>
        <p:nvSpPr>
          <p:cNvPr id="28675" name="Rectangle 3">
            <a:extLst>
              <a:ext uri="{FF2B5EF4-FFF2-40B4-BE49-F238E27FC236}">
                <a16:creationId xmlns:a16="http://schemas.microsoft.com/office/drawing/2014/main" id="{1B505690-3CA0-4CFC-9633-EB699CE22190}"/>
              </a:ext>
            </a:extLst>
          </p:cNvPr>
          <p:cNvSpPr>
            <a:spLocks noGrp="1"/>
          </p:cNvSpPr>
          <p:nvPr>
            <p:ph idx="1"/>
          </p:nvPr>
        </p:nvSpPr>
        <p:spPr>
          <a:xfrm>
            <a:off x="1098612" y="1447800"/>
            <a:ext cx="7620000" cy="5562600"/>
          </a:xfrm>
        </p:spPr>
        <p:txBody>
          <a:bodyPr>
            <a:normAutofit/>
          </a:bodyPr>
          <a:lstStyle/>
          <a:p>
            <a:pPr eaLnBrk="1" hangingPunct="1"/>
            <a:r>
              <a:rPr lang="en-US" altLang="en-US" sz="2800" dirty="0">
                <a:latin typeface="Garamond" panose="02020404030301010803" pitchFamily="18" charset="0"/>
              </a:rPr>
              <a:t>Reduced visibility </a:t>
            </a:r>
          </a:p>
          <a:p>
            <a:pPr eaLnBrk="1" hangingPunct="1"/>
            <a:r>
              <a:rPr lang="en-US" altLang="en-US" sz="2800" dirty="0">
                <a:latin typeface="Garamond" panose="02020404030301010803" pitchFamily="18" charset="0"/>
              </a:rPr>
              <a:t>Poor air quality</a:t>
            </a:r>
          </a:p>
          <a:p>
            <a:pPr eaLnBrk="1" hangingPunct="1"/>
            <a:r>
              <a:rPr lang="en-US" altLang="en-US" sz="2800" dirty="0">
                <a:latin typeface="Garamond" panose="02020404030301010803" pitchFamily="18" charset="0"/>
              </a:rPr>
              <a:t>Formation of acid rain</a:t>
            </a:r>
          </a:p>
          <a:p>
            <a:r>
              <a:rPr lang="en-US" altLang="en-US" sz="2800" dirty="0">
                <a:latin typeface="Garamond" panose="02020404030301010803" pitchFamily="18" charset="0"/>
              </a:rPr>
              <a:t>Increase the earth’s temperature.</a:t>
            </a:r>
            <a:r>
              <a:rPr lang="en-US" dirty="0"/>
              <a:t> Greenhouse gases are another source of air pollution. </a:t>
            </a:r>
          </a:p>
          <a:p>
            <a:r>
              <a:rPr lang="en-US" altLang="en-US" dirty="0">
                <a:latin typeface="Garamond" panose="02020404030301010803" pitchFamily="18" charset="0"/>
              </a:rPr>
              <a:t>Rising sea levels </a:t>
            </a:r>
            <a:endParaRPr lang="en-US" altLang="en-US" sz="2800" dirty="0">
              <a:solidFill>
                <a:srgbClr val="FF0000"/>
              </a:solidFill>
              <a:latin typeface="Garamond" panose="02020404030301010803" pitchFamily="18" charset="0"/>
            </a:endParaRPr>
          </a:p>
          <a:p>
            <a:r>
              <a:rPr lang="en-US" altLang="en-US" sz="2800" dirty="0">
                <a:latin typeface="Garamond" panose="02020404030301010803" pitchFamily="18" charset="0"/>
              </a:rPr>
              <a:t>Depletes the ozone layer in the stratosphere, leading to ozone holes</a:t>
            </a:r>
          </a:p>
          <a:p>
            <a:pPr eaLnBrk="1" hangingPunct="1"/>
            <a:r>
              <a:rPr lang="en-US" altLang="en-US" sz="2800" dirty="0">
                <a:latin typeface="Garamond" panose="02020404030301010803" pitchFamily="18" charset="0"/>
              </a:rPr>
              <a:t>More heat radiated from the surface</a:t>
            </a:r>
          </a:p>
          <a:p>
            <a:pPr eaLnBrk="1" hangingPunct="1"/>
            <a:endParaRPr lang="en-US" altLang="en-US" sz="2800" dirty="0">
              <a:latin typeface="Garamond" panose="02020404030301010803" pitchFamily="18" charset="0"/>
            </a:endParaRPr>
          </a:p>
          <a:p>
            <a:pPr eaLnBrk="1" hangingPunct="1"/>
            <a:endParaRPr lang="en-US" altLang="en-US" dirty="0"/>
          </a:p>
          <a:p>
            <a:pPr eaLnBrk="1" hangingPunct="1">
              <a:buFont typeface="Wingdings" panose="05000000000000000000" pitchFamily="2" charset="2"/>
              <a:buNone/>
            </a:pPr>
            <a:endParaRPr lang="en-US"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41373"/>
    </mc:Choice>
    <mc:Fallback xmlns="">
      <p:transition spd="slow" advTm="14137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9154"/>
                                        </p:tgtEl>
                                        <p:attrNameLst>
                                          <p:attrName>style.visibility</p:attrName>
                                        </p:attrNameLst>
                                      </p:cBhvr>
                                      <p:to>
                                        <p:strVal val="visible"/>
                                      </p:to>
                                    </p:set>
                                    <p:animEffect transition="in" filter="fade">
                                      <p:cBhvr>
                                        <p:cTn id="7" dur="1000"/>
                                        <p:tgtEl>
                                          <p:spTgt spid="49154"/>
                                        </p:tgtEl>
                                      </p:cBhvr>
                                    </p:animEffect>
                                    <p:anim calcmode="lin" valueType="num">
                                      <p:cBhvr>
                                        <p:cTn id="8" dur="1000" fill="hold"/>
                                        <p:tgtEl>
                                          <p:spTgt spid="49154"/>
                                        </p:tgtEl>
                                        <p:attrNameLst>
                                          <p:attrName>ppt_x</p:attrName>
                                        </p:attrNameLst>
                                      </p:cBhvr>
                                      <p:tavLst>
                                        <p:tav tm="0">
                                          <p:val>
                                            <p:strVal val="#ppt_x"/>
                                          </p:val>
                                        </p:tav>
                                        <p:tav tm="100000">
                                          <p:val>
                                            <p:strVal val="#ppt_x"/>
                                          </p:val>
                                        </p:tav>
                                      </p:tavLst>
                                    </p:anim>
                                    <p:anim calcmode="lin" valueType="num">
                                      <p:cBhvr>
                                        <p:cTn id="9" dur="1000" fill="hold"/>
                                        <p:tgtEl>
                                          <p:spTgt spid="4915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8675">
                                            <p:txEl>
                                              <p:pRg st="0" end="0"/>
                                            </p:txEl>
                                          </p:spTgt>
                                        </p:tgtEl>
                                        <p:attrNameLst>
                                          <p:attrName>style.visibility</p:attrName>
                                        </p:attrNameLst>
                                      </p:cBhvr>
                                      <p:to>
                                        <p:strVal val="visible"/>
                                      </p:to>
                                    </p:set>
                                    <p:animEffect transition="in" filter="fade">
                                      <p:cBhvr>
                                        <p:cTn id="14" dur="1000"/>
                                        <p:tgtEl>
                                          <p:spTgt spid="28675">
                                            <p:txEl>
                                              <p:pRg st="0" end="0"/>
                                            </p:txEl>
                                          </p:spTgt>
                                        </p:tgtEl>
                                      </p:cBhvr>
                                    </p:animEffect>
                                    <p:anim calcmode="lin" valueType="num">
                                      <p:cBhvr>
                                        <p:cTn id="15" dur="1000" fill="hold"/>
                                        <p:tgtEl>
                                          <p:spTgt spid="28675">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867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8675">
                                            <p:txEl>
                                              <p:pRg st="1" end="1"/>
                                            </p:txEl>
                                          </p:spTgt>
                                        </p:tgtEl>
                                        <p:attrNameLst>
                                          <p:attrName>style.visibility</p:attrName>
                                        </p:attrNameLst>
                                      </p:cBhvr>
                                      <p:to>
                                        <p:strVal val="visible"/>
                                      </p:to>
                                    </p:set>
                                    <p:animEffect transition="in" filter="fade">
                                      <p:cBhvr>
                                        <p:cTn id="21" dur="1000"/>
                                        <p:tgtEl>
                                          <p:spTgt spid="28675">
                                            <p:txEl>
                                              <p:pRg st="1" end="1"/>
                                            </p:txEl>
                                          </p:spTgt>
                                        </p:tgtEl>
                                      </p:cBhvr>
                                    </p:animEffect>
                                    <p:anim calcmode="lin" valueType="num">
                                      <p:cBhvr>
                                        <p:cTn id="22" dur="1000" fill="hold"/>
                                        <p:tgtEl>
                                          <p:spTgt spid="28675">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867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8675">
                                            <p:txEl>
                                              <p:pRg st="2" end="2"/>
                                            </p:txEl>
                                          </p:spTgt>
                                        </p:tgtEl>
                                        <p:attrNameLst>
                                          <p:attrName>style.visibility</p:attrName>
                                        </p:attrNameLst>
                                      </p:cBhvr>
                                      <p:to>
                                        <p:strVal val="visible"/>
                                      </p:to>
                                    </p:set>
                                    <p:animEffect transition="in" filter="fade">
                                      <p:cBhvr>
                                        <p:cTn id="28" dur="1000"/>
                                        <p:tgtEl>
                                          <p:spTgt spid="28675">
                                            <p:txEl>
                                              <p:pRg st="2" end="2"/>
                                            </p:txEl>
                                          </p:spTgt>
                                        </p:tgtEl>
                                      </p:cBhvr>
                                    </p:animEffect>
                                    <p:anim calcmode="lin" valueType="num">
                                      <p:cBhvr>
                                        <p:cTn id="29" dur="1000" fill="hold"/>
                                        <p:tgtEl>
                                          <p:spTgt spid="28675">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867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8675">
                                            <p:txEl>
                                              <p:pRg st="3" end="3"/>
                                            </p:txEl>
                                          </p:spTgt>
                                        </p:tgtEl>
                                        <p:attrNameLst>
                                          <p:attrName>style.visibility</p:attrName>
                                        </p:attrNameLst>
                                      </p:cBhvr>
                                      <p:to>
                                        <p:strVal val="visible"/>
                                      </p:to>
                                    </p:set>
                                    <p:animEffect transition="in" filter="fade">
                                      <p:cBhvr>
                                        <p:cTn id="35" dur="1000"/>
                                        <p:tgtEl>
                                          <p:spTgt spid="28675">
                                            <p:txEl>
                                              <p:pRg st="3" end="3"/>
                                            </p:txEl>
                                          </p:spTgt>
                                        </p:tgtEl>
                                      </p:cBhvr>
                                    </p:animEffect>
                                    <p:anim calcmode="lin" valueType="num">
                                      <p:cBhvr>
                                        <p:cTn id="36" dur="1000" fill="hold"/>
                                        <p:tgtEl>
                                          <p:spTgt spid="28675">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867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8675">
                                            <p:txEl>
                                              <p:pRg st="4" end="4"/>
                                            </p:txEl>
                                          </p:spTgt>
                                        </p:tgtEl>
                                        <p:attrNameLst>
                                          <p:attrName>style.visibility</p:attrName>
                                        </p:attrNameLst>
                                      </p:cBhvr>
                                      <p:to>
                                        <p:strVal val="visible"/>
                                      </p:to>
                                    </p:set>
                                    <p:animEffect transition="in" filter="fade">
                                      <p:cBhvr>
                                        <p:cTn id="42" dur="1000"/>
                                        <p:tgtEl>
                                          <p:spTgt spid="28675">
                                            <p:txEl>
                                              <p:pRg st="4" end="4"/>
                                            </p:txEl>
                                          </p:spTgt>
                                        </p:tgtEl>
                                      </p:cBhvr>
                                    </p:animEffect>
                                    <p:anim calcmode="lin" valueType="num">
                                      <p:cBhvr>
                                        <p:cTn id="43" dur="1000" fill="hold"/>
                                        <p:tgtEl>
                                          <p:spTgt spid="28675">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867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8675">
                                            <p:txEl>
                                              <p:pRg st="5" end="5"/>
                                            </p:txEl>
                                          </p:spTgt>
                                        </p:tgtEl>
                                        <p:attrNameLst>
                                          <p:attrName>style.visibility</p:attrName>
                                        </p:attrNameLst>
                                      </p:cBhvr>
                                      <p:to>
                                        <p:strVal val="visible"/>
                                      </p:to>
                                    </p:set>
                                    <p:animEffect transition="in" filter="fade">
                                      <p:cBhvr>
                                        <p:cTn id="49" dur="1000"/>
                                        <p:tgtEl>
                                          <p:spTgt spid="28675">
                                            <p:txEl>
                                              <p:pRg st="5" end="5"/>
                                            </p:txEl>
                                          </p:spTgt>
                                        </p:tgtEl>
                                      </p:cBhvr>
                                    </p:animEffect>
                                    <p:anim calcmode="lin" valueType="num">
                                      <p:cBhvr>
                                        <p:cTn id="50" dur="1000" fill="hold"/>
                                        <p:tgtEl>
                                          <p:spTgt spid="28675">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867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8675">
                                            <p:txEl>
                                              <p:pRg st="6" end="6"/>
                                            </p:txEl>
                                          </p:spTgt>
                                        </p:tgtEl>
                                        <p:attrNameLst>
                                          <p:attrName>style.visibility</p:attrName>
                                        </p:attrNameLst>
                                      </p:cBhvr>
                                      <p:to>
                                        <p:strVal val="visible"/>
                                      </p:to>
                                    </p:set>
                                    <p:animEffect transition="in" filter="fade">
                                      <p:cBhvr>
                                        <p:cTn id="56" dur="1000"/>
                                        <p:tgtEl>
                                          <p:spTgt spid="28675">
                                            <p:txEl>
                                              <p:pRg st="6" end="6"/>
                                            </p:txEl>
                                          </p:spTgt>
                                        </p:tgtEl>
                                      </p:cBhvr>
                                    </p:animEffect>
                                    <p:anim calcmode="lin" valueType="num">
                                      <p:cBhvr>
                                        <p:cTn id="57" dur="1000" fill="hold"/>
                                        <p:tgtEl>
                                          <p:spTgt spid="28675">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867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 grpId="0"/>
      <p:bldP spid="28675"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64E03B57-4B1D-4D0C-B8FB-E56B7295FBA3}"/>
              </a:ext>
            </a:extLst>
          </p:cNvPr>
          <p:cNvSpPr>
            <a:spLocks noGrp="1" noChangeArrowheads="1"/>
          </p:cNvSpPr>
          <p:nvPr>
            <p:ph type="title"/>
          </p:nvPr>
        </p:nvSpPr>
        <p:spPr>
          <a:xfrm>
            <a:off x="1066800" y="152400"/>
            <a:ext cx="7543800" cy="609600"/>
          </a:xfrm>
        </p:spPr>
        <p:txBody>
          <a:bodyPr>
            <a:normAutofit fontScale="90000"/>
          </a:bodyPr>
          <a:lstStyle/>
          <a:p>
            <a:pPr algn="ctr" eaLnBrk="1" fontAlgn="auto" hangingPunct="1">
              <a:spcAft>
                <a:spcPts val="0"/>
              </a:spcAft>
              <a:defRPr/>
            </a:pPr>
            <a:r>
              <a:rPr lang="en-US" sz="3600" dirty="0">
                <a:solidFill>
                  <a:schemeClr val="tx1"/>
                </a:solidFill>
                <a:latin typeface="Garamond" pitchFamily="18" charset="0"/>
              </a:rPr>
              <a:t>Effects of air pollution continued…</a:t>
            </a:r>
          </a:p>
        </p:txBody>
      </p:sp>
      <p:sp>
        <p:nvSpPr>
          <p:cNvPr id="29699" name="Rectangle 3">
            <a:extLst>
              <a:ext uri="{FF2B5EF4-FFF2-40B4-BE49-F238E27FC236}">
                <a16:creationId xmlns:a16="http://schemas.microsoft.com/office/drawing/2014/main" id="{8AF812AA-CBE6-4951-909A-A55398F59A92}"/>
              </a:ext>
            </a:extLst>
          </p:cNvPr>
          <p:cNvSpPr>
            <a:spLocks noGrp="1"/>
          </p:cNvSpPr>
          <p:nvPr>
            <p:ph idx="1"/>
          </p:nvPr>
        </p:nvSpPr>
        <p:spPr>
          <a:xfrm>
            <a:off x="990600" y="914400"/>
            <a:ext cx="8001000" cy="5715000"/>
          </a:xfrm>
        </p:spPr>
        <p:txBody>
          <a:bodyPr>
            <a:normAutofit/>
          </a:bodyPr>
          <a:lstStyle/>
          <a:p>
            <a:pPr eaLnBrk="1" hangingPunct="1"/>
            <a:r>
              <a:rPr lang="en-US" altLang="en-US" sz="2800" dirty="0">
                <a:latin typeface="Garamond" panose="02020404030301010803" pitchFamily="18" charset="0"/>
              </a:rPr>
              <a:t>Health problem particularly asthma, bronchitis and other respiratory problems</a:t>
            </a:r>
          </a:p>
          <a:p>
            <a:pPr eaLnBrk="1" hangingPunct="1"/>
            <a:r>
              <a:rPr lang="en-US" altLang="en-US" sz="2800" dirty="0">
                <a:latin typeface="Garamond" panose="02020404030301010803" pitchFamily="18" charset="0"/>
              </a:rPr>
              <a:t>Increased risk of cancer in people, especially skin cancer</a:t>
            </a:r>
          </a:p>
          <a:p>
            <a:pPr eaLnBrk="1" hangingPunct="1"/>
            <a:r>
              <a:rPr lang="en-US" altLang="en-US" sz="2800" dirty="0">
                <a:latin typeface="Garamond" panose="02020404030301010803" pitchFamily="18" charset="0"/>
              </a:rPr>
              <a:t>Increased acidity in lakes leading to death of fish and plant life</a:t>
            </a:r>
          </a:p>
          <a:p>
            <a:pPr eaLnBrk="1" hangingPunct="1"/>
            <a:r>
              <a:rPr lang="en-US" altLang="en-US" sz="2800" dirty="0">
                <a:latin typeface="Garamond" panose="02020404030301010803" pitchFamily="18" charset="0"/>
              </a:rPr>
              <a:t>Increased acidity in soils reducing crop yield and killing trees</a:t>
            </a:r>
          </a:p>
          <a:p>
            <a:pPr eaLnBrk="1" hangingPunct="1"/>
            <a:r>
              <a:rPr lang="en-US" altLang="en-US" sz="2800" dirty="0">
                <a:latin typeface="Garamond" panose="02020404030301010803" pitchFamily="18" charset="0"/>
              </a:rPr>
              <a:t>Changes in world weather (more storm and drought)</a:t>
            </a:r>
          </a:p>
          <a:p>
            <a:pPr eaLnBrk="1" hangingPunct="1"/>
            <a:r>
              <a:rPr lang="en-US" altLang="en-US" sz="2800" dirty="0">
                <a:latin typeface="Garamond" panose="02020404030301010803" pitchFamily="18" charset="0"/>
              </a:rPr>
              <a:t>Less food supply, in extreme cases leading to famine</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0055"/>
    </mc:Choice>
    <mc:Fallback xmlns="">
      <p:transition spd="slow" advTm="5005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178"/>
                                        </p:tgtEl>
                                        <p:attrNameLst>
                                          <p:attrName>style.visibility</p:attrName>
                                        </p:attrNameLst>
                                      </p:cBhvr>
                                      <p:to>
                                        <p:strVal val="visible"/>
                                      </p:to>
                                    </p:set>
                                    <p:animEffect transition="in" filter="fade">
                                      <p:cBhvr>
                                        <p:cTn id="7" dur="1000"/>
                                        <p:tgtEl>
                                          <p:spTgt spid="50178"/>
                                        </p:tgtEl>
                                      </p:cBhvr>
                                    </p:animEffect>
                                    <p:anim calcmode="lin" valueType="num">
                                      <p:cBhvr>
                                        <p:cTn id="8" dur="1000" fill="hold"/>
                                        <p:tgtEl>
                                          <p:spTgt spid="50178"/>
                                        </p:tgtEl>
                                        <p:attrNameLst>
                                          <p:attrName>ppt_x</p:attrName>
                                        </p:attrNameLst>
                                      </p:cBhvr>
                                      <p:tavLst>
                                        <p:tav tm="0">
                                          <p:val>
                                            <p:strVal val="#ppt_x"/>
                                          </p:val>
                                        </p:tav>
                                        <p:tav tm="100000">
                                          <p:val>
                                            <p:strVal val="#ppt_x"/>
                                          </p:val>
                                        </p:tav>
                                      </p:tavLst>
                                    </p:anim>
                                    <p:anim calcmode="lin" valueType="num">
                                      <p:cBhvr>
                                        <p:cTn id="9" dur="1000" fill="hold"/>
                                        <p:tgtEl>
                                          <p:spTgt spid="5017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9699">
                                            <p:txEl>
                                              <p:pRg st="0" end="0"/>
                                            </p:txEl>
                                          </p:spTgt>
                                        </p:tgtEl>
                                        <p:attrNameLst>
                                          <p:attrName>style.visibility</p:attrName>
                                        </p:attrNameLst>
                                      </p:cBhvr>
                                      <p:to>
                                        <p:strVal val="visible"/>
                                      </p:to>
                                    </p:set>
                                    <p:animEffect transition="in" filter="fade">
                                      <p:cBhvr>
                                        <p:cTn id="14" dur="1000"/>
                                        <p:tgtEl>
                                          <p:spTgt spid="29699">
                                            <p:txEl>
                                              <p:pRg st="0" end="0"/>
                                            </p:txEl>
                                          </p:spTgt>
                                        </p:tgtEl>
                                      </p:cBhvr>
                                    </p:animEffect>
                                    <p:anim calcmode="lin" valueType="num">
                                      <p:cBhvr>
                                        <p:cTn id="15" dur="1000" fill="hold"/>
                                        <p:tgtEl>
                                          <p:spTgt spid="29699">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969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9699">
                                            <p:txEl>
                                              <p:pRg st="1" end="1"/>
                                            </p:txEl>
                                          </p:spTgt>
                                        </p:tgtEl>
                                        <p:attrNameLst>
                                          <p:attrName>style.visibility</p:attrName>
                                        </p:attrNameLst>
                                      </p:cBhvr>
                                      <p:to>
                                        <p:strVal val="visible"/>
                                      </p:to>
                                    </p:set>
                                    <p:animEffect transition="in" filter="fade">
                                      <p:cBhvr>
                                        <p:cTn id="21" dur="1000"/>
                                        <p:tgtEl>
                                          <p:spTgt spid="29699">
                                            <p:txEl>
                                              <p:pRg st="1" end="1"/>
                                            </p:txEl>
                                          </p:spTgt>
                                        </p:tgtEl>
                                      </p:cBhvr>
                                    </p:animEffect>
                                    <p:anim calcmode="lin" valueType="num">
                                      <p:cBhvr>
                                        <p:cTn id="22" dur="1000" fill="hold"/>
                                        <p:tgtEl>
                                          <p:spTgt spid="29699">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969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9699">
                                            <p:txEl>
                                              <p:pRg st="2" end="2"/>
                                            </p:txEl>
                                          </p:spTgt>
                                        </p:tgtEl>
                                        <p:attrNameLst>
                                          <p:attrName>style.visibility</p:attrName>
                                        </p:attrNameLst>
                                      </p:cBhvr>
                                      <p:to>
                                        <p:strVal val="visible"/>
                                      </p:to>
                                    </p:set>
                                    <p:animEffect transition="in" filter="fade">
                                      <p:cBhvr>
                                        <p:cTn id="28" dur="1000"/>
                                        <p:tgtEl>
                                          <p:spTgt spid="29699">
                                            <p:txEl>
                                              <p:pRg st="2" end="2"/>
                                            </p:txEl>
                                          </p:spTgt>
                                        </p:tgtEl>
                                      </p:cBhvr>
                                    </p:animEffect>
                                    <p:anim calcmode="lin" valueType="num">
                                      <p:cBhvr>
                                        <p:cTn id="29" dur="1000" fill="hold"/>
                                        <p:tgtEl>
                                          <p:spTgt spid="29699">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969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9699">
                                            <p:txEl>
                                              <p:pRg st="3" end="3"/>
                                            </p:txEl>
                                          </p:spTgt>
                                        </p:tgtEl>
                                        <p:attrNameLst>
                                          <p:attrName>style.visibility</p:attrName>
                                        </p:attrNameLst>
                                      </p:cBhvr>
                                      <p:to>
                                        <p:strVal val="visible"/>
                                      </p:to>
                                    </p:set>
                                    <p:animEffect transition="in" filter="fade">
                                      <p:cBhvr>
                                        <p:cTn id="35" dur="1000"/>
                                        <p:tgtEl>
                                          <p:spTgt spid="29699">
                                            <p:txEl>
                                              <p:pRg st="3" end="3"/>
                                            </p:txEl>
                                          </p:spTgt>
                                        </p:tgtEl>
                                      </p:cBhvr>
                                    </p:animEffect>
                                    <p:anim calcmode="lin" valueType="num">
                                      <p:cBhvr>
                                        <p:cTn id="36" dur="1000" fill="hold"/>
                                        <p:tgtEl>
                                          <p:spTgt spid="29699">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969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9699">
                                            <p:txEl>
                                              <p:pRg st="4" end="4"/>
                                            </p:txEl>
                                          </p:spTgt>
                                        </p:tgtEl>
                                        <p:attrNameLst>
                                          <p:attrName>style.visibility</p:attrName>
                                        </p:attrNameLst>
                                      </p:cBhvr>
                                      <p:to>
                                        <p:strVal val="visible"/>
                                      </p:to>
                                    </p:set>
                                    <p:animEffect transition="in" filter="fade">
                                      <p:cBhvr>
                                        <p:cTn id="42" dur="1000"/>
                                        <p:tgtEl>
                                          <p:spTgt spid="29699">
                                            <p:txEl>
                                              <p:pRg st="4" end="4"/>
                                            </p:txEl>
                                          </p:spTgt>
                                        </p:tgtEl>
                                      </p:cBhvr>
                                    </p:animEffect>
                                    <p:anim calcmode="lin" valueType="num">
                                      <p:cBhvr>
                                        <p:cTn id="43" dur="1000" fill="hold"/>
                                        <p:tgtEl>
                                          <p:spTgt spid="29699">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969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9699">
                                            <p:txEl>
                                              <p:pRg st="5" end="5"/>
                                            </p:txEl>
                                          </p:spTgt>
                                        </p:tgtEl>
                                        <p:attrNameLst>
                                          <p:attrName>style.visibility</p:attrName>
                                        </p:attrNameLst>
                                      </p:cBhvr>
                                      <p:to>
                                        <p:strVal val="visible"/>
                                      </p:to>
                                    </p:set>
                                    <p:animEffect transition="in" filter="fade">
                                      <p:cBhvr>
                                        <p:cTn id="49" dur="1000"/>
                                        <p:tgtEl>
                                          <p:spTgt spid="29699">
                                            <p:txEl>
                                              <p:pRg st="5" end="5"/>
                                            </p:txEl>
                                          </p:spTgt>
                                        </p:tgtEl>
                                      </p:cBhvr>
                                    </p:animEffect>
                                    <p:anim calcmode="lin" valueType="num">
                                      <p:cBhvr>
                                        <p:cTn id="50" dur="1000" fill="hold"/>
                                        <p:tgtEl>
                                          <p:spTgt spid="29699">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9699">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8" grpId="0"/>
      <p:bldP spid="29699"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26264-3DC0-4CBC-A5CB-700104FE430D}"/>
              </a:ext>
            </a:extLst>
          </p:cNvPr>
          <p:cNvSpPr>
            <a:spLocks noGrp="1"/>
          </p:cNvSpPr>
          <p:nvPr>
            <p:ph type="title"/>
          </p:nvPr>
        </p:nvSpPr>
        <p:spPr>
          <a:xfrm>
            <a:off x="1066800" y="76200"/>
            <a:ext cx="7543800" cy="457200"/>
          </a:xfrm>
        </p:spPr>
        <p:txBody>
          <a:bodyPr>
            <a:normAutofit fontScale="90000"/>
          </a:bodyPr>
          <a:lstStyle/>
          <a:p>
            <a:pPr algn="ctr" eaLnBrk="1" fontAlgn="auto" hangingPunct="1">
              <a:spcAft>
                <a:spcPts val="0"/>
              </a:spcAft>
              <a:defRPr/>
            </a:pPr>
            <a:r>
              <a:rPr lang="en-US" sz="3600" dirty="0">
                <a:solidFill>
                  <a:schemeClr val="tx1"/>
                </a:solidFill>
                <a:latin typeface="Garamond" pitchFamily="18" charset="0"/>
              </a:rPr>
              <a:t>Acid Rain</a:t>
            </a:r>
          </a:p>
        </p:txBody>
      </p:sp>
      <p:sp>
        <p:nvSpPr>
          <p:cNvPr id="30723" name="Content Placeholder 2">
            <a:extLst>
              <a:ext uri="{FF2B5EF4-FFF2-40B4-BE49-F238E27FC236}">
                <a16:creationId xmlns:a16="http://schemas.microsoft.com/office/drawing/2014/main" id="{06572D2C-97E7-4411-93C2-007E7575B687}"/>
              </a:ext>
            </a:extLst>
          </p:cNvPr>
          <p:cNvSpPr>
            <a:spLocks noGrp="1"/>
          </p:cNvSpPr>
          <p:nvPr>
            <p:ph idx="1"/>
          </p:nvPr>
        </p:nvSpPr>
        <p:spPr>
          <a:xfrm>
            <a:off x="800100" y="1302798"/>
            <a:ext cx="8077200" cy="5562600"/>
          </a:xfrm>
        </p:spPr>
        <p:txBody>
          <a:bodyPr>
            <a:normAutofit/>
          </a:bodyPr>
          <a:lstStyle/>
          <a:p>
            <a:pPr algn="just"/>
            <a:r>
              <a:rPr lang="en-US" altLang="en-US" sz="2800" dirty="0">
                <a:latin typeface="Garamond" panose="02020404030301010803" pitchFamily="18" charset="0"/>
              </a:rPr>
              <a:t>Acid rain encompasses both wet(rain, snow, fog) and dry  acidic depositions that occur in areas where major emissions of sulfur oxides (SO</a:t>
            </a:r>
            <a:r>
              <a:rPr lang="en-US" altLang="en-US" sz="2800" baseline="-25000" dirty="0">
                <a:latin typeface="Garamond" panose="02020404030301010803" pitchFamily="18" charset="0"/>
              </a:rPr>
              <a:t>X</a:t>
            </a:r>
            <a:r>
              <a:rPr lang="en-US" altLang="en-US" sz="2800" dirty="0">
                <a:latin typeface="Garamond" panose="02020404030301010803" pitchFamily="18" charset="0"/>
              </a:rPr>
              <a:t>) and nitrogen oxides (NOx) result from burning fossil fuels.</a:t>
            </a:r>
          </a:p>
          <a:p>
            <a:pPr algn="just" eaLnBrk="1" hangingPunct="1"/>
            <a:r>
              <a:rPr lang="en-US" altLang="en-US" sz="2800" dirty="0">
                <a:latin typeface="Garamond" panose="02020404030301010803" pitchFamily="18" charset="0"/>
              </a:rPr>
              <a:t>Pure rain fall has a pH about 5.6 where 1 is highly  acid and 7 is neutral. Acid rain is defined as precipitation in which the pH is below 5.6.</a:t>
            </a:r>
          </a:p>
          <a:p>
            <a:pPr algn="just" eaLnBrk="1" hangingPunct="1"/>
            <a:r>
              <a:rPr lang="en-US" altLang="en-US" sz="2800" dirty="0">
                <a:latin typeface="Garamond" panose="02020404030301010803" pitchFamily="18" charset="0"/>
              </a:rPr>
              <a:t>Acid rain damages not only forests and lakes but also many building materials, including steel, paint, plastics, cement, galvanized steel and several type of rock, especially limestone, sandstone and marble.</a:t>
            </a:r>
          </a:p>
          <a:p>
            <a:pPr algn="just" eaLnBrk="1" hangingPunct="1">
              <a:buFont typeface="Wingdings" panose="05000000000000000000" pitchFamily="2" charset="2"/>
              <a:buNone/>
            </a:pPr>
            <a:endParaRPr lang="en-US" altLang="en-US" sz="2800" dirty="0">
              <a:latin typeface="Garamond" panose="02020404030301010803" pitchFamily="18" charset="0"/>
            </a:endParaRPr>
          </a:p>
          <a:p>
            <a:pPr algn="just" eaLnBrk="1" hangingPunct="1">
              <a:buFont typeface="Wingdings" panose="05000000000000000000" pitchFamily="2" charset="2"/>
              <a:buNone/>
            </a:pPr>
            <a:endParaRPr lang="en-US" altLang="en-US" sz="2800" dirty="0">
              <a:latin typeface="Garamond" panose="02020404030301010803" pitchFamily="18"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98007"/>
    </mc:Choice>
    <mc:Fallback xmlns="">
      <p:transition spd="slow" advTm="9800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0723">
                                            <p:txEl>
                                              <p:pRg st="0" end="0"/>
                                            </p:txEl>
                                          </p:spTgt>
                                        </p:tgtEl>
                                        <p:attrNameLst>
                                          <p:attrName>style.visibility</p:attrName>
                                        </p:attrNameLst>
                                      </p:cBhvr>
                                      <p:to>
                                        <p:strVal val="visible"/>
                                      </p:to>
                                    </p:set>
                                    <p:animEffect transition="in" filter="fade">
                                      <p:cBhvr>
                                        <p:cTn id="14" dur="1000"/>
                                        <p:tgtEl>
                                          <p:spTgt spid="30723">
                                            <p:txEl>
                                              <p:pRg st="0" end="0"/>
                                            </p:txEl>
                                          </p:spTgt>
                                        </p:tgtEl>
                                      </p:cBhvr>
                                    </p:animEffect>
                                    <p:anim calcmode="lin" valueType="num">
                                      <p:cBhvr>
                                        <p:cTn id="15" dur="1000" fill="hold"/>
                                        <p:tgtEl>
                                          <p:spTgt spid="3072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072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0723">
                                            <p:txEl>
                                              <p:pRg st="1" end="1"/>
                                            </p:txEl>
                                          </p:spTgt>
                                        </p:tgtEl>
                                        <p:attrNameLst>
                                          <p:attrName>style.visibility</p:attrName>
                                        </p:attrNameLst>
                                      </p:cBhvr>
                                      <p:to>
                                        <p:strVal val="visible"/>
                                      </p:to>
                                    </p:set>
                                    <p:animEffect transition="in" filter="fade">
                                      <p:cBhvr>
                                        <p:cTn id="21" dur="1000"/>
                                        <p:tgtEl>
                                          <p:spTgt spid="30723">
                                            <p:txEl>
                                              <p:pRg st="1" end="1"/>
                                            </p:txEl>
                                          </p:spTgt>
                                        </p:tgtEl>
                                      </p:cBhvr>
                                    </p:animEffect>
                                    <p:anim calcmode="lin" valueType="num">
                                      <p:cBhvr>
                                        <p:cTn id="22" dur="1000" fill="hold"/>
                                        <p:tgtEl>
                                          <p:spTgt spid="3072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072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0723">
                                            <p:txEl>
                                              <p:pRg st="2" end="2"/>
                                            </p:txEl>
                                          </p:spTgt>
                                        </p:tgtEl>
                                        <p:attrNameLst>
                                          <p:attrName>style.visibility</p:attrName>
                                        </p:attrNameLst>
                                      </p:cBhvr>
                                      <p:to>
                                        <p:strVal val="visible"/>
                                      </p:to>
                                    </p:set>
                                    <p:animEffect transition="in" filter="fade">
                                      <p:cBhvr>
                                        <p:cTn id="28" dur="1000"/>
                                        <p:tgtEl>
                                          <p:spTgt spid="30723">
                                            <p:txEl>
                                              <p:pRg st="2" end="2"/>
                                            </p:txEl>
                                          </p:spTgt>
                                        </p:tgtEl>
                                      </p:cBhvr>
                                    </p:animEffect>
                                    <p:anim calcmode="lin" valueType="num">
                                      <p:cBhvr>
                                        <p:cTn id="29" dur="1000" fill="hold"/>
                                        <p:tgtEl>
                                          <p:spTgt spid="3072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072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072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A2BAC-5E0A-4281-B380-636784FF77B0}"/>
              </a:ext>
            </a:extLst>
          </p:cNvPr>
          <p:cNvSpPr>
            <a:spLocks noGrp="1"/>
          </p:cNvSpPr>
          <p:nvPr>
            <p:ph type="title"/>
          </p:nvPr>
        </p:nvSpPr>
        <p:spPr>
          <a:xfrm>
            <a:off x="609600" y="152400"/>
            <a:ext cx="7543800" cy="457200"/>
          </a:xfrm>
        </p:spPr>
        <p:txBody>
          <a:bodyPr>
            <a:normAutofit fontScale="90000"/>
          </a:bodyPr>
          <a:lstStyle/>
          <a:p>
            <a:pPr algn="ctr" eaLnBrk="1" fontAlgn="auto" hangingPunct="1">
              <a:spcAft>
                <a:spcPts val="0"/>
              </a:spcAft>
              <a:defRPr/>
            </a:pPr>
            <a:r>
              <a:rPr lang="en-US" sz="3600" dirty="0">
                <a:solidFill>
                  <a:schemeClr val="tx1"/>
                </a:solidFill>
                <a:latin typeface="Garamond" pitchFamily="18" charset="0"/>
              </a:rPr>
              <a:t>Smog </a:t>
            </a:r>
          </a:p>
        </p:txBody>
      </p:sp>
      <p:sp>
        <p:nvSpPr>
          <p:cNvPr id="3" name="Content Placeholder 2">
            <a:extLst>
              <a:ext uri="{FF2B5EF4-FFF2-40B4-BE49-F238E27FC236}">
                <a16:creationId xmlns:a16="http://schemas.microsoft.com/office/drawing/2014/main" id="{72DCD989-5381-49F5-996D-17BF5AB7B5BD}"/>
              </a:ext>
            </a:extLst>
          </p:cNvPr>
          <p:cNvSpPr>
            <a:spLocks noGrp="1"/>
          </p:cNvSpPr>
          <p:nvPr>
            <p:ph idx="1"/>
          </p:nvPr>
        </p:nvSpPr>
        <p:spPr>
          <a:xfrm>
            <a:off x="609600" y="762000"/>
            <a:ext cx="8153400" cy="5943600"/>
          </a:xfrm>
        </p:spPr>
        <p:txBody>
          <a:bodyPr>
            <a:normAutofit/>
          </a:bodyPr>
          <a:lstStyle/>
          <a:p>
            <a:pPr marL="365760" indent="-283464" algn="just" eaLnBrk="1" fontAlgn="auto" hangingPunct="1">
              <a:spcAft>
                <a:spcPts val="0"/>
              </a:spcAft>
              <a:buFont typeface="Wingdings 2"/>
              <a:buChar char=""/>
              <a:defRPr/>
            </a:pPr>
            <a:r>
              <a:rPr lang="en-US" sz="2800" dirty="0">
                <a:latin typeface="Garamond" pitchFamily="18" charset="0"/>
              </a:rPr>
              <a:t>There are two major types of smog.</a:t>
            </a:r>
          </a:p>
          <a:p>
            <a:pPr marL="640080" lvl="1" indent="-237744" algn="just">
              <a:spcAft>
                <a:spcPts val="0"/>
              </a:spcAft>
              <a:buFont typeface="Verdana"/>
              <a:buChar char="◦"/>
              <a:defRPr/>
            </a:pPr>
            <a:r>
              <a:rPr lang="en-US" sz="2400" i="1" dirty="0">
                <a:latin typeface="Garamond" pitchFamily="18" charset="0"/>
              </a:rPr>
              <a:t>Photochemical smog </a:t>
            </a:r>
            <a:r>
              <a:rPr lang="en-US" sz="2400" dirty="0">
                <a:latin typeface="Garamond" pitchFamily="18" charset="0"/>
              </a:rPr>
              <a:t>which is sometimes called L.A. type smog or brown air. Solar radiation is particularly important for the formation of photochemical smog. It involves both NO and hydrocarbons. The development of  these type of smog is directly related to automobiles use.</a:t>
            </a:r>
          </a:p>
          <a:p>
            <a:pPr marL="640080" lvl="1" indent="-237744" algn="just" eaLnBrk="1" fontAlgn="auto" hangingPunct="1">
              <a:spcAft>
                <a:spcPts val="0"/>
              </a:spcAft>
              <a:buFont typeface="Verdana"/>
              <a:buChar char="◦"/>
              <a:defRPr/>
            </a:pPr>
            <a:r>
              <a:rPr lang="en-US" sz="2400" i="1" dirty="0">
                <a:latin typeface="Garamond" pitchFamily="18" charset="0"/>
              </a:rPr>
              <a:t>Sulfurous smog </a:t>
            </a:r>
            <a:r>
              <a:rPr lang="en-US" sz="2400" dirty="0">
                <a:latin typeface="Garamond" pitchFamily="18" charset="0"/>
              </a:rPr>
              <a:t>which is sometimes referred to as London-type smog, grey air or industrial smog. Sulfurous smog  is produced primarily by burning coal or oil at large power plants. Sulfur oxides and particulates combined under  certain meteorological conditions to produce a concentrated  sulfurous smog.  </a:t>
            </a:r>
          </a:p>
          <a:p>
            <a:pPr marL="0" indent="0">
              <a:buNone/>
            </a:pPr>
            <a:r>
              <a:rPr lang="en-US" dirty="0"/>
              <a:t/>
            </a:r>
            <a:br>
              <a:rPr lang="en-US" dirty="0"/>
            </a:br>
            <a:endParaRPr lang="en-US" dirty="0">
              <a:latin typeface="Garamond" pitchFamily="18" charset="0"/>
            </a:endParaRPr>
          </a:p>
          <a:p>
            <a:pPr marL="640080" lvl="1" indent="-237744" eaLnBrk="1" fontAlgn="auto" hangingPunct="1">
              <a:spcAft>
                <a:spcPts val="0"/>
              </a:spcAft>
              <a:buFont typeface="Verdana"/>
              <a:buChar char="◦"/>
              <a:defRPr/>
            </a:pPr>
            <a:endParaRPr lang="en-US" sz="2400" dirty="0">
              <a:latin typeface="Garamond" pitchFamily="18"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88865"/>
    </mc:Choice>
    <mc:Fallback xmlns="">
      <p:transition spd="slow" advTm="8886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additive="base">
                                        <p:cTn id="2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F55FB7CB-D005-4489-8885-385EDF7F23D6}"/>
              </a:ext>
            </a:extLst>
          </p:cNvPr>
          <p:cNvSpPr>
            <a:spLocks noGrp="1" noChangeArrowheads="1"/>
          </p:cNvSpPr>
          <p:nvPr>
            <p:ph type="title"/>
          </p:nvPr>
        </p:nvSpPr>
        <p:spPr>
          <a:xfrm>
            <a:off x="990600" y="685800"/>
            <a:ext cx="6858000" cy="609600"/>
          </a:xfrm>
        </p:spPr>
        <p:txBody>
          <a:bodyPr>
            <a:normAutofit fontScale="90000"/>
          </a:bodyPr>
          <a:lstStyle/>
          <a:p>
            <a:pPr algn="ctr" eaLnBrk="1" fontAlgn="auto" hangingPunct="1">
              <a:spcAft>
                <a:spcPts val="0"/>
              </a:spcAft>
              <a:defRPr/>
            </a:pPr>
            <a:r>
              <a:rPr lang="en-US" sz="3600" dirty="0">
                <a:solidFill>
                  <a:schemeClr val="tx2">
                    <a:satMod val="130000"/>
                  </a:schemeClr>
                </a:solidFill>
                <a:latin typeface="Garamond" pitchFamily="18" charset="0"/>
              </a:rPr>
              <a:t>Noise pollution</a:t>
            </a:r>
          </a:p>
        </p:txBody>
      </p:sp>
      <p:sp>
        <p:nvSpPr>
          <p:cNvPr id="33795" name="Rectangle 3">
            <a:extLst>
              <a:ext uri="{FF2B5EF4-FFF2-40B4-BE49-F238E27FC236}">
                <a16:creationId xmlns:a16="http://schemas.microsoft.com/office/drawing/2014/main" id="{37F74D7E-37CB-4D29-8527-9779BC475362}"/>
              </a:ext>
            </a:extLst>
          </p:cNvPr>
          <p:cNvSpPr>
            <a:spLocks noGrp="1"/>
          </p:cNvSpPr>
          <p:nvPr>
            <p:ph idx="1"/>
          </p:nvPr>
        </p:nvSpPr>
        <p:spPr>
          <a:xfrm>
            <a:off x="914400" y="990600"/>
            <a:ext cx="7772400" cy="5562600"/>
          </a:xfrm>
        </p:spPr>
        <p:txBody>
          <a:bodyPr/>
          <a:lstStyle/>
          <a:p>
            <a:pPr algn="just" eaLnBrk="1" hangingPunct="1"/>
            <a:r>
              <a:rPr lang="en-US" altLang="en-US" dirty="0">
                <a:latin typeface="Garamond" panose="02020404030301010803" pitchFamily="18" charset="0"/>
              </a:rPr>
              <a:t>Sound is a physical phenomenon recognized as a physiological response by the hearing organ. Sound is a series of alternative waves traveling in a medium such as air from a vibrating body.</a:t>
            </a:r>
          </a:p>
          <a:p>
            <a:pPr algn="just" eaLnBrk="1" hangingPunct="1"/>
            <a:r>
              <a:rPr lang="en-US" altLang="en-US" dirty="0">
                <a:latin typeface="Garamond" panose="02020404030301010803" pitchFamily="18" charset="0"/>
              </a:rPr>
              <a:t>Noise can be defined as disturbing sound. It is an undesirable phenomenon and considered as an environmental pollutant.</a:t>
            </a:r>
          </a:p>
          <a:p>
            <a:pPr eaLnBrk="1" hangingPunct="1">
              <a:buFont typeface="Wingdings" panose="05000000000000000000" pitchFamily="2" charset="2"/>
              <a:buNone/>
            </a:pPr>
            <a:endParaRPr lang="en-US" altLang="en-US" dirty="0">
              <a:latin typeface="Garamond" panose="02020404030301010803" pitchFamily="18"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8427"/>
    </mc:Choice>
    <mc:Fallback xmlns="">
      <p:transition spd="slow" advTm="2842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1202"/>
                                        </p:tgtEl>
                                        <p:attrNameLst>
                                          <p:attrName>style.visibility</p:attrName>
                                        </p:attrNameLst>
                                      </p:cBhvr>
                                      <p:to>
                                        <p:strVal val="visible"/>
                                      </p:to>
                                    </p:set>
                                    <p:animEffect transition="in" filter="fade">
                                      <p:cBhvr>
                                        <p:cTn id="7" dur="1000"/>
                                        <p:tgtEl>
                                          <p:spTgt spid="51202"/>
                                        </p:tgtEl>
                                      </p:cBhvr>
                                    </p:animEffect>
                                    <p:anim calcmode="lin" valueType="num">
                                      <p:cBhvr>
                                        <p:cTn id="8" dur="1000" fill="hold"/>
                                        <p:tgtEl>
                                          <p:spTgt spid="51202"/>
                                        </p:tgtEl>
                                        <p:attrNameLst>
                                          <p:attrName>ppt_x</p:attrName>
                                        </p:attrNameLst>
                                      </p:cBhvr>
                                      <p:tavLst>
                                        <p:tav tm="0">
                                          <p:val>
                                            <p:strVal val="#ppt_x"/>
                                          </p:val>
                                        </p:tav>
                                        <p:tav tm="100000">
                                          <p:val>
                                            <p:strVal val="#ppt_x"/>
                                          </p:val>
                                        </p:tav>
                                      </p:tavLst>
                                    </p:anim>
                                    <p:anim calcmode="lin" valueType="num">
                                      <p:cBhvr>
                                        <p:cTn id="9" dur="1000" fill="hold"/>
                                        <p:tgtEl>
                                          <p:spTgt spid="5120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3795">
                                            <p:txEl>
                                              <p:pRg st="0" end="0"/>
                                            </p:txEl>
                                          </p:spTgt>
                                        </p:tgtEl>
                                        <p:attrNameLst>
                                          <p:attrName>style.visibility</p:attrName>
                                        </p:attrNameLst>
                                      </p:cBhvr>
                                      <p:to>
                                        <p:strVal val="visible"/>
                                      </p:to>
                                    </p:set>
                                    <p:anim calcmode="lin" valueType="num">
                                      <p:cBhvr additive="base">
                                        <p:cTn id="14" dur="500" fill="hold"/>
                                        <p:tgtEl>
                                          <p:spTgt spid="33795">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379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33795">
                                            <p:txEl>
                                              <p:pRg st="1" end="1"/>
                                            </p:txEl>
                                          </p:spTgt>
                                        </p:tgtEl>
                                        <p:attrNameLst>
                                          <p:attrName>style.visibility</p:attrName>
                                        </p:attrNameLst>
                                      </p:cBhvr>
                                      <p:to>
                                        <p:strVal val="visible"/>
                                      </p:to>
                                    </p:set>
                                    <p:anim calcmode="lin" valueType="num">
                                      <p:cBhvr additive="base">
                                        <p:cTn id="20" dur="500" fill="hold"/>
                                        <p:tgtEl>
                                          <p:spTgt spid="33795">
                                            <p:txEl>
                                              <p:pRg st="1" end="1"/>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379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a:extLst>
              <a:ext uri="{FF2B5EF4-FFF2-40B4-BE49-F238E27FC236}">
                <a16:creationId xmlns:a16="http://schemas.microsoft.com/office/drawing/2014/main" id="{FA0122BC-C9AD-4AE7-BC43-75408B64D173}"/>
              </a:ext>
            </a:extLst>
          </p:cNvPr>
          <p:cNvPicPr>
            <a:picLocks noGrp="1" noChangeAspect="1" noChangeArrowheads="1"/>
          </p:cNvPicPr>
          <p:nvPr>
            <p:ph type="title"/>
          </p:nvPr>
        </p:nvPicPr>
        <p:blipFill>
          <a:blip r:embed="rId3">
            <a:extLst>
              <a:ext uri="{28A0092B-C50C-407E-A947-70E740481C1C}">
                <a14:useLocalDpi xmlns:a14="http://schemas.microsoft.com/office/drawing/2010/main" val="0"/>
              </a:ext>
            </a:extLst>
          </a:blip>
          <a:srcRect/>
          <a:stretch>
            <a:fillRect/>
          </a:stretch>
        </p:blipFill>
        <p:spPr bwMode="auto">
          <a:xfrm>
            <a:off x="990600" y="609600"/>
            <a:ext cx="7807980" cy="5867400"/>
          </a:xfr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5355"/>
    </mc:Choice>
    <mc:Fallback xmlns="">
      <p:transition spd="slow" advTm="2535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4818"/>
                                        </p:tgtEl>
                                        <p:attrNameLst>
                                          <p:attrName>style.visibility</p:attrName>
                                        </p:attrNameLst>
                                      </p:cBhvr>
                                      <p:to>
                                        <p:strVal val="visible"/>
                                      </p:to>
                                    </p:set>
                                    <p:animEffect transition="in" filter="barn(inVertical)">
                                      <p:cBhvr>
                                        <p:cTn id="7" dur="500"/>
                                        <p:tgtEl>
                                          <p:spTgt spid="348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54904-49B5-4AE3-A2D6-C3A10FA0B922}"/>
              </a:ext>
            </a:extLst>
          </p:cNvPr>
          <p:cNvSpPr>
            <a:spLocks noGrp="1"/>
          </p:cNvSpPr>
          <p:nvPr>
            <p:ph type="title"/>
          </p:nvPr>
        </p:nvSpPr>
        <p:spPr>
          <a:xfrm>
            <a:off x="1295400" y="152400"/>
            <a:ext cx="6409267" cy="380999"/>
          </a:xfrm>
        </p:spPr>
        <p:txBody>
          <a:bodyPr>
            <a:normAutofit fontScale="90000"/>
          </a:bodyPr>
          <a:lstStyle/>
          <a:p>
            <a:r>
              <a:rPr lang="en-US" dirty="0"/>
              <a:t>Effects of Noise pollution</a:t>
            </a:r>
          </a:p>
        </p:txBody>
      </p:sp>
      <p:sp>
        <p:nvSpPr>
          <p:cNvPr id="3" name="Content Placeholder 2">
            <a:extLst>
              <a:ext uri="{FF2B5EF4-FFF2-40B4-BE49-F238E27FC236}">
                <a16:creationId xmlns:a16="http://schemas.microsoft.com/office/drawing/2014/main" id="{F45B1A4B-9D94-495C-B3C7-65B647CC219A}"/>
              </a:ext>
            </a:extLst>
          </p:cNvPr>
          <p:cNvSpPr>
            <a:spLocks noGrp="1"/>
          </p:cNvSpPr>
          <p:nvPr>
            <p:ph idx="1"/>
          </p:nvPr>
        </p:nvSpPr>
        <p:spPr>
          <a:xfrm>
            <a:off x="381000" y="2057400"/>
            <a:ext cx="8686800" cy="3332816"/>
          </a:xfrm>
        </p:spPr>
        <p:txBody>
          <a:bodyPr>
            <a:noAutofit/>
          </a:bodyPr>
          <a:lstStyle/>
          <a:p>
            <a:pPr algn="just"/>
            <a:r>
              <a:rPr lang="en-US" sz="2000" dirty="0">
                <a:latin typeface="Garamond" panose="02020404030301010803" pitchFamily="18" charset="0"/>
              </a:rPr>
              <a:t>Any unwanted sound that our ears have not been built to filter can </a:t>
            </a:r>
            <a:r>
              <a:rPr lang="en-US" sz="2000" dirty="0">
                <a:latin typeface="Garamond" panose="02020404030301010803" pitchFamily="18" charset="0"/>
                <a:hlinkClick r:id="rId3">
                  <a:extLst>
                    <a:ext uri="{A12FA001-AC4F-418D-AE19-62706E023703}">
                      <ahyp:hlinkClr xmlns:ahyp="http://schemas.microsoft.com/office/drawing/2018/hyperlinkcolor" xmlns="" val="tx"/>
                    </a:ext>
                  </a:extLst>
                </a:hlinkClick>
              </a:rPr>
              <a:t>cause </a:t>
            </a:r>
            <a:r>
              <a:rPr lang="en-US" sz="2000" dirty="0">
                <a:latin typeface="Garamond" panose="02020404030301010803" pitchFamily="18" charset="0"/>
              </a:rPr>
              <a:t>problems within the body. Our ears can take in a certain range of sounds without getting damaged.</a:t>
            </a:r>
          </a:p>
          <a:p>
            <a:pPr algn="just"/>
            <a:r>
              <a:rPr lang="en-US" sz="2000" dirty="0">
                <a:latin typeface="Garamond" panose="02020404030301010803" pitchFamily="18" charset="0"/>
              </a:rPr>
              <a:t>Constant exposure to loud levels of noise can easily result in the damage of our eardrums and loss of hearing, causing deafness</a:t>
            </a:r>
          </a:p>
          <a:p>
            <a:pPr algn="just"/>
            <a:r>
              <a:rPr lang="en-US" sz="2000" dirty="0">
                <a:latin typeface="Garamond" panose="02020404030301010803" pitchFamily="18" charset="0"/>
              </a:rPr>
              <a:t>Excessive noise pollution in working areas such as offices, construction sites, bars and even in our homes can influence psychological health.</a:t>
            </a:r>
          </a:p>
          <a:p>
            <a:pPr algn="just"/>
            <a:r>
              <a:rPr lang="en-US" sz="2000" dirty="0">
                <a:latin typeface="Garamond" panose="02020404030301010803" pitchFamily="18" charset="0"/>
              </a:rPr>
              <a:t>Studies show that the occurrence of aggressive behavior, disturbance of sleep, constant stress, fatigue, depression, anxiety, hysteria and hypertension in humans can be linked to excessive noise levels. </a:t>
            </a:r>
          </a:p>
          <a:p>
            <a:pPr algn="just"/>
            <a:r>
              <a:rPr lang="en-US" sz="2000" dirty="0">
                <a:latin typeface="Garamond" panose="02020404030301010803" pitchFamily="18" charset="0"/>
              </a:rPr>
              <a:t>Noise pollution can cause headaches, high blood pressure, respiratory problems, racing pulse</a:t>
            </a:r>
          </a:p>
          <a:p>
            <a:pPr algn="just"/>
            <a:r>
              <a:rPr lang="en-US" sz="2000" dirty="0">
                <a:latin typeface="Garamond" panose="02020404030301010803" pitchFamily="18" charset="0"/>
              </a:rPr>
              <a:t>Noise affects brain responses and people’s ability to focus, which can lead to low-performance levels over time.</a:t>
            </a:r>
          </a:p>
          <a:p>
            <a:pPr algn="just"/>
            <a:r>
              <a:rPr lang="en-US" sz="2000" dirty="0">
                <a:latin typeface="Garamond" panose="02020404030301010803" pitchFamily="18" charset="0"/>
              </a:rPr>
              <a:t>Blood pressure levels, cardiovascular disease, and stress-related heart problems are on the rise.</a:t>
            </a:r>
          </a:p>
          <a:p>
            <a:pPr algn="just"/>
            <a:r>
              <a:rPr lang="en-US" sz="2000" dirty="0">
                <a:latin typeface="Garamond" panose="02020404030301010803" pitchFamily="18" charset="0"/>
              </a:rPr>
              <a:t>High decibel noise can put trouble and affect free communication between people. </a:t>
            </a:r>
          </a:p>
        </p:txBody>
      </p:sp>
    </p:spTree>
    <p:custDataLst>
      <p:tags r:id="rId1"/>
    </p:custDataLst>
    <p:extLst>
      <p:ext uri="{BB962C8B-B14F-4D97-AF65-F5344CB8AC3E}">
        <p14:creationId xmlns:p14="http://schemas.microsoft.com/office/powerpoint/2010/main" val="1982848496"/>
      </p:ext>
    </p:extLst>
  </p:cSld>
  <p:clrMapOvr>
    <a:masterClrMapping/>
  </p:clrMapOvr>
  <mc:AlternateContent xmlns:mc="http://schemas.openxmlformats.org/markup-compatibility/2006" xmlns:p14="http://schemas.microsoft.com/office/powerpoint/2010/main">
    <mc:Choice Requires="p14">
      <p:transition spd="slow" p14:dur="2000" advTm="91546"/>
    </mc:Choice>
    <mc:Fallback xmlns="">
      <p:transition spd="slow" advTm="9154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additive="base">
                                        <p:cTn id="14"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 calcmode="lin" valueType="num">
                                      <p:cBhvr additive="base">
                                        <p:cTn id="20"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 calcmode="lin" valueType="num">
                                      <p:cBhvr additive="base">
                                        <p:cTn id="26"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 calcmode="lin" valueType="num">
                                      <p:cBhvr additive="base">
                                        <p:cTn id="32"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3">
                                            <p:txEl>
                                              <p:pRg st="4" end="4"/>
                                            </p:txEl>
                                          </p:spTgt>
                                        </p:tgtEl>
                                        <p:attrNameLst>
                                          <p:attrName>style.visibility</p:attrName>
                                        </p:attrNameLst>
                                      </p:cBhvr>
                                      <p:to>
                                        <p:strVal val="visible"/>
                                      </p:to>
                                    </p:set>
                                    <p:anim calcmode="lin" valueType="num">
                                      <p:cBhvr additive="base">
                                        <p:cTn id="38"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3">
                                            <p:txEl>
                                              <p:pRg st="5" end="5"/>
                                            </p:txEl>
                                          </p:spTgt>
                                        </p:tgtEl>
                                        <p:attrNameLst>
                                          <p:attrName>style.visibility</p:attrName>
                                        </p:attrNameLst>
                                      </p:cBhvr>
                                      <p:to>
                                        <p:strVal val="visible"/>
                                      </p:to>
                                    </p:set>
                                    <p:anim calcmode="lin" valueType="num">
                                      <p:cBhvr additive="base">
                                        <p:cTn id="44"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3">
                                            <p:txEl>
                                              <p:pRg st="6" end="6"/>
                                            </p:txEl>
                                          </p:spTgt>
                                        </p:tgtEl>
                                        <p:attrNameLst>
                                          <p:attrName>style.visibility</p:attrName>
                                        </p:attrNameLst>
                                      </p:cBhvr>
                                      <p:to>
                                        <p:strVal val="visible"/>
                                      </p:to>
                                    </p:set>
                                    <p:anim calcmode="lin" valueType="num">
                                      <p:cBhvr additive="base">
                                        <p:cTn id="50"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 calcmode="lin" valueType="num">
                                      <p:cBhvr additive="base">
                                        <p:cTn id="56"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7"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F2D7A0-794A-4DBB-B0CA-5844360C2E79}"/>
              </a:ext>
            </a:extLst>
          </p:cNvPr>
          <p:cNvSpPr>
            <a:spLocks noGrp="1"/>
          </p:cNvSpPr>
          <p:nvPr>
            <p:ph idx="1"/>
          </p:nvPr>
        </p:nvSpPr>
        <p:spPr>
          <a:xfrm>
            <a:off x="2514600" y="2438400"/>
            <a:ext cx="4732867" cy="1600200"/>
          </a:xfrm>
        </p:spPr>
        <p:txBody>
          <a:bodyPr/>
          <a:lstStyle/>
          <a:p>
            <a:pPr marL="0" indent="0">
              <a:buNone/>
            </a:pPr>
            <a:r>
              <a:rPr lang="en-US" sz="6000" dirty="0"/>
              <a:t>THANK YOU</a:t>
            </a:r>
          </a:p>
          <a:p>
            <a:endParaRPr lang="en-US" dirty="0"/>
          </a:p>
        </p:txBody>
      </p:sp>
    </p:spTree>
    <p:custDataLst>
      <p:tags r:id="rId1"/>
    </p:custDataLst>
    <p:extLst>
      <p:ext uri="{BB962C8B-B14F-4D97-AF65-F5344CB8AC3E}">
        <p14:creationId xmlns:p14="http://schemas.microsoft.com/office/powerpoint/2010/main" val="168849191"/>
      </p:ext>
    </p:extLst>
  </p:cSld>
  <p:clrMapOvr>
    <a:masterClrMapping/>
  </p:clrMapOvr>
  <mc:AlternateContent xmlns:mc="http://schemas.openxmlformats.org/markup-compatibility/2006" xmlns:p14="http://schemas.microsoft.com/office/powerpoint/2010/main">
    <mc:Choice Requires="p14">
      <p:transition spd="slow" p14:dur="2000" advTm="5558"/>
    </mc:Choice>
    <mc:Fallback xmlns="">
      <p:transition spd="slow" advTm="555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heel(1)">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TIMING" val="|0.7"/>
</p:tagLst>
</file>

<file path=ppt/tags/tag2.xml><?xml version="1.0" encoding="utf-8"?>
<p:tagLst xmlns:a="http://schemas.openxmlformats.org/drawingml/2006/main" xmlns:r="http://schemas.openxmlformats.org/officeDocument/2006/relationships" xmlns:p="http://schemas.openxmlformats.org/presentationml/2006/main">
  <p:tag name="TIMING" val="|0.5|3.5|79.5|29.7"/>
</p:tagLst>
</file>

<file path=ppt/tags/tag3.xml><?xml version="1.0" encoding="utf-8"?>
<p:tagLst xmlns:a="http://schemas.openxmlformats.org/drawingml/2006/main" xmlns:r="http://schemas.openxmlformats.org/officeDocument/2006/relationships" xmlns:p="http://schemas.openxmlformats.org/presentationml/2006/main">
  <p:tag name="TIMING" val="|0.6"/>
</p:tagLst>
</file>

<file path=ppt/tags/tag4.xml><?xml version="1.0" encoding="utf-8"?>
<p:tagLst xmlns:a="http://schemas.openxmlformats.org/drawingml/2006/main" xmlns:r="http://schemas.openxmlformats.org/officeDocument/2006/relationships" xmlns:p="http://schemas.openxmlformats.org/presentationml/2006/main">
  <p:tag name="TIMING" val="|0.8|11.3|3.3|2.9|2.3"/>
</p:tagLst>
</file>

<file path=ppt/tags/tag5.xml><?xml version="1.0" encoding="utf-8"?>
<p:tagLst xmlns:a="http://schemas.openxmlformats.org/drawingml/2006/main" xmlns:r="http://schemas.openxmlformats.org/officeDocument/2006/relationships" xmlns:p="http://schemas.openxmlformats.org/presentationml/2006/main">
  <p:tag name="TIMING" val="|0.5|3.6|5.2|65.3|10.1"/>
</p:tagLst>
</file>

<file path=ppt/tags/tag6.xml><?xml version="1.0" encoding="utf-8"?>
<p:tagLst xmlns:a="http://schemas.openxmlformats.org/drawingml/2006/main" xmlns:r="http://schemas.openxmlformats.org/officeDocument/2006/relationships" xmlns:p="http://schemas.openxmlformats.org/presentationml/2006/main">
  <p:tag name="TIMING" val="|0.7|3.5|3.9|16.8|23.1|7.2|6.9|16.3|16|46.7|44.1|4|4.1|4.9|4|3|3.6"/>
</p:tagLst>
</file>

<file path=ppt/tags/tag7.xml><?xml version="1.0" encoding="utf-8"?>
<p:tagLst xmlns:a="http://schemas.openxmlformats.org/drawingml/2006/main" xmlns:r="http://schemas.openxmlformats.org/officeDocument/2006/relationships" xmlns:p="http://schemas.openxmlformats.org/presentationml/2006/main">
  <p:tag name="TIMING" val="|1|4|25.9"/>
</p:tagLst>
</file>

<file path=ppt/tags/tag8.xml><?xml version="1.0" encoding="utf-8"?>
<p:tagLst xmlns:a="http://schemas.openxmlformats.org/drawingml/2006/main" xmlns:r="http://schemas.openxmlformats.org/officeDocument/2006/relationships" xmlns:p="http://schemas.openxmlformats.org/presentationml/2006/main">
  <p:tag name="TIMING" val="|1|11.1|32.3|9.3"/>
</p:tagLst>
</file>

<file path=ppt/tags/tag9.xml><?xml version="1.0" encoding="utf-8"?>
<p:tagLst xmlns:a="http://schemas.openxmlformats.org/drawingml/2006/main" xmlns:r="http://schemas.openxmlformats.org/officeDocument/2006/relationships" xmlns:p="http://schemas.openxmlformats.org/presentationml/2006/main">
  <p:tag name="TIMING" val="|0.6|3.4|6.1|3.6|2.7|7.1|5.2|3.9|3.4"/>
</p:tagLst>
</file>

<file path=ppt/tags/tag10.xml><?xml version="1.0" encoding="utf-8"?>
<p:tagLst xmlns:a="http://schemas.openxmlformats.org/drawingml/2006/main" xmlns:r="http://schemas.openxmlformats.org/officeDocument/2006/relationships" xmlns:p="http://schemas.openxmlformats.org/presentationml/2006/main">
  <p:tag name="TIMING" val="|0.6|3.5|8.1"/>
</p:tagLst>
</file>

<file path=ppt/tags/tag11.xml><?xml version="1.0" encoding="utf-8"?>
<p:tagLst xmlns:a="http://schemas.openxmlformats.org/drawingml/2006/main" xmlns:r="http://schemas.openxmlformats.org/officeDocument/2006/relationships" xmlns:p="http://schemas.openxmlformats.org/presentationml/2006/main">
  <p:tag name="TIMING" val="|1.3|2"/>
</p:tagLst>
</file>

<file path=ppt/tags/tag12.xml><?xml version="1.0" encoding="utf-8"?>
<p:tagLst xmlns:a="http://schemas.openxmlformats.org/drawingml/2006/main" xmlns:r="http://schemas.openxmlformats.org/officeDocument/2006/relationships" xmlns:p="http://schemas.openxmlformats.org/presentationml/2006/main">
  <p:tag name="TIMING" val="|0.6|5.1"/>
</p:tagLst>
</file>

<file path=ppt/tags/tag13.xml><?xml version="1.0" encoding="utf-8"?>
<p:tagLst xmlns:a="http://schemas.openxmlformats.org/drawingml/2006/main" xmlns:r="http://schemas.openxmlformats.org/officeDocument/2006/relationships" xmlns:p="http://schemas.openxmlformats.org/presentationml/2006/main">
  <p:tag name="TIMING" val="|0.3|3.2|14.3|20.7|10.4"/>
</p:tagLst>
</file>

<file path=ppt/tags/tag14.xml><?xml version="1.0" encoding="utf-8"?>
<p:tagLst xmlns:a="http://schemas.openxmlformats.org/drawingml/2006/main" xmlns:r="http://schemas.openxmlformats.org/officeDocument/2006/relationships" xmlns:p="http://schemas.openxmlformats.org/presentationml/2006/main">
  <p:tag name="TIMING" val="|1.2|3.2|8.9|7.5|7.1|7"/>
</p:tagLst>
</file>

<file path=ppt/tags/tag15.xml><?xml version="1.0" encoding="utf-8"?>
<p:tagLst xmlns:a="http://schemas.openxmlformats.org/drawingml/2006/main" xmlns:r="http://schemas.openxmlformats.org/officeDocument/2006/relationships" xmlns:p="http://schemas.openxmlformats.org/presentationml/2006/main">
  <p:tag name="TIMING" val="|0.8|6"/>
</p:tagLst>
</file>

<file path=ppt/tags/tag16.xml><?xml version="1.0" encoding="utf-8"?>
<p:tagLst xmlns:a="http://schemas.openxmlformats.org/drawingml/2006/main" xmlns:r="http://schemas.openxmlformats.org/officeDocument/2006/relationships" xmlns:p="http://schemas.openxmlformats.org/presentationml/2006/main">
  <p:tag name="TIMING" val="|0.8|3.1|8.1|9.4|5.5"/>
</p:tagLst>
</file>

<file path=ppt/tags/tag17.xml><?xml version="1.0" encoding="utf-8"?>
<p:tagLst xmlns:a="http://schemas.openxmlformats.org/drawingml/2006/main" xmlns:r="http://schemas.openxmlformats.org/officeDocument/2006/relationships" xmlns:p="http://schemas.openxmlformats.org/presentationml/2006/main">
  <p:tag name="TIMING" val="|0.8|2.7|8.1|5.3|4.4"/>
</p:tagLst>
</file>

<file path=ppt/tags/tag18.xml><?xml version="1.0" encoding="utf-8"?>
<p:tagLst xmlns:a="http://schemas.openxmlformats.org/drawingml/2006/main" xmlns:r="http://schemas.openxmlformats.org/officeDocument/2006/relationships" xmlns:p="http://schemas.openxmlformats.org/presentationml/2006/main">
  <p:tag name="TIMING" val="|1.4|2.8"/>
</p:tagLst>
</file>

<file path=ppt/tags/tag19.xml><?xml version="1.0" encoding="utf-8"?>
<p:tagLst xmlns:a="http://schemas.openxmlformats.org/drawingml/2006/main" xmlns:r="http://schemas.openxmlformats.org/officeDocument/2006/relationships" xmlns:p="http://schemas.openxmlformats.org/presentationml/2006/main">
  <p:tag name="TIMING" val="|2.9|4.6|101.8|4.1"/>
</p:tagLst>
</file>

<file path=ppt/tags/tag20.xml><?xml version="1.0" encoding="utf-8"?>
<p:tagLst xmlns:a="http://schemas.openxmlformats.org/drawingml/2006/main" xmlns:r="http://schemas.openxmlformats.org/officeDocument/2006/relationships" xmlns:p="http://schemas.openxmlformats.org/presentationml/2006/main">
  <p:tag name="TIMING" val="|0.7|2.2|28|6.4|9.9|4.7"/>
</p:tagLst>
</file>

<file path=ppt/tags/tag21.xml><?xml version="1.0" encoding="utf-8"?>
<p:tagLst xmlns:a="http://schemas.openxmlformats.org/drawingml/2006/main" xmlns:r="http://schemas.openxmlformats.org/officeDocument/2006/relationships" xmlns:p="http://schemas.openxmlformats.org/presentationml/2006/main">
  <p:tag name="TIMING" val="|0.5|2.3|3.6|2.5|7.1|48.2|20.5|47.9"/>
</p:tagLst>
</file>

<file path=ppt/tags/tag22.xml><?xml version="1.0" encoding="utf-8"?>
<p:tagLst xmlns:a="http://schemas.openxmlformats.org/drawingml/2006/main" xmlns:r="http://schemas.openxmlformats.org/officeDocument/2006/relationships" xmlns:p="http://schemas.openxmlformats.org/presentationml/2006/main">
  <p:tag name="TIMING" val="|1.1|2.3|14.3|4.8|6.4|6.6|8.3"/>
</p:tagLst>
</file>

<file path=ppt/tags/tag23.xml><?xml version="1.0" encoding="utf-8"?>
<p:tagLst xmlns:a="http://schemas.openxmlformats.org/drawingml/2006/main" xmlns:r="http://schemas.openxmlformats.org/officeDocument/2006/relationships" xmlns:p="http://schemas.openxmlformats.org/presentationml/2006/main">
  <p:tag name="TIMING" val="|0.5|1.9|61.2|16.9"/>
</p:tagLst>
</file>

<file path=ppt/tags/tag24.xml><?xml version="1.0" encoding="utf-8"?>
<p:tagLst xmlns:a="http://schemas.openxmlformats.org/drawingml/2006/main" xmlns:r="http://schemas.openxmlformats.org/officeDocument/2006/relationships" xmlns:p="http://schemas.openxmlformats.org/presentationml/2006/main">
  <p:tag name="TIMING" val="|0.3|1.4|85.9"/>
</p:tagLst>
</file>

<file path=ppt/tags/tag25.xml><?xml version="1.0" encoding="utf-8"?>
<p:tagLst xmlns:a="http://schemas.openxmlformats.org/drawingml/2006/main" xmlns:r="http://schemas.openxmlformats.org/officeDocument/2006/relationships" xmlns:p="http://schemas.openxmlformats.org/presentationml/2006/main">
  <p:tag name="TIMING" val="|0.6|2.2|15.2"/>
</p:tagLst>
</file>

<file path=ppt/tags/tag26.xml><?xml version="1.0" encoding="utf-8"?>
<p:tagLst xmlns:a="http://schemas.openxmlformats.org/drawingml/2006/main" xmlns:r="http://schemas.openxmlformats.org/officeDocument/2006/relationships" xmlns:p="http://schemas.openxmlformats.org/presentationml/2006/main">
  <p:tag name="TIMING" val="|0.8"/>
</p:tagLst>
</file>

<file path=ppt/tags/tag27.xml><?xml version="1.0" encoding="utf-8"?>
<p:tagLst xmlns:a="http://schemas.openxmlformats.org/drawingml/2006/main" xmlns:r="http://schemas.openxmlformats.org/officeDocument/2006/relationships" xmlns:p="http://schemas.openxmlformats.org/presentationml/2006/main">
  <p:tag name="TIMING" val="|1.5|2.8|14.1|10.5|10.8|17.5|6.7|8.9|7.2"/>
</p:tagLst>
</file>

<file path=ppt/tags/tag28.xml><?xml version="1.0" encoding="utf-8"?>
<p:tagLst xmlns:a="http://schemas.openxmlformats.org/drawingml/2006/main" xmlns:r="http://schemas.openxmlformats.org/officeDocument/2006/relationships" xmlns:p="http://schemas.openxmlformats.org/presentationml/2006/main">
  <p:tag name="TIMING" val="|1.2"/>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3847</TotalTime>
  <Words>1375</Words>
  <Application>Microsoft Office PowerPoint</Application>
  <PresentationFormat>On-screen Show (4:3)</PresentationFormat>
  <Paragraphs>190</Paragraphs>
  <Slides>28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Calibri</vt:lpstr>
      <vt:lpstr>Garamond</vt:lpstr>
      <vt:lpstr>Times New Roman</vt:lpstr>
      <vt:lpstr>Verdana</vt:lpstr>
      <vt:lpstr>Wingdings</vt:lpstr>
      <vt:lpstr>Wingdings 2</vt:lpstr>
      <vt:lpstr>Parallax</vt:lpstr>
      <vt:lpstr>ENVIRONMENTAL POLLUTION</vt:lpstr>
      <vt:lpstr> </vt:lpstr>
      <vt:lpstr>PowerPoint Presentation</vt:lpstr>
      <vt:lpstr>Types of pollution</vt:lpstr>
      <vt:lpstr> Water pollution </vt:lpstr>
      <vt:lpstr>Some sources of water pollution</vt:lpstr>
      <vt:lpstr>Major categories of water pollution</vt:lpstr>
      <vt:lpstr>PowerPoint Presentation</vt:lpstr>
      <vt:lpstr>Causes of surface water pollution</vt:lpstr>
      <vt:lpstr>Ground water pollution</vt:lpstr>
      <vt:lpstr> Marine pollution</vt:lpstr>
      <vt:lpstr>Coastal/marine pollution: why should we care</vt:lpstr>
      <vt:lpstr>PowerPoint Presentation</vt:lpstr>
      <vt:lpstr>Measures to control water pollution</vt:lpstr>
      <vt:lpstr>Land or soil pollution</vt:lpstr>
      <vt:lpstr>Causes of land pollution</vt:lpstr>
      <vt:lpstr>PowerPoint Presentation</vt:lpstr>
      <vt:lpstr>Air pollution</vt:lpstr>
      <vt:lpstr>Sources of air pollution</vt:lpstr>
      <vt:lpstr>Causes of air pollution</vt:lpstr>
      <vt:lpstr>Effects of air pollution</vt:lpstr>
      <vt:lpstr>Effects of air pollution continued…</vt:lpstr>
      <vt:lpstr>Acid Rain</vt:lpstr>
      <vt:lpstr>Smog </vt:lpstr>
      <vt:lpstr>Noise pollution</vt:lpstr>
      <vt:lpstr>PowerPoint Presentation</vt:lpstr>
      <vt:lpstr>Effects of Noise pollution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Mohammad Mehedi Hasan</dc:creator>
  <cp:lastModifiedBy>Ms. Moushumi Zahur</cp:lastModifiedBy>
  <cp:revision>230</cp:revision>
  <dcterms:created xsi:type="dcterms:W3CDTF">2020-07-14T14:58:22Z</dcterms:created>
  <dcterms:modified xsi:type="dcterms:W3CDTF">2022-04-13T02:44:47Z</dcterms:modified>
</cp:coreProperties>
</file>