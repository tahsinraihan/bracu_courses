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15"/>
  </p:handoutMasterIdLst>
  <p:sldIdLst>
    <p:sldId id="256" r:id="rId2"/>
    <p:sldId id="258" r:id="rId3"/>
    <p:sldId id="263" r:id="rId4"/>
    <p:sldId id="259" r:id="rId5"/>
    <p:sldId id="276" r:id="rId6"/>
    <p:sldId id="261" r:id="rId7"/>
    <p:sldId id="262" r:id="rId8"/>
    <p:sldId id="264" r:id="rId9"/>
    <p:sldId id="266" r:id="rId10"/>
    <p:sldId id="268" r:id="rId11"/>
    <p:sldId id="277" r:id="rId12"/>
    <p:sldId id="269" r:id="rId13"/>
    <p:sldId id="271" r:id="rId14"/>
  </p:sldIdLst>
  <p:sldSz cx="9144000" cy="6858000" type="screen4x3"/>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157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69424"/>
          </a:xfrm>
          <a:prstGeom prst="rect">
            <a:avLst/>
          </a:prstGeom>
        </p:spPr>
        <p:txBody>
          <a:bodyPr vert="horz" lIns="94229" tIns="47114" rIns="94229" bIns="47114" rtlCol="0"/>
          <a:lstStyle>
            <a:lvl1pPr algn="r">
              <a:defRPr sz="1200"/>
            </a:lvl1pPr>
          </a:lstStyle>
          <a:p>
            <a:fld id="{11E0FB29-D317-4B9E-94B7-D708A14378A9}" type="datetimeFigureOut">
              <a:rPr lang="en-US" smtClean="0"/>
              <a:pPr/>
              <a:t>7/5/2020</a:t>
            </a:fld>
            <a:endParaRPr lang="en-US"/>
          </a:p>
        </p:txBody>
      </p:sp>
      <p:sp>
        <p:nvSpPr>
          <p:cNvPr id="4" name="Footer Placeholder 3"/>
          <p:cNvSpPr>
            <a:spLocks noGrp="1"/>
          </p:cNvSpPr>
          <p:nvPr>
            <p:ph type="ftr" sz="quarter" idx="2"/>
          </p:nvPr>
        </p:nvSpPr>
        <p:spPr>
          <a:xfrm>
            <a:off x="0" y="8917422"/>
            <a:ext cx="3077739" cy="469424"/>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917422"/>
            <a:ext cx="3077739" cy="469424"/>
          </a:xfrm>
          <a:prstGeom prst="rect">
            <a:avLst/>
          </a:prstGeom>
        </p:spPr>
        <p:txBody>
          <a:bodyPr vert="horz" lIns="94229" tIns="47114" rIns="94229" bIns="47114" rtlCol="0" anchor="b"/>
          <a:lstStyle>
            <a:lvl1pPr algn="r">
              <a:defRPr sz="1200"/>
            </a:lvl1pPr>
          </a:lstStyle>
          <a:p>
            <a:fld id="{03D9EE3C-3708-4778-AEA4-0D13132B556F}" type="slidenum">
              <a:rPr lang="en-US" smtClean="0"/>
              <a:pPr/>
              <a:t>‹#›</a:t>
            </a:fld>
            <a:endParaRPr lang="en-US"/>
          </a:p>
        </p:txBody>
      </p:sp>
    </p:spTree>
    <p:extLst>
      <p:ext uri="{BB962C8B-B14F-4D97-AF65-F5344CB8AC3E}">
        <p14:creationId xmlns:p14="http://schemas.microsoft.com/office/powerpoint/2010/main" val="3615770745"/>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1D8BD707-D9CF-40AE-B4C6-C98DA3205C09}" type="datetimeFigureOut">
              <a:rPr lang="en-US" smtClean="0"/>
              <a:pPr/>
              <a:t>7/5/2020</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7/5/2020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7/5/2020</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file:///G:\clones\Meterology\custom%20lectures\jpegs\chapter%2001\02.jpg"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file:///G:\clones\Meterology\custom%20lectures\jpegs\chapter%2001\14.jpg" TargetMode="External"/><Relationship Id="rId7" Type="http://schemas.openxmlformats.org/officeDocument/2006/relationships/image" Target="file:///G:\clones\Meterology\custom%20lectures\jpegs\chapter%2001\17.jpg" TargetMode="Externa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6.jpeg"/><Relationship Id="rId11" Type="http://schemas.openxmlformats.org/officeDocument/2006/relationships/image" Target="file:///G:\clones\Meterology\custom%20lectures\jpegs\chapter%2001\15.jpg" TargetMode="External"/><Relationship Id="rId5" Type="http://schemas.openxmlformats.org/officeDocument/2006/relationships/image" Target="file:///G:\clones\Meterology\custom%20lectures\jpegs\chapter%2001\16.jpg" TargetMode="External"/><Relationship Id="rId10" Type="http://schemas.openxmlformats.org/officeDocument/2006/relationships/image" Target="../media/image8.jpeg"/><Relationship Id="rId4" Type="http://schemas.openxmlformats.org/officeDocument/2006/relationships/image" Target="../media/image5.jpeg"/><Relationship Id="rId9" Type="http://schemas.openxmlformats.org/officeDocument/2006/relationships/image" Target="file:///G:\clones\Meterology\custom%20lectures\jpegs\chapter%2001\18.jp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202060"/>
                </a:solidFill>
              </a:rPr>
              <a:t>The Earth’s Atmosphere</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17869"/>
    </mc:Choice>
    <mc:Fallback xmlns="">
      <p:transition spd="slow" advTm="1786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382000" cy="6172200"/>
          </a:xfrm>
        </p:spPr>
        <p:txBody>
          <a:bodyPr>
            <a:normAutofit/>
          </a:bodyPr>
          <a:lstStyle/>
          <a:p>
            <a:endParaRPr lang="en-US" sz="2400" dirty="0">
              <a:solidFill>
                <a:srgbClr val="202080"/>
              </a:solidFill>
              <a:effectLst>
                <a:outerShdw blurRad="38100" dist="38100" dir="2700000" algn="tl">
                  <a:srgbClr val="C0C0C0"/>
                </a:outerShdw>
              </a:effectLst>
            </a:endParaRPr>
          </a:p>
          <a:p>
            <a:endParaRPr lang="en-US" sz="2400" dirty="0">
              <a:solidFill>
                <a:srgbClr val="202080"/>
              </a:solidFill>
              <a:effectLst>
                <a:outerShdw blurRad="38100" dist="38100" dir="2700000" algn="tl">
                  <a:srgbClr val="C0C0C0"/>
                </a:outerShdw>
              </a:effectLst>
            </a:endParaRPr>
          </a:p>
          <a:p>
            <a:endParaRPr lang="en-US" sz="2400" dirty="0">
              <a:solidFill>
                <a:srgbClr val="202080"/>
              </a:solidFill>
              <a:effectLst>
                <a:outerShdw blurRad="38100" dist="38100" dir="2700000" algn="tl">
                  <a:srgbClr val="C0C0C0"/>
                </a:outerShdw>
              </a:effectLst>
            </a:endParaRPr>
          </a:p>
          <a:p>
            <a:endParaRPr lang="en-US" sz="2400" dirty="0">
              <a:solidFill>
                <a:srgbClr val="202080"/>
              </a:solidFill>
              <a:effectLst>
                <a:outerShdw blurRad="38100" dist="38100" dir="2700000" algn="tl">
                  <a:srgbClr val="C0C0C0"/>
                </a:outerShdw>
              </a:effectLst>
            </a:endParaRPr>
          </a:p>
          <a:p>
            <a:endParaRPr lang="en-US" sz="2400" dirty="0">
              <a:solidFill>
                <a:srgbClr val="202080"/>
              </a:solidFill>
              <a:effectLst>
                <a:outerShdw blurRad="38100" dist="38100" dir="2700000" algn="tl">
                  <a:srgbClr val="C0C0C0"/>
                </a:outerShdw>
              </a:effectLst>
            </a:endParaRPr>
          </a:p>
          <a:p>
            <a:endParaRPr lang="en-US" sz="2400" dirty="0">
              <a:solidFill>
                <a:srgbClr val="202080"/>
              </a:solidFill>
              <a:effectLst>
                <a:outerShdw blurRad="38100" dist="38100" dir="2700000" algn="tl">
                  <a:srgbClr val="C0C0C0"/>
                </a:outerShdw>
              </a:effectLst>
            </a:endParaRPr>
          </a:p>
          <a:p>
            <a:endParaRPr lang="en-US" sz="2400" dirty="0">
              <a:solidFill>
                <a:srgbClr val="202080"/>
              </a:solidFill>
              <a:effectLst>
                <a:outerShdw blurRad="38100" dist="38100" dir="2700000" algn="tl">
                  <a:srgbClr val="C0C0C0"/>
                </a:outerShdw>
              </a:effectLst>
            </a:endParaRPr>
          </a:p>
          <a:p>
            <a:endParaRPr lang="en-US" sz="2400" dirty="0">
              <a:solidFill>
                <a:srgbClr val="202080"/>
              </a:solidFill>
              <a:effectLst>
                <a:outerShdw blurRad="38100" dist="38100" dir="2700000" algn="tl">
                  <a:srgbClr val="C0C0C0"/>
                </a:outerShdw>
              </a:effectLst>
            </a:endParaRPr>
          </a:p>
          <a:p>
            <a:endParaRPr lang="en-US" sz="2400" dirty="0">
              <a:solidFill>
                <a:srgbClr val="202080"/>
              </a:solidFill>
              <a:effectLst>
                <a:outerShdw blurRad="38100" dist="38100" dir="2700000" algn="tl">
                  <a:srgbClr val="C0C0C0"/>
                </a:outerShdw>
              </a:effectLst>
            </a:endParaRPr>
          </a:p>
          <a:p>
            <a:pPr>
              <a:buNone/>
            </a:pPr>
            <a:r>
              <a:rPr lang="en-US" sz="2000" dirty="0">
                <a:solidFill>
                  <a:srgbClr val="202080"/>
                </a:solidFill>
                <a:effectLst>
                  <a:outerShdw blurRad="38100" dist="38100" dir="2700000" algn="tl">
                    <a:srgbClr val="C0C0C0"/>
                  </a:outerShdw>
                </a:effectLst>
              </a:rPr>
              <a:t>                                        </a:t>
            </a:r>
          </a:p>
          <a:p>
            <a:pPr>
              <a:buNone/>
            </a:pPr>
            <a:endParaRPr lang="en-US" sz="2000" dirty="0">
              <a:solidFill>
                <a:srgbClr val="202080"/>
              </a:solidFill>
              <a:effectLst>
                <a:outerShdw blurRad="38100" dist="38100" dir="2700000" algn="tl">
                  <a:srgbClr val="C0C0C0"/>
                </a:outerShdw>
              </a:effectLst>
            </a:endParaRPr>
          </a:p>
          <a:p>
            <a:pPr>
              <a:buNone/>
            </a:pPr>
            <a:r>
              <a:rPr lang="en-US" sz="2000" dirty="0">
                <a:solidFill>
                  <a:srgbClr val="202080"/>
                </a:solidFill>
                <a:effectLst>
                  <a:outerShdw blurRad="38100" dist="38100" dir="2700000" algn="tl">
                    <a:srgbClr val="C0C0C0"/>
                  </a:outerShdw>
                </a:effectLst>
              </a:rPr>
              <a:t>   </a:t>
            </a:r>
          </a:p>
          <a:p>
            <a:pPr>
              <a:buNone/>
            </a:pPr>
            <a:r>
              <a:rPr lang="en-US" sz="2000" dirty="0">
                <a:solidFill>
                  <a:srgbClr val="202080"/>
                </a:solidFill>
                <a:effectLst>
                  <a:outerShdw blurRad="38100" dist="38100" dir="2700000" algn="tl">
                    <a:srgbClr val="C0C0C0"/>
                  </a:outerShdw>
                </a:effectLst>
              </a:rPr>
              <a:t>                                             Earth's Atmosphere</a:t>
            </a:r>
          </a:p>
          <a:p>
            <a:endParaRPr lang="en-US" dirty="0"/>
          </a:p>
          <a:p>
            <a:endParaRPr lang="en-US" dirty="0"/>
          </a:p>
        </p:txBody>
      </p:sp>
      <p:pic>
        <p:nvPicPr>
          <p:cNvPr id="4" name="Picture 4" descr="G:\clones\Meterology\custom lectures\jpegs\chapter 01\02.jpg"/>
          <p:cNvPicPr>
            <a:picLocks noChangeAspect="1" noChangeArrowheads="1"/>
          </p:cNvPicPr>
          <p:nvPr/>
        </p:nvPicPr>
        <p:blipFill>
          <a:blip r:embed="rId2" r:link="rId3" cstate="print"/>
          <a:srcRect/>
          <a:stretch>
            <a:fillRect/>
          </a:stretch>
        </p:blipFill>
        <p:spPr bwMode="auto">
          <a:xfrm>
            <a:off x="124845" y="609600"/>
            <a:ext cx="8866755" cy="4572000"/>
          </a:xfrm>
          <a:prstGeom prst="rect">
            <a:avLst/>
          </a:prstGeom>
          <a:noFill/>
          <a:ln w="9525">
            <a:noFill/>
            <a:miter lim="800000"/>
            <a:headEnd/>
            <a:tailEnd/>
          </a:ln>
        </p:spPr>
      </p:pic>
      <p:sp>
        <p:nvSpPr>
          <p:cNvPr id="5" name="Rectangle 4"/>
          <p:cNvSpPr/>
          <p:nvPr/>
        </p:nvSpPr>
        <p:spPr>
          <a:xfrm>
            <a:off x="3124200" y="2286000"/>
            <a:ext cx="3200400" cy="430887"/>
          </a:xfrm>
          <a:prstGeom prst="rect">
            <a:avLst/>
          </a:prstGeom>
        </p:spPr>
        <p:txBody>
          <a:bodyPr wrap="square">
            <a:spAutoFit/>
          </a:bodyPr>
          <a:lstStyle/>
          <a:p>
            <a:pPr algn="ctr"/>
            <a:r>
              <a:rPr lang="en-US" sz="2200" dirty="0"/>
              <a:t>Thin Gaseous envelope</a:t>
            </a:r>
          </a:p>
        </p:txBody>
      </p:sp>
    </p:spTree>
  </p:cSld>
  <p:clrMapOvr>
    <a:masterClrMapping/>
  </p:clrMapOvr>
  <mc:AlternateContent xmlns:mc="http://schemas.openxmlformats.org/markup-compatibility/2006" xmlns:p14="http://schemas.microsoft.com/office/powerpoint/2010/main">
    <mc:Choice Requires="p14">
      <p:transition spd="slow" p14:dur="2000" advTm="29767"/>
    </mc:Choice>
    <mc:Fallback xmlns="">
      <p:transition spd="slow" advTm="2976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228600"/>
            <a:ext cx="8610600" cy="6400800"/>
          </a:xfrm>
        </p:spPr>
        <p:txBody>
          <a:bodyPr>
            <a:normAutofit/>
          </a:bodyPr>
          <a:lstStyle/>
          <a:p>
            <a:pPr algn="just"/>
            <a:r>
              <a:rPr lang="en-US" sz="2400" dirty="0">
                <a:solidFill>
                  <a:schemeClr val="tx2"/>
                </a:solidFill>
              </a:rPr>
              <a:t>The atmosphere is </a:t>
            </a:r>
          </a:p>
          <a:p>
            <a:pPr algn="just">
              <a:buNone/>
            </a:pPr>
            <a:r>
              <a:rPr lang="en-US" sz="2400" dirty="0">
                <a:solidFill>
                  <a:schemeClr val="tx2"/>
                </a:solidFill>
              </a:rPr>
              <a:t>    - the vast gaseous envelope of air </a:t>
            </a:r>
          </a:p>
          <a:p>
            <a:pPr algn="just">
              <a:buNone/>
            </a:pPr>
            <a:r>
              <a:rPr lang="en-US" sz="2400" dirty="0">
                <a:solidFill>
                  <a:schemeClr val="tx2"/>
                </a:solidFill>
              </a:rPr>
              <a:t>    - that surrounds the Earth.</a:t>
            </a:r>
          </a:p>
          <a:p>
            <a:pPr algn="just"/>
            <a:r>
              <a:rPr lang="en-US" sz="2400" dirty="0">
                <a:solidFill>
                  <a:schemeClr val="tx2"/>
                </a:solidFill>
              </a:rPr>
              <a:t> Its boundaries are not easily defined.</a:t>
            </a:r>
          </a:p>
          <a:p>
            <a:pPr algn="just"/>
            <a:r>
              <a:rPr lang="en-US" sz="2400" dirty="0">
                <a:solidFill>
                  <a:schemeClr val="tx2"/>
                </a:solidFill>
              </a:rPr>
              <a:t> The atmosphere contains  a complex system of gases and suspended particles.</a:t>
            </a:r>
          </a:p>
          <a:p>
            <a:pPr algn="just"/>
            <a:r>
              <a:rPr lang="en-US" sz="2400" dirty="0">
                <a:solidFill>
                  <a:schemeClr val="tx2"/>
                </a:solidFill>
                <a:latin typeface="Times New Roman" pitchFamily="18" charset="0"/>
                <a:cs typeface="Times New Roman" pitchFamily="18" charset="0"/>
              </a:rPr>
              <a:t>It reaches over 560 km (348 miles) from the surface of the Earth, so we are only able to see what occurs fairly close to the ground. </a:t>
            </a:r>
          </a:p>
          <a:p>
            <a:pPr algn="just">
              <a:defRPr/>
            </a:pPr>
            <a:r>
              <a:rPr lang="en-US" sz="2400" dirty="0">
                <a:solidFill>
                  <a:srgbClr val="202060"/>
                </a:solidFill>
                <a:effectLst>
                  <a:outerShdw blurRad="38100" dist="38100" dir="2700000" algn="tl">
                    <a:srgbClr val="C0C0C0"/>
                  </a:outerShdw>
                </a:effectLst>
              </a:rPr>
              <a:t>99% of atmospheric gases, including water vapor, extend only 30 kilometer (km) above earth's surface.</a:t>
            </a:r>
          </a:p>
          <a:p>
            <a:pPr algn="just">
              <a:defRPr/>
            </a:pPr>
            <a:r>
              <a:rPr lang="en-US" sz="2400" dirty="0">
                <a:solidFill>
                  <a:srgbClr val="202060"/>
                </a:solidFill>
                <a:effectLst>
                  <a:outerShdw blurRad="38100" dist="38100" dir="2700000" algn="tl">
                    <a:srgbClr val="C0C0C0"/>
                  </a:outerShdw>
                </a:effectLst>
              </a:rPr>
              <a:t> Most of our weather, however, occurs within the first 10 to 15 km.</a:t>
            </a:r>
          </a:p>
          <a:p>
            <a:pPr algn="just"/>
            <a:r>
              <a:rPr lang="en-US" sz="2400" dirty="0">
                <a:solidFill>
                  <a:srgbClr val="202060"/>
                </a:solidFill>
                <a:effectLst>
                  <a:outerShdw blurRad="38100" dist="38100" dir="2700000" algn="tl">
                    <a:srgbClr val="C0C0C0"/>
                  </a:outerShdw>
                </a:effectLst>
              </a:rPr>
              <a:t>Nearly 150 million kilometers separate the sun and earth, yet solar radiation drives earth's weather.</a:t>
            </a:r>
          </a:p>
          <a:p>
            <a:pPr algn="just">
              <a:buNone/>
            </a:pPr>
            <a:endParaRPr lang="en-US" sz="2400" dirty="0">
              <a:solidFill>
                <a:schemeClr val="tx2"/>
              </a:solidFill>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49060"/>
    </mc:Choice>
    <mc:Fallback xmlns="">
      <p:transition spd="slow" advTm="4906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15112"/>
          </a:xfrm>
        </p:spPr>
        <p:txBody>
          <a:bodyPr>
            <a:noAutofit/>
          </a:bodyPr>
          <a:lstStyle/>
          <a:p>
            <a:pPr algn="ctr"/>
            <a:r>
              <a:rPr lang="en-US" sz="3200" b="1" dirty="0">
                <a:solidFill>
                  <a:srgbClr val="202060"/>
                </a:solidFill>
                <a:latin typeface="Times New Roman" pitchFamily="18" charset="0"/>
                <a:cs typeface="Times New Roman" pitchFamily="18" charset="0"/>
              </a:rPr>
              <a:t>Composition of Atmosphere</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381000" y="838200"/>
            <a:ext cx="8534400" cy="5791200"/>
          </a:xfrm>
        </p:spPr>
        <p:txBody>
          <a:bodyPr>
            <a:normAutofit/>
          </a:bodyPr>
          <a:lstStyle/>
          <a:p>
            <a:r>
              <a:rPr lang="en-US" b="1" dirty="0">
                <a:solidFill>
                  <a:srgbClr val="202060"/>
                </a:solidFill>
              </a:rPr>
              <a:t>Nitrogen   - 78%</a:t>
            </a:r>
          </a:p>
          <a:p>
            <a:r>
              <a:rPr lang="en-US" b="1" dirty="0">
                <a:solidFill>
                  <a:srgbClr val="202060"/>
                </a:solidFill>
              </a:rPr>
              <a:t>Oxygen     - 21%</a:t>
            </a:r>
          </a:p>
          <a:p>
            <a:r>
              <a:rPr lang="en-US" b="1" dirty="0">
                <a:solidFill>
                  <a:srgbClr val="202060"/>
                </a:solidFill>
              </a:rPr>
              <a:t>Water Vapor – 0 to 4%</a:t>
            </a:r>
          </a:p>
          <a:p>
            <a:r>
              <a:rPr lang="en-US" b="1" dirty="0">
                <a:solidFill>
                  <a:srgbClr val="202060"/>
                </a:solidFill>
              </a:rPr>
              <a:t>Carbon Dioxide - 0 .037%</a:t>
            </a:r>
          </a:p>
          <a:p>
            <a:r>
              <a:rPr lang="en-US" b="1" dirty="0">
                <a:solidFill>
                  <a:srgbClr val="202060"/>
                </a:solidFill>
              </a:rPr>
              <a:t>Other gases make up the rest</a:t>
            </a:r>
          </a:p>
          <a:p>
            <a:pPr>
              <a:buNone/>
            </a:pPr>
            <a:endParaRPr lang="en-US" b="1" dirty="0">
              <a:solidFill>
                <a:srgbClr val="202060"/>
              </a:solidFill>
            </a:endParaRPr>
          </a:p>
          <a:p>
            <a:pPr>
              <a:buNone/>
            </a:pPr>
            <a:r>
              <a:rPr lang="en-US" b="1" dirty="0">
                <a:solidFill>
                  <a:srgbClr val="202060"/>
                </a:solidFill>
              </a:rPr>
              <a:t>Lapse Rate</a:t>
            </a:r>
          </a:p>
          <a:p>
            <a:pPr algn="just"/>
            <a:r>
              <a:rPr lang="en-US" sz="2400" b="1" dirty="0">
                <a:solidFill>
                  <a:srgbClr val="202060"/>
                </a:solidFill>
              </a:rPr>
              <a:t>The rate at which air temperature decreases with height.</a:t>
            </a:r>
          </a:p>
          <a:p>
            <a:pPr algn="just"/>
            <a:r>
              <a:rPr lang="en-US" sz="2400" b="1" dirty="0">
                <a:solidFill>
                  <a:srgbClr val="202060"/>
                </a:solidFill>
              </a:rPr>
              <a:t>The standard (average) lapse rate in the lower atmosphere is about 6.5</a:t>
            </a:r>
            <a:r>
              <a:rPr lang="en-US" sz="2400" b="1" dirty="0">
                <a:solidFill>
                  <a:srgbClr val="202060"/>
                </a:solidFill>
                <a:cs typeface="Times New Roman" pitchFamily="18" charset="0"/>
              </a:rPr>
              <a:t>°</a:t>
            </a:r>
            <a:r>
              <a:rPr lang="en-US" sz="2400" b="1" dirty="0">
                <a:solidFill>
                  <a:srgbClr val="202060"/>
                </a:solidFill>
              </a:rPr>
              <a:t>C per 1 km or 3.6</a:t>
            </a:r>
            <a:r>
              <a:rPr lang="en-US" sz="2400" b="1" dirty="0">
                <a:solidFill>
                  <a:srgbClr val="202060"/>
                </a:solidFill>
                <a:cs typeface="Times New Roman" pitchFamily="18" charset="0"/>
              </a:rPr>
              <a:t>°</a:t>
            </a:r>
            <a:r>
              <a:rPr lang="en-US" sz="2400" b="1" dirty="0">
                <a:solidFill>
                  <a:srgbClr val="202060"/>
                </a:solidFill>
              </a:rPr>
              <a:t>F per 1000 ft.</a:t>
            </a:r>
          </a:p>
          <a:p>
            <a:pPr>
              <a:buNone/>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160522"/>
    </mc:Choice>
    <mc:Fallback xmlns="">
      <p:transition spd="slow" advTm="16052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382000" cy="6324600"/>
          </a:xfrm>
        </p:spPr>
        <p:txBody>
          <a:bodyPr>
            <a:normAutofit fontScale="92500" lnSpcReduction="10000"/>
          </a:bodyPr>
          <a:lstStyle/>
          <a:p>
            <a:pPr algn="just">
              <a:buFont typeface="Arial" pitchFamily="34" charset="0"/>
              <a:buChar char="•"/>
            </a:pPr>
            <a:r>
              <a:rPr lang="en-US" sz="2800" dirty="0"/>
              <a:t>Five distinct layers have been identified using </a:t>
            </a:r>
          </a:p>
          <a:p>
            <a:pPr lvl="1" algn="just">
              <a:buFont typeface="Arial" pitchFamily="34" charset="0"/>
              <a:buChar char="•"/>
            </a:pPr>
            <a:r>
              <a:rPr lang="en-US" sz="2800" dirty="0"/>
              <a:t>thermal characteristics (temperature changes),</a:t>
            </a:r>
          </a:p>
          <a:p>
            <a:pPr lvl="1" algn="just">
              <a:buFont typeface="Arial" pitchFamily="34" charset="0"/>
              <a:buChar char="•"/>
            </a:pPr>
            <a:r>
              <a:rPr lang="en-US" sz="2800" dirty="0"/>
              <a:t> chemical composition,</a:t>
            </a:r>
          </a:p>
          <a:p>
            <a:pPr lvl="1" algn="just">
              <a:buFont typeface="Arial" pitchFamily="34" charset="0"/>
              <a:buChar char="•"/>
            </a:pPr>
            <a:r>
              <a:rPr lang="en-US" sz="2800" dirty="0"/>
              <a:t> movement &amp; </a:t>
            </a:r>
          </a:p>
          <a:p>
            <a:pPr lvl="1" algn="just">
              <a:buFont typeface="Arial" pitchFamily="34" charset="0"/>
              <a:buChar char="•"/>
            </a:pPr>
            <a:r>
              <a:rPr lang="en-US" sz="2800" dirty="0"/>
              <a:t>density. </a:t>
            </a:r>
          </a:p>
          <a:p>
            <a:pPr algn="just">
              <a:buFont typeface="Arial" pitchFamily="34" charset="0"/>
              <a:buChar char="•"/>
            </a:pPr>
            <a:endParaRPr lang="en-US" sz="2800" dirty="0"/>
          </a:p>
          <a:p>
            <a:pPr algn="just">
              <a:buFont typeface="Arial" pitchFamily="34" charset="0"/>
              <a:buChar char="•"/>
            </a:pPr>
            <a:r>
              <a:rPr lang="en-US" sz="2800" dirty="0"/>
              <a:t>The Earth's atmosphere extends from ground surface to the edge of interplanetary space. There are basically 5 (five) atmospheric layers.</a:t>
            </a:r>
          </a:p>
          <a:p>
            <a:pPr lvl="1" algn="just">
              <a:buFont typeface="Arial" pitchFamily="34" charset="0"/>
              <a:buChar char="•"/>
            </a:pPr>
            <a:r>
              <a:rPr lang="en-US" sz="2800" dirty="0"/>
              <a:t>Troposphere</a:t>
            </a:r>
          </a:p>
          <a:p>
            <a:pPr lvl="1" algn="just">
              <a:buFont typeface="Arial" pitchFamily="34" charset="0"/>
              <a:buChar char="•"/>
            </a:pPr>
            <a:r>
              <a:rPr lang="en-US" sz="2800" dirty="0"/>
              <a:t>Stratosphere</a:t>
            </a:r>
          </a:p>
          <a:p>
            <a:pPr lvl="1" algn="just">
              <a:buFont typeface="Arial" pitchFamily="34" charset="0"/>
              <a:buChar char="•"/>
            </a:pPr>
            <a:r>
              <a:rPr lang="en-US" sz="2800" dirty="0"/>
              <a:t>Mesosphere</a:t>
            </a:r>
          </a:p>
          <a:p>
            <a:pPr lvl="1" algn="just">
              <a:buFont typeface="Arial" pitchFamily="34" charset="0"/>
              <a:buChar char="•"/>
            </a:pPr>
            <a:r>
              <a:rPr lang="en-US" sz="2800" dirty="0"/>
              <a:t>Thermosphere</a:t>
            </a:r>
          </a:p>
          <a:p>
            <a:pPr lvl="1" algn="just">
              <a:buFont typeface="Arial" pitchFamily="34" charset="0"/>
              <a:buChar char="•"/>
            </a:pPr>
            <a:r>
              <a:rPr lang="en-US" sz="2800" dirty="0"/>
              <a:t>Exosphere</a:t>
            </a:r>
          </a:p>
          <a:p>
            <a:pPr algn="just">
              <a:buNone/>
            </a:pPr>
            <a:endParaRPr lang="en-US" dirty="0"/>
          </a:p>
          <a:p>
            <a:pPr algn="just">
              <a:buNone/>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53577"/>
    </mc:Choice>
    <mc:Fallback xmlns="">
      <p:transition spd="slow" advTm="5357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38200"/>
          </a:xfrm>
        </p:spPr>
        <p:txBody>
          <a:bodyPr>
            <a:normAutofit fontScale="90000"/>
          </a:bodyPr>
          <a:lstStyle/>
          <a:p>
            <a:pPr algn="ctr"/>
            <a:br>
              <a:rPr lang="en-US" sz="3100" dirty="0">
                <a:solidFill>
                  <a:srgbClr val="202080"/>
                </a:solidFill>
                <a:effectLst>
                  <a:outerShdw blurRad="38100" dist="38100" dir="2700000" algn="tl">
                    <a:srgbClr val="C0C0C0"/>
                  </a:outerShdw>
                </a:effectLst>
                <a:latin typeface="Times New Roman" pitchFamily="18" charset="0"/>
                <a:cs typeface="Times New Roman" pitchFamily="18" charset="0"/>
              </a:rPr>
            </a:br>
            <a:br>
              <a:rPr lang="en-US" sz="3100" dirty="0">
                <a:solidFill>
                  <a:srgbClr val="202080"/>
                </a:solidFill>
                <a:effectLst>
                  <a:outerShdw blurRad="38100" dist="38100" dir="2700000" algn="tl">
                    <a:srgbClr val="C0C0C0"/>
                  </a:outerShdw>
                </a:effectLst>
                <a:latin typeface="Times New Roman" pitchFamily="18" charset="0"/>
                <a:cs typeface="Times New Roman" pitchFamily="18" charset="0"/>
              </a:rPr>
            </a:br>
            <a:br>
              <a:rPr lang="en-US" sz="3100" dirty="0">
                <a:solidFill>
                  <a:srgbClr val="202080"/>
                </a:solidFill>
                <a:effectLst>
                  <a:outerShdw blurRad="38100" dist="38100" dir="2700000" algn="tl">
                    <a:srgbClr val="C0C0C0"/>
                  </a:outerShdw>
                </a:effectLst>
                <a:latin typeface="Times New Roman" pitchFamily="18" charset="0"/>
                <a:cs typeface="Times New Roman" pitchFamily="18" charset="0"/>
              </a:rPr>
            </a:br>
            <a:br>
              <a:rPr lang="en-US" sz="3100" dirty="0">
                <a:solidFill>
                  <a:srgbClr val="202080"/>
                </a:solidFill>
                <a:effectLst>
                  <a:outerShdw blurRad="38100" dist="38100" dir="2700000" algn="tl">
                    <a:srgbClr val="C0C0C0"/>
                  </a:outerShdw>
                </a:effectLst>
                <a:latin typeface="Times New Roman" pitchFamily="18" charset="0"/>
                <a:cs typeface="Times New Roman" pitchFamily="18" charset="0"/>
              </a:rPr>
            </a:br>
            <a:br>
              <a:rPr lang="en-US" sz="3100" dirty="0">
                <a:solidFill>
                  <a:srgbClr val="202080"/>
                </a:solidFill>
                <a:effectLst>
                  <a:outerShdw blurRad="38100" dist="38100" dir="2700000" algn="tl">
                    <a:srgbClr val="C0C0C0"/>
                  </a:outerShdw>
                </a:effectLst>
                <a:latin typeface="Times New Roman" pitchFamily="18" charset="0"/>
                <a:cs typeface="Times New Roman" pitchFamily="18" charset="0"/>
              </a:rPr>
            </a:br>
            <a:br>
              <a:rPr lang="en-US" sz="3100" dirty="0">
                <a:solidFill>
                  <a:srgbClr val="202080"/>
                </a:solidFill>
                <a:effectLst>
                  <a:outerShdw blurRad="38100" dist="38100" dir="2700000" algn="tl">
                    <a:srgbClr val="C0C0C0"/>
                  </a:outerShdw>
                </a:effectLst>
                <a:latin typeface="Times New Roman" pitchFamily="18" charset="0"/>
                <a:cs typeface="Times New Roman" pitchFamily="18" charset="0"/>
              </a:rPr>
            </a:br>
            <a:r>
              <a:rPr lang="en-US" sz="3100" dirty="0">
                <a:solidFill>
                  <a:srgbClr val="202080"/>
                </a:solidFill>
                <a:effectLst>
                  <a:outerShdw blurRad="38100" dist="38100" dir="2700000" algn="tl">
                    <a:srgbClr val="C0C0C0"/>
                  </a:outerShdw>
                </a:effectLst>
                <a:latin typeface="Times New Roman" pitchFamily="18" charset="0"/>
                <a:cs typeface="Times New Roman" pitchFamily="18" charset="0"/>
              </a:rPr>
              <a:t>Atmospheric Layers</a:t>
            </a:r>
            <a:br>
              <a:rPr lang="en-US" sz="5400" dirty="0">
                <a:solidFill>
                  <a:srgbClr val="202080"/>
                </a:solidFill>
                <a:effectLst>
                  <a:outerShdw blurRad="38100" dist="38100" dir="2700000" algn="tl">
                    <a:srgbClr val="C0C0C0"/>
                  </a:outerShdw>
                </a:effectLst>
              </a:rPr>
            </a:br>
            <a:endParaRPr lang="en-US" dirty="0"/>
          </a:p>
        </p:txBody>
      </p:sp>
      <p:pic>
        <p:nvPicPr>
          <p:cNvPr id="1026" name="Picture 2"/>
          <p:cNvPicPr>
            <a:picLocks noChangeAspect="1" noChangeArrowheads="1"/>
          </p:cNvPicPr>
          <p:nvPr/>
        </p:nvPicPr>
        <p:blipFill>
          <a:blip r:embed="rId2"/>
          <a:srcRect/>
          <a:stretch>
            <a:fillRect/>
          </a:stretch>
        </p:blipFill>
        <p:spPr bwMode="auto">
          <a:xfrm>
            <a:off x="2057400" y="838200"/>
            <a:ext cx="5943600" cy="60198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2000" advTm="277597"/>
    </mc:Choice>
    <mc:Fallback xmlns="">
      <p:transition spd="slow" advTm="27759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381000" y="304800"/>
            <a:ext cx="8382000" cy="5047536"/>
          </a:xfrm>
          <a:prstGeom prst="rect">
            <a:avLst/>
          </a:prstGeom>
        </p:spPr>
        <p:txBody>
          <a:bodyPr wrap="square">
            <a:spAutoFit/>
          </a:bodyPr>
          <a:lstStyle/>
          <a:p>
            <a:r>
              <a:rPr lang="en-US" sz="2400" b="1" dirty="0"/>
              <a:t>Troposphere:</a:t>
            </a:r>
          </a:p>
          <a:p>
            <a:pPr algn="just"/>
            <a:r>
              <a:rPr lang="en-US" sz="2600" dirty="0"/>
              <a:t>The troposphere starts at the Earth's surface and extends </a:t>
            </a:r>
            <a:r>
              <a:rPr lang="en-US" sz="2600" dirty="0">
                <a:solidFill>
                  <a:srgbClr val="FF0000"/>
                </a:solidFill>
              </a:rPr>
              <a:t>8 to 14.5 kilometers high </a:t>
            </a:r>
            <a:r>
              <a:rPr lang="en-US" sz="2600" dirty="0"/>
              <a:t>(5 to 9 miles). This part of the atmosphere is the most dense. As you climb higher in this layer, the temperature drops from about </a:t>
            </a:r>
            <a:r>
              <a:rPr lang="en-US" sz="2600" dirty="0">
                <a:solidFill>
                  <a:schemeClr val="accent4">
                    <a:lumMod val="75000"/>
                  </a:schemeClr>
                </a:solidFill>
              </a:rPr>
              <a:t>17 to -52 degrees Celsius</a:t>
            </a:r>
            <a:r>
              <a:rPr lang="en-US" sz="2600" dirty="0"/>
              <a:t>. Almost all weather is in this region. </a:t>
            </a:r>
            <a:r>
              <a:rPr lang="en-US" sz="2800" dirty="0"/>
              <a:t>The boundary that divides the troposphere from the stratosphere is called the "</a:t>
            </a:r>
            <a:r>
              <a:rPr lang="en-US" sz="2800" dirty="0" err="1"/>
              <a:t>tropopause</a:t>
            </a:r>
            <a:r>
              <a:rPr lang="en-US" sz="2800" dirty="0"/>
              <a:t>", located at an altitude of around 5 miles in the winter, to around 8 miles high in the summer, and as high as 11 or 12 miles in the tropics.</a:t>
            </a:r>
            <a:r>
              <a:rPr lang="en-US" sz="2600" dirty="0"/>
              <a:t> The </a:t>
            </a:r>
            <a:r>
              <a:rPr lang="en-US" sz="2600" dirty="0" err="1"/>
              <a:t>tropopause</a:t>
            </a:r>
            <a:r>
              <a:rPr lang="en-US" sz="2600" dirty="0"/>
              <a:t> and the troposphere are known as the lower</a:t>
            </a:r>
            <a:r>
              <a:rPr lang="en-US" sz="2600" i="1" dirty="0"/>
              <a:t> </a:t>
            </a:r>
            <a:r>
              <a:rPr lang="en-US" sz="2600" dirty="0"/>
              <a:t>atmosphere.</a:t>
            </a:r>
          </a:p>
        </p:txBody>
      </p:sp>
    </p:spTree>
  </p:cSld>
  <p:clrMapOvr>
    <a:masterClrMapping/>
  </p:clrMapOvr>
  <mc:AlternateContent xmlns:mc="http://schemas.openxmlformats.org/markup-compatibility/2006" xmlns:p14="http://schemas.microsoft.com/office/powerpoint/2010/main">
    <mc:Choice Requires="p14">
      <p:transition spd="slow" p14:dur="2000" advTm="102970"/>
    </mc:Choice>
    <mc:Fallback xmlns="">
      <p:transition spd="slow" advTm="10297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noChangeArrowheads="1"/>
          </p:cNvSpPr>
          <p:nvPr/>
        </p:nvSpPr>
        <p:spPr bwMode="auto">
          <a:xfrm>
            <a:off x="228600" y="228600"/>
            <a:ext cx="8763000" cy="6594052"/>
          </a:xfrm>
          <a:prstGeom prst="rect">
            <a:avLst/>
          </a:prstGeom>
          <a:noFill/>
          <a:ln w="9525">
            <a:noFill/>
            <a:miter lim="800000"/>
            <a:headEnd/>
            <a:tailEnd/>
          </a:ln>
          <a:effectLst/>
        </p:spPr>
        <p:txBody>
          <a:bodyPr vert="horz" wrap="square" lIns="0" tIns="152352" rIns="0" bIns="38088"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itchFamily="18" charset="0"/>
                <a:cs typeface="Times New Roman" pitchFamily="18" charset="0"/>
              </a:rPr>
              <a:t>Stratosphere:</a:t>
            </a:r>
            <a:endParaRPr kumimoji="0" lang="en-US" sz="2800" b="1"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ea typeface="Times New Roman" pitchFamily="18" charset="0"/>
                <a:cs typeface="Arial" pitchFamily="34" charset="0"/>
              </a:rPr>
              <a:t>The stratosphere starts just above the troposphere and extends to </a:t>
            </a:r>
            <a:r>
              <a:rPr kumimoji="0" lang="en-US" sz="2400" b="0" i="0" u="none" strike="noStrike" cap="none" normalizeH="0" baseline="0" dirty="0">
                <a:ln>
                  <a:noFill/>
                </a:ln>
                <a:solidFill>
                  <a:srgbClr val="FF0000"/>
                </a:solidFill>
                <a:effectLst/>
                <a:latin typeface="Arial" pitchFamily="34" charset="0"/>
                <a:ea typeface="Times New Roman" pitchFamily="18" charset="0"/>
                <a:cs typeface="Arial" pitchFamily="34" charset="0"/>
              </a:rPr>
              <a:t>50 kilometers </a:t>
            </a:r>
            <a:r>
              <a:rPr kumimoji="0" lang="en-US" sz="2400" b="0" i="0" u="none" strike="noStrike" cap="none" normalizeH="0" baseline="0" dirty="0">
                <a:ln>
                  <a:noFill/>
                </a:ln>
                <a:solidFill>
                  <a:schemeClr val="tx1"/>
                </a:solidFill>
                <a:effectLst/>
                <a:latin typeface="Arial" pitchFamily="34" charset="0"/>
                <a:ea typeface="Times New Roman" pitchFamily="18" charset="0"/>
                <a:cs typeface="Arial" pitchFamily="34" charset="0"/>
              </a:rPr>
              <a:t>(31 miles) high. Compared to the troposphere, this part of the atmosphere is dry and less dense. The temperature in this region increases gradually to </a:t>
            </a:r>
            <a:r>
              <a:rPr kumimoji="0" lang="en-US" sz="2400" b="0" i="0" u="none" strike="noStrike" cap="none" normalizeH="0" baseline="0" dirty="0">
                <a:ln>
                  <a:noFill/>
                </a:ln>
                <a:solidFill>
                  <a:schemeClr val="accent4">
                    <a:lumMod val="75000"/>
                  </a:schemeClr>
                </a:solidFill>
                <a:effectLst/>
                <a:latin typeface="Arial" pitchFamily="34" charset="0"/>
                <a:ea typeface="Times New Roman" pitchFamily="18" charset="0"/>
                <a:cs typeface="Arial" pitchFamily="34" charset="0"/>
              </a:rPr>
              <a:t>-3 degrees Celsius</a:t>
            </a:r>
            <a:r>
              <a:rPr kumimoji="0" lang="en-US" sz="2400" b="0" i="0" u="none" strike="noStrike" cap="none" normalizeH="0" baseline="0" dirty="0">
                <a:ln>
                  <a:noFill/>
                </a:ln>
                <a:solidFill>
                  <a:schemeClr val="tx1"/>
                </a:solidFill>
                <a:effectLst/>
                <a:latin typeface="Arial" pitchFamily="34" charset="0"/>
                <a:ea typeface="Times New Roman" pitchFamily="18" charset="0"/>
                <a:cs typeface="Arial" pitchFamily="34" charset="0"/>
              </a:rPr>
              <a:t>, due to the </a:t>
            </a:r>
            <a:r>
              <a:rPr kumimoji="0" lang="en-US" sz="2400" b="0" i="0" u="none" strike="noStrike" cap="none" normalizeH="0" baseline="0" dirty="0" err="1">
                <a:ln>
                  <a:noFill/>
                </a:ln>
                <a:solidFill>
                  <a:schemeClr val="tx1"/>
                </a:solidFill>
                <a:effectLst/>
                <a:latin typeface="Arial" pitchFamily="34" charset="0"/>
                <a:ea typeface="Times New Roman" pitchFamily="18" charset="0"/>
                <a:cs typeface="Arial" pitchFamily="34" charset="0"/>
              </a:rPr>
              <a:t>absorbtion</a:t>
            </a:r>
            <a:r>
              <a:rPr kumimoji="0" lang="en-US" sz="2400" b="0" i="0" u="none" strike="noStrike" cap="none" normalizeH="0" baseline="0" dirty="0">
                <a:ln>
                  <a:noFill/>
                </a:ln>
                <a:solidFill>
                  <a:schemeClr val="tx1"/>
                </a:solidFill>
                <a:effectLst/>
                <a:latin typeface="Arial" pitchFamily="34" charset="0"/>
                <a:ea typeface="Times New Roman" pitchFamily="18" charset="0"/>
                <a:cs typeface="Arial" pitchFamily="34" charset="0"/>
              </a:rPr>
              <a:t> of ultraviolet radiation. The ozone layer, which absorbs and scatters the solar ultraviolet radiation, is in this layer. Ninety-nine percent of "air" is located in the troposphere and stratosphere. The </a:t>
            </a:r>
            <a:r>
              <a:rPr kumimoji="0" lang="en-US" sz="2400" b="1" i="0" u="none" strike="noStrike" cap="none" normalizeH="0" baseline="0" dirty="0" err="1">
                <a:ln>
                  <a:noFill/>
                </a:ln>
                <a:solidFill>
                  <a:schemeClr val="tx1"/>
                </a:solidFill>
                <a:effectLst/>
                <a:latin typeface="Arial" pitchFamily="34" charset="0"/>
                <a:ea typeface="Times New Roman" pitchFamily="18" charset="0"/>
                <a:cs typeface="Arial" pitchFamily="34" charset="0"/>
              </a:rPr>
              <a:t>stratopause</a:t>
            </a:r>
            <a:r>
              <a:rPr kumimoji="0" lang="en-US" sz="2400" b="0" i="0" u="none" strike="noStrike" cap="none" normalizeH="0" baseline="0" dirty="0">
                <a:ln>
                  <a:noFill/>
                </a:ln>
                <a:solidFill>
                  <a:schemeClr val="tx1"/>
                </a:solidFill>
                <a:effectLst/>
                <a:latin typeface="Arial" pitchFamily="34" charset="0"/>
                <a:ea typeface="Times New Roman" pitchFamily="18" charset="0"/>
                <a:cs typeface="Arial" pitchFamily="34" charset="0"/>
              </a:rPr>
              <a:t> separates the stratosphere from the next layer.</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a:ln>
                  <a:noFill/>
                </a:ln>
                <a:solidFill>
                  <a:schemeClr val="tx1"/>
                </a:solidFill>
                <a:effectLst/>
                <a:latin typeface="Times New Roman" pitchFamily="18" charset="0"/>
                <a:cs typeface="Times New Roman" pitchFamily="18" charset="0"/>
              </a:rPr>
              <a:t>Mesosphere:</a:t>
            </a:r>
            <a:endParaRPr kumimoji="0" lang="en-US" sz="2800" b="1"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ea typeface="Times New Roman" pitchFamily="18" charset="0"/>
                <a:cs typeface="Arial" pitchFamily="34" charset="0"/>
              </a:rPr>
              <a:t>The mesosphere starts just above the stratosphere and extends to </a:t>
            </a:r>
            <a:r>
              <a:rPr kumimoji="0" lang="en-US" sz="2400" b="0" i="0" u="none" strike="noStrike" cap="none" normalizeH="0" baseline="0" dirty="0">
                <a:ln>
                  <a:noFill/>
                </a:ln>
                <a:solidFill>
                  <a:srgbClr val="FF0000"/>
                </a:solidFill>
                <a:effectLst/>
                <a:latin typeface="Arial" pitchFamily="34" charset="0"/>
                <a:ea typeface="Times New Roman" pitchFamily="18" charset="0"/>
                <a:cs typeface="Arial" pitchFamily="34" charset="0"/>
              </a:rPr>
              <a:t>85 kilometers </a:t>
            </a:r>
            <a:r>
              <a:rPr kumimoji="0" lang="en-US" sz="2400" b="0" i="0" u="none" strike="noStrike" cap="none" normalizeH="0" baseline="0" dirty="0">
                <a:ln>
                  <a:noFill/>
                </a:ln>
                <a:solidFill>
                  <a:schemeClr val="tx1"/>
                </a:solidFill>
                <a:effectLst/>
                <a:latin typeface="Arial" pitchFamily="34" charset="0"/>
                <a:ea typeface="Times New Roman" pitchFamily="18" charset="0"/>
                <a:cs typeface="Arial" pitchFamily="34" charset="0"/>
              </a:rPr>
              <a:t>(53 miles) high. In this region, the temperature again falls as low as </a:t>
            </a:r>
            <a:r>
              <a:rPr kumimoji="0" lang="en-US" sz="2400" b="0" i="0" u="none" strike="noStrike" cap="none" normalizeH="0" baseline="0" dirty="0">
                <a:ln>
                  <a:noFill/>
                </a:ln>
                <a:solidFill>
                  <a:schemeClr val="accent4">
                    <a:lumMod val="75000"/>
                  </a:schemeClr>
                </a:solidFill>
                <a:effectLst/>
                <a:latin typeface="Arial" pitchFamily="34" charset="0"/>
                <a:ea typeface="Times New Roman" pitchFamily="18" charset="0"/>
                <a:cs typeface="Arial" pitchFamily="34" charset="0"/>
              </a:rPr>
              <a:t>-93 degrees Celsius</a:t>
            </a:r>
            <a:r>
              <a:rPr kumimoji="0" lang="en-US" sz="2400" b="0" i="0" u="none" strike="noStrike" cap="none" normalizeH="0" baseline="0" dirty="0">
                <a:ln>
                  <a:noFill/>
                </a:ln>
                <a:solidFill>
                  <a:schemeClr val="tx1"/>
                </a:solidFill>
                <a:effectLst/>
                <a:latin typeface="Arial" pitchFamily="34" charset="0"/>
                <a:ea typeface="Times New Roman" pitchFamily="18" charset="0"/>
                <a:cs typeface="Arial" pitchFamily="34" charset="0"/>
              </a:rPr>
              <a:t> as you increase in altitude. The </a:t>
            </a:r>
            <a:r>
              <a:rPr kumimoji="0" lang="en-US" sz="2400" b="1" i="0" u="none" strike="noStrike" cap="none" normalizeH="0" baseline="0" dirty="0" err="1">
                <a:ln>
                  <a:noFill/>
                </a:ln>
                <a:solidFill>
                  <a:schemeClr val="tx1"/>
                </a:solidFill>
                <a:effectLst/>
                <a:latin typeface="Arial" pitchFamily="34" charset="0"/>
                <a:ea typeface="Times New Roman" pitchFamily="18" charset="0"/>
                <a:cs typeface="Arial" pitchFamily="34" charset="0"/>
              </a:rPr>
              <a:t>mesopause</a:t>
            </a:r>
            <a:r>
              <a:rPr kumimoji="0" lang="en-US" sz="2400" b="0" i="0" u="none" strike="noStrike" cap="none" normalizeH="0" baseline="0" dirty="0">
                <a:ln>
                  <a:noFill/>
                </a:ln>
                <a:solidFill>
                  <a:schemeClr val="tx1"/>
                </a:solidFill>
                <a:effectLst/>
                <a:latin typeface="Arial" pitchFamily="34" charset="0"/>
                <a:ea typeface="Times New Roman" pitchFamily="18" charset="0"/>
                <a:cs typeface="Arial" pitchFamily="34" charset="0"/>
              </a:rPr>
              <a:t> separates the mesosphere from the thermosphere.</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120689"/>
    </mc:Choice>
    <mc:Fallback xmlns="">
      <p:transition spd="slow" advTm="120689"/>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04800" y="228600"/>
            <a:ext cx="8610600" cy="6400800"/>
          </a:xfrm>
        </p:spPr>
        <p:txBody>
          <a:bodyPr>
            <a:normAutofit fontScale="92500" lnSpcReduction="20000"/>
          </a:bodyPr>
          <a:lstStyle/>
          <a:p>
            <a:r>
              <a:rPr lang="en-US" b="1" dirty="0"/>
              <a:t>Thermosphere:</a:t>
            </a:r>
          </a:p>
          <a:p>
            <a:pPr algn="just">
              <a:buNone/>
            </a:pPr>
            <a:r>
              <a:rPr lang="en-US" dirty="0"/>
              <a:t>   </a:t>
            </a:r>
            <a:r>
              <a:rPr lang="en-US" sz="3000" dirty="0"/>
              <a:t>The thermosphere starts just above the mesosphere and extends to </a:t>
            </a:r>
            <a:r>
              <a:rPr lang="en-US" sz="3000" dirty="0">
                <a:solidFill>
                  <a:srgbClr val="FF0000"/>
                </a:solidFill>
              </a:rPr>
              <a:t>600 kilometers </a:t>
            </a:r>
            <a:r>
              <a:rPr lang="en-US" sz="3000" dirty="0"/>
              <a:t>(372 miles) high. The temperatures go up as you increase in altitude due to the Sun's energy. Radiation absorbing gas are present which absorb energy from solar radiation warming the air. Temperatures in this region can go as high as </a:t>
            </a:r>
            <a:r>
              <a:rPr lang="en-US" sz="3000" dirty="0">
                <a:solidFill>
                  <a:schemeClr val="accent4">
                    <a:lumMod val="75000"/>
                  </a:schemeClr>
                </a:solidFill>
              </a:rPr>
              <a:t>1,727 degrees Celsius</a:t>
            </a:r>
            <a:r>
              <a:rPr lang="en-US" sz="3000" dirty="0"/>
              <a:t>. Chemical reactions occur much faster here than on the surface of the Earth. This layer is known as the </a:t>
            </a:r>
            <a:r>
              <a:rPr lang="en-US" sz="3000" i="1" dirty="0"/>
              <a:t>upper atmosphere</a:t>
            </a:r>
            <a:r>
              <a:rPr lang="en-US" sz="3000" dirty="0"/>
              <a:t>.</a:t>
            </a:r>
          </a:p>
          <a:p>
            <a:pPr algn="just">
              <a:buNone/>
            </a:pPr>
            <a:endParaRPr lang="en-US" sz="3000" dirty="0"/>
          </a:p>
          <a:p>
            <a:pPr algn="just"/>
            <a:r>
              <a:rPr lang="en-US" sz="3000" b="1" dirty="0"/>
              <a:t>Exosphere:</a:t>
            </a:r>
          </a:p>
          <a:p>
            <a:pPr algn="just">
              <a:buNone/>
            </a:pPr>
            <a:r>
              <a:rPr lang="en-US" sz="3000" dirty="0"/>
              <a:t>   The </a:t>
            </a:r>
            <a:r>
              <a:rPr lang="en-US" sz="3000" b="1" dirty="0"/>
              <a:t>exosphere</a:t>
            </a:r>
            <a:r>
              <a:rPr lang="en-US" sz="3000" dirty="0"/>
              <a:t> starts at the top of the thermosphere and continues until it merges with interplanetary gaps, or space. In this region of the atmosphere, Hydrogen and Helium are the prime components and are only present at extremely low densities.</a:t>
            </a:r>
          </a:p>
        </p:txBody>
      </p:sp>
    </p:spTree>
  </p:cSld>
  <p:clrMapOvr>
    <a:masterClrMapping/>
  </p:clrMapOvr>
  <mc:AlternateContent xmlns:mc="http://schemas.openxmlformats.org/markup-compatibility/2006" xmlns:p14="http://schemas.microsoft.com/office/powerpoint/2010/main">
    <mc:Choice Requires="p14">
      <p:transition spd="slow" p14:dur="2000" advTm="89115"/>
    </mc:Choice>
    <mc:Fallback xmlns="">
      <p:transition spd="slow" advTm="89115"/>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533400"/>
          </a:xfrm>
        </p:spPr>
        <p:txBody>
          <a:bodyPr>
            <a:noAutofit/>
          </a:bodyPr>
          <a:lstStyle/>
          <a:p>
            <a:pPr algn="ctr"/>
            <a:br>
              <a:rPr lang="en-US" sz="3200" b="1" dirty="0">
                <a:solidFill>
                  <a:srgbClr val="202080"/>
                </a:solidFill>
                <a:effectLst>
                  <a:outerShdw blurRad="38100" dist="38100" dir="2700000" algn="tl">
                    <a:srgbClr val="C0C0C0"/>
                  </a:outerShdw>
                </a:effectLst>
              </a:rPr>
            </a:br>
            <a:br>
              <a:rPr lang="en-US" sz="3200" b="1" dirty="0">
                <a:solidFill>
                  <a:srgbClr val="202080"/>
                </a:solidFill>
                <a:effectLst>
                  <a:outerShdw blurRad="38100" dist="38100" dir="2700000" algn="tl">
                    <a:srgbClr val="C0C0C0"/>
                  </a:outerShdw>
                </a:effectLst>
              </a:rPr>
            </a:br>
            <a:r>
              <a:rPr lang="en-US" sz="3200" b="1" dirty="0">
                <a:solidFill>
                  <a:srgbClr val="202080"/>
                </a:solidFill>
                <a:effectLst>
                  <a:outerShdw blurRad="38100" dist="38100" dir="2700000" algn="tl">
                    <a:srgbClr val="C0C0C0"/>
                  </a:outerShdw>
                </a:effectLst>
              </a:rPr>
              <a:t>Weather &amp; Climate</a:t>
            </a:r>
            <a:br>
              <a:rPr lang="en-US" sz="3200" b="1" dirty="0">
                <a:solidFill>
                  <a:srgbClr val="202080"/>
                </a:solidFill>
                <a:effectLst>
                  <a:outerShdw blurRad="38100" dist="38100" dir="2700000" algn="tl">
                    <a:srgbClr val="C0C0C0"/>
                  </a:outerShdw>
                </a:effectLst>
              </a:rPr>
            </a:br>
            <a:endParaRPr lang="en-US" sz="3200" b="1" dirty="0"/>
          </a:p>
        </p:txBody>
      </p:sp>
      <p:sp>
        <p:nvSpPr>
          <p:cNvPr id="3" name="Content Placeholder 2"/>
          <p:cNvSpPr>
            <a:spLocks noGrp="1"/>
          </p:cNvSpPr>
          <p:nvPr>
            <p:ph idx="1"/>
          </p:nvPr>
        </p:nvSpPr>
        <p:spPr>
          <a:xfrm>
            <a:off x="228600" y="1371600"/>
            <a:ext cx="8610600" cy="5105400"/>
          </a:xfrm>
        </p:spPr>
        <p:txBody>
          <a:bodyPr>
            <a:normAutofit fontScale="85000" lnSpcReduction="20000"/>
          </a:bodyPr>
          <a:lstStyle/>
          <a:p>
            <a:pPr algn="just">
              <a:defRPr/>
            </a:pPr>
            <a:r>
              <a:rPr lang="en-US" dirty="0">
                <a:solidFill>
                  <a:srgbClr val="202080"/>
                </a:solidFill>
                <a:effectLst>
                  <a:outerShdw blurRad="38100" dist="38100" dir="2700000" algn="tl">
                    <a:srgbClr val="C0C0C0"/>
                  </a:outerShdw>
                </a:effectLst>
              </a:rPr>
              <a:t>Weather is an area’s short term temperature, precipitation, wind speed, cloud cover and other  physical  conditions of the lower atmosphere over a short period of time.  </a:t>
            </a:r>
          </a:p>
          <a:p>
            <a:pPr algn="just">
              <a:buNone/>
              <a:defRPr/>
            </a:pPr>
            <a:r>
              <a:rPr lang="en-US" dirty="0">
                <a:solidFill>
                  <a:srgbClr val="202080"/>
                </a:solidFill>
                <a:effectLst>
                  <a:outerShdw blurRad="38100" dist="38100" dir="2700000" algn="tl">
                    <a:srgbClr val="C0C0C0"/>
                  </a:outerShdw>
                </a:effectLst>
              </a:rPr>
              <a:t>Weather is comprised of the elements of:</a:t>
            </a:r>
          </a:p>
          <a:p>
            <a:pPr algn="just">
              <a:defRPr/>
            </a:pPr>
            <a:r>
              <a:rPr lang="en-US" dirty="0">
                <a:solidFill>
                  <a:srgbClr val="202080"/>
                </a:solidFill>
                <a:effectLst>
                  <a:outerShdw blurRad="38100" dist="38100" dir="2700000" algn="tl">
                    <a:srgbClr val="C0C0C0"/>
                  </a:outerShdw>
                </a:effectLst>
              </a:rPr>
              <a:t> a) air temperature </a:t>
            </a:r>
          </a:p>
          <a:p>
            <a:pPr algn="just">
              <a:defRPr/>
            </a:pPr>
            <a:r>
              <a:rPr lang="en-US" dirty="0">
                <a:solidFill>
                  <a:srgbClr val="202080"/>
                </a:solidFill>
                <a:effectLst>
                  <a:outerShdw blurRad="38100" dist="38100" dir="2700000" algn="tl">
                    <a:srgbClr val="C0C0C0"/>
                  </a:outerShdw>
                </a:effectLst>
              </a:rPr>
              <a:t>b) air pressure </a:t>
            </a:r>
          </a:p>
          <a:p>
            <a:pPr algn="just">
              <a:defRPr/>
            </a:pPr>
            <a:r>
              <a:rPr lang="en-US" dirty="0">
                <a:solidFill>
                  <a:srgbClr val="202080"/>
                </a:solidFill>
                <a:effectLst>
                  <a:outerShdw blurRad="38100" dist="38100" dir="2700000" algn="tl">
                    <a:srgbClr val="C0C0C0"/>
                  </a:outerShdw>
                </a:effectLst>
              </a:rPr>
              <a:t>c) humidity </a:t>
            </a:r>
          </a:p>
          <a:p>
            <a:pPr algn="just">
              <a:defRPr/>
            </a:pPr>
            <a:r>
              <a:rPr lang="en-US" dirty="0">
                <a:solidFill>
                  <a:srgbClr val="202080"/>
                </a:solidFill>
                <a:effectLst>
                  <a:outerShdw blurRad="38100" dist="38100" dir="2700000" algn="tl">
                    <a:srgbClr val="C0C0C0"/>
                  </a:outerShdw>
                </a:effectLst>
              </a:rPr>
              <a:t>d) clouds </a:t>
            </a:r>
          </a:p>
          <a:p>
            <a:pPr algn="just">
              <a:defRPr/>
            </a:pPr>
            <a:r>
              <a:rPr lang="en-US" dirty="0">
                <a:solidFill>
                  <a:srgbClr val="202080"/>
                </a:solidFill>
                <a:effectLst>
                  <a:outerShdw blurRad="38100" dist="38100" dir="2700000" algn="tl">
                    <a:srgbClr val="C0C0C0"/>
                  </a:outerShdw>
                </a:effectLst>
              </a:rPr>
              <a:t>e) precipitation </a:t>
            </a:r>
          </a:p>
          <a:p>
            <a:pPr algn="just">
              <a:defRPr/>
            </a:pPr>
            <a:r>
              <a:rPr lang="en-US" dirty="0">
                <a:solidFill>
                  <a:srgbClr val="202080"/>
                </a:solidFill>
                <a:effectLst>
                  <a:outerShdw blurRad="38100" dist="38100" dir="2700000" algn="tl">
                    <a:srgbClr val="C0C0C0"/>
                  </a:outerShdw>
                </a:effectLst>
              </a:rPr>
              <a:t>f) visibility</a:t>
            </a:r>
          </a:p>
          <a:p>
            <a:pPr algn="just">
              <a:defRPr/>
            </a:pPr>
            <a:r>
              <a:rPr lang="en-US" dirty="0">
                <a:solidFill>
                  <a:srgbClr val="202080"/>
                </a:solidFill>
                <a:effectLst>
                  <a:outerShdw blurRad="38100" dist="38100" dir="2700000" algn="tl">
                    <a:srgbClr val="C0C0C0"/>
                  </a:outerShdw>
                </a:effectLst>
              </a:rPr>
              <a:t>g) wind</a:t>
            </a:r>
          </a:p>
          <a:p>
            <a:pPr algn="just">
              <a:defRPr/>
            </a:pPr>
            <a:endParaRPr lang="en-US" dirty="0">
              <a:solidFill>
                <a:srgbClr val="202080"/>
              </a:solidFill>
              <a:effectLst>
                <a:outerShdw blurRad="38100" dist="38100" dir="2700000" algn="tl">
                  <a:srgbClr val="C0C0C0"/>
                </a:outerShdw>
              </a:effectLst>
            </a:endParaRPr>
          </a:p>
          <a:p>
            <a:pPr algn="just">
              <a:defRPr/>
            </a:pPr>
            <a:r>
              <a:rPr lang="en-US" dirty="0">
                <a:solidFill>
                  <a:srgbClr val="202080"/>
                </a:solidFill>
                <a:effectLst>
                  <a:outerShdw blurRad="38100" dist="38100" dir="2700000" algn="tl">
                    <a:srgbClr val="C0C0C0"/>
                  </a:outerShdw>
                </a:effectLst>
              </a:rPr>
              <a:t>Climate represents long-term  (e.g. 30 yr) averages of weather. Average temperature and average precipitation are the two main factors determining climate.</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174437"/>
    </mc:Choice>
    <mc:Fallback xmlns="">
      <p:transition spd="slow" advTm="174437"/>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0AA3E-ADB8-4152-8E3A-C50FE14AE60E}"/>
              </a:ext>
            </a:extLst>
          </p:cNvPr>
          <p:cNvSpPr>
            <a:spLocks noGrp="1"/>
          </p:cNvSpPr>
          <p:nvPr>
            <p:ph type="title"/>
          </p:nvPr>
        </p:nvSpPr>
        <p:spPr>
          <a:xfrm>
            <a:off x="685800" y="2514600"/>
            <a:ext cx="8229600" cy="1143000"/>
          </a:xfrm>
        </p:spPr>
        <p:txBody>
          <a:bodyPr>
            <a:normAutofit fontScale="90000"/>
          </a:bodyPr>
          <a:lstStyle/>
          <a:p>
            <a:r>
              <a:rPr lang="en-US" dirty="0"/>
              <a:t>Controls of weather and climate</a:t>
            </a:r>
          </a:p>
        </p:txBody>
      </p:sp>
    </p:spTree>
    <p:extLst>
      <p:ext uri="{BB962C8B-B14F-4D97-AF65-F5344CB8AC3E}">
        <p14:creationId xmlns:p14="http://schemas.microsoft.com/office/powerpoint/2010/main" val="2299731928"/>
      </p:ext>
    </p:extLst>
  </p:cSld>
  <p:clrMapOvr>
    <a:masterClrMapping/>
  </p:clrMapOvr>
  <mc:AlternateContent xmlns:mc="http://schemas.openxmlformats.org/markup-compatibility/2006" xmlns:p14="http://schemas.microsoft.com/office/powerpoint/2010/main">
    <mc:Choice Requires="p14">
      <p:transition spd="slow" p14:dur="2000" advTm="41852"/>
    </mc:Choice>
    <mc:Fallback xmlns="">
      <p:transition spd="slow" advTm="4185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r>
              <a:rPr lang="en-US" sz="3200" b="1" dirty="0"/>
              <a:t>Factors responsible for global and local climate</a:t>
            </a:r>
            <a:endParaRPr lang="en-US" sz="3200" dirty="0"/>
          </a:p>
        </p:txBody>
      </p:sp>
      <p:sp>
        <p:nvSpPr>
          <p:cNvPr id="3" name="Content Placeholder 2"/>
          <p:cNvSpPr>
            <a:spLocks noGrp="1"/>
          </p:cNvSpPr>
          <p:nvPr>
            <p:ph idx="1"/>
          </p:nvPr>
        </p:nvSpPr>
        <p:spPr/>
        <p:txBody>
          <a:bodyPr/>
          <a:lstStyle/>
          <a:p>
            <a:pPr algn="just"/>
            <a:r>
              <a:rPr lang="en-US" dirty="0"/>
              <a:t>Solar radiation reaching the area.</a:t>
            </a:r>
          </a:p>
          <a:p>
            <a:pPr algn="just"/>
            <a:r>
              <a:rPr lang="en-US" dirty="0"/>
              <a:t>Earth’s daily rotation at his own axis</a:t>
            </a:r>
          </a:p>
          <a:p>
            <a:pPr algn="just"/>
            <a:r>
              <a:rPr lang="en-US" dirty="0"/>
              <a:t>Annual rotation at his orbit (around the sun)</a:t>
            </a:r>
          </a:p>
          <a:p>
            <a:pPr algn="just"/>
            <a:r>
              <a:rPr lang="en-US" dirty="0"/>
              <a:t>Air circulation over the surface</a:t>
            </a:r>
          </a:p>
          <a:p>
            <a:pPr algn="just"/>
            <a:r>
              <a:rPr lang="en-US" dirty="0"/>
              <a:t>Global distribution of landmasses and water</a:t>
            </a:r>
          </a:p>
          <a:p>
            <a:pPr algn="just"/>
            <a:r>
              <a:rPr lang="en-US" dirty="0"/>
              <a:t>Circulation of ocean currents</a:t>
            </a:r>
          </a:p>
          <a:p>
            <a:pPr algn="just"/>
            <a:r>
              <a:rPr lang="en-US" dirty="0"/>
              <a:t>Elevation of the landmasses (altitude)</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271735"/>
    </mc:Choice>
    <mc:Fallback xmlns="">
      <p:transition spd="slow" advTm="271735"/>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G:\clones\Meterology\custom lectures\jpegs\chapter 01\14.jpg"/>
          <p:cNvPicPr>
            <a:picLocks noGrp="1" noChangeAspect="1" noChangeArrowheads="1"/>
          </p:cNvPicPr>
          <p:nvPr>
            <p:ph idx="1"/>
          </p:nvPr>
        </p:nvPicPr>
        <p:blipFill>
          <a:blip r:embed="rId2" r:link="rId3" cstate="print"/>
          <a:srcRect/>
          <a:stretch>
            <a:fillRect/>
          </a:stretch>
        </p:blipFill>
        <p:spPr bwMode="auto">
          <a:xfrm>
            <a:off x="228600" y="914400"/>
            <a:ext cx="3816752" cy="2791883"/>
          </a:xfrm>
          <a:prstGeom prst="rect">
            <a:avLst/>
          </a:prstGeom>
          <a:noFill/>
          <a:ln w="9525">
            <a:noFill/>
            <a:miter lim="800000"/>
            <a:headEnd/>
            <a:tailEnd/>
          </a:ln>
        </p:spPr>
      </p:pic>
      <p:pic>
        <p:nvPicPr>
          <p:cNvPr id="3" name="Content Placeholder 3" descr="G:\clones\Meterology\custom lectures\jpegs\chapter 01\16.jpg">
            <a:extLst>
              <a:ext uri="{FF2B5EF4-FFF2-40B4-BE49-F238E27FC236}">
                <a16:creationId xmlns:a16="http://schemas.microsoft.com/office/drawing/2014/main" id="{6D80101D-6BD7-4FEF-A8DC-193E6A0ACA0E}"/>
              </a:ext>
            </a:extLst>
          </p:cNvPr>
          <p:cNvPicPr>
            <a:picLocks noChangeAspect="1" noChangeArrowheads="1"/>
          </p:cNvPicPr>
          <p:nvPr/>
        </p:nvPicPr>
        <p:blipFill>
          <a:blip r:embed="rId4" r:link="rId5" cstate="print"/>
          <a:srcRect/>
          <a:stretch>
            <a:fillRect/>
          </a:stretch>
        </p:blipFill>
        <p:spPr bwMode="auto">
          <a:xfrm>
            <a:off x="4343399" y="951271"/>
            <a:ext cx="3915017" cy="2755012"/>
          </a:xfrm>
          <a:prstGeom prst="rect">
            <a:avLst/>
          </a:prstGeom>
          <a:noFill/>
          <a:ln w="9525">
            <a:noFill/>
            <a:miter lim="800000"/>
            <a:headEnd/>
            <a:tailEnd/>
          </a:ln>
        </p:spPr>
      </p:pic>
      <p:pic>
        <p:nvPicPr>
          <p:cNvPr id="5" name="Content Placeholder 3" descr="G:\clones\Meterology\custom lectures\jpegs\chapter 01\17.jpg">
            <a:extLst>
              <a:ext uri="{FF2B5EF4-FFF2-40B4-BE49-F238E27FC236}">
                <a16:creationId xmlns:a16="http://schemas.microsoft.com/office/drawing/2014/main" id="{FE82AE0A-F608-455E-B923-3F6937FD25DC}"/>
              </a:ext>
            </a:extLst>
          </p:cNvPr>
          <p:cNvPicPr>
            <a:picLocks noChangeAspect="1" noChangeArrowheads="1"/>
          </p:cNvPicPr>
          <p:nvPr/>
        </p:nvPicPr>
        <p:blipFill>
          <a:blip r:embed="rId6" r:link="rId7" cstate="print"/>
          <a:srcRect/>
          <a:stretch>
            <a:fillRect/>
          </a:stretch>
        </p:blipFill>
        <p:spPr bwMode="auto">
          <a:xfrm>
            <a:off x="304800" y="4648200"/>
            <a:ext cx="2782302" cy="1904999"/>
          </a:xfrm>
          <a:prstGeom prst="rect">
            <a:avLst/>
          </a:prstGeom>
          <a:noFill/>
          <a:ln w="9525">
            <a:noFill/>
            <a:miter lim="800000"/>
            <a:headEnd/>
            <a:tailEnd/>
          </a:ln>
        </p:spPr>
      </p:pic>
      <p:pic>
        <p:nvPicPr>
          <p:cNvPr id="6" name="Content Placeholder 3" descr="G:\clones\Meterology\custom lectures\jpegs\chapter 01\18.jpg">
            <a:extLst>
              <a:ext uri="{FF2B5EF4-FFF2-40B4-BE49-F238E27FC236}">
                <a16:creationId xmlns:a16="http://schemas.microsoft.com/office/drawing/2014/main" id="{19082CA0-5B05-46FE-848E-7C5AD9D2915D}"/>
              </a:ext>
            </a:extLst>
          </p:cNvPr>
          <p:cNvPicPr>
            <a:picLocks noChangeAspect="1" noChangeArrowheads="1"/>
          </p:cNvPicPr>
          <p:nvPr/>
        </p:nvPicPr>
        <p:blipFill>
          <a:blip r:embed="rId8" r:link="rId9" cstate="print"/>
          <a:srcRect/>
          <a:stretch>
            <a:fillRect/>
          </a:stretch>
        </p:blipFill>
        <p:spPr bwMode="auto">
          <a:xfrm>
            <a:off x="3140515" y="4648200"/>
            <a:ext cx="2726885" cy="2015523"/>
          </a:xfrm>
          <a:prstGeom prst="rect">
            <a:avLst/>
          </a:prstGeom>
          <a:noFill/>
          <a:ln w="9525">
            <a:noFill/>
            <a:miter lim="800000"/>
            <a:headEnd/>
            <a:tailEnd/>
          </a:ln>
        </p:spPr>
      </p:pic>
      <p:pic>
        <p:nvPicPr>
          <p:cNvPr id="7" name="Content Placeholder 3" descr="G:\clones\Meterology\custom lectures\jpegs\chapter 01\15.jpg">
            <a:extLst>
              <a:ext uri="{FF2B5EF4-FFF2-40B4-BE49-F238E27FC236}">
                <a16:creationId xmlns:a16="http://schemas.microsoft.com/office/drawing/2014/main" id="{EDE5C2E7-5C78-410F-8C35-45A70AF5CC75}"/>
              </a:ext>
            </a:extLst>
          </p:cNvPr>
          <p:cNvPicPr>
            <a:picLocks noChangeAspect="1" noChangeArrowheads="1"/>
          </p:cNvPicPr>
          <p:nvPr/>
        </p:nvPicPr>
        <p:blipFill>
          <a:blip r:embed="rId10" r:link="rId11" cstate="print"/>
          <a:srcRect/>
          <a:stretch>
            <a:fillRect/>
          </a:stretch>
        </p:blipFill>
        <p:spPr bwMode="auto">
          <a:xfrm>
            <a:off x="5864488" y="4638367"/>
            <a:ext cx="2845722" cy="2025356"/>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2000" advTm="69137"/>
    </mc:Choice>
    <mc:Fallback xmlns="">
      <p:transition spd="slow" advTm="69137"/>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629</TotalTime>
  <Words>822</Words>
  <Application>Microsoft Office PowerPoint</Application>
  <PresentationFormat>On-screen Show (4:3)</PresentationFormat>
  <Paragraphs>80</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Constantia</vt:lpstr>
      <vt:lpstr>Times New Roman</vt:lpstr>
      <vt:lpstr>Wingdings 2</vt:lpstr>
      <vt:lpstr>Flow</vt:lpstr>
      <vt:lpstr>The Earth’s Atmosphere</vt:lpstr>
      <vt:lpstr>PowerPoint Presentation</vt:lpstr>
      <vt:lpstr>PowerPoint Presentation</vt:lpstr>
      <vt:lpstr>Composition of Atmosphere</vt:lpstr>
      <vt:lpstr>PowerPoint Presentation</vt:lpstr>
      <vt:lpstr>      Atmospheric Layers </vt:lpstr>
      <vt:lpstr>PowerPoint Presentation</vt:lpstr>
      <vt:lpstr>PowerPoint Presentation</vt:lpstr>
      <vt:lpstr>PowerPoint Presentation</vt:lpstr>
      <vt:lpstr>  Weather &amp; Climate </vt:lpstr>
      <vt:lpstr>Controls of weather and climate</vt:lpstr>
      <vt:lpstr>Factors responsible for global and local climate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Earth’s Atmosphere</dc:title>
  <dc:creator>Shagufta Gaffar</dc:creator>
  <cp:lastModifiedBy>user</cp:lastModifiedBy>
  <cp:revision>86</cp:revision>
  <cp:lastPrinted>2020-06-22T15:24:18Z</cp:lastPrinted>
  <dcterms:created xsi:type="dcterms:W3CDTF">2006-08-16T00:00:00Z</dcterms:created>
  <dcterms:modified xsi:type="dcterms:W3CDTF">2020-07-05T13:29:39Z</dcterms:modified>
</cp:coreProperties>
</file>