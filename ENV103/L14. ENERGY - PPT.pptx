
<file path=[Content_Types].xml><?xml version="1.0" encoding="utf-8"?>
<Types xmlns="http://schemas.openxmlformats.org/package/2006/content-types">
  <Default Extension="gif" ContentType="image/gi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15" r:id="rId1"/>
  </p:sldMasterIdLst>
  <p:handoutMasterIdLst>
    <p:handoutMasterId r:id="rId24"/>
  </p:handoutMasterIdLst>
  <p:sldIdLst>
    <p:sldId id="257" r:id="rId2"/>
    <p:sldId id="258" r:id="rId3"/>
    <p:sldId id="259" r:id="rId4"/>
    <p:sldId id="285" r:id="rId5"/>
    <p:sldId id="261" r:id="rId6"/>
    <p:sldId id="262" r:id="rId7"/>
    <p:sldId id="263" r:id="rId8"/>
    <p:sldId id="264" r:id="rId9"/>
    <p:sldId id="287" r:id="rId10"/>
    <p:sldId id="265" r:id="rId11"/>
    <p:sldId id="267" r:id="rId12"/>
    <p:sldId id="269" r:id="rId13"/>
    <p:sldId id="270" r:id="rId14"/>
    <p:sldId id="272" r:id="rId15"/>
    <p:sldId id="273" r:id="rId16"/>
    <p:sldId id="274" r:id="rId17"/>
    <p:sldId id="275" r:id="rId18"/>
    <p:sldId id="276" r:id="rId19"/>
    <p:sldId id="277" r:id="rId20"/>
    <p:sldId id="283" r:id="rId21"/>
    <p:sldId id="284" r:id="rId22"/>
    <p:sldId id="288" r:id="rId23"/>
  </p:sldIdLst>
  <p:sldSz cx="9144000" cy="6858000" type="screen4x3"/>
  <p:notesSz cx="6881813"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3" d="100"/>
          <a:sy n="63" d="100"/>
        </p:scale>
        <p:origin x="138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913"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97313" y="0"/>
            <a:ext cx="2982912" cy="465138"/>
          </a:xfrm>
          <a:prstGeom prst="rect">
            <a:avLst/>
          </a:prstGeom>
        </p:spPr>
        <p:txBody>
          <a:bodyPr vert="horz" lIns="91440" tIns="45720" rIns="91440" bIns="45720" rtlCol="0"/>
          <a:lstStyle>
            <a:lvl1pPr algn="r">
              <a:defRPr sz="1200"/>
            </a:lvl1pPr>
          </a:lstStyle>
          <a:p>
            <a:fld id="{D2222095-40FA-4A27-AE9E-97844852CBAC}" type="datetimeFigureOut">
              <a:rPr lang="en-US" smtClean="0"/>
              <a:pPr/>
              <a:t>11/26/2023</a:t>
            </a:fld>
            <a:endParaRPr lang="en-US"/>
          </a:p>
        </p:txBody>
      </p:sp>
      <p:sp>
        <p:nvSpPr>
          <p:cNvPr id="4" name="Footer Placeholder 3"/>
          <p:cNvSpPr>
            <a:spLocks noGrp="1"/>
          </p:cNvSpPr>
          <p:nvPr>
            <p:ph type="ftr" sz="quarter" idx="2"/>
          </p:nvPr>
        </p:nvSpPr>
        <p:spPr>
          <a:xfrm>
            <a:off x="0" y="8829675"/>
            <a:ext cx="2982913"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97313" y="8829675"/>
            <a:ext cx="2982912" cy="465138"/>
          </a:xfrm>
          <a:prstGeom prst="rect">
            <a:avLst/>
          </a:prstGeom>
        </p:spPr>
        <p:txBody>
          <a:bodyPr vert="horz" lIns="91440" tIns="45720" rIns="91440" bIns="45720" rtlCol="0" anchor="b"/>
          <a:lstStyle>
            <a:lvl1pPr algn="r">
              <a:defRPr sz="1200"/>
            </a:lvl1pPr>
          </a:lstStyle>
          <a:p>
            <a:fld id="{38CC60C0-A384-4F84-870A-E1696450D997}" type="slidenum">
              <a:rPr lang="en-US" smtClean="0"/>
              <a:pPr/>
              <a:t>‹#›</a:t>
            </a:fld>
            <a:endParaRPr lang="en-US"/>
          </a:p>
        </p:txBody>
      </p:sp>
    </p:spTree>
    <p:extLst>
      <p:ext uri="{BB962C8B-B14F-4D97-AF65-F5344CB8AC3E}">
        <p14:creationId xmlns:p14="http://schemas.microsoft.com/office/powerpoint/2010/main" val="4079692800"/>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82879" y="182879"/>
            <a:ext cx="8778240" cy="6492240"/>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32485" y="882376"/>
            <a:ext cx="7475220" cy="2926080"/>
          </a:xfrm>
        </p:spPr>
        <p:txBody>
          <a:bodyPr anchor="b">
            <a:normAutofit/>
          </a:bodyPr>
          <a:lstStyle>
            <a:lvl1pPr algn="ctr">
              <a:lnSpc>
                <a:spcPct val="85000"/>
              </a:lnSpc>
              <a:defRPr sz="6000" b="1" cap="all"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282148" y="3869635"/>
            <a:ext cx="6575895" cy="1388165"/>
          </a:xfrm>
        </p:spPr>
        <p:txBody>
          <a:bodyPr>
            <a:normAutofit/>
          </a:bodyPr>
          <a:lstStyle>
            <a:lvl1pPr marL="0" indent="0" algn="ctr">
              <a:spcBef>
                <a:spcPts val="1000"/>
              </a:spcBef>
              <a:buNone/>
              <a:defRPr sz="1800">
                <a:solidFill>
                  <a:srgbClr val="FFFFFF"/>
                </a:solidFill>
              </a:defRPr>
            </a:lvl1pPr>
            <a:lvl2pPr marL="342900" indent="0" algn="ctr">
              <a:buNone/>
              <a:defRPr sz="18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B2A1E8CA-68FB-4062-8FAD-504A6E44FE90}" type="datetimeFigureOut">
              <a:rPr lang="en-US" smtClean="0"/>
              <a:pPr/>
              <a:t>11/26/2023</a:t>
            </a:fld>
            <a:endParaRPr lang="en-US"/>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5D4BC2D2-8CB3-4234-894D-04EAB0D0E70E}" type="slidenum">
              <a:rPr lang="en-US" smtClean="0"/>
              <a:pPr/>
              <a:t>‹#›</a:t>
            </a:fld>
            <a:endParaRPr lang="en-US"/>
          </a:p>
        </p:txBody>
      </p:sp>
      <p:cxnSp>
        <p:nvCxnSpPr>
          <p:cNvPr id="8" name="Straight Connector 7"/>
          <p:cNvCxnSpPr/>
          <p:nvPr/>
        </p:nvCxnSpPr>
        <p:spPr>
          <a:xfrm>
            <a:off x="1483995" y="3733800"/>
            <a:ext cx="61722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41973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spcBef>
                <a:spcPts val="1000"/>
              </a:spcBef>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2A1E8CA-68FB-4062-8FAD-504A6E44FE90}" type="datetimeFigureOut">
              <a:rPr lang="en-US" smtClean="0"/>
              <a:pPr/>
              <a:t>11/26/2023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4BC2D2-8CB3-4234-894D-04EAB0D0E70E}" type="slidenum">
              <a:rPr lang="en-US" smtClean="0"/>
              <a:pPr/>
              <a:t>‹#›</a:t>
            </a:fld>
            <a:endParaRPr lang="en-US"/>
          </a:p>
        </p:txBody>
      </p:sp>
    </p:spTree>
    <p:extLst>
      <p:ext uri="{BB962C8B-B14F-4D97-AF65-F5344CB8AC3E}">
        <p14:creationId xmlns:p14="http://schemas.microsoft.com/office/powerpoint/2010/main" val="11749452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29818" y="1173575"/>
            <a:ext cx="7475220" cy="2926080"/>
          </a:xfrm>
        </p:spPr>
        <p:txBody>
          <a:bodyPr anchor="b">
            <a:noAutofit/>
          </a:bodyPr>
          <a:lstStyle>
            <a:lvl1pPr algn="ctr">
              <a:lnSpc>
                <a:spcPct val="85000"/>
              </a:lnSpc>
              <a:defRPr sz="60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282446" y="4154520"/>
            <a:ext cx="6576822" cy="1363806"/>
          </a:xfrm>
        </p:spPr>
        <p:txBody>
          <a:bodyPr anchor="t">
            <a:normAutofit/>
          </a:bodyPr>
          <a:lstStyle>
            <a:lvl1pPr marL="0" indent="0" algn="ctr">
              <a:buNone/>
              <a:defRPr sz="1800">
                <a:solidFill>
                  <a:schemeClr val="accent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2A1E8CA-68FB-4062-8FAD-504A6E44FE90}" type="datetimeFigureOut">
              <a:rPr lang="en-US" smtClean="0"/>
              <a:pPr/>
              <a:t>11/26/2023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4BC2D2-8CB3-4234-894D-04EAB0D0E70E}" type="slidenum">
              <a:rPr lang="en-US" smtClean="0"/>
              <a:pPr/>
              <a:t>‹#›</a:t>
            </a:fld>
            <a:endParaRPr lang="en-US"/>
          </a:p>
        </p:txBody>
      </p:sp>
      <p:cxnSp>
        <p:nvCxnSpPr>
          <p:cNvPr id="7" name="Straight Connector 6"/>
          <p:cNvCxnSpPr/>
          <p:nvPr/>
        </p:nvCxnSpPr>
        <p:spPr>
          <a:xfrm>
            <a:off x="1485900" y="4020408"/>
            <a:ext cx="61722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99009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57250" y="2057399"/>
            <a:ext cx="3566160" cy="402336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00709" y="2057400"/>
            <a:ext cx="3566160" cy="402336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2A1E8CA-68FB-4062-8FAD-504A6E44FE90}" type="datetimeFigureOut">
              <a:rPr lang="en-US" smtClean="0"/>
              <a:pPr/>
              <a:t>11/26/2023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4BC2D2-8CB3-4234-894D-04EAB0D0E70E}" type="slidenum">
              <a:rPr lang="en-US" smtClean="0"/>
              <a:pPr/>
              <a:t>‹#›</a:t>
            </a:fld>
            <a:endParaRPr lang="en-US"/>
          </a:p>
        </p:txBody>
      </p:sp>
    </p:spTree>
    <p:extLst>
      <p:ext uri="{BB962C8B-B14F-4D97-AF65-F5344CB8AC3E}">
        <p14:creationId xmlns:p14="http://schemas.microsoft.com/office/powerpoint/2010/main" val="23491478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857250" y="2001511"/>
            <a:ext cx="3566160" cy="777240"/>
          </a:xfrm>
        </p:spPr>
        <p:txBody>
          <a:bodyPr anchor="ctr"/>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57250" y="2721483"/>
            <a:ext cx="3566160" cy="338328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01880" y="1999032"/>
            <a:ext cx="3566160" cy="777240"/>
          </a:xfrm>
        </p:spPr>
        <p:txBody>
          <a:bodyPr anchor="ctr"/>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01880" y="2719322"/>
            <a:ext cx="3566160" cy="338328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2A1E8CA-68FB-4062-8FAD-504A6E44FE90}" type="datetimeFigureOut">
              <a:rPr lang="en-US" smtClean="0"/>
              <a:pPr/>
              <a:t>11/26/2023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D4BC2D2-8CB3-4234-894D-04EAB0D0E70E}" type="slidenum">
              <a:rPr lang="en-US" smtClean="0"/>
              <a:pPr/>
              <a:t>‹#›</a:t>
            </a:fld>
            <a:endParaRPr lang="en-US"/>
          </a:p>
        </p:txBody>
      </p:sp>
    </p:spTree>
    <p:extLst>
      <p:ext uri="{BB962C8B-B14F-4D97-AF65-F5344CB8AC3E}">
        <p14:creationId xmlns:p14="http://schemas.microsoft.com/office/powerpoint/2010/main" val="8987238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2A1E8CA-68FB-4062-8FAD-504A6E44FE90}" type="datetimeFigureOut">
              <a:rPr lang="en-US" smtClean="0"/>
              <a:pPr/>
              <a:t>11/26/2023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D4BC2D2-8CB3-4234-894D-04EAB0D0E70E}" type="slidenum">
              <a:rPr lang="en-US" smtClean="0"/>
              <a:pPr/>
              <a:t>‹#›</a:t>
            </a:fld>
            <a:endParaRPr lang="en-US"/>
          </a:p>
        </p:txBody>
      </p:sp>
    </p:spTree>
    <p:extLst>
      <p:ext uri="{BB962C8B-B14F-4D97-AF65-F5344CB8AC3E}">
        <p14:creationId xmlns:p14="http://schemas.microsoft.com/office/powerpoint/2010/main" val="10986236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2A1E8CA-68FB-4062-8FAD-504A6E44FE90}" type="datetimeFigureOut">
              <a:rPr lang="en-US" smtClean="0"/>
              <a:pPr/>
              <a:t>11/26/2023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D4BC2D2-8CB3-4234-894D-04EAB0D0E70E}" type="slidenum">
              <a:rPr lang="en-US" smtClean="0"/>
              <a:pPr/>
              <a:t>‹#›</a:t>
            </a:fld>
            <a:endParaRPr lang="en-US"/>
          </a:p>
        </p:txBody>
      </p:sp>
    </p:spTree>
    <p:extLst>
      <p:ext uri="{BB962C8B-B14F-4D97-AF65-F5344CB8AC3E}">
        <p14:creationId xmlns:p14="http://schemas.microsoft.com/office/powerpoint/2010/main" val="27541854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7250" y="1097280"/>
            <a:ext cx="2834640" cy="1737360"/>
          </a:xfrm>
        </p:spPr>
        <p:txBody>
          <a:bodyPr anchor="b">
            <a:noAutofit/>
          </a:bodyPr>
          <a:lstStyle>
            <a:lvl1pPr>
              <a:lnSpc>
                <a:spcPct val="90000"/>
              </a:lnSpc>
              <a:defRPr sz="3000" b="0"/>
            </a:lvl1pPr>
          </a:lstStyle>
          <a:p>
            <a:r>
              <a:rPr lang="en-US"/>
              <a:t>Click to edit Master title style</a:t>
            </a:r>
            <a:endParaRPr lang="en-US" dirty="0"/>
          </a:p>
        </p:txBody>
      </p:sp>
      <p:sp>
        <p:nvSpPr>
          <p:cNvPr id="3" name="Content Placeholder 2"/>
          <p:cNvSpPr>
            <a:spLocks noGrp="1"/>
          </p:cNvSpPr>
          <p:nvPr>
            <p:ph idx="1"/>
          </p:nvPr>
        </p:nvSpPr>
        <p:spPr>
          <a:xfrm>
            <a:off x="4129314" y="1097280"/>
            <a:ext cx="4149638" cy="466344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7250" y="2834640"/>
            <a:ext cx="2834640" cy="2926080"/>
          </a:xfrm>
        </p:spPr>
        <p:txBody>
          <a:bodyPr>
            <a:normAutofit/>
          </a:bodyPr>
          <a:lstStyle>
            <a:lvl1pPr marL="0" indent="0">
              <a:lnSpc>
                <a:spcPct val="100000"/>
              </a:lnSpc>
              <a:spcBef>
                <a:spcPts val="800"/>
              </a:spcBef>
              <a:buNone/>
              <a:defRPr sz="1275"/>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B2A1E8CA-68FB-4062-8FAD-504A6E44FE90}" type="datetimeFigureOut">
              <a:rPr lang="en-US" smtClean="0"/>
              <a:pPr/>
              <a:t>11/26/2023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4BC2D2-8CB3-4234-894D-04EAB0D0E70E}" type="slidenum">
              <a:rPr lang="en-US" smtClean="0"/>
              <a:pPr/>
              <a:t>‹#›</a:t>
            </a:fld>
            <a:endParaRPr lang="en-US"/>
          </a:p>
        </p:txBody>
      </p:sp>
    </p:spTree>
    <p:extLst>
      <p:ext uri="{BB962C8B-B14F-4D97-AF65-F5344CB8AC3E}">
        <p14:creationId xmlns:p14="http://schemas.microsoft.com/office/powerpoint/2010/main" val="21403328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7250" y="1097280"/>
            <a:ext cx="2834640" cy="1737360"/>
          </a:xfrm>
        </p:spPr>
        <p:txBody>
          <a:bodyPr anchor="b">
            <a:noAutofit/>
          </a:bodyPr>
          <a:lstStyle>
            <a:lvl1pPr>
              <a:lnSpc>
                <a:spcPct val="90000"/>
              </a:lnSpc>
              <a:defRPr sz="3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4019107" y="1069847"/>
            <a:ext cx="4257703" cy="4645153"/>
          </a:xfrm>
        </p:spPr>
        <p:txBody>
          <a:bodyPr lIns="274320" tIns="182880" anchor="t">
            <a:normAutofit/>
          </a:bodyPr>
          <a:lstStyle>
            <a:lvl1pPr marL="0" indent="0">
              <a:buNone/>
              <a:defRPr sz="21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857250" y="2834640"/>
            <a:ext cx="2834640" cy="2880360"/>
          </a:xfrm>
        </p:spPr>
        <p:txBody>
          <a:bodyPr>
            <a:normAutofit/>
          </a:bodyPr>
          <a:lstStyle>
            <a:lvl1pPr marL="0" indent="0">
              <a:lnSpc>
                <a:spcPct val="100000"/>
              </a:lnSpc>
              <a:spcBef>
                <a:spcPts val="800"/>
              </a:spcBef>
              <a:buNone/>
              <a:defRPr sz="1275"/>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B2A1E8CA-68FB-4062-8FAD-504A6E44FE90}" type="datetimeFigureOut">
              <a:rPr lang="en-US" smtClean="0"/>
              <a:pPr/>
              <a:t>11/26/2023</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4BC2D2-8CB3-4234-894D-04EAB0D0E70E}" type="slidenum">
              <a:rPr lang="en-US" smtClean="0"/>
              <a:pPr/>
              <a:t>‹#›</a:t>
            </a:fld>
            <a:endParaRPr lang="en-US"/>
          </a:p>
        </p:txBody>
      </p:sp>
    </p:spTree>
    <p:extLst>
      <p:ext uri="{BB962C8B-B14F-4D97-AF65-F5344CB8AC3E}">
        <p14:creationId xmlns:p14="http://schemas.microsoft.com/office/powerpoint/2010/main" val="19417561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2A1E8CA-68FB-4062-8FAD-504A6E44FE90}" type="datetimeFigureOut">
              <a:rPr lang="en-US" smtClean="0"/>
              <a:pPr/>
              <a:t>11/26/2023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4BC2D2-8CB3-4234-894D-04EAB0D0E70E}" type="slidenum">
              <a:rPr lang="en-US" smtClean="0"/>
              <a:pPr/>
              <a:t>‹#›</a:t>
            </a:fld>
            <a:endParaRPr lang="en-US"/>
          </a:p>
        </p:txBody>
      </p:sp>
    </p:spTree>
    <p:extLst>
      <p:ext uri="{BB962C8B-B14F-4D97-AF65-F5344CB8AC3E}">
        <p14:creationId xmlns:p14="http://schemas.microsoft.com/office/powerpoint/2010/main" val="2184755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762000"/>
            <a:ext cx="1743075"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57250" y="762000"/>
            <a:ext cx="5572125"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2A1E8CA-68FB-4062-8FAD-504A6E44FE90}" type="datetimeFigureOut">
              <a:rPr lang="en-US" smtClean="0"/>
              <a:pPr/>
              <a:t>11/26/2023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4BC2D2-8CB3-4234-894D-04EAB0D0E70E}" type="slidenum">
              <a:rPr lang="en-US" smtClean="0"/>
              <a:pPr/>
              <a:t>‹#›</a:t>
            </a:fld>
            <a:endParaRPr lang="en-US"/>
          </a:p>
        </p:txBody>
      </p:sp>
    </p:spTree>
    <p:extLst>
      <p:ext uri="{BB962C8B-B14F-4D97-AF65-F5344CB8AC3E}">
        <p14:creationId xmlns:p14="http://schemas.microsoft.com/office/powerpoint/2010/main" val="4516311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p:nvPr/>
        </p:nvSpPr>
        <p:spPr>
          <a:xfrm>
            <a:off x="182880" y="182880"/>
            <a:ext cx="8778240" cy="649224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57250" y="609600"/>
            <a:ext cx="740664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57251" y="2057400"/>
            <a:ext cx="7404653" cy="4038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7247" y="6223829"/>
            <a:ext cx="1746806" cy="365125"/>
          </a:xfrm>
          <a:prstGeom prst="rect">
            <a:avLst/>
          </a:prstGeom>
        </p:spPr>
        <p:txBody>
          <a:bodyPr vert="horz" lIns="91440" tIns="45720" rIns="91440" bIns="45720" rtlCol="0" anchor="ctr"/>
          <a:lstStyle>
            <a:lvl1pPr algn="l">
              <a:defRPr sz="1000">
                <a:solidFill>
                  <a:schemeClr val="accent1"/>
                </a:solidFill>
              </a:defRPr>
            </a:lvl1pPr>
          </a:lstStyle>
          <a:p>
            <a:fld id="{B2A1E8CA-68FB-4062-8FAD-504A6E44FE90}" type="datetimeFigureOut">
              <a:rPr lang="en-US" smtClean="0"/>
              <a:pPr/>
              <a:t>11/26/2023</a:t>
            </a:fld>
            <a:endParaRPr lang="en-US"/>
          </a:p>
        </p:txBody>
      </p:sp>
      <p:sp>
        <p:nvSpPr>
          <p:cNvPr id="5" name="Footer Placeholder 4"/>
          <p:cNvSpPr>
            <a:spLocks noGrp="1"/>
          </p:cNvSpPr>
          <p:nvPr>
            <p:ph type="ftr" sz="quarter" idx="3"/>
          </p:nvPr>
        </p:nvSpPr>
        <p:spPr>
          <a:xfrm>
            <a:off x="2961861" y="6223829"/>
            <a:ext cx="3538331" cy="365125"/>
          </a:xfrm>
          <a:prstGeom prst="rect">
            <a:avLst/>
          </a:prstGeom>
        </p:spPr>
        <p:txBody>
          <a:bodyPr vert="horz" lIns="91440" tIns="45720" rIns="91440" bIns="45720" rtlCol="0" anchor="ctr"/>
          <a:lstStyle>
            <a:lvl1pPr algn="ctr">
              <a:defRPr sz="1000">
                <a:solidFill>
                  <a:schemeClr val="accent1"/>
                </a:solidFill>
              </a:defRPr>
            </a:lvl1pPr>
          </a:lstStyle>
          <a:p>
            <a:endParaRPr lang="en-US"/>
          </a:p>
        </p:txBody>
      </p:sp>
      <p:sp>
        <p:nvSpPr>
          <p:cNvPr id="6" name="Slide Number Placeholder 5"/>
          <p:cNvSpPr>
            <a:spLocks noGrp="1"/>
          </p:cNvSpPr>
          <p:nvPr>
            <p:ph type="sldNum" sz="quarter" idx="4"/>
          </p:nvPr>
        </p:nvSpPr>
        <p:spPr>
          <a:xfrm>
            <a:off x="6997148" y="6223829"/>
            <a:ext cx="1279663" cy="365125"/>
          </a:xfrm>
          <a:prstGeom prst="rect">
            <a:avLst/>
          </a:prstGeom>
        </p:spPr>
        <p:txBody>
          <a:bodyPr vert="horz" lIns="91440" tIns="45720" rIns="91440" bIns="45720" rtlCol="0" anchor="ctr"/>
          <a:lstStyle>
            <a:lvl1pPr algn="r">
              <a:defRPr sz="1000">
                <a:solidFill>
                  <a:schemeClr val="accent1"/>
                </a:solidFill>
              </a:defRPr>
            </a:lvl1pPr>
          </a:lstStyle>
          <a:p>
            <a:fld id="{5D4BC2D2-8CB3-4234-894D-04EAB0D0E70E}" type="slidenum">
              <a:rPr lang="en-US" smtClean="0"/>
              <a:pPr/>
              <a:t>‹#›</a:t>
            </a:fld>
            <a:endParaRPr lang="en-US"/>
          </a:p>
        </p:txBody>
      </p:sp>
    </p:spTree>
    <p:extLst>
      <p:ext uri="{BB962C8B-B14F-4D97-AF65-F5344CB8AC3E}">
        <p14:creationId xmlns:p14="http://schemas.microsoft.com/office/powerpoint/2010/main" val="1874816740"/>
      </p:ext>
    </p:extLst>
  </p:cSld>
  <p:clrMap bg1="lt1" tx1="dk1" bg2="lt2" tx2="dk2" accent1="accent1" accent2="accent2" accent3="accent3" accent4="accent4" accent5="accent5" accent6="accent6" hlink="hlink" folHlink="folHlink"/>
  <p:sldLayoutIdLst>
    <p:sldLayoutId id="2147484116" r:id="rId1"/>
    <p:sldLayoutId id="2147484117" r:id="rId2"/>
    <p:sldLayoutId id="2147484118" r:id="rId3"/>
    <p:sldLayoutId id="2147484119" r:id="rId4"/>
    <p:sldLayoutId id="2147484120" r:id="rId5"/>
    <p:sldLayoutId id="2147484121" r:id="rId6"/>
    <p:sldLayoutId id="2147484122" r:id="rId7"/>
    <p:sldLayoutId id="2147484123" r:id="rId8"/>
    <p:sldLayoutId id="2147484124" r:id="rId9"/>
    <p:sldLayoutId id="2147484125" r:id="rId10"/>
    <p:sldLayoutId id="2147484126" r:id="rId11"/>
  </p:sldLayoutIdLst>
  <p:txStyles>
    <p:titleStyle>
      <a:lvl1pPr algn="l" defTabSz="685800" rtl="0" eaLnBrk="1" latinLnBrk="0" hangingPunct="1">
        <a:lnSpc>
          <a:spcPct val="90000"/>
        </a:lnSpc>
        <a:spcBef>
          <a:spcPct val="0"/>
        </a:spcBef>
        <a:buNone/>
        <a:defRPr sz="4000" kern="1200">
          <a:solidFill>
            <a:schemeClr val="accent1"/>
          </a:solidFill>
          <a:latin typeface="+mj-lt"/>
          <a:ea typeface="+mj-ea"/>
          <a:cs typeface="+mj-cs"/>
        </a:defRPr>
      </a:lvl1pPr>
    </p:titleStyle>
    <p:bodyStyle>
      <a:lvl1pPr marL="171450" indent="-137160" algn="l" defTabSz="685800" rtl="0" eaLnBrk="1" latinLnBrk="0" hangingPunct="1">
        <a:lnSpc>
          <a:spcPct val="90000"/>
        </a:lnSpc>
        <a:spcBef>
          <a:spcPts val="1000"/>
        </a:spcBef>
        <a:buClr>
          <a:schemeClr val="accent1"/>
        </a:buClr>
        <a:buSzPct val="80000"/>
        <a:buFont typeface="Corbel" pitchFamily="34" charset="0"/>
        <a:buChar char="•"/>
        <a:defRPr sz="2000" kern="1200">
          <a:solidFill>
            <a:schemeClr val="accent1"/>
          </a:solidFill>
          <a:latin typeface="+mn-lt"/>
          <a:ea typeface="+mn-ea"/>
          <a:cs typeface="+mn-cs"/>
        </a:defRPr>
      </a:lvl1pPr>
      <a:lvl2pPr marL="34290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800" kern="1200">
          <a:solidFill>
            <a:schemeClr val="accent1"/>
          </a:solidFill>
          <a:latin typeface="+mn-lt"/>
          <a:ea typeface="+mn-ea"/>
          <a:cs typeface="+mn-cs"/>
        </a:defRPr>
      </a:lvl2pPr>
      <a:lvl3pPr marL="54864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600" kern="1200">
          <a:solidFill>
            <a:schemeClr val="accent1"/>
          </a:solidFill>
          <a:latin typeface="+mn-lt"/>
          <a:ea typeface="+mn-ea"/>
          <a:cs typeface="+mn-cs"/>
        </a:defRPr>
      </a:lvl3pPr>
      <a:lvl4pPr marL="75438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4pPr>
      <a:lvl5pPr marL="92012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5pPr>
      <a:lvl6pPr marL="11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6pPr>
      <a:lvl7pPr marL="13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7pPr>
      <a:lvl8pPr marL="15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8pPr>
      <a:lvl9pPr marL="17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4.jpeg"/></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6.jpeg"/></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8.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10.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2.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Layout" Target="../slideLayouts/slideLayout1.xml"/><Relationship Id="rId1" Type="http://schemas.openxmlformats.org/officeDocument/2006/relationships/tags" Target="../tags/tag13.xml"/><Relationship Id="rId4" Type="http://schemas.openxmlformats.org/officeDocument/2006/relationships/image" Target="../media/image12.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4.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5.xml"/></Relationships>
</file>

<file path=ppt/slides/_rels/slide1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slideLayout" Target="../slideLayouts/slideLayout2.xml"/><Relationship Id="rId1" Type="http://schemas.openxmlformats.org/officeDocument/2006/relationships/tags" Target="../tags/tag16.xml"/><Relationship Id="rId4" Type="http://schemas.openxmlformats.org/officeDocument/2006/relationships/image" Target="../media/image14.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7.xml"/></Relationships>
</file>

<file path=ppt/slides/_rels/slide1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9.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2590800" y="2637257"/>
            <a:ext cx="3124200" cy="830998"/>
          </a:xfrm>
          <a:prstGeom prst="rect">
            <a:avLst/>
          </a:prstGeom>
        </p:spPr>
        <p:txBody>
          <a:bodyPr anchor="ctr">
            <a:normAutofit/>
          </a:bodyPr>
          <a:lstStyle/>
          <a:p>
            <a:pPr algn="ctr">
              <a:defRPr/>
            </a:pPr>
            <a:r>
              <a:rPr lang="pt-BR" sz="3600" b="1" dirty="0">
                <a:latin typeface="Bahnschrift" panose="020B0502040204020203" pitchFamily="34" charset="0"/>
              </a:rPr>
              <a:t>ENERGY</a:t>
            </a:r>
            <a:endParaRPr lang="en-US" sz="3600" b="1" dirty="0">
              <a:latin typeface="Bahnschrift" panose="020B0502040204020203" pitchFamily="34" charset="0"/>
              <a:ea typeface="+mj-ea"/>
              <a:cs typeface="+mj-cs"/>
            </a:endParaRPr>
          </a:p>
          <a:p>
            <a:pPr fontAlgn="auto">
              <a:spcAft>
                <a:spcPts val="0"/>
              </a:spcAft>
              <a:defRPr/>
            </a:pPr>
            <a:endParaRPr lang="en-US" sz="4400" b="1" dirty="0">
              <a:latin typeface="Bahnschrift" panose="020B0502040204020203" pitchFamily="34" charset="0"/>
              <a:ea typeface="+mj-ea"/>
              <a:cs typeface="+mj-cs"/>
            </a:endParaRPr>
          </a:p>
        </p:txBody>
      </p:sp>
      <p:sp>
        <p:nvSpPr>
          <p:cNvPr id="5" name="TextBox 4"/>
          <p:cNvSpPr txBox="1"/>
          <p:nvPr/>
        </p:nvSpPr>
        <p:spPr>
          <a:xfrm>
            <a:off x="381000" y="4795838"/>
            <a:ext cx="7696200" cy="830997"/>
          </a:xfrm>
          <a:prstGeom prst="rect">
            <a:avLst/>
          </a:prstGeom>
          <a:noFill/>
        </p:spPr>
        <p:txBody>
          <a:bodyPr>
            <a:spAutoFit/>
          </a:bodyPr>
          <a:lstStyle/>
          <a:p>
            <a:pPr>
              <a:defRPr/>
            </a:pPr>
            <a:endParaRPr lang="en-US" sz="1600" dirty="0">
              <a:latin typeface="Bahnschrift" panose="020B0502040204020203" pitchFamily="34" charset="0"/>
            </a:endParaRPr>
          </a:p>
          <a:p>
            <a:pPr>
              <a:defRPr/>
            </a:pPr>
            <a:endParaRPr lang="en-US" sz="1600" dirty="0">
              <a:latin typeface="Bahnschrift" panose="020B0502040204020203" pitchFamily="34" charset="0"/>
            </a:endParaRPr>
          </a:p>
          <a:p>
            <a:pPr>
              <a:defRPr/>
            </a:pPr>
            <a:endParaRPr lang="en-US" sz="1600" dirty="0">
              <a:latin typeface="Bahnschrift" panose="020B0502040204020203" pitchFamily="34" charset="0"/>
            </a:endParaRPr>
          </a:p>
        </p:txBody>
      </p:sp>
    </p:spTree>
    <p:custDataLst>
      <p:tags r:id="rId1"/>
    </p:custData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ubtitle 2"/>
          <p:cNvSpPr>
            <a:spLocks noGrp="1"/>
          </p:cNvSpPr>
          <p:nvPr>
            <p:ph type="subTitle" idx="1"/>
          </p:nvPr>
        </p:nvSpPr>
        <p:spPr>
          <a:xfrm>
            <a:off x="609600" y="300700"/>
            <a:ext cx="7658100" cy="4622141"/>
          </a:xfrm>
        </p:spPr>
        <p:txBody>
          <a:bodyPr/>
          <a:lstStyle/>
          <a:p>
            <a:pPr algn="just" eaLnBrk="1" hangingPunct="1"/>
            <a:endParaRPr lang="en-US" sz="2800" b="1" dirty="0">
              <a:solidFill>
                <a:schemeClr val="tx1"/>
              </a:solidFill>
            </a:endParaRPr>
          </a:p>
          <a:p>
            <a:pPr algn="just" eaLnBrk="1" hangingPunct="1"/>
            <a:r>
              <a:rPr lang="en-US" sz="2800" b="1" dirty="0">
                <a:solidFill>
                  <a:schemeClr val="tx1"/>
                </a:solidFill>
              </a:rPr>
              <a:t>What is energy?</a:t>
            </a:r>
          </a:p>
          <a:p>
            <a:pPr algn="just" eaLnBrk="1" hangingPunct="1"/>
            <a:r>
              <a:rPr lang="en-US" sz="2800" b="1" dirty="0">
                <a:solidFill>
                  <a:schemeClr val="tx1"/>
                </a:solidFill>
                <a:latin typeface="Garamond" pitchFamily="18" charset="0"/>
              </a:rPr>
              <a:t> Energy is an essential ingredient of all activity on earth. Energy is somewhat abstract; we cannot see it or feel it, even though we have to pay for it. </a:t>
            </a:r>
          </a:p>
          <a:p>
            <a:pPr eaLnBrk="1" hangingPunct="1"/>
            <a:endParaRPr lang="en-US" b="1" dirty="0">
              <a:solidFill>
                <a:schemeClr val="tx1"/>
              </a:solidFill>
            </a:endParaRPr>
          </a:p>
        </p:txBody>
      </p:sp>
      <p:pic>
        <p:nvPicPr>
          <p:cNvPr id="3" name="Picture 2" descr="images.jpg"/>
          <p:cNvPicPr>
            <a:picLocks noChangeAspect="1"/>
          </p:cNvPicPr>
          <p:nvPr/>
        </p:nvPicPr>
        <p:blipFill>
          <a:blip r:embed="rId3"/>
          <a:stretch>
            <a:fillRect/>
          </a:stretch>
        </p:blipFill>
        <p:spPr>
          <a:xfrm>
            <a:off x="1714500" y="3883090"/>
            <a:ext cx="5715000" cy="2543769"/>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362">
                                            <p:txEl>
                                              <p:pRg st="1" end="1"/>
                                            </p:txEl>
                                          </p:spTgt>
                                        </p:tgtEl>
                                        <p:attrNameLst>
                                          <p:attrName>style.visibility</p:attrName>
                                        </p:attrNameLst>
                                      </p:cBhvr>
                                      <p:to>
                                        <p:strVal val="visible"/>
                                      </p:to>
                                    </p:set>
                                    <p:anim calcmode="lin" valueType="num">
                                      <p:cBhvr additive="base">
                                        <p:cTn id="7" dur="500" fill="hold"/>
                                        <p:tgtEl>
                                          <p:spTgt spid="1536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36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362">
                                            <p:txEl>
                                              <p:pRg st="2" end="2"/>
                                            </p:txEl>
                                          </p:spTgt>
                                        </p:tgtEl>
                                        <p:attrNameLst>
                                          <p:attrName>style.visibility</p:attrName>
                                        </p:attrNameLst>
                                      </p:cBhvr>
                                      <p:to>
                                        <p:strVal val="visible"/>
                                      </p:to>
                                    </p:set>
                                    <p:anim calcmode="lin" valueType="num">
                                      <p:cBhvr additive="base">
                                        <p:cTn id="13" dur="500" fill="hold"/>
                                        <p:tgtEl>
                                          <p:spTgt spid="1536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36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717990"/>
            <a:ext cx="8229600" cy="5029200"/>
          </a:xfrm>
        </p:spPr>
        <p:txBody>
          <a:bodyPr rtlCol="0">
            <a:normAutofit/>
          </a:bodyPr>
          <a:lstStyle/>
          <a:p>
            <a:pPr algn="just" eaLnBrk="1" fontAlgn="auto" hangingPunct="1">
              <a:spcAft>
                <a:spcPts val="0"/>
              </a:spcAft>
              <a:buFont typeface="Wingdings" pitchFamily="2" charset="2"/>
              <a:buNone/>
              <a:defRPr/>
            </a:pPr>
            <a:r>
              <a:rPr lang="en-US" sz="2400" b="1" dirty="0">
                <a:latin typeface="Garamond" pitchFamily="18" charset="0"/>
              </a:rPr>
              <a:t>   </a:t>
            </a:r>
            <a:r>
              <a:rPr lang="en-US" sz="2400" b="1" dirty="0">
                <a:solidFill>
                  <a:schemeClr val="tx1"/>
                </a:solidFill>
                <a:latin typeface="Garamond" pitchFamily="18" charset="0"/>
              </a:rPr>
              <a:t>The earth is a vast  storehouse of energy. The fossil fuels beneath the surface, the wind and water on its surface, the plants growing upon it, the sunlight falling upon it, these are all sources of energy. All energy sources can be classified into two basic categories:</a:t>
            </a:r>
          </a:p>
          <a:p>
            <a:pPr eaLnBrk="1" fontAlgn="auto" hangingPunct="1">
              <a:spcAft>
                <a:spcPts val="0"/>
              </a:spcAft>
              <a:buFont typeface="Arial" pitchFamily="34" charset="0"/>
              <a:buChar char="•"/>
              <a:defRPr/>
            </a:pPr>
            <a:endParaRPr lang="en-US" b="1" dirty="0"/>
          </a:p>
        </p:txBody>
      </p:sp>
      <p:sp>
        <p:nvSpPr>
          <p:cNvPr id="4" name="Rectangle 3"/>
          <p:cNvSpPr/>
          <p:nvPr/>
        </p:nvSpPr>
        <p:spPr>
          <a:xfrm>
            <a:off x="0" y="304800"/>
            <a:ext cx="9144000" cy="413190"/>
          </a:xfrm>
          <a:prstGeom prst="rect">
            <a:avLst/>
          </a:prstGeom>
        </p:spPr>
        <p:txBody>
          <a:bodyPr wrap="square">
            <a:spAutoFit/>
          </a:bodyPr>
          <a:lstStyle/>
          <a:p>
            <a:pPr algn="ctr">
              <a:lnSpc>
                <a:spcPct val="80000"/>
              </a:lnSpc>
              <a:defRPr/>
            </a:pPr>
            <a:r>
              <a:rPr lang="en-US" sz="2500" b="1" dirty="0">
                <a:latin typeface="Garamond" pitchFamily="18" charset="0"/>
              </a:rPr>
              <a:t>Energy Sources</a:t>
            </a:r>
          </a:p>
        </p:txBody>
      </p:sp>
      <p:pic>
        <p:nvPicPr>
          <p:cNvPr id="5" name="Picture 4" descr="conventional_renewable_energy_sources.gif"/>
          <p:cNvPicPr>
            <a:picLocks noChangeAspect="1"/>
          </p:cNvPicPr>
          <p:nvPr/>
        </p:nvPicPr>
        <p:blipFill>
          <a:blip r:embed="rId3"/>
          <a:stretch>
            <a:fillRect/>
          </a:stretch>
        </p:blipFill>
        <p:spPr>
          <a:xfrm>
            <a:off x="1447800" y="2799184"/>
            <a:ext cx="6332508" cy="3733800"/>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fill="hold"/>
                                        <p:tgtEl>
                                          <p:spTgt spid="5"/>
                                        </p:tgtEl>
                                        <p:attrNameLst>
                                          <p:attrName>ppt_x</p:attrName>
                                        </p:attrNameLst>
                                      </p:cBhvr>
                                      <p:tavLst>
                                        <p:tav tm="0">
                                          <p:val>
                                            <p:strVal val="#ppt_x"/>
                                          </p:val>
                                        </p:tav>
                                        <p:tav tm="100000">
                                          <p:val>
                                            <p:strVal val="#ppt_x"/>
                                          </p:val>
                                        </p:tav>
                                      </p:tavLst>
                                    </p:anim>
                                    <p:anim calcmode="lin" valueType="num">
                                      <p:cBhvr additive="base">
                                        <p:cTn id="19"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Autofit/>
          </a:bodyPr>
          <a:lstStyle/>
          <a:p>
            <a:r>
              <a:rPr lang="en-US" sz="2900" b="1" dirty="0">
                <a:solidFill>
                  <a:schemeClr val="accent4">
                    <a:lumMod val="10000"/>
                  </a:schemeClr>
                </a:solidFill>
                <a:latin typeface="Garamond" pitchFamily="18" charset="0"/>
              </a:rPr>
              <a:t>Non-renewable sources</a:t>
            </a:r>
            <a:endParaRPr lang="en-US" sz="2900" dirty="0"/>
          </a:p>
        </p:txBody>
      </p:sp>
      <p:sp>
        <p:nvSpPr>
          <p:cNvPr id="3" name="Content Placeholder 2"/>
          <p:cNvSpPr>
            <a:spLocks noGrp="1"/>
          </p:cNvSpPr>
          <p:nvPr>
            <p:ph idx="1"/>
          </p:nvPr>
        </p:nvSpPr>
        <p:spPr>
          <a:xfrm>
            <a:off x="304800" y="838200"/>
            <a:ext cx="8210939" cy="5593701"/>
          </a:xfrm>
        </p:spPr>
        <p:txBody>
          <a:bodyPr>
            <a:normAutofit fontScale="92500"/>
          </a:bodyPr>
          <a:lstStyle/>
          <a:p>
            <a:pPr marL="0" lvl="1" indent="0" algn="just">
              <a:defRPr/>
            </a:pPr>
            <a:r>
              <a:rPr lang="en-US" sz="2600" b="1" dirty="0">
                <a:solidFill>
                  <a:schemeClr val="tx1"/>
                </a:solidFill>
                <a:latin typeface="Garamond" pitchFamily="18" charset="0"/>
              </a:rPr>
              <a:t>Non-renewable sources: is energy from a natural resource, if used, will be depleted regardless of how it is managed. It can not be regenerated in a timescale relevant to human beings.</a:t>
            </a:r>
          </a:p>
          <a:p>
            <a:pPr marL="0" lvl="1" indent="0" algn="just">
              <a:defRPr/>
            </a:pPr>
            <a:endParaRPr lang="en-US" sz="2600" b="1" dirty="0">
              <a:solidFill>
                <a:schemeClr val="tx1"/>
              </a:solidFill>
              <a:latin typeface="Garamond" pitchFamily="18" charset="0"/>
            </a:endParaRPr>
          </a:p>
          <a:p>
            <a:pPr marL="0" lvl="1" indent="0" algn="just">
              <a:defRPr/>
            </a:pPr>
            <a:r>
              <a:rPr lang="en-US" sz="2600" b="1" dirty="0">
                <a:solidFill>
                  <a:schemeClr val="tx1"/>
                </a:solidFill>
                <a:latin typeface="Garamond" pitchFamily="18" charset="0"/>
              </a:rPr>
              <a:t>Resources that are consumed much faster than nature can create them are known as fossil fuels (because of their organic origin). Sources are coal, oil and natural gas.</a:t>
            </a:r>
          </a:p>
          <a:p>
            <a:pPr marL="0" lvl="1" indent="0" algn="just">
              <a:buNone/>
              <a:defRPr/>
            </a:pPr>
            <a:r>
              <a:rPr lang="en-US" sz="2600" b="1" dirty="0">
                <a:solidFill>
                  <a:schemeClr val="tx1"/>
                </a:solidFill>
                <a:latin typeface="Garamond" pitchFamily="18" charset="0"/>
              </a:rPr>
              <a:t> </a:t>
            </a:r>
          </a:p>
          <a:p>
            <a:pPr marL="0" lvl="1" indent="0" algn="just">
              <a:defRPr/>
            </a:pPr>
            <a:r>
              <a:rPr lang="en-US" sz="2600" b="1" dirty="0">
                <a:solidFill>
                  <a:schemeClr val="tx1"/>
                </a:solidFill>
                <a:latin typeface="Garamond" pitchFamily="18" charset="0"/>
              </a:rPr>
              <a:t> Two common characteristics of fossil fuels</a:t>
            </a:r>
          </a:p>
          <a:p>
            <a:pPr algn="just">
              <a:buNone/>
            </a:pPr>
            <a:r>
              <a:rPr lang="en-US" sz="2600" b="1" dirty="0">
                <a:solidFill>
                  <a:schemeClr val="tx1"/>
                </a:solidFill>
                <a:latin typeface="Garamond" pitchFamily="18" charset="0"/>
              </a:rPr>
              <a:t>            1. produced from decomposition of plant &amp; animal remains &amp; are forms of stored solar energy</a:t>
            </a:r>
          </a:p>
          <a:p>
            <a:pPr algn="just">
              <a:buNone/>
            </a:pPr>
            <a:r>
              <a:rPr lang="en-US" sz="2600" b="1" dirty="0">
                <a:solidFill>
                  <a:schemeClr val="tx1"/>
                </a:solidFill>
                <a:latin typeface="Garamond" pitchFamily="18" charset="0"/>
              </a:rPr>
              <a:t>           2. it has taken millions of years for them to accumulate &amp; form deposits which are mined for human use. </a:t>
            </a:r>
          </a:p>
          <a:p>
            <a:endParaRPr 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1000"/>
                                        <p:tgtEl>
                                          <p:spTgt spid="3">
                                            <p:txEl>
                                              <p:pRg st="2" end="2"/>
                                            </p:txEl>
                                          </p:spTgt>
                                        </p:tgtEl>
                                      </p:cBhvr>
                                    </p:animEffect>
                                    <p:anim calcmode="lin" valueType="num">
                                      <p:cBhvr>
                                        <p:cTn id="1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0"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fade">
                                      <p:cBhvr>
                                        <p:cTn id="23" dur="1000"/>
                                        <p:tgtEl>
                                          <p:spTgt spid="3">
                                            <p:txEl>
                                              <p:pRg st="3" end="3"/>
                                            </p:txEl>
                                          </p:spTgt>
                                        </p:tgtEl>
                                      </p:cBhvr>
                                    </p:animEffect>
                                    <p:anim calcmode="lin" valueType="num">
                                      <p:cBhvr>
                                        <p:cTn id="24"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5"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1000"/>
                                        <p:tgtEl>
                                          <p:spTgt spid="3">
                                            <p:txEl>
                                              <p:pRg st="5" end="5"/>
                                            </p:txEl>
                                          </p:spTgt>
                                        </p:tgtEl>
                                      </p:cBhvr>
                                    </p:animEffect>
                                    <p:anim calcmode="lin" valueType="num">
                                      <p:cBhvr>
                                        <p:cTn id="36"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1000"/>
                                        <p:tgtEl>
                                          <p:spTgt spid="3">
                                            <p:txEl>
                                              <p:pRg st="6" end="6"/>
                                            </p:txEl>
                                          </p:spTgt>
                                        </p:tgtEl>
                                      </p:cBhvr>
                                    </p:animEffect>
                                    <p:anim calcmode="lin" valueType="num">
                                      <p:cBhvr>
                                        <p:cTn id="4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274638"/>
            <a:ext cx="8229600" cy="487362"/>
          </a:xfrm>
        </p:spPr>
        <p:txBody>
          <a:bodyPr>
            <a:noAutofit/>
          </a:bodyPr>
          <a:lstStyle/>
          <a:p>
            <a:r>
              <a:rPr lang="en-US" sz="2900" b="1" dirty="0">
                <a:solidFill>
                  <a:schemeClr val="accent4">
                    <a:lumMod val="10000"/>
                  </a:schemeClr>
                </a:solidFill>
                <a:latin typeface="Garamond" pitchFamily="18" charset="0"/>
              </a:rPr>
              <a:t>Renewable sources</a:t>
            </a:r>
            <a:endParaRPr lang="en-US" sz="2900" dirty="0"/>
          </a:p>
        </p:txBody>
      </p:sp>
      <p:sp>
        <p:nvSpPr>
          <p:cNvPr id="3" name="Content Placeholder 2"/>
          <p:cNvSpPr>
            <a:spLocks noGrp="1"/>
          </p:cNvSpPr>
          <p:nvPr>
            <p:ph idx="1"/>
          </p:nvPr>
        </p:nvSpPr>
        <p:spPr>
          <a:xfrm>
            <a:off x="381000" y="914400"/>
            <a:ext cx="8229600" cy="4530725"/>
          </a:xfrm>
        </p:spPr>
        <p:txBody>
          <a:bodyPr rtlCol="0">
            <a:noAutofit/>
          </a:bodyPr>
          <a:lstStyle/>
          <a:p>
            <a:pPr marL="0" lvl="1" indent="0">
              <a:spcBef>
                <a:spcPts val="800"/>
              </a:spcBef>
              <a:buClr>
                <a:schemeClr val="hlink"/>
              </a:buClr>
              <a:defRPr/>
            </a:pPr>
            <a:r>
              <a:rPr lang="en-US" sz="2600" b="1" dirty="0">
                <a:solidFill>
                  <a:schemeClr val="tx1"/>
                </a:solidFill>
                <a:latin typeface="Garamond" pitchFamily="18" charset="0"/>
              </a:rPr>
              <a:t>A natural resource that is replaced naturally. Therefore, it never runs out. </a:t>
            </a:r>
          </a:p>
          <a:p>
            <a:pPr marL="0" lvl="1" indent="0">
              <a:spcBef>
                <a:spcPts val="800"/>
              </a:spcBef>
              <a:buClr>
                <a:schemeClr val="hlink"/>
              </a:buClr>
              <a:defRPr/>
            </a:pPr>
            <a:endParaRPr lang="en-US" sz="2600" b="1" dirty="0">
              <a:solidFill>
                <a:schemeClr val="tx1"/>
              </a:solidFill>
              <a:latin typeface="Garamond" pitchFamily="18" charset="0"/>
            </a:endParaRPr>
          </a:p>
          <a:p>
            <a:pPr marL="0" lvl="1" indent="0">
              <a:spcBef>
                <a:spcPts val="800"/>
              </a:spcBef>
              <a:buClr>
                <a:schemeClr val="hlink"/>
              </a:buClr>
              <a:defRPr/>
            </a:pPr>
            <a:r>
              <a:rPr lang="en-US" sz="2600" b="1" dirty="0">
                <a:solidFill>
                  <a:schemeClr val="tx1"/>
                </a:solidFill>
                <a:latin typeface="Garamond" pitchFamily="18" charset="0"/>
              </a:rPr>
              <a:t>Solar energy, wind, water and wave power, biomass etc. considered as renewable resources. </a:t>
            </a:r>
          </a:p>
          <a:p>
            <a:pPr marL="0" lvl="1" indent="0">
              <a:spcBef>
                <a:spcPts val="800"/>
              </a:spcBef>
              <a:buClr>
                <a:schemeClr val="hlink"/>
              </a:buClr>
              <a:defRPr/>
            </a:pPr>
            <a:endParaRPr lang="en-US" sz="2600" b="1" dirty="0">
              <a:solidFill>
                <a:schemeClr val="tx1"/>
              </a:solidFill>
              <a:latin typeface="Garamond" pitchFamily="18" charset="0"/>
            </a:endParaRPr>
          </a:p>
          <a:p>
            <a:pPr marL="0" lvl="1" indent="0">
              <a:spcBef>
                <a:spcPts val="800"/>
              </a:spcBef>
              <a:buClr>
                <a:schemeClr val="hlink"/>
              </a:buClr>
              <a:defRPr/>
            </a:pPr>
            <a:r>
              <a:rPr lang="en-US" sz="2600" b="1" dirty="0">
                <a:solidFill>
                  <a:schemeClr val="tx1"/>
                </a:solidFill>
                <a:latin typeface="Garamond" pitchFamily="18" charset="0"/>
              </a:rPr>
              <a:t>Most  renewable sources of energy are also alternative sources of energy. </a:t>
            </a:r>
          </a:p>
          <a:p>
            <a:pPr marL="0" lvl="1" indent="0">
              <a:spcBef>
                <a:spcPts val="800"/>
              </a:spcBef>
              <a:buClr>
                <a:schemeClr val="hlink"/>
              </a:buClr>
              <a:defRPr/>
            </a:pPr>
            <a:endParaRPr lang="en-US" sz="2600" b="1" dirty="0">
              <a:solidFill>
                <a:schemeClr val="tx1"/>
              </a:solidFill>
              <a:latin typeface="Garamond" pitchFamily="18" charset="0"/>
            </a:endParaRPr>
          </a:p>
          <a:p>
            <a:pPr marL="0" lvl="1" indent="0">
              <a:spcBef>
                <a:spcPts val="800"/>
              </a:spcBef>
              <a:buClr>
                <a:schemeClr val="hlink"/>
              </a:buClr>
              <a:defRPr/>
            </a:pPr>
            <a:r>
              <a:rPr lang="en-US" sz="2600" b="1" dirty="0">
                <a:solidFill>
                  <a:schemeClr val="tx1"/>
                </a:solidFill>
                <a:latin typeface="Garamond" pitchFamily="18" charset="0"/>
              </a:rPr>
              <a:t>Alternative sources of energy usually refers to an energy source that can be used as a replacement for fossil fuels.</a:t>
            </a:r>
          </a:p>
          <a:p>
            <a:pPr eaLnBrk="1" fontAlgn="auto" hangingPunct="1">
              <a:spcBef>
                <a:spcPts val="800"/>
              </a:spcBef>
              <a:spcAft>
                <a:spcPts val="0"/>
              </a:spcAft>
              <a:buFont typeface="Arial" pitchFamily="34" charset="0"/>
              <a:buChar char="•"/>
              <a:defRPr/>
            </a:pPr>
            <a:endParaRPr lang="en-US" sz="2600"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1000"/>
                                        <p:tgtEl>
                                          <p:spTgt spid="3">
                                            <p:txEl>
                                              <p:pRg st="4" end="4"/>
                                            </p:txEl>
                                          </p:spTgt>
                                        </p:tgtEl>
                                      </p:cBhvr>
                                    </p:animEffect>
                                    <p:anim calcmode="lin" valueType="num">
                                      <p:cBhvr>
                                        <p:cTn id="2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1000"/>
                                        <p:tgtEl>
                                          <p:spTgt spid="3">
                                            <p:txEl>
                                              <p:pRg st="6" end="6"/>
                                            </p:txEl>
                                          </p:spTgt>
                                        </p:tgtEl>
                                      </p:cBhvr>
                                    </p:animEffect>
                                    <p:anim calcmode="lin" valueType="num">
                                      <p:cBhvr>
                                        <p:cTn id="2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381000" y="381000"/>
            <a:ext cx="8229600" cy="685800"/>
          </a:xfrm>
        </p:spPr>
        <p:txBody>
          <a:bodyPr/>
          <a:lstStyle/>
          <a:p>
            <a:pPr eaLnBrk="1" hangingPunct="1"/>
            <a:r>
              <a:rPr lang="en-US" sz="3600" b="1" dirty="0">
                <a:solidFill>
                  <a:schemeClr val="tx1"/>
                </a:solidFill>
                <a:latin typeface="Garamond" pitchFamily="18" charset="0"/>
              </a:rPr>
              <a:t>Concern regarding energy</a:t>
            </a:r>
          </a:p>
        </p:txBody>
      </p:sp>
      <p:sp>
        <p:nvSpPr>
          <p:cNvPr id="19459" name="Rectangle 3"/>
          <p:cNvSpPr>
            <a:spLocks noGrp="1" noChangeArrowheads="1"/>
          </p:cNvSpPr>
          <p:nvPr>
            <p:ph idx="1"/>
          </p:nvPr>
        </p:nvSpPr>
        <p:spPr>
          <a:xfrm>
            <a:off x="152400" y="914400"/>
            <a:ext cx="8839200" cy="5638800"/>
          </a:xfrm>
        </p:spPr>
        <p:txBody>
          <a:bodyPr/>
          <a:lstStyle/>
          <a:p>
            <a:pPr algn="just" eaLnBrk="1" hangingPunct="1"/>
            <a:endParaRPr lang="en-US" sz="2400" b="1" dirty="0"/>
          </a:p>
          <a:p>
            <a:pPr algn="just" eaLnBrk="1" hangingPunct="1"/>
            <a:r>
              <a:rPr lang="en-US" sz="2400" b="1" dirty="0">
                <a:solidFill>
                  <a:schemeClr val="tx1"/>
                </a:solidFill>
              </a:rPr>
              <a:t>Most of the global energy uses are dependent on non-renewable sources, especially fossil fuel which is supposed to end up soon.</a:t>
            </a:r>
          </a:p>
          <a:p>
            <a:pPr algn="just" eaLnBrk="1" hangingPunct="1"/>
            <a:endParaRPr lang="en-US" sz="2400" b="1" dirty="0">
              <a:solidFill>
                <a:schemeClr val="tx1"/>
              </a:solidFill>
            </a:endParaRPr>
          </a:p>
          <a:p>
            <a:pPr algn="just" eaLnBrk="1" hangingPunct="1"/>
            <a:r>
              <a:rPr lang="en-US" sz="2400" b="1" dirty="0">
                <a:solidFill>
                  <a:schemeClr val="tx1"/>
                </a:solidFill>
              </a:rPr>
              <a:t>Demand for energy is increasing day by day because of industrialization and population growth.</a:t>
            </a:r>
          </a:p>
          <a:p>
            <a:pPr algn="just" eaLnBrk="1" hangingPunct="1"/>
            <a:endParaRPr lang="en-US" sz="2400" b="1" dirty="0">
              <a:solidFill>
                <a:schemeClr val="tx1"/>
              </a:solidFill>
            </a:endParaRPr>
          </a:p>
          <a:p>
            <a:pPr algn="just" eaLnBrk="1" hangingPunct="1"/>
            <a:r>
              <a:rPr lang="en-US" sz="2400" b="1" dirty="0">
                <a:solidFill>
                  <a:schemeClr val="tx1"/>
                </a:solidFill>
              </a:rPr>
              <a:t>Most of the fossil fuel sources are highly polluting and produce Green House Gases.</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9458"/>
                                        </p:tgtEl>
                                        <p:attrNameLst>
                                          <p:attrName>style.visibility</p:attrName>
                                        </p:attrNameLst>
                                      </p:cBhvr>
                                      <p:to>
                                        <p:strVal val="visible"/>
                                      </p:to>
                                    </p:set>
                                    <p:animEffect transition="in" filter="barn(inVertical)">
                                      <p:cBhvr>
                                        <p:cTn id="7" dur="500"/>
                                        <p:tgtEl>
                                          <p:spTgt spid="19458"/>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9459">
                                            <p:txEl>
                                              <p:pRg st="1" end="1"/>
                                            </p:txEl>
                                          </p:spTgt>
                                        </p:tgtEl>
                                        <p:attrNameLst>
                                          <p:attrName>style.visibility</p:attrName>
                                        </p:attrNameLst>
                                      </p:cBhvr>
                                      <p:to>
                                        <p:strVal val="visible"/>
                                      </p:to>
                                    </p:set>
                                    <p:animEffect transition="in" filter="fade">
                                      <p:cBhvr>
                                        <p:cTn id="12" dur="1000"/>
                                        <p:tgtEl>
                                          <p:spTgt spid="19459">
                                            <p:txEl>
                                              <p:pRg st="1" end="1"/>
                                            </p:txEl>
                                          </p:spTgt>
                                        </p:tgtEl>
                                      </p:cBhvr>
                                    </p:animEffect>
                                    <p:anim calcmode="lin" valueType="num">
                                      <p:cBhvr>
                                        <p:cTn id="13" dur="1000" fill="hold"/>
                                        <p:tgtEl>
                                          <p:spTgt spid="19459">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945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9459">
                                            <p:txEl>
                                              <p:pRg st="3" end="3"/>
                                            </p:txEl>
                                          </p:spTgt>
                                        </p:tgtEl>
                                        <p:attrNameLst>
                                          <p:attrName>style.visibility</p:attrName>
                                        </p:attrNameLst>
                                      </p:cBhvr>
                                      <p:to>
                                        <p:strVal val="visible"/>
                                      </p:to>
                                    </p:set>
                                    <p:animEffect transition="in" filter="fade">
                                      <p:cBhvr>
                                        <p:cTn id="19" dur="1000"/>
                                        <p:tgtEl>
                                          <p:spTgt spid="19459">
                                            <p:txEl>
                                              <p:pRg st="3" end="3"/>
                                            </p:txEl>
                                          </p:spTgt>
                                        </p:tgtEl>
                                      </p:cBhvr>
                                    </p:animEffect>
                                    <p:anim calcmode="lin" valueType="num">
                                      <p:cBhvr>
                                        <p:cTn id="20" dur="1000" fill="hold"/>
                                        <p:tgtEl>
                                          <p:spTgt spid="19459">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1945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19459">
                                            <p:txEl>
                                              <p:pRg st="5" end="5"/>
                                            </p:txEl>
                                          </p:spTgt>
                                        </p:tgtEl>
                                        <p:attrNameLst>
                                          <p:attrName>style.visibility</p:attrName>
                                        </p:attrNameLst>
                                      </p:cBhvr>
                                      <p:to>
                                        <p:strVal val="visible"/>
                                      </p:to>
                                    </p:set>
                                    <p:animEffect transition="in" filter="fade">
                                      <p:cBhvr>
                                        <p:cTn id="26" dur="1000"/>
                                        <p:tgtEl>
                                          <p:spTgt spid="19459">
                                            <p:txEl>
                                              <p:pRg st="5" end="5"/>
                                            </p:txEl>
                                          </p:spTgt>
                                        </p:tgtEl>
                                      </p:cBhvr>
                                    </p:animEffect>
                                    <p:anim calcmode="lin" valueType="num">
                                      <p:cBhvr>
                                        <p:cTn id="27" dur="1000" fill="hold"/>
                                        <p:tgtEl>
                                          <p:spTgt spid="19459">
                                            <p:txEl>
                                              <p:pRg st="5" end="5"/>
                                            </p:txEl>
                                          </p:spTgt>
                                        </p:tgtEl>
                                        <p:attrNameLst>
                                          <p:attrName>ppt_x</p:attrName>
                                        </p:attrNameLst>
                                      </p:cBhvr>
                                      <p:tavLst>
                                        <p:tav tm="0">
                                          <p:val>
                                            <p:strVal val="#ppt_x"/>
                                          </p:val>
                                        </p:tav>
                                        <p:tav tm="100000">
                                          <p:val>
                                            <p:strVal val="#ppt_x"/>
                                          </p:val>
                                        </p:tav>
                                      </p:tavLst>
                                    </p:anim>
                                    <p:anim calcmode="lin" valueType="num">
                                      <p:cBhvr>
                                        <p:cTn id="28" dur="1000" fill="hold"/>
                                        <p:tgtEl>
                                          <p:spTgt spid="19459">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8" grpId="0"/>
      <p:bldP spid="19459"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a:spLocks noGrp="1" noChangeArrowheads="1"/>
          </p:cNvSpPr>
          <p:nvPr>
            <p:ph idx="1"/>
          </p:nvPr>
        </p:nvSpPr>
        <p:spPr>
          <a:xfrm>
            <a:off x="0" y="152400"/>
            <a:ext cx="8915400" cy="6934200"/>
          </a:xfrm>
        </p:spPr>
        <p:txBody>
          <a:bodyPr rtlCol="0">
            <a:normAutofit/>
          </a:bodyPr>
          <a:lstStyle/>
          <a:p>
            <a:pPr algn="ctr" eaLnBrk="1" fontAlgn="auto" hangingPunct="1">
              <a:spcAft>
                <a:spcPts val="0"/>
              </a:spcAft>
              <a:buFont typeface="Wingdings" pitchFamily="2" charset="2"/>
              <a:buNone/>
              <a:defRPr/>
            </a:pPr>
            <a:r>
              <a:rPr lang="en-US" sz="2400" b="1" u="sng" dirty="0">
                <a:solidFill>
                  <a:schemeClr val="accent4">
                    <a:lumMod val="10000"/>
                  </a:schemeClr>
                </a:solidFill>
              </a:rPr>
              <a:t>Coal</a:t>
            </a:r>
            <a:r>
              <a:rPr lang="en-US" b="1" u="sng" dirty="0">
                <a:solidFill>
                  <a:schemeClr val="accent4">
                    <a:lumMod val="10000"/>
                  </a:schemeClr>
                </a:solidFill>
              </a:rPr>
              <a:t> </a:t>
            </a:r>
          </a:p>
          <a:p>
            <a:pPr algn="just" eaLnBrk="1" fontAlgn="auto" hangingPunct="1">
              <a:spcAft>
                <a:spcPts val="0"/>
              </a:spcAft>
              <a:buFont typeface="Arial" pitchFamily="34" charset="0"/>
              <a:buChar char="•"/>
              <a:defRPr/>
            </a:pPr>
            <a:r>
              <a:rPr lang="en-US" sz="2400" b="1" dirty="0">
                <a:solidFill>
                  <a:schemeClr val="tx1"/>
                </a:solidFill>
              </a:rPr>
              <a:t>Fossilized plant material preserved by burial in sediments and compacted and condensed by geological forces.</a:t>
            </a:r>
          </a:p>
          <a:p>
            <a:pPr algn="just" eaLnBrk="1" fontAlgn="auto" hangingPunct="1">
              <a:spcAft>
                <a:spcPts val="0"/>
              </a:spcAft>
              <a:buFont typeface="Arial" pitchFamily="34" charset="0"/>
              <a:buChar char="•"/>
              <a:defRPr/>
            </a:pPr>
            <a:r>
              <a:rPr lang="en-US" sz="2400" b="1" dirty="0">
                <a:solidFill>
                  <a:schemeClr val="tx1"/>
                </a:solidFill>
              </a:rPr>
              <a:t>Naturally available solid fossil fuel formed millions of years ago.</a:t>
            </a:r>
          </a:p>
          <a:p>
            <a:pPr algn="just" eaLnBrk="1" fontAlgn="auto" hangingPunct="1">
              <a:spcAft>
                <a:spcPts val="0"/>
              </a:spcAft>
              <a:buFont typeface="Arial" pitchFamily="34" charset="0"/>
              <a:buChar char="•"/>
              <a:defRPr/>
            </a:pPr>
            <a:r>
              <a:rPr lang="en-US" sz="2400" b="1" dirty="0">
                <a:solidFill>
                  <a:schemeClr val="tx1"/>
                </a:solidFill>
              </a:rPr>
              <a:t>World coal deposit are ten times greater than conventional oil and gas resources combined.</a:t>
            </a:r>
          </a:p>
          <a:p>
            <a:pPr algn="just" eaLnBrk="1" fontAlgn="auto" hangingPunct="1">
              <a:spcAft>
                <a:spcPts val="0"/>
              </a:spcAft>
              <a:buFont typeface="Wingdings" pitchFamily="2" charset="2"/>
              <a:buNone/>
              <a:defRPr/>
            </a:pPr>
            <a:r>
              <a:rPr lang="en-US" sz="2400" b="1" dirty="0">
                <a:solidFill>
                  <a:schemeClr val="tx1"/>
                </a:solidFill>
                <a:latin typeface="Garamond" pitchFamily="18" charset="0"/>
              </a:rPr>
              <a:t>  </a:t>
            </a:r>
          </a:p>
          <a:p>
            <a:pPr algn="just" eaLnBrk="1" fontAlgn="auto" hangingPunct="1">
              <a:spcAft>
                <a:spcPts val="0"/>
              </a:spcAft>
              <a:buFont typeface="Wingdings" pitchFamily="2" charset="2"/>
              <a:buNone/>
              <a:defRPr/>
            </a:pPr>
            <a:endParaRPr lang="en-US" sz="2400" b="1" dirty="0">
              <a:latin typeface="Garamond" pitchFamily="18" charset="0"/>
            </a:endParaRPr>
          </a:p>
          <a:p>
            <a:pPr algn="just" eaLnBrk="1" fontAlgn="auto" hangingPunct="1">
              <a:spcAft>
                <a:spcPts val="0"/>
              </a:spcAft>
              <a:buFont typeface="Wingdings" pitchFamily="2" charset="2"/>
              <a:buNone/>
              <a:defRPr/>
            </a:pPr>
            <a:endParaRPr lang="en-US" sz="2400" b="1" dirty="0"/>
          </a:p>
          <a:p>
            <a:pPr eaLnBrk="1" fontAlgn="auto" hangingPunct="1">
              <a:spcAft>
                <a:spcPts val="0"/>
              </a:spcAft>
              <a:buFont typeface="Wingdings" pitchFamily="2" charset="2"/>
              <a:buNone/>
              <a:defRPr/>
            </a:pPr>
            <a:endParaRPr lang="en-US" sz="2800" b="1" u="sng" dirty="0"/>
          </a:p>
        </p:txBody>
      </p:sp>
      <p:pic>
        <p:nvPicPr>
          <p:cNvPr id="20483" name="Picture 3" descr="D:\ENV 103 SGR\my slides\coal.jpg"/>
          <p:cNvPicPr>
            <a:picLocks noChangeAspect="1" noChangeArrowheads="1"/>
          </p:cNvPicPr>
          <p:nvPr/>
        </p:nvPicPr>
        <p:blipFill>
          <a:blip r:embed="rId3"/>
          <a:srcRect/>
          <a:stretch>
            <a:fillRect/>
          </a:stretch>
        </p:blipFill>
        <p:spPr bwMode="auto">
          <a:xfrm>
            <a:off x="838200" y="3505200"/>
            <a:ext cx="3663950" cy="2743200"/>
          </a:xfrm>
          <a:prstGeom prst="rect">
            <a:avLst/>
          </a:prstGeom>
          <a:noFill/>
          <a:ln w="9525">
            <a:noFill/>
            <a:miter lim="800000"/>
            <a:headEnd/>
            <a:tailEnd/>
          </a:ln>
        </p:spPr>
      </p:pic>
      <p:pic>
        <p:nvPicPr>
          <p:cNvPr id="4" name="Picture 3" descr="coal.jpg"/>
          <p:cNvPicPr>
            <a:picLocks noChangeAspect="1"/>
          </p:cNvPicPr>
          <p:nvPr/>
        </p:nvPicPr>
        <p:blipFill>
          <a:blip r:embed="rId4"/>
          <a:stretch>
            <a:fillRect/>
          </a:stretch>
        </p:blipFill>
        <p:spPr>
          <a:xfrm>
            <a:off x="4724400" y="3505200"/>
            <a:ext cx="4007787" cy="2667000"/>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xEl>
                                              <p:pRg st="1" end="1"/>
                                            </p:txEl>
                                          </p:spTgt>
                                        </p:tgtEl>
                                        <p:attrNameLst>
                                          <p:attrName>style.visibility</p:attrName>
                                        </p:attrNameLst>
                                      </p:cBhvr>
                                      <p:to>
                                        <p:strVal val="visible"/>
                                      </p:to>
                                    </p:set>
                                    <p:animEffect transition="in" filter="fade">
                                      <p:cBhvr>
                                        <p:cTn id="14" dur="1000"/>
                                        <p:tgtEl>
                                          <p:spTgt spid="6">
                                            <p:txEl>
                                              <p:pRg st="1" end="1"/>
                                            </p:txEl>
                                          </p:spTgt>
                                        </p:tgtEl>
                                      </p:cBhvr>
                                    </p:animEffect>
                                    <p:anim calcmode="lin" valueType="num">
                                      <p:cBhvr>
                                        <p:cTn id="15"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6">
                                            <p:txEl>
                                              <p:pRg st="2" end="2"/>
                                            </p:txEl>
                                          </p:spTgt>
                                        </p:tgtEl>
                                        <p:attrNameLst>
                                          <p:attrName>style.visibility</p:attrName>
                                        </p:attrNameLst>
                                      </p:cBhvr>
                                      <p:to>
                                        <p:strVal val="visible"/>
                                      </p:to>
                                    </p:set>
                                    <p:animEffect transition="in" filter="fade">
                                      <p:cBhvr>
                                        <p:cTn id="21" dur="1000"/>
                                        <p:tgtEl>
                                          <p:spTgt spid="6">
                                            <p:txEl>
                                              <p:pRg st="2" end="2"/>
                                            </p:txEl>
                                          </p:spTgt>
                                        </p:tgtEl>
                                      </p:cBhvr>
                                    </p:animEffect>
                                    <p:anim calcmode="lin" valueType="num">
                                      <p:cBhvr>
                                        <p:cTn id="22"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6">
                                            <p:txEl>
                                              <p:pRg st="3" end="3"/>
                                            </p:txEl>
                                          </p:spTgt>
                                        </p:tgtEl>
                                        <p:attrNameLst>
                                          <p:attrName>style.visibility</p:attrName>
                                        </p:attrNameLst>
                                      </p:cBhvr>
                                      <p:to>
                                        <p:strVal val="visible"/>
                                      </p:to>
                                    </p:set>
                                    <p:animEffect transition="in" filter="fade">
                                      <p:cBhvr>
                                        <p:cTn id="28" dur="1000"/>
                                        <p:tgtEl>
                                          <p:spTgt spid="6">
                                            <p:txEl>
                                              <p:pRg st="3" end="3"/>
                                            </p:txEl>
                                          </p:spTgt>
                                        </p:tgtEl>
                                      </p:cBhvr>
                                    </p:animEffect>
                                    <p:anim calcmode="lin" valueType="num">
                                      <p:cBhvr>
                                        <p:cTn id="29"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20483"/>
                                        </p:tgtEl>
                                        <p:attrNameLst>
                                          <p:attrName>style.visibility</p:attrName>
                                        </p:attrNameLst>
                                      </p:cBhvr>
                                      <p:to>
                                        <p:strVal val="visible"/>
                                      </p:to>
                                    </p:set>
                                    <p:animEffect transition="in" filter="fade">
                                      <p:cBhvr>
                                        <p:cTn id="35" dur="1000"/>
                                        <p:tgtEl>
                                          <p:spTgt spid="20483"/>
                                        </p:tgtEl>
                                      </p:cBhvr>
                                    </p:animEffect>
                                    <p:anim calcmode="lin" valueType="num">
                                      <p:cBhvr>
                                        <p:cTn id="36" dur="1000" fill="hold"/>
                                        <p:tgtEl>
                                          <p:spTgt spid="20483"/>
                                        </p:tgtEl>
                                        <p:attrNameLst>
                                          <p:attrName>ppt_x</p:attrName>
                                        </p:attrNameLst>
                                      </p:cBhvr>
                                      <p:tavLst>
                                        <p:tav tm="0">
                                          <p:val>
                                            <p:strVal val="#ppt_x"/>
                                          </p:val>
                                        </p:tav>
                                        <p:tav tm="100000">
                                          <p:val>
                                            <p:strVal val="#ppt_x"/>
                                          </p:val>
                                        </p:tav>
                                      </p:tavLst>
                                    </p:anim>
                                    <p:anim calcmode="lin" valueType="num">
                                      <p:cBhvr>
                                        <p:cTn id="37" dur="1000" fill="hold"/>
                                        <p:tgtEl>
                                          <p:spTgt spid="20483"/>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4"/>
                                        </p:tgtEl>
                                        <p:attrNameLst>
                                          <p:attrName>style.visibility</p:attrName>
                                        </p:attrNameLst>
                                      </p:cBhvr>
                                      <p:to>
                                        <p:strVal val="visible"/>
                                      </p:to>
                                    </p:set>
                                    <p:animEffect transition="in" filter="fade">
                                      <p:cBhvr>
                                        <p:cTn id="40" dur="1000"/>
                                        <p:tgtEl>
                                          <p:spTgt spid="4"/>
                                        </p:tgtEl>
                                      </p:cBhvr>
                                    </p:animEffect>
                                    <p:anim calcmode="lin" valueType="num">
                                      <p:cBhvr>
                                        <p:cTn id="41" dur="1000" fill="hold"/>
                                        <p:tgtEl>
                                          <p:spTgt spid="4"/>
                                        </p:tgtEl>
                                        <p:attrNameLst>
                                          <p:attrName>ppt_x</p:attrName>
                                        </p:attrNameLst>
                                      </p:cBhvr>
                                      <p:tavLst>
                                        <p:tav tm="0">
                                          <p:val>
                                            <p:strVal val="#ppt_x"/>
                                          </p:val>
                                        </p:tav>
                                        <p:tav tm="100000">
                                          <p:val>
                                            <p:strVal val="#ppt_x"/>
                                          </p:val>
                                        </p:tav>
                                      </p:tavLst>
                                    </p:anim>
                                    <p:anim calcmode="lin" valueType="num">
                                      <p:cBhvr>
                                        <p:cTn id="42"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228600"/>
            <a:ext cx="8915400" cy="6400800"/>
          </a:xfrm>
        </p:spPr>
        <p:txBody>
          <a:bodyPr rtlCol="0">
            <a:normAutofit/>
          </a:bodyPr>
          <a:lstStyle/>
          <a:p>
            <a:pPr algn="just" eaLnBrk="1" fontAlgn="auto" hangingPunct="1">
              <a:spcAft>
                <a:spcPts val="0"/>
              </a:spcAft>
              <a:buFont typeface="Arial" pitchFamily="34" charset="0"/>
              <a:buChar char="•"/>
              <a:defRPr/>
            </a:pPr>
            <a:r>
              <a:rPr lang="en-US" sz="2400" b="1" u="sng" dirty="0">
                <a:solidFill>
                  <a:schemeClr val="tx1"/>
                </a:solidFill>
              </a:rPr>
              <a:t>Problems with coal</a:t>
            </a:r>
            <a:endParaRPr lang="en-US" sz="2400" b="1" dirty="0">
              <a:solidFill>
                <a:schemeClr val="tx1"/>
              </a:solidFill>
            </a:endParaRPr>
          </a:p>
          <a:p>
            <a:pPr algn="just" eaLnBrk="1" fontAlgn="auto" hangingPunct="1">
              <a:spcAft>
                <a:spcPts val="0"/>
              </a:spcAft>
              <a:buFont typeface="Wingdings" pitchFamily="2" charset="2"/>
              <a:buNone/>
              <a:defRPr/>
            </a:pPr>
            <a:r>
              <a:rPr lang="en-US" sz="2400" b="1" dirty="0">
                <a:solidFill>
                  <a:schemeClr val="tx1"/>
                </a:solidFill>
              </a:rPr>
              <a:t>   - mining operations may involve large-scale deforestation</a:t>
            </a:r>
          </a:p>
          <a:p>
            <a:pPr algn="just" eaLnBrk="1" fontAlgn="auto" hangingPunct="1">
              <a:spcAft>
                <a:spcPts val="0"/>
              </a:spcAft>
              <a:buFont typeface="Wingdings" pitchFamily="2" charset="2"/>
              <a:buNone/>
              <a:defRPr/>
            </a:pPr>
            <a:r>
              <a:rPr lang="en-US" sz="2400" b="1" dirty="0">
                <a:solidFill>
                  <a:schemeClr val="tx1"/>
                </a:solidFill>
              </a:rPr>
              <a:t>   - requires large land areas</a:t>
            </a:r>
          </a:p>
          <a:p>
            <a:pPr algn="just" eaLnBrk="1" fontAlgn="auto" hangingPunct="1">
              <a:spcAft>
                <a:spcPts val="0"/>
              </a:spcAft>
              <a:buFont typeface="Wingdings" pitchFamily="2" charset="2"/>
              <a:buNone/>
              <a:defRPr/>
            </a:pPr>
            <a:r>
              <a:rPr lang="en-US" sz="2400" b="1" dirty="0">
                <a:solidFill>
                  <a:schemeClr val="tx1"/>
                </a:solidFill>
              </a:rPr>
              <a:t>   - mining may lead to different types of environmental problems</a:t>
            </a:r>
          </a:p>
          <a:p>
            <a:pPr marL="171450" lvl="2" algn="just">
              <a:spcBef>
                <a:spcPts val="1000"/>
              </a:spcBef>
              <a:spcAft>
                <a:spcPts val="0"/>
              </a:spcAft>
              <a:buNone/>
              <a:defRPr/>
            </a:pPr>
            <a:r>
              <a:rPr lang="en-US" b="1" dirty="0">
                <a:solidFill>
                  <a:schemeClr val="tx1"/>
                </a:solidFill>
              </a:rPr>
              <a:t> 		</a:t>
            </a:r>
            <a:r>
              <a:rPr lang="en-US" sz="2400" b="1" dirty="0">
                <a:solidFill>
                  <a:schemeClr val="tx1"/>
                </a:solidFill>
              </a:rPr>
              <a:t>dust &amp; noise pollution </a:t>
            </a:r>
          </a:p>
          <a:p>
            <a:pPr marL="171450" lvl="2" algn="just">
              <a:spcBef>
                <a:spcPts val="1000"/>
              </a:spcBef>
              <a:spcAft>
                <a:spcPts val="0"/>
              </a:spcAft>
              <a:buNone/>
              <a:defRPr/>
            </a:pPr>
            <a:r>
              <a:rPr lang="en-US" sz="2400" b="1" dirty="0">
                <a:solidFill>
                  <a:schemeClr val="tx1"/>
                </a:solidFill>
              </a:rPr>
              <a:t>		disturbance to wildlife           </a:t>
            </a:r>
          </a:p>
          <a:p>
            <a:pPr algn="just">
              <a:defRPr/>
            </a:pPr>
            <a:r>
              <a:rPr lang="en-US" sz="2400" b="1" dirty="0">
                <a:solidFill>
                  <a:schemeClr val="tx1"/>
                </a:solidFill>
              </a:rPr>
              <a:t>  </a:t>
            </a:r>
            <a:r>
              <a:rPr lang="en-US" sz="2400" b="1" dirty="0">
                <a:solidFill>
                  <a:schemeClr val="tx1"/>
                </a:solidFill>
                <a:latin typeface="Garamond" pitchFamily="18" charset="0"/>
              </a:rPr>
              <a:t> </a:t>
            </a:r>
            <a:r>
              <a:rPr lang="en-US" sz="2400" b="1" dirty="0">
                <a:solidFill>
                  <a:schemeClr val="tx1"/>
                </a:solidFill>
              </a:rPr>
              <a:t>underground mining involves working under risky condition, fire hazards killing the mine workers are not uncommon</a:t>
            </a:r>
            <a:r>
              <a:rPr lang="en-US" sz="2400" b="1" dirty="0"/>
              <a:t>.</a:t>
            </a:r>
            <a:endParaRPr lang="en-US" sz="2400" b="1" dirty="0">
              <a:latin typeface="Garamond" pitchFamily="18" charset="0"/>
            </a:endParaRPr>
          </a:p>
        </p:txBody>
      </p:sp>
      <p:pic>
        <p:nvPicPr>
          <p:cNvPr id="5" name="Picture 4" descr="mountain-top-coal.jpg"/>
          <p:cNvPicPr>
            <a:picLocks noChangeAspect="1"/>
          </p:cNvPicPr>
          <p:nvPr/>
        </p:nvPicPr>
        <p:blipFill>
          <a:blip r:embed="rId3"/>
          <a:stretch>
            <a:fillRect/>
          </a:stretch>
        </p:blipFill>
        <p:spPr>
          <a:xfrm>
            <a:off x="328598" y="3909838"/>
            <a:ext cx="4191000" cy="2682240"/>
          </a:xfrm>
          <a:prstGeom prst="rect">
            <a:avLst/>
          </a:prstGeom>
        </p:spPr>
      </p:pic>
      <p:pic>
        <p:nvPicPr>
          <p:cNvPr id="6" name="Picture 5" descr="coal-mining-greenpeace.jpg"/>
          <p:cNvPicPr>
            <a:picLocks noChangeAspect="1"/>
          </p:cNvPicPr>
          <p:nvPr/>
        </p:nvPicPr>
        <p:blipFill>
          <a:blip r:embed="rId4"/>
          <a:stretch>
            <a:fillRect/>
          </a:stretch>
        </p:blipFill>
        <p:spPr>
          <a:xfrm>
            <a:off x="4783022" y="3884877"/>
            <a:ext cx="4038600" cy="2690095"/>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Effect transition="in" filter="fade">
                                      <p:cBhvr>
                                        <p:cTn id="33" dur="1000"/>
                                        <p:tgtEl>
                                          <p:spTgt spid="3">
                                            <p:txEl>
                                              <p:pRg st="4" end="4"/>
                                            </p:txEl>
                                          </p:spTgt>
                                        </p:tgtEl>
                                      </p:cBhvr>
                                    </p:animEffect>
                                    <p:anim calcmode="lin" valueType="num">
                                      <p:cBhvr>
                                        <p:cTn id="34"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3">
                                            <p:txEl>
                                              <p:pRg st="5" end="5"/>
                                            </p:txEl>
                                          </p:spTgt>
                                        </p:tgtEl>
                                        <p:attrNameLst>
                                          <p:attrName>style.visibility</p:attrName>
                                        </p:attrNameLst>
                                      </p:cBhvr>
                                      <p:to>
                                        <p:strVal val="visible"/>
                                      </p:to>
                                    </p:set>
                                    <p:animEffect transition="in" filter="fade">
                                      <p:cBhvr>
                                        <p:cTn id="38" dur="1000"/>
                                        <p:tgtEl>
                                          <p:spTgt spid="3">
                                            <p:txEl>
                                              <p:pRg st="5" end="5"/>
                                            </p:txEl>
                                          </p:spTgt>
                                        </p:tgtEl>
                                      </p:cBhvr>
                                    </p:animEffect>
                                    <p:anim calcmode="lin" valueType="num">
                                      <p:cBhvr>
                                        <p:cTn id="39"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0"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grpId="0" nodeType="clickEffect">
                                  <p:stCondLst>
                                    <p:cond delay="0"/>
                                  </p:stCondLst>
                                  <p:childTnLst>
                                    <p:set>
                                      <p:cBhvr>
                                        <p:cTn id="44" dur="1" fill="hold">
                                          <p:stCondLst>
                                            <p:cond delay="0"/>
                                          </p:stCondLst>
                                        </p:cTn>
                                        <p:tgtEl>
                                          <p:spTgt spid="3">
                                            <p:txEl>
                                              <p:pRg st="6" end="6"/>
                                            </p:txEl>
                                          </p:spTgt>
                                        </p:tgtEl>
                                        <p:attrNameLst>
                                          <p:attrName>style.visibility</p:attrName>
                                        </p:attrNameLst>
                                      </p:cBhvr>
                                      <p:to>
                                        <p:strVal val="visible"/>
                                      </p:to>
                                    </p:set>
                                    <p:animEffect transition="in" filter="fade">
                                      <p:cBhvr>
                                        <p:cTn id="45" dur="1000"/>
                                        <p:tgtEl>
                                          <p:spTgt spid="3">
                                            <p:txEl>
                                              <p:pRg st="6" end="6"/>
                                            </p:txEl>
                                          </p:spTgt>
                                        </p:tgtEl>
                                      </p:cBhvr>
                                    </p:animEffect>
                                    <p:anim calcmode="lin" valueType="num">
                                      <p:cBhvr>
                                        <p:cTn id="46"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7"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16" presetClass="entr" presetSubtype="21" fill="hold" nodeType="clickEffect">
                                  <p:stCondLst>
                                    <p:cond delay="0"/>
                                  </p:stCondLst>
                                  <p:childTnLst>
                                    <p:set>
                                      <p:cBhvr>
                                        <p:cTn id="51" dur="1" fill="hold">
                                          <p:stCondLst>
                                            <p:cond delay="0"/>
                                          </p:stCondLst>
                                        </p:cTn>
                                        <p:tgtEl>
                                          <p:spTgt spid="5"/>
                                        </p:tgtEl>
                                        <p:attrNameLst>
                                          <p:attrName>style.visibility</p:attrName>
                                        </p:attrNameLst>
                                      </p:cBhvr>
                                      <p:to>
                                        <p:strVal val="visible"/>
                                      </p:to>
                                    </p:set>
                                    <p:animEffect transition="in" filter="barn(inVertical)">
                                      <p:cBhvr>
                                        <p:cTn id="52" dur="500"/>
                                        <p:tgtEl>
                                          <p:spTgt spid="5"/>
                                        </p:tgtEl>
                                      </p:cBhvr>
                                    </p:animEffect>
                                  </p:childTnLst>
                                </p:cTn>
                              </p:par>
                              <p:par>
                                <p:cTn id="53" presetID="16" presetClass="entr" presetSubtype="21" fill="hold" nodeType="withEffect">
                                  <p:stCondLst>
                                    <p:cond delay="0"/>
                                  </p:stCondLst>
                                  <p:childTnLst>
                                    <p:set>
                                      <p:cBhvr>
                                        <p:cTn id="54" dur="1" fill="hold">
                                          <p:stCondLst>
                                            <p:cond delay="0"/>
                                          </p:stCondLst>
                                        </p:cTn>
                                        <p:tgtEl>
                                          <p:spTgt spid="6"/>
                                        </p:tgtEl>
                                        <p:attrNameLst>
                                          <p:attrName>style.visibility</p:attrName>
                                        </p:attrNameLst>
                                      </p:cBhvr>
                                      <p:to>
                                        <p:strVal val="visible"/>
                                      </p:to>
                                    </p:set>
                                    <p:animEffect transition="in" filter="barn(inVertical)">
                                      <p:cBhvr>
                                        <p:cTn id="5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1"/>
            <a:ext cx="8229600" cy="3429000"/>
          </a:xfrm>
        </p:spPr>
        <p:txBody>
          <a:bodyPr>
            <a:normAutofit/>
          </a:bodyPr>
          <a:lstStyle/>
          <a:p>
            <a:pPr algn="just">
              <a:defRPr/>
            </a:pPr>
            <a:r>
              <a:rPr lang="en-US" sz="2400" b="1" dirty="0">
                <a:solidFill>
                  <a:schemeClr val="tx1"/>
                </a:solidFill>
                <a:latin typeface="Garamond" pitchFamily="18" charset="0"/>
              </a:rPr>
              <a:t>Respiratory diseases</a:t>
            </a:r>
          </a:p>
          <a:p>
            <a:pPr algn="just">
              <a:buNone/>
              <a:defRPr/>
            </a:pPr>
            <a:r>
              <a:rPr lang="en-US" sz="2400" b="1" dirty="0">
                <a:solidFill>
                  <a:schemeClr val="tx1"/>
                </a:solidFill>
                <a:latin typeface="Garamond" pitchFamily="18" charset="0"/>
              </a:rPr>
              <a:t>  - Land subsidence might occur</a:t>
            </a:r>
          </a:p>
          <a:p>
            <a:pPr>
              <a:defRPr/>
            </a:pPr>
            <a:r>
              <a:rPr lang="en-US" sz="2400" b="1" dirty="0">
                <a:solidFill>
                  <a:schemeClr val="tx1"/>
                </a:solidFill>
                <a:latin typeface="Garamond" pitchFamily="18" charset="0"/>
              </a:rPr>
              <a:t>Air pollution</a:t>
            </a:r>
          </a:p>
          <a:p>
            <a:pPr lvl="1">
              <a:defRPr/>
            </a:pPr>
            <a:r>
              <a:rPr lang="en-US" sz="2400" b="1" dirty="0">
                <a:solidFill>
                  <a:schemeClr val="tx1"/>
                </a:solidFill>
                <a:latin typeface="Garamond" pitchFamily="18" charset="0"/>
              </a:rPr>
              <a:t>Burning releases radioactive and toxic metals into the atmosphere </a:t>
            </a:r>
          </a:p>
          <a:p>
            <a:pPr lvl="1">
              <a:defRPr/>
            </a:pPr>
            <a:r>
              <a:rPr lang="en-US" sz="2400" b="1" dirty="0">
                <a:solidFill>
                  <a:schemeClr val="tx1"/>
                </a:solidFill>
                <a:latin typeface="Garamond" pitchFamily="18" charset="0"/>
              </a:rPr>
              <a:t>Burning releases </a:t>
            </a:r>
            <a:r>
              <a:rPr lang="en-US" sz="2400" b="1" dirty="0" err="1">
                <a:solidFill>
                  <a:schemeClr val="tx1"/>
                </a:solidFill>
                <a:latin typeface="Garamond" pitchFamily="18" charset="0"/>
              </a:rPr>
              <a:t>sulphur</a:t>
            </a:r>
            <a:r>
              <a:rPr lang="en-US" sz="2400" b="1" dirty="0">
                <a:solidFill>
                  <a:schemeClr val="tx1"/>
                </a:solidFill>
                <a:latin typeface="Garamond" pitchFamily="18" charset="0"/>
              </a:rPr>
              <a:t> oxides and nitrogen oxides- acid rain</a:t>
            </a:r>
          </a:p>
          <a:p>
            <a:pPr lvl="1">
              <a:defRPr/>
            </a:pPr>
            <a:r>
              <a:rPr lang="en-US" sz="2400" b="1" dirty="0">
                <a:solidFill>
                  <a:schemeClr val="tx1"/>
                </a:solidFill>
                <a:latin typeface="Garamond" pitchFamily="18" charset="0"/>
              </a:rPr>
              <a:t>Burning release  carbon dioxide–global warming</a:t>
            </a:r>
          </a:p>
          <a:p>
            <a:endParaRPr lang="en-US" dirty="0"/>
          </a:p>
        </p:txBody>
      </p:sp>
      <p:pic>
        <p:nvPicPr>
          <p:cNvPr id="4" name="Picture 3" descr="wmd-coal-mine.jpg"/>
          <p:cNvPicPr>
            <a:picLocks noChangeAspect="1"/>
          </p:cNvPicPr>
          <p:nvPr/>
        </p:nvPicPr>
        <p:blipFill>
          <a:blip r:embed="rId3"/>
          <a:stretch>
            <a:fillRect/>
          </a:stretch>
        </p:blipFill>
        <p:spPr>
          <a:xfrm>
            <a:off x="784032" y="3809999"/>
            <a:ext cx="3711768" cy="2514600"/>
          </a:xfrm>
          <a:prstGeom prst="rect">
            <a:avLst/>
          </a:prstGeom>
        </p:spPr>
      </p:pic>
      <p:pic>
        <p:nvPicPr>
          <p:cNvPr id="5" name="Picture 4" descr="coal p.jpg"/>
          <p:cNvPicPr>
            <a:picLocks noChangeAspect="1"/>
          </p:cNvPicPr>
          <p:nvPr/>
        </p:nvPicPr>
        <p:blipFill>
          <a:blip r:embed="rId4"/>
          <a:stretch>
            <a:fillRect/>
          </a:stretch>
        </p:blipFill>
        <p:spPr>
          <a:xfrm>
            <a:off x="4536233" y="3808444"/>
            <a:ext cx="4191000" cy="2514600"/>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1000"/>
                                        <p:tgtEl>
                                          <p:spTgt spid="3">
                                            <p:txEl>
                                              <p:pRg st="3" end="3"/>
                                            </p:txEl>
                                          </p:spTgt>
                                        </p:tgtEl>
                                      </p:cBhvr>
                                    </p:animEffect>
                                    <p:anim calcmode="lin" valueType="num">
                                      <p:cBhvr>
                                        <p:cTn id="2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1000"/>
                                        <p:tgtEl>
                                          <p:spTgt spid="3">
                                            <p:txEl>
                                              <p:pRg st="4" end="4"/>
                                            </p:txEl>
                                          </p:spTgt>
                                        </p:tgtEl>
                                      </p:cBhvr>
                                    </p:animEffect>
                                    <p:anim calcmode="lin" valueType="num">
                                      <p:cBhvr>
                                        <p:cTn id="3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Effect transition="in" filter="fade">
                                      <p:cBhvr>
                                        <p:cTn id="36" dur="1000"/>
                                        <p:tgtEl>
                                          <p:spTgt spid="3">
                                            <p:txEl>
                                              <p:pRg st="5" end="5"/>
                                            </p:txEl>
                                          </p:spTgt>
                                        </p:tgtEl>
                                      </p:cBhvr>
                                    </p:animEffect>
                                    <p:anim calcmode="lin" valueType="num">
                                      <p:cBhvr>
                                        <p:cTn id="37"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6" presetClass="entr" presetSubtype="21" fill="hold" nodeType="clickEffect">
                                  <p:stCondLst>
                                    <p:cond delay="0"/>
                                  </p:stCondLst>
                                  <p:childTnLst>
                                    <p:set>
                                      <p:cBhvr>
                                        <p:cTn id="42" dur="1" fill="hold">
                                          <p:stCondLst>
                                            <p:cond delay="0"/>
                                          </p:stCondLst>
                                        </p:cTn>
                                        <p:tgtEl>
                                          <p:spTgt spid="4"/>
                                        </p:tgtEl>
                                        <p:attrNameLst>
                                          <p:attrName>style.visibility</p:attrName>
                                        </p:attrNameLst>
                                      </p:cBhvr>
                                      <p:to>
                                        <p:strVal val="visible"/>
                                      </p:to>
                                    </p:set>
                                    <p:animEffect transition="in" filter="barn(inVertical)">
                                      <p:cBhvr>
                                        <p:cTn id="43" dur="500"/>
                                        <p:tgtEl>
                                          <p:spTgt spid="4"/>
                                        </p:tgtEl>
                                      </p:cBhvr>
                                    </p:animEffect>
                                  </p:childTnLst>
                                </p:cTn>
                              </p:par>
                              <p:par>
                                <p:cTn id="44" presetID="16" presetClass="entr" presetSubtype="21" fill="hold" nodeType="withEffect">
                                  <p:stCondLst>
                                    <p:cond delay="0"/>
                                  </p:stCondLst>
                                  <p:childTnLst>
                                    <p:set>
                                      <p:cBhvr>
                                        <p:cTn id="45" dur="1" fill="hold">
                                          <p:stCondLst>
                                            <p:cond delay="0"/>
                                          </p:stCondLst>
                                        </p:cTn>
                                        <p:tgtEl>
                                          <p:spTgt spid="5"/>
                                        </p:tgtEl>
                                        <p:attrNameLst>
                                          <p:attrName>style.visibility</p:attrName>
                                        </p:attrNameLst>
                                      </p:cBhvr>
                                      <p:to>
                                        <p:strVal val="visible"/>
                                      </p:to>
                                    </p:set>
                                    <p:animEffect transition="in" filter="barn(inVertical)">
                                      <p:cBhvr>
                                        <p:cTn id="4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
            <a:ext cx="8229600" cy="533400"/>
          </a:xfrm>
        </p:spPr>
        <p:txBody>
          <a:bodyPr rtlCol="0">
            <a:normAutofit/>
          </a:bodyPr>
          <a:lstStyle/>
          <a:p>
            <a:pPr eaLnBrk="1" fontAlgn="auto" hangingPunct="1">
              <a:spcAft>
                <a:spcPts val="0"/>
              </a:spcAft>
              <a:defRPr/>
            </a:pPr>
            <a:r>
              <a:rPr lang="en-US" sz="2800" b="1" dirty="0">
                <a:solidFill>
                  <a:schemeClr val="accent4">
                    <a:lumMod val="10000"/>
                  </a:schemeClr>
                </a:solidFill>
                <a:latin typeface="Garamond" pitchFamily="18" charset="0"/>
              </a:rPr>
              <a:t>Natural gas</a:t>
            </a:r>
          </a:p>
        </p:txBody>
      </p:sp>
      <p:sp>
        <p:nvSpPr>
          <p:cNvPr id="22531" name="Content Placeholder 2"/>
          <p:cNvSpPr>
            <a:spLocks noGrp="1"/>
          </p:cNvSpPr>
          <p:nvPr>
            <p:ph idx="1"/>
          </p:nvPr>
        </p:nvSpPr>
        <p:spPr>
          <a:xfrm>
            <a:off x="121298" y="1062135"/>
            <a:ext cx="8991600" cy="5486400"/>
          </a:xfrm>
        </p:spPr>
        <p:txBody>
          <a:bodyPr>
            <a:normAutofit/>
          </a:bodyPr>
          <a:lstStyle/>
          <a:p>
            <a:pPr algn="just" eaLnBrk="1" hangingPunct="1">
              <a:buFontTx/>
              <a:buChar char="-"/>
            </a:pPr>
            <a:r>
              <a:rPr lang="en-US" sz="2400" b="1" dirty="0">
                <a:solidFill>
                  <a:schemeClr val="tx1"/>
                </a:solidFill>
                <a:latin typeface="Garamond" pitchFamily="18" charset="0"/>
              </a:rPr>
              <a:t>Is a hydrocarbon fuel, mixture of gaseous hydrocarbons with Methane (CH</a:t>
            </a:r>
            <a:r>
              <a:rPr lang="en-US" sz="2400" b="1" baseline="-25000" dirty="0">
                <a:solidFill>
                  <a:schemeClr val="tx1"/>
                </a:solidFill>
                <a:latin typeface="Garamond" pitchFamily="18" charset="0"/>
              </a:rPr>
              <a:t>4</a:t>
            </a:r>
            <a:r>
              <a:rPr lang="en-US" sz="2400" b="1" dirty="0">
                <a:solidFill>
                  <a:schemeClr val="tx1"/>
                </a:solidFill>
                <a:latin typeface="Garamond" pitchFamily="18" charset="0"/>
              </a:rPr>
              <a:t>) as principal gas</a:t>
            </a:r>
          </a:p>
          <a:p>
            <a:pPr algn="just" eaLnBrk="1" hangingPunct="1">
              <a:buFontTx/>
              <a:buChar char="-"/>
            </a:pPr>
            <a:r>
              <a:rPr lang="en-US" sz="2400" b="1" baseline="-25000" dirty="0">
                <a:solidFill>
                  <a:schemeClr val="tx1"/>
                </a:solidFill>
                <a:latin typeface="Garamond" pitchFamily="18" charset="0"/>
              </a:rPr>
              <a:t> </a:t>
            </a:r>
            <a:r>
              <a:rPr lang="en-US" sz="2400" b="1" dirty="0">
                <a:solidFill>
                  <a:schemeClr val="tx1"/>
                </a:solidFill>
                <a:latin typeface="Garamond" pitchFamily="18" charset="0"/>
              </a:rPr>
              <a:t>found underground in close association with crude petroleum reserves</a:t>
            </a:r>
          </a:p>
          <a:p>
            <a:pPr algn="just" eaLnBrk="1" hangingPunct="1">
              <a:buFontTx/>
              <a:buChar char="-"/>
            </a:pPr>
            <a:r>
              <a:rPr lang="en-US" sz="2400" b="1" dirty="0">
                <a:solidFill>
                  <a:schemeClr val="tx1"/>
                </a:solidFill>
                <a:latin typeface="Garamond" pitchFamily="18" charset="0"/>
              </a:rPr>
              <a:t> has been formed from marine fossil deposits of plants &amp; animals buried millions of years ago &amp; subjected to high temperatures &amp; pressures </a:t>
            </a:r>
          </a:p>
          <a:p>
            <a:pPr algn="just" eaLnBrk="1" hangingPunct="1">
              <a:buFontTx/>
              <a:buChar char="-"/>
            </a:pPr>
            <a:r>
              <a:rPr lang="en-US" sz="2400" b="1" dirty="0">
                <a:solidFill>
                  <a:schemeClr val="tx1"/>
                </a:solidFill>
                <a:latin typeface="Garamond" pitchFamily="18" charset="0"/>
              </a:rPr>
              <a:t> produces fewer pollutants when compared to coal or oil. </a:t>
            </a:r>
          </a:p>
          <a:p>
            <a:pPr marL="342900" lvl="1" indent="-342900" algn="just" eaLnBrk="1" hangingPunct="1">
              <a:buClr>
                <a:schemeClr val="hlink"/>
              </a:buClr>
              <a:buFontTx/>
              <a:buChar char="-"/>
            </a:pPr>
            <a:r>
              <a:rPr lang="en-US" sz="2400" b="1" dirty="0">
                <a:solidFill>
                  <a:schemeClr val="tx1"/>
                </a:solidFill>
                <a:latin typeface="Garamond" pitchFamily="18" charset="0"/>
              </a:rPr>
              <a:t>most rapidly growing energy source because it is convenient and easy to store in large quantities</a:t>
            </a:r>
          </a:p>
          <a:p>
            <a:pPr algn="just" eaLnBrk="1" hangingPunct="1">
              <a:buFontTx/>
              <a:buChar char="-"/>
            </a:pPr>
            <a:r>
              <a:rPr lang="en-US" sz="2400" b="1" dirty="0">
                <a:solidFill>
                  <a:schemeClr val="tx1"/>
                </a:solidFill>
                <a:latin typeface="Garamond" pitchFamily="18" charset="0"/>
              </a:rPr>
              <a:t>current reserves represent roughly 60 year  supply at present usage rates</a:t>
            </a:r>
          </a:p>
          <a:p>
            <a:pPr algn="just" eaLnBrk="1" hangingPunct="1">
              <a:buFont typeface="Wingdings" pitchFamily="2" charset="2"/>
              <a:buNone/>
            </a:pPr>
            <a:endParaRPr lang="en-US" sz="2400" b="1" dirty="0">
              <a:latin typeface="Garamond" pitchFamily="18" charset="0"/>
            </a:endParaRPr>
          </a:p>
          <a:p>
            <a:pPr eaLnBrk="1" hangingPunct="1">
              <a:buFont typeface="Wingdings" pitchFamily="2" charset="2"/>
              <a:buNone/>
            </a:pPr>
            <a:endParaRPr lang="en-US" sz="2800" b="1" dirty="0">
              <a:latin typeface="Garamond"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22531">
                                            <p:txEl>
                                              <p:pRg st="0" end="0"/>
                                            </p:txEl>
                                          </p:spTgt>
                                        </p:tgtEl>
                                        <p:attrNameLst>
                                          <p:attrName>style.visibility</p:attrName>
                                        </p:attrNameLst>
                                      </p:cBhvr>
                                      <p:to>
                                        <p:strVal val="visible"/>
                                      </p:to>
                                    </p:set>
                                    <p:animEffect transition="in" filter="fade">
                                      <p:cBhvr>
                                        <p:cTn id="12" dur="1000"/>
                                        <p:tgtEl>
                                          <p:spTgt spid="22531">
                                            <p:txEl>
                                              <p:pRg st="0" end="0"/>
                                            </p:txEl>
                                          </p:spTgt>
                                        </p:tgtEl>
                                      </p:cBhvr>
                                    </p:animEffect>
                                    <p:anim calcmode="lin" valueType="num">
                                      <p:cBhvr>
                                        <p:cTn id="13" dur="1000" fill="hold"/>
                                        <p:tgtEl>
                                          <p:spTgt spid="22531">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2253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2531">
                                            <p:txEl>
                                              <p:pRg st="1" end="1"/>
                                            </p:txEl>
                                          </p:spTgt>
                                        </p:tgtEl>
                                        <p:attrNameLst>
                                          <p:attrName>style.visibility</p:attrName>
                                        </p:attrNameLst>
                                      </p:cBhvr>
                                      <p:to>
                                        <p:strVal val="visible"/>
                                      </p:to>
                                    </p:set>
                                    <p:animEffect transition="in" filter="fade">
                                      <p:cBhvr>
                                        <p:cTn id="19" dur="1000"/>
                                        <p:tgtEl>
                                          <p:spTgt spid="22531">
                                            <p:txEl>
                                              <p:pRg st="1" end="1"/>
                                            </p:txEl>
                                          </p:spTgt>
                                        </p:tgtEl>
                                      </p:cBhvr>
                                    </p:animEffect>
                                    <p:anim calcmode="lin" valueType="num">
                                      <p:cBhvr>
                                        <p:cTn id="20" dur="1000" fill="hold"/>
                                        <p:tgtEl>
                                          <p:spTgt spid="22531">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2253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22531">
                                            <p:txEl>
                                              <p:pRg st="2" end="2"/>
                                            </p:txEl>
                                          </p:spTgt>
                                        </p:tgtEl>
                                        <p:attrNameLst>
                                          <p:attrName>style.visibility</p:attrName>
                                        </p:attrNameLst>
                                      </p:cBhvr>
                                      <p:to>
                                        <p:strVal val="visible"/>
                                      </p:to>
                                    </p:set>
                                    <p:animEffect transition="in" filter="fade">
                                      <p:cBhvr>
                                        <p:cTn id="26" dur="1000"/>
                                        <p:tgtEl>
                                          <p:spTgt spid="22531">
                                            <p:txEl>
                                              <p:pRg st="2" end="2"/>
                                            </p:txEl>
                                          </p:spTgt>
                                        </p:tgtEl>
                                      </p:cBhvr>
                                    </p:animEffect>
                                    <p:anim calcmode="lin" valueType="num">
                                      <p:cBhvr>
                                        <p:cTn id="27" dur="1000" fill="hold"/>
                                        <p:tgtEl>
                                          <p:spTgt spid="22531">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22531">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22531">
                                            <p:txEl>
                                              <p:pRg st="3" end="3"/>
                                            </p:txEl>
                                          </p:spTgt>
                                        </p:tgtEl>
                                        <p:attrNameLst>
                                          <p:attrName>style.visibility</p:attrName>
                                        </p:attrNameLst>
                                      </p:cBhvr>
                                      <p:to>
                                        <p:strVal val="visible"/>
                                      </p:to>
                                    </p:set>
                                    <p:animEffect transition="in" filter="fade">
                                      <p:cBhvr>
                                        <p:cTn id="33" dur="1000"/>
                                        <p:tgtEl>
                                          <p:spTgt spid="22531">
                                            <p:txEl>
                                              <p:pRg st="3" end="3"/>
                                            </p:txEl>
                                          </p:spTgt>
                                        </p:tgtEl>
                                      </p:cBhvr>
                                    </p:animEffect>
                                    <p:anim calcmode="lin" valueType="num">
                                      <p:cBhvr>
                                        <p:cTn id="34" dur="1000" fill="hold"/>
                                        <p:tgtEl>
                                          <p:spTgt spid="22531">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22531">
                                            <p:txEl>
                                              <p:pRg st="3" end="3"/>
                                            </p:txEl>
                                          </p:spTgt>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22531">
                                            <p:txEl>
                                              <p:pRg st="4" end="4"/>
                                            </p:txEl>
                                          </p:spTgt>
                                        </p:tgtEl>
                                        <p:attrNameLst>
                                          <p:attrName>style.visibility</p:attrName>
                                        </p:attrNameLst>
                                      </p:cBhvr>
                                      <p:to>
                                        <p:strVal val="visible"/>
                                      </p:to>
                                    </p:set>
                                    <p:animEffect transition="in" filter="fade">
                                      <p:cBhvr>
                                        <p:cTn id="38" dur="1000"/>
                                        <p:tgtEl>
                                          <p:spTgt spid="22531">
                                            <p:txEl>
                                              <p:pRg st="4" end="4"/>
                                            </p:txEl>
                                          </p:spTgt>
                                        </p:tgtEl>
                                      </p:cBhvr>
                                    </p:animEffect>
                                    <p:anim calcmode="lin" valueType="num">
                                      <p:cBhvr>
                                        <p:cTn id="39" dur="1000" fill="hold"/>
                                        <p:tgtEl>
                                          <p:spTgt spid="22531">
                                            <p:txEl>
                                              <p:pRg st="4" end="4"/>
                                            </p:txEl>
                                          </p:spTgt>
                                        </p:tgtEl>
                                        <p:attrNameLst>
                                          <p:attrName>ppt_x</p:attrName>
                                        </p:attrNameLst>
                                      </p:cBhvr>
                                      <p:tavLst>
                                        <p:tav tm="0">
                                          <p:val>
                                            <p:strVal val="#ppt_x"/>
                                          </p:val>
                                        </p:tav>
                                        <p:tav tm="100000">
                                          <p:val>
                                            <p:strVal val="#ppt_x"/>
                                          </p:val>
                                        </p:tav>
                                      </p:tavLst>
                                    </p:anim>
                                    <p:anim calcmode="lin" valueType="num">
                                      <p:cBhvr>
                                        <p:cTn id="40" dur="1000" fill="hold"/>
                                        <p:tgtEl>
                                          <p:spTgt spid="22531">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grpId="0" nodeType="clickEffect">
                                  <p:stCondLst>
                                    <p:cond delay="0"/>
                                  </p:stCondLst>
                                  <p:childTnLst>
                                    <p:set>
                                      <p:cBhvr>
                                        <p:cTn id="44" dur="1" fill="hold">
                                          <p:stCondLst>
                                            <p:cond delay="0"/>
                                          </p:stCondLst>
                                        </p:cTn>
                                        <p:tgtEl>
                                          <p:spTgt spid="22531">
                                            <p:txEl>
                                              <p:pRg st="5" end="5"/>
                                            </p:txEl>
                                          </p:spTgt>
                                        </p:tgtEl>
                                        <p:attrNameLst>
                                          <p:attrName>style.visibility</p:attrName>
                                        </p:attrNameLst>
                                      </p:cBhvr>
                                      <p:to>
                                        <p:strVal val="visible"/>
                                      </p:to>
                                    </p:set>
                                    <p:animEffect transition="in" filter="fade">
                                      <p:cBhvr>
                                        <p:cTn id="45" dur="1000"/>
                                        <p:tgtEl>
                                          <p:spTgt spid="22531">
                                            <p:txEl>
                                              <p:pRg st="5" end="5"/>
                                            </p:txEl>
                                          </p:spTgt>
                                        </p:tgtEl>
                                      </p:cBhvr>
                                    </p:animEffect>
                                    <p:anim calcmode="lin" valueType="num">
                                      <p:cBhvr>
                                        <p:cTn id="46" dur="1000" fill="hold"/>
                                        <p:tgtEl>
                                          <p:spTgt spid="22531">
                                            <p:txEl>
                                              <p:pRg st="5" end="5"/>
                                            </p:txEl>
                                          </p:spTgt>
                                        </p:tgtEl>
                                        <p:attrNameLst>
                                          <p:attrName>ppt_x</p:attrName>
                                        </p:attrNameLst>
                                      </p:cBhvr>
                                      <p:tavLst>
                                        <p:tav tm="0">
                                          <p:val>
                                            <p:strVal val="#ppt_x"/>
                                          </p:val>
                                        </p:tav>
                                        <p:tav tm="100000">
                                          <p:val>
                                            <p:strVal val="#ppt_x"/>
                                          </p:val>
                                        </p:tav>
                                      </p:tavLst>
                                    </p:anim>
                                    <p:anim calcmode="lin" valueType="num">
                                      <p:cBhvr>
                                        <p:cTn id="47" dur="1000" fill="hold"/>
                                        <p:tgtEl>
                                          <p:spTgt spid="22531">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2531"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401637"/>
            <a:ext cx="8229600" cy="560388"/>
          </a:xfrm>
        </p:spPr>
        <p:txBody>
          <a:bodyPr rtlCol="0">
            <a:normAutofit fontScale="90000"/>
          </a:bodyPr>
          <a:lstStyle/>
          <a:p>
            <a:pPr eaLnBrk="1" fontAlgn="auto" hangingPunct="1">
              <a:spcAft>
                <a:spcPts val="0"/>
              </a:spcAft>
              <a:defRPr/>
            </a:pPr>
            <a:r>
              <a:rPr lang="en-US" sz="3600" b="1" dirty="0">
                <a:solidFill>
                  <a:schemeClr val="accent4">
                    <a:lumMod val="10000"/>
                  </a:schemeClr>
                </a:solidFill>
                <a:latin typeface="Garamond" pitchFamily="18" charset="0"/>
              </a:rPr>
              <a:t>Oil</a:t>
            </a:r>
            <a:r>
              <a:rPr lang="en-US" sz="3600" dirty="0">
                <a:latin typeface="Garamond" pitchFamily="18" charset="0"/>
              </a:rPr>
              <a:t> </a:t>
            </a:r>
          </a:p>
        </p:txBody>
      </p:sp>
      <p:sp>
        <p:nvSpPr>
          <p:cNvPr id="24579" name="Content Placeholder 2"/>
          <p:cNvSpPr>
            <a:spLocks noGrp="1"/>
          </p:cNvSpPr>
          <p:nvPr>
            <p:ph idx="1"/>
          </p:nvPr>
        </p:nvSpPr>
        <p:spPr>
          <a:xfrm>
            <a:off x="157065" y="962025"/>
            <a:ext cx="8605935" cy="6172200"/>
          </a:xfrm>
        </p:spPr>
        <p:txBody>
          <a:bodyPr>
            <a:normAutofit/>
          </a:bodyPr>
          <a:lstStyle/>
          <a:p>
            <a:pPr algn="just" eaLnBrk="1" hangingPunct="1"/>
            <a:r>
              <a:rPr lang="en-US" sz="2400" b="1" dirty="0">
                <a:solidFill>
                  <a:schemeClr val="tx1"/>
                </a:solidFill>
                <a:latin typeface="Garamond" pitchFamily="18" charset="0"/>
              </a:rPr>
              <a:t>Petroleum is formed very similar to coal- mostly marine organic material buried in sediment and subjected to high pressure and temperature. </a:t>
            </a:r>
          </a:p>
          <a:p>
            <a:pPr algn="just" eaLnBrk="1" hangingPunct="1"/>
            <a:r>
              <a:rPr lang="en-US" sz="2400" b="1" dirty="0">
                <a:solidFill>
                  <a:schemeClr val="tx1"/>
                </a:solidFill>
                <a:latin typeface="Garamond" pitchFamily="18" charset="0"/>
              </a:rPr>
              <a:t>Oil is available in porous sandstone and limestone</a:t>
            </a:r>
          </a:p>
          <a:p>
            <a:pPr algn="just" eaLnBrk="1" hangingPunct="1"/>
            <a:r>
              <a:rPr lang="en-US" sz="2400" b="1" dirty="0">
                <a:solidFill>
                  <a:schemeClr val="tx1"/>
                </a:solidFill>
                <a:latin typeface="Garamond" pitchFamily="18" charset="0"/>
              </a:rPr>
              <a:t>Proven reserves used at current consumption rate estimated to last 45 years.</a:t>
            </a:r>
          </a:p>
          <a:p>
            <a:pPr lvl="1" eaLnBrk="1" hangingPunct="1">
              <a:buFont typeface="Wingdings" pitchFamily="2" charset="2"/>
              <a:buNone/>
            </a:pPr>
            <a:endParaRPr lang="en-US" sz="2400" b="1" dirty="0">
              <a:solidFill>
                <a:schemeClr val="tx1"/>
              </a:solidFill>
              <a:latin typeface="Garamond" pitchFamily="18" charset="0"/>
            </a:endParaRPr>
          </a:p>
          <a:p>
            <a:pPr eaLnBrk="1" hangingPunct="1"/>
            <a:endParaRPr lang="en-US" sz="2800" b="1" dirty="0">
              <a:solidFill>
                <a:schemeClr val="tx1"/>
              </a:solidFill>
              <a:latin typeface="Garamond" pitchFamily="18" charset="0"/>
            </a:endParaRPr>
          </a:p>
          <a:p>
            <a:pPr eaLnBrk="1" hangingPunct="1"/>
            <a:endParaRPr lang="en-US" sz="2800" b="1" dirty="0">
              <a:solidFill>
                <a:schemeClr val="tx1"/>
              </a:solidFill>
              <a:latin typeface="Garamond" pitchFamily="18" charset="0"/>
            </a:endParaRPr>
          </a:p>
          <a:p>
            <a:pPr eaLnBrk="1" hangingPunct="1"/>
            <a:endParaRPr lang="en-US" sz="2800" b="1" dirty="0">
              <a:solidFill>
                <a:schemeClr val="tx1"/>
              </a:solidFill>
              <a:latin typeface="Garamond" pitchFamily="18" charset="0"/>
            </a:endParaRPr>
          </a:p>
          <a:p>
            <a:pPr eaLnBrk="1" hangingPunct="1"/>
            <a:endParaRPr lang="en-US" sz="2800" b="1" dirty="0">
              <a:latin typeface="Garamond" pitchFamily="18" charset="0"/>
            </a:endParaRPr>
          </a:p>
          <a:p>
            <a:pPr eaLnBrk="1" hangingPunct="1">
              <a:buFont typeface="Wingdings" pitchFamily="2" charset="2"/>
              <a:buNone/>
            </a:pPr>
            <a:r>
              <a:rPr lang="en-US" sz="2800" b="1" dirty="0">
                <a:solidFill>
                  <a:schemeClr val="tx1"/>
                </a:solidFill>
                <a:latin typeface="Garamond" pitchFamily="18" charset="0"/>
              </a:rPr>
              <a:t>                                       Oil Field</a:t>
            </a:r>
          </a:p>
        </p:txBody>
      </p:sp>
      <p:pic>
        <p:nvPicPr>
          <p:cNvPr id="24580" name="Picture 5" descr="D:\ENV 103 SGR\my slides\oil 2.jpg"/>
          <p:cNvPicPr>
            <a:picLocks noChangeAspect="1" noChangeArrowheads="1"/>
          </p:cNvPicPr>
          <p:nvPr/>
        </p:nvPicPr>
        <p:blipFill>
          <a:blip r:embed="rId3"/>
          <a:srcRect/>
          <a:stretch>
            <a:fillRect/>
          </a:stretch>
        </p:blipFill>
        <p:spPr bwMode="auto">
          <a:xfrm>
            <a:off x="838200" y="3581400"/>
            <a:ext cx="2792413" cy="2057400"/>
          </a:xfrm>
          <a:prstGeom prst="rect">
            <a:avLst/>
          </a:prstGeom>
          <a:noFill/>
          <a:ln w="9525">
            <a:noFill/>
            <a:miter lim="800000"/>
            <a:headEnd/>
            <a:tailEnd/>
          </a:ln>
        </p:spPr>
      </p:pic>
      <p:pic>
        <p:nvPicPr>
          <p:cNvPr id="24581" name="Picture 11" descr="D:\ENV 103 SGR\my slides\oil land.jpg"/>
          <p:cNvPicPr>
            <a:picLocks noChangeAspect="1" noChangeArrowheads="1"/>
          </p:cNvPicPr>
          <p:nvPr/>
        </p:nvPicPr>
        <p:blipFill>
          <a:blip r:embed="rId4"/>
          <a:srcRect/>
          <a:stretch>
            <a:fillRect/>
          </a:stretch>
        </p:blipFill>
        <p:spPr bwMode="auto">
          <a:xfrm>
            <a:off x="5562600" y="3276600"/>
            <a:ext cx="2200275" cy="2619375"/>
          </a:xfrm>
          <a:prstGeom prst="rect">
            <a:avLst/>
          </a:prstGeom>
          <a:noFill/>
          <a:ln w="9525">
            <a:noFill/>
            <a:miter lim="800000"/>
            <a:headEnd/>
            <a:tailEnd/>
          </a:ln>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24579">
                                            <p:txEl>
                                              <p:pRg st="0" end="0"/>
                                            </p:txEl>
                                          </p:spTgt>
                                        </p:tgtEl>
                                        <p:attrNameLst>
                                          <p:attrName>style.visibility</p:attrName>
                                        </p:attrNameLst>
                                      </p:cBhvr>
                                      <p:to>
                                        <p:strVal val="visible"/>
                                      </p:to>
                                    </p:set>
                                    <p:animEffect transition="in" filter="fade">
                                      <p:cBhvr>
                                        <p:cTn id="12" dur="1000"/>
                                        <p:tgtEl>
                                          <p:spTgt spid="24579">
                                            <p:txEl>
                                              <p:pRg st="0" end="0"/>
                                            </p:txEl>
                                          </p:spTgt>
                                        </p:tgtEl>
                                      </p:cBhvr>
                                    </p:animEffect>
                                    <p:anim calcmode="lin" valueType="num">
                                      <p:cBhvr>
                                        <p:cTn id="13" dur="1000" fill="hold"/>
                                        <p:tgtEl>
                                          <p:spTgt spid="24579">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2457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4579">
                                            <p:txEl>
                                              <p:pRg st="1" end="1"/>
                                            </p:txEl>
                                          </p:spTgt>
                                        </p:tgtEl>
                                        <p:attrNameLst>
                                          <p:attrName>style.visibility</p:attrName>
                                        </p:attrNameLst>
                                      </p:cBhvr>
                                      <p:to>
                                        <p:strVal val="visible"/>
                                      </p:to>
                                    </p:set>
                                    <p:animEffect transition="in" filter="fade">
                                      <p:cBhvr>
                                        <p:cTn id="19" dur="1000"/>
                                        <p:tgtEl>
                                          <p:spTgt spid="24579">
                                            <p:txEl>
                                              <p:pRg st="1" end="1"/>
                                            </p:txEl>
                                          </p:spTgt>
                                        </p:tgtEl>
                                      </p:cBhvr>
                                    </p:animEffect>
                                    <p:anim calcmode="lin" valueType="num">
                                      <p:cBhvr>
                                        <p:cTn id="20" dur="1000" fill="hold"/>
                                        <p:tgtEl>
                                          <p:spTgt spid="24579">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2457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24579">
                                            <p:txEl>
                                              <p:pRg st="2" end="2"/>
                                            </p:txEl>
                                          </p:spTgt>
                                        </p:tgtEl>
                                        <p:attrNameLst>
                                          <p:attrName>style.visibility</p:attrName>
                                        </p:attrNameLst>
                                      </p:cBhvr>
                                      <p:to>
                                        <p:strVal val="visible"/>
                                      </p:to>
                                    </p:set>
                                    <p:animEffect transition="in" filter="fade">
                                      <p:cBhvr>
                                        <p:cTn id="26" dur="1000"/>
                                        <p:tgtEl>
                                          <p:spTgt spid="24579">
                                            <p:txEl>
                                              <p:pRg st="2" end="2"/>
                                            </p:txEl>
                                          </p:spTgt>
                                        </p:tgtEl>
                                      </p:cBhvr>
                                    </p:animEffect>
                                    <p:anim calcmode="lin" valueType="num">
                                      <p:cBhvr>
                                        <p:cTn id="27" dur="1000" fill="hold"/>
                                        <p:tgtEl>
                                          <p:spTgt spid="24579">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2457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24579">
                                            <p:txEl>
                                              <p:pRg st="8" end="8"/>
                                            </p:txEl>
                                          </p:spTgt>
                                        </p:tgtEl>
                                        <p:attrNameLst>
                                          <p:attrName>style.visibility</p:attrName>
                                        </p:attrNameLst>
                                      </p:cBhvr>
                                      <p:to>
                                        <p:strVal val="visible"/>
                                      </p:to>
                                    </p:set>
                                    <p:animEffect transition="in" filter="fade">
                                      <p:cBhvr>
                                        <p:cTn id="33" dur="1000"/>
                                        <p:tgtEl>
                                          <p:spTgt spid="24579">
                                            <p:txEl>
                                              <p:pRg st="8" end="8"/>
                                            </p:txEl>
                                          </p:spTgt>
                                        </p:tgtEl>
                                      </p:cBhvr>
                                    </p:animEffect>
                                    <p:anim calcmode="lin" valueType="num">
                                      <p:cBhvr>
                                        <p:cTn id="34" dur="1000" fill="hold"/>
                                        <p:tgtEl>
                                          <p:spTgt spid="24579">
                                            <p:txEl>
                                              <p:pRg st="8" end="8"/>
                                            </p:txEl>
                                          </p:spTgt>
                                        </p:tgtEl>
                                        <p:attrNameLst>
                                          <p:attrName>ppt_x</p:attrName>
                                        </p:attrNameLst>
                                      </p:cBhvr>
                                      <p:tavLst>
                                        <p:tav tm="0">
                                          <p:val>
                                            <p:strVal val="#ppt_x"/>
                                          </p:val>
                                        </p:tav>
                                        <p:tav tm="100000">
                                          <p:val>
                                            <p:strVal val="#ppt_x"/>
                                          </p:val>
                                        </p:tav>
                                      </p:tavLst>
                                    </p:anim>
                                    <p:anim calcmode="lin" valueType="num">
                                      <p:cBhvr>
                                        <p:cTn id="35" dur="1000" fill="hold"/>
                                        <p:tgtEl>
                                          <p:spTgt spid="24579">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16" presetClass="entr" presetSubtype="21" fill="hold" nodeType="clickEffect">
                                  <p:stCondLst>
                                    <p:cond delay="0"/>
                                  </p:stCondLst>
                                  <p:childTnLst>
                                    <p:set>
                                      <p:cBhvr>
                                        <p:cTn id="39" dur="1" fill="hold">
                                          <p:stCondLst>
                                            <p:cond delay="0"/>
                                          </p:stCondLst>
                                        </p:cTn>
                                        <p:tgtEl>
                                          <p:spTgt spid="24580"/>
                                        </p:tgtEl>
                                        <p:attrNameLst>
                                          <p:attrName>style.visibility</p:attrName>
                                        </p:attrNameLst>
                                      </p:cBhvr>
                                      <p:to>
                                        <p:strVal val="visible"/>
                                      </p:to>
                                    </p:set>
                                    <p:animEffect transition="in" filter="barn(inVertical)">
                                      <p:cBhvr>
                                        <p:cTn id="40" dur="500"/>
                                        <p:tgtEl>
                                          <p:spTgt spid="24580"/>
                                        </p:tgtEl>
                                      </p:cBhvr>
                                    </p:animEffect>
                                  </p:childTnLst>
                                </p:cTn>
                              </p:par>
                              <p:par>
                                <p:cTn id="41" presetID="16" presetClass="entr" presetSubtype="21" fill="hold" nodeType="withEffect">
                                  <p:stCondLst>
                                    <p:cond delay="0"/>
                                  </p:stCondLst>
                                  <p:childTnLst>
                                    <p:set>
                                      <p:cBhvr>
                                        <p:cTn id="42" dur="1" fill="hold">
                                          <p:stCondLst>
                                            <p:cond delay="0"/>
                                          </p:stCondLst>
                                        </p:cTn>
                                        <p:tgtEl>
                                          <p:spTgt spid="24581"/>
                                        </p:tgtEl>
                                        <p:attrNameLst>
                                          <p:attrName>style.visibility</p:attrName>
                                        </p:attrNameLst>
                                      </p:cBhvr>
                                      <p:to>
                                        <p:strVal val="visible"/>
                                      </p:to>
                                    </p:set>
                                    <p:animEffect transition="in" filter="barn(inVertical)">
                                      <p:cBhvr>
                                        <p:cTn id="43" dur="500"/>
                                        <p:tgtEl>
                                          <p:spTgt spid="245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4579"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838200"/>
            <a:ext cx="7772400" cy="457200"/>
          </a:xfrm>
        </p:spPr>
        <p:txBody>
          <a:bodyPr rtlCol="0">
            <a:noAutofit/>
          </a:bodyPr>
          <a:lstStyle/>
          <a:p>
            <a:pPr eaLnBrk="1" fontAlgn="auto" hangingPunct="1">
              <a:spcAft>
                <a:spcPts val="0"/>
              </a:spcAft>
              <a:defRPr/>
            </a:pPr>
            <a:r>
              <a:rPr lang="en-US" sz="3600" b="1" dirty="0">
                <a:solidFill>
                  <a:schemeClr val="tx1"/>
                </a:solidFill>
                <a:latin typeface="Garamond" pitchFamily="18" charset="0"/>
              </a:rPr>
              <a:t>Alternative sources of energy</a:t>
            </a:r>
          </a:p>
        </p:txBody>
      </p:sp>
      <p:sp>
        <p:nvSpPr>
          <p:cNvPr id="3" name="Subtitle 2"/>
          <p:cNvSpPr>
            <a:spLocks noGrp="1"/>
          </p:cNvSpPr>
          <p:nvPr>
            <p:ph type="subTitle" idx="1"/>
          </p:nvPr>
        </p:nvSpPr>
        <p:spPr>
          <a:xfrm>
            <a:off x="190500" y="1256522"/>
            <a:ext cx="8610600" cy="5254690"/>
          </a:xfrm>
        </p:spPr>
        <p:txBody>
          <a:bodyPr rtlCol="0">
            <a:normAutofit lnSpcReduction="10000"/>
          </a:bodyPr>
          <a:lstStyle/>
          <a:p>
            <a:pPr algn="just" eaLnBrk="1" fontAlgn="auto" hangingPunct="1">
              <a:spcAft>
                <a:spcPts val="0"/>
              </a:spcAft>
              <a:buFont typeface="Arial" pitchFamily="34" charset="0"/>
              <a:buNone/>
              <a:defRPr/>
            </a:pPr>
            <a:r>
              <a:rPr lang="en-US" sz="2400" b="1" dirty="0">
                <a:solidFill>
                  <a:schemeClr val="tx1"/>
                </a:solidFill>
                <a:latin typeface="Garamond" pitchFamily="18" charset="0"/>
              </a:rPr>
              <a:t>-that can be used as a replacement for fossil fuel</a:t>
            </a:r>
          </a:p>
          <a:p>
            <a:pPr algn="just" eaLnBrk="1" fontAlgn="auto" hangingPunct="1">
              <a:spcAft>
                <a:spcPts val="0"/>
              </a:spcAft>
              <a:buFontTx/>
              <a:buChar char="-"/>
              <a:defRPr/>
            </a:pPr>
            <a:r>
              <a:rPr lang="en-US" sz="2400" b="1" dirty="0">
                <a:solidFill>
                  <a:schemeClr val="tx1"/>
                </a:solidFill>
                <a:latin typeface="Garamond" pitchFamily="18" charset="0"/>
              </a:rPr>
              <a:t> renewable source of energy</a:t>
            </a:r>
          </a:p>
          <a:p>
            <a:pPr algn="just" eaLnBrk="1" fontAlgn="auto" hangingPunct="1">
              <a:spcAft>
                <a:spcPts val="0"/>
              </a:spcAft>
              <a:buFontTx/>
              <a:buChar char="-"/>
              <a:defRPr/>
            </a:pPr>
            <a:r>
              <a:rPr lang="en-US" sz="2400" b="1" dirty="0">
                <a:solidFill>
                  <a:schemeClr val="tx1"/>
                </a:solidFill>
                <a:latin typeface="Garamond" pitchFamily="18" charset="0"/>
              </a:rPr>
              <a:t> also sustainable source of energy which means people will be able to use them long after fossil fuels have run out.</a:t>
            </a:r>
          </a:p>
          <a:p>
            <a:pPr algn="just" eaLnBrk="1" fontAlgn="auto" hangingPunct="1">
              <a:spcAft>
                <a:spcPts val="0"/>
              </a:spcAft>
              <a:buFont typeface="Arial" pitchFamily="34" charset="0"/>
              <a:buNone/>
              <a:defRPr/>
            </a:pPr>
            <a:r>
              <a:rPr lang="en-US" sz="2400" b="1" dirty="0">
                <a:solidFill>
                  <a:schemeClr val="tx1"/>
                </a:solidFill>
                <a:latin typeface="Garamond" pitchFamily="18" charset="0"/>
              </a:rPr>
              <a:t>Advantages</a:t>
            </a:r>
          </a:p>
          <a:p>
            <a:pPr lvl="1" algn="just" eaLnBrk="1" fontAlgn="auto" hangingPunct="1">
              <a:spcAft>
                <a:spcPts val="0"/>
              </a:spcAft>
              <a:buFont typeface="Arial" pitchFamily="34" charset="0"/>
              <a:buNone/>
              <a:defRPr/>
            </a:pPr>
            <a:r>
              <a:rPr lang="en-US" sz="2400" b="1" dirty="0">
                <a:solidFill>
                  <a:schemeClr val="tx1"/>
                </a:solidFill>
                <a:latin typeface="Garamond" pitchFamily="18" charset="0"/>
              </a:rPr>
              <a:t>Always available</a:t>
            </a:r>
          </a:p>
          <a:p>
            <a:pPr lvl="1" algn="just" eaLnBrk="1" fontAlgn="auto" hangingPunct="1">
              <a:spcAft>
                <a:spcPts val="0"/>
              </a:spcAft>
              <a:buFont typeface="Arial" pitchFamily="34" charset="0"/>
              <a:buNone/>
              <a:defRPr/>
            </a:pPr>
            <a:r>
              <a:rPr lang="en-US" sz="2400" b="1" dirty="0">
                <a:solidFill>
                  <a:schemeClr val="tx1"/>
                </a:solidFill>
                <a:latin typeface="Garamond" pitchFamily="18" charset="0"/>
              </a:rPr>
              <a:t>No carbon emissions</a:t>
            </a:r>
          </a:p>
          <a:p>
            <a:pPr lvl="1" algn="just" eaLnBrk="1" fontAlgn="auto" hangingPunct="1">
              <a:spcAft>
                <a:spcPts val="0"/>
              </a:spcAft>
              <a:buFont typeface="Arial" pitchFamily="34" charset="0"/>
              <a:buNone/>
              <a:defRPr/>
            </a:pPr>
            <a:r>
              <a:rPr lang="en-US" sz="2400" b="1" dirty="0">
                <a:solidFill>
                  <a:schemeClr val="tx1"/>
                </a:solidFill>
                <a:latin typeface="Garamond" pitchFamily="18" charset="0"/>
              </a:rPr>
              <a:t>Clean: no local air or water pollution</a:t>
            </a:r>
          </a:p>
          <a:p>
            <a:pPr lvl="1" algn="just" eaLnBrk="1" fontAlgn="auto" hangingPunct="1">
              <a:spcAft>
                <a:spcPts val="0"/>
              </a:spcAft>
              <a:buFont typeface="Arial" pitchFamily="34" charset="0"/>
              <a:buNone/>
              <a:defRPr/>
            </a:pPr>
            <a:r>
              <a:rPr lang="en-US" sz="2400" b="1" dirty="0">
                <a:solidFill>
                  <a:schemeClr val="tx1"/>
                </a:solidFill>
                <a:latin typeface="Garamond" pitchFamily="18" charset="0"/>
              </a:rPr>
              <a:t>Locally available</a:t>
            </a:r>
          </a:p>
          <a:p>
            <a:pPr algn="just" eaLnBrk="1" fontAlgn="auto" hangingPunct="1">
              <a:spcAft>
                <a:spcPts val="0"/>
              </a:spcAft>
              <a:buFont typeface="Arial" pitchFamily="34" charset="0"/>
              <a:buNone/>
              <a:defRPr/>
            </a:pPr>
            <a:r>
              <a:rPr lang="en-US" sz="2400" b="1" dirty="0">
                <a:solidFill>
                  <a:schemeClr val="tx1"/>
                </a:solidFill>
                <a:latin typeface="Garamond" pitchFamily="18" charset="0"/>
              </a:rPr>
              <a:t>Disadvantages</a:t>
            </a:r>
          </a:p>
          <a:p>
            <a:pPr lvl="1" algn="just" eaLnBrk="1" fontAlgn="auto" hangingPunct="1">
              <a:spcAft>
                <a:spcPts val="0"/>
              </a:spcAft>
              <a:buFont typeface="Arial" pitchFamily="34" charset="0"/>
              <a:buNone/>
              <a:defRPr/>
            </a:pPr>
            <a:r>
              <a:rPr lang="en-US" sz="2400" b="1" dirty="0">
                <a:solidFill>
                  <a:schemeClr val="tx1"/>
                </a:solidFill>
                <a:latin typeface="Garamond" pitchFamily="18" charset="0"/>
              </a:rPr>
              <a:t>High cost of research for new technology</a:t>
            </a:r>
          </a:p>
          <a:p>
            <a:pPr lvl="1" algn="just" eaLnBrk="1" fontAlgn="auto" hangingPunct="1">
              <a:spcAft>
                <a:spcPts val="0"/>
              </a:spcAft>
              <a:buFont typeface="Arial" pitchFamily="34" charset="0"/>
              <a:buNone/>
              <a:defRPr/>
            </a:pPr>
            <a:r>
              <a:rPr lang="en-US" sz="2400" b="1" dirty="0">
                <a:solidFill>
                  <a:schemeClr val="tx1"/>
                </a:solidFill>
                <a:latin typeface="Garamond" pitchFamily="18" charset="0"/>
              </a:rPr>
              <a:t>Too expensive for poor countries to set up and use</a:t>
            </a:r>
          </a:p>
          <a:p>
            <a:pPr lvl="1" algn="just" eaLnBrk="1" fontAlgn="auto" hangingPunct="1">
              <a:spcAft>
                <a:spcPts val="0"/>
              </a:spcAft>
              <a:buFont typeface="Arial" pitchFamily="34" charset="0"/>
              <a:buNone/>
              <a:defRPr/>
            </a:pPr>
            <a:r>
              <a:rPr lang="en-US" sz="2400" b="1" dirty="0">
                <a:solidFill>
                  <a:schemeClr val="tx1"/>
                </a:solidFill>
                <a:latin typeface="Garamond" pitchFamily="18" charset="0"/>
              </a:rPr>
              <a:t>Wind turbines are noisy and can spoil the natural beauty of a place</a:t>
            </a:r>
          </a:p>
          <a:p>
            <a:pPr lvl="1" algn="just" eaLnBrk="1" fontAlgn="auto" hangingPunct="1">
              <a:spcAft>
                <a:spcPts val="0"/>
              </a:spcAft>
              <a:buFont typeface="Arial" pitchFamily="34" charset="0"/>
              <a:buNone/>
              <a:defRPr/>
            </a:pPr>
            <a:r>
              <a:rPr lang="en-US" sz="2400" b="1" dirty="0">
                <a:solidFill>
                  <a:schemeClr val="tx1"/>
                </a:solidFill>
                <a:latin typeface="Garamond" pitchFamily="18" charset="0"/>
              </a:rPr>
              <a:t>Weather disturbance</a:t>
            </a:r>
          </a:p>
          <a:p>
            <a:pPr algn="just" eaLnBrk="1" fontAlgn="auto" hangingPunct="1">
              <a:spcAft>
                <a:spcPts val="0"/>
              </a:spcAft>
              <a:buFontTx/>
              <a:buChar char="-"/>
              <a:defRPr/>
            </a:pPr>
            <a:endParaRPr lang="en-US" sz="2400" b="1" dirty="0">
              <a:solidFill>
                <a:schemeClr val="tx1"/>
              </a:solidFill>
              <a:latin typeface="Garamond" pitchFamily="18" charset="0"/>
            </a:endParaRPr>
          </a:p>
          <a:p>
            <a:pPr algn="just" eaLnBrk="1" fontAlgn="auto" hangingPunct="1">
              <a:spcAft>
                <a:spcPts val="0"/>
              </a:spcAft>
              <a:buFont typeface="Garamond" pitchFamily="18" charset="0"/>
              <a:buChar char="●"/>
              <a:defRPr/>
            </a:pPr>
            <a:endParaRPr lang="en-US" sz="2000" b="1" dirty="0">
              <a:solidFill>
                <a:schemeClr val="tx1"/>
              </a:solidFill>
              <a:latin typeface="Garamond"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fade">
                                      <p:cBhvr>
                                        <p:cTn id="26" dur="1000"/>
                                        <p:tgtEl>
                                          <p:spTgt spid="3">
                                            <p:txEl>
                                              <p:pRg st="2" end="2"/>
                                            </p:txEl>
                                          </p:spTgt>
                                        </p:tgtEl>
                                      </p:cBhvr>
                                    </p:animEffect>
                                    <p:anim calcmode="lin" valueType="num">
                                      <p:cBhvr>
                                        <p:cTn id="27"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animEffect transition="in" filter="fade">
                                      <p:cBhvr>
                                        <p:cTn id="33" dur="1000"/>
                                        <p:tgtEl>
                                          <p:spTgt spid="3">
                                            <p:txEl>
                                              <p:pRg st="3" end="3"/>
                                            </p:txEl>
                                          </p:spTgt>
                                        </p:tgtEl>
                                      </p:cBhvr>
                                    </p:animEffect>
                                    <p:anim calcmode="lin" valueType="num">
                                      <p:cBhvr>
                                        <p:cTn id="34"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3" end="3"/>
                                            </p:txEl>
                                          </p:spTgt>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3">
                                            <p:txEl>
                                              <p:pRg st="4" end="4"/>
                                            </p:txEl>
                                          </p:spTgt>
                                        </p:tgtEl>
                                        <p:attrNameLst>
                                          <p:attrName>style.visibility</p:attrName>
                                        </p:attrNameLst>
                                      </p:cBhvr>
                                      <p:to>
                                        <p:strVal val="visible"/>
                                      </p:to>
                                    </p:set>
                                    <p:animEffect transition="in" filter="fade">
                                      <p:cBhvr>
                                        <p:cTn id="38" dur="1000"/>
                                        <p:tgtEl>
                                          <p:spTgt spid="3">
                                            <p:txEl>
                                              <p:pRg st="4" end="4"/>
                                            </p:txEl>
                                          </p:spTgt>
                                        </p:tgtEl>
                                      </p:cBhvr>
                                    </p:animEffect>
                                    <p:anim calcmode="lin" valueType="num">
                                      <p:cBhvr>
                                        <p:cTn id="3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0" dur="1000" fill="hold"/>
                                        <p:tgtEl>
                                          <p:spTgt spid="3">
                                            <p:txEl>
                                              <p:pRg st="4" end="4"/>
                                            </p:txEl>
                                          </p:spTgt>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3">
                                            <p:txEl>
                                              <p:pRg st="5" end="5"/>
                                            </p:txEl>
                                          </p:spTgt>
                                        </p:tgtEl>
                                        <p:attrNameLst>
                                          <p:attrName>style.visibility</p:attrName>
                                        </p:attrNameLst>
                                      </p:cBhvr>
                                      <p:to>
                                        <p:strVal val="visible"/>
                                      </p:to>
                                    </p:set>
                                    <p:animEffect transition="in" filter="fade">
                                      <p:cBhvr>
                                        <p:cTn id="43" dur="1000"/>
                                        <p:tgtEl>
                                          <p:spTgt spid="3">
                                            <p:txEl>
                                              <p:pRg st="5" end="5"/>
                                            </p:txEl>
                                          </p:spTgt>
                                        </p:tgtEl>
                                      </p:cBhvr>
                                    </p:animEffect>
                                    <p:anim calcmode="lin" valueType="num">
                                      <p:cBhvr>
                                        <p:cTn id="44"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5" dur="1000" fill="hold"/>
                                        <p:tgtEl>
                                          <p:spTgt spid="3">
                                            <p:txEl>
                                              <p:pRg st="5" end="5"/>
                                            </p:txEl>
                                          </p:spTgt>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3">
                                            <p:txEl>
                                              <p:pRg st="6" end="6"/>
                                            </p:txEl>
                                          </p:spTgt>
                                        </p:tgtEl>
                                        <p:attrNameLst>
                                          <p:attrName>style.visibility</p:attrName>
                                        </p:attrNameLst>
                                      </p:cBhvr>
                                      <p:to>
                                        <p:strVal val="visible"/>
                                      </p:to>
                                    </p:set>
                                    <p:animEffect transition="in" filter="fade">
                                      <p:cBhvr>
                                        <p:cTn id="48" dur="1000"/>
                                        <p:tgtEl>
                                          <p:spTgt spid="3">
                                            <p:txEl>
                                              <p:pRg st="6" end="6"/>
                                            </p:txEl>
                                          </p:spTgt>
                                        </p:tgtEl>
                                      </p:cBhvr>
                                    </p:animEffect>
                                    <p:anim calcmode="lin" valueType="num">
                                      <p:cBhvr>
                                        <p:cTn id="49"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0" dur="1000" fill="hold"/>
                                        <p:tgtEl>
                                          <p:spTgt spid="3">
                                            <p:txEl>
                                              <p:pRg st="6" end="6"/>
                                            </p:txEl>
                                          </p:spTgt>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3">
                                            <p:txEl>
                                              <p:pRg st="7" end="7"/>
                                            </p:txEl>
                                          </p:spTgt>
                                        </p:tgtEl>
                                        <p:attrNameLst>
                                          <p:attrName>style.visibility</p:attrName>
                                        </p:attrNameLst>
                                      </p:cBhvr>
                                      <p:to>
                                        <p:strVal val="visible"/>
                                      </p:to>
                                    </p:set>
                                    <p:animEffect transition="in" filter="fade">
                                      <p:cBhvr>
                                        <p:cTn id="53" dur="1000"/>
                                        <p:tgtEl>
                                          <p:spTgt spid="3">
                                            <p:txEl>
                                              <p:pRg st="7" end="7"/>
                                            </p:txEl>
                                          </p:spTgt>
                                        </p:tgtEl>
                                      </p:cBhvr>
                                    </p:animEffect>
                                    <p:anim calcmode="lin" valueType="num">
                                      <p:cBhvr>
                                        <p:cTn id="54"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5"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grpId="0" nodeType="clickEffect">
                                  <p:stCondLst>
                                    <p:cond delay="0"/>
                                  </p:stCondLst>
                                  <p:childTnLst>
                                    <p:set>
                                      <p:cBhvr>
                                        <p:cTn id="59" dur="1" fill="hold">
                                          <p:stCondLst>
                                            <p:cond delay="0"/>
                                          </p:stCondLst>
                                        </p:cTn>
                                        <p:tgtEl>
                                          <p:spTgt spid="3">
                                            <p:txEl>
                                              <p:pRg st="8" end="8"/>
                                            </p:txEl>
                                          </p:spTgt>
                                        </p:tgtEl>
                                        <p:attrNameLst>
                                          <p:attrName>style.visibility</p:attrName>
                                        </p:attrNameLst>
                                      </p:cBhvr>
                                      <p:to>
                                        <p:strVal val="visible"/>
                                      </p:to>
                                    </p:set>
                                    <p:animEffect transition="in" filter="fade">
                                      <p:cBhvr>
                                        <p:cTn id="60" dur="1000"/>
                                        <p:tgtEl>
                                          <p:spTgt spid="3">
                                            <p:txEl>
                                              <p:pRg st="8" end="8"/>
                                            </p:txEl>
                                          </p:spTgt>
                                        </p:tgtEl>
                                      </p:cBhvr>
                                    </p:animEffect>
                                    <p:anim calcmode="lin" valueType="num">
                                      <p:cBhvr>
                                        <p:cTn id="61"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2" dur="1000" fill="hold"/>
                                        <p:tgtEl>
                                          <p:spTgt spid="3">
                                            <p:txEl>
                                              <p:pRg st="8" end="8"/>
                                            </p:txEl>
                                          </p:spTgt>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3">
                                            <p:txEl>
                                              <p:pRg st="9" end="9"/>
                                            </p:txEl>
                                          </p:spTgt>
                                        </p:tgtEl>
                                        <p:attrNameLst>
                                          <p:attrName>style.visibility</p:attrName>
                                        </p:attrNameLst>
                                      </p:cBhvr>
                                      <p:to>
                                        <p:strVal val="visible"/>
                                      </p:to>
                                    </p:set>
                                    <p:animEffect transition="in" filter="fade">
                                      <p:cBhvr>
                                        <p:cTn id="65" dur="1000"/>
                                        <p:tgtEl>
                                          <p:spTgt spid="3">
                                            <p:txEl>
                                              <p:pRg st="9" end="9"/>
                                            </p:txEl>
                                          </p:spTgt>
                                        </p:tgtEl>
                                      </p:cBhvr>
                                    </p:animEffect>
                                    <p:anim calcmode="lin" valueType="num">
                                      <p:cBhvr>
                                        <p:cTn id="66"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67" dur="1000" fill="hold"/>
                                        <p:tgtEl>
                                          <p:spTgt spid="3">
                                            <p:txEl>
                                              <p:pRg st="9" end="9"/>
                                            </p:txEl>
                                          </p:spTgt>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0"/>
                                  </p:stCondLst>
                                  <p:childTnLst>
                                    <p:set>
                                      <p:cBhvr>
                                        <p:cTn id="69" dur="1" fill="hold">
                                          <p:stCondLst>
                                            <p:cond delay="0"/>
                                          </p:stCondLst>
                                        </p:cTn>
                                        <p:tgtEl>
                                          <p:spTgt spid="3">
                                            <p:txEl>
                                              <p:pRg st="10" end="10"/>
                                            </p:txEl>
                                          </p:spTgt>
                                        </p:tgtEl>
                                        <p:attrNameLst>
                                          <p:attrName>style.visibility</p:attrName>
                                        </p:attrNameLst>
                                      </p:cBhvr>
                                      <p:to>
                                        <p:strVal val="visible"/>
                                      </p:to>
                                    </p:set>
                                    <p:animEffect transition="in" filter="fade">
                                      <p:cBhvr>
                                        <p:cTn id="70" dur="1000"/>
                                        <p:tgtEl>
                                          <p:spTgt spid="3">
                                            <p:txEl>
                                              <p:pRg st="10" end="10"/>
                                            </p:txEl>
                                          </p:spTgt>
                                        </p:tgtEl>
                                      </p:cBhvr>
                                    </p:animEffect>
                                    <p:anim calcmode="lin" valueType="num">
                                      <p:cBhvr>
                                        <p:cTn id="71"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72" dur="1000" fill="hold"/>
                                        <p:tgtEl>
                                          <p:spTgt spid="3">
                                            <p:txEl>
                                              <p:pRg st="10" end="10"/>
                                            </p:txEl>
                                          </p:spTgt>
                                        </p:tgtEl>
                                        <p:attrNameLst>
                                          <p:attrName>ppt_y</p:attrName>
                                        </p:attrNameLst>
                                      </p:cBhvr>
                                      <p:tavLst>
                                        <p:tav tm="0">
                                          <p:val>
                                            <p:strVal val="#ppt_y+.1"/>
                                          </p:val>
                                        </p:tav>
                                        <p:tav tm="100000">
                                          <p:val>
                                            <p:strVal val="#ppt_y"/>
                                          </p:val>
                                        </p:tav>
                                      </p:tavLst>
                                    </p:anim>
                                  </p:childTnLst>
                                </p:cTn>
                              </p:par>
                              <p:par>
                                <p:cTn id="73" presetID="42" presetClass="entr" presetSubtype="0" fill="hold" grpId="0" nodeType="withEffect">
                                  <p:stCondLst>
                                    <p:cond delay="0"/>
                                  </p:stCondLst>
                                  <p:childTnLst>
                                    <p:set>
                                      <p:cBhvr>
                                        <p:cTn id="74" dur="1" fill="hold">
                                          <p:stCondLst>
                                            <p:cond delay="0"/>
                                          </p:stCondLst>
                                        </p:cTn>
                                        <p:tgtEl>
                                          <p:spTgt spid="3">
                                            <p:txEl>
                                              <p:pRg st="11" end="11"/>
                                            </p:txEl>
                                          </p:spTgt>
                                        </p:tgtEl>
                                        <p:attrNameLst>
                                          <p:attrName>style.visibility</p:attrName>
                                        </p:attrNameLst>
                                      </p:cBhvr>
                                      <p:to>
                                        <p:strVal val="visible"/>
                                      </p:to>
                                    </p:set>
                                    <p:animEffect transition="in" filter="fade">
                                      <p:cBhvr>
                                        <p:cTn id="75" dur="1000"/>
                                        <p:tgtEl>
                                          <p:spTgt spid="3">
                                            <p:txEl>
                                              <p:pRg st="11" end="11"/>
                                            </p:txEl>
                                          </p:spTgt>
                                        </p:tgtEl>
                                      </p:cBhvr>
                                    </p:animEffect>
                                    <p:anim calcmode="lin" valueType="num">
                                      <p:cBhvr>
                                        <p:cTn id="76"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77" dur="1000" fill="hold"/>
                                        <p:tgtEl>
                                          <p:spTgt spid="3">
                                            <p:txEl>
                                              <p:pRg st="11" end="11"/>
                                            </p:txEl>
                                          </p:spTgt>
                                        </p:tgtEl>
                                        <p:attrNameLst>
                                          <p:attrName>ppt_y</p:attrName>
                                        </p:attrNameLst>
                                      </p:cBhvr>
                                      <p:tavLst>
                                        <p:tav tm="0">
                                          <p:val>
                                            <p:strVal val="#ppt_y+.1"/>
                                          </p:val>
                                        </p:tav>
                                        <p:tav tm="100000">
                                          <p:val>
                                            <p:strVal val="#ppt_y"/>
                                          </p:val>
                                        </p:tav>
                                      </p:tavLst>
                                    </p:anim>
                                  </p:childTnLst>
                                </p:cTn>
                              </p:par>
                              <p:par>
                                <p:cTn id="78" presetID="42" presetClass="entr" presetSubtype="0" fill="hold" grpId="0" nodeType="withEffect">
                                  <p:stCondLst>
                                    <p:cond delay="0"/>
                                  </p:stCondLst>
                                  <p:childTnLst>
                                    <p:set>
                                      <p:cBhvr>
                                        <p:cTn id="79" dur="1" fill="hold">
                                          <p:stCondLst>
                                            <p:cond delay="0"/>
                                          </p:stCondLst>
                                        </p:cTn>
                                        <p:tgtEl>
                                          <p:spTgt spid="3">
                                            <p:txEl>
                                              <p:pRg st="12" end="12"/>
                                            </p:txEl>
                                          </p:spTgt>
                                        </p:tgtEl>
                                        <p:attrNameLst>
                                          <p:attrName>style.visibility</p:attrName>
                                        </p:attrNameLst>
                                      </p:cBhvr>
                                      <p:to>
                                        <p:strVal val="visible"/>
                                      </p:to>
                                    </p:set>
                                    <p:animEffect transition="in" filter="fade">
                                      <p:cBhvr>
                                        <p:cTn id="80" dur="1000"/>
                                        <p:tgtEl>
                                          <p:spTgt spid="3">
                                            <p:txEl>
                                              <p:pRg st="12" end="12"/>
                                            </p:txEl>
                                          </p:spTgt>
                                        </p:tgtEl>
                                      </p:cBhvr>
                                    </p:animEffect>
                                    <p:anim calcmode="lin" valueType="num">
                                      <p:cBhvr>
                                        <p:cTn id="81"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82" dur="1000" fill="hold"/>
                                        <p:tgtEl>
                                          <p:spTgt spid="3">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Subtitle 2"/>
          <p:cNvSpPr>
            <a:spLocks noGrp="1"/>
          </p:cNvSpPr>
          <p:nvPr>
            <p:ph type="subTitle" idx="1"/>
          </p:nvPr>
        </p:nvSpPr>
        <p:spPr>
          <a:xfrm>
            <a:off x="304800" y="152400"/>
            <a:ext cx="8458200" cy="2895600"/>
          </a:xfrm>
        </p:spPr>
        <p:txBody>
          <a:bodyPr>
            <a:normAutofit/>
          </a:bodyPr>
          <a:lstStyle/>
          <a:p>
            <a:pPr algn="just" eaLnBrk="1" hangingPunct="1">
              <a:buFont typeface="Garamond" pitchFamily="18" charset="0"/>
              <a:buChar char="●"/>
            </a:pPr>
            <a:r>
              <a:rPr lang="en-US" sz="2400" b="1" u="sng" dirty="0">
                <a:solidFill>
                  <a:schemeClr val="tx1"/>
                </a:solidFill>
                <a:latin typeface="Garamond" pitchFamily="18" charset="0"/>
              </a:rPr>
              <a:t>Hydroelectric power:</a:t>
            </a:r>
          </a:p>
          <a:p>
            <a:pPr algn="just" eaLnBrk="1" hangingPunct="1">
              <a:buFontTx/>
              <a:buChar char="-"/>
            </a:pPr>
            <a:r>
              <a:rPr lang="en-US" sz="2400" b="1" dirty="0">
                <a:solidFill>
                  <a:schemeClr val="tx1"/>
                </a:solidFill>
                <a:latin typeface="Garamond" pitchFamily="18" charset="0"/>
              </a:rPr>
              <a:t> is in most widespread use</a:t>
            </a:r>
          </a:p>
          <a:p>
            <a:pPr algn="just" eaLnBrk="1" hangingPunct="1">
              <a:buFontTx/>
              <a:buChar char="-"/>
            </a:pPr>
            <a:r>
              <a:rPr lang="en-US" sz="2400" b="1" dirty="0">
                <a:solidFill>
                  <a:schemeClr val="tx1"/>
                </a:solidFill>
                <a:latin typeface="Garamond" pitchFamily="18" charset="0"/>
              </a:rPr>
              <a:t> fast running water drives the turbines that work the generators &amp; produce electricity</a:t>
            </a:r>
          </a:p>
          <a:p>
            <a:pPr algn="just" eaLnBrk="1" hangingPunct="1">
              <a:buFontTx/>
              <a:buChar char="-"/>
            </a:pPr>
            <a:r>
              <a:rPr lang="en-US" sz="2400" b="1" dirty="0">
                <a:solidFill>
                  <a:schemeClr val="tx1"/>
                </a:solidFill>
                <a:latin typeface="Garamond" pitchFamily="18" charset="0"/>
              </a:rPr>
              <a:t> the greater the force &amp; amount of water, the greater the amount of electricity produced</a:t>
            </a:r>
          </a:p>
          <a:p>
            <a:pPr eaLnBrk="1" hangingPunct="1"/>
            <a:endParaRPr lang="en-US" b="1" dirty="0">
              <a:solidFill>
                <a:schemeClr val="tx1"/>
              </a:solidFill>
            </a:endParaRPr>
          </a:p>
        </p:txBody>
      </p:sp>
      <p:pic>
        <p:nvPicPr>
          <p:cNvPr id="3" name="Picture 2" descr="D:\ENV 103 SGR\my slides\hydro electric power 2 .jpg"/>
          <p:cNvPicPr>
            <a:picLocks noChangeAspect="1" noChangeArrowheads="1"/>
          </p:cNvPicPr>
          <p:nvPr/>
        </p:nvPicPr>
        <p:blipFill>
          <a:blip r:embed="rId3"/>
          <a:srcRect/>
          <a:stretch>
            <a:fillRect/>
          </a:stretch>
        </p:blipFill>
        <p:spPr bwMode="auto">
          <a:xfrm>
            <a:off x="228600" y="2667000"/>
            <a:ext cx="4656138" cy="3733800"/>
          </a:xfrm>
          <a:prstGeom prst="rect">
            <a:avLst/>
          </a:prstGeom>
          <a:noFill/>
          <a:ln w="9525">
            <a:noFill/>
            <a:miter lim="800000"/>
            <a:headEnd/>
            <a:tailEnd/>
          </a:ln>
        </p:spPr>
      </p:pic>
      <p:pic>
        <p:nvPicPr>
          <p:cNvPr id="4" name="Picture 3" descr="D:\ENV 103 SGR\my slides\hydro.jpg"/>
          <p:cNvPicPr>
            <a:picLocks noChangeAspect="1" noChangeArrowheads="1"/>
          </p:cNvPicPr>
          <p:nvPr/>
        </p:nvPicPr>
        <p:blipFill>
          <a:blip r:embed="rId4"/>
          <a:srcRect/>
          <a:stretch>
            <a:fillRect/>
          </a:stretch>
        </p:blipFill>
        <p:spPr bwMode="auto">
          <a:xfrm>
            <a:off x="5008562" y="2667000"/>
            <a:ext cx="3906838" cy="3581400"/>
          </a:xfrm>
          <a:prstGeom prst="rect">
            <a:avLst/>
          </a:prstGeom>
          <a:noFill/>
          <a:ln w="9525">
            <a:noFill/>
            <a:miter lim="800000"/>
            <a:headEnd/>
            <a:tailEnd/>
          </a:ln>
        </p:spPr>
      </p:pic>
      <p:sp>
        <p:nvSpPr>
          <p:cNvPr id="5" name="Rectangle 4"/>
          <p:cNvSpPr/>
          <p:nvPr/>
        </p:nvSpPr>
        <p:spPr>
          <a:xfrm>
            <a:off x="2819400" y="6412468"/>
            <a:ext cx="2857192" cy="369332"/>
          </a:xfrm>
          <a:prstGeom prst="rect">
            <a:avLst/>
          </a:prstGeom>
        </p:spPr>
        <p:txBody>
          <a:bodyPr wrap="none">
            <a:spAutoFit/>
          </a:bodyPr>
          <a:lstStyle/>
          <a:p>
            <a:r>
              <a:rPr lang="en-US" b="1" dirty="0"/>
              <a:t>Hydroelectric Power Station</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animEffect transition="in" filter="fade">
                                      <p:cBhvr>
                                        <p:cTn id="7" dur="1000"/>
                                        <p:tgtEl>
                                          <p:spTgt spid="27651">
                                            <p:txEl>
                                              <p:pRg st="0" end="0"/>
                                            </p:txEl>
                                          </p:spTgt>
                                        </p:tgtEl>
                                      </p:cBhvr>
                                    </p:animEffect>
                                    <p:anim calcmode="lin" valueType="num">
                                      <p:cBhvr>
                                        <p:cTn id="8" dur="1000" fill="hold"/>
                                        <p:tgtEl>
                                          <p:spTgt spid="2765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765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7651">
                                            <p:txEl>
                                              <p:pRg st="1" end="1"/>
                                            </p:txEl>
                                          </p:spTgt>
                                        </p:tgtEl>
                                        <p:attrNameLst>
                                          <p:attrName>style.visibility</p:attrName>
                                        </p:attrNameLst>
                                      </p:cBhvr>
                                      <p:to>
                                        <p:strVal val="visible"/>
                                      </p:to>
                                    </p:set>
                                    <p:animEffect transition="in" filter="fade">
                                      <p:cBhvr>
                                        <p:cTn id="14" dur="1000"/>
                                        <p:tgtEl>
                                          <p:spTgt spid="27651">
                                            <p:txEl>
                                              <p:pRg st="1" end="1"/>
                                            </p:txEl>
                                          </p:spTgt>
                                        </p:tgtEl>
                                      </p:cBhvr>
                                    </p:animEffect>
                                    <p:anim calcmode="lin" valueType="num">
                                      <p:cBhvr>
                                        <p:cTn id="15" dur="1000" fill="hold"/>
                                        <p:tgtEl>
                                          <p:spTgt spid="27651">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765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7651">
                                            <p:txEl>
                                              <p:pRg st="2" end="2"/>
                                            </p:txEl>
                                          </p:spTgt>
                                        </p:tgtEl>
                                        <p:attrNameLst>
                                          <p:attrName>style.visibility</p:attrName>
                                        </p:attrNameLst>
                                      </p:cBhvr>
                                      <p:to>
                                        <p:strVal val="visible"/>
                                      </p:to>
                                    </p:set>
                                    <p:animEffect transition="in" filter="fade">
                                      <p:cBhvr>
                                        <p:cTn id="21" dur="1000"/>
                                        <p:tgtEl>
                                          <p:spTgt spid="27651">
                                            <p:txEl>
                                              <p:pRg st="2" end="2"/>
                                            </p:txEl>
                                          </p:spTgt>
                                        </p:tgtEl>
                                      </p:cBhvr>
                                    </p:animEffect>
                                    <p:anim calcmode="lin" valueType="num">
                                      <p:cBhvr>
                                        <p:cTn id="22" dur="1000" fill="hold"/>
                                        <p:tgtEl>
                                          <p:spTgt spid="27651">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7651">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7651">
                                            <p:txEl>
                                              <p:pRg st="3" end="3"/>
                                            </p:txEl>
                                          </p:spTgt>
                                        </p:tgtEl>
                                        <p:attrNameLst>
                                          <p:attrName>style.visibility</p:attrName>
                                        </p:attrNameLst>
                                      </p:cBhvr>
                                      <p:to>
                                        <p:strVal val="visible"/>
                                      </p:to>
                                    </p:set>
                                    <p:animEffect transition="in" filter="fade">
                                      <p:cBhvr>
                                        <p:cTn id="28" dur="1000"/>
                                        <p:tgtEl>
                                          <p:spTgt spid="27651">
                                            <p:txEl>
                                              <p:pRg st="3" end="3"/>
                                            </p:txEl>
                                          </p:spTgt>
                                        </p:tgtEl>
                                      </p:cBhvr>
                                    </p:animEffect>
                                    <p:anim calcmode="lin" valueType="num">
                                      <p:cBhvr>
                                        <p:cTn id="29" dur="1000" fill="hold"/>
                                        <p:tgtEl>
                                          <p:spTgt spid="27651">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7651">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nodeType="click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barn(inVertical)">
                                      <p:cBhvr>
                                        <p:cTn id="35" dur="500"/>
                                        <p:tgtEl>
                                          <p:spTgt spid="3"/>
                                        </p:tgtEl>
                                      </p:cBhvr>
                                    </p:animEffect>
                                  </p:childTnLst>
                                </p:cTn>
                              </p:par>
                              <p:par>
                                <p:cTn id="36" presetID="16" presetClass="entr" presetSubtype="21" fill="hold" nodeType="with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barn(inVertical)">
                                      <p:cBhvr>
                                        <p:cTn id="38" dur="500"/>
                                        <p:tgtEl>
                                          <p:spTgt spid="4"/>
                                        </p:tgtEl>
                                      </p:cBhvr>
                                    </p:animEffect>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fade">
                                      <p:cBhvr>
                                        <p:cTn id="43" dur="1000"/>
                                        <p:tgtEl>
                                          <p:spTgt spid="5"/>
                                        </p:tgtEl>
                                      </p:cBhvr>
                                    </p:animEffect>
                                    <p:anim calcmode="lin" valueType="num">
                                      <p:cBhvr>
                                        <p:cTn id="44" dur="1000" fill="hold"/>
                                        <p:tgtEl>
                                          <p:spTgt spid="5"/>
                                        </p:tgtEl>
                                        <p:attrNameLst>
                                          <p:attrName>ppt_x</p:attrName>
                                        </p:attrNameLst>
                                      </p:cBhvr>
                                      <p:tavLst>
                                        <p:tav tm="0">
                                          <p:val>
                                            <p:strVal val="#ppt_x"/>
                                          </p:val>
                                        </p:tav>
                                        <p:tav tm="100000">
                                          <p:val>
                                            <p:strVal val="#ppt_x"/>
                                          </p:val>
                                        </p:tav>
                                      </p:tavLst>
                                    </p:anim>
                                    <p:anim calcmode="lin" valueType="num">
                                      <p:cBhvr>
                                        <p:cTn id="4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Subtitle 2"/>
          <p:cNvSpPr>
            <a:spLocks noGrp="1"/>
          </p:cNvSpPr>
          <p:nvPr>
            <p:ph type="subTitle" idx="1"/>
          </p:nvPr>
        </p:nvSpPr>
        <p:spPr>
          <a:xfrm>
            <a:off x="304800" y="228600"/>
            <a:ext cx="8534400" cy="6324600"/>
          </a:xfrm>
        </p:spPr>
        <p:txBody>
          <a:bodyPr>
            <a:normAutofit/>
          </a:bodyPr>
          <a:lstStyle/>
          <a:p>
            <a:pPr algn="just" eaLnBrk="1" hangingPunct="1">
              <a:buFontTx/>
              <a:buChar char="-"/>
            </a:pPr>
            <a:endParaRPr lang="en-US" sz="2400" b="1" dirty="0">
              <a:solidFill>
                <a:schemeClr val="tx1"/>
              </a:solidFill>
              <a:latin typeface="Garamond" pitchFamily="18" charset="0"/>
            </a:endParaRPr>
          </a:p>
          <a:p>
            <a:pPr algn="just" eaLnBrk="1" hangingPunct="1">
              <a:buFontTx/>
              <a:buChar char="-"/>
            </a:pPr>
            <a:r>
              <a:rPr lang="en-US" sz="2400" b="1" dirty="0">
                <a:solidFill>
                  <a:schemeClr val="tx1"/>
                </a:solidFill>
                <a:latin typeface="Garamond" pitchFamily="18" charset="0"/>
              </a:rPr>
              <a:t> Certain favorable physical conditions are essential which include</a:t>
            </a:r>
          </a:p>
          <a:p>
            <a:pPr lvl="1" algn="just" eaLnBrk="1" hangingPunct="1"/>
            <a:r>
              <a:rPr lang="en-US" sz="2400" b="1" dirty="0">
                <a:solidFill>
                  <a:schemeClr val="tx1"/>
                </a:solidFill>
                <a:latin typeface="Garamond" pitchFamily="18" charset="0"/>
              </a:rPr>
              <a:t>fast flowing water (such as water fall)</a:t>
            </a:r>
          </a:p>
          <a:p>
            <a:pPr lvl="1" algn="just" eaLnBrk="1" hangingPunct="1"/>
            <a:r>
              <a:rPr lang="en-US" sz="2400" b="1" dirty="0">
                <a:solidFill>
                  <a:schemeClr val="tx1"/>
                </a:solidFill>
                <a:latin typeface="Garamond" pitchFamily="18" charset="0"/>
              </a:rPr>
              <a:t>High rainfall (preferably spread throughout the year)           </a:t>
            </a:r>
          </a:p>
          <a:p>
            <a:pPr lvl="1" algn="just" eaLnBrk="1" hangingPunct="1"/>
            <a:r>
              <a:rPr lang="en-US" sz="2400" b="1" dirty="0">
                <a:solidFill>
                  <a:schemeClr val="tx1"/>
                </a:solidFill>
                <a:latin typeface="Garamond" pitchFamily="18" charset="0"/>
              </a:rPr>
              <a:t>Natural store of water such as  a lake</a:t>
            </a:r>
          </a:p>
          <a:p>
            <a:pPr lvl="1" algn="just" eaLnBrk="1" hangingPunct="1"/>
            <a:r>
              <a:rPr lang="en-US" sz="2400" b="1" dirty="0">
                <a:solidFill>
                  <a:schemeClr val="tx1"/>
                </a:solidFill>
                <a:latin typeface="Garamond" pitchFamily="18" charset="0"/>
              </a:rPr>
              <a:t>Narrow deep valley suitable for building a dam &amp; making a reservoir</a:t>
            </a:r>
          </a:p>
          <a:p>
            <a:pPr lvl="1" algn="just" eaLnBrk="1" hangingPunct="1"/>
            <a:endParaRPr lang="en-US" sz="2400" b="1" dirty="0">
              <a:solidFill>
                <a:schemeClr val="tx1"/>
              </a:solidFill>
              <a:latin typeface="Garamond" pitchFamily="18" charset="0"/>
            </a:endParaRPr>
          </a:p>
          <a:p>
            <a:pPr algn="just" eaLnBrk="1" hangingPunct="1"/>
            <a:r>
              <a:rPr lang="en-US" sz="2400" b="1" dirty="0">
                <a:solidFill>
                  <a:schemeClr val="tx1"/>
                </a:solidFill>
                <a:latin typeface="Garamond" pitchFamily="18" charset="0"/>
              </a:rPr>
              <a:t>Advantage/Benefit: </a:t>
            </a:r>
          </a:p>
          <a:p>
            <a:pPr algn="just" eaLnBrk="1" hangingPunct="1"/>
            <a:r>
              <a:rPr lang="en-US" sz="2400" b="1" dirty="0">
                <a:solidFill>
                  <a:schemeClr val="tx1"/>
                </a:solidFill>
                <a:latin typeface="Garamond" pitchFamily="18" charset="0"/>
              </a:rPr>
              <a:t>- one of the cheapest ways of making electricity</a:t>
            </a:r>
          </a:p>
          <a:p>
            <a:pPr algn="just" eaLnBrk="1" hangingPunct="1">
              <a:buFontTx/>
              <a:buChar char="-"/>
            </a:pPr>
            <a:r>
              <a:rPr lang="en-US" sz="2400" b="1" dirty="0">
                <a:solidFill>
                  <a:schemeClr val="tx1"/>
                </a:solidFill>
                <a:latin typeface="Garamond" pitchFamily="18" charset="0"/>
              </a:rPr>
              <a:t> natural flow of water allows continuous generation of electricity without any pollution</a:t>
            </a:r>
          </a:p>
          <a:p>
            <a:pPr algn="just" eaLnBrk="1" hangingPunct="1">
              <a:buFontTx/>
              <a:buChar char="-"/>
            </a:pPr>
            <a:r>
              <a:rPr lang="en-US" sz="2400" b="1" dirty="0">
                <a:solidFill>
                  <a:schemeClr val="tx1"/>
                </a:solidFill>
                <a:latin typeface="Garamond" pitchFamily="18" charset="0"/>
              </a:rPr>
              <a:t> water is neither consumed nor contaminated, so can be used for other purposes e.g. drinking &amp; irrigation</a:t>
            </a:r>
          </a:p>
          <a:p>
            <a:pPr algn="just" eaLnBrk="1" hangingPunct="1"/>
            <a:endParaRPr lang="en-US" sz="2400" b="1" dirty="0">
              <a:solidFill>
                <a:schemeClr val="tx1"/>
              </a:solidFill>
              <a:latin typeface="Garamond" pitchFamily="18" charset="0"/>
            </a:endParaRPr>
          </a:p>
          <a:p>
            <a:pPr algn="just" eaLnBrk="1" hangingPunct="1">
              <a:buFontTx/>
              <a:buChar char="-"/>
            </a:pPr>
            <a:endParaRPr lang="en-US" sz="2400" b="1" dirty="0">
              <a:solidFill>
                <a:schemeClr val="tx1"/>
              </a:solidFill>
              <a:latin typeface="Garamond" pitchFamily="18" charset="0"/>
            </a:endParaRPr>
          </a:p>
          <a:p>
            <a:pPr algn="just" eaLnBrk="1" hangingPunct="1"/>
            <a:endParaRPr lang="en-US" sz="2400" b="1" dirty="0">
              <a:solidFill>
                <a:schemeClr val="tx1"/>
              </a:solidFill>
              <a:latin typeface="Garamond"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9699">
                                            <p:txEl>
                                              <p:pRg st="1" end="1"/>
                                            </p:txEl>
                                          </p:spTgt>
                                        </p:tgtEl>
                                        <p:attrNameLst>
                                          <p:attrName>style.visibility</p:attrName>
                                        </p:attrNameLst>
                                      </p:cBhvr>
                                      <p:to>
                                        <p:strVal val="visible"/>
                                      </p:to>
                                    </p:set>
                                    <p:animEffect transition="in" filter="fade">
                                      <p:cBhvr>
                                        <p:cTn id="7" dur="1000"/>
                                        <p:tgtEl>
                                          <p:spTgt spid="29699">
                                            <p:txEl>
                                              <p:pRg st="1" end="1"/>
                                            </p:txEl>
                                          </p:spTgt>
                                        </p:tgtEl>
                                      </p:cBhvr>
                                    </p:animEffect>
                                    <p:anim calcmode="lin" valueType="num">
                                      <p:cBhvr>
                                        <p:cTn id="8" dur="1000" fill="hold"/>
                                        <p:tgtEl>
                                          <p:spTgt spid="29699">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29699">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9699">
                                            <p:txEl>
                                              <p:pRg st="2" end="2"/>
                                            </p:txEl>
                                          </p:spTgt>
                                        </p:tgtEl>
                                        <p:attrNameLst>
                                          <p:attrName>style.visibility</p:attrName>
                                        </p:attrNameLst>
                                      </p:cBhvr>
                                      <p:to>
                                        <p:strVal val="visible"/>
                                      </p:to>
                                    </p:set>
                                    <p:animEffect transition="in" filter="fade">
                                      <p:cBhvr>
                                        <p:cTn id="12" dur="1000"/>
                                        <p:tgtEl>
                                          <p:spTgt spid="29699">
                                            <p:txEl>
                                              <p:pRg st="2" end="2"/>
                                            </p:txEl>
                                          </p:spTgt>
                                        </p:tgtEl>
                                      </p:cBhvr>
                                    </p:animEffect>
                                    <p:anim calcmode="lin" valueType="num">
                                      <p:cBhvr>
                                        <p:cTn id="13" dur="1000" fill="hold"/>
                                        <p:tgtEl>
                                          <p:spTgt spid="29699">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29699">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9699">
                                            <p:txEl>
                                              <p:pRg st="3" end="3"/>
                                            </p:txEl>
                                          </p:spTgt>
                                        </p:tgtEl>
                                        <p:attrNameLst>
                                          <p:attrName>style.visibility</p:attrName>
                                        </p:attrNameLst>
                                      </p:cBhvr>
                                      <p:to>
                                        <p:strVal val="visible"/>
                                      </p:to>
                                    </p:set>
                                    <p:animEffect transition="in" filter="fade">
                                      <p:cBhvr>
                                        <p:cTn id="17" dur="1000"/>
                                        <p:tgtEl>
                                          <p:spTgt spid="29699">
                                            <p:txEl>
                                              <p:pRg st="3" end="3"/>
                                            </p:txEl>
                                          </p:spTgt>
                                        </p:tgtEl>
                                      </p:cBhvr>
                                    </p:animEffect>
                                    <p:anim calcmode="lin" valueType="num">
                                      <p:cBhvr>
                                        <p:cTn id="18" dur="1000" fill="hold"/>
                                        <p:tgtEl>
                                          <p:spTgt spid="29699">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29699">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9699">
                                            <p:txEl>
                                              <p:pRg st="4" end="4"/>
                                            </p:txEl>
                                          </p:spTgt>
                                        </p:tgtEl>
                                        <p:attrNameLst>
                                          <p:attrName>style.visibility</p:attrName>
                                        </p:attrNameLst>
                                      </p:cBhvr>
                                      <p:to>
                                        <p:strVal val="visible"/>
                                      </p:to>
                                    </p:set>
                                    <p:animEffect transition="in" filter="fade">
                                      <p:cBhvr>
                                        <p:cTn id="22" dur="1000"/>
                                        <p:tgtEl>
                                          <p:spTgt spid="29699">
                                            <p:txEl>
                                              <p:pRg st="4" end="4"/>
                                            </p:txEl>
                                          </p:spTgt>
                                        </p:tgtEl>
                                      </p:cBhvr>
                                    </p:animEffect>
                                    <p:anim calcmode="lin" valueType="num">
                                      <p:cBhvr>
                                        <p:cTn id="23" dur="1000" fill="hold"/>
                                        <p:tgtEl>
                                          <p:spTgt spid="29699">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29699">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29699">
                                            <p:txEl>
                                              <p:pRg st="5" end="5"/>
                                            </p:txEl>
                                          </p:spTgt>
                                        </p:tgtEl>
                                        <p:attrNameLst>
                                          <p:attrName>style.visibility</p:attrName>
                                        </p:attrNameLst>
                                      </p:cBhvr>
                                      <p:to>
                                        <p:strVal val="visible"/>
                                      </p:to>
                                    </p:set>
                                    <p:animEffect transition="in" filter="fade">
                                      <p:cBhvr>
                                        <p:cTn id="27" dur="1000"/>
                                        <p:tgtEl>
                                          <p:spTgt spid="29699">
                                            <p:txEl>
                                              <p:pRg st="5" end="5"/>
                                            </p:txEl>
                                          </p:spTgt>
                                        </p:tgtEl>
                                      </p:cBhvr>
                                    </p:animEffect>
                                    <p:anim calcmode="lin" valueType="num">
                                      <p:cBhvr>
                                        <p:cTn id="28" dur="1000" fill="hold"/>
                                        <p:tgtEl>
                                          <p:spTgt spid="29699">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29699">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29699">
                                            <p:txEl>
                                              <p:pRg st="7" end="7"/>
                                            </p:txEl>
                                          </p:spTgt>
                                        </p:tgtEl>
                                        <p:attrNameLst>
                                          <p:attrName>style.visibility</p:attrName>
                                        </p:attrNameLst>
                                      </p:cBhvr>
                                      <p:to>
                                        <p:strVal val="visible"/>
                                      </p:to>
                                    </p:set>
                                    <p:animEffect transition="in" filter="fade">
                                      <p:cBhvr>
                                        <p:cTn id="34" dur="1000"/>
                                        <p:tgtEl>
                                          <p:spTgt spid="29699">
                                            <p:txEl>
                                              <p:pRg st="7" end="7"/>
                                            </p:txEl>
                                          </p:spTgt>
                                        </p:tgtEl>
                                      </p:cBhvr>
                                    </p:animEffect>
                                    <p:anim calcmode="lin" valueType="num">
                                      <p:cBhvr>
                                        <p:cTn id="35" dur="1000" fill="hold"/>
                                        <p:tgtEl>
                                          <p:spTgt spid="29699">
                                            <p:txEl>
                                              <p:pRg st="7" end="7"/>
                                            </p:txEl>
                                          </p:spTgt>
                                        </p:tgtEl>
                                        <p:attrNameLst>
                                          <p:attrName>ppt_x</p:attrName>
                                        </p:attrNameLst>
                                      </p:cBhvr>
                                      <p:tavLst>
                                        <p:tav tm="0">
                                          <p:val>
                                            <p:strVal val="#ppt_x"/>
                                          </p:val>
                                        </p:tav>
                                        <p:tav tm="100000">
                                          <p:val>
                                            <p:strVal val="#ppt_x"/>
                                          </p:val>
                                        </p:tav>
                                      </p:tavLst>
                                    </p:anim>
                                    <p:anim calcmode="lin" valueType="num">
                                      <p:cBhvr>
                                        <p:cTn id="36" dur="1000" fill="hold"/>
                                        <p:tgtEl>
                                          <p:spTgt spid="29699">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29699">
                                            <p:txEl>
                                              <p:pRg st="8" end="8"/>
                                            </p:txEl>
                                          </p:spTgt>
                                        </p:tgtEl>
                                        <p:attrNameLst>
                                          <p:attrName>style.visibility</p:attrName>
                                        </p:attrNameLst>
                                      </p:cBhvr>
                                      <p:to>
                                        <p:strVal val="visible"/>
                                      </p:to>
                                    </p:set>
                                    <p:animEffect transition="in" filter="fade">
                                      <p:cBhvr>
                                        <p:cTn id="41" dur="1000"/>
                                        <p:tgtEl>
                                          <p:spTgt spid="29699">
                                            <p:txEl>
                                              <p:pRg st="8" end="8"/>
                                            </p:txEl>
                                          </p:spTgt>
                                        </p:tgtEl>
                                      </p:cBhvr>
                                    </p:animEffect>
                                    <p:anim calcmode="lin" valueType="num">
                                      <p:cBhvr>
                                        <p:cTn id="42" dur="1000" fill="hold"/>
                                        <p:tgtEl>
                                          <p:spTgt spid="29699">
                                            <p:txEl>
                                              <p:pRg st="8" end="8"/>
                                            </p:txEl>
                                          </p:spTgt>
                                        </p:tgtEl>
                                        <p:attrNameLst>
                                          <p:attrName>ppt_x</p:attrName>
                                        </p:attrNameLst>
                                      </p:cBhvr>
                                      <p:tavLst>
                                        <p:tav tm="0">
                                          <p:val>
                                            <p:strVal val="#ppt_x"/>
                                          </p:val>
                                        </p:tav>
                                        <p:tav tm="100000">
                                          <p:val>
                                            <p:strVal val="#ppt_x"/>
                                          </p:val>
                                        </p:tav>
                                      </p:tavLst>
                                    </p:anim>
                                    <p:anim calcmode="lin" valueType="num">
                                      <p:cBhvr>
                                        <p:cTn id="43" dur="1000" fill="hold"/>
                                        <p:tgtEl>
                                          <p:spTgt spid="29699">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29699">
                                            <p:txEl>
                                              <p:pRg st="9" end="9"/>
                                            </p:txEl>
                                          </p:spTgt>
                                        </p:tgtEl>
                                        <p:attrNameLst>
                                          <p:attrName>style.visibility</p:attrName>
                                        </p:attrNameLst>
                                      </p:cBhvr>
                                      <p:to>
                                        <p:strVal val="visible"/>
                                      </p:to>
                                    </p:set>
                                    <p:animEffect transition="in" filter="fade">
                                      <p:cBhvr>
                                        <p:cTn id="48" dur="1000"/>
                                        <p:tgtEl>
                                          <p:spTgt spid="29699">
                                            <p:txEl>
                                              <p:pRg st="9" end="9"/>
                                            </p:txEl>
                                          </p:spTgt>
                                        </p:tgtEl>
                                      </p:cBhvr>
                                    </p:animEffect>
                                    <p:anim calcmode="lin" valueType="num">
                                      <p:cBhvr>
                                        <p:cTn id="49" dur="1000" fill="hold"/>
                                        <p:tgtEl>
                                          <p:spTgt spid="29699">
                                            <p:txEl>
                                              <p:pRg st="9" end="9"/>
                                            </p:txEl>
                                          </p:spTgt>
                                        </p:tgtEl>
                                        <p:attrNameLst>
                                          <p:attrName>ppt_x</p:attrName>
                                        </p:attrNameLst>
                                      </p:cBhvr>
                                      <p:tavLst>
                                        <p:tav tm="0">
                                          <p:val>
                                            <p:strVal val="#ppt_x"/>
                                          </p:val>
                                        </p:tav>
                                        <p:tav tm="100000">
                                          <p:val>
                                            <p:strVal val="#ppt_x"/>
                                          </p:val>
                                        </p:tav>
                                      </p:tavLst>
                                    </p:anim>
                                    <p:anim calcmode="lin" valueType="num">
                                      <p:cBhvr>
                                        <p:cTn id="50" dur="1000" fill="hold"/>
                                        <p:tgtEl>
                                          <p:spTgt spid="29699">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29699">
                                            <p:txEl>
                                              <p:pRg st="10" end="10"/>
                                            </p:txEl>
                                          </p:spTgt>
                                        </p:tgtEl>
                                        <p:attrNameLst>
                                          <p:attrName>style.visibility</p:attrName>
                                        </p:attrNameLst>
                                      </p:cBhvr>
                                      <p:to>
                                        <p:strVal val="visible"/>
                                      </p:to>
                                    </p:set>
                                    <p:animEffect transition="in" filter="fade">
                                      <p:cBhvr>
                                        <p:cTn id="55" dur="1000"/>
                                        <p:tgtEl>
                                          <p:spTgt spid="29699">
                                            <p:txEl>
                                              <p:pRg st="10" end="10"/>
                                            </p:txEl>
                                          </p:spTgt>
                                        </p:tgtEl>
                                      </p:cBhvr>
                                    </p:animEffect>
                                    <p:anim calcmode="lin" valueType="num">
                                      <p:cBhvr>
                                        <p:cTn id="56" dur="1000" fill="hold"/>
                                        <p:tgtEl>
                                          <p:spTgt spid="29699">
                                            <p:txEl>
                                              <p:pRg st="10" end="10"/>
                                            </p:txEl>
                                          </p:spTgt>
                                        </p:tgtEl>
                                        <p:attrNameLst>
                                          <p:attrName>ppt_x</p:attrName>
                                        </p:attrNameLst>
                                      </p:cBhvr>
                                      <p:tavLst>
                                        <p:tav tm="0">
                                          <p:val>
                                            <p:strVal val="#ppt_x"/>
                                          </p:val>
                                        </p:tav>
                                        <p:tav tm="100000">
                                          <p:val>
                                            <p:strVal val="#ppt_x"/>
                                          </p:val>
                                        </p:tav>
                                      </p:tavLst>
                                    </p:anim>
                                    <p:anim calcmode="lin" valueType="num">
                                      <p:cBhvr>
                                        <p:cTn id="57" dur="1000" fill="hold"/>
                                        <p:tgtEl>
                                          <p:spTgt spid="29699">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Subtitle 2"/>
          <p:cNvSpPr>
            <a:spLocks noGrp="1"/>
          </p:cNvSpPr>
          <p:nvPr>
            <p:ph type="subTitle" idx="1"/>
          </p:nvPr>
        </p:nvSpPr>
        <p:spPr>
          <a:xfrm>
            <a:off x="381000" y="304800"/>
            <a:ext cx="8382000" cy="6324600"/>
          </a:xfrm>
        </p:spPr>
        <p:txBody>
          <a:bodyPr>
            <a:normAutofit/>
          </a:bodyPr>
          <a:lstStyle/>
          <a:p>
            <a:pPr algn="just" eaLnBrk="1" hangingPunct="1"/>
            <a:endParaRPr lang="en-US" sz="2400" b="1" dirty="0">
              <a:solidFill>
                <a:schemeClr val="tx1"/>
              </a:solidFill>
              <a:latin typeface="Garamond" pitchFamily="18" charset="0"/>
            </a:endParaRPr>
          </a:p>
          <a:p>
            <a:pPr algn="just" eaLnBrk="1" hangingPunct="1"/>
            <a:r>
              <a:rPr lang="en-US" sz="2400" b="1" dirty="0">
                <a:solidFill>
                  <a:schemeClr val="tx1"/>
                </a:solidFill>
                <a:latin typeface="Garamond" pitchFamily="18" charset="0"/>
              </a:rPr>
              <a:t> Problems:</a:t>
            </a:r>
          </a:p>
          <a:p>
            <a:pPr algn="just" eaLnBrk="1" hangingPunct="1">
              <a:buFontTx/>
              <a:buChar char="-"/>
            </a:pPr>
            <a:r>
              <a:rPr lang="en-US" sz="2400" b="1" dirty="0">
                <a:solidFill>
                  <a:schemeClr val="tx1"/>
                </a:solidFill>
                <a:latin typeface="Garamond" pitchFamily="18" charset="0"/>
              </a:rPr>
              <a:t> dam is often needed to store water in order to guarantee a year-round supply</a:t>
            </a:r>
          </a:p>
          <a:p>
            <a:pPr algn="just" eaLnBrk="1" hangingPunct="1">
              <a:buFontTx/>
              <a:buChar char="-"/>
            </a:pPr>
            <a:r>
              <a:rPr lang="en-US" sz="2400" b="1" dirty="0">
                <a:solidFill>
                  <a:schemeClr val="tx1"/>
                </a:solidFill>
                <a:latin typeface="Garamond" pitchFamily="18" charset="0"/>
              </a:rPr>
              <a:t>large dams are expensive, developing countries may get into debt</a:t>
            </a:r>
          </a:p>
          <a:p>
            <a:pPr algn="just" eaLnBrk="1" hangingPunct="1">
              <a:buFontTx/>
              <a:buChar char="-"/>
            </a:pPr>
            <a:endParaRPr lang="en-US" sz="2400" b="1" dirty="0">
              <a:solidFill>
                <a:schemeClr val="tx1"/>
              </a:solidFill>
              <a:latin typeface="Garamond" pitchFamily="18" charset="0"/>
            </a:endParaRPr>
          </a:p>
          <a:p>
            <a:pPr algn="just" eaLnBrk="1" hangingPunct="1">
              <a:buFontTx/>
              <a:buChar char="-"/>
            </a:pPr>
            <a:endParaRPr lang="en-US" sz="2400" b="1" dirty="0">
              <a:solidFill>
                <a:schemeClr val="tx1"/>
              </a:solidFill>
              <a:latin typeface="Garamond" pitchFamily="18" charset="0"/>
            </a:endParaRPr>
          </a:p>
          <a:p>
            <a:pPr algn="just" eaLnBrk="1" hangingPunct="1">
              <a:buFontTx/>
              <a:buChar char="-"/>
            </a:pPr>
            <a:endParaRPr lang="en-US" sz="2400" b="1" dirty="0">
              <a:solidFill>
                <a:schemeClr val="tx1"/>
              </a:solidFill>
              <a:latin typeface="Garamond" pitchFamily="18" charset="0"/>
            </a:endParaRPr>
          </a:p>
          <a:p>
            <a:pPr algn="just" eaLnBrk="1" hangingPunct="1">
              <a:buFontTx/>
              <a:buChar char="-"/>
            </a:pPr>
            <a:r>
              <a:rPr lang="en-US" sz="2400" b="1" dirty="0">
                <a:solidFill>
                  <a:schemeClr val="tx1"/>
                </a:solidFill>
                <a:latin typeface="Garamond" pitchFamily="18" charset="0"/>
              </a:rPr>
              <a:t>forests &amp; other types of natural vegetation may be destroyed as also wildlife habitats</a:t>
            </a:r>
          </a:p>
          <a:p>
            <a:pPr algn="just" eaLnBrk="1" hangingPunct="1">
              <a:buFontTx/>
              <a:buChar char="-"/>
            </a:pPr>
            <a:r>
              <a:rPr lang="en-US" sz="2400" b="1" dirty="0">
                <a:solidFill>
                  <a:schemeClr val="tx1"/>
                </a:solidFill>
                <a:latin typeface="Garamond" pitchFamily="18" charset="0"/>
              </a:rPr>
              <a:t> people already living in valley that is going to be flooded are forced to move into new settlements </a:t>
            </a:r>
          </a:p>
          <a:p>
            <a:pPr algn="just" eaLnBrk="1" hangingPunct="1">
              <a:buFontTx/>
              <a:buChar char="-"/>
            </a:pPr>
            <a:endParaRPr lang="en-US" sz="2400" b="1" dirty="0">
              <a:solidFill>
                <a:schemeClr val="tx1"/>
              </a:solidFill>
              <a:latin typeface="Garamond" pitchFamily="18" charset="0"/>
            </a:endParaRPr>
          </a:p>
          <a:p>
            <a:pPr algn="just" eaLnBrk="1" hangingPunct="1"/>
            <a:endParaRPr lang="en-US" sz="2400" b="1" dirty="0">
              <a:solidFill>
                <a:schemeClr val="tx1"/>
              </a:solidFill>
              <a:latin typeface="Garamond" pitchFamily="18" charset="0"/>
            </a:endParaRPr>
          </a:p>
          <a:p>
            <a:pPr algn="just" eaLnBrk="1" hangingPunct="1"/>
            <a:endParaRPr lang="en-US" sz="2400" b="1" dirty="0">
              <a:solidFill>
                <a:schemeClr val="tx1"/>
              </a:solidFill>
              <a:latin typeface="Garamond" pitchFamily="18" charset="0"/>
            </a:endParaRPr>
          </a:p>
          <a:p>
            <a:pPr algn="just" eaLnBrk="1" hangingPunct="1"/>
            <a:endParaRPr lang="en-US" sz="2400" b="1" dirty="0">
              <a:solidFill>
                <a:schemeClr val="tx1"/>
              </a:solidFill>
              <a:latin typeface="Garamond" pitchFamily="18" charset="0"/>
            </a:endParaRPr>
          </a:p>
          <a:p>
            <a:pPr algn="just" eaLnBrk="1" hangingPunct="1"/>
            <a:endParaRPr lang="en-US" sz="2400" b="1" dirty="0">
              <a:solidFill>
                <a:schemeClr val="tx1"/>
              </a:solidFill>
              <a:latin typeface="Garamond"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0723">
                                            <p:txEl>
                                              <p:pRg st="1" end="1"/>
                                            </p:txEl>
                                          </p:spTgt>
                                        </p:tgtEl>
                                        <p:attrNameLst>
                                          <p:attrName>style.visibility</p:attrName>
                                        </p:attrNameLst>
                                      </p:cBhvr>
                                      <p:to>
                                        <p:strVal val="visible"/>
                                      </p:to>
                                    </p:set>
                                    <p:animEffect transition="in" filter="fade">
                                      <p:cBhvr>
                                        <p:cTn id="7" dur="1000"/>
                                        <p:tgtEl>
                                          <p:spTgt spid="30723">
                                            <p:txEl>
                                              <p:pRg st="1" end="1"/>
                                            </p:txEl>
                                          </p:spTgt>
                                        </p:tgtEl>
                                      </p:cBhvr>
                                    </p:animEffect>
                                    <p:anim calcmode="lin" valueType="num">
                                      <p:cBhvr>
                                        <p:cTn id="8" dur="1000" fill="hold"/>
                                        <p:tgtEl>
                                          <p:spTgt spid="3072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072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0723">
                                            <p:txEl>
                                              <p:pRg st="2" end="2"/>
                                            </p:txEl>
                                          </p:spTgt>
                                        </p:tgtEl>
                                        <p:attrNameLst>
                                          <p:attrName>style.visibility</p:attrName>
                                        </p:attrNameLst>
                                      </p:cBhvr>
                                      <p:to>
                                        <p:strVal val="visible"/>
                                      </p:to>
                                    </p:set>
                                    <p:animEffect transition="in" filter="fade">
                                      <p:cBhvr>
                                        <p:cTn id="14" dur="1000"/>
                                        <p:tgtEl>
                                          <p:spTgt spid="30723">
                                            <p:txEl>
                                              <p:pRg st="2" end="2"/>
                                            </p:txEl>
                                          </p:spTgt>
                                        </p:tgtEl>
                                      </p:cBhvr>
                                    </p:animEffect>
                                    <p:anim calcmode="lin" valueType="num">
                                      <p:cBhvr>
                                        <p:cTn id="15" dur="1000" fill="hold"/>
                                        <p:tgtEl>
                                          <p:spTgt spid="3072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072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0723">
                                            <p:txEl>
                                              <p:pRg st="3" end="3"/>
                                            </p:txEl>
                                          </p:spTgt>
                                        </p:tgtEl>
                                        <p:attrNameLst>
                                          <p:attrName>style.visibility</p:attrName>
                                        </p:attrNameLst>
                                      </p:cBhvr>
                                      <p:to>
                                        <p:strVal val="visible"/>
                                      </p:to>
                                    </p:set>
                                    <p:animEffect transition="in" filter="fade">
                                      <p:cBhvr>
                                        <p:cTn id="21" dur="1000"/>
                                        <p:tgtEl>
                                          <p:spTgt spid="30723">
                                            <p:txEl>
                                              <p:pRg st="3" end="3"/>
                                            </p:txEl>
                                          </p:spTgt>
                                        </p:tgtEl>
                                      </p:cBhvr>
                                    </p:animEffect>
                                    <p:anim calcmode="lin" valueType="num">
                                      <p:cBhvr>
                                        <p:cTn id="22" dur="1000" fill="hold"/>
                                        <p:tgtEl>
                                          <p:spTgt spid="3072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072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0723">
                                            <p:txEl>
                                              <p:pRg st="7" end="7"/>
                                            </p:txEl>
                                          </p:spTgt>
                                        </p:tgtEl>
                                        <p:attrNameLst>
                                          <p:attrName>style.visibility</p:attrName>
                                        </p:attrNameLst>
                                      </p:cBhvr>
                                      <p:to>
                                        <p:strVal val="visible"/>
                                      </p:to>
                                    </p:set>
                                    <p:animEffect transition="in" filter="fade">
                                      <p:cBhvr>
                                        <p:cTn id="28" dur="1000"/>
                                        <p:tgtEl>
                                          <p:spTgt spid="30723">
                                            <p:txEl>
                                              <p:pRg st="7" end="7"/>
                                            </p:txEl>
                                          </p:spTgt>
                                        </p:tgtEl>
                                      </p:cBhvr>
                                    </p:animEffect>
                                    <p:anim calcmode="lin" valueType="num">
                                      <p:cBhvr>
                                        <p:cTn id="29" dur="1000" fill="hold"/>
                                        <p:tgtEl>
                                          <p:spTgt spid="30723">
                                            <p:txEl>
                                              <p:pRg st="7" end="7"/>
                                            </p:txEl>
                                          </p:spTgt>
                                        </p:tgtEl>
                                        <p:attrNameLst>
                                          <p:attrName>ppt_x</p:attrName>
                                        </p:attrNameLst>
                                      </p:cBhvr>
                                      <p:tavLst>
                                        <p:tav tm="0">
                                          <p:val>
                                            <p:strVal val="#ppt_x"/>
                                          </p:val>
                                        </p:tav>
                                        <p:tav tm="100000">
                                          <p:val>
                                            <p:strVal val="#ppt_x"/>
                                          </p:val>
                                        </p:tav>
                                      </p:tavLst>
                                    </p:anim>
                                    <p:anim calcmode="lin" valueType="num">
                                      <p:cBhvr>
                                        <p:cTn id="30" dur="1000" fill="hold"/>
                                        <p:tgtEl>
                                          <p:spTgt spid="3072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0723">
                                            <p:txEl>
                                              <p:pRg st="8" end="8"/>
                                            </p:txEl>
                                          </p:spTgt>
                                        </p:tgtEl>
                                        <p:attrNameLst>
                                          <p:attrName>style.visibility</p:attrName>
                                        </p:attrNameLst>
                                      </p:cBhvr>
                                      <p:to>
                                        <p:strVal val="visible"/>
                                      </p:to>
                                    </p:set>
                                    <p:animEffect transition="in" filter="fade">
                                      <p:cBhvr>
                                        <p:cTn id="35" dur="1000"/>
                                        <p:tgtEl>
                                          <p:spTgt spid="30723">
                                            <p:txEl>
                                              <p:pRg st="8" end="8"/>
                                            </p:txEl>
                                          </p:spTgt>
                                        </p:tgtEl>
                                      </p:cBhvr>
                                    </p:animEffect>
                                    <p:anim calcmode="lin" valueType="num">
                                      <p:cBhvr>
                                        <p:cTn id="36" dur="1000" fill="hold"/>
                                        <p:tgtEl>
                                          <p:spTgt spid="30723">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3072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6019800"/>
          </a:xfrm>
        </p:spPr>
        <p:txBody>
          <a:bodyPr rtlCol="0">
            <a:normAutofit lnSpcReduction="10000"/>
          </a:bodyPr>
          <a:lstStyle/>
          <a:p>
            <a:pPr algn="just" eaLnBrk="1" fontAlgn="auto" hangingPunct="1">
              <a:spcAft>
                <a:spcPts val="0"/>
              </a:spcAft>
              <a:buFont typeface="Arial" pitchFamily="34" charset="0"/>
              <a:buChar char="•"/>
              <a:defRPr/>
            </a:pPr>
            <a:r>
              <a:rPr lang="en-US" sz="2400" b="1" u="sng" dirty="0">
                <a:solidFill>
                  <a:schemeClr val="tx1"/>
                </a:solidFill>
                <a:latin typeface="Garamond" pitchFamily="18" charset="0"/>
              </a:rPr>
              <a:t>Wind power</a:t>
            </a:r>
            <a:r>
              <a:rPr lang="en-US" sz="2400" b="1" dirty="0">
                <a:solidFill>
                  <a:schemeClr val="tx1"/>
                </a:solidFill>
                <a:latin typeface="Garamond" pitchFamily="18" charset="0"/>
              </a:rPr>
              <a:t>:</a:t>
            </a:r>
          </a:p>
          <a:p>
            <a:pPr algn="just" eaLnBrk="1" fontAlgn="auto" hangingPunct="1">
              <a:spcAft>
                <a:spcPts val="0"/>
              </a:spcAft>
              <a:buFont typeface="Arial" pitchFamily="34" charset="0"/>
              <a:buChar char="•"/>
              <a:defRPr/>
            </a:pPr>
            <a:r>
              <a:rPr lang="en-US" sz="2400" b="1" dirty="0">
                <a:solidFill>
                  <a:schemeClr val="tx1"/>
                </a:solidFill>
                <a:latin typeface="Garamond" pitchFamily="18" charset="0"/>
              </a:rPr>
              <a:t>Using tall turbines driven by the force of the wind</a:t>
            </a:r>
          </a:p>
          <a:p>
            <a:pPr algn="just" eaLnBrk="1" fontAlgn="auto" hangingPunct="1">
              <a:spcAft>
                <a:spcPts val="0"/>
              </a:spcAft>
              <a:buFont typeface="Arial" pitchFamily="34" charset="0"/>
              <a:buChar char="•"/>
              <a:defRPr/>
            </a:pPr>
            <a:r>
              <a:rPr lang="en-US" sz="2400" b="1" dirty="0">
                <a:solidFill>
                  <a:schemeClr val="tx1"/>
                </a:solidFill>
                <a:latin typeface="Garamond" pitchFamily="18" charset="0"/>
              </a:rPr>
              <a:t>are placed where strong winds are most frequent</a:t>
            </a:r>
          </a:p>
          <a:p>
            <a:pPr algn="just" eaLnBrk="1" fontAlgn="auto" hangingPunct="1">
              <a:spcAft>
                <a:spcPts val="0"/>
              </a:spcAft>
              <a:buFont typeface="Wingdings" pitchFamily="2" charset="2"/>
              <a:buNone/>
              <a:defRPr/>
            </a:pPr>
            <a:r>
              <a:rPr lang="en-US" sz="2400" b="1" dirty="0">
                <a:solidFill>
                  <a:schemeClr val="tx1"/>
                </a:solidFill>
                <a:latin typeface="Garamond" pitchFamily="18" charset="0"/>
              </a:rPr>
              <a:t>        - on hill tops &amp; other areas of open high ground</a:t>
            </a:r>
          </a:p>
          <a:p>
            <a:pPr algn="just" eaLnBrk="1" fontAlgn="auto" hangingPunct="1">
              <a:spcAft>
                <a:spcPts val="0"/>
              </a:spcAft>
              <a:buFont typeface="Wingdings" pitchFamily="2" charset="2"/>
              <a:buNone/>
              <a:defRPr/>
            </a:pPr>
            <a:r>
              <a:rPr lang="en-US" sz="2400" b="1" dirty="0">
                <a:solidFill>
                  <a:schemeClr val="tx1"/>
                </a:solidFill>
                <a:latin typeface="Garamond" pitchFamily="18" charset="0"/>
              </a:rPr>
              <a:t>        - along the coastline ( on land)</a:t>
            </a:r>
          </a:p>
          <a:p>
            <a:pPr algn="just">
              <a:buNone/>
              <a:defRPr/>
            </a:pPr>
            <a:r>
              <a:rPr lang="en-US" sz="2400" b="1" dirty="0">
                <a:solidFill>
                  <a:schemeClr val="tx1"/>
                </a:solidFill>
                <a:latin typeface="Garamond" pitchFamily="18" charset="0"/>
              </a:rPr>
              <a:t>        - offshore (in the sea) but close to the shore</a:t>
            </a:r>
          </a:p>
          <a:p>
            <a:pPr algn="just" eaLnBrk="1" fontAlgn="auto" hangingPunct="1">
              <a:spcAft>
                <a:spcPts val="0"/>
              </a:spcAft>
              <a:buFont typeface="Wingdings" pitchFamily="2" charset="2"/>
              <a:buNone/>
              <a:defRPr/>
            </a:pPr>
            <a:endParaRPr lang="en-US" sz="2400" b="1" dirty="0">
              <a:solidFill>
                <a:schemeClr val="tx1"/>
              </a:solidFill>
              <a:latin typeface="Garamond" pitchFamily="18" charset="0"/>
            </a:endParaRPr>
          </a:p>
          <a:p>
            <a:pPr algn="just" eaLnBrk="1" fontAlgn="auto" hangingPunct="1">
              <a:spcAft>
                <a:spcPts val="0"/>
              </a:spcAft>
              <a:buFont typeface="Wingdings" pitchFamily="2" charset="2"/>
              <a:buNone/>
              <a:defRPr/>
            </a:pPr>
            <a:endParaRPr lang="en-US" sz="2400" b="1" dirty="0">
              <a:solidFill>
                <a:schemeClr val="tx1"/>
              </a:solidFill>
              <a:latin typeface="Garamond" pitchFamily="18" charset="0"/>
            </a:endParaRPr>
          </a:p>
          <a:p>
            <a:pPr algn="just" eaLnBrk="1" fontAlgn="auto" hangingPunct="1">
              <a:spcAft>
                <a:spcPts val="0"/>
              </a:spcAft>
              <a:buFont typeface="Wingdings" pitchFamily="2" charset="2"/>
              <a:buNone/>
              <a:defRPr/>
            </a:pPr>
            <a:endParaRPr lang="en-US" sz="2400" b="1" dirty="0">
              <a:solidFill>
                <a:schemeClr val="tx1"/>
              </a:solidFill>
              <a:latin typeface="Garamond" pitchFamily="18" charset="0"/>
            </a:endParaRPr>
          </a:p>
          <a:p>
            <a:pPr algn="just" eaLnBrk="1" fontAlgn="auto" hangingPunct="1">
              <a:spcAft>
                <a:spcPts val="0"/>
              </a:spcAft>
              <a:buFont typeface="Wingdings" pitchFamily="2" charset="2"/>
              <a:buNone/>
              <a:defRPr/>
            </a:pPr>
            <a:endParaRPr lang="en-US" sz="2400" b="1" dirty="0">
              <a:solidFill>
                <a:schemeClr val="tx1"/>
              </a:solidFill>
              <a:latin typeface="Garamond" pitchFamily="18" charset="0"/>
            </a:endParaRPr>
          </a:p>
          <a:p>
            <a:pPr algn="just" eaLnBrk="1" fontAlgn="auto" hangingPunct="1">
              <a:spcAft>
                <a:spcPts val="0"/>
              </a:spcAft>
              <a:buFont typeface="Wingdings" pitchFamily="2" charset="2"/>
              <a:buNone/>
              <a:defRPr/>
            </a:pPr>
            <a:endParaRPr lang="en-US" sz="2400" b="1" dirty="0">
              <a:solidFill>
                <a:schemeClr val="tx1"/>
              </a:solidFill>
              <a:latin typeface="Garamond" pitchFamily="18" charset="0"/>
            </a:endParaRPr>
          </a:p>
          <a:p>
            <a:pPr algn="just" eaLnBrk="1" fontAlgn="auto" hangingPunct="1">
              <a:spcAft>
                <a:spcPts val="0"/>
              </a:spcAft>
              <a:buFont typeface="Wingdings" pitchFamily="2" charset="2"/>
              <a:buNone/>
              <a:defRPr/>
            </a:pPr>
            <a:endParaRPr lang="en-US" sz="2400" b="1" dirty="0">
              <a:solidFill>
                <a:schemeClr val="tx1"/>
              </a:solidFill>
              <a:latin typeface="Garamond" pitchFamily="18" charset="0"/>
            </a:endParaRPr>
          </a:p>
          <a:p>
            <a:pPr algn="just" eaLnBrk="1" fontAlgn="auto" hangingPunct="1">
              <a:spcAft>
                <a:spcPts val="0"/>
              </a:spcAft>
              <a:buFont typeface="Wingdings" pitchFamily="2" charset="2"/>
              <a:buNone/>
              <a:defRPr/>
            </a:pPr>
            <a:r>
              <a:rPr lang="en-US" sz="2400" b="1" dirty="0">
                <a:solidFill>
                  <a:schemeClr val="tx1"/>
                </a:solidFill>
                <a:latin typeface="Garamond" pitchFamily="18" charset="0"/>
              </a:rPr>
              <a:t>                                        </a:t>
            </a:r>
          </a:p>
          <a:p>
            <a:pPr algn="just" eaLnBrk="1" fontAlgn="auto" hangingPunct="1">
              <a:spcAft>
                <a:spcPts val="0"/>
              </a:spcAft>
              <a:buFont typeface="Wingdings" pitchFamily="2" charset="2"/>
              <a:buNone/>
              <a:defRPr/>
            </a:pPr>
            <a:r>
              <a:rPr lang="en-US" sz="2400" b="1" dirty="0">
                <a:latin typeface="Garamond" pitchFamily="18" charset="0"/>
              </a:rPr>
              <a:t>                                            </a:t>
            </a:r>
          </a:p>
        </p:txBody>
      </p:sp>
      <p:pic>
        <p:nvPicPr>
          <p:cNvPr id="31748" name="Picture 2" descr="D:\ENV 103 SGR\my slides\wind mills.jpg"/>
          <p:cNvPicPr>
            <a:picLocks noChangeAspect="1" noChangeArrowheads="1"/>
          </p:cNvPicPr>
          <p:nvPr/>
        </p:nvPicPr>
        <p:blipFill>
          <a:blip r:embed="rId3"/>
          <a:srcRect/>
          <a:stretch>
            <a:fillRect/>
          </a:stretch>
        </p:blipFill>
        <p:spPr bwMode="auto">
          <a:xfrm>
            <a:off x="1066800" y="3429000"/>
            <a:ext cx="3294063" cy="2590800"/>
          </a:xfrm>
          <a:prstGeom prst="rect">
            <a:avLst/>
          </a:prstGeom>
          <a:noFill/>
          <a:ln w="9525">
            <a:noFill/>
            <a:miter lim="800000"/>
            <a:headEnd/>
            <a:tailEnd/>
          </a:ln>
        </p:spPr>
      </p:pic>
      <p:pic>
        <p:nvPicPr>
          <p:cNvPr id="31749" name="Picture 3" descr="D:\ENV 103 SGR\my slides\wind mill 2.jpg"/>
          <p:cNvPicPr>
            <a:picLocks noChangeAspect="1" noChangeArrowheads="1"/>
          </p:cNvPicPr>
          <p:nvPr/>
        </p:nvPicPr>
        <p:blipFill>
          <a:blip r:embed="rId4"/>
          <a:srcRect/>
          <a:stretch>
            <a:fillRect/>
          </a:stretch>
        </p:blipFill>
        <p:spPr bwMode="auto">
          <a:xfrm>
            <a:off x="4876800" y="3429000"/>
            <a:ext cx="3557588" cy="2590800"/>
          </a:xfrm>
          <a:prstGeom prst="rect">
            <a:avLst/>
          </a:prstGeom>
          <a:noFill/>
          <a:ln w="9525">
            <a:noFill/>
            <a:miter lim="800000"/>
            <a:headEnd/>
            <a:tailEnd/>
          </a:ln>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12" end="12"/>
                                            </p:txEl>
                                          </p:spTgt>
                                        </p:tgtEl>
                                        <p:attrNameLst>
                                          <p:attrName>style.visibility</p:attrName>
                                        </p:attrNameLst>
                                      </p:cBhvr>
                                      <p:to>
                                        <p:strVal val="visible"/>
                                      </p:to>
                                    </p:set>
                                    <p:animEffect transition="in" filter="fade">
                                      <p:cBhvr>
                                        <p:cTn id="49" dur="1000"/>
                                        <p:tgtEl>
                                          <p:spTgt spid="3">
                                            <p:txEl>
                                              <p:pRg st="12" end="12"/>
                                            </p:txEl>
                                          </p:spTgt>
                                        </p:tgtEl>
                                      </p:cBhvr>
                                    </p:animEffect>
                                    <p:anim calcmode="lin" valueType="num">
                                      <p:cBhvr>
                                        <p:cTn id="50"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13" end="13"/>
                                            </p:txEl>
                                          </p:spTgt>
                                        </p:tgtEl>
                                        <p:attrNameLst>
                                          <p:attrName>style.visibility</p:attrName>
                                        </p:attrNameLst>
                                      </p:cBhvr>
                                      <p:to>
                                        <p:strVal val="visible"/>
                                      </p:to>
                                    </p:set>
                                    <p:animEffect transition="in" filter="fade">
                                      <p:cBhvr>
                                        <p:cTn id="56" dur="1000"/>
                                        <p:tgtEl>
                                          <p:spTgt spid="3">
                                            <p:txEl>
                                              <p:pRg st="13" end="13"/>
                                            </p:txEl>
                                          </p:spTgt>
                                        </p:tgtEl>
                                      </p:cBhvr>
                                    </p:animEffect>
                                    <p:anim calcmode="lin" valueType="num">
                                      <p:cBhvr>
                                        <p:cTn id="57" dur="1000" fill="hold"/>
                                        <p:tgtEl>
                                          <p:spTgt spid="3">
                                            <p:txEl>
                                              <p:pRg st="13" end="13"/>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13" end="13"/>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16" presetClass="entr" presetSubtype="21" fill="hold" nodeType="clickEffect">
                                  <p:stCondLst>
                                    <p:cond delay="0"/>
                                  </p:stCondLst>
                                  <p:childTnLst>
                                    <p:set>
                                      <p:cBhvr>
                                        <p:cTn id="62" dur="1" fill="hold">
                                          <p:stCondLst>
                                            <p:cond delay="0"/>
                                          </p:stCondLst>
                                        </p:cTn>
                                        <p:tgtEl>
                                          <p:spTgt spid="31748"/>
                                        </p:tgtEl>
                                        <p:attrNameLst>
                                          <p:attrName>style.visibility</p:attrName>
                                        </p:attrNameLst>
                                      </p:cBhvr>
                                      <p:to>
                                        <p:strVal val="visible"/>
                                      </p:to>
                                    </p:set>
                                    <p:animEffect transition="in" filter="barn(inVertical)">
                                      <p:cBhvr>
                                        <p:cTn id="63" dur="500"/>
                                        <p:tgtEl>
                                          <p:spTgt spid="31748"/>
                                        </p:tgtEl>
                                      </p:cBhvr>
                                    </p:animEffect>
                                  </p:childTnLst>
                                </p:cTn>
                              </p:par>
                              <p:par>
                                <p:cTn id="64" presetID="16" presetClass="entr" presetSubtype="21" fill="hold" nodeType="withEffect">
                                  <p:stCondLst>
                                    <p:cond delay="0"/>
                                  </p:stCondLst>
                                  <p:childTnLst>
                                    <p:set>
                                      <p:cBhvr>
                                        <p:cTn id="65" dur="1" fill="hold">
                                          <p:stCondLst>
                                            <p:cond delay="0"/>
                                          </p:stCondLst>
                                        </p:cTn>
                                        <p:tgtEl>
                                          <p:spTgt spid="31749"/>
                                        </p:tgtEl>
                                        <p:attrNameLst>
                                          <p:attrName>style.visibility</p:attrName>
                                        </p:attrNameLst>
                                      </p:cBhvr>
                                      <p:to>
                                        <p:strVal val="visible"/>
                                      </p:to>
                                    </p:set>
                                    <p:animEffect transition="in" filter="barn(inVertical)">
                                      <p:cBhvr>
                                        <p:cTn id="66" dur="500"/>
                                        <p:tgtEl>
                                          <p:spTgt spid="317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Subtitle 2"/>
          <p:cNvSpPr>
            <a:spLocks noGrp="1"/>
          </p:cNvSpPr>
          <p:nvPr>
            <p:ph type="subTitle" idx="1"/>
          </p:nvPr>
        </p:nvSpPr>
        <p:spPr>
          <a:xfrm>
            <a:off x="381000" y="304800"/>
            <a:ext cx="8382000" cy="6172200"/>
          </a:xfrm>
        </p:spPr>
        <p:txBody>
          <a:bodyPr>
            <a:normAutofit/>
          </a:bodyPr>
          <a:lstStyle/>
          <a:p>
            <a:pPr algn="just" eaLnBrk="1" hangingPunct="1"/>
            <a:endParaRPr lang="en-US" sz="2400" b="1" dirty="0">
              <a:solidFill>
                <a:schemeClr val="tx1"/>
              </a:solidFill>
              <a:latin typeface="Garamond" pitchFamily="18" charset="0"/>
            </a:endParaRPr>
          </a:p>
          <a:p>
            <a:pPr algn="just" eaLnBrk="1" hangingPunct="1"/>
            <a:r>
              <a:rPr lang="en-US" sz="2400" b="1" dirty="0">
                <a:solidFill>
                  <a:schemeClr val="tx1"/>
                </a:solidFill>
                <a:latin typeface="Garamond" pitchFamily="18" charset="0"/>
              </a:rPr>
              <a:t>Advantage :</a:t>
            </a:r>
          </a:p>
          <a:p>
            <a:pPr algn="just" eaLnBrk="1" hangingPunct="1">
              <a:buFont typeface="Wingdings" pitchFamily="2" charset="2"/>
              <a:buChar char="§"/>
            </a:pPr>
            <a:r>
              <a:rPr lang="en-US" sz="2400" b="1" dirty="0">
                <a:solidFill>
                  <a:schemeClr val="tx1"/>
                </a:solidFill>
                <a:latin typeface="Garamond" pitchFamily="18" charset="0"/>
              </a:rPr>
              <a:t> offers the promise of producing low cost electricity</a:t>
            </a:r>
          </a:p>
          <a:p>
            <a:pPr algn="just" eaLnBrk="1" hangingPunct="1">
              <a:buFont typeface="Wingdings" pitchFamily="2" charset="2"/>
              <a:buChar char="§"/>
            </a:pPr>
            <a:r>
              <a:rPr lang="en-US" sz="2400" b="1" dirty="0">
                <a:solidFill>
                  <a:schemeClr val="tx1"/>
                </a:solidFill>
                <a:latin typeface="Garamond" pitchFamily="18" charset="0"/>
              </a:rPr>
              <a:t> pollution free </a:t>
            </a:r>
          </a:p>
          <a:p>
            <a:pPr algn="just" eaLnBrk="1" hangingPunct="1">
              <a:buFont typeface="Wingdings" pitchFamily="2" charset="2"/>
              <a:buChar char="§"/>
            </a:pPr>
            <a:r>
              <a:rPr lang="en-US" sz="2400" b="1" dirty="0">
                <a:solidFill>
                  <a:schemeClr val="tx1"/>
                </a:solidFill>
                <a:latin typeface="Garamond" pitchFamily="18" charset="0"/>
              </a:rPr>
              <a:t> land below turbine can be used for growing crops &amp; grazing</a:t>
            </a:r>
            <a:endParaRPr lang="en-US" sz="2400" b="1" dirty="0">
              <a:solidFill>
                <a:schemeClr val="tx1"/>
              </a:solidFill>
            </a:endParaRPr>
          </a:p>
          <a:p>
            <a:pPr algn="just" eaLnBrk="1" hangingPunct="1"/>
            <a:endParaRPr lang="en-US" sz="2400" b="1" dirty="0">
              <a:solidFill>
                <a:schemeClr val="tx1"/>
              </a:solidFill>
              <a:latin typeface="Garamond" pitchFamily="18" charset="0"/>
            </a:endParaRPr>
          </a:p>
          <a:p>
            <a:pPr algn="just" eaLnBrk="1" hangingPunct="1"/>
            <a:endParaRPr lang="en-US" sz="2400" b="1" dirty="0">
              <a:solidFill>
                <a:schemeClr val="tx1"/>
              </a:solidFill>
              <a:latin typeface="Garamond" pitchFamily="18" charset="0"/>
            </a:endParaRPr>
          </a:p>
          <a:p>
            <a:pPr algn="just" eaLnBrk="1" hangingPunct="1"/>
            <a:endParaRPr lang="en-US" sz="2400" b="1" dirty="0">
              <a:solidFill>
                <a:schemeClr val="tx1"/>
              </a:solidFill>
              <a:latin typeface="Garamond" pitchFamily="18" charset="0"/>
            </a:endParaRPr>
          </a:p>
          <a:p>
            <a:pPr algn="just" eaLnBrk="1" hangingPunct="1"/>
            <a:r>
              <a:rPr lang="en-US" sz="2400" b="1" dirty="0">
                <a:solidFill>
                  <a:schemeClr val="tx1"/>
                </a:solidFill>
                <a:latin typeface="Garamond" pitchFamily="18" charset="0"/>
              </a:rPr>
              <a:t>Disadvantage:</a:t>
            </a:r>
          </a:p>
          <a:p>
            <a:pPr algn="just" eaLnBrk="1" hangingPunct="1">
              <a:buFont typeface="Wingdings" pitchFamily="2" charset="2"/>
              <a:buChar char="§"/>
            </a:pPr>
            <a:r>
              <a:rPr lang="en-US" sz="2400" b="1" dirty="0">
                <a:solidFill>
                  <a:schemeClr val="tx1"/>
                </a:solidFill>
                <a:latin typeface="Garamond" pitchFamily="18" charset="0"/>
              </a:rPr>
              <a:t> back-up systems may become necessary on days without strong winds </a:t>
            </a:r>
          </a:p>
          <a:p>
            <a:pPr algn="just" eaLnBrk="1" hangingPunct="1">
              <a:buFont typeface="Wingdings" pitchFamily="2" charset="2"/>
              <a:buChar char="§"/>
            </a:pPr>
            <a:r>
              <a:rPr lang="en-US" sz="2400" b="1" dirty="0">
                <a:solidFill>
                  <a:schemeClr val="tx1"/>
                </a:solidFill>
                <a:latin typeface="Garamond" pitchFamily="18" charset="0"/>
              </a:rPr>
              <a:t> noise produced by turbines makes it unsuitable for installation in populated localities    </a:t>
            </a:r>
          </a:p>
          <a:p>
            <a:pPr algn="just" eaLnBrk="1" hangingPunct="1"/>
            <a:r>
              <a:rPr lang="en-US" b="1" dirty="0">
                <a:solidFill>
                  <a:schemeClr val="tx1"/>
                </a:solidFill>
                <a:latin typeface="Garamond" pitchFamily="18" charset="0"/>
              </a:rPr>
              <a:t> </a:t>
            </a:r>
          </a:p>
          <a:p>
            <a:pPr eaLnBrk="1" hangingPunct="1"/>
            <a:endParaRPr lang="en-US" b="1" dirty="0">
              <a:solidFill>
                <a:schemeClr val="tx1"/>
              </a:solidFill>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2771">
                                            <p:txEl>
                                              <p:pRg st="1" end="1"/>
                                            </p:txEl>
                                          </p:spTgt>
                                        </p:tgtEl>
                                        <p:attrNameLst>
                                          <p:attrName>style.visibility</p:attrName>
                                        </p:attrNameLst>
                                      </p:cBhvr>
                                      <p:to>
                                        <p:strVal val="visible"/>
                                      </p:to>
                                    </p:set>
                                    <p:animEffect transition="in" filter="fade">
                                      <p:cBhvr>
                                        <p:cTn id="7" dur="1000"/>
                                        <p:tgtEl>
                                          <p:spTgt spid="32771">
                                            <p:txEl>
                                              <p:pRg st="1" end="1"/>
                                            </p:txEl>
                                          </p:spTgt>
                                        </p:tgtEl>
                                      </p:cBhvr>
                                    </p:animEffect>
                                    <p:anim calcmode="lin" valueType="num">
                                      <p:cBhvr>
                                        <p:cTn id="8" dur="1000" fill="hold"/>
                                        <p:tgtEl>
                                          <p:spTgt spid="32771">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277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2771">
                                            <p:txEl>
                                              <p:pRg st="2" end="2"/>
                                            </p:txEl>
                                          </p:spTgt>
                                        </p:tgtEl>
                                        <p:attrNameLst>
                                          <p:attrName>style.visibility</p:attrName>
                                        </p:attrNameLst>
                                      </p:cBhvr>
                                      <p:to>
                                        <p:strVal val="visible"/>
                                      </p:to>
                                    </p:set>
                                    <p:animEffect transition="in" filter="fade">
                                      <p:cBhvr>
                                        <p:cTn id="14" dur="1000"/>
                                        <p:tgtEl>
                                          <p:spTgt spid="32771">
                                            <p:txEl>
                                              <p:pRg st="2" end="2"/>
                                            </p:txEl>
                                          </p:spTgt>
                                        </p:tgtEl>
                                      </p:cBhvr>
                                    </p:animEffect>
                                    <p:anim calcmode="lin" valueType="num">
                                      <p:cBhvr>
                                        <p:cTn id="15" dur="1000" fill="hold"/>
                                        <p:tgtEl>
                                          <p:spTgt spid="32771">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2771">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2771">
                                            <p:txEl>
                                              <p:pRg st="3" end="3"/>
                                            </p:txEl>
                                          </p:spTgt>
                                        </p:tgtEl>
                                        <p:attrNameLst>
                                          <p:attrName>style.visibility</p:attrName>
                                        </p:attrNameLst>
                                      </p:cBhvr>
                                      <p:to>
                                        <p:strVal val="visible"/>
                                      </p:to>
                                    </p:set>
                                    <p:animEffect transition="in" filter="fade">
                                      <p:cBhvr>
                                        <p:cTn id="21" dur="1000"/>
                                        <p:tgtEl>
                                          <p:spTgt spid="32771">
                                            <p:txEl>
                                              <p:pRg st="3" end="3"/>
                                            </p:txEl>
                                          </p:spTgt>
                                        </p:tgtEl>
                                      </p:cBhvr>
                                    </p:animEffect>
                                    <p:anim calcmode="lin" valueType="num">
                                      <p:cBhvr>
                                        <p:cTn id="22" dur="1000" fill="hold"/>
                                        <p:tgtEl>
                                          <p:spTgt spid="32771">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2771">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2771">
                                            <p:txEl>
                                              <p:pRg st="4" end="4"/>
                                            </p:txEl>
                                          </p:spTgt>
                                        </p:tgtEl>
                                        <p:attrNameLst>
                                          <p:attrName>style.visibility</p:attrName>
                                        </p:attrNameLst>
                                      </p:cBhvr>
                                      <p:to>
                                        <p:strVal val="visible"/>
                                      </p:to>
                                    </p:set>
                                    <p:animEffect transition="in" filter="fade">
                                      <p:cBhvr>
                                        <p:cTn id="28" dur="1000"/>
                                        <p:tgtEl>
                                          <p:spTgt spid="32771">
                                            <p:txEl>
                                              <p:pRg st="4" end="4"/>
                                            </p:txEl>
                                          </p:spTgt>
                                        </p:tgtEl>
                                      </p:cBhvr>
                                    </p:animEffect>
                                    <p:anim calcmode="lin" valueType="num">
                                      <p:cBhvr>
                                        <p:cTn id="29" dur="1000" fill="hold"/>
                                        <p:tgtEl>
                                          <p:spTgt spid="32771">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2771">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2771">
                                            <p:txEl>
                                              <p:pRg st="8" end="8"/>
                                            </p:txEl>
                                          </p:spTgt>
                                        </p:tgtEl>
                                        <p:attrNameLst>
                                          <p:attrName>style.visibility</p:attrName>
                                        </p:attrNameLst>
                                      </p:cBhvr>
                                      <p:to>
                                        <p:strVal val="visible"/>
                                      </p:to>
                                    </p:set>
                                    <p:animEffect transition="in" filter="fade">
                                      <p:cBhvr>
                                        <p:cTn id="35" dur="1000"/>
                                        <p:tgtEl>
                                          <p:spTgt spid="32771">
                                            <p:txEl>
                                              <p:pRg st="8" end="8"/>
                                            </p:txEl>
                                          </p:spTgt>
                                        </p:tgtEl>
                                      </p:cBhvr>
                                    </p:animEffect>
                                    <p:anim calcmode="lin" valueType="num">
                                      <p:cBhvr>
                                        <p:cTn id="36" dur="1000" fill="hold"/>
                                        <p:tgtEl>
                                          <p:spTgt spid="32771">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32771">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2771">
                                            <p:txEl>
                                              <p:pRg st="9" end="9"/>
                                            </p:txEl>
                                          </p:spTgt>
                                        </p:tgtEl>
                                        <p:attrNameLst>
                                          <p:attrName>style.visibility</p:attrName>
                                        </p:attrNameLst>
                                      </p:cBhvr>
                                      <p:to>
                                        <p:strVal val="visible"/>
                                      </p:to>
                                    </p:set>
                                    <p:animEffect transition="in" filter="fade">
                                      <p:cBhvr>
                                        <p:cTn id="42" dur="1000"/>
                                        <p:tgtEl>
                                          <p:spTgt spid="32771">
                                            <p:txEl>
                                              <p:pRg st="9" end="9"/>
                                            </p:txEl>
                                          </p:spTgt>
                                        </p:tgtEl>
                                      </p:cBhvr>
                                    </p:animEffect>
                                    <p:anim calcmode="lin" valueType="num">
                                      <p:cBhvr>
                                        <p:cTn id="43" dur="1000" fill="hold"/>
                                        <p:tgtEl>
                                          <p:spTgt spid="32771">
                                            <p:txEl>
                                              <p:pRg st="9" end="9"/>
                                            </p:txEl>
                                          </p:spTgt>
                                        </p:tgtEl>
                                        <p:attrNameLst>
                                          <p:attrName>ppt_x</p:attrName>
                                        </p:attrNameLst>
                                      </p:cBhvr>
                                      <p:tavLst>
                                        <p:tav tm="0">
                                          <p:val>
                                            <p:strVal val="#ppt_x"/>
                                          </p:val>
                                        </p:tav>
                                        <p:tav tm="100000">
                                          <p:val>
                                            <p:strVal val="#ppt_x"/>
                                          </p:val>
                                        </p:tav>
                                      </p:tavLst>
                                    </p:anim>
                                    <p:anim calcmode="lin" valueType="num">
                                      <p:cBhvr>
                                        <p:cTn id="44" dur="1000" fill="hold"/>
                                        <p:tgtEl>
                                          <p:spTgt spid="32771">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2771">
                                            <p:txEl>
                                              <p:pRg st="10" end="10"/>
                                            </p:txEl>
                                          </p:spTgt>
                                        </p:tgtEl>
                                        <p:attrNameLst>
                                          <p:attrName>style.visibility</p:attrName>
                                        </p:attrNameLst>
                                      </p:cBhvr>
                                      <p:to>
                                        <p:strVal val="visible"/>
                                      </p:to>
                                    </p:set>
                                    <p:animEffect transition="in" filter="fade">
                                      <p:cBhvr>
                                        <p:cTn id="49" dur="1000"/>
                                        <p:tgtEl>
                                          <p:spTgt spid="32771">
                                            <p:txEl>
                                              <p:pRg st="10" end="10"/>
                                            </p:txEl>
                                          </p:spTgt>
                                        </p:tgtEl>
                                      </p:cBhvr>
                                    </p:animEffect>
                                    <p:anim calcmode="lin" valueType="num">
                                      <p:cBhvr>
                                        <p:cTn id="50" dur="1000" fill="hold"/>
                                        <p:tgtEl>
                                          <p:spTgt spid="32771">
                                            <p:txEl>
                                              <p:pRg st="10" end="10"/>
                                            </p:txEl>
                                          </p:spTgt>
                                        </p:tgtEl>
                                        <p:attrNameLst>
                                          <p:attrName>ppt_x</p:attrName>
                                        </p:attrNameLst>
                                      </p:cBhvr>
                                      <p:tavLst>
                                        <p:tav tm="0">
                                          <p:val>
                                            <p:strVal val="#ppt_x"/>
                                          </p:val>
                                        </p:tav>
                                        <p:tav tm="100000">
                                          <p:val>
                                            <p:strVal val="#ppt_x"/>
                                          </p:val>
                                        </p:tav>
                                      </p:tavLst>
                                    </p:anim>
                                    <p:anim calcmode="lin" valueType="num">
                                      <p:cBhvr>
                                        <p:cTn id="51" dur="1000" fill="hold"/>
                                        <p:tgtEl>
                                          <p:spTgt spid="32771">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2771">
                                            <p:txEl>
                                              <p:pRg st="11" end="11"/>
                                            </p:txEl>
                                          </p:spTgt>
                                        </p:tgtEl>
                                        <p:attrNameLst>
                                          <p:attrName>style.visibility</p:attrName>
                                        </p:attrNameLst>
                                      </p:cBhvr>
                                      <p:to>
                                        <p:strVal val="visible"/>
                                      </p:to>
                                    </p:set>
                                    <p:animEffect transition="in" filter="fade">
                                      <p:cBhvr>
                                        <p:cTn id="56" dur="1000"/>
                                        <p:tgtEl>
                                          <p:spTgt spid="32771">
                                            <p:txEl>
                                              <p:pRg st="11" end="11"/>
                                            </p:txEl>
                                          </p:spTgt>
                                        </p:tgtEl>
                                      </p:cBhvr>
                                    </p:animEffect>
                                    <p:anim calcmode="lin" valueType="num">
                                      <p:cBhvr>
                                        <p:cTn id="57" dur="1000" fill="hold"/>
                                        <p:tgtEl>
                                          <p:spTgt spid="32771">
                                            <p:txEl>
                                              <p:pRg st="11" end="11"/>
                                            </p:txEl>
                                          </p:spTgt>
                                        </p:tgtEl>
                                        <p:attrNameLst>
                                          <p:attrName>ppt_x</p:attrName>
                                        </p:attrNameLst>
                                      </p:cBhvr>
                                      <p:tavLst>
                                        <p:tav tm="0">
                                          <p:val>
                                            <p:strVal val="#ppt_x"/>
                                          </p:val>
                                        </p:tav>
                                        <p:tav tm="100000">
                                          <p:val>
                                            <p:strVal val="#ppt_x"/>
                                          </p:val>
                                        </p:tav>
                                      </p:tavLst>
                                    </p:anim>
                                    <p:anim calcmode="lin" valueType="num">
                                      <p:cBhvr>
                                        <p:cTn id="58" dur="1000" fill="hold"/>
                                        <p:tgtEl>
                                          <p:spTgt spid="32771">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867400"/>
          </a:xfrm>
        </p:spPr>
        <p:txBody>
          <a:bodyPr rtlCol="0">
            <a:normAutofit/>
          </a:bodyPr>
          <a:lstStyle/>
          <a:p>
            <a:pPr algn="just" eaLnBrk="1" fontAlgn="auto" hangingPunct="1">
              <a:spcAft>
                <a:spcPts val="0"/>
              </a:spcAft>
              <a:buFont typeface="Arial" pitchFamily="34" charset="0"/>
              <a:buChar char="•"/>
              <a:defRPr/>
            </a:pPr>
            <a:r>
              <a:rPr lang="en-US" sz="2400" b="1" u="sng" dirty="0">
                <a:solidFill>
                  <a:schemeClr val="tx1"/>
                </a:solidFill>
                <a:latin typeface="Garamond" pitchFamily="18" charset="0"/>
              </a:rPr>
              <a:t>Solar power</a:t>
            </a:r>
            <a:r>
              <a:rPr lang="en-US" sz="2400" b="1" dirty="0">
                <a:solidFill>
                  <a:schemeClr val="tx1"/>
                </a:solidFill>
                <a:latin typeface="Garamond" pitchFamily="18" charset="0"/>
              </a:rPr>
              <a:t>:</a:t>
            </a:r>
          </a:p>
          <a:p>
            <a:pPr algn="just" eaLnBrk="1" fontAlgn="auto" hangingPunct="1">
              <a:spcAft>
                <a:spcPts val="0"/>
              </a:spcAft>
              <a:buFont typeface="Arial" pitchFamily="34" charset="0"/>
              <a:buChar char="•"/>
              <a:defRPr/>
            </a:pPr>
            <a:r>
              <a:rPr lang="en-US" sz="2400" b="1" dirty="0">
                <a:solidFill>
                  <a:schemeClr val="tx1"/>
                </a:solidFill>
                <a:latin typeface="Garamond" pitchFamily="18" charset="0"/>
              </a:rPr>
              <a:t>heat from the light of the sun using solar panels &amp; photovoltaic cell (solar cell) </a:t>
            </a:r>
          </a:p>
          <a:p>
            <a:pPr algn="just" eaLnBrk="1" fontAlgn="auto" hangingPunct="1">
              <a:spcAft>
                <a:spcPts val="0"/>
              </a:spcAft>
              <a:buFont typeface="Wingdings" pitchFamily="2" charset="2"/>
              <a:buNone/>
              <a:defRPr/>
            </a:pPr>
            <a:endParaRPr lang="en-US" sz="2400" b="1" dirty="0">
              <a:solidFill>
                <a:schemeClr val="tx1"/>
              </a:solidFill>
            </a:endParaRPr>
          </a:p>
          <a:p>
            <a:pPr algn="just" eaLnBrk="1" fontAlgn="auto" hangingPunct="1">
              <a:spcAft>
                <a:spcPts val="0"/>
              </a:spcAft>
              <a:buFont typeface="Wingdings" pitchFamily="2" charset="2"/>
              <a:buNone/>
              <a:defRPr/>
            </a:pPr>
            <a:endParaRPr lang="en-US" sz="2400" b="1" dirty="0"/>
          </a:p>
          <a:p>
            <a:pPr algn="just" eaLnBrk="1" fontAlgn="auto" hangingPunct="1">
              <a:spcAft>
                <a:spcPts val="0"/>
              </a:spcAft>
              <a:buFont typeface="Wingdings" pitchFamily="2" charset="2"/>
              <a:buNone/>
              <a:defRPr/>
            </a:pPr>
            <a:endParaRPr lang="en-US" sz="2400" b="1" dirty="0"/>
          </a:p>
          <a:p>
            <a:pPr algn="just" eaLnBrk="1" fontAlgn="auto" hangingPunct="1">
              <a:spcAft>
                <a:spcPts val="0"/>
              </a:spcAft>
              <a:buFont typeface="Wingdings" pitchFamily="2" charset="2"/>
              <a:buNone/>
              <a:defRPr/>
            </a:pPr>
            <a:endParaRPr lang="en-US" sz="2400" b="1" dirty="0"/>
          </a:p>
          <a:p>
            <a:pPr algn="just" eaLnBrk="1" fontAlgn="auto" hangingPunct="1">
              <a:spcAft>
                <a:spcPts val="0"/>
              </a:spcAft>
              <a:buFont typeface="Wingdings" pitchFamily="2" charset="2"/>
              <a:buNone/>
              <a:defRPr/>
            </a:pPr>
            <a:endParaRPr lang="en-US" sz="2400" b="1" dirty="0"/>
          </a:p>
          <a:p>
            <a:pPr algn="just" eaLnBrk="1" fontAlgn="auto" hangingPunct="1">
              <a:spcAft>
                <a:spcPts val="0"/>
              </a:spcAft>
              <a:buFont typeface="Wingdings" pitchFamily="2" charset="2"/>
              <a:buNone/>
              <a:defRPr/>
            </a:pPr>
            <a:endParaRPr lang="en-US" sz="2400" b="1" dirty="0"/>
          </a:p>
          <a:p>
            <a:pPr algn="just" eaLnBrk="1" fontAlgn="auto" hangingPunct="1">
              <a:spcAft>
                <a:spcPts val="0"/>
              </a:spcAft>
              <a:buFont typeface="Wingdings" pitchFamily="2" charset="2"/>
              <a:buNone/>
              <a:defRPr/>
            </a:pPr>
            <a:endParaRPr lang="en-US" sz="2400" b="1" dirty="0"/>
          </a:p>
          <a:p>
            <a:pPr algn="just" eaLnBrk="1" fontAlgn="auto" hangingPunct="1">
              <a:spcAft>
                <a:spcPts val="0"/>
              </a:spcAft>
              <a:buFont typeface="Wingdings" pitchFamily="2" charset="2"/>
              <a:buNone/>
              <a:defRPr/>
            </a:pPr>
            <a:endParaRPr lang="en-US" sz="2400" b="1" dirty="0"/>
          </a:p>
          <a:p>
            <a:pPr algn="just" eaLnBrk="1" fontAlgn="auto" hangingPunct="1">
              <a:spcAft>
                <a:spcPts val="0"/>
              </a:spcAft>
              <a:buFont typeface="Wingdings" pitchFamily="2" charset="2"/>
              <a:buNone/>
              <a:defRPr/>
            </a:pPr>
            <a:endParaRPr lang="en-US" sz="2400" b="1" dirty="0"/>
          </a:p>
          <a:p>
            <a:pPr algn="just" eaLnBrk="1" fontAlgn="auto" hangingPunct="1">
              <a:spcAft>
                <a:spcPts val="0"/>
              </a:spcAft>
              <a:buFont typeface="Wingdings" pitchFamily="2" charset="2"/>
              <a:buNone/>
              <a:defRPr/>
            </a:pPr>
            <a:r>
              <a:rPr lang="en-US" sz="2400" b="1" dirty="0"/>
              <a:t>                                            Solar Panel</a:t>
            </a:r>
          </a:p>
        </p:txBody>
      </p:sp>
      <p:pic>
        <p:nvPicPr>
          <p:cNvPr id="33796" name="Picture 2" descr="D:\ENV 103 SGR\my slides\solar panel 2.jpg"/>
          <p:cNvPicPr>
            <a:picLocks noChangeAspect="1" noChangeArrowheads="1"/>
          </p:cNvPicPr>
          <p:nvPr/>
        </p:nvPicPr>
        <p:blipFill>
          <a:blip r:embed="rId3"/>
          <a:srcRect/>
          <a:stretch>
            <a:fillRect/>
          </a:stretch>
        </p:blipFill>
        <p:spPr bwMode="auto">
          <a:xfrm>
            <a:off x="2438400" y="2438400"/>
            <a:ext cx="4500563" cy="3200400"/>
          </a:xfrm>
          <a:prstGeom prst="rect">
            <a:avLst/>
          </a:prstGeom>
          <a:noFill/>
          <a:ln w="9525">
            <a:noFill/>
            <a:miter lim="800000"/>
            <a:headEnd/>
            <a:tailEnd/>
          </a:ln>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11" end="11"/>
                                            </p:txEl>
                                          </p:spTgt>
                                        </p:tgtEl>
                                        <p:attrNameLst>
                                          <p:attrName>style.visibility</p:attrName>
                                        </p:attrNameLst>
                                      </p:cBhvr>
                                      <p:to>
                                        <p:strVal val="visible"/>
                                      </p:to>
                                    </p:set>
                                    <p:animEffect transition="in" filter="fade">
                                      <p:cBhvr>
                                        <p:cTn id="21" dur="1000"/>
                                        <p:tgtEl>
                                          <p:spTgt spid="3">
                                            <p:txEl>
                                              <p:pRg st="11" end="11"/>
                                            </p:txEl>
                                          </p:spTgt>
                                        </p:tgtEl>
                                      </p:cBhvr>
                                    </p:animEffect>
                                    <p:anim calcmode="lin" valueType="num">
                                      <p:cBhvr>
                                        <p:cTn id="22"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nodeType="clickEffect">
                                  <p:stCondLst>
                                    <p:cond delay="0"/>
                                  </p:stCondLst>
                                  <p:childTnLst>
                                    <p:set>
                                      <p:cBhvr>
                                        <p:cTn id="27" dur="1" fill="hold">
                                          <p:stCondLst>
                                            <p:cond delay="0"/>
                                          </p:stCondLst>
                                        </p:cTn>
                                        <p:tgtEl>
                                          <p:spTgt spid="33796"/>
                                        </p:tgtEl>
                                        <p:attrNameLst>
                                          <p:attrName>style.visibility</p:attrName>
                                        </p:attrNameLst>
                                      </p:cBhvr>
                                      <p:to>
                                        <p:strVal val="visible"/>
                                      </p:to>
                                    </p:set>
                                    <p:animEffect transition="in" filter="barn(inVertical)">
                                      <p:cBhvr>
                                        <p:cTn id="28" dur="500"/>
                                        <p:tgtEl>
                                          <p:spTgt spid="337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Subtitle 2"/>
          <p:cNvSpPr>
            <a:spLocks noGrp="1"/>
          </p:cNvSpPr>
          <p:nvPr>
            <p:ph type="subTitle" idx="1"/>
          </p:nvPr>
        </p:nvSpPr>
        <p:spPr>
          <a:xfrm>
            <a:off x="381000" y="304800"/>
            <a:ext cx="8382000" cy="6019800"/>
          </a:xfrm>
        </p:spPr>
        <p:txBody>
          <a:bodyPr>
            <a:normAutofit/>
          </a:bodyPr>
          <a:lstStyle/>
          <a:p>
            <a:pPr algn="just" eaLnBrk="1" hangingPunct="1"/>
            <a:endParaRPr lang="en-US" sz="2400" b="1" dirty="0">
              <a:solidFill>
                <a:schemeClr val="tx1"/>
              </a:solidFill>
              <a:latin typeface="Garamond" pitchFamily="18" charset="0"/>
            </a:endParaRPr>
          </a:p>
          <a:p>
            <a:pPr algn="just" eaLnBrk="1" hangingPunct="1"/>
            <a:r>
              <a:rPr lang="en-US" sz="2400" b="1" dirty="0">
                <a:solidFill>
                  <a:schemeClr val="tx1"/>
                </a:solidFill>
                <a:latin typeface="Garamond" pitchFamily="18" charset="0"/>
              </a:rPr>
              <a:t>Advantage:</a:t>
            </a:r>
          </a:p>
          <a:p>
            <a:pPr algn="l"/>
            <a:r>
              <a:rPr lang="en-US" sz="2400" b="1" dirty="0">
                <a:solidFill>
                  <a:schemeClr val="tx1"/>
                </a:solidFill>
                <a:latin typeface="Garamond" pitchFamily="18" charset="0"/>
              </a:rPr>
              <a:t>* Solar power is pollution free and causes no greenhouse gases to be emitted after installation.</a:t>
            </a:r>
          </a:p>
          <a:p>
            <a:pPr algn="l"/>
            <a:r>
              <a:rPr lang="en-US" sz="2400" b="1" dirty="0">
                <a:solidFill>
                  <a:schemeClr val="tx1"/>
                </a:solidFill>
                <a:latin typeface="Garamond" pitchFamily="18" charset="0"/>
              </a:rPr>
              <a:t>* Reduced dependence on foreign oil and fossil fuels.</a:t>
            </a:r>
          </a:p>
          <a:p>
            <a:pPr algn="l"/>
            <a:r>
              <a:rPr lang="en-US" sz="2400" b="1" dirty="0">
                <a:solidFill>
                  <a:schemeClr val="tx1"/>
                </a:solidFill>
                <a:latin typeface="Garamond" pitchFamily="18" charset="0"/>
              </a:rPr>
              <a:t>* Renewable clean power that is available every day of the year, even cloudy days produce some power.</a:t>
            </a:r>
          </a:p>
          <a:p>
            <a:pPr algn="l"/>
            <a:r>
              <a:rPr lang="en-US" sz="2400" b="1" dirty="0">
                <a:solidFill>
                  <a:schemeClr val="tx1"/>
                </a:solidFill>
                <a:latin typeface="Garamond" pitchFamily="18" charset="0"/>
              </a:rPr>
              <a:t>* No monthly payment needed</a:t>
            </a:r>
          </a:p>
          <a:p>
            <a:pPr algn="just" eaLnBrk="1" hangingPunct="1"/>
            <a:endParaRPr lang="en-US" sz="2400" b="1" dirty="0">
              <a:solidFill>
                <a:schemeClr val="tx1"/>
              </a:solidFill>
              <a:latin typeface="Garamond" pitchFamily="18" charset="0"/>
            </a:endParaRPr>
          </a:p>
          <a:p>
            <a:pPr algn="just" eaLnBrk="1" hangingPunct="1"/>
            <a:r>
              <a:rPr lang="en-US" sz="2400" b="1" dirty="0">
                <a:solidFill>
                  <a:schemeClr val="tx1"/>
                </a:solidFill>
                <a:latin typeface="Garamond" pitchFamily="18" charset="0"/>
              </a:rPr>
              <a:t>Disadvantage:</a:t>
            </a:r>
          </a:p>
          <a:p>
            <a:pPr algn="just" eaLnBrk="1" hangingPunct="1">
              <a:buFontTx/>
              <a:buChar char="-"/>
            </a:pPr>
            <a:r>
              <a:rPr lang="en-US" sz="2400" b="1" dirty="0">
                <a:solidFill>
                  <a:schemeClr val="tx1"/>
                </a:solidFill>
                <a:latin typeface="Garamond" pitchFamily="18" charset="0"/>
              </a:rPr>
              <a:t> electricity produced by solar cells is not affordable due to high costs of solar cells</a:t>
            </a:r>
          </a:p>
          <a:p>
            <a:pPr algn="just" eaLnBrk="1" hangingPunct="1"/>
            <a:endParaRPr lang="en-US" sz="2400" b="1" dirty="0">
              <a:solidFill>
                <a:schemeClr val="tx1"/>
              </a:solidFill>
              <a:latin typeface="Garamond" pitchFamily="18" charset="0"/>
            </a:endParaRPr>
          </a:p>
          <a:p>
            <a:pPr algn="just" eaLnBrk="1" hangingPunct="1"/>
            <a:endParaRPr lang="en-US" sz="2400" b="1" dirty="0">
              <a:solidFill>
                <a:schemeClr val="tx1"/>
              </a:solidFill>
              <a:latin typeface="Garamond" pitchFamily="18" charset="0"/>
            </a:endParaRPr>
          </a:p>
          <a:p>
            <a:pPr algn="just" eaLnBrk="1" hangingPunct="1"/>
            <a:endParaRPr lang="en-US" sz="2400" b="1" dirty="0">
              <a:solidFill>
                <a:schemeClr val="tx1"/>
              </a:solidFill>
              <a:latin typeface="Garamond"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4819">
                                            <p:txEl>
                                              <p:pRg st="1" end="1"/>
                                            </p:txEl>
                                          </p:spTgt>
                                        </p:tgtEl>
                                        <p:attrNameLst>
                                          <p:attrName>style.visibility</p:attrName>
                                        </p:attrNameLst>
                                      </p:cBhvr>
                                      <p:to>
                                        <p:strVal val="visible"/>
                                      </p:to>
                                    </p:set>
                                    <p:animEffect transition="in" filter="barn(inVertical)">
                                      <p:cBhvr>
                                        <p:cTn id="7" dur="500"/>
                                        <p:tgtEl>
                                          <p:spTgt spid="3481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4819">
                                            <p:txEl>
                                              <p:pRg st="2" end="2"/>
                                            </p:txEl>
                                          </p:spTgt>
                                        </p:tgtEl>
                                        <p:attrNameLst>
                                          <p:attrName>style.visibility</p:attrName>
                                        </p:attrNameLst>
                                      </p:cBhvr>
                                      <p:to>
                                        <p:strVal val="visible"/>
                                      </p:to>
                                    </p:set>
                                    <p:animEffect transition="in" filter="barn(inVertical)">
                                      <p:cBhvr>
                                        <p:cTn id="12" dur="500"/>
                                        <p:tgtEl>
                                          <p:spTgt spid="3481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4819">
                                            <p:txEl>
                                              <p:pRg st="3" end="3"/>
                                            </p:txEl>
                                          </p:spTgt>
                                        </p:tgtEl>
                                        <p:attrNameLst>
                                          <p:attrName>style.visibility</p:attrName>
                                        </p:attrNameLst>
                                      </p:cBhvr>
                                      <p:to>
                                        <p:strVal val="visible"/>
                                      </p:to>
                                    </p:set>
                                    <p:animEffect transition="in" filter="barn(inVertical)">
                                      <p:cBhvr>
                                        <p:cTn id="17" dur="500"/>
                                        <p:tgtEl>
                                          <p:spTgt spid="3481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4819">
                                            <p:txEl>
                                              <p:pRg st="4" end="4"/>
                                            </p:txEl>
                                          </p:spTgt>
                                        </p:tgtEl>
                                        <p:attrNameLst>
                                          <p:attrName>style.visibility</p:attrName>
                                        </p:attrNameLst>
                                      </p:cBhvr>
                                      <p:to>
                                        <p:strVal val="visible"/>
                                      </p:to>
                                    </p:set>
                                    <p:animEffect transition="in" filter="barn(inVertical)">
                                      <p:cBhvr>
                                        <p:cTn id="22" dur="500"/>
                                        <p:tgtEl>
                                          <p:spTgt spid="3481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34819">
                                            <p:txEl>
                                              <p:pRg st="5" end="5"/>
                                            </p:txEl>
                                          </p:spTgt>
                                        </p:tgtEl>
                                        <p:attrNameLst>
                                          <p:attrName>style.visibility</p:attrName>
                                        </p:attrNameLst>
                                      </p:cBhvr>
                                      <p:to>
                                        <p:strVal val="visible"/>
                                      </p:to>
                                    </p:set>
                                    <p:animEffect transition="in" filter="barn(inVertical)">
                                      <p:cBhvr>
                                        <p:cTn id="27" dur="500"/>
                                        <p:tgtEl>
                                          <p:spTgt spid="34819">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34819">
                                            <p:txEl>
                                              <p:pRg st="7" end="7"/>
                                            </p:txEl>
                                          </p:spTgt>
                                        </p:tgtEl>
                                        <p:attrNameLst>
                                          <p:attrName>style.visibility</p:attrName>
                                        </p:attrNameLst>
                                      </p:cBhvr>
                                      <p:to>
                                        <p:strVal val="visible"/>
                                      </p:to>
                                    </p:set>
                                    <p:animEffect transition="in" filter="barn(inVertical)">
                                      <p:cBhvr>
                                        <p:cTn id="32" dur="500"/>
                                        <p:tgtEl>
                                          <p:spTgt spid="34819">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34819">
                                            <p:txEl>
                                              <p:pRg st="8" end="8"/>
                                            </p:txEl>
                                          </p:spTgt>
                                        </p:tgtEl>
                                        <p:attrNameLst>
                                          <p:attrName>style.visibility</p:attrName>
                                        </p:attrNameLst>
                                      </p:cBhvr>
                                      <p:to>
                                        <p:strVal val="visible"/>
                                      </p:to>
                                    </p:set>
                                    <p:animEffect transition="in" filter="barn(inVertical)">
                                      <p:cBhvr>
                                        <p:cTn id="37" dur="500"/>
                                        <p:tgtEl>
                                          <p:spTgt spid="3481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DDDD0-117D-4E81-A829-B818BE5082E3}"/>
              </a:ext>
            </a:extLst>
          </p:cNvPr>
          <p:cNvSpPr>
            <a:spLocks noGrp="1"/>
          </p:cNvSpPr>
          <p:nvPr>
            <p:ph type="title"/>
          </p:nvPr>
        </p:nvSpPr>
        <p:spPr>
          <a:xfrm>
            <a:off x="857250" y="609600"/>
            <a:ext cx="7406639" cy="609600"/>
          </a:xfrm>
        </p:spPr>
        <p:txBody>
          <a:bodyPr>
            <a:normAutofit fontScale="90000"/>
          </a:bodyPr>
          <a:lstStyle/>
          <a:p>
            <a:r>
              <a:rPr lang="en-US" dirty="0"/>
              <a:t>SUSTAINABLE ENERGY</a:t>
            </a:r>
          </a:p>
        </p:txBody>
      </p:sp>
      <p:sp>
        <p:nvSpPr>
          <p:cNvPr id="31747" name="Rectangle 3"/>
          <p:cNvSpPr>
            <a:spLocks noGrp="1" noChangeArrowheads="1"/>
          </p:cNvSpPr>
          <p:nvPr>
            <p:ph idx="1"/>
          </p:nvPr>
        </p:nvSpPr>
        <p:spPr/>
        <p:txBody>
          <a:bodyPr rtlCol="0">
            <a:normAutofit fontScale="92500" lnSpcReduction="20000"/>
          </a:bodyPr>
          <a:lstStyle/>
          <a:p>
            <a:pPr algn="just" eaLnBrk="1" fontAlgn="auto" hangingPunct="1">
              <a:spcAft>
                <a:spcPts val="0"/>
              </a:spcAft>
              <a:buFont typeface="Arial" pitchFamily="34" charset="0"/>
              <a:buChar char="•"/>
              <a:defRPr/>
            </a:pPr>
            <a:r>
              <a:rPr lang="en-US" sz="2800" dirty="0">
                <a:solidFill>
                  <a:schemeClr val="tx1"/>
                </a:solidFill>
                <a:latin typeface="Garamond" pitchFamily="18" charset="0"/>
              </a:rPr>
              <a:t>Sustainable energy is the provision of energy that meets the needs of the present without compromising the ability of future generations to meet their needs. Sustainable energy sources are most often regarded as including all renewable energy sources, such as solar energy, wind power, wave power, geo thermal power, and tidal power.</a:t>
            </a:r>
          </a:p>
          <a:p>
            <a:pPr algn="just" eaLnBrk="1" fontAlgn="auto" hangingPunct="1">
              <a:spcAft>
                <a:spcPts val="0"/>
              </a:spcAft>
              <a:buFont typeface="Wingdings" pitchFamily="2" charset="2"/>
              <a:buNone/>
              <a:defRPr/>
            </a:pPr>
            <a:r>
              <a:rPr lang="en-US" sz="2800" dirty="0">
                <a:solidFill>
                  <a:schemeClr val="tx1"/>
                </a:solidFill>
                <a:latin typeface="Garamond" pitchFamily="18" charset="0"/>
              </a:rPr>
              <a:t> </a:t>
            </a:r>
          </a:p>
          <a:p>
            <a:pPr algn="just" eaLnBrk="1" fontAlgn="auto" hangingPunct="1">
              <a:spcAft>
                <a:spcPts val="0"/>
              </a:spcAft>
              <a:buFont typeface="Arial" pitchFamily="34" charset="0"/>
              <a:buChar char="•"/>
              <a:defRPr/>
            </a:pPr>
            <a:r>
              <a:rPr lang="en-US" sz="2800" dirty="0">
                <a:solidFill>
                  <a:schemeClr val="tx1"/>
                </a:solidFill>
                <a:latin typeface="Garamond" pitchFamily="18" charset="0"/>
              </a:rPr>
              <a:t>Integrated energy management recognize that no single energy source can provide all the energy required by the various countries of the world. A basic goal of integrated energy management is to move toward sustainable energy development.</a:t>
            </a:r>
          </a:p>
          <a:p>
            <a:pPr eaLnBrk="1" fontAlgn="auto" hangingPunct="1">
              <a:spcAft>
                <a:spcPts val="0"/>
              </a:spcAft>
              <a:buFont typeface="Arial" pitchFamily="34" charset="0"/>
              <a:buChar char="•"/>
              <a:defRPr/>
            </a:pPr>
            <a:endParaRPr lang="en-US" sz="2800" dirty="0">
              <a:latin typeface="Garamond" pitchFamily="18" charset="0"/>
            </a:endParaRPr>
          </a:p>
        </p:txBody>
      </p:sp>
      <p:sp>
        <p:nvSpPr>
          <p:cNvPr id="3" name="TextBox 2">
            <a:extLst>
              <a:ext uri="{FF2B5EF4-FFF2-40B4-BE49-F238E27FC236}">
                <a16:creationId xmlns:a16="http://schemas.microsoft.com/office/drawing/2014/main" id="{F77ED7F6-B0DE-41F8-938C-9AE509AB3618}"/>
              </a:ext>
            </a:extLst>
          </p:cNvPr>
          <p:cNvSpPr txBox="1"/>
          <p:nvPr/>
        </p:nvSpPr>
        <p:spPr>
          <a:xfrm>
            <a:off x="3048000" y="990600"/>
            <a:ext cx="184731" cy="369332"/>
          </a:xfrm>
          <a:prstGeom prst="rect">
            <a:avLst/>
          </a:prstGeom>
          <a:noFill/>
        </p:spPr>
        <p:txBody>
          <a:bodyPr wrap="none" rtlCol="0">
            <a:spAutoFit/>
          </a:bodyPr>
          <a:lstStyle/>
          <a:p>
            <a:endParaRPr 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1747">
                                            <p:txEl>
                                              <p:pRg st="0" end="0"/>
                                            </p:txEl>
                                          </p:spTgt>
                                        </p:tgtEl>
                                        <p:attrNameLst>
                                          <p:attrName>style.visibility</p:attrName>
                                        </p:attrNameLst>
                                      </p:cBhvr>
                                      <p:to>
                                        <p:strVal val="visible"/>
                                      </p:to>
                                    </p:set>
                                    <p:animEffect transition="in" filter="fade">
                                      <p:cBhvr>
                                        <p:cTn id="14" dur="1000"/>
                                        <p:tgtEl>
                                          <p:spTgt spid="31747">
                                            <p:txEl>
                                              <p:pRg st="0" end="0"/>
                                            </p:txEl>
                                          </p:spTgt>
                                        </p:tgtEl>
                                      </p:cBhvr>
                                    </p:animEffect>
                                    <p:anim calcmode="lin" valueType="num">
                                      <p:cBhvr>
                                        <p:cTn id="15" dur="1000" fill="hold"/>
                                        <p:tgtEl>
                                          <p:spTgt spid="3174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174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1747">
                                            <p:txEl>
                                              <p:pRg st="1" end="1"/>
                                            </p:txEl>
                                          </p:spTgt>
                                        </p:tgtEl>
                                        <p:attrNameLst>
                                          <p:attrName>style.visibility</p:attrName>
                                        </p:attrNameLst>
                                      </p:cBhvr>
                                      <p:to>
                                        <p:strVal val="visible"/>
                                      </p:to>
                                    </p:set>
                                    <p:animEffect transition="in" filter="fade">
                                      <p:cBhvr>
                                        <p:cTn id="21" dur="1000"/>
                                        <p:tgtEl>
                                          <p:spTgt spid="31747">
                                            <p:txEl>
                                              <p:pRg st="1" end="1"/>
                                            </p:txEl>
                                          </p:spTgt>
                                        </p:tgtEl>
                                      </p:cBhvr>
                                    </p:animEffect>
                                    <p:anim calcmode="lin" valueType="num">
                                      <p:cBhvr>
                                        <p:cTn id="22" dur="1000" fill="hold"/>
                                        <p:tgtEl>
                                          <p:spTgt spid="3174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174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1747">
                                            <p:txEl>
                                              <p:pRg st="2" end="2"/>
                                            </p:txEl>
                                          </p:spTgt>
                                        </p:tgtEl>
                                        <p:attrNameLst>
                                          <p:attrName>style.visibility</p:attrName>
                                        </p:attrNameLst>
                                      </p:cBhvr>
                                      <p:to>
                                        <p:strVal val="visible"/>
                                      </p:to>
                                    </p:set>
                                    <p:animEffect transition="in" filter="fade">
                                      <p:cBhvr>
                                        <p:cTn id="28" dur="1000"/>
                                        <p:tgtEl>
                                          <p:spTgt spid="31747">
                                            <p:txEl>
                                              <p:pRg st="2" end="2"/>
                                            </p:txEl>
                                          </p:spTgt>
                                        </p:tgtEl>
                                      </p:cBhvr>
                                    </p:animEffect>
                                    <p:anim calcmode="lin" valueType="num">
                                      <p:cBhvr>
                                        <p:cTn id="29" dur="1000" fill="hold"/>
                                        <p:tgtEl>
                                          <p:spTgt spid="3174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1747">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1747"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763000" cy="1143000"/>
          </a:xfrm>
        </p:spPr>
        <p:txBody>
          <a:bodyPr rtlCol="0">
            <a:normAutofit/>
          </a:bodyPr>
          <a:lstStyle/>
          <a:p>
            <a:pPr eaLnBrk="1" fontAlgn="auto" hangingPunct="1">
              <a:spcAft>
                <a:spcPts val="0"/>
              </a:spcAft>
              <a:defRPr/>
            </a:pPr>
            <a:r>
              <a:rPr lang="en-US" sz="2800" b="1" dirty="0">
                <a:solidFill>
                  <a:schemeClr val="accent4">
                    <a:lumMod val="10000"/>
                  </a:schemeClr>
                </a:solidFill>
                <a:latin typeface="Garamond" pitchFamily="18" charset="0"/>
              </a:rPr>
              <a:t>Characteristics of sustainable energy development</a:t>
            </a:r>
          </a:p>
        </p:txBody>
      </p:sp>
      <p:sp>
        <p:nvSpPr>
          <p:cNvPr id="41987" name="Content Placeholder 2"/>
          <p:cNvSpPr>
            <a:spLocks noGrp="1"/>
          </p:cNvSpPr>
          <p:nvPr>
            <p:ph idx="1"/>
          </p:nvPr>
        </p:nvSpPr>
        <p:spPr>
          <a:xfrm>
            <a:off x="457200" y="1752600"/>
            <a:ext cx="8229600" cy="4378325"/>
          </a:xfrm>
        </p:spPr>
        <p:txBody>
          <a:bodyPr/>
          <a:lstStyle/>
          <a:p>
            <a:pPr algn="just" eaLnBrk="1" hangingPunct="1"/>
            <a:r>
              <a:rPr lang="en-US" sz="2400" dirty="0">
                <a:solidFill>
                  <a:schemeClr val="tx1"/>
                </a:solidFill>
              </a:rPr>
              <a:t>It would provide reliable source of energy</a:t>
            </a:r>
          </a:p>
          <a:p>
            <a:pPr algn="just" eaLnBrk="1" hangingPunct="1"/>
            <a:r>
              <a:rPr lang="en-US" sz="2400" dirty="0">
                <a:solidFill>
                  <a:schemeClr val="tx1"/>
                </a:solidFill>
              </a:rPr>
              <a:t>It would not cause destruction or serious harm to our global or local environments</a:t>
            </a:r>
          </a:p>
          <a:p>
            <a:pPr algn="just" eaLnBrk="1" hangingPunct="1"/>
            <a:r>
              <a:rPr lang="en-US" sz="2400" dirty="0">
                <a:solidFill>
                  <a:schemeClr val="tx1"/>
                </a:solidFill>
              </a:rPr>
              <a:t>It would help ensure the future  generations inherit a quality environment with a fair share of the earth’s resources.</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41987">
                                            <p:txEl>
                                              <p:pRg st="0" end="0"/>
                                            </p:txEl>
                                          </p:spTgt>
                                        </p:tgtEl>
                                        <p:attrNameLst>
                                          <p:attrName>style.visibility</p:attrName>
                                        </p:attrNameLst>
                                      </p:cBhvr>
                                      <p:to>
                                        <p:strVal val="visible"/>
                                      </p:to>
                                    </p:set>
                                    <p:animEffect transition="in" filter="fade">
                                      <p:cBhvr>
                                        <p:cTn id="12" dur="1000"/>
                                        <p:tgtEl>
                                          <p:spTgt spid="41987">
                                            <p:txEl>
                                              <p:pRg st="0" end="0"/>
                                            </p:txEl>
                                          </p:spTgt>
                                        </p:tgtEl>
                                      </p:cBhvr>
                                    </p:animEffect>
                                    <p:anim calcmode="lin" valueType="num">
                                      <p:cBhvr>
                                        <p:cTn id="13" dur="1000" fill="hold"/>
                                        <p:tgtEl>
                                          <p:spTgt spid="41987">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4198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41987">
                                            <p:txEl>
                                              <p:pRg st="1" end="1"/>
                                            </p:txEl>
                                          </p:spTgt>
                                        </p:tgtEl>
                                        <p:attrNameLst>
                                          <p:attrName>style.visibility</p:attrName>
                                        </p:attrNameLst>
                                      </p:cBhvr>
                                      <p:to>
                                        <p:strVal val="visible"/>
                                      </p:to>
                                    </p:set>
                                    <p:animEffect transition="in" filter="fade">
                                      <p:cBhvr>
                                        <p:cTn id="19" dur="1000"/>
                                        <p:tgtEl>
                                          <p:spTgt spid="41987">
                                            <p:txEl>
                                              <p:pRg st="1" end="1"/>
                                            </p:txEl>
                                          </p:spTgt>
                                        </p:tgtEl>
                                      </p:cBhvr>
                                    </p:animEffect>
                                    <p:anim calcmode="lin" valueType="num">
                                      <p:cBhvr>
                                        <p:cTn id="20" dur="1000" fill="hold"/>
                                        <p:tgtEl>
                                          <p:spTgt spid="4198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4198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41987">
                                            <p:txEl>
                                              <p:pRg st="2" end="2"/>
                                            </p:txEl>
                                          </p:spTgt>
                                        </p:tgtEl>
                                        <p:attrNameLst>
                                          <p:attrName>style.visibility</p:attrName>
                                        </p:attrNameLst>
                                      </p:cBhvr>
                                      <p:to>
                                        <p:strVal val="visible"/>
                                      </p:to>
                                    </p:set>
                                    <p:animEffect transition="in" filter="fade">
                                      <p:cBhvr>
                                        <p:cTn id="26" dur="1000"/>
                                        <p:tgtEl>
                                          <p:spTgt spid="41987">
                                            <p:txEl>
                                              <p:pRg st="2" end="2"/>
                                            </p:txEl>
                                          </p:spTgt>
                                        </p:tgtEl>
                                      </p:cBhvr>
                                    </p:animEffect>
                                    <p:anim calcmode="lin" valueType="num">
                                      <p:cBhvr>
                                        <p:cTn id="27" dur="1000" fill="hold"/>
                                        <p:tgtEl>
                                          <p:spTgt spid="41987">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41987">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1987"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B6BAE6-0132-43C4-A0AF-6F0C374F6E2F}"/>
              </a:ext>
            </a:extLst>
          </p:cNvPr>
          <p:cNvSpPr>
            <a:spLocks noGrp="1"/>
          </p:cNvSpPr>
          <p:nvPr>
            <p:ph idx="1"/>
          </p:nvPr>
        </p:nvSpPr>
        <p:spPr>
          <a:xfrm>
            <a:off x="2667000" y="3009900"/>
            <a:ext cx="3486149" cy="838200"/>
          </a:xfrm>
        </p:spPr>
        <p:txBody>
          <a:bodyPr>
            <a:normAutofit/>
          </a:bodyPr>
          <a:lstStyle/>
          <a:p>
            <a:pPr marL="34290" indent="0">
              <a:buNone/>
            </a:pPr>
            <a:r>
              <a:rPr lang="en-US" sz="4400" dirty="0"/>
              <a:t>THANK YOU</a:t>
            </a:r>
          </a:p>
        </p:txBody>
      </p:sp>
    </p:spTree>
    <p:custDataLst>
      <p:tags r:id="rId1"/>
    </p:custDataLst>
    <p:extLst>
      <p:ext uri="{BB962C8B-B14F-4D97-AF65-F5344CB8AC3E}">
        <p14:creationId xmlns:p14="http://schemas.microsoft.com/office/powerpoint/2010/main" val="3842525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ags/tag1.xml><?xml version="1.0" encoding="utf-8"?>
<p:tagLst xmlns:a="http://schemas.openxmlformats.org/drawingml/2006/main" xmlns:r="http://schemas.openxmlformats.org/officeDocument/2006/relationships" xmlns:p="http://schemas.openxmlformats.org/presentationml/2006/main">
  <p:tag name="TIMING" val="|0.4"/>
</p:tagLst>
</file>

<file path=ppt/tags/tag2.xml><?xml version="1.0" encoding="utf-8"?>
<p:tagLst xmlns:a="http://schemas.openxmlformats.org/drawingml/2006/main" xmlns:r="http://schemas.openxmlformats.org/officeDocument/2006/relationships" xmlns:p="http://schemas.openxmlformats.org/presentationml/2006/main">
  <p:tag name="TIMING" val="|0.6|2|12.4"/>
</p:tagLst>
</file>

<file path=ppt/tags/tag3.xml><?xml version="1.0" encoding="utf-8"?>
<p:tagLst xmlns:a="http://schemas.openxmlformats.org/drawingml/2006/main" xmlns:r="http://schemas.openxmlformats.org/officeDocument/2006/relationships" xmlns:p="http://schemas.openxmlformats.org/presentationml/2006/main">
  <p:tag name="TIMING" val="|0.6|2.2|23.6"/>
</p:tagLst>
</file>

<file path=ppt/tags/tag4.xml><?xml version="1.0" encoding="utf-8"?>
<p:tagLst xmlns:a="http://schemas.openxmlformats.org/drawingml/2006/main" xmlns:r="http://schemas.openxmlformats.org/officeDocument/2006/relationships" xmlns:p="http://schemas.openxmlformats.org/presentationml/2006/main">
  <p:tag name="TIMING" val="|0.7|3.9|74.1|10.6"/>
</p:tagLst>
</file>

<file path=ppt/tags/tag5.xml><?xml version="1.0" encoding="utf-8"?>
<p:tagLst xmlns:a="http://schemas.openxmlformats.org/drawingml/2006/main" xmlns:r="http://schemas.openxmlformats.org/officeDocument/2006/relationships" xmlns:p="http://schemas.openxmlformats.org/presentationml/2006/main">
  <p:tag name="TIMING" val="|0.5|6"/>
</p:tagLst>
</file>

<file path=ppt/tags/tag6.xml><?xml version="1.0" encoding="utf-8"?>
<p:tagLst xmlns:a="http://schemas.openxmlformats.org/drawingml/2006/main" xmlns:r="http://schemas.openxmlformats.org/officeDocument/2006/relationships" xmlns:p="http://schemas.openxmlformats.org/presentationml/2006/main">
  <p:tag name="TIMING" val="|0.6|3|25.7|4.9"/>
</p:tagLst>
</file>

<file path=ppt/tags/tag7.xml><?xml version="1.0" encoding="utf-8"?>
<p:tagLst xmlns:a="http://schemas.openxmlformats.org/drawingml/2006/main" xmlns:r="http://schemas.openxmlformats.org/officeDocument/2006/relationships" xmlns:p="http://schemas.openxmlformats.org/presentationml/2006/main">
  <p:tag name="TIMING" val="|0.6|4.6|12|19.3|2.6"/>
</p:tagLst>
</file>

<file path=ppt/tags/tag8.xml><?xml version="1.0" encoding="utf-8"?>
<p:tagLst xmlns:a="http://schemas.openxmlformats.org/drawingml/2006/main" xmlns:r="http://schemas.openxmlformats.org/officeDocument/2006/relationships" xmlns:p="http://schemas.openxmlformats.org/presentationml/2006/main">
  <p:tag name="TIMING" val="|0.7|2|17.1|2.9|9.9|3.2"/>
</p:tagLst>
</file>

<file path=ppt/tags/tag9.xml><?xml version="1.0" encoding="utf-8"?>
<p:tagLst xmlns:a="http://schemas.openxmlformats.org/drawingml/2006/main" xmlns:r="http://schemas.openxmlformats.org/officeDocument/2006/relationships" xmlns:p="http://schemas.openxmlformats.org/presentationml/2006/main">
  <p:tag name="TIMING" val="|0.9|18|4.1|16.1"/>
</p:tagLst>
</file>

<file path=ppt/tags/tag10.xml><?xml version="1.0" encoding="utf-8"?>
<p:tagLst xmlns:a="http://schemas.openxmlformats.org/drawingml/2006/main" xmlns:r="http://schemas.openxmlformats.org/officeDocument/2006/relationships" xmlns:p="http://schemas.openxmlformats.org/presentationml/2006/main">
  <p:tag name="TIMING" val="|0.5|1.2|19.2|7.5|11.1|23.7"/>
</p:tagLst>
</file>

<file path=ppt/tags/tag11.xml><?xml version="1.0" encoding="utf-8"?>
<p:tagLst xmlns:a="http://schemas.openxmlformats.org/drawingml/2006/main" xmlns:r="http://schemas.openxmlformats.org/officeDocument/2006/relationships" xmlns:p="http://schemas.openxmlformats.org/presentationml/2006/main">
  <p:tag name="TIMING" val="|0.4|1.1|9.6|15.5|22.6|1.6"/>
</p:tagLst>
</file>

<file path=ppt/tags/tag12.xml><?xml version="1.0" encoding="utf-8"?>
<p:tagLst xmlns:a="http://schemas.openxmlformats.org/drawingml/2006/main" xmlns:r="http://schemas.openxmlformats.org/officeDocument/2006/relationships" xmlns:p="http://schemas.openxmlformats.org/presentationml/2006/main">
  <p:tag name="TIMING" val="|0.5|4.1|4.1|2.4|8.9|22.5"/>
</p:tagLst>
</file>

<file path=ppt/tags/tag13.xml><?xml version="1.0" encoding="utf-8"?>
<p:tagLst xmlns:a="http://schemas.openxmlformats.org/drawingml/2006/main" xmlns:r="http://schemas.openxmlformats.org/officeDocument/2006/relationships" xmlns:p="http://schemas.openxmlformats.org/presentationml/2006/main">
  <p:tag name="TIMING" val="|0.7|6.8|3.9|6.9|6.4|9"/>
</p:tagLst>
</file>

<file path=ppt/tags/tag14.xml><?xml version="1.0" encoding="utf-8"?>
<p:tagLst xmlns:a="http://schemas.openxmlformats.org/drawingml/2006/main" xmlns:r="http://schemas.openxmlformats.org/officeDocument/2006/relationships" xmlns:p="http://schemas.openxmlformats.org/presentationml/2006/main">
  <p:tag name="TIMING" val="|0.5|49|5.5|5.9|6.6"/>
</p:tagLst>
</file>

<file path=ppt/tags/tag15.xml><?xml version="1.0" encoding="utf-8"?>
<p:tagLst xmlns:a="http://schemas.openxmlformats.org/drawingml/2006/main" xmlns:r="http://schemas.openxmlformats.org/officeDocument/2006/relationships" xmlns:p="http://schemas.openxmlformats.org/presentationml/2006/main">
  <p:tag name="TIMING" val="|0.6|2.9|6.8|7|8"/>
</p:tagLst>
</file>

<file path=ppt/tags/tag16.xml><?xml version="1.0" encoding="utf-8"?>
<p:tagLst xmlns:a="http://schemas.openxmlformats.org/drawingml/2006/main" xmlns:r="http://schemas.openxmlformats.org/officeDocument/2006/relationships" xmlns:p="http://schemas.openxmlformats.org/presentationml/2006/main">
  <p:tag name="TIMING" val="|0.5|18.2|1|4.2|4.8|2.9|3|0.5|0.6"/>
</p:tagLst>
</file>

<file path=ppt/tags/tag17.xml><?xml version="1.0" encoding="utf-8"?>
<p:tagLst xmlns:a="http://schemas.openxmlformats.org/drawingml/2006/main" xmlns:r="http://schemas.openxmlformats.org/officeDocument/2006/relationships" xmlns:p="http://schemas.openxmlformats.org/presentationml/2006/main">
  <p:tag name="TIMING" val="|0.8|2.5|3.5|3.2|7.2|3.8|5.1|8"/>
</p:tagLst>
</file>

<file path=ppt/tags/tag18.xml><?xml version="1.0" encoding="utf-8"?>
<p:tagLst xmlns:a="http://schemas.openxmlformats.org/drawingml/2006/main" xmlns:r="http://schemas.openxmlformats.org/officeDocument/2006/relationships" xmlns:p="http://schemas.openxmlformats.org/presentationml/2006/main">
  <p:tag name="TIMING" val="|0.6|3.3|7.5|2"/>
</p:tagLst>
</file>

<file path=ppt/tags/tag19.xml><?xml version="1.0" encoding="utf-8"?>
<p:tagLst xmlns:a="http://schemas.openxmlformats.org/drawingml/2006/main" xmlns:r="http://schemas.openxmlformats.org/officeDocument/2006/relationships" xmlns:p="http://schemas.openxmlformats.org/presentationml/2006/main">
  <p:tag name="TIMING" val="|0.8|2.2|7.4|5.7|8.3|3.3|3"/>
</p:tagLst>
</file>

<file path=ppt/tags/tag20.xml><?xml version="1.0" encoding="utf-8"?>
<p:tagLst xmlns:a="http://schemas.openxmlformats.org/drawingml/2006/main" xmlns:r="http://schemas.openxmlformats.org/officeDocument/2006/relationships" xmlns:p="http://schemas.openxmlformats.org/presentationml/2006/main">
  <p:tag name="TIMING" val="|0.6|1.6|25.3|0.7"/>
</p:tagLst>
</file>

<file path=ppt/tags/tag21.xml><?xml version="1.0" encoding="utf-8"?>
<p:tagLst xmlns:a="http://schemas.openxmlformats.org/drawingml/2006/main" xmlns:r="http://schemas.openxmlformats.org/officeDocument/2006/relationships" xmlns:p="http://schemas.openxmlformats.org/presentationml/2006/main">
  <p:tag name="TIMING" val="|0.6|3.6|4.5|6.6"/>
</p:tagLst>
</file>

<file path=ppt/tags/tag22.xml><?xml version="1.0" encoding="utf-8"?>
<p:tagLst xmlns:a="http://schemas.openxmlformats.org/drawingml/2006/main" xmlns:r="http://schemas.openxmlformats.org/officeDocument/2006/relationships" xmlns:p="http://schemas.openxmlformats.org/presentationml/2006/main">
  <p:tag name="TIMING" val="|0.5"/>
</p:tagLst>
</file>

<file path=ppt/theme/theme1.xml><?xml version="1.0" encoding="utf-8"?>
<a:theme xmlns:a="http://schemas.openxmlformats.org/drawingml/2006/main" name="Basis">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TM03457444[[fn=Basis]]</Template>
  <TotalTime>1156</TotalTime>
  <Words>1260</Words>
  <Application>Microsoft Office PowerPoint</Application>
  <PresentationFormat>On-screen Show (4:3)</PresentationFormat>
  <Paragraphs>166</Paragraphs>
  <Slides>22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Bahnschrift</vt:lpstr>
      <vt:lpstr>Calibri</vt:lpstr>
      <vt:lpstr>Corbel</vt:lpstr>
      <vt:lpstr>Garamond</vt:lpstr>
      <vt:lpstr>Wingdings</vt:lpstr>
      <vt:lpstr>Basis</vt:lpstr>
      <vt:lpstr>PowerPoint Presentation</vt:lpstr>
      <vt:lpstr>PowerPoint Presentation</vt:lpstr>
      <vt:lpstr>PowerPoint Presentation</vt:lpstr>
      <vt:lpstr>Non-renewable sources</vt:lpstr>
      <vt:lpstr>Renewable sources</vt:lpstr>
      <vt:lpstr>Concern regarding energy</vt:lpstr>
      <vt:lpstr>PowerPoint Presentation</vt:lpstr>
      <vt:lpstr>PowerPoint Presentation</vt:lpstr>
      <vt:lpstr>PowerPoint Presentation</vt:lpstr>
      <vt:lpstr>Natural gas</vt:lpstr>
      <vt:lpstr>Oil </vt:lpstr>
      <vt:lpstr>Alternative sources of energy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SUSTAINABLE ENERGY</vt:lpstr>
      <vt:lpstr>Characteristics of sustainable energy development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asif.rahman</dc:creator>
  <cp:lastModifiedBy>moushumi_geo@outlook.com</cp:lastModifiedBy>
  <cp:revision>57</cp:revision>
  <dcterms:created xsi:type="dcterms:W3CDTF">2013-03-11T08:53:18Z</dcterms:created>
  <dcterms:modified xsi:type="dcterms:W3CDTF">2023-11-26T10:26:09Z</dcterms:modified>
</cp:coreProperties>
</file>