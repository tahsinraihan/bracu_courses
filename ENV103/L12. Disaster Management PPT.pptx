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15"/>
  </p:notesMasterIdLst>
  <p:handoutMasterIdLst>
    <p:handoutMasterId r:id="rId16"/>
  </p:handoutMasterIdLst>
  <p:sldIdLst>
    <p:sldId id="264" r:id="rId2"/>
    <p:sldId id="257" r:id="rId3"/>
    <p:sldId id="258" r:id="rId4"/>
    <p:sldId id="265" r:id="rId5"/>
    <p:sldId id="266" r:id="rId6"/>
    <p:sldId id="268" r:id="rId7"/>
    <p:sldId id="269" r:id="rId8"/>
    <p:sldId id="262" r:id="rId9"/>
    <p:sldId id="271" r:id="rId10"/>
    <p:sldId id="267" r:id="rId11"/>
    <p:sldId id="263" r:id="rId12"/>
    <p:sldId id="260" r:id="rId13"/>
    <p:sldId id="272" r:id="rId14"/>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p:cViewPr varScale="1">
        <p:scale>
          <a:sx n="86" d="100"/>
          <a:sy n="86" d="100"/>
        </p:scale>
        <p:origin x="1291"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C8ECF0FB-799B-46EA-A835-C9D7C2C4F312}" type="datetimeFigureOut">
              <a:rPr lang="en-US" smtClean="0"/>
              <a:pPr/>
              <a:t>8/21/2020</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A7BA0443-C80F-4595-B112-8B8C0A3F7E0B}" type="slidenum">
              <a:rPr lang="en-US" smtClean="0"/>
              <a:pPr/>
              <a:t>‹#›</a:t>
            </a:fld>
            <a:endParaRPr lang="en-US"/>
          </a:p>
        </p:txBody>
      </p:sp>
    </p:spTree>
    <p:extLst>
      <p:ext uri="{BB962C8B-B14F-4D97-AF65-F5344CB8AC3E}">
        <p14:creationId xmlns:p14="http://schemas.microsoft.com/office/powerpoint/2010/main" val="6766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5138"/>
          </a:xfrm>
          <a:prstGeom prst="rect">
            <a:avLst/>
          </a:prstGeom>
        </p:spPr>
        <p:txBody>
          <a:bodyPr vert="horz" lIns="91440" tIns="45720" rIns="91440" bIns="45720" rtlCol="0"/>
          <a:lstStyle>
            <a:lvl1pPr algn="r">
              <a:defRPr sz="1200"/>
            </a:lvl1pPr>
          </a:lstStyle>
          <a:p>
            <a:fld id="{43A56063-5998-4D81-8820-D47268AFD437}" type="datetimeFigureOut">
              <a:rPr lang="en-US" smtClean="0"/>
              <a:pPr/>
              <a:t>8/21/2020</a:t>
            </a:fld>
            <a:endParaRPr lang="en-US"/>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16425"/>
            <a:ext cx="5505450" cy="41830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5138"/>
          </a:xfrm>
          <a:prstGeom prst="rect">
            <a:avLst/>
          </a:prstGeom>
        </p:spPr>
        <p:txBody>
          <a:bodyPr vert="horz" lIns="91440" tIns="45720" rIns="91440" bIns="45720" rtlCol="0" anchor="b"/>
          <a:lstStyle>
            <a:lvl1pPr algn="r">
              <a:defRPr sz="1200"/>
            </a:lvl1pPr>
          </a:lstStyle>
          <a:p>
            <a:fld id="{AC87D4BA-5DC1-4F07-B729-34A8B475F75B}" type="slidenum">
              <a:rPr lang="en-US" smtClean="0"/>
              <a:pPr/>
              <a:t>‹#›</a:t>
            </a:fld>
            <a:endParaRPr lang="en-US"/>
          </a:p>
        </p:txBody>
      </p:sp>
    </p:spTree>
    <p:extLst>
      <p:ext uri="{BB962C8B-B14F-4D97-AF65-F5344CB8AC3E}">
        <p14:creationId xmlns:p14="http://schemas.microsoft.com/office/powerpoint/2010/main" val="2448748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7D4BA-5DC1-4F07-B729-34A8B475F75B}" type="slidenum">
              <a:rPr lang="en-US" smtClean="0"/>
              <a:pPr/>
              <a:t>1</a:t>
            </a:fld>
            <a:endParaRPr lang="en-US"/>
          </a:p>
        </p:txBody>
      </p:sp>
    </p:spTree>
    <p:extLst>
      <p:ext uri="{BB962C8B-B14F-4D97-AF65-F5344CB8AC3E}">
        <p14:creationId xmlns:p14="http://schemas.microsoft.com/office/powerpoint/2010/main" val="2522614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1D8BD707-D9CF-40AE-B4C6-C98DA3205C09}" type="datetimeFigureOut">
              <a:rPr lang="en-US" smtClean="0"/>
              <a:pPr/>
              <a:t>8/21/2020</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B6F15528-21DE-4FAA-801E-634DDDAF4B2B}" type="slidenum">
              <a:rPr lang="en-US" smtClean="0"/>
              <a:pPr/>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3558786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1D8BD707-D9CF-40AE-B4C6-C98DA3205C09}" type="datetimeFigureOut">
              <a:rPr lang="en-US" smtClean="0"/>
              <a:pPr/>
              <a:t>8/21/2020</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B6F15528-21DE-4FAA-801E-634DDDAF4B2B}" type="slidenum">
              <a:rPr lang="en-US" smtClean="0"/>
              <a:pPr/>
              <a:t>‹#›</a:t>
            </a:fld>
            <a:endParaRPr lang="en-US"/>
          </a:p>
        </p:txBody>
      </p:sp>
      <p:pic>
        <p:nvPicPr>
          <p:cNvPr id="8" name="Picture 7" descr="A picture containing drawing, shirt&#10;&#10;Description automatically generated">
            <a:extLst>
              <a:ext uri="{FF2B5EF4-FFF2-40B4-BE49-F238E27FC236}">
                <a16:creationId xmlns:a16="http://schemas.microsoft.com/office/drawing/2014/main" id="{0F306AE3-F028-4200-B8D2-2C8359AA75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050" y="5981700"/>
            <a:ext cx="876300" cy="876300"/>
          </a:xfrm>
          <a:prstGeom prst="rect">
            <a:avLst/>
          </a:prstGeom>
        </p:spPr>
      </p:pic>
      <p:sp>
        <p:nvSpPr>
          <p:cNvPr id="9" name="TextBox 8">
            <a:extLst>
              <a:ext uri="{FF2B5EF4-FFF2-40B4-BE49-F238E27FC236}">
                <a16:creationId xmlns:a16="http://schemas.microsoft.com/office/drawing/2014/main" id="{7A9FCBA1-3AA0-420E-91C7-1BFEE49F484A}"/>
              </a:ext>
            </a:extLst>
          </p:cNvPr>
          <p:cNvSpPr txBox="1"/>
          <p:nvPr userDrawn="1"/>
        </p:nvSpPr>
        <p:spPr>
          <a:xfrm>
            <a:off x="8001000" y="76200"/>
            <a:ext cx="1066800" cy="38100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t>ENV-103</a:t>
            </a:r>
          </a:p>
        </p:txBody>
      </p:sp>
    </p:spTree>
    <p:extLst>
      <p:ext uri="{BB962C8B-B14F-4D97-AF65-F5344CB8AC3E}">
        <p14:creationId xmlns:p14="http://schemas.microsoft.com/office/powerpoint/2010/main" val="184446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1579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606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3261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5310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559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720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8/21/2020</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5952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2941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7845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0996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7437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983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8133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3406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506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pPr/>
              <a:t>8/21/2020</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2048077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rawing, shirt&#10;&#10;Description automatically generated">
            <a:extLst>
              <a:ext uri="{FF2B5EF4-FFF2-40B4-BE49-F238E27FC236}">
                <a16:creationId xmlns:a16="http://schemas.microsoft.com/office/drawing/2014/main" id="{97CD00F5-D549-4417-A28E-565ECE44EE1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24799" y="5619948"/>
            <a:ext cx="1238051" cy="1238051"/>
          </a:xfrm>
          <a:prstGeom prst="rect">
            <a:avLst/>
          </a:prstGeom>
        </p:spPr>
      </p:pic>
      <p:sp>
        <p:nvSpPr>
          <p:cNvPr id="5" name="Rectangle: Rounded Corners 4">
            <a:extLst>
              <a:ext uri="{FF2B5EF4-FFF2-40B4-BE49-F238E27FC236}">
                <a16:creationId xmlns:a16="http://schemas.microsoft.com/office/drawing/2014/main" id="{68DBE504-36DD-4DF3-BFA6-D020600871BA}"/>
              </a:ext>
            </a:extLst>
          </p:cNvPr>
          <p:cNvSpPr/>
          <p:nvPr/>
        </p:nvSpPr>
        <p:spPr>
          <a:xfrm>
            <a:off x="7162800" y="152400"/>
            <a:ext cx="1875132" cy="762000"/>
          </a:xfrm>
          <a:prstGeom prst="roundRect">
            <a:avLst>
              <a:gd name="adj" fmla="val 5000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ENV 103</a:t>
            </a:r>
          </a:p>
        </p:txBody>
      </p:sp>
      <p:sp>
        <p:nvSpPr>
          <p:cNvPr id="22" name="Rectangle 8">
            <a:extLst>
              <a:ext uri="{FF2B5EF4-FFF2-40B4-BE49-F238E27FC236}">
                <a16:creationId xmlns:a16="http://schemas.microsoft.com/office/drawing/2014/main" id="{BCA21346-96F2-44B2-9542-49C4E5988051}"/>
              </a:ext>
            </a:extLst>
          </p:cNvPr>
          <p:cNvSpPr>
            <a:spLocks noGrp="1" noChangeArrowheads="1"/>
          </p:cNvSpPr>
          <p:nvPr>
            <p:ph type="title"/>
          </p:nvPr>
        </p:nvSpPr>
        <p:spPr>
          <a:xfrm>
            <a:off x="355149" y="1619435"/>
            <a:ext cx="8915400" cy="1524000"/>
          </a:xfrm>
        </p:spPr>
        <p:txBody>
          <a:bodyPr vert="horz" wrap="square" lIns="91440" tIns="45720" rIns="91440" bIns="45720" numCol="1" anchorCtr="0" compatLnSpc="1">
            <a:prstTxWarp prst="textNoShape">
              <a:avLst/>
            </a:prstTxWarp>
            <a:normAutofit fontScale="90000"/>
          </a:bodyPr>
          <a:lstStyle/>
          <a:p>
            <a:pPr>
              <a:defRPr/>
            </a:pPr>
            <a:r>
              <a:rPr lang="en-US" sz="5400" dirty="0">
                <a:latin typeface="Garamond" pitchFamily="18" charset="0"/>
              </a:rPr>
              <a:t>Management of Environmental hazards/ Disaster Management</a:t>
            </a:r>
            <a:endParaRPr lang="en-US" sz="5400" b="1" dirty="0">
              <a:solidFill>
                <a:schemeClr val="tx1"/>
              </a:solidFill>
              <a:effectLst>
                <a:outerShdw blurRad="38100" dist="38100" dir="2700000" algn="tl">
                  <a:srgbClr val="C0C0C0"/>
                </a:outerShdw>
              </a:effectLst>
              <a:latin typeface="Garamond" pitchFamily="18" charset="0"/>
            </a:endParaRPr>
          </a:p>
        </p:txBody>
      </p:sp>
    </p:spTree>
    <p:custDataLst>
      <p:tags r:id="rId1"/>
    </p:custDataLst>
    <p:extLst>
      <p:ext uri="{BB962C8B-B14F-4D97-AF65-F5344CB8AC3E}">
        <p14:creationId xmlns:p14="http://schemas.microsoft.com/office/powerpoint/2010/main" val="31463648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a:extLst>
              <a:ext uri="{FF2B5EF4-FFF2-40B4-BE49-F238E27FC236}">
                <a16:creationId xmlns:a16="http://schemas.microsoft.com/office/drawing/2014/main" id="{A25ED779-2297-4E1C-BF61-E84B4E352A1C}"/>
              </a:ext>
            </a:extLst>
          </p:cNvPr>
          <p:cNvSpPr>
            <a:spLocks noGrp="1" noRot="1" noChangeArrowheads="1"/>
          </p:cNvSpPr>
          <p:nvPr>
            <p:ph idx="1"/>
          </p:nvPr>
        </p:nvSpPr>
        <p:spPr>
          <a:xfrm>
            <a:off x="1066800" y="1295400"/>
            <a:ext cx="7620000" cy="4760913"/>
          </a:xfrm>
        </p:spPr>
        <p:txBody>
          <a:bodyPr>
            <a:normAutofit lnSpcReduction="10000"/>
          </a:bodyPr>
          <a:lstStyle/>
          <a:p>
            <a:pPr marL="274320" indent="-274320" algn="just" eaLnBrk="1" fontAlgn="auto" hangingPunct="1">
              <a:lnSpc>
                <a:spcPct val="90000"/>
              </a:lnSpc>
              <a:spcAft>
                <a:spcPts val="0"/>
              </a:spcAft>
              <a:buClr>
                <a:schemeClr val="accent3"/>
              </a:buClr>
              <a:buFont typeface="Wingdings" pitchFamily="2" charset="2"/>
              <a:buNone/>
              <a:defRPr/>
            </a:pPr>
            <a:endParaRPr lang="en-US" sz="2400" dirty="0">
              <a:latin typeface="Garamond" pitchFamily="18" charset="0"/>
            </a:endParaRPr>
          </a:p>
          <a:p>
            <a:pPr marL="0" indent="0" algn="just" eaLnBrk="1" fontAlgn="auto" hangingPunct="1">
              <a:lnSpc>
                <a:spcPct val="90000"/>
              </a:lnSpc>
              <a:spcAft>
                <a:spcPts val="0"/>
              </a:spcAft>
              <a:buClr>
                <a:schemeClr val="accent3"/>
              </a:buClr>
              <a:buNone/>
              <a:defRPr/>
            </a:pPr>
            <a:r>
              <a:rPr lang="en-US" sz="2800" dirty="0">
                <a:latin typeface="Garamond" pitchFamily="18" charset="0"/>
              </a:rPr>
              <a:t>Efforts must be taken by environment or disaster management planners to minimize the impacts of environmental hazards through proper environmental hazard/disaster management planning. </a:t>
            </a:r>
          </a:p>
          <a:p>
            <a:pPr marL="274320" indent="-274320" algn="just" eaLnBrk="1" fontAlgn="auto" hangingPunct="1">
              <a:lnSpc>
                <a:spcPct val="90000"/>
              </a:lnSpc>
              <a:spcAft>
                <a:spcPts val="0"/>
              </a:spcAft>
              <a:buClr>
                <a:schemeClr val="accent3"/>
              </a:buClr>
              <a:buFont typeface="Wingdings 2"/>
              <a:buNone/>
              <a:defRPr/>
            </a:pPr>
            <a:endParaRPr lang="en-US" sz="2800" dirty="0">
              <a:latin typeface="Garamond" pitchFamily="18" charset="0"/>
            </a:endParaRPr>
          </a:p>
          <a:p>
            <a:pPr marL="274320" indent="-274320" algn="just" eaLnBrk="1" fontAlgn="auto" hangingPunct="1">
              <a:spcAft>
                <a:spcPts val="0"/>
              </a:spcAft>
              <a:buClr>
                <a:schemeClr val="accent3"/>
              </a:buClr>
              <a:buFont typeface="Wingdings 2"/>
              <a:buNone/>
              <a:defRPr/>
            </a:pPr>
            <a:r>
              <a:rPr lang="en-US" sz="2800" dirty="0">
                <a:latin typeface="Garamond" pitchFamily="18" charset="0"/>
              </a:rPr>
              <a:t>   Disaster management can be defined as the organization and management of resources and responsibilities for dealing with all humanitarian aspects of emergencies, in particular preparedness, response and recovery in order to lessen the impact of disasters.</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403">
                                            <p:txEl>
                                              <p:pRg st="1" end="1"/>
                                            </p:txEl>
                                          </p:spTgt>
                                        </p:tgtEl>
                                        <p:attrNameLst>
                                          <p:attrName>style.visibility</p:attrName>
                                        </p:attrNameLst>
                                      </p:cBhvr>
                                      <p:to>
                                        <p:strVal val="visible"/>
                                      </p:to>
                                    </p:set>
                                    <p:animEffect transition="in" filter="fade">
                                      <p:cBhvr>
                                        <p:cTn id="7" dur="1000"/>
                                        <p:tgtEl>
                                          <p:spTgt spid="102403">
                                            <p:txEl>
                                              <p:pRg st="1" end="1"/>
                                            </p:txEl>
                                          </p:spTgt>
                                        </p:tgtEl>
                                      </p:cBhvr>
                                    </p:animEffect>
                                    <p:anim calcmode="lin" valueType="num">
                                      <p:cBhvr>
                                        <p:cTn id="8" dur="1000" fill="hold"/>
                                        <p:tgtEl>
                                          <p:spTgt spid="10240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240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2403">
                                            <p:txEl>
                                              <p:pRg st="3" end="3"/>
                                            </p:txEl>
                                          </p:spTgt>
                                        </p:tgtEl>
                                        <p:attrNameLst>
                                          <p:attrName>style.visibility</p:attrName>
                                        </p:attrNameLst>
                                      </p:cBhvr>
                                      <p:to>
                                        <p:strVal val="visible"/>
                                      </p:to>
                                    </p:set>
                                    <p:animEffect transition="in" filter="fade">
                                      <p:cBhvr>
                                        <p:cTn id="14" dur="1000"/>
                                        <p:tgtEl>
                                          <p:spTgt spid="102403">
                                            <p:txEl>
                                              <p:pRg st="3" end="3"/>
                                            </p:txEl>
                                          </p:spTgt>
                                        </p:tgtEl>
                                      </p:cBhvr>
                                    </p:animEffect>
                                    <p:anim calcmode="lin" valueType="num">
                                      <p:cBhvr>
                                        <p:cTn id="15" dur="1000" fill="hold"/>
                                        <p:tgtEl>
                                          <p:spTgt spid="10240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0240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4718859C-D573-457C-B7D6-289059236769}"/>
              </a:ext>
            </a:extLst>
          </p:cNvPr>
          <p:cNvSpPr>
            <a:spLocks noGrp="1" noRot="1"/>
          </p:cNvSpPr>
          <p:nvPr>
            <p:ph idx="1"/>
          </p:nvPr>
        </p:nvSpPr>
        <p:spPr>
          <a:xfrm>
            <a:off x="685800" y="1295400"/>
            <a:ext cx="8001000" cy="4381500"/>
          </a:xfrm>
        </p:spPr>
        <p:txBody>
          <a:bodyPr>
            <a:normAutofit/>
          </a:bodyPr>
          <a:lstStyle/>
          <a:p>
            <a:pPr algn="just" eaLnBrk="1" hangingPunct="1"/>
            <a:endParaRPr lang="en-US" altLang="en-US" sz="2800" dirty="0">
              <a:latin typeface="Garamond" panose="02020404030301010803" pitchFamily="18" charset="0"/>
            </a:endParaRPr>
          </a:p>
          <a:p>
            <a:pPr algn="just"/>
            <a:r>
              <a:rPr lang="en-US" altLang="en-US" sz="3200" b="1" dirty="0">
                <a:latin typeface="Garamond" panose="02020404030301010803" pitchFamily="18" charset="0"/>
              </a:rPr>
              <a:t>Phases of disaster management</a:t>
            </a:r>
          </a:p>
          <a:p>
            <a:pPr lvl="2" algn="just" eaLnBrk="1" hangingPunct="1"/>
            <a:r>
              <a:rPr lang="en-US" altLang="en-US" sz="3200" dirty="0">
                <a:latin typeface="Garamond" panose="02020404030301010803" pitchFamily="18" charset="0"/>
              </a:rPr>
              <a:t>Preventions and /mitigation</a:t>
            </a:r>
          </a:p>
          <a:p>
            <a:pPr lvl="2" algn="just" eaLnBrk="1" hangingPunct="1"/>
            <a:r>
              <a:rPr lang="en-US" altLang="en-US" sz="3200" dirty="0">
                <a:latin typeface="Garamond" panose="02020404030301010803" pitchFamily="18" charset="0"/>
              </a:rPr>
              <a:t>Preparedness</a:t>
            </a:r>
          </a:p>
          <a:p>
            <a:pPr lvl="2" algn="just" eaLnBrk="1" hangingPunct="1"/>
            <a:r>
              <a:rPr lang="en-US" altLang="en-US" sz="3200" dirty="0">
                <a:latin typeface="Garamond" panose="02020404030301010803" pitchFamily="18" charset="0"/>
              </a:rPr>
              <a:t>Emergency response</a:t>
            </a:r>
          </a:p>
          <a:p>
            <a:pPr lvl="2" algn="just" eaLnBrk="1" hangingPunct="1"/>
            <a:r>
              <a:rPr lang="en-US" altLang="en-US" sz="3200" dirty="0">
                <a:latin typeface="Garamond" panose="02020404030301010803" pitchFamily="18" charset="0"/>
              </a:rPr>
              <a:t>Recovery and rehabilitation</a:t>
            </a:r>
          </a:p>
          <a:p>
            <a:pPr lvl="1" eaLnBrk="1" hangingPunct="1">
              <a:buFont typeface="Wingdings" panose="05000000000000000000" pitchFamily="2" charset="2"/>
              <a:buNone/>
            </a:pPr>
            <a:endParaRPr lang="en-US" altLang="en-US"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1" end="1"/>
                                            </p:txEl>
                                          </p:spTgt>
                                        </p:tgtEl>
                                        <p:attrNameLst>
                                          <p:attrName>style.visibility</p:attrName>
                                        </p:attrNameLst>
                                      </p:cBhvr>
                                      <p:to>
                                        <p:strVal val="visible"/>
                                      </p:to>
                                    </p:set>
                                    <p:anim calcmode="lin" valueType="num">
                                      <p:cBhvr additive="base">
                                        <p:cTn id="7"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2" end="2"/>
                                            </p:txEl>
                                          </p:spTgt>
                                        </p:tgtEl>
                                        <p:attrNameLst>
                                          <p:attrName>style.visibility</p:attrName>
                                        </p:attrNameLst>
                                      </p:cBhvr>
                                      <p:to>
                                        <p:strVal val="visible"/>
                                      </p:to>
                                    </p:set>
                                    <p:anim calcmode="lin" valueType="num">
                                      <p:cBhvr additive="base">
                                        <p:cTn id="13"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0">
                                            <p:txEl>
                                              <p:pRg st="3" end="3"/>
                                            </p:txEl>
                                          </p:spTgt>
                                        </p:tgtEl>
                                        <p:attrNameLst>
                                          <p:attrName>style.visibility</p:attrName>
                                        </p:attrNameLst>
                                      </p:cBhvr>
                                      <p:to>
                                        <p:strVal val="visible"/>
                                      </p:to>
                                    </p:set>
                                    <p:anim calcmode="lin" valueType="num">
                                      <p:cBhvr additive="base">
                                        <p:cTn id="19" dur="500" fill="hold"/>
                                        <p:tgtEl>
                                          <p:spTgt spid="717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170">
                                            <p:txEl>
                                              <p:pRg st="4" end="4"/>
                                            </p:txEl>
                                          </p:spTgt>
                                        </p:tgtEl>
                                        <p:attrNameLst>
                                          <p:attrName>style.visibility</p:attrName>
                                        </p:attrNameLst>
                                      </p:cBhvr>
                                      <p:to>
                                        <p:strVal val="visible"/>
                                      </p:to>
                                    </p:set>
                                    <p:anim calcmode="lin" valueType="num">
                                      <p:cBhvr additive="base">
                                        <p:cTn id="25" dur="500" fill="hold"/>
                                        <p:tgtEl>
                                          <p:spTgt spid="717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170">
                                            <p:txEl>
                                              <p:pRg st="5" end="5"/>
                                            </p:txEl>
                                          </p:spTgt>
                                        </p:tgtEl>
                                        <p:attrNameLst>
                                          <p:attrName>style.visibility</p:attrName>
                                        </p:attrNameLst>
                                      </p:cBhvr>
                                      <p:to>
                                        <p:strVal val="visible"/>
                                      </p:to>
                                    </p:set>
                                    <p:anim calcmode="lin" valueType="num">
                                      <p:cBhvr additive="base">
                                        <p:cTn id="31" dur="500" fill="hold"/>
                                        <p:tgtEl>
                                          <p:spTgt spid="717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7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1E10B68-66CF-4FD1-9471-D2139D524965}"/>
              </a:ext>
            </a:extLst>
          </p:cNvPr>
          <p:cNvSpPr>
            <a:spLocks noGrp="1" noRot="1"/>
          </p:cNvSpPr>
          <p:nvPr>
            <p:ph type="title"/>
          </p:nvPr>
        </p:nvSpPr>
        <p:spPr>
          <a:xfrm>
            <a:off x="379412" y="457200"/>
            <a:ext cx="8385175" cy="746125"/>
          </a:xfrm>
        </p:spPr>
        <p:txBody>
          <a:bodyPr/>
          <a:lstStyle/>
          <a:p>
            <a:pPr algn="ctr" eaLnBrk="1" hangingPunct="1"/>
            <a:r>
              <a:rPr lang="en-US" altLang="en-US" sz="3600" b="1" dirty="0">
                <a:solidFill>
                  <a:schemeClr val="tx1"/>
                </a:solidFill>
                <a:latin typeface="Garamond" panose="02020404030301010803" pitchFamily="18" charset="0"/>
              </a:rPr>
              <a:t>Phase 1: Preventions and/ Mitigation</a:t>
            </a:r>
          </a:p>
        </p:txBody>
      </p:sp>
      <p:sp>
        <p:nvSpPr>
          <p:cNvPr id="9219" name="Rectangle 3">
            <a:extLst>
              <a:ext uri="{FF2B5EF4-FFF2-40B4-BE49-F238E27FC236}">
                <a16:creationId xmlns:a16="http://schemas.microsoft.com/office/drawing/2014/main" id="{7A35136A-69DC-4BA3-B113-C63DA8635271}"/>
              </a:ext>
            </a:extLst>
          </p:cNvPr>
          <p:cNvSpPr>
            <a:spLocks noGrp="1" noRot="1" noChangeArrowheads="1"/>
          </p:cNvSpPr>
          <p:nvPr>
            <p:ph idx="1"/>
          </p:nvPr>
        </p:nvSpPr>
        <p:spPr>
          <a:xfrm>
            <a:off x="682625" y="1826981"/>
            <a:ext cx="8007350" cy="5029200"/>
          </a:xfrm>
        </p:spPr>
        <p:txBody>
          <a:bodyPr/>
          <a:lstStyle/>
          <a:p>
            <a:pPr algn="just" eaLnBrk="1" hangingPunct="1">
              <a:defRPr/>
            </a:pPr>
            <a:endParaRPr lang="en-US" dirty="0">
              <a:latin typeface="Garamond" pitchFamily="18" charset="0"/>
            </a:endParaRPr>
          </a:p>
          <a:p>
            <a:pPr marL="273050" lvl="1" indent="-273050" algn="just" eaLnBrk="1" hangingPunct="1">
              <a:buClr>
                <a:srgbClr val="0BD0D9"/>
              </a:buClr>
              <a:buSzPct val="95000"/>
              <a:defRPr/>
            </a:pPr>
            <a:r>
              <a:rPr lang="en-US" sz="2800" dirty="0">
                <a:latin typeface="Garamond" pitchFamily="18" charset="0"/>
              </a:rPr>
              <a:t>It is a long term plan and activities for eliminating damage from hazards.</a:t>
            </a:r>
          </a:p>
          <a:p>
            <a:pPr algn="just" eaLnBrk="1" hangingPunct="1">
              <a:defRPr/>
            </a:pPr>
            <a:r>
              <a:rPr lang="en-US" sz="2800" dirty="0">
                <a:latin typeface="Garamond" pitchFamily="18" charset="0"/>
              </a:rPr>
              <a:t>Human beings cannot prevent the environmental hazards.</a:t>
            </a:r>
          </a:p>
          <a:p>
            <a:pPr algn="just" eaLnBrk="1" hangingPunct="1">
              <a:defRPr/>
            </a:pPr>
            <a:r>
              <a:rPr lang="en-US" sz="2800" dirty="0">
                <a:latin typeface="Garamond" pitchFamily="18" charset="0"/>
              </a:rPr>
              <a:t>They can find out some measures to mitigate  the problems of environmental hazards.</a:t>
            </a:r>
          </a:p>
          <a:p>
            <a:pPr lvl="1" algn="just" eaLnBrk="1" hangingPunct="1">
              <a:defRPr/>
            </a:pPr>
            <a:r>
              <a:rPr lang="en-US" sz="2800" dirty="0">
                <a:latin typeface="Garamond" pitchFamily="18" charset="0"/>
              </a:rPr>
              <a:t>Plinth level of the houses may be increased</a:t>
            </a:r>
          </a:p>
          <a:p>
            <a:pPr lvl="1" algn="just" eaLnBrk="1" hangingPunct="1">
              <a:defRPr/>
            </a:pPr>
            <a:r>
              <a:rPr lang="en-US" sz="2800" dirty="0">
                <a:latin typeface="Garamond" pitchFamily="18" charset="0"/>
              </a:rPr>
              <a:t>Embankment</a:t>
            </a:r>
          </a:p>
          <a:p>
            <a:pPr lvl="1" algn="just" eaLnBrk="1" hangingPunct="1">
              <a:buFont typeface="Wingdings 2" panose="05020102010507070707" pitchFamily="18" charset="2"/>
              <a:buNone/>
              <a:defRPr/>
            </a:pPr>
            <a:endParaRPr lang="en-US" sz="2800" dirty="0">
              <a:latin typeface="Garamond" pitchFamily="18" charset="0"/>
            </a:endParaRPr>
          </a:p>
          <a:p>
            <a:pPr lvl="1" algn="just" eaLnBrk="1" hangingPunct="1">
              <a:buFont typeface="Wingdings 2" panose="05020102010507070707" pitchFamily="18" charset="2"/>
              <a:buNone/>
              <a:defRPr/>
            </a:pPr>
            <a:endParaRPr lang="en-US" dirty="0">
              <a:latin typeface="Garamond" pitchFamily="18" charset="0"/>
            </a:endParaRPr>
          </a:p>
          <a:p>
            <a:pPr eaLnBrk="1" hangingPunct="1">
              <a:buFont typeface="Wingdings" pitchFamily="2" charset="2"/>
              <a:buNone/>
              <a:defRPr/>
            </a:pPr>
            <a:endParaRPr lang="en-US" dirty="0">
              <a:latin typeface="Garamond"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ppt_x"/>
                                          </p:val>
                                        </p:tav>
                                        <p:tav tm="100000">
                                          <p:val>
                                            <p:strVal val="#ppt_x"/>
                                          </p:val>
                                        </p:tav>
                                      </p:tavLst>
                                    </p:anim>
                                    <p:anim calcmode="lin" valueType="num">
                                      <p:cBhvr additive="base">
                                        <p:cTn id="8" dur="500" fill="hold"/>
                                        <p:tgtEl>
                                          <p:spTgt spid="92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19">
                                            <p:txEl>
                                              <p:pRg st="1" end="1"/>
                                            </p:txEl>
                                          </p:spTgt>
                                        </p:tgtEl>
                                        <p:attrNameLst>
                                          <p:attrName>style.visibility</p:attrName>
                                        </p:attrNameLst>
                                      </p:cBhvr>
                                      <p:to>
                                        <p:strVal val="visible"/>
                                      </p:to>
                                    </p:set>
                                    <p:anim calcmode="lin" valueType="num">
                                      <p:cBhvr additive="base">
                                        <p:cTn id="13"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19">
                                            <p:txEl>
                                              <p:pRg st="2" end="2"/>
                                            </p:txEl>
                                          </p:spTgt>
                                        </p:tgtEl>
                                        <p:attrNameLst>
                                          <p:attrName>style.visibility</p:attrName>
                                        </p:attrNameLst>
                                      </p:cBhvr>
                                      <p:to>
                                        <p:strVal val="visible"/>
                                      </p:to>
                                    </p:set>
                                    <p:anim calcmode="lin" valueType="num">
                                      <p:cBhvr additive="base">
                                        <p:cTn id="19" dur="500" fill="hold"/>
                                        <p:tgtEl>
                                          <p:spTgt spid="92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19">
                                            <p:txEl>
                                              <p:pRg st="3" end="3"/>
                                            </p:txEl>
                                          </p:spTgt>
                                        </p:tgtEl>
                                        <p:attrNameLst>
                                          <p:attrName>style.visibility</p:attrName>
                                        </p:attrNameLst>
                                      </p:cBhvr>
                                      <p:to>
                                        <p:strVal val="visible"/>
                                      </p:to>
                                    </p:set>
                                    <p:anim calcmode="lin" valueType="num">
                                      <p:cBhvr additive="base">
                                        <p:cTn id="25" dur="500" fill="hold"/>
                                        <p:tgtEl>
                                          <p:spTgt spid="92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19">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219">
                                            <p:txEl>
                                              <p:pRg st="4" end="4"/>
                                            </p:txEl>
                                          </p:spTgt>
                                        </p:tgtEl>
                                        <p:attrNameLst>
                                          <p:attrName>style.visibility</p:attrName>
                                        </p:attrNameLst>
                                      </p:cBhvr>
                                      <p:to>
                                        <p:strVal val="visible"/>
                                      </p:to>
                                    </p:set>
                                    <p:anim calcmode="lin" valueType="num">
                                      <p:cBhvr additive="base">
                                        <p:cTn id="29"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219">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219">
                                            <p:txEl>
                                              <p:pRg st="5" end="5"/>
                                            </p:txEl>
                                          </p:spTgt>
                                        </p:tgtEl>
                                        <p:attrNameLst>
                                          <p:attrName>style.visibility</p:attrName>
                                        </p:attrNameLst>
                                      </p:cBhvr>
                                      <p:to>
                                        <p:strVal val="visible"/>
                                      </p:to>
                                    </p:set>
                                    <p:anim calcmode="lin" valueType="num">
                                      <p:cBhvr additive="base">
                                        <p:cTn id="33" dur="500" fill="hold"/>
                                        <p:tgtEl>
                                          <p:spTgt spid="9219">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21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p:bldP spid="921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3A5E3D9-E32F-4BA3-B6CF-F511FB695066}"/>
              </a:ext>
            </a:extLst>
          </p:cNvPr>
          <p:cNvSpPr>
            <a:spLocks noGrp="1" noRot="1"/>
          </p:cNvSpPr>
          <p:nvPr>
            <p:ph type="title"/>
          </p:nvPr>
        </p:nvSpPr>
        <p:spPr>
          <a:xfrm>
            <a:off x="228600" y="228600"/>
            <a:ext cx="8385175" cy="762000"/>
          </a:xfrm>
        </p:spPr>
        <p:txBody>
          <a:bodyPr/>
          <a:lstStyle/>
          <a:p>
            <a:pPr algn="ctr" eaLnBrk="1" hangingPunct="1"/>
            <a:r>
              <a:rPr lang="en-US" altLang="en-US" sz="3600" b="1" dirty="0">
                <a:solidFill>
                  <a:schemeClr val="tx1"/>
                </a:solidFill>
                <a:latin typeface="Garamond" panose="02020404030301010803" pitchFamily="18" charset="0"/>
              </a:rPr>
              <a:t>Phase 2 : Preparedness</a:t>
            </a:r>
          </a:p>
        </p:txBody>
      </p:sp>
      <p:sp>
        <p:nvSpPr>
          <p:cNvPr id="10243" name="Rectangle 3">
            <a:extLst>
              <a:ext uri="{FF2B5EF4-FFF2-40B4-BE49-F238E27FC236}">
                <a16:creationId xmlns:a16="http://schemas.microsoft.com/office/drawing/2014/main" id="{307FF141-A632-4251-8907-C34EF6D69E31}"/>
              </a:ext>
            </a:extLst>
          </p:cNvPr>
          <p:cNvSpPr>
            <a:spLocks noGrp="1" noRot="1"/>
          </p:cNvSpPr>
          <p:nvPr>
            <p:ph idx="1"/>
          </p:nvPr>
        </p:nvSpPr>
        <p:spPr>
          <a:xfrm>
            <a:off x="381000" y="1143000"/>
            <a:ext cx="8464550" cy="5029200"/>
          </a:xfrm>
        </p:spPr>
        <p:txBody>
          <a:bodyPr/>
          <a:lstStyle/>
          <a:p>
            <a:pPr algn="just" eaLnBrk="1" hangingPunct="1">
              <a:buFont typeface="Wingdings 2" panose="05020102010507070707" pitchFamily="18" charset="2"/>
              <a:buNone/>
            </a:pPr>
            <a:endParaRPr lang="en-US" altLang="en-US" sz="2800" dirty="0">
              <a:latin typeface="Garamond" panose="02020404030301010803" pitchFamily="18" charset="0"/>
            </a:endParaRPr>
          </a:p>
          <a:p>
            <a:pPr marL="273050" lvl="1" indent="-273050" algn="just" eaLnBrk="1" hangingPunct="1">
              <a:buClr>
                <a:srgbClr val="0BD0D9"/>
              </a:buClr>
              <a:buSzPct val="95000"/>
            </a:pPr>
            <a:r>
              <a:rPr lang="en-US" altLang="en-US" sz="2800" dirty="0">
                <a:latin typeface="Garamond" panose="02020404030301010803" pitchFamily="18" charset="0"/>
              </a:rPr>
              <a:t>Short time measure to reduce the impact of hazards which is impending.</a:t>
            </a:r>
          </a:p>
          <a:p>
            <a:pPr algn="just" eaLnBrk="1" hangingPunct="1">
              <a:buFont typeface="Wingdings 2" panose="05020102010507070707" pitchFamily="18" charset="2"/>
              <a:buNone/>
            </a:pPr>
            <a:r>
              <a:rPr lang="en-US" altLang="en-US" sz="2800" dirty="0">
                <a:latin typeface="Garamond" panose="02020404030301010803" pitchFamily="18" charset="0"/>
              </a:rPr>
              <a:t>            - Forecast</a:t>
            </a:r>
          </a:p>
          <a:p>
            <a:pPr algn="just" eaLnBrk="1" hangingPunct="1">
              <a:buFont typeface="Wingdings 2" panose="05020102010507070707" pitchFamily="18" charset="2"/>
              <a:buNone/>
            </a:pPr>
            <a:r>
              <a:rPr lang="en-US" altLang="en-US" sz="2800" dirty="0">
                <a:latin typeface="Garamond" panose="02020404030301010803" pitchFamily="18" charset="0"/>
              </a:rPr>
              <a:t>            -Warning</a:t>
            </a:r>
          </a:p>
          <a:p>
            <a:pPr algn="just" eaLnBrk="1" hangingPunct="1">
              <a:buFont typeface="Wingdings 2" panose="05020102010507070707" pitchFamily="18" charset="2"/>
              <a:buNone/>
            </a:pPr>
            <a:r>
              <a:rPr lang="en-US" altLang="en-US" sz="2800" dirty="0">
                <a:latin typeface="Garamond" panose="02020404030301010803" pitchFamily="18" charset="0"/>
              </a:rPr>
              <a:t>            -Evacuation</a:t>
            </a:r>
          </a:p>
          <a:p>
            <a:pPr algn="just" eaLnBrk="1" hangingPunct="1">
              <a:buFont typeface="Wingdings 2" panose="05020102010507070707" pitchFamily="18" charset="2"/>
              <a:buNone/>
            </a:pPr>
            <a:r>
              <a:rPr lang="en-US" altLang="en-US" sz="2800" dirty="0">
                <a:latin typeface="Garamond" panose="02020404030301010803" pitchFamily="18" charset="0"/>
              </a:rPr>
              <a:t>            -Stock piling of food and medical supplies</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fade">
                                      <p:cBhvr>
                                        <p:cTn id="7" dur="1000"/>
                                        <p:tgtEl>
                                          <p:spTgt spid="10242"/>
                                        </p:tgtEl>
                                      </p:cBhvr>
                                    </p:animEffect>
                                    <p:anim calcmode="lin" valueType="num">
                                      <p:cBhvr>
                                        <p:cTn id="8" dur="1000" fill="hold"/>
                                        <p:tgtEl>
                                          <p:spTgt spid="10242"/>
                                        </p:tgtEl>
                                        <p:attrNameLst>
                                          <p:attrName>ppt_x</p:attrName>
                                        </p:attrNameLst>
                                      </p:cBhvr>
                                      <p:tavLst>
                                        <p:tav tm="0">
                                          <p:val>
                                            <p:strVal val="#ppt_x"/>
                                          </p:val>
                                        </p:tav>
                                        <p:tav tm="100000">
                                          <p:val>
                                            <p:strVal val="#ppt_x"/>
                                          </p:val>
                                        </p:tav>
                                      </p:tavLst>
                                    </p:anim>
                                    <p:anim calcmode="lin" valueType="num">
                                      <p:cBhvr>
                                        <p:cTn id="9" dur="1000" fill="hold"/>
                                        <p:tgtEl>
                                          <p:spTgt spid="1024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43">
                                            <p:txEl>
                                              <p:pRg st="1" end="1"/>
                                            </p:txEl>
                                          </p:spTgt>
                                        </p:tgtEl>
                                        <p:attrNameLst>
                                          <p:attrName>style.visibility</p:attrName>
                                        </p:attrNameLst>
                                      </p:cBhvr>
                                      <p:to>
                                        <p:strVal val="visible"/>
                                      </p:to>
                                    </p:set>
                                    <p:animEffect transition="in" filter="fade">
                                      <p:cBhvr>
                                        <p:cTn id="14" dur="1000"/>
                                        <p:tgtEl>
                                          <p:spTgt spid="10243">
                                            <p:txEl>
                                              <p:pRg st="1" end="1"/>
                                            </p:txEl>
                                          </p:spTgt>
                                        </p:tgtEl>
                                      </p:cBhvr>
                                    </p:animEffect>
                                    <p:anim calcmode="lin" valueType="num">
                                      <p:cBhvr>
                                        <p:cTn id="15" dur="10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2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243">
                                            <p:txEl>
                                              <p:pRg st="2" end="2"/>
                                            </p:txEl>
                                          </p:spTgt>
                                        </p:tgtEl>
                                        <p:attrNameLst>
                                          <p:attrName>style.visibility</p:attrName>
                                        </p:attrNameLst>
                                      </p:cBhvr>
                                      <p:to>
                                        <p:strVal val="visible"/>
                                      </p:to>
                                    </p:set>
                                    <p:animEffect transition="in" filter="fade">
                                      <p:cBhvr>
                                        <p:cTn id="21" dur="1000"/>
                                        <p:tgtEl>
                                          <p:spTgt spid="10243">
                                            <p:txEl>
                                              <p:pRg st="2" end="2"/>
                                            </p:txEl>
                                          </p:spTgt>
                                        </p:tgtEl>
                                      </p:cBhvr>
                                    </p:animEffect>
                                    <p:anim calcmode="lin" valueType="num">
                                      <p:cBhvr>
                                        <p:cTn id="22" dur="10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24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243">
                                            <p:txEl>
                                              <p:pRg st="3" end="3"/>
                                            </p:txEl>
                                          </p:spTgt>
                                        </p:tgtEl>
                                        <p:attrNameLst>
                                          <p:attrName>style.visibility</p:attrName>
                                        </p:attrNameLst>
                                      </p:cBhvr>
                                      <p:to>
                                        <p:strVal val="visible"/>
                                      </p:to>
                                    </p:set>
                                    <p:animEffect transition="in" filter="fade">
                                      <p:cBhvr>
                                        <p:cTn id="28" dur="1000"/>
                                        <p:tgtEl>
                                          <p:spTgt spid="10243">
                                            <p:txEl>
                                              <p:pRg st="3" end="3"/>
                                            </p:txEl>
                                          </p:spTgt>
                                        </p:tgtEl>
                                      </p:cBhvr>
                                    </p:animEffect>
                                    <p:anim calcmode="lin" valueType="num">
                                      <p:cBhvr>
                                        <p:cTn id="29" dur="10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024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243">
                                            <p:txEl>
                                              <p:pRg st="4" end="4"/>
                                            </p:txEl>
                                          </p:spTgt>
                                        </p:tgtEl>
                                        <p:attrNameLst>
                                          <p:attrName>style.visibility</p:attrName>
                                        </p:attrNameLst>
                                      </p:cBhvr>
                                      <p:to>
                                        <p:strVal val="visible"/>
                                      </p:to>
                                    </p:set>
                                    <p:animEffect transition="in" filter="fade">
                                      <p:cBhvr>
                                        <p:cTn id="35" dur="1000"/>
                                        <p:tgtEl>
                                          <p:spTgt spid="10243">
                                            <p:txEl>
                                              <p:pRg st="4" end="4"/>
                                            </p:txEl>
                                          </p:spTgt>
                                        </p:tgtEl>
                                      </p:cBhvr>
                                    </p:animEffect>
                                    <p:anim calcmode="lin" valueType="num">
                                      <p:cBhvr>
                                        <p:cTn id="36" dur="10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024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243">
                                            <p:txEl>
                                              <p:pRg st="5" end="5"/>
                                            </p:txEl>
                                          </p:spTgt>
                                        </p:tgtEl>
                                        <p:attrNameLst>
                                          <p:attrName>style.visibility</p:attrName>
                                        </p:attrNameLst>
                                      </p:cBhvr>
                                      <p:to>
                                        <p:strVal val="visible"/>
                                      </p:to>
                                    </p:set>
                                    <p:animEffect transition="in" filter="fade">
                                      <p:cBhvr>
                                        <p:cTn id="42" dur="1000"/>
                                        <p:tgtEl>
                                          <p:spTgt spid="10243">
                                            <p:txEl>
                                              <p:pRg st="5" end="5"/>
                                            </p:txEl>
                                          </p:spTgt>
                                        </p:tgtEl>
                                      </p:cBhvr>
                                    </p:animEffect>
                                    <p:anim calcmode="lin" valueType="num">
                                      <p:cBhvr>
                                        <p:cTn id="43" dur="10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024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919D663D-4CA4-4606-80D5-C439A2A82E01}"/>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9677" r="1066"/>
          <a:stretch/>
        </p:blipFill>
        <p:spPr>
          <a:xfrm>
            <a:off x="1447800" y="1143000"/>
            <a:ext cx="6484937" cy="4267200"/>
          </a:xfrm>
          <a:noFill/>
        </p:spPr>
      </p:pic>
      <p:sp>
        <p:nvSpPr>
          <p:cNvPr id="11267" name="TextBox 4">
            <a:extLst>
              <a:ext uri="{FF2B5EF4-FFF2-40B4-BE49-F238E27FC236}">
                <a16:creationId xmlns:a16="http://schemas.microsoft.com/office/drawing/2014/main" id="{B549C6D9-7804-4F2A-91F4-0534D2EEFDFD}"/>
              </a:ext>
            </a:extLst>
          </p:cNvPr>
          <p:cNvSpPr txBox="1">
            <a:spLocks noChangeArrowheads="1"/>
          </p:cNvSpPr>
          <p:nvPr/>
        </p:nvSpPr>
        <p:spPr bwMode="auto">
          <a:xfrm>
            <a:off x="2057400" y="5562600"/>
            <a:ext cx="441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Fighting during disaster</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barn(inVertical)">
                                      <p:cBhvr>
                                        <p:cTn id="7" dur="500"/>
                                        <p:tgtEl>
                                          <p:spTgt spid="1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09029CD4-3AE2-4B2A-9461-5D64BD04965D}"/>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8171" r="1409"/>
          <a:stretch/>
        </p:blipFill>
        <p:spPr>
          <a:xfrm>
            <a:off x="1752600" y="1295400"/>
            <a:ext cx="6019799" cy="4129862"/>
          </a:xfrm>
          <a:noFill/>
        </p:spPr>
      </p:pic>
      <p:sp>
        <p:nvSpPr>
          <p:cNvPr id="12291" name="TextBox 4">
            <a:extLst>
              <a:ext uri="{FF2B5EF4-FFF2-40B4-BE49-F238E27FC236}">
                <a16:creationId xmlns:a16="http://schemas.microsoft.com/office/drawing/2014/main" id="{0EC3B1F3-090E-4496-80CB-894B7F000039}"/>
              </a:ext>
            </a:extLst>
          </p:cNvPr>
          <p:cNvSpPr txBox="1">
            <a:spLocks noChangeArrowheads="1"/>
          </p:cNvSpPr>
          <p:nvPr/>
        </p:nvSpPr>
        <p:spPr bwMode="auto">
          <a:xfrm>
            <a:off x="1371600" y="5791200"/>
            <a:ext cx="5867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Going to cyclone shelter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barn(inVertical)">
                                      <p:cBhvr>
                                        <p:cTn id="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C5816FF-2D55-4E94-85BD-E17B1F7219E1}"/>
              </a:ext>
            </a:extLst>
          </p:cNvPr>
          <p:cNvSpPr>
            <a:spLocks noGrp="1" noRot="1" noChangeArrowheads="1"/>
          </p:cNvSpPr>
          <p:nvPr>
            <p:ph type="title"/>
          </p:nvPr>
        </p:nvSpPr>
        <p:spPr>
          <a:xfrm>
            <a:off x="457200" y="152400"/>
            <a:ext cx="8385175" cy="914400"/>
          </a:xfrm>
        </p:spPr>
        <p:txBody>
          <a:bodyPr>
            <a:normAutofit fontScale="90000"/>
          </a:bodyPr>
          <a:lstStyle/>
          <a:p>
            <a:pPr algn="ctr" eaLnBrk="1" fontAlgn="auto" hangingPunct="1">
              <a:spcAft>
                <a:spcPts val="0"/>
              </a:spcAft>
              <a:defRPr/>
            </a:pPr>
            <a:br>
              <a:rPr lang="en-US" sz="3600" b="1" dirty="0">
                <a:solidFill>
                  <a:schemeClr val="tx1"/>
                </a:solidFill>
                <a:latin typeface="Garamond" pitchFamily="18" charset="0"/>
              </a:rPr>
            </a:br>
            <a:r>
              <a:rPr lang="en-US" sz="3600" b="1" dirty="0">
                <a:solidFill>
                  <a:schemeClr val="tx1"/>
                </a:solidFill>
                <a:latin typeface="Garamond" pitchFamily="18" charset="0"/>
              </a:rPr>
              <a:t>Phase 3: Emergency response</a:t>
            </a:r>
            <a:br>
              <a:rPr lang="en-US" sz="3600" b="1" dirty="0">
                <a:latin typeface="Garamond" pitchFamily="18" charset="0"/>
              </a:rPr>
            </a:br>
            <a:endParaRPr lang="en-US" sz="3600" b="1" dirty="0">
              <a:latin typeface="Garamond" pitchFamily="18" charset="0"/>
            </a:endParaRPr>
          </a:p>
        </p:txBody>
      </p:sp>
      <p:sp>
        <p:nvSpPr>
          <p:cNvPr id="14339" name="Rectangle 3">
            <a:extLst>
              <a:ext uri="{FF2B5EF4-FFF2-40B4-BE49-F238E27FC236}">
                <a16:creationId xmlns:a16="http://schemas.microsoft.com/office/drawing/2014/main" id="{1014EEEE-5459-4A2F-ABC2-033C07DA9E09}"/>
              </a:ext>
            </a:extLst>
          </p:cNvPr>
          <p:cNvSpPr>
            <a:spLocks noGrp="1" noRot="1"/>
          </p:cNvSpPr>
          <p:nvPr>
            <p:ph idx="1"/>
          </p:nvPr>
        </p:nvSpPr>
        <p:spPr>
          <a:xfrm>
            <a:off x="381000" y="838200"/>
            <a:ext cx="8007350" cy="5029200"/>
          </a:xfrm>
        </p:spPr>
        <p:txBody>
          <a:bodyPr>
            <a:normAutofit fontScale="92500" lnSpcReduction="10000"/>
          </a:bodyPr>
          <a:lstStyle/>
          <a:p>
            <a:pPr algn="just" eaLnBrk="1" hangingPunct="1"/>
            <a:endParaRPr lang="en-US" altLang="en-US" sz="2800" dirty="0">
              <a:latin typeface="Garamond" panose="02020404030301010803" pitchFamily="18" charset="0"/>
            </a:endParaRPr>
          </a:p>
          <a:p>
            <a:pPr marL="273050" lvl="1" indent="-273050" algn="just" eaLnBrk="1" hangingPunct="1">
              <a:buClr>
                <a:srgbClr val="0BD0D9"/>
              </a:buClr>
              <a:buSzPct val="95000"/>
              <a:buFont typeface="Wingdings 2" panose="05020102010507070707" pitchFamily="18" charset="2"/>
              <a:buNone/>
            </a:pPr>
            <a:r>
              <a:rPr lang="en-US" altLang="en-US" sz="2800" dirty="0">
                <a:latin typeface="Garamond" panose="02020404030301010803" pitchFamily="18" charset="0"/>
              </a:rPr>
              <a:t>Emergency action taken during the onset of hazards to save lives and properties</a:t>
            </a:r>
          </a:p>
          <a:p>
            <a:pPr marL="273050" lvl="1" indent="-273050" algn="just" eaLnBrk="1" hangingPunct="1">
              <a:buClr>
                <a:srgbClr val="0BD0D9"/>
              </a:buClr>
              <a:buSzPct val="95000"/>
              <a:buFont typeface="Wingdings 2" panose="05020102010507070707" pitchFamily="18" charset="2"/>
              <a:buNone/>
            </a:pPr>
            <a:endParaRPr lang="en-US" altLang="en-US" sz="2800" dirty="0">
              <a:latin typeface="Garamond" panose="02020404030301010803" pitchFamily="18" charset="0"/>
            </a:endParaRPr>
          </a:p>
          <a:p>
            <a:pPr algn="just" eaLnBrk="1" hangingPunct="1"/>
            <a:r>
              <a:rPr lang="en-US" altLang="en-US" sz="2800" dirty="0">
                <a:latin typeface="Garamond" panose="02020404030301010803" pitchFamily="18" charset="0"/>
              </a:rPr>
              <a:t>Search and rescue</a:t>
            </a:r>
          </a:p>
          <a:p>
            <a:pPr algn="just" eaLnBrk="1" hangingPunct="1"/>
            <a:r>
              <a:rPr lang="en-US" altLang="en-US" sz="2800" dirty="0">
                <a:latin typeface="Garamond" panose="02020404030301010803" pitchFamily="18" charset="0"/>
              </a:rPr>
              <a:t>Evacuation of injured or endangered people</a:t>
            </a:r>
          </a:p>
          <a:p>
            <a:pPr algn="just" eaLnBrk="1" hangingPunct="1"/>
            <a:r>
              <a:rPr lang="en-US" altLang="en-US" sz="2800" dirty="0">
                <a:latin typeface="Garamond" panose="02020404030301010803" pitchFamily="18" charset="0"/>
              </a:rPr>
              <a:t>Restoration of vital facilities and utilities</a:t>
            </a:r>
          </a:p>
          <a:p>
            <a:pPr algn="just" eaLnBrk="1" hangingPunct="1"/>
            <a:r>
              <a:rPr lang="en-US" altLang="en-US" sz="2800" dirty="0">
                <a:latin typeface="Garamond" panose="02020404030301010803" pitchFamily="18" charset="0"/>
              </a:rPr>
              <a:t>Arrangement of emergency relief</a:t>
            </a:r>
          </a:p>
          <a:p>
            <a:pPr algn="just" eaLnBrk="1" hangingPunct="1"/>
            <a:r>
              <a:rPr lang="en-US" altLang="en-US" sz="2800" dirty="0">
                <a:latin typeface="Garamond" panose="02020404030301010803" pitchFamily="18" charset="0"/>
              </a:rPr>
              <a:t>Arrangement of medical and health services</a:t>
            </a:r>
          </a:p>
          <a:p>
            <a:pPr algn="just" eaLnBrk="1" hangingPunct="1"/>
            <a:r>
              <a:rPr lang="en-US" altLang="en-US" sz="2800" dirty="0">
                <a:latin typeface="Garamond" panose="02020404030301010803" pitchFamily="18" charset="0"/>
              </a:rPr>
              <a:t>Organization of emergency communication</a:t>
            </a:r>
          </a:p>
          <a:p>
            <a:pPr eaLnBrk="1" hangingPunct="1"/>
            <a:endParaRPr lang="en-US" altLang="en-US" sz="28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9570"/>
                                        </p:tgtEl>
                                        <p:attrNameLst>
                                          <p:attrName>style.visibility</p:attrName>
                                        </p:attrNameLst>
                                      </p:cBhvr>
                                      <p:to>
                                        <p:strVal val="visible"/>
                                      </p:to>
                                    </p:set>
                                    <p:animEffect transition="in" filter="fade">
                                      <p:cBhvr>
                                        <p:cTn id="7" dur="1000"/>
                                        <p:tgtEl>
                                          <p:spTgt spid="109570"/>
                                        </p:tgtEl>
                                      </p:cBhvr>
                                    </p:animEffect>
                                    <p:anim calcmode="lin" valueType="num">
                                      <p:cBhvr>
                                        <p:cTn id="8" dur="1000" fill="hold"/>
                                        <p:tgtEl>
                                          <p:spTgt spid="109570"/>
                                        </p:tgtEl>
                                        <p:attrNameLst>
                                          <p:attrName>ppt_x</p:attrName>
                                        </p:attrNameLst>
                                      </p:cBhvr>
                                      <p:tavLst>
                                        <p:tav tm="0">
                                          <p:val>
                                            <p:strVal val="#ppt_x"/>
                                          </p:val>
                                        </p:tav>
                                        <p:tav tm="100000">
                                          <p:val>
                                            <p:strVal val="#ppt_x"/>
                                          </p:val>
                                        </p:tav>
                                      </p:tavLst>
                                    </p:anim>
                                    <p:anim calcmode="lin" valueType="num">
                                      <p:cBhvr>
                                        <p:cTn id="9" dur="1000" fill="hold"/>
                                        <p:tgtEl>
                                          <p:spTgt spid="10957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339">
                                            <p:txEl>
                                              <p:pRg st="1" end="1"/>
                                            </p:txEl>
                                          </p:spTgt>
                                        </p:tgtEl>
                                        <p:attrNameLst>
                                          <p:attrName>style.visibility</p:attrName>
                                        </p:attrNameLst>
                                      </p:cBhvr>
                                      <p:to>
                                        <p:strVal val="visible"/>
                                      </p:to>
                                    </p:set>
                                    <p:animEffect transition="in" filter="fade">
                                      <p:cBhvr>
                                        <p:cTn id="14" dur="1000"/>
                                        <p:tgtEl>
                                          <p:spTgt spid="14339">
                                            <p:txEl>
                                              <p:pRg st="1" end="1"/>
                                            </p:txEl>
                                          </p:spTgt>
                                        </p:tgtEl>
                                      </p:cBhvr>
                                    </p:animEffect>
                                    <p:anim calcmode="lin" valueType="num">
                                      <p:cBhvr>
                                        <p:cTn id="15" dur="1000" fill="hold"/>
                                        <p:tgtEl>
                                          <p:spTgt spid="1433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3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4339">
                                            <p:txEl>
                                              <p:pRg st="3" end="3"/>
                                            </p:txEl>
                                          </p:spTgt>
                                        </p:tgtEl>
                                        <p:attrNameLst>
                                          <p:attrName>style.visibility</p:attrName>
                                        </p:attrNameLst>
                                      </p:cBhvr>
                                      <p:to>
                                        <p:strVal val="visible"/>
                                      </p:to>
                                    </p:set>
                                    <p:anim calcmode="lin" valueType="num">
                                      <p:cBhvr additive="base">
                                        <p:cTn id="21" dur="500" fill="hold"/>
                                        <p:tgtEl>
                                          <p:spTgt spid="1433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3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 calcmode="lin" valueType="num">
                                      <p:cBhvr additive="base">
                                        <p:cTn id="27" dur="500" fill="hold"/>
                                        <p:tgtEl>
                                          <p:spTgt spid="1433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43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4339">
                                            <p:txEl>
                                              <p:pRg st="5" end="5"/>
                                            </p:txEl>
                                          </p:spTgt>
                                        </p:tgtEl>
                                        <p:attrNameLst>
                                          <p:attrName>style.visibility</p:attrName>
                                        </p:attrNameLst>
                                      </p:cBhvr>
                                      <p:to>
                                        <p:strVal val="visible"/>
                                      </p:to>
                                    </p:set>
                                    <p:anim calcmode="lin" valueType="num">
                                      <p:cBhvr additive="base">
                                        <p:cTn id="33" dur="500" fill="hold"/>
                                        <p:tgtEl>
                                          <p:spTgt spid="14339">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43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4339">
                                            <p:txEl>
                                              <p:pRg st="6" end="6"/>
                                            </p:txEl>
                                          </p:spTgt>
                                        </p:tgtEl>
                                        <p:attrNameLst>
                                          <p:attrName>style.visibility</p:attrName>
                                        </p:attrNameLst>
                                      </p:cBhvr>
                                      <p:to>
                                        <p:strVal val="visible"/>
                                      </p:to>
                                    </p:set>
                                    <p:anim calcmode="lin" valueType="num">
                                      <p:cBhvr additive="base">
                                        <p:cTn id="39" dur="500" fill="hold"/>
                                        <p:tgtEl>
                                          <p:spTgt spid="14339">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433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4339">
                                            <p:txEl>
                                              <p:pRg st="7" end="7"/>
                                            </p:txEl>
                                          </p:spTgt>
                                        </p:tgtEl>
                                        <p:attrNameLst>
                                          <p:attrName>style.visibility</p:attrName>
                                        </p:attrNameLst>
                                      </p:cBhvr>
                                      <p:to>
                                        <p:strVal val="visible"/>
                                      </p:to>
                                    </p:set>
                                    <p:anim calcmode="lin" valueType="num">
                                      <p:cBhvr additive="base">
                                        <p:cTn id="45" dur="500" fill="hold"/>
                                        <p:tgtEl>
                                          <p:spTgt spid="14339">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433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4339">
                                            <p:txEl>
                                              <p:pRg st="8" end="8"/>
                                            </p:txEl>
                                          </p:spTgt>
                                        </p:tgtEl>
                                        <p:attrNameLst>
                                          <p:attrName>style.visibility</p:attrName>
                                        </p:attrNameLst>
                                      </p:cBhvr>
                                      <p:to>
                                        <p:strVal val="visible"/>
                                      </p:to>
                                    </p:set>
                                    <p:anim calcmode="lin" valueType="num">
                                      <p:cBhvr additive="base">
                                        <p:cTn id="51" dur="500" fill="hold"/>
                                        <p:tgtEl>
                                          <p:spTgt spid="14339">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433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3408419A-2A73-452B-B38C-81ED85274532}"/>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 t="7697" r="1075"/>
          <a:stretch/>
        </p:blipFill>
        <p:spPr>
          <a:xfrm>
            <a:off x="1349667" y="990600"/>
            <a:ext cx="6444665" cy="4340225"/>
          </a:xfrm>
          <a:noFill/>
        </p:spPr>
      </p:pic>
      <p:sp>
        <p:nvSpPr>
          <p:cNvPr id="15363" name="TextBox 5">
            <a:extLst>
              <a:ext uri="{FF2B5EF4-FFF2-40B4-BE49-F238E27FC236}">
                <a16:creationId xmlns:a16="http://schemas.microsoft.com/office/drawing/2014/main" id="{3C5BB60B-B135-4BD3-A43C-EA8F72899882}"/>
              </a:ext>
            </a:extLst>
          </p:cNvPr>
          <p:cNvSpPr txBox="1">
            <a:spLocks noChangeArrowheads="1"/>
          </p:cNvSpPr>
          <p:nvPr/>
        </p:nvSpPr>
        <p:spPr bwMode="auto">
          <a:xfrm>
            <a:off x="457200" y="5638800"/>
            <a:ext cx="807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Providing medical support for injured people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barn(inVertical)">
                                      <p:cBhvr>
                                        <p:cTn id="7" dur="5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a:extLst>
              <a:ext uri="{FF2B5EF4-FFF2-40B4-BE49-F238E27FC236}">
                <a16:creationId xmlns:a16="http://schemas.microsoft.com/office/drawing/2014/main" id="{75791091-2AF9-4A2F-BF34-8D7A1F1E7717}"/>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7531"/>
          <a:stretch/>
        </p:blipFill>
        <p:spPr>
          <a:xfrm>
            <a:off x="1295400" y="990600"/>
            <a:ext cx="7010400" cy="4678363"/>
          </a:xfrm>
          <a:noFill/>
        </p:spPr>
      </p:pic>
      <p:sp>
        <p:nvSpPr>
          <p:cNvPr id="16387" name="TextBox 4">
            <a:extLst>
              <a:ext uri="{FF2B5EF4-FFF2-40B4-BE49-F238E27FC236}">
                <a16:creationId xmlns:a16="http://schemas.microsoft.com/office/drawing/2014/main" id="{222F3C26-CB05-4BA1-84F7-62646ED13634}"/>
              </a:ext>
            </a:extLst>
          </p:cNvPr>
          <p:cNvSpPr txBox="1">
            <a:spLocks noChangeArrowheads="1"/>
          </p:cNvSpPr>
          <p:nvPr/>
        </p:nvSpPr>
        <p:spPr bwMode="auto">
          <a:xfrm>
            <a:off x="2819400" y="5791200"/>
            <a:ext cx="3505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Providing relief</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barn(inVertical)">
                                      <p:cBhvr>
                                        <p:cTn id="7" dur="5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BED63A2-F5F9-4DC0-8EB9-C2989DFE0A86}"/>
              </a:ext>
            </a:extLst>
          </p:cNvPr>
          <p:cNvSpPr>
            <a:spLocks noGrp="1" noRot="1"/>
          </p:cNvSpPr>
          <p:nvPr>
            <p:ph type="title"/>
          </p:nvPr>
        </p:nvSpPr>
        <p:spPr>
          <a:xfrm>
            <a:off x="457200" y="152400"/>
            <a:ext cx="8385175" cy="746125"/>
          </a:xfrm>
        </p:spPr>
        <p:txBody>
          <a:bodyPr/>
          <a:lstStyle/>
          <a:p>
            <a:pPr algn="ctr" eaLnBrk="1" hangingPunct="1"/>
            <a:r>
              <a:rPr lang="en-US" altLang="en-US" sz="4000" dirty="0">
                <a:solidFill>
                  <a:schemeClr val="tx1"/>
                </a:solidFill>
                <a:latin typeface="Garamond" panose="02020404030301010803" pitchFamily="18" charset="0"/>
              </a:rPr>
              <a:t>Phase 4: Recovery and rehabilitation</a:t>
            </a:r>
          </a:p>
        </p:txBody>
      </p:sp>
      <p:sp>
        <p:nvSpPr>
          <p:cNvPr id="17411" name="Rectangle 3">
            <a:extLst>
              <a:ext uri="{FF2B5EF4-FFF2-40B4-BE49-F238E27FC236}">
                <a16:creationId xmlns:a16="http://schemas.microsoft.com/office/drawing/2014/main" id="{FF148B86-8A7A-475B-BF72-2B2CA3FFF5F4}"/>
              </a:ext>
            </a:extLst>
          </p:cNvPr>
          <p:cNvSpPr>
            <a:spLocks noGrp="1" noRot="1"/>
          </p:cNvSpPr>
          <p:nvPr>
            <p:ph idx="1"/>
          </p:nvPr>
        </p:nvSpPr>
        <p:spPr>
          <a:xfrm>
            <a:off x="838200" y="1066800"/>
            <a:ext cx="7696200" cy="4876800"/>
          </a:xfrm>
        </p:spPr>
        <p:txBody>
          <a:bodyPr>
            <a:normAutofit fontScale="92500" lnSpcReduction="20000"/>
          </a:bodyPr>
          <a:lstStyle/>
          <a:p>
            <a:pPr algn="just" eaLnBrk="1" hangingPunct="1">
              <a:buFont typeface="Wingdings 2" panose="05020102010507070707" pitchFamily="18" charset="2"/>
              <a:buNone/>
            </a:pPr>
            <a:endParaRPr lang="en-US" altLang="en-US" sz="2800" dirty="0">
              <a:latin typeface="Garamond" panose="02020404030301010803" pitchFamily="18" charset="0"/>
            </a:endParaRPr>
          </a:p>
          <a:p>
            <a:pPr lvl="1" algn="just" eaLnBrk="1" hangingPunct="1">
              <a:lnSpc>
                <a:spcPct val="90000"/>
              </a:lnSpc>
            </a:pPr>
            <a:r>
              <a:rPr lang="en-US" altLang="en-US" b="1" dirty="0">
                <a:latin typeface="Garamond" panose="02020404030301010803" pitchFamily="18" charset="0"/>
              </a:rPr>
              <a:t>Activities after the emergency period is over, such as</a:t>
            </a:r>
          </a:p>
          <a:p>
            <a:pPr lvl="2" algn="just" eaLnBrk="1" hangingPunct="1">
              <a:lnSpc>
                <a:spcPct val="90000"/>
              </a:lnSpc>
            </a:pPr>
            <a:r>
              <a:rPr lang="en-US" altLang="en-US" sz="2400" b="1" dirty="0">
                <a:latin typeface="Garamond" panose="02020404030301010803" pitchFamily="18" charset="0"/>
              </a:rPr>
              <a:t>Rehabilitation</a:t>
            </a:r>
          </a:p>
          <a:p>
            <a:pPr lvl="2" algn="just" eaLnBrk="1" hangingPunct="1">
              <a:lnSpc>
                <a:spcPct val="90000"/>
              </a:lnSpc>
            </a:pPr>
            <a:r>
              <a:rPr lang="en-US" altLang="en-US" sz="2400" b="1" dirty="0">
                <a:latin typeface="Garamond" panose="02020404030301010803" pitchFamily="18" charset="0"/>
              </a:rPr>
              <a:t>Reconstruction</a:t>
            </a:r>
          </a:p>
          <a:p>
            <a:pPr lvl="2" algn="just" eaLnBrk="1" hangingPunct="1">
              <a:lnSpc>
                <a:spcPct val="90000"/>
              </a:lnSpc>
            </a:pPr>
            <a:r>
              <a:rPr lang="en-US" altLang="en-US" sz="2400" b="1" dirty="0">
                <a:latin typeface="Garamond" panose="02020404030301010803" pitchFamily="18" charset="0"/>
              </a:rPr>
              <a:t>Future plan</a:t>
            </a:r>
          </a:p>
          <a:p>
            <a:pPr algn="just" eaLnBrk="1" hangingPunct="1"/>
            <a:r>
              <a:rPr lang="en-US" altLang="en-US" sz="2400" b="1" dirty="0">
                <a:latin typeface="Garamond" panose="02020404030301010803" pitchFamily="18" charset="0"/>
              </a:rPr>
              <a:t>Concern about poor people</a:t>
            </a:r>
          </a:p>
          <a:p>
            <a:pPr algn="just" eaLnBrk="1" hangingPunct="1"/>
            <a:r>
              <a:rPr lang="en-US" altLang="en-US" sz="2400" b="1" dirty="0">
                <a:latin typeface="Garamond" panose="02020404030301010803" pitchFamily="18" charset="0"/>
              </a:rPr>
              <a:t>Post flood economic assistance to the low income families</a:t>
            </a:r>
          </a:p>
          <a:p>
            <a:pPr algn="just" eaLnBrk="1" hangingPunct="1"/>
            <a:r>
              <a:rPr lang="en-US" altLang="en-US" sz="2400" b="1" dirty="0">
                <a:latin typeface="Garamond" panose="02020404030301010803" pitchFamily="18" charset="0"/>
              </a:rPr>
              <a:t>Stable life for the citizen</a:t>
            </a:r>
          </a:p>
          <a:p>
            <a:pPr algn="just" eaLnBrk="1" hangingPunct="1"/>
            <a:r>
              <a:rPr lang="en-US" altLang="en-US" sz="2400" b="1" dirty="0">
                <a:latin typeface="Garamond" panose="02020404030301010803" pitchFamily="18" charset="0"/>
              </a:rPr>
              <a:t>Demonstration project</a:t>
            </a:r>
          </a:p>
          <a:p>
            <a:pPr algn="just" eaLnBrk="1" hangingPunct="1"/>
            <a:r>
              <a:rPr lang="en-US" altLang="en-US" sz="2400" b="1" dirty="0">
                <a:latin typeface="Garamond" panose="02020404030301010803" pitchFamily="18" charset="0"/>
              </a:rPr>
              <a:t>Improved self reliance</a:t>
            </a:r>
          </a:p>
          <a:p>
            <a:pPr algn="just" eaLnBrk="1" hangingPunct="1"/>
            <a:r>
              <a:rPr lang="en-US" altLang="en-US" sz="2400" b="1" dirty="0">
                <a:latin typeface="Garamond" panose="02020404030301010803" pitchFamily="18" charset="0"/>
              </a:rPr>
              <a:t>Improvement of prevention, preparedness and emergency measures</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fade">
                                      <p:cBhvr>
                                        <p:cTn id="7" dur="1000"/>
                                        <p:tgtEl>
                                          <p:spTgt spid="17410"/>
                                        </p:tgtEl>
                                      </p:cBhvr>
                                    </p:animEffect>
                                    <p:anim calcmode="lin" valueType="num">
                                      <p:cBhvr>
                                        <p:cTn id="8" dur="1000" fill="hold"/>
                                        <p:tgtEl>
                                          <p:spTgt spid="17410"/>
                                        </p:tgtEl>
                                        <p:attrNameLst>
                                          <p:attrName>ppt_x</p:attrName>
                                        </p:attrNameLst>
                                      </p:cBhvr>
                                      <p:tavLst>
                                        <p:tav tm="0">
                                          <p:val>
                                            <p:strVal val="#ppt_x"/>
                                          </p:val>
                                        </p:tav>
                                        <p:tav tm="100000">
                                          <p:val>
                                            <p:strVal val="#ppt_x"/>
                                          </p:val>
                                        </p:tav>
                                      </p:tavLst>
                                    </p:anim>
                                    <p:anim calcmode="lin" valueType="num">
                                      <p:cBhvr>
                                        <p:cTn id="9" dur="1000" fill="hold"/>
                                        <p:tgtEl>
                                          <p:spTgt spid="174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411">
                                            <p:txEl>
                                              <p:pRg st="1" end="1"/>
                                            </p:txEl>
                                          </p:spTgt>
                                        </p:tgtEl>
                                        <p:attrNameLst>
                                          <p:attrName>style.visibility</p:attrName>
                                        </p:attrNameLst>
                                      </p:cBhvr>
                                      <p:to>
                                        <p:strVal val="visible"/>
                                      </p:to>
                                    </p:set>
                                    <p:animEffect transition="in" filter="fade">
                                      <p:cBhvr>
                                        <p:cTn id="14" dur="1000"/>
                                        <p:tgtEl>
                                          <p:spTgt spid="17411">
                                            <p:txEl>
                                              <p:pRg st="1" end="1"/>
                                            </p:txEl>
                                          </p:spTgt>
                                        </p:tgtEl>
                                      </p:cBhvr>
                                    </p:animEffect>
                                    <p:anim calcmode="lin" valueType="num">
                                      <p:cBhvr>
                                        <p:cTn id="15" dur="10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4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411">
                                            <p:txEl>
                                              <p:pRg st="2" end="2"/>
                                            </p:txEl>
                                          </p:spTgt>
                                        </p:tgtEl>
                                        <p:attrNameLst>
                                          <p:attrName>style.visibility</p:attrName>
                                        </p:attrNameLst>
                                      </p:cBhvr>
                                      <p:to>
                                        <p:strVal val="visible"/>
                                      </p:to>
                                    </p:set>
                                    <p:animEffect transition="in" filter="fade">
                                      <p:cBhvr>
                                        <p:cTn id="21" dur="1000"/>
                                        <p:tgtEl>
                                          <p:spTgt spid="17411">
                                            <p:txEl>
                                              <p:pRg st="2" end="2"/>
                                            </p:txEl>
                                          </p:spTgt>
                                        </p:tgtEl>
                                      </p:cBhvr>
                                    </p:animEffect>
                                    <p:anim calcmode="lin" valueType="num">
                                      <p:cBhvr>
                                        <p:cTn id="22" dur="10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4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411">
                                            <p:txEl>
                                              <p:pRg st="3" end="3"/>
                                            </p:txEl>
                                          </p:spTgt>
                                        </p:tgtEl>
                                        <p:attrNameLst>
                                          <p:attrName>style.visibility</p:attrName>
                                        </p:attrNameLst>
                                      </p:cBhvr>
                                      <p:to>
                                        <p:strVal val="visible"/>
                                      </p:to>
                                    </p:set>
                                    <p:animEffect transition="in" filter="fade">
                                      <p:cBhvr>
                                        <p:cTn id="28" dur="1000"/>
                                        <p:tgtEl>
                                          <p:spTgt spid="17411">
                                            <p:txEl>
                                              <p:pRg st="3" end="3"/>
                                            </p:txEl>
                                          </p:spTgt>
                                        </p:tgtEl>
                                      </p:cBhvr>
                                    </p:animEffect>
                                    <p:anim calcmode="lin" valueType="num">
                                      <p:cBhvr>
                                        <p:cTn id="29" dur="10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4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7411">
                                            <p:txEl>
                                              <p:pRg st="4" end="4"/>
                                            </p:txEl>
                                          </p:spTgt>
                                        </p:tgtEl>
                                        <p:attrNameLst>
                                          <p:attrName>style.visibility</p:attrName>
                                        </p:attrNameLst>
                                      </p:cBhvr>
                                      <p:to>
                                        <p:strVal val="visible"/>
                                      </p:to>
                                    </p:set>
                                    <p:animEffect transition="in" filter="fade">
                                      <p:cBhvr>
                                        <p:cTn id="35" dur="1000"/>
                                        <p:tgtEl>
                                          <p:spTgt spid="17411">
                                            <p:txEl>
                                              <p:pRg st="4" end="4"/>
                                            </p:txEl>
                                          </p:spTgt>
                                        </p:tgtEl>
                                      </p:cBhvr>
                                    </p:animEffect>
                                    <p:anim calcmode="lin" valueType="num">
                                      <p:cBhvr>
                                        <p:cTn id="36" dur="10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74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7411">
                                            <p:txEl>
                                              <p:pRg st="5" end="5"/>
                                            </p:txEl>
                                          </p:spTgt>
                                        </p:tgtEl>
                                        <p:attrNameLst>
                                          <p:attrName>style.visibility</p:attrName>
                                        </p:attrNameLst>
                                      </p:cBhvr>
                                      <p:to>
                                        <p:strVal val="visible"/>
                                      </p:to>
                                    </p:set>
                                    <p:anim calcmode="lin" valueType="num">
                                      <p:cBhvr additive="base">
                                        <p:cTn id="42" dur="5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74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7411">
                                            <p:txEl>
                                              <p:pRg st="6" end="6"/>
                                            </p:txEl>
                                          </p:spTgt>
                                        </p:tgtEl>
                                        <p:attrNameLst>
                                          <p:attrName>style.visibility</p:attrName>
                                        </p:attrNameLst>
                                      </p:cBhvr>
                                      <p:to>
                                        <p:strVal val="visible"/>
                                      </p:to>
                                    </p:set>
                                    <p:anim calcmode="lin" valueType="num">
                                      <p:cBhvr additive="base">
                                        <p:cTn id="48" dur="500" fill="hold"/>
                                        <p:tgtEl>
                                          <p:spTgt spid="17411">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74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7411">
                                            <p:txEl>
                                              <p:pRg st="7" end="7"/>
                                            </p:txEl>
                                          </p:spTgt>
                                        </p:tgtEl>
                                        <p:attrNameLst>
                                          <p:attrName>style.visibility</p:attrName>
                                        </p:attrNameLst>
                                      </p:cBhvr>
                                      <p:to>
                                        <p:strVal val="visible"/>
                                      </p:to>
                                    </p:set>
                                    <p:anim calcmode="lin" valueType="num">
                                      <p:cBhvr additive="base">
                                        <p:cTn id="54" dur="500" fill="hold"/>
                                        <p:tgtEl>
                                          <p:spTgt spid="17411">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741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17411">
                                            <p:txEl>
                                              <p:pRg st="8" end="8"/>
                                            </p:txEl>
                                          </p:spTgt>
                                        </p:tgtEl>
                                        <p:attrNameLst>
                                          <p:attrName>style.visibility</p:attrName>
                                        </p:attrNameLst>
                                      </p:cBhvr>
                                      <p:to>
                                        <p:strVal val="visible"/>
                                      </p:to>
                                    </p:set>
                                    <p:anim calcmode="lin" valueType="num">
                                      <p:cBhvr additive="base">
                                        <p:cTn id="60" dur="500" fill="hold"/>
                                        <p:tgtEl>
                                          <p:spTgt spid="17411">
                                            <p:txEl>
                                              <p:pRg st="8" end="8"/>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741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7411">
                                            <p:txEl>
                                              <p:pRg st="9" end="9"/>
                                            </p:txEl>
                                          </p:spTgt>
                                        </p:tgtEl>
                                        <p:attrNameLst>
                                          <p:attrName>style.visibility</p:attrName>
                                        </p:attrNameLst>
                                      </p:cBhvr>
                                      <p:to>
                                        <p:strVal val="visible"/>
                                      </p:to>
                                    </p:set>
                                    <p:anim calcmode="lin" valueType="num">
                                      <p:cBhvr additive="base">
                                        <p:cTn id="66" dur="500" fill="hold"/>
                                        <p:tgtEl>
                                          <p:spTgt spid="17411">
                                            <p:txEl>
                                              <p:pRg st="9" end="9"/>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17411">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17411">
                                            <p:txEl>
                                              <p:pRg st="10" end="10"/>
                                            </p:txEl>
                                          </p:spTgt>
                                        </p:tgtEl>
                                        <p:attrNameLst>
                                          <p:attrName>style.visibility</p:attrName>
                                        </p:attrNameLst>
                                      </p:cBhvr>
                                      <p:to>
                                        <p:strVal val="visible"/>
                                      </p:to>
                                    </p:set>
                                    <p:anim calcmode="lin" valueType="num">
                                      <p:cBhvr additive="base">
                                        <p:cTn id="72" dur="500" fill="hold"/>
                                        <p:tgtEl>
                                          <p:spTgt spid="17411">
                                            <p:txEl>
                                              <p:pRg st="10" end="10"/>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17411">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7195C0A5-24FD-484F-B6E1-DDCC88D58BFA}"/>
              </a:ext>
            </a:extLst>
          </p:cNvPr>
          <p:cNvSpPr>
            <a:spLocks noGrp="1" noRot="1" noChangeArrowheads="1"/>
          </p:cNvSpPr>
          <p:nvPr>
            <p:ph type="title"/>
          </p:nvPr>
        </p:nvSpPr>
        <p:spPr>
          <a:xfrm>
            <a:off x="228600" y="152400"/>
            <a:ext cx="8385175" cy="974725"/>
          </a:xfrm>
        </p:spPr>
        <p:txBody>
          <a:bodyPr>
            <a:normAutofit fontScale="90000"/>
          </a:bodyPr>
          <a:lstStyle/>
          <a:p>
            <a:pPr algn="ctr" eaLnBrk="1" fontAlgn="auto" hangingPunct="1">
              <a:spcAft>
                <a:spcPts val="0"/>
              </a:spcAft>
              <a:defRPr/>
            </a:pPr>
            <a:r>
              <a:rPr lang="en-US" sz="3600" dirty="0">
                <a:solidFill>
                  <a:schemeClr val="tx1"/>
                </a:solidFill>
                <a:latin typeface="Garamond" pitchFamily="18" charset="0"/>
              </a:rPr>
              <a:t>Management of flood hazard</a:t>
            </a:r>
            <a:br>
              <a:rPr lang="en-US" sz="3600" dirty="0">
                <a:solidFill>
                  <a:schemeClr val="tx1"/>
                </a:solidFill>
                <a:latin typeface="Garamond" pitchFamily="18" charset="0"/>
              </a:rPr>
            </a:br>
            <a:endParaRPr lang="en-US" sz="3600" dirty="0">
              <a:solidFill>
                <a:schemeClr val="tx1"/>
              </a:solidFill>
              <a:latin typeface="Garamond" pitchFamily="18" charset="0"/>
            </a:endParaRPr>
          </a:p>
        </p:txBody>
      </p:sp>
      <p:sp>
        <p:nvSpPr>
          <p:cNvPr id="18435" name="Rectangle 3">
            <a:extLst>
              <a:ext uri="{FF2B5EF4-FFF2-40B4-BE49-F238E27FC236}">
                <a16:creationId xmlns:a16="http://schemas.microsoft.com/office/drawing/2014/main" id="{4D4BD514-367F-4163-839D-A6FC6B22BF4A}"/>
              </a:ext>
            </a:extLst>
          </p:cNvPr>
          <p:cNvSpPr>
            <a:spLocks noGrp="1" noRot="1"/>
          </p:cNvSpPr>
          <p:nvPr>
            <p:ph idx="1"/>
          </p:nvPr>
        </p:nvSpPr>
        <p:spPr>
          <a:xfrm>
            <a:off x="1143000" y="1600200"/>
            <a:ext cx="7620000" cy="4953000"/>
          </a:xfrm>
        </p:spPr>
        <p:txBody>
          <a:bodyPr>
            <a:normAutofit fontScale="70000" lnSpcReduction="20000"/>
          </a:bodyPr>
          <a:lstStyle/>
          <a:p>
            <a:pPr algn="just" eaLnBrk="1" hangingPunct="1">
              <a:buFont typeface="Wingdings 2" panose="05020102010507070707" pitchFamily="18" charset="2"/>
              <a:buNone/>
            </a:pPr>
            <a:endParaRPr lang="en-US" altLang="en-US" sz="2400" b="1" dirty="0">
              <a:latin typeface="Garamond" panose="02020404030301010803" pitchFamily="18" charset="0"/>
            </a:endParaRPr>
          </a:p>
          <a:p>
            <a:pPr algn="just" eaLnBrk="1" hangingPunct="1">
              <a:buFont typeface="Wingdings 2" panose="05020102010507070707" pitchFamily="18" charset="2"/>
              <a:buNone/>
            </a:pPr>
            <a:r>
              <a:rPr lang="en-US" altLang="en-US" sz="2800" b="1" dirty="0">
                <a:latin typeface="Garamond" panose="02020404030301010803" pitchFamily="18" charset="0"/>
              </a:rPr>
              <a:t>Keep flood water away from people</a:t>
            </a:r>
          </a:p>
          <a:p>
            <a:pPr lvl="1" algn="just" eaLnBrk="1" hangingPunct="1"/>
            <a:r>
              <a:rPr lang="en-US" altLang="en-US" sz="2800" dirty="0">
                <a:latin typeface="Garamond" panose="02020404030301010803" pitchFamily="18" charset="0"/>
              </a:rPr>
              <a:t>Structural measures</a:t>
            </a:r>
          </a:p>
          <a:p>
            <a:pPr lvl="2" algn="just" eaLnBrk="1" hangingPunct="1"/>
            <a:r>
              <a:rPr lang="en-US" altLang="en-US" sz="2800" dirty="0">
                <a:latin typeface="Garamond" panose="02020404030301010803" pitchFamily="18" charset="0"/>
              </a:rPr>
              <a:t>Construction of embankment along the banks of the river</a:t>
            </a:r>
          </a:p>
          <a:p>
            <a:pPr lvl="2" algn="just" eaLnBrk="1" hangingPunct="1"/>
            <a:r>
              <a:rPr lang="en-US" altLang="en-US" sz="2800" dirty="0">
                <a:latin typeface="Garamond" panose="02020404030301010803" pitchFamily="18" charset="0"/>
              </a:rPr>
              <a:t>Channel improvement work</a:t>
            </a:r>
          </a:p>
          <a:p>
            <a:pPr lvl="3" algn="just" eaLnBrk="1" hangingPunct="1">
              <a:buFont typeface="Wingdings 2" panose="05020102010507070707" pitchFamily="18" charset="2"/>
              <a:buNone/>
            </a:pPr>
            <a:r>
              <a:rPr lang="en-US" altLang="en-US" sz="2800" dirty="0">
                <a:latin typeface="Garamond" panose="02020404030301010803" pitchFamily="18" charset="0"/>
              </a:rPr>
              <a:t>-Removal sediment from the main river and the distributaries</a:t>
            </a:r>
          </a:p>
          <a:p>
            <a:pPr lvl="3" algn="just" eaLnBrk="1" hangingPunct="1">
              <a:buFont typeface="Wingdings 2" panose="05020102010507070707" pitchFamily="18" charset="2"/>
              <a:buNone/>
            </a:pPr>
            <a:r>
              <a:rPr lang="en-US" altLang="en-US" sz="2800" dirty="0">
                <a:latin typeface="Garamond" panose="02020404030301010803" pitchFamily="18" charset="0"/>
              </a:rPr>
              <a:t>-Diverting of flood flow</a:t>
            </a:r>
          </a:p>
          <a:p>
            <a:pPr lvl="1" algn="just" eaLnBrk="1" hangingPunct="1"/>
            <a:r>
              <a:rPr lang="en-US" altLang="en-US" sz="2800" dirty="0">
                <a:latin typeface="Garamond" panose="02020404030301010803" pitchFamily="18" charset="0"/>
              </a:rPr>
              <a:t>Construction of storage reservoir</a:t>
            </a:r>
          </a:p>
          <a:p>
            <a:pPr lvl="2" algn="just" eaLnBrk="1" hangingPunct="1">
              <a:buFont typeface="Wingdings 2" panose="05020102010507070707" pitchFamily="18" charset="2"/>
              <a:buNone/>
            </a:pPr>
            <a:r>
              <a:rPr lang="en-US" altLang="en-US" dirty="0">
                <a:latin typeface="Garamond" panose="02020404030301010803" pitchFamily="18" charset="0"/>
              </a:rPr>
              <a:t>    </a:t>
            </a:r>
          </a:p>
          <a:p>
            <a:pPr algn="just"/>
            <a:r>
              <a:rPr lang="en-US" altLang="en-US" sz="2800" b="1" dirty="0">
                <a:latin typeface="Garamond" panose="02020404030301010803" pitchFamily="18" charset="0"/>
              </a:rPr>
              <a:t>Keep people away from flood water</a:t>
            </a:r>
          </a:p>
          <a:p>
            <a:pPr lvl="1" algn="just">
              <a:buNone/>
            </a:pPr>
            <a:endParaRPr lang="en-US" altLang="en-US" b="1" dirty="0">
              <a:latin typeface="Garamond" panose="02020404030301010803" pitchFamily="18" charset="0"/>
            </a:endParaRPr>
          </a:p>
          <a:p>
            <a:pPr lvl="1" algn="just"/>
            <a:r>
              <a:rPr lang="en-US" altLang="en-US" b="1" dirty="0">
                <a:latin typeface="Garamond" panose="02020404030301010803" pitchFamily="18" charset="0"/>
              </a:rPr>
              <a:t>Flood plain zoning</a:t>
            </a:r>
          </a:p>
          <a:p>
            <a:pPr lvl="1" algn="just"/>
            <a:r>
              <a:rPr lang="en-US" altLang="en-US" b="1" dirty="0">
                <a:latin typeface="Garamond" panose="02020404030301010803" pitchFamily="18" charset="0"/>
              </a:rPr>
              <a:t>Development of flood forecasting and warning system</a:t>
            </a:r>
          </a:p>
          <a:p>
            <a:pPr lvl="2" algn="just" eaLnBrk="1" hangingPunct="1"/>
            <a:endParaRPr lang="en-US" altLang="en-US" dirty="0">
              <a:latin typeface="Garamond" panose="02020404030301010803" pitchFamily="18" charset="0"/>
            </a:endParaRPr>
          </a:p>
          <a:p>
            <a:pPr lvl="2" eaLnBrk="1" hangingPunct="1"/>
            <a:endParaRPr lang="en-US" altLang="en-US" dirty="0"/>
          </a:p>
          <a:p>
            <a:pPr eaLnBrk="1" hangingPunct="1">
              <a:buFont typeface="Wingdings 2" panose="05020102010507070707" pitchFamily="18" charset="2"/>
              <a:buNone/>
            </a:pPr>
            <a:endParaRPr lang="en-US"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fade">
                                      <p:cBhvr>
                                        <p:cTn id="7" dur="1000"/>
                                        <p:tgtEl>
                                          <p:spTgt spid="107522"/>
                                        </p:tgtEl>
                                      </p:cBhvr>
                                    </p:animEffect>
                                    <p:anim calcmode="lin" valueType="num">
                                      <p:cBhvr>
                                        <p:cTn id="8" dur="1000" fill="hold"/>
                                        <p:tgtEl>
                                          <p:spTgt spid="107522"/>
                                        </p:tgtEl>
                                        <p:attrNameLst>
                                          <p:attrName>ppt_x</p:attrName>
                                        </p:attrNameLst>
                                      </p:cBhvr>
                                      <p:tavLst>
                                        <p:tav tm="0">
                                          <p:val>
                                            <p:strVal val="#ppt_x"/>
                                          </p:val>
                                        </p:tav>
                                        <p:tav tm="100000">
                                          <p:val>
                                            <p:strVal val="#ppt_x"/>
                                          </p:val>
                                        </p:tav>
                                      </p:tavLst>
                                    </p:anim>
                                    <p:anim calcmode="lin" valueType="num">
                                      <p:cBhvr>
                                        <p:cTn id="9" dur="1000" fill="hold"/>
                                        <p:tgtEl>
                                          <p:spTgt spid="1075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435">
                                            <p:txEl>
                                              <p:pRg st="1" end="1"/>
                                            </p:txEl>
                                          </p:spTgt>
                                        </p:tgtEl>
                                        <p:attrNameLst>
                                          <p:attrName>style.visibility</p:attrName>
                                        </p:attrNameLst>
                                      </p:cBhvr>
                                      <p:to>
                                        <p:strVal val="visible"/>
                                      </p:to>
                                    </p:set>
                                    <p:animEffect transition="in" filter="fade">
                                      <p:cBhvr>
                                        <p:cTn id="14" dur="1000"/>
                                        <p:tgtEl>
                                          <p:spTgt spid="18435">
                                            <p:txEl>
                                              <p:pRg st="1" end="1"/>
                                            </p:txEl>
                                          </p:spTgt>
                                        </p:tgtEl>
                                      </p:cBhvr>
                                    </p:animEffect>
                                    <p:anim calcmode="lin" valueType="num">
                                      <p:cBhvr>
                                        <p:cTn id="15" dur="10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43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435">
                                            <p:txEl>
                                              <p:pRg st="2" end="2"/>
                                            </p:txEl>
                                          </p:spTgt>
                                        </p:tgtEl>
                                        <p:attrNameLst>
                                          <p:attrName>style.visibility</p:attrName>
                                        </p:attrNameLst>
                                      </p:cBhvr>
                                      <p:to>
                                        <p:strVal val="visible"/>
                                      </p:to>
                                    </p:set>
                                    <p:animEffect transition="in" filter="fade">
                                      <p:cBhvr>
                                        <p:cTn id="21" dur="1000"/>
                                        <p:tgtEl>
                                          <p:spTgt spid="18435">
                                            <p:txEl>
                                              <p:pRg st="2" end="2"/>
                                            </p:txEl>
                                          </p:spTgt>
                                        </p:tgtEl>
                                      </p:cBhvr>
                                    </p:animEffect>
                                    <p:anim calcmode="lin" valueType="num">
                                      <p:cBhvr>
                                        <p:cTn id="22" dur="10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84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8435">
                                            <p:txEl>
                                              <p:pRg st="3" end="3"/>
                                            </p:txEl>
                                          </p:spTgt>
                                        </p:tgtEl>
                                        <p:attrNameLst>
                                          <p:attrName>style.visibility</p:attrName>
                                        </p:attrNameLst>
                                      </p:cBhvr>
                                      <p:to>
                                        <p:strVal val="visible"/>
                                      </p:to>
                                    </p:set>
                                    <p:animEffect transition="in" filter="fade">
                                      <p:cBhvr>
                                        <p:cTn id="28" dur="1000"/>
                                        <p:tgtEl>
                                          <p:spTgt spid="18435">
                                            <p:txEl>
                                              <p:pRg st="3" end="3"/>
                                            </p:txEl>
                                          </p:spTgt>
                                        </p:tgtEl>
                                      </p:cBhvr>
                                    </p:animEffect>
                                    <p:anim calcmode="lin" valueType="num">
                                      <p:cBhvr>
                                        <p:cTn id="29" dur="10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843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8435">
                                            <p:txEl>
                                              <p:pRg st="4" end="4"/>
                                            </p:txEl>
                                          </p:spTgt>
                                        </p:tgtEl>
                                        <p:attrNameLst>
                                          <p:attrName>style.visibility</p:attrName>
                                        </p:attrNameLst>
                                      </p:cBhvr>
                                      <p:to>
                                        <p:strVal val="visible"/>
                                      </p:to>
                                    </p:set>
                                    <p:animEffect transition="in" filter="fade">
                                      <p:cBhvr>
                                        <p:cTn id="35" dur="1000"/>
                                        <p:tgtEl>
                                          <p:spTgt spid="18435">
                                            <p:txEl>
                                              <p:pRg st="4" end="4"/>
                                            </p:txEl>
                                          </p:spTgt>
                                        </p:tgtEl>
                                      </p:cBhvr>
                                    </p:animEffect>
                                    <p:anim calcmode="lin" valueType="num">
                                      <p:cBhvr>
                                        <p:cTn id="36" dur="1000" fill="hold"/>
                                        <p:tgtEl>
                                          <p:spTgt spid="1843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843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8435">
                                            <p:txEl>
                                              <p:pRg st="5" end="5"/>
                                            </p:txEl>
                                          </p:spTgt>
                                        </p:tgtEl>
                                        <p:attrNameLst>
                                          <p:attrName>style.visibility</p:attrName>
                                        </p:attrNameLst>
                                      </p:cBhvr>
                                      <p:to>
                                        <p:strVal val="visible"/>
                                      </p:to>
                                    </p:set>
                                    <p:animEffect transition="in" filter="fade">
                                      <p:cBhvr>
                                        <p:cTn id="42" dur="1000"/>
                                        <p:tgtEl>
                                          <p:spTgt spid="18435">
                                            <p:txEl>
                                              <p:pRg st="5" end="5"/>
                                            </p:txEl>
                                          </p:spTgt>
                                        </p:tgtEl>
                                      </p:cBhvr>
                                    </p:animEffect>
                                    <p:anim calcmode="lin" valueType="num">
                                      <p:cBhvr>
                                        <p:cTn id="43" dur="1000" fill="hold"/>
                                        <p:tgtEl>
                                          <p:spTgt spid="18435">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843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8435">
                                            <p:txEl>
                                              <p:pRg st="6" end="6"/>
                                            </p:txEl>
                                          </p:spTgt>
                                        </p:tgtEl>
                                        <p:attrNameLst>
                                          <p:attrName>style.visibility</p:attrName>
                                        </p:attrNameLst>
                                      </p:cBhvr>
                                      <p:to>
                                        <p:strVal val="visible"/>
                                      </p:to>
                                    </p:set>
                                    <p:animEffect transition="in" filter="fade">
                                      <p:cBhvr>
                                        <p:cTn id="49" dur="1000"/>
                                        <p:tgtEl>
                                          <p:spTgt spid="18435">
                                            <p:txEl>
                                              <p:pRg st="6" end="6"/>
                                            </p:txEl>
                                          </p:spTgt>
                                        </p:tgtEl>
                                      </p:cBhvr>
                                    </p:animEffect>
                                    <p:anim calcmode="lin" valueType="num">
                                      <p:cBhvr>
                                        <p:cTn id="50" dur="1000" fill="hold"/>
                                        <p:tgtEl>
                                          <p:spTgt spid="18435">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843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8435">
                                            <p:txEl>
                                              <p:pRg st="7" end="7"/>
                                            </p:txEl>
                                          </p:spTgt>
                                        </p:tgtEl>
                                        <p:attrNameLst>
                                          <p:attrName>style.visibility</p:attrName>
                                        </p:attrNameLst>
                                      </p:cBhvr>
                                      <p:to>
                                        <p:strVal val="visible"/>
                                      </p:to>
                                    </p:set>
                                    <p:animEffect transition="in" filter="fade">
                                      <p:cBhvr>
                                        <p:cTn id="56" dur="1000"/>
                                        <p:tgtEl>
                                          <p:spTgt spid="18435">
                                            <p:txEl>
                                              <p:pRg st="7" end="7"/>
                                            </p:txEl>
                                          </p:spTgt>
                                        </p:tgtEl>
                                      </p:cBhvr>
                                    </p:animEffect>
                                    <p:anim calcmode="lin" valueType="num">
                                      <p:cBhvr>
                                        <p:cTn id="57" dur="1000" fill="hold"/>
                                        <p:tgtEl>
                                          <p:spTgt spid="18435">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1843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8435">
                                            <p:txEl>
                                              <p:pRg st="9" end="9"/>
                                            </p:txEl>
                                          </p:spTgt>
                                        </p:tgtEl>
                                        <p:attrNameLst>
                                          <p:attrName>style.visibility</p:attrName>
                                        </p:attrNameLst>
                                      </p:cBhvr>
                                      <p:to>
                                        <p:strVal val="visible"/>
                                      </p:to>
                                    </p:set>
                                    <p:animEffect transition="in" filter="fade">
                                      <p:cBhvr>
                                        <p:cTn id="63" dur="1000"/>
                                        <p:tgtEl>
                                          <p:spTgt spid="18435">
                                            <p:txEl>
                                              <p:pRg st="9" end="9"/>
                                            </p:txEl>
                                          </p:spTgt>
                                        </p:tgtEl>
                                      </p:cBhvr>
                                    </p:animEffect>
                                    <p:anim calcmode="lin" valueType="num">
                                      <p:cBhvr>
                                        <p:cTn id="64" dur="1000" fill="hold"/>
                                        <p:tgtEl>
                                          <p:spTgt spid="18435">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18435">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18435">
                                            <p:txEl>
                                              <p:pRg st="11" end="11"/>
                                            </p:txEl>
                                          </p:spTgt>
                                        </p:tgtEl>
                                        <p:attrNameLst>
                                          <p:attrName>style.visibility</p:attrName>
                                        </p:attrNameLst>
                                      </p:cBhvr>
                                      <p:to>
                                        <p:strVal val="visible"/>
                                      </p:to>
                                    </p:set>
                                    <p:anim calcmode="lin" valueType="num">
                                      <p:cBhvr additive="base">
                                        <p:cTn id="70" dur="500" fill="hold"/>
                                        <p:tgtEl>
                                          <p:spTgt spid="18435">
                                            <p:txEl>
                                              <p:pRg st="11" end="11"/>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1843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18435">
                                            <p:txEl>
                                              <p:pRg st="12" end="12"/>
                                            </p:txEl>
                                          </p:spTgt>
                                        </p:tgtEl>
                                        <p:attrNameLst>
                                          <p:attrName>style.visibility</p:attrName>
                                        </p:attrNameLst>
                                      </p:cBhvr>
                                      <p:to>
                                        <p:strVal val="visible"/>
                                      </p:to>
                                    </p:set>
                                    <p:anim calcmode="lin" valueType="num">
                                      <p:cBhvr additive="base">
                                        <p:cTn id="76" dur="500" fill="hold"/>
                                        <p:tgtEl>
                                          <p:spTgt spid="18435">
                                            <p:txEl>
                                              <p:pRg st="12" end="12"/>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18435">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0A0CD2-02B3-4413-90BF-96CF23205999}"/>
              </a:ext>
            </a:extLst>
          </p:cNvPr>
          <p:cNvSpPr>
            <a:spLocks noGrp="1"/>
          </p:cNvSpPr>
          <p:nvPr>
            <p:ph idx="1"/>
          </p:nvPr>
        </p:nvSpPr>
        <p:spPr>
          <a:xfrm>
            <a:off x="2548466" y="1676400"/>
            <a:ext cx="4047067" cy="3332816"/>
          </a:xfrm>
        </p:spPr>
        <p:txBody>
          <a:bodyPr>
            <a:normAutofit/>
          </a:bodyPr>
          <a:lstStyle/>
          <a:p>
            <a:r>
              <a:rPr lang="en-US" sz="5400" dirty="0"/>
              <a:t>THANK YOU</a:t>
            </a:r>
          </a:p>
        </p:txBody>
      </p:sp>
    </p:spTree>
    <p:custDataLst>
      <p:tags r:id="rId1"/>
    </p:custDataLst>
    <p:extLst>
      <p:ext uri="{BB962C8B-B14F-4D97-AF65-F5344CB8AC3E}">
        <p14:creationId xmlns:p14="http://schemas.microsoft.com/office/powerpoint/2010/main" val="177718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8"/>
</p:tagLst>
</file>

<file path=ppt/tags/tag2.xml><?xml version="1.0" encoding="utf-8"?>
<p:tagLst xmlns:a="http://schemas.openxmlformats.org/drawingml/2006/main" xmlns:r="http://schemas.openxmlformats.org/officeDocument/2006/relationships" xmlns:p="http://schemas.openxmlformats.org/presentationml/2006/main">
  <p:tag name="TIMING" val="|0.8|13.9"/>
</p:tagLst>
</file>

<file path=ppt/tags/tag3.xml><?xml version="1.0" encoding="utf-8"?>
<p:tagLst xmlns:a="http://schemas.openxmlformats.org/drawingml/2006/main" xmlns:r="http://schemas.openxmlformats.org/officeDocument/2006/relationships" xmlns:p="http://schemas.openxmlformats.org/presentationml/2006/main">
  <p:tag name="TIMING" val="|0.6|11.1|2.7|1.9|2.3"/>
</p:tagLst>
</file>

<file path=ppt/tags/tag4.xml><?xml version="1.0" encoding="utf-8"?>
<p:tagLst xmlns:a="http://schemas.openxmlformats.org/drawingml/2006/main" xmlns:r="http://schemas.openxmlformats.org/officeDocument/2006/relationships" xmlns:p="http://schemas.openxmlformats.org/presentationml/2006/main">
  <p:tag name="TIMING" val="|0.7|5.4|6.2|9.1"/>
</p:tagLst>
</file>

<file path=ppt/tags/tag5.xml><?xml version="1.0" encoding="utf-8"?>
<p:tagLst xmlns:a="http://schemas.openxmlformats.org/drawingml/2006/main" xmlns:r="http://schemas.openxmlformats.org/officeDocument/2006/relationships" xmlns:p="http://schemas.openxmlformats.org/presentationml/2006/main">
  <p:tag name="TIMING" val="|0.6|3.4|9.2|5.9|20.7|33.1"/>
</p:tagLst>
</file>

<file path=ppt/tags/tag6.xml><?xml version="1.0" encoding="utf-8"?>
<p:tagLst xmlns:a="http://schemas.openxmlformats.org/drawingml/2006/main" xmlns:r="http://schemas.openxmlformats.org/officeDocument/2006/relationships" xmlns:p="http://schemas.openxmlformats.org/presentationml/2006/main">
  <p:tag name="TIMING" val="|0.7"/>
</p:tagLst>
</file>

<file path=ppt/tags/tag7.xml><?xml version="1.0" encoding="utf-8"?>
<p:tagLst xmlns:a="http://schemas.openxmlformats.org/drawingml/2006/main" xmlns:r="http://schemas.openxmlformats.org/officeDocument/2006/relationships" xmlns:p="http://schemas.openxmlformats.org/presentationml/2006/main">
  <p:tag name="TIMING" val="|1"/>
</p:tagLst>
</file>

<file path=ppt/tags/tag8.xml><?xml version="1.0" encoding="utf-8"?>
<p:tagLst xmlns:a="http://schemas.openxmlformats.org/drawingml/2006/main" xmlns:r="http://schemas.openxmlformats.org/officeDocument/2006/relationships" xmlns:p="http://schemas.openxmlformats.org/presentationml/2006/main">
  <p:tag name="TIMING" val="|0.9|2.6|6.6|6.9|6.8|3.9|34.5|6.2"/>
</p:tagLst>
</file>

<file path=ppt/tags/tag9.xml><?xml version="1.0" encoding="utf-8"?>
<p:tagLst xmlns:a="http://schemas.openxmlformats.org/drawingml/2006/main" xmlns:r="http://schemas.openxmlformats.org/officeDocument/2006/relationships" xmlns:p="http://schemas.openxmlformats.org/presentationml/2006/main">
  <p:tag name="TIMING" val="|0.5"/>
</p:tagLst>
</file>

<file path=ppt/tags/tag10.xml><?xml version="1.0" encoding="utf-8"?>
<p:tagLst xmlns:a="http://schemas.openxmlformats.org/drawingml/2006/main" xmlns:r="http://schemas.openxmlformats.org/officeDocument/2006/relationships" xmlns:p="http://schemas.openxmlformats.org/presentationml/2006/main">
  <p:tag name="TIMING" val="|0.6"/>
</p:tagLst>
</file>

<file path=ppt/tags/tag11.xml><?xml version="1.0" encoding="utf-8"?>
<p:tagLst xmlns:a="http://schemas.openxmlformats.org/drawingml/2006/main" xmlns:r="http://schemas.openxmlformats.org/officeDocument/2006/relationships" xmlns:p="http://schemas.openxmlformats.org/presentationml/2006/main">
  <p:tag name="TIMING" val="|0.6|3.9|4.2|1.4|1.7|10.7|3|5.7|6|7.5|3.2"/>
</p:tagLst>
</file>

<file path=ppt/tags/tag12.xml><?xml version="1.0" encoding="utf-8"?>
<p:tagLst xmlns:a="http://schemas.openxmlformats.org/drawingml/2006/main" xmlns:r="http://schemas.openxmlformats.org/officeDocument/2006/relationships" xmlns:p="http://schemas.openxmlformats.org/presentationml/2006/main">
  <p:tag name="TIMING" val="|0.5|14.3|6.3|3.4|4.1|4.3|7|14.9|4.5|4.4|18.7"/>
</p:tagLst>
</file>

<file path=ppt/tags/tag13.xml><?xml version="1.0" encoding="utf-8"?>
<p:tagLst xmlns:a="http://schemas.openxmlformats.org/drawingml/2006/main" xmlns:r="http://schemas.openxmlformats.org/officeDocument/2006/relationships" xmlns:p="http://schemas.openxmlformats.org/presentationml/2006/main">
  <p:tag name="TIMING" val="|0.8"/>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2559</TotalTime>
  <Words>355</Words>
  <Application>Microsoft Office PowerPoint</Application>
  <PresentationFormat>On-screen Show (4:3)</PresentationFormat>
  <Paragraphs>70</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Garamond</vt:lpstr>
      <vt:lpstr>Wingdings</vt:lpstr>
      <vt:lpstr>Wingdings 2</vt:lpstr>
      <vt:lpstr>Parallax</vt:lpstr>
      <vt:lpstr>Management of Environmental hazards/ Disaster Management</vt:lpstr>
      <vt:lpstr>PowerPoint Presentation</vt:lpstr>
      <vt:lpstr>PowerPoint Presentation</vt:lpstr>
      <vt:lpstr>Phase 1: Preventions and/ Mitigation</vt:lpstr>
      <vt:lpstr>Phase 2 : Preparedness</vt:lpstr>
      <vt:lpstr>PowerPoint Presentation</vt:lpstr>
      <vt:lpstr>PowerPoint Presentation</vt:lpstr>
      <vt:lpstr> Phase 3: Emergency response </vt:lpstr>
      <vt:lpstr>PowerPoint Presentation</vt:lpstr>
      <vt:lpstr>PowerPoint Presentation</vt:lpstr>
      <vt:lpstr>Phase 4: Recovery and rehabilitation</vt:lpstr>
      <vt:lpstr>Management of flood hazard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Mehedi Hasan</dc:creator>
  <cp:lastModifiedBy>Sabrina Shahrin Sharna</cp:lastModifiedBy>
  <cp:revision>139</cp:revision>
  <dcterms:created xsi:type="dcterms:W3CDTF">2020-07-14T14:58:22Z</dcterms:created>
  <dcterms:modified xsi:type="dcterms:W3CDTF">2020-08-21T11:47:19Z</dcterms:modified>
</cp:coreProperties>
</file>