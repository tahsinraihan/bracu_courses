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3"/>
  </p:notesMasterIdLst>
  <p:handoutMasterIdLst>
    <p:handoutMasterId r:id="rId24"/>
  </p:handoutMasterIdLst>
  <p:sldIdLst>
    <p:sldId id="264" r:id="rId2"/>
    <p:sldId id="306" r:id="rId3"/>
    <p:sldId id="321" r:id="rId4"/>
    <p:sldId id="307" r:id="rId5"/>
    <p:sldId id="342" r:id="rId6"/>
    <p:sldId id="343" r:id="rId7"/>
    <p:sldId id="309" r:id="rId8"/>
    <p:sldId id="310" r:id="rId9"/>
    <p:sldId id="324" r:id="rId10"/>
    <p:sldId id="332" r:id="rId11"/>
    <p:sldId id="333" r:id="rId12"/>
    <p:sldId id="335" r:id="rId13"/>
    <p:sldId id="337" r:id="rId14"/>
    <p:sldId id="344" r:id="rId15"/>
    <p:sldId id="339" r:id="rId16"/>
    <p:sldId id="341" r:id="rId17"/>
    <p:sldId id="315" r:id="rId18"/>
    <p:sldId id="316" r:id="rId19"/>
    <p:sldId id="317" r:id="rId20"/>
    <p:sldId id="318" r:id="rId21"/>
    <p:sldId id="298" r:id="rId22"/>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91" d="100"/>
          <a:sy n="91" d="100"/>
        </p:scale>
        <p:origin x="130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8/16/2022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8/16/2022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ED0B6A9-04E7-4906-A5E5-861EEA49E7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3C2B496-036B-40D6-B9FD-2EF3C7ECDF0F}" type="slidenum">
              <a:rPr lang="en-US" altLang="en-US"/>
              <a:pPr>
                <a:spcBef>
                  <a:spcPct val="0"/>
                </a:spcBef>
              </a:pPr>
              <a:t>12</a:t>
            </a:fld>
            <a:endParaRPr lang="en-US" altLang="en-US"/>
          </a:p>
        </p:txBody>
      </p:sp>
      <p:sp>
        <p:nvSpPr>
          <p:cNvPr id="20483" name="Rectangle 2">
            <a:extLst>
              <a:ext uri="{FF2B5EF4-FFF2-40B4-BE49-F238E27FC236}">
                <a16:creationId xmlns:a16="http://schemas.microsoft.com/office/drawing/2014/main" id="{CBCC4C8A-242B-4F2C-AEF1-0892AF848EA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64C114E2-D171-48F8-B3F6-626536FC1D4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8/16/2022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9" name="Group 46">
            <a:extLst>
              <a:ext uri="{FF2B5EF4-FFF2-40B4-BE49-F238E27FC236}">
                <a16:creationId xmlns:a16="http://schemas.microsoft.com/office/drawing/2014/main" id="{E9D059B6-ADD8-488A-B346-63289E90D13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8"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4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50"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5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5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5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80" name="Rectangle 54">
            <a:extLst>
              <a:ext uri="{FF2B5EF4-FFF2-40B4-BE49-F238E27FC236}">
                <a16:creationId xmlns:a16="http://schemas.microsoft.com/office/drawing/2014/main" id="{9CD9ACDE-8038-488C-AB0C-5FD1A373C8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6C2449-5F66-4753-AAA3-4AD81E57A0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59" name="Group 58">
            <a:extLst>
              <a:ext uri="{FF2B5EF4-FFF2-40B4-BE49-F238E27FC236}">
                <a16:creationId xmlns:a16="http://schemas.microsoft.com/office/drawing/2014/main" id="{329F7DAB-18F4-436A-A0D8-61013DEB6F5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068" y="1"/>
            <a:ext cx="2443597" cy="6858000"/>
            <a:chOff x="141424" y="1"/>
            <a:chExt cx="3258129" cy="6858000"/>
          </a:xfrm>
        </p:grpSpPr>
        <p:sp>
          <p:nvSpPr>
            <p:cNvPr id="60"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61"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62"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63"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4" name="Freeform: Shape 63">
              <a:extLst>
                <a:ext uri="{FF2B5EF4-FFF2-40B4-BE49-F238E27FC236}">
                  <a16:creationId xmlns:a16="http://schemas.microsoft.com/office/drawing/2014/main" id="{557375C8-AF41-41DF-8F04-72401D4B9EB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65"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428157" y="205760"/>
            <a:ext cx="1609775" cy="4572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2" name="Rectangle 2">
            <a:extLst>
              <a:ext uri="{FF2B5EF4-FFF2-40B4-BE49-F238E27FC236}">
                <a16:creationId xmlns:a16="http://schemas.microsoft.com/office/drawing/2014/main" id="{1FCAAF70-4853-4A33-A861-FD1537E4D71E}"/>
              </a:ext>
            </a:extLst>
          </p:cNvPr>
          <p:cNvSpPr txBox="1">
            <a:spLocks noChangeArrowheads="1"/>
          </p:cNvSpPr>
          <p:nvPr/>
        </p:nvSpPr>
        <p:spPr>
          <a:xfrm>
            <a:off x="1828800" y="1600200"/>
            <a:ext cx="6705600" cy="1143000"/>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GB" sz="4800" b="1" dirty="0">
                <a:solidFill>
                  <a:schemeClr val="accent1">
                    <a:lumMod val="75000"/>
                  </a:schemeClr>
                </a:solidFill>
                <a:latin typeface="Garamond" pitchFamily="18" charset="0"/>
              </a:rPr>
              <a:t/>
            </a:r>
            <a:br>
              <a:rPr lang="en-GB" sz="4800" b="1" dirty="0">
                <a:solidFill>
                  <a:schemeClr val="accent1">
                    <a:lumMod val="75000"/>
                  </a:schemeClr>
                </a:solidFill>
                <a:latin typeface="Garamond" pitchFamily="18" charset="0"/>
              </a:rPr>
            </a:br>
            <a:r>
              <a:rPr lang="en-GB" sz="4800" b="1" dirty="0">
                <a:solidFill>
                  <a:schemeClr val="accent1">
                    <a:lumMod val="75000"/>
                  </a:schemeClr>
                </a:solidFill>
                <a:latin typeface="Garamond" pitchFamily="18" charset="0"/>
              </a:rPr>
              <a:t>Biodiversity</a:t>
            </a:r>
            <a:endParaRPr lang="en-GB" sz="8000" b="1" dirty="0">
              <a:solidFill>
                <a:schemeClr val="accent1">
                  <a:lumMod val="75000"/>
                </a:schemeClr>
              </a:solidFill>
              <a:latin typeface="Garamond"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19"/>
    </mc:Choice>
    <mc:Fallback xmlns="">
      <p:transition spd="slow" advTm="66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0FC31A6-D378-4D53-9E14-599205DA3F3C}"/>
              </a:ext>
            </a:extLst>
          </p:cNvPr>
          <p:cNvSpPr>
            <a:spLocks noGrp="1" noChangeArrowheads="1"/>
          </p:cNvSpPr>
          <p:nvPr>
            <p:ph type="title"/>
          </p:nvPr>
        </p:nvSpPr>
        <p:spPr>
          <a:xfrm>
            <a:off x="1905000" y="152400"/>
            <a:ext cx="4572000" cy="609600"/>
          </a:xfrm>
        </p:spPr>
        <p:txBody>
          <a:bodyPr>
            <a:normAutofit fontScale="90000"/>
          </a:bodyPr>
          <a:lstStyle/>
          <a:p>
            <a:pPr eaLnBrk="1" fontAlgn="auto" hangingPunct="1">
              <a:spcAft>
                <a:spcPts val="0"/>
              </a:spcAft>
              <a:defRPr/>
            </a:pPr>
            <a:r>
              <a:rPr lang="en-US" sz="4000" b="1" dirty="0">
                <a:solidFill>
                  <a:schemeClr val="tx1"/>
                </a:solidFill>
                <a:latin typeface="Garamond" pitchFamily="18" charset="0"/>
              </a:rPr>
              <a:t>                          Biodiversity</a:t>
            </a:r>
          </a:p>
        </p:txBody>
      </p:sp>
      <p:sp>
        <p:nvSpPr>
          <p:cNvPr id="9219" name="Rectangle 3">
            <a:extLst>
              <a:ext uri="{FF2B5EF4-FFF2-40B4-BE49-F238E27FC236}">
                <a16:creationId xmlns:a16="http://schemas.microsoft.com/office/drawing/2014/main" id="{C3746440-B5AA-4812-A562-FA75D7ECCC1B}"/>
              </a:ext>
            </a:extLst>
          </p:cNvPr>
          <p:cNvSpPr>
            <a:spLocks noGrp="1"/>
          </p:cNvSpPr>
          <p:nvPr>
            <p:ph idx="1"/>
          </p:nvPr>
        </p:nvSpPr>
        <p:spPr>
          <a:xfrm>
            <a:off x="381000" y="2362200"/>
            <a:ext cx="8534400" cy="4038600"/>
          </a:xfrm>
        </p:spPr>
        <p:txBody>
          <a:bodyPr/>
          <a:lstStyle/>
          <a:p>
            <a:pPr algn="just" eaLnBrk="1" hangingPunct="1"/>
            <a:r>
              <a:rPr lang="en-US" altLang="en-US" sz="3200" dirty="0">
                <a:latin typeface="Garamond" panose="02020404030301010803" pitchFamily="18" charset="0"/>
              </a:rPr>
              <a:t>Biodiversity :refers to the incredible variety of life found in our planet.</a:t>
            </a:r>
          </a:p>
          <a:p>
            <a:pPr algn="just" eaLnBrk="1" hangingPunct="1"/>
            <a:r>
              <a:rPr lang="en-US" altLang="en-US" sz="3200" dirty="0">
                <a:latin typeface="Garamond" panose="02020404030301010803" pitchFamily="18" charset="0"/>
              </a:rPr>
              <a:t>Biodiversity refers to the number, variety and variability of all life forms on earth. These include millions of plants, animals and micro-organisms, the genes they contain and the intricate ecosystems of which they are a part.</a:t>
            </a:r>
          </a:p>
          <a:p>
            <a:pPr lvl="2" algn="just" eaLnBrk="1" hangingPunct="1">
              <a:lnSpc>
                <a:spcPct val="80000"/>
              </a:lnSpc>
              <a:buFontTx/>
              <a:buChar char="–"/>
            </a:pPr>
            <a:endParaRPr lang="en-US" altLang="en-US" dirty="0">
              <a:latin typeface="Garamond" panose="02020404030301010803" pitchFamily="18" charset="0"/>
            </a:endParaRPr>
          </a:p>
          <a:p>
            <a:pPr lvl="1" algn="just" eaLnBrk="1" hangingPunct="1">
              <a:lnSpc>
                <a:spcPct val="80000"/>
              </a:lnSpc>
              <a:buFontTx/>
              <a:buNone/>
            </a:pPr>
            <a:endParaRPr lang="en-US" altLang="en-US" sz="2400" dirty="0">
              <a:latin typeface="Garamond" panose="02020404030301010803" pitchFamily="18" charset="0"/>
            </a:endParaRPr>
          </a:p>
          <a:p>
            <a:pPr algn="just" eaLnBrk="1" hangingPunct="1">
              <a:buFont typeface="Wingdings" panose="05000000000000000000" pitchFamily="2" charset="2"/>
              <a:buNone/>
            </a:pPr>
            <a:endParaRPr lang="en-US" altLang="en-US"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6212"/>
    </mc:Choice>
    <mc:Fallback xmlns="">
      <p:transition spd="slow" advTm="3621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anim calcmode="lin" valueType="num">
                                      <p:cBhvr additive="base">
                                        <p:cTn id="13"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9">
                                            <p:txEl>
                                              <p:pRg st="1" end="1"/>
                                            </p:txEl>
                                          </p:spTgt>
                                        </p:tgtEl>
                                        <p:attrNameLst>
                                          <p:attrName>style.visibility</p:attrName>
                                        </p:attrNameLst>
                                      </p:cBhvr>
                                      <p:to>
                                        <p:strVal val="visible"/>
                                      </p:to>
                                    </p:set>
                                    <p:anim calcmode="lin" valueType="num">
                                      <p:cBhvr additive="base">
                                        <p:cTn id="19"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921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descr="Biodiversity-100-007.jpg">
            <a:extLst>
              <a:ext uri="{FF2B5EF4-FFF2-40B4-BE49-F238E27FC236}">
                <a16:creationId xmlns:a16="http://schemas.microsoft.com/office/drawing/2014/main" id="{FBB3E56B-58B8-4D98-9B71-D9BE9E08F0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2400"/>
            <a:ext cx="5486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5" descr="Biodiversity.jpg">
            <a:extLst>
              <a:ext uri="{FF2B5EF4-FFF2-40B4-BE49-F238E27FC236}">
                <a16:creationId xmlns:a16="http://schemas.microsoft.com/office/drawing/2014/main" id="{2D04047C-F4EE-4AFB-8B8B-8BCCBD592CA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29226" y="3429000"/>
            <a:ext cx="3033174"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4" descr="BiodiversityCollage.jpg">
            <a:extLst>
              <a:ext uri="{FF2B5EF4-FFF2-40B4-BE49-F238E27FC236}">
                <a16:creationId xmlns:a16="http://schemas.microsoft.com/office/drawing/2014/main" id="{A6236473-BD30-4EFC-96FE-7699AA4A693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46563" y="3429000"/>
            <a:ext cx="369773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629"/>
    </mc:Choice>
    <mc:Fallback xmlns="">
      <p:transition spd="slow" advTm="2662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ppt_x"/>
                                          </p:val>
                                        </p:tav>
                                        <p:tav tm="100000">
                                          <p:val>
                                            <p:strVal val="#ppt_x"/>
                                          </p:val>
                                        </p:tav>
                                      </p:tavLst>
                                    </p:anim>
                                    <p:anim calcmode="lin" valueType="num">
                                      <p:cBhvr additive="base">
                                        <p:cTn id="8" dur="500" fill="hold"/>
                                        <p:tgtEl>
                                          <p:spTgt spid="1024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42"/>
                                        </p:tgtEl>
                                        <p:attrNameLst>
                                          <p:attrName>style.visibility</p:attrName>
                                        </p:attrNameLst>
                                      </p:cBhvr>
                                      <p:to>
                                        <p:strVal val="visible"/>
                                      </p:to>
                                    </p:set>
                                    <p:anim calcmode="lin" valueType="num">
                                      <p:cBhvr additive="base">
                                        <p:cTn id="11" dur="500" fill="hold"/>
                                        <p:tgtEl>
                                          <p:spTgt spid="10242"/>
                                        </p:tgtEl>
                                        <p:attrNameLst>
                                          <p:attrName>ppt_x</p:attrName>
                                        </p:attrNameLst>
                                      </p:cBhvr>
                                      <p:tavLst>
                                        <p:tav tm="0">
                                          <p:val>
                                            <p:strVal val="#ppt_x"/>
                                          </p:val>
                                        </p:tav>
                                        <p:tav tm="100000">
                                          <p:val>
                                            <p:strVal val="#ppt_x"/>
                                          </p:val>
                                        </p:tav>
                                      </p:tavLst>
                                    </p:anim>
                                    <p:anim calcmode="lin" valueType="num">
                                      <p:cBhvr additive="base">
                                        <p:cTn id="12" dur="500" fill="hold"/>
                                        <p:tgtEl>
                                          <p:spTgt spid="1024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43"/>
                                        </p:tgtEl>
                                        <p:attrNameLst>
                                          <p:attrName>style.visibility</p:attrName>
                                        </p:attrNameLst>
                                      </p:cBhvr>
                                      <p:to>
                                        <p:strVal val="visible"/>
                                      </p:to>
                                    </p:set>
                                    <p:anim calcmode="lin" valueType="num">
                                      <p:cBhvr additive="base">
                                        <p:cTn id="15" dur="500" fill="hold"/>
                                        <p:tgtEl>
                                          <p:spTgt spid="10243"/>
                                        </p:tgtEl>
                                        <p:attrNameLst>
                                          <p:attrName>ppt_x</p:attrName>
                                        </p:attrNameLst>
                                      </p:cBhvr>
                                      <p:tavLst>
                                        <p:tav tm="0">
                                          <p:val>
                                            <p:strVal val="#ppt_x"/>
                                          </p:val>
                                        </p:tav>
                                        <p:tav tm="100000">
                                          <p:val>
                                            <p:strVal val="#ppt_x"/>
                                          </p:val>
                                        </p:tav>
                                      </p:tavLst>
                                    </p:anim>
                                    <p:anim calcmode="lin" valueType="num">
                                      <p:cBhvr additive="base">
                                        <p:cTn id="16"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700F22-C030-46C9-815C-FBF688E54D61}"/>
              </a:ext>
            </a:extLst>
          </p:cNvPr>
          <p:cNvSpPr>
            <a:spLocks noGrp="1"/>
          </p:cNvSpPr>
          <p:nvPr>
            <p:ph type="subTitle" idx="1"/>
          </p:nvPr>
        </p:nvSpPr>
        <p:spPr>
          <a:xfrm>
            <a:off x="1681957" y="762000"/>
            <a:ext cx="3646488" cy="4343400"/>
          </a:xfrm>
        </p:spPr>
        <p:txBody>
          <a:bodyPr>
            <a:normAutofit lnSpcReduction="10000"/>
          </a:bodyPr>
          <a:lstStyle/>
          <a:p>
            <a:pPr algn="just" eaLnBrk="1" fontAlgn="auto" hangingPunct="1">
              <a:spcAft>
                <a:spcPts val="0"/>
              </a:spcAft>
              <a:buFont typeface="Wingdings 2"/>
              <a:buNone/>
              <a:defRPr/>
            </a:pPr>
            <a:r>
              <a:rPr lang="en-US" sz="2800" dirty="0">
                <a:latin typeface="Garamond" pitchFamily="18" charset="0"/>
              </a:rPr>
              <a:t>Three kinds of biodiversity – </a:t>
            </a:r>
          </a:p>
          <a:p>
            <a:pPr algn="just" eaLnBrk="1" fontAlgn="auto" hangingPunct="1">
              <a:spcAft>
                <a:spcPts val="0"/>
              </a:spcAft>
              <a:buFont typeface="Wingdings 2"/>
              <a:buNone/>
              <a:defRPr/>
            </a:pPr>
            <a:endParaRPr lang="en-US" sz="2800" dirty="0">
              <a:latin typeface="Garamond" pitchFamily="18" charset="0"/>
            </a:endParaRPr>
          </a:p>
          <a:p>
            <a:pPr algn="just" eaLnBrk="1" fontAlgn="auto" hangingPunct="1">
              <a:spcAft>
                <a:spcPts val="0"/>
              </a:spcAft>
              <a:buFont typeface="Wingdings" panose="05000000000000000000" pitchFamily="2" charset="2"/>
              <a:buChar char="v"/>
              <a:defRPr/>
            </a:pPr>
            <a:r>
              <a:rPr lang="en-US" sz="2800" dirty="0">
                <a:latin typeface="Garamond" pitchFamily="18" charset="0"/>
              </a:rPr>
              <a:t> </a:t>
            </a:r>
            <a:r>
              <a:rPr lang="en-US" sz="2800" dirty="0">
                <a:solidFill>
                  <a:srgbClr val="FF0000"/>
                </a:solidFill>
                <a:latin typeface="Garamond" pitchFamily="18" charset="0"/>
              </a:rPr>
              <a:t>Genetic diversity </a:t>
            </a:r>
            <a:r>
              <a:rPr lang="en-US" sz="2800" dirty="0">
                <a:latin typeface="Garamond" pitchFamily="18" charset="0"/>
              </a:rPr>
              <a:t>: different genes &amp; combinations of genes within populations</a:t>
            </a:r>
          </a:p>
          <a:p>
            <a:pPr algn="just" eaLnBrk="1" fontAlgn="auto" hangingPunct="1">
              <a:spcAft>
                <a:spcPts val="0"/>
              </a:spcAft>
              <a:defRPr/>
            </a:pPr>
            <a:endParaRPr lang="en-US" sz="2800" dirty="0">
              <a:latin typeface="Garamond" pitchFamily="18" charset="0"/>
            </a:endParaRPr>
          </a:p>
          <a:p>
            <a:pPr algn="just" eaLnBrk="1" fontAlgn="auto" hangingPunct="1">
              <a:spcAft>
                <a:spcPts val="0"/>
              </a:spcAft>
              <a:defRPr/>
            </a:pPr>
            <a:endParaRPr lang="en-US" sz="2800" dirty="0">
              <a:latin typeface="Garamond" pitchFamily="18" charset="0"/>
            </a:endParaRPr>
          </a:p>
          <a:p>
            <a:pPr algn="just" eaLnBrk="1" fontAlgn="auto" hangingPunct="1">
              <a:spcAft>
                <a:spcPts val="0"/>
              </a:spcAft>
              <a:buFont typeface="Wingdings 2"/>
              <a:buNone/>
              <a:defRPr/>
            </a:pPr>
            <a:r>
              <a:rPr lang="en-US" dirty="0">
                <a:latin typeface="Garamond" pitchFamily="18" charset="0"/>
              </a:rPr>
              <a:t> </a:t>
            </a:r>
            <a:endParaRPr lang="en-US" sz="2800" dirty="0">
              <a:latin typeface="Garamond" pitchFamily="18" charset="0"/>
            </a:endParaRPr>
          </a:p>
        </p:txBody>
      </p:sp>
      <p:pic>
        <p:nvPicPr>
          <p:cNvPr id="11267" name="Picture 3" descr="20_EVOW_CH18.jpg">
            <a:extLst>
              <a:ext uri="{FF2B5EF4-FFF2-40B4-BE49-F238E27FC236}">
                <a16:creationId xmlns:a16="http://schemas.microsoft.com/office/drawing/2014/main" id="{5B9C9290-7CCF-4849-9662-B2EF6C9C436E}"/>
              </a:ext>
            </a:extLst>
          </p:cNvPr>
          <p:cNvPicPr>
            <a:picLocks noChangeAspect="1"/>
          </p:cNvPicPr>
          <p:nvPr/>
        </p:nvPicPr>
        <p:blipFill>
          <a:blip r:embed="rId3" cstate="print">
            <a:extLst>
              <a:ext uri="{28A0092B-C50C-407E-A947-70E740481C1C}">
                <a14:useLocalDpi xmlns:a14="http://schemas.microsoft.com/office/drawing/2010/main" val="0"/>
              </a:ext>
            </a:extLst>
          </a:blip>
          <a:srcRect b="36119"/>
          <a:stretch>
            <a:fillRect/>
          </a:stretch>
        </p:blipFill>
        <p:spPr bwMode="auto">
          <a:xfrm>
            <a:off x="5638800" y="896073"/>
            <a:ext cx="2351695" cy="1732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images.jpg">
            <a:extLst>
              <a:ext uri="{FF2B5EF4-FFF2-40B4-BE49-F238E27FC236}">
                <a16:creationId xmlns:a16="http://schemas.microsoft.com/office/drawing/2014/main" id="{2ABDB6AB-DC1C-46F0-B5C5-B1275BC60C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05201" y="3886200"/>
            <a:ext cx="438912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665"/>
    </mc:Choice>
    <mc:Fallback xmlns="">
      <p:transition spd="slow" advTm="8366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11267"/>
                                        </p:tgtEl>
                                        <p:attrNameLst>
                                          <p:attrName>style.visibility</p:attrName>
                                        </p:attrNameLst>
                                      </p:cBhvr>
                                      <p:to>
                                        <p:strVal val="visible"/>
                                      </p:to>
                                    </p:set>
                                    <p:animEffect transition="in" filter="fade">
                                      <p:cBhvr>
                                        <p:cTn id="25" dur="1000"/>
                                        <p:tgtEl>
                                          <p:spTgt spid="11267"/>
                                        </p:tgtEl>
                                      </p:cBhvr>
                                    </p:animEffect>
                                    <p:anim calcmode="lin" valueType="num">
                                      <p:cBhvr>
                                        <p:cTn id="26" dur="1000" fill="hold"/>
                                        <p:tgtEl>
                                          <p:spTgt spid="11267"/>
                                        </p:tgtEl>
                                        <p:attrNameLst>
                                          <p:attrName>ppt_x</p:attrName>
                                        </p:attrNameLst>
                                      </p:cBhvr>
                                      <p:tavLst>
                                        <p:tav tm="0">
                                          <p:val>
                                            <p:strVal val="#ppt_x"/>
                                          </p:val>
                                        </p:tav>
                                        <p:tav tm="100000">
                                          <p:val>
                                            <p:strVal val="#ppt_x"/>
                                          </p:val>
                                        </p:tav>
                                      </p:tavLst>
                                    </p:anim>
                                    <p:anim calcmode="lin" valueType="num">
                                      <p:cBhvr>
                                        <p:cTn id="27" dur="1000" fill="hold"/>
                                        <p:tgtEl>
                                          <p:spTgt spid="11267"/>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11268"/>
                                        </p:tgtEl>
                                        <p:attrNameLst>
                                          <p:attrName>style.visibility</p:attrName>
                                        </p:attrNameLst>
                                      </p:cBhvr>
                                      <p:to>
                                        <p:strVal val="visible"/>
                                      </p:to>
                                    </p:set>
                                    <p:animEffect transition="in" filter="fade">
                                      <p:cBhvr>
                                        <p:cTn id="30" dur="1000"/>
                                        <p:tgtEl>
                                          <p:spTgt spid="11268"/>
                                        </p:tgtEl>
                                      </p:cBhvr>
                                    </p:animEffect>
                                    <p:anim calcmode="lin" valueType="num">
                                      <p:cBhvr>
                                        <p:cTn id="31" dur="1000" fill="hold"/>
                                        <p:tgtEl>
                                          <p:spTgt spid="11268"/>
                                        </p:tgtEl>
                                        <p:attrNameLst>
                                          <p:attrName>ppt_x</p:attrName>
                                        </p:attrNameLst>
                                      </p:cBhvr>
                                      <p:tavLst>
                                        <p:tav tm="0">
                                          <p:val>
                                            <p:strVal val="#ppt_x"/>
                                          </p:val>
                                        </p:tav>
                                        <p:tav tm="100000">
                                          <p:val>
                                            <p:strVal val="#ppt_x"/>
                                          </p:val>
                                        </p:tav>
                                      </p:tavLst>
                                    </p:anim>
                                    <p:anim calcmode="lin" valueType="num">
                                      <p:cBhvr>
                                        <p:cTn id="32" dur="1000" fill="hold"/>
                                        <p:tgtEl>
                                          <p:spTgt spid="112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55FB8-01C0-4293-B114-41103EE15C6A}"/>
              </a:ext>
            </a:extLst>
          </p:cNvPr>
          <p:cNvSpPr>
            <a:spLocks noGrp="1"/>
          </p:cNvSpPr>
          <p:nvPr>
            <p:ph idx="1"/>
          </p:nvPr>
        </p:nvSpPr>
        <p:spPr>
          <a:xfrm>
            <a:off x="685801" y="228600"/>
            <a:ext cx="8001000" cy="6324600"/>
          </a:xfrm>
        </p:spPr>
        <p:txBody>
          <a:bodyPr>
            <a:normAutofit/>
          </a:bodyPr>
          <a:lstStyle/>
          <a:p>
            <a:pPr algn="just" eaLnBrk="1" fontAlgn="auto" hangingPunct="1">
              <a:spcAft>
                <a:spcPts val="0"/>
              </a:spcAft>
              <a:buFont typeface="Wingdings" panose="05000000000000000000" pitchFamily="2" charset="2"/>
              <a:buChar char="v"/>
              <a:defRPr/>
            </a:pPr>
            <a:r>
              <a:rPr lang="en-US" sz="2400" dirty="0">
                <a:solidFill>
                  <a:srgbClr val="FF0000"/>
                </a:solidFill>
                <a:latin typeface="Garamond" pitchFamily="18" charset="0"/>
              </a:rPr>
              <a:t>Species diversity </a:t>
            </a:r>
            <a:r>
              <a:rPr lang="en-US" sz="2400" dirty="0">
                <a:latin typeface="Garamond" pitchFamily="18" charset="0"/>
              </a:rPr>
              <a:t>: describes the number of different kinds of organisms within individual communities. </a:t>
            </a:r>
          </a:p>
          <a:p>
            <a:pPr marL="0" indent="0" algn="just" eaLnBrk="1" fontAlgn="auto" hangingPunct="1">
              <a:spcAft>
                <a:spcPts val="0"/>
              </a:spcAft>
              <a:buNone/>
              <a:defRPr/>
            </a:pPr>
            <a:endParaRPr lang="en-US" sz="2400" dirty="0">
              <a:latin typeface="Garamond" pitchFamily="18" charset="0"/>
            </a:endParaRPr>
          </a:p>
          <a:p>
            <a:pPr marL="0" indent="0" algn="just" eaLnBrk="1" fontAlgn="auto" hangingPunct="1">
              <a:spcAft>
                <a:spcPts val="0"/>
              </a:spcAft>
              <a:buNone/>
              <a:defRPr/>
            </a:pPr>
            <a:r>
              <a:rPr lang="en-US" sz="2400" b="1" dirty="0">
                <a:latin typeface="Garamond" pitchFamily="18" charset="0"/>
              </a:rPr>
              <a:t>Measurement of species: </a:t>
            </a:r>
          </a:p>
          <a:p>
            <a:pPr algn="just" eaLnBrk="1" hangingPunct="1">
              <a:lnSpc>
                <a:spcPct val="80000"/>
              </a:lnSpc>
              <a:buFont typeface="Arial" pitchFamily="34" charset="0"/>
              <a:buChar char="•"/>
              <a:defRPr/>
            </a:pPr>
            <a:r>
              <a:rPr lang="en-US" sz="2400" dirty="0">
                <a:latin typeface="Garamond" pitchFamily="18" charset="0"/>
              </a:rPr>
              <a:t>Species richness: the total number of species</a:t>
            </a:r>
          </a:p>
          <a:p>
            <a:pPr algn="just" eaLnBrk="1" hangingPunct="1">
              <a:lnSpc>
                <a:spcPct val="80000"/>
              </a:lnSpc>
              <a:buFont typeface="Arial" pitchFamily="34" charset="0"/>
              <a:buChar char="•"/>
              <a:defRPr/>
            </a:pPr>
            <a:r>
              <a:rPr lang="en-US" sz="2400" dirty="0">
                <a:latin typeface="Garamond" pitchFamily="18" charset="0"/>
              </a:rPr>
              <a:t>Species evenness: the relative abundance of species</a:t>
            </a:r>
          </a:p>
          <a:p>
            <a:pPr algn="just" eaLnBrk="1" hangingPunct="1">
              <a:lnSpc>
                <a:spcPct val="80000"/>
              </a:lnSpc>
              <a:buFont typeface="Arial" pitchFamily="34" charset="0"/>
              <a:buChar char="•"/>
              <a:defRPr/>
            </a:pPr>
            <a:r>
              <a:rPr lang="en-US" sz="2400" dirty="0">
                <a:latin typeface="Garamond" pitchFamily="18" charset="0"/>
              </a:rPr>
              <a:t>Species dominance: the most abundant species</a:t>
            </a:r>
          </a:p>
          <a:p>
            <a:pPr marL="26988" algn="just" eaLnBrk="1" hangingPunct="1">
              <a:defRPr/>
            </a:pPr>
            <a:endParaRPr lang="en-US" sz="2400" dirty="0">
              <a:solidFill>
                <a:schemeClr val="tx1"/>
              </a:solidFill>
              <a:latin typeface="Garamond" pitchFamily="18" charset="0"/>
            </a:endParaRPr>
          </a:p>
          <a:p>
            <a:pPr marL="0" indent="0">
              <a:buNone/>
            </a:pPr>
            <a:endParaRPr lang="en-US" dirty="0"/>
          </a:p>
        </p:txBody>
      </p:sp>
    </p:spTree>
    <p:extLst>
      <p:ext uri="{BB962C8B-B14F-4D97-AF65-F5344CB8AC3E}">
        <p14:creationId xmlns:p14="http://schemas.microsoft.com/office/powerpoint/2010/main" val="261443411"/>
      </p:ext>
    </p:extLst>
  </p:cSld>
  <p:clrMapOvr>
    <a:masterClrMapping/>
  </p:clrMapOvr>
  <mc:AlternateContent xmlns:mc="http://schemas.openxmlformats.org/markup-compatibility/2006" xmlns:p14="http://schemas.microsoft.com/office/powerpoint/2010/main">
    <mc:Choice Requires="p14">
      <p:transition spd="slow" p14:dur="2000" advTm="86452"/>
    </mc:Choice>
    <mc:Fallback xmlns="">
      <p:transition spd="slow" advTm="8645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7E596-C90B-4286-A79D-7E8667AFB748}"/>
              </a:ext>
            </a:extLst>
          </p:cNvPr>
          <p:cNvSpPr>
            <a:spLocks noGrp="1"/>
          </p:cNvSpPr>
          <p:nvPr>
            <p:ph idx="1"/>
          </p:nvPr>
        </p:nvSpPr>
        <p:spPr>
          <a:xfrm>
            <a:off x="1219200" y="1905000"/>
            <a:ext cx="6553200" cy="3332816"/>
          </a:xfrm>
        </p:spPr>
        <p:txBody>
          <a:bodyPr/>
          <a:lstStyle/>
          <a:p>
            <a:r>
              <a:rPr lang="en-US" sz="2800" dirty="0">
                <a:solidFill>
                  <a:srgbClr val="FF0000"/>
                </a:solidFill>
                <a:latin typeface="Garamond" pitchFamily="18" charset="0"/>
              </a:rPr>
              <a:t>Ecological diversity</a:t>
            </a:r>
            <a:r>
              <a:rPr lang="en-US" sz="2800" dirty="0">
                <a:solidFill>
                  <a:schemeClr val="tx1"/>
                </a:solidFill>
                <a:latin typeface="Garamond" pitchFamily="18" charset="0"/>
              </a:rPr>
              <a:t> : assesses the richness &amp; complexity of a biological community</a:t>
            </a:r>
          </a:p>
          <a:p>
            <a:r>
              <a:rPr lang="en-US" sz="2800" dirty="0">
                <a:latin typeface="Garamond" pitchFamily="18" charset="0"/>
              </a:rPr>
              <a:t>The ecosystem diversity is of great value that must be kept intact.</a:t>
            </a:r>
            <a:endParaRPr lang="en-US" sz="2800" dirty="0">
              <a:solidFill>
                <a:schemeClr val="tx1"/>
              </a:solidFill>
              <a:latin typeface="Garamond" pitchFamily="18" charset="0"/>
            </a:endParaRPr>
          </a:p>
          <a:p>
            <a:endParaRPr lang="en-US" dirty="0"/>
          </a:p>
        </p:txBody>
      </p:sp>
    </p:spTree>
    <p:custDataLst>
      <p:tags r:id="rId1"/>
    </p:custDataLst>
    <p:extLst>
      <p:ext uri="{BB962C8B-B14F-4D97-AF65-F5344CB8AC3E}">
        <p14:creationId xmlns:p14="http://schemas.microsoft.com/office/powerpoint/2010/main" val="641915085"/>
      </p:ext>
    </p:extLst>
  </p:cSld>
  <p:clrMapOvr>
    <a:masterClrMapping/>
  </p:clrMapOvr>
  <mc:AlternateContent xmlns:mc="http://schemas.openxmlformats.org/markup-compatibility/2006" xmlns:p14="http://schemas.microsoft.com/office/powerpoint/2010/main">
    <mc:Choice Requires="p14">
      <p:transition spd="slow" p14:dur="2000" advTm="66707"/>
    </mc:Choice>
    <mc:Fallback xmlns="">
      <p:transition spd="slow" advTm="667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44FE5359-6535-4C19-978B-F804DD2190B6}"/>
              </a:ext>
            </a:extLst>
          </p:cNvPr>
          <p:cNvSpPr>
            <a:spLocks noGrp="1" noChangeArrowheads="1"/>
          </p:cNvSpPr>
          <p:nvPr>
            <p:ph idx="1"/>
          </p:nvPr>
        </p:nvSpPr>
        <p:spPr>
          <a:xfrm>
            <a:off x="685800" y="838200"/>
            <a:ext cx="8229600" cy="5638800"/>
          </a:xfrm>
        </p:spPr>
        <p:txBody>
          <a:bodyPr>
            <a:normAutofit fontScale="85000" lnSpcReduction="20000"/>
          </a:bodyPr>
          <a:lstStyle/>
          <a:p>
            <a:pPr marL="365760" indent="-283464" algn="just" eaLnBrk="1" fontAlgn="auto" hangingPunct="1">
              <a:spcAft>
                <a:spcPts val="0"/>
              </a:spcAft>
              <a:buFont typeface="Wingdings 2"/>
              <a:buChar char=""/>
              <a:defRPr/>
            </a:pPr>
            <a:r>
              <a:rPr lang="en-US" sz="3000" b="1" dirty="0">
                <a:latin typeface="Garamond" pitchFamily="18" charset="0"/>
              </a:rPr>
              <a:t>How many species are there:</a:t>
            </a:r>
          </a:p>
          <a:p>
            <a:pPr marL="859536" lvl="1" indent="-457200" algn="just">
              <a:spcAft>
                <a:spcPts val="0"/>
              </a:spcAft>
              <a:defRPr/>
            </a:pPr>
            <a:r>
              <a:rPr lang="en-US" sz="3000" dirty="0">
                <a:latin typeface="Garamond" pitchFamily="18" charset="0"/>
              </a:rPr>
              <a:t>		1.3 million species have been identified and described, </a:t>
            </a:r>
          </a:p>
          <a:p>
            <a:pPr marL="859536" lvl="1" indent="-457200" algn="just">
              <a:spcAft>
                <a:spcPts val="0"/>
              </a:spcAft>
              <a:defRPr/>
            </a:pPr>
            <a:r>
              <a:rPr lang="en-US" sz="3000" dirty="0">
                <a:latin typeface="Garamond" pitchFamily="18" charset="0"/>
              </a:rPr>
              <a:t>		8.7 million species live on the planet.</a:t>
            </a:r>
          </a:p>
          <a:p>
            <a:pPr marL="402336" lvl="1" indent="0" algn="just">
              <a:spcAft>
                <a:spcPts val="0"/>
              </a:spcAft>
              <a:buNone/>
              <a:defRPr/>
            </a:pPr>
            <a:endParaRPr lang="en-US" sz="3000" dirty="0">
              <a:latin typeface="Garamond" pitchFamily="18" charset="0"/>
            </a:endParaRPr>
          </a:p>
          <a:p>
            <a:pPr marL="640080" lvl="1" indent="-237744" algn="just">
              <a:spcAft>
                <a:spcPts val="0"/>
              </a:spcAft>
              <a:buFont typeface="Wingdings" pitchFamily="2" charset="2"/>
              <a:buChar char="§"/>
              <a:defRPr/>
            </a:pPr>
            <a:r>
              <a:rPr lang="en-US" sz="3000" b="1" dirty="0">
                <a:latin typeface="Garamond" pitchFamily="18" charset="0"/>
              </a:rPr>
              <a:t>Extinction-</a:t>
            </a:r>
            <a:r>
              <a:rPr lang="en-US" sz="3000" dirty="0">
                <a:latin typeface="Garamond" pitchFamily="18" charset="0"/>
              </a:rPr>
              <a:t> </a:t>
            </a:r>
          </a:p>
          <a:p>
            <a:pPr marL="640080" lvl="1" indent="-237744" algn="just" eaLnBrk="1" fontAlgn="auto" hangingPunct="1">
              <a:spcAft>
                <a:spcPts val="0"/>
              </a:spcAft>
              <a:buFont typeface="Wingdings" pitchFamily="2" charset="2"/>
              <a:buChar char="§"/>
              <a:defRPr/>
            </a:pPr>
            <a:r>
              <a:rPr lang="en-US" sz="3000" dirty="0">
                <a:latin typeface="Garamond" pitchFamily="18" charset="0"/>
              </a:rPr>
              <a:t>elimination of a species</a:t>
            </a:r>
          </a:p>
          <a:p>
            <a:pPr marL="640080" lvl="1" indent="-237744" algn="just" eaLnBrk="1" fontAlgn="auto" hangingPunct="1">
              <a:spcAft>
                <a:spcPts val="0"/>
              </a:spcAft>
              <a:buFont typeface="Wingdings" pitchFamily="2" charset="2"/>
              <a:buChar char="§"/>
              <a:defRPr/>
            </a:pPr>
            <a:r>
              <a:rPr lang="en-US" sz="3000" dirty="0">
                <a:latin typeface="Garamond" pitchFamily="18" charset="0"/>
              </a:rPr>
              <a:t>Normal process of natural world</a:t>
            </a:r>
          </a:p>
          <a:p>
            <a:pPr marL="640080" lvl="1" indent="-237744" algn="just" eaLnBrk="1" fontAlgn="auto" hangingPunct="1">
              <a:spcAft>
                <a:spcPts val="0"/>
              </a:spcAft>
              <a:buFont typeface="Wingdings" pitchFamily="2" charset="2"/>
              <a:buChar char="§"/>
              <a:defRPr/>
            </a:pPr>
            <a:r>
              <a:rPr lang="en-US" sz="3000" dirty="0">
                <a:latin typeface="Garamond" pitchFamily="18" charset="0"/>
              </a:rPr>
              <a:t>In undisturbed ecosystem rate is about one species lost every </a:t>
            </a:r>
            <a:r>
              <a:rPr lang="en-US" sz="3000" dirty="0" smtClean="0">
                <a:latin typeface="Garamond" pitchFamily="18" charset="0"/>
              </a:rPr>
              <a:t>decade </a:t>
            </a:r>
            <a:endParaRPr lang="en-US" sz="3000" dirty="0">
              <a:latin typeface="Garamond" pitchFamily="18" charset="0"/>
            </a:endParaRPr>
          </a:p>
          <a:p>
            <a:pPr marL="640080" lvl="1" indent="-237744" algn="just" eaLnBrk="1" fontAlgn="auto" hangingPunct="1">
              <a:spcAft>
                <a:spcPts val="0"/>
              </a:spcAft>
              <a:buFont typeface="Wingdings" pitchFamily="2" charset="2"/>
              <a:buChar char="§"/>
              <a:defRPr/>
            </a:pPr>
            <a:r>
              <a:rPr lang="en-US" sz="3000" dirty="0">
                <a:latin typeface="Garamond" pitchFamily="18" charset="0"/>
              </a:rPr>
              <a:t>Human impacts have accelerated that rate causing hundreds or perhaps thousands of species, subspecies &amp; varieties to become extinct every year. </a:t>
            </a:r>
          </a:p>
          <a:p>
            <a:pPr marL="457200" lvl="1" indent="0" algn="just" eaLnBrk="1" fontAlgn="auto" hangingPunct="1">
              <a:spcAft>
                <a:spcPts val="0"/>
              </a:spcAft>
              <a:buFontTx/>
              <a:buNone/>
              <a:defRPr/>
            </a:pPr>
            <a:endParaRPr lang="en-US" dirty="0">
              <a:latin typeface="Garamond" pitchFamily="18" charset="0"/>
            </a:endParaRPr>
          </a:p>
          <a:p>
            <a:pPr marL="365760" indent="-283464" algn="just" eaLnBrk="1" fontAlgn="auto" hangingPunct="1">
              <a:spcAft>
                <a:spcPts val="0"/>
              </a:spcAft>
              <a:buFont typeface="Wingdings" panose="05000000000000000000" pitchFamily="2" charset="2"/>
              <a:buNone/>
              <a:defRPr/>
            </a:pPr>
            <a:r>
              <a:rPr lang="en-US" dirty="0">
                <a:latin typeface="Garamond" pitchFamily="18" charset="0"/>
              </a:rPr>
              <a:t>	</a:t>
            </a:r>
          </a:p>
          <a:p>
            <a:pPr marL="365760" indent="-283464" algn="just" eaLnBrk="1" fontAlgn="auto" hangingPunct="1">
              <a:spcAft>
                <a:spcPts val="0"/>
              </a:spcAft>
              <a:buFont typeface="Wingdings" panose="05000000000000000000" pitchFamily="2" charset="2"/>
              <a:buNone/>
              <a:defRPr/>
            </a:pPr>
            <a:endParaRPr lang="en-US" sz="2800" dirty="0">
              <a:latin typeface="Garamond"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0744"/>
    </mc:Choice>
    <mc:Fallback xmlns="">
      <p:transition spd="slow" advTm="1207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1000"/>
                                        <p:tgtEl>
                                          <p:spTgt spid="65539">
                                            <p:txEl>
                                              <p:pRg st="0" end="0"/>
                                            </p:txEl>
                                          </p:spTgt>
                                        </p:tgtEl>
                                      </p:cBhvr>
                                    </p:animEffect>
                                    <p:anim calcmode="lin" valueType="num">
                                      <p:cBhvr>
                                        <p:cTn id="8" dur="10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553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1000"/>
                                        <p:tgtEl>
                                          <p:spTgt spid="65539">
                                            <p:txEl>
                                              <p:pRg st="1" end="1"/>
                                            </p:txEl>
                                          </p:spTgt>
                                        </p:tgtEl>
                                      </p:cBhvr>
                                    </p:animEffect>
                                    <p:anim calcmode="lin" valueType="num">
                                      <p:cBhvr>
                                        <p:cTn id="13" dur="1000" fill="hold"/>
                                        <p:tgtEl>
                                          <p:spTgt spid="6553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553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fade">
                                      <p:cBhvr>
                                        <p:cTn id="17" dur="1000"/>
                                        <p:tgtEl>
                                          <p:spTgt spid="65539">
                                            <p:txEl>
                                              <p:pRg st="2" end="2"/>
                                            </p:txEl>
                                          </p:spTgt>
                                        </p:tgtEl>
                                      </p:cBhvr>
                                    </p:animEffect>
                                    <p:anim calcmode="lin" valueType="num">
                                      <p:cBhvr>
                                        <p:cTn id="18" dur="10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553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5539">
                                            <p:txEl>
                                              <p:pRg st="4" end="4"/>
                                            </p:txEl>
                                          </p:spTgt>
                                        </p:tgtEl>
                                        <p:attrNameLst>
                                          <p:attrName>style.visibility</p:attrName>
                                        </p:attrNameLst>
                                      </p:cBhvr>
                                      <p:to>
                                        <p:strVal val="visible"/>
                                      </p:to>
                                    </p:set>
                                    <p:animEffect transition="in" filter="fade">
                                      <p:cBhvr>
                                        <p:cTn id="22" dur="1000"/>
                                        <p:tgtEl>
                                          <p:spTgt spid="65539">
                                            <p:txEl>
                                              <p:pRg st="4" end="4"/>
                                            </p:txEl>
                                          </p:spTgt>
                                        </p:tgtEl>
                                      </p:cBhvr>
                                    </p:animEffect>
                                    <p:anim calcmode="lin" valueType="num">
                                      <p:cBhvr>
                                        <p:cTn id="23" dur="1000" fill="hold"/>
                                        <p:tgtEl>
                                          <p:spTgt spid="6553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553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5539">
                                            <p:txEl>
                                              <p:pRg st="5" end="5"/>
                                            </p:txEl>
                                          </p:spTgt>
                                        </p:tgtEl>
                                        <p:attrNameLst>
                                          <p:attrName>style.visibility</p:attrName>
                                        </p:attrNameLst>
                                      </p:cBhvr>
                                      <p:to>
                                        <p:strVal val="visible"/>
                                      </p:to>
                                    </p:set>
                                    <p:animEffect transition="in" filter="fade">
                                      <p:cBhvr>
                                        <p:cTn id="27" dur="1000"/>
                                        <p:tgtEl>
                                          <p:spTgt spid="65539">
                                            <p:txEl>
                                              <p:pRg st="5" end="5"/>
                                            </p:txEl>
                                          </p:spTgt>
                                        </p:tgtEl>
                                      </p:cBhvr>
                                    </p:animEffect>
                                    <p:anim calcmode="lin" valueType="num">
                                      <p:cBhvr>
                                        <p:cTn id="28" dur="1000" fill="hold"/>
                                        <p:tgtEl>
                                          <p:spTgt spid="6553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65539">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5539">
                                            <p:txEl>
                                              <p:pRg st="6" end="6"/>
                                            </p:txEl>
                                          </p:spTgt>
                                        </p:tgtEl>
                                        <p:attrNameLst>
                                          <p:attrName>style.visibility</p:attrName>
                                        </p:attrNameLst>
                                      </p:cBhvr>
                                      <p:to>
                                        <p:strVal val="visible"/>
                                      </p:to>
                                    </p:set>
                                    <p:animEffect transition="in" filter="fade">
                                      <p:cBhvr>
                                        <p:cTn id="32" dur="1000"/>
                                        <p:tgtEl>
                                          <p:spTgt spid="65539">
                                            <p:txEl>
                                              <p:pRg st="6" end="6"/>
                                            </p:txEl>
                                          </p:spTgt>
                                        </p:tgtEl>
                                      </p:cBhvr>
                                    </p:animEffect>
                                    <p:anim calcmode="lin" valueType="num">
                                      <p:cBhvr>
                                        <p:cTn id="33" dur="1000" fill="hold"/>
                                        <p:tgtEl>
                                          <p:spTgt spid="65539">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65539">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65539">
                                            <p:txEl>
                                              <p:pRg st="7" end="7"/>
                                            </p:txEl>
                                          </p:spTgt>
                                        </p:tgtEl>
                                        <p:attrNameLst>
                                          <p:attrName>style.visibility</p:attrName>
                                        </p:attrNameLst>
                                      </p:cBhvr>
                                      <p:to>
                                        <p:strVal val="visible"/>
                                      </p:to>
                                    </p:set>
                                    <p:animEffect transition="in" filter="fade">
                                      <p:cBhvr>
                                        <p:cTn id="37" dur="1000"/>
                                        <p:tgtEl>
                                          <p:spTgt spid="65539">
                                            <p:txEl>
                                              <p:pRg st="7" end="7"/>
                                            </p:txEl>
                                          </p:spTgt>
                                        </p:tgtEl>
                                      </p:cBhvr>
                                    </p:animEffect>
                                    <p:anim calcmode="lin" valueType="num">
                                      <p:cBhvr>
                                        <p:cTn id="38" dur="1000" fill="hold"/>
                                        <p:tgtEl>
                                          <p:spTgt spid="65539">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65539">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5539">
                                            <p:txEl>
                                              <p:pRg st="8" end="8"/>
                                            </p:txEl>
                                          </p:spTgt>
                                        </p:tgtEl>
                                        <p:attrNameLst>
                                          <p:attrName>style.visibility</p:attrName>
                                        </p:attrNameLst>
                                      </p:cBhvr>
                                      <p:to>
                                        <p:strVal val="visible"/>
                                      </p:to>
                                    </p:set>
                                    <p:animEffect transition="in" filter="fade">
                                      <p:cBhvr>
                                        <p:cTn id="42" dur="1000"/>
                                        <p:tgtEl>
                                          <p:spTgt spid="65539">
                                            <p:txEl>
                                              <p:pRg st="8" end="8"/>
                                            </p:txEl>
                                          </p:spTgt>
                                        </p:tgtEl>
                                      </p:cBhvr>
                                    </p:animEffect>
                                    <p:anim calcmode="lin" valueType="num">
                                      <p:cBhvr>
                                        <p:cTn id="43" dur="1000" fill="hold"/>
                                        <p:tgtEl>
                                          <p:spTgt spid="65539">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6553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5539">
                                            <p:txEl>
                                              <p:pRg st="10" end="10"/>
                                            </p:txEl>
                                          </p:spTgt>
                                        </p:tgtEl>
                                        <p:attrNameLst>
                                          <p:attrName>style.visibility</p:attrName>
                                        </p:attrNameLst>
                                      </p:cBhvr>
                                      <p:to>
                                        <p:strVal val="visible"/>
                                      </p:to>
                                    </p:set>
                                    <p:animEffect transition="in" filter="fade">
                                      <p:cBhvr>
                                        <p:cTn id="49" dur="1000"/>
                                        <p:tgtEl>
                                          <p:spTgt spid="65539">
                                            <p:txEl>
                                              <p:pRg st="10" end="10"/>
                                            </p:txEl>
                                          </p:spTgt>
                                        </p:tgtEl>
                                      </p:cBhvr>
                                    </p:animEffect>
                                    <p:anim calcmode="lin" valueType="num">
                                      <p:cBhvr>
                                        <p:cTn id="50" dur="1000" fill="hold"/>
                                        <p:tgtEl>
                                          <p:spTgt spid="65539">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6553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7816BCBC-F1FC-4144-A7E3-0FE4AFAA1B1C}"/>
              </a:ext>
            </a:extLst>
          </p:cNvPr>
          <p:cNvSpPr>
            <a:spLocks noGrp="1"/>
          </p:cNvSpPr>
          <p:nvPr>
            <p:ph idx="1"/>
          </p:nvPr>
        </p:nvSpPr>
        <p:spPr>
          <a:xfrm>
            <a:off x="381000" y="609600"/>
            <a:ext cx="8229600" cy="5791200"/>
          </a:xfrm>
        </p:spPr>
        <p:txBody>
          <a:bodyPr>
            <a:normAutofit fontScale="92500" lnSpcReduction="10000"/>
          </a:bodyPr>
          <a:lstStyle/>
          <a:p>
            <a:pPr lvl="1" algn="just" eaLnBrk="1" hangingPunct="1"/>
            <a:r>
              <a:rPr lang="en-US" altLang="en-US" sz="3200" b="1" dirty="0">
                <a:latin typeface="Garamond" panose="02020404030301010803" pitchFamily="18" charset="0"/>
              </a:rPr>
              <a:t>Extinctions are of two types:</a:t>
            </a:r>
          </a:p>
          <a:p>
            <a:pPr lvl="2" algn="just"/>
            <a:r>
              <a:rPr lang="en-US" altLang="en-US" sz="3000" b="1" dirty="0">
                <a:latin typeface="Garamond" panose="02020404030301010803" pitchFamily="18" charset="0"/>
              </a:rPr>
              <a:t>Natural Extinction</a:t>
            </a:r>
          </a:p>
          <a:p>
            <a:pPr lvl="2" algn="just"/>
            <a:r>
              <a:rPr lang="en-US" altLang="en-US" sz="3000" b="1" dirty="0">
                <a:latin typeface="Garamond" panose="02020404030301010803" pitchFamily="18" charset="0"/>
              </a:rPr>
              <a:t>Cultural Extinction</a:t>
            </a:r>
          </a:p>
          <a:p>
            <a:pPr lvl="3" algn="just"/>
            <a:r>
              <a:rPr lang="en-US" altLang="en-US" sz="3000" dirty="0">
                <a:latin typeface="Garamond" panose="02020404030301010803" pitchFamily="18" charset="0"/>
              </a:rPr>
              <a:t>Destruction of habitat</a:t>
            </a:r>
          </a:p>
          <a:p>
            <a:pPr lvl="3" algn="just"/>
            <a:r>
              <a:rPr lang="en-US" altLang="en-US" sz="3000" dirty="0">
                <a:latin typeface="Garamond" panose="02020404030301010803" pitchFamily="18" charset="0"/>
              </a:rPr>
              <a:t>Expansion of cities</a:t>
            </a:r>
          </a:p>
          <a:p>
            <a:pPr lvl="3" algn="just"/>
            <a:r>
              <a:rPr lang="en-US" altLang="en-US" sz="3000" dirty="0">
                <a:latin typeface="Garamond" panose="02020404030301010803" pitchFamily="18" charset="0"/>
              </a:rPr>
              <a:t>Deforestation</a:t>
            </a:r>
          </a:p>
          <a:p>
            <a:pPr lvl="3" algn="just"/>
            <a:r>
              <a:rPr lang="en-US" altLang="en-US" sz="3000" dirty="0">
                <a:latin typeface="Garamond" panose="02020404030301010803" pitchFamily="18" charset="0"/>
              </a:rPr>
              <a:t>Over hunting</a:t>
            </a:r>
          </a:p>
          <a:p>
            <a:pPr lvl="3" algn="just"/>
            <a:r>
              <a:rPr lang="en-US" altLang="en-US" sz="3000" dirty="0">
                <a:latin typeface="Garamond" panose="02020404030301010803" pitchFamily="18" charset="0"/>
              </a:rPr>
              <a:t>Pollution</a:t>
            </a:r>
          </a:p>
          <a:p>
            <a:pPr lvl="3" algn="just"/>
            <a:r>
              <a:rPr lang="en-US" altLang="en-US" sz="3000" dirty="0">
                <a:latin typeface="Garamond" panose="02020404030301010803" pitchFamily="18" charset="0"/>
              </a:rPr>
              <a:t>Global warming ( 20-30% species are at risk)</a:t>
            </a:r>
          </a:p>
          <a:p>
            <a:pPr lvl="3" algn="just"/>
            <a:r>
              <a:rPr lang="en-US" altLang="en-US" sz="3000" dirty="0">
                <a:latin typeface="Garamond" panose="02020404030301010803" pitchFamily="18" charset="0"/>
              </a:rPr>
              <a:t>Introduction of Invasive species</a:t>
            </a:r>
            <a:endParaRPr lang="en-US" altLang="en-US" sz="34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0254"/>
    </mc:Choice>
    <mc:Fallback xmlns="">
      <p:transition spd="slow" advTm="1202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 calcmode="lin" valueType="num">
                                      <p:cBhvr additive="base">
                                        <p:cTn id="7" dur="500" fill="hold"/>
                                        <p:tgtEl>
                                          <p:spTgt spid="133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4">
                                            <p:txEl>
                                              <p:pRg st="1" end="1"/>
                                            </p:txEl>
                                          </p:spTgt>
                                        </p:tgtEl>
                                        <p:attrNameLst>
                                          <p:attrName>style.visibility</p:attrName>
                                        </p:attrNameLst>
                                      </p:cBhvr>
                                      <p:to>
                                        <p:strVal val="visible"/>
                                      </p:to>
                                    </p:set>
                                    <p:anim calcmode="lin" valueType="num">
                                      <p:cBhvr additive="base">
                                        <p:cTn id="11" dur="500" fill="hold"/>
                                        <p:tgtEl>
                                          <p:spTgt spid="133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31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314">
                                            <p:txEl>
                                              <p:pRg st="2" end="2"/>
                                            </p:txEl>
                                          </p:spTgt>
                                        </p:tgtEl>
                                        <p:attrNameLst>
                                          <p:attrName>style.visibility</p:attrName>
                                        </p:attrNameLst>
                                      </p:cBhvr>
                                      <p:to>
                                        <p:strVal val="visible"/>
                                      </p:to>
                                    </p:set>
                                    <p:anim calcmode="lin" valueType="num">
                                      <p:cBhvr additive="base">
                                        <p:cTn id="15" dur="500" fill="hold"/>
                                        <p:tgtEl>
                                          <p:spTgt spid="133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31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314">
                                            <p:txEl>
                                              <p:pRg st="3" end="3"/>
                                            </p:txEl>
                                          </p:spTgt>
                                        </p:tgtEl>
                                        <p:attrNameLst>
                                          <p:attrName>style.visibility</p:attrName>
                                        </p:attrNameLst>
                                      </p:cBhvr>
                                      <p:to>
                                        <p:strVal val="visible"/>
                                      </p:to>
                                    </p:set>
                                    <p:anim calcmode="lin" valueType="num">
                                      <p:cBhvr additive="base">
                                        <p:cTn id="19" dur="500" fill="hold"/>
                                        <p:tgtEl>
                                          <p:spTgt spid="133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314">
                                            <p:txEl>
                                              <p:pRg st="4" end="4"/>
                                            </p:txEl>
                                          </p:spTgt>
                                        </p:tgtEl>
                                        <p:attrNameLst>
                                          <p:attrName>style.visibility</p:attrName>
                                        </p:attrNameLst>
                                      </p:cBhvr>
                                      <p:to>
                                        <p:strVal val="visible"/>
                                      </p:to>
                                    </p:set>
                                    <p:anim calcmode="lin" valueType="num">
                                      <p:cBhvr additive="base">
                                        <p:cTn id="23" dur="500" fill="hold"/>
                                        <p:tgtEl>
                                          <p:spTgt spid="1331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31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314">
                                            <p:txEl>
                                              <p:pRg st="5" end="5"/>
                                            </p:txEl>
                                          </p:spTgt>
                                        </p:tgtEl>
                                        <p:attrNameLst>
                                          <p:attrName>style.visibility</p:attrName>
                                        </p:attrNameLst>
                                      </p:cBhvr>
                                      <p:to>
                                        <p:strVal val="visible"/>
                                      </p:to>
                                    </p:set>
                                    <p:anim calcmode="lin" valueType="num">
                                      <p:cBhvr additive="base">
                                        <p:cTn id="27" dur="500" fill="hold"/>
                                        <p:tgtEl>
                                          <p:spTgt spid="1331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31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314">
                                            <p:txEl>
                                              <p:pRg st="6" end="6"/>
                                            </p:txEl>
                                          </p:spTgt>
                                        </p:tgtEl>
                                        <p:attrNameLst>
                                          <p:attrName>style.visibility</p:attrName>
                                        </p:attrNameLst>
                                      </p:cBhvr>
                                      <p:to>
                                        <p:strVal val="visible"/>
                                      </p:to>
                                    </p:set>
                                    <p:anim calcmode="lin" valueType="num">
                                      <p:cBhvr additive="base">
                                        <p:cTn id="31" dur="500" fill="hold"/>
                                        <p:tgtEl>
                                          <p:spTgt spid="1331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4">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314">
                                            <p:txEl>
                                              <p:pRg st="7" end="7"/>
                                            </p:txEl>
                                          </p:spTgt>
                                        </p:tgtEl>
                                        <p:attrNameLst>
                                          <p:attrName>style.visibility</p:attrName>
                                        </p:attrNameLst>
                                      </p:cBhvr>
                                      <p:to>
                                        <p:strVal val="visible"/>
                                      </p:to>
                                    </p:set>
                                    <p:anim calcmode="lin" valueType="num">
                                      <p:cBhvr additive="base">
                                        <p:cTn id="35" dur="500" fill="hold"/>
                                        <p:tgtEl>
                                          <p:spTgt spid="1331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314">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314">
                                            <p:txEl>
                                              <p:pRg st="8" end="8"/>
                                            </p:txEl>
                                          </p:spTgt>
                                        </p:tgtEl>
                                        <p:attrNameLst>
                                          <p:attrName>style.visibility</p:attrName>
                                        </p:attrNameLst>
                                      </p:cBhvr>
                                      <p:to>
                                        <p:strVal val="visible"/>
                                      </p:to>
                                    </p:set>
                                    <p:anim calcmode="lin" valueType="num">
                                      <p:cBhvr additive="base">
                                        <p:cTn id="39" dur="500" fill="hold"/>
                                        <p:tgtEl>
                                          <p:spTgt spid="13314">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314">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314">
                                            <p:txEl>
                                              <p:pRg st="9" end="9"/>
                                            </p:txEl>
                                          </p:spTgt>
                                        </p:tgtEl>
                                        <p:attrNameLst>
                                          <p:attrName>style.visibility</p:attrName>
                                        </p:attrNameLst>
                                      </p:cBhvr>
                                      <p:to>
                                        <p:strVal val="visible"/>
                                      </p:to>
                                    </p:set>
                                    <p:anim calcmode="lin" valueType="num">
                                      <p:cBhvr additive="base">
                                        <p:cTn id="43" dur="500" fill="hold"/>
                                        <p:tgtEl>
                                          <p:spTgt spid="13314">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31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4EA6-0ACC-48C7-8E60-BAE88119257B}"/>
              </a:ext>
            </a:extLst>
          </p:cNvPr>
          <p:cNvSpPr>
            <a:spLocks noGrp="1"/>
          </p:cNvSpPr>
          <p:nvPr>
            <p:ph type="title"/>
          </p:nvPr>
        </p:nvSpPr>
        <p:spPr>
          <a:xfrm>
            <a:off x="533400" y="228600"/>
            <a:ext cx="7467600" cy="503238"/>
          </a:xfrm>
        </p:spPr>
        <p:txBody>
          <a:bodyPr>
            <a:normAutofit fontScale="90000"/>
          </a:bodyPr>
          <a:lstStyle/>
          <a:p>
            <a:pPr algn="ctr">
              <a:defRPr/>
            </a:pPr>
            <a:r>
              <a:rPr lang="en-US" b="1" dirty="0">
                <a:latin typeface="Garamond" pitchFamily="18" charset="0"/>
              </a:rPr>
              <a:t>Biological Evolution</a:t>
            </a:r>
          </a:p>
        </p:txBody>
      </p:sp>
      <p:sp>
        <p:nvSpPr>
          <p:cNvPr id="14339" name="Rectangle 3">
            <a:extLst>
              <a:ext uri="{FF2B5EF4-FFF2-40B4-BE49-F238E27FC236}">
                <a16:creationId xmlns:a16="http://schemas.microsoft.com/office/drawing/2014/main" id="{1F26C1F0-18D1-4E8F-933B-8F42C5397FDC}"/>
              </a:ext>
            </a:extLst>
          </p:cNvPr>
          <p:cNvSpPr>
            <a:spLocks noChangeArrowheads="1"/>
          </p:cNvSpPr>
          <p:nvPr/>
        </p:nvSpPr>
        <p:spPr bwMode="auto">
          <a:xfrm>
            <a:off x="564472" y="1905000"/>
            <a:ext cx="83058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spcBef>
                <a:spcPct val="0"/>
              </a:spcBef>
              <a:buClrTx/>
              <a:buSzTx/>
              <a:buFontTx/>
              <a:buNone/>
            </a:pPr>
            <a:r>
              <a:rPr lang="en-US" altLang="en-US" sz="2800" dirty="0">
                <a:latin typeface="Garamond" panose="02020404030301010803" pitchFamily="18" charset="0"/>
              </a:rPr>
              <a:t>Refer to the change in inherited characteristics of a population from generation to generation.</a:t>
            </a:r>
          </a:p>
          <a:p>
            <a:pPr algn="just" eaLnBrk="1" hangingPunct="1">
              <a:spcBef>
                <a:spcPct val="0"/>
              </a:spcBef>
              <a:buClrTx/>
              <a:buSzTx/>
              <a:buFontTx/>
              <a:buNone/>
            </a:pPr>
            <a:endParaRPr lang="en-US" altLang="en-US" sz="2800" dirty="0">
              <a:latin typeface="Garamond" panose="02020404030301010803" pitchFamily="18" charset="0"/>
            </a:endParaRPr>
          </a:p>
          <a:p>
            <a:pPr algn="just" eaLnBrk="1" hangingPunct="1">
              <a:spcBef>
                <a:spcPct val="0"/>
              </a:spcBef>
              <a:buClrTx/>
              <a:buSzTx/>
              <a:buFontTx/>
              <a:buNone/>
            </a:pPr>
            <a:endParaRPr lang="en-US" altLang="en-US" sz="2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Garamond" panose="02020404030301010803" pitchFamily="18" charset="0"/>
            </a:endParaRPr>
          </a:p>
          <a:p>
            <a:pPr algn="just" eaLnBrk="1" hangingPunct="1">
              <a:spcBef>
                <a:spcPct val="0"/>
              </a:spcBef>
              <a:buClrTx/>
              <a:buSzTx/>
              <a:buFontTx/>
              <a:buNone/>
            </a:pPr>
            <a:endParaRPr lang="en-US" altLang="en-US" sz="1800" dirty="0">
              <a:latin typeface="Arial" panose="020B0604020202020204" pitchFamily="34" charset="0"/>
            </a:endParaRPr>
          </a:p>
        </p:txBody>
      </p:sp>
      <p:sp>
        <p:nvSpPr>
          <p:cNvPr id="14340" name="Rectangle 4">
            <a:extLst>
              <a:ext uri="{FF2B5EF4-FFF2-40B4-BE49-F238E27FC236}">
                <a16:creationId xmlns:a16="http://schemas.microsoft.com/office/drawing/2014/main" id="{B4ECF7F7-6A96-4CBD-B351-FB0265DAA39C}"/>
              </a:ext>
            </a:extLst>
          </p:cNvPr>
          <p:cNvSpPr>
            <a:spLocks noChangeArrowheads="1"/>
          </p:cNvSpPr>
          <p:nvPr/>
        </p:nvSpPr>
        <p:spPr bwMode="auto">
          <a:xfrm>
            <a:off x="457200" y="3429000"/>
            <a:ext cx="8229600" cy="2089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just" eaLnBrk="1" hangingPunct="1">
              <a:lnSpc>
                <a:spcPct val="90000"/>
              </a:lnSpc>
              <a:spcBef>
                <a:spcPct val="0"/>
              </a:spcBef>
              <a:buClrTx/>
              <a:buSzTx/>
              <a:buFontTx/>
              <a:buNone/>
            </a:pPr>
            <a:r>
              <a:rPr lang="en-US" altLang="en-US" b="1" dirty="0">
                <a:latin typeface="Garamond" panose="02020404030301010803" pitchFamily="18" charset="0"/>
              </a:rPr>
              <a:t>New species arise as a result of:</a:t>
            </a:r>
          </a:p>
          <a:p>
            <a:pPr algn="just" eaLnBrk="1" hangingPunct="1">
              <a:lnSpc>
                <a:spcPct val="90000"/>
              </a:lnSpc>
              <a:spcBef>
                <a:spcPct val="0"/>
              </a:spcBef>
              <a:buClrTx/>
              <a:buSzTx/>
              <a:buFontTx/>
              <a:buNone/>
            </a:pPr>
            <a:r>
              <a:rPr lang="en-US" altLang="en-US" b="1" dirty="0">
                <a:latin typeface="Garamond" panose="02020404030301010803" pitchFamily="18" charset="0"/>
              </a:rPr>
              <a:t> </a:t>
            </a:r>
          </a:p>
          <a:p>
            <a:pPr lvl="1" algn="just" eaLnBrk="1" hangingPunct="1">
              <a:lnSpc>
                <a:spcPct val="90000"/>
              </a:lnSpc>
              <a:spcBef>
                <a:spcPct val="0"/>
              </a:spcBef>
              <a:buClrTx/>
              <a:buSzTx/>
              <a:buFont typeface="Wingdings" panose="05000000000000000000" pitchFamily="2" charset="2"/>
              <a:buChar char="ü"/>
            </a:pPr>
            <a:r>
              <a:rPr lang="en-US" altLang="en-US" sz="2400" dirty="0">
                <a:latin typeface="Garamond" panose="02020404030301010803" pitchFamily="18" charset="0"/>
                <a:cs typeface="Arial" panose="020B0604020202020204" pitchFamily="34" charset="0"/>
              </a:rPr>
              <a:t>Competition for resources </a:t>
            </a:r>
          </a:p>
          <a:p>
            <a:pPr lvl="1" algn="just" eaLnBrk="1" hangingPunct="1">
              <a:lnSpc>
                <a:spcPct val="90000"/>
              </a:lnSpc>
              <a:spcBef>
                <a:spcPct val="0"/>
              </a:spcBef>
              <a:buClrTx/>
              <a:buSzTx/>
              <a:buFont typeface="Wingdings" panose="05000000000000000000" pitchFamily="2" charset="2"/>
              <a:buChar char="ü"/>
            </a:pPr>
            <a:r>
              <a:rPr lang="en-US" altLang="en-US" sz="2400" dirty="0">
                <a:latin typeface="Garamond" panose="02020404030301010803" pitchFamily="18" charset="0"/>
                <a:cs typeface="Arial" panose="020B0604020202020204" pitchFamily="34" charset="0"/>
              </a:rPr>
              <a:t>Difference among individuals in their adaptations to environmental conditions </a:t>
            </a:r>
          </a:p>
          <a:p>
            <a:pPr lvl="1" algn="just" eaLnBrk="1" hangingPunct="1">
              <a:lnSpc>
                <a:spcPct val="90000"/>
              </a:lnSpc>
              <a:spcBef>
                <a:spcPct val="0"/>
              </a:spcBef>
              <a:buClrTx/>
              <a:buSzTx/>
              <a:buFontTx/>
              <a:buNone/>
            </a:pPr>
            <a:endParaRPr lang="en-US" altLang="en-US" sz="2400" dirty="0">
              <a:latin typeface="Garamond" panose="02020404030301010803" pitchFamily="18"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220"/>
    </mc:Choice>
    <mc:Fallback xmlns="">
      <p:transition spd="slow" advTm="7422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339">
                                            <p:txEl>
                                              <p:pRg st="0" end="0"/>
                                            </p:txEl>
                                          </p:spTgt>
                                        </p:tgtEl>
                                        <p:attrNameLst>
                                          <p:attrName>style.visibility</p:attrName>
                                        </p:attrNameLst>
                                      </p:cBhvr>
                                      <p:to>
                                        <p:strVal val="visible"/>
                                      </p:to>
                                    </p:set>
                                    <p:anim calcmode="lin" valueType="num">
                                      <p:cBhvr additive="base">
                                        <p:cTn id="13"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0"/>
                                        </p:tgtEl>
                                        <p:attrNameLst>
                                          <p:attrName>style.visibility</p:attrName>
                                        </p:attrNameLst>
                                      </p:cBhvr>
                                      <p:to>
                                        <p:strVal val="visible"/>
                                      </p:to>
                                    </p:set>
                                    <p:anim calcmode="lin" valueType="num">
                                      <p:cBhvr additive="base">
                                        <p:cTn id="19" dur="500" fill="hold"/>
                                        <p:tgtEl>
                                          <p:spTgt spid="14340"/>
                                        </p:tgtEl>
                                        <p:attrNameLst>
                                          <p:attrName>ppt_x</p:attrName>
                                        </p:attrNameLst>
                                      </p:cBhvr>
                                      <p:tavLst>
                                        <p:tav tm="0">
                                          <p:val>
                                            <p:strVal val="#ppt_x"/>
                                          </p:val>
                                        </p:tav>
                                        <p:tav tm="100000">
                                          <p:val>
                                            <p:strVal val="#ppt_x"/>
                                          </p:val>
                                        </p:tav>
                                      </p:tavLst>
                                    </p:anim>
                                    <p:anim calcmode="lin" valueType="num">
                                      <p:cBhvr additive="base">
                                        <p:cTn id="20"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3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BB2E5051-6212-4F69-9D2A-E854935D709F}"/>
              </a:ext>
            </a:extLst>
          </p:cNvPr>
          <p:cNvSpPr>
            <a:spLocks noGrp="1" noChangeArrowheads="1"/>
          </p:cNvSpPr>
          <p:nvPr>
            <p:ph type="title"/>
          </p:nvPr>
        </p:nvSpPr>
        <p:spPr>
          <a:xfrm>
            <a:off x="457200" y="152400"/>
            <a:ext cx="8229600" cy="609600"/>
          </a:xfrm>
        </p:spPr>
        <p:txBody>
          <a:bodyPr>
            <a:normAutofit fontScale="90000"/>
          </a:bodyPr>
          <a:lstStyle/>
          <a:p>
            <a:pPr algn="ctr" eaLnBrk="1" hangingPunct="1">
              <a:defRPr/>
            </a:pPr>
            <a:r>
              <a:rPr lang="en-US" sz="3600" b="1" dirty="0">
                <a:solidFill>
                  <a:schemeClr val="tx1"/>
                </a:solidFill>
                <a:latin typeface="Garamond" pitchFamily="18" charset="0"/>
              </a:rPr>
              <a:t>Ecological Niche</a:t>
            </a:r>
            <a:endParaRPr lang="en-US" sz="3600" b="1" dirty="0">
              <a:solidFill>
                <a:srgbClr val="FFFFFF"/>
              </a:solidFill>
              <a:latin typeface="Garamond" pitchFamily="18" charset="0"/>
            </a:endParaRPr>
          </a:p>
        </p:txBody>
      </p:sp>
      <p:sp>
        <p:nvSpPr>
          <p:cNvPr id="20483" name="Rectangle 3">
            <a:extLst>
              <a:ext uri="{FF2B5EF4-FFF2-40B4-BE49-F238E27FC236}">
                <a16:creationId xmlns:a16="http://schemas.microsoft.com/office/drawing/2014/main" id="{40E0F7F2-486B-4703-8804-C2B1A532D05C}"/>
              </a:ext>
            </a:extLst>
          </p:cNvPr>
          <p:cNvSpPr>
            <a:spLocks noGrp="1"/>
          </p:cNvSpPr>
          <p:nvPr>
            <p:ph type="body" idx="1"/>
          </p:nvPr>
        </p:nvSpPr>
        <p:spPr>
          <a:xfrm>
            <a:off x="838200" y="1143000"/>
            <a:ext cx="7620000" cy="5562600"/>
          </a:xfrm>
        </p:spPr>
        <p:txBody>
          <a:bodyPr>
            <a:normAutofit/>
          </a:bodyPr>
          <a:lstStyle/>
          <a:p>
            <a:pPr algn="just"/>
            <a:r>
              <a:rPr lang="en-US" altLang="en-US" sz="2800" b="1" dirty="0">
                <a:latin typeface="Garamond" panose="02020404030301010803" pitchFamily="18" charset="0"/>
              </a:rPr>
              <a:t>Ecological Niche: what is does or its profession. Role of  certain species play in its ecosystem.</a:t>
            </a:r>
          </a:p>
          <a:p>
            <a:pPr algn="just" eaLnBrk="1" hangingPunct="1"/>
            <a:r>
              <a:rPr lang="en-US" altLang="en-US" sz="2800" b="1" dirty="0">
                <a:latin typeface="Garamond" panose="02020404030301010803" pitchFamily="18" charset="0"/>
              </a:rPr>
              <a:t>Niche includes: </a:t>
            </a:r>
          </a:p>
          <a:p>
            <a:pPr lvl="1" algn="just" eaLnBrk="1" hangingPunct="1"/>
            <a:r>
              <a:rPr lang="en-US" altLang="en-US" sz="2400" b="1" dirty="0">
                <a:latin typeface="Garamond" panose="02020404030301010803" pitchFamily="18" charset="0"/>
              </a:rPr>
              <a:t>Range of tolerance, like temperature/water availability</a:t>
            </a:r>
          </a:p>
          <a:p>
            <a:pPr lvl="1" algn="just" eaLnBrk="1" hangingPunct="1"/>
            <a:r>
              <a:rPr lang="en-US" altLang="en-US" sz="2400" b="1" dirty="0">
                <a:latin typeface="Garamond" panose="02020404030301010803" pitchFamily="18" charset="0"/>
              </a:rPr>
              <a:t>Resource use: food/nutrition</a:t>
            </a:r>
          </a:p>
          <a:p>
            <a:pPr lvl="1" algn="just" eaLnBrk="1" hangingPunct="1"/>
            <a:r>
              <a:rPr lang="en-US" altLang="en-US" sz="2400" b="1" dirty="0">
                <a:latin typeface="Garamond" panose="02020404030301010803" pitchFamily="18" charset="0"/>
              </a:rPr>
              <a:t>How it interacts with others like search for food</a:t>
            </a:r>
          </a:p>
          <a:p>
            <a:pPr lvl="1" algn="just" eaLnBrk="1" hangingPunct="1"/>
            <a:r>
              <a:rPr lang="en-US" altLang="en-US" sz="2400" b="1" dirty="0">
                <a:latin typeface="Garamond" panose="02020404030301010803" pitchFamily="18" charset="0"/>
              </a:rPr>
              <a:t>Role play in energy and nutrient cycling</a:t>
            </a:r>
          </a:p>
          <a:p>
            <a:pPr eaLnBrk="1" hangingPunct="1">
              <a:buFont typeface="Wingdings" panose="05000000000000000000" pitchFamily="2" charset="2"/>
              <a:buNone/>
            </a:pPr>
            <a:r>
              <a:rPr lang="en-US" altLang="en-US" sz="2800" dirty="0">
                <a:latin typeface="Garamond" panose="02020404030301010803" pitchFamily="18" charset="0"/>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7021"/>
    </mc:Choice>
    <mc:Fallback xmlns="">
      <p:transition spd="slow" advTm="12702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ppt_x"/>
                                          </p:val>
                                        </p:tav>
                                        <p:tav tm="100000">
                                          <p:val>
                                            <p:strVal val="#ppt_x"/>
                                          </p:val>
                                        </p:tav>
                                      </p:tavLst>
                                    </p:anim>
                                    <p:anim calcmode="lin" valueType="num">
                                      <p:cBhvr additive="base">
                                        <p:cTn id="8" dur="500" fill="hold"/>
                                        <p:tgtEl>
                                          <p:spTgt spid="7577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0" end="0"/>
                                            </p:txEl>
                                          </p:spTgt>
                                        </p:tgtEl>
                                        <p:attrNameLst>
                                          <p:attrName>style.visibility</p:attrName>
                                        </p:attrNameLst>
                                      </p:cBhvr>
                                      <p:to>
                                        <p:strVal val="visible"/>
                                      </p:to>
                                    </p:set>
                                    <p:anim calcmode="lin" valueType="num">
                                      <p:cBhvr additive="base">
                                        <p:cTn id="13"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1" end="1"/>
                                            </p:txEl>
                                          </p:spTgt>
                                        </p:tgtEl>
                                        <p:attrNameLst>
                                          <p:attrName>style.visibility</p:attrName>
                                        </p:attrNameLst>
                                      </p:cBhvr>
                                      <p:to>
                                        <p:strVal val="visible"/>
                                      </p:to>
                                    </p:set>
                                    <p:anim calcmode="lin" valueType="num">
                                      <p:cBhvr additive="base">
                                        <p:cTn id="19"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2" end="2"/>
                                            </p:txEl>
                                          </p:spTgt>
                                        </p:tgtEl>
                                        <p:attrNameLst>
                                          <p:attrName>style.visibility</p:attrName>
                                        </p:attrNameLst>
                                      </p:cBhvr>
                                      <p:to>
                                        <p:strVal val="visible"/>
                                      </p:to>
                                    </p:set>
                                    <p:anim calcmode="lin" valueType="num">
                                      <p:cBhvr additive="base">
                                        <p:cTn id="23"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3" end="3"/>
                                            </p:txEl>
                                          </p:spTgt>
                                        </p:tgtEl>
                                        <p:attrNameLst>
                                          <p:attrName>style.visibility</p:attrName>
                                        </p:attrNameLst>
                                      </p:cBhvr>
                                      <p:to>
                                        <p:strVal val="visible"/>
                                      </p:to>
                                    </p:set>
                                    <p:anim calcmode="lin" valueType="num">
                                      <p:cBhvr additive="base">
                                        <p:cTn id="27"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5" end="5"/>
                                            </p:txEl>
                                          </p:spTgt>
                                        </p:tgtEl>
                                        <p:attrNameLst>
                                          <p:attrName>style.visibility</p:attrName>
                                        </p:attrNameLst>
                                      </p:cBhvr>
                                      <p:to>
                                        <p:strVal val="visible"/>
                                      </p:to>
                                    </p:set>
                                    <p:anim calcmode="lin" valueType="num">
                                      <p:cBhvr additive="base">
                                        <p:cTn id="35"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0483">
                                            <p:txEl>
                                              <p:pRg st="6" end="6"/>
                                            </p:txEl>
                                          </p:spTgt>
                                        </p:tgtEl>
                                        <p:attrNameLst>
                                          <p:attrName>style.visibility</p:attrName>
                                        </p:attrNameLst>
                                      </p:cBhvr>
                                      <p:to>
                                        <p:strVal val="visible"/>
                                      </p:to>
                                    </p:set>
                                    <p:anim calcmode="lin" valueType="num">
                                      <p:cBhvr additive="base">
                                        <p:cTn id="41"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2048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7DFB-8E15-4D7E-B6F8-3CA4CB167C20}"/>
              </a:ext>
            </a:extLst>
          </p:cNvPr>
          <p:cNvSpPr>
            <a:spLocks noGrp="1"/>
          </p:cNvSpPr>
          <p:nvPr>
            <p:ph type="title"/>
          </p:nvPr>
        </p:nvSpPr>
        <p:spPr>
          <a:xfrm>
            <a:off x="685800" y="0"/>
            <a:ext cx="7467600" cy="579438"/>
          </a:xfrm>
        </p:spPr>
        <p:txBody>
          <a:bodyPr/>
          <a:lstStyle/>
          <a:p>
            <a:pPr algn="ctr">
              <a:defRPr/>
            </a:pPr>
            <a:r>
              <a:rPr lang="en-US" sz="3200" b="1" dirty="0">
                <a:solidFill>
                  <a:schemeClr val="tx1"/>
                </a:solidFill>
                <a:latin typeface="Garamond" pitchFamily="18" charset="0"/>
              </a:rPr>
              <a:t>Ecological Niche</a:t>
            </a:r>
            <a:endParaRPr lang="en-US" dirty="0"/>
          </a:p>
        </p:txBody>
      </p:sp>
      <p:sp>
        <p:nvSpPr>
          <p:cNvPr id="21507" name="Content Placeholder 2">
            <a:extLst>
              <a:ext uri="{FF2B5EF4-FFF2-40B4-BE49-F238E27FC236}">
                <a16:creationId xmlns:a16="http://schemas.microsoft.com/office/drawing/2014/main" id="{C777DD9F-DE84-4C8D-9A59-5B642B1D3C7D}"/>
              </a:ext>
            </a:extLst>
          </p:cNvPr>
          <p:cNvSpPr>
            <a:spLocks noGrp="1"/>
          </p:cNvSpPr>
          <p:nvPr>
            <p:ph sz="quarter" idx="1"/>
          </p:nvPr>
        </p:nvSpPr>
        <p:spPr>
          <a:xfrm>
            <a:off x="685800" y="1447800"/>
            <a:ext cx="8001000" cy="5257800"/>
          </a:xfrm>
        </p:spPr>
        <p:txBody>
          <a:bodyPr>
            <a:normAutofit/>
          </a:bodyPr>
          <a:lstStyle/>
          <a:p>
            <a:pPr algn="just" eaLnBrk="1" hangingPunct="1"/>
            <a:r>
              <a:rPr lang="en-US" altLang="en-US" sz="2800" b="1" dirty="0">
                <a:latin typeface="Garamond" panose="02020404030301010803" pitchFamily="18" charset="0"/>
              </a:rPr>
              <a:t>Broad and narrow Niche:</a:t>
            </a:r>
          </a:p>
          <a:p>
            <a:pPr lvl="1" algn="just" eaLnBrk="1" hangingPunct="1"/>
            <a:r>
              <a:rPr lang="en-US" altLang="en-US" sz="2800" b="1" dirty="0">
                <a:latin typeface="Garamond" panose="02020404030301010803" pitchFamily="18" charset="0"/>
              </a:rPr>
              <a:t>Generalist species/ broad niches: can survive on varieties of food and environmental conditions. Suitable where there are huge diversity or fluctuation in environmental conditions. Human, cockroach, rats etc.</a:t>
            </a:r>
          </a:p>
          <a:p>
            <a:pPr lvl="1" algn="just" eaLnBrk="1" hangingPunct="1"/>
            <a:r>
              <a:rPr lang="en-US" altLang="en-US" sz="2800" b="1" dirty="0">
                <a:latin typeface="Garamond" panose="02020404030301010803" pitchFamily="18" charset="0"/>
              </a:rPr>
              <a:t>Specialized species/Narrow Niches: can tolerate narrow range of climatic and environmental condition. Polar bear, panda etc. Good for suitable environment but bad for places with fluctuations.</a:t>
            </a:r>
          </a:p>
          <a:p>
            <a:pPr lvl="1" eaLnBrk="1" hangingPunct="1"/>
            <a:endParaRPr lang="en-US" altLang="en-US" b="1" dirty="0">
              <a:latin typeface="Garamond" panose="02020404030301010803" pitchFamily="18" charset="0"/>
            </a:endParaRPr>
          </a:p>
          <a:p>
            <a:endParaRPr lang="en-US"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068"/>
    </mc:Choice>
    <mc:Fallback xmlns="">
      <p:transition spd="slow" advTm="4306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1507">
                                            <p:txEl>
                                              <p:pRg st="0" end="0"/>
                                            </p:txEl>
                                          </p:spTgt>
                                        </p:tgtEl>
                                        <p:attrNameLst>
                                          <p:attrName>style.visibility</p:attrName>
                                        </p:attrNameLst>
                                      </p:cBhvr>
                                      <p:to>
                                        <p:strVal val="visible"/>
                                      </p:to>
                                    </p:set>
                                    <p:animEffect transition="in" filter="fade">
                                      <p:cBhvr>
                                        <p:cTn id="13" dur="1000"/>
                                        <p:tgtEl>
                                          <p:spTgt spid="21507">
                                            <p:txEl>
                                              <p:pRg st="0" end="0"/>
                                            </p:txEl>
                                          </p:spTgt>
                                        </p:tgtEl>
                                      </p:cBhvr>
                                    </p:animEffect>
                                    <p:anim calcmode="lin" valueType="num">
                                      <p:cBhvr>
                                        <p:cTn id="14"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1507">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1507">
                                            <p:txEl>
                                              <p:pRg st="1" end="1"/>
                                            </p:txEl>
                                          </p:spTgt>
                                        </p:tgtEl>
                                        <p:attrNameLst>
                                          <p:attrName>style.visibility</p:attrName>
                                        </p:attrNameLst>
                                      </p:cBhvr>
                                      <p:to>
                                        <p:strVal val="visible"/>
                                      </p:to>
                                    </p:set>
                                    <p:animEffect transition="in" filter="fade">
                                      <p:cBhvr>
                                        <p:cTn id="18" dur="1000"/>
                                        <p:tgtEl>
                                          <p:spTgt spid="21507">
                                            <p:txEl>
                                              <p:pRg st="1" end="1"/>
                                            </p:txEl>
                                          </p:spTgt>
                                        </p:tgtEl>
                                      </p:cBhvr>
                                    </p:animEffect>
                                    <p:anim calcmode="lin" valueType="num">
                                      <p:cBhvr>
                                        <p:cTn id="19" dur="10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1507">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1507">
                                            <p:txEl>
                                              <p:pRg st="2" end="2"/>
                                            </p:txEl>
                                          </p:spTgt>
                                        </p:tgtEl>
                                        <p:attrNameLst>
                                          <p:attrName>style.visibility</p:attrName>
                                        </p:attrNameLst>
                                      </p:cBhvr>
                                      <p:to>
                                        <p:strVal val="visible"/>
                                      </p:to>
                                    </p:set>
                                    <p:animEffect transition="in" filter="fade">
                                      <p:cBhvr>
                                        <p:cTn id="23" dur="1000"/>
                                        <p:tgtEl>
                                          <p:spTgt spid="21507">
                                            <p:txEl>
                                              <p:pRg st="2" end="2"/>
                                            </p:txEl>
                                          </p:spTgt>
                                        </p:tgtEl>
                                      </p:cBhvr>
                                    </p:animEffect>
                                    <p:anim calcmode="lin" valueType="num">
                                      <p:cBhvr>
                                        <p:cTn id="24" dur="10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150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50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a:extLst>
              <a:ext uri="{FF2B5EF4-FFF2-40B4-BE49-F238E27FC236}">
                <a16:creationId xmlns:a16="http://schemas.microsoft.com/office/drawing/2014/main" id="{4CB3B14C-8EFD-46F4-852F-B59C4B835444}"/>
              </a:ext>
            </a:extLst>
          </p:cNvPr>
          <p:cNvSpPr>
            <a:spLocks noGrp="1" noChangeArrowheads="1"/>
          </p:cNvSpPr>
          <p:nvPr>
            <p:ph type="title"/>
          </p:nvPr>
        </p:nvSpPr>
        <p:spPr>
          <a:xfrm>
            <a:off x="533400" y="228600"/>
            <a:ext cx="8382000" cy="731838"/>
          </a:xfrm>
        </p:spPr>
        <p:txBody>
          <a:bodyPr>
            <a:noAutofit/>
          </a:bodyPr>
          <a:lstStyle/>
          <a:p>
            <a:pPr algn="ctr" eaLnBrk="1" hangingPunct="1">
              <a:defRPr/>
            </a:pPr>
            <a:r>
              <a:rPr lang="en-US" sz="3600" b="1" dirty="0">
                <a:latin typeface="Garamond" pitchFamily="18" charset="0"/>
              </a:rPr>
              <a:t>Competitive Exclusion Principle</a:t>
            </a:r>
          </a:p>
        </p:txBody>
      </p:sp>
      <p:sp>
        <p:nvSpPr>
          <p:cNvPr id="745475" name="Rectangle 3">
            <a:extLst>
              <a:ext uri="{FF2B5EF4-FFF2-40B4-BE49-F238E27FC236}">
                <a16:creationId xmlns:a16="http://schemas.microsoft.com/office/drawing/2014/main" id="{11233F55-7716-43C0-9380-B309BCB45D94}"/>
              </a:ext>
            </a:extLst>
          </p:cNvPr>
          <p:cNvSpPr>
            <a:spLocks noGrp="1"/>
          </p:cNvSpPr>
          <p:nvPr>
            <p:ph type="body" idx="1"/>
          </p:nvPr>
        </p:nvSpPr>
        <p:spPr>
          <a:xfrm>
            <a:off x="533400" y="960438"/>
            <a:ext cx="8534400" cy="2057400"/>
          </a:xfrm>
        </p:spPr>
        <p:txBody>
          <a:bodyPr/>
          <a:lstStyle/>
          <a:p>
            <a:pPr eaLnBrk="1" hangingPunct="1"/>
            <a:r>
              <a:rPr lang="en-US" altLang="en-US" sz="2800" dirty="0">
                <a:latin typeface="Garamond" panose="02020404030301010803" pitchFamily="18" charset="0"/>
              </a:rPr>
              <a:t>Two species that have exactly the same requirements cannot coexist in exactly the same habitat.</a:t>
            </a:r>
          </a:p>
          <a:p>
            <a:pPr lvl="1" eaLnBrk="1" hangingPunct="1"/>
            <a:r>
              <a:rPr lang="en-US" altLang="en-US" sz="2400" dirty="0">
                <a:latin typeface="Garamond" panose="02020404030301010803" pitchFamily="18" charset="0"/>
                <a:cs typeface="Arial" panose="020B0604020202020204" pitchFamily="34" charset="0"/>
              </a:rPr>
              <a:t>Ex- British Red Squirrel and American Grey Squirrel</a:t>
            </a:r>
          </a:p>
        </p:txBody>
      </p:sp>
      <p:pic>
        <p:nvPicPr>
          <p:cNvPr id="22532" name="Picture 5" descr="bot8e_fig_08_10a">
            <a:extLst>
              <a:ext uri="{FF2B5EF4-FFF2-40B4-BE49-F238E27FC236}">
                <a16:creationId xmlns:a16="http://schemas.microsoft.com/office/drawing/2014/main" id="{06867AB4-BF61-4465-BD0B-FB498172C6C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9617" y="3429000"/>
            <a:ext cx="280110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descr="bot8e_fig_08_10b">
            <a:extLst>
              <a:ext uri="{FF2B5EF4-FFF2-40B4-BE49-F238E27FC236}">
                <a16:creationId xmlns:a16="http://schemas.microsoft.com/office/drawing/2014/main" id="{E471E6F4-F3B1-4182-8DAB-6131C826DC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5400" y="3482124"/>
            <a:ext cx="2496309" cy="215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283"/>
    </mc:Choice>
    <mc:Fallback xmlns="">
      <p:transition spd="slow" advTm="282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45474"/>
                                        </p:tgtEl>
                                        <p:attrNameLst>
                                          <p:attrName>style.visibility</p:attrName>
                                        </p:attrNameLst>
                                      </p:cBhvr>
                                      <p:to>
                                        <p:strVal val="visible"/>
                                      </p:to>
                                    </p:set>
                                    <p:animEffect transition="in" filter="barn(inVertical)">
                                      <p:cBhvr>
                                        <p:cTn id="7" dur="500"/>
                                        <p:tgtEl>
                                          <p:spTgt spid="7454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45475">
                                            <p:txEl>
                                              <p:pRg st="0" end="0"/>
                                            </p:txEl>
                                          </p:spTgt>
                                        </p:tgtEl>
                                        <p:attrNameLst>
                                          <p:attrName>style.visibility</p:attrName>
                                        </p:attrNameLst>
                                      </p:cBhvr>
                                      <p:to>
                                        <p:strVal val="visible"/>
                                      </p:to>
                                    </p:set>
                                    <p:animEffect transition="in" filter="fade">
                                      <p:cBhvr>
                                        <p:cTn id="12" dur="1000"/>
                                        <p:tgtEl>
                                          <p:spTgt spid="745475">
                                            <p:txEl>
                                              <p:pRg st="0" end="0"/>
                                            </p:txEl>
                                          </p:spTgt>
                                        </p:tgtEl>
                                      </p:cBhvr>
                                    </p:animEffect>
                                    <p:anim calcmode="lin" valueType="num">
                                      <p:cBhvr>
                                        <p:cTn id="13" dur="1000" fill="hold"/>
                                        <p:tgtEl>
                                          <p:spTgt spid="74547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45475">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45475">
                                            <p:txEl>
                                              <p:pRg st="1" end="1"/>
                                            </p:txEl>
                                          </p:spTgt>
                                        </p:tgtEl>
                                        <p:attrNameLst>
                                          <p:attrName>style.visibility</p:attrName>
                                        </p:attrNameLst>
                                      </p:cBhvr>
                                      <p:to>
                                        <p:strVal val="visible"/>
                                      </p:to>
                                    </p:set>
                                    <p:animEffect transition="in" filter="fade">
                                      <p:cBhvr>
                                        <p:cTn id="17" dur="1000"/>
                                        <p:tgtEl>
                                          <p:spTgt spid="745475">
                                            <p:txEl>
                                              <p:pRg st="1" end="1"/>
                                            </p:txEl>
                                          </p:spTgt>
                                        </p:tgtEl>
                                      </p:cBhvr>
                                    </p:animEffect>
                                    <p:anim calcmode="lin" valueType="num">
                                      <p:cBhvr>
                                        <p:cTn id="18" dur="1000" fill="hold"/>
                                        <p:tgtEl>
                                          <p:spTgt spid="745475">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454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2532"/>
                                        </p:tgtEl>
                                        <p:attrNameLst>
                                          <p:attrName>style.visibility</p:attrName>
                                        </p:attrNameLst>
                                      </p:cBhvr>
                                      <p:to>
                                        <p:strVal val="visible"/>
                                      </p:to>
                                    </p:set>
                                    <p:animEffect transition="in" filter="fade">
                                      <p:cBhvr>
                                        <p:cTn id="24" dur="1000"/>
                                        <p:tgtEl>
                                          <p:spTgt spid="22532"/>
                                        </p:tgtEl>
                                      </p:cBhvr>
                                    </p:animEffect>
                                    <p:anim calcmode="lin" valueType="num">
                                      <p:cBhvr>
                                        <p:cTn id="25" dur="1000" fill="hold"/>
                                        <p:tgtEl>
                                          <p:spTgt spid="22532"/>
                                        </p:tgtEl>
                                        <p:attrNameLst>
                                          <p:attrName>ppt_x</p:attrName>
                                        </p:attrNameLst>
                                      </p:cBhvr>
                                      <p:tavLst>
                                        <p:tav tm="0">
                                          <p:val>
                                            <p:strVal val="#ppt_x"/>
                                          </p:val>
                                        </p:tav>
                                        <p:tav tm="100000">
                                          <p:val>
                                            <p:strVal val="#ppt_x"/>
                                          </p:val>
                                        </p:tav>
                                      </p:tavLst>
                                    </p:anim>
                                    <p:anim calcmode="lin" valueType="num">
                                      <p:cBhvr>
                                        <p:cTn id="26" dur="1000" fill="hold"/>
                                        <p:tgtEl>
                                          <p:spTgt spid="22532"/>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2533"/>
                                        </p:tgtEl>
                                        <p:attrNameLst>
                                          <p:attrName>style.visibility</p:attrName>
                                        </p:attrNameLst>
                                      </p:cBhvr>
                                      <p:to>
                                        <p:strVal val="visible"/>
                                      </p:to>
                                    </p:set>
                                    <p:animEffect transition="in" filter="fade">
                                      <p:cBhvr>
                                        <p:cTn id="29" dur="1000"/>
                                        <p:tgtEl>
                                          <p:spTgt spid="22533"/>
                                        </p:tgtEl>
                                      </p:cBhvr>
                                    </p:animEffect>
                                    <p:anim calcmode="lin" valueType="num">
                                      <p:cBhvr>
                                        <p:cTn id="30" dur="1000" fill="hold"/>
                                        <p:tgtEl>
                                          <p:spTgt spid="22533"/>
                                        </p:tgtEl>
                                        <p:attrNameLst>
                                          <p:attrName>ppt_x</p:attrName>
                                        </p:attrNameLst>
                                      </p:cBhvr>
                                      <p:tavLst>
                                        <p:tav tm="0">
                                          <p:val>
                                            <p:strVal val="#ppt_x"/>
                                          </p:val>
                                        </p:tav>
                                        <p:tav tm="100000">
                                          <p:val>
                                            <p:strVal val="#ppt_x"/>
                                          </p:val>
                                        </p:tav>
                                      </p:tavLst>
                                    </p:anim>
                                    <p:anim calcmode="lin" valueType="num">
                                      <p:cBhvr>
                                        <p:cTn id="31" dur="10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4" grpId="0"/>
      <p:bldP spid="7454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F473E42-F9BB-48B1-B89D-2FEA79FB9DD7}"/>
              </a:ext>
            </a:extLst>
          </p:cNvPr>
          <p:cNvSpPr>
            <a:spLocks noGrp="1" noChangeArrowheads="1"/>
          </p:cNvSpPr>
          <p:nvPr>
            <p:ph type="title"/>
          </p:nvPr>
        </p:nvSpPr>
        <p:spPr>
          <a:xfrm>
            <a:off x="457200" y="152400"/>
            <a:ext cx="8229600" cy="560388"/>
          </a:xfrm>
        </p:spPr>
        <p:txBody>
          <a:bodyPr>
            <a:noAutofit/>
          </a:bodyPr>
          <a:lstStyle/>
          <a:p>
            <a:pPr algn="ctr" eaLnBrk="1" hangingPunct="1">
              <a:defRPr/>
            </a:pPr>
            <a:r>
              <a:rPr lang="en-US" sz="3600" b="1" dirty="0">
                <a:latin typeface="Garamond" pitchFamily="18" charset="0"/>
              </a:rPr>
              <a:t> </a:t>
            </a:r>
            <a:r>
              <a:rPr lang="en-US" sz="3600" b="1" dirty="0">
                <a:solidFill>
                  <a:schemeClr val="tx1"/>
                </a:solidFill>
                <a:latin typeface="Garamond" pitchFamily="18" charset="0"/>
              </a:rPr>
              <a:t>Terms related to Species Habitat</a:t>
            </a:r>
          </a:p>
        </p:txBody>
      </p:sp>
      <p:sp>
        <p:nvSpPr>
          <p:cNvPr id="23555" name="Rectangle 3">
            <a:extLst>
              <a:ext uri="{FF2B5EF4-FFF2-40B4-BE49-F238E27FC236}">
                <a16:creationId xmlns:a16="http://schemas.microsoft.com/office/drawing/2014/main" id="{3603B284-A271-4F6A-86A9-E1E8B3FFE7BF}"/>
              </a:ext>
            </a:extLst>
          </p:cNvPr>
          <p:cNvSpPr>
            <a:spLocks noGrp="1"/>
          </p:cNvSpPr>
          <p:nvPr>
            <p:ph type="body" idx="1"/>
          </p:nvPr>
        </p:nvSpPr>
        <p:spPr>
          <a:xfrm>
            <a:off x="544497" y="860287"/>
            <a:ext cx="8458200" cy="5257800"/>
          </a:xfrm>
        </p:spPr>
        <p:txBody>
          <a:bodyPr>
            <a:normAutofit fontScale="92500" lnSpcReduction="10000"/>
          </a:bodyPr>
          <a:lstStyle/>
          <a:p>
            <a:pPr algn="just"/>
            <a:r>
              <a:rPr lang="en-US" altLang="en-US" sz="2900" dirty="0">
                <a:latin typeface="Garamond" panose="02020404030301010803" pitchFamily="18" charset="0"/>
              </a:rPr>
              <a:t>Exotic species:  a species introduced into new geographic area</a:t>
            </a:r>
            <a:r>
              <a:rPr lang="en-US" sz="2900" dirty="0">
                <a:latin typeface="Garamond" panose="02020404030301010803" pitchFamily="18" charset="0"/>
              </a:rPr>
              <a:t> </a:t>
            </a:r>
          </a:p>
          <a:p>
            <a:pPr algn="just"/>
            <a:r>
              <a:rPr lang="en-US" altLang="en-US" sz="2800" dirty="0">
                <a:latin typeface="Garamond" panose="02020404030301010803" pitchFamily="18" charset="0"/>
              </a:rPr>
              <a:t>Endemic species: </a:t>
            </a:r>
            <a:r>
              <a:rPr lang="en-US" altLang="en-US" sz="2900" dirty="0">
                <a:latin typeface="Garamond" panose="02020404030301010803" pitchFamily="18" charset="0"/>
              </a:rPr>
              <a:t>a species that is native. </a:t>
            </a:r>
          </a:p>
          <a:p>
            <a:pPr algn="just" eaLnBrk="1" hangingPunct="1"/>
            <a:r>
              <a:rPr lang="en-US" altLang="en-US" sz="2800" dirty="0">
                <a:latin typeface="Garamond" panose="02020404030301010803" pitchFamily="18" charset="0"/>
              </a:rPr>
              <a:t>Cosmopolitan species: a species with a broad distribution, occurring all over the world wherever the environment is appropriate. Example: house mouse</a:t>
            </a:r>
          </a:p>
          <a:p>
            <a:pPr algn="just" eaLnBrk="1" hangingPunct="1"/>
            <a:r>
              <a:rPr lang="en-US" altLang="en-US" sz="2800" dirty="0">
                <a:latin typeface="Garamond" panose="02020404030301010803" pitchFamily="18" charset="0"/>
              </a:rPr>
              <a:t>Ubiquitous species: species that are found almost anywhere.</a:t>
            </a:r>
          </a:p>
          <a:p>
            <a:pPr algn="just" eaLnBrk="1" hangingPunct="1"/>
            <a:r>
              <a:rPr lang="en-US" altLang="en-US" sz="2800" dirty="0">
                <a:latin typeface="Garamond" panose="02020404030301010803" pitchFamily="18" charset="0"/>
              </a:rPr>
              <a:t>Interaction between species: </a:t>
            </a:r>
          </a:p>
          <a:p>
            <a:pPr lvl="1" algn="just" eaLnBrk="1" hangingPunct="1"/>
            <a:r>
              <a:rPr lang="en-US" altLang="en-US" sz="2400" dirty="0">
                <a:latin typeface="Garamond" panose="02020404030301010803" pitchFamily="18" charset="0"/>
              </a:rPr>
              <a:t>Competition: usually outcome is negative for both</a:t>
            </a:r>
          </a:p>
          <a:p>
            <a:pPr lvl="1" algn="just" eaLnBrk="1" hangingPunct="1"/>
            <a:r>
              <a:rPr lang="en-US" altLang="en-US" sz="2400" dirty="0">
                <a:latin typeface="Garamond" panose="02020404030301010803" pitchFamily="18" charset="0"/>
              </a:rPr>
              <a:t>Symbiosis: benefits both</a:t>
            </a:r>
          </a:p>
          <a:p>
            <a:pPr lvl="1" algn="just" eaLnBrk="1" hangingPunct="1"/>
            <a:r>
              <a:rPr lang="en-US" altLang="en-US" sz="2400" dirty="0">
                <a:latin typeface="Garamond" panose="02020404030301010803" pitchFamily="18" charset="0"/>
              </a:rPr>
              <a:t>Predation-parasitism: benefits one  affect another</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8323"/>
    </mc:Choice>
    <mc:Fallback xmlns="">
      <p:transition spd="slow" advTm="15832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fade">
                                      <p:cBhvr>
                                        <p:cTn id="7" dur="1000"/>
                                        <p:tgtEl>
                                          <p:spTgt spid="71682"/>
                                        </p:tgtEl>
                                      </p:cBhvr>
                                    </p:animEffect>
                                    <p:anim calcmode="lin" valueType="num">
                                      <p:cBhvr>
                                        <p:cTn id="8" dur="1000" fill="hold"/>
                                        <p:tgtEl>
                                          <p:spTgt spid="71682"/>
                                        </p:tgtEl>
                                        <p:attrNameLst>
                                          <p:attrName>ppt_x</p:attrName>
                                        </p:attrNameLst>
                                      </p:cBhvr>
                                      <p:tavLst>
                                        <p:tav tm="0">
                                          <p:val>
                                            <p:strVal val="#ppt_x"/>
                                          </p:val>
                                        </p:tav>
                                        <p:tav tm="100000">
                                          <p:val>
                                            <p:strVal val="#ppt_x"/>
                                          </p:val>
                                        </p:tav>
                                      </p:tavLst>
                                    </p:anim>
                                    <p:anim calcmode="lin" valueType="num">
                                      <p:cBhvr>
                                        <p:cTn id="9" dur="1000" fill="hold"/>
                                        <p:tgtEl>
                                          <p:spTgt spid="7168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555">
                                            <p:txEl>
                                              <p:pRg st="0" end="0"/>
                                            </p:txEl>
                                          </p:spTgt>
                                        </p:tgtEl>
                                        <p:attrNameLst>
                                          <p:attrName>style.visibility</p:attrName>
                                        </p:attrNameLst>
                                      </p:cBhvr>
                                      <p:to>
                                        <p:strVal val="visible"/>
                                      </p:to>
                                    </p:set>
                                    <p:animEffect transition="in" filter="fade">
                                      <p:cBhvr>
                                        <p:cTn id="14" dur="1000"/>
                                        <p:tgtEl>
                                          <p:spTgt spid="23555">
                                            <p:txEl>
                                              <p:pRg st="0" end="0"/>
                                            </p:txEl>
                                          </p:spTgt>
                                        </p:tgtEl>
                                      </p:cBhvr>
                                    </p:animEffect>
                                    <p:anim calcmode="lin" valueType="num">
                                      <p:cBhvr>
                                        <p:cTn id="15" dur="10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35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555">
                                            <p:txEl>
                                              <p:pRg st="1" end="1"/>
                                            </p:txEl>
                                          </p:spTgt>
                                        </p:tgtEl>
                                        <p:attrNameLst>
                                          <p:attrName>style.visibility</p:attrName>
                                        </p:attrNameLst>
                                      </p:cBhvr>
                                      <p:to>
                                        <p:strVal val="visible"/>
                                      </p:to>
                                    </p:set>
                                    <p:animEffect transition="in" filter="fade">
                                      <p:cBhvr>
                                        <p:cTn id="21" dur="1000"/>
                                        <p:tgtEl>
                                          <p:spTgt spid="23555">
                                            <p:txEl>
                                              <p:pRg st="1" end="1"/>
                                            </p:txEl>
                                          </p:spTgt>
                                        </p:tgtEl>
                                      </p:cBhvr>
                                    </p:animEffect>
                                    <p:anim calcmode="lin" valueType="num">
                                      <p:cBhvr>
                                        <p:cTn id="22" dur="10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35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555">
                                            <p:txEl>
                                              <p:pRg st="2" end="2"/>
                                            </p:txEl>
                                          </p:spTgt>
                                        </p:tgtEl>
                                        <p:attrNameLst>
                                          <p:attrName>style.visibility</p:attrName>
                                        </p:attrNameLst>
                                      </p:cBhvr>
                                      <p:to>
                                        <p:strVal val="visible"/>
                                      </p:to>
                                    </p:set>
                                    <p:animEffect transition="in" filter="fade">
                                      <p:cBhvr>
                                        <p:cTn id="28" dur="1000"/>
                                        <p:tgtEl>
                                          <p:spTgt spid="23555">
                                            <p:txEl>
                                              <p:pRg st="2" end="2"/>
                                            </p:txEl>
                                          </p:spTgt>
                                        </p:tgtEl>
                                      </p:cBhvr>
                                    </p:animEffect>
                                    <p:anim calcmode="lin" valueType="num">
                                      <p:cBhvr>
                                        <p:cTn id="29"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35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555">
                                            <p:txEl>
                                              <p:pRg st="3" end="3"/>
                                            </p:txEl>
                                          </p:spTgt>
                                        </p:tgtEl>
                                        <p:attrNameLst>
                                          <p:attrName>style.visibility</p:attrName>
                                        </p:attrNameLst>
                                      </p:cBhvr>
                                      <p:to>
                                        <p:strVal val="visible"/>
                                      </p:to>
                                    </p:set>
                                    <p:animEffect transition="in" filter="fade">
                                      <p:cBhvr>
                                        <p:cTn id="35" dur="1000"/>
                                        <p:tgtEl>
                                          <p:spTgt spid="23555">
                                            <p:txEl>
                                              <p:pRg st="3" end="3"/>
                                            </p:txEl>
                                          </p:spTgt>
                                        </p:tgtEl>
                                      </p:cBhvr>
                                    </p:animEffect>
                                    <p:anim calcmode="lin" valueType="num">
                                      <p:cBhvr>
                                        <p:cTn id="36"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355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3555">
                                            <p:txEl>
                                              <p:pRg st="4" end="4"/>
                                            </p:txEl>
                                          </p:spTgt>
                                        </p:tgtEl>
                                        <p:attrNameLst>
                                          <p:attrName>style.visibility</p:attrName>
                                        </p:attrNameLst>
                                      </p:cBhvr>
                                      <p:to>
                                        <p:strVal val="visible"/>
                                      </p:to>
                                    </p:set>
                                    <p:animEffect transition="in" filter="fade">
                                      <p:cBhvr>
                                        <p:cTn id="42" dur="1000"/>
                                        <p:tgtEl>
                                          <p:spTgt spid="23555">
                                            <p:txEl>
                                              <p:pRg st="4" end="4"/>
                                            </p:txEl>
                                          </p:spTgt>
                                        </p:tgtEl>
                                      </p:cBhvr>
                                    </p:animEffect>
                                    <p:anim calcmode="lin" valueType="num">
                                      <p:cBhvr>
                                        <p:cTn id="43"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3555">
                                            <p:txEl>
                                              <p:pRg st="4" end="4"/>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555">
                                            <p:txEl>
                                              <p:pRg st="5" end="5"/>
                                            </p:txEl>
                                          </p:spTgt>
                                        </p:tgtEl>
                                        <p:attrNameLst>
                                          <p:attrName>style.visibility</p:attrName>
                                        </p:attrNameLst>
                                      </p:cBhvr>
                                      <p:to>
                                        <p:strVal val="visible"/>
                                      </p:to>
                                    </p:set>
                                    <p:animEffect transition="in" filter="fade">
                                      <p:cBhvr>
                                        <p:cTn id="47" dur="1000"/>
                                        <p:tgtEl>
                                          <p:spTgt spid="23555">
                                            <p:txEl>
                                              <p:pRg st="5" end="5"/>
                                            </p:txEl>
                                          </p:spTgt>
                                        </p:tgtEl>
                                      </p:cBhvr>
                                    </p:animEffect>
                                    <p:anim calcmode="lin" valueType="num">
                                      <p:cBhvr>
                                        <p:cTn id="48" dur="10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23555">
                                            <p:txEl>
                                              <p:pRg st="5" end="5"/>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555">
                                            <p:txEl>
                                              <p:pRg st="6" end="6"/>
                                            </p:txEl>
                                          </p:spTgt>
                                        </p:tgtEl>
                                        <p:attrNameLst>
                                          <p:attrName>style.visibility</p:attrName>
                                        </p:attrNameLst>
                                      </p:cBhvr>
                                      <p:to>
                                        <p:strVal val="visible"/>
                                      </p:to>
                                    </p:set>
                                    <p:animEffect transition="in" filter="fade">
                                      <p:cBhvr>
                                        <p:cTn id="52" dur="1000"/>
                                        <p:tgtEl>
                                          <p:spTgt spid="23555">
                                            <p:txEl>
                                              <p:pRg st="6" end="6"/>
                                            </p:txEl>
                                          </p:spTgt>
                                        </p:tgtEl>
                                      </p:cBhvr>
                                    </p:animEffect>
                                    <p:anim calcmode="lin" valueType="num">
                                      <p:cBhvr>
                                        <p:cTn id="53" dur="10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23555">
                                            <p:txEl>
                                              <p:pRg st="6" end="6"/>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3555">
                                            <p:txEl>
                                              <p:pRg st="7" end="7"/>
                                            </p:txEl>
                                          </p:spTgt>
                                        </p:tgtEl>
                                        <p:attrNameLst>
                                          <p:attrName>style.visibility</p:attrName>
                                        </p:attrNameLst>
                                      </p:cBhvr>
                                      <p:to>
                                        <p:strVal val="visible"/>
                                      </p:to>
                                    </p:set>
                                    <p:animEffect transition="in" filter="fade">
                                      <p:cBhvr>
                                        <p:cTn id="57" dur="1000"/>
                                        <p:tgtEl>
                                          <p:spTgt spid="23555">
                                            <p:txEl>
                                              <p:pRg st="7" end="7"/>
                                            </p:txEl>
                                          </p:spTgt>
                                        </p:tgtEl>
                                      </p:cBhvr>
                                    </p:animEffect>
                                    <p:anim calcmode="lin" valueType="num">
                                      <p:cBhvr>
                                        <p:cTn id="58" dur="1000" fill="hold"/>
                                        <p:tgtEl>
                                          <p:spTgt spid="23555">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2355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P spid="2355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CE66-230E-47E0-A0AC-B7AF720ACA37}"/>
              </a:ext>
            </a:extLst>
          </p:cNvPr>
          <p:cNvSpPr>
            <a:spLocks noGrp="1"/>
          </p:cNvSpPr>
          <p:nvPr>
            <p:ph type="title"/>
          </p:nvPr>
        </p:nvSpPr>
        <p:spPr>
          <a:xfrm>
            <a:off x="2895600" y="152400"/>
            <a:ext cx="3056467" cy="1142999"/>
          </a:xfrm>
        </p:spPr>
        <p:txBody>
          <a:bodyPr>
            <a:normAutofit fontScale="90000"/>
          </a:bodyPr>
          <a:lstStyle/>
          <a:p>
            <a:r>
              <a:rPr lang="en-US" dirty="0"/>
              <a:t>Species at Risk</a:t>
            </a:r>
          </a:p>
        </p:txBody>
      </p:sp>
      <p:sp>
        <p:nvSpPr>
          <p:cNvPr id="3" name="Content Placeholder 2">
            <a:extLst>
              <a:ext uri="{FF2B5EF4-FFF2-40B4-BE49-F238E27FC236}">
                <a16:creationId xmlns:a16="http://schemas.microsoft.com/office/drawing/2014/main" id="{8832A6DD-1B81-47C4-B40D-8E9F7DFD5846}"/>
              </a:ext>
            </a:extLst>
          </p:cNvPr>
          <p:cNvSpPr>
            <a:spLocks noGrp="1"/>
          </p:cNvSpPr>
          <p:nvPr>
            <p:ph idx="1"/>
          </p:nvPr>
        </p:nvSpPr>
        <p:spPr>
          <a:xfrm>
            <a:off x="762000" y="2133600"/>
            <a:ext cx="8119534" cy="3581400"/>
          </a:xfrm>
        </p:spPr>
        <p:txBody>
          <a:bodyPr>
            <a:normAutofit fontScale="25000" lnSpcReduction="20000"/>
          </a:bodyPr>
          <a:lstStyle/>
          <a:p>
            <a:pPr algn="just"/>
            <a:r>
              <a:rPr lang="en-US" sz="11200" dirty="0"/>
              <a:t>Most conservationists use the IUCN (International Union for Conservation of Nature) classification, which defines species in terms of the degree of threat they face. The main categories are:</a:t>
            </a:r>
          </a:p>
          <a:p>
            <a:pPr lvl="1"/>
            <a:r>
              <a:rPr lang="en-US" sz="10800" dirty="0"/>
              <a:t>Extinct</a:t>
            </a:r>
          </a:p>
          <a:p>
            <a:pPr lvl="1"/>
            <a:r>
              <a:rPr lang="en-US" sz="10800" dirty="0"/>
              <a:t>Possibly extinct</a:t>
            </a:r>
          </a:p>
          <a:p>
            <a:pPr lvl="1"/>
            <a:r>
              <a:rPr lang="en-US" sz="10800" dirty="0" smtClean="0"/>
              <a:t>Endangered</a:t>
            </a:r>
            <a:endParaRPr lang="en-US" sz="10800" dirty="0"/>
          </a:p>
          <a:p>
            <a:pPr lvl="1"/>
            <a:r>
              <a:rPr lang="en-US" sz="10800" dirty="0"/>
              <a:t>Vulnerable</a:t>
            </a:r>
          </a:p>
          <a:p>
            <a:pPr lvl="1"/>
            <a:r>
              <a:rPr lang="en-US" sz="10800" dirty="0"/>
              <a:t>Rare</a:t>
            </a:r>
          </a:p>
          <a:p>
            <a:pPr lvl="1"/>
            <a:r>
              <a:rPr lang="en-US" sz="10800" dirty="0"/>
              <a:t>No longer threaten</a:t>
            </a:r>
          </a:p>
          <a:p>
            <a:pPr lvl="1"/>
            <a:r>
              <a:rPr lang="en-US" sz="10800" dirty="0"/>
              <a:t>Status unknown</a:t>
            </a:r>
          </a:p>
          <a:p>
            <a:r>
              <a:rPr lang="en-US" sz="11200" dirty="0" smtClean="0"/>
              <a:t> </a:t>
            </a:r>
            <a:endParaRPr lang="en-US" sz="11200" dirty="0"/>
          </a:p>
          <a:p>
            <a:endParaRPr lang="en-US" dirty="0"/>
          </a:p>
        </p:txBody>
      </p:sp>
    </p:spTree>
    <p:custDataLst>
      <p:tags r:id="rId1"/>
    </p:custDataLst>
    <p:extLst>
      <p:ext uri="{BB962C8B-B14F-4D97-AF65-F5344CB8AC3E}">
        <p14:creationId xmlns:p14="http://schemas.microsoft.com/office/powerpoint/2010/main" val="1772355028"/>
      </p:ext>
    </p:extLst>
  </p:cSld>
  <p:clrMapOvr>
    <a:masterClrMapping/>
  </p:clrMapOvr>
  <mc:AlternateContent xmlns:mc="http://schemas.openxmlformats.org/markup-compatibility/2006" xmlns:p14="http://schemas.microsoft.com/office/powerpoint/2010/main">
    <mc:Choice Requires="p14">
      <p:transition spd="slow" p14:dur="2000" advTm="129159"/>
    </mc:Choice>
    <mc:Fallback xmlns="">
      <p:transition spd="slow" advTm="1291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 calcmode="lin" valueType="num">
                                      <p:cBhvr additive="base">
                                        <p:cTn id="5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additive="base">
                                        <p:cTn id="5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3">
                                            <p:txEl>
                                              <p:pRg st="8" end="8"/>
                                            </p:txEl>
                                          </p:spTgt>
                                        </p:tgtEl>
                                        <p:attrNameLst>
                                          <p:attrName>style.visibility</p:attrName>
                                        </p:attrNameLst>
                                      </p:cBhvr>
                                      <p:to>
                                        <p:strVal val="visible"/>
                                      </p:to>
                                    </p:set>
                                    <p:anim calcmode="lin" valueType="num">
                                      <p:cBhvr additive="base">
                                        <p:cTn id="6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45248E8-8CEC-4602-9663-E1D3D981C1C6}"/>
              </a:ext>
            </a:extLst>
          </p:cNvPr>
          <p:cNvSpPr>
            <a:spLocks noGrp="1" noChangeArrowheads="1"/>
          </p:cNvSpPr>
          <p:nvPr>
            <p:ph type="title"/>
          </p:nvPr>
        </p:nvSpPr>
        <p:spPr>
          <a:xfrm>
            <a:off x="304800" y="152400"/>
            <a:ext cx="8686800" cy="560388"/>
          </a:xfrm>
        </p:spPr>
        <p:txBody>
          <a:bodyPr/>
          <a:lstStyle/>
          <a:p>
            <a:pPr algn="ctr" eaLnBrk="1" hangingPunct="1">
              <a:defRPr/>
            </a:pPr>
            <a:r>
              <a:rPr lang="en-US" sz="2800" b="1" dirty="0">
                <a:solidFill>
                  <a:schemeClr val="tx1"/>
                </a:solidFill>
                <a:latin typeface="Garamond" pitchFamily="18" charset="0"/>
              </a:rPr>
              <a:t>Environmental factors that influence diversity</a:t>
            </a:r>
          </a:p>
        </p:txBody>
      </p:sp>
      <p:sp>
        <p:nvSpPr>
          <p:cNvPr id="24579" name="Rectangle 3">
            <a:extLst>
              <a:ext uri="{FF2B5EF4-FFF2-40B4-BE49-F238E27FC236}">
                <a16:creationId xmlns:a16="http://schemas.microsoft.com/office/drawing/2014/main" id="{33C70622-2358-4C0B-A104-B3C0605F1209}"/>
              </a:ext>
            </a:extLst>
          </p:cNvPr>
          <p:cNvSpPr>
            <a:spLocks noGrp="1"/>
          </p:cNvSpPr>
          <p:nvPr>
            <p:ph type="body" idx="1"/>
          </p:nvPr>
        </p:nvSpPr>
        <p:spPr>
          <a:xfrm>
            <a:off x="228600" y="1143000"/>
            <a:ext cx="8686800" cy="5486400"/>
          </a:xfrm>
        </p:spPr>
        <p:txBody>
          <a:bodyPr>
            <a:normAutofit/>
          </a:bodyPr>
          <a:lstStyle/>
          <a:p>
            <a:pPr algn="just" eaLnBrk="1" hangingPunct="1">
              <a:buClr>
                <a:schemeClr val="tx2"/>
              </a:buClr>
              <a:buFont typeface="Wingdings" panose="05000000000000000000" pitchFamily="2" charset="2"/>
              <a:buChar char="v"/>
            </a:pPr>
            <a:r>
              <a:rPr lang="en-US" altLang="en-US" sz="2800" u="sng" dirty="0">
                <a:latin typeface="Garamond" panose="02020404030301010803" pitchFamily="18" charset="0"/>
              </a:rPr>
              <a:t>A. factors that tend to increase diversity</a:t>
            </a:r>
            <a:r>
              <a:rPr lang="en-US" altLang="en-US" sz="2800" dirty="0">
                <a:latin typeface="Garamond" panose="02020404030301010803" pitchFamily="18" charset="0"/>
              </a:rPr>
              <a:t> </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A physically diverse habitat</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 Moderate amounts of disturbance (fire or storm)</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A small variation in environmental condition (temperature, precipitation etc.)</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High diversity at one trophic level increase the diversity at another trophic level</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Evolution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9866"/>
    </mc:Choice>
    <mc:Fallback xmlns="">
      <p:transition spd="slow" advTm="10986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fade">
                                      <p:cBhvr>
                                        <p:cTn id="7" dur="1000"/>
                                        <p:tgtEl>
                                          <p:spTgt spid="67586"/>
                                        </p:tgtEl>
                                      </p:cBhvr>
                                    </p:animEffect>
                                    <p:anim calcmode="lin" valueType="num">
                                      <p:cBhvr>
                                        <p:cTn id="8" dur="1000" fill="hold"/>
                                        <p:tgtEl>
                                          <p:spTgt spid="67586"/>
                                        </p:tgtEl>
                                        <p:attrNameLst>
                                          <p:attrName>ppt_x</p:attrName>
                                        </p:attrNameLst>
                                      </p:cBhvr>
                                      <p:tavLst>
                                        <p:tav tm="0">
                                          <p:val>
                                            <p:strVal val="#ppt_x"/>
                                          </p:val>
                                        </p:tav>
                                        <p:tav tm="100000">
                                          <p:val>
                                            <p:strVal val="#ppt_x"/>
                                          </p:val>
                                        </p:tav>
                                      </p:tavLst>
                                    </p:anim>
                                    <p:anim calcmode="lin" valueType="num">
                                      <p:cBhvr>
                                        <p:cTn id="9" dur="1000" fill="hold"/>
                                        <p:tgtEl>
                                          <p:spTgt spid="6758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579">
                                            <p:txEl>
                                              <p:pRg st="0" end="0"/>
                                            </p:txEl>
                                          </p:spTgt>
                                        </p:tgtEl>
                                        <p:attrNameLst>
                                          <p:attrName>style.visibility</p:attrName>
                                        </p:attrNameLst>
                                      </p:cBhvr>
                                      <p:to>
                                        <p:strVal val="visible"/>
                                      </p:to>
                                    </p:set>
                                    <p:animEffect transition="in" filter="fade">
                                      <p:cBhvr>
                                        <p:cTn id="14" dur="1000"/>
                                        <p:tgtEl>
                                          <p:spTgt spid="24579">
                                            <p:txEl>
                                              <p:pRg st="0" end="0"/>
                                            </p:txEl>
                                          </p:spTgt>
                                        </p:tgtEl>
                                      </p:cBhvr>
                                    </p:animEffect>
                                    <p:anim calcmode="lin" valueType="num">
                                      <p:cBhvr>
                                        <p:cTn id="15" dur="10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4579">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4579">
                                            <p:txEl>
                                              <p:pRg st="1" end="1"/>
                                            </p:txEl>
                                          </p:spTgt>
                                        </p:tgtEl>
                                        <p:attrNameLst>
                                          <p:attrName>style.visibility</p:attrName>
                                        </p:attrNameLst>
                                      </p:cBhvr>
                                      <p:to>
                                        <p:strVal val="visible"/>
                                      </p:to>
                                    </p:set>
                                    <p:animEffect transition="in" filter="fade">
                                      <p:cBhvr>
                                        <p:cTn id="19" dur="1000"/>
                                        <p:tgtEl>
                                          <p:spTgt spid="24579">
                                            <p:txEl>
                                              <p:pRg st="1" end="1"/>
                                            </p:txEl>
                                          </p:spTgt>
                                        </p:tgtEl>
                                      </p:cBhvr>
                                    </p:animEffect>
                                    <p:anim calcmode="lin" valueType="num">
                                      <p:cBhvr>
                                        <p:cTn id="20" dur="10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4579">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579">
                                            <p:txEl>
                                              <p:pRg st="2" end="2"/>
                                            </p:txEl>
                                          </p:spTgt>
                                        </p:tgtEl>
                                        <p:attrNameLst>
                                          <p:attrName>style.visibility</p:attrName>
                                        </p:attrNameLst>
                                      </p:cBhvr>
                                      <p:to>
                                        <p:strVal val="visible"/>
                                      </p:to>
                                    </p:set>
                                    <p:animEffect transition="in" filter="fade">
                                      <p:cBhvr>
                                        <p:cTn id="24" dur="1000"/>
                                        <p:tgtEl>
                                          <p:spTgt spid="24579">
                                            <p:txEl>
                                              <p:pRg st="2" end="2"/>
                                            </p:txEl>
                                          </p:spTgt>
                                        </p:tgtEl>
                                      </p:cBhvr>
                                    </p:animEffect>
                                    <p:anim calcmode="lin" valueType="num">
                                      <p:cBhvr>
                                        <p:cTn id="25" dur="10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4579">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4579">
                                            <p:txEl>
                                              <p:pRg st="3" end="3"/>
                                            </p:txEl>
                                          </p:spTgt>
                                        </p:tgtEl>
                                        <p:attrNameLst>
                                          <p:attrName>style.visibility</p:attrName>
                                        </p:attrNameLst>
                                      </p:cBhvr>
                                      <p:to>
                                        <p:strVal val="visible"/>
                                      </p:to>
                                    </p:set>
                                    <p:animEffect transition="in" filter="fade">
                                      <p:cBhvr>
                                        <p:cTn id="29" dur="1000"/>
                                        <p:tgtEl>
                                          <p:spTgt spid="24579">
                                            <p:txEl>
                                              <p:pRg st="3" end="3"/>
                                            </p:txEl>
                                          </p:spTgt>
                                        </p:tgtEl>
                                      </p:cBhvr>
                                    </p:animEffect>
                                    <p:anim calcmode="lin" valueType="num">
                                      <p:cBhvr>
                                        <p:cTn id="30" dur="10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4579">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4579">
                                            <p:txEl>
                                              <p:pRg st="4" end="4"/>
                                            </p:txEl>
                                          </p:spTgt>
                                        </p:tgtEl>
                                        <p:attrNameLst>
                                          <p:attrName>style.visibility</p:attrName>
                                        </p:attrNameLst>
                                      </p:cBhvr>
                                      <p:to>
                                        <p:strVal val="visible"/>
                                      </p:to>
                                    </p:set>
                                    <p:animEffect transition="in" filter="fade">
                                      <p:cBhvr>
                                        <p:cTn id="34" dur="1000"/>
                                        <p:tgtEl>
                                          <p:spTgt spid="24579">
                                            <p:txEl>
                                              <p:pRg st="4" end="4"/>
                                            </p:txEl>
                                          </p:spTgt>
                                        </p:tgtEl>
                                      </p:cBhvr>
                                    </p:animEffect>
                                    <p:anim calcmode="lin" valueType="num">
                                      <p:cBhvr>
                                        <p:cTn id="35" dur="10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4579">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4579">
                                            <p:txEl>
                                              <p:pRg st="5" end="5"/>
                                            </p:txEl>
                                          </p:spTgt>
                                        </p:tgtEl>
                                        <p:attrNameLst>
                                          <p:attrName>style.visibility</p:attrName>
                                        </p:attrNameLst>
                                      </p:cBhvr>
                                      <p:to>
                                        <p:strVal val="visible"/>
                                      </p:to>
                                    </p:set>
                                    <p:animEffect transition="in" filter="fade">
                                      <p:cBhvr>
                                        <p:cTn id="39" dur="1000"/>
                                        <p:tgtEl>
                                          <p:spTgt spid="24579">
                                            <p:txEl>
                                              <p:pRg st="5" end="5"/>
                                            </p:txEl>
                                          </p:spTgt>
                                        </p:tgtEl>
                                      </p:cBhvr>
                                    </p:animEffect>
                                    <p:anim calcmode="lin" valueType="num">
                                      <p:cBhvr>
                                        <p:cTn id="40" dur="10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2457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245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B77A5D3-B05A-4CB2-B106-FC0384703AC8}"/>
              </a:ext>
            </a:extLst>
          </p:cNvPr>
          <p:cNvSpPr>
            <a:spLocks noGrp="1" noChangeArrowheads="1"/>
          </p:cNvSpPr>
          <p:nvPr>
            <p:ph type="title"/>
          </p:nvPr>
        </p:nvSpPr>
        <p:spPr>
          <a:xfrm>
            <a:off x="304800" y="152400"/>
            <a:ext cx="8839200" cy="484188"/>
          </a:xfrm>
        </p:spPr>
        <p:txBody>
          <a:bodyPr>
            <a:normAutofit fontScale="90000"/>
          </a:bodyPr>
          <a:lstStyle/>
          <a:p>
            <a:pPr algn="ctr" eaLnBrk="1" hangingPunct="1">
              <a:defRPr/>
            </a:pPr>
            <a:r>
              <a:rPr lang="en-US" sz="3600" dirty="0">
                <a:solidFill>
                  <a:schemeClr val="tx1"/>
                </a:solidFill>
                <a:latin typeface="Garamond" pitchFamily="18" charset="0"/>
              </a:rPr>
              <a:t/>
            </a:r>
            <a:br>
              <a:rPr lang="en-US" sz="3600" dirty="0">
                <a:solidFill>
                  <a:schemeClr val="tx1"/>
                </a:solidFill>
                <a:latin typeface="Garamond" pitchFamily="18" charset="0"/>
              </a:rPr>
            </a:br>
            <a:r>
              <a:rPr lang="en-US" sz="3600" dirty="0">
                <a:solidFill>
                  <a:schemeClr val="tx1"/>
                </a:solidFill>
                <a:latin typeface="Garamond" pitchFamily="18" charset="0"/>
              </a:rPr>
              <a:t/>
            </a:r>
            <a:br>
              <a:rPr lang="en-US" sz="3600" dirty="0">
                <a:solidFill>
                  <a:schemeClr val="tx1"/>
                </a:solidFill>
                <a:latin typeface="Garamond" pitchFamily="18" charset="0"/>
              </a:rPr>
            </a:br>
            <a:r>
              <a:rPr lang="en-US" sz="3600" dirty="0">
                <a:solidFill>
                  <a:schemeClr val="tx1"/>
                </a:solidFill>
                <a:latin typeface="Garamond" pitchFamily="18" charset="0"/>
              </a:rPr>
              <a:t/>
            </a:r>
            <a:br>
              <a:rPr lang="en-US" sz="3600" dirty="0">
                <a:solidFill>
                  <a:schemeClr val="tx1"/>
                </a:solidFill>
                <a:latin typeface="Garamond" pitchFamily="18" charset="0"/>
              </a:rPr>
            </a:br>
            <a:r>
              <a:rPr lang="en-US" sz="3100" b="1" dirty="0">
                <a:solidFill>
                  <a:schemeClr val="tx1"/>
                </a:solidFill>
                <a:latin typeface="Garamond" pitchFamily="18" charset="0"/>
              </a:rPr>
              <a:t>Environmental factors that influence diversity</a:t>
            </a:r>
          </a:p>
        </p:txBody>
      </p:sp>
      <p:sp>
        <p:nvSpPr>
          <p:cNvPr id="25603" name="Rectangle 3">
            <a:extLst>
              <a:ext uri="{FF2B5EF4-FFF2-40B4-BE49-F238E27FC236}">
                <a16:creationId xmlns:a16="http://schemas.microsoft.com/office/drawing/2014/main" id="{134CC54A-5405-4546-BA15-3734A6A07BA0}"/>
              </a:ext>
            </a:extLst>
          </p:cNvPr>
          <p:cNvSpPr>
            <a:spLocks noGrp="1"/>
          </p:cNvSpPr>
          <p:nvPr>
            <p:ph type="body" idx="1"/>
          </p:nvPr>
        </p:nvSpPr>
        <p:spPr>
          <a:xfrm>
            <a:off x="228600" y="2057400"/>
            <a:ext cx="8686800" cy="5029200"/>
          </a:xfrm>
        </p:spPr>
        <p:txBody>
          <a:bodyPr>
            <a:normAutofit/>
          </a:bodyPr>
          <a:lstStyle/>
          <a:p>
            <a:pPr algn="just" eaLnBrk="1" hangingPunct="1">
              <a:buClr>
                <a:schemeClr val="tx2"/>
              </a:buClr>
              <a:buFont typeface="Wingdings" panose="05000000000000000000" pitchFamily="2" charset="2"/>
              <a:buChar char="v"/>
            </a:pPr>
            <a:r>
              <a:rPr lang="en-US" altLang="en-US" u="sng" dirty="0">
                <a:latin typeface="Garamond" panose="02020404030301010803" pitchFamily="18" charset="0"/>
              </a:rPr>
              <a:t>B</a:t>
            </a:r>
            <a:r>
              <a:rPr lang="en-US" altLang="en-US" sz="2800" u="sng" dirty="0">
                <a:latin typeface="Garamond" panose="02020404030301010803" pitchFamily="18" charset="0"/>
              </a:rPr>
              <a:t>. factors that tend to decrease diversity</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Environmental stress</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Extreme environments </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A severe limitations in the supply of an essential resources</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Extreme amount of disturbance</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Recent introduction of exotic species (species from other area)</a:t>
            </a:r>
          </a:p>
          <a:p>
            <a:pPr lvl="1"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Geographic isolation.</a:t>
            </a:r>
          </a:p>
          <a:p>
            <a:pPr lvl="1" eaLnBrk="1" hangingPunct="1">
              <a:buClr>
                <a:schemeClr val="tx2"/>
              </a:buClr>
              <a:buFont typeface="Wingdings" panose="05000000000000000000" pitchFamily="2" charset="2"/>
              <a:buChar char="v"/>
            </a:pPr>
            <a:endParaRPr lang="en-US" altLang="en-US" sz="2800" dirty="0">
              <a:latin typeface="Garamond" panose="02020404030301010803" pitchFamily="18" charset="0"/>
            </a:endParaRPr>
          </a:p>
          <a:p>
            <a:pPr lvl="1" eaLnBrk="1" hangingPunct="1">
              <a:buClr>
                <a:schemeClr val="tx2"/>
              </a:buClr>
              <a:buFont typeface="Wingdings" panose="05000000000000000000" pitchFamily="2" charset="2"/>
              <a:buChar char="v"/>
            </a:pPr>
            <a:endParaRPr lang="en-US" altLang="en-US" u="sng" dirty="0">
              <a:latin typeface="Garamond" panose="02020404030301010803" pitchFamily="18" charset="0"/>
            </a:endParaRPr>
          </a:p>
          <a:p>
            <a:pPr eaLnBrk="1" hangingPunct="1"/>
            <a:endParaRPr lang="en-US" altLang="en-US" u="sng"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7261"/>
    </mc:Choice>
    <mc:Fallback xmlns="">
      <p:transition spd="slow" advTm="5726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barn(inVertical)">
                                      <p:cBhvr>
                                        <p:cTn id="7" dur="500"/>
                                        <p:tgtEl>
                                          <p:spTgt spid="6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 calcmode="lin" valueType="num">
                                      <p:cBhvr additive="base">
                                        <p:cTn id="12"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5603">
                                            <p:txEl>
                                              <p:pRg st="1" end="1"/>
                                            </p:txEl>
                                          </p:spTgt>
                                        </p:tgtEl>
                                        <p:attrNameLst>
                                          <p:attrName>style.visibility</p:attrName>
                                        </p:attrNameLst>
                                      </p:cBhvr>
                                      <p:to>
                                        <p:strVal val="visible"/>
                                      </p:to>
                                    </p:set>
                                    <p:anim calcmode="lin" valueType="num">
                                      <p:cBhvr additive="base">
                                        <p:cTn id="18"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25603">
                                            <p:txEl>
                                              <p:pRg st="2" end="2"/>
                                            </p:txEl>
                                          </p:spTgt>
                                        </p:tgtEl>
                                        <p:attrNameLst>
                                          <p:attrName>style.visibility</p:attrName>
                                        </p:attrNameLst>
                                      </p:cBhvr>
                                      <p:to>
                                        <p:strVal val="visible"/>
                                      </p:to>
                                    </p:set>
                                    <p:anim calcmode="lin" valueType="num">
                                      <p:cBhvr additive="base">
                                        <p:cTn id="24"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5603">
                                            <p:txEl>
                                              <p:pRg st="3" end="3"/>
                                            </p:txEl>
                                          </p:spTgt>
                                        </p:tgtEl>
                                        <p:attrNameLst>
                                          <p:attrName>style.visibility</p:attrName>
                                        </p:attrNameLst>
                                      </p:cBhvr>
                                      <p:to>
                                        <p:strVal val="visible"/>
                                      </p:to>
                                    </p:set>
                                    <p:anim calcmode="lin" valueType="num">
                                      <p:cBhvr additive="base">
                                        <p:cTn id="30"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25603">
                                            <p:txEl>
                                              <p:pRg st="4" end="4"/>
                                            </p:txEl>
                                          </p:spTgt>
                                        </p:tgtEl>
                                        <p:attrNameLst>
                                          <p:attrName>style.visibility</p:attrName>
                                        </p:attrNameLst>
                                      </p:cBhvr>
                                      <p:to>
                                        <p:strVal val="visible"/>
                                      </p:to>
                                    </p:set>
                                    <p:anim calcmode="lin" valueType="num">
                                      <p:cBhvr additive="base">
                                        <p:cTn id="36"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25603">
                                            <p:txEl>
                                              <p:pRg st="5" end="5"/>
                                            </p:txEl>
                                          </p:spTgt>
                                        </p:tgtEl>
                                        <p:attrNameLst>
                                          <p:attrName>style.visibility</p:attrName>
                                        </p:attrNameLst>
                                      </p:cBhvr>
                                      <p:to>
                                        <p:strVal val="visible"/>
                                      </p:to>
                                    </p:set>
                                    <p:anim calcmode="lin" valueType="num">
                                      <p:cBhvr additive="base">
                                        <p:cTn id="42"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5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25603">
                                            <p:txEl>
                                              <p:pRg st="6" end="6"/>
                                            </p:txEl>
                                          </p:spTgt>
                                        </p:tgtEl>
                                        <p:attrNameLst>
                                          <p:attrName>style.visibility</p:attrName>
                                        </p:attrNameLst>
                                      </p:cBhvr>
                                      <p:to>
                                        <p:strVal val="visible"/>
                                      </p:to>
                                    </p:set>
                                    <p:anim calcmode="lin" valueType="num">
                                      <p:cBhvr additive="base">
                                        <p:cTn id="48"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8519019-F238-4500-9866-BE35D647F9BA}"/>
              </a:ext>
            </a:extLst>
          </p:cNvPr>
          <p:cNvSpPr>
            <a:spLocks noGrp="1" noChangeArrowheads="1"/>
          </p:cNvSpPr>
          <p:nvPr>
            <p:ph type="title"/>
          </p:nvPr>
        </p:nvSpPr>
        <p:spPr>
          <a:xfrm>
            <a:off x="1143000" y="381000"/>
            <a:ext cx="7467600" cy="533400"/>
          </a:xfrm>
        </p:spPr>
        <p:txBody>
          <a:bodyPr>
            <a:normAutofit fontScale="90000"/>
          </a:bodyPr>
          <a:lstStyle/>
          <a:p>
            <a:pPr eaLnBrk="1" fontAlgn="auto" hangingPunct="1">
              <a:spcAft>
                <a:spcPts val="0"/>
              </a:spcAft>
              <a:defRPr/>
            </a:pPr>
            <a:r>
              <a:rPr lang="en-US" sz="3600" b="1" dirty="0">
                <a:solidFill>
                  <a:schemeClr val="tx1"/>
                </a:solidFill>
                <a:latin typeface="Garamond" pitchFamily="18" charset="0"/>
              </a:rPr>
              <a:t>Importance of biodiversity</a:t>
            </a:r>
          </a:p>
        </p:txBody>
      </p:sp>
      <p:sp>
        <p:nvSpPr>
          <p:cNvPr id="26627" name="Rectangle 3">
            <a:extLst>
              <a:ext uri="{FF2B5EF4-FFF2-40B4-BE49-F238E27FC236}">
                <a16:creationId xmlns:a16="http://schemas.microsoft.com/office/drawing/2014/main" id="{9246EA31-156D-4A61-AB3C-E8FA87C460B6}"/>
              </a:ext>
            </a:extLst>
          </p:cNvPr>
          <p:cNvSpPr>
            <a:spLocks noGrp="1"/>
          </p:cNvSpPr>
          <p:nvPr>
            <p:ph idx="1"/>
          </p:nvPr>
        </p:nvSpPr>
        <p:spPr>
          <a:xfrm>
            <a:off x="304800" y="1219200"/>
            <a:ext cx="8686800" cy="5257800"/>
          </a:xfrm>
        </p:spPr>
        <p:txBody>
          <a:bodyPr/>
          <a:lstStyle/>
          <a:p>
            <a:pPr algn="just" eaLnBrk="1" hangingPunct="1"/>
            <a:r>
              <a:rPr lang="en-US" altLang="en-US" sz="2800" dirty="0">
                <a:latin typeface="Garamond" panose="02020404030301010803" pitchFamily="18" charset="0"/>
              </a:rPr>
              <a:t>At least 40% of the world’s economy and 80% of the needs of poor are derived from the biological resources. </a:t>
            </a:r>
          </a:p>
          <a:p>
            <a:pPr algn="just" eaLnBrk="1" hangingPunct="1"/>
            <a:r>
              <a:rPr lang="en-US" altLang="en-US" sz="2800" dirty="0">
                <a:latin typeface="Garamond" panose="02020404030301010803" pitchFamily="18" charset="0"/>
              </a:rPr>
              <a:t>The natural environment provides the basic conditions without which humans could not survive. We need to breathe, eat, drink and shelter ourselves and we get all this from the natural world.</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142"/>
    </mc:Choice>
    <mc:Fallback xmlns="">
      <p:transition spd="slow" advTm="3014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fade">
                                      <p:cBhvr>
                                        <p:cTn id="7" dur="1000"/>
                                        <p:tgtEl>
                                          <p:spTgt spid="53250"/>
                                        </p:tgtEl>
                                      </p:cBhvr>
                                    </p:animEffect>
                                    <p:anim calcmode="lin" valueType="num">
                                      <p:cBhvr>
                                        <p:cTn id="8" dur="1000" fill="hold"/>
                                        <p:tgtEl>
                                          <p:spTgt spid="53250"/>
                                        </p:tgtEl>
                                        <p:attrNameLst>
                                          <p:attrName>ppt_x</p:attrName>
                                        </p:attrNameLst>
                                      </p:cBhvr>
                                      <p:tavLst>
                                        <p:tav tm="0">
                                          <p:val>
                                            <p:strVal val="#ppt_x"/>
                                          </p:val>
                                        </p:tav>
                                        <p:tav tm="100000">
                                          <p:val>
                                            <p:strVal val="#ppt_x"/>
                                          </p:val>
                                        </p:tav>
                                      </p:tavLst>
                                    </p:anim>
                                    <p:anim calcmode="lin" valueType="num">
                                      <p:cBhvr>
                                        <p:cTn id="9" dur="1000" fill="hold"/>
                                        <p:tgtEl>
                                          <p:spTgt spid="53250"/>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6627">
                                            <p:txEl>
                                              <p:pRg st="0" end="0"/>
                                            </p:txEl>
                                          </p:spTgt>
                                        </p:tgtEl>
                                        <p:attrNameLst>
                                          <p:attrName>style.visibility</p:attrName>
                                        </p:attrNameLst>
                                      </p:cBhvr>
                                      <p:to>
                                        <p:strVal val="visible"/>
                                      </p:to>
                                    </p:set>
                                    <p:anim calcmode="lin" valueType="num">
                                      <p:cBhvr additive="base">
                                        <p:cTn id="14"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6627">
                                            <p:txEl>
                                              <p:pRg st="1" end="1"/>
                                            </p:txEl>
                                          </p:spTgt>
                                        </p:tgtEl>
                                        <p:attrNameLst>
                                          <p:attrName>style.visibility</p:attrName>
                                        </p:attrNameLst>
                                      </p:cBhvr>
                                      <p:to>
                                        <p:strVal val="visible"/>
                                      </p:to>
                                    </p:set>
                                    <p:anim calcmode="lin" valueType="num">
                                      <p:cBhvr additive="base">
                                        <p:cTn id="20"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06A4D08-6953-46F6-9816-3430AE13D8F0}"/>
              </a:ext>
            </a:extLst>
          </p:cNvPr>
          <p:cNvSpPr>
            <a:spLocks noGrp="1" noChangeArrowheads="1"/>
          </p:cNvSpPr>
          <p:nvPr>
            <p:ph type="title"/>
          </p:nvPr>
        </p:nvSpPr>
        <p:spPr>
          <a:xfrm>
            <a:off x="1066800" y="304800"/>
            <a:ext cx="7620000" cy="560388"/>
          </a:xfrm>
        </p:spPr>
        <p:txBody>
          <a:bodyPr>
            <a:normAutofit fontScale="90000"/>
          </a:bodyPr>
          <a:lstStyle/>
          <a:p>
            <a:pPr algn="ctr" eaLnBrk="1" fontAlgn="auto" hangingPunct="1">
              <a:spcAft>
                <a:spcPts val="0"/>
              </a:spcAft>
              <a:defRPr/>
            </a:pPr>
            <a:r>
              <a:rPr lang="en-US" sz="3600" b="1" dirty="0">
                <a:solidFill>
                  <a:schemeClr val="tx1"/>
                </a:solidFill>
                <a:latin typeface="Garamond" pitchFamily="18" charset="0"/>
              </a:rPr>
              <a:t>Ecological importance</a:t>
            </a:r>
          </a:p>
        </p:txBody>
      </p:sp>
      <p:sp>
        <p:nvSpPr>
          <p:cNvPr id="60419" name="Rectangle 3">
            <a:extLst>
              <a:ext uri="{FF2B5EF4-FFF2-40B4-BE49-F238E27FC236}">
                <a16:creationId xmlns:a16="http://schemas.microsoft.com/office/drawing/2014/main" id="{94045AF7-3B16-4695-BBA7-DBBA9493EF67}"/>
              </a:ext>
            </a:extLst>
          </p:cNvPr>
          <p:cNvSpPr>
            <a:spLocks noGrp="1" noChangeArrowheads="1"/>
          </p:cNvSpPr>
          <p:nvPr>
            <p:ph idx="1"/>
          </p:nvPr>
        </p:nvSpPr>
        <p:spPr>
          <a:xfrm>
            <a:off x="457200" y="1524000"/>
            <a:ext cx="8534400" cy="5105400"/>
          </a:xfrm>
        </p:spPr>
        <p:txBody>
          <a:bodyPr>
            <a:normAutofit lnSpcReduction="10000"/>
          </a:bodyPr>
          <a:lstStyle/>
          <a:p>
            <a:pPr marL="365760" indent="-283464" algn="just" eaLnBrk="1" fontAlgn="auto" hangingPunct="1">
              <a:spcAft>
                <a:spcPts val="0"/>
              </a:spcAft>
              <a:buFont typeface="Wingdings" panose="05000000000000000000" pitchFamily="2" charset="2"/>
              <a:buChar char="Ø"/>
              <a:defRPr/>
            </a:pPr>
            <a:r>
              <a:rPr lang="en-US" sz="2800" dirty="0">
                <a:latin typeface="Garamond" pitchFamily="18" charset="0"/>
              </a:rPr>
              <a:t>Trees provide habitat and food for birds, insects, other plants and animals, fungi and micro-organism</a:t>
            </a:r>
          </a:p>
          <a:p>
            <a:pPr marL="365760" indent="-283464" algn="just" eaLnBrk="1" fontAlgn="auto" hangingPunct="1">
              <a:spcAft>
                <a:spcPts val="0"/>
              </a:spcAft>
              <a:buFont typeface="Wingdings" panose="05000000000000000000" pitchFamily="2" charset="2"/>
              <a:buChar char="Ø"/>
              <a:defRPr/>
            </a:pPr>
            <a:r>
              <a:rPr lang="en-US" sz="2800" dirty="0">
                <a:latin typeface="Garamond" pitchFamily="18" charset="0"/>
              </a:rPr>
              <a:t>Birds, insects and other animals serve as pollinators</a:t>
            </a:r>
          </a:p>
          <a:p>
            <a:pPr marL="365760" indent="-283464" algn="just" eaLnBrk="1" fontAlgn="auto" hangingPunct="1">
              <a:spcAft>
                <a:spcPts val="0"/>
              </a:spcAft>
              <a:buFont typeface="Wingdings" panose="05000000000000000000" pitchFamily="2" charset="2"/>
              <a:buChar char="Ø"/>
              <a:defRPr/>
            </a:pPr>
            <a:r>
              <a:rPr lang="en-US" sz="2800" dirty="0">
                <a:latin typeface="Garamond" pitchFamily="18" charset="0"/>
              </a:rPr>
              <a:t>Parasites and predators act as natural population controls</a:t>
            </a:r>
          </a:p>
          <a:p>
            <a:pPr marL="365760" indent="-283464" algn="just" eaLnBrk="1" fontAlgn="auto" hangingPunct="1">
              <a:spcAft>
                <a:spcPts val="0"/>
              </a:spcAft>
              <a:buFont typeface="Wingdings" panose="05000000000000000000" pitchFamily="2" charset="2"/>
              <a:buChar char="Ø"/>
              <a:defRPr/>
            </a:pPr>
            <a:r>
              <a:rPr lang="en-US" sz="2800" dirty="0">
                <a:latin typeface="Garamond" pitchFamily="18" charset="0"/>
              </a:rPr>
              <a:t>Various organisms, such as earthworms and bacteria are responsible for recycling organic materials and maintaining the productivity of the soils</a:t>
            </a:r>
          </a:p>
          <a:p>
            <a:pPr marL="365760" indent="-283464" algn="just">
              <a:spcAft>
                <a:spcPts val="0"/>
              </a:spcAft>
              <a:buFont typeface="Wingdings" panose="05000000000000000000" pitchFamily="2" charset="2"/>
              <a:buChar char="Ø"/>
              <a:defRPr/>
            </a:pPr>
            <a:r>
              <a:rPr lang="en-US" sz="2800" dirty="0" smtClean="0">
                <a:latin typeface="Garamond" pitchFamily="18" charset="0"/>
              </a:rPr>
              <a:t>Forests </a:t>
            </a:r>
            <a:r>
              <a:rPr lang="en-US" sz="2800" dirty="0">
                <a:latin typeface="Garamond" pitchFamily="18" charset="0"/>
              </a:rPr>
              <a:t>are particularly important “sinks” for </a:t>
            </a:r>
            <a:r>
              <a:rPr lang="en-US" sz="2800" dirty="0" smtClean="0">
                <a:latin typeface="Garamond" pitchFamily="18" charset="0"/>
              </a:rPr>
              <a:t>the Green </a:t>
            </a:r>
            <a:r>
              <a:rPr lang="en-US" sz="2800" dirty="0">
                <a:latin typeface="Garamond" pitchFamily="18" charset="0"/>
              </a:rPr>
              <a:t>plants remove carbon dioxide from the atmosphere and replenish it with oxygen absorption of carbon dioxide and these are the key factors in reducing global climate change.</a:t>
            </a:r>
          </a:p>
          <a:p>
            <a:pPr marL="365760" indent="-283464" algn="just" eaLnBrk="1" fontAlgn="auto" hangingPunct="1">
              <a:spcAft>
                <a:spcPts val="0"/>
              </a:spcAft>
              <a:buFont typeface="Wingdings" panose="05000000000000000000" pitchFamily="2" charset="2"/>
              <a:buChar char="Ø"/>
              <a:defRPr/>
            </a:pPr>
            <a:endParaRPr lang="en-US" sz="2800" dirty="0">
              <a:latin typeface="Garamond" pitchFamily="18" charset="0"/>
            </a:endParaRPr>
          </a:p>
          <a:p>
            <a:pPr marL="365760" indent="-283464" eaLnBrk="1" fontAlgn="auto" hangingPunct="1">
              <a:spcAft>
                <a:spcPts val="0"/>
              </a:spcAft>
              <a:buFont typeface="Wingdings" panose="05000000000000000000" pitchFamily="2" charset="2"/>
              <a:buChar char="Ø"/>
              <a:defRPr/>
            </a:pPr>
            <a:endParaRPr lang="en-US" sz="2800" dirty="0">
              <a:latin typeface="Garamond" pitchFamily="18" charset="0"/>
            </a:endParaRPr>
          </a:p>
          <a:p>
            <a:pPr marL="365760" indent="-283464" eaLnBrk="1" fontAlgn="auto" hangingPunct="1">
              <a:spcAft>
                <a:spcPts val="0"/>
              </a:spcAft>
              <a:buFont typeface="Wingdings" panose="05000000000000000000" pitchFamily="2" charset="2"/>
              <a:buChar char="Ø"/>
              <a:defRPr/>
            </a:pPr>
            <a:endParaRPr lang="en-US" sz="2800" dirty="0">
              <a:latin typeface="Garamond"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1825"/>
    </mc:Choice>
    <mc:Fallback xmlns="">
      <p:transition spd="slow" advTm="6182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fade">
                                      <p:cBhvr>
                                        <p:cTn id="7" dur="1000"/>
                                        <p:tgtEl>
                                          <p:spTgt spid="60418"/>
                                        </p:tgtEl>
                                      </p:cBhvr>
                                    </p:animEffect>
                                    <p:anim calcmode="lin" valueType="num">
                                      <p:cBhvr>
                                        <p:cTn id="8" dur="1000" fill="hold"/>
                                        <p:tgtEl>
                                          <p:spTgt spid="60418"/>
                                        </p:tgtEl>
                                        <p:attrNameLst>
                                          <p:attrName>ppt_x</p:attrName>
                                        </p:attrNameLst>
                                      </p:cBhvr>
                                      <p:tavLst>
                                        <p:tav tm="0">
                                          <p:val>
                                            <p:strVal val="#ppt_x"/>
                                          </p:val>
                                        </p:tav>
                                        <p:tav tm="100000">
                                          <p:val>
                                            <p:strVal val="#ppt_x"/>
                                          </p:val>
                                        </p:tav>
                                      </p:tavLst>
                                    </p:anim>
                                    <p:anim calcmode="lin" valueType="num">
                                      <p:cBhvr>
                                        <p:cTn id="9" dur="1000" fill="hold"/>
                                        <p:tgtEl>
                                          <p:spTgt spid="6041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0419">
                                            <p:txEl>
                                              <p:pRg st="0" end="0"/>
                                            </p:txEl>
                                          </p:spTgt>
                                        </p:tgtEl>
                                        <p:attrNameLst>
                                          <p:attrName>style.visibility</p:attrName>
                                        </p:attrNameLst>
                                      </p:cBhvr>
                                      <p:to>
                                        <p:strVal val="visible"/>
                                      </p:to>
                                    </p:set>
                                    <p:animEffect transition="in" filter="fade">
                                      <p:cBhvr>
                                        <p:cTn id="14" dur="1000"/>
                                        <p:tgtEl>
                                          <p:spTgt spid="60419">
                                            <p:txEl>
                                              <p:pRg st="0" end="0"/>
                                            </p:txEl>
                                          </p:spTgt>
                                        </p:tgtEl>
                                      </p:cBhvr>
                                    </p:animEffect>
                                    <p:anim calcmode="lin" valueType="num">
                                      <p:cBhvr>
                                        <p:cTn id="15" dur="10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4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0419">
                                            <p:txEl>
                                              <p:pRg st="1" end="1"/>
                                            </p:txEl>
                                          </p:spTgt>
                                        </p:tgtEl>
                                        <p:attrNameLst>
                                          <p:attrName>style.visibility</p:attrName>
                                        </p:attrNameLst>
                                      </p:cBhvr>
                                      <p:to>
                                        <p:strVal val="visible"/>
                                      </p:to>
                                    </p:set>
                                    <p:animEffect transition="in" filter="fade">
                                      <p:cBhvr>
                                        <p:cTn id="21" dur="1000"/>
                                        <p:tgtEl>
                                          <p:spTgt spid="60419">
                                            <p:txEl>
                                              <p:pRg st="1" end="1"/>
                                            </p:txEl>
                                          </p:spTgt>
                                        </p:tgtEl>
                                      </p:cBhvr>
                                    </p:animEffect>
                                    <p:anim calcmode="lin" valueType="num">
                                      <p:cBhvr>
                                        <p:cTn id="22" dur="1000" fill="hold"/>
                                        <p:tgtEl>
                                          <p:spTgt spid="6041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04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0419">
                                            <p:txEl>
                                              <p:pRg st="2" end="2"/>
                                            </p:txEl>
                                          </p:spTgt>
                                        </p:tgtEl>
                                        <p:attrNameLst>
                                          <p:attrName>style.visibility</p:attrName>
                                        </p:attrNameLst>
                                      </p:cBhvr>
                                      <p:to>
                                        <p:strVal val="visible"/>
                                      </p:to>
                                    </p:set>
                                    <p:animEffect transition="in" filter="fade">
                                      <p:cBhvr>
                                        <p:cTn id="28" dur="1000"/>
                                        <p:tgtEl>
                                          <p:spTgt spid="60419">
                                            <p:txEl>
                                              <p:pRg st="2" end="2"/>
                                            </p:txEl>
                                          </p:spTgt>
                                        </p:tgtEl>
                                      </p:cBhvr>
                                    </p:animEffect>
                                    <p:anim calcmode="lin" valueType="num">
                                      <p:cBhvr>
                                        <p:cTn id="29" dur="1000" fill="hold"/>
                                        <p:tgtEl>
                                          <p:spTgt spid="6041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604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0419">
                                            <p:txEl>
                                              <p:pRg st="3" end="3"/>
                                            </p:txEl>
                                          </p:spTgt>
                                        </p:tgtEl>
                                        <p:attrNameLst>
                                          <p:attrName>style.visibility</p:attrName>
                                        </p:attrNameLst>
                                      </p:cBhvr>
                                      <p:to>
                                        <p:strVal val="visible"/>
                                      </p:to>
                                    </p:set>
                                    <p:animEffect transition="in" filter="fade">
                                      <p:cBhvr>
                                        <p:cTn id="35" dur="1000"/>
                                        <p:tgtEl>
                                          <p:spTgt spid="60419">
                                            <p:txEl>
                                              <p:pRg st="3" end="3"/>
                                            </p:txEl>
                                          </p:spTgt>
                                        </p:tgtEl>
                                      </p:cBhvr>
                                    </p:animEffect>
                                    <p:anim calcmode="lin" valueType="num">
                                      <p:cBhvr>
                                        <p:cTn id="36" dur="1000" fill="hold"/>
                                        <p:tgtEl>
                                          <p:spTgt spid="6041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604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0419">
                                            <p:txEl>
                                              <p:pRg st="4" end="4"/>
                                            </p:txEl>
                                          </p:spTgt>
                                        </p:tgtEl>
                                        <p:attrNameLst>
                                          <p:attrName>style.visibility</p:attrName>
                                        </p:attrNameLst>
                                      </p:cBhvr>
                                      <p:to>
                                        <p:strVal val="visible"/>
                                      </p:to>
                                    </p:set>
                                    <p:animEffect transition="in" filter="fade">
                                      <p:cBhvr>
                                        <p:cTn id="42" dur="1000"/>
                                        <p:tgtEl>
                                          <p:spTgt spid="60419">
                                            <p:txEl>
                                              <p:pRg st="4" end="4"/>
                                            </p:txEl>
                                          </p:spTgt>
                                        </p:tgtEl>
                                      </p:cBhvr>
                                    </p:animEffect>
                                    <p:anim calcmode="lin" valueType="num">
                                      <p:cBhvr>
                                        <p:cTn id="43" dur="1000" fill="hold"/>
                                        <p:tgtEl>
                                          <p:spTgt spid="6041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604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86A6240-CF4E-4A25-ADD8-5CABD91317FC}"/>
              </a:ext>
            </a:extLst>
          </p:cNvPr>
          <p:cNvSpPr>
            <a:spLocks noGrp="1" noChangeArrowheads="1"/>
          </p:cNvSpPr>
          <p:nvPr>
            <p:ph type="title"/>
          </p:nvPr>
        </p:nvSpPr>
        <p:spPr>
          <a:xfrm>
            <a:off x="1143000" y="152400"/>
            <a:ext cx="7543800" cy="533400"/>
          </a:xfrm>
        </p:spPr>
        <p:txBody>
          <a:bodyPr>
            <a:normAutofit fontScale="90000"/>
          </a:bodyPr>
          <a:lstStyle/>
          <a:p>
            <a:pPr eaLnBrk="1" fontAlgn="auto" hangingPunct="1">
              <a:spcAft>
                <a:spcPts val="0"/>
              </a:spcAft>
              <a:defRPr/>
            </a:pPr>
            <a:r>
              <a:rPr lang="en-US" sz="3600" b="1" dirty="0">
                <a:solidFill>
                  <a:schemeClr val="tx1"/>
                </a:solidFill>
                <a:latin typeface="Garamond" pitchFamily="18" charset="0"/>
              </a:rPr>
              <a:t>Economical importance</a:t>
            </a:r>
          </a:p>
        </p:txBody>
      </p:sp>
      <p:sp>
        <p:nvSpPr>
          <p:cNvPr id="29699" name="Rectangle 3">
            <a:extLst>
              <a:ext uri="{FF2B5EF4-FFF2-40B4-BE49-F238E27FC236}">
                <a16:creationId xmlns:a16="http://schemas.microsoft.com/office/drawing/2014/main" id="{7CF58C6A-8685-492B-839B-A8A89578F43A}"/>
              </a:ext>
            </a:extLst>
          </p:cNvPr>
          <p:cNvSpPr>
            <a:spLocks noGrp="1"/>
          </p:cNvSpPr>
          <p:nvPr>
            <p:ph idx="1"/>
          </p:nvPr>
        </p:nvSpPr>
        <p:spPr>
          <a:xfrm>
            <a:off x="762000" y="838200"/>
            <a:ext cx="7848600" cy="5715000"/>
          </a:xfrm>
        </p:spPr>
        <p:txBody>
          <a:bodyPr/>
          <a:lstStyle/>
          <a:p>
            <a:pPr algn="just" eaLnBrk="1" hangingPunct="1">
              <a:buClr>
                <a:schemeClr val="tx2"/>
              </a:buClr>
              <a:buFont typeface="Wingdings" panose="05000000000000000000" pitchFamily="2" charset="2"/>
              <a:buChar char="v"/>
            </a:pPr>
            <a:r>
              <a:rPr lang="en-US" altLang="en-US" sz="2800">
                <a:latin typeface="Garamond" panose="02020404030301010803" pitchFamily="18" charset="0"/>
              </a:rPr>
              <a:t>Food: species are hunted, fished, gathered, as well as cultivated for agriculture and aquaculture.</a:t>
            </a:r>
          </a:p>
          <a:p>
            <a:pPr algn="just" eaLnBrk="1" hangingPunct="1">
              <a:buClr>
                <a:schemeClr val="tx2"/>
              </a:buClr>
              <a:buFont typeface="Wingdings" panose="05000000000000000000" pitchFamily="2" charset="2"/>
              <a:buChar char="v"/>
            </a:pPr>
            <a:r>
              <a:rPr lang="en-US" altLang="en-US" sz="2800">
                <a:latin typeface="Garamond" panose="02020404030301010803" pitchFamily="18" charset="0"/>
              </a:rPr>
              <a:t>Fuel: timber and coal are only two examples of natural resources used to produce energy</a:t>
            </a:r>
          </a:p>
          <a:p>
            <a:pPr algn="just" eaLnBrk="1" hangingPunct="1">
              <a:buClr>
                <a:schemeClr val="tx2"/>
              </a:buClr>
              <a:buFont typeface="Wingdings" panose="05000000000000000000" pitchFamily="2" charset="2"/>
              <a:buChar char="v"/>
            </a:pPr>
            <a:r>
              <a:rPr lang="en-US" altLang="en-US" sz="2800">
                <a:latin typeface="Garamond" panose="02020404030301010803" pitchFamily="18" charset="0"/>
              </a:rPr>
              <a:t>Shelter and cloth: timber and other forest products are used as building materials for shelter. Fibers such as wool and cotton are used to make clothes</a:t>
            </a:r>
          </a:p>
          <a:p>
            <a:pPr algn="just" eaLnBrk="1" hangingPunct="1">
              <a:buClr>
                <a:schemeClr val="tx2"/>
              </a:buClr>
              <a:buFont typeface="Wingdings" panose="05000000000000000000" pitchFamily="2" charset="2"/>
              <a:buChar char="v"/>
            </a:pPr>
            <a:r>
              <a:rPr lang="en-US" altLang="en-US" sz="2800">
                <a:latin typeface="Garamond" panose="02020404030301010803" pitchFamily="18" charset="0"/>
              </a:rPr>
              <a:t>Medicines: both traditional and processed drugs are obtained from biodiversity</a:t>
            </a:r>
          </a:p>
          <a:p>
            <a:pPr algn="just" eaLnBrk="1" hangingPunct="1">
              <a:buClr>
                <a:schemeClr val="tx2"/>
              </a:buClr>
              <a:buFont typeface="Wingdings" panose="05000000000000000000" pitchFamily="2" charset="2"/>
              <a:buChar char="v"/>
            </a:pPr>
            <a:r>
              <a:rPr lang="en-US" altLang="en-US" sz="2800">
                <a:latin typeface="Garamond" panose="02020404030301010803" pitchFamily="18" charset="0"/>
              </a:rPr>
              <a:t>Other goods: paper and pencils come from raw materials provided by earth’s diversity   </a:t>
            </a:r>
          </a:p>
          <a:p>
            <a:pPr eaLnBrk="1" hangingPunct="1">
              <a:buFont typeface="Wingdings" panose="05000000000000000000" pitchFamily="2" charset="2"/>
              <a:buNone/>
            </a:pPr>
            <a:endParaRPr lang="en-US" altLang="en-US" sz="280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991"/>
    </mc:Choice>
    <mc:Fallback xmlns="">
      <p:transition spd="slow" advTm="5399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fade">
                                      <p:cBhvr>
                                        <p:cTn id="7" dur="1000"/>
                                        <p:tgtEl>
                                          <p:spTgt spid="62466"/>
                                        </p:tgtEl>
                                      </p:cBhvr>
                                    </p:animEffect>
                                    <p:anim calcmode="lin" valueType="num">
                                      <p:cBhvr>
                                        <p:cTn id="8" dur="1000" fill="hold"/>
                                        <p:tgtEl>
                                          <p:spTgt spid="62466"/>
                                        </p:tgtEl>
                                        <p:attrNameLst>
                                          <p:attrName>ppt_x</p:attrName>
                                        </p:attrNameLst>
                                      </p:cBhvr>
                                      <p:tavLst>
                                        <p:tav tm="0">
                                          <p:val>
                                            <p:strVal val="#ppt_x"/>
                                          </p:val>
                                        </p:tav>
                                        <p:tav tm="100000">
                                          <p:val>
                                            <p:strVal val="#ppt_x"/>
                                          </p:val>
                                        </p:tav>
                                      </p:tavLst>
                                    </p:anim>
                                    <p:anim calcmode="lin" valueType="num">
                                      <p:cBhvr>
                                        <p:cTn id="9" dur="1000" fill="hold"/>
                                        <p:tgtEl>
                                          <p:spTgt spid="6246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699">
                                            <p:txEl>
                                              <p:pRg st="0" end="0"/>
                                            </p:txEl>
                                          </p:spTgt>
                                        </p:tgtEl>
                                        <p:attrNameLst>
                                          <p:attrName>style.visibility</p:attrName>
                                        </p:attrNameLst>
                                      </p:cBhvr>
                                      <p:to>
                                        <p:strVal val="visible"/>
                                      </p:to>
                                    </p:set>
                                    <p:animEffect transition="in" filter="fade">
                                      <p:cBhvr>
                                        <p:cTn id="14" dur="1000"/>
                                        <p:tgtEl>
                                          <p:spTgt spid="29699">
                                            <p:txEl>
                                              <p:pRg st="0" end="0"/>
                                            </p:txEl>
                                          </p:spTgt>
                                        </p:tgtEl>
                                      </p:cBhvr>
                                    </p:animEffect>
                                    <p:anim calcmode="lin" valueType="num">
                                      <p:cBhvr>
                                        <p:cTn id="15" dur="10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96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9699">
                                            <p:txEl>
                                              <p:pRg st="1" end="1"/>
                                            </p:txEl>
                                          </p:spTgt>
                                        </p:tgtEl>
                                        <p:attrNameLst>
                                          <p:attrName>style.visibility</p:attrName>
                                        </p:attrNameLst>
                                      </p:cBhvr>
                                      <p:to>
                                        <p:strVal val="visible"/>
                                      </p:to>
                                    </p:set>
                                    <p:animEffect transition="in" filter="fade">
                                      <p:cBhvr>
                                        <p:cTn id="21" dur="1000"/>
                                        <p:tgtEl>
                                          <p:spTgt spid="29699">
                                            <p:txEl>
                                              <p:pRg st="1" end="1"/>
                                            </p:txEl>
                                          </p:spTgt>
                                        </p:tgtEl>
                                      </p:cBhvr>
                                    </p:animEffect>
                                    <p:anim calcmode="lin" valueType="num">
                                      <p:cBhvr>
                                        <p:cTn id="22" dur="10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96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699">
                                            <p:txEl>
                                              <p:pRg st="2" end="2"/>
                                            </p:txEl>
                                          </p:spTgt>
                                        </p:tgtEl>
                                        <p:attrNameLst>
                                          <p:attrName>style.visibility</p:attrName>
                                        </p:attrNameLst>
                                      </p:cBhvr>
                                      <p:to>
                                        <p:strVal val="visible"/>
                                      </p:to>
                                    </p:set>
                                    <p:animEffect transition="in" filter="fade">
                                      <p:cBhvr>
                                        <p:cTn id="28" dur="1000"/>
                                        <p:tgtEl>
                                          <p:spTgt spid="29699">
                                            <p:txEl>
                                              <p:pRg st="2" end="2"/>
                                            </p:txEl>
                                          </p:spTgt>
                                        </p:tgtEl>
                                      </p:cBhvr>
                                    </p:animEffect>
                                    <p:anim calcmode="lin" valueType="num">
                                      <p:cBhvr>
                                        <p:cTn id="29" dur="10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96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699">
                                            <p:txEl>
                                              <p:pRg st="3" end="3"/>
                                            </p:txEl>
                                          </p:spTgt>
                                        </p:tgtEl>
                                        <p:attrNameLst>
                                          <p:attrName>style.visibility</p:attrName>
                                        </p:attrNameLst>
                                      </p:cBhvr>
                                      <p:to>
                                        <p:strVal val="visible"/>
                                      </p:to>
                                    </p:set>
                                    <p:animEffect transition="in" filter="fade">
                                      <p:cBhvr>
                                        <p:cTn id="35" dur="1000"/>
                                        <p:tgtEl>
                                          <p:spTgt spid="29699">
                                            <p:txEl>
                                              <p:pRg st="3" end="3"/>
                                            </p:txEl>
                                          </p:spTgt>
                                        </p:tgtEl>
                                      </p:cBhvr>
                                    </p:animEffect>
                                    <p:anim calcmode="lin" valueType="num">
                                      <p:cBhvr>
                                        <p:cTn id="36" dur="10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96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9699">
                                            <p:txEl>
                                              <p:pRg st="4" end="4"/>
                                            </p:txEl>
                                          </p:spTgt>
                                        </p:tgtEl>
                                        <p:attrNameLst>
                                          <p:attrName>style.visibility</p:attrName>
                                        </p:attrNameLst>
                                      </p:cBhvr>
                                      <p:to>
                                        <p:strVal val="visible"/>
                                      </p:to>
                                    </p:set>
                                    <p:animEffect transition="in" filter="fade">
                                      <p:cBhvr>
                                        <p:cTn id="42" dur="1000"/>
                                        <p:tgtEl>
                                          <p:spTgt spid="29699">
                                            <p:txEl>
                                              <p:pRg st="4" end="4"/>
                                            </p:txEl>
                                          </p:spTgt>
                                        </p:tgtEl>
                                      </p:cBhvr>
                                    </p:animEffect>
                                    <p:anim calcmode="lin" valueType="num">
                                      <p:cBhvr>
                                        <p:cTn id="43" dur="10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969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296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D9A528D-9BE8-4DFF-B48C-908141A21368}"/>
              </a:ext>
            </a:extLst>
          </p:cNvPr>
          <p:cNvSpPr>
            <a:spLocks noGrp="1" noChangeArrowheads="1"/>
          </p:cNvSpPr>
          <p:nvPr>
            <p:ph type="title"/>
          </p:nvPr>
        </p:nvSpPr>
        <p:spPr>
          <a:xfrm>
            <a:off x="609600" y="228600"/>
            <a:ext cx="7543800" cy="712788"/>
          </a:xfrm>
        </p:spPr>
        <p:txBody>
          <a:bodyPr/>
          <a:lstStyle/>
          <a:p>
            <a:pPr eaLnBrk="1" fontAlgn="auto" hangingPunct="1">
              <a:spcAft>
                <a:spcPts val="0"/>
              </a:spcAft>
              <a:defRPr/>
            </a:pPr>
            <a:r>
              <a:rPr lang="en-US" sz="3600" b="1" dirty="0">
                <a:solidFill>
                  <a:schemeClr val="tx1"/>
                </a:solidFill>
                <a:latin typeface="Garamond" pitchFamily="18" charset="0"/>
              </a:rPr>
              <a:t>Cultural and Aesthetic</a:t>
            </a:r>
          </a:p>
        </p:txBody>
      </p:sp>
      <p:sp>
        <p:nvSpPr>
          <p:cNvPr id="30723" name="Rectangle 3">
            <a:extLst>
              <a:ext uri="{FF2B5EF4-FFF2-40B4-BE49-F238E27FC236}">
                <a16:creationId xmlns:a16="http://schemas.microsoft.com/office/drawing/2014/main" id="{145626EC-D8B6-44BE-9782-DFD4E12B738D}"/>
              </a:ext>
            </a:extLst>
          </p:cNvPr>
          <p:cNvSpPr>
            <a:spLocks noGrp="1"/>
          </p:cNvSpPr>
          <p:nvPr>
            <p:ph idx="1"/>
          </p:nvPr>
        </p:nvSpPr>
        <p:spPr>
          <a:xfrm>
            <a:off x="609600" y="1066800"/>
            <a:ext cx="8229600" cy="5410200"/>
          </a:xfrm>
        </p:spPr>
        <p:txBody>
          <a:bodyPr/>
          <a:lstStyle/>
          <a:p>
            <a:pPr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Plants and animals are often used as symbols, for example in flags, paintings, sculptures, photographs and  stamps.</a:t>
            </a:r>
          </a:p>
          <a:p>
            <a:pPr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Biodiversity is also beautiful; it is a pleasure to see various colors of flowers in the garden and having different smell of it or to listen to birds singing etc.</a:t>
            </a:r>
          </a:p>
          <a:p>
            <a:pPr algn="just" eaLnBrk="1" hangingPunct="1">
              <a:buClr>
                <a:schemeClr val="tx2"/>
              </a:buClr>
              <a:buFont typeface="Wingdings" panose="05000000000000000000" pitchFamily="2" charset="2"/>
              <a:buChar char="v"/>
            </a:pPr>
            <a:r>
              <a:rPr lang="en-US" altLang="en-US" sz="2800" dirty="0">
                <a:latin typeface="Garamond" panose="02020404030301010803" pitchFamily="18" charset="0"/>
              </a:rPr>
              <a:t>Each and every living being in this earth has some role to play and has the right to exist irrespective  of its usefulness to human.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850"/>
    </mc:Choice>
    <mc:Fallback xmlns="">
      <p:transition spd="slow" advTm="398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fade">
                                      <p:cBhvr>
                                        <p:cTn id="7" dur="1000"/>
                                        <p:tgtEl>
                                          <p:spTgt spid="64514"/>
                                        </p:tgtEl>
                                      </p:cBhvr>
                                    </p:animEffect>
                                    <p:anim calcmode="lin" valueType="num">
                                      <p:cBhvr>
                                        <p:cTn id="8" dur="1000" fill="hold"/>
                                        <p:tgtEl>
                                          <p:spTgt spid="64514"/>
                                        </p:tgtEl>
                                        <p:attrNameLst>
                                          <p:attrName>ppt_x</p:attrName>
                                        </p:attrNameLst>
                                      </p:cBhvr>
                                      <p:tavLst>
                                        <p:tav tm="0">
                                          <p:val>
                                            <p:strVal val="#ppt_x"/>
                                          </p:val>
                                        </p:tav>
                                        <p:tav tm="100000">
                                          <p:val>
                                            <p:strVal val="#ppt_x"/>
                                          </p:val>
                                        </p:tav>
                                      </p:tavLst>
                                    </p:anim>
                                    <p:anim calcmode="lin" valueType="num">
                                      <p:cBhvr>
                                        <p:cTn id="9" dur="1000" fill="hold"/>
                                        <p:tgtEl>
                                          <p:spTgt spid="645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723">
                                            <p:txEl>
                                              <p:pRg st="0" end="0"/>
                                            </p:txEl>
                                          </p:spTgt>
                                        </p:tgtEl>
                                        <p:attrNameLst>
                                          <p:attrName>style.visibility</p:attrName>
                                        </p:attrNameLst>
                                      </p:cBhvr>
                                      <p:to>
                                        <p:strVal val="visible"/>
                                      </p:to>
                                    </p:set>
                                    <p:animEffect transition="in" filter="fade">
                                      <p:cBhvr>
                                        <p:cTn id="14" dur="1000"/>
                                        <p:tgtEl>
                                          <p:spTgt spid="30723">
                                            <p:txEl>
                                              <p:pRg st="0" end="0"/>
                                            </p:txEl>
                                          </p:spTgt>
                                        </p:tgtEl>
                                      </p:cBhvr>
                                    </p:animEffect>
                                    <p:anim calcmode="lin" valueType="num">
                                      <p:cBhvr>
                                        <p:cTn id="15" dur="10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07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723">
                                            <p:txEl>
                                              <p:pRg st="1" end="1"/>
                                            </p:txEl>
                                          </p:spTgt>
                                        </p:tgtEl>
                                        <p:attrNameLst>
                                          <p:attrName>style.visibility</p:attrName>
                                        </p:attrNameLst>
                                      </p:cBhvr>
                                      <p:to>
                                        <p:strVal val="visible"/>
                                      </p:to>
                                    </p:set>
                                    <p:animEffect transition="in" filter="fade">
                                      <p:cBhvr>
                                        <p:cTn id="21" dur="1000"/>
                                        <p:tgtEl>
                                          <p:spTgt spid="30723">
                                            <p:txEl>
                                              <p:pRg st="1" end="1"/>
                                            </p:txEl>
                                          </p:spTgt>
                                        </p:tgtEl>
                                      </p:cBhvr>
                                    </p:animEffect>
                                    <p:anim calcmode="lin" valueType="num">
                                      <p:cBhvr>
                                        <p:cTn id="22" dur="10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07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0723">
                                            <p:txEl>
                                              <p:pRg st="2" end="2"/>
                                            </p:txEl>
                                          </p:spTgt>
                                        </p:tgtEl>
                                        <p:attrNameLst>
                                          <p:attrName>style.visibility</p:attrName>
                                        </p:attrNameLst>
                                      </p:cBhvr>
                                      <p:to>
                                        <p:strVal val="visible"/>
                                      </p:to>
                                    </p:set>
                                    <p:animEffect transition="in" filter="fade">
                                      <p:cBhvr>
                                        <p:cTn id="28" dur="1000"/>
                                        <p:tgtEl>
                                          <p:spTgt spid="30723">
                                            <p:txEl>
                                              <p:pRg st="2" end="2"/>
                                            </p:txEl>
                                          </p:spTgt>
                                        </p:tgtEl>
                                      </p:cBhvr>
                                    </p:animEffect>
                                    <p:anim calcmode="lin" valueType="num">
                                      <p:cBhvr>
                                        <p:cTn id="29" dur="10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072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3072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F2D7A0-794A-4DBB-B0CA-5844360C2E79}"/>
              </a:ext>
            </a:extLst>
          </p:cNvPr>
          <p:cNvSpPr>
            <a:spLocks noGrp="1"/>
          </p:cNvSpPr>
          <p:nvPr>
            <p:ph idx="1"/>
          </p:nvPr>
        </p:nvSpPr>
        <p:spPr>
          <a:xfrm>
            <a:off x="2514600" y="2438400"/>
            <a:ext cx="4732867" cy="1600200"/>
          </a:xfrm>
        </p:spPr>
        <p:txBody>
          <a:bodyPr/>
          <a:lstStyle/>
          <a:p>
            <a:pPr marL="0" indent="0">
              <a:buNone/>
            </a:pPr>
            <a:r>
              <a:rPr lang="en-US" sz="6000" dirty="0"/>
              <a:t>THANK YOU</a:t>
            </a:r>
          </a:p>
          <a:p>
            <a:endParaRPr lang="en-US" dirty="0"/>
          </a:p>
        </p:txBody>
      </p:sp>
    </p:spTree>
    <p:custDataLst>
      <p:tags r:id="rId1"/>
    </p:custDataLst>
    <p:extLst>
      <p:ext uri="{BB962C8B-B14F-4D97-AF65-F5344CB8AC3E}">
        <p14:creationId xmlns:p14="http://schemas.microsoft.com/office/powerpoint/2010/main" val="168849191"/>
      </p:ext>
    </p:extLst>
  </p:cSld>
  <p:clrMapOvr>
    <a:masterClrMapping/>
  </p:clrMapOvr>
  <mc:AlternateContent xmlns:mc="http://schemas.openxmlformats.org/markup-compatibility/2006" xmlns:p14="http://schemas.microsoft.com/office/powerpoint/2010/main">
    <mc:Choice Requires="p14">
      <p:transition spd="slow" p14:dur="2000" advTm="5673"/>
    </mc:Choice>
    <mc:Fallback xmlns="">
      <p:transition spd="slow" advTm="56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8"/>
</p:tagLst>
</file>

<file path=ppt/tags/tag2.xml><?xml version="1.0" encoding="utf-8"?>
<p:tagLst xmlns:a="http://schemas.openxmlformats.org/drawingml/2006/main" xmlns:r="http://schemas.openxmlformats.org/officeDocument/2006/relationships" xmlns:p="http://schemas.openxmlformats.org/presentationml/2006/main">
  <p:tag name="TIMING" val="|0.4|4.4|6.8"/>
</p:tagLst>
</file>

<file path=ppt/tags/tag3.xml><?xml version="1.0" encoding="utf-8"?>
<p:tagLst xmlns:a="http://schemas.openxmlformats.org/drawingml/2006/main" xmlns:r="http://schemas.openxmlformats.org/officeDocument/2006/relationships" xmlns:p="http://schemas.openxmlformats.org/presentationml/2006/main">
  <p:tag name="TIMING" val="|1.1"/>
</p:tagLst>
</file>

<file path=ppt/tags/tag4.xml><?xml version="1.0" encoding="utf-8"?>
<p:tagLst xmlns:a="http://schemas.openxmlformats.org/drawingml/2006/main" xmlns:r="http://schemas.openxmlformats.org/officeDocument/2006/relationships" xmlns:p="http://schemas.openxmlformats.org/presentationml/2006/main">
  <p:tag name="TIMING" val="|0.6|3.9|2.6|2.1"/>
</p:tagLst>
</file>

<file path=ppt/tags/tag5.xml><?xml version="1.0" encoding="utf-8"?>
<p:tagLst xmlns:a="http://schemas.openxmlformats.org/drawingml/2006/main" xmlns:r="http://schemas.openxmlformats.org/officeDocument/2006/relationships" xmlns:p="http://schemas.openxmlformats.org/presentationml/2006/main">
  <p:tag name="TIMING" val="|1.1|28.4"/>
</p:tagLst>
</file>

<file path=ppt/tags/tag6.xml><?xml version="1.0" encoding="utf-8"?>
<p:tagLst xmlns:a="http://schemas.openxmlformats.org/drawingml/2006/main" xmlns:r="http://schemas.openxmlformats.org/officeDocument/2006/relationships" xmlns:p="http://schemas.openxmlformats.org/presentationml/2006/main">
  <p:tag name="TIMING" val="|0.7|118.6"/>
</p:tagLst>
</file>

<file path=ppt/tags/tag7.xml><?xml version="1.0" encoding="utf-8"?>
<p:tagLst xmlns:a="http://schemas.openxmlformats.org/drawingml/2006/main" xmlns:r="http://schemas.openxmlformats.org/officeDocument/2006/relationships" xmlns:p="http://schemas.openxmlformats.org/presentationml/2006/main">
  <p:tag name="TIMING" val="|0.5"/>
</p:tagLst>
</file>

<file path=ppt/tags/tag8.xml><?xml version="1.0" encoding="utf-8"?>
<p:tagLst xmlns:a="http://schemas.openxmlformats.org/drawingml/2006/main" xmlns:r="http://schemas.openxmlformats.org/officeDocument/2006/relationships" xmlns:p="http://schemas.openxmlformats.org/presentationml/2006/main">
  <p:tag name="TIMING" val="|0.6|0.7|9.8"/>
</p:tagLst>
</file>

<file path=ppt/tags/tag9.xml><?xml version="1.0" encoding="utf-8"?>
<p:tagLst xmlns:a="http://schemas.openxmlformats.org/drawingml/2006/main" xmlns:r="http://schemas.openxmlformats.org/officeDocument/2006/relationships" xmlns:p="http://schemas.openxmlformats.org/presentationml/2006/main">
  <p:tag name="TIMING" val="|0.5|0.7|49.1|75.8"/>
</p:tagLst>
</file>

<file path=ppt/tags/tag10.xml><?xml version="1.0" encoding="utf-8"?>
<p:tagLst xmlns:a="http://schemas.openxmlformats.org/drawingml/2006/main" xmlns:r="http://schemas.openxmlformats.org/officeDocument/2006/relationships" xmlns:p="http://schemas.openxmlformats.org/presentationml/2006/main">
  <p:tag name="TIMING" val="|0.6|1.1"/>
</p:tagLst>
</file>

<file path=ppt/tags/tag11.xml><?xml version="1.0" encoding="utf-8"?>
<p:tagLst xmlns:a="http://schemas.openxmlformats.org/drawingml/2006/main" xmlns:r="http://schemas.openxmlformats.org/officeDocument/2006/relationships" xmlns:p="http://schemas.openxmlformats.org/presentationml/2006/main">
  <p:tag name="TIMING" val="|1.1|4|12.3"/>
</p:tagLst>
</file>

<file path=ppt/tags/tag12.xml><?xml version="1.0" encoding="utf-8"?>
<p:tagLst xmlns:a="http://schemas.openxmlformats.org/drawingml/2006/main" xmlns:r="http://schemas.openxmlformats.org/officeDocument/2006/relationships" xmlns:p="http://schemas.openxmlformats.org/presentationml/2006/main">
  <p:tag name="TIMING" val="|0.6|4.4|53.6|32.2|16.8|5.7"/>
</p:tagLst>
</file>

<file path=ppt/tags/tag13.xml><?xml version="1.0" encoding="utf-8"?>
<p:tagLst xmlns:a="http://schemas.openxmlformats.org/drawingml/2006/main" xmlns:r="http://schemas.openxmlformats.org/officeDocument/2006/relationships" xmlns:p="http://schemas.openxmlformats.org/presentationml/2006/main">
  <p:tag name="TIMING" val="|1.1|2.2|62.7|5.6|5.5|24.2|10.8|7|6.2"/>
</p:tagLst>
</file>

<file path=ppt/tags/tag14.xml><?xml version="1.0" encoding="utf-8"?>
<p:tagLst xmlns:a="http://schemas.openxmlformats.org/drawingml/2006/main" xmlns:r="http://schemas.openxmlformats.org/officeDocument/2006/relationships" xmlns:p="http://schemas.openxmlformats.org/presentationml/2006/main">
  <p:tag name="TIMING" val="|0.9|3.6"/>
</p:tagLst>
</file>

<file path=ppt/tags/tag15.xml><?xml version="1.0" encoding="utf-8"?>
<p:tagLst xmlns:a="http://schemas.openxmlformats.org/drawingml/2006/main" xmlns:r="http://schemas.openxmlformats.org/officeDocument/2006/relationships" xmlns:p="http://schemas.openxmlformats.org/presentationml/2006/main">
  <p:tag name="TIMING" val="|0.9|1|6.7|6.7|5.6|8.1|12|8.3"/>
</p:tagLst>
</file>

<file path=ppt/tags/tag16.xml><?xml version="1.0" encoding="utf-8"?>
<p:tagLst xmlns:a="http://schemas.openxmlformats.org/drawingml/2006/main" xmlns:r="http://schemas.openxmlformats.org/officeDocument/2006/relationships" xmlns:p="http://schemas.openxmlformats.org/presentationml/2006/main">
  <p:tag name="TIMING" val="|0.9|2.3|10.6"/>
</p:tagLst>
</file>

<file path=ppt/tags/tag17.xml><?xml version="1.0" encoding="utf-8"?>
<p:tagLst xmlns:a="http://schemas.openxmlformats.org/drawingml/2006/main" xmlns:r="http://schemas.openxmlformats.org/officeDocument/2006/relationships" xmlns:p="http://schemas.openxmlformats.org/presentationml/2006/main">
  <p:tag name="TIMING" val="|1.2|3.1|9.1|6.5|8.3|12.6"/>
</p:tagLst>
</file>

<file path=ppt/tags/tag18.xml><?xml version="1.0" encoding="utf-8"?>
<p:tagLst xmlns:a="http://schemas.openxmlformats.org/drawingml/2006/main" xmlns:r="http://schemas.openxmlformats.org/officeDocument/2006/relationships" xmlns:p="http://schemas.openxmlformats.org/presentationml/2006/main">
  <p:tag name="TIMING" val="|0.4|3.3|10.2|9.5|14.2|8.2"/>
</p:tagLst>
</file>

<file path=ppt/tags/tag19.xml><?xml version="1.0" encoding="utf-8"?>
<p:tagLst xmlns:a="http://schemas.openxmlformats.org/drawingml/2006/main" xmlns:r="http://schemas.openxmlformats.org/officeDocument/2006/relationships" xmlns:p="http://schemas.openxmlformats.org/presentationml/2006/main">
  <p:tag name="TIMING" val="|0.7|4.8|9.6|12.2"/>
</p:tagLst>
</file>

<file path=ppt/tags/tag20.xml><?xml version="1.0" encoding="utf-8"?>
<p:tagLst xmlns:a="http://schemas.openxmlformats.org/drawingml/2006/main" xmlns:r="http://schemas.openxmlformats.org/officeDocument/2006/relationships" xmlns:p="http://schemas.openxmlformats.org/presentationml/2006/main">
  <p:tag name="TIMING" val="|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3152</TotalTime>
  <Words>931</Words>
  <Application>Microsoft Office PowerPoint</Application>
  <PresentationFormat>On-screen Show (4:3)</PresentationFormat>
  <Paragraphs>136</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Garamond</vt:lpstr>
      <vt:lpstr>Wingdings</vt:lpstr>
      <vt:lpstr>Wingdings 2</vt:lpstr>
      <vt:lpstr>Parallax</vt:lpstr>
      <vt:lpstr>PowerPoint Presentation</vt:lpstr>
      <vt:lpstr>                          Biodiversity</vt:lpstr>
      <vt:lpstr>PowerPoint Presentation</vt:lpstr>
      <vt:lpstr>PowerPoint Presentation</vt:lpstr>
      <vt:lpstr>PowerPoint Presentation</vt:lpstr>
      <vt:lpstr>PowerPoint Presentation</vt:lpstr>
      <vt:lpstr>PowerPoint Presentation</vt:lpstr>
      <vt:lpstr>PowerPoint Presentation</vt:lpstr>
      <vt:lpstr>Biological Evolution</vt:lpstr>
      <vt:lpstr>Ecological Niche</vt:lpstr>
      <vt:lpstr>Ecological Niche</vt:lpstr>
      <vt:lpstr>Competitive Exclusion Principle</vt:lpstr>
      <vt:lpstr> Terms related to Species Habitat</vt:lpstr>
      <vt:lpstr>Species at Risk</vt:lpstr>
      <vt:lpstr>Environmental factors that influence diversity</vt:lpstr>
      <vt:lpstr>   Environmental factors that influence diversity</vt:lpstr>
      <vt:lpstr>Importance of biodiversity</vt:lpstr>
      <vt:lpstr>Ecological importance</vt:lpstr>
      <vt:lpstr>Economical importance</vt:lpstr>
      <vt:lpstr>Cultural and Aesthetic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Ms. Moushumi Zahur</cp:lastModifiedBy>
  <cp:revision>168</cp:revision>
  <dcterms:created xsi:type="dcterms:W3CDTF">2020-07-14T14:58:22Z</dcterms:created>
  <dcterms:modified xsi:type="dcterms:W3CDTF">2022-08-16T03:47:35Z</dcterms:modified>
</cp:coreProperties>
</file>